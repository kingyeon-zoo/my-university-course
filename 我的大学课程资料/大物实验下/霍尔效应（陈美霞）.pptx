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36" r:id="rId2"/>
    <p:sldId id="256" r:id="rId3"/>
    <p:sldId id="316" r:id="rId4"/>
    <p:sldId id="319" r:id="rId5"/>
    <p:sldId id="321" r:id="rId6"/>
    <p:sldId id="327" r:id="rId7"/>
    <p:sldId id="298" r:id="rId8"/>
    <p:sldId id="324" r:id="rId9"/>
    <p:sldId id="328" r:id="rId10"/>
    <p:sldId id="329" r:id="rId11"/>
    <p:sldId id="335" r:id="rId12"/>
    <p:sldId id="325" r:id="rId13"/>
    <p:sldId id="330" r:id="rId14"/>
    <p:sldId id="333" r:id="rId15"/>
    <p:sldId id="326" r:id="rId16"/>
    <p:sldId id="331" r:id="rId17"/>
    <p:sldId id="334" r:id="rId18"/>
  </p:sldIdLst>
  <p:sldSz cx="9144000" cy="6480175"/>
  <p:notesSz cx="6858000" cy="9947275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083" autoAdjust="0"/>
  </p:normalViewPr>
  <p:slideViewPr>
    <p:cSldViewPr snapToGrid="0">
      <p:cViewPr varScale="1">
        <p:scale>
          <a:sx n="59" d="100"/>
          <a:sy n="59" d="100"/>
        </p:scale>
        <p:origin x="1172" y="52"/>
      </p:cViewPr>
      <p:guideLst>
        <p:guide orient="horz" pos="19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FBA7BDF-6C3D-4A5C-A2F3-F00C589EC0E4}" type="datetimeFigureOut">
              <a:rPr lang="zh-CN" altLang="en-US"/>
              <a:t>2025/3/5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9448800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AD43CE8-C82E-4E13-8BF5-0515B2F31A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6847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78E6989-2E02-4BAF-AF83-59A0C2AD90E0}" type="datetimeFigureOut">
              <a:rPr lang="zh-CN" altLang="en-US"/>
              <a:t>2025/3/5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96925" y="746125"/>
            <a:ext cx="52641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6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80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80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0" hangingPunct="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9C7965E-05EA-43C5-AB34-67474D84E79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0234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012950"/>
            <a:ext cx="7772400" cy="13890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671888"/>
            <a:ext cx="6400800" cy="1655762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6E4EB-352B-4915-949D-9F580DC119FC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03392"/>
            <a:ext cx="8229600" cy="10795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7E68F-7708-418B-A418-A06A0B3C19FA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64013"/>
            <a:ext cx="7772400" cy="12874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746375"/>
            <a:ext cx="7772400" cy="14176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39A97-16B0-4266-8C1E-A238B04B0796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11300"/>
            <a:ext cx="4038600" cy="4276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11300"/>
            <a:ext cx="4038600" cy="4276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DDB6E-EF34-468C-B945-FA86A32CFB8A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58763"/>
            <a:ext cx="8229600" cy="108108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450975"/>
            <a:ext cx="4040188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055813"/>
            <a:ext cx="4040188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450975"/>
            <a:ext cx="4041775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055813"/>
            <a:ext cx="4041775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8CE62-33D4-4545-9ACA-E6EDA8E6C074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6A31A-2FCF-49F8-A749-7306B7BF5B97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2DDF1-6241-4874-9743-26C0E78787C3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58763"/>
            <a:ext cx="3008313" cy="10969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58763"/>
            <a:ext cx="5111750" cy="5529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355725"/>
            <a:ext cx="3008313" cy="44323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88A2A-8DCB-4FFF-AFA1-E063F02CA946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535488"/>
            <a:ext cx="5486400" cy="536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79438"/>
            <a:ext cx="5486400" cy="38877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072063"/>
            <a:ext cx="5486400" cy="760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2C9B1-7E16-4EA8-A375-8AA94818F94D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AFF94-56A9-457C-9143-382094F751F7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527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527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2CA2D-25DD-43D6-B408-353E3B11B97E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29600" cy="1079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11300"/>
            <a:ext cx="822960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5900738"/>
            <a:ext cx="2133600" cy="449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5900738"/>
            <a:ext cx="2895600" cy="449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5900738"/>
            <a:ext cx="2133600" cy="449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C1AE5AE-07EA-4B64-83E3-565D6BB3BB8C}" type="slidenum">
              <a:rPr lang="zh-CN" altLang="zh-CN"/>
              <a:t>‹#›</a:t>
            </a:fld>
            <a:endParaRPr lang="zh-CN" altLang="zh-CN"/>
          </a:p>
        </p:txBody>
      </p:sp>
      <p:pic>
        <p:nvPicPr>
          <p:cNvPr id="5127" name="Picture 7" descr="065B26PPT模板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34925" y="0"/>
            <a:ext cx="9272588" cy="655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image" Target="../media/image10.wmf"/><Relationship Id="rId12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image" Target="../media/image50.wmf"/><Relationship Id="rId18" Type="http://schemas.openxmlformats.org/officeDocument/2006/relationships/image" Target="../media/image55.wmf"/><Relationship Id="rId3" Type="http://schemas.openxmlformats.org/officeDocument/2006/relationships/image" Target="../media/image38.wmf"/><Relationship Id="rId21" Type="http://schemas.openxmlformats.org/officeDocument/2006/relationships/image" Target="../media/image58.wmf"/><Relationship Id="rId7" Type="http://schemas.openxmlformats.org/officeDocument/2006/relationships/image" Target="../media/image44.wmf"/><Relationship Id="rId12" Type="http://schemas.openxmlformats.org/officeDocument/2006/relationships/image" Target="../media/image49.wmf"/><Relationship Id="rId17" Type="http://schemas.openxmlformats.org/officeDocument/2006/relationships/image" Target="../media/image54.wmf"/><Relationship Id="rId2" Type="http://schemas.openxmlformats.org/officeDocument/2006/relationships/oleObject" Target="../embeddings/oleObject1.bin"/><Relationship Id="rId16" Type="http://schemas.openxmlformats.org/officeDocument/2006/relationships/image" Target="../media/image53.wmf"/><Relationship Id="rId20" Type="http://schemas.openxmlformats.org/officeDocument/2006/relationships/image" Target="../media/image5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11" Type="http://schemas.openxmlformats.org/officeDocument/2006/relationships/image" Target="../media/image48.wmf"/><Relationship Id="rId5" Type="http://schemas.openxmlformats.org/officeDocument/2006/relationships/image" Target="../media/image42.wmf"/><Relationship Id="rId15" Type="http://schemas.openxmlformats.org/officeDocument/2006/relationships/image" Target="../media/image52.wmf"/><Relationship Id="rId23" Type="http://schemas.openxmlformats.org/officeDocument/2006/relationships/image" Target="../media/image60.wmf"/><Relationship Id="rId10" Type="http://schemas.openxmlformats.org/officeDocument/2006/relationships/image" Target="../media/image47.wmf"/><Relationship Id="rId19" Type="http://schemas.openxmlformats.org/officeDocument/2006/relationships/image" Target="../media/image56.wmf"/><Relationship Id="rId4" Type="http://schemas.openxmlformats.org/officeDocument/2006/relationships/image" Target="../media/image41.png"/><Relationship Id="rId9" Type="http://schemas.openxmlformats.org/officeDocument/2006/relationships/image" Target="../media/image46.wmf"/><Relationship Id="rId14" Type="http://schemas.openxmlformats.org/officeDocument/2006/relationships/image" Target="../media/image51.wmf"/><Relationship Id="rId22" Type="http://schemas.openxmlformats.org/officeDocument/2006/relationships/image" Target="../media/image5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wmf"/><Relationship Id="rId4" Type="http://schemas.openxmlformats.org/officeDocument/2006/relationships/image" Target="../media/image3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C1343-C13F-5A20-3E33-3C75573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实验项目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D1F10B1-8A47-EC3C-7728-40A912CF3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480007"/>
              </p:ext>
            </p:extLst>
          </p:nvPr>
        </p:nvGraphicFramePr>
        <p:xfrm>
          <a:off x="2013857" y="1273401"/>
          <a:ext cx="5230586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2384">
                  <a:extLst>
                    <a:ext uri="{9D8B030D-6E8A-4147-A177-3AD203B41FA5}">
                      <a16:colId xmlns:a16="http://schemas.microsoft.com/office/drawing/2014/main" val="3254362755"/>
                    </a:ext>
                  </a:extLst>
                </a:gridCol>
                <a:gridCol w="2658202">
                  <a:extLst>
                    <a:ext uri="{9D8B030D-6E8A-4147-A177-3AD203B41FA5}">
                      <a16:colId xmlns:a16="http://schemas.microsoft.com/office/drawing/2014/main" val="2395725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tx1"/>
                          </a:solidFill>
                        </a:rPr>
                        <a:t>实验项目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tx1"/>
                          </a:solidFill>
                        </a:rPr>
                        <a:t>实验室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696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霍尔效应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/>
                        <a:t>410/408</a:t>
                      </a:r>
                      <a:endParaRPr lang="zh-CN" alt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043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波尔共振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/>
                        <a:t>209/213</a:t>
                      </a:r>
                      <a:endParaRPr lang="zh-CN" alt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71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杨氏模量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/>
                        <a:t>412/417</a:t>
                      </a:r>
                      <a:endParaRPr lang="zh-CN" alt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31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超声光栅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/>
                        <a:t>201/204</a:t>
                      </a:r>
                      <a:endParaRPr lang="zh-CN" alt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2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表面张力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/>
                        <a:t>411/409</a:t>
                      </a:r>
                      <a:endParaRPr lang="zh-CN" alt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443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声速测定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/>
                        <a:t>304/303</a:t>
                      </a:r>
                      <a:endParaRPr lang="zh-CN" alt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迈克尔逊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/>
                        <a:t>214/212</a:t>
                      </a:r>
                      <a:endParaRPr lang="zh-CN" alt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38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磁滞回线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/>
                        <a:t>311/309</a:t>
                      </a:r>
                      <a:endParaRPr lang="zh-CN" altLang="en-US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194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54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ctrTitle"/>
          </p:nvPr>
        </p:nvSpPr>
        <p:spPr>
          <a:xfrm>
            <a:off x="408214" y="1497013"/>
            <a:ext cx="8335736" cy="1149350"/>
          </a:xfrm>
        </p:spPr>
        <p:txBody>
          <a:bodyPr/>
          <a:lstStyle/>
          <a:p>
            <a:pPr eaLnBrk="1" hangingPunct="1"/>
            <a:br>
              <a:rPr lang="en-US" altLang="zh-CN" sz="3200" b="1" dirty="0"/>
            </a:br>
            <a:r>
              <a:rPr lang="zh-CN" altLang="zh-CN" sz="4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霍尔法测螺线管</a:t>
            </a:r>
            <a:r>
              <a:rPr lang="zh-CN" altLang="en-US" sz="4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</a:t>
            </a:r>
            <a:r>
              <a:rPr lang="zh-CN" altLang="zh-CN" sz="48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磁场</a:t>
            </a:r>
            <a:br>
              <a:rPr lang="en-US" altLang="zh-CN" b="1" dirty="0"/>
            </a:br>
            <a:endParaRPr lang="zh-CN" altLang="en-US" dirty="0"/>
          </a:p>
        </p:txBody>
      </p:sp>
      <p:sp>
        <p:nvSpPr>
          <p:cNvPr id="6147" name="副标题 2"/>
          <p:cNvSpPr>
            <a:spLocks noGrp="1"/>
          </p:cNvSpPr>
          <p:nvPr>
            <p:ph type="subTitle" idx="1"/>
          </p:nvPr>
        </p:nvSpPr>
        <p:spPr>
          <a:xfrm>
            <a:off x="1371600" y="2660650"/>
            <a:ext cx="6400800" cy="2667000"/>
          </a:xfrm>
        </p:spPr>
        <p:txBody>
          <a:bodyPr/>
          <a:lstStyle/>
          <a:p>
            <a:endParaRPr lang="en-US" altLang="zh-CN" sz="2800" b="1" dirty="0"/>
          </a:p>
          <a:p>
            <a:r>
              <a:rPr lang="zh-CN" altLang="en-US" sz="2800" b="1" dirty="0"/>
              <a:t>实验物理教学系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物理学院</a:t>
            </a: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217805" y="951229"/>
            <a:ext cx="8468995" cy="4577715"/>
          </a:xfrm>
        </p:spPr>
        <p:txBody>
          <a:bodyPr/>
          <a:lstStyle/>
          <a:p>
            <a:pPr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1879年美国霍普金斯大学研究生霍尔（Hall.）在研究载流导体在磁场中受力性质时发现把一块薄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金属片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放到和它垂直的磁场中，当电流通过导体时，在垂直于磁场和电流方向的两个端面之间会出现电势差，这种现象称为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尔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效应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半个多世纪后，人们发现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半导体也有霍尔效应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，而且半导体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霍尔效应比金属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强。</a:t>
            </a:r>
          </a:p>
          <a:p>
            <a:pPr latinLnBrk="0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1980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年德国物理学家冯  克利青发现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整数量子霍尔效应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，并于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1985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年获得诺贝尔物理学奖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spcBef>
                <a:spcPts val="600"/>
              </a:spcBef>
              <a:spcAft>
                <a:spcPts val="600"/>
              </a:spcAf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1982年美国科学家霍斯特施特默（Horst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L.Stormer）和崔琦（Daniel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Chee Tsui）又发现了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分数量子霍尔效应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，并因此获得1998年的诺贝尔物理学奖。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875030"/>
              </p:ext>
            </p:extLst>
          </p:nvPr>
        </p:nvGraphicFramePr>
        <p:xfrm>
          <a:off x="3721916" y="3981360"/>
          <a:ext cx="114300" cy="11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300" imgH="114300" progId="Equation.KSEE3">
                  <p:embed/>
                </p:oleObj>
              </mc:Choice>
              <mc:Fallback>
                <p:oleObj r:id="rId2" imgW="114300" imgH="114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21916" y="3981360"/>
                        <a:ext cx="114300" cy="114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1">
            <a:extLst>
              <a:ext uri="{FF2B5EF4-FFF2-40B4-BE49-F238E27FC236}">
                <a16:creationId xmlns:a16="http://schemas.microsoft.com/office/drawing/2014/main" id="{4BDDB53C-FAB8-9881-FCF7-A8F6A3614DEC}"/>
              </a:ext>
            </a:extLst>
          </p:cNvPr>
          <p:cNvSpPr txBox="1">
            <a:spLocks/>
          </p:cNvSpPr>
          <p:nvPr/>
        </p:nvSpPr>
        <p:spPr bwMode="auto">
          <a:xfrm>
            <a:off x="5382894" y="-178027"/>
            <a:ext cx="4077335" cy="840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一、背景知识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870040" y="1003753"/>
            <a:ext cx="7162800" cy="4000500"/>
          </a:xfrm>
        </p:spPr>
        <p:txBody>
          <a:bodyPr/>
          <a:lstStyle/>
          <a:p>
            <a:pPr latinLnBrk="0">
              <a:spcBef>
                <a:spcPts val="0"/>
              </a:spcBef>
              <a:spcAft>
                <a:spcPts val="1200"/>
              </a:spcAft>
            </a:pPr>
            <a:r>
              <a:rPr lang="en-US" altLang="zh-CN"/>
              <a:t>1. </a:t>
            </a:r>
            <a:r>
              <a:rPr lang="zh-CN" altLang="zh-CN"/>
              <a:t>了解霍尔效应的基本原理和利用霍尔片测磁场的原理。</a:t>
            </a:r>
          </a:p>
          <a:p>
            <a:pPr latinLnBrk="0">
              <a:spcBef>
                <a:spcPts val="0"/>
              </a:spcBef>
              <a:spcAft>
                <a:spcPts val="1200"/>
              </a:spcAft>
            </a:pPr>
            <a:r>
              <a:rPr lang="en-US" altLang="zh-CN"/>
              <a:t>2. </a:t>
            </a:r>
            <a:r>
              <a:rPr lang="zh-CN" altLang="zh-CN"/>
              <a:t>掌握螺线管线圈中心轴线上磁感应强度的分布规律。</a:t>
            </a:r>
          </a:p>
          <a:p>
            <a:pPr latinLnBrk="0">
              <a:spcBef>
                <a:spcPts val="0"/>
              </a:spcBef>
              <a:spcAft>
                <a:spcPts val="1200"/>
              </a:spcAft>
            </a:pPr>
            <a:r>
              <a:rPr lang="en-US" altLang="zh-CN"/>
              <a:t>3. </a:t>
            </a:r>
            <a:r>
              <a:rPr lang="zh-CN" altLang="zh-CN"/>
              <a:t>了解霍尔元件副效应的产生及消除方法。</a:t>
            </a:r>
          </a:p>
          <a:p>
            <a:pPr>
              <a:buFontTx/>
              <a:buNone/>
            </a:pPr>
            <a:endParaRPr lang="zh-CN" altLang="en-US" sz="2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66DE6B4-0C1E-D5A2-86A7-C147AFDFAF30}"/>
              </a:ext>
            </a:extLst>
          </p:cNvPr>
          <p:cNvSpPr txBox="1">
            <a:spLocks/>
          </p:cNvSpPr>
          <p:nvPr/>
        </p:nvSpPr>
        <p:spPr bwMode="auto">
          <a:xfrm>
            <a:off x="5382894" y="-178027"/>
            <a:ext cx="4077335" cy="840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二、实验目的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5382894" y="-178027"/>
            <a:ext cx="4077335" cy="840740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三、实验原理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16630"/>
            <a:ext cx="8687435" cy="2556510"/>
          </a:xfrm>
        </p:spPr>
        <p:txBody>
          <a:bodyPr/>
          <a:lstStyle/>
          <a:p>
            <a:pPr>
              <a:defRPr/>
            </a:pPr>
            <a:r>
              <a:rPr lang="zh-CN" altLang="zh-CN" sz="2400" dirty="0"/>
              <a:t>如</a:t>
            </a:r>
            <a:r>
              <a:rPr lang="zh-CN" altLang="en-US" sz="2400" dirty="0"/>
              <a:t>上</a:t>
            </a:r>
            <a:r>
              <a:rPr lang="zh-CN" altLang="zh-CN" sz="2400" dirty="0"/>
              <a:t>图所示</a:t>
            </a:r>
            <a:r>
              <a:rPr lang="zh-CN" altLang="en-US" sz="2400" dirty="0"/>
              <a:t>：</a:t>
            </a:r>
            <a:r>
              <a:rPr lang="zh-CN" altLang="zh-CN" sz="2400" dirty="0"/>
              <a:t>电流流过</a:t>
            </a:r>
            <a:r>
              <a:rPr lang="zh-CN" altLang="en-US" sz="2400" dirty="0"/>
              <a:t>垂直放置在磁场中的</a:t>
            </a:r>
            <a:r>
              <a:rPr lang="zh-CN" altLang="zh-CN" sz="2400" dirty="0"/>
              <a:t>半导体薄片</a:t>
            </a:r>
            <a:r>
              <a:rPr lang="zh-CN" altLang="en-US" sz="2400" dirty="0"/>
              <a:t>时</a:t>
            </a:r>
            <a:r>
              <a:rPr lang="zh-CN" altLang="zh-CN" sz="2400" dirty="0"/>
              <a:t>，</a:t>
            </a:r>
            <a:r>
              <a:rPr lang="zh-CN" altLang="en-US" sz="2400" dirty="0"/>
              <a:t>电子</a:t>
            </a:r>
            <a:r>
              <a:rPr lang="zh-CN" altLang="zh-CN" sz="2400" dirty="0"/>
              <a:t>流方向由于</a:t>
            </a:r>
            <a:r>
              <a:rPr lang="zh-CN" altLang="zh-CN" sz="2400" dirty="0">
                <a:solidFill>
                  <a:srgbClr val="FF0000"/>
                </a:solidFill>
              </a:rPr>
              <a:t>洛仑兹力</a:t>
            </a:r>
            <a:r>
              <a:rPr lang="zh-CN" altLang="en-US" sz="2400" dirty="0"/>
              <a:t>的</a:t>
            </a:r>
            <a:r>
              <a:rPr lang="zh-CN" altLang="zh-CN" sz="2400" dirty="0"/>
              <a:t>作用而发生改变，</a:t>
            </a:r>
            <a:r>
              <a:rPr lang="zh-CN" altLang="en-US" sz="2400" dirty="0"/>
              <a:t>导致</a:t>
            </a:r>
            <a:r>
              <a:rPr lang="zh-CN" altLang="zh-CN" sz="2400" dirty="0"/>
              <a:t>在薄片两个横向面之间产生与电流、磁场都垂直的电势差      </a:t>
            </a:r>
            <a:r>
              <a:rPr lang="zh-CN" altLang="en-US" sz="2400" dirty="0"/>
              <a:t>，这一现象</a:t>
            </a:r>
            <a:r>
              <a:rPr lang="zh-CN" altLang="zh-CN" sz="2400" dirty="0"/>
              <a:t>称为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霍尔效应</a:t>
            </a:r>
            <a:r>
              <a:rPr lang="zh-CN" altLang="zh-CN" sz="2400" dirty="0"/>
              <a:t>，</a:t>
            </a:r>
            <a:r>
              <a:rPr lang="zh-CN" altLang="en-US" sz="2400" dirty="0"/>
              <a:t>电势差</a:t>
            </a:r>
            <a:r>
              <a:rPr lang="zh-CN" altLang="zh-CN" sz="2400" dirty="0"/>
              <a:t>称为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霍尔电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压     </a:t>
            </a:r>
            <a:r>
              <a:rPr lang="zh-CN" altLang="zh-CN" sz="2400" dirty="0"/>
              <a:t>。</a:t>
            </a:r>
            <a:endParaRPr lang="en-US" altLang="zh-CN" sz="2400" dirty="0"/>
          </a:p>
          <a:p>
            <a:pPr>
              <a:defRPr/>
            </a:pPr>
            <a:r>
              <a:rPr lang="zh-CN" altLang="en-US" sz="2400" dirty="0">
                <a:sym typeface="+mn-ea"/>
              </a:rPr>
              <a:t>电子在</a:t>
            </a:r>
            <a:r>
              <a:rPr lang="zh-CN" altLang="zh-CN" sz="2400" dirty="0">
                <a:sym typeface="+mn-ea"/>
              </a:rPr>
              <a:t>洛仑兹力作用下在</a:t>
            </a:r>
            <a:r>
              <a:rPr lang="en-US" altLang="zh-CN" sz="2400" dirty="0">
                <a:sym typeface="+mn-ea"/>
              </a:rPr>
              <a:t>a</a:t>
            </a:r>
            <a:r>
              <a:rPr lang="zh-CN" altLang="en-US" sz="2400" dirty="0">
                <a:sym typeface="+mn-ea"/>
              </a:rPr>
              <a:t>、</a:t>
            </a:r>
            <a:r>
              <a:rPr lang="en-US" altLang="zh-CN" sz="2400" dirty="0">
                <a:sym typeface="+mn-ea"/>
              </a:rPr>
              <a:t>b</a:t>
            </a:r>
            <a:r>
              <a:rPr lang="zh-CN" altLang="en-US" sz="2400" dirty="0">
                <a:sym typeface="+mn-ea"/>
              </a:rPr>
              <a:t>两侧面分别积累正电荷和正电荷，由此在两侧面间形成了电场强度为</a:t>
            </a:r>
            <a:r>
              <a:rPr lang="en-US" altLang="zh-CN" sz="2400" dirty="0">
                <a:sym typeface="+mn-ea"/>
              </a:rPr>
              <a:t>     </a:t>
            </a:r>
            <a:r>
              <a:rPr lang="zh-CN" altLang="en-US" sz="2400" dirty="0">
                <a:sym typeface="+mn-ea"/>
              </a:rPr>
              <a:t>的霍尔电场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。</a:t>
            </a:r>
            <a:r>
              <a:rPr lang="en-US" altLang="zh-CN" sz="2400" dirty="0">
                <a:sym typeface="+mn-ea"/>
              </a:rPr>
              <a:t>                                                  </a:t>
            </a:r>
            <a:endParaRPr lang="en-US" altLang="zh-CN" sz="2400" dirty="0"/>
          </a:p>
          <a:p>
            <a:pPr marL="0" indent="0">
              <a:buNone/>
              <a:defRPr/>
            </a:pPr>
            <a:endParaRPr lang="zh-CN" altLang="zh-CN" sz="2400" dirty="0"/>
          </a:p>
          <a:p>
            <a:pPr>
              <a:defRPr/>
            </a:pPr>
            <a:endParaRPr lang="en-US" altLang="zh-CN" sz="2400" dirty="0">
              <a:latin typeface="+mn-ea"/>
            </a:endParaRPr>
          </a:p>
        </p:txBody>
      </p:sp>
      <p:sp>
        <p:nvSpPr>
          <p:cNvPr id="922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pic>
        <p:nvPicPr>
          <p:cNvPr id="9221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3548" y="1070292"/>
            <a:ext cx="5951538" cy="2446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63323"/>
              </p:ext>
            </p:extLst>
          </p:nvPr>
        </p:nvGraphicFramePr>
        <p:xfrm>
          <a:off x="6104890" y="4677501"/>
          <a:ext cx="40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3200" imgH="215900" progId="Equation.KSEE3">
                  <p:embed/>
                </p:oleObj>
              </mc:Choice>
              <mc:Fallback>
                <p:oleObj r:id="rId3" imgW="203200" imgH="2159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04890" y="4677501"/>
                        <a:ext cx="406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770370" y="5221605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14400" imgH="215900" progId="Equation.KSEE3">
                  <p:embed/>
                </p:oleObj>
              </mc:Choice>
              <mc:Fallback>
                <p:oleObj r:id="rId3" imgW="914400" imgH="2159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70370" y="5221605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739157"/>
              </p:ext>
            </p:extLst>
          </p:nvPr>
        </p:nvGraphicFramePr>
        <p:xfrm>
          <a:off x="7421562" y="4300855"/>
          <a:ext cx="40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3200" imgH="215900" progId="Equation.KSEE3">
                  <p:embed/>
                </p:oleObj>
              </mc:Choice>
              <mc:Fallback>
                <p:oleObj r:id="rId3" imgW="203200" imgH="2159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21562" y="4300855"/>
                        <a:ext cx="406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151880" y="5516880"/>
          <a:ext cx="35941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8600" imgH="215900" progId="Equation.KSEE3">
                  <p:embed/>
                </p:oleObj>
              </mc:Choice>
              <mc:Fallback>
                <p:oleObj r:id="rId3" imgW="228600" imgH="215900" progId="Equation.KSEE3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51880" y="5516880"/>
                        <a:ext cx="359410" cy="33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32584" y="933064"/>
                <a:ext cx="8382816" cy="5210357"/>
              </a:xfrm>
            </p:spPr>
            <p:txBody>
              <a:bodyPr/>
              <a:lstStyle/>
              <a:p>
                <a:pPr marL="0" indent="0" latinLnBrk="0">
                  <a:spcBef>
                    <a:spcPts val="0"/>
                  </a:spcBef>
                  <a:spcAft>
                    <a:spcPts val="1200"/>
                  </a:spcAft>
                  <a:buNone/>
                  <a:defRPr/>
                </a:pPr>
                <a:r>
                  <a:rPr lang="en-US" altLang="zh-CN" dirty="0">
                    <a:sym typeface="+mn-ea"/>
                  </a:rPr>
                  <a:t>                      </a:t>
                </a:r>
                <a:r>
                  <a:rPr lang="zh-CN" altLang="en-US" dirty="0">
                    <a:sym typeface="+mn-ea"/>
                  </a:rPr>
                  <a:t>、</a:t>
                </a:r>
                <a:r>
                  <a:rPr lang="en-US" altLang="zh-CN" dirty="0">
                    <a:sym typeface="+mn-ea"/>
                  </a:rPr>
                  <a:t>                             </a:t>
                </a:r>
              </a:p>
              <a:p>
                <a:pPr marL="0" indent="0" latinLnBrk="0">
                  <a:spcBef>
                    <a:spcPts val="0"/>
                  </a:spcBef>
                  <a:spcAft>
                    <a:spcPts val="1200"/>
                  </a:spcAft>
                  <a:buNone/>
                  <a:defRPr/>
                </a:pPr>
                <a:r>
                  <a:rPr lang="zh-CN" altLang="en-US" sz="2800" dirty="0">
                    <a:sym typeface="+mn-ea"/>
                  </a:rPr>
                  <a:t>当动态平衡时</a:t>
                </a:r>
                <a:r>
                  <a:rPr lang="zh-CN" altLang="en-US" dirty="0">
                    <a:sym typeface="+mn-ea"/>
                  </a:rPr>
                  <a:t>：  </a:t>
                </a:r>
                <a:r>
                  <a:rPr lang="en-US" altLang="zh-CN" dirty="0">
                    <a:sym typeface="+mn-ea"/>
                  </a:rPr>
                  <a:t>         </a:t>
                </a:r>
                <a:r>
                  <a:rPr lang="zh-CN" altLang="en-US" dirty="0">
                    <a:sym typeface="+mn-ea"/>
                  </a:rPr>
                  <a:t>即</a:t>
                </a:r>
                <a:r>
                  <a:rPr lang="en-US" altLang="zh-CN" dirty="0">
                    <a:sym typeface="+mn-ea"/>
                  </a:rPr>
                  <a:t>                                      </a:t>
                </a:r>
              </a:p>
              <a:p>
                <a:pPr marL="0" indent="0">
                  <a:buNone/>
                  <a:defRPr/>
                </a:pPr>
                <a:r>
                  <a:rPr lang="en-US" altLang="zh-CN" sz="2400" dirty="0" err="1">
                    <a:sym typeface="+mn-ea"/>
                  </a:rPr>
                  <a:t>设N型</a:t>
                </a:r>
                <a:r>
                  <a:rPr lang="zh-CN" altLang="en-US" sz="2400" dirty="0">
                    <a:sym typeface="+mn-ea"/>
                  </a:rPr>
                  <a:t>锗</a:t>
                </a:r>
                <a:r>
                  <a:rPr lang="en-US" altLang="zh-CN" sz="2400" dirty="0" err="1">
                    <a:sym typeface="+mn-ea"/>
                  </a:rPr>
                  <a:t>样品的载流子浓度为</a:t>
                </a:r>
                <a:r>
                  <a:rPr lang="en-US" altLang="zh-CN" sz="2400" i="1" dirty="0" err="1">
                    <a:sym typeface="+mn-ea"/>
                  </a:rPr>
                  <a:t>n</a:t>
                </a:r>
                <a:r>
                  <a:rPr lang="en-US" altLang="zh-CN" sz="2400" dirty="0" err="1">
                    <a:sym typeface="+mn-ea"/>
                  </a:rPr>
                  <a:t>，宽度为</a:t>
                </a:r>
                <a:r>
                  <a:rPr lang="en-US" altLang="zh-CN" sz="2400" i="1" dirty="0" err="1">
                    <a:sym typeface="+mn-ea"/>
                  </a:rPr>
                  <a:t>b</a:t>
                </a:r>
                <a:r>
                  <a:rPr lang="en-US" altLang="zh-CN" sz="2400" dirty="0" err="1">
                    <a:sym typeface="+mn-ea"/>
                  </a:rPr>
                  <a:t>，厚度为</a:t>
                </a:r>
                <a:r>
                  <a:rPr lang="en-US" altLang="zh-CN" sz="2400" i="1" dirty="0" err="1">
                    <a:sym typeface="+mn-ea"/>
                  </a:rPr>
                  <a:t>d</a:t>
                </a:r>
                <a:r>
                  <a:rPr lang="en-US" altLang="zh-CN" sz="2400" dirty="0" err="1">
                    <a:sym typeface="+mn-ea"/>
                  </a:rPr>
                  <a:t>，通过样品电流</a:t>
                </a:r>
                <a:r>
                  <a:rPr lang="zh-CN" altLang="en-US" sz="2400" dirty="0">
                    <a:sym typeface="+mn-ea"/>
                  </a:rPr>
                  <a:t>强度</a:t>
                </a:r>
                <a:r>
                  <a:rPr lang="en-US" altLang="zh-CN" sz="2400" dirty="0">
                    <a:sym typeface="+mn-ea"/>
                  </a:rPr>
                  <a:t>                 ，则电子的速度</a:t>
                </a:r>
                <a:endParaRPr lang="en-US" altLang="zh-CN" dirty="0">
                  <a:sym typeface="+mn-ea"/>
                </a:endParaRPr>
              </a:p>
              <a:p>
                <a:pPr marL="0" indent="0">
                  <a:buNone/>
                  <a:defRPr/>
                </a:pPr>
                <a:r>
                  <a:rPr lang="en-US" altLang="zh-CN" dirty="0">
                    <a:sym typeface="+mn-ea"/>
                  </a:rPr>
                  <a:t> </a:t>
                </a:r>
                <a:r>
                  <a:rPr lang="zh-CN" altLang="en-US" dirty="0">
                    <a:sym typeface="+mn-ea"/>
                  </a:rPr>
                  <a:t>联立</a:t>
                </a:r>
                <a:r>
                  <a:rPr lang="zh-CN" altLang="zh-CN" dirty="0">
                    <a:sym typeface="+mn-ea"/>
                  </a:rPr>
                  <a:t>得：</a:t>
                </a:r>
              </a:p>
              <a:p>
                <a:pPr marL="0" indent="0">
                  <a:buNone/>
                  <a:defRPr/>
                </a:pPr>
                <a:endParaRPr lang="en-US" altLang="zh-CN" b="1" dirty="0">
                  <a:sym typeface="+mn-ea"/>
                </a:endParaRPr>
              </a:p>
              <a:p>
                <a:pPr marL="0" indent="0">
                  <a:buNone/>
                  <a:defRPr/>
                </a:pPr>
                <a:r>
                  <a:rPr lang="zh-CN" altLang="zh-CN" b="1" dirty="0">
                    <a:sym typeface="+mn-ea"/>
                  </a:rPr>
                  <a:t>霍尔元件的灵敏度</a:t>
                </a:r>
                <a:r>
                  <a:rPr lang="zh-CN" altLang="zh-CN" dirty="0">
                    <a:latin typeface="+mn-ea"/>
                    <a:sym typeface="+mn-ea"/>
                  </a:rPr>
                  <a:t>：</a:t>
                </a:r>
                <a:r>
                  <a:rPr lang="en-US" altLang="zh-CN" dirty="0">
                    <a:latin typeface="+mn-ea"/>
                    <a:sym typeface="+mn-ea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3200" b="1" dirty="0">
                            <a:latin typeface="+mn-ea"/>
                          </a:rPr>
                          <m:t>K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CN" sz="3200" b="1" i="1">
                            <a:latin typeface="Cambria Math" panose="02040503050406030204" pitchFamily="18" charset="0"/>
                          </a:rPr>
                          <m:t>d</m:t>
                        </m:r>
                      </m:den>
                    </m:f>
                  </m:oMath>
                </a14:m>
                <a:r>
                  <a:rPr lang="en-US" altLang="zh-CN" sz="3200" b="1" dirty="0">
                    <a:latin typeface="+mn-ea"/>
                  </a:rPr>
                  <a:t>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  <m:t>𝒏𝒒𝒅</m:t>
                        </m:r>
                      </m:den>
                    </m:f>
                  </m:oMath>
                </a14:m>
                <a:endParaRPr lang="en-US" altLang="zh-CN" sz="3200" b="1" dirty="0">
                  <a:latin typeface="+mn-ea"/>
                </a:endParaRPr>
              </a:p>
              <a:p>
                <a:pPr marL="0" indent="0">
                  <a:buNone/>
                  <a:defRPr/>
                </a:pPr>
                <a:r>
                  <a:rPr lang="zh-CN" altLang="en-US" b="1" dirty="0"/>
                  <a:t>霍尔元件测磁场原理</a:t>
                </a:r>
                <a:r>
                  <a:rPr lang="zh-CN" altLang="en-US" dirty="0"/>
                  <a:t>：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584" y="933064"/>
                <a:ext cx="8382816" cy="5210357"/>
              </a:xfrm>
              <a:blipFill>
                <a:blip r:embed="rId2"/>
                <a:stretch>
                  <a:fillRect l="-1817" t="-1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-21474824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34969"/>
              </p:ext>
            </p:extLst>
          </p:nvPr>
        </p:nvGraphicFramePr>
        <p:xfrm>
          <a:off x="689712" y="880996"/>
          <a:ext cx="2266950" cy="633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39800" imgH="228600" progId="Equation.DSMT4">
                  <p:embed/>
                </p:oleObj>
              </mc:Choice>
              <mc:Fallback>
                <p:oleObj r:id="rId3" imgW="939800" imgH="228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9712" y="880996"/>
                        <a:ext cx="2266950" cy="6337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4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340733"/>
              </p:ext>
            </p:extLst>
          </p:nvPr>
        </p:nvGraphicFramePr>
        <p:xfrm>
          <a:off x="3656511" y="897337"/>
          <a:ext cx="1819275" cy="585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96900" imgH="228600" progId="Equation.DSMT4">
                  <p:embed/>
                </p:oleObj>
              </mc:Choice>
              <mc:Fallback>
                <p:oleObj r:id="rId3" imgW="596900" imgH="2286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6511" y="897337"/>
                        <a:ext cx="1819275" cy="5854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4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945864"/>
              </p:ext>
            </p:extLst>
          </p:nvPr>
        </p:nvGraphicFramePr>
        <p:xfrm>
          <a:off x="5153569" y="1556745"/>
          <a:ext cx="338709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35100" imgH="228600" progId="Equation.DSMT4">
                  <p:embed/>
                </p:oleObj>
              </mc:Choice>
              <mc:Fallback>
                <p:oleObj r:id="rId3" imgW="1435100" imgH="2286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53569" y="1556745"/>
                        <a:ext cx="3387090" cy="5353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24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838014"/>
              </p:ext>
            </p:extLst>
          </p:nvPr>
        </p:nvGraphicFramePr>
        <p:xfrm>
          <a:off x="2155201" y="2754493"/>
          <a:ext cx="1368425" cy="42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59765" imgH="203200" progId="Equation.DSMT4">
                  <p:embed/>
                </p:oleObj>
              </mc:Choice>
              <mc:Fallback>
                <p:oleObj r:id="rId3" imgW="659765" imgH="2032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55201" y="2754493"/>
                        <a:ext cx="1368425" cy="421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24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217151"/>
              </p:ext>
            </p:extLst>
          </p:nvPr>
        </p:nvGraphicFramePr>
        <p:xfrm>
          <a:off x="5704659" y="2722650"/>
          <a:ext cx="1454150" cy="715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49300" imgH="368300" progId="Equation.DSMT4">
                  <p:embed/>
                </p:oleObj>
              </mc:Choice>
              <mc:Fallback>
                <p:oleObj r:id="rId3" imgW="749300" imgH="3683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04659" y="2722650"/>
                        <a:ext cx="1454150" cy="715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-21474824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914768"/>
              </p:ext>
            </p:extLst>
          </p:nvPr>
        </p:nvGraphicFramePr>
        <p:xfrm>
          <a:off x="2647700" y="3295206"/>
          <a:ext cx="501173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97100" imgH="419100" progId="Equation.DSMT4">
                  <p:embed/>
                </p:oleObj>
              </mc:Choice>
              <mc:Fallback>
                <p:oleObj name="Equation" r:id="rId3" imgW="2197100" imgH="4191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47700" y="3295206"/>
                        <a:ext cx="5011738" cy="865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668974"/>
              </p:ext>
            </p:extLst>
          </p:nvPr>
        </p:nvGraphicFramePr>
        <p:xfrm>
          <a:off x="3191612" y="1583012"/>
          <a:ext cx="1242060" cy="57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95300" imgH="228600" progId="Equation.KSEE3">
                  <p:embed/>
                </p:oleObj>
              </mc:Choice>
              <mc:Fallback>
                <p:oleObj r:id="rId3" imgW="495300" imgH="228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91612" y="1583012"/>
                        <a:ext cx="1242060" cy="57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9FF5FE3-87A0-28D8-5154-548683B9C2F2}"/>
                  </a:ext>
                </a:extLst>
              </p:cNvPr>
              <p:cNvSpPr/>
              <p:nvPr/>
            </p:nvSpPr>
            <p:spPr>
              <a:xfrm>
                <a:off x="4643302" y="5188303"/>
                <a:ext cx="2122714" cy="95511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9FF5FE3-87A0-28D8-5154-548683B9C2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302" y="5188303"/>
                <a:ext cx="2122714" cy="955119"/>
              </a:xfrm>
              <a:prstGeom prst="rect">
                <a:avLst/>
              </a:prstGeom>
              <a:blipFill>
                <a:blip r:embed="rId12"/>
                <a:stretch>
                  <a:fillRect b="-1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>
            <a:extLst>
              <a:ext uri="{FF2B5EF4-FFF2-40B4-BE49-F238E27FC236}">
                <a16:creationId xmlns:a16="http://schemas.microsoft.com/office/drawing/2014/main" id="{F02B5B1E-7952-3484-E0C2-4DDEC12A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894" y="-178027"/>
            <a:ext cx="4077335" cy="840740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三、实验原理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457200" y="665163"/>
            <a:ext cx="8229600" cy="534987"/>
          </a:xfrm>
        </p:spPr>
        <p:txBody>
          <a:bodyPr/>
          <a:lstStyle/>
          <a:p>
            <a:pPr algn="l"/>
            <a:r>
              <a:rPr lang="zh-CN" altLang="zh-CN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霍尔元件的副效应及消除副效应的方法</a:t>
            </a:r>
            <a:endParaRPr lang="zh-CN" altLang="en-US" sz="3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504825" y="1302385"/>
            <a:ext cx="8229600" cy="4366895"/>
          </a:xfrm>
        </p:spPr>
        <p:txBody>
          <a:bodyPr/>
          <a:lstStyle/>
          <a:p>
            <a:r>
              <a:rPr lang="zh-CN" altLang="zh-CN" sz="2400" dirty="0"/>
              <a:t>理论上霍尔元件在无磁场作用时，</a:t>
            </a:r>
            <a:r>
              <a:rPr lang="zh-CN" altLang="en-US" sz="2400" dirty="0"/>
              <a:t>霍尔电压为零。</a:t>
            </a:r>
            <a:r>
              <a:rPr lang="zh-CN" altLang="zh-CN" sz="2400" dirty="0"/>
              <a:t>但是实际情况并不为零，该电势差称为剩余电压。</a:t>
            </a:r>
          </a:p>
          <a:p>
            <a:r>
              <a:rPr lang="zh-CN" altLang="zh-CN" sz="2400" dirty="0"/>
              <a:t>这是</a:t>
            </a:r>
            <a:r>
              <a:rPr lang="zh-CN" altLang="en-US" sz="2400" dirty="0"/>
              <a:t>霍尔片</a:t>
            </a:r>
            <a:r>
              <a:rPr lang="zh-CN" altLang="zh-CN" sz="2400" dirty="0"/>
              <a:t>电极不对称、结晶不均匀及热磁效应等多种因素引起的副效应。具体如下：</a:t>
            </a:r>
          </a:p>
          <a:p>
            <a:r>
              <a:rPr lang="zh-CN" altLang="zh-CN" sz="2400" b="1" dirty="0">
                <a:solidFill>
                  <a:srgbClr val="FF0000"/>
                </a:solidFill>
              </a:rPr>
              <a:t>① 不等</a:t>
            </a:r>
            <a:r>
              <a:rPr lang="zh-CN" altLang="en-US" sz="2400" b="1" dirty="0">
                <a:solidFill>
                  <a:srgbClr val="FF0000"/>
                </a:solidFill>
              </a:rPr>
              <a:t>位</a:t>
            </a:r>
            <a:r>
              <a:rPr lang="zh-CN" altLang="zh-CN" sz="2400" b="1" dirty="0">
                <a:solidFill>
                  <a:srgbClr val="FF0000"/>
                </a:solidFill>
              </a:rPr>
              <a:t>电</a:t>
            </a:r>
            <a:r>
              <a:rPr lang="zh-CN" altLang="en-US" sz="2400" b="1" dirty="0">
                <a:solidFill>
                  <a:srgbClr val="FF0000"/>
                </a:solidFill>
              </a:rPr>
              <a:t>势差</a:t>
            </a:r>
            <a:r>
              <a:rPr lang="zh-CN" altLang="zh-CN" sz="2400" b="1" dirty="0">
                <a:solidFill>
                  <a:srgbClr val="FF0000"/>
                </a:solidFill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；</a:t>
            </a:r>
          </a:p>
          <a:p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②爱廷豪森效应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Etinghausen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)产生温差电动势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③能斯托效应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(Nernst)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④里纪－勒杜克效应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Righi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-Leduc)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在测量时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为了消除副效应的影响，分别改变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流过霍尔片的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磁场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的方向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，记下四组电势差数据。</a:t>
            </a: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对象 -2147482573"/>
          <p:cNvGraphicFramePr>
            <a:graphicFrameLocks noChangeAspect="1"/>
          </p:cNvGraphicFramePr>
          <p:nvPr/>
        </p:nvGraphicFramePr>
        <p:xfrm>
          <a:off x="3129915" y="2954655"/>
          <a:ext cx="411480" cy="462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3200" imgH="228600" progId="Equation.3">
                  <p:embed/>
                </p:oleObj>
              </mc:Choice>
              <mc:Fallback>
                <p:oleObj r:id="rId2" imgW="2032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29915" y="2954655"/>
                        <a:ext cx="411480" cy="4629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2459"/>
          <p:cNvGraphicFramePr>
            <a:graphicFrameLocks noChangeAspect="1"/>
          </p:cNvGraphicFramePr>
          <p:nvPr/>
        </p:nvGraphicFramePr>
        <p:xfrm>
          <a:off x="7025640" y="3417570"/>
          <a:ext cx="4127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0500" imgH="228600" progId="Equation.DSMT4">
                  <p:embed/>
                </p:oleObj>
              </mc:Choice>
              <mc:Fallback>
                <p:oleObj r:id="rId2" imgW="190500" imgH="2286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25640" y="3417570"/>
                        <a:ext cx="4127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423"/>
          <p:cNvGraphicFramePr>
            <a:graphicFrameLocks noChangeAspect="1"/>
          </p:cNvGraphicFramePr>
          <p:nvPr/>
        </p:nvGraphicFramePr>
        <p:xfrm>
          <a:off x="3839845" y="3803015"/>
          <a:ext cx="412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8600" imgH="228600" progId="Equation.3">
                  <p:embed/>
                </p:oleObj>
              </mc:Choice>
              <mc:Fallback>
                <p:oleObj r:id="rId2" imgW="228600" imgH="228600" progId="Equation.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39845" y="3803015"/>
                        <a:ext cx="412750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458"/>
          <p:cNvGraphicFramePr>
            <a:graphicFrameLocks noChangeAspect="1"/>
          </p:cNvGraphicFramePr>
          <p:nvPr/>
        </p:nvGraphicFramePr>
        <p:xfrm>
          <a:off x="5522595" y="4215765"/>
          <a:ext cx="51816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8600" imgH="228600" progId="Equation.DSMT4">
                  <p:embed/>
                </p:oleObj>
              </mc:Choice>
              <mc:Fallback>
                <p:oleObj r:id="rId2" imgW="228600" imgH="2286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22595" y="4215765"/>
                        <a:ext cx="51816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1">
            <a:extLst>
              <a:ext uri="{FF2B5EF4-FFF2-40B4-BE49-F238E27FC236}">
                <a16:creationId xmlns:a16="http://schemas.microsoft.com/office/drawing/2014/main" id="{390A9FFA-D1E7-5552-CD99-6DD2A6E05980}"/>
              </a:ext>
            </a:extLst>
          </p:cNvPr>
          <p:cNvSpPr txBox="1">
            <a:spLocks/>
          </p:cNvSpPr>
          <p:nvPr/>
        </p:nvSpPr>
        <p:spPr bwMode="auto">
          <a:xfrm>
            <a:off x="5382894" y="-178027"/>
            <a:ext cx="4077335" cy="840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二、实验原理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标题 1"/>
          <p:cNvSpPr>
            <a:spLocks noGrp="1"/>
          </p:cNvSpPr>
          <p:nvPr>
            <p:ph type="title"/>
          </p:nvPr>
        </p:nvSpPr>
        <p:spPr>
          <a:xfrm>
            <a:off x="457200" y="692150"/>
            <a:ext cx="8229600" cy="554038"/>
          </a:xfrm>
        </p:spPr>
        <p:txBody>
          <a:bodyPr/>
          <a:lstStyle/>
          <a:p>
            <a:pPr algn="l"/>
            <a:r>
              <a:rPr lang="zh-CN" altLang="zh-CN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消除副效应的方法</a:t>
            </a:r>
            <a:r>
              <a:rPr lang="zh-CN" altLang="en-US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：换向法</a:t>
            </a:r>
            <a:endParaRPr lang="zh-CN" altLang="en-US" sz="3200" dirty="0"/>
          </a:p>
        </p:txBody>
      </p:sp>
      <p:sp>
        <p:nvSpPr>
          <p:cNvPr id="3083" name="内容占位符 2"/>
          <p:cNvSpPr>
            <a:spLocks noGrp="1"/>
          </p:cNvSpPr>
          <p:nvPr>
            <p:ph idx="1"/>
          </p:nvPr>
        </p:nvSpPr>
        <p:spPr>
          <a:xfrm>
            <a:off x="457200" y="1301750"/>
            <a:ext cx="8229600" cy="4486275"/>
          </a:xfrm>
        </p:spPr>
        <p:txBody>
          <a:bodyPr/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正向、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正向时：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负向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正向时：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负向、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负向时：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正向、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负向时：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作运算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，并取平均值，得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温差电动势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始终方向相同，所以换向法不能消除它，但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故可以忽略不计，于是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>
              <a:buFontTx/>
              <a:buNone/>
            </a:pP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0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3074" name="Object 1"/>
          <p:cNvGraphicFramePr>
            <a:graphicFrameLocks noChangeAspect="1"/>
          </p:cNvGraphicFramePr>
          <p:nvPr/>
        </p:nvGraphicFramePr>
        <p:xfrm>
          <a:off x="3649192" y="1386231"/>
          <a:ext cx="329723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735" imgH="228600" progId="Equation.DSMT4">
                  <p:embed/>
                </p:oleObj>
              </mc:Choice>
              <mc:Fallback>
                <p:oleObj name="Equation" r:id="rId2" imgW="1943735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192" y="1386231"/>
                        <a:ext cx="3297238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618342" y="1775254"/>
          <a:ext cx="33940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5335" imgH="228600" progId="Equation.DSMT4">
                  <p:embed/>
                </p:oleObj>
              </mc:Choice>
              <mc:Fallback>
                <p:oleObj name="Equation" r:id="rId2" imgW="2045335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8342" y="1775254"/>
                        <a:ext cx="339407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3076" name="Object 5"/>
          <p:cNvGraphicFramePr>
            <a:graphicFrameLocks noChangeAspect="1"/>
          </p:cNvGraphicFramePr>
          <p:nvPr/>
        </p:nvGraphicFramePr>
        <p:xfrm>
          <a:off x="3630870" y="2213705"/>
          <a:ext cx="34639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735" imgH="228600" progId="Equation.DSMT4">
                  <p:embed/>
                </p:oleObj>
              </mc:Choice>
              <mc:Fallback>
                <p:oleObj name="Equation" r:id="rId2" imgW="1943735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870" y="2213705"/>
                        <a:ext cx="34639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3077" name="Object 7"/>
          <p:cNvGraphicFramePr>
            <a:graphicFrameLocks noChangeAspect="1"/>
          </p:cNvGraphicFramePr>
          <p:nvPr/>
        </p:nvGraphicFramePr>
        <p:xfrm>
          <a:off x="3633059" y="2677469"/>
          <a:ext cx="347503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5335" imgH="228600" progId="Equation.DSMT4">
                  <p:embed/>
                </p:oleObj>
              </mc:Choice>
              <mc:Fallback>
                <p:oleObj name="Equation" r:id="rId2" imgW="2045335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059" y="2677469"/>
                        <a:ext cx="3475038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3078" name="Object 9"/>
          <p:cNvGraphicFramePr>
            <a:graphicFrameLocks noChangeAspect="1"/>
          </p:cNvGraphicFramePr>
          <p:nvPr/>
        </p:nvGraphicFramePr>
        <p:xfrm>
          <a:off x="1845190" y="3111630"/>
          <a:ext cx="18002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4270" imgH="228600" progId="Equation.DSMT4">
                  <p:embed/>
                </p:oleObj>
              </mc:Choice>
              <mc:Fallback>
                <p:oleObj name="Equation" r:id="rId2" imgW="114427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190" y="3111630"/>
                        <a:ext cx="1800225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9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3079" name="Object 11"/>
          <p:cNvGraphicFramePr>
            <a:graphicFrameLocks noChangeAspect="1"/>
          </p:cNvGraphicFramePr>
          <p:nvPr/>
        </p:nvGraphicFramePr>
        <p:xfrm>
          <a:off x="916589" y="3437281"/>
          <a:ext cx="30654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393700" progId="Equation.DSMT4">
                  <p:embed/>
                </p:oleObj>
              </mc:Choice>
              <mc:Fallback>
                <p:oleObj name="Equation" r:id="rId2" imgW="2057400" imgH="393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89" y="3437281"/>
                        <a:ext cx="306546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308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909970"/>
              </p:ext>
            </p:extLst>
          </p:nvPr>
        </p:nvGraphicFramePr>
        <p:xfrm>
          <a:off x="2544984" y="4376568"/>
          <a:ext cx="12287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700" imgH="215900" progId="Equation.DSMT4">
                  <p:embed/>
                </p:oleObj>
              </mc:Choice>
              <mc:Fallback>
                <p:oleObj name="Equation" r:id="rId2" imgW="647700" imgH="215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984" y="4376568"/>
                        <a:ext cx="122872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1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eaLnBrk="0" hangingPunct="0"/>
            <a:endParaRPr lang="zh-CN" altLang="en-US"/>
          </a:p>
        </p:txBody>
      </p:sp>
      <p:graphicFrame>
        <p:nvGraphicFramePr>
          <p:cNvPr id="3081" name="Object 15"/>
          <p:cNvGraphicFramePr>
            <a:graphicFrameLocks noChangeAspect="1"/>
          </p:cNvGraphicFramePr>
          <p:nvPr/>
        </p:nvGraphicFramePr>
        <p:xfrm>
          <a:off x="822325" y="4973955"/>
          <a:ext cx="6612890" cy="81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5000" imgH="393700" progId="Equation.DSMT4">
                  <p:embed/>
                </p:oleObj>
              </mc:Choice>
              <mc:Fallback>
                <p:oleObj name="Equation" r:id="rId2" imgW="3175000" imgH="3937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4973955"/>
                        <a:ext cx="6612890" cy="81407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145D089-251D-2C66-B29C-732500A1F771}"/>
              </a:ext>
            </a:extLst>
          </p:cNvPr>
          <p:cNvSpPr txBox="1">
            <a:spLocks/>
          </p:cNvSpPr>
          <p:nvPr/>
        </p:nvSpPr>
        <p:spPr bwMode="auto">
          <a:xfrm>
            <a:off x="5382894" y="-178027"/>
            <a:ext cx="4077335" cy="840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三、实验原理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6684" y="635453"/>
            <a:ext cx="7586345" cy="620395"/>
          </a:xfrm>
        </p:spPr>
        <p:txBody>
          <a:bodyPr/>
          <a:lstStyle/>
          <a:p>
            <a:pPr algn="l"/>
            <a:br>
              <a:rPr lang="zh-CN" altLang="en-US" sz="4000" b="1" dirty="0">
                <a:sym typeface="+mn-ea"/>
              </a:rPr>
            </a:br>
            <a:r>
              <a:rPr lang="zh-CN" altLang="en-US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通电螺线管内部轴向磁场分布</a:t>
            </a:r>
            <a:br>
              <a:rPr lang="zh-CN" altLang="en-US" sz="3600" dirty="0">
                <a:solidFill>
                  <a:srgbClr val="FF0000"/>
                </a:solidFill>
              </a:rPr>
            </a:b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365885"/>
            <a:ext cx="8305800" cy="460438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     根据毕奥－萨伐尔(Biot-Savart)定律，可以证明螺线管轴线上任意一点的磁感应强度为</a:t>
            </a:r>
          </a:p>
          <a:p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式中的   为真空的磁导率，</a:t>
            </a:r>
            <a:r>
              <a:rPr lang="en-US" altLang="zh-CN" sz="2400" i="1" dirty="0"/>
              <a:t>N</a:t>
            </a:r>
            <a:r>
              <a:rPr lang="zh-CN" altLang="en-US" sz="2400" dirty="0"/>
              <a:t>为螺线管单位长度的匝数，</a:t>
            </a:r>
            <a:r>
              <a:rPr lang="zh-CN" altLang="en-US" sz="2400" i="1" dirty="0"/>
              <a:t>I</a:t>
            </a:r>
            <a:r>
              <a:rPr lang="zh-CN" altLang="en-US" sz="2400" i="1" baseline="-25000" dirty="0"/>
              <a:t>M</a:t>
            </a:r>
            <a:r>
              <a:rPr lang="zh-CN" altLang="en-US" sz="2400" dirty="0"/>
              <a:t>为螺线管中的电流</a:t>
            </a:r>
            <a:r>
              <a:rPr lang="en-US" altLang="zh-CN" sz="2400" dirty="0"/>
              <a:t>(</a:t>
            </a:r>
            <a:r>
              <a:rPr lang="zh-CN" altLang="en-US" sz="2400" dirty="0"/>
              <a:t>通常称为励磁电流）。</a:t>
            </a:r>
          </a:p>
          <a:p>
            <a:pPr marL="0" indent="0">
              <a:buNone/>
            </a:pPr>
            <a:r>
              <a:rPr lang="zh-CN" altLang="en-US" sz="2400" dirty="0"/>
              <a:t>     长直通电螺线管轴线上中心点的磁感应强度为</a:t>
            </a:r>
          </a:p>
          <a:p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	        </a:t>
            </a:r>
          </a:p>
          <a:p>
            <a:pPr marL="0" indent="0">
              <a:buNone/>
            </a:pPr>
            <a:r>
              <a:rPr lang="zh-CN" altLang="en-US" sz="2400" dirty="0"/>
              <a:t>      螺线管轴线上两端面上的磁感应强度为</a:t>
            </a:r>
          </a:p>
          <a:p>
            <a:pPr marL="0" indent="0">
              <a:buNone/>
            </a:pPr>
            <a:r>
              <a:rPr lang="zh-CN" altLang="en-US" sz="2400" dirty="0"/>
              <a:t>      </a:t>
            </a:r>
            <a:r>
              <a:rPr lang="zh-CN" altLang="en-US" sz="2400" dirty="0">
                <a:sym typeface="+mn-ea"/>
              </a:rPr>
              <a:t>为螺线管总匝数，</a:t>
            </a:r>
            <a:r>
              <a:rPr lang="zh-CN" altLang="en-US" sz="2400" i="1" dirty="0"/>
              <a:t>L</a:t>
            </a:r>
            <a:r>
              <a:rPr lang="zh-CN" altLang="en-US" sz="2400" dirty="0"/>
              <a:t>为螺线管的长度，</a:t>
            </a:r>
            <a:r>
              <a:rPr lang="zh-CN" altLang="en-US" sz="2400" i="1" dirty="0"/>
              <a:t>D</a:t>
            </a:r>
            <a:r>
              <a:rPr lang="zh-CN" altLang="en-US" sz="2400" dirty="0"/>
              <a:t>为螺线管的平均直径。</a:t>
            </a:r>
          </a:p>
        </p:txBody>
      </p:sp>
      <p:graphicFrame>
        <p:nvGraphicFramePr>
          <p:cNvPr id="4" name="对象 -2147482439"/>
          <p:cNvGraphicFramePr>
            <a:graphicFrameLocks noChangeAspect="1"/>
          </p:cNvGraphicFramePr>
          <p:nvPr/>
        </p:nvGraphicFramePr>
        <p:xfrm>
          <a:off x="2271395" y="2390140"/>
          <a:ext cx="3129915" cy="3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41500" imgH="228600" progId="Equation.DSMT4">
                  <p:embed/>
                </p:oleObj>
              </mc:Choice>
              <mc:Fallback>
                <p:oleObj r:id="rId2" imgW="1841500" imgH="228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1395" y="2390140"/>
                        <a:ext cx="3129915" cy="3886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438"/>
          <p:cNvGraphicFramePr>
            <a:graphicFrameLocks noChangeAspect="1"/>
          </p:cNvGraphicFramePr>
          <p:nvPr/>
        </p:nvGraphicFramePr>
        <p:xfrm>
          <a:off x="1479550" y="2778760"/>
          <a:ext cx="308610" cy="37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0500" imgH="228600" progId="Equation.DSMT4">
                  <p:embed/>
                </p:oleObj>
              </mc:Choice>
              <mc:Fallback>
                <p:oleObj r:id="rId2" imgW="190500" imgH="2286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9550" y="2778760"/>
                        <a:ext cx="308610" cy="3702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570"/>
          <p:cNvGraphicFramePr>
            <a:graphicFrameLocks noChangeAspect="1"/>
          </p:cNvGraphicFramePr>
          <p:nvPr/>
        </p:nvGraphicFramePr>
        <p:xfrm>
          <a:off x="2100580" y="4009708"/>
          <a:ext cx="282448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79500" imgH="444500" progId="Equation.3">
                  <p:embed/>
                </p:oleObj>
              </mc:Choice>
              <mc:Fallback>
                <p:oleObj r:id="rId2" imgW="1079500" imgH="444500" progId="Equation.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00580" y="4009708"/>
                        <a:ext cx="2824480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2569"/>
          <p:cNvGraphicFramePr>
            <a:graphicFrameLocks noChangeAspect="1"/>
          </p:cNvGraphicFramePr>
          <p:nvPr/>
        </p:nvGraphicFramePr>
        <p:xfrm>
          <a:off x="6257290" y="4637405"/>
          <a:ext cx="2384425" cy="633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76400" imgH="444500" progId="Equation.3">
                  <p:embed/>
                </p:oleObj>
              </mc:Choice>
              <mc:Fallback>
                <p:oleObj r:id="rId2" imgW="1676400" imgH="444500" progId="Equation.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57290" y="4637405"/>
                        <a:ext cx="2384425" cy="6337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813153"/>
              </p:ext>
            </p:extLst>
          </p:nvPr>
        </p:nvGraphicFramePr>
        <p:xfrm>
          <a:off x="604611" y="5194935"/>
          <a:ext cx="43751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4000" imgH="228600" progId="Equation.KSEE3">
                  <p:embed/>
                </p:oleObj>
              </mc:Choice>
              <mc:Fallback>
                <p:oleObj r:id="rId2" imgW="254000" imgH="2286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4611" y="5194935"/>
                        <a:ext cx="437515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3FC19071-5665-42D3-10AF-D3D96E42C65F}"/>
              </a:ext>
            </a:extLst>
          </p:cNvPr>
          <p:cNvSpPr txBox="1">
            <a:spLocks/>
          </p:cNvSpPr>
          <p:nvPr/>
        </p:nvSpPr>
        <p:spPr bwMode="auto">
          <a:xfrm>
            <a:off x="5382894" y="-178027"/>
            <a:ext cx="4077335" cy="840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三、实验原理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90C7179B-88FF-572E-41E7-EF0123D75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78" y="1160173"/>
            <a:ext cx="4178922" cy="365244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EC986EB-8614-3D8E-E034-79AA5C465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914" y="1160172"/>
            <a:ext cx="3907276" cy="356422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7471DEC-7033-81FA-20F0-A1166553269F}"/>
              </a:ext>
            </a:extLst>
          </p:cNvPr>
          <p:cNvSpPr txBox="1"/>
          <p:nvPr/>
        </p:nvSpPr>
        <p:spPr>
          <a:xfrm>
            <a:off x="4865914" y="4898692"/>
            <a:ext cx="4067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图</a:t>
            </a:r>
            <a:r>
              <a:rPr lang="en-US" altLang="zh-CN" sz="1800" dirty="0"/>
              <a:t>2</a:t>
            </a:r>
            <a:r>
              <a:rPr lang="zh-CN" altLang="en-US" sz="1800" dirty="0"/>
              <a:t>、霍尔传感器位于螺线管“轴线中心”处，</a:t>
            </a:r>
            <a:r>
              <a:rPr lang="zh-CN" altLang="zh-CN" sz="1800" dirty="0"/>
              <a:t>方拉杆</a:t>
            </a:r>
            <a:r>
              <a:rPr lang="en-US" altLang="zh-CN" sz="1800" dirty="0"/>
              <a:t>x=0cm</a:t>
            </a:r>
            <a:r>
              <a:rPr lang="zh-CN" altLang="zh-CN" sz="1800" dirty="0"/>
              <a:t>刻度对准定位线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FE9551-3E7E-9E93-BB1A-1DA75CD2E23E}"/>
              </a:ext>
            </a:extLst>
          </p:cNvPr>
          <p:cNvSpPr txBox="1"/>
          <p:nvPr/>
        </p:nvSpPr>
        <p:spPr>
          <a:xfrm>
            <a:off x="906237" y="4950670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</a:t>
            </a:r>
            <a:r>
              <a:rPr lang="zh-CN" altLang="en-US" dirty="0"/>
              <a:t>、霍尔效应实验仪器实物图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A56BC67-A6A6-85A3-A06B-93993F13A332}"/>
              </a:ext>
            </a:extLst>
          </p:cNvPr>
          <p:cNvSpPr txBox="1">
            <a:spLocks/>
          </p:cNvSpPr>
          <p:nvPr/>
        </p:nvSpPr>
        <p:spPr bwMode="auto">
          <a:xfrm>
            <a:off x="5382894" y="-178027"/>
            <a:ext cx="4077335" cy="840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四、实验仪器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5455" y="1035064"/>
            <a:ext cx="82213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FB400型螺线管磁场测定仪由JK50电压测量、双路恒流电源和测试架组成，实物图如下图所示：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69595" y="4152265"/>
            <a:ext cx="80048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、实验探头－砷化镓霍尔传感器，</a:t>
            </a:r>
            <a:r>
              <a:rPr lang="en-US" altLang="zh-CN" sz="2000" dirty="0"/>
              <a:t>N</a:t>
            </a:r>
            <a:r>
              <a:rPr lang="zh-CN" altLang="en-US" sz="2000" dirty="0"/>
              <a:t>型半导体材料。</a:t>
            </a:r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螺线管参数</a:t>
            </a:r>
            <a:r>
              <a:rPr lang="en-US" altLang="zh-CN" sz="2000" dirty="0"/>
              <a:t>：</a:t>
            </a:r>
          </a:p>
          <a:p>
            <a:r>
              <a:rPr lang="en-US" altLang="zh-CN" sz="2000" dirty="0"/>
              <a:t>(１）螺线管长度：L=280mm ,</a:t>
            </a:r>
            <a:r>
              <a:rPr lang="en-US" altLang="zh-CN" sz="2000" dirty="0" err="1"/>
              <a:t>螺线管内径</a:t>
            </a:r>
            <a:r>
              <a:rPr lang="en-US" altLang="zh-CN" sz="2000" dirty="0"/>
              <a:t>                  ,</a:t>
            </a:r>
            <a:r>
              <a:rPr lang="zh-CN" altLang="en-US" sz="2000" dirty="0"/>
              <a:t>外径</a:t>
            </a:r>
            <a:endParaRPr lang="en-US" altLang="zh-CN" sz="2000" dirty="0"/>
          </a:p>
          <a:p>
            <a:r>
              <a:rPr lang="en-US" altLang="zh-CN" sz="2000" dirty="0"/>
              <a:t>(２）螺线管层数10层，螺线管总匝数                  </a:t>
            </a:r>
            <a:r>
              <a:rPr lang="zh-CN" altLang="en-US" sz="2000" dirty="0"/>
              <a:t>。</a:t>
            </a:r>
            <a:r>
              <a:rPr lang="en-US" altLang="zh-CN" sz="2000" dirty="0"/>
              <a:t>                  </a:t>
            </a:r>
          </a:p>
          <a:p>
            <a:endParaRPr lang="en-US" altLang="zh-CN" sz="2000" dirty="0"/>
          </a:p>
        </p:txBody>
      </p:sp>
      <p:graphicFrame>
        <p:nvGraphicFramePr>
          <p:cNvPr id="3" name="对象 -21474824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398392"/>
              </p:ext>
            </p:extLst>
          </p:nvPr>
        </p:nvGraphicFramePr>
        <p:xfrm>
          <a:off x="5386388" y="4784090"/>
          <a:ext cx="1179830" cy="348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74065" imgH="228600" progId="Equation.3">
                  <p:embed/>
                </p:oleObj>
              </mc:Choice>
              <mc:Fallback>
                <p:oleObj r:id="rId2" imgW="774065" imgH="228600" progId="Equation.3">
                  <p:embed/>
                  <p:pic>
                    <p:nvPicPr>
                      <p:cNvPr id="3" name="对象 -214748242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86388" y="4784090"/>
                        <a:ext cx="1179830" cy="3486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2427"/>
          <p:cNvGraphicFramePr>
            <a:graphicFrameLocks noChangeAspect="1"/>
          </p:cNvGraphicFramePr>
          <p:nvPr/>
        </p:nvGraphicFramePr>
        <p:xfrm>
          <a:off x="7310755" y="4784090"/>
          <a:ext cx="1263650" cy="367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7400" imgH="228600" progId="Equation.3">
                  <p:embed/>
                </p:oleObj>
              </mc:Choice>
              <mc:Fallback>
                <p:oleObj r:id="rId2" imgW="787400" imgH="228600" progId="Equation.3">
                  <p:embed/>
                  <p:pic>
                    <p:nvPicPr>
                      <p:cNvPr id="6" name="对象 -21474824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10755" y="4784090"/>
                        <a:ext cx="1263650" cy="3670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-2147482425"/>
          <p:cNvGraphicFramePr>
            <a:graphicFrameLocks noChangeAspect="1"/>
          </p:cNvGraphicFramePr>
          <p:nvPr/>
        </p:nvGraphicFramePr>
        <p:xfrm>
          <a:off x="4960620" y="5132705"/>
          <a:ext cx="1089025" cy="267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74065" imgH="190500" progId="Equation.3">
                  <p:embed/>
                </p:oleObj>
              </mc:Choice>
              <mc:Fallback>
                <p:oleObj r:id="rId2" imgW="774065" imgH="190500" progId="Equation.3">
                  <p:embed/>
                  <p:pic>
                    <p:nvPicPr>
                      <p:cNvPr id="8" name="对象 -21474824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60620" y="5132705"/>
                        <a:ext cx="1089025" cy="2679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FE0BF492-89A0-9091-BA61-33E10E578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692090" y="2114170"/>
            <a:ext cx="5190476" cy="2038095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BAB7078D-A2C7-91AA-BC21-21ADD820901C}"/>
              </a:ext>
            </a:extLst>
          </p:cNvPr>
          <p:cNvSpPr txBox="1">
            <a:spLocks/>
          </p:cNvSpPr>
          <p:nvPr/>
        </p:nvSpPr>
        <p:spPr bwMode="auto">
          <a:xfrm>
            <a:off x="5382894" y="-178027"/>
            <a:ext cx="4077335" cy="840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四、实验仪器</a:t>
            </a:r>
          </a:p>
        </p:txBody>
      </p:sp>
    </p:spTree>
    <p:extLst>
      <p:ext uri="{BB962C8B-B14F-4D97-AF65-F5344CB8AC3E}">
        <p14:creationId xmlns:p14="http://schemas.microsoft.com/office/powerpoint/2010/main" val="87814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内容占位符 2"/>
          <p:cNvSpPr>
            <a:spLocks noGrp="1"/>
          </p:cNvSpPr>
          <p:nvPr>
            <p:ph idx="1"/>
          </p:nvPr>
        </p:nvSpPr>
        <p:spPr>
          <a:xfrm>
            <a:off x="228202" y="798018"/>
            <a:ext cx="8340725" cy="538819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、调零：断开电路</a:t>
            </a:r>
            <a:r>
              <a:rPr lang="zh-CN" altLang="en-US" sz="1800" dirty="0">
                <a:latin typeface="+mn-ea"/>
              </a:rPr>
              <a:t>调节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1800" dirty="0">
                <a:latin typeface="+mn-ea"/>
              </a:rPr>
              <a:t>；调节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+mn-ea"/>
              </a:rPr>
              <a:t>；调节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、按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连接好电路。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dirty="0">
                <a:sym typeface="+mn-ea"/>
              </a:rPr>
              <a:t>3</a:t>
            </a:r>
            <a:r>
              <a:rPr lang="zh-CN" altLang="en-US" sz="1800" dirty="0">
                <a:sym typeface="+mn-ea"/>
              </a:rPr>
              <a:t>、</a:t>
            </a:r>
            <a:r>
              <a:rPr lang="zh-CN" altLang="en-US" sz="1800" b="1" dirty="0">
                <a:sym typeface="+mn-ea"/>
              </a:rPr>
              <a:t>验证霍尔电势差</a:t>
            </a:r>
            <a:r>
              <a:rPr lang="en-US" altLang="zh-CN" sz="1800" b="1" dirty="0">
                <a:sym typeface="+mn-ea"/>
              </a:rPr>
              <a:t>V</a:t>
            </a:r>
            <a:r>
              <a:rPr lang="en-US" altLang="zh-CN" sz="1800" b="1" baseline="-25000" dirty="0">
                <a:sym typeface="+mn-ea"/>
              </a:rPr>
              <a:t>H</a:t>
            </a:r>
            <a:r>
              <a:rPr lang="zh-CN" altLang="en-US" sz="1800" b="1" dirty="0">
                <a:sym typeface="+mn-ea"/>
              </a:rPr>
              <a:t>与螺线管内磁感应强度成正比</a:t>
            </a:r>
            <a:r>
              <a:rPr lang="en-US" altLang="zh-CN" sz="1800" b="1" dirty="0">
                <a:sym typeface="+mn-ea"/>
              </a:rPr>
              <a:t>:</a:t>
            </a:r>
            <a:r>
              <a:rPr lang="zh-CN" altLang="en-US" sz="1800" b="1" dirty="0">
                <a:sym typeface="+mn-ea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=4mA</a:t>
            </a:r>
            <a:r>
              <a:rPr lang="zh-CN" altLang="en-US" sz="1800" dirty="0">
                <a:sym typeface="+mn-ea"/>
              </a:rPr>
              <a:t> </a:t>
            </a:r>
          </a:p>
          <a:p>
            <a:pPr marL="0" indent="0">
              <a:buNone/>
            </a:pPr>
            <a:r>
              <a:rPr lang="zh-CN" altLang="en-US" sz="1800" dirty="0">
                <a:sym typeface="+mn-ea"/>
              </a:rPr>
              <a:t>由于</a:t>
            </a:r>
            <a:r>
              <a:rPr lang="zh-CN" altLang="zh-CN" sz="1800" dirty="0"/>
              <a:t>霍尔传感器是安装在方拉杆端头，因此要把霍尔传感器位置调节到螺线管轴线中心，即</a:t>
            </a:r>
            <a:r>
              <a:rPr lang="en-US" altLang="zh-CN" sz="1800" dirty="0">
                <a:solidFill>
                  <a:srgbClr val="FF0000"/>
                </a:solidFill>
              </a:rPr>
              <a:t>x=14.0cm</a:t>
            </a:r>
            <a:r>
              <a:rPr lang="en-US" altLang="zh-CN" sz="1800" dirty="0"/>
              <a:t>(</a:t>
            </a:r>
            <a:r>
              <a:rPr lang="zh-CN" altLang="zh-CN" sz="1800" dirty="0"/>
              <a:t>对应方拉杆</a:t>
            </a:r>
            <a:r>
              <a:rPr lang="en-US" altLang="zh-CN" sz="1800" dirty="0">
                <a:solidFill>
                  <a:srgbClr val="FF0000"/>
                </a:solidFill>
              </a:rPr>
              <a:t>x=0cm</a:t>
            </a:r>
            <a:r>
              <a:rPr lang="zh-CN" altLang="zh-CN" sz="1800" dirty="0"/>
              <a:t>刻度对准定位线</a:t>
            </a:r>
            <a:r>
              <a:rPr lang="en-US" altLang="zh-CN" sz="1800" dirty="0"/>
              <a:t>)</a:t>
            </a:r>
            <a:r>
              <a:rPr lang="zh-CN" altLang="en-US" sz="1800" dirty="0">
                <a:sym typeface="+mn-ea"/>
              </a:rPr>
              <a:t>，按表格</a:t>
            </a:r>
            <a:r>
              <a:rPr lang="en-US" altLang="zh-CN" sz="1800" dirty="0">
                <a:sym typeface="+mn-ea"/>
              </a:rPr>
              <a:t>1</a:t>
            </a:r>
            <a:r>
              <a:rPr lang="zh-CN" altLang="en-US" sz="1800" dirty="0">
                <a:sym typeface="+mn-ea"/>
              </a:rPr>
              <a:t>依次改变励磁电流，改变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dirty="0">
                <a:sym typeface="+mn-ea"/>
              </a:rPr>
              <a:t>和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1800" dirty="0">
                <a:sym typeface="+mn-ea"/>
              </a:rPr>
              <a:t>的方向测出</a:t>
            </a:r>
            <a:r>
              <a:rPr lang="zh-CN" altLang="en-US" sz="1800" dirty="0">
                <a:latin typeface="+mn-ea"/>
                <a:sym typeface="+mn-ea"/>
              </a:rPr>
              <a:t>各</a:t>
            </a:r>
            <a:r>
              <a:rPr lang="zh-CN" altLang="en-US" sz="1800" dirty="0">
                <a:sym typeface="+mn-ea"/>
              </a:rPr>
              <a:t>励磁电流对应的</a:t>
            </a:r>
            <a:r>
              <a:rPr lang="en-US" altLang="zh-CN" sz="1800" dirty="0">
                <a:sym typeface="+mn-ea"/>
              </a:rPr>
              <a:t>V</a:t>
            </a:r>
            <a:r>
              <a:rPr lang="en-US" altLang="zh-CN" sz="1800" baseline="-25000" dirty="0">
                <a:sym typeface="+mn-ea"/>
              </a:rPr>
              <a:t>H</a:t>
            </a:r>
            <a:r>
              <a:rPr lang="zh-CN" altLang="en-US" sz="1800" dirty="0">
                <a:sym typeface="+mn-ea"/>
              </a:rPr>
              <a:t>填入表格</a:t>
            </a:r>
            <a:r>
              <a:rPr lang="en-US" altLang="zh-CN" sz="1800" dirty="0">
                <a:sym typeface="+mn-ea"/>
              </a:rPr>
              <a:t>1</a:t>
            </a:r>
            <a:r>
              <a:rPr lang="zh-CN" altLang="en-US" sz="1800" dirty="0">
                <a:sym typeface="+mn-ea"/>
              </a:rPr>
              <a:t>中。</a:t>
            </a:r>
            <a:endParaRPr lang="en-US" altLang="zh-CN" sz="1800" dirty="0">
              <a:sym typeface="+mn-ea"/>
            </a:endParaRPr>
          </a:p>
          <a:p>
            <a:pPr marL="0" indent="0">
              <a:buNone/>
            </a:pPr>
            <a:r>
              <a:rPr lang="en-US" altLang="zh-CN" sz="1800" b="1" dirty="0">
                <a:sym typeface="+mn-ea"/>
              </a:rPr>
              <a:t>4</a:t>
            </a:r>
            <a:r>
              <a:rPr lang="zh-CN" altLang="en-US" sz="1800" b="1" dirty="0">
                <a:sym typeface="+mn-ea"/>
              </a:rPr>
              <a:t>、</a:t>
            </a:r>
            <a:r>
              <a:rPr lang="zh-CN" altLang="en-US" sz="1800" b="1" dirty="0"/>
              <a:t>测量霍尔电势差</a:t>
            </a:r>
            <a:r>
              <a:rPr lang="en-US" altLang="zh-CN" sz="1800" b="1" dirty="0"/>
              <a:t>V</a:t>
            </a:r>
            <a:r>
              <a:rPr lang="en-US" altLang="zh-CN" sz="1800" b="1" baseline="-25000" dirty="0"/>
              <a:t>H</a:t>
            </a:r>
            <a:r>
              <a:rPr lang="zh-CN" altLang="en-US" sz="1800" b="1" dirty="0"/>
              <a:t>与霍尔工作电流</a:t>
            </a:r>
            <a:r>
              <a:rPr lang="en-US" altLang="zh-CN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1800" b="1" dirty="0"/>
              <a:t>的关系</a:t>
            </a:r>
            <a:r>
              <a:rPr lang="zh-CN" altLang="en-US" sz="1800" dirty="0"/>
              <a:t>：</a:t>
            </a:r>
          </a:p>
          <a:p>
            <a:pPr marL="0" indent="0">
              <a:buNone/>
            </a:pPr>
            <a:r>
              <a:rPr lang="zh-CN" altLang="en-US" sz="1800" dirty="0"/>
              <a:t>                   ，霍尔传感器位于螺线管“轴线中心”，即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1800" dirty="0">
                <a:solidFill>
                  <a:srgbClr val="FF0000"/>
                </a:solidFill>
              </a:rPr>
              <a:t>=14cm</a:t>
            </a:r>
            <a:r>
              <a:rPr lang="zh-CN" altLang="en-US" sz="1800" dirty="0"/>
              <a:t>处（对应方拉杆上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1800" dirty="0">
                <a:solidFill>
                  <a:srgbClr val="FF0000"/>
                </a:solidFill>
              </a:rPr>
              <a:t>=0</a:t>
            </a:r>
            <a:r>
              <a:rPr lang="en-US" altLang="zh-CN" sz="1800" dirty="0">
                <a:solidFill>
                  <a:srgbClr val="FF0000"/>
                </a:solidFill>
              </a:rPr>
              <a:t>cm</a:t>
            </a:r>
            <a:r>
              <a:rPr lang="zh-CN" altLang="en-US" sz="1800" dirty="0"/>
              <a:t>刻度对准定位线），按表</a:t>
            </a:r>
            <a:r>
              <a:rPr lang="en-US" altLang="zh-CN" sz="1800" dirty="0"/>
              <a:t>2</a:t>
            </a:r>
            <a:r>
              <a:rPr lang="zh-CN" altLang="en-US" sz="1800" dirty="0"/>
              <a:t>中数据改变霍尔工作电流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1800" dirty="0"/>
              <a:t>测出对应的霍尔电压填入表</a:t>
            </a:r>
            <a:r>
              <a:rPr lang="en-US" altLang="zh-CN" sz="1800" dirty="0"/>
              <a:t>2</a:t>
            </a:r>
            <a:r>
              <a:rPr lang="zh-CN" altLang="en-US" sz="1800" dirty="0"/>
              <a:t>中。</a:t>
            </a:r>
            <a:endParaRPr 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、测量</a:t>
            </a:r>
            <a:r>
              <a:rPr lang="zh-CN" altLang="en-US" sz="1800" b="1" dirty="0">
                <a:sym typeface="+mn-ea"/>
              </a:rPr>
              <a:t>通电螺线管轴向磁场分布</a:t>
            </a:r>
            <a:r>
              <a:rPr lang="en-US" altLang="zh-CN" sz="1800" b="1" dirty="0">
                <a:sym typeface="+mn-ea"/>
              </a:rPr>
              <a:t>:</a:t>
            </a:r>
            <a:r>
              <a:rPr 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调节励磁电流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=500mA</a:t>
            </a:r>
            <a:r>
              <a:rPr 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，调节霍尔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片</a:t>
            </a:r>
            <a:r>
              <a:rPr 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电流为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=4mA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1800" dirty="0">
                <a:latin typeface="+mn-ea"/>
              </a:rPr>
              <a:t>根据表</a:t>
            </a:r>
            <a:r>
              <a:rPr lang="en-US" altLang="zh-CN" sz="1800" dirty="0">
                <a:latin typeface="+mn-ea"/>
              </a:rPr>
              <a:t>3</a:t>
            </a:r>
            <a:r>
              <a:rPr lang="zh-CN" altLang="en-US" sz="1800" dirty="0">
                <a:latin typeface="+mn-ea"/>
              </a:rPr>
              <a:t>中的要求确定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1800" dirty="0">
                <a:latin typeface="+mn-ea"/>
              </a:rPr>
              <a:t>和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1800" dirty="0">
                <a:latin typeface="+mn-ea"/>
              </a:rPr>
              <a:t>的方向。根据表</a:t>
            </a:r>
            <a:r>
              <a:rPr lang="en-US" altLang="zh-CN" sz="1800" dirty="0">
                <a:latin typeface="+mn-ea"/>
              </a:rPr>
              <a:t>3</a:t>
            </a:r>
            <a:r>
              <a:rPr lang="zh-CN" altLang="en-US" sz="1800" dirty="0">
                <a:latin typeface="+mn-ea"/>
              </a:rPr>
              <a:t>中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1800" dirty="0">
                <a:latin typeface="+mn-ea"/>
              </a:rPr>
              <a:t>的数据</a:t>
            </a:r>
            <a:r>
              <a:rPr 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霍尔片在不同位置处的霍尔电压。记下</a:t>
            </a:r>
            <a:r>
              <a:rPr 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仪器标注的霍尔灵敏度，把霍尔电压换算成磁感应强度，作磁场分布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B----X </a:t>
            </a:r>
            <a:r>
              <a:rPr 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曲线。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6</a:t>
            </a:r>
            <a:r>
              <a:rPr lang="zh-CN" altLang="en-US" sz="1800" dirty="0">
                <a:latin typeface="+mn-ea"/>
              </a:rPr>
              <a:t>、计算</a:t>
            </a:r>
            <a:r>
              <a:rPr lang="en-US" altLang="zh-CN" sz="1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（刻度对准定位线）</a:t>
            </a:r>
            <a:r>
              <a:rPr lang="zh-CN" altLang="en-US" sz="1800" dirty="0">
                <a:latin typeface="+mn-ea"/>
              </a:rPr>
              <a:t>处磁场强度的理论值，并计算相对不确定度。</a:t>
            </a:r>
            <a:endParaRPr lang="en-US" altLang="zh-CN" sz="1800" b="1" dirty="0">
              <a:latin typeface="+mn-ea"/>
              <a:cs typeface="Times New Roman" panose="02020603050405020304" pitchFamily="18" charset="0"/>
            </a:endParaRPr>
          </a:p>
          <a:p>
            <a:endParaRPr lang="zh-CN" altLang="en-US" sz="2000" dirty="0"/>
          </a:p>
        </p:txBody>
      </p:sp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151106"/>
              </p:ext>
            </p:extLst>
          </p:nvPr>
        </p:nvGraphicFramePr>
        <p:xfrm>
          <a:off x="3335677" y="5427988"/>
          <a:ext cx="2125776" cy="758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900" imgH="482600" progId="Equation.DSMT4">
                  <p:embed/>
                </p:oleObj>
              </mc:Choice>
              <mc:Fallback>
                <p:oleObj name="Equation" r:id="rId2" imgW="1358900" imgH="4826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677" y="5427988"/>
                        <a:ext cx="2125776" cy="7582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82524">
            <a:extLst>
              <a:ext uri="{FF2B5EF4-FFF2-40B4-BE49-F238E27FC236}">
                <a16:creationId xmlns:a16="http://schemas.microsoft.com/office/drawing/2014/main" id="{B7176A10-F54A-1283-2C99-012127579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968744"/>
              </p:ext>
            </p:extLst>
          </p:nvPr>
        </p:nvGraphicFramePr>
        <p:xfrm>
          <a:off x="456803" y="3092562"/>
          <a:ext cx="1019517" cy="295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00100" imgH="215900" progId="Equation.3">
                  <p:embed/>
                </p:oleObj>
              </mc:Choice>
              <mc:Fallback>
                <p:oleObj r:id="rId2" imgW="800100" imgH="215900" progId="Equation.3">
                  <p:embed/>
                  <p:pic>
                    <p:nvPicPr>
                      <p:cNvPr id="8" name="对象 -2147482524">
                        <a:extLst>
                          <a:ext uri="{FF2B5EF4-FFF2-40B4-BE49-F238E27FC236}">
                            <a16:creationId xmlns:a16="http://schemas.microsoft.com/office/drawing/2014/main" id="{21ADA5A9-4B56-DB1B-7327-AC573BF05A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6803" y="3092562"/>
                        <a:ext cx="1019517" cy="29504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1">
            <a:extLst>
              <a:ext uri="{FF2B5EF4-FFF2-40B4-BE49-F238E27FC236}">
                <a16:creationId xmlns:a16="http://schemas.microsoft.com/office/drawing/2014/main" id="{FD0D0739-0F24-8678-86A1-9C8D0CB3384C}"/>
              </a:ext>
            </a:extLst>
          </p:cNvPr>
          <p:cNvSpPr txBox="1">
            <a:spLocks/>
          </p:cNvSpPr>
          <p:nvPr/>
        </p:nvSpPr>
        <p:spPr bwMode="auto">
          <a:xfrm>
            <a:off x="5382894" y="-178027"/>
            <a:ext cx="4077335" cy="840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五、实验内容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63633"/>
            <a:ext cx="8966835" cy="5452110"/>
          </a:xfrm>
        </p:spPr>
        <p:txBody>
          <a:bodyPr/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、验证霍尔电势差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H</a:t>
            </a:r>
            <a:r>
              <a:rPr lang="zh-CN" altLang="en-US" sz="2400" dirty="0"/>
              <a:t>与螺线管内磁感应强度成正比</a:t>
            </a:r>
          </a:p>
          <a:p>
            <a:r>
              <a:rPr lang="zh-CN" altLang="en-US" sz="2400" dirty="0"/>
              <a:t>                   ，霍尔传感器位于螺线管“轴线中心”，即</a:t>
            </a:r>
            <a:r>
              <a:rPr lang="en-US" altLang="zh-CN" sz="2400" dirty="0"/>
              <a:t>x</a:t>
            </a:r>
            <a:r>
              <a:rPr lang="zh-CN" altLang="en-US" sz="2400" dirty="0"/>
              <a:t>=14cm（对应方拉杆</a:t>
            </a:r>
            <a:r>
              <a:rPr lang="en-US" altLang="zh-CN" sz="2400" dirty="0"/>
              <a:t>x</a:t>
            </a:r>
            <a:r>
              <a:rPr lang="zh-CN" altLang="en-US" sz="2400" dirty="0"/>
              <a:t>=0</a:t>
            </a:r>
            <a:r>
              <a:rPr lang="en-US" altLang="zh-CN" sz="2400" dirty="0"/>
              <a:t>cm</a:t>
            </a:r>
            <a:r>
              <a:rPr lang="zh-CN" altLang="en-US" sz="2400" dirty="0"/>
              <a:t>刻度对准定位线）（表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记录数据于表格</a:t>
            </a:r>
            <a:r>
              <a:rPr lang="en-US" altLang="zh-CN" sz="2400" dirty="0"/>
              <a:t>1</a:t>
            </a:r>
            <a:r>
              <a:rPr lang="zh-CN" altLang="en-US" sz="2400" dirty="0"/>
              <a:t>中，作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H</a:t>
            </a:r>
            <a:r>
              <a:rPr lang="en-US" altLang="zh-CN" sz="2400" dirty="0"/>
              <a:t>-I</a:t>
            </a:r>
            <a:r>
              <a:rPr lang="en-US" altLang="zh-CN" sz="2400" baseline="-25000" dirty="0"/>
              <a:t>M</a:t>
            </a:r>
            <a:r>
              <a:rPr lang="zh-CN" altLang="en-US" sz="2400" dirty="0"/>
              <a:t>关系曲线</a:t>
            </a:r>
            <a:r>
              <a:rPr lang="en-US" altLang="zh-CN" sz="2400" dirty="0"/>
              <a:t>,</a:t>
            </a:r>
            <a:r>
              <a:rPr lang="zh-CN" altLang="en-US" sz="2400" dirty="0"/>
              <a:t>用作图法求出线性关系方程式。</a:t>
            </a:r>
          </a:p>
          <a:p>
            <a:endParaRPr lang="zh-CN" altLang="en-US" sz="2400" dirty="0"/>
          </a:p>
        </p:txBody>
      </p:sp>
      <p:graphicFrame>
        <p:nvGraphicFramePr>
          <p:cNvPr id="4" name="对象 -21474825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516093"/>
              </p:ext>
            </p:extLst>
          </p:nvPr>
        </p:nvGraphicFramePr>
        <p:xfrm>
          <a:off x="510722" y="1190716"/>
          <a:ext cx="1551305" cy="436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12800" imgH="228600" progId="Equation.3">
                  <p:embed/>
                </p:oleObj>
              </mc:Choice>
              <mc:Fallback>
                <p:oleObj r:id="rId2" imgW="8128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0722" y="1190716"/>
                        <a:ext cx="1551305" cy="4362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860" y="2258877"/>
            <a:ext cx="6303645" cy="3294380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EE9D3741-CC25-D6D6-C070-339D71314BE4}"/>
              </a:ext>
            </a:extLst>
          </p:cNvPr>
          <p:cNvSpPr txBox="1">
            <a:spLocks/>
          </p:cNvSpPr>
          <p:nvPr/>
        </p:nvSpPr>
        <p:spPr bwMode="auto">
          <a:xfrm>
            <a:off x="5382894" y="-178027"/>
            <a:ext cx="4077335" cy="840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4000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六、实验记录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165" y="831669"/>
            <a:ext cx="8966835" cy="5312410"/>
          </a:xfrm>
        </p:spPr>
        <p:txBody>
          <a:bodyPr/>
          <a:lstStyle/>
          <a:p>
            <a:r>
              <a:rPr lang="en-US" altLang="zh-CN" sz="2400" dirty="0"/>
              <a:t>2</a:t>
            </a:r>
            <a:r>
              <a:rPr lang="zh-CN" altLang="en-US" sz="2400" dirty="0"/>
              <a:t>、测量霍尔电势差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H</a:t>
            </a:r>
            <a:r>
              <a:rPr lang="zh-CN" altLang="en-US" sz="2400" dirty="0"/>
              <a:t>与霍尔工作电流的关系：</a:t>
            </a:r>
          </a:p>
          <a:p>
            <a:r>
              <a:rPr lang="zh-CN" altLang="en-US" sz="2400" dirty="0"/>
              <a:t>                   ，霍尔传感器位于螺线管“轴线中心”，即X=14cm处（对应方拉杆上X=0</a:t>
            </a:r>
            <a:r>
              <a:rPr lang="en-US" altLang="zh-CN" sz="2400" dirty="0"/>
              <a:t>cm</a:t>
            </a:r>
            <a:r>
              <a:rPr lang="zh-CN" altLang="en-US" sz="2400" dirty="0"/>
              <a:t>刻度对准定位线）（表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记录数据于表格</a:t>
            </a:r>
            <a:r>
              <a:rPr lang="en-US" altLang="zh-CN" sz="2400" dirty="0"/>
              <a:t>2</a:t>
            </a:r>
            <a:r>
              <a:rPr lang="zh-CN" altLang="en-US" sz="2400" dirty="0"/>
              <a:t>中，作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H</a:t>
            </a:r>
            <a:r>
              <a:rPr lang="en-US" altLang="zh-CN" sz="2400" dirty="0"/>
              <a:t>-I</a:t>
            </a:r>
            <a:r>
              <a:rPr lang="en-US" altLang="zh-CN" sz="2400" baseline="-25000" dirty="0"/>
              <a:t>S</a:t>
            </a:r>
            <a:r>
              <a:rPr lang="zh-CN" altLang="en-US" sz="2400" dirty="0"/>
              <a:t>关系图。</a:t>
            </a:r>
          </a:p>
          <a:p>
            <a:endParaRPr lang="zh-CN" altLang="en-US" sz="2400" dirty="0"/>
          </a:p>
        </p:txBody>
      </p:sp>
      <p:graphicFrame>
        <p:nvGraphicFramePr>
          <p:cNvPr id="8" name="对象 -2147482524">
            <a:extLst>
              <a:ext uri="{FF2B5EF4-FFF2-40B4-BE49-F238E27FC236}">
                <a16:creationId xmlns:a16="http://schemas.microsoft.com/office/drawing/2014/main" id="{21ADA5A9-4B56-DB1B-7327-AC573BF05A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713734"/>
              </p:ext>
            </p:extLst>
          </p:nvPr>
        </p:nvGraphicFramePr>
        <p:xfrm>
          <a:off x="778601" y="1313821"/>
          <a:ext cx="1425756" cy="412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00100" imgH="215900" progId="Equation.3">
                  <p:embed/>
                </p:oleObj>
              </mc:Choice>
              <mc:Fallback>
                <p:oleObj r:id="rId2" imgW="800100" imgH="215900" progId="Equation.3">
                  <p:embed/>
                  <p:pic>
                    <p:nvPicPr>
                      <p:cNvPr id="3" name="对象 -21474825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8601" y="1313821"/>
                        <a:ext cx="1425756" cy="4126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" name="图片 29">
            <a:extLst>
              <a:ext uri="{FF2B5EF4-FFF2-40B4-BE49-F238E27FC236}">
                <a16:creationId xmlns:a16="http://schemas.microsoft.com/office/drawing/2014/main" id="{5496168F-1395-2796-AD15-7E9B27145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015" y="2208588"/>
            <a:ext cx="5143500" cy="3439351"/>
          </a:xfrm>
          <a:prstGeom prst="rect">
            <a:avLst/>
          </a:prstGeom>
        </p:spPr>
      </p:pic>
      <p:pic>
        <p:nvPicPr>
          <p:cNvPr id="16403" name="对象 115">
            <a:extLst>
              <a:ext uri="{FF2B5EF4-FFF2-40B4-BE49-F238E27FC236}">
                <a16:creationId xmlns:a16="http://schemas.microsoft.com/office/drawing/2014/main" id="{E3C47447-A1FB-2A29-E445-FD67DDB99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53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02" name="对象 116">
            <a:extLst>
              <a:ext uri="{FF2B5EF4-FFF2-40B4-BE49-F238E27FC236}">
                <a16:creationId xmlns:a16="http://schemas.microsoft.com/office/drawing/2014/main" id="{B682B828-C18F-FBAD-470C-5B8A37792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6900" cy="21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01" name="对象 117">
            <a:extLst>
              <a:ext uri="{FF2B5EF4-FFF2-40B4-BE49-F238E27FC236}">
                <a16:creationId xmlns:a16="http://schemas.microsoft.com/office/drawing/2014/main" id="{6D114540-EA6C-4546-BE66-20AFF1BD8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4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00" name="对象 118">
            <a:extLst>
              <a:ext uri="{FF2B5EF4-FFF2-40B4-BE49-F238E27FC236}">
                <a16:creationId xmlns:a16="http://schemas.microsoft.com/office/drawing/2014/main" id="{BE109BB4-A648-59B7-7687-E9BDF056D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" cy="21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9" name="对象 119">
            <a:extLst>
              <a:ext uri="{FF2B5EF4-FFF2-40B4-BE49-F238E27FC236}">
                <a16:creationId xmlns:a16="http://schemas.microsoft.com/office/drawing/2014/main" id="{205419EE-DCA7-D266-C1B6-218B76196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4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8" name="对象 120">
            <a:extLst>
              <a:ext uri="{FF2B5EF4-FFF2-40B4-BE49-F238E27FC236}">
                <a16:creationId xmlns:a16="http://schemas.microsoft.com/office/drawing/2014/main" id="{3CAC3C11-B013-D064-A1D4-005169240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7" name="对象 121">
            <a:extLst>
              <a:ext uri="{FF2B5EF4-FFF2-40B4-BE49-F238E27FC236}">
                <a16:creationId xmlns:a16="http://schemas.microsoft.com/office/drawing/2014/main" id="{5C32FC28-40AA-2343-D6DB-3FCA7171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88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6" name="对象 122">
            <a:extLst>
              <a:ext uri="{FF2B5EF4-FFF2-40B4-BE49-F238E27FC236}">
                <a16:creationId xmlns:a16="http://schemas.microsoft.com/office/drawing/2014/main" id="{75F66183-0577-726E-F8DB-3F3DCA619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" cy="21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5" name="对象 123">
            <a:extLst>
              <a:ext uri="{FF2B5EF4-FFF2-40B4-BE49-F238E27FC236}">
                <a16:creationId xmlns:a16="http://schemas.microsoft.com/office/drawing/2014/main" id="{815297C3-B40C-D1DE-5B8C-9A2856016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88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4" name="对象 124">
            <a:extLst>
              <a:ext uri="{FF2B5EF4-FFF2-40B4-BE49-F238E27FC236}">
                <a16:creationId xmlns:a16="http://schemas.microsoft.com/office/drawing/2014/main" id="{D933E1EB-3AF0-55C1-CC47-B9979F76C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15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3" name="对象 125">
            <a:extLst>
              <a:ext uri="{FF2B5EF4-FFF2-40B4-BE49-F238E27FC236}">
                <a16:creationId xmlns:a16="http://schemas.microsoft.com/office/drawing/2014/main" id="{B44E5F5B-00E8-765A-107B-7883FEB5E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7500" cy="17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对象 126">
            <a:extLst>
              <a:ext uri="{FF2B5EF4-FFF2-40B4-BE49-F238E27FC236}">
                <a16:creationId xmlns:a16="http://schemas.microsoft.com/office/drawing/2014/main" id="{F5047F1A-C832-8956-1B8D-CC05BDE11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7500" cy="17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1" name="对象 127">
            <a:extLst>
              <a:ext uri="{FF2B5EF4-FFF2-40B4-BE49-F238E27FC236}">
                <a16:creationId xmlns:a16="http://schemas.microsoft.com/office/drawing/2014/main" id="{5D659056-9F1D-21FE-873F-9A4D02441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2100" cy="17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对象 128">
            <a:extLst>
              <a:ext uri="{FF2B5EF4-FFF2-40B4-BE49-F238E27FC236}">
                <a16:creationId xmlns:a16="http://schemas.microsoft.com/office/drawing/2014/main" id="{A9B2CBEC-317C-DF66-AA0E-DB97BE663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2100" cy="17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9" name="对象 129">
            <a:extLst>
              <a:ext uri="{FF2B5EF4-FFF2-40B4-BE49-F238E27FC236}">
                <a16:creationId xmlns:a16="http://schemas.microsoft.com/office/drawing/2014/main" id="{4B5EEF6F-0D44-3847-A04B-A769F5D73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7500" cy="17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对象 130">
            <a:extLst>
              <a:ext uri="{FF2B5EF4-FFF2-40B4-BE49-F238E27FC236}">
                <a16:creationId xmlns:a16="http://schemas.microsoft.com/office/drawing/2014/main" id="{D0F547EE-C9E6-9AAF-BB75-CEB7E3921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7500" cy="17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7" name="对象 131">
            <a:extLst>
              <a:ext uri="{FF2B5EF4-FFF2-40B4-BE49-F238E27FC236}">
                <a16:creationId xmlns:a16="http://schemas.microsoft.com/office/drawing/2014/main" id="{176403FA-FE37-F1B3-97D3-99BA2D1EC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" cy="17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对象 132">
            <a:extLst>
              <a:ext uri="{FF2B5EF4-FFF2-40B4-BE49-F238E27FC236}">
                <a16:creationId xmlns:a16="http://schemas.microsoft.com/office/drawing/2014/main" id="{F76C2C09-A23E-1F57-CBD3-8B09B9F7C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800" cy="17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5" name="对象 133">
            <a:extLst>
              <a:ext uri="{FF2B5EF4-FFF2-40B4-BE49-F238E27FC236}">
                <a16:creationId xmlns:a16="http://schemas.microsoft.com/office/drawing/2014/main" id="{8A53ABFB-80FE-2B24-B7BC-18AB64DEA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7500" cy="17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02082F9-79A1-F2E2-342C-FB37086DF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6029" y="-178027"/>
            <a:ext cx="4224200" cy="840740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六、实验记录</a:t>
            </a:r>
          </a:p>
        </p:txBody>
      </p:sp>
    </p:spTree>
    <p:extLst>
      <p:ext uri="{BB962C8B-B14F-4D97-AF65-F5344CB8AC3E}">
        <p14:creationId xmlns:p14="http://schemas.microsoft.com/office/powerpoint/2010/main" val="335382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内容占位符 2"/>
          <p:cNvSpPr>
            <a:spLocks noGrp="1"/>
          </p:cNvSpPr>
          <p:nvPr>
            <p:ph idx="1"/>
          </p:nvPr>
        </p:nvSpPr>
        <p:spPr>
          <a:xfrm>
            <a:off x="0" y="791845"/>
            <a:ext cx="8882743" cy="55545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3</a:t>
            </a:r>
            <a:r>
              <a:rPr lang="zh-CN" altLang="en-US" sz="2000" dirty="0"/>
              <a:t>、通电螺线管轴向磁场分布测量：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霍尔传感器位于螺线管轴线中心，即X=14cm处（对应方拉杆</a:t>
            </a:r>
            <a:r>
              <a:rPr lang="en-US" altLang="zh-CN" sz="2000" dirty="0"/>
              <a:t>x</a:t>
            </a:r>
            <a:r>
              <a:rPr lang="zh-CN" altLang="en-US" sz="2000" dirty="0"/>
              <a:t>=0</a:t>
            </a:r>
            <a:r>
              <a:rPr lang="en-US" altLang="zh-CN" sz="2000" dirty="0"/>
              <a:t>cm</a:t>
            </a:r>
            <a:r>
              <a:rPr lang="zh-CN" altLang="en-US" sz="2000" dirty="0"/>
              <a:t>刻度对准定位线）（即</a:t>
            </a:r>
            <a:endParaRPr lang="en-US" altLang="zh-CN" sz="2000" dirty="0"/>
          </a:p>
        </p:txBody>
      </p:sp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对象 -21474825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607494"/>
              </p:ext>
            </p:extLst>
          </p:nvPr>
        </p:nvGraphicFramePr>
        <p:xfrm>
          <a:off x="4223385" y="838835"/>
          <a:ext cx="119824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12800" imgH="228600" progId="Equation.3">
                  <p:embed/>
                </p:oleObj>
              </mc:Choice>
              <mc:Fallback>
                <p:oleObj r:id="rId2" imgW="8128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23385" y="838835"/>
                        <a:ext cx="119824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25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522992"/>
              </p:ext>
            </p:extLst>
          </p:nvPr>
        </p:nvGraphicFramePr>
        <p:xfrm>
          <a:off x="5758815" y="838835"/>
          <a:ext cx="1084580" cy="335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00100" imgH="215900" progId="Equation.3">
                  <p:embed/>
                </p:oleObj>
              </mc:Choice>
              <mc:Fallback>
                <p:oleObj r:id="rId2" imgW="800100" imgH="215900" progId="Equation.3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58815" y="838835"/>
                        <a:ext cx="1084580" cy="3359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4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605127"/>
              </p:ext>
            </p:extLst>
          </p:nvPr>
        </p:nvGraphicFramePr>
        <p:xfrm>
          <a:off x="7051675" y="814705"/>
          <a:ext cx="172910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62430" imgH="254000" progId="Equation.DSMT4">
                  <p:embed/>
                </p:oleObj>
              </mc:Choice>
              <mc:Fallback>
                <p:oleObj r:id="rId2" imgW="1662430" imgH="2540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1675" y="814705"/>
                        <a:ext cx="172910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3" name="图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064" y="1828192"/>
            <a:ext cx="7225529" cy="4415925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DD86803E-BF0A-5059-1EC8-194E9B2E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894" y="-178027"/>
            <a:ext cx="4077335" cy="840740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六、实验记录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电脑屏幕的照片&#10;&#10;描述已自动生成">
            <a:extLst>
              <a:ext uri="{FF2B5EF4-FFF2-40B4-BE49-F238E27FC236}">
                <a16:creationId xmlns:a16="http://schemas.microsoft.com/office/drawing/2014/main" id="{49C27F8D-6682-4661-B66D-57D9F6C88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36" y="1347562"/>
            <a:ext cx="3648930" cy="3414661"/>
          </a:xfrm>
        </p:spPr>
      </p:pic>
      <p:pic>
        <p:nvPicPr>
          <p:cNvPr id="7" name="图片 6" descr="白板上的文字&#10;&#10;中度可信度描述已自动生成">
            <a:extLst>
              <a:ext uri="{FF2B5EF4-FFF2-40B4-BE49-F238E27FC236}">
                <a16:creationId xmlns:a16="http://schemas.microsoft.com/office/drawing/2014/main" id="{DAF14E64-1DF7-43C3-9828-D281068E2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303" y="1347561"/>
            <a:ext cx="4153538" cy="34146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A0D4701-08F0-4902-8D3D-A7B3C6AA387A}"/>
                  </a:ext>
                </a:extLst>
              </p:cNvPr>
              <p:cNvSpPr txBox="1"/>
              <p:nvPr/>
            </p:nvSpPr>
            <p:spPr>
              <a:xfrm>
                <a:off x="457200" y="5158598"/>
                <a:ext cx="80182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图</a:t>
                </a:r>
                <a:r>
                  <a:rPr lang="en-US" altLang="zh-CN" dirty="0"/>
                  <a:t>1   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dirty="0"/>
                          <m:t>V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关系</m:t>
                    </m:r>
                  </m:oMath>
                </a14:m>
                <a:r>
                  <a:rPr lang="zh-CN" altLang="en-US" dirty="0"/>
                  <a:t>曲线                                     图</a:t>
                </a:r>
                <a:r>
                  <a:rPr lang="en-US" altLang="zh-CN" dirty="0"/>
                  <a:t>3 </a:t>
                </a:r>
                <a:r>
                  <a:rPr lang="zh-CN" altLang="en-US" dirty="0"/>
                  <a:t>螺线管磁场分布</a:t>
                </a:r>
                <a:r>
                  <a:rPr lang="en-US" altLang="zh-CN" dirty="0"/>
                  <a:t>B-x</a:t>
                </a:r>
                <a:r>
                  <a:rPr lang="zh-CN" altLang="en-US" dirty="0"/>
                  <a:t>曲线图            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A0D4701-08F0-4902-8D3D-A7B3C6AA3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58598"/>
                <a:ext cx="8018206" cy="369332"/>
              </a:xfrm>
              <a:prstGeom prst="rect">
                <a:avLst/>
              </a:prstGeom>
              <a:blipFill>
                <a:blip r:embed="rId4"/>
                <a:stretch>
                  <a:fillRect l="-608" t="-11475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57897C49-3A89-F0AB-4A07-122258049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3030" y="-178027"/>
            <a:ext cx="5367200" cy="840740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七、实验作图法实例</a:t>
            </a:r>
          </a:p>
        </p:txBody>
      </p:sp>
    </p:spTree>
    <p:extLst>
      <p:ext uri="{BB962C8B-B14F-4D97-AF65-F5344CB8AC3E}">
        <p14:creationId xmlns:p14="http://schemas.microsoft.com/office/powerpoint/2010/main" val="3096768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E4553C4-E6D0-54B3-99A8-F53AABC4252E}"/>
              </a:ext>
            </a:extLst>
          </p:cNvPr>
          <p:cNvSpPr txBox="1"/>
          <p:nvPr/>
        </p:nvSpPr>
        <p:spPr>
          <a:xfrm>
            <a:off x="900793" y="956128"/>
            <a:ext cx="767442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sz="18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2400" dirty="0"/>
              <a:t>1</a:t>
            </a:r>
            <a:r>
              <a:rPr lang="zh-CN" altLang="en-US" sz="2400" dirty="0"/>
              <a:t>、为保证实验质量，仪器应预热</a:t>
            </a:r>
            <a:r>
              <a:rPr lang="en-US" altLang="zh-CN" sz="2400" dirty="0"/>
              <a:t>10</a:t>
            </a:r>
            <a:r>
              <a:rPr lang="zh-CN" altLang="en-US" sz="2400" dirty="0"/>
              <a:t>分钟稳定后开始测量数据。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2400" dirty="0"/>
              <a:t>2</a:t>
            </a:r>
            <a:r>
              <a:rPr lang="zh-CN" altLang="en-US" sz="2400" dirty="0"/>
              <a:t>、励磁线圈不宜长时间通电，否则线圈发热，会影响测量结果。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2400" dirty="0"/>
              <a:t>3</a:t>
            </a:r>
            <a:r>
              <a:rPr lang="zh-CN" altLang="en-US" sz="2400" dirty="0"/>
              <a:t>、霍尔元件有一定的温度系数，为了减少其自身发热对测量影响，实验时工作电流不允许超过额定值</a:t>
            </a:r>
            <a:r>
              <a:rPr lang="en-US" altLang="zh-CN" sz="2400" dirty="0"/>
              <a:t>5mA,</a:t>
            </a:r>
            <a:r>
              <a:rPr lang="zh-CN" altLang="en-US" sz="2400" dirty="0"/>
              <a:t>所以，为保证使用安全，一般取</a:t>
            </a:r>
            <a:r>
              <a:rPr lang="en-US" altLang="zh-CN" sz="2400" dirty="0">
                <a:solidFill>
                  <a:srgbClr val="FF0000"/>
                </a:solidFill>
              </a:rPr>
              <a:t>4mA</a:t>
            </a:r>
            <a:r>
              <a:rPr lang="zh-CN" altLang="en-US" sz="2400" dirty="0"/>
              <a:t>作为上限。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2400" dirty="0"/>
              <a:t>4</a:t>
            </a:r>
            <a:r>
              <a:rPr lang="zh-CN" altLang="en-US" sz="2400" dirty="0"/>
              <a:t>、实验结束时应先关闭电源，再拆除接线。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8DA5A1-07CD-5F7D-0B20-27B5440D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894" y="-178027"/>
            <a:ext cx="4077335" cy="840740"/>
          </a:xfrm>
        </p:spPr>
        <p:txBody>
          <a:bodyPr/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八、注意事项</a:t>
            </a:r>
          </a:p>
        </p:txBody>
      </p:sp>
    </p:spTree>
    <p:extLst>
      <p:ext uri="{BB962C8B-B14F-4D97-AF65-F5344CB8AC3E}">
        <p14:creationId xmlns:p14="http://schemas.microsoft.com/office/powerpoint/2010/main" val="19153889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3866dc2c-4b20-459c-b9dc-64a4de749c9b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工大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1284</Words>
  <Application>Microsoft Office PowerPoint</Application>
  <PresentationFormat>自定义</PresentationFormat>
  <Paragraphs>130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隶书</vt:lpstr>
      <vt:lpstr>Arial</vt:lpstr>
      <vt:lpstr>Calibri</vt:lpstr>
      <vt:lpstr>Cambria Math</vt:lpstr>
      <vt:lpstr>Times New Roman</vt:lpstr>
      <vt:lpstr>Wingdings</vt:lpstr>
      <vt:lpstr>工大</vt:lpstr>
      <vt:lpstr>Equation.KSEE3</vt:lpstr>
      <vt:lpstr>MathType 7.0 Equation</vt:lpstr>
      <vt:lpstr>Equation</vt:lpstr>
      <vt:lpstr>Equation.3</vt:lpstr>
      <vt:lpstr>实验项目</vt:lpstr>
      <vt:lpstr> 霍尔法测螺线管的磁场 </vt:lpstr>
      <vt:lpstr>PowerPoint 演示文稿</vt:lpstr>
      <vt:lpstr>PowerPoint 演示文稿</vt:lpstr>
      <vt:lpstr>三、实验原理</vt:lpstr>
      <vt:lpstr>三、实验原理</vt:lpstr>
      <vt:lpstr>霍尔元件的副效应及消除副效应的方法</vt:lpstr>
      <vt:lpstr>消除副效应的方法：换向法</vt:lpstr>
      <vt:lpstr> 通电螺线管内部轴向磁场分布 </vt:lpstr>
      <vt:lpstr>PowerPoint 演示文稿</vt:lpstr>
      <vt:lpstr>PowerPoint 演示文稿</vt:lpstr>
      <vt:lpstr>PowerPoint 演示文稿</vt:lpstr>
      <vt:lpstr>PowerPoint 演示文稿</vt:lpstr>
      <vt:lpstr>六、实验记录</vt:lpstr>
      <vt:lpstr>六、实验记录</vt:lpstr>
      <vt:lpstr>七、实验作图法实例</vt:lpstr>
      <vt:lpstr>八、注意事项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yyl</dc:creator>
  <cp:lastModifiedBy>meixia chen</cp:lastModifiedBy>
  <cp:revision>338</cp:revision>
  <cp:lastPrinted>2015-04-16T01:50:00Z</cp:lastPrinted>
  <dcterms:created xsi:type="dcterms:W3CDTF">2015-04-10T00:47:00Z</dcterms:created>
  <dcterms:modified xsi:type="dcterms:W3CDTF">2025-03-05T03:52:50Z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2052-11.1.0.8527</vt:lpwstr>
  </property>
</Properties>
</file>