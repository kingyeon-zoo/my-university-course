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CB9C98-AD46-414E-BDE3-1CA0E2130605}" type="datetimeFigureOut">
              <a:rPr kumimoji="1" lang="zh-CN" altLang="en-US" smtClean="0"/>
              <a:t>2026/6/15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AB9D92-1CF7-D546-BEE6-66A9677E35FC}" type="slidenum">
              <a:rPr kumimoji="1" lang="zh-CN" altLang="en-US" smtClean="0"/>
              <a:t>‹#›</a:t>
            </a:fld>
            <a:endParaRPr kumimoji="1" lang="zh-CN" altLang="en-US"/>
          </a:p>
        </p:txBody>
      </p:sp>
    </p:spTree>
    <p:extLst>
      <p:ext uri="{BB962C8B-B14F-4D97-AF65-F5344CB8AC3E}">
        <p14:creationId xmlns:p14="http://schemas.microsoft.com/office/powerpoint/2010/main" val="3639203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8AB9D92-1CF7-D546-BEE6-66A9677E35FC}" type="slidenum">
              <a:rPr kumimoji="1" lang="zh-CN" altLang="en-US" smtClean="0"/>
              <a:t>1</a:t>
            </a:fld>
            <a:endParaRPr kumimoji="1" lang="zh-CN" altLang="en-US"/>
          </a:p>
        </p:txBody>
      </p:sp>
    </p:spTree>
    <p:extLst>
      <p:ext uri="{BB962C8B-B14F-4D97-AF65-F5344CB8AC3E}">
        <p14:creationId xmlns:p14="http://schemas.microsoft.com/office/powerpoint/2010/main" val="2473289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slideLayout" Target="../slideLayouts/slideLayout7.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2" Type="http://schemas.openxmlformats.org/officeDocument/2006/relationships/tags" Target="../tags/tag20.xml"/><Relationship Id="rId16" Type="http://schemas.openxmlformats.org/officeDocument/2006/relationships/slideLayout" Target="../slideLayouts/slideLayout7.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s/_rels/slide9.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tags" Target="../tags/tag51.xml"/><Relationship Id="rId3" Type="http://schemas.openxmlformats.org/officeDocument/2006/relationships/tags" Target="../tags/tag36.xml"/><Relationship Id="rId21" Type="http://schemas.openxmlformats.org/officeDocument/2006/relationships/tags" Target="../tags/tag54.xml"/><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tags" Target="../tags/tag50.xml"/><Relationship Id="rId2" Type="http://schemas.openxmlformats.org/officeDocument/2006/relationships/tags" Target="../tags/tag35.xml"/><Relationship Id="rId16" Type="http://schemas.openxmlformats.org/officeDocument/2006/relationships/tags" Target="../tags/tag49.xml"/><Relationship Id="rId20" Type="http://schemas.openxmlformats.org/officeDocument/2006/relationships/tags" Target="../tags/tag53.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5" Type="http://schemas.openxmlformats.org/officeDocument/2006/relationships/tags" Target="../tags/tag48.xml"/><Relationship Id="rId10" Type="http://schemas.openxmlformats.org/officeDocument/2006/relationships/tags" Target="../tags/tag43.xml"/><Relationship Id="rId19" Type="http://schemas.openxmlformats.org/officeDocument/2006/relationships/tags" Target="../tags/tag52.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10" Type="http://schemas.openxmlformats.org/officeDocument/2006/relationships/slideLayout" Target="../slideLayouts/slideLayout7.xml"/><Relationship Id="rId4" Type="http://schemas.openxmlformats.org/officeDocument/2006/relationships/tags" Target="../tags/tag58.xml"/><Relationship Id="rId9" Type="http://schemas.openxmlformats.org/officeDocument/2006/relationships/tags" Target="../tags/tag6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ounded Rectangle 1"/>
          <p:cNvSpPr/>
          <p:nvPr/>
        </p:nvSpPr>
        <p:spPr>
          <a:xfrm>
            <a:off x="6766560" y="685800"/>
            <a:ext cx="4983480" cy="51663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a_clean_futuristic_high_key_studio_scene_with_a_1_batch_1.png"/>
          <p:cNvPicPr>
            <a:picLocks noChangeAspect="1"/>
          </p:cNvPicPr>
          <p:nvPr/>
        </p:nvPicPr>
        <p:blipFill>
          <a:blip r:embed="rId3"/>
          <a:stretch>
            <a:fillRect/>
          </a:stretch>
        </p:blipFill>
        <p:spPr>
          <a:xfrm>
            <a:off x="6812280" y="1892362"/>
            <a:ext cx="4892040" cy="2753235"/>
          </a:xfrm>
          <a:prstGeom prst="rect">
            <a:avLst/>
          </a:prstGeom>
        </p:spPr>
      </p:pic>
      <p:sp>
        <p:nvSpPr>
          <p:cNvPr id="4" name="Rectangle 3"/>
          <p:cNvSpPr/>
          <p:nvPr/>
        </p:nvSpPr>
        <p:spPr>
          <a:xfrm>
            <a:off x="502920" y="731520"/>
            <a:ext cx="118872" cy="192024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868680"/>
            <a:ext cx="5577840" cy="1554480"/>
          </a:xfrm>
          <a:prstGeom prst="rect">
            <a:avLst/>
          </a:prstGeom>
          <a:noFill/>
        </p:spPr>
        <p:txBody>
          <a:bodyPr wrap="square" anchor="t">
            <a:noAutofit/>
          </a:bodyPr>
          <a:lstStyle/>
          <a:p>
            <a:pPr algn="l">
              <a:lnSpc>
                <a:spcPct val="120000"/>
              </a:lnSpc>
              <a:spcAft>
                <a:spcPts val="400"/>
              </a:spcAft>
              <a:defRPr sz="2800" b="1">
                <a:solidFill>
                  <a:srgbClr val="28447D"/>
                </a:solidFill>
                <a:latin typeface="宋体" panose="02010600030101010101" pitchFamily="2" charset="-122"/>
              </a:defRPr>
            </a:pPr>
            <a:r>
              <a:rPr dirty="0" err="1"/>
              <a:t>桌面微缩剧场多智能体演绎系统</a:t>
            </a:r>
            <a:endParaRPr dirty="0"/>
          </a:p>
          <a:p>
            <a:pPr algn="l">
              <a:lnSpc>
                <a:spcPct val="120000"/>
              </a:lnSpc>
              <a:spcAft>
                <a:spcPts val="400"/>
              </a:spcAft>
              <a:defRPr sz="2800" b="0">
                <a:solidFill>
                  <a:srgbClr val="28447D"/>
                </a:solidFill>
                <a:latin typeface="宋体" panose="02010600030101010101" pitchFamily="2" charset="-122"/>
              </a:defRPr>
            </a:pPr>
            <a:r>
              <a:rPr sz="1400" dirty="0"/>
              <a:t>——</a:t>
            </a:r>
            <a:r>
              <a:rPr sz="1400" dirty="0" err="1"/>
              <a:t>基于</a:t>
            </a:r>
            <a:r>
              <a:rPr lang="zh-CN" altLang="en-US" sz="1400" dirty="0"/>
              <a:t>多智能体</a:t>
            </a:r>
            <a:r>
              <a:rPr sz="1400" dirty="0" err="1"/>
              <a:t>剧本生成、Unity数字孪生与实体机器人演绎的一体化设计</a:t>
            </a:r>
            <a:endParaRPr sz="1400" dirty="0"/>
          </a:p>
        </p:txBody>
      </p:sp>
      <p:sp>
        <p:nvSpPr>
          <p:cNvPr id="9" name="TextBox 8"/>
          <p:cNvSpPr txBox="1"/>
          <p:nvPr/>
        </p:nvSpPr>
        <p:spPr>
          <a:xfrm>
            <a:off x="841248" y="2743200"/>
            <a:ext cx="5303520" cy="1280160"/>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rPr dirty="0" err="1"/>
              <a:t>汇报</a:t>
            </a:r>
            <a:r>
              <a:rPr lang="zh-CN" altLang="en-US" dirty="0"/>
              <a:t>流程</a:t>
            </a:r>
            <a:r>
              <a:rPr dirty="0"/>
              <a:t>：</a:t>
            </a:r>
            <a:r>
              <a:rPr dirty="0" err="1"/>
              <a:t>先说明系统为什么要把“创意输入”做成结构化剧本，再介绍Unity如何将剧本转成可执行动作，最后简述实体平台如何完成落地</a:t>
            </a:r>
            <a:r>
              <a:rPr dirty="0"/>
              <a:t>。</a:t>
            </a:r>
          </a:p>
        </p:txBody>
      </p:sp>
      <p:sp>
        <p:nvSpPr>
          <p:cNvPr id="10" name="Rounded Rectangle 9"/>
          <p:cNvSpPr/>
          <p:nvPr/>
        </p:nvSpPr>
        <p:spPr>
          <a:xfrm>
            <a:off x="822960" y="4160520"/>
            <a:ext cx="5303520" cy="109728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370832"/>
            <a:ext cx="4983480" cy="731520"/>
          </a:xfrm>
          <a:prstGeom prst="rect">
            <a:avLst/>
          </a:prstGeom>
          <a:noFill/>
        </p:spPr>
        <p:txBody>
          <a:bodyPr wrap="square" anchor="t">
            <a:noAutofit/>
          </a:bodyPr>
          <a:lstStyle/>
          <a:p>
            <a:pPr algn="l">
              <a:lnSpc>
                <a:spcPct val="125000"/>
              </a:lnSpc>
              <a:spcAft>
                <a:spcPts val="400"/>
              </a:spcAft>
              <a:defRPr sz="1800" b="0">
                <a:solidFill>
                  <a:srgbClr val="4976C6"/>
                </a:solidFill>
                <a:latin typeface="宋体" panose="02010600030101010101" pitchFamily="2" charset="-122"/>
              </a:defRPr>
            </a:pPr>
            <a:r>
              <a:rPr lang="zh-CN"/>
              <a:t>汇报人：李奕霖、朱清扬</a:t>
            </a:r>
          </a:p>
        </p:txBody>
      </p:sp>
      <p:sp>
        <p:nvSpPr>
          <p:cNvPr id="12" name="TextBox 11"/>
          <p:cNvSpPr txBox="1"/>
          <p:nvPr/>
        </p:nvSpPr>
        <p:spPr>
          <a:xfrm>
            <a:off x="841248" y="5897880"/>
            <a:ext cx="5303520" cy="320040"/>
          </a:xfrm>
          <a:prstGeom prst="rect">
            <a:avLst/>
          </a:prstGeom>
          <a:noFill/>
        </p:spPr>
        <p:txBody>
          <a:bodyPr wrap="square" anchor="t">
            <a:noAutofit/>
          </a:bodyPr>
          <a:lstStyle/>
          <a:p>
            <a:pPr algn="l">
              <a:lnSpc>
                <a:spcPct val="125000"/>
              </a:lnSpc>
              <a:spcAft>
                <a:spcPts val="400"/>
              </a:spcAft>
              <a:defRPr sz="1400" b="0">
                <a:solidFill>
                  <a:srgbClr val="767E93"/>
                </a:solidFill>
                <a:latin typeface="宋体" panose="02010600030101010101" pitchFamily="2" charset="-122"/>
              </a:defRPr>
            </a:pPr>
            <a:r>
              <a:t>数字媒体技术课程设计汇报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目录</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目录</a:t>
            </a:r>
          </a:p>
          <a:p>
            <a:pPr>
              <a:defRPr sz="1200" b="0">
                <a:solidFill>
                  <a:srgbClr val="767E93"/>
                </a:solidFill>
                <a:latin typeface="宋体" panose="02010600030101010101" pitchFamily="2" charset="-122"/>
              </a:defRPr>
            </a:pPr>
            <a:r>
              <a:t>本次汇报聚焦系统链路中最能体现数字媒体系统设计能力的两个部分：前后端剧本生成与Unity演绎。</a:t>
            </a:r>
          </a:p>
        </p:txBody>
      </p:sp>
      <p:sp>
        <p:nvSpPr>
          <p:cNvPr id="7"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custDataLst>
              <p:tags r:id="rId1"/>
            </p:custDataLst>
          </p:nvPr>
        </p:nvSpPr>
        <p:spPr>
          <a:xfrm>
            <a:off x="777240" y="1645920"/>
            <a:ext cx="5120640" cy="438912"/>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custDataLst>
              <p:tags r:id="rId2"/>
            </p:custDataLst>
          </p:nvPr>
        </p:nvSpPr>
        <p:spPr>
          <a:xfrm>
            <a:off x="914400" y="1673352"/>
            <a:ext cx="384048" cy="384048"/>
          </a:xfrm>
          <a:prstGeom prst="ellipse">
            <a:avLst/>
          </a:prstGeom>
          <a:solidFill>
            <a:srgbClr val="539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1</a:t>
            </a:r>
          </a:p>
        </p:txBody>
      </p:sp>
      <p:sp>
        <p:nvSpPr>
          <p:cNvPr id="10" name="TextBox 9"/>
          <p:cNvSpPr txBox="1"/>
          <p:nvPr>
            <p:custDataLst>
              <p:tags r:id="rId3"/>
            </p:custDataLst>
          </p:nvPr>
        </p:nvSpPr>
        <p:spPr>
          <a:xfrm>
            <a:off x="1417320" y="1728216"/>
            <a:ext cx="4206240" cy="219456"/>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01  项目背景与设计目标</a:t>
            </a:r>
          </a:p>
        </p:txBody>
      </p:sp>
      <p:sp>
        <p:nvSpPr>
          <p:cNvPr id="11" name="Rounded Rectangle 10"/>
          <p:cNvSpPr/>
          <p:nvPr>
            <p:custDataLst>
              <p:tags r:id="rId4"/>
            </p:custDataLst>
          </p:nvPr>
        </p:nvSpPr>
        <p:spPr>
          <a:xfrm>
            <a:off x="777240" y="2286000"/>
            <a:ext cx="5120640" cy="438912"/>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custDataLst>
              <p:tags r:id="rId5"/>
            </p:custDataLst>
          </p:nvPr>
        </p:nvSpPr>
        <p:spPr>
          <a:xfrm>
            <a:off x="914400" y="2313432"/>
            <a:ext cx="384048" cy="384048"/>
          </a:xfrm>
          <a:prstGeom prst="ellipse">
            <a:avLst/>
          </a:prstGeom>
          <a:solidFill>
            <a:srgbClr val="539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2</a:t>
            </a:r>
          </a:p>
        </p:txBody>
      </p:sp>
      <p:sp>
        <p:nvSpPr>
          <p:cNvPr id="13" name="TextBox 12"/>
          <p:cNvSpPr txBox="1"/>
          <p:nvPr>
            <p:custDataLst>
              <p:tags r:id="rId6"/>
            </p:custDataLst>
          </p:nvPr>
        </p:nvSpPr>
        <p:spPr>
          <a:xfrm>
            <a:off x="1417320" y="2368296"/>
            <a:ext cx="4206240" cy="219456"/>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02  系统总体方案与业务闭环</a:t>
            </a:r>
          </a:p>
        </p:txBody>
      </p:sp>
      <p:sp>
        <p:nvSpPr>
          <p:cNvPr id="14" name="Rounded Rectangle 13"/>
          <p:cNvSpPr/>
          <p:nvPr>
            <p:custDataLst>
              <p:tags r:id="rId7"/>
            </p:custDataLst>
          </p:nvPr>
        </p:nvSpPr>
        <p:spPr>
          <a:xfrm>
            <a:off x="777240" y="2926080"/>
            <a:ext cx="5120640" cy="438912"/>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custDataLst>
              <p:tags r:id="rId8"/>
            </p:custDataLst>
          </p:nvPr>
        </p:nvSpPr>
        <p:spPr>
          <a:xfrm>
            <a:off x="914400" y="2953512"/>
            <a:ext cx="384048" cy="384048"/>
          </a:xfrm>
          <a:prstGeom prst="ellipse">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3</a:t>
            </a:r>
          </a:p>
        </p:txBody>
      </p:sp>
      <p:sp>
        <p:nvSpPr>
          <p:cNvPr id="16" name="TextBox 15"/>
          <p:cNvSpPr txBox="1"/>
          <p:nvPr>
            <p:custDataLst>
              <p:tags r:id="rId9"/>
            </p:custDataLst>
          </p:nvPr>
        </p:nvSpPr>
        <p:spPr>
          <a:xfrm>
            <a:off x="1417320" y="3008376"/>
            <a:ext cx="4206240" cy="219456"/>
          </a:xfrm>
          <a:prstGeom prst="rect">
            <a:avLst/>
          </a:prstGeom>
          <a:noFill/>
        </p:spPr>
        <p:txBody>
          <a:bodyPr wrap="square" anchor="t">
            <a:noAutofit/>
          </a:bodyPr>
          <a:lstStyle/>
          <a:p>
            <a:pPr algn="l">
              <a:lnSpc>
                <a:spcPct val="125000"/>
              </a:lnSpc>
              <a:spcAft>
                <a:spcPts val="400"/>
              </a:spcAft>
              <a:defRPr sz="1800" b="0">
                <a:solidFill>
                  <a:srgbClr val="28447D"/>
                </a:solidFill>
                <a:latin typeface="宋体" panose="02010600030101010101" pitchFamily="2" charset="-122"/>
              </a:defRPr>
            </a:pPr>
            <a:r>
              <a:rPr dirty="0"/>
              <a:t>03  </a:t>
            </a:r>
            <a:r>
              <a:rPr lang="en-US" dirty="0" err="1"/>
              <a:t>多智能体</a:t>
            </a:r>
            <a:r>
              <a:rPr dirty="0" err="1"/>
              <a:t>剧本生成链路</a:t>
            </a:r>
            <a:endParaRPr dirty="0"/>
          </a:p>
        </p:txBody>
      </p:sp>
      <p:sp>
        <p:nvSpPr>
          <p:cNvPr id="17" name="Rounded Rectangle 16"/>
          <p:cNvSpPr/>
          <p:nvPr>
            <p:custDataLst>
              <p:tags r:id="rId10"/>
            </p:custDataLst>
          </p:nvPr>
        </p:nvSpPr>
        <p:spPr>
          <a:xfrm>
            <a:off x="777240" y="3566160"/>
            <a:ext cx="5120640" cy="438912"/>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custDataLst>
              <p:tags r:id="rId11"/>
            </p:custDataLst>
          </p:nvPr>
        </p:nvSpPr>
        <p:spPr>
          <a:xfrm>
            <a:off x="914400" y="3593591"/>
            <a:ext cx="384048" cy="384048"/>
          </a:xfrm>
          <a:prstGeom prst="ellipse">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4</a:t>
            </a:r>
          </a:p>
        </p:txBody>
      </p:sp>
      <p:sp>
        <p:nvSpPr>
          <p:cNvPr id="19" name="TextBox 18"/>
          <p:cNvSpPr txBox="1"/>
          <p:nvPr>
            <p:custDataLst>
              <p:tags r:id="rId12"/>
            </p:custDataLst>
          </p:nvPr>
        </p:nvSpPr>
        <p:spPr>
          <a:xfrm>
            <a:off x="1417320" y="3648456"/>
            <a:ext cx="4206240" cy="219456"/>
          </a:xfrm>
          <a:prstGeom prst="rect">
            <a:avLst/>
          </a:prstGeom>
          <a:noFill/>
        </p:spPr>
        <p:txBody>
          <a:bodyPr wrap="square" anchor="t">
            <a:noAutofit/>
          </a:bodyPr>
          <a:lstStyle/>
          <a:p>
            <a:pPr algn="l">
              <a:lnSpc>
                <a:spcPct val="125000"/>
              </a:lnSpc>
              <a:spcAft>
                <a:spcPts val="400"/>
              </a:spcAft>
              <a:defRPr sz="1800" b="0">
                <a:solidFill>
                  <a:srgbClr val="28447D"/>
                </a:solidFill>
                <a:latin typeface="宋体" panose="02010600030101010101" pitchFamily="2" charset="-122"/>
              </a:defRPr>
            </a:pPr>
            <a:r>
              <a:t>04  Unity数字孪生与运行时演绎</a:t>
            </a:r>
          </a:p>
        </p:txBody>
      </p:sp>
      <p:sp>
        <p:nvSpPr>
          <p:cNvPr id="20" name="Rounded Rectangle 19"/>
          <p:cNvSpPr/>
          <p:nvPr>
            <p:custDataLst>
              <p:tags r:id="rId13"/>
            </p:custDataLst>
          </p:nvPr>
        </p:nvSpPr>
        <p:spPr>
          <a:xfrm>
            <a:off x="777240" y="4206240"/>
            <a:ext cx="5120640" cy="438912"/>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custDataLst>
              <p:tags r:id="rId14"/>
            </p:custDataLst>
          </p:nvPr>
        </p:nvSpPr>
        <p:spPr>
          <a:xfrm>
            <a:off x="914400" y="4233672"/>
            <a:ext cx="384048" cy="384048"/>
          </a:xfrm>
          <a:prstGeom prst="ellipse">
            <a:avLst/>
          </a:prstGeom>
          <a:solidFill>
            <a:srgbClr val="539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5</a:t>
            </a:r>
          </a:p>
        </p:txBody>
      </p:sp>
      <p:sp>
        <p:nvSpPr>
          <p:cNvPr id="22" name="TextBox 21"/>
          <p:cNvSpPr txBox="1"/>
          <p:nvPr>
            <p:custDataLst>
              <p:tags r:id="rId15"/>
            </p:custDataLst>
          </p:nvPr>
        </p:nvSpPr>
        <p:spPr>
          <a:xfrm>
            <a:off x="1417320" y="4288536"/>
            <a:ext cx="4206240" cy="219456"/>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05  实体平台与落地验证</a:t>
            </a:r>
          </a:p>
        </p:txBody>
      </p:sp>
      <p:sp>
        <p:nvSpPr>
          <p:cNvPr id="23" name="Rounded Rectangle 22"/>
          <p:cNvSpPr/>
          <p:nvPr>
            <p:custDataLst>
              <p:tags r:id="rId16"/>
            </p:custDataLst>
          </p:nvPr>
        </p:nvSpPr>
        <p:spPr>
          <a:xfrm>
            <a:off x="777240" y="4846320"/>
            <a:ext cx="5120640" cy="438912"/>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custDataLst>
              <p:tags r:id="rId17"/>
            </p:custDataLst>
          </p:nvPr>
        </p:nvSpPr>
        <p:spPr>
          <a:xfrm>
            <a:off x="914400" y="4873752"/>
            <a:ext cx="384048" cy="384048"/>
          </a:xfrm>
          <a:prstGeom prst="ellipse">
            <a:avLst/>
          </a:prstGeom>
          <a:solidFill>
            <a:srgbClr val="539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6</a:t>
            </a:r>
          </a:p>
        </p:txBody>
      </p:sp>
      <p:sp>
        <p:nvSpPr>
          <p:cNvPr id="25" name="TextBox 24"/>
          <p:cNvSpPr txBox="1"/>
          <p:nvPr>
            <p:custDataLst>
              <p:tags r:id="rId18"/>
            </p:custDataLst>
          </p:nvPr>
        </p:nvSpPr>
        <p:spPr>
          <a:xfrm>
            <a:off x="1417320" y="4928616"/>
            <a:ext cx="4206240" cy="219456"/>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06  总结与展望</a:t>
            </a:r>
          </a:p>
        </p:txBody>
      </p:sp>
      <p:sp>
        <p:nvSpPr>
          <p:cNvPr id="26" name="Rounded Rectangle 25"/>
          <p:cNvSpPr/>
          <p:nvPr/>
        </p:nvSpPr>
        <p:spPr>
          <a:xfrm>
            <a:off x="6537960" y="1691640"/>
            <a:ext cx="4754880" cy="365760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812280" y="2057400"/>
            <a:ext cx="1554480" cy="68580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用户创意输入</a:t>
            </a:r>
          </a:p>
        </p:txBody>
      </p:sp>
      <p:sp>
        <p:nvSpPr>
          <p:cNvPr id="28" name="Rounded Rectangle 27"/>
          <p:cNvSpPr/>
          <p:nvPr/>
        </p:nvSpPr>
        <p:spPr>
          <a:xfrm>
            <a:off x="8641080" y="2057400"/>
            <a:ext cx="1554480" cy="68580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rPr lang="zh-CN" altLang="en-US" dirty="0"/>
              <a:t>多智能体</a:t>
            </a:r>
            <a:r>
              <a:rPr dirty="0" err="1"/>
              <a:t>内容生产</a:t>
            </a:r>
            <a:endParaRPr dirty="0"/>
          </a:p>
        </p:txBody>
      </p:sp>
      <p:sp>
        <p:nvSpPr>
          <p:cNvPr id="29" name="Rounded Rectangle 28"/>
          <p:cNvSpPr/>
          <p:nvPr/>
        </p:nvSpPr>
        <p:spPr>
          <a:xfrm>
            <a:off x="6812280" y="3063240"/>
            <a:ext cx="1554480" cy="68580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Unity执行中枢</a:t>
            </a:r>
          </a:p>
        </p:txBody>
      </p:sp>
      <p:sp>
        <p:nvSpPr>
          <p:cNvPr id="30" name="Rounded Rectangle 29"/>
          <p:cNvSpPr/>
          <p:nvPr/>
        </p:nvSpPr>
        <p:spPr>
          <a:xfrm>
            <a:off x="8641080" y="3063240"/>
            <a:ext cx="1554480" cy="68580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实体机器狗</a:t>
            </a:r>
          </a:p>
        </p:txBody>
      </p:sp>
      <p:sp>
        <p:nvSpPr>
          <p:cNvPr id="34" name="TextBox 33"/>
          <p:cNvSpPr txBox="1"/>
          <p:nvPr/>
        </p:nvSpPr>
        <p:spPr>
          <a:xfrm>
            <a:off x="6903720" y="4069080"/>
            <a:ext cx="4297680" cy="822960"/>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本次汇报将重点展开第03与第04部分：</a:t>
            </a:r>
            <a:br/>
            <a:r>
              <a:t>前者回答“剧本如何生成”，后者回答“剧本如何演出来”。</a:t>
            </a:r>
          </a:p>
        </p:txBody>
      </p:sp>
      <p:sp>
        <p:nvSpPr>
          <p:cNvPr id="35" name="TextBox 34"/>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项目背景</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一、项目背景与设计目标</a:t>
            </a:r>
          </a:p>
          <a:p>
            <a:pPr>
              <a:defRPr sz="1200" b="0">
                <a:solidFill>
                  <a:srgbClr val="767E93"/>
                </a:solidFill>
                <a:latin typeface="宋体" panose="02010600030101010101" pitchFamily="2" charset="-122"/>
              </a:defRPr>
            </a:pPr>
            <a:r>
              <a:t>项目起点不是“做一只会动的机器狗”，而是“让机器狗围绕可理解剧情完成表演”。</a:t>
            </a:r>
          </a:p>
        </p:txBody>
      </p:sp>
      <p:sp>
        <p:nvSpPr>
          <p:cNvPr id="8" name="Rounded Rectangle 7"/>
          <p:cNvSpPr/>
          <p:nvPr/>
        </p:nvSpPr>
        <p:spPr>
          <a:xfrm>
            <a:off x="685800" y="1417320"/>
            <a:ext cx="5760720" cy="4480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691640"/>
            <a:ext cx="5349240" cy="4023360"/>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rPr dirty="0"/>
              <a:t>● </a:t>
            </a:r>
            <a:r>
              <a:rPr dirty="0" err="1"/>
              <a:t>本项目面向桌面微缩剧场，希望把“主题</a:t>
            </a:r>
            <a:r>
              <a:rPr dirty="0"/>
              <a:t>—</a:t>
            </a:r>
            <a:r>
              <a:rPr dirty="0" err="1"/>
              <a:t>角色</a:t>
            </a:r>
            <a:r>
              <a:rPr dirty="0"/>
              <a:t>—</a:t>
            </a:r>
            <a:r>
              <a:rPr dirty="0" err="1"/>
              <a:t>对白</a:t>
            </a:r>
            <a:r>
              <a:rPr dirty="0"/>
              <a:t>—</a:t>
            </a:r>
            <a:r>
              <a:rPr dirty="0" err="1"/>
              <a:t>分镜</a:t>
            </a:r>
            <a:r>
              <a:rPr dirty="0"/>
              <a:t>—</a:t>
            </a:r>
            <a:r>
              <a:rPr dirty="0" err="1"/>
              <a:t>动作”连成一条可落地链路</a:t>
            </a:r>
            <a:r>
              <a:rPr dirty="0"/>
              <a:t>。</a:t>
            </a:r>
          </a:p>
          <a:p>
            <a:pPr algn="l">
              <a:lnSpc>
                <a:spcPct val="125000"/>
              </a:lnSpc>
              <a:spcAft>
                <a:spcPts val="400"/>
              </a:spcAft>
              <a:defRPr sz="1800" b="0">
                <a:solidFill>
                  <a:srgbClr val="383F50"/>
                </a:solidFill>
                <a:latin typeface="宋体" panose="02010600030101010101" pitchFamily="2" charset="-122"/>
              </a:defRPr>
            </a:pPr>
            <a:r>
              <a:rPr dirty="0">
                <a:sym typeface="+mn-ea"/>
              </a:rPr>
              <a:t>● </a:t>
            </a:r>
            <a:r>
              <a:rPr dirty="0" err="1">
                <a:sym typeface="+mn-ea"/>
              </a:rPr>
              <a:t>传统机器人展示多数停留在预设动作回放，用户只能点击“前进、后退、转向”等底层按钮，缺少叙事组织能力</a:t>
            </a:r>
            <a:r>
              <a:rPr dirty="0">
                <a:sym typeface="+mn-ea"/>
              </a:rPr>
              <a:t>。</a:t>
            </a:r>
          </a:p>
          <a:p>
            <a:pPr algn="l">
              <a:lnSpc>
                <a:spcPct val="125000"/>
              </a:lnSpc>
              <a:spcAft>
                <a:spcPts val="400"/>
              </a:spcAft>
              <a:defRPr sz="1800" b="0">
                <a:solidFill>
                  <a:srgbClr val="383F50"/>
                </a:solidFill>
                <a:latin typeface="宋体" panose="02010600030101010101" pitchFamily="2" charset="-122"/>
              </a:defRPr>
            </a:pPr>
            <a:r>
              <a:rPr dirty="0">
                <a:sym typeface="+mn-ea"/>
              </a:rPr>
              <a:t>● </a:t>
            </a:r>
            <a:r>
              <a:rPr dirty="0" err="1">
                <a:sym typeface="+mn-ea"/>
              </a:rPr>
              <a:t>单纯内容生成系统虽然能产出文本与对白，但很难直接把剧情语义转成真实可执行动作</a:t>
            </a:r>
            <a:r>
              <a:rPr dirty="0">
                <a:sym typeface="+mn-ea"/>
              </a:rPr>
              <a:t>。</a:t>
            </a:r>
          </a:p>
          <a:p>
            <a:pPr algn="l">
              <a:lnSpc>
                <a:spcPct val="125000"/>
              </a:lnSpc>
              <a:spcAft>
                <a:spcPts val="400"/>
              </a:spcAft>
              <a:defRPr sz="1800" b="0">
                <a:solidFill>
                  <a:srgbClr val="383F50"/>
                </a:solidFill>
                <a:latin typeface="宋体" panose="02010600030101010101" pitchFamily="2" charset="-122"/>
              </a:defRPr>
            </a:pPr>
            <a:r>
              <a:rPr dirty="0"/>
              <a:t>● </a:t>
            </a:r>
            <a:r>
              <a:rPr dirty="0" err="1"/>
              <a:t>系统目标可以概括为：让用户通过自然语言表达创意，由系统自动生成结构化剧本，并进一步驱动Unity与实体机器狗完成演绎</a:t>
            </a:r>
            <a:r>
              <a:rPr dirty="0"/>
              <a:t>。</a:t>
            </a:r>
          </a:p>
          <a:p>
            <a:pPr algn="l">
              <a:lnSpc>
                <a:spcPct val="125000"/>
              </a:lnSpc>
              <a:spcAft>
                <a:spcPts val="400"/>
              </a:spcAft>
              <a:defRPr sz="1800" b="0">
                <a:solidFill>
                  <a:srgbClr val="383F50"/>
                </a:solidFill>
                <a:latin typeface="宋体" panose="02010600030101010101" pitchFamily="2" charset="-122"/>
              </a:defRPr>
            </a:pPr>
            <a:endParaRPr dirty="0"/>
          </a:p>
        </p:txBody>
      </p:sp>
      <p:sp>
        <p:nvSpPr>
          <p:cNvPr id="10" name="Rounded Rectangle 9"/>
          <p:cNvSpPr/>
          <p:nvPr/>
        </p:nvSpPr>
        <p:spPr>
          <a:xfrm>
            <a:off x="6675120" y="1463040"/>
            <a:ext cx="4937760" cy="443484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a_clean_futuristic_high_key_studio_scene_with_a_1_batch_1.png"/>
          <p:cNvPicPr>
            <a:picLocks noChangeAspect="1"/>
          </p:cNvPicPr>
          <p:nvPr/>
        </p:nvPicPr>
        <p:blipFill>
          <a:blip r:embed="rId2"/>
          <a:stretch>
            <a:fillRect/>
          </a:stretch>
        </p:blipFill>
        <p:spPr>
          <a:xfrm>
            <a:off x="6720840" y="2316708"/>
            <a:ext cx="4846320" cy="2727504"/>
          </a:xfrm>
          <a:prstGeom prst="rect">
            <a:avLst/>
          </a:prstGeom>
        </p:spPr>
      </p:pic>
      <p:sp>
        <p:nvSpPr>
          <p:cNvPr id="12" name="TextBox 11"/>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3</a:t>
            </a:r>
          </a:p>
        </p:txBody>
      </p:sp>
      <p:sp>
        <p:nvSpPr>
          <p:cNvPr id="13"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总体方案</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二、系统总体方案</a:t>
            </a:r>
          </a:p>
          <a:p>
            <a:pPr>
              <a:defRPr sz="1200" b="0">
                <a:solidFill>
                  <a:srgbClr val="767E93"/>
                </a:solidFill>
                <a:latin typeface="宋体" panose="02010600030101010101" pitchFamily="2" charset="-122"/>
              </a:defRPr>
            </a:pPr>
            <a:r>
              <a:t>整个系统采用“内容生产层—执行编排层—实体控制层”的分层架构，并通过反馈形成闭环。</a:t>
            </a:r>
          </a:p>
        </p:txBody>
      </p:sp>
      <p:sp>
        <p:nvSpPr>
          <p:cNvPr id="8" name="Rounded Rectangle 7"/>
          <p:cNvSpPr/>
          <p:nvPr/>
        </p:nvSpPr>
        <p:spPr>
          <a:xfrm>
            <a:off x="777240" y="1828800"/>
            <a:ext cx="1828800" cy="155448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28447D"/>
                </a:solidFill>
                <a:latin typeface="宋体" panose="02010600030101010101" pitchFamily="2" charset="-122"/>
              </a:defRPr>
            </a:pPr>
            <a:r>
              <a:t>用户输入层</a:t>
            </a:r>
          </a:p>
          <a:p>
            <a:pPr algn="ctr">
              <a:defRPr sz="1400" b="0">
                <a:solidFill>
                  <a:srgbClr val="383F50"/>
                </a:solidFill>
                <a:latin typeface="宋体" panose="02010600030101010101" pitchFamily="2" charset="-122"/>
              </a:defRPr>
            </a:pPr>
            <a:r>
              <a:t>主题</a:t>
            </a:r>
          </a:p>
          <a:p>
            <a:pPr algn="ctr">
              <a:defRPr sz="1400" b="0">
                <a:solidFill>
                  <a:srgbClr val="383F50"/>
                </a:solidFill>
                <a:latin typeface="宋体" panose="02010600030101010101" pitchFamily="2" charset="-122"/>
              </a:defRPr>
            </a:pPr>
            <a:r>
              <a:t>对白</a:t>
            </a:r>
          </a:p>
          <a:p>
            <a:pPr algn="ctr">
              <a:defRPr sz="1400" b="0">
                <a:solidFill>
                  <a:srgbClr val="383F50"/>
                </a:solidFill>
                <a:latin typeface="宋体" panose="02010600030101010101" pitchFamily="2" charset="-122"/>
              </a:defRPr>
            </a:pPr>
            <a:r>
              <a:t>角色关系</a:t>
            </a:r>
          </a:p>
        </p:txBody>
      </p:sp>
      <p:cxnSp>
        <p:nvCxnSpPr>
          <p:cNvPr id="9" name="Connector 8"/>
          <p:cNvCxnSpPr/>
          <p:nvPr/>
        </p:nvCxnSpPr>
        <p:spPr>
          <a:xfrm>
            <a:off x="2606040" y="2606040"/>
            <a:ext cx="45720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063240" y="1828800"/>
            <a:ext cx="2011680" cy="155448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28447D"/>
                </a:solidFill>
                <a:latin typeface="宋体" panose="02010600030101010101" pitchFamily="2" charset="-122"/>
              </a:defRPr>
            </a:pPr>
            <a:r>
              <a:t>前后端内容生产层</a:t>
            </a:r>
          </a:p>
          <a:p>
            <a:pPr algn="ctr">
              <a:defRPr sz="1400" b="0">
                <a:solidFill>
                  <a:srgbClr val="383F50"/>
                </a:solidFill>
                <a:latin typeface="宋体" panose="02010600030101010101" pitchFamily="2" charset="-122"/>
              </a:defRPr>
            </a:pPr>
            <a:r>
              <a:t>多智能体编排</a:t>
            </a:r>
          </a:p>
          <a:p>
            <a:pPr algn="ctr">
              <a:defRPr sz="1400" b="0">
                <a:solidFill>
                  <a:srgbClr val="383F50"/>
                </a:solidFill>
                <a:latin typeface="宋体" panose="02010600030101010101" pitchFamily="2" charset="-122"/>
              </a:defRPr>
            </a:pPr>
            <a:r>
              <a:t>剧本/角色/场景/分镜</a:t>
            </a:r>
          </a:p>
          <a:p>
            <a:pPr algn="ctr">
              <a:defRPr sz="1400" b="0">
                <a:solidFill>
                  <a:srgbClr val="383F50"/>
                </a:solidFill>
                <a:latin typeface="宋体" panose="02010600030101010101" pitchFamily="2" charset="-122"/>
              </a:defRPr>
            </a:pPr>
            <a:r>
              <a:t>JSON导出</a:t>
            </a:r>
          </a:p>
        </p:txBody>
      </p:sp>
      <p:cxnSp>
        <p:nvCxnSpPr>
          <p:cNvPr id="11" name="Connector 10"/>
          <p:cNvCxnSpPr/>
          <p:nvPr/>
        </p:nvCxnSpPr>
        <p:spPr>
          <a:xfrm>
            <a:off x="5074920" y="2606040"/>
            <a:ext cx="45720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532120" y="1828800"/>
            <a:ext cx="2103120" cy="155448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28447D"/>
                </a:solidFill>
                <a:latin typeface="宋体" panose="02010600030101010101" pitchFamily="2" charset="-122"/>
              </a:defRPr>
            </a:pPr>
            <a:r>
              <a:t>Unity执行编排层</a:t>
            </a:r>
          </a:p>
          <a:p>
            <a:pPr algn="ctr">
              <a:defRPr sz="1400" b="0">
                <a:solidFill>
                  <a:srgbClr val="383F50"/>
                </a:solidFill>
                <a:latin typeface="宋体" panose="02010600030101010101" pitchFamily="2" charset="-122"/>
              </a:defRPr>
            </a:pPr>
            <a:r>
              <a:t>剧本监听</a:t>
            </a:r>
          </a:p>
          <a:p>
            <a:pPr algn="ctr">
              <a:defRPr sz="1400" b="0">
                <a:solidFill>
                  <a:srgbClr val="383F50"/>
                </a:solidFill>
                <a:latin typeface="宋体" panose="02010600030101010101" pitchFamily="2" charset="-122"/>
              </a:defRPr>
            </a:pPr>
            <a:r>
              <a:t>解析调度</a:t>
            </a:r>
          </a:p>
          <a:p>
            <a:pPr algn="ctr">
              <a:defRPr sz="1400" b="0">
                <a:solidFill>
                  <a:srgbClr val="383F50"/>
                </a:solidFill>
                <a:latin typeface="宋体" panose="02010600030101010101" pitchFamily="2" charset="-122"/>
              </a:defRPr>
            </a:pPr>
            <a:r>
              <a:t>推理与安全裁决</a:t>
            </a:r>
          </a:p>
        </p:txBody>
      </p:sp>
      <p:cxnSp>
        <p:nvCxnSpPr>
          <p:cNvPr id="13" name="Connector 12"/>
          <p:cNvCxnSpPr/>
          <p:nvPr/>
        </p:nvCxnSpPr>
        <p:spPr>
          <a:xfrm>
            <a:off x="7635240" y="2606040"/>
            <a:ext cx="45720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92440" y="1828800"/>
            <a:ext cx="1828800" cy="155448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28447D"/>
                </a:solidFill>
                <a:latin typeface="宋体" panose="02010600030101010101" pitchFamily="2" charset="-122"/>
              </a:defRPr>
            </a:pPr>
            <a:r>
              <a:t>实体控制层</a:t>
            </a:r>
          </a:p>
          <a:p>
            <a:pPr algn="ctr">
              <a:defRPr sz="1400" b="0">
                <a:solidFill>
                  <a:srgbClr val="383F50"/>
                </a:solidFill>
                <a:latin typeface="宋体" panose="02010600030101010101" pitchFamily="2" charset="-122"/>
              </a:defRPr>
            </a:pPr>
            <a:r>
              <a:t>ESP32-C3</a:t>
            </a:r>
          </a:p>
          <a:p>
            <a:pPr algn="ctr">
              <a:defRPr sz="1400" b="0">
                <a:solidFill>
                  <a:srgbClr val="383F50"/>
                </a:solidFill>
                <a:latin typeface="宋体" panose="02010600030101010101" pitchFamily="2" charset="-122"/>
              </a:defRPr>
            </a:pPr>
            <a:r>
              <a:t>HTTP通信</a:t>
            </a:r>
          </a:p>
          <a:p>
            <a:pPr algn="ctr">
              <a:defRPr sz="1400" b="0">
                <a:solidFill>
                  <a:srgbClr val="383F50"/>
                </a:solidFill>
                <a:latin typeface="宋体" panose="02010600030101010101" pitchFamily="2" charset="-122"/>
              </a:defRPr>
            </a:pPr>
            <a:r>
              <a:t>四舵机执行</a:t>
            </a:r>
          </a:p>
        </p:txBody>
      </p:sp>
      <p:cxnSp>
        <p:nvCxnSpPr>
          <p:cNvPr id="15" name="Connector 14"/>
          <p:cNvCxnSpPr/>
          <p:nvPr/>
        </p:nvCxnSpPr>
        <p:spPr>
          <a:xfrm>
            <a:off x="9921240" y="2606040"/>
            <a:ext cx="32004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241280" y="1828800"/>
            <a:ext cx="914400" cy="155448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28447D"/>
                </a:solidFill>
                <a:latin typeface="宋体" panose="02010600030101010101" pitchFamily="2" charset="-122"/>
              </a:defRPr>
            </a:pPr>
            <a:r>
              <a:t>反馈优化</a:t>
            </a:r>
          </a:p>
          <a:p>
            <a:pPr algn="ctr">
              <a:defRPr sz="1400" b="0">
                <a:solidFill>
                  <a:srgbClr val="383F50"/>
                </a:solidFill>
                <a:latin typeface="宋体" panose="02010600030101010101" pitchFamily="2" charset="-122"/>
              </a:defRPr>
            </a:pPr>
            <a:r>
              <a:t>状态回流</a:t>
            </a:r>
          </a:p>
          <a:p>
            <a:pPr algn="ctr">
              <a:defRPr sz="1400" b="0">
                <a:solidFill>
                  <a:srgbClr val="383F50"/>
                </a:solidFill>
                <a:latin typeface="宋体" panose="02010600030101010101" pitchFamily="2" charset="-122"/>
              </a:defRPr>
            </a:pPr>
            <a:r>
              <a:t>训练修正</a:t>
            </a:r>
          </a:p>
        </p:txBody>
      </p:sp>
      <p:sp>
        <p:nvSpPr>
          <p:cNvPr id="17" name="Rounded Rectangle 16"/>
          <p:cNvSpPr/>
          <p:nvPr/>
        </p:nvSpPr>
        <p:spPr>
          <a:xfrm>
            <a:off x="822960" y="3977640"/>
            <a:ext cx="10972800" cy="1760855"/>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4279392"/>
            <a:ext cx="10515600" cy="1005840"/>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 上层负责“把用户想法讲清楚”，中层负责“把剧情翻译成动作”，下层负责“让动作真正发生”。</a:t>
            </a:r>
          </a:p>
          <a:p>
            <a:pPr algn="l">
              <a:lnSpc>
                <a:spcPct val="125000"/>
              </a:lnSpc>
              <a:spcAft>
                <a:spcPts val="400"/>
              </a:spcAft>
              <a:defRPr sz="1800" b="0">
                <a:solidFill>
                  <a:srgbClr val="383F50"/>
                </a:solidFill>
                <a:latin typeface="宋体" panose="02010600030101010101" pitchFamily="2" charset="-122"/>
              </a:defRPr>
            </a:pPr>
            <a:r>
              <a:t>● 结构化剧本是整个系统的关键桥梁：它一头连接创意，一头连接Unity运行时，因此也是前后端设计与Unity设计能够耦合的核心原因。</a:t>
            </a:r>
          </a:p>
        </p:txBody>
      </p:sp>
      <p:sp>
        <p:nvSpPr>
          <p:cNvPr id="19" name="TextBox 18"/>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4</a:t>
            </a:r>
          </a:p>
        </p:txBody>
      </p:sp>
      <p:sp>
        <p:nvSpPr>
          <p:cNvPr id="20"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业务流程</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三、完整业务流程</a:t>
            </a:r>
          </a:p>
          <a:p>
            <a:pPr>
              <a:defRPr sz="1200" b="0">
                <a:solidFill>
                  <a:srgbClr val="767E93"/>
                </a:solidFill>
                <a:latin typeface="宋体" panose="02010600030101010101" pitchFamily="2" charset="-122"/>
              </a:defRPr>
            </a:pPr>
            <a:r>
              <a:t>从输入到演出的全过程可以概括为六个阶段。</a:t>
            </a:r>
          </a:p>
        </p:txBody>
      </p:sp>
      <p:sp>
        <p:nvSpPr>
          <p:cNvPr id="8" name="Oval 7"/>
          <p:cNvSpPr/>
          <p:nvPr/>
        </p:nvSpPr>
        <p:spPr>
          <a:xfrm>
            <a:off x="868680" y="1920240"/>
            <a:ext cx="384048" cy="384048"/>
          </a:xfrm>
          <a:prstGeom prst="ellipse">
            <a:avLst/>
          </a:prstGeom>
          <a:solidFill>
            <a:srgbClr val="539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1</a:t>
            </a:r>
          </a:p>
        </p:txBody>
      </p:sp>
      <p:sp>
        <p:nvSpPr>
          <p:cNvPr id="9" name="Rounded Rectangle 8"/>
          <p:cNvSpPr/>
          <p:nvPr/>
        </p:nvSpPr>
        <p:spPr>
          <a:xfrm>
            <a:off x="704088" y="2423160"/>
            <a:ext cx="1508760" cy="160020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输入创意</a:t>
            </a:r>
          </a:p>
          <a:p>
            <a:pPr algn="ctr">
              <a:defRPr sz="1200" b="0">
                <a:solidFill>
                  <a:srgbClr val="383F50"/>
                </a:solidFill>
                <a:latin typeface="宋体" panose="02010600030101010101" pitchFamily="2" charset="-122"/>
              </a:defRPr>
            </a:pPr>
            <a:r>
              <a:t>用户输入主题、对白、角色关系与表演目标</a:t>
            </a:r>
          </a:p>
        </p:txBody>
      </p:sp>
      <p:cxnSp>
        <p:nvCxnSpPr>
          <p:cNvPr id="10" name="Connector 9"/>
          <p:cNvCxnSpPr/>
          <p:nvPr/>
        </p:nvCxnSpPr>
        <p:spPr>
          <a:xfrm>
            <a:off x="1252728" y="2103120"/>
            <a:ext cx="1307592"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715768" y="1920240"/>
            <a:ext cx="384048" cy="384048"/>
          </a:xfrm>
          <a:prstGeom prst="ellipse">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2</a:t>
            </a:r>
          </a:p>
        </p:txBody>
      </p:sp>
      <p:sp>
        <p:nvSpPr>
          <p:cNvPr id="12" name="Rounded Rectangle 11"/>
          <p:cNvSpPr/>
          <p:nvPr/>
        </p:nvSpPr>
        <p:spPr>
          <a:xfrm>
            <a:off x="2551175" y="2423160"/>
            <a:ext cx="1508760" cy="160020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内容生成</a:t>
            </a:r>
          </a:p>
          <a:p>
            <a:pPr algn="ctr">
              <a:defRPr sz="1200" b="0">
                <a:solidFill>
                  <a:srgbClr val="383F50"/>
                </a:solidFill>
                <a:latin typeface="宋体" panose="02010600030101010101" pitchFamily="2" charset="-122"/>
              </a:defRPr>
            </a:pPr>
            <a:r>
              <a:t>前后端通过多智能体生成标准剧本与多模态资产</a:t>
            </a:r>
          </a:p>
        </p:txBody>
      </p:sp>
      <p:cxnSp>
        <p:nvCxnSpPr>
          <p:cNvPr id="13" name="Connector 12"/>
          <p:cNvCxnSpPr/>
          <p:nvPr/>
        </p:nvCxnSpPr>
        <p:spPr>
          <a:xfrm>
            <a:off x="3099815" y="2103120"/>
            <a:ext cx="1307593"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562856" y="1920240"/>
            <a:ext cx="384048" cy="384048"/>
          </a:xfrm>
          <a:prstGeom prst="ellipse">
            <a:avLst/>
          </a:prstGeom>
          <a:solidFill>
            <a:srgbClr val="539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3</a:t>
            </a:r>
          </a:p>
        </p:txBody>
      </p:sp>
      <p:sp>
        <p:nvSpPr>
          <p:cNvPr id="15" name="Rounded Rectangle 14"/>
          <p:cNvSpPr/>
          <p:nvPr/>
        </p:nvSpPr>
        <p:spPr>
          <a:xfrm>
            <a:off x="4398264" y="2423160"/>
            <a:ext cx="1508760" cy="160020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结构化导出</a:t>
            </a:r>
          </a:p>
          <a:p>
            <a:pPr algn="ctr">
              <a:defRPr sz="1200" b="0">
                <a:solidFill>
                  <a:srgbClr val="383F50"/>
                </a:solidFill>
                <a:latin typeface="宋体" panose="02010600030101010101" pitchFamily="2" charset="-122"/>
              </a:defRPr>
            </a:pPr>
            <a:r>
              <a:t>系统沉淀角色库、场景库、分镜与JSON协议</a:t>
            </a:r>
          </a:p>
        </p:txBody>
      </p:sp>
      <p:cxnSp>
        <p:nvCxnSpPr>
          <p:cNvPr id="16" name="Connector 15"/>
          <p:cNvCxnSpPr/>
          <p:nvPr/>
        </p:nvCxnSpPr>
        <p:spPr>
          <a:xfrm>
            <a:off x="4946904" y="2103120"/>
            <a:ext cx="1307592"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409944" y="1920240"/>
            <a:ext cx="384048" cy="384048"/>
          </a:xfrm>
          <a:prstGeom prst="ellipse">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4</a:t>
            </a:r>
          </a:p>
        </p:txBody>
      </p:sp>
      <p:sp>
        <p:nvSpPr>
          <p:cNvPr id="18" name="Rounded Rectangle 17"/>
          <p:cNvSpPr/>
          <p:nvPr/>
        </p:nvSpPr>
        <p:spPr>
          <a:xfrm>
            <a:off x="6245352" y="2423160"/>
            <a:ext cx="1508760" cy="160020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Unity解释</a:t>
            </a:r>
          </a:p>
          <a:p>
            <a:pPr algn="ctr">
              <a:defRPr sz="1200" b="0">
                <a:solidFill>
                  <a:srgbClr val="383F50"/>
                </a:solidFill>
                <a:latin typeface="宋体" panose="02010600030101010101" pitchFamily="2" charset="-122"/>
              </a:defRPr>
            </a:pPr>
            <a:r>
              <a:t>Unity解析剧本、组织动作阶段、运行策略模型</a:t>
            </a:r>
          </a:p>
        </p:txBody>
      </p:sp>
      <p:cxnSp>
        <p:nvCxnSpPr>
          <p:cNvPr id="19" name="Connector 18"/>
          <p:cNvCxnSpPr/>
          <p:nvPr/>
        </p:nvCxnSpPr>
        <p:spPr>
          <a:xfrm>
            <a:off x="6793992" y="2103120"/>
            <a:ext cx="1307592"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257031" y="1920240"/>
            <a:ext cx="384048" cy="384048"/>
          </a:xfrm>
          <a:prstGeom prst="ellipse">
            <a:avLst/>
          </a:prstGeom>
          <a:solidFill>
            <a:srgbClr val="539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5</a:t>
            </a:r>
          </a:p>
        </p:txBody>
      </p:sp>
      <p:sp>
        <p:nvSpPr>
          <p:cNvPr id="21" name="Rounded Rectangle 20"/>
          <p:cNvSpPr/>
          <p:nvPr/>
        </p:nvSpPr>
        <p:spPr>
          <a:xfrm>
            <a:off x="8092440" y="2423160"/>
            <a:ext cx="1508760" cy="160020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实体执行</a:t>
            </a:r>
          </a:p>
          <a:p>
            <a:pPr algn="ctr">
              <a:defRPr sz="1200" b="0">
                <a:solidFill>
                  <a:srgbClr val="383F50"/>
                </a:solidFill>
                <a:latin typeface="宋体" panose="02010600030101010101" pitchFamily="2" charset="-122"/>
              </a:defRPr>
            </a:pPr>
            <a:r>
              <a:t>ESP32接收角度流并驱动四舵机机器狗动作</a:t>
            </a:r>
          </a:p>
        </p:txBody>
      </p:sp>
      <p:cxnSp>
        <p:nvCxnSpPr>
          <p:cNvPr id="22" name="Connector 21"/>
          <p:cNvCxnSpPr/>
          <p:nvPr/>
        </p:nvCxnSpPr>
        <p:spPr>
          <a:xfrm>
            <a:off x="8641080" y="2103120"/>
            <a:ext cx="1307592"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0104119" y="1920240"/>
            <a:ext cx="384048" cy="384048"/>
          </a:xfrm>
          <a:prstGeom prst="ellipse">
            <a:avLst/>
          </a:prstGeom>
          <a:solidFill>
            <a:srgbClr val="539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宋体" panose="02010600030101010101" pitchFamily="2" charset="-122"/>
              </a:defRPr>
            </a:pPr>
            <a:r>
              <a:t>6</a:t>
            </a:r>
          </a:p>
        </p:txBody>
      </p:sp>
      <p:sp>
        <p:nvSpPr>
          <p:cNvPr id="24" name="Rounded Rectangle 23"/>
          <p:cNvSpPr/>
          <p:nvPr/>
        </p:nvSpPr>
        <p:spPr>
          <a:xfrm>
            <a:off x="9939528" y="2423160"/>
            <a:ext cx="1508760" cy="160020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回流优化</a:t>
            </a:r>
          </a:p>
          <a:p>
            <a:pPr algn="ctr">
              <a:defRPr sz="1200" b="0">
                <a:solidFill>
                  <a:srgbClr val="383F50"/>
                </a:solidFill>
                <a:latin typeface="宋体" panose="02010600030101010101" pitchFamily="2" charset="-122"/>
              </a:defRPr>
            </a:pPr>
            <a:r>
              <a:t>真实执行结果回传，用于调度修正与后续迭代</a:t>
            </a:r>
          </a:p>
        </p:txBody>
      </p:sp>
      <p:sp>
        <p:nvSpPr>
          <p:cNvPr id="25" name="Rounded Rectangle 24"/>
          <p:cNvSpPr/>
          <p:nvPr/>
        </p:nvSpPr>
        <p:spPr>
          <a:xfrm>
            <a:off x="868680" y="4572000"/>
            <a:ext cx="10972800" cy="1252855"/>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7280" y="4800600"/>
            <a:ext cx="10515600" cy="411480"/>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本项目真正有特色的地方，不是某一个单点功能，而是把“内容生产—运行时解释—真实执行”连成了一条完整链路。</a:t>
            </a:r>
          </a:p>
        </p:txBody>
      </p:sp>
      <p:sp>
        <p:nvSpPr>
          <p:cNvPr id="27" name="TextBox 26"/>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5</a:t>
            </a:r>
          </a:p>
        </p:txBody>
      </p:sp>
      <p:sp>
        <p:nvSpPr>
          <p:cNvPr id="28"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前后端设计</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四、前后端：为什么要先生成结构化剧本</a:t>
            </a:r>
          </a:p>
          <a:p>
            <a:pPr>
              <a:defRPr sz="1200" b="0">
                <a:solidFill>
                  <a:srgbClr val="767E93"/>
                </a:solidFill>
                <a:latin typeface="宋体" panose="02010600030101010101" pitchFamily="2" charset="-122"/>
              </a:defRPr>
            </a:pPr>
            <a:r>
              <a:t>系统首先要解决的不是“舵机怎么转”，而是“用户的创意怎样被系统理解”。</a:t>
            </a:r>
          </a:p>
        </p:txBody>
      </p:sp>
      <p:sp>
        <p:nvSpPr>
          <p:cNvPr id="8" name="Rounded Rectangle 7"/>
          <p:cNvSpPr/>
          <p:nvPr/>
        </p:nvSpPr>
        <p:spPr>
          <a:xfrm>
            <a:off x="713232" y="1463040"/>
            <a:ext cx="5577840" cy="4480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783080"/>
            <a:ext cx="5166360" cy="3840480"/>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 用户希望输入的是主题、对白、冲突设定和角色关系，而不是底层角度值。</a:t>
            </a:r>
          </a:p>
          <a:p>
            <a:pPr algn="l">
              <a:lnSpc>
                <a:spcPct val="125000"/>
              </a:lnSpc>
              <a:spcAft>
                <a:spcPts val="400"/>
              </a:spcAft>
              <a:defRPr sz="1800" b="0">
                <a:solidFill>
                  <a:srgbClr val="383F50"/>
                </a:solidFill>
                <a:latin typeface="宋体" panose="02010600030101010101" pitchFamily="2" charset="-122"/>
              </a:defRPr>
            </a:pPr>
            <a:r>
              <a:t>● 因此前端必须提供可视化创作流程，帮助非专业用户逐步补全想法，而不是一次性黑箱生成。</a:t>
            </a:r>
          </a:p>
          <a:p>
            <a:pPr algn="l">
              <a:lnSpc>
                <a:spcPct val="125000"/>
              </a:lnSpc>
              <a:spcAft>
                <a:spcPts val="400"/>
              </a:spcAft>
              <a:defRPr sz="1800" b="0">
                <a:solidFill>
                  <a:srgbClr val="383F50"/>
                </a:solidFill>
                <a:latin typeface="宋体" panose="02010600030101010101" pitchFamily="2" charset="-122"/>
              </a:defRPr>
            </a:pPr>
            <a:r>
              <a:t>● 后端则负责把自然语言输入不断加工、提炼与沉淀，最终形成Unity可消费的结构化剧本。</a:t>
            </a:r>
          </a:p>
          <a:p>
            <a:pPr algn="l">
              <a:lnSpc>
                <a:spcPct val="125000"/>
              </a:lnSpc>
              <a:spcAft>
                <a:spcPts val="400"/>
              </a:spcAft>
              <a:defRPr sz="1800" b="0">
                <a:solidFill>
                  <a:srgbClr val="383F50"/>
                </a:solidFill>
                <a:latin typeface="宋体" panose="02010600030101010101" pitchFamily="2" charset="-122"/>
              </a:defRPr>
            </a:pPr>
            <a:r>
              <a:t>● 这一设计使上游内容不再停留在“临时回答”，而是沉淀为可编辑、可管理、可导出的资产。</a:t>
            </a:r>
          </a:p>
          <a:p>
            <a:pPr algn="l">
              <a:lnSpc>
                <a:spcPct val="125000"/>
              </a:lnSpc>
              <a:spcAft>
                <a:spcPts val="400"/>
              </a:spcAft>
              <a:defRPr sz="1800" b="0">
                <a:solidFill>
                  <a:srgbClr val="383F50"/>
                </a:solidFill>
                <a:latin typeface="宋体" panose="02010600030101010101" pitchFamily="2" charset="-122"/>
              </a:defRPr>
            </a:pPr>
            <a:r>
              <a:t>● 换句话说，前后端的价值在于把“内容创作语言”翻译成“系统执行语言”。</a:t>
            </a:r>
          </a:p>
        </p:txBody>
      </p:sp>
      <p:sp>
        <p:nvSpPr>
          <p:cNvPr id="10" name="Rounded Rectangle 9"/>
          <p:cNvSpPr/>
          <p:nvPr/>
        </p:nvSpPr>
        <p:spPr>
          <a:xfrm>
            <a:off x="6583680" y="1554480"/>
            <a:ext cx="4892040" cy="420624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903720" y="1828800"/>
            <a:ext cx="1325880" cy="59436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创意输入</a:t>
            </a:r>
          </a:p>
        </p:txBody>
      </p:sp>
      <p:sp>
        <p:nvSpPr>
          <p:cNvPr id="12" name="Rounded Rectangle 11"/>
          <p:cNvSpPr/>
          <p:nvPr/>
        </p:nvSpPr>
        <p:spPr>
          <a:xfrm>
            <a:off x="8732520" y="1828800"/>
            <a:ext cx="1325880" cy="59436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创作访谈</a:t>
            </a:r>
          </a:p>
        </p:txBody>
      </p:sp>
      <p:sp>
        <p:nvSpPr>
          <p:cNvPr id="13" name="Rounded Rectangle 12"/>
          <p:cNvSpPr/>
          <p:nvPr/>
        </p:nvSpPr>
        <p:spPr>
          <a:xfrm>
            <a:off x="6903720" y="2834640"/>
            <a:ext cx="1325880" cy="59436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剧本改写</a:t>
            </a:r>
          </a:p>
        </p:txBody>
      </p:sp>
      <p:sp>
        <p:nvSpPr>
          <p:cNvPr id="14" name="Rounded Rectangle 13"/>
          <p:cNvSpPr/>
          <p:nvPr/>
        </p:nvSpPr>
        <p:spPr>
          <a:xfrm>
            <a:off x="8732520" y="2834640"/>
            <a:ext cx="1325880" cy="59436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资产提取</a:t>
            </a:r>
          </a:p>
        </p:txBody>
      </p:sp>
      <p:sp>
        <p:nvSpPr>
          <p:cNvPr id="15" name="Rounded Rectangle 14"/>
          <p:cNvSpPr/>
          <p:nvPr/>
        </p:nvSpPr>
        <p:spPr>
          <a:xfrm>
            <a:off x="6903720" y="3840480"/>
            <a:ext cx="1325880" cy="59436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分镜/素材</a:t>
            </a:r>
          </a:p>
        </p:txBody>
      </p:sp>
      <p:sp>
        <p:nvSpPr>
          <p:cNvPr id="16" name="Rounded Rectangle 15"/>
          <p:cNvSpPr/>
          <p:nvPr/>
        </p:nvSpPr>
        <p:spPr>
          <a:xfrm>
            <a:off x="8732520" y="3840480"/>
            <a:ext cx="1325880" cy="59436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JSON导出</a:t>
            </a:r>
          </a:p>
        </p:txBody>
      </p:sp>
      <p:cxnSp>
        <p:nvCxnSpPr>
          <p:cNvPr id="17" name="Connector 16"/>
          <p:cNvCxnSpPr/>
          <p:nvPr/>
        </p:nvCxnSpPr>
        <p:spPr>
          <a:xfrm>
            <a:off x="8229600" y="2121408"/>
            <a:ext cx="50292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571231" y="2423160"/>
            <a:ext cx="0" cy="41148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400032" y="2423160"/>
            <a:ext cx="0" cy="41148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229600" y="3127248"/>
            <a:ext cx="50292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71231" y="3429000"/>
            <a:ext cx="0" cy="41148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400032" y="3429000"/>
            <a:ext cx="0" cy="41148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229600" y="4133087"/>
            <a:ext cx="50292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812280" y="4709160"/>
            <a:ext cx="4480560" cy="640080"/>
          </a:xfrm>
          <a:prstGeom prst="rect">
            <a:avLst/>
          </a:prstGeom>
          <a:noFill/>
        </p:spPr>
        <p:txBody>
          <a:bodyPr wrap="square" anchor="t">
            <a:noAutofit/>
          </a:bodyPr>
          <a:lstStyle/>
          <a:p>
            <a:pPr algn="l">
              <a:lnSpc>
                <a:spcPct val="125000"/>
              </a:lnSpc>
              <a:spcAft>
                <a:spcPts val="400"/>
              </a:spcAft>
              <a:defRPr sz="1600" b="0">
                <a:solidFill>
                  <a:srgbClr val="4976C6"/>
                </a:solidFill>
                <a:latin typeface="宋体" panose="02010600030101010101" pitchFamily="2" charset="-122"/>
              </a:defRPr>
            </a:pPr>
            <a:r>
              <a:t>核心作用：把模糊创意变成稳定输入，再交给Unity完成后续演绎。</a:t>
            </a:r>
          </a:p>
        </p:txBody>
      </p:sp>
      <p:sp>
        <p:nvSpPr>
          <p:cNvPr id="25" name="TextBox 24"/>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6</a:t>
            </a:r>
          </a:p>
        </p:txBody>
      </p:sp>
      <p:sp>
        <p:nvSpPr>
          <p:cNvPr id="26"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前后端设计</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五、前端工作台：面向创作者的交互入口</a:t>
            </a:r>
          </a:p>
          <a:p>
            <a:pPr>
              <a:defRPr sz="1200" b="0">
                <a:solidFill>
                  <a:srgbClr val="767E93"/>
                </a:solidFill>
                <a:latin typeface="宋体" panose="02010600030101010101" pitchFamily="2" charset="-122"/>
              </a:defRPr>
            </a:pPr>
            <a:r>
              <a:t>前端不是简单表单，而是围绕“创作—编辑—预览—导出”设计的工作台。</a:t>
            </a:r>
          </a:p>
        </p:txBody>
      </p:sp>
      <p:sp>
        <p:nvSpPr>
          <p:cNvPr id="8" name="Rounded Rectangle 7"/>
          <p:cNvSpPr/>
          <p:nvPr/>
        </p:nvSpPr>
        <p:spPr>
          <a:xfrm>
            <a:off x="749808" y="1508760"/>
            <a:ext cx="5852160" cy="4480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60120" y="1783080"/>
            <a:ext cx="5440680" cy="388620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43000" y="1965960"/>
            <a:ext cx="1005840" cy="301752"/>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767E93"/>
                </a:solidFill>
                <a:latin typeface="宋体" panose="02010600030101010101" pitchFamily="2" charset="-122"/>
              </a:defRPr>
            </a:pPr>
            <a:r>
              <a:t>项目概览</a:t>
            </a:r>
          </a:p>
        </p:txBody>
      </p:sp>
      <p:sp>
        <p:nvSpPr>
          <p:cNvPr id="11" name="Rounded Rectangle 10"/>
          <p:cNvSpPr/>
          <p:nvPr/>
        </p:nvSpPr>
        <p:spPr>
          <a:xfrm>
            <a:off x="2377440" y="1965960"/>
            <a:ext cx="1005840" cy="301752"/>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4976C6"/>
                </a:solidFill>
                <a:latin typeface="宋体" panose="02010600030101010101" pitchFamily="2" charset="-122"/>
              </a:defRPr>
            </a:pPr>
            <a:r>
              <a:t>剧本编辑</a:t>
            </a:r>
          </a:p>
        </p:txBody>
      </p:sp>
      <p:sp>
        <p:nvSpPr>
          <p:cNvPr id="12" name="Rounded Rectangle 11"/>
          <p:cNvSpPr/>
          <p:nvPr/>
        </p:nvSpPr>
        <p:spPr>
          <a:xfrm>
            <a:off x="3611880" y="1965960"/>
            <a:ext cx="1005840" cy="301752"/>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767E93"/>
                </a:solidFill>
                <a:latin typeface="宋体" panose="02010600030101010101" pitchFamily="2" charset="-122"/>
              </a:defRPr>
            </a:pPr>
            <a:r>
              <a:t>分镜资产</a:t>
            </a:r>
          </a:p>
        </p:txBody>
      </p:sp>
      <p:sp>
        <p:nvSpPr>
          <p:cNvPr id="13" name="Rounded Rectangle 12"/>
          <p:cNvSpPr/>
          <p:nvPr/>
        </p:nvSpPr>
        <p:spPr>
          <a:xfrm>
            <a:off x="4846320" y="1965960"/>
            <a:ext cx="1005840" cy="301752"/>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767E93"/>
                </a:solidFill>
                <a:latin typeface="宋体" panose="02010600030101010101" pitchFamily="2" charset="-122"/>
              </a:defRPr>
            </a:pPr>
            <a:r>
              <a:t>导出中心</a:t>
            </a:r>
          </a:p>
        </p:txBody>
      </p:sp>
      <p:sp>
        <p:nvSpPr>
          <p:cNvPr id="14" name="Rounded Rectangle 13"/>
          <p:cNvSpPr/>
          <p:nvPr/>
        </p:nvSpPr>
        <p:spPr>
          <a:xfrm>
            <a:off x="1143000" y="2331720"/>
            <a:ext cx="914400" cy="283464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61872" y="2560320"/>
            <a:ext cx="640080" cy="164592"/>
          </a:xfrm>
          <a:prstGeom prst="rect">
            <a:avLst/>
          </a:prstGeom>
          <a:noFill/>
        </p:spPr>
        <p:txBody>
          <a:bodyPr wrap="none">
            <a:spAutoFit/>
          </a:bodyPr>
          <a:lstStyle/>
          <a:p>
            <a:pPr>
              <a:defRPr sz="1100" b="0">
                <a:solidFill>
                  <a:srgbClr val="383F50"/>
                </a:solidFill>
                <a:latin typeface="宋体" panose="02010600030101010101" pitchFamily="2" charset="-122"/>
              </a:defRPr>
            </a:pPr>
            <a:r>
              <a:t>创意输入</a:t>
            </a:r>
          </a:p>
        </p:txBody>
      </p:sp>
      <p:sp>
        <p:nvSpPr>
          <p:cNvPr id="16" name="TextBox 15"/>
          <p:cNvSpPr txBox="1"/>
          <p:nvPr/>
        </p:nvSpPr>
        <p:spPr>
          <a:xfrm>
            <a:off x="1261872" y="2953512"/>
            <a:ext cx="640080" cy="164592"/>
          </a:xfrm>
          <a:prstGeom prst="rect">
            <a:avLst/>
          </a:prstGeom>
          <a:noFill/>
        </p:spPr>
        <p:txBody>
          <a:bodyPr wrap="none">
            <a:spAutoFit/>
          </a:bodyPr>
          <a:lstStyle/>
          <a:p>
            <a:pPr>
              <a:defRPr sz="1100" b="0">
                <a:solidFill>
                  <a:srgbClr val="383F50"/>
                </a:solidFill>
                <a:latin typeface="宋体" panose="02010600030101010101" pitchFamily="2" charset="-122"/>
              </a:defRPr>
            </a:pPr>
            <a:r>
              <a:t>角色</a:t>
            </a:r>
          </a:p>
        </p:txBody>
      </p:sp>
      <p:sp>
        <p:nvSpPr>
          <p:cNvPr id="17" name="TextBox 16"/>
          <p:cNvSpPr txBox="1"/>
          <p:nvPr/>
        </p:nvSpPr>
        <p:spPr>
          <a:xfrm>
            <a:off x="1261872" y="3346703"/>
            <a:ext cx="640080" cy="164592"/>
          </a:xfrm>
          <a:prstGeom prst="rect">
            <a:avLst/>
          </a:prstGeom>
          <a:noFill/>
        </p:spPr>
        <p:txBody>
          <a:bodyPr wrap="none">
            <a:spAutoFit/>
          </a:bodyPr>
          <a:lstStyle/>
          <a:p>
            <a:pPr>
              <a:defRPr sz="1100" b="0">
                <a:solidFill>
                  <a:srgbClr val="383F50"/>
                </a:solidFill>
                <a:latin typeface="宋体" panose="02010600030101010101" pitchFamily="2" charset="-122"/>
              </a:defRPr>
            </a:pPr>
            <a:r>
              <a:t>场景</a:t>
            </a:r>
          </a:p>
        </p:txBody>
      </p:sp>
      <p:sp>
        <p:nvSpPr>
          <p:cNvPr id="18" name="TextBox 17"/>
          <p:cNvSpPr txBox="1"/>
          <p:nvPr/>
        </p:nvSpPr>
        <p:spPr>
          <a:xfrm>
            <a:off x="1261872" y="3739896"/>
            <a:ext cx="640080" cy="164592"/>
          </a:xfrm>
          <a:prstGeom prst="rect">
            <a:avLst/>
          </a:prstGeom>
          <a:noFill/>
        </p:spPr>
        <p:txBody>
          <a:bodyPr wrap="none">
            <a:spAutoFit/>
          </a:bodyPr>
          <a:lstStyle/>
          <a:p>
            <a:pPr>
              <a:defRPr sz="1100" b="0">
                <a:solidFill>
                  <a:srgbClr val="383F50"/>
                </a:solidFill>
                <a:latin typeface="宋体" panose="02010600030101010101" pitchFamily="2" charset="-122"/>
              </a:defRPr>
            </a:pPr>
            <a:r>
              <a:t>分镜</a:t>
            </a:r>
          </a:p>
        </p:txBody>
      </p:sp>
      <p:sp>
        <p:nvSpPr>
          <p:cNvPr id="19" name="TextBox 18"/>
          <p:cNvSpPr txBox="1"/>
          <p:nvPr/>
        </p:nvSpPr>
        <p:spPr>
          <a:xfrm>
            <a:off x="1261872" y="4133087"/>
            <a:ext cx="640080" cy="164592"/>
          </a:xfrm>
          <a:prstGeom prst="rect">
            <a:avLst/>
          </a:prstGeom>
          <a:noFill/>
        </p:spPr>
        <p:txBody>
          <a:bodyPr wrap="none">
            <a:spAutoFit/>
          </a:bodyPr>
          <a:lstStyle/>
          <a:p>
            <a:pPr>
              <a:defRPr sz="1100" b="0">
                <a:solidFill>
                  <a:srgbClr val="383F50"/>
                </a:solidFill>
                <a:latin typeface="宋体" panose="02010600030101010101" pitchFamily="2" charset="-122"/>
              </a:defRPr>
            </a:pPr>
            <a:r>
              <a:t>素材</a:t>
            </a:r>
          </a:p>
        </p:txBody>
      </p:sp>
      <p:sp>
        <p:nvSpPr>
          <p:cNvPr id="20" name="TextBox 19"/>
          <p:cNvSpPr txBox="1"/>
          <p:nvPr/>
        </p:nvSpPr>
        <p:spPr>
          <a:xfrm>
            <a:off x="1261872" y="4526279"/>
            <a:ext cx="640080" cy="164592"/>
          </a:xfrm>
          <a:prstGeom prst="rect">
            <a:avLst/>
          </a:prstGeom>
          <a:noFill/>
        </p:spPr>
        <p:txBody>
          <a:bodyPr wrap="none">
            <a:spAutoFit/>
          </a:bodyPr>
          <a:lstStyle/>
          <a:p>
            <a:pPr>
              <a:defRPr sz="1100" b="0">
                <a:solidFill>
                  <a:srgbClr val="383F50"/>
                </a:solidFill>
                <a:latin typeface="宋体" panose="02010600030101010101" pitchFamily="2" charset="-122"/>
              </a:defRPr>
            </a:pPr>
            <a:r>
              <a:t>导出</a:t>
            </a:r>
          </a:p>
        </p:txBody>
      </p:sp>
      <p:sp>
        <p:nvSpPr>
          <p:cNvPr id="21" name="Rounded Rectangle 20"/>
          <p:cNvSpPr/>
          <p:nvPr/>
        </p:nvSpPr>
        <p:spPr>
          <a:xfrm>
            <a:off x="2240280" y="2331720"/>
            <a:ext cx="2148840" cy="283464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404872" y="2514600"/>
            <a:ext cx="1828800" cy="274320"/>
          </a:xfrm>
          <a:prstGeom prst="rect">
            <a:avLst/>
          </a:prstGeom>
          <a:noFill/>
        </p:spPr>
        <p:txBody>
          <a:bodyPr wrap="square" anchor="t">
            <a:noAutofit/>
          </a:bodyPr>
          <a:lstStyle/>
          <a:p>
            <a:pPr algn="l">
              <a:lnSpc>
                <a:spcPct val="125000"/>
              </a:lnSpc>
              <a:spcAft>
                <a:spcPts val="400"/>
              </a:spcAft>
              <a:defRPr sz="1100" b="0">
                <a:solidFill>
                  <a:srgbClr val="383F50"/>
                </a:solidFill>
                <a:latin typeface="宋体" panose="02010600030101010101" pitchFamily="2" charset="-122"/>
              </a:defRPr>
            </a:pPr>
            <a:r>
              <a:t>输入主题：送药</a:t>
            </a:r>
            <a:r>
              <a:rPr lang="zh-CN"/>
              <a:t>剧本</a:t>
            </a:r>
          </a:p>
        </p:txBody>
      </p:sp>
      <p:sp>
        <p:nvSpPr>
          <p:cNvPr id="23" name="Rounded Rectangle 22"/>
          <p:cNvSpPr/>
          <p:nvPr/>
        </p:nvSpPr>
        <p:spPr>
          <a:xfrm>
            <a:off x="2395728" y="2834640"/>
            <a:ext cx="1783080" cy="256032"/>
          </a:xfrm>
          <a:prstGeom prst="roundRect">
            <a:avLst/>
          </a:prstGeom>
          <a:solidFill>
            <a:srgbClr val="E8F1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87168" y="2875788"/>
            <a:ext cx="1600200" cy="164592"/>
          </a:xfrm>
          <a:prstGeom prst="rect">
            <a:avLst/>
          </a:prstGeom>
          <a:noFill/>
        </p:spPr>
        <p:txBody>
          <a:bodyPr wrap="square" anchor="t">
            <a:noAutofit/>
          </a:bodyPr>
          <a:lstStyle/>
          <a:p>
            <a:pPr algn="l">
              <a:lnSpc>
                <a:spcPct val="125000"/>
              </a:lnSpc>
              <a:spcAft>
                <a:spcPts val="400"/>
              </a:spcAft>
              <a:defRPr sz="1000" b="0">
                <a:solidFill>
                  <a:srgbClr val="383F50"/>
                </a:solidFill>
                <a:latin typeface="宋体" panose="02010600030101010101" pitchFamily="2" charset="-122"/>
              </a:defRPr>
            </a:pPr>
            <a:r>
              <a:t>角色关系：护士 / 病人</a:t>
            </a:r>
          </a:p>
        </p:txBody>
      </p:sp>
      <p:sp>
        <p:nvSpPr>
          <p:cNvPr id="25" name="Rounded Rectangle 24"/>
          <p:cNvSpPr/>
          <p:nvPr/>
        </p:nvSpPr>
        <p:spPr>
          <a:xfrm>
            <a:off x="2395728" y="3154680"/>
            <a:ext cx="1783080" cy="256032"/>
          </a:xfrm>
          <a:prstGeom prst="roundRect">
            <a:avLst/>
          </a:prstGeom>
          <a:solidFill>
            <a:srgbClr val="E8F1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487168" y="3195828"/>
            <a:ext cx="1600200" cy="164592"/>
          </a:xfrm>
          <a:prstGeom prst="rect">
            <a:avLst/>
          </a:prstGeom>
          <a:noFill/>
        </p:spPr>
        <p:txBody>
          <a:bodyPr wrap="square" anchor="t">
            <a:noAutofit/>
          </a:bodyPr>
          <a:lstStyle/>
          <a:p>
            <a:pPr algn="l">
              <a:lnSpc>
                <a:spcPct val="125000"/>
              </a:lnSpc>
              <a:spcAft>
                <a:spcPts val="400"/>
              </a:spcAft>
              <a:defRPr sz="1000" b="0">
                <a:solidFill>
                  <a:srgbClr val="383F50"/>
                </a:solidFill>
                <a:latin typeface="宋体" panose="02010600030101010101" pitchFamily="2" charset="-122"/>
              </a:defRPr>
            </a:pPr>
            <a:r>
              <a:t>对白片段：该吃药了</a:t>
            </a:r>
          </a:p>
        </p:txBody>
      </p:sp>
      <p:sp>
        <p:nvSpPr>
          <p:cNvPr id="27" name="Rounded Rectangle 26"/>
          <p:cNvSpPr/>
          <p:nvPr/>
        </p:nvSpPr>
        <p:spPr>
          <a:xfrm>
            <a:off x="2395728" y="3474720"/>
            <a:ext cx="1783080" cy="256032"/>
          </a:xfrm>
          <a:prstGeom prst="roundRect">
            <a:avLst/>
          </a:prstGeom>
          <a:solidFill>
            <a:srgbClr val="E8F1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487168" y="3515868"/>
            <a:ext cx="1600200" cy="164592"/>
          </a:xfrm>
          <a:prstGeom prst="rect">
            <a:avLst/>
          </a:prstGeom>
          <a:noFill/>
        </p:spPr>
        <p:txBody>
          <a:bodyPr wrap="square" anchor="t">
            <a:noAutofit/>
          </a:bodyPr>
          <a:lstStyle/>
          <a:p>
            <a:pPr algn="l">
              <a:lnSpc>
                <a:spcPct val="125000"/>
              </a:lnSpc>
              <a:spcAft>
                <a:spcPts val="400"/>
              </a:spcAft>
              <a:defRPr sz="1000" b="0">
                <a:solidFill>
                  <a:srgbClr val="383F50"/>
                </a:solidFill>
                <a:latin typeface="宋体" panose="02010600030101010101" pitchFamily="2" charset="-122"/>
              </a:defRPr>
            </a:pPr>
            <a:r>
              <a:t>情绪目标：温和、陪伴</a:t>
            </a:r>
          </a:p>
        </p:txBody>
      </p:sp>
      <p:sp>
        <p:nvSpPr>
          <p:cNvPr id="29" name="Rounded Rectangle 28"/>
          <p:cNvSpPr/>
          <p:nvPr/>
        </p:nvSpPr>
        <p:spPr>
          <a:xfrm>
            <a:off x="2395855" y="3794760"/>
            <a:ext cx="1783080" cy="511810"/>
          </a:xfrm>
          <a:prstGeom prst="roundRect">
            <a:avLst/>
          </a:prstGeom>
          <a:solidFill>
            <a:srgbClr val="E8F1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487168" y="3835908"/>
            <a:ext cx="1600200" cy="164592"/>
          </a:xfrm>
          <a:prstGeom prst="rect">
            <a:avLst/>
          </a:prstGeom>
          <a:noFill/>
        </p:spPr>
        <p:txBody>
          <a:bodyPr wrap="square" anchor="t">
            <a:noAutofit/>
          </a:bodyPr>
          <a:lstStyle/>
          <a:p>
            <a:pPr algn="l">
              <a:lnSpc>
                <a:spcPct val="125000"/>
              </a:lnSpc>
              <a:spcAft>
                <a:spcPts val="400"/>
              </a:spcAft>
              <a:defRPr sz="1000" b="0">
                <a:solidFill>
                  <a:srgbClr val="383F50"/>
                </a:solidFill>
                <a:latin typeface="宋体" panose="02010600030101010101" pitchFamily="2" charset="-122"/>
              </a:defRPr>
            </a:pPr>
            <a:r>
              <a:t>动作意图：走近、停顿、问候</a:t>
            </a:r>
          </a:p>
        </p:txBody>
      </p:sp>
      <p:sp>
        <p:nvSpPr>
          <p:cNvPr id="31" name="Rounded Rectangle 30"/>
          <p:cNvSpPr/>
          <p:nvPr/>
        </p:nvSpPr>
        <p:spPr>
          <a:xfrm>
            <a:off x="4526280" y="2331720"/>
            <a:ext cx="1645920" cy="283464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4709160" y="2578608"/>
            <a:ext cx="1280160" cy="822960"/>
          </a:xfrm>
          <a:prstGeom prst="roundRect">
            <a:avLst/>
          </a:prstGeom>
          <a:solidFill>
            <a:srgbClr val="E8F1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828032" y="2816352"/>
            <a:ext cx="1005840" cy="182880"/>
          </a:xfrm>
          <a:prstGeom prst="rect">
            <a:avLst/>
          </a:prstGeom>
          <a:noFill/>
        </p:spPr>
        <p:txBody>
          <a:bodyPr wrap="square" anchor="t">
            <a:noAutofit/>
          </a:bodyPr>
          <a:lstStyle/>
          <a:p>
            <a:pPr algn="ctr">
              <a:lnSpc>
                <a:spcPct val="125000"/>
              </a:lnSpc>
              <a:spcAft>
                <a:spcPts val="400"/>
              </a:spcAft>
              <a:defRPr sz="1200" b="0">
                <a:solidFill>
                  <a:srgbClr val="4976C6"/>
                </a:solidFill>
                <a:latin typeface="宋体" panose="02010600030101010101" pitchFamily="2" charset="-122"/>
              </a:defRPr>
            </a:pPr>
            <a:r>
              <a:t>剧本预览</a:t>
            </a:r>
          </a:p>
        </p:txBody>
      </p:sp>
      <p:sp>
        <p:nvSpPr>
          <p:cNvPr id="34" name="Rounded Rectangle 33"/>
          <p:cNvSpPr/>
          <p:nvPr/>
        </p:nvSpPr>
        <p:spPr>
          <a:xfrm>
            <a:off x="4736592" y="3611880"/>
            <a:ext cx="1207008" cy="219456"/>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28032" y="3648456"/>
            <a:ext cx="1024128" cy="164592"/>
          </a:xfrm>
          <a:prstGeom prst="rect">
            <a:avLst/>
          </a:prstGeom>
          <a:noFill/>
        </p:spPr>
        <p:txBody>
          <a:bodyPr wrap="square" anchor="t">
            <a:noAutofit/>
          </a:bodyPr>
          <a:lstStyle/>
          <a:p>
            <a:pPr algn="ctr">
              <a:lnSpc>
                <a:spcPct val="125000"/>
              </a:lnSpc>
              <a:spcAft>
                <a:spcPts val="400"/>
              </a:spcAft>
              <a:defRPr sz="1000" b="0">
                <a:solidFill>
                  <a:srgbClr val="383F50"/>
                </a:solidFill>
                <a:latin typeface="宋体" panose="02010600030101010101" pitchFamily="2" charset="-122"/>
              </a:defRPr>
            </a:pPr>
            <a:r>
              <a:t>角色图</a:t>
            </a:r>
          </a:p>
        </p:txBody>
      </p:sp>
      <p:sp>
        <p:nvSpPr>
          <p:cNvPr id="36" name="Rounded Rectangle 35"/>
          <p:cNvSpPr/>
          <p:nvPr/>
        </p:nvSpPr>
        <p:spPr>
          <a:xfrm>
            <a:off x="4736592" y="3941064"/>
            <a:ext cx="1207008" cy="219456"/>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828032" y="3977640"/>
            <a:ext cx="1024128" cy="164592"/>
          </a:xfrm>
          <a:prstGeom prst="rect">
            <a:avLst/>
          </a:prstGeom>
          <a:noFill/>
        </p:spPr>
        <p:txBody>
          <a:bodyPr wrap="square" anchor="t">
            <a:noAutofit/>
          </a:bodyPr>
          <a:lstStyle/>
          <a:p>
            <a:pPr algn="ctr">
              <a:lnSpc>
                <a:spcPct val="125000"/>
              </a:lnSpc>
              <a:spcAft>
                <a:spcPts val="400"/>
              </a:spcAft>
              <a:defRPr sz="1000" b="0">
                <a:solidFill>
                  <a:srgbClr val="383F50"/>
                </a:solidFill>
                <a:latin typeface="宋体" panose="02010600030101010101" pitchFamily="2" charset="-122"/>
              </a:defRPr>
            </a:pPr>
            <a:r>
              <a:t>场景图</a:t>
            </a:r>
          </a:p>
        </p:txBody>
      </p:sp>
      <p:sp>
        <p:nvSpPr>
          <p:cNvPr id="38" name="Rounded Rectangle 37"/>
          <p:cNvSpPr/>
          <p:nvPr/>
        </p:nvSpPr>
        <p:spPr>
          <a:xfrm>
            <a:off x="4736592" y="4270248"/>
            <a:ext cx="1207008" cy="219456"/>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828032" y="4306824"/>
            <a:ext cx="1024128" cy="164592"/>
          </a:xfrm>
          <a:prstGeom prst="rect">
            <a:avLst/>
          </a:prstGeom>
          <a:noFill/>
        </p:spPr>
        <p:txBody>
          <a:bodyPr wrap="square" anchor="t">
            <a:noAutofit/>
          </a:bodyPr>
          <a:lstStyle/>
          <a:p>
            <a:pPr algn="ctr">
              <a:lnSpc>
                <a:spcPct val="125000"/>
              </a:lnSpc>
              <a:spcAft>
                <a:spcPts val="400"/>
              </a:spcAft>
              <a:defRPr sz="1000" b="0">
                <a:solidFill>
                  <a:srgbClr val="383F50"/>
                </a:solidFill>
                <a:latin typeface="宋体" panose="02010600030101010101" pitchFamily="2" charset="-122"/>
              </a:defRPr>
            </a:pPr>
            <a:r>
              <a:t>语音</a:t>
            </a:r>
          </a:p>
        </p:txBody>
      </p:sp>
      <p:sp>
        <p:nvSpPr>
          <p:cNvPr id="40" name="Rounded Rectangle 39"/>
          <p:cNvSpPr/>
          <p:nvPr/>
        </p:nvSpPr>
        <p:spPr>
          <a:xfrm>
            <a:off x="4736592" y="4599432"/>
            <a:ext cx="1207008" cy="219456"/>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28032" y="4636008"/>
            <a:ext cx="1024128" cy="164592"/>
          </a:xfrm>
          <a:prstGeom prst="rect">
            <a:avLst/>
          </a:prstGeom>
          <a:noFill/>
        </p:spPr>
        <p:txBody>
          <a:bodyPr wrap="square" anchor="t">
            <a:noAutofit/>
          </a:bodyPr>
          <a:lstStyle/>
          <a:p>
            <a:pPr algn="ctr">
              <a:lnSpc>
                <a:spcPct val="125000"/>
              </a:lnSpc>
              <a:spcAft>
                <a:spcPts val="400"/>
              </a:spcAft>
              <a:defRPr sz="1000" b="0">
                <a:solidFill>
                  <a:srgbClr val="383F50"/>
                </a:solidFill>
                <a:latin typeface="宋体" panose="02010600030101010101" pitchFamily="2" charset="-122"/>
              </a:defRPr>
            </a:pPr>
            <a:r>
              <a:t>JSON</a:t>
            </a:r>
          </a:p>
        </p:txBody>
      </p:sp>
      <p:sp>
        <p:nvSpPr>
          <p:cNvPr id="42" name="Rounded Rectangle 41"/>
          <p:cNvSpPr/>
          <p:nvPr/>
        </p:nvSpPr>
        <p:spPr>
          <a:xfrm>
            <a:off x="6903720" y="1600200"/>
            <a:ext cx="4572000" cy="434340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178040" y="1874519"/>
            <a:ext cx="4114800" cy="3657600"/>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 创意输入区：接收主题、对白、角色关系、情绪与表演目标。</a:t>
            </a:r>
          </a:p>
          <a:p>
            <a:pPr algn="l">
              <a:lnSpc>
                <a:spcPct val="125000"/>
              </a:lnSpc>
              <a:spcAft>
                <a:spcPts val="400"/>
              </a:spcAft>
              <a:defRPr sz="1800" b="0">
                <a:solidFill>
                  <a:srgbClr val="383F50"/>
                </a:solidFill>
                <a:latin typeface="宋体" panose="02010600030101010101" pitchFamily="2" charset="-122"/>
              </a:defRPr>
            </a:pPr>
            <a:r>
              <a:t>● 阶段导航区：将创作过程拆分为访谈、改写、提取、分镜、资产管理等步骤。</a:t>
            </a:r>
          </a:p>
          <a:p>
            <a:pPr algn="l">
              <a:lnSpc>
                <a:spcPct val="125000"/>
              </a:lnSpc>
              <a:spcAft>
                <a:spcPts val="400"/>
              </a:spcAft>
              <a:defRPr sz="1800" b="0">
                <a:solidFill>
                  <a:srgbClr val="383F50"/>
                </a:solidFill>
                <a:latin typeface="宋体" panose="02010600030101010101" pitchFamily="2" charset="-122"/>
              </a:defRPr>
            </a:pPr>
            <a:r>
              <a:t>● 资产预览区：用于查看角色、场景、镜头、语音及导出结果，方便人工干预。</a:t>
            </a:r>
          </a:p>
          <a:p>
            <a:pPr algn="l">
              <a:lnSpc>
                <a:spcPct val="125000"/>
              </a:lnSpc>
              <a:spcAft>
                <a:spcPts val="400"/>
              </a:spcAft>
              <a:defRPr sz="1800" b="0">
                <a:solidFill>
                  <a:srgbClr val="383F50"/>
                </a:solidFill>
                <a:latin typeface="宋体" panose="02010600030101010101" pitchFamily="2" charset="-122"/>
              </a:defRPr>
            </a:pPr>
            <a:r>
              <a:t>● 这种工作台设计让系统更像“创作软件”，而不仅仅是“问答页面”。</a:t>
            </a:r>
          </a:p>
        </p:txBody>
      </p:sp>
      <p:sp>
        <p:nvSpPr>
          <p:cNvPr id="44" name="TextBox 43"/>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7</a:t>
            </a:r>
          </a:p>
        </p:txBody>
      </p:sp>
      <p:sp>
        <p:nvSpPr>
          <p:cNvPr id="45"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前后端设计</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六、后端：多智能体内容生产链路</a:t>
            </a:r>
          </a:p>
          <a:p>
            <a:pPr>
              <a:defRPr sz="1200" b="0">
                <a:solidFill>
                  <a:srgbClr val="767E93"/>
                </a:solidFill>
                <a:latin typeface="宋体" panose="02010600030101010101" pitchFamily="2" charset="-122"/>
              </a:defRPr>
            </a:pPr>
            <a:r>
              <a:t>后端通过分阶段智能体编排，把原始输入逐步转化为可执行资产。</a:t>
            </a:r>
          </a:p>
        </p:txBody>
      </p:sp>
      <p:sp>
        <p:nvSpPr>
          <p:cNvPr id="8" name="Rounded Rectangle 7"/>
          <p:cNvSpPr/>
          <p:nvPr>
            <p:custDataLst>
              <p:tags r:id="rId1"/>
            </p:custDataLst>
          </p:nvPr>
        </p:nvSpPr>
        <p:spPr>
          <a:xfrm>
            <a:off x="868680" y="1828800"/>
            <a:ext cx="1508760" cy="1051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创作访谈</a:t>
            </a:r>
          </a:p>
        </p:txBody>
      </p:sp>
      <p:cxnSp>
        <p:nvCxnSpPr>
          <p:cNvPr id="9" name="Connector 8"/>
          <p:cNvCxnSpPr/>
          <p:nvPr>
            <p:custDataLst>
              <p:tags r:id="rId2"/>
            </p:custDataLst>
          </p:nvPr>
        </p:nvCxnSpPr>
        <p:spPr>
          <a:xfrm>
            <a:off x="2377439" y="2359152"/>
            <a:ext cx="320041"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custDataLst>
              <p:tags r:id="rId3"/>
            </p:custDataLst>
          </p:nvPr>
        </p:nvSpPr>
        <p:spPr>
          <a:xfrm>
            <a:off x="2697480" y="1828800"/>
            <a:ext cx="1508760" cy="1051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剧本改写</a:t>
            </a:r>
          </a:p>
        </p:txBody>
      </p:sp>
      <p:cxnSp>
        <p:nvCxnSpPr>
          <p:cNvPr id="11" name="Connector 10"/>
          <p:cNvCxnSpPr/>
          <p:nvPr>
            <p:custDataLst>
              <p:tags r:id="rId4"/>
            </p:custDataLst>
          </p:nvPr>
        </p:nvCxnSpPr>
        <p:spPr>
          <a:xfrm>
            <a:off x="4206240" y="2359152"/>
            <a:ext cx="32004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custDataLst>
              <p:tags r:id="rId5"/>
            </p:custDataLst>
          </p:nvPr>
        </p:nvSpPr>
        <p:spPr>
          <a:xfrm>
            <a:off x="4526280" y="1828800"/>
            <a:ext cx="1508760" cy="1051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角色提取</a:t>
            </a:r>
          </a:p>
        </p:txBody>
      </p:sp>
      <p:cxnSp>
        <p:nvCxnSpPr>
          <p:cNvPr id="13" name="Connector 12"/>
          <p:cNvCxnSpPr/>
          <p:nvPr>
            <p:custDataLst>
              <p:tags r:id="rId6"/>
            </p:custDataLst>
          </p:nvPr>
        </p:nvCxnSpPr>
        <p:spPr>
          <a:xfrm>
            <a:off x="6035040" y="2359152"/>
            <a:ext cx="32004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custDataLst>
              <p:tags r:id="rId7"/>
            </p:custDataLst>
          </p:nvPr>
        </p:nvSpPr>
        <p:spPr>
          <a:xfrm>
            <a:off x="6355080" y="1828800"/>
            <a:ext cx="1508760" cy="1051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场景提取</a:t>
            </a:r>
          </a:p>
        </p:txBody>
      </p:sp>
      <p:cxnSp>
        <p:nvCxnSpPr>
          <p:cNvPr id="15" name="Connector 14"/>
          <p:cNvCxnSpPr/>
          <p:nvPr>
            <p:custDataLst>
              <p:tags r:id="rId8"/>
            </p:custDataLst>
          </p:nvPr>
        </p:nvCxnSpPr>
        <p:spPr>
          <a:xfrm>
            <a:off x="7863840" y="2359152"/>
            <a:ext cx="320039"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custDataLst>
              <p:tags r:id="rId9"/>
            </p:custDataLst>
          </p:nvPr>
        </p:nvSpPr>
        <p:spPr>
          <a:xfrm>
            <a:off x="8183879" y="1828800"/>
            <a:ext cx="1508760" cy="1051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分镜拆解</a:t>
            </a:r>
          </a:p>
        </p:txBody>
      </p:sp>
      <p:cxnSp>
        <p:nvCxnSpPr>
          <p:cNvPr id="17" name="Connector 16"/>
          <p:cNvCxnSpPr/>
          <p:nvPr>
            <p:custDataLst>
              <p:tags r:id="rId10"/>
            </p:custDataLst>
          </p:nvPr>
        </p:nvCxnSpPr>
        <p:spPr>
          <a:xfrm>
            <a:off x="9692640" y="2359152"/>
            <a:ext cx="32004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012680" y="1828800"/>
            <a:ext cx="1508760" cy="1051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47D"/>
                </a:solidFill>
                <a:latin typeface="宋体" panose="02010600030101010101" pitchFamily="2" charset="-122"/>
              </a:defRPr>
            </a:pPr>
            <a:r>
              <a:t>素材/JSON导出</a:t>
            </a:r>
          </a:p>
        </p:txBody>
      </p:sp>
      <p:sp>
        <p:nvSpPr>
          <p:cNvPr id="19" name="TextBox 18"/>
          <p:cNvSpPr txBox="1"/>
          <p:nvPr>
            <p:custDataLst>
              <p:tags r:id="rId11"/>
            </p:custDataLst>
          </p:nvPr>
        </p:nvSpPr>
        <p:spPr>
          <a:xfrm>
            <a:off x="914400" y="2999232"/>
            <a:ext cx="1444752" cy="868680"/>
          </a:xfrm>
          <a:prstGeom prst="rect">
            <a:avLst/>
          </a:prstGeom>
          <a:noFill/>
        </p:spPr>
        <p:txBody>
          <a:bodyPr wrap="square" anchor="t">
            <a:noAutofit/>
          </a:bodyPr>
          <a:lstStyle/>
          <a:p>
            <a:pPr algn="ctr">
              <a:lnSpc>
                <a:spcPct val="125000"/>
              </a:lnSpc>
              <a:spcAft>
                <a:spcPts val="400"/>
              </a:spcAft>
              <a:defRPr sz="1100" b="0">
                <a:solidFill>
                  <a:srgbClr val="383F50"/>
                </a:solidFill>
                <a:latin typeface="宋体" panose="02010600030101010101" pitchFamily="2" charset="-122"/>
              </a:defRPr>
            </a:pPr>
            <a:r>
              <a:t>补全世界观、角色关系与冲突</a:t>
            </a:r>
          </a:p>
        </p:txBody>
      </p:sp>
      <p:sp>
        <p:nvSpPr>
          <p:cNvPr id="20" name="TextBox 19"/>
          <p:cNvSpPr txBox="1"/>
          <p:nvPr>
            <p:custDataLst>
              <p:tags r:id="rId12"/>
            </p:custDataLst>
          </p:nvPr>
        </p:nvSpPr>
        <p:spPr>
          <a:xfrm>
            <a:off x="2743200" y="2999232"/>
            <a:ext cx="1444752" cy="868680"/>
          </a:xfrm>
          <a:prstGeom prst="rect">
            <a:avLst/>
          </a:prstGeom>
          <a:noFill/>
        </p:spPr>
        <p:txBody>
          <a:bodyPr wrap="square" anchor="t">
            <a:noAutofit/>
          </a:bodyPr>
          <a:lstStyle/>
          <a:p>
            <a:pPr algn="ctr">
              <a:lnSpc>
                <a:spcPct val="125000"/>
              </a:lnSpc>
              <a:spcAft>
                <a:spcPts val="400"/>
              </a:spcAft>
              <a:defRPr sz="1100" b="0">
                <a:solidFill>
                  <a:srgbClr val="383F50"/>
                </a:solidFill>
                <a:latin typeface="宋体" panose="02010600030101010101" pitchFamily="2" charset="-122"/>
              </a:defRPr>
            </a:pPr>
            <a:r>
              <a:t>生成带动作语义的标准剧本</a:t>
            </a:r>
          </a:p>
        </p:txBody>
      </p:sp>
      <p:sp>
        <p:nvSpPr>
          <p:cNvPr id="21" name="TextBox 20"/>
          <p:cNvSpPr txBox="1"/>
          <p:nvPr>
            <p:custDataLst>
              <p:tags r:id="rId13"/>
            </p:custDataLst>
          </p:nvPr>
        </p:nvSpPr>
        <p:spPr>
          <a:xfrm>
            <a:off x="4572000" y="2999232"/>
            <a:ext cx="1444752" cy="868680"/>
          </a:xfrm>
          <a:prstGeom prst="rect">
            <a:avLst/>
          </a:prstGeom>
          <a:noFill/>
        </p:spPr>
        <p:txBody>
          <a:bodyPr wrap="square" anchor="t">
            <a:noAutofit/>
          </a:bodyPr>
          <a:lstStyle/>
          <a:p>
            <a:pPr algn="ctr">
              <a:lnSpc>
                <a:spcPct val="125000"/>
              </a:lnSpc>
              <a:spcAft>
                <a:spcPts val="400"/>
              </a:spcAft>
              <a:defRPr sz="1100" b="0">
                <a:solidFill>
                  <a:srgbClr val="383F50"/>
                </a:solidFill>
                <a:latin typeface="宋体" panose="02010600030101010101" pitchFamily="2" charset="-122"/>
              </a:defRPr>
            </a:pPr>
            <a:r>
              <a:t>沉淀角色属性与音色信息</a:t>
            </a:r>
          </a:p>
        </p:txBody>
      </p:sp>
      <p:sp>
        <p:nvSpPr>
          <p:cNvPr id="22" name="TextBox 21"/>
          <p:cNvSpPr txBox="1"/>
          <p:nvPr>
            <p:custDataLst>
              <p:tags r:id="rId14"/>
            </p:custDataLst>
          </p:nvPr>
        </p:nvSpPr>
        <p:spPr>
          <a:xfrm>
            <a:off x="6400800" y="2999232"/>
            <a:ext cx="1444752" cy="868680"/>
          </a:xfrm>
          <a:prstGeom prst="rect">
            <a:avLst/>
          </a:prstGeom>
          <a:noFill/>
        </p:spPr>
        <p:txBody>
          <a:bodyPr wrap="square" anchor="t">
            <a:noAutofit/>
          </a:bodyPr>
          <a:lstStyle/>
          <a:p>
            <a:pPr algn="ctr">
              <a:lnSpc>
                <a:spcPct val="125000"/>
              </a:lnSpc>
              <a:spcAft>
                <a:spcPts val="400"/>
              </a:spcAft>
              <a:defRPr sz="1100" b="0">
                <a:solidFill>
                  <a:srgbClr val="383F50"/>
                </a:solidFill>
                <a:latin typeface="宋体" panose="02010600030101010101" pitchFamily="2" charset="-122"/>
              </a:defRPr>
            </a:pPr>
            <a:r>
              <a:t>确定场景对象与舞台上下文</a:t>
            </a:r>
          </a:p>
        </p:txBody>
      </p:sp>
      <p:sp>
        <p:nvSpPr>
          <p:cNvPr id="23" name="TextBox 22"/>
          <p:cNvSpPr txBox="1"/>
          <p:nvPr>
            <p:custDataLst>
              <p:tags r:id="rId15"/>
            </p:custDataLst>
          </p:nvPr>
        </p:nvSpPr>
        <p:spPr>
          <a:xfrm>
            <a:off x="8229600" y="2999232"/>
            <a:ext cx="1444752" cy="868680"/>
          </a:xfrm>
          <a:prstGeom prst="rect">
            <a:avLst/>
          </a:prstGeom>
          <a:noFill/>
        </p:spPr>
        <p:txBody>
          <a:bodyPr wrap="square" anchor="t">
            <a:noAutofit/>
          </a:bodyPr>
          <a:lstStyle/>
          <a:p>
            <a:pPr algn="ctr">
              <a:lnSpc>
                <a:spcPct val="125000"/>
              </a:lnSpc>
              <a:spcAft>
                <a:spcPts val="400"/>
              </a:spcAft>
              <a:defRPr sz="1100" b="0">
                <a:solidFill>
                  <a:srgbClr val="383F50"/>
                </a:solidFill>
                <a:latin typeface="宋体" panose="02010600030101010101" pitchFamily="2" charset="-122"/>
              </a:defRPr>
            </a:pPr>
            <a:r>
              <a:t>输出镜头级节点与时序</a:t>
            </a:r>
          </a:p>
        </p:txBody>
      </p:sp>
      <p:sp>
        <p:nvSpPr>
          <p:cNvPr id="24" name="TextBox 23"/>
          <p:cNvSpPr txBox="1"/>
          <p:nvPr/>
        </p:nvSpPr>
        <p:spPr>
          <a:xfrm>
            <a:off x="10058400" y="2999232"/>
            <a:ext cx="1444752" cy="868680"/>
          </a:xfrm>
          <a:prstGeom prst="rect">
            <a:avLst/>
          </a:prstGeom>
          <a:noFill/>
        </p:spPr>
        <p:txBody>
          <a:bodyPr wrap="square" anchor="t">
            <a:noAutofit/>
          </a:bodyPr>
          <a:lstStyle/>
          <a:p>
            <a:pPr algn="ctr">
              <a:lnSpc>
                <a:spcPct val="125000"/>
              </a:lnSpc>
              <a:spcAft>
                <a:spcPts val="400"/>
              </a:spcAft>
              <a:defRPr sz="1100" b="0">
                <a:solidFill>
                  <a:srgbClr val="383F50"/>
                </a:solidFill>
                <a:latin typeface="宋体" panose="02010600030101010101" pitchFamily="2" charset="-122"/>
              </a:defRPr>
            </a:pPr>
            <a:r>
              <a:t>形成图片、音频与Unity协议</a:t>
            </a:r>
          </a:p>
        </p:txBody>
      </p:sp>
      <p:sp>
        <p:nvSpPr>
          <p:cNvPr id="25" name="Rounded Rectangle 24"/>
          <p:cNvSpPr/>
          <p:nvPr/>
        </p:nvSpPr>
        <p:spPr>
          <a:xfrm>
            <a:off x="822960" y="4160520"/>
            <a:ext cx="5303520" cy="18897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1560" y="4416552"/>
            <a:ext cx="4892040" cy="914400"/>
          </a:xfrm>
          <a:prstGeom prst="rect">
            <a:avLst/>
          </a:prstGeom>
          <a:noFill/>
        </p:spPr>
        <p:txBody>
          <a:bodyPr wrap="square" anchor="t">
            <a:noAutofit/>
          </a:bodyPr>
          <a:lstStyle/>
          <a:p>
            <a:pPr algn="l">
              <a:lnSpc>
                <a:spcPct val="125000"/>
              </a:lnSpc>
              <a:spcAft>
                <a:spcPts val="400"/>
              </a:spcAft>
              <a:defRPr sz="1700" b="0">
                <a:solidFill>
                  <a:srgbClr val="383F50"/>
                </a:solidFill>
                <a:latin typeface="宋体" panose="02010600030101010101" pitchFamily="2" charset="-122"/>
              </a:defRPr>
            </a:pPr>
            <a:r>
              <a:t>● 优点1：每个阶段职责清晰，便于追踪生成来源与人工修订。</a:t>
            </a:r>
          </a:p>
          <a:p>
            <a:pPr algn="l">
              <a:lnSpc>
                <a:spcPct val="125000"/>
              </a:lnSpc>
              <a:spcAft>
                <a:spcPts val="400"/>
              </a:spcAft>
              <a:defRPr sz="1700" b="0">
                <a:solidFill>
                  <a:srgbClr val="383F50"/>
                </a:solidFill>
                <a:latin typeface="宋体" panose="02010600030101010101" pitchFamily="2" charset="-122"/>
              </a:defRPr>
            </a:pPr>
            <a:r>
              <a:t>● 优点2：避免“一次性长文本”直接交给Unity造成字段缺失与歧义。</a:t>
            </a:r>
          </a:p>
        </p:txBody>
      </p:sp>
      <p:sp>
        <p:nvSpPr>
          <p:cNvPr id="27" name="Rounded Rectangle 26"/>
          <p:cNvSpPr/>
          <p:nvPr/>
        </p:nvSpPr>
        <p:spPr>
          <a:xfrm>
            <a:off x="6355080" y="4160520"/>
            <a:ext cx="5029200" cy="188976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0" y="4416552"/>
            <a:ext cx="4617720" cy="914400"/>
          </a:xfrm>
          <a:prstGeom prst="rect">
            <a:avLst/>
          </a:prstGeom>
          <a:noFill/>
        </p:spPr>
        <p:txBody>
          <a:bodyPr wrap="square" anchor="t">
            <a:noAutofit/>
          </a:bodyPr>
          <a:lstStyle/>
          <a:p>
            <a:pPr algn="l">
              <a:lnSpc>
                <a:spcPct val="125000"/>
              </a:lnSpc>
              <a:spcAft>
                <a:spcPts val="400"/>
              </a:spcAft>
              <a:defRPr sz="1700" b="0">
                <a:solidFill>
                  <a:srgbClr val="4976C6"/>
                </a:solidFill>
                <a:latin typeface="宋体" panose="02010600030101010101" pitchFamily="2" charset="-122"/>
              </a:defRPr>
            </a:pPr>
            <a:r>
              <a:t>输出结果不仅是剧本文字，还包括：角色库、场景库、分镜节点、台词、媒体资源与统一JSON协议。</a:t>
            </a:r>
          </a:p>
        </p:txBody>
      </p:sp>
      <p:sp>
        <p:nvSpPr>
          <p:cNvPr id="29" name="TextBox 28"/>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8</a:t>
            </a:r>
          </a:p>
        </p:txBody>
      </p:sp>
      <p:sp>
        <p:nvSpPr>
          <p:cNvPr id="45"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前后端设计</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七、统一剧本协议：连接前后端与Unity的关键桥梁</a:t>
            </a:r>
          </a:p>
          <a:p>
            <a:pPr>
              <a:defRPr sz="1200" b="0">
                <a:solidFill>
                  <a:srgbClr val="767E93"/>
                </a:solidFill>
                <a:latin typeface="宋体" panose="02010600030101010101" pitchFamily="2" charset="-122"/>
              </a:defRPr>
            </a:pPr>
            <a:r>
              <a:t>只有形成稳定的中间表示，系统各层才能真正协同。</a:t>
            </a:r>
          </a:p>
        </p:txBody>
      </p:sp>
      <p:sp>
        <p:nvSpPr>
          <p:cNvPr id="8" name="Rounded Rectangle 7"/>
          <p:cNvSpPr/>
          <p:nvPr/>
        </p:nvSpPr>
        <p:spPr>
          <a:xfrm>
            <a:off x="777240" y="1554480"/>
            <a:ext cx="5166360" cy="4480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828800"/>
            <a:ext cx="4572000" cy="3749039"/>
          </a:xfrm>
          <a:prstGeom prst="rect">
            <a:avLst/>
          </a:prstGeom>
          <a:noFill/>
        </p:spPr>
        <p:txBody>
          <a:bodyPr wrap="square" anchor="t">
            <a:noAutofit/>
          </a:bodyPr>
          <a:lstStyle/>
          <a:p>
            <a:pPr algn="l">
              <a:lnSpc>
                <a:spcPct val="110000"/>
              </a:lnSpc>
              <a:spcAft>
                <a:spcPts val="400"/>
              </a:spcAft>
              <a:defRPr sz="1700" b="0">
                <a:solidFill>
                  <a:srgbClr val="28447D"/>
                </a:solidFill>
                <a:latin typeface="宋体" panose="02010600030101010101" pitchFamily="2" charset="-122"/>
              </a:defRPr>
            </a:pPr>
            <a:r>
              <a:t>{</a:t>
            </a:r>
          </a:p>
          <a:p>
            <a:pPr algn="l">
              <a:lnSpc>
                <a:spcPct val="110000"/>
              </a:lnSpc>
              <a:spcAft>
                <a:spcPts val="400"/>
              </a:spcAft>
              <a:defRPr sz="1700" b="0">
                <a:solidFill>
                  <a:srgbClr val="28447D"/>
                </a:solidFill>
                <a:latin typeface="宋体" panose="02010600030101010101" pitchFamily="2" charset="-122"/>
              </a:defRPr>
            </a:pPr>
            <a:r>
              <a:t>  "scene_id": "S01",</a:t>
            </a:r>
          </a:p>
          <a:p>
            <a:pPr algn="l">
              <a:lnSpc>
                <a:spcPct val="110000"/>
              </a:lnSpc>
              <a:spcAft>
                <a:spcPts val="400"/>
              </a:spcAft>
              <a:defRPr sz="1700" b="0">
                <a:solidFill>
                  <a:srgbClr val="28447D"/>
                </a:solidFill>
                <a:latin typeface="宋体" panose="02010600030101010101" pitchFamily="2" charset="-122"/>
              </a:defRPr>
            </a:pPr>
            <a:r>
              <a:t>  "roles": ["护士机器人", "病人"],</a:t>
            </a:r>
          </a:p>
          <a:p>
            <a:pPr algn="l">
              <a:lnSpc>
                <a:spcPct val="110000"/>
              </a:lnSpc>
              <a:spcAft>
                <a:spcPts val="400"/>
              </a:spcAft>
              <a:defRPr sz="1700" b="0">
                <a:solidFill>
                  <a:srgbClr val="28447D"/>
                </a:solidFill>
                <a:latin typeface="宋体" panose="02010600030101010101" pitchFamily="2" charset="-122"/>
              </a:defRPr>
            </a:pPr>
            <a:r>
              <a:t>  "dialogue": "该吃药了，请按时服用。",</a:t>
            </a:r>
          </a:p>
          <a:p>
            <a:pPr algn="l">
              <a:lnSpc>
                <a:spcPct val="110000"/>
              </a:lnSpc>
              <a:spcAft>
                <a:spcPts val="400"/>
              </a:spcAft>
              <a:defRPr sz="1700" b="0">
                <a:solidFill>
                  <a:srgbClr val="28447D"/>
                </a:solidFill>
                <a:latin typeface="宋体" panose="02010600030101010101" pitchFamily="2" charset="-122"/>
              </a:defRPr>
            </a:pPr>
            <a:r>
              <a:t>  "action_tags": ["walk_forward", "stop", "greet"],</a:t>
            </a:r>
          </a:p>
          <a:p>
            <a:pPr algn="l">
              <a:lnSpc>
                <a:spcPct val="110000"/>
              </a:lnSpc>
              <a:spcAft>
                <a:spcPts val="400"/>
              </a:spcAft>
              <a:defRPr sz="1700" b="0">
                <a:solidFill>
                  <a:srgbClr val="28447D"/>
                </a:solidFill>
                <a:latin typeface="宋体" panose="02010600030101010101" pitchFamily="2" charset="-122"/>
              </a:defRPr>
            </a:pPr>
            <a:r>
              <a:t>  "duration": 6.0,</a:t>
            </a:r>
          </a:p>
          <a:p>
            <a:pPr algn="l">
              <a:lnSpc>
                <a:spcPct val="110000"/>
              </a:lnSpc>
              <a:spcAft>
                <a:spcPts val="400"/>
              </a:spcAft>
              <a:defRPr sz="1700" b="0">
                <a:solidFill>
                  <a:srgbClr val="28447D"/>
                </a:solidFill>
                <a:latin typeface="宋体" panose="02010600030101010101" pitchFamily="2" charset="-122"/>
              </a:defRPr>
            </a:pPr>
            <a:r>
              <a:t>  "media_refs": ["voice_01", "scene_bg"],</a:t>
            </a:r>
          </a:p>
          <a:p>
            <a:pPr algn="l">
              <a:lnSpc>
                <a:spcPct val="110000"/>
              </a:lnSpc>
              <a:spcAft>
                <a:spcPts val="400"/>
              </a:spcAft>
              <a:defRPr sz="1700" b="0">
                <a:solidFill>
                  <a:srgbClr val="28447D"/>
                </a:solidFill>
                <a:latin typeface="宋体" panose="02010600030101010101" pitchFamily="2" charset="-122"/>
              </a:defRPr>
            </a:pPr>
            <a:r>
              <a:t>  "priority": "normal"</a:t>
            </a:r>
          </a:p>
          <a:p>
            <a:pPr algn="l">
              <a:lnSpc>
                <a:spcPct val="110000"/>
              </a:lnSpc>
              <a:spcAft>
                <a:spcPts val="400"/>
              </a:spcAft>
              <a:defRPr sz="1700" b="0">
                <a:solidFill>
                  <a:srgbClr val="28447D"/>
                </a:solidFill>
                <a:latin typeface="宋体" panose="02010600030101010101" pitchFamily="2" charset="-122"/>
              </a:defRPr>
            </a:pPr>
            <a:r>
              <a:t>}</a:t>
            </a:r>
          </a:p>
        </p:txBody>
      </p:sp>
      <p:sp>
        <p:nvSpPr>
          <p:cNvPr id="10" name="Rounded Rectangle 9"/>
          <p:cNvSpPr/>
          <p:nvPr/>
        </p:nvSpPr>
        <p:spPr>
          <a:xfrm>
            <a:off x="6309360" y="1709420"/>
            <a:ext cx="5074920" cy="193929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1847088"/>
            <a:ext cx="4572000" cy="1463040"/>
          </a:xfrm>
          <a:prstGeom prst="rect">
            <a:avLst/>
          </a:prstGeom>
          <a:noFill/>
        </p:spPr>
        <p:txBody>
          <a:bodyPr wrap="square" anchor="t">
            <a:noAutofit/>
          </a:bodyPr>
          <a:lstStyle/>
          <a:p>
            <a:pPr algn="l">
              <a:lnSpc>
                <a:spcPct val="125000"/>
              </a:lnSpc>
              <a:spcAft>
                <a:spcPts val="400"/>
              </a:spcAft>
              <a:defRPr sz="1700" b="0">
                <a:solidFill>
                  <a:srgbClr val="383F50"/>
                </a:solidFill>
                <a:latin typeface="宋体" panose="02010600030101010101" pitchFamily="2" charset="-122"/>
              </a:defRPr>
            </a:pPr>
            <a:r>
              <a:t>● 协议字段中最关键的是：角色、台词、动作标签、时序约束、媒体资源与优先级。</a:t>
            </a:r>
          </a:p>
          <a:p>
            <a:pPr algn="l">
              <a:lnSpc>
                <a:spcPct val="125000"/>
              </a:lnSpc>
              <a:spcAft>
                <a:spcPts val="400"/>
              </a:spcAft>
              <a:defRPr sz="1700" b="0">
                <a:solidFill>
                  <a:srgbClr val="383F50"/>
                </a:solidFill>
                <a:latin typeface="宋体" panose="02010600030101010101" pitchFamily="2" charset="-122"/>
              </a:defRPr>
            </a:pPr>
            <a:r>
              <a:t>● Unity不再直接处理模糊自然语言，而是处理结构化对象，这大幅提高了解析和调试的稳定性。</a:t>
            </a:r>
          </a:p>
        </p:txBody>
      </p:sp>
      <p:sp>
        <p:nvSpPr>
          <p:cNvPr id="12" name="Rounded Rectangle 11"/>
          <p:cNvSpPr/>
          <p:nvPr>
            <p:custDataLst>
              <p:tags r:id="rId1"/>
            </p:custDataLst>
          </p:nvPr>
        </p:nvSpPr>
        <p:spPr>
          <a:xfrm>
            <a:off x="6309360" y="3749040"/>
            <a:ext cx="5074920" cy="205359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custDataLst>
              <p:tags r:id="rId2"/>
            </p:custDataLst>
          </p:nvPr>
        </p:nvSpPr>
        <p:spPr>
          <a:xfrm>
            <a:off x="6537960" y="3977639"/>
            <a:ext cx="1600200" cy="320040"/>
          </a:xfrm>
          <a:prstGeom prst="roundRect">
            <a:avLst/>
          </a:prstGeom>
          <a:solidFill>
            <a:srgbClr val="4976C6"/>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custDataLst>
              <p:tags r:id="rId3"/>
            </p:custDataLst>
          </p:nvPr>
        </p:nvSpPr>
        <p:spPr>
          <a:xfrm>
            <a:off x="6537960" y="4014215"/>
            <a:ext cx="1600200" cy="182880"/>
          </a:xfrm>
          <a:prstGeom prst="rect">
            <a:avLst/>
          </a:prstGeom>
          <a:noFill/>
        </p:spPr>
        <p:txBody>
          <a:bodyPr wrap="square" anchor="t">
            <a:noAutofit/>
          </a:bodyPr>
          <a:lstStyle/>
          <a:p>
            <a:pPr algn="ctr">
              <a:lnSpc>
                <a:spcPct val="125000"/>
              </a:lnSpc>
              <a:spcAft>
                <a:spcPts val="400"/>
              </a:spcAft>
              <a:defRPr sz="1200" b="0">
                <a:solidFill>
                  <a:srgbClr val="FFFFFF"/>
                </a:solidFill>
                <a:latin typeface="宋体" panose="02010600030101010101" pitchFamily="2" charset="-122"/>
              </a:defRPr>
            </a:pPr>
            <a:r>
              <a:t>输出资产</a:t>
            </a:r>
          </a:p>
        </p:txBody>
      </p:sp>
      <p:sp>
        <p:nvSpPr>
          <p:cNvPr id="15" name="Rounded Rectangle 14"/>
          <p:cNvSpPr/>
          <p:nvPr>
            <p:custDataLst>
              <p:tags r:id="rId4"/>
            </p:custDataLst>
          </p:nvPr>
        </p:nvSpPr>
        <p:spPr>
          <a:xfrm>
            <a:off x="8366760" y="3977639"/>
            <a:ext cx="2743200" cy="320040"/>
          </a:xfrm>
          <a:prstGeom prst="roundRect">
            <a:avLst/>
          </a:prstGeom>
          <a:solidFill>
            <a:srgbClr val="4976C6"/>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custDataLst>
              <p:tags r:id="rId5"/>
            </p:custDataLst>
          </p:nvPr>
        </p:nvSpPr>
        <p:spPr>
          <a:xfrm>
            <a:off x="8366760" y="4014215"/>
            <a:ext cx="2743200" cy="182880"/>
          </a:xfrm>
          <a:prstGeom prst="rect">
            <a:avLst/>
          </a:prstGeom>
          <a:noFill/>
        </p:spPr>
        <p:txBody>
          <a:bodyPr wrap="square" anchor="t">
            <a:noAutofit/>
          </a:bodyPr>
          <a:lstStyle/>
          <a:p>
            <a:pPr algn="ctr">
              <a:lnSpc>
                <a:spcPct val="125000"/>
              </a:lnSpc>
              <a:spcAft>
                <a:spcPts val="400"/>
              </a:spcAft>
              <a:defRPr sz="1200" b="0">
                <a:solidFill>
                  <a:srgbClr val="FFFFFF"/>
                </a:solidFill>
                <a:latin typeface="宋体" panose="02010600030101010101" pitchFamily="2" charset="-122"/>
              </a:defRPr>
            </a:pPr>
            <a:r>
              <a:t>作用</a:t>
            </a:r>
          </a:p>
        </p:txBody>
      </p:sp>
      <p:sp>
        <p:nvSpPr>
          <p:cNvPr id="17" name="Rounded Rectangle 16"/>
          <p:cNvSpPr/>
          <p:nvPr>
            <p:custDataLst>
              <p:tags r:id="rId6"/>
            </p:custDataLst>
          </p:nvPr>
        </p:nvSpPr>
        <p:spPr>
          <a:xfrm>
            <a:off x="6537960" y="4315968"/>
            <a:ext cx="1600200" cy="292608"/>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custDataLst>
              <p:tags r:id="rId7"/>
            </p:custDataLst>
          </p:nvPr>
        </p:nvSpPr>
        <p:spPr>
          <a:xfrm>
            <a:off x="8183879" y="4315968"/>
            <a:ext cx="2971800" cy="292608"/>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custDataLst>
              <p:tags r:id="rId8"/>
            </p:custDataLst>
          </p:nvPr>
        </p:nvSpPr>
        <p:spPr>
          <a:xfrm>
            <a:off x="6601968" y="4352544"/>
            <a:ext cx="1463040" cy="182880"/>
          </a:xfrm>
          <a:prstGeom prst="rect">
            <a:avLst/>
          </a:prstGeom>
          <a:noFill/>
        </p:spPr>
        <p:txBody>
          <a:bodyPr wrap="square" anchor="t">
            <a:noAutofit/>
          </a:bodyPr>
          <a:lstStyle/>
          <a:p>
            <a:pPr algn="ctr">
              <a:lnSpc>
                <a:spcPct val="125000"/>
              </a:lnSpc>
              <a:spcAft>
                <a:spcPts val="400"/>
              </a:spcAft>
              <a:defRPr sz="1100" b="0">
                <a:solidFill>
                  <a:srgbClr val="383F50"/>
                </a:solidFill>
                <a:latin typeface="宋体" panose="02010600030101010101" pitchFamily="2" charset="-122"/>
              </a:defRPr>
            </a:pPr>
            <a:r>
              <a:t>剧本/台词</a:t>
            </a:r>
          </a:p>
        </p:txBody>
      </p:sp>
      <p:sp>
        <p:nvSpPr>
          <p:cNvPr id="20" name="TextBox 19"/>
          <p:cNvSpPr txBox="1"/>
          <p:nvPr>
            <p:custDataLst>
              <p:tags r:id="rId9"/>
            </p:custDataLst>
          </p:nvPr>
        </p:nvSpPr>
        <p:spPr>
          <a:xfrm>
            <a:off x="8275320" y="4352544"/>
            <a:ext cx="2788920" cy="182880"/>
          </a:xfrm>
          <a:prstGeom prst="rect">
            <a:avLst/>
          </a:prstGeom>
          <a:noFill/>
        </p:spPr>
        <p:txBody>
          <a:bodyPr wrap="square" anchor="t">
            <a:noAutofit/>
          </a:bodyPr>
          <a:lstStyle/>
          <a:p>
            <a:pPr algn="l">
              <a:lnSpc>
                <a:spcPct val="125000"/>
              </a:lnSpc>
              <a:spcAft>
                <a:spcPts val="400"/>
              </a:spcAft>
              <a:defRPr sz="1100" b="0">
                <a:solidFill>
                  <a:srgbClr val="383F50"/>
                </a:solidFill>
                <a:latin typeface="宋体" panose="02010600030101010101" pitchFamily="2" charset="-122"/>
              </a:defRPr>
            </a:pPr>
            <a:r>
              <a:t>提供剧情语义与人物表达</a:t>
            </a:r>
          </a:p>
        </p:txBody>
      </p:sp>
      <p:sp>
        <p:nvSpPr>
          <p:cNvPr id="21" name="Rounded Rectangle 20"/>
          <p:cNvSpPr/>
          <p:nvPr>
            <p:custDataLst>
              <p:tags r:id="rId10"/>
            </p:custDataLst>
          </p:nvPr>
        </p:nvSpPr>
        <p:spPr>
          <a:xfrm>
            <a:off x="6537960" y="4636007"/>
            <a:ext cx="1600200" cy="292608"/>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custDataLst>
              <p:tags r:id="rId11"/>
            </p:custDataLst>
          </p:nvPr>
        </p:nvSpPr>
        <p:spPr>
          <a:xfrm>
            <a:off x="8183879" y="4636007"/>
            <a:ext cx="2971800" cy="292608"/>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custDataLst>
              <p:tags r:id="rId12"/>
            </p:custDataLst>
          </p:nvPr>
        </p:nvSpPr>
        <p:spPr>
          <a:xfrm>
            <a:off x="6601968" y="4672583"/>
            <a:ext cx="1463040" cy="182880"/>
          </a:xfrm>
          <a:prstGeom prst="rect">
            <a:avLst/>
          </a:prstGeom>
          <a:noFill/>
        </p:spPr>
        <p:txBody>
          <a:bodyPr wrap="square" anchor="t">
            <a:noAutofit/>
          </a:bodyPr>
          <a:lstStyle/>
          <a:p>
            <a:pPr algn="ctr">
              <a:lnSpc>
                <a:spcPct val="125000"/>
              </a:lnSpc>
              <a:spcAft>
                <a:spcPts val="400"/>
              </a:spcAft>
              <a:defRPr sz="1100" b="0">
                <a:solidFill>
                  <a:srgbClr val="383F50"/>
                </a:solidFill>
                <a:latin typeface="宋体" panose="02010600030101010101" pitchFamily="2" charset="-122"/>
              </a:defRPr>
            </a:pPr>
            <a:r>
              <a:t>角色/场景</a:t>
            </a:r>
          </a:p>
        </p:txBody>
      </p:sp>
      <p:sp>
        <p:nvSpPr>
          <p:cNvPr id="24" name="TextBox 23"/>
          <p:cNvSpPr txBox="1"/>
          <p:nvPr>
            <p:custDataLst>
              <p:tags r:id="rId13"/>
            </p:custDataLst>
          </p:nvPr>
        </p:nvSpPr>
        <p:spPr>
          <a:xfrm>
            <a:off x="8275320" y="4672583"/>
            <a:ext cx="2788920" cy="182880"/>
          </a:xfrm>
          <a:prstGeom prst="rect">
            <a:avLst/>
          </a:prstGeom>
          <a:noFill/>
        </p:spPr>
        <p:txBody>
          <a:bodyPr wrap="square" anchor="t">
            <a:noAutofit/>
          </a:bodyPr>
          <a:lstStyle/>
          <a:p>
            <a:pPr algn="l">
              <a:lnSpc>
                <a:spcPct val="125000"/>
              </a:lnSpc>
              <a:spcAft>
                <a:spcPts val="400"/>
              </a:spcAft>
              <a:defRPr sz="1100" b="0">
                <a:solidFill>
                  <a:srgbClr val="383F50"/>
                </a:solidFill>
                <a:latin typeface="宋体" panose="02010600030101010101" pitchFamily="2" charset="-122"/>
              </a:defRPr>
            </a:pPr>
            <a:r>
              <a:t>构成舞台上下文与媒体引用依据</a:t>
            </a:r>
          </a:p>
        </p:txBody>
      </p:sp>
      <p:sp>
        <p:nvSpPr>
          <p:cNvPr id="25" name="Rounded Rectangle 24"/>
          <p:cNvSpPr/>
          <p:nvPr>
            <p:custDataLst>
              <p:tags r:id="rId14"/>
            </p:custDataLst>
          </p:nvPr>
        </p:nvSpPr>
        <p:spPr>
          <a:xfrm>
            <a:off x="6537960" y="4956048"/>
            <a:ext cx="1600200" cy="292608"/>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custDataLst>
              <p:tags r:id="rId15"/>
            </p:custDataLst>
          </p:nvPr>
        </p:nvSpPr>
        <p:spPr>
          <a:xfrm>
            <a:off x="8183879" y="4956048"/>
            <a:ext cx="2971800" cy="292608"/>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custDataLst>
              <p:tags r:id="rId16"/>
            </p:custDataLst>
          </p:nvPr>
        </p:nvSpPr>
        <p:spPr>
          <a:xfrm>
            <a:off x="6601968" y="4992624"/>
            <a:ext cx="1463040" cy="182880"/>
          </a:xfrm>
          <a:prstGeom prst="rect">
            <a:avLst/>
          </a:prstGeom>
          <a:noFill/>
        </p:spPr>
        <p:txBody>
          <a:bodyPr wrap="square" anchor="t">
            <a:noAutofit/>
          </a:bodyPr>
          <a:lstStyle/>
          <a:p>
            <a:pPr algn="ctr">
              <a:lnSpc>
                <a:spcPct val="125000"/>
              </a:lnSpc>
              <a:spcAft>
                <a:spcPts val="400"/>
              </a:spcAft>
              <a:defRPr sz="1100" b="0">
                <a:solidFill>
                  <a:srgbClr val="383F50"/>
                </a:solidFill>
                <a:latin typeface="宋体" panose="02010600030101010101" pitchFamily="2" charset="-122"/>
              </a:defRPr>
            </a:pPr>
            <a:r>
              <a:t>分镜/动作标签</a:t>
            </a:r>
          </a:p>
        </p:txBody>
      </p:sp>
      <p:sp>
        <p:nvSpPr>
          <p:cNvPr id="28" name="TextBox 27"/>
          <p:cNvSpPr txBox="1"/>
          <p:nvPr>
            <p:custDataLst>
              <p:tags r:id="rId17"/>
            </p:custDataLst>
          </p:nvPr>
        </p:nvSpPr>
        <p:spPr>
          <a:xfrm>
            <a:off x="8275320" y="4992624"/>
            <a:ext cx="2788920" cy="182880"/>
          </a:xfrm>
          <a:prstGeom prst="rect">
            <a:avLst/>
          </a:prstGeom>
          <a:noFill/>
        </p:spPr>
        <p:txBody>
          <a:bodyPr wrap="square" anchor="t">
            <a:noAutofit/>
          </a:bodyPr>
          <a:lstStyle/>
          <a:p>
            <a:pPr algn="l">
              <a:lnSpc>
                <a:spcPct val="125000"/>
              </a:lnSpc>
              <a:spcAft>
                <a:spcPts val="400"/>
              </a:spcAft>
              <a:defRPr sz="1100" b="0">
                <a:solidFill>
                  <a:srgbClr val="383F50"/>
                </a:solidFill>
                <a:latin typeface="宋体" panose="02010600030101010101" pitchFamily="2" charset="-122"/>
              </a:defRPr>
            </a:pPr>
            <a:r>
              <a:t>支撑Unity拆分动作阶段与调度</a:t>
            </a:r>
          </a:p>
        </p:txBody>
      </p:sp>
      <p:sp>
        <p:nvSpPr>
          <p:cNvPr id="29" name="Rounded Rectangle 28"/>
          <p:cNvSpPr/>
          <p:nvPr>
            <p:custDataLst>
              <p:tags r:id="rId18"/>
            </p:custDataLst>
          </p:nvPr>
        </p:nvSpPr>
        <p:spPr>
          <a:xfrm>
            <a:off x="6537960" y="5276088"/>
            <a:ext cx="1600200" cy="292608"/>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custDataLst>
              <p:tags r:id="rId19"/>
            </p:custDataLst>
          </p:nvPr>
        </p:nvSpPr>
        <p:spPr>
          <a:xfrm>
            <a:off x="8183879" y="5276088"/>
            <a:ext cx="2971800" cy="292608"/>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custDataLst>
              <p:tags r:id="rId20"/>
            </p:custDataLst>
          </p:nvPr>
        </p:nvSpPr>
        <p:spPr>
          <a:xfrm>
            <a:off x="6601968" y="5312664"/>
            <a:ext cx="1463040" cy="182880"/>
          </a:xfrm>
          <a:prstGeom prst="rect">
            <a:avLst/>
          </a:prstGeom>
          <a:noFill/>
        </p:spPr>
        <p:txBody>
          <a:bodyPr wrap="square" anchor="t">
            <a:noAutofit/>
          </a:bodyPr>
          <a:lstStyle/>
          <a:p>
            <a:pPr algn="ctr">
              <a:lnSpc>
                <a:spcPct val="125000"/>
              </a:lnSpc>
              <a:spcAft>
                <a:spcPts val="400"/>
              </a:spcAft>
              <a:defRPr sz="1100" b="0">
                <a:solidFill>
                  <a:srgbClr val="383F50"/>
                </a:solidFill>
                <a:latin typeface="宋体" panose="02010600030101010101" pitchFamily="2" charset="-122"/>
              </a:defRPr>
            </a:pPr>
            <a:r>
              <a:t>JSON协议</a:t>
            </a:r>
          </a:p>
        </p:txBody>
      </p:sp>
      <p:sp>
        <p:nvSpPr>
          <p:cNvPr id="32" name="TextBox 31"/>
          <p:cNvSpPr txBox="1"/>
          <p:nvPr>
            <p:custDataLst>
              <p:tags r:id="rId21"/>
            </p:custDataLst>
          </p:nvPr>
        </p:nvSpPr>
        <p:spPr>
          <a:xfrm>
            <a:off x="8275320" y="5312664"/>
            <a:ext cx="2788920" cy="182880"/>
          </a:xfrm>
          <a:prstGeom prst="rect">
            <a:avLst/>
          </a:prstGeom>
          <a:noFill/>
        </p:spPr>
        <p:txBody>
          <a:bodyPr wrap="square" anchor="t">
            <a:noAutofit/>
          </a:bodyPr>
          <a:lstStyle/>
          <a:p>
            <a:pPr algn="l">
              <a:lnSpc>
                <a:spcPct val="125000"/>
              </a:lnSpc>
              <a:spcAft>
                <a:spcPts val="400"/>
              </a:spcAft>
              <a:defRPr sz="1100" b="0">
                <a:solidFill>
                  <a:srgbClr val="383F50"/>
                </a:solidFill>
                <a:latin typeface="宋体" panose="02010600030101010101" pitchFamily="2" charset="-122"/>
              </a:defRPr>
            </a:pPr>
            <a:r>
              <a:t>作为软件层与执行层之间的统一接口</a:t>
            </a:r>
          </a:p>
        </p:txBody>
      </p:sp>
      <p:sp>
        <p:nvSpPr>
          <p:cNvPr id="33" name="TextBox 32"/>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9</a:t>
            </a:r>
          </a:p>
        </p:txBody>
      </p:sp>
      <p:sp>
        <p:nvSpPr>
          <p:cNvPr id="45"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Unity演绎</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4450080" cy="675640"/>
          </a:xfrm>
          <a:prstGeom prst="rect">
            <a:avLst/>
          </a:prstGeom>
          <a:noFill/>
        </p:spPr>
        <p:txBody>
          <a:bodyPr wrap="none">
            <a:spAutoFit/>
          </a:bodyPr>
          <a:lstStyle/>
          <a:p>
            <a:pPr>
              <a:defRPr sz="2600" b="1">
                <a:solidFill>
                  <a:srgbClr val="28447D"/>
                </a:solidFill>
                <a:latin typeface="宋体" panose="02010600030101010101" pitchFamily="2" charset="-122"/>
              </a:defRPr>
            </a:pPr>
            <a:r>
              <a:t>八、Unity：系统运行时中枢</a:t>
            </a:r>
          </a:p>
          <a:p>
            <a:pPr>
              <a:defRPr sz="1200" b="0">
                <a:solidFill>
                  <a:srgbClr val="767E93"/>
                </a:solidFill>
                <a:latin typeface="宋体" panose="02010600030101010101" pitchFamily="2" charset="-122"/>
              </a:defRPr>
            </a:pPr>
            <a:r>
              <a:t>它同时承担数字孪生环境、剧本解释器、调度器和模型执行器。</a:t>
            </a:r>
          </a:p>
        </p:txBody>
      </p:sp>
      <p:sp>
        <p:nvSpPr>
          <p:cNvPr id="8" name="Rounded Rectangle 7"/>
          <p:cNvSpPr/>
          <p:nvPr/>
        </p:nvSpPr>
        <p:spPr>
          <a:xfrm>
            <a:off x="731520" y="1463040"/>
            <a:ext cx="5440680" cy="452628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783080"/>
            <a:ext cx="4937760" cy="3931920"/>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 Unity通过本地服务监听前后端导出的结构化剧本，首先完成合法性检查与字段解析。</a:t>
            </a:r>
          </a:p>
          <a:p>
            <a:pPr algn="l">
              <a:lnSpc>
                <a:spcPct val="125000"/>
              </a:lnSpc>
              <a:spcAft>
                <a:spcPts val="400"/>
              </a:spcAft>
              <a:defRPr sz="1800" b="0">
                <a:solidFill>
                  <a:srgbClr val="383F50"/>
                </a:solidFill>
                <a:latin typeface="宋体" panose="02010600030101010101" pitchFamily="2" charset="-122"/>
              </a:defRPr>
            </a:pPr>
            <a:r>
              <a:t>● 随后，它将剧本拆成动作阶段，如前进、停顿、转身、问候、等待等可调度节点。</a:t>
            </a:r>
          </a:p>
          <a:p>
            <a:pPr algn="l">
              <a:lnSpc>
                <a:spcPct val="125000"/>
              </a:lnSpc>
              <a:spcAft>
                <a:spcPts val="400"/>
              </a:spcAft>
              <a:defRPr sz="1800" b="0">
                <a:solidFill>
                  <a:srgbClr val="383F50"/>
                </a:solidFill>
                <a:latin typeface="宋体" panose="02010600030101010101" pitchFamily="2" charset="-122"/>
              </a:defRPr>
            </a:pPr>
            <a:r>
              <a:t>● 在执行期，Unity结合场景状态、历史动作和脚本标签，持续决定“接下来要做什么”。</a:t>
            </a:r>
          </a:p>
          <a:p>
            <a:pPr algn="l">
              <a:lnSpc>
                <a:spcPct val="125000"/>
              </a:lnSpc>
              <a:spcAft>
                <a:spcPts val="400"/>
              </a:spcAft>
              <a:defRPr sz="1800" b="0">
                <a:solidFill>
                  <a:srgbClr val="383F50"/>
                </a:solidFill>
                <a:latin typeface="宋体" panose="02010600030101010101" pitchFamily="2" charset="-122"/>
              </a:defRPr>
            </a:pPr>
            <a:r>
              <a:t>● 因此，Unity在本项目中的地位相当于“舞台导演 + 运行时中控 + 推理入口”。</a:t>
            </a:r>
          </a:p>
        </p:txBody>
      </p:sp>
      <p:sp>
        <p:nvSpPr>
          <p:cNvPr id="10" name="Rounded Rectangle 9"/>
          <p:cNvSpPr/>
          <p:nvPr/>
        </p:nvSpPr>
        <p:spPr>
          <a:xfrm>
            <a:off x="6492240" y="1600200"/>
            <a:ext cx="4892040" cy="42519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page16_img1.jpeg"/>
          <p:cNvPicPr>
            <a:picLocks noChangeAspect="1"/>
          </p:cNvPicPr>
          <p:nvPr/>
        </p:nvPicPr>
        <p:blipFill>
          <a:blip r:embed="rId2"/>
          <a:stretch>
            <a:fillRect/>
          </a:stretch>
        </p:blipFill>
        <p:spPr>
          <a:xfrm>
            <a:off x="6537960" y="2107373"/>
            <a:ext cx="4800600" cy="3237613"/>
          </a:xfrm>
          <a:prstGeom prst="rect">
            <a:avLst/>
          </a:prstGeom>
        </p:spPr>
      </p:pic>
      <p:sp>
        <p:nvSpPr>
          <p:cNvPr id="12" name="TextBox 11"/>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10</a:t>
            </a:r>
          </a:p>
        </p:txBody>
      </p:sp>
      <p:sp>
        <p:nvSpPr>
          <p:cNvPr id="45"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Unity演绎</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九、Unity数字孪生：训练环境与仿真验证平台</a:t>
            </a:r>
          </a:p>
          <a:p>
            <a:pPr>
              <a:defRPr sz="1200" b="0">
                <a:solidFill>
                  <a:srgbClr val="767E93"/>
                </a:solidFill>
                <a:latin typeface="宋体" panose="02010600030101010101" pitchFamily="2" charset="-122"/>
              </a:defRPr>
            </a:pPr>
            <a:r>
              <a:t>训练阶段的目标，是让策略先在虚拟环境中学会“怎样把动作演得更稳定、更合理”。</a:t>
            </a:r>
          </a:p>
        </p:txBody>
      </p:sp>
      <p:sp>
        <p:nvSpPr>
          <p:cNvPr id="8" name="Rounded Rectangle 7"/>
          <p:cNvSpPr/>
          <p:nvPr/>
        </p:nvSpPr>
        <p:spPr>
          <a:xfrm>
            <a:off x="704088" y="1645920"/>
            <a:ext cx="3657600" cy="2194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age14_img1.jpeg"/>
          <p:cNvPicPr>
            <a:picLocks noChangeAspect="1"/>
          </p:cNvPicPr>
          <p:nvPr/>
        </p:nvPicPr>
        <p:blipFill>
          <a:blip r:embed="rId2"/>
          <a:stretch>
            <a:fillRect/>
          </a:stretch>
        </p:blipFill>
        <p:spPr>
          <a:xfrm>
            <a:off x="810294" y="1691640"/>
            <a:ext cx="3445188" cy="2103120"/>
          </a:xfrm>
          <a:prstGeom prst="rect">
            <a:avLst/>
          </a:prstGeom>
        </p:spPr>
      </p:pic>
      <p:sp>
        <p:nvSpPr>
          <p:cNvPr id="10" name="Rounded Rectangle 9"/>
          <p:cNvSpPr/>
          <p:nvPr/>
        </p:nvSpPr>
        <p:spPr>
          <a:xfrm>
            <a:off x="704088" y="3931919"/>
            <a:ext cx="3657600" cy="187452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page16_img1.jpeg"/>
          <p:cNvPicPr>
            <a:picLocks noChangeAspect="1"/>
          </p:cNvPicPr>
          <p:nvPr/>
        </p:nvPicPr>
        <p:blipFill>
          <a:blip r:embed="rId3"/>
          <a:stretch>
            <a:fillRect/>
          </a:stretch>
        </p:blipFill>
        <p:spPr>
          <a:xfrm>
            <a:off x="1210949" y="3977639"/>
            <a:ext cx="2643877" cy="1783079"/>
          </a:xfrm>
          <a:prstGeom prst="rect">
            <a:avLst/>
          </a:prstGeom>
        </p:spPr>
      </p:pic>
      <p:sp>
        <p:nvSpPr>
          <p:cNvPr id="12" name="Rounded Rectangle 11"/>
          <p:cNvSpPr/>
          <p:nvPr/>
        </p:nvSpPr>
        <p:spPr>
          <a:xfrm>
            <a:off x="4617720" y="1554480"/>
            <a:ext cx="6629400" cy="4480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92040" y="1828800"/>
            <a:ext cx="6126480" cy="3749039"/>
          </a:xfrm>
          <a:prstGeom prst="rect">
            <a:avLst/>
          </a:prstGeom>
          <a:noFill/>
        </p:spPr>
        <p:txBody>
          <a:bodyPr wrap="square" anchor="t">
            <a:noAutofit/>
          </a:bodyPr>
          <a:lstStyle/>
          <a:p>
            <a:pPr algn="l">
              <a:lnSpc>
                <a:spcPct val="125000"/>
              </a:lnSpc>
              <a:spcAft>
                <a:spcPts val="400"/>
              </a:spcAft>
              <a:defRPr sz="1700" b="0">
                <a:solidFill>
                  <a:srgbClr val="383F50"/>
                </a:solidFill>
                <a:latin typeface="宋体" panose="02010600030101010101" pitchFamily="2" charset="-122"/>
              </a:defRPr>
            </a:pPr>
            <a:r>
              <a:t>● 在Unity中构建与真实机器狗对应的低自由度模型、桌面舞台环境与障碍条件。</a:t>
            </a:r>
          </a:p>
          <a:p>
            <a:pPr algn="l">
              <a:lnSpc>
                <a:spcPct val="125000"/>
              </a:lnSpc>
              <a:spcAft>
                <a:spcPts val="400"/>
              </a:spcAft>
              <a:defRPr sz="1700" b="0">
                <a:solidFill>
                  <a:srgbClr val="383F50"/>
                </a:solidFill>
                <a:latin typeface="宋体" panose="02010600030101010101" pitchFamily="2" charset="-122"/>
              </a:defRPr>
            </a:pPr>
            <a:r>
              <a:t>● 通过预设动作或示教轨迹采集状态—动作样本，作为Behavior Cloning的预热数据。</a:t>
            </a:r>
          </a:p>
          <a:p>
            <a:pPr algn="l">
              <a:lnSpc>
                <a:spcPct val="125000"/>
              </a:lnSpc>
              <a:spcAft>
                <a:spcPts val="400"/>
              </a:spcAft>
              <a:defRPr sz="1700" b="0">
                <a:solidFill>
                  <a:srgbClr val="383F50"/>
                </a:solidFill>
                <a:latin typeface="宋体" panose="02010600030101010101" pitchFamily="2" charset="-122"/>
              </a:defRPr>
            </a:pPr>
            <a:r>
              <a:t>● 进一步结合ML-Agents与PPO进行强化学习，优化平衡性、方向性、动作平滑性和完成度。</a:t>
            </a:r>
          </a:p>
          <a:p>
            <a:pPr algn="l">
              <a:lnSpc>
                <a:spcPct val="125000"/>
              </a:lnSpc>
              <a:spcAft>
                <a:spcPts val="400"/>
              </a:spcAft>
              <a:defRPr sz="1700" b="0">
                <a:solidFill>
                  <a:srgbClr val="383F50"/>
                </a:solidFill>
                <a:latin typeface="宋体" panose="02010600030101010101" pitchFamily="2" charset="-122"/>
              </a:defRPr>
            </a:pPr>
            <a:r>
              <a:t>● 仿真训练可重复、成本低、调试快，也有利于不断试错并收集大量数据。</a:t>
            </a:r>
          </a:p>
          <a:p>
            <a:pPr algn="l">
              <a:lnSpc>
                <a:spcPct val="125000"/>
              </a:lnSpc>
              <a:spcAft>
                <a:spcPts val="400"/>
              </a:spcAft>
              <a:defRPr sz="1700" b="0">
                <a:solidFill>
                  <a:srgbClr val="383F50"/>
                </a:solidFill>
                <a:latin typeface="宋体" panose="02010600030101010101" pitchFamily="2" charset="-122"/>
              </a:defRPr>
            </a:pPr>
            <a:r>
              <a:t>● 对数字媒体项目而言，这一步让表演不只是“播放动画”，而是具有可学习、可优化的行为生成能力。</a:t>
            </a:r>
          </a:p>
        </p:txBody>
      </p:sp>
      <p:sp>
        <p:nvSpPr>
          <p:cNvPr id="14" name="TextBox 13"/>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11</a:t>
            </a:r>
          </a:p>
        </p:txBody>
      </p:sp>
      <p:sp>
        <p:nvSpPr>
          <p:cNvPr id="45"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Unity演绎</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十、Unity运行时：从剧本到连续动作流</a:t>
            </a:r>
          </a:p>
          <a:p>
            <a:pPr>
              <a:defRPr sz="1200" b="0">
                <a:solidFill>
                  <a:srgbClr val="767E93"/>
                </a:solidFill>
                <a:latin typeface="宋体" panose="02010600030101010101" pitchFamily="2" charset="-122"/>
              </a:defRPr>
            </a:pPr>
            <a:r>
              <a:t>运行阶段的关键是“边理解剧情，边根据状态持续生成动作”。</a:t>
            </a:r>
          </a:p>
        </p:txBody>
      </p:sp>
      <p:sp>
        <p:nvSpPr>
          <p:cNvPr id="8" name="Rounded Rectangle 7"/>
          <p:cNvSpPr/>
          <p:nvPr/>
        </p:nvSpPr>
        <p:spPr>
          <a:xfrm>
            <a:off x="822960" y="1828800"/>
            <a:ext cx="1417320" cy="8229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JSON剧本输入</a:t>
            </a:r>
          </a:p>
        </p:txBody>
      </p:sp>
      <p:cxnSp>
        <p:nvCxnSpPr>
          <p:cNvPr id="9" name="Connector 8"/>
          <p:cNvCxnSpPr/>
          <p:nvPr/>
        </p:nvCxnSpPr>
        <p:spPr>
          <a:xfrm>
            <a:off x="2240280" y="2240280"/>
            <a:ext cx="22860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68880" y="1828800"/>
            <a:ext cx="1463040" cy="8229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本地服务监听</a:t>
            </a:r>
          </a:p>
        </p:txBody>
      </p:sp>
      <p:cxnSp>
        <p:nvCxnSpPr>
          <p:cNvPr id="11" name="Connector 10"/>
          <p:cNvCxnSpPr/>
          <p:nvPr/>
        </p:nvCxnSpPr>
        <p:spPr>
          <a:xfrm>
            <a:off x="3931920" y="2240280"/>
            <a:ext cx="27432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06240" y="1828800"/>
            <a:ext cx="1417320" cy="8229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解析与排队</a:t>
            </a:r>
          </a:p>
        </p:txBody>
      </p:sp>
      <p:cxnSp>
        <p:nvCxnSpPr>
          <p:cNvPr id="13" name="Connector 12"/>
          <p:cNvCxnSpPr/>
          <p:nvPr/>
        </p:nvCxnSpPr>
        <p:spPr>
          <a:xfrm>
            <a:off x="5623559" y="2240280"/>
            <a:ext cx="274321"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97880" y="1828800"/>
            <a:ext cx="1234440" cy="8229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阶段调度</a:t>
            </a:r>
          </a:p>
        </p:txBody>
      </p:sp>
      <p:cxnSp>
        <p:nvCxnSpPr>
          <p:cNvPr id="15" name="Connector 14"/>
          <p:cNvCxnSpPr/>
          <p:nvPr/>
        </p:nvCxnSpPr>
        <p:spPr>
          <a:xfrm>
            <a:off x="7132320" y="2240280"/>
            <a:ext cx="27432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06640" y="1828800"/>
            <a:ext cx="1234440" cy="8229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策略推理</a:t>
            </a:r>
          </a:p>
        </p:txBody>
      </p:sp>
      <p:cxnSp>
        <p:nvCxnSpPr>
          <p:cNvPr id="17" name="Connector 16"/>
          <p:cNvCxnSpPr/>
          <p:nvPr/>
        </p:nvCxnSpPr>
        <p:spPr>
          <a:xfrm>
            <a:off x="8641080" y="2240280"/>
            <a:ext cx="27432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915400" y="1828800"/>
            <a:ext cx="1234440" cy="8229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安全裁决</a:t>
            </a:r>
          </a:p>
        </p:txBody>
      </p:sp>
      <p:cxnSp>
        <p:nvCxnSpPr>
          <p:cNvPr id="19" name="Connector 18"/>
          <p:cNvCxnSpPr/>
          <p:nvPr/>
        </p:nvCxnSpPr>
        <p:spPr>
          <a:xfrm>
            <a:off x="10149840" y="2240280"/>
            <a:ext cx="27432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424160" y="1828800"/>
            <a:ext cx="1005840" cy="8229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角度流输出</a:t>
            </a:r>
          </a:p>
        </p:txBody>
      </p:sp>
      <p:sp>
        <p:nvSpPr>
          <p:cNvPr id="21" name="Rounded Rectangle 20"/>
          <p:cNvSpPr/>
          <p:nvPr/>
        </p:nvSpPr>
        <p:spPr>
          <a:xfrm>
            <a:off x="5120640" y="3840480"/>
            <a:ext cx="2011680" cy="73152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ESP32执行与四舵机动作</a:t>
            </a:r>
          </a:p>
        </p:txBody>
      </p:sp>
      <p:sp>
        <p:nvSpPr>
          <p:cNvPr id="22" name="Rounded Rectangle 21"/>
          <p:cNvSpPr/>
          <p:nvPr/>
        </p:nvSpPr>
        <p:spPr>
          <a:xfrm>
            <a:off x="9048750" y="3840480"/>
            <a:ext cx="2057400" cy="73152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状态回传与位置更新</a:t>
            </a:r>
          </a:p>
        </p:txBody>
      </p:sp>
      <p:sp>
        <p:nvSpPr>
          <p:cNvPr id="23" name="Rounded Rectangle 22"/>
          <p:cNvSpPr/>
          <p:nvPr/>
        </p:nvSpPr>
        <p:spPr>
          <a:xfrm>
            <a:off x="1532255" y="3840480"/>
            <a:ext cx="1828800" cy="731520"/>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8447D"/>
                </a:solidFill>
                <a:latin typeface="宋体" panose="02010600030101010101" pitchFamily="2" charset="-122"/>
              </a:defRPr>
            </a:pPr>
            <a:r>
              <a:t>进入下一轮调度</a:t>
            </a:r>
          </a:p>
        </p:txBody>
      </p:sp>
      <p:cxnSp>
        <p:nvCxnSpPr>
          <p:cNvPr id="26" name="Connector 25"/>
          <p:cNvCxnSpPr/>
          <p:nvPr/>
        </p:nvCxnSpPr>
        <p:spPr>
          <a:xfrm>
            <a:off x="7132320" y="4197350"/>
            <a:ext cx="1916430"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68680" y="4983480"/>
            <a:ext cx="10881360" cy="71374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78992" y="5148072"/>
            <a:ext cx="10469880" cy="274320"/>
          </a:xfrm>
          <a:prstGeom prst="rect">
            <a:avLst/>
          </a:prstGeom>
          <a:noFill/>
        </p:spPr>
        <p:txBody>
          <a:bodyPr wrap="square" anchor="t">
            <a:noAutofit/>
          </a:bodyPr>
          <a:lstStyle/>
          <a:p>
            <a:pPr algn="l">
              <a:lnSpc>
                <a:spcPct val="125000"/>
              </a:lnSpc>
              <a:spcAft>
                <a:spcPts val="400"/>
              </a:spcAft>
              <a:defRPr sz="1700" b="0">
                <a:solidFill>
                  <a:srgbClr val="4976C6"/>
                </a:solidFill>
                <a:latin typeface="宋体" panose="02010600030101010101" pitchFamily="2" charset="-122"/>
              </a:defRPr>
            </a:pPr>
            <a:r>
              <a:t>核心理解：Unity不是一次性吐出整段动作，而是按控制周期不断推理、不断调度、不断修正。</a:t>
            </a:r>
          </a:p>
        </p:txBody>
      </p:sp>
      <p:sp>
        <p:nvSpPr>
          <p:cNvPr id="31" name="TextBox 30"/>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12</a:t>
            </a:r>
          </a:p>
        </p:txBody>
      </p:sp>
      <p:sp>
        <p:nvSpPr>
          <p:cNvPr id="45"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25"/>
          <p:cNvCxnSpPr>
            <a:stCxn id="21" idx="1"/>
            <a:endCxn id="23" idx="3"/>
          </p:cNvCxnSpPr>
          <p:nvPr/>
        </p:nvCxnSpPr>
        <p:spPr>
          <a:xfrm flipH="1">
            <a:off x="3361055" y="4206240"/>
            <a:ext cx="1759585" cy="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cxnSp>
        <p:nvCxnSpPr>
          <p:cNvPr id="33" name="Connector 25"/>
          <p:cNvCxnSpPr>
            <a:stCxn id="22" idx="0"/>
            <a:endCxn id="20" idx="2"/>
          </p:cNvCxnSpPr>
          <p:nvPr/>
        </p:nvCxnSpPr>
        <p:spPr>
          <a:xfrm flipV="1">
            <a:off x="10077450" y="2651760"/>
            <a:ext cx="849630" cy="1188720"/>
          </a:xfrm>
          <a:prstGeom prst="line">
            <a:avLst/>
          </a:prstGeom>
          <a:ln w="25400">
            <a:solidFill>
              <a:srgbClr val="4976C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落地验证</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十一、从虚拟到现实：连续数据链路与闭环部署</a:t>
            </a:r>
          </a:p>
          <a:p>
            <a:pPr>
              <a:defRPr sz="1200" b="0">
                <a:solidFill>
                  <a:srgbClr val="767E93"/>
                </a:solidFill>
                <a:latin typeface="宋体" panose="02010600030101010101" pitchFamily="2" charset="-122"/>
              </a:defRPr>
            </a:pPr>
            <a:r>
              <a:t>项目最终形成了“仿真训练—运行时推理—真实执行—状态回流—再次优化”的闭环。</a:t>
            </a:r>
          </a:p>
        </p:txBody>
      </p:sp>
      <p:sp>
        <p:nvSpPr>
          <p:cNvPr id="8" name="Rounded Rectangle 7"/>
          <p:cNvSpPr/>
          <p:nvPr/>
        </p:nvSpPr>
        <p:spPr>
          <a:xfrm>
            <a:off x="704088" y="1691640"/>
            <a:ext cx="5577840" cy="393192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技术管道与反馈流程图.png"/>
          <p:cNvPicPr>
            <a:picLocks noChangeAspect="1"/>
          </p:cNvPicPr>
          <p:nvPr/>
        </p:nvPicPr>
        <p:blipFill>
          <a:blip r:embed="rId2"/>
          <a:stretch>
            <a:fillRect/>
          </a:stretch>
        </p:blipFill>
        <p:spPr>
          <a:xfrm>
            <a:off x="749808" y="2113730"/>
            <a:ext cx="5486400" cy="3087740"/>
          </a:xfrm>
          <a:prstGeom prst="rect">
            <a:avLst/>
          </a:prstGeom>
        </p:spPr>
      </p:pic>
      <p:sp>
        <p:nvSpPr>
          <p:cNvPr id="10" name="Rounded Rectangle 9"/>
          <p:cNvSpPr/>
          <p:nvPr/>
        </p:nvSpPr>
        <p:spPr>
          <a:xfrm>
            <a:off x="6492240" y="1600200"/>
            <a:ext cx="4937760" cy="210312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0" y="1874519"/>
            <a:ext cx="4480560" cy="1600200"/>
          </a:xfrm>
          <a:prstGeom prst="rect">
            <a:avLst/>
          </a:prstGeom>
          <a:noFill/>
        </p:spPr>
        <p:txBody>
          <a:bodyPr wrap="square" anchor="t">
            <a:noAutofit/>
          </a:bodyPr>
          <a:lstStyle/>
          <a:p>
            <a:pPr algn="l">
              <a:lnSpc>
                <a:spcPct val="125000"/>
              </a:lnSpc>
              <a:spcAft>
                <a:spcPts val="400"/>
              </a:spcAft>
              <a:defRPr sz="1700" b="0">
                <a:solidFill>
                  <a:srgbClr val="383F50"/>
                </a:solidFill>
                <a:latin typeface="宋体" panose="02010600030101010101" pitchFamily="2" charset="-122"/>
              </a:defRPr>
            </a:pPr>
            <a:r>
              <a:t>● Unity与ESP32之间通过持续数据链路交换目标角度与执行状态，支持高频控制与反馈。</a:t>
            </a:r>
          </a:p>
          <a:p>
            <a:pPr algn="l">
              <a:lnSpc>
                <a:spcPct val="125000"/>
              </a:lnSpc>
              <a:spcAft>
                <a:spcPts val="400"/>
              </a:spcAft>
              <a:defRPr sz="1700" b="0">
                <a:solidFill>
                  <a:srgbClr val="383F50"/>
                </a:solidFill>
                <a:latin typeface="宋体" panose="02010600030101010101" pitchFamily="2" charset="-122"/>
              </a:defRPr>
            </a:pPr>
            <a:r>
              <a:t>● 真机侧暴露出的姿态误差、延迟、摩擦和装配偏差，会反向推动模型与模板动作修正。</a:t>
            </a:r>
          </a:p>
        </p:txBody>
      </p:sp>
      <p:sp>
        <p:nvSpPr>
          <p:cNvPr id="12" name="Rounded Rectangle 11"/>
          <p:cNvSpPr/>
          <p:nvPr/>
        </p:nvSpPr>
        <p:spPr>
          <a:xfrm>
            <a:off x="6611112" y="3840480"/>
            <a:ext cx="4663440" cy="169164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page20_img1.jpeg"/>
          <p:cNvPicPr>
            <a:picLocks noChangeAspect="1"/>
          </p:cNvPicPr>
          <p:nvPr/>
        </p:nvPicPr>
        <p:blipFill>
          <a:blip r:embed="rId3"/>
          <a:stretch>
            <a:fillRect/>
          </a:stretch>
        </p:blipFill>
        <p:spPr>
          <a:xfrm>
            <a:off x="7445438" y="3886200"/>
            <a:ext cx="2994787" cy="1600200"/>
          </a:xfrm>
          <a:prstGeom prst="rect">
            <a:avLst/>
          </a:prstGeom>
        </p:spPr>
      </p:pic>
      <p:sp>
        <p:nvSpPr>
          <p:cNvPr id="14" name="TextBox 13"/>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13</a:t>
            </a:r>
          </a:p>
        </p:txBody>
      </p:sp>
      <p:sp>
        <p:nvSpPr>
          <p:cNvPr id="45"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硬件平台</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7223760" cy="594360"/>
          </a:xfrm>
          <a:prstGeom prst="rect">
            <a:avLst/>
          </a:prstGeom>
          <a:noFill/>
        </p:spPr>
        <p:txBody>
          <a:bodyPr wrap="none">
            <a:spAutoFit/>
          </a:bodyPr>
          <a:lstStyle/>
          <a:p>
            <a:pPr>
              <a:defRPr sz="2600" b="1">
                <a:solidFill>
                  <a:srgbClr val="28447D"/>
                </a:solidFill>
                <a:latin typeface="宋体" panose="02010600030101010101" pitchFamily="2" charset="-122"/>
              </a:defRPr>
            </a:pPr>
            <a:r>
              <a:t>十二、实体平台与控制链路（简述）</a:t>
            </a:r>
          </a:p>
          <a:p>
            <a:pPr>
              <a:defRPr sz="1200" b="0">
                <a:solidFill>
                  <a:srgbClr val="767E93"/>
                </a:solidFill>
                <a:latin typeface="宋体" panose="02010600030101010101" pitchFamily="2" charset="-122"/>
              </a:defRPr>
            </a:pPr>
            <a:r>
              <a:t>硬件不是本次汇报重点，这里只说明其如何支撑上层演绎落地。</a:t>
            </a:r>
          </a:p>
        </p:txBody>
      </p:sp>
      <p:sp>
        <p:nvSpPr>
          <p:cNvPr id="8" name="Rounded Rectangle 7"/>
          <p:cNvSpPr/>
          <p:nvPr/>
        </p:nvSpPr>
        <p:spPr>
          <a:xfrm>
            <a:off x="704088" y="1691640"/>
            <a:ext cx="3429000" cy="224028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age17_img1.jpeg"/>
          <p:cNvPicPr>
            <a:picLocks noChangeAspect="1"/>
          </p:cNvPicPr>
          <p:nvPr/>
        </p:nvPicPr>
        <p:blipFill>
          <a:blip r:embed="rId2"/>
          <a:stretch>
            <a:fillRect/>
          </a:stretch>
        </p:blipFill>
        <p:spPr>
          <a:xfrm>
            <a:off x="903707" y="1737360"/>
            <a:ext cx="3029762" cy="2148840"/>
          </a:xfrm>
          <a:prstGeom prst="rect">
            <a:avLst/>
          </a:prstGeom>
        </p:spPr>
      </p:pic>
      <p:sp>
        <p:nvSpPr>
          <p:cNvPr id="10" name="Rounded Rectangle 9"/>
          <p:cNvSpPr/>
          <p:nvPr/>
        </p:nvSpPr>
        <p:spPr>
          <a:xfrm>
            <a:off x="704088" y="3977640"/>
            <a:ext cx="3429000" cy="169164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page18_img1.jpeg"/>
          <p:cNvPicPr>
            <a:picLocks noChangeAspect="1"/>
          </p:cNvPicPr>
          <p:nvPr/>
        </p:nvPicPr>
        <p:blipFill>
          <a:blip r:embed="rId3"/>
          <a:stretch>
            <a:fillRect/>
          </a:stretch>
        </p:blipFill>
        <p:spPr>
          <a:xfrm>
            <a:off x="1543919" y="4023360"/>
            <a:ext cx="1749337" cy="1600200"/>
          </a:xfrm>
          <a:prstGeom prst="rect">
            <a:avLst/>
          </a:prstGeom>
        </p:spPr>
      </p:pic>
      <p:sp>
        <p:nvSpPr>
          <p:cNvPr id="14" name="Rounded Rectangle 13"/>
          <p:cNvSpPr/>
          <p:nvPr/>
        </p:nvSpPr>
        <p:spPr>
          <a:xfrm>
            <a:off x="4480560" y="1691640"/>
            <a:ext cx="6812280" cy="180721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36592" y="1938528"/>
            <a:ext cx="6309360" cy="1234440"/>
          </a:xfrm>
          <a:prstGeom prst="rect">
            <a:avLst/>
          </a:prstGeom>
          <a:noFill/>
        </p:spPr>
        <p:txBody>
          <a:bodyPr wrap="square" anchor="t">
            <a:noAutofit/>
          </a:bodyPr>
          <a:lstStyle/>
          <a:p>
            <a:pPr algn="l">
              <a:lnSpc>
                <a:spcPct val="125000"/>
              </a:lnSpc>
              <a:spcAft>
                <a:spcPts val="400"/>
              </a:spcAft>
              <a:defRPr sz="1700" b="0">
                <a:solidFill>
                  <a:srgbClr val="383F50"/>
                </a:solidFill>
                <a:latin typeface="宋体" panose="02010600030101010101" pitchFamily="2" charset="-122"/>
              </a:defRPr>
            </a:pPr>
            <a:r>
              <a:t>● 实体平台采用ESP32-C3 + 四舵机 + WiFi通信 + 3D打印结构，整体方案轻量、成本可控、便于联调。</a:t>
            </a:r>
          </a:p>
          <a:p>
            <a:pPr algn="l">
              <a:lnSpc>
                <a:spcPct val="125000"/>
              </a:lnSpc>
              <a:spcAft>
                <a:spcPts val="400"/>
              </a:spcAft>
              <a:defRPr sz="1700" b="0">
                <a:solidFill>
                  <a:srgbClr val="383F50"/>
                </a:solidFill>
                <a:latin typeface="宋体" panose="02010600030101010101" pitchFamily="2" charset="-122"/>
              </a:defRPr>
            </a:pPr>
            <a:r>
              <a:t>● 下位机主要职责包括：HTTP服务、目标角度接收、PWM映射、平滑控制以及基础安全保护。</a:t>
            </a:r>
          </a:p>
        </p:txBody>
      </p:sp>
      <p:sp>
        <p:nvSpPr>
          <p:cNvPr id="16" name="Rounded Rectangle 15"/>
          <p:cNvSpPr/>
          <p:nvPr/>
        </p:nvSpPr>
        <p:spPr>
          <a:xfrm>
            <a:off x="5074920" y="3809365"/>
            <a:ext cx="5632450" cy="2027555"/>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21935" y="4041140"/>
            <a:ext cx="5038090" cy="1508760"/>
          </a:xfrm>
          <a:prstGeom prst="rect">
            <a:avLst/>
          </a:prstGeom>
          <a:noFill/>
        </p:spPr>
        <p:txBody>
          <a:bodyPr wrap="square" anchor="t">
            <a:noAutofit/>
          </a:bodyPr>
          <a:lstStyle/>
          <a:p>
            <a:pPr algn="l">
              <a:lnSpc>
                <a:spcPct val="125000"/>
              </a:lnSpc>
              <a:spcAft>
                <a:spcPts val="400"/>
              </a:spcAft>
              <a:defRPr sz="1600" b="0">
                <a:solidFill>
                  <a:srgbClr val="383F50"/>
                </a:solidFill>
                <a:latin typeface="宋体" panose="02010600030101010101" pitchFamily="2" charset="-122"/>
              </a:defRPr>
            </a:pPr>
            <a:r>
              <a:t>● 低自由度结构虽然动作表现有限，但更适合做Sim-to-Real验证。</a:t>
            </a:r>
          </a:p>
          <a:p>
            <a:pPr algn="l">
              <a:lnSpc>
                <a:spcPct val="125000"/>
              </a:lnSpc>
              <a:spcAft>
                <a:spcPts val="400"/>
              </a:spcAft>
              <a:defRPr sz="1600" b="0">
                <a:solidFill>
                  <a:srgbClr val="383F50"/>
                </a:solidFill>
                <a:latin typeface="宋体" panose="02010600030101010101" pitchFamily="2" charset="-122"/>
              </a:defRPr>
            </a:pPr>
            <a:r>
              <a:t>● 对</a:t>
            </a:r>
            <a:r>
              <a:rPr lang="zh-CN"/>
              <a:t>本次</a:t>
            </a:r>
            <a:r>
              <a:t>课程而言，硬件部分更像“执行终端”，真正的系统特色仍然体现在前后端内容生成与Unity演绎链路。</a:t>
            </a:r>
          </a:p>
        </p:txBody>
      </p:sp>
      <p:sp>
        <p:nvSpPr>
          <p:cNvPr id="18" name="TextBox 17"/>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14</a:t>
            </a:r>
          </a:p>
        </p:txBody>
      </p:sp>
      <p:sp>
        <p:nvSpPr>
          <p:cNvPr id="45"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B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F2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4976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74175" y="54864"/>
            <a:ext cx="2743200" cy="228600"/>
          </a:xfrm>
          <a:prstGeom prst="rect">
            <a:avLst/>
          </a:prstGeom>
          <a:noFill/>
        </p:spPr>
        <p:txBody>
          <a:bodyPr wrap="none">
            <a:spAutoFit/>
          </a:bodyPr>
          <a:lstStyle/>
          <a:p>
            <a:pPr algn="r">
              <a:defRPr sz="1200" b="0">
                <a:solidFill>
                  <a:srgbClr val="767E93"/>
                </a:solidFill>
                <a:latin typeface="宋体" panose="02010600030101010101" pitchFamily="2" charset="-122"/>
              </a:defRPr>
            </a:pPr>
            <a:r>
              <a:t>总结</a:t>
            </a:r>
          </a:p>
        </p:txBody>
      </p:sp>
      <p:sp>
        <p:nvSpPr>
          <p:cNvPr id="5" name="TextBox 4"/>
          <p:cNvSpPr txBox="1"/>
          <p:nvPr/>
        </p:nvSpPr>
        <p:spPr>
          <a:xfrm>
            <a:off x="365760" y="6537960"/>
            <a:ext cx="5486400" cy="182880"/>
          </a:xfrm>
          <a:prstGeom prst="rect">
            <a:avLst/>
          </a:prstGeom>
          <a:noFill/>
        </p:spPr>
        <p:txBody>
          <a:bodyPr wrap="none">
            <a:spAutoFit/>
          </a:bodyPr>
          <a:lstStyle/>
          <a:p>
            <a:pPr>
              <a:defRPr sz="1000" b="0">
                <a:solidFill>
                  <a:srgbClr val="767E93"/>
                </a:solidFill>
                <a:latin typeface="宋体" panose="02010600030101010101" pitchFamily="2" charset="-122"/>
              </a:defRPr>
            </a:pPr>
            <a:r>
              <a:t>桌面微缩剧场多智能体演绎系统｜课程汇报</a:t>
            </a:r>
          </a:p>
        </p:txBody>
      </p:sp>
      <p:sp>
        <p:nvSpPr>
          <p:cNvPr id="6" name="TextBox 5"/>
          <p:cNvSpPr txBox="1"/>
          <p:nvPr/>
        </p:nvSpPr>
        <p:spPr>
          <a:xfrm>
            <a:off x="502920" y="502920"/>
            <a:ext cx="6431280" cy="675640"/>
          </a:xfrm>
          <a:prstGeom prst="rect">
            <a:avLst/>
          </a:prstGeom>
          <a:noFill/>
        </p:spPr>
        <p:txBody>
          <a:bodyPr wrap="none">
            <a:spAutoFit/>
          </a:bodyPr>
          <a:lstStyle/>
          <a:p>
            <a:pPr>
              <a:defRPr sz="2600" b="1">
                <a:solidFill>
                  <a:srgbClr val="28447D"/>
                </a:solidFill>
                <a:latin typeface="宋体" panose="02010600030101010101" pitchFamily="2" charset="-122"/>
              </a:defRPr>
            </a:pPr>
            <a:r>
              <a:t>总结与展望</a:t>
            </a:r>
          </a:p>
          <a:p>
            <a:pPr>
              <a:defRPr sz="1200" b="0">
                <a:solidFill>
                  <a:srgbClr val="767E93"/>
                </a:solidFill>
                <a:latin typeface="宋体" panose="02010600030101010101" pitchFamily="2" charset="-122"/>
              </a:defRPr>
            </a:pPr>
            <a:r>
              <a:t>用一句话概括：项目把“会讲故事的软件系统”与“会完成动作的机器人系统”连接了起来。</a:t>
            </a:r>
          </a:p>
        </p:txBody>
      </p:sp>
      <p:sp>
        <p:nvSpPr>
          <p:cNvPr id="8" name="Rounded Rectangle 7"/>
          <p:cNvSpPr/>
          <p:nvPr/>
        </p:nvSpPr>
        <p:spPr>
          <a:xfrm>
            <a:off x="749808" y="1554480"/>
            <a:ext cx="5486400" cy="4480560"/>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1828800"/>
            <a:ext cx="4983480" cy="3840480"/>
          </a:xfrm>
          <a:prstGeom prst="rect">
            <a:avLst/>
          </a:prstGeom>
          <a:noFill/>
        </p:spPr>
        <p:txBody>
          <a:bodyPr wrap="square" anchor="t">
            <a:noAutofit/>
          </a:bodyPr>
          <a:lstStyle/>
          <a:p>
            <a:pPr algn="l">
              <a:lnSpc>
                <a:spcPct val="125000"/>
              </a:lnSpc>
              <a:spcAft>
                <a:spcPts val="400"/>
              </a:spcAft>
              <a:defRPr sz="1800" b="0">
                <a:solidFill>
                  <a:srgbClr val="383F50"/>
                </a:solidFill>
                <a:latin typeface="宋体" panose="02010600030101010101" pitchFamily="2" charset="-122"/>
              </a:defRPr>
            </a:pPr>
            <a:r>
              <a:t>● 价值1：前后端把创意转化为结构化剧本，建立了清晰、可编辑、可复用的内容生产流程。</a:t>
            </a:r>
          </a:p>
          <a:p>
            <a:pPr algn="l">
              <a:lnSpc>
                <a:spcPct val="125000"/>
              </a:lnSpc>
              <a:spcAft>
                <a:spcPts val="400"/>
              </a:spcAft>
              <a:defRPr sz="1800" b="0">
                <a:solidFill>
                  <a:srgbClr val="383F50"/>
                </a:solidFill>
                <a:latin typeface="宋体" panose="02010600030101010101" pitchFamily="2" charset="-122"/>
              </a:defRPr>
            </a:pPr>
            <a:r>
              <a:t>● 价值2：Unity把结构化剧本转成可调度、可训练、可落地的动作链路，是整个系统的运行时核心。</a:t>
            </a:r>
          </a:p>
          <a:p>
            <a:pPr algn="l">
              <a:lnSpc>
                <a:spcPct val="125000"/>
              </a:lnSpc>
              <a:spcAft>
                <a:spcPts val="400"/>
              </a:spcAft>
              <a:defRPr sz="1800" b="0">
                <a:solidFill>
                  <a:srgbClr val="383F50"/>
                </a:solidFill>
                <a:latin typeface="宋体" panose="02010600030101010101" pitchFamily="2" charset="-122"/>
              </a:defRPr>
            </a:pPr>
            <a:r>
              <a:t>● 价值3：虚拟到现实闭环使项目不止停留在展示层，而具备持续优化与工程扩展空间。</a:t>
            </a:r>
          </a:p>
          <a:p>
            <a:pPr algn="l">
              <a:lnSpc>
                <a:spcPct val="125000"/>
              </a:lnSpc>
              <a:spcAft>
                <a:spcPts val="400"/>
              </a:spcAft>
              <a:defRPr sz="1800" b="0">
                <a:solidFill>
                  <a:srgbClr val="383F50"/>
                </a:solidFill>
                <a:latin typeface="宋体" panose="02010600030101010101" pitchFamily="2" charset="-122"/>
              </a:defRPr>
            </a:pPr>
            <a:r>
              <a:t>● 未来可继续拓展更多角色、更多场景、更多机器人协同，以及更丰富的感知与多模态内容。</a:t>
            </a:r>
          </a:p>
        </p:txBody>
      </p:sp>
      <p:sp>
        <p:nvSpPr>
          <p:cNvPr id="10" name="Rounded Rectangle 9"/>
          <p:cNvSpPr/>
          <p:nvPr>
            <p:custDataLst>
              <p:tags r:id="rId1"/>
            </p:custDataLst>
          </p:nvPr>
        </p:nvSpPr>
        <p:spPr>
          <a:xfrm>
            <a:off x="6583680" y="1783080"/>
            <a:ext cx="4754880" cy="841248"/>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custDataLst>
              <p:tags r:id="rId2"/>
            </p:custDataLst>
          </p:nvPr>
        </p:nvSpPr>
        <p:spPr>
          <a:xfrm>
            <a:off x="6812280" y="1892807"/>
            <a:ext cx="1371600" cy="182880"/>
          </a:xfrm>
          <a:prstGeom prst="rect">
            <a:avLst/>
          </a:prstGeom>
          <a:noFill/>
        </p:spPr>
        <p:txBody>
          <a:bodyPr wrap="square" anchor="t">
            <a:noAutofit/>
          </a:bodyPr>
          <a:lstStyle/>
          <a:p>
            <a:pPr algn="l">
              <a:lnSpc>
                <a:spcPct val="125000"/>
              </a:lnSpc>
              <a:spcAft>
                <a:spcPts val="400"/>
              </a:spcAft>
              <a:defRPr sz="1500" b="1">
                <a:solidFill>
                  <a:srgbClr val="4976C6"/>
                </a:solidFill>
                <a:latin typeface="宋体" panose="02010600030101010101" pitchFamily="2" charset="-122"/>
              </a:defRPr>
            </a:pPr>
            <a:r>
              <a:t>关键词回顾</a:t>
            </a:r>
          </a:p>
        </p:txBody>
      </p:sp>
      <p:sp>
        <p:nvSpPr>
          <p:cNvPr id="12" name="TextBox 11"/>
          <p:cNvSpPr txBox="1"/>
          <p:nvPr>
            <p:custDataLst>
              <p:tags r:id="rId3"/>
            </p:custDataLst>
          </p:nvPr>
        </p:nvSpPr>
        <p:spPr>
          <a:xfrm>
            <a:off x="8138160" y="1892807"/>
            <a:ext cx="2880360" cy="530352"/>
          </a:xfrm>
          <a:prstGeom prst="rect">
            <a:avLst/>
          </a:prstGeom>
          <a:noFill/>
        </p:spPr>
        <p:txBody>
          <a:bodyPr wrap="square" anchor="t">
            <a:noAutofit/>
          </a:bodyPr>
          <a:lstStyle/>
          <a:p>
            <a:pPr algn="l">
              <a:lnSpc>
                <a:spcPct val="125000"/>
              </a:lnSpc>
              <a:spcAft>
                <a:spcPts val="400"/>
              </a:spcAft>
              <a:defRPr sz="1400" b="0">
                <a:solidFill>
                  <a:srgbClr val="383F50"/>
                </a:solidFill>
                <a:latin typeface="宋体" panose="02010600030101010101" pitchFamily="2" charset="-122"/>
              </a:defRPr>
            </a:pPr>
            <a:r>
              <a:t>多智能体内容生产｜结构化剧本｜Unity数字孪生｜连续控制</a:t>
            </a:r>
          </a:p>
        </p:txBody>
      </p:sp>
      <p:sp>
        <p:nvSpPr>
          <p:cNvPr id="13" name="Rounded Rectangle 12"/>
          <p:cNvSpPr/>
          <p:nvPr>
            <p:custDataLst>
              <p:tags r:id="rId4"/>
            </p:custDataLst>
          </p:nvPr>
        </p:nvSpPr>
        <p:spPr>
          <a:xfrm>
            <a:off x="6583680" y="2880360"/>
            <a:ext cx="4754880" cy="841248"/>
          </a:xfrm>
          <a:prstGeom prst="roundRect">
            <a:avLst/>
          </a:prstGeom>
          <a:solidFill>
            <a:srgbClr val="FFFF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custDataLst>
              <p:tags r:id="rId5"/>
            </p:custDataLst>
          </p:nvPr>
        </p:nvSpPr>
        <p:spPr>
          <a:xfrm>
            <a:off x="6812280" y="2990088"/>
            <a:ext cx="1371600" cy="182880"/>
          </a:xfrm>
          <a:prstGeom prst="rect">
            <a:avLst/>
          </a:prstGeom>
          <a:noFill/>
        </p:spPr>
        <p:txBody>
          <a:bodyPr wrap="square" anchor="t">
            <a:noAutofit/>
          </a:bodyPr>
          <a:lstStyle/>
          <a:p>
            <a:pPr algn="l">
              <a:lnSpc>
                <a:spcPct val="125000"/>
              </a:lnSpc>
              <a:spcAft>
                <a:spcPts val="400"/>
              </a:spcAft>
              <a:defRPr sz="1500" b="1">
                <a:solidFill>
                  <a:srgbClr val="4976C6"/>
                </a:solidFill>
                <a:latin typeface="宋体" panose="02010600030101010101" pitchFamily="2" charset="-122"/>
              </a:defRPr>
            </a:pPr>
            <a:r>
              <a:t>本次汇报重点</a:t>
            </a:r>
          </a:p>
        </p:txBody>
      </p:sp>
      <p:sp>
        <p:nvSpPr>
          <p:cNvPr id="15" name="TextBox 14"/>
          <p:cNvSpPr txBox="1"/>
          <p:nvPr>
            <p:custDataLst>
              <p:tags r:id="rId6"/>
            </p:custDataLst>
          </p:nvPr>
        </p:nvSpPr>
        <p:spPr>
          <a:xfrm>
            <a:off x="8138160" y="2990088"/>
            <a:ext cx="2880360" cy="530352"/>
          </a:xfrm>
          <a:prstGeom prst="rect">
            <a:avLst/>
          </a:prstGeom>
          <a:noFill/>
        </p:spPr>
        <p:txBody>
          <a:bodyPr wrap="square" anchor="t">
            <a:noAutofit/>
          </a:bodyPr>
          <a:lstStyle/>
          <a:p>
            <a:pPr algn="l">
              <a:lnSpc>
                <a:spcPct val="125000"/>
              </a:lnSpc>
              <a:spcAft>
                <a:spcPts val="400"/>
              </a:spcAft>
              <a:defRPr sz="1400" b="0">
                <a:solidFill>
                  <a:srgbClr val="383F50"/>
                </a:solidFill>
                <a:latin typeface="宋体" panose="02010600030101010101" pitchFamily="2" charset="-122"/>
              </a:defRPr>
            </a:pPr>
            <a:r>
              <a:t>前后端负责“生成内容”，Unity负责“把内容演出来”。</a:t>
            </a:r>
          </a:p>
        </p:txBody>
      </p:sp>
      <p:sp>
        <p:nvSpPr>
          <p:cNvPr id="16" name="Rounded Rectangle 15"/>
          <p:cNvSpPr/>
          <p:nvPr>
            <p:custDataLst>
              <p:tags r:id="rId7"/>
            </p:custDataLst>
          </p:nvPr>
        </p:nvSpPr>
        <p:spPr>
          <a:xfrm>
            <a:off x="6583680" y="3977640"/>
            <a:ext cx="4754880" cy="1077595"/>
          </a:xfrm>
          <a:prstGeom prst="roundRect">
            <a:avLst/>
          </a:prstGeom>
          <a:solidFill>
            <a:srgbClr val="F2F7FF"/>
          </a:solidFill>
          <a:ln w="12700">
            <a:solidFill>
              <a:srgbClr val="D2D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custDataLst>
              <p:tags r:id="rId8"/>
            </p:custDataLst>
          </p:nvPr>
        </p:nvSpPr>
        <p:spPr>
          <a:xfrm>
            <a:off x="6812280" y="4087368"/>
            <a:ext cx="1371600" cy="182880"/>
          </a:xfrm>
          <a:prstGeom prst="rect">
            <a:avLst/>
          </a:prstGeom>
          <a:noFill/>
        </p:spPr>
        <p:txBody>
          <a:bodyPr wrap="square" anchor="t">
            <a:noAutofit/>
          </a:bodyPr>
          <a:lstStyle/>
          <a:p>
            <a:pPr algn="l">
              <a:lnSpc>
                <a:spcPct val="125000"/>
              </a:lnSpc>
              <a:spcAft>
                <a:spcPts val="400"/>
              </a:spcAft>
              <a:defRPr sz="1500" b="1">
                <a:solidFill>
                  <a:srgbClr val="4976C6"/>
                </a:solidFill>
                <a:latin typeface="宋体" panose="02010600030101010101" pitchFamily="2" charset="-122"/>
              </a:defRPr>
            </a:pPr>
            <a:r>
              <a:t>课程视角启示</a:t>
            </a:r>
          </a:p>
        </p:txBody>
      </p:sp>
      <p:sp>
        <p:nvSpPr>
          <p:cNvPr id="18" name="TextBox 17"/>
          <p:cNvSpPr txBox="1"/>
          <p:nvPr>
            <p:custDataLst>
              <p:tags r:id="rId9"/>
            </p:custDataLst>
          </p:nvPr>
        </p:nvSpPr>
        <p:spPr>
          <a:xfrm>
            <a:off x="8138160" y="4087368"/>
            <a:ext cx="2880360" cy="530352"/>
          </a:xfrm>
          <a:prstGeom prst="rect">
            <a:avLst/>
          </a:prstGeom>
          <a:noFill/>
        </p:spPr>
        <p:txBody>
          <a:bodyPr wrap="square" anchor="t">
            <a:noAutofit/>
          </a:bodyPr>
          <a:lstStyle/>
          <a:p>
            <a:pPr algn="l">
              <a:lnSpc>
                <a:spcPct val="125000"/>
              </a:lnSpc>
              <a:spcAft>
                <a:spcPts val="400"/>
              </a:spcAft>
              <a:defRPr sz="1400" b="0">
                <a:solidFill>
                  <a:srgbClr val="383F50"/>
                </a:solidFill>
                <a:latin typeface="宋体" panose="02010600030101010101" pitchFamily="2" charset="-122"/>
              </a:defRPr>
            </a:pPr>
            <a:r>
              <a:t>数字媒体系统设计的关键不只是素材，更是把内容、交互与执行机制组织成完整体验。</a:t>
            </a:r>
          </a:p>
        </p:txBody>
      </p:sp>
      <p:sp>
        <p:nvSpPr>
          <p:cNvPr id="19" name="TextBox 18"/>
          <p:cNvSpPr txBox="1"/>
          <p:nvPr/>
        </p:nvSpPr>
        <p:spPr>
          <a:xfrm>
            <a:off x="6629400" y="5577840"/>
            <a:ext cx="4754880" cy="256032"/>
          </a:xfrm>
          <a:prstGeom prst="rect">
            <a:avLst/>
          </a:prstGeom>
          <a:noFill/>
        </p:spPr>
        <p:txBody>
          <a:bodyPr wrap="square" anchor="t">
            <a:noAutofit/>
          </a:bodyPr>
          <a:lstStyle/>
          <a:p>
            <a:pPr algn="r">
              <a:lnSpc>
                <a:spcPct val="125000"/>
              </a:lnSpc>
              <a:spcAft>
                <a:spcPts val="400"/>
              </a:spcAft>
              <a:defRPr sz="1600" b="0">
                <a:solidFill>
                  <a:srgbClr val="767E93"/>
                </a:solidFill>
                <a:latin typeface="宋体" panose="02010600030101010101" pitchFamily="2" charset="-122"/>
              </a:defRPr>
            </a:pPr>
            <a:r>
              <a:t>谢谢老师聆听。</a:t>
            </a:r>
          </a:p>
        </p:txBody>
      </p:sp>
      <p:sp>
        <p:nvSpPr>
          <p:cNvPr id="20" name="TextBox 19"/>
          <p:cNvSpPr txBox="1"/>
          <p:nvPr/>
        </p:nvSpPr>
        <p:spPr>
          <a:xfrm>
            <a:off x="11551615" y="6547104"/>
            <a:ext cx="320040" cy="182880"/>
          </a:xfrm>
          <a:prstGeom prst="rect">
            <a:avLst/>
          </a:prstGeom>
          <a:noFill/>
        </p:spPr>
        <p:txBody>
          <a:bodyPr wrap="none">
            <a:spAutoFit/>
          </a:bodyPr>
          <a:lstStyle/>
          <a:p>
            <a:pPr algn="ctr">
              <a:defRPr sz="1100" b="0">
                <a:solidFill>
                  <a:srgbClr val="767E93"/>
                </a:solidFill>
                <a:latin typeface="宋体" panose="02010600030101010101" pitchFamily="2" charset="-122"/>
              </a:defRPr>
            </a:pPr>
            <a:r>
              <a:t>15</a:t>
            </a:r>
          </a:p>
        </p:txBody>
      </p:sp>
      <p:sp>
        <p:nvSpPr>
          <p:cNvPr id="45" name="Rectangle 6"/>
          <p:cNvSpPr/>
          <p:nvPr/>
        </p:nvSpPr>
        <p:spPr>
          <a:xfrm>
            <a:off x="512064" y="1216025"/>
            <a:ext cx="1188720" cy="45720"/>
          </a:xfrm>
          <a:prstGeom prst="rect">
            <a:avLst/>
          </a:prstGeom>
          <a:solidFill>
            <a:srgbClr val="C5A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6.56000000000006,&quot;left&quot;:61.2,&quot;top&quot;:129.6,&quot;width&quot;:403.2}"/>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160.56,&quot;left&quot;:68.4,&quot;top&quot;:144,&quot;width&quot;:720}"/>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161.7000787401575,&quot;left&quot;:496.8,&quot;top&quot;:295.1999212598425,&quot;width&quot;:399.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57.65,&quot;left&quot;:518.4,&quot;top&quot;:140.4,&quot;width&quot;:374.4}"/>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57.65,&quot;left&quot;:518.4,&quot;top&quot;:140.4,&quot;width&quot;:374.4}"/>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57.65,&quot;left&quot;:518.4,&quot;top&quot;:140.4,&quot;width&quot;:374.4}"/>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57.65,&quot;left&quot;:518.4,&quot;top&quot;:140.4,&quot;width&quot;:374.4}"/>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57.65,&quot;left&quot;:518.4,&quot;top&quot;:140.4,&quot;width&quot;:374.4}"/>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57.65,&quot;left&quot;:518.4,&quot;top&quot;:140.4,&quot;width&quot;:374.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57.65,&quot;left&quot;:518.4,&quot;top&quot;:140.4,&quot;width&quot;:374.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57.65,&quot;left&quot;:518.4,&quot;top&quot;:140.4,&quot;width&quot;:374.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57.65,&quot;left&quot;:518.4,&quot;top&quot;:140.4,&quot;width&quot;:374.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1051</Words>
  <Application>Microsoft Macintosh PowerPoint</Application>
  <PresentationFormat>宽屏</PresentationFormat>
  <Paragraphs>246</Paragraphs>
  <Slides>15</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15</vt:i4>
      </vt:variant>
    </vt:vector>
  </HeadingPairs>
  <TitlesOfParts>
    <vt:vector size="19" baseType="lpstr">
      <vt:lpstr>等线</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Chinyen Zoo</cp:lastModifiedBy>
  <cp:revision>5</cp:revision>
  <dcterms:created xsi:type="dcterms:W3CDTF">2013-01-27T09:14:00Z</dcterms:created>
  <dcterms:modified xsi:type="dcterms:W3CDTF">2026-06-15T13:15:42Z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8A69068285E448388CFC91C75AF22ED9_12</vt:lpwstr>
  </property>
</Properties>
</file>