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71" r:id="rId11"/>
    <p:sldId id="265" r:id="rId12"/>
    <p:sldId id="266" r:id="rId13"/>
    <p:sldId id="267" r:id="rId14"/>
    <p:sldId id="268" r:id="rId15"/>
    <p:sldId id="269" r:id="rId16"/>
    <p:sldId id="270" r:id="rId17"/>
    <p:sldId id="273" r:id="rId18"/>
    <p:sldId id="274" r:id="rId19"/>
    <p:sldId id="275" r:id="rId20"/>
    <p:sldId id="276" r:id="rId21"/>
    <p:sldId id="277" r:id="rId22"/>
    <p:sldId id="282" r:id="rId23"/>
    <p:sldId id="278" r:id="rId24"/>
    <p:sldId id="279" r:id="rId25"/>
    <p:sldId id="280" r:id="rId26"/>
    <p:sldId id="281" r:id="rId27"/>
  </p:sldIdLst>
  <p:sldSz cx="14630400" cy="8229600"/>
  <p:notesSz cx="8229600" cy="14630400"/>
  <p:embeddedFontLst>
    <p:embeddedFont>
      <p:font typeface="Inter" panose="02000503000000020004" pitchFamily="2" charset="0"/>
      <p:regular r:id="rId29"/>
      <p:bold r:id="rId30"/>
      <p:italic r:id="rId31"/>
      <p:boldItalic r:id="rId32"/>
    </p:embeddedFont>
    <p:embeddedFont>
      <p:font typeface="Petrona Bold" pitchFamily="2" charset="0"/>
      <p:bold r:id="rId33"/>
    </p:embeddedFont>
    <p:embeddedFont>
      <p:font typeface="Petrona Light" pitchFamily="2" charset="0"/>
      <p:regular r:id="rId34"/>
      <p:italic r:id="rId35"/>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8" d="100"/>
          <a:sy n="98" d="100"/>
        </p:scale>
        <p:origin x="43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4982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306964" y="3154277"/>
            <a:ext cx="13042821" cy="1364456"/>
          </a:xfrm>
          <a:prstGeom prst="rect">
            <a:avLst/>
          </a:prstGeom>
          <a:noFill/>
          <a:ln/>
        </p:spPr>
        <p:txBody>
          <a:bodyPr wrap="square" lIns="0" tIns="0" rIns="0" bIns="0" rtlCol="0" anchor="t"/>
          <a:lstStyle/>
          <a:p>
            <a:pPr marL="0" indent="0" algn="l">
              <a:lnSpc>
                <a:spcPts val="5350"/>
              </a:lnSpc>
              <a:buNone/>
            </a:pPr>
            <a:r>
              <a:rPr lang="en-US" sz="8000" b="1" dirty="0">
                <a:solidFill>
                  <a:srgbClr val="F95F88"/>
                </a:solidFill>
                <a:latin typeface="Petrona Bold" pitchFamily="34" charset="0"/>
                <a:ea typeface="Petrona Bold" pitchFamily="34" charset="-122"/>
                <a:cs typeface="Petrona Bold" pitchFamily="34" charset="-120"/>
              </a:rPr>
              <a:t>04 RAG </a:t>
            </a:r>
            <a:r>
              <a:rPr lang="zh-CN" altLang="en-US" sz="8000" b="1" dirty="0">
                <a:solidFill>
                  <a:srgbClr val="F95F88"/>
                </a:solidFill>
                <a:latin typeface="Petrona Bold" pitchFamily="34" charset="0"/>
                <a:ea typeface="Petrona Bold" pitchFamily="34" charset="-122"/>
                <a:cs typeface="Petrona Bold" pitchFamily="34" charset="-120"/>
              </a:rPr>
              <a:t>补充材料</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551271"/>
            <a:ext cx="5804773"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大语言模型的"幻觉"问题</a:t>
            </a:r>
            <a:endParaRPr lang="en-US" sz="4250" dirty="0"/>
          </a:p>
        </p:txBody>
      </p:sp>
      <p:sp>
        <p:nvSpPr>
          <p:cNvPr id="3" name="Text 1"/>
          <p:cNvSpPr/>
          <p:nvPr/>
        </p:nvSpPr>
        <p:spPr>
          <a:xfrm>
            <a:off x="793790" y="363033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幻觉（Hallucination）是指大语言模型生成内容看似合理，但实际上与事实不符、无中生有或与输入源信息相矛盾的现象。这主要由训练数据和模型自身两方面原因导致。</a:t>
            </a:r>
            <a:endParaRPr lang="en-US" sz="1550" dirty="0"/>
          </a:p>
        </p:txBody>
      </p:sp>
      <p:sp>
        <p:nvSpPr>
          <p:cNvPr id="4" name="Shape 2"/>
          <p:cNvSpPr/>
          <p:nvPr/>
        </p:nvSpPr>
        <p:spPr>
          <a:xfrm>
            <a:off x="793790" y="4488656"/>
            <a:ext cx="6422231" cy="1189673"/>
          </a:xfrm>
          <a:prstGeom prst="roundRect">
            <a:avLst>
              <a:gd name="adj" fmla="val 7007"/>
            </a:avLst>
          </a:prstGeom>
          <a:solidFill>
            <a:srgbClr val="E0D7F4"/>
          </a:solidFill>
          <a:ln w="7620">
            <a:solidFill>
              <a:srgbClr val="C6BDDA"/>
            </a:solidFill>
            <a:prstDash val="solid"/>
          </a:ln>
        </p:spPr>
      </p:sp>
      <p:sp>
        <p:nvSpPr>
          <p:cNvPr id="5" name="Text 3"/>
          <p:cNvSpPr/>
          <p:nvPr/>
        </p:nvSpPr>
        <p:spPr>
          <a:xfrm>
            <a:off x="999768" y="4694634"/>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训练数据导致的幻觉</a:t>
            </a:r>
            <a:endParaRPr lang="en-US" sz="2100" dirty="0"/>
          </a:p>
        </p:txBody>
      </p:sp>
      <p:sp>
        <p:nvSpPr>
          <p:cNvPr id="6" name="Text 4"/>
          <p:cNvSpPr/>
          <p:nvPr/>
        </p:nvSpPr>
        <p:spPr>
          <a:xfrm>
            <a:off x="999768" y="5154811"/>
            <a:ext cx="601027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知识过时、知识边界、知识偏差等问题</a:t>
            </a:r>
            <a:endParaRPr lang="en-US" sz="1550" dirty="0"/>
          </a:p>
        </p:txBody>
      </p:sp>
      <p:sp>
        <p:nvSpPr>
          <p:cNvPr id="7" name="Shape 5"/>
          <p:cNvSpPr/>
          <p:nvPr/>
        </p:nvSpPr>
        <p:spPr>
          <a:xfrm>
            <a:off x="7414379" y="4488656"/>
            <a:ext cx="6422231" cy="1189673"/>
          </a:xfrm>
          <a:prstGeom prst="roundRect">
            <a:avLst>
              <a:gd name="adj" fmla="val 7007"/>
            </a:avLst>
          </a:prstGeom>
          <a:solidFill>
            <a:srgbClr val="E0D7F4"/>
          </a:solidFill>
          <a:ln w="7620">
            <a:solidFill>
              <a:srgbClr val="C6BDDA"/>
            </a:solidFill>
            <a:prstDash val="solid"/>
          </a:ln>
        </p:spPr>
      </p:sp>
      <p:sp>
        <p:nvSpPr>
          <p:cNvPr id="8" name="Text 6"/>
          <p:cNvSpPr/>
          <p:nvPr/>
        </p:nvSpPr>
        <p:spPr>
          <a:xfrm>
            <a:off x="7620357" y="4694634"/>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模型自身导致的幻觉</a:t>
            </a:r>
            <a:endParaRPr lang="en-US" sz="2100" dirty="0"/>
          </a:p>
        </p:txBody>
      </p:sp>
      <p:sp>
        <p:nvSpPr>
          <p:cNvPr id="9" name="Text 7"/>
          <p:cNvSpPr/>
          <p:nvPr/>
        </p:nvSpPr>
        <p:spPr>
          <a:xfrm>
            <a:off x="7620357" y="5154811"/>
            <a:ext cx="601027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知识长尾、曝光偏差、对齐不当、解码偏差等问题</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834759"/>
            <a:ext cx="5457944"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训练数据导致的幻觉</a:t>
            </a:r>
            <a:endParaRPr lang="en-US" sz="4250" dirty="0"/>
          </a:p>
        </p:txBody>
      </p:sp>
      <p:sp>
        <p:nvSpPr>
          <p:cNvPr id="3" name="Shape 1"/>
          <p:cNvSpPr/>
          <p:nvPr/>
        </p:nvSpPr>
        <p:spPr>
          <a:xfrm>
            <a:off x="793790" y="3913823"/>
            <a:ext cx="446484" cy="446484"/>
          </a:xfrm>
          <a:prstGeom prst="roundRect">
            <a:avLst>
              <a:gd name="adj" fmla="val 18670"/>
            </a:avLst>
          </a:prstGeom>
          <a:solidFill>
            <a:srgbClr val="E0D7F4"/>
          </a:solidFill>
          <a:ln w="7620">
            <a:solidFill>
              <a:srgbClr val="C6BDDA"/>
            </a:solidFill>
            <a:prstDash val="solid"/>
          </a:ln>
        </p:spPr>
      </p:sp>
      <p:sp>
        <p:nvSpPr>
          <p:cNvPr id="4" name="Text 2"/>
          <p:cNvSpPr/>
          <p:nvPr/>
        </p:nvSpPr>
        <p:spPr>
          <a:xfrm>
            <a:off x="1438632" y="3982045"/>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知识过时</a:t>
            </a:r>
            <a:endParaRPr lang="en-US" sz="2100" dirty="0"/>
          </a:p>
        </p:txBody>
      </p:sp>
      <p:sp>
        <p:nvSpPr>
          <p:cNvPr id="5" name="Text 3"/>
          <p:cNvSpPr/>
          <p:nvPr/>
        </p:nvSpPr>
        <p:spPr>
          <a:xfrm>
            <a:off x="1438632" y="4442222"/>
            <a:ext cx="3537347"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大语言模型的知识截止于其训练数据的收集时间，无法与现实世界同步更新。</a:t>
            </a:r>
            <a:endParaRPr lang="en-US" sz="1550" dirty="0"/>
          </a:p>
        </p:txBody>
      </p:sp>
      <p:sp>
        <p:nvSpPr>
          <p:cNvPr id="6" name="Shape 4"/>
          <p:cNvSpPr/>
          <p:nvPr/>
        </p:nvSpPr>
        <p:spPr>
          <a:xfrm>
            <a:off x="5223986" y="3913823"/>
            <a:ext cx="446484" cy="446484"/>
          </a:xfrm>
          <a:prstGeom prst="roundRect">
            <a:avLst>
              <a:gd name="adj" fmla="val 18670"/>
            </a:avLst>
          </a:prstGeom>
          <a:solidFill>
            <a:srgbClr val="E0D7F4"/>
          </a:solidFill>
          <a:ln w="7620">
            <a:solidFill>
              <a:srgbClr val="C6BDDA"/>
            </a:solidFill>
            <a:prstDash val="solid"/>
          </a:ln>
        </p:spPr>
      </p:sp>
      <p:sp>
        <p:nvSpPr>
          <p:cNvPr id="7" name="Text 5"/>
          <p:cNvSpPr/>
          <p:nvPr/>
        </p:nvSpPr>
        <p:spPr>
          <a:xfrm>
            <a:off x="5868829" y="3982045"/>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知识边界</a:t>
            </a:r>
            <a:endParaRPr lang="en-US" sz="2100" dirty="0"/>
          </a:p>
        </p:txBody>
      </p:sp>
      <p:sp>
        <p:nvSpPr>
          <p:cNvPr id="8" name="Text 6"/>
          <p:cNvSpPr/>
          <p:nvPr/>
        </p:nvSpPr>
        <p:spPr>
          <a:xfrm>
            <a:off x="5868829" y="4442222"/>
            <a:ext cx="3537466"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尽管训练数据庞大，但仍然有限，模型必然缺乏某些特定或冷门领域的知识。</a:t>
            </a:r>
            <a:endParaRPr lang="en-US" sz="1550" dirty="0"/>
          </a:p>
        </p:txBody>
      </p:sp>
      <p:sp>
        <p:nvSpPr>
          <p:cNvPr id="9" name="Shape 7"/>
          <p:cNvSpPr/>
          <p:nvPr/>
        </p:nvSpPr>
        <p:spPr>
          <a:xfrm>
            <a:off x="9654302" y="3913823"/>
            <a:ext cx="446484" cy="446484"/>
          </a:xfrm>
          <a:prstGeom prst="roundRect">
            <a:avLst>
              <a:gd name="adj" fmla="val 18670"/>
            </a:avLst>
          </a:prstGeom>
          <a:solidFill>
            <a:srgbClr val="E0D7F4"/>
          </a:solidFill>
          <a:ln w="7620">
            <a:solidFill>
              <a:srgbClr val="C6BDDA"/>
            </a:solidFill>
            <a:prstDash val="solid"/>
          </a:ln>
        </p:spPr>
      </p:sp>
      <p:sp>
        <p:nvSpPr>
          <p:cNvPr id="10" name="Text 8"/>
          <p:cNvSpPr/>
          <p:nvPr/>
        </p:nvSpPr>
        <p:spPr>
          <a:xfrm>
            <a:off x="10299144" y="3982045"/>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知识偏差</a:t>
            </a:r>
            <a:endParaRPr lang="en-US" sz="2100" dirty="0"/>
          </a:p>
        </p:txBody>
      </p:sp>
      <p:sp>
        <p:nvSpPr>
          <p:cNvPr id="11" name="Text 9"/>
          <p:cNvSpPr/>
          <p:nvPr/>
        </p:nvSpPr>
        <p:spPr>
          <a:xfrm>
            <a:off x="10299144" y="4442222"/>
            <a:ext cx="353746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训练语料（多来自互联网）可能包含带有偏见、错误或低质量的数据，导致模型输出存在事实性偏差。</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779627"/>
            <a:ext cx="5457944"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模型自身导致的幻觉</a:t>
            </a:r>
            <a:endParaRPr lang="en-US" sz="4250" dirty="0"/>
          </a:p>
        </p:txBody>
      </p:sp>
      <p:sp>
        <p:nvSpPr>
          <p:cNvPr id="3" name="Shape 1"/>
          <p:cNvSpPr/>
          <p:nvPr/>
        </p:nvSpPr>
        <p:spPr>
          <a:xfrm>
            <a:off x="793790" y="2858691"/>
            <a:ext cx="6422231" cy="1855232"/>
          </a:xfrm>
          <a:prstGeom prst="roundRect">
            <a:avLst>
              <a:gd name="adj" fmla="val 4493"/>
            </a:avLst>
          </a:prstGeom>
          <a:solidFill>
            <a:srgbClr val="FDFAF7"/>
          </a:solidFill>
          <a:ln w="22860">
            <a:solidFill>
              <a:srgbClr val="C6BDDA"/>
            </a:solidFill>
            <a:prstDash val="solid"/>
          </a:ln>
        </p:spPr>
      </p:sp>
      <p:sp>
        <p:nvSpPr>
          <p:cNvPr id="4" name="Text 2"/>
          <p:cNvSpPr/>
          <p:nvPr/>
        </p:nvSpPr>
        <p:spPr>
          <a:xfrm>
            <a:off x="1015008" y="3079909"/>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知识长尾</a:t>
            </a:r>
            <a:endParaRPr lang="en-US" sz="2100" dirty="0"/>
          </a:p>
        </p:txBody>
      </p:sp>
      <p:sp>
        <p:nvSpPr>
          <p:cNvPr id="5" name="Text 3"/>
          <p:cNvSpPr/>
          <p:nvPr/>
        </p:nvSpPr>
        <p:spPr>
          <a:xfrm>
            <a:off x="1015008" y="3540085"/>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训练数据中，部分信息的出现频率较低，导致模型对这些知识学习不充分。</a:t>
            </a:r>
            <a:endParaRPr lang="en-US" sz="1550" dirty="0"/>
          </a:p>
        </p:txBody>
      </p:sp>
      <p:sp>
        <p:nvSpPr>
          <p:cNvPr id="6" name="Shape 4"/>
          <p:cNvSpPr/>
          <p:nvPr/>
        </p:nvSpPr>
        <p:spPr>
          <a:xfrm>
            <a:off x="7414379" y="2858691"/>
            <a:ext cx="6422231" cy="1855232"/>
          </a:xfrm>
          <a:prstGeom prst="roundRect">
            <a:avLst>
              <a:gd name="adj" fmla="val 4493"/>
            </a:avLst>
          </a:prstGeom>
          <a:solidFill>
            <a:srgbClr val="FDFAF7"/>
          </a:solidFill>
          <a:ln w="22860">
            <a:solidFill>
              <a:srgbClr val="C6BDDA"/>
            </a:solidFill>
            <a:prstDash val="solid"/>
          </a:ln>
        </p:spPr>
      </p:sp>
      <p:sp>
        <p:nvSpPr>
          <p:cNvPr id="7" name="Text 5"/>
          <p:cNvSpPr/>
          <p:nvPr/>
        </p:nvSpPr>
        <p:spPr>
          <a:xfrm>
            <a:off x="7635597" y="3079909"/>
            <a:ext cx="3102531"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曝光偏差 (Exposure Bias)</a:t>
            </a:r>
            <a:endParaRPr lang="en-US" sz="2100" dirty="0"/>
          </a:p>
        </p:txBody>
      </p:sp>
      <p:sp>
        <p:nvSpPr>
          <p:cNvPr id="8" name="Text 6"/>
          <p:cNvSpPr/>
          <p:nvPr/>
        </p:nvSpPr>
        <p:spPr>
          <a:xfrm>
            <a:off x="7635597" y="3540085"/>
            <a:ext cx="597979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模型的训练方式（例如，总是基于真实数据进行下一步预测）与推理方式（基于自身生成的内容进行下一步预测）之间存在差异，这种差异在多步生成中会逐渐累积，导致偏差。</a:t>
            </a:r>
            <a:endParaRPr lang="en-US" sz="1550" dirty="0"/>
          </a:p>
        </p:txBody>
      </p:sp>
      <p:sp>
        <p:nvSpPr>
          <p:cNvPr id="9" name="Shape 7"/>
          <p:cNvSpPr/>
          <p:nvPr/>
        </p:nvSpPr>
        <p:spPr>
          <a:xfrm>
            <a:off x="793790" y="4912281"/>
            <a:ext cx="6422231" cy="1537692"/>
          </a:xfrm>
          <a:prstGeom prst="roundRect">
            <a:avLst>
              <a:gd name="adj" fmla="val 5421"/>
            </a:avLst>
          </a:prstGeom>
          <a:solidFill>
            <a:srgbClr val="FDFAF7"/>
          </a:solidFill>
          <a:ln w="22860">
            <a:solidFill>
              <a:srgbClr val="C6BDDA"/>
            </a:solidFill>
            <a:prstDash val="solid"/>
          </a:ln>
        </p:spPr>
      </p:sp>
      <p:sp>
        <p:nvSpPr>
          <p:cNvPr id="10" name="Text 8"/>
          <p:cNvSpPr/>
          <p:nvPr/>
        </p:nvSpPr>
        <p:spPr>
          <a:xfrm>
            <a:off x="1015008" y="5133499"/>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对齐不当</a:t>
            </a:r>
            <a:endParaRPr lang="en-US" sz="2100" dirty="0"/>
          </a:p>
        </p:txBody>
      </p:sp>
      <p:sp>
        <p:nvSpPr>
          <p:cNvPr id="11" name="Text 9"/>
          <p:cNvSpPr/>
          <p:nvPr/>
        </p:nvSpPr>
        <p:spPr>
          <a:xfrm>
            <a:off x="1015008" y="5593675"/>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在与人类偏好对齐的阶段，如果偏好数据标注不当或存在偏差，模型可能会学到不良偏好。</a:t>
            </a:r>
            <a:endParaRPr lang="en-US" sz="1550" dirty="0"/>
          </a:p>
        </p:txBody>
      </p:sp>
      <p:sp>
        <p:nvSpPr>
          <p:cNvPr id="12" name="Shape 10"/>
          <p:cNvSpPr/>
          <p:nvPr/>
        </p:nvSpPr>
        <p:spPr>
          <a:xfrm>
            <a:off x="7414379" y="4912281"/>
            <a:ext cx="6422231" cy="1537692"/>
          </a:xfrm>
          <a:prstGeom prst="roundRect">
            <a:avLst>
              <a:gd name="adj" fmla="val 5421"/>
            </a:avLst>
          </a:prstGeom>
          <a:solidFill>
            <a:srgbClr val="FDFAF7"/>
          </a:solidFill>
          <a:ln w="22860">
            <a:solidFill>
              <a:srgbClr val="C6BDDA"/>
            </a:solidFill>
            <a:prstDash val="solid"/>
          </a:ln>
        </p:spPr>
      </p:sp>
      <p:sp>
        <p:nvSpPr>
          <p:cNvPr id="13" name="Text 11"/>
          <p:cNvSpPr/>
          <p:nvPr/>
        </p:nvSpPr>
        <p:spPr>
          <a:xfrm>
            <a:off x="7635597" y="5133499"/>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解码偏差</a:t>
            </a:r>
            <a:endParaRPr lang="en-US" sz="2100" dirty="0"/>
          </a:p>
        </p:txBody>
      </p:sp>
      <p:sp>
        <p:nvSpPr>
          <p:cNvPr id="14" name="Text 12"/>
          <p:cNvSpPr/>
          <p:nvPr/>
        </p:nvSpPr>
        <p:spPr>
          <a:xfrm>
            <a:off x="7635597" y="5593675"/>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在生成文本时，解码策略（如Top-K采样、温度采样）中的随机性也可能影响输出的准确性。</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22390"/>
            <a:ext cx="5457944"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RAG 的核心组成</a:t>
            </a:r>
            <a:endParaRPr lang="en-US" sz="4250" dirty="0"/>
          </a:p>
        </p:txBody>
      </p:sp>
      <p:sp>
        <p:nvSpPr>
          <p:cNvPr id="3" name="Text 1"/>
          <p:cNvSpPr/>
          <p:nvPr/>
        </p:nvSpPr>
        <p:spPr>
          <a:xfrm>
            <a:off x="793790" y="2101453"/>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RAG 通过引入外部知识库来缓解幻觉问题，其核心框架由三个部分组成：</a:t>
            </a:r>
            <a:endParaRPr lang="en-US" sz="1550" dirty="0"/>
          </a:p>
        </p:txBody>
      </p:sp>
      <p:sp>
        <p:nvSpPr>
          <p:cNvPr id="4" name="Text 2"/>
          <p:cNvSpPr/>
          <p:nvPr/>
        </p:nvSpPr>
        <p:spPr>
          <a:xfrm>
            <a:off x="1906905" y="4218265"/>
            <a:ext cx="2728913" cy="341114"/>
          </a:xfrm>
          <a:prstGeom prst="rect">
            <a:avLst/>
          </a:prstGeom>
          <a:noFill/>
          <a:ln/>
        </p:spPr>
        <p:txBody>
          <a:bodyPr wrap="none" lIns="0" tIns="0" rIns="0" bIns="0" rtlCol="0" anchor="t"/>
          <a:lstStyle/>
          <a:p>
            <a:pPr marL="0" indent="0" algn="r">
              <a:lnSpc>
                <a:spcPts val="2650"/>
              </a:lnSpc>
              <a:buNone/>
            </a:pPr>
            <a:r>
              <a:rPr lang="en-US" sz="2100" b="1" dirty="0">
                <a:solidFill>
                  <a:srgbClr val="6237C8"/>
                </a:solidFill>
                <a:latin typeface="Petrona Bold" pitchFamily="34" charset="0"/>
                <a:ea typeface="Petrona Bold" pitchFamily="34" charset="-122"/>
                <a:cs typeface="Petrona Bold" pitchFamily="34" charset="-120"/>
              </a:rPr>
              <a:t>检索器 (Retriever)</a:t>
            </a:r>
            <a:endParaRPr lang="en-US" sz="2100" dirty="0"/>
          </a:p>
        </p:txBody>
      </p:sp>
      <p:sp>
        <p:nvSpPr>
          <p:cNvPr id="5" name="Text 3"/>
          <p:cNvSpPr/>
          <p:nvPr/>
        </p:nvSpPr>
        <p:spPr>
          <a:xfrm>
            <a:off x="793790" y="4678442"/>
            <a:ext cx="3842028" cy="952619"/>
          </a:xfrm>
          <a:prstGeom prst="rect">
            <a:avLst/>
          </a:prstGeom>
          <a:noFill/>
          <a:ln/>
        </p:spPr>
        <p:txBody>
          <a:bodyPr wrap="square" lIns="0" tIns="0" rIns="0" bIns="0" rtlCol="0" anchor="t"/>
          <a:lstStyle/>
          <a:p>
            <a:pPr marL="0" indent="0" algn="r">
              <a:lnSpc>
                <a:spcPts val="2500"/>
              </a:lnSpc>
              <a:buNone/>
            </a:pPr>
            <a:r>
              <a:rPr lang="en-US" sz="1550" dirty="0">
                <a:solidFill>
                  <a:srgbClr val="272525"/>
                </a:solidFill>
                <a:latin typeface="Inter" pitchFamily="34" charset="0"/>
                <a:ea typeface="Inter" pitchFamily="34" charset="-122"/>
                <a:cs typeface="Inter" pitchFamily="34" charset="-120"/>
              </a:rPr>
              <a:t>负责根据用户输入的问题（Query），从知识库（Corpus）中高效地检索出最相关的文档片段。</a:t>
            </a:r>
            <a:endParaRPr lang="en-US" sz="1550" dirty="0"/>
          </a:p>
        </p:txBody>
      </p:sp>
      <p:pic>
        <p:nvPicPr>
          <p:cNvPr id="6" name="Image 0" descr="preencoded.png"/>
          <p:cNvPicPr>
            <a:picLocks noChangeAspect="1"/>
          </p:cNvPicPr>
          <p:nvPr/>
        </p:nvPicPr>
        <p:blipFill>
          <a:blip r:embed="rId3"/>
          <a:stretch>
            <a:fillRect/>
          </a:stretch>
        </p:blipFill>
        <p:spPr>
          <a:xfrm>
            <a:off x="5032653" y="2642235"/>
            <a:ext cx="4564975" cy="4564975"/>
          </a:xfrm>
          <a:prstGeom prst="rect">
            <a:avLst/>
          </a:prstGeom>
        </p:spPr>
      </p:pic>
      <p:sp>
        <p:nvSpPr>
          <p:cNvPr id="7" name="Text 4"/>
          <p:cNvSpPr/>
          <p:nvPr/>
        </p:nvSpPr>
        <p:spPr>
          <a:xfrm>
            <a:off x="5568851" y="4739104"/>
            <a:ext cx="296942" cy="371118"/>
          </a:xfrm>
          <a:prstGeom prst="rect">
            <a:avLst/>
          </a:prstGeom>
          <a:noFill/>
          <a:ln/>
        </p:spPr>
        <p:txBody>
          <a:bodyPr wrap="none" lIns="0" tIns="0" rIns="0" bIns="0" rtlCol="0" anchor="t"/>
          <a:lstStyle/>
          <a:p>
            <a:pPr marL="0" indent="0" algn="l">
              <a:lnSpc>
                <a:spcPts val="3700"/>
              </a:lnSpc>
              <a:buNone/>
            </a:pPr>
            <a:r>
              <a:rPr lang="en-US" sz="2300" b="1" dirty="0">
                <a:solidFill>
                  <a:srgbClr val="272525"/>
                </a:solidFill>
                <a:latin typeface="Petrona Bold" pitchFamily="34" charset="0"/>
                <a:ea typeface="Petrona Bold" pitchFamily="34" charset="-122"/>
                <a:cs typeface="Petrona Bold" pitchFamily="34" charset="-120"/>
              </a:rPr>
              <a:t>1</a:t>
            </a:r>
            <a:endParaRPr lang="en-US" sz="2300" dirty="0"/>
          </a:p>
        </p:txBody>
      </p:sp>
      <p:sp>
        <p:nvSpPr>
          <p:cNvPr id="8" name="Text 5"/>
          <p:cNvSpPr/>
          <p:nvPr/>
        </p:nvSpPr>
        <p:spPr>
          <a:xfrm>
            <a:off x="9895284" y="3082052"/>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知识库 (Corpus)</a:t>
            </a:r>
            <a:endParaRPr lang="en-US" sz="2100" dirty="0"/>
          </a:p>
        </p:txBody>
      </p:sp>
      <p:sp>
        <p:nvSpPr>
          <p:cNvPr id="9" name="Text 6"/>
          <p:cNvSpPr/>
          <p:nvPr/>
        </p:nvSpPr>
        <p:spPr>
          <a:xfrm>
            <a:off x="9895284" y="3542228"/>
            <a:ext cx="3941326"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一个存储海量信息的外部数据库，例如维基百科、专业论文、企业内部文档等。</a:t>
            </a:r>
            <a:endParaRPr lang="en-US" sz="1550" dirty="0"/>
          </a:p>
        </p:txBody>
      </p:sp>
      <p:pic>
        <p:nvPicPr>
          <p:cNvPr id="10" name="Image 1" descr="preencoded.png"/>
          <p:cNvPicPr>
            <a:picLocks noChangeAspect="1"/>
          </p:cNvPicPr>
          <p:nvPr/>
        </p:nvPicPr>
        <p:blipFill>
          <a:blip r:embed="rId4"/>
          <a:stretch>
            <a:fillRect/>
          </a:stretch>
        </p:blipFill>
        <p:spPr>
          <a:xfrm>
            <a:off x="5032653" y="2642235"/>
            <a:ext cx="4564975" cy="4564975"/>
          </a:xfrm>
          <a:prstGeom prst="rect">
            <a:avLst/>
          </a:prstGeom>
        </p:spPr>
      </p:pic>
      <p:sp>
        <p:nvSpPr>
          <p:cNvPr id="11" name="Text 7"/>
          <p:cNvSpPr/>
          <p:nvPr/>
        </p:nvSpPr>
        <p:spPr>
          <a:xfrm>
            <a:off x="7965460" y="3355479"/>
            <a:ext cx="296942" cy="371118"/>
          </a:xfrm>
          <a:prstGeom prst="rect">
            <a:avLst/>
          </a:prstGeom>
          <a:noFill/>
          <a:ln/>
        </p:spPr>
        <p:txBody>
          <a:bodyPr wrap="none" lIns="0" tIns="0" rIns="0" bIns="0" rtlCol="0" anchor="t"/>
          <a:lstStyle/>
          <a:p>
            <a:pPr marL="0" indent="0" algn="l">
              <a:lnSpc>
                <a:spcPts val="3700"/>
              </a:lnSpc>
              <a:buNone/>
            </a:pPr>
            <a:r>
              <a:rPr lang="en-US" sz="2300" b="1" dirty="0">
                <a:solidFill>
                  <a:srgbClr val="272525"/>
                </a:solidFill>
                <a:latin typeface="Petrona Bold" pitchFamily="34" charset="0"/>
                <a:ea typeface="Petrona Bold" pitchFamily="34" charset="-122"/>
                <a:cs typeface="Petrona Bold" pitchFamily="34" charset="-120"/>
              </a:rPr>
              <a:t>2</a:t>
            </a:r>
            <a:endParaRPr lang="en-US" sz="2300" dirty="0"/>
          </a:p>
        </p:txBody>
      </p:sp>
      <p:sp>
        <p:nvSpPr>
          <p:cNvPr id="12" name="Text 8"/>
          <p:cNvSpPr/>
          <p:nvPr/>
        </p:nvSpPr>
        <p:spPr>
          <a:xfrm>
            <a:off x="9895284" y="5354598"/>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生成器 (Generator)</a:t>
            </a:r>
            <a:endParaRPr lang="en-US" sz="2100" dirty="0"/>
          </a:p>
        </p:txBody>
      </p:sp>
      <p:sp>
        <p:nvSpPr>
          <p:cNvPr id="13" name="Text 9"/>
          <p:cNvSpPr/>
          <p:nvPr/>
        </p:nvSpPr>
        <p:spPr>
          <a:xfrm>
            <a:off x="9895284" y="5814774"/>
            <a:ext cx="394132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通常是一个大语言模型（LLM），它接收原始问题和检索器找回的相关文档，并基于这些信息生成最终的、更准确的答案。</a:t>
            </a:r>
            <a:endParaRPr lang="en-US" sz="1550" dirty="0"/>
          </a:p>
        </p:txBody>
      </p:sp>
      <p:pic>
        <p:nvPicPr>
          <p:cNvPr id="14" name="Image 2" descr="preencoded.png"/>
          <p:cNvPicPr>
            <a:picLocks noChangeAspect="1"/>
          </p:cNvPicPr>
          <p:nvPr/>
        </p:nvPicPr>
        <p:blipFill>
          <a:blip r:embed="rId5"/>
          <a:stretch>
            <a:fillRect/>
          </a:stretch>
        </p:blipFill>
        <p:spPr>
          <a:xfrm>
            <a:off x="5032653" y="2642235"/>
            <a:ext cx="4564975" cy="4564975"/>
          </a:xfrm>
          <a:prstGeom prst="rect">
            <a:avLst/>
          </a:prstGeom>
        </p:spPr>
      </p:pic>
      <p:sp>
        <p:nvSpPr>
          <p:cNvPr id="15" name="Text 10"/>
          <p:cNvSpPr/>
          <p:nvPr/>
        </p:nvSpPr>
        <p:spPr>
          <a:xfrm>
            <a:off x="7965460" y="6122730"/>
            <a:ext cx="296942" cy="371118"/>
          </a:xfrm>
          <a:prstGeom prst="rect">
            <a:avLst/>
          </a:prstGeom>
          <a:noFill/>
          <a:ln/>
        </p:spPr>
        <p:txBody>
          <a:bodyPr wrap="none" lIns="0" tIns="0" rIns="0" bIns="0" rtlCol="0" anchor="t"/>
          <a:lstStyle/>
          <a:p>
            <a:pPr marL="0" indent="0" algn="l">
              <a:lnSpc>
                <a:spcPts val="3700"/>
              </a:lnSpc>
              <a:buNone/>
            </a:pPr>
            <a:r>
              <a:rPr lang="en-US" sz="2300" b="1" dirty="0">
                <a:solidFill>
                  <a:srgbClr val="272525"/>
                </a:solidFill>
                <a:latin typeface="Petrona Bold" pitchFamily="34" charset="0"/>
                <a:ea typeface="Petrona Bold" pitchFamily="34" charset="-122"/>
                <a:cs typeface="Petrona Bold" pitchFamily="34" charset="-120"/>
              </a:rPr>
              <a:t>3</a:t>
            </a:r>
            <a:endParaRPr lang="en-US" sz="2300" dirty="0"/>
          </a:p>
        </p:txBody>
      </p:sp>
      <p:pic>
        <p:nvPicPr>
          <p:cNvPr id="17" name="图片 16">
            <a:extLst>
              <a:ext uri="{FF2B5EF4-FFF2-40B4-BE49-F238E27FC236}">
                <a16:creationId xmlns:a16="http://schemas.microsoft.com/office/drawing/2014/main" id="{95D710C2-C051-72B6-04C7-9AFF4E056311}"/>
              </a:ext>
            </a:extLst>
          </p:cNvPr>
          <p:cNvPicPr>
            <a:picLocks noChangeAspect="1"/>
          </p:cNvPicPr>
          <p:nvPr/>
        </p:nvPicPr>
        <p:blipFill>
          <a:blip r:embed="rId6"/>
          <a:srcRect l="2420" r="6178" b="4671"/>
          <a:stretch>
            <a:fillRect/>
          </a:stretch>
        </p:blipFill>
        <p:spPr>
          <a:xfrm>
            <a:off x="7503181" y="-118"/>
            <a:ext cx="6730265" cy="26422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298263"/>
            <a:ext cx="5457944"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RAG 的架构分类</a:t>
            </a:r>
            <a:endParaRPr lang="en-US" sz="4250" dirty="0"/>
          </a:p>
        </p:txBody>
      </p:sp>
      <p:sp>
        <p:nvSpPr>
          <p:cNvPr id="3" name="Text 1"/>
          <p:cNvSpPr/>
          <p:nvPr/>
        </p:nvSpPr>
        <p:spPr>
          <a:xfrm>
            <a:off x="793790" y="3377327"/>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RAG 架构可以根据是否能访问和修改大语言模型（白盒 vs. 黑盒）以及是否对组件进行微调，分为四大类。</a:t>
            </a:r>
            <a:endParaRPr lang="en-US" sz="1550" dirty="0"/>
          </a:p>
        </p:txBody>
      </p:sp>
      <p:sp>
        <p:nvSpPr>
          <p:cNvPr id="4" name="Shape 2"/>
          <p:cNvSpPr/>
          <p:nvPr/>
        </p:nvSpPr>
        <p:spPr>
          <a:xfrm>
            <a:off x="793790" y="3918109"/>
            <a:ext cx="6422231" cy="2013228"/>
          </a:xfrm>
          <a:prstGeom prst="roundRect">
            <a:avLst>
              <a:gd name="adj" fmla="val 4141"/>
            </a:avLst>
          </a:prstGeom>
          <a:solidFill>
            <a:srgbClr val="E0D7F4"/>
          </a:solidFill>
          <a:ln w="7620">
            <a:solidFill>
              <a:srgbClr val="C6BDDA"/>
            </a:solidFill>
            <a:prstDash val="solid"/>
          </a:ln>
        </p:spPr>
      </p:sp>
      <p:sp>
        <p:nvSpPr>
          <p:cNvPr id="5" name="Text 3"/>
          <p:cNvSpPr/>
          <p:nvPr/>
        </p:nvSpPr>
        <p:spPr>
          <a:xfrm>
            <a:off x="999768" y="4124087"/>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黑盒增强架构</a:t>
            </a:r>
            <a:endParaRPr lang="en-US" sz="2100" dirty="0"/>
          </a:p>
        </p:txBody>
      </p:sp>
      <p:sp>
        <p:nvSpPr>
          <p:cNvPr id="6" name="Text 4"/>
          <p:cNvSpPr/>
          <p:nvPr/>
        </p:nvSpPr>
        <p:spPr>
          <a:xfrm>
            <a:off x="999768" y="4584263"/>
            <a:ext cx="601027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大语言模型（LLM）的内部参数无法访问，只能通过API调用</a:t>
            </a:r>
            <a:endParaRPr lang="en-US" sz="1550" dirty="0"/>
          </a:p>
        </p:txBody>
      </p:sp>
      <p:sp>
        <p:nvSpPr>
          <p:cNvPr id="7" name="Text 5"/>
          <p:cNvSpPr/>
          <p:nvPr/>
        </p:nvSpPr>
        <p:spPr>
          <a:xfrm>
            <a:off x="999768" y="5020866"/>
            <a:ext cx="601027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无微调 (Training-Free)</a:t>
            </a:r>
            <a:endParaRPr lang="en-US" sz="1550" dirty="0"/>
          </a:p>
        </p:txBody>
      </p:sp>
      <p:sp>
        <p:nvSpPr>
          <p:cNvPr id="8" name="Text 6"/>
          <p:cNvSpPr/>
          <p:nvPr/>
        </p:nvSpPr>
        <p:spPr>
          <a:xfrm>
            <a:off x="999768" y="5407819"/>
            <a:ext cx="601027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检索器微调 (Retriever-Finetuning)</a:t>
            </a:r>
            <a:endParaRPr lang="en-US" sz="1550" dirty="0"/>
          </a:p>
        </p:txBody>
      </p:sp>
      <p:sp>
        <p:nvSpPr>
          <p:cNvPr id="9" name="Shape 7"/>
          <p:cNvSpPr/>
          <p:nvPr/>
        </p:nvSpPr>
        <p:spPr>
          <a:xfrm>
            <a:off x="7414379" y="3918109"/>
            <a:ext cx="6422231" cy="2013228"/>
          </a:xfrm>
          <a:prstGeom prst="roundRect">
            <a:avLst>
              <a:gd name="adj" fmla="val 4141"/>
            </a:avLst>
          </a:prstGeom>
          <a:solidFill>
            <a:srgbClr val="E0D7F4"/>
          </a:solidFill>
          <a:ln w="7620">
            <a:solidFill>
              <a:srgbClr val="C6BDDA"/>
            </a:solidFill>
            <a:prstDash val="solid"/>
          </a:ln>
        </p:spPr>
      </p:sp>
      <p:sp>
        <p:nvSpPr>
          <p:cNvPr id="10" name="Text 8"/>
          <p:cNvSpPr/>
          <p:nvPr/>
        </p:nvSpPr>
        <p:spPr>
          <a:xfrm>
            <a:off x="7620357" y="4124087"/>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白盒增强架构</a:t>
            </a:r>
            <a:endParaRPr lang="en-US" sz="2100" dirty="0"/>
          </a:p>
        </p:txBody>
      </p:sp>
      <p:sp>
        <p:nvSpPr>
          <p:cNvPr id="11" name="Text 9"/>
          <p:cNvSpPr/>
          <p:nvPr/>
        </p:nvSpPr>
        <p:spPr>
          <a:xfrm>
            <a:off x="7620357" y="4584263"/>
            <a:ext cx="601027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可以访问并修改大语言模型的内部参数</a:t>
            </a:r>
            <a:endParaRPr lang="en-US" sz="1550" dirty="0"/>
          </a:p>
        </p:txBody>
      </p:sp>
      <p:sp>
        <p:nvSpPr>
          <p:cNvPr id="12" name="Text 10"/>
          <p:cNvSpPr/>
          <p:nvPr/>
        </p:nvSpPr>
        <p:spPr>
          <a:xfrm>
            <a:off x="7620357" y="5020866"/>
            <a:ext cx="601027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仅微调语言模型 (LLM-Finetuning)</a:t>
            </a:r>
            <a:endParaRPr lang="en-US" sz="1550" dirty="0"/>
          </a:p>
        </p:txBody>
      </p:sp>
      <p:sp>
        <p:nvSpPr>
          <p:cNvPr id="13" name="Text 11"/>
          <p:cNvSpPr/>
          <p:nvPr/>
        </p:nvSpPr>
        <p:spPr>
          <a:xfrm>
            <a:off x="7620357" y="5407819"/>
            <a:ext cx="601027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协同微调 (Joint-Finetuning)</a:t>
            </a:r>
            <a:endParaRPr lang="en-US" sz="1550" dirty="0"/>
          </a:p>
        </p:txBody>
      </p:sp>
      <p:pic>
        <p:nvPicPr>
          <p:cNvPr id="15" name="图片 14">
            <a:extLst>
              <a:ext uri="{FF2B5EF4-FFF2-40B4-BE49-F238E27FC236}">
                <a16:creationId xmlns:a16="http://schemas.microsoft.com/office/drawing/2014/main" id="{8E488098-C75C-6595-BAD0-9E03EC002D44}"/>
              </a:ext>
            </a:extLst>
          </p:cNvPr>
          <p:cNvPicPr>
            <a:picLocks noChangeAspect="1"/>
          </p:cNvPicPr>
          <p:nvPr/>
        </p:nvPicPr>
        <p:blipFill>
          <a:blip r:embed="rId3"/>
          <a:srcRect b="3612"/>
          <a:stretch>
            <a:fillRect/>
          </a:stretch>
        </p:blipFill>
        <p:spPr>
          <a:xfrm>
            <a:off x="7532864" y="104237"/>
            <a:ext cx="6612981" cy="32730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859518"/>
            <a:ext cx="5457944"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黑盒增强架构详解</a:t>
            </a:r>
            <a:endParaRPr lang="en-US" sz="4250" dirty="0"/>
          </a:p>
        </p:txBody>
      </p:sp>
      <p:sp>
        <p:nvSpPr>
          <p:cNvPr id="3" name="Text 1"/>
          <p:cNvSpPr/>
          <p:nvPr/>
        </p:nvSpPr>
        <p:spPr>
          <a:xfrm>
            <a:off x="793790" y="2621042"/>
            <a:ext cx="4476155" cy="545663"/>
          </a:xfrm>
          <a:prstGeom prst="rect">
            <a:avLst/>
          </a:prstGeom>
          <a:noFill/>
          <a:ln/>
        </p:spPr>
        <p:txBody>
          <a:bodyPr wrap="none" lIns="0" tIns="0" rIns="0" bIns="0" rtlCol="0" anchor="t"/>
          <a:lstStyle/>
          <a:p>
            <a:pPr marL="0" indent="0" algn="l">
              <a:lnSpc>
                <a:spcPts val="4250"/>
              </a:lnSpc>
              <a:buNone/>
            </a:pPr>
            <a:r>
              <a:rPr lang="en-US" sz="3400" b="1" dirty="0">
                <a:solidFill>
                  <a:srgbClr val="F95F88"/>
                </a:solidFill>
                <a:latin typeface="Petrona Bold" pitchFamily="34" charset="0"/>
                <a:ea typeface="Petrona Bold" pitchFamily="34" charset="-122"/>
                <a:cs typeface="Petrona Bold" pitchFamily="34" charset="-120"/>
              </a:rPr>
              <a:t>无微调 (Training-Free)</a:t>
            </a:r>
            <a:endParaRPr lang="en-US" sz="3400" dirty="0"/>
          </a:p>
        </p:txBody>
      </p:sp>
      <p:sp>
        <p:nvSpPr>
          <p:cNvPr id="4" name="Text 2"/>
          <p:cNvSpPr/>
          <p:nvPr/>
        </p:nvSpPr>
        <p:spPr>
          <a:xfrm>
            <a:off x="793790" y="3464362"/>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检索器和语言模型都使用预训练好的版本，不进行任何参数更新，直接组合使用。</a:t>
            </a:r>
            <a:endParaRPr lang="en-US" sz="1550" dirty="0"/>
          </a:p>
        </p:txBody>
      </p:sp>
      <p:sp>
        <p:nvSpPr>
          <p:cNvPr id="5" name="Shape 3"/>
          <p:cNvSpPr/>
          <p:nvPr/>
        </p:nvSpPr>
        <p:spPr>
          <a:xfrm>
            <a:off x="793790" y="4005143"/>
            <a:ext cx="13042821" cy="2364938"/>
          </a:xfrm>
          <a:prstGeom prst="roundRect">
            <a:avLst>
              <a:gd name="adj" fmla="val 3525"/>
            </a:avLst>
          </a:prstGeom>
          <a:solidFill>
            <a:srgbClr val="D0C3EE"/>
          </a:solidFill>
          <a:ln/>
        </p:spPr>
      </p:sp>
      <p:pic>
        <p:nvPicPr>
          <p:cNvPr id="6" name="Image 0" descr="preencoded.png"/>
          <p:cNvPicPr>
            <a:picLocks noChangeAspect="1"/>
          </p:cNvPicPr>
          <p:nvPr/>
        </p:nvPicPr>
        <p:blipFill>
          <a:blip r:embed="rId3"/>
          <a:stretch>
            <a:fillRect/>
          </a:stretch>
        </p:blipFill>
        <p:spPr>
          <a:xfrm>
            <a:off x="992148" y="4258032"/>
            <a:ext cx="341114" cy="272891"/>
          </a:xfrm>
          <a:prstGeom prst="rect">
            <a:avLst/>
          </a:prstGeom>
        </p:spPr>
      </p:pic>
      <p:sp>
        <p:nvSpPr>
          <p:cNvPr id="7" name="Text 4"/>
          <p:cNvSpPr/>
          <p:nvPr/>
        </p:nvSpPr>
        <p:spPr>
          <a:xfrm>
            <a:off x="1531620" y="4253032"/>
            <a:ext cx="3549610" cy="341114"/>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Petrona Bold" pitchFamily="34" charset="0"/>
                <a:ea typeface="Petrona Bold" pitchFamily="34" charset="-122"/>
                <a:cs typeface="Petrona Bold" pitchFamily="34" charset="-120"/>
              </a:rPr>
              <a:t>代表方法：In-Context RALM</a:t>
            </a:r>
            <a:endParaRPr lang="en-US" sz="2100" dirty="0"/>
          </a:p>
        </p:txBody>
      </p:sp>
      <p:sp>
        <p:nvSpPr>
          <p:cNvPr id="8" name="Text 5"/>
          <p:cNvSpPr/>
          <p:nvPr/>
        </p:nvSpPr>
        <p:spPr>
          <a:xfrm>
            <a:off x="1531620" y="4792504"/>
            <a:ext cx="12106632"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000000"/>
                </a:solidFill>
                <a:latin typeface="Inter" pitchFamily="34" charset="0"/>
                <a:ea typeface="Inter" pitchFamily="34" charset="-122"/>
                <a:cs typeface="Inter" pitchFamily="34" charset="-120"/>
              </a:rPr>
              <a:t>检索阶段</a:t>
            </a:r>
            <a:r>
              <a:rPr lang="en-US" sz="1550" dirty="0">
                <a:solidFill>
                  <a:srgbClr val="000000"/>
                </a:solidFill>
                <a:latin typeface="Inter" pitchFamily="34" charset="0"/>
                <a:ea typeface="Inter" pitchFamily="34" charset="-122"/>
                <a:cs typeface="Inter" pitchFamily="34" charset="-120"/>
              </a:rPr>
              <a:t>：将用户问题作为查询，从知识库中检索相关文档。</a:t>
            </a:r>
            <a:endParaRPr lang="en-US" sz="1550" dirty="0"/>
          </a:p>
        </p:txBody>
      </p:sp>
      <p:sp>
        <p:nvSpPr>
          <p:cNvPr id="9" name="Text 6"/>
          <p:cNvSpPr/>
          <p:nvPr/>
        </p:nvSpPr>
        <p:spPr>
          <a:xfrm>
            <a:off x="1531620" y="5179457"/>
            <a:ext cx="12106632"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000000"/>
                </a:solidFill>
                <a:latin typeface="Inter" pitchFamily="34" charset="0"/>
                <a:ea typeface="Inter" pitchFamily="34" charset="-122"/>
                <a:cs typeface="Inter" pitchFamily="34" charset="-120"/>
              </a:rPr>
              <a:t>生成阶段</a:t>
            </a:r>
            <a:r>
              <a:rPr lang="en-US" sz="1550" dirty="0">
                <a:solidFill>
                  <a:srgbClr val="000000"/>
                </a:solidFill>
                <a:latin typeface="Inter" pitchFamily="34" charset="0"/>
                <a:ea typeface="Inter" pitchFamily="34" charset="-122"/>
                <a:cs typeface="Inter" pitchFamily="34" charset="-120"/>
              </a:rPr>
              <a:t>：将检索到的文档直接拼接到 Prompt 的上下文（Context）部分，然后将这个增强后的 Prompt 输入给大语言模型，引导其生成答案。</a:t>
            </a:r>
            <a:endParaRPr lang="en-US" sz="1550" dirty="0"/>
          </a:p>
        </p:txBody>
      </p:sp>
      <p:sp>
        <p:nvSpPr>
          <p:cNvPr id="10" name="Text 7"/>
          <p:cNvSpPr/>
          <p:nvPr/>
        </p:nvSpPr>
        <p:spPr>
          <a:xfrm>
            <a:off x="1531620" y="5883950"/>
            <a:ext cx="12106632"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000000"/>
                </a:solidFill>
                <a:latin typeface="Inter" pitchFamily="34" charset="0"/>
                <a:ea typeface="Inter" pitchFamily="34" charset="-122"/>
                <a:cs typeface="Inter" pitchFamily="34" charset="-120"/>
              </a:rPr>
              <a:t>关键参数</a:t>
            </a:r>
            <a:r>
              <a:rPr lang="en-US" sz="1550" dirty="0">
                <a:solidFill>
                  <a:srgbClr val="000000"/>
                </a:solidFill>
                <a:latin typeface="Inter" pitchFamily="34" charset="0"/>
                <a:ea typeface="Inter" pitchFamily="34" charset="-122"/>
                <a:cs typeface="Inter" pitchFamily="34" charset="-120"/>
              </a:rPr>
              <a:t>：需要仔细设计检索步长（每生成多少个词进行一次检索）和检索查询长度等，以平衡响应速度和信息即时性。</a:t>
            </a:r>
            <a:endParaRPr lang="en-US" sz="1550" dirty="0"/>
          </a:p>
        </p:txBody>
      </p:sp>
      <p:pic>
        <p:nvPicPr>
          <p:cNvPr id="12" name="图片 11">
            <a:extLst>
              <a:ext uri="{FF2B5EF4-FFF2-40B4-BE49-F238E27FC236}">
                <a16:creationId xmlns:a16="http://schemas.microsoft.com/office/drawing/2014/main" id="{BC8469B4-A8D8-11AD-D90C-DD8669A61BB4}"/>
              </a:ext>
            </a:extLst>
          </p:cNvPr>
          <p:cNvPicPr>
            <a:picLocks noChangeAspect="1"/>
          </p:cNvPicPr>
          <p:nvPr/>
        </p:nvPicPr>
        <p:blipFill>
          <a:blip r:embed="rId4"/>
          <a:stretch>
            <a:fillRect/>
          </a:stretch>
        </p:blipFill>
        <p:spPr>
          <a:xfrm>
            <a:off x="5993542" y="760536"/>
            <a:ext cx="7739005" cy="25224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0406" y="1502628"/>
            <a:ext cx="8514040"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检索器微调 (Retriever-Finetuning)</a:t>
            </a:r>
            <a:endParaRPr lang="en-US" sz="4250" dirty="0"/>
          </a:p>
        </p:txBody>
      </p:sp>
      <p:sp>
        <p:nvSpPr>
          <p:cNvPr id="3" name="Text 1"/>
          <p:cNvSpPr/>
          <p:nvPr/>
        </p:nvSpPr>
        <p:spPr>
          <a:xfrm>
            <a:off x="793790" y="2451497"/>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保持大语言模型参数不变，仅用其输出作为信号来指导和微调检索器。</a:t>
            </a:r>
            <a:endParaRPr lang="en-US" sz="1550" dirty="0"/>
          </a:p>
        </p:txBody>
      </p:sp>
      <p:sp>
        <p:nvSpPr>
          <p:cNvPr id="4" name="Text 2"/>
          <p:cNvSpPr/>
          <p:nvPr/>
        </p:nvSpPr>
        <p:spPr>
          <a:xfrm>
            <a:off x="793790" y="3190637"/>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代表方法：REPLUG</a:t>
            </a:r>
            <a:endParaRPr lang="en-US" sz="2100" dirty="0"/>
          </a:p>
        </p:txBody>
      </p:sp>
      <p:sp>
        <p:nvSpPr>
          <p:cNvPr id="5" name="Text 3"/>
          <p:cNvSpPr/>
          <p:nvPr/>
        </p:nvSpPr>
        <p:spPr>
          <a:xfrm>
            <a:off x="793790" y="3730109"/>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它使用大语言模型的</a:t>
            </a:r>
            <a:r>
              <a:rPr lang="en-US" sz="1550" b="1" dirty="0">
                <a:solidFill>
                  <a:srgbClr val="272525"/>
                </a:solidFill>
                <a:latin typeface="Inter" pitchFamily="34" charset="0"/>
                <a:ea typeface="Inter" pitchFamily="34" charset="-122"/>
                <a:cs typeface="Inter" pitchFamily="34" charset="-120"/>
              </a:rPr>
              <a:t>困惑度 (Perplexity)</a:t>
            </a:r>
            <a:r>
              <a:rPr lang="en-US" sz="1550" dirty="0">
                <a:solidFill>
                  <a:srgbClr val="272525"/>
                </a:solidFill>
                <a:latin typeface="Inter" pitchFamily="34" charset="0"/>
                <a:ea typeface="Inter" pitchFamily="34" charset="-122"/>
                <a:cs typeface="Inter" pitchFamily="34" charset="-120"/>
              </a:rPr>
              <a:t> 分数作为监督信号来微调检索器。目标是让检索器能够更有效地找出那些能显著降低语言模型困惑度的文档。</a:t>
            </a:r>
            <a:endParaRPr lang="en-US" sz="1550" dirty="0"/>
          </a:p>
        </p:txBody>
      </p:sp>
      <p:sp>
        <p:nvSpPr>
          <p:cNvPr id="6" name="Text 4"/>
          <p:cNvSpPr/>
          <p:nvPr/>
        </p:nvSpPr>
        <p:spPr>
          <a:xfrm>
            <a:off x="793790" y="4861322"/>
            <a:ext cx="6279356" cy="952619"/>
          </a:xfrm>
          <a:prstGeom prst="rect">
            <a:avLst/>
          </a:prstGeom>
          <a:noFill/>
          <a:ln/>
        </p:spPr>
        <p:txBody>
          <a:bodyPr wrap="squar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困惑度 (Perplexity)</a:t>
            </a:r>
            <a:r>
              <a:rPr lang="en-US" sz="1550" dirty="0">
                <a:solidFill>
                  <a:srgbClr val="272525"/>
                </a:solidFill>
                <a:latin typeface="Inter" pitchFamily="34" charset="0"/>
                <a:ea typeface="Inter" pitchFamily="34" charset="-122"/>
                <a:cs typeface="Inter" pitchFamily="34" charset="-120"/>
              </a:rPr>
              <a:t>：衡量语言模型对其预测结果的不确定性。一个好的语言模型对于它应该生成的句子会感到"胸有成竹"，因此困惑度较低。其数学定义是测试集上每个词的平均负对数似然的指数</a:t>
            </a:r>
            <a:endParaRPr lang="en-US" sz="1550" dirty="0"/>
          </a:p>
        </p:txBody>
      </p:sp>
      <p:sp>
        <p:nvSpPr>
          <p:cNvPr id="7" name="Text 5"/>
          <p:cNvSpPr/>
          <p:nvPr/>
        </p:nvSpPr>
        <p:spPr>
          <a:xfrm>
            <a:off x="7564874" y="3170873"/>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微调过程中采用 </a:t>
            </a:r>
            <a:r>
              <a:rPr lang="en-US" sz="1550" b="1" dirty="0">
                <a:solidFill>
                  <a:srgbClr val="272525"/>
                </a:solidFill>
                <a:latin typeface="Inter" pitchFamily="34" charset="0"/>
                <a:ea typeface="Inter" pitchFamily="34" charset="-122"/>
                <a:cs typeface="Inter" pitchFamily="34" charset="-120"/>
              </a:rPr>
              <a:t>KL 散度 (Kullback-Leibler Divergence)</a:t>
            </a:r>
            <a:r>
              <a:rPr lang="en-US" sz="1550" dirty="0">
                <a:solidFill>
                  <a:srgbClr val="272525"/>
                </a:solidFill>
                <a:latin typeface="Inter" pitchFamily="34" charset="0"/>
                <a:ea typeface="Inter" pitchFamily="34" charset="-122"/>
                <a:cs typeface="Inter" pitchFamily="34" charset="-120"/>
              </a:rPr>
              <a:t> 损失函数来训练检索器，目的是对齐两个概率分布：</a:t>
            </a:r>
            <a:endParaRPr lang="en-US" sz="1550" dirty="0"/>
          </a:p>
        </p:txBody>
      </p:sp>
      <p:sp>
        <p:nvSpPr>
          <p:cNvPr id="8" name="Text 6"/>
          <p:cNvSpPr/>
          <p:nvPr/>
        </p:nvSpPr>
        <p:spPr>
          <a:xfrm>
            <a:off x="7564874" y="3984546"/>
            <a:ext cx="6279356" cy="635079"/>
          </a:xfrm>
          <a:prstGeom prst="rect">
            <a:avLst/>
          </a:prstGeom>
          <a:noFill/>
          <a:ln/>
        </p:spPr>
        <p:txBody>
          <a:bodyPr wrap="square" lIns="0" tIns="0" rIns="0" bIns="0" rtlCol="0" anchor="t"/>
          <a:lstStyle/>
          <a:p>
            <a:pPr marL="342900" indent="-342900" algn="l">
              <a:lnSpc>
                <a:spcPts val="2500"/>
              </a:lnSpc>
              <a:buSzPct val="100000"/>
              <a:buFont typeface="+mj-lt"/>
              <a:buAutoNum type="arabicPeriod"/>
            </a:pPr>
            <a:r>
              <a:rPr lang="en-US" sz="1550" b="1" dirty="0">
                <a:solidFill>
                  <a:srgbClr val="272525"/>
                </a:solidFill>
                <a:latin typeface="Inter" pitchFamily="34" charset="0"/>
                <a:ea typeface="Inter" pitchFamily="34" charset="-122"/>
                <a:cs typeface="Inter" pitchFamily="34" charset="-120"/>
              </a:rPr>
              <a:t>检索器输出的文档分布</a:t>
            </a:r>
            <a:r>
              <a:rPr lang="en-US" sz="1550" dirty="0">
                <a:solidFill>
                  <a:srgbClr val="272525"/>
                </a:solidFill>
                <a:latin typeface="Inter" pitchFamily="34" charset="0"/>
                <a:ea typeface="Inter" pitchFamily="34" charset="-122"/>
                <a:cs typeface="Inter" pitchFamily="34" charset="-120"/>
              </a:rPr>
              <a:t>：基于查询与文档相似度（如余弦相似度）计算出的概率分布。</a:t>
            </a:r>
            <a:endParaRPr lang="en-US" sz="1550" dirty="0"/>
          </a:p>
        </p:txBody>
      </p:sp>
      <p:sp>
        <p:nvSpPr>
          <p:cNvPr id="9" name="Text 7"/>
          <p:cNvSpPr/>
          <p:nvPr/>
        </p:nvSpPr>
        <p:spPr>
          <a:xfrm>
            <a:off x="7564874" y="4689038"/>
            <a:ext cx="6279356" cy="635079"/>
          </a:xfrm>
          <a:prstGeom prst="rect">
            <a:avLst/>
          </a:prstGeom>
          <a:noFill/>
          <a:ln/>
        </p:spPr>
        <p:txBody>
          <a:bodyPr wrap="square" lIns="0" tIns="0" rIns="0" bIns="0" rtlCol="0" anchor="t"/>
          <a:lstStyle/>
          <a:p>
            <a:pPr marL="342900" indent="-342900" algn="l">
              <a:lnSpc>
                <a:spcPts val="2500"/>
              </a:lnSpc>
              <a:buSzPct val="100000"/>
              <a:buFont typeface="+mj-lt"/>
              <a:buAutoNum type="arabicPeriod" startAt="2"/>
            </a:pPr>
            <a:r>
              <a:rPr lang="en-US" sz="1550" b="1" dirty="0">
                <a:solidFill>
                  <a:srgbClr val="272525"/>
                </a:solidFill>
                <a:latin typeface="Inter" pitchFamily="34" charset="0"/>
                <a:ea typeface="Inter" pitchFamily="34" charset="-122"/>
                <a:cs typeface="Inter" pitchFamily="34" charset="-120"/>
              </a:rPr>
              <a:t>文档对 LLM 的贡献分布</a:t>
            </a:r>
            <a:r>
              <a:rPr lang="en-US" sz="1550" dirty="0">
                <a:solidFill>
                  <a:srgbClr val="272525"/>
                </a:solidFill>
                <a:latin typeface="Inter" pitchFamily="34" charset="0"/>
                <a:ea typeface="Inter" pitchFamily="34" charset="-122"/>
                <a:cs typeface="Inter" pitchFamily="34" charset="-120"/>
              </a:rPr>
              <a:t>：如果某个文档能显著降低 LLM 的困惑度，那么它在这个分布中的概率权重就更高。</a:t>
            </a:r>
            <a:endParaRPr lang="en-US" sz="1550" dirty="0"/>
          </a:p>
        </p:txBody>
      </p:sp>
      <p:sp>
        <p:nvSpPr>
          <p:cNvPr id="10" name="Text 8"/>
          <p:cNvSpPr/>
          <p:nvPr/>
        </p:nvSpPr>
        <p:spPr>
          <a:xfrm>
            <a:off x="7564874" y="5502712"/>
            <a:ext cx="6279356" cy="635079"/>
          </a:xfrm>
          <a:prstGeom prst="rect">
            <a:avLst/>
          </a:prstGeom>
          <a:noFill/>
          <a:ln/>
        </p:spPr>
        <p:txBody>
          <a:bodyPr wrap="squar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KL 散度</a:t>
            </a:r>
            <a:r>
              <a:rPr lang="en-US" sz="1550" dirty="0">
                <a:solidFill>
                  <a:srgbClr val="272525"/>
                </a:solidFill>
                <a:latin typeface="Inter" pitchFamily="34" charset="0"/>
                <a:ea typeface="Inter" pitchFamily="34" charset="-122"/>
                <a:cs typeface="Inter" pitchFamily="34" charset="-120"/>
              </a:rPr>
              <a:t>：衡量两个概率分布之间差异的指标。当两个分布相同时，KL 散度为0。</a:t>
            </a:r>
            <a:endParaRPr lang="en-US" sz="1550" dirty="0"/>
          </a:p>
        </p:txBody>
      </p:sp>
      <p:sp>
        <p:nvSpPr>
          <p:cNvPr id="11" name="Text 9"/>
          <p:cNvSpPr/>
          <p:nvPr/>
        </p:nvSpPr>
        <p:spPr>
          <a:xfrm>
            <a:off x="793790" y="6539627"/>
            <a:ext cx="13042821"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其他方法：AAR</a:t>
            </a:r>
            <a:r>
              <a:rPr lang="en-US" sz="1550" dirty="0">
                <a:solidFill>
                  <a:srgbClr val="272525"/>
                </a:solidFill>
                <a:latin typeface="Inter" pitchFamily="34" charset="0"/>
                <a:ea typeface="Inter" pitchFamily="34" charset="-122"/>
                <a:cs typeface="Inter" pitchFamily="34" charset="-120"/>
              </a:rPr>
              <a:t> - 引入一个额外的小型语言模型，利用其交叉注意力得分来标注出对生成更有帮助的"偏好文档"，并以此为依据来微调检索器。</a:t>
            </a:r>
            <a:endParaRPr lang="en-US" sz="1550" dirty="0"/>
          </a:p>
        </p:txBody>
      </p:sp>
      <p:pic>
        <p:nvPicPr>
          <p:cNvPr id="13" name="图片 12">
            <a:extLst>
              <a:ext uri="{FF2B5EF4-FFF2-40B4-BE49-F238E27FC236}">
                <a16:creationId xmlns:a16="http://schemas.microsoft.com/office/drawing/2014/main" id="{7805EA87-08AD-2A56-BF7E-5EB0D6620057}"/>
              </a:ext>
            </a:extLst>
          </p:cNvPr>
          <p:cNvPicPr>
            <a:picLocks noChangeAspect="1"/>
          </p:cNvPicPr>
          <p:nvPr/>
        </p:nvPicPr>
        <p:blipFill>
          <a:blip r:embed="rId3"/>
          <a:stretch>
            <a:fillRect/>
          </a:stretch>
        </p:blipFill>
        <p:spPr>
          <a:xfrm>
            <a:off x="8526291" y="688643"/>
            <a:ext cx="6221046" cy="22073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591389"/>
            <a:ext cx="5457944"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白盒增强架构详解</a:t>
            </a:r>
            <a:endParaRPr lang="en-US" sz="4250" dirty="0"/>
          </a:p>
        </p:txBody>
      </p:sp>
      <p:sp>
        <p:nvSpPr>
          <p:cNvPr id="3" name="Text 1"/>
          <p:cNvSpPr/>
          <p:nvPr/>
        </p:nvSpPr>
        <p:spPr>
          <a:xfrm>
            <a:off x="793790" y="2670453"/>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在此架构中，我们可以访问并修改大语言模型的内部参数。</a:t>
            </a:r>
            <a:endParaRPr lang="en-US" sz="1550" dirty="0"/>
          </a:p>
        </p:txBody>
      </p:sp>
      <p:pic>
        <p:nvPicPr>
          <p:cNvPr id="4" name="Image 0" descr="preencoded.png"/>
          <p:cNvPicPr>
            <a:picLocks noChangeAspect="1"/>
          </p:cNvPicPr>
          <p:nvPr/>
        </p:nvPicPr>
        <p:blipFill>
          <a:blip r:embed="rId3"/>
          <a:stretch>
            <a:fillRect/>
          </a:stretch>
        </p:blipFill>
        <p:spPr>
          <a:xfrm>
            <a:off x="793790" y="3211235"/>
            <a:ext cx="6521410" cy="793790"/>
          </a:xfrm>
          <a:prstGeom prst="rect">
            <a:avLst/>
          </a:prstGeom>
        </p:spPr>
      </p:pic>
      <p:sp>
        <p:nvSpPr>
          <p:cNvPr id="5" name="Text 2"/>
          <p:cNvSpPr/>
          <p:nvPr/>
        </p:nvSpPr>
        <p:spPr>
          <a:xfrm>
            <a:off x="992148" y="4203383"/>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仅微调语言模型</a:t>
            </a:r>
            <a:endParaRPr lang="en-US" sz="2100" dirty="0"/>
          </a:p>
        </p:txBody>
      </p:sp>
      <p:sp>
        <p:nvSpPr>
          <p:cNvPr id="6" name="Text 3"/>
          <p:cNvSpPr/>
          <p:nvPr/>
        </p:nvSpPr>
        <p:spPr>
          <a:xfrm>
            <a:off x="992148" y="4663559"/>
            <a:ext cx="6124694"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检索器参数保持不变，大语言模型根据检索器提供的上下文信息对自身参数进行微调。</a:t>
            </a:r>
            <a:endParaRPr lang="en-US" sz="1550" dirty="0"/>
          </a:p>
        </p:txBody>
      </p:sp>
      <p:sp>
        <p:nvSpPr>
          <p:cNvPr id="7" name="Text 4"/>
          <p:cNvSpPr/>
          <p:nvPr/>
        </p:nvSpPr>
        <p:spPr>
          <a:xfrm>
            <a:off x="992148" y="5417701"/>
            <a:ext cx="6124694"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RETRO</a:t>
            </a:r>
            <a:r>
              <a:rPr lang="en-US" sz="1550" dirty="0">
                <a:solidFill>
                  <a:srgbClr val="272525"/>
                </a:solidFill>
                <a:latin typeface="Inter" pitchFamily="34" charset="0"/>
                <a:ea typeface="Inter" pitchFamily="34" charset="-122"/>
                <a:cs typeface="Inter" pitchFamily="34" charset="-120"/>
              </a:rPr>
              <a:t>：通过修改语言模型的网络结构，使其在微调时能将检索到的文本直接融入模型的中间层状态</a:t>
            </a:r>
            <a:endParaRPr lang="en-US" sz="1550" dirty="0"/>
          </a:p>
        </p:txBody>
      </p:sp>
      <p:sp>
        <p:nvSpPr>
          <p:cNvPr id="8" name="Text 5"/>
          <p:cNvSpPr/>
          <p:nvPr/>
        </p:nvSpPr>
        <p:spPr>
          <a:xfrm>
            <a:off x="992148" y="6122194"/>
            <a:ext cx="6124694"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SELF-RAG</a:t>
            </a:r>
            <a:r>
              <a:rPr lang="en-US" sz="1550" dirty="0">
                <a:solidFill>
                  <a:srgbClr val="272525"/>
                </a:solidFill>
                <a:latin typeface="Inter" pitchFamily="34" charset="0"/>
                <a:ea typeface="Inter" pitchFamily="34" charset="-122"/>
                <a:cs typeface="Inter" pitchFamily="34" charset="-120"/>
              </a:rPr>
              <a:t>：通过引入特殊的"反思"Token来微调语言模型</a:t>
            </a:r>
            <a:endParaRPr lang="en-US" sz="1550" dirty="0"/>
          </a:p>
        </p:txBody>
      </p:sp>
      <p:pic>
        <p:nvPicPr>
          <p:cNvPr id="9" name="Image 1" descr="preencoded.png"/>
          <p:cNvPicPr>
            <a:picLocks noChangeAspect="1"/>
          </p:cNvPicPr>
          <p:nvPr/>
        </p:nvPicPr>
        <p:blipFill>
          <a:blip r:embed="rId4"/>
          <a:stretch>
            <a:fillRect/>
          </a:stretch>
        </p:blipFill>
        <p:spPr>
          <a:xfrm>
            <a:off x="7315200" y="3211235"/>
            <a:ext cx="6521410" cy="793790"/>
          </a:xfrm>
          <a:prstGeom prst="rect">
            <a:avLst/>
          </a:prstGeom>
        </p:spPr>
      </p:pic>
      <p:sp>
        <p:nvSpPr>
          <p:cNvPr id="10" name="Text 6"/>
          <p:cNvSpPr/>
          <p:nvPr/>
        </p:nvSpPr>
        <p:spPr>
          <a:xfrm>
            <a:off x="7513558" y="4203383"/>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协同微调</a:t>
            </a:r>
            <a:endParaRPr lang="en-US" sz="2100" dirty="0"/>
          </a:p>
        </p:txBody>
      </p:sp>
      <p:sp>
        <p:nvSpPr>
          <p:cNvPr id="11" name="Text 7"/>
          <p:cNvSpPr/>
          <p:nvPr/>
        </p:nvSpPr>
        <p:spPr>
          <a:xfrm>
            <a:off x="7513558" y="4663559"/>
            <a:ext cx="6124694"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检索器和语言模型的参数同步进行训练和更新，实现端到端的优化。</a:t>
            </a:r>
            <a:endParaRPr lang="en-US" sz="1550" dirty="0"/>
          </a:p>
        </p:txBody>
      </p:sp>
      <p:sp>
        <p:nvSpPr>
          <p:cNvPr id="12" name="Text 8"/>
          <p:cNvSpPr/>
          <p:nvPr/>
        </p:nvSpPr>
        <p:spPr>
          <a:xfrm>
            <a:off x="7513558" y="5100161"/>
            <a:ext cx="6124694"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Atlas</a:t>
            </a:r>
            <a:r>
              <a:rPr lang="en-US" sz="1550" dirty="0">
                <a:solidFill>
                  <a:srgbClr val="272525"/>
                </a:solidFill>
                <a:latin typeface="Inter" pitchFamily="34" charset="0"/>
                <a:ea typeface="Inter" pitchFamily="34" charset="-122"/>
                <a:cs typeface="Inter" pitchFamily="34" charset="-120"/>
              </a:rPr>
              <a:t>：与 REPLUG 类似，也使用 KL 散度作为损失函数，但在预训练和微调的整个过程中，检索器和语言模型的参数被同步更新</a:t>
            </a:r>
            <a:endParaRPr lang="en-US" sz="1550" dirty="0"/>
          </a:p>
        </p:txBody>
      </p:sp>
      <p:pic>
        <p:nvPicPr>
          <p:cNvPr id="14" name="图片 13">
            <a:extLst>
              <a:ext uri="{FF2B5EF4-FFF2-40B4-BE49-F238E27FC236}">
                <a16:creationId xmlns:a16="http://schemas.microsoft.com/office/drawing/2014/main" id="{B30B5F24-373B-3846-4448-DB9E86B1BB88}"/>
              </a:ext>
            </a:extLst>
          </p:cNvPr>
          <p:cNvPicPr>
            <a:picLocks noChangeAspect="1"/>
          </p:cNvPicPr>
          <p:nvPr/>
        </p:nvPicPr>
        <p:blipFill>
          <a:blip r:embed="rId5"/>
          <a:stretch>
            <a:fillRect/>
          </a:stretch>
        </p:blipFill>
        <p:spPr>
          <a:xfrm>
            <a:off x="6635260" y="553284"/>
            <a:ext cx="6379429" cy="2448078"/>
          </a:xfrm>
          <a:prstGeom prst="rect">
            <a:avLst/>
          </a:prstGeom>
        </p:spPr>
      </p:pic>
      <p:pic>
        <p:nvPicPr>
          <p:cNvPr id="16" name="图片 15">
            <a:extLst>
              <a:ext uri="{FF2B5EF4-FFF2-40B4-BE49-F238E27FC236}">
                <a16:creationId xmlns:a16="http://schemas.microsoft.com/office/drawing/2014/main" id="{E6D07666-51BF-525B-29BF-2B5574A0FE30}"/>
              </a:ext>
            </a:extLst>
          </p:cNvPr>
          <p:cNvPicPr>
            <a:picLocks noChangeAspect="1"/>
          </p:cNvPicPr>
          <p:nvPr/>
        </p:nvPicPr>
        <p:blipFill>
          <a:blip r:embed="rId6"/>
          <a:stretch>
            <a:fillRect/>
          </a:stretch>
        </p:blipFill>
        <p:spPr>
          <a:xfrm>
            <a:off x="7513558" y="5854302"/>
            <a:ext cx="5791200" cy="21803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6AF444CE-3B67-D25F-EADB-7F84C15CE81A}"/>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图片 3">
            <a:extLst>
              <a:ext uri="{FF2B5EF4-FFF2-40B4-BE49-F238E27FC236}">
                <a16:creationId xmlns:a16="http://schemas.microsoft.com/office/drawing/2014/main" id="{F92ADA40-921D-ADA7-364F-006B28D3E8B0}"/>
              </a:ext>
            </a:extLst>
          </p:cNvPr>
          <p:cNvPicPr>
            <a:picLocks noChangeAspect="1"/>
          </p:cNvPicPr>
          <p:nvPr/>
        </p:nvPicPr>
        <p:blipFill>
          <a:blip r:embed="rId2"/>
          <a:stretch>
            <a:fillRect/>
          </a:stretch>
        </p:blipFill>
        <p:spPr>
          <a:xfrm>
            <a:off x="867567" y="1066800"/>
            <a:ext cx="12590466" cy="5375160"/>
          </a:xfrm>
          <a:prstGeom prst="rect">
            <a:avLst/>
          </a:prstGeom>
        </p:spPr>
      </p:pic>
    </p:spTree>
    <p:extLst>
      <p:ext uri="{BB962C8B-B14F-4D97-AF65-F5344CB8AC3E}">
        <p14:creationId xmlns:p14="http://schemas.microsoft.com/office/powerpoint/2010/main" val="2022293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882616"/>
            <a:ext cx="10632281"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知识库构建 (Knowledge Base Construction)</a:t>
            </a:r>
            <a:endParaRPr lang="en-US" sz="4250" dirty="0"/>
          </a:p>
        </p:txBody>
      </p:sp>
      <p:sp>
        <p:nvSpPr>
          <p:cNvPr id="3" name="Text 1"/>
          <p:cNvSpPr/>
          <p:nvPr/>
        </p:nvSpPr>
        <p:spPr>
          <a:xfrm>
            <a:off x="793790" y="2961680"/>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构建高质量的知识库是 RAG 系统成功的基石。</a:t>
            </a:r>
            <a:endParaRPr lang="en-US" sz="1550" dirty="0"/>
          </a:p>
        </p:txBody>
      </p:sp>
      <p:sp>
        <p:nvSpPr>
          <p:cNvPr id="4" name="Text 2"/>
          <p:cNvSpPr/>
          <p:nvPr/>
        </p:nvSpPr>
        <p:spPr>
          <a:xfrm>
            <a:off x="793790" y="3502462"/>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Petrona Light" pitchFamily="34" charset="0"/>
                <a:ea typeface="Petrona Light" pitchFamily="34" charset="-122"/>
                <a:cs typeface="Petrona Light" pitchFamily="34" charset="-120"/>
              </a:rPr>
              <a:t>01</a:t>
            </a:r>
            <a:endParaRPr lang="en-US" sz="1550" dirty="0"/>
          </a:p>
        </p:txBody>
      </p:sp>
      <p:sp>
        <p:nvSpPr>
          <p:cNvPr id="5" name="Shape 3"/>
          <p:cNvSpPr/>
          <p:nvPr/>
        </p:nvSpPr>
        <p:spPr>
          <a:xfrm>
            <a:off x="793790" y="3816787"/>
            <a:ext cx="6422231" cy="22860"/>
          </a:xfrm>
          <a:prstGeom prst="rect">
            <a:avLst/>
          </a:prstGeom>
          <a:solidFill>
            <a:srgbClr val="6237C8"/>
          </a:solidFill>
          <a:ln/>
        </p:spPr>
      </p:sp>
      <p:sp>
        <p:nvSpPr>
          <p:cNvPr id="6" name="Text 4"/>
          <p:cNvSpPr/>
          <p:nvPr/>
        </p:nvSpPr>
        <p:spPr>
          <a:xfrm>
            <a:off x="793790" y="3961686"/>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数据采集与预处理</a:t>
            </a:r>
            <a:endParaRPr lang="en-US" sz="2100" dirty="0"/>
          </a:p>
        </p:txBody>
      </p:sp>
      <p:sp>
        <p:nvSpPr>
          <p:cNvPr id="7" name="Text 5"/>
          <p:cNvSpPr/>
          <p:nvPr/>
        </p:nvSpPr>
        <p:spPr>
          <a:xfrm>
            <a:off x="793790" y="4421862"/>
            <a:ext cx="642223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数据清洗</a:t>
            </a:r>
            <a:r>
              <a:rPr lang="en-US" sz="1550" dirty="0">
                <a:solidFill>
                  <a:srgbClr val="272525"/>
                </a:solidFill>
                <a:latin typeface="Inter" pitchFamily="34" charset="0"/>
                <a:ea typeface="Inter" pitchFamily="34" charset="-122"/>
                <a:cs typeface="Inter" pitchFamily="34" charset="-120"/>
              </a:rPr>
              <a:t>：清除文本中的无关元素（如特殊字符、HTML标签）、删除重复或高度相似的冗余内容，提高数据质量。</a:t>
            </a:r>
            <a:endParaRPr lang="en-US" sz="1550" dirty="0"/>
          </a:p>
        </p:txBody>
      </p:sp>
      <p:sp>
        <p:nvSpPr>
          <p:cNvPr id="8" name="Text 6"/>
          <p:cNvSpPr/>
          <p:nvPr/>
        </p:nvSpPr>
        <p:spPr>
          <a:xfrm>
            <a:off x="793790" y="5126355"/>
            <a:ext cx="642223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文本分块 (Chunking)</a:t>
            </a:r>
            <a:r>
              <a:rPr lang="en-US" sz="1550" dirty="0">
                <a:solidFill>
                  <a:srgbClr val="272525"/>
                </a:solidFill>
                <a:latin typeface="Inter" pitchFamily="34" charset="0"/>
                <a:ea typeface="Inter" pitchFamily="34" charset="-122"/>
                <a:cs typeface="Inter" pitchFamily="34" charset="-120"/>
              </a:rPr>
              <a:t>：将长文本分割成较小的、语义完整的文本块，这直接影响后续的检索效果。</a:t>
            </a:r>
            <a:endParaRPr lang="en-US" sz="1550" dirty="0"/>
          </a:p>
        </p:txBody>
      </p:sp>
      <p:sp>
        <p:nvSpPr>
          <p:cNvPr id="9" name="Text 7"/>
          <p:cNvSpPr/>
          <p:nvPr/>
        </p:nvSpPr>
        <p:spPr>
          <a:xfrm>
            <a:off x="7414379" y="3502462"/>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Petrona Light" pitchFamily="34" charset="0"/>
                <a:ea typeface="Petrona Light" pitchFamily="34" charset="-122"/>
                <a:cs typeface="Petrona Light" pitchFamily="34" charset="-120"/>
              </a:rPr>
              <a:t>02</a:t>
            </a:r>
            <a:endParaRPr lang="en-US" sz="1550" dirty="0"/>
          </a:p>
        </p:txBody>
      </p:sp>
      <p:sp>
        <p:nvSpPr>
          <p:cNvPr id="10" name="Shape 8"/>
          <p:cNvSpPr/>
          <p:nvPr/>
        </p:nvSpPr>
        <p:spPr>
          <a:xfrm>
            <a:off x="7414379" y="3816787"/>
            <a:ext cx="6422231" cy="22860"/>
          </a:xfrm>
          <a:prstGeom prst="rect">
            <a:avLst/>
          </a:prstGeom>
          <a:solidFill>
            <a:srgbClr val="6237C8"/>
          </a:solidFill>
          <a:ln/>
        </p:spPr>
      </p:sp>
      <p:sp>
        <p:nvSpPr>
          <p:cNvPr id="11" name="Text 9"/>
          <p:cNvSpPr/>
          <p:nvPr/>
        </p:nvSpPr>
        <p:spPr>
          <a:xfrm>
            <a:off x="7414379" y="3961686"/>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知识库增强</a:t>
            </a:r>
            <a:endParaRPr lang="en-US" sz="2100" dirty="0"/>
          </a:p>
        </p:txBody>
      </p:sp>
      <p:sp>
        <p:nvSpPr>
          <p:cNvPr id="12" name="Text 10"/>
          <p:cNvSpPr/>
          <p:nvPr/>
        </p:nvSpPr>
        <p:spPr>
          <a:xfrm>
            <a:off x="7414379" y="4421862"/>
            <a:ext cx="642223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为文档建立语义"锚点"，方便检索时能更准确定位。</a:t>
            </a:r>
            <a:endParaRPr lang="en-US" sz="1550" dirty="0"/>
          </a:p>
        </p:txBody>
      </p:sp>
      <p:sp>
        <p:nvSpPr>
          <p:cNvPr id="13" name="Text 11"/>
          <p:cNvSpPr/>
          <p:nvPr/>
        </p:nvSpPr>
        <p:spPr>
          <a:xfrm>
            <a:off x="7414379" y="4858464"/>
            <a:ext cx="642223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查询生成 (Query Generation)</a:t>
            </a:r>
            <a:r>
              <a:rPr lang="en-US" sz="1550" dirty="0">
                <a:solidFill>
                  <a:srgbClr val="272525"/>
                </a:solidFill>
                <a:latin typeface="Inter" pitchFamily="34" charset="0"/>
                <a:ea typeface="Inter" pitchFamily="34" charset="-122"/>
                <a:cs typeface="Inter" pitchFamily="34" charset="-120"/>
              </a:rPr>
              <a:t>：利用大语言模型为每个文档块生成可能的用户查询（伪查询）</a:t>
            </a:r>
            <a:endParaRPr lang="en-US" sz="1550" dirty="0"/>
          </a:p>
        </p:txBody>
      </p:sp>
      <p:sp>
        <p:nvSpPr>
          <p:cNvPr id="14" name="Text 12"/>
          <p:cNvSpPr/>
          <p:nvPr/>
        </p:nvSpPr>
        <p:spPr>
          <a:xfrm>
            <a:off x="7414379" y="5562957"/>
            <a:ext cx="6422231"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标题生成 (Title Generation)</a:t>
            </a:r>
            <a:r>
              <a:rPr lang="en-US" sz="1550" dirty="0">
                <a:solidFill>
                  <a:srgbClr val="272525"/>
                </a:solidFill>
                <a:latin typeface="Inter" pitchFamily="34" charset="0"/>
                <a:ea typeface="Inter" pitchFamily="34" charset="-122"/>
                <a:cs typeface="Inter" pitchFamily="34" charset="-120"/>
              </a:rPr>
              <a:t>：利用大语言模型为没有标题或标题不明确的文档块生成简洁、概括性的标题</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377202"/>
            <a:ext cx="5457944"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文本分块策略详解</a:t>
            </a:r>
            <a:endParaRPr lang="en-US" sz="4250" dirty="0"/>
          </a:p>
        </p:txBody>
      </p:sp>
      <p:sp>
        <p:nvSpPr>
          <p:cNvPr id="3" name="Text 1"/>
          <p:cNvSpPr/>
          <p:nvPr/>
        </p:nvSpPr>
        <p:spPr>
          <a:xfrm>
            <a:off x="793790" y="3456265"/>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常见的分块策略包括：</a:t>
            </a:r>
            <a:endParaRPr lang="en-US" sz="1550" dirty="0"/>
          </a:p>
        </p:txBody>
      </p:sp>
      <p:sp>
        <p:nvSpPr>
          <p:cNvPr id="4" name="Shape 2"/>
          <p:cNvSpPr/>
          <p:nvPr/>
        </p:nvSpPr>
        <p:spPr>
          <a:xfrm>
            <a:off x="793790" y="3997047"/>
            <a:ext cx="4215289" cy="1855232"/>
          </a:xfrm>
          <a:prstGeom prst="roundRect">
            <a:avLst>
              <a:gd name="adj" fmla="val 5915"/>
            </a:avLst>
          </a:prstGeom>
          <a:solidFill>
            <a:srgbClr val="FDFAF7"/>
          </a:solidFill>
          <a:ln w="22860">
            <a:solidFill>
              <a:srgbClr val="C6BDDA"/>
            </a:solidFill>
            <a:prstDash val="solid"/>
          </a:ln>
        </p:spPr>
      </p:sp>
      <p:sp>
        <p:nvSpPr>
          <p:cNvPr id="5" name="Shape 3"/>
          <p:cNvSpPr/>
          <p:nvPr/>
        </p:nvSpPr>
        <p:spPr>
          <a:xfrm>
            <a:off x="770930" y="3997047"/>
            <a:ext cx="91440" cy="1855232"/>
          </a:xfrm>
          <a:prstGeom prst="roundRect">
            <a:avLst>
              <a:gd name="adj" fmla="val 91163"/>
            </a:avLst>
          </a:prstGeom>
          <a:solidFill>
            <a:srgbClr val="6237C8"/>
          </a:solidFill>
          <a:ln/>
        </p:spPr>
      </p:sp>
      <p:sp>
        <p:nvSpPr>
          <p:cNvPr id="6" name="Text 4"/>
          <p:cNvSpPr/>
          <p:nvPr/>
        </p:nvSpPr>
        <p:spPr>
          <a:xfrm>
            <a:off x="1083588" y="4218265"/>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暴力拆分</a:t>
            </a:r>
            <a:endParaRPr lang="en-US" sz="2100" dirty="0"/>
          </a:p>
        </p:txBody>
      </p:sp>
      <p:sp>
        <p:nvSpPr>
          <p:cNvPr id="7" name="Text 5"/>
          <p:cNvSpPr/>
          <p:nvPr/>
        </p:nvSpPr>
        <p:spPr>
          <a:xfrm>
            <a:off x="1083588" y="4678442"/>
            <a:ext cx="3704273"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按固定的 Token 数量或字符数进行切割，简单快速但容易切断语义。</a:t>
            </a:r>
            <a:endParaRPr lang="en-US" sz="1550" dirty="0"/>
          </a:p>
        </p:txBody>
      </p:sp>
      <p:sp>
        <p:nvSpPr>
          <p:cNvPr id="8" name="Shape 6"/>
          <p:cNvSpPr/>
          <p:nvPr/>
        </p:nvSpPr>
        <p:spPr>
          <a:xfrm>
            <a:off x="5207437" y="3997047"/>
            <a:ext cx="4215408" cy="1855232"/>
          </a:xfrm>
          <a:prstGeom prst="roundRect">
            <a:avLst>
              <a:gd name="adj" fmla="val 5915"/>
            </a:avLst>
          </a:prstGeom>
          <a:solidFill>
            <a:srgbClr val="FDFAF7"/>
          </a:solidFill>
          <a:ln w="22860">
            <a:solidFill>
              <a:srgbClr val="C6BDDA"/>
            </a:solidFill>
            <a:prstDash val="solid"/>
          </a:ln>
        </p:spPr>
      </p:sp>
      <p:sp>
        <p:nvSpPr>
          <p:cNvPr id="9" name="Shape 7"/>
          <p:cNvSpPr/>
          <p:nvPr/>
        </p:nvSpPr>
        <p:spPr>
          <a:xfrm>
            <a:off x="5184577" y="3997047"/>
            <a:ext cx="91440" cy="1855232"/>
          </a:xfrm>
          <a:prstGeom prst="roundRect">
            <a:avLst>
              <a:gd name="adj" fmla="val 91163"/>
            </a:avLst>
          </a:prstGeom>
          <a:solidFill>
            <a:srgbClr val="6237C8"/>
          </a:solidFill>
          <a:ln/>
        </p:spPr>
      </p:sp>
      <p:sp>
        <p:nvSpPr>
          <p:cNvPr id="10" name="Text 8"/>
          <p:cNvSpPr/>
          <p:nvPr/>
        </p:nvSpPr>
        <p:spPr>
          <a:xfrm>
            <a:off x="5497235" y="4218265"/>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语义拆分</a:t>
            </a:r>
            <a:endParaRPr lang="en-US" sz="2100" dirty="0"/>
          </a:p>
        </p:txBody>
      </p:sp>
      <p:sp>
        <p:nvSpPr>
          <p:cNvPr id="11" name="Text 9"/>
          <p:cNvSpPr/>
          <p:nvPr/>
        </p:nvSpPr>
        <p:spPr>
          <a:xfrm>
            <a:off x="5497235" y="4678442"/>
            <a:ext cx="3704392"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根据句子、段落等语言学边界进行切分，或使用专门的模型（如 text-davinci-003）来识别语义边界。</a:t>
            </a:r>
            <a:endParaRPr lang="en-US" sz="1550" dirty="0"/>
          </a:p>
        </p:txBody>
      </p:sp>
      <p:sp>
        <p:nvSpPr>
          <p:cNvPr id="12" name="Shape 10"/>
          <p:cNvSpPr/>
          <p:nvPr/>
        </p:nvSpPr>
        <p:spPr>
          <a:xfrm>
            <a:off x="9621203" y="3997047"/>
            <a:ext cx="4215289" cy="1855232"/>
          </a:xfrm>
          <a:prstGeom prst="roundRect">
            <a:avLst>
              <a:gd name="adj" fmla="val 5915"/>
            </a:avLst>
          </a:prstGeom>
          <a:solidFill>
            <a:srgbClr val="FDFAF7"/>
          </a:solidFill>
          <a:ln w="22860">
            <a:solidFill>
              <a:srgbClr val="C6BDDA"/>
            </a:solidFill>
            <a:prstDash val="solid"/>
          </a:ln>
        </p:spPr>
      </p:sp>
      <p:sp>
        <p:nvSpPr>
          <p:cNvPr id="13" name="Shape 11"/>
          <p:cNvSpPr/>
          <p:nvPr/>
        </p:nvSpPr>
        <p:spPr>
          <a:xfrm>
            <a:off x="9598343" y="3997047"/>
            <a:ext cx="91440" cy="1855232"/>
          </a:xfrm>
          <a:prstGeom prst="roundRect">
            <a:avLst>
              <a:gd name="adj" fmla="val 91163"/>
            </a:avLst>
          </a:prstGeom>
          <a:solidFill>
            <a:srgbClr val="6237C8"/>
          </a:solidFill>
          <a:ln/>
        </p:spPr>
      </p:sp>
      <p:sp>
        <p:nvSpPr>
          <p:cNvPr id="14" name="Text 12"/>
          <p:cNvSpPr/>
          <p:nvPr/>
        </p:nvSpPr>
        <p:spPr>
          <a:xfrm>
            <a:off x="9911001" y="4218265"/>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LLM 拆分</a:t>
            </a:r>
            <a:endParaRPr lang="en-US" sz="2100" dirty="0"/>
          </a:p>
        </p:txBody>
      </p:sp>
      <p:sp>
        <p:nvSpPr>
          <p:cNvPr id="15" name="Text 13"/>
          <p:cNvSpPr/>
          <p:nvPr/>
        </p:nvSpPr>
        <p:spPr>
          <a:xfrm>
            <a:off x="9911001" y="4678442"/>
            <a:ext cx="3704273"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利用大语言模型的能力，设计复杂的 Prompt 来指导其进行更智能的文本分块。</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2197298"/>
            <a:ext cx="7808000"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查询增强 (Query Enhancement)</a:t>
            </a:r>
            <a:endParaRPr lang="en-US" sz="4250" dirty="0"/>
          </a:p>
        </p:txBody>
      </p:sp>
      <p:sp>
        <p:nvSpPr>
          <p:cNvPr id="3" name="Text 1"/>
          <p:cNvSpPr/>
          <p:nvPr/>
        </p:nvSpPr>
        <p:spPr>
          <a:xfrm>
            <a:off x="793790" y="3276362"/>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对用户的原始查询进行优化，以提升检索的准确性和全面性。</a:t>
            </a:r>
            <a:endParaRPr lang="en-US" sz="1550" dirty="0"/>
          </a:p>
        </p:txBody>
      </p:sp>
      <p:sp>
        <p:nvSpPr>
          <p:cNvPr id="4" name="Text 2"/>
          <p:cNvSpPr/>
          <p:nvPr/>
        </p:nvSpPr>
        <p:spPr>
          <a:xfrm>
            <a:off x="793790" y="4015502"/>
            <a:ext cx="3274814" cy="409337"/>
          </a:xfrm>
          <a:prstGeom prst="rect">
            <a:avLst/>
          </a:prstGeom>
          <a:noFill/>
          <a:ln/>
        </p:spPr>
        <p:txBody>
          <a:bodyPr wrap="none" lIns="0" tIns="0" rIns="0" bIns="0" rtlCol="0" anchor="t"/>
          <a:lstStyle/>
          <a:p>
            <a:pPr marL="0" indent="0" algn="l">
              <a:lnSpc>
                <a:spcPts val="3200"/>
              </a:lnSpc>
              <a:buNone/>
            </a:pPr>
            <a:r>
              <a:rPr lang="en-US" sz="2550" b="1" dirty="0">
                <a:solidFill>
                  <a:srgbClr val="6237C8"/>
                </a:solidFill>
                <a:latin typeface="Petrona Bold" pitchFamily="34" charset="0"/>
                <a:ea typeface="Petrona Bold" pitchFamily="34" charset="-122"/>
                <a:cs typeface="Petrona Bold" pitchFamily="34" charset="-120"/>
              </a:rPr>
              <a:t>查询语义增强</a:t>
            </a:r>
            <a:endParaRPr lang="en-US" sz="2550" dirty="0"/>
          </a:p>
        </p:txBody>
      </p:sp>
      <p:sp>
        <p:nvSpPr>
          <p:cNvPr id="5" name="Text 3"/>
          <p:cNvSpPr/>
          <p:nvPr/>
        </p:nvSpPr>
        <p:spPr>
          <a:xfrm>
            <a:off x="793790" y="4623197"/>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同义改写</a:t>
            </a:r>
            <a:r>
              <a:rPr lang="en-US" sz="1550" dirty="0">
                <a:solidFill>
                  <a:srgbClr val="272525"/>
                </a:solidFill>
                <a:latin typeface="Inter" pitchFamily="34" charset="0"/>
                <a:ea typeface="Inter" pitchFamily="34" charset="-122"/>
                <a:cs typeface="Inter" pitchFamily="34" charset="-120"/>
              </a:rPr>
              <a:t>：调用大语言模型将原始查询改写成多种语义相同但表达方式不同的新查询，以覆盖知识库中多样化的知识表达。</a:t>
            </a:r>
            <a:endParaRPr lang="en-US" sz="1550" dirty="0"/>
          </a:p>
        </p:txBody>
      </p:sp>
      <p:sp>
        <p:nvSpPr>
          <p:cNvPr id="6" name="Text 4"/>
          <p:cNvSpPr/>
          <p:nvPr/>
        </p:nvSpPr>
        <p:spPr>
          <a:xfrm>
            <a:off x="793790" y="5327690"/>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多视角分解</a:t>
            </a:r>
            <a:r>
              <a:rPr lang="en-US" sz="1550" dirty="0">
                <a:solidFill>
                  <a:srgbClr val="272525"/>
                </a:solidFill>
                <a:latin typeface="Inter" pitchFamily="34" charset="0"/>
                <a:ea typeface="Inter" pitchFamily="34" charset="-122"/>
                <a:cs typeface="Inter" pitchFamily="34" charset="-120"/>
              </a:rPr>
              <a:t>：将一个复杂的查询分解为多个更简单的子查询，从不同角度进行检索，然后汇总结果。</a:t>
            </a:r>
            <a:endParaRPr lang="en-US" sz="1550" dirty="0"/>
          </a:p>
        </p:txBody>
      </p:sp>
      <p:sp>
        <p:nvSpPr>
          <p:cNvPr id="7" name="Text 5"/>
          <p:cNvSpPr/>
          <p:nvPr/>
        </p:nvSpPr>
        <p:spPr>
          <a:xfrm>
            <a:off x="7564874" y="4015502"/>
            <a:ext cx="3274814" cy="409337"/>
          </a:xfrm>
          <a:prstGeom prst="rect">
            <a:avLst/>
          </a:prstGeom>
          <a:noFill/>
          <a:ln/>
        </p:spPr>
        <p:txBody>
          <a:bodyPr wrap="none" lIns="0" tIns="0" rIns="0" bIns="0" rtlCol="0" anchor="t"/>
          <a:lstStyle/>
          <a:p>
            <a:pPr marL="0" indent="0" algn="l">
              <a:lnSpc>
                <a:spcPts val="3200"/>
              </a:lnSpc>
              <a:buNone/>
            </a:pPr>
            <a:r>
              <a:rPr lang="en-US" sz="2550" b="1" dirty="0">
                <a:solidFill>
                  <a:srgbClr val="6237C8"/>
                </a:solidFill>
                <a:latin typeface="Petrona Bold" pitchFamily="34" charset="0"/>
                <a:ea typeface="Petrona Bold" pitchFamily="34" charset="-122"/>
                <a:cs typeface="Petrona Bold" pitchFamily="34" charset="-120"/>
              </a:rPr>
              <a:t>查询内容增强</a:t>
            </a:r>
            <a:endParaRPr lang="en-US" sz="2550" dirty="0"/>
          </a:p>
        </p:txBody>
      </p:sp>
      <p:sp>
        <p:nvSpPr>
          <p:cNvPr id="8" name="Text 6"/>
          <p:cNvSpPr/>
          <p:nvPr/>
        </p:nvSpPr>
        <p:spPr>
          <a:xfrm>
            <a:off x="7564874" y="4623197"/>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上下文补充</a:t>
            </a:r>
            <a:r>
              <a:rPr lang="en-US" sz="1550" dirty="0">
                <a:solidFill>
                  <a:srgbClr val="272525"/>
                </a:solidFill>
                <a:latin typeface="Inter" pitchFamily="34" charset="0"/>
                <a:ea typeface="Inter" pitchFamily="34" charset="-122"/>
                <a:cs typeface="Inter" pitchFamily="34" charset="-120"/>
              </a:rPr>
              <a:t>：利用大语言模型生成与原始查询相关的背景信息和上下文，丰富查询内容，使其更具体，从而提高检索的准确性。</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2139434"/>
            <a:ext cx="5457944"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检索器 (Retriever)</a:t>
            </a:r>
            <a:endParaRPr lang="en-US" sz="4250" dirty="0"/>
          </a:p>
        </p:txBody>
      </p:sp>
      <p:sp>
        <p:nvSpPr>
          <p:cNvPr id="3" name="Text 1"/>
          <p:cNvSpPr/>
          <p:nvPr/>
        </p:nvSpPr>
        <p:spPr>
          <a:xfrm>
            <a:off x="793790" y="3218498"/>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检索器是 RAG 的核心引擎，主要分为判别式和生成式两类。</a:t>
            </a:r>
            <a:endParaRPr lang="en-US" sz="1550" dirty="0"/>
          </a:p>
        </p:txBody>
      </p:sp>
      <p:sp>
        <p:nvSpPr>
          <p:cNvPr id="4" name="Shape 2"/>
          <p:cNvSpPr/>
          <p:nvPr/>
        </p:nvSpPr>
        <p:spPr>
          <a:xfrm>
            <a:off x="793790" y="3759279"/>
            <a:ext cx="6422231" cy="2330768"/>
          </a:xfrm>
          <a:prstGeom prst="roundRect">
            <a:avLst>
              <a:gd name="adj" fmla="val 3576"/>
            </a:avLst>
          </a:prstGeom>
          <a:solidFill>
            <a:srgbClr val="E0D7F4"/>
          </a:solidFill>
          <a:ln w="7620">
            <a:solidFill>
              <a:srgbClr val="C6BDDA"/>
            </a:solidFill>
            <a:prstDash val="solid"/>
          </a:ln>
        </p:spPr>
      </p:sp>
      <p:sp>
        <p:nvSpPr>
          <p:cNvPr id="5" name="Text 3"/>
          <p:cNvSpPr/>
          <p:nvPr/>
        </p:nvSpPr>
        <p:spPr>
          <a:xfrm>
            <a:off x="999768" y="3965258"/>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判别式检索器</a:t>
            </a:r>
            <a:endParaRPr lang="en-US" sz="2100" dirty="0"/>
          </a:p>
        </p:txBody>
      </p:sp>
      <p:sp>
        <p:nvSpPr>
          <p:cNvPr id="6" name="Text 4"/>
          <p:cNvSpPr/>
          <p:nvPr/>
        </p:nvSpPr>
        <p:spPr>
          <a:xfrm>
            <a:off x="999768" y="4425434"/>
            <a:ext cx="601027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通过一个判别模型对查询和文档的相关性进行打分排序。</a:t>
            </a:r>
            <a:endParaRPr lang="en-US" sz="1550" dirty="0"/>
          </a:p>
        </p:txBody>
      </p:sp>
      <p:sp>
        <p:nvSpPr>
          <p:cNvPr id="7" name="Text 5"/>
          <p:cNvSpPr/>
          <p:nvPr/>
        </p:nvSpPr>
        <p:spPr>
          <a:xfrm>
            <a:off x="999768" y="4862036"/>
            <a:ext cx="601027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稀疏检索器 (Sparse Retriever)</a:t>
            </a:r>
            <a:endParaRPr lang="en-US" sz="1550" dirty="0"/>
          </a:p>
        </p:txBody>
      </p:sp>
      <p:sp>
        <p:nvSpPr>
          <p:cNvPr id="8" name="Text 6"/>
          <p:cNvSpPr/>
          <p:nvPr/>
        </p:nvSpPr>
        <p:spPr>
          <a:xfrm>
            <a:off x="999768" y="5248989"/>
            <a:ext cx="601027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稠密检索器 (Dense Retriever)</a:t>
            </a:r>
            <a:endParaRPr lang="en-US" sz="1550" dirty="0"/>
          </a:p>
        </p:txBody>
      </p:sp>
      <p:sp>
        <p:nvSpPr>
          <p:cNvPr id="9" name="Shape 7"/>
          <p:cNvSpPr/>
          <p:nvPr/>
        </p:nvSpPr>
        <p:spPr>
          <a:xfrm>
            <a:off x="7414379" y="3759279"/>
            <a:ext cx="6422231" cy="2330768"/>
          </a:xfrm>
          <a:prstGeom prst="roundRect">
            <a:avLst>
              <a:gd name="adj" fmla="val 3576"/>
            </a:avLst>
          </a:prstGeom>
          <a:solidFill>
            <a:srgbClr val="E0D7F4"/>
          </a:solidFill>
          <a:ln w="7620">
            <a:solidFill>
              <a:srgbClr val="C6BDDA"/>
            </a:solidFill>
            <a:prstDash val="solid"/>
          </a:ln>
        </p:spPr>
      </p:sp>
      <p:sp>
        <p:nvSpPr>
          <p:cNvPr id="10" name="Text 8"/>
          <p:cNvSpPr/>
          <p:nvPr/>
        </p:nvSpPr>
        <p:spPr>
          <a:xfrm>
            <a:off x="7620357" y="3965258"/>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生成式检索器</a:t>
            </a:r>
            <a:endParaRPr lang="en-US" sz="2100" dirty="0"/>
          </a:p>
        </p:txBody>
      </p:sp>
      <p:sp>
        <p:nvSpPr>
          <p:cNvPr id="11" name="Text 9"/>
          <p:cNvSpPr/>
          <p:nvPr/>
        </p:nvSpPr>
        <p:spPr>
          <a:xfrm>
            <a:off x="7620357" y="4425434"/>
            <a:ext cx="6010275"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直接将知识记忆在模型参数中，在接收到查询时，直接</a:t>
            </a:r>
            <a:r>
              <a:rPr lang="en-US" sz="1550" b="1" dirty="0">
                <a:solidFill>
                  <a:srgbClr val="272525"/>
                </a:solidFill>
                <a:latin typeface="Inter" pitchFamily="34" charset="0"/>
                <a:ea typeface="Inter" pitchFamily="34" charset="-122"/>
                <a:cs typeface="Inter" pitchFamily="34" charset="-120"/>
              </a:rPr>
              <a:t>生成</a:t>
            </a:r>
            <a:r>
              <a:rPr lang="en-US" sz="1550" dirty="0">
                <a:solidFill>
                  <a:srgbClr val="272525"/>
                </a:solidFill>
                <a:latin typeface="Inter" pitchFamily="34" charset="0"/>
                <a:ea typeface="Inter" pitchFamily="34" charset="-122"/>
                <a:cs typeface="Inter" pitchFamily="34" charset="-120"/>
              </a:rPr>
              <a:t>相关文档的唯一标识符（DocID）。</a:t>
            </a:r>
            <a:endParaRPr lang="en-US" sz="1550" dirty="0"/>
          </a:p>
        </p:txBody>
      </p:sp>
      <p:sp>
        <p:nvSpPr>
          <p:cNvPr id="12" name="Text 10"/>
          <p:cNvSpPr/>
          <p:nvPr/>
        </p:nvSpPr>
        <p:spPr>
          <a:xfrm>
            <a:off x="7620357" y="5179576"/>
            <a:ext cx="601027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基于数字的 DocID</a:t>
            </a:r>
            <a:endParaRPr lang="en-US" sz="1550" dirty="0"/>
          </a:p>
        </p:txBody>
      </p:sp>
      <p:sp>
        <p:nvSpPr>
          <p:cNvPr id="13" name="Text 11"/>
          <p:cNvSpPr/>
          <p:nvPr/>
        </p:nvSpPr>
        <p:spPr>
          <a:xfrm>
            <a:off x="7620357" y="5566529"/>
            <a:ext cx="6010275"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272525"/>
                </a:solidFill>
                <a:latin typeface="Inter" pitchFamily="34" charset="0"/>
                <a:ea typeface="Inter" pitchFamily="34" charset="-122"/>
                <a:cs typeface="Inter" pitchFamily="34" charset="-120"/>
              </a:rPr>
              <a:t>基于词的 DocID</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758196"/>
            <a:ext cx="6002298"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稀疏检索器与稠密检索器</a:t>
            </a:r>
            <a:endParaRPr lang="en-US" sz="4250" dirty="0"/>
          </a:p>
        </p:txBody>
      </p:sp>
      <p:sp>
        <p:nvSpPr>
          <p:cNvPr id="3" name="Text 1"/>
          <p:cNvSpPr/>
          <p:nvPr/>
        </p:nvSpPr>
        <p:spPr>
          <a:xfrm>
            <a:off x="793790" y="2936438"/>
            <a:ext cx="4399240" cy="409337"/>
          </a:xfrm>
          <a:prstGeom prst="rect">
            <a:avLst/>
          </a:prstGeom>
          <a:noFill/>
          <a:ln/>
        </p:spPr>
        <p:txBody>
          <a:bodyPr wrap="none" lIns="0" tIns="0" rIns="0" bIns="0" rtlCol="0" anchor="t"/>
          <a:lstStyle/>
          <a:p>
            <a:pPr marL="0" indent="0" algn="l">
              <a:lnSpc>
                <a:spcPts val="3200"/>
              </a:lnSpc>
              <a:buNone/>
            </a:pPr>
            <a:r>
              <a:rPr lang="en-US" sz="2550" b="1" dirty="0">
                <a:solidFill>
                  <a:srgbClr val="6237C8"/>
                </a:solidFill>
                <a:latin typeface="Petrona Bold" pitchFamily="34" charset="0"/>
                <a:ea typeface="Petrona Bold" pitchFamily="34" charset="-122"/>
                <a:cs typeface="Petrona Bold" pitchFamily="34" charset="-120"/>
              </a:rPr>
              <a:t>稀疏检索器 (Sparse Retriever)</a:t>
            </a:r>
            <a:endParaRPr lang="en-US" sz="2550" dirty="0"/>
          </a:p>
        </p:txBody>
      </p:sp>
      <p:sp>
        <p:nvSpPr>
          <p:cNvPr id="4" name="Text 2"/>
          <p:cNvSpPr/>
          <p:nvPr/>
        </p:nvSpPr>
        <p:spPr>
          <a:xfrm>
            <a:off x="793790" y="3544133"/>
            <a:ext cx="6279356"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基于词频等统计特征来匹配文本，典型代表是</a:t>
            </a:r>
            <a:r>
              <a:rPr lang="en-US" sz="1550" b="1" dirty="0">
                <a:solidFill>
                  <a:srgbClr val="272525"/>
                </a:solidFill>
                <a:latin typeface="Inter" pitchFamily="34" charset="0"/>
                <a:ea typeface="Inter" pitchFamily="34" charset="-122"/>
                <a:cs typeface="Inter" pitchFamily="34" charset="-120"/>
              </a:rPr>
              <a:t>词袋模型</a:t>
            </a:r>
            <a:r>
              <a:rPr lang="en-US" sz="1550" dirty="0">
                <a:solidFill>
                  <a:srgbClr val="272525"/>
                </a:solidFill>
                <a:latin typeface="Inter" pitchFamily="34" charset="0"/>
                <a:ea typeface="Inter" pitchFamily="34" charset="-122"/>
                <a:cs typeface="Inter" pitchFamily="34" charset="-120"/>
              </a:rPr>
              <a:t>。</a:t>
            </a:r>
            <a:endParaRPr lang="en-US" sz="1550" dirty="0"/>
          </a:p>
        </p:txBody>
      </p:sp>
      <p:sp>
        <p:nvSpPr>
          <p:cNvPr id="5" name="Text 3"/>
          <p:cNvSpPr/>
          <p:nvPr/>
        </p:nvSpPr>
        <p:spPr>
          <a:xfrm>
            <a:off x="793790" y="4040267"/>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TF-IDF</a:t>
            </a:r>
            <a:r>
              <a:rPr lang="en-US" sz="1550" dirty="0">
                <a:solidFill>
                  <a:srgbClr val="272525"/>
                </a:solidFill>
                <a:latin typeface="Inter" pitchFamily="34" charset="0"/>
                <a:ea typeface="Inter" pitchFamily="34" charset="-122"/>
                <a:cs typeface="Inter" pitchFamily="34" charset="-120"/>
              </a:rPr>
              <a:t>：通过计算词语在文档中的频率（TF）和在整个语料库中的逆文档频率（IDF）来评估词语的重要性。</a:t>
            </a:r>
            <a:endParaRPr lang="en-US" sz="1550" dirty="0"/>
          </a:p>
        </p:txBody>
      </p:sp>
      <p:sp>
        <p:nvSpPr>
          <p:cNvPr id="6" name="Text 4"/>
          <p:cNvSpPr/>
          <p:nvPr/>
        </p:nvSpPr>
        <p:spPr>
          <a:xfrm>
            <a:off x="793790" y="4744760"/>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BM25</a:t>
            </a:r>
            <a:r>
              <a:rPr lang="en-US" sz="1550" dirty="0">
                <a:solidFill>
                  <a:srgbClr val="272525"/>
                </a:solidFill>
                <a:latin typeface="Inter" pitchFamily="34" charset="0"/>
                <a:ea typeface="Inter" pitchFamily="34" charset="-122"/>
                <a:cs typeface="Inter" pitchFamily="34" charset="-120"/>
              </a:rPr>
              <a:t>：TF-IDF 的改进版，是目前最主流的稀疏检索算法之一，效果稳健且计算高效。</a:t>
            </a:r>
            <a:endParaRPr lang="en-US" sz="1550" dirty="0"/>
          </a:p>
        </p:txBody>
      </p:sp>
      <p:sp>
        <p:nvSpPr>
          <p:cNvPr id="7" name="Text 5"/>
          <p:cNvSpPr/>
          <p:nvPr/>
        </p:nvSpPr>
        <p:spPr>
          <a:xfrm>
            <a:off x="7564874" y="2936438"/>
            <a:ext cx="4313873" cy="409337"/>
          </a:xfrm>
          <a:prstGeom prst="rect">
            <a:avLst/>
          </a:prstGeom>
          <a:noFill/>
          <a:ln/>
        </p:spPr>
        <p:txBody>
          <a:bodyPr wrap="none" lIns="0" tIns="0" rIns="0" bIns="0" rtlCol="0" anchor="t"/>
          <a:lstStyle/>
          <a:p>
            <a:pPr marL="0" indent="0" algn="l">
              <a:lnSpc>
                <a:spcPts val="3200"/>
              </a:lnSpc>
              <a:buNone/>
            </a:pPr>
            <a:r>
              <a:rPr lang="en-US" sz="2550" b="1" dirty="0">
                <a:solidFill>
                  <a:srgbClr val="6237C8"/>
                </a:solidFill>
                <a:latin typeface="Petrona Bold" pitchFamily="34" charset="0"/>
                <a:ea typeface="Petrona Bold" pitchFamily="34" charset="-122"/>
                <a:cs typeface="Petrona Bold" pitchFamily="34" charset="-120"/>
              </a:rPr>
              <a:t>稠密检索器 (Dense Retriever)</a:t>
            </a:r>
            <a:endParaRPr lang="en-US" sz="2550" dirty="0"/>
          </a:p>
        </p:txBody>
      </p:sp>
      <p:sp>
        <p:nvSpPr>
          <p:cNvPr id="8" name="Text 6"/>
          <p:cNvSpPr/>
          <p:nvPr/>
        </p:nvSpPr>
        <p:spPr>
          <a:xfrm>
            <a:off x="7564874" y="3544133"/>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使用预训练语言模型将文本转换为低维、密集的向量（Embeddings），通过计算向量间的相似度（如余弦相似度）进行检索。</a:t>
            </a:r>
            <a:endParaRPr lang="en-US" sz="1550" dirty="0"/>
          </a:p>
        </p:txBody>
      </p:sp>
      <p:sp>
        <p:nvSpPr>
          <p:cNvPr id="9" name="Text 7"/>
          <p:cNvSpPr/>
          <p:nvPr/>
        </p:nvSpPr>
        <p:spPr>
          <a:xfrm>
            <a:off x="7564874" y="4357807"/>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双编码器 (Bi-Encoder)</a:t>
            </a:r>
            <a:r>
              <a:rPr lang="en-US" sz="1550" dirty="0">
                <a:solidFill>
                  <a:srgbClr val="272525"/>
                </a:solidFill>
                <a:latin typeface="Inter" pitchFamily="34" charset="0"/>
                <a:ea typeface="Inter" pitchFamily="34" charset="-122"/>
                <a:cs typeface="Inter" pitchFamily="34" charset="-120"/>
              </a:rPr>
              <a:t>：查询和文档分别通过独立的编码器生成向量</a:t>
            </a:r>
            <a:endParaRPr lang="en-US" sz="1550" dirty="0"/>
          </a:p>
        </p:txBody>
      </p:sp>
      <p:sp>
        <p:nvSpPr>
          <p:cNvPr id="10" name="Text 8"/>
          <p:cNvSpPr/>
          <p:nvPr/>
        </p:nvSpPr>
        <p:spPr>
          <a:xfrm>
            <a:off x="7564874" y="5062299"/>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交叉编码器 (Cross-Encoder)</a:t>
            </a:r>
            <a:r>
              <a:rPr lang="en-US" sz="1550" dirty="0">
                <a:solidFill>
                  <a:srgbClr val="272525"/>
                </a:solidFill>
                <a:latin typeface="Inter" pitchFamily="34" charset="0"/>
                <a:ea typeface="Inter" pitchFamily="34" charset="-122"/>
                <a:cs typeface="Inter" pitchFamily="34" charset="-120"/>
              </a:rPr>
              <a:t>：将查询和文档拼接在一起后，再输入给一个编码器</a:t>
            </a:r>
            <a:endParaRPr lang="en-US" sz="1550" dirty="0"/>
          </a:p>
        </p:txBody>
      </p:sp>
      <p:sp>
        <p:nvSpPr>
          <p:cNvPr id="11" name="Text 9"/>
          <p:cNvSpPr/>
          <p:nvPr/>
        </p:nvSpPr>
        <p:spPr>
          <a:xfrm>
            <a:off x="7564874" y="5766792"/>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272525"/>
                </a:solidFill>
                <a:latin typeface="Inter" pitchFamily="34" charset="0"/>
                <a:ea typeface="Inter" pitchFamily="34" charset="-122"/>
                <a:cs typeface="Inter" pitchFamily="34" charset="-120"/>
              </a:rPr>
              <a:t>混合方法 (ColBERT)</a:t>
            </a:r>
            <a:r>
              <a:rPr lang="en-US" sz="1550" dirty="0">
                <a:solidFill>
                  <a:srgbClr val="272525"/>
                </a:solidFill>
                <a:latin typeface="Inter" pitchFamily="34" charset="0"/>
                <a:ea typeface="Inter" pitchFamily="34" charset="-122"/>
                <a:cs typeface="Inter" pitchFamily="34" charset="-120"/>
              </a:rPr>
              <a:t>：在双编码器的基础上引入了查询与文档的后期交互机制</a:t>
            </a:r>
            <a:endParaRPr lang="en-US" sz="1550" dirty="0"/>
          </a:p>
        </p:txBody>
      </p:sp>
      <p:pic>
        <p:nvPicPr>
          <p:cNvPr id="17" name="图片 16">
            <a:extLst>
              <a:ext uri="{FF2B5EF4-FFF2-40B4-BE49-F238E27FC236}">
                <a16:creationId xmlns:a16="http://schemas.microsoft.com/office/drawing/2014/main" id="{4141ED17-C74A-574B-15B6-608C63C90084}"/>
              </a:ext>
            </a:extLst>
          </p:cNvPr>
          <p:cNvPicPr>
            <a:picLocks noChangeAspect="1"/>
          </p:cNvPicPr>
          <p:nvPr/>
        </p:nvPicPr>
        <p:blipFill>
          <a:blip r:embed="rId3"/>
          <a:stretch>
            <a:fillRect/>
          </a:stretch>
        </p:blipFill>
        <p:spPr>
          <a:xfrm>
            <a:off x="8060267" y="533559"/>
            <a:ext cx="5428720" cy="23037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0218" y="543282"/>
            <a:ext cx="5974794" cy="679013"/>
          </a:xfrm>
          <a:prstGeom prst="rect">
            <a:avLst/>
          </a:prstGeom>
          <a:noFill/>
          <a:ln/>
        </p:spPr>
        <p:txBody>
          <a:bodyPr wrap="none" lIns="0" tIns="0" rIns="0" bIns="0" rtlCol="0" anchor="t"/>
          <a:lstStyle/>
          <a:p>
            <a:pPr marL="0" indent="0" algn="l">
              <a:lnSpc>
                <a:spcPts val="5300"/>
              </a:lnSpc>
              <a:buNone/>
            </a:pPr>
            <a:r>
              <a:rPr lang="en-US" sz="4250" b="1" dirty="0">
                <a:solidFill>
                  <a:srgbClr val="F95F88"/>
                </a:solidFill>
                <a:latin typeface="Petrona Bold" pitchFamily="34" charset="0"/>
                <a:ea typeface="Petrona Bold" pitchFamily="34" charset="-122"/>
                <a:cs typeface="Petrona Bold" pitchFamily="34" charset="-120"/>
              </a:rPr>
              <a:t>检索效率增强与结果重排</a:t>
            </a:r>
            <a:endParaRPr lang="en-US" sz="4250" dirty="0"/>
          </a:p>
        </p:txBody>
      </p:sp>
      <p:sp>
        <p:nvSpPr>
          <p:cNvPr id="3" name="Text 1"/>
          <p:cNvSpPr/>
          <p:nvPr/>
        </p:nvSpPr>
        <p:spPr>
          <a:xfrm>
            <a:off x="790218" y="1301234"/>
            <a:ext cx="4346258" cy="543163"/>
          </a:xfrm>
          <a:prstGeom prst="rect">
            <a:avLst/>
          </a:prstGeom>
          <a:noFill/>
          <a:ln/>
        </p:spPr>
        <p:txBody>
          <a:bodyPr wrap="none" lIns="0" tIns="0" rIns="0" bIns="0" rtlCol="0" anchor="t"/>
          <a:lstStyle/>
          <a:p>
            <a:pPr marL="0" indent="0" algn="l">
              <a:lnSpc>
                <a:spcPts val="4250"/>
              </a:lnSpc>
              <a:buNone/>
            </a:pPr>
            <a:r>
              <a:rPr lang="en-US" sz="3400" b="1" dirty="0">
                <a:solidFill>
                  <a:srgbClr val="F95F88"/>
                </a:solidFill>
                <a:latin typeface="Petrona Bold" pitchFamily="34" charset="0"/>
                <a:ea typeface="Petrona Bold" pitchFamily="34" charset="-122"/>
                <a:cs typeface="Petrona Bold" pitchFamily="34" charset="-120"/>
              </a:rPr>
              <a:t>检索效率增强</a:t>
            </a:r>
            <a:endParaRPr lang="en-US" sz="3400" dirty="0"/>
          </a:p>
        </p:txBody>
      </p:sp>
      <p:sp>
        <p:nvSpPr>
          <p:cNvPr id="4" name="Text 2"/>
          <p:cNvSpPr/>
          <p:nvPr/>
        </p:nvSpPr>
        <p:spPr>
          <a:xfrm>
            <a:off x="790218" y="2140625"/>
            <a:ext cx="13049964" cy="315992"/>
          </a:xfrm>
          <a:prstGeom prst="rect">
            <a:avLst/>
          </a:prstGeom>
          <a:noFill/>
          <a:ln/>
        </p:spPr>
        <p:txBody>
          <a:bodyPr wrap="non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为了在海量向量中实现快速查找，需要依赖近似最近邻（ANN）搜索算法和索引技术。</a:t>
            </a:r>
            <a:endParaRPr lang="en-US" sz="1550" dirty="0"/>
          </a:p>
        </p:txBody>
      </p:sp>
      <p:sp>
        <p:nvSpPr>
          <p:cNvPr id="5" name="Shape 3"/>
          <p:cNvSpPr/>
          <p:nvPr/>
        </p:nvSpPr>
        <p:spPr>
          <a:xfrm>
            <a:off x="790218" y="2678787"/>
            <a:ext cx="4218265" cy="2281238"/>
          </a:xfrm>
          <a:prstGeom prst="roundRect">
            <a:avLst>
              <a:gd name="adj" fmla="val 3637"/>
            </a:avLst>
          </a:prstGeom>
          <a:solidFill>
            <a:srgbClr val="FDFAF7"/>
          </a:solidFill>
          <a:ln w="22860">
            <a:solidFill>
              <a:srgbClr val="C6BDDA"/>
            </a:solidFill>
            <a:prstDash val="solid"/>
          </a:ln>
        </p:spPr>
      </p:sp>
      <p:sp>
        <p:nvSpPr>
          <p:cNvPr id="6" name="Text 4"/>
          <p:cNvSpPr/>
          <p:nvPr/>
        </p:nvSpPr>
        <p:spPr>
          <a:xfrm>
            <a:off x="1010603" y="2899172"/>
            <a:ext cx="2716411" cy="339566"/>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基于空间划分的方法</a:t>
            </a:r>
            <a:endParaRPr lang="en-US" sz="2100" dirty="0"/>
          </a:p>
        </p:txBody>
      </p:sp>
      <p:sp>
        <p:nvSpPr>
          <p:cNvPr id="7" name="Text 5"/>
          <p:cNvSpPr/>
          <p:nvPr/>
        </p:nvSpPr>
        <p:spPr>
          <a:xfrm>
            <a:off x="1010603" y="3357205"/>
            <a:ext cx="3777496" cy="315992"/>
          </a:xfrm>
          <a:prstGeom prst="rect">
            <a:avLst/>
          </a:prstGeom>
          <a:noFill/>
          <a:ln/>
        </p:spPr>
        <p:txBody>
          <a:bodyPr wrap="non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将搜索空间划分为多个子区域。</a:t>
            </a:r>
            <a:endParaRPr lang="en-US" sz="1550" dirty="0"/>
          </a:p>
        </p:txBody>
      </p:sp>
      <p:sp>
        <p:nvSpPr>
          <p:cNvPr id="8" name="Text 6"/>
          <p:cNvSpPr/>
          <p:nvPr/>
        </p:nvSpPr>
        <p:spPr>
          <a:xfrm>
            <a:off x="1010603" y="3791664"/>
            <a:ext cx="3777496" cy="315992"/>
          </a:xfrm>
          <a:prstGeom prst="rect">
            <a:avLst/>
          </a:prstGeom>
          <a:noFill/>
          <a:ln/>
        </p:spPr>
        <p:txBody>
          <a:bodyPr wrap="none" lIns="0" tIns="0" rIns="0" bIns="0" rtlCol="0" anchor="t"/>
          <a:lstStyle/>
          <a:p>
            <a:pPr marL="342900" indent="-342900" algn="l">
              <a:lnSpc>
                <a:spcPts val="2450"/>
              </a:lnSpc>
              <a:buSzPct val="100000"/>
              <a:buChar char="•"/>
            </a:pPr>
            <a:r>
              <a:rPr lang="en-US" sz="1550" b="1" dirty="0">
                <a:solidFill>
                  <a:srgbClr val="272525"/>
                </a:solidFill>
                <a:latin typeface="Inter" pitchFamily="34" charset="0"/>
                <a:ea typeface="Inter" pitchFamily="34" charset="-122"/>
                <a:cs typeface="Inter" pitchFamily="34" charset="-120"/>
              </a:rPr>
              <a:t>树方法</a:t>
            </a:r>
            <a:r>
              <a:rPr lang="en-US" sz="1550" dirty="0">
                <a:solidFill>
                  <a:srgbClr val="272525"/>
                </a:solidFill>
                <a:latin typeface="Inter" pitchFamily="34" charset="0"/>
                <a:ea typeface="Inter" pitchFamily="34" charset="-122"/>
                <a:cs typeface="Inter" pitchFamily="34" charset="-120"/>
              </a:rPr>
              <a:t>：如 KD 树、Ball 树</a:t>
            </a:r>
            <a:endParaRPr lang="en-US" sz="1550" dirty="0"/>
          </a:p>
        </p:txBody>
      </p:sp>
      <p:sp>
        <p:nvSpPr>
          <p:cNvPr id="9" name="Text 7"/>
          <p:cNvSpPr/>
          <p:nvPr/>
        </p:nvSpPr>
        <p:spPr>
          <a:xfrm>
            <a:off x="1010603" y="4176713"/>
            <a:ext cx="3777496" cy="315992"/>
          </a:xfrm>
          <a:prstGeom prst="rect">
            <a:avLst/>
          </a:prstGeom>
          <a:noFill/>
          <a:ln/>
        </p:spPr>
        <p:txBody>
          <a:bodyPr wrap="none" lIns="0" tIns="0" rIns="0" bIns="0" rtlCol="0" anchor="t"/>
          <a:lstStyle/>
          <a:p>
            <a:pPr marL="342900" indent="-342900" algn="l">
              <a:lnSpc>
                <a:spcPts val="2450"/>
              </a:lnSpc>
              <a:buSzPct val="100000"/>
              <a:buChar char="•"/>
            </a:pPr>
            <a:r>
              <a:rPr lang="en-US" sz="1550" b="1" dirty="0">
                <a:solidFill>
                  <a:srgbClr val="272525"/>
                </a:solidFill>
                <a:latin typeface="Inter" pitchFamily="34" charset="0"/>
                <a:ea typeface="Inter" pitchFamily="34" charset="-122"/>
                <a:cs typeface="Inter" pitchFamily="34" charset="-120"/>
              </a:rPr>
              <a:t>哈希方法</a:t>
            </a:r>
            <a:r>
              <a:rPr lang="en-US" sz="1550" dirty="0">
                <a:solidFill>
                  <a:srgbClr val="272525"/>
                </a:solidFill>
                <a:latin typeface="Inter" pitchFamily="34" charset="0"/>
                <a:ea typeface="Inter" pitchFamily="34" charset="-122"/>
                <a:cs typeface="Inter" pitchFamily="34" charset="-120"/>
              </a:rPr>
              <a:t>：如局部敏感哈希（LSH）</a:t>
            </a:r>
            <a:endParaRPr lang="en-US" sz="1550" dirty="0"/>
          </a:p>
        </p:txBody>
      </p:sp>
      <p:sp>
        <p:nvSpPr>
          <p:cNvPr id="10" name="Shape 8"/>
          <p:cNvSpPr/>
          <p:nvPr/>
        </p:nvSpPr>
        <p:spPr>
          <a:xfrm>
            <a:off x="5206008" y="2678787"/>
            <a:ext cx="4218265" cy="2281238"/>
          </a:xfrm>
          <a:prstGeom prst="roundRect">
            <a:avLst>
              <a:gd name="adj" fmla="val 3637"/>
            </a:avLst>
          </a:prstGeom>
          <a:solidFill>
            <a:srgbClr val="FDFAF7"/>
          </a:solidFill>
          <a:ln w="22860">
            <a:solidFill>
              <a:srgbClr val="C6BDDA"/>
            </a:solidFill>
            <a:prstDash val="solid"/>
          </a:ln>
        </p:spPr>
      </p:sp>
      <p:sp>
        <p:nvSpPr>
          <p:cNvPr id="11" name="Text 9"/>
          <p:cNvSpPr/>
          <p:nvPr/>
        </p:nvSpPr>
        <p:spPr>
          <a:xfrm>
            <a:off x="5426393" y="2899172"/>
            <a:ext cx="2716411" cy="339566"/>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基于图的方法</a:t>
            </a:r>
            <a:endParaRPr lang="en-US" sz="2100" dirty="0"/>
          </a:p>
        </p:txBody>
      </p:sp>
      <p:sp>
        <p:nvSpPr>
          <p:cNvPr id="12" name="Text 10"/>
          <p:cNvSpPr/>
          <p:nvPr/>
        </p:nvSpPr>
        <p:spPr>
          <a:xfrm>
            <a:off x="5426393" y="3357205"/>
            <a:ext cx="3777496" cy="631984"/>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构建一个邻近图，将向量检索问题转化为图的遍历问题。</a:t>
            </a:r>
            <a:endParaRPr lang="en-US" sz="1550" dirty="0"/>
          </a:p>
        </p:txBody>
      </p:sp>
      <p:sp>
        <p:nvSpPr>
          <p:cNvPr id="13" name="Text 11"/>
          <p:cNvSpPr/>
          <p:nvPr/>
        </p:nvSpPr>
        <p:spPr>
          <a:xfrm>
            <a:off x="5426393" y="4107656"/>
            <a:ext cx="3777496" cy="631984"/>
          </a:xfrm>
          <a:prstGeom prst="rect">
            <a:avLst/>
          </a:prstGeom>
          <a:noFill/>
          <a:ln/>
        </p:spPr>
        <p:txBody>
          <a:bodyPr wrap="square" lIns="0" tIns="0" rIns="0" bIns="0" rtlCol="0" anchor="t"/>
          <a:lstStyle/>
          <a:p>
            <a:pPr marL="342900" indent="-342900" algn="l">
              <a:lnSpc>
                <a:spcPts val="2450"/>
              </a:lnSpc>
              <a:buSzPct val="100000"/>
              <a:buChar char="•"/>
            </a:pPr>
            <a:r>
              <a:rPr lang="en-US" sz="1550" b="1" dirty="0">
                <a:solidFill>
                  <a:srgbClr val="272525"/>
                </a:solidFill>
                <a:latin typeface="Inter" pitchFamily="34" charset="0"/>
                <a:ea typeface="Inter" pitchFamily="34" charset="-122"/>
                <a:cs typeface="Inter" pitchFamily="34" charset="-120"/>
              </a:rPr>
              <a:t>代表算法</a:t>
            </a:r>
            <a:r>
              <a:rPr lang="en-US" sz="1550" dirty="0">
                <a:solidFill>
                  <a:srgbClr val="272525"/>
                </a:solidFill>
                <a:latin typeface="Inter" pitchFamily="34" charset="0"/>
                <a:ea typeface="Inter" pitchFamily="34" charset="-122"/>
                <a:cs typeface="Inter" pitchFamily="34" charset="-120"/>
              </a:rPr>
              <a:t>：HNSW (Hierarchical Navigable Small World)</a:t>
            </a:r>
            <a:endParaRPr lang="en-US" sz="1550" dirty="0"/>
          </a:p>
        </p:txBody>
      </p:sp>
      <p:sp>
        <p:nvSpPr>
          <p:cNvPr id="14" name="Shape 12"/>
          <p:cNvSpPr/>
          <p:nvPr/>
        </p:nvSpPr>
        <p:spPr>
          <a:xfrm>
            <a:off x="9621798" y="2678787"/>
            <a:ext cx="4218265" cy="2281238"/>
          </a:xfrm>
          <a:prstGeom prst="roundRect">
            <a:avLst>
              <a:gd name="adj" fmla="val 3637"/>
            </a:avLst>
          </a:prstGeom>
          <a:solidFill>
            <a:srgbClr val="FDFAF7"/>
          </a:solidFill>
          <a:ln w="22860">
            <a:solidFill>
              <a:srgbClr val="C6BDDA"/>
            </a:solidFill>
            <a:prstDash val="solid"/>
          </a:ln>
        </p:spPr>
      </p:sp>
      <p:sp>
        <p:nvSpPr>
          <p:cNvPr id="15" name="Text 13"/>
          <p:cNvSpPr/>
          <p:nvPr/>
        </p:nvSpPr>
        <p:spPr>
          <a:xfrm>
            <a:off x="9842183" y="2899172"/>
            <a:ext cx="2716411" cy="339566"/>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基于量化的方法</a:t>
            </a:r>
            <a:endParaRPr lang="en-US" sz="2100" dirty="0"/>
          </a:p>
        </p:txBody>
      </p:sp>
      <p:sp>
        <p:nvSpPr>
          <p:cNvPr id="16" name="Text 14"/>
          <p:cNvSpPr/>
          <p:nvPr/>
        </p:nvSpPr>
        <p:spPr>
          <a:xfrm>
            <a:off x="9842183" y="3357205"/>
            <a:ext cx="3777496" cy="631984"/>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通过将高维向量压缩为低维码字来减少存储和计算开销。</a:t>
            </a:r>
            <a:endParaRPr lang="en-US" sz="1550" dirty="0"/>
          </a:p>
        </p:txBody>
      </p:sp>
      <p:sp>
        <p:nvSpPr>
          <p:cNvPr id="17" name="Text 15"/>
          <p:cNvSpPr/>
          <p:nvPr/>
        </p:nvSpPr>
        <p:spPr>
          <a:xfrm>
            <a:off x="9842183" y="4107656"/>
            <a:ext cx="3777496" cy="631984"/>
          </a:xfrm>
          <a:prstGeom prst="rect">
            <a:avLst/>
          </a:prstGeom>
          <a:noFill/>
          <a:ln/>
        </p:spPr>
        <p:txBody>
          <a:bodyPr wrap="square" lIns="0" tIns="0" rIns="0" bIns="0" rtlCol="0" anchor="t"/>
          <a:lstStyle/>
          <a:p>
            <a:pPr marL="342900" indent="-342900" algn="l">
              <a:lnSpc>
                <a:spcPts val="2450"/>
              </a:lnSpc>
              <a:buSzPct val="100000"/>
              <a:buChar char="•"/>
            </a:pPr>
            <a:r>
              <a:rPr lang="en-US" sz="1550" b="1" dirty="0">
                <a:solidFill>
                  <a:srgbClr val="272525"/>
                </a:solidFill>
                <a:latin typeface="Inter" pitchFamily="34" charset="0"/>
                <a:ea typeface="Inter" pitchFamily="34" charset="-122"/>
                <a:cs typeface="Inter" pitchFamily="34" charset="-120"/>
              </a:rPr>
              <a:t>代表算法</a:t>
            </a:r>
            <a:r>
              <a:rPr lang="en-US" sz="1550" dirty="0">
                <a:solidFill>
                  <a:srgbClr val="272525"/>
                </a:solidFill>
                <a:latin typeface="Inter" pitchFamily="34" charset="0"/>
                <a:ea typeface="Inter" pitchFamily="34" charset="-122"/>
                <a:cs typeface="Inter" pitchFamily="34" charset="-120"/>
              </a:rPr>
              <a:t>：乘积量化（PQ）及其变体，如 IVFPQ</a:t>
            </a:r>
            <a:endParaRPr lang="en-US" sz="1550" dirty="0"/>
          </a:p>
        </p:txBody>
      </p:sp>
      <p:sp>
        <p:nvSpPr>
          <p:cNvPr id="18" name="Shape 16"/>
          <p:cNvSpPr/>
          <p:nvPr/>
        </p:nvSpPr>
        <p:spPr>
          <a:xfrm>
            <a:off x="790218" y="5280877"/>
            <a:ext cx="13049964" cy="32266"/>
          </a:xfrm>
          <a:prstGeom prst="rect">
            <a:avLst/>
          </a:prstGeom>
          <a:solidFill>
            <a:srgbClr val="272525">
              <a:alpha val="50000"/>
            </a:srgbClr>
          </a:solidFill>
          <a:ln/>
        </p:spPr>
      </p:sp>
      <p:sp>
        <p:nvSpPr>
          <p:cNvPr id="19" name="Text 17"/>
          <p:cNvSpPr/>
          <p:nvPr/>
        </p:nvSpPr>
        <p:spPr>
          <a:xfrm>
            <a:off x="790218" y="5609273"/>
            <a:ext cx="5080635" cy="543163"/>
          </a:xfrm>
          <a:prstGeom prst="rect">
            <a:avLst/>
          </a:prstGeom>
          <a:noFill/>
          <a:ln/>
        </p:spPr>
        <p:txBody>
          <a:bodyPr wrap="none" lIns="0" tIns="0" rIns="0" bIns="0" rtlCol="0" anchor="t"/>
          <a:lstStyle/>
          <a:p>
            <a:pPr marL="0" indent="0" algn="l">
              <a:lnSpc>
                <a:spcPts val="4250"/>
              </a:lnSpc>
              <a:buNone/>
            </a:pPr>
            <a:r>
              <a:rPr lang="en-US" sz="3400" b="1" dirty="0">
                <a:solidFill>
                  <a:srgbClr val="F95F88"/>
                </a:solidFill>
                <a:latin typeface="Petrona Bold" pitchFamily="34" charset="0"/>
                <a:ea typeface="Petrona Bold" pitchFamily="34" charset="-122"/>
                <a:cs typeface="Petrona Bold" pitchFamily="34" charset="-120"/>
              </a:rPr>
              <a:t>检索结果重排 (Reranking)</a:t>
            </a:r>
            <a:endParaRPr lang="en-US" sz="3400" dirty="0"/>
          </a:p>
        </p:txBody>
      </p:sp>
      <p:sp>
        <p:nvSpPr>
          <p:cNvPr id="20" name="Text 18"/>
          <p:cNvSpPr/>
          <p:nvPr/>
        </p:nvSpPr>
        <p:spPr>
          <a:xfrm>
            <a:off x="790218" y="6448663"/>
            <a:ext cx="13049964" cy="315992"/>
          </a:xfrm>
          <a:prstGeom prst="rect">
            <a:avLst/>
          </a:prstGeom>
          <a:noFill/>
          <a:ln/>
        </p:spPr>
        <p:txBody>
          <a:bodyPr wrap="non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在初步检索（召回）之后，通过一个更精细的模型对候选文档列表进行重新排序，以提升最终送入 LLM 的文档质量。</a:t>
            </a:r>
            <a:endParaRPr lang="en-US" sz="1550" dirty="0"/>
          </a:p>
        </p:txBody>
      </p:sp>
      <p:sp>
        <p:nvSpPr>
          <p:cNvPr id="21" name="Text 19"/>
          <p:cNvSpPr/>
          <p:nvPr/>
        </p:nvSpPr>
        <p:spPr>
          <a:xfrm>
            <a:off x="790218" y="6986826"/>
            <a:ext cx="13049964" cy="315992"/>
          </a:xfrm>
          <a:prstGeom prst="rect">
            <a:avLst/>
          </a:prstGeom>
          <a:noFill/>
          <a:ln/>
        </p:spPr>
        <p:txBody>
          <a:bodyPr wrap="none" lIns="0" tIns="0" rIns="0" bIns="0" rtlCol="0" anchor="t"/>
          <a:lstStyle/>
          <a:p>
            <a:pPr marL="342900" indent="-342900" algn="l">
              <a:lnSpc>
                <a:spcPts val="2450"/>
              </a:lnSpc>
              <a:buSzPct val="100000"/>
              <a:buChar char="•"/>
            </a:pPr>
            <a:r>
              <a:rPr lang="en-US" sz="1550" b="1" dirty="0">
                <a:solidFill>
                  <a:srgbClr val="272525"/>
                </a:solidFill>
                <a:latin typeface="Inter" pitchFamily="34" charset="0"/>
                <a:ea typeface="Inter" pitchFamily="34" charset="-122"/>
                <a:cs typeface="Inter" pitchFamily="34" charset="-120"/>
              </a:rPr>
              <a:t>基于交叉编码的方法</a:t>
            </a:r>
            <a:r>
              <a:rPr lang="en-US" sz="1550" dirty="0">
                <a:solidFill>
                  <a:srgbClr val="272525"/>
                </a:solidFill>
                <a:latin typeface="Inter" pitchFamily="34" charset="0"/>
                <a:ea typeface="Inter" pitchFamily="34" charset="-122"/>
                <a:cs typeface="Inter" pitchFamily="34" charset="-120"/>
              </a:rPr>
              <a:t>：使用计算精度高但速度慢的交叉编码器模型（如 MiniLM-L6）对召回的前 K 个文档进行打分重排。</a:t>
            </a:r>
            <a:endParaRPr lang="en-US" sz="1550" dirty="0"/>
          </a:p>
        </p:txBody>
      </p:sp>
      <p:sp>
        <p:nvSpPr>
          <p:cNvPr id="22" name="Text 20"/>
          <p:cNvSpPr/>
          <p:nvPr/>
        </p:nvSpPr>
        <p:spPr>
          <a:xfrm>
            <a:off x="790218" y="7371874"/>
            <a:ext cx="13049964" cy="315992"/>
          </a:xfrm>
          <a:prstGeom prst="rect">
            <a:avLst/>
          </a:prstGeom>
          <a:noFill/>
          <a:ln/>
        </p:spPr>
        <p:txBody>
          <a:bodyPr wrap="none" lIns="0" tIns="0" rIns="0" bIns="0" rtlCol="0" anchor="t"/>
          <a:lstStyle/>
          <a:p>
            <a:pPr marL="342900" indent="-342900" algn="l">
              <a:lnSpc>
                <a:spcPts val="2450"/>
              </a:lnSpc>
              <a:buSzPct val="100000"/>
              <a:buChar char="•"/>
            </a:pPr>
            <a:r>
              <a:rPr lang="en-US" sz="1550" b="1" dirty="0">
                <a:solidFill>
                  <a:srgbClr val="272525"/>
                </a:solidFill>
                <a:latin typeface="Inter" pitchFamily="34" charset="0"/>
                <a:ea typeface="Inter" pitchFamily="34" charset="-122"/>
                <a:cs typeface="Inter" pitchFamily="34" charset="-120"/>
              </a:rPr>
              <a:t>基于上下文学习的方法</a:t>
            </a:r>
            <a:r>
              <a:rPr lang="en-US" sz="1550" dirty="0">
                <a:solidFill>
                  <a:srgbClr val="272525"/>
                </a:solidFill>
                <a:latin typeface="Inter" pitchFamily="34" charset="0"/>
                <a:ea typeface="Inter" pitchFamily="34" charset="-122"/>
                <a:cs typeface="Inter" pitchFamily="34" charset="-120"/>
              </a:rPr>
              <a:t>：通过设计精巧的 Prompt，直接利用强大的大语言模型（如 GPT-4）本身来执行重排任务，典型代表是 </a:t>
            </a:r>
            <a:r>
              <a:rPr lang="en-US" sz="1550" b="1" dirty="0">
                <a:solidFill>
                  <a:srgbClr val="272525"/>
                </a:solidFill>
                <a:latin typeface="Inter" pitchFamily="34" charset="0"/>
                <a:ea typeface="Inter" pitchFamily="34" charset="-122"/>
                <a:cs typeface="Inter" pitchFamily="34" charset="-120"/>
              </a:rPr>
              <a:t>RankGPT</a:t>
            </a:r>
            <a:r>
              <a:rPr lang="en-US" sz="1550" dirty="0">
                <a:solidFill>
                  <a:srgbClr val="272525"/>
                </a:solidFill>
                <a:latin typeface="Inter" pitchFamily="34" charset="0"/>
                <a:ea typeface="Inter" pitchFamily="34" charset="-122"/>
                <a:cs typeface="Inter" pitchFamily="34" charset="-120"/>
              </a:rPr>
              <a:t>。</a:t>
            </a:r>
            <a:endParaRPr lang="en-US" sz="1550" dirty="0"/>
          </a:p>
        </p:txBody>
      </p:sp>
      <p:pic>
        <p:nvPicPr>
          <p:cNvPr id="24" name="图片 23">
            <a:extLst>
              <a:ext uri="{FF2B5EF4-FFF2-40B4-BE49-F238E27FC236}">
                <a16:creationId xmlns:a16="http://schemas.microsoft.com/office/drawing/2014/main" id="{E14166ED-B029-B3E6-D9B8-1FB746C33FEE}"/>
              </a:ext>
            </a:extLst>
          </p:cNvPr>
          <p:cNvPicPr>
            <a:picLocks noChangeAspect="1"/>
          </p:cNvPicPr>
          <p:nvPr/>
        </p:nvPicPr>
        <p:blipFill>
          <a:blip r:embed="rId3"/>
          <a:stretch>
            <a:fillRect/>
          </a:stretch>
        </p:blipFill>
        <p:spPr>
          <a:xfrm>
            <a:off x="8571212" y="221467"/>
            <a:ext cx="5517850" cy="20903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551271"/>
            <a:ext cx="8184952"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何时增强：判断是否需要外部知识</a:t>
            </a:r>
            <a:endParaRPr lang="en-US" sz="4250" dirty="0"/>
          </a:p>
        </p:txBody>
      </p:sp>
      <p:sp>
        <p:nvSpPr>
          <p:cNvPr id="3" name="Text 1"/>
          <p:cNvSpPr/>
          <p:nvPr/>
        </p:nvSpPr>
        <p:spPr>
          <a:xfrm>
            <a:off x="793790" y="363033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在回答问题之前，首先要判断模型的内部知识是否足以回答该问题。如果模型已有相关知识，则无需启动外部检索，从而节省计算资源和时间。判断方法主要分为两类：</a:t>
            </a:r>
            <a:endParaRPr lang="en-US" sz="1550" dirty="0"/>
          </a:p>
        </p:txBody>
      </p:sp>
      <p:sp>
        <p:nvSpPr>
          <p:cNvPr id="4" name="Shape 2"/>
          <p:cNvSpPr/>
          <p:nvPr/>
        </p:nvSpPr>
        <p:spPr>
          <a:xfrm>
            <a:off x="793790" y="4488656"/>
            <a:ext cx="6422231" cy="1189673"/>
          </a:xfrm>
          <a:prstGeom prst="roundRect">
            <a:avLst>
              <a:gd name="adj" fmla="val 7007"/>
            </a:avLst>
          </a:prstGeom>
          <a:solidFill>
            <a:srgbClr val="E0D7F4"/>
          </a:solidFill>
          <a:ln w="7620">
            <a:solidFill>
              <a:srgbClr val="C6BDDA"/>
            </a:solidFill>
            <a:prstDash val="solid"/>
          </a:ln>
        </p:spPr>
      </p:sp>
      <p:sp>
        <p:nvSpPr>
          <p:cNvPr id="5" name="Text 3"/>
          <p:cNvSpPr/>
          <p:nvPr/>
        </p:nvSpPr>
        <p:spPr>
          <a:xfrm>
            <a:off x="999768" y="4694634"/>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外部观测法</a:t>
            </a:r>
            <a:endParaRPr lang="en-US" sz="2100" dirty="0"/>
          </a:p>
        </p:txBody>
      </p:sp>
      <p:sp>
        <p:nvSpPr>
          <p:cNvPr id="6" name="Text 4"/>
          <p:cNvSpPr/>
          <p:nvPr/>
        </p:nvSpPr>
        <p:spPr>
          <a:xfrm>
            <a:off x="999768" y="5154811"/>
            <a:ext cx="601027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通过与模型交互来评估其知识水平，无需访问模型内部参数</a:t>
            </a:r>
            <a:endParaRPr lang="en-US" sz="1550" dirty="0"/>
          </a:p>
        </p:txBody>
      </p:sp>
      <p:sp>
        <p:nvSpPr>
          <p:cNvPr id="7" name="Shape 5"/>
          <p:cNvSpPr/>
          <p:nvPr/>
        </p:nvSpPr>
        <p:spPr>
          <a:xfrm>
            <a:off x="7414379" y="4488656"/>
            <a:ext cx="6422231" cy="1189673"/>
          </a:xfrm>
          <a:prstGeom prst="roundRect">
            <a:avLst>
              <a:gd name="adj" fmla="val 7007"/>
            </a:avLst>
          </a:prstGeom>
          <a:solidFill>
            <a:srgbClr val="E0D7F4"/>
          </a:solidFill>
          <a:ln w="7620">
            <a:solidFill>
              <a:srgbClr val="C6BDDA"/>
            </a:solidFill>
            <a:prstDash val="solid"/>
          </a:ln>
        </p:spPr>
      </p:sp>
      <p:sp>
        <p:nvSpPr>
          <p:cNvPr id="8" name="Text 6"/>
          <p:cNvSpPr/>
          <p:nvPr/>
        </p:nvSpPr>
        <p:spPr>
          <a:xfrm>
            <a:off x="7620357" y="4694634"/>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内部观测法</a:t>
            </a:r>
            <a:endParaRPr lang="en-US" sz="2100" dirty="0"/>
          </a:p>
        </p:txBody>
      </p:sp>
      <p:sp>
        <p:nvSpPr>
          <p:cNvPr id="9" name="Text 7"/>
          <p:cNvSpPr/>
          <p:nvPr/>
        </p:nvSpPr>
        <p:spPr>
          <a:xfrm>
            <a:off x="7620357" y="5154811"/>
            <a:ext cx="6010275"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通过分析模型在处理问题时的内部状态来判断其不确定性</a:t>
            </a:r>
            <a:endParaRPr lang="en-US" sz="1550" dirty="0"/>
          </a:p>
        </p:txBody>
      </p:sp>
      <p:sp>
        <p:nvSpPr>
          <p:cNvPr id="12" name="Text 0">
            <a:extLst>
              <a:ext uri="{FF2B5EF4-FFF2-40B4-BE49-F238E27FC236}">
                <a16:creationId xmlns:a16="http://schemas.microsoft.com/office/drawing/2014/main" id="{53637EB4-F06C-05BC-4CD3-7BAD85983BD3}"/>
              </a:ext>
            </a:extLst>
          </p:cNvPr>
          <p:cNvSpPr/>
          <p:nvPr/>
        </p:nvSpPr>
        <p:spPr>
          <a:xfrm>
            <a:off x="793790" y="1342852"/>
            <a:ext cx="5457944"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生成增强策略</a:t>
            </a:r>
            <a:endParaRPr lang="en-US" sz="4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772722"/>
            <a:ext cx="5457944"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外部观测法的具体方法</a:t>
            </a:r>
            <a:endParaRPr lang="en-US" sz="4250" dirty="0"/>
          </a:p>
        </p:txBody>
      </p:sp>
      <p:sp>
        <p:nvSpPr>
          <p:cNvPr id="3" name="Text 1"/>
          <p:cNvSpPr/>
          <p:nvPr/>
        </p:nvSpPr>
        <p:spPr>
          <a:xfrm>
            <a:off x="793790" y="285178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Petrona Light" pitchFamily="34" charset="0"/>
                <a:ea typeface="Petrona Light" pitchFamily="34" charset="-122"/>
                <a:cs typeface="Petrona Light" pitchFamily="34" charset="-120"/>
              </a:rPr>
              <a:t>01</a:t>
            </a:r>
            <a:endParaRPr lang="en-US" sz="1550" dirty="0"/>
          </a:p>
        </p:txBody>
      </p:sp>
      <p:sp>
        <p:nvSpPr>
          <p:cNvPr id="4" name="Shape 2"/>
          <p:cNvSpPr/>
          <p:nvPr/>
        </p:nvSpPr>
        <p:spPr>
          <a:xfrm>
            <a:off x="793790" y="3166110"/>
            <a:ext cx="6422231" cy="22860"/>
          </a:xfrm>
          <a:prstGeom prst="rect">
            <a:avLst/>
          </a:prstGeom>
          <a:solidFill>
            <a:srgbClr val="6237C8"/>
          </a:solidFill>
          <a:ln/>
        </p:spPr>
      </p:sp>
      <p:sp>
        <p:nvSpPr>
          <p:cNvPr id="5" name="Text 3"/>
          <p:cNvSpPr/>
          <p:nvPr/>
        </p:nvSpPr>
        <p:spPr>
          <a:xfrm>
            <a:off x="793790" y="3311009"/>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直接询问</a:t>
            </a:r>
            <a:endParaRPr lang="en-US" sz="2100" dirty="0"/>
          </a:p>
        </p:txBody>
      </p:sp>
      <p:sp>
        <p:nvSpPr>
          <p:cNvPr id="6" name="Text 4"/>
          <p:cNvSpPr/>
          <p:nvPr/>
        </p:nvSpPr>
        <p:spPr>
          <a:xfrm>
            <a:off x="793790" y="3771186"/>
            <a:ext cx="642223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直接通过 Prompt 询问模型是否了解某个概念或问题。</a:t>
            </a:r>
            <a:endParaRPr lang="en-US" sz="1550" dirty="0"/>
          </a:p>
        </p:txBody>
      </p:sp>
      <p:sp>
        <p:nvSpPr>
          <p:cNvPr id="7" name="Text 5"/>
          <p:cNvSpPr/>
          <p:nvPr/>
        </p:nvSpPr>
        <p:spPr>
          <a:xfrm>
            <a:off x="7414379" y="2851785"/>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Petrona Light" pitchFamily="34" charset="0"/>
                <a:ea typeface="Petrona Light" pitchFamily="34" charset="-122"/>
                <a:cs typeface="Petrona Light" pitchFamily="34" charset="-120"/>
              </a:rPr>
              <a:t>02</a:t>
            </a:r>
            <a:endParaRPr lang="en-US" sz="1550" dirty="0"/>
          </a:p>
        </p:txBody>
      </p:sp>
      <p:sp>
        <p:nvSpPr>
          <p:cNvPr id="8" name="Shape 6"/>
          <p:cNvSpPr/>
          <p:nvPr/>
        </p:nvSpPr>
        <p:spPr>
          <a:xfrm>
            <a:off x="7414379" y="3166110"/>
            <a:ext cx="6422231" cy="22860"/>
          </a:xfrm>
          <a:prstGeom prst="rect">
            <a:avLst/>
          </a:prstGeom>
          <a:solidFill>
            <a:srgbClr val="6237C8"/>
          </a:solidFill>
          <a:ln/>
        </p:spPr>
      </p:sp>
      <p:sp>
        <p:nvSpPr>
          <p:cNvPr id="9" name="Text 7"/>
          <p:cNvSpPr/>
          <p:nvPr/>
        </p:nvSpPr>
        <p:spPr>
          <a:xfrm>
            <a:off x="7414379" y="3311009"/>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一致性检验</a:t>
            </a:r>
            <a:endParaRPr lang="en-US" sz="2100" dirty="0"/>
          </a:p>
        </p:txBody>
      </p:sp>
      <p:sp>
        <p:nvSpPr>
          <p:cNvPr id="10" name="Text 8"/>
          <p:cNvSpPr/>
          <p:nvPr/>
        </p:nvSpPr>
        <p:spPr>
          <a:xfrm>
            <a:off x="7414379" y="3771186"/>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多次向模型提问同一个问题，观察其回答的一致性。如果回答不稳定或相互矛盾，则可能表明其内部知识不足。</a:t>
            </a:r>
            <a:endParaRPr lang="en-US" sz="1550" dirty="0"/>
          </a:p>
        </p:txBody>
      </p:sp>
      <p:sp>
        <p:nvSpPr>
          <p:cNvPr id="11" name="Text 9"/>
          <p:cNvSpPr/>
          <p:nvPr/>
        </p:nvSpPr>
        <p:spPr>
          <a:xfrm>
            <a:off x="793790" y="4753451"/>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Petrona Light" pitchFamily="34" charset="0"/>
                <a:ea typeface="Petrona Light" pitchFamily="34" charset="-122"/>
                <a:cs typeface="Petrona Light" pitchFamily="34" charset="-120"/>
              </a:rPr>
              <a:t>03</a:t>
            </a:r>
            <a:endParaRPr lang="en-US" sz="1550" dirty="0"/>
          </a:p>
        </p:txBody>
      </p:sp>
      <p:sp>
        <p:nvSpPr>
          <p:cNvPr id="12" name="Shape 10"/>
          <p:cNvSpPr/>
          <p:nvPr/>
        </p:nvSpPr>
        <p:spPr>
          <a:xfrm>
            <a:off x="793790" y="5067776"/>
            <a:ext cx="6422231" cy="22860"/>
          </a:xfrm>
          <a:prstGeom prst="rect">
            <a:avLst/>
          </a:prstGeom>
          <a:solidFill>
            <a:srgbClr val="6237C8"/>
          </a:solidFill>
          <a:ln/>
        </p:spPr>
      </p:sp>
      <p:sp>
        <p:nvSpPr>
          <p:cNvPr id="13" name="Text 11"/>
          <p:cNvSpPr/>
          <p:nvPr/>
        </p:nvSpPr>
        <p:spPr>
          <a:xfrm>
            <a:off x="793790" y="5212675"/>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训练数据溯源</a:t>
            </a:r>
            <a:endParaRPr lang="en-US" sz="2100" dirty="0"/>
          </a:p>
        </p:txBody>
      </p:sp>
      <p:sp>
        <p:nvSpPr>
          <p:cNvPr id="14" name="Text 12"/>
          <p:cNvSpPr/>
          <p:nvPr/>
        </p:nvSpPr>
        <p:spPr>
          <a:xfrm>
            <a:off x="793790" y="5672852"/>
            <a:ext cx="642223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通过分析模型的训练数据集来判断其是否接触过相关领域的知识。</a:t>
            </a:r>
            <a:endParaRPr lang="en-US" sz="1550" dirty="0"/>
          </a:p>
        </p:txBody>
      </p:sp>
      <p:sp>
        <p:nvSpPr>
          <p:cNvPr id="15" name="Text 13"/>
          <p:cNvSpPr/>
          <p:nvPr/>
        </p:nvSpPr>
        <p:spPr>
          <a:xfrm>
            <a:off x="7414379" y="4753451"/>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Petrona Light" pitchFamily="34" charset="0"/>
                <a:ea typeface="Petrona Light" pitchFamily="34" charset="-122"/>
                <a:cs typeface="Petrona Light" pitchFamily="34" charset="-120"/>
              </a:rPr>
              <a:t>04</a:t>
            </a:r>
            <a:endParaRPr lang="en-US" sz="1550" dirty="0"/>
          </a:p>
        </p:txBody>
      </p:sp>
      <p:sp>
        <p:nvSpPr>
          <p:cNvPr id="16" name="Shape 14"/>
          <p:cNvSpPr/>
          <p:nvPr/>
        </p:nvSpPr>
        <p:spPr>
          <a:xfrm>
            <a:off x="7414379" y="5067776"/>
            <a:ext cx="6422231" cy="22860"/>
          </a:xfrm>
          <a:prstGeom prst="rect">
            <a:avLst/>
          </a:prstGeom>
          <a:solidFill>
            <a:srgbClr val="6237C8"/>
          </a:solidFill>
          <a:ln/>
        </p:spPr>
      </p:sp>
      <p:sp>
        <p:nvSpPr>
          <p:cNvPr id="17" name="Text 15"/>
          <p:cNvSpPr/>
          <p:nvPr/>
        </p:nvSpPr>
        <p:spPr>
          <a:xfrm>
            <a:off x="7414379" y="5212675"/>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伪数据统计</a:t>
            </a:r>
            <a:endParaRPr lang="en-US" sz="2100" dirty="0"/>
          </a:p>
        </p:txBody>
      </p:sp>
      <p:sp>
        <p:nvSpPr>
          <p:cNvPr id="18" name="Text 16"/>
          <p:cNvSpPr/>
          <p:nvPr/>
        </p:nvSpPr>
        <p:spPr>
          <a:xfrm>
            <a:off x="7414379" y="5672852"/>
            <a:ext cx="642223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设计伪训练数据，通过统计分析来拟合真实训练数据的分布，从而间接评估模型对特定知识的学习情况。</a:t>
            </a:r>
            <a:endParaRPr lang="en-US" sz="1550" dirty="0"/>
          </a:p>
        </p:txBody>
      </p:sp>
      <p:pic>
        <p:nvPicPr>
          <p:cNvPr id="19" name="图片 18">
            <a:extLst>
              <a:ext uri="{FF2B5EF4-FFF2-40B4-BE49-F238E27FC236}">
                <a16:creationId xmlns:a16="http://schemas.microsoft.com/office/drawing/2014/main" id="{7943253E-884A-ECB9-1CA8-D928D6D034EC}"/>
              </a:ext>
            </a:extLst>
          </p:cNvPr>
          <p:cNvPicPr>
            <a:picLocks noChangeAspect="1"/>
          </p:cNvPicPr>
          <p:nvPr/>
        </p:nvPicPr>
        <p:blipFill>
          <a:blip r:embed="rId3"/>
          <a:stretch>
            <a:fillRect/>
          </a:stretch>
        </p:blipFill>
        <p:spPr>
          <a:xfrm>
            <a:off x="7612737" y="604540"/>
            <a:ext cx="5550252" cy="170318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531507"/>
            <a:ext cx="5457944"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内部观测法的核心技术</a:t>
            </a:r>
            <a:endParaRPr lang="en-US" sz="4250" dirty="0"/>
          </a:p>
        </p:txBody>
      </p:sp>
      <p:sp>
        <p:nvSpPr>
          <p:cNvPr id="3" name="Text 1"/>
          <p:cNvSpPr/>
          <p:nvPr/>
        </p:nvSpPr>
        <p:spPr>
          <a:xfrm>
            <a:off x="793790" y="3709749"/>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内部不确定性</a:t>
            </a:r>
            <a:endParaRPr lang="en-US" sz="2100" dirty="0"/>
          </a:p>
        </p:txBody>
      </p:sp>
      <p:sp>
        <p:nvSpPr>
          <p:cNvPr id="4" name="Text 2"/>
          <p:cNvSpPr/>
          <p:nvPr/>
        </p:nvSpPr>
        <p:spPr>
          <a:xfrm>
            <a:off x="793790" y="4249222"/>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当模型对输入问题缺乏充分理解时，其内部状态（如注意力分布、激活值变化）会表现出较高的不确定性。</a:t>
            </a:r>
            <a:endParaRPr lang="en-US" sz="1550" dirty="0"/>
          </a:p>
        </p:txBody>
      </p:sp>
      <p:sp>
        <p:nvSpPr>
          <p:cNvPr id="5" name="Text 3"/>
          <p:cNvSpPr/>
          <p:nvPr/>
        </p:nvSpPr>
        <p:spPr>
          <a:xfrm>
            <a:off x="7564874" y="3709749"/>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探针 (Probe)</a:t>
            </a:r>
            <a:endParaRPr lang="en-US" sz="2100" dirty="0"/>
          </a:p>
        </p:txBody>
      </p:sp>
      <p:sp>
        <p:nvSpPr>
          <p:cNvPr id="6" name="Text 4"/>
          <p:cNvSpPr/>
          <p:nvPr/>
        </p:nvSpPr>
        <p:spPr>
          <a:xfrm>
            <a:off x="7564874" y="4249222"/>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由于模型的知识检索主要发生在中间层的前馈网络中，我们可以训练一个简单的分类器（即探针），来根据模型处理问题时中间层的内部表示（如注意力层输出、MLP 层输出、隐藏状态）进行判断，区分该问题是模型的"已知"还是"未知"范围。</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526858"/>
            <a:ext cx="7639288"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何处增强：知识融入模型的节点</a:t>
            </a:r>
            <a:endParaRPr lang="en-US" sz="4250" dirty="0"/>
          </a:p>
        </p:txBody>
      </p:sp>
      <p:sp>
        <p:nvSpPr>
          <p:cNvPr id="3" name="Text 1"/>
          <p:cNvSpPr/>
          <p:nvPr/>
        </p:nvSpPr>
        <p:spPr>
          <a:xfrm>
            <a:off x="793790" y="2605921"/>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检索到的外部知识可以在模型处理流程的不同阶段融入，主要分为以下三种方式：</a:t>
            </a:r>
            <a:endParaRPr lang="en-US" sz="1550" dirty="0"/>
          </a:p>
        </p:txBody>
      </p:sp>
      <p:pic>
        <p:nvPicPr>
          <p:cNvPr id="4" name="Image 0" descr="preencoded.png"/>
          <p:cNvPicPr>
            <a:picLocks noChangeAspect="1"/>
          </p:cNvPicPr>
          <p:nvPr/>
        </p:nvPicPr>
        <p:blipFill>
          <a:blip r:embed="rId3"/>
          <a:stretch>
            <a:fillRect/>
          </a:stretch>
        </p:blipFill>
        <p:spPr>
          <a:xfrm>
            <a:off x="793790" y="3146703"/>
            <a:ext cx="4347567" cy="793790"/>
          </a:xfrm>
          <a:prstGeom prst="rect">
            <a:avLst/>
          </a:prstGeom>
        </p:spPr>
      </p:pic>
      <p:sp>
        <p:nvSpPr>
          <p:cNvPr id="5" name="Text 2"/>
          <p:cNvSpPr/>
          <p:nvPr/>
        </p:nvSpPr>
        <p:spPr>
          <a:xfrm>
            <a:off x="992148" y="4138851"/>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在输入端增强</a:t>
            </a:r>
            <a:endParaRPr lang="en-US" sz="2100" dirty="0"/>
          </a:p>
        </p:txBody>
      </p:sp>
      <p:sp>
        <p:nvSpPr>
          <p:cNvPr id="6" name="Text 3"/>
          <p:cNvSpPr/>
          <p:nvPr/>
        </p:nvSpPr>
        <p:spPr>
          <a:xfrm>
            <a:off x="992148" y="4599027"/>
            <a:ext cx="3950851" cy="190523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这是当前最主流的 RAG 实现方式。它将检索到的外部知识文本直接与用户的原始查询拼接成一个增强的 Prompt，然后将这个完整的 Prompt 输入给大语言模型。此方法的关键在于 Prompt 的设计和对检索到的多个知识片段进行有效排序。</a:t>
            </a:r>
            <a:endParaRPr lang="en-US" sz="1550" dirty="0"/>
          </a:p>
        </p:txBody>
      </p:sp>
      <p:pic>
        <p:nvPicPr>
          <p:cNvPr id="7" name="Image 1" descr="preencoded.png"/>
          <p:cNvPicPr>
            <a:picLocks noChangeAspect="1"/>
          </p:cNvPicPr>
          <p:nvPr/>
        </p:nvPicPr>
        <p:blipFill>
          <a:blip r:embed="rId4"/>
          <a:stretch>
            <a:fillRect/>
          </a:stretch>
        </p:blipFill>
        <p:spPr>
          <a:xfrm>
            <a:off x="5141357" y="3146703"/>
            <a:ext cx="4347567" cy="793790"/>
          </a:xfrm>
          <a:prstGeom prst="rect">
            <a:avLst/>
          </a:prstGeom>
        </p:spPr>
      </p:pic>
      <p:sp>
        <p:nvSpPr>
          <p:cNvPr id="8" name="Text 4"/>
          <p:cNvSpPr/>
          <p:nvPr/>
        </p:nvSpPr>
        <p:spPr>
          <a:xfrm>
            <a:off x="5339715" y="4138851"/>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在中间层增强</a:t>
            </a:r>
            <a:endParaRPr lang="en-US" sz="2100" dirty="0"/>
          </a:p>
        </p:txBody>
      </p:sp>
      <p:sp>
        <p:nvSpPr>
          <p:cNvPr id="9" name="Text 5"/>
          <p:cNvSpPr/>
          <p:nvPr/>
        </p:nvSpPr>
        <p:spPr>
          <a:xfrm>
            <a:off x="5339715" y="4599027"/>
            <a:ext cx="3950851" cy="190523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这种方法利用了 Transformer 模型中注意力机制的灵活性。它首先将检索到的外部知识编码成向量表示，然后在模型的中间层，通过交叉注意力 (Cross-Attention) 机制将这些知识向量融合到模型的隐藏状态中，从而在生成过程中直接影响模型的内部计算。</a:t>
            </a:r>
            <a:endParaRPr lang="en-US" sz="1550" dirty="0"/>
          </a:p>
        </p:txBody>
      </p:sp>
      <p:pic>
        <p:nvPicPr>
          <p:cNvPr id="10" name="Image 2" descr="preencoded.png"/>
          <p:cNvPicPr>
            <a:picLocks noChangeAspect="1"/>
          </p:cNvPicPr>
          <p:nvPr/>
        </p:nvPicPr>
        <p:blipFill>
          <a:blip r:embed="rId5"/>
          <a:stretch>
            <a:fillRect/>
          </a:stretch>
        </p:blipFill>
        <p:spPr>
          <a:xfrm>
            <a:off x="9488924" y="3146703"/>
            <a:ext cx="4347567" cy="793790"/>
          </a:xfrm>
          <a:prstGeom prst="rect">
            <a:avLst/>
          </a:prstGeom>
        </p:spPr>
      </p:pic>
      <p:sp>
        <p:nvSpPr>
          <p:cNvPr id="11" name="Text 6"/>
          <p:cNvSpPr/>
          <p:nvPr/>
        </p:nvSpPr>
        <p:spPr>
          <a:xfrm>
            <a:off x="9687282" y="4138851"/>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在输出端增强</a:t>
            </a:r>
            <a:endParaRPr lang="en-US" sz="2100" dirty="0"/>
          </a:p>
        </p:txBody>
      </p:sp>
      <p:sp>
        <p:nvSpPr>
          <p:cNvPr id="12" name="Text 7"/>
          <p:cNvSpPr/>
          <p:nvPr/>
        </p:nvSpPr>
        <p:spPr>
          <a:xfrm>
            <a:off x="9687282" y="4599027"/>
            <a:ext cx="3950851"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这是一种后处理方法。模型首先在没有外部知识的情况下生成一个初步的回答，然后利用检索到的外部知识对这个初步答案进行验证、校准和修正，以提高最终输出的准确性。</a:t>
            </a:r>
            <a:endParaRPr lang="en-US" sz="1550" dirty="0"/>
          </a:p>
        </p:txBody>
      </p:sp>
      <p:pic>
        <p:nvPicPr>
          <p:cNvPr id="14" name="图片 13">
            <a:extLst>
              <a:ext uri="{FF2B5EF4-FFF2-40B4-BE49-F238E27FC236}">
                <a16:creationId xmlns:a16="http://schemas.microsoft.com/office/drawing/2014/main" id="{42D6D30D-B47D-B340-1878-73B10A3A44C7}"/>
              </a:ext>
            </a:extLst>
          </p:cNvPr>
          <p:cNvPicPr>
            <a:picLocks noChangeAspect="1"/>
          </p:cNvPicPr>
          <p:nvPr/>
        </p:nvPicPr>
        <p:blipFill>
          <a:blip r:embed="rId6"/>
          <a:stretch>
            <a:fillRect/>
          </a:stretch>
        </p:blipFill>
        <p:spPr>
          <a:xfrm>
            <a:off x="8675077" y="525983"/>
            <a:ext cx="5568290" cy="207993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841421"/>
            <a:ext cx="7639288"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多次增强：处理复杂和模糊问题</a:t>
            </a:r>
            <a:endParaRPr lang="en-US" sz="4250" dirty="0"/>
          </a:p>
        </p:txBody>
      </p:sp>
      <p:sp>
        <p:nvSpPr>
          <p:cNvPr id="3" name="Text 1"/>
          <p:cNvSpPr/>
          <p:nvPr/>
        </p:nvSpPr>
        <p:spPr>
          <a:xfrm>
            <a:off x="793790" y="2920484"/>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当遇到需要多步骤推理的复杂问题或指代不明的模糊问题时，单次检索往往无法满足需求。此时需要进行多次增强。</a:t>
            </a:r>
            <a:endParaRPr lang="en-US" sz="1550" dirty="0"/>
          </a:p>
        </p:txBody>
      </p:sp>
      <p:sp>
        <p:nvSpPr>
          <p:cNvPr id="4" name="Shape 2"/>
          <p:cNvSpPr/>
          <p:nvPr/>
        </p:nvSpPr>
        <p:spPr>
          <a:xfrm>
            <a:off x="793790" y="3461266"/>
            <a:ext cx="6422231" cy="2926913"/>
          </a:xfrm>
          <a:prstGeom prst="roundRect">
            <a:avLst>
              <a:gd name="adj" fmla="val 2848"/>
            </a:avLst>
          </a:prstGeom>
          <a:solidFill>
            <a:srgbClr val="FDFAF7"/>
          </a:solidFill>
          <a:ln w="22860">
            <a:solidFill>
              <a:srgbClr val="C6BDDA"/>
            </a:solidFill>
            <a:prstDash val="solid"/>
          </a:ln>
        </p:spPr>
      </p:sp>
      <p:sp>
        <p:nvSpPr>
          <p:cNvPr id="5" name="Text 3"/>
          <p:cNvSpPr/>
          <p:nvPr/>
        </p:nvSpPr>
        <p:spPr>
          <a:xfrm>
            <a:off x="1015008" y="3682484"/>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分解式增强</a:t>
            </a:r>
            <a:endParaRPr lang="en-US" sz="2100" dirty="0"/>
          </a:p>
        </p:txBody>
      </p:sp>
      <p:sp>
        <p:nvSpPr>
          <p:cNvPr id="6" name="Text 4"/>
          <p:cNvSpPr/>
          <p:nvPr/>
        </p:nvSpPr>
        <p:spPr>
          <a:xfrm>
            <a:off x="1015008" y="4142661"/>
            <a:ext cx="597979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适用于需要多跳 (multi-hop) 推理的复杂问题。它将一个复杂问题分解为多个更简单的子问题，然后对每个子问题进行独立的检索和推理，最后将结果汇总生成最终答案。</a:t>
            </a:r>
            <a:endParaRPr lang="en-US" sz="1550" dirty="0"/>
          </a:p>
        </p:txBody>
      </p:sp>
      <p:sp>
        <p:nvSpPr>
          <p:cNvPr id="7" name="Text 5"/>
          <p:cNvSpPr/>
          <p:nvPr/>
        </p:nvSpPr>
        <p:spPr>
          <a:xfrm>
            <a:off x="1015008" y="5214342"/>
            <a:ext cx="5979795" cy="952619"/>
          </a:xfrm>
          <a:prstGeom prst="rect">
            <a:avLst/>
          </a:prstGeom>
          <a:noFill/>
          <a:ln/>
        </p:spPr>
        <p:txBody>
          <a:bodyPr wrap="squar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代表框架</a:t>
            </a:r>
            <a:r>
              <a:rPr lang="en-US" sz="1550" dirty="0">
                <a:solidFill>
                  <a:srgbClr val="272525"/>
                </a:solidFill>
                <a:latin typeface="Inter" pitchFamily="34" charset="0"/>
                <a:ea typeface="Inter" pitchFamily="34" charset="-122"/>
                <a:cs typeface="Inter" pitchFamily="34" charset="-120"/>
              </a:rPr>
              <a:t>：DEMONSTRATE–SEARCH–PREDICT (DSP) 通过上下文学习将问题分解 (Demonstrate)，对子问题进行迭代检索 (Search)，最后根据综合知识生成答案 (Predict)。</a:t>
            </a:r>
            <a:endParaRPr lang="en-US" sz="1550" dirty="0"/>
          </a:p>
        </p:txBody>
      </p:sp>
      <p:sp>
        <p:nvSpPr>
          <p:cNvPr id="8" name="Shape 6"/>
          <p:cNvSpPr/>
          <p:nvPr/>
        </p:nvSpPr>
        <p:spPr>
          <a:xfrm>
            <a:off x="7414379" y="3461266"/>
            <a:ext cx="6422231" cy="2926913"/>
          </a:xfrm>
          <a:prstGeom prst="roundRect">
            <a:avLst>
              <a:gd name="adj" fmla="val 2848"/>
            </a:avLst>
          </a:prstGeom>
          <a:solidFill>
            <a:srgbClr val="FDFAF7"/>
          </a:solidFill>
          <a:ln w="22860">
            <a:solidFill>
              <a:srgbClr val="C6BDDA"/>
            </a:solidFill>
            <a:prstDash val="solid"/>
          </a:ln>
        </p:spPr>
      </p:sp>
      <p:sp>
        <p:nvSpPr>
          <p:cNvPr id="9" name="Text 7"/>
          <p:cNvSpPr/>
          <p:nvPr/>
        </p:nvSpPr>
        <p:spPr>
          <a:xfrm>
            <a:off x="7635597" y="3682484"/>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渐进式增强</a:t>
            </a:r>
            <a:endParaRPr lang="en-US" sz="2100" dirty="0"/>
          </a:p>
        </p:txBody>
      </p:sp>
      <p:sp>
        <p:nvSpPr>
          <p:cNvPr id="10" name="Text 8"/>
          <p:cNvSpPr/>
          <p:nvPr/>
        </p:nvSpPr>
        <p:spPr>
          <a:xfrm>
            <a:off x="7635597" y="4142661"/>
            <a:ext cx="5979795"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适用于定义模糊、需要澄清的问题。它通过与用户或知识库进行多轮交互来逐步明确问题的意图。</a:t>
            </a:r>
            <a:endParaRPr lang="en-US" sz="1550" dirty="0"/>
          </a:p>
        </p:txBody>
      </p:sp>
      <p:sp>
        <p:nvSpPr>
          <p:cNvPr id="11" name="Text 9"/>
          <p:cNvSpPr/>
          <p:nvPr/>
        </p:nvSpPr>
        <p:spPr>
          <a:xfrm>
            <a:off x="7635597" y="4896803"/>
            <a:ext cx="5979795" cy="952619"/>
          </a:xfrm>
          <a:prstGeom prst="rect">
            <a:avLst/>
          </a:prstGeom>
          <a:noFill/>
          <a:ln/>
        </p:spPr>
        <p:txBody>
          <a:bodyPr wrap="squar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代表框架</a:t>
            </a:r>
            <a:r>
              <a:rPr lang="en-US" sz="1550" dirty="0">
                <a:solidFill>
                  <a:srgbClr val="272525"/>
                </a:solidFill>
                <a:latin typeface="Inter" pitchFamily="34" charset="0"/>
                <a:ea typeface="Inter" pitchFamily="34" charset="-122"/>
                <a:cs typeface="Inter" pitchFamily="34" charset="-120"/>
              </a:rPr>
              <a:t>：TREE OF CLARIFICATIONS (TOC) 通过递归式检索，引导模型在一个树状结构中探索问题的多种可能澄清路径，逐步缩小问题范围，最终锁定用户真实意图。</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4613049-38A1-A247-59BF-8468D79AB26C}"/>
              </a:ext>
            </a:extLst>
          </p:cNvPr>
          <p:cNvPicPr>
            <a:picLocks noChangeAspect="1"/>
          </p:cNvPicPr>
          <p:nvPr/>
        </p:nvPicPr>
        <p:blipFill>
          <a:blip r:embed="rId2"/>
          <a:stretch>
            <a:fillRect/>
          </a:stretch>
        </p:blipFill>
        <p:spPr>
          <a:xfrm>
            <a:off x="460824" y="832338"/>
            <a:ext cx="6598143" cy="4281530"/>
          </a:xfrm>
          <a:prstGeom prst="rect">
            <a:avLst/>
          </a:prstGeom>
        </p:spPr>
      </p:pic>
      <p:pic>
        <p:nvPicPr>
          <p:cNvPr id="3" name="图片 2">
            <a:extLst>
              <a:ext uri="{FF2B5EF4-FFF2-40B4-BE49-F238E27FC236}">
                <a16:creationId xmlns:a16="http://schemas.microsoft.com/office/drawing/2014/main" id="{12501386-F012-4B4B-178E-050DFECCCA8D}"/>
              </a:ext>
            </a:extLst>
          </p:cNvPr>
          <p:cNvPicPr>
            <a:picLocks noChangeAspect="1"/>
          </p:cNvPicPr>
          <p:nvPr/>
        </p:nvPicPr>
        <p:blipFill>
          <a:blip r:embed="rId3"/>
          <a:stretch>
            <a:fillRect/>
          </a:stretch>
        </p:blipFill>
        <p:spPr>
          <a:xfrm>
            <a:off x="8200417" y="964439"/>
            <a:ext cx="4897041" cy="3963160"/>
          </a:xfrm>
          <a:prstGeom prst="rect">
            <a:avLst/>
          </a:prstGeom>
        </p:spPr>
      </p:pic>
    </p:spTree>
    <p:extLst>
      <p:ext uri="{BB962C8B-B14F-4D97-AF65-F5344CB8AC3E}">
        <p14:creationId xmlns:p14="http://schemas.microsoft.com/office/powerpoint/2010/main" val="5644897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646039"/>
            <a:ext cx="7639288"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去除冗余文本：提升上下文效率</a:t>
            </a:r>
            <a:endParaRPr lang="en-US" sz="4250" dirty="0"/>
          </a:p>
        </p:txBody>
      </p:sp>
      <p:sp>
        <p:nvSpPr>
          <p:cNvPr id="3" name="Text 1"/>
          <p:cNvSpPr/>
          <p:nvPr/>
        </p:nvSpPr>
        <p:spPr>
          <a:xfrm>
            <a:off x="793790" y="2725102"/>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检索到的文档往往包含与问题无关的冗余信息，这会干扰模型的理解并增加处理成本。因此，需要对检索到的文本进行压缩和去噪。</a:t>
            </a:r>
            <a:endParaRPr lang="en-US" sz="1550" dirty="0"/>
          </a:p>
        </p:txBody>
      </p:sp>
      <p:sp>
        <p:nvSpPr>
          <p:cNvPr id="4" name="Shape 2"/>
          <p:cNvSpPr/>
          <p:nvPr/>
        </p:nvSpPr>
        <p:spPr>
          <a:xfrm>
            <a:off x="1091446" y="4059674"/>
            <a:ext cx="3917513" cy="198358"/>
          </a:xfrm>
          <a:prstGeom prst="roundRect">
            <a:avLst>
              <a:gd name="adj" fmla="val 42025"/>
            </a:avLst>
          </a:prstGeom>
          <a:solidFill>
            <a:srgbClr val="E0D7F4"/>
          </a:solidFill>
          <a:ln w="7620">
            <a:solidFill>
              <a:srgbClr val="C6BDDA"/>
            </a:solidFill>
            <a:prstDash val="solid"/>
          </a:ln>
        </p:spPr>
      </p:sp>
      <p:sp>
        <p:nvSpPr>
          <p:cNvPr id="5" name="Shape 3"/>
          <p:cNvSpPr/>
          <p:nvPr/>
        </p:nvSpPr>
        <p:spPr>
          <a:xfrm>
            <a:off x="793790" y="3861197"/>
            <a:ext cx="595313" cy="595313"/>
          </a:xfrm>
          <a:prstGeom prst="roundRect">
            <a:avLst>
              <a:gd name="adj" fmla="val 76800"/>
            </a:avLst>
          </a:prstGeom>
          <a:solidFill>
            <a:srgbClr val="E0D7F4"/>
          </a:solidFill>
          <a:ln w="7620">
            <a:solidFill>
              <a:srgbClr val="C6BDDA"/>
            </a:solidFill>
            <a:prstDash val="solid"/>
          </a:ln>
        </p:spPr>
      </p:sp>
      <p:sp>
        <p:nvSpPr>
          <p:cNvPr id="6" name="Text 4"/>
          <p:cNvSpPr/>
          <p:nvPr/>
        </p:nvSpPr>
        <p:spPr>
          <a:xfrm>
            <a:off x="942618" y="3972878"/>
            <a:ext cx="297656" cy="372070"/>
          </a:xfrm>
          <a:prstGeom prst="rect">
            <a:avLst/>
          </a:prstGeom>
          <a:noFill/>
          <a:ln/>
        </p:spPr>
        <p:txBody>
          <a:bodyPr wrap="none" lIns="0" tIns="0" rIns="0" bIns="0" rtlCol="0" anchor="t"/>
          <a:lstStyle/>
          <a:p>
            <a:pPr marL="0" indent="0" algn="l">
              <a:lnSpc>
                <a:spcPts val="3750"/>
              </a:lnSpc>
              <a:buNone/>
            </a:pPr>
            <a:r>
              <a:rPr lang="en-US" sz="2300" b="1" dirty="0">
                <a:solidFill>
                  <a:srgbClr val="272525"/>
                </a:solidFill>
                <a:latin typeface="Petrona Bold" pitchFamily="34" charset="0"/>
                <a:ea typeface="Petrona Bold" pitchFamily="34" charset="-122"/>
                <a:cs typeface="Petrona Bold" pitchFamily="34" charset="-120"/>
              </a:rPr>
              <a:t>1</a:t>
            </a:r>
            <a:endParaRPr lang="en-US" sz="2300" dirty="0"/>
          </a:p>
        </p:txBody>
      </p:sp>
      <p:sp>
        <p:nvSpPr>
          <p:cNvPr id="7" name="Text 5"/>
          <p:cNvSpPr/>
          <p:nvPr/>
        </p:nvSpPr>
        <p:spPr>
          <a:xfrm>
            <a:off x="992148" y="4654868"/>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Token 级别</a:t>
            </a:r>
            <a:endParaRPr lang="en-US" sz="2100" dirty="0"/>
          </a:p>
        </p:txBody>
      </p:sp>
      <p:sp>
        <p:nvSpPr>
          <p:cNvPr id="8" name="Text 6"/>
          <p:cNvSpPr/>
          <p:nvPr/>
        </p:nvSpPr>
        <p:spPr>
          <a:xfrm>
            <a:off x="992148" y="5115044"/>
            <a:ext cx="3818573"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通过评估单个 Token 的重要性来剔除不必要的 Token。例如，LongLLMLingua 框架利用困惑度 (Perplexity) 作为指标来判断并移除重要性较低的 Token。</a:t>
            </a:r>
            <a:endParaRPr lang="en-US" sz="1550" dirty="0"/>
          </a:p>
        </p:txBody>
      </p:sp>
      <p:sp>
        <p:nvSpPr>
          <p:cNvPr id="9" name="Shape 7"/>
          <p:cNvSpPr/>
          <p:nvPr/>
        </p:nvSpPr>
        <p:spPr>
          <a:xfrm>
            <a:off x="5505093" y="3762018"/>
            <a:ext cx="3917633" cy="198358"/>
          </a:xfrm>
          <a:prstGeom prst="roundRect">
            <a:avLst>
              <a:gd name="adj" fmla="val 42025"/>
            </a:avLst>
          </a:prstGeom>
          <a:solidFill>
            <a:srgbClr val="E0D7F4"/>
          </a:solidFill>
          <a:ln w="7620">
            <a:solidFill>
              <a:srgbClr val="C6BDDA"/>
            </a:solidFill>
            <a:prstDash val="solid"/>
          </a:ln>
        </p:spPr>
      </p:sp>
      <p:sp>
        <p:nvSpPr>
          <p:cNvPr id="10" name="Shape 8"/>
          <p:cNvSpPr/>
          <p:nvPr/>
        </p:nvSpPr>
        <p:spPr>
          <a:xfrm>
            <a:off x="5207437" y="3563541"/>
            <a:ext cx="595313" cy="595313"/>
          </a:xfrm>
          <a:prstGeom prst="roundRect">
            <a:avLst>
              <a:gd name="adj" fmla="val 76800"/>
            </a:avLst>
          </a:prstGeom>
          <a:solidFill>
            <a:srgbClr val="E0D7F4"/>
          </a:solidFill>
          <a:ln w="7620">
            <a:solidFill>
              <a:srgbClr val="C6BDDA"/>
            </a:solidFill>
            <a:prstDash val="solid"/>
          </a:ln>
        </p:spPr>
      </p:sp>
      <p:sp>
        <p:nvSpPr>
          <p:cNvPr id="11" name="Text 9"/>
          <p:cNvSpPr/>
          <p:nvPr/>
        </p:nvSpPr>
        <p:spPr>
          <a:xfrm>
            <a:off x="5356265" y="3675221"/>
            <a:ext cx="297656" cy="372070"/>
          </a:xfrm>
          <a:prstGeom prst="rect">
            <a:avLst/>
          </a:prstGeom>
          <a:noFill/>
          <a:ln/>
        </p:spPr>
        <p:txBody>
          <a:bodyPr wrap="none" lIns="0" tIns="0" rIns="0" bIns="0" rtlCol="0" anchor="t"/>
          <a:lstStyle/>
          <a:p>
            <a:pPr marL="0" indent="0" algn="l">
              <a:lnSpc>
                <a:spcPts val="3750"/>
              </a:lnSpc>
              <a:buNone/>
            </a:pPr>
            <a:r>
              <a:rPr lang="en-US" sz="2300" b="1" dirty="0">
                <a:solidFill>
                  <a:srgbClr val="272525"/>
                </a:solidFill>
                <a:latin typeface="Petrona Bold" pitchFamily="34" charset="0"/>
                <a:ea typeface="Petrona Bold" pitchFamily="34" charset="-122"/>
                <a:cs typeface="Petrona Bold" pitchFamily="34" charset="-120"/>
              </a:rPr>
              <a:t>2</a:t>
            </a:r>
            <a:endParaRPr lang="en-US" sz="2300" dirty="0"/>
          </a:p>
        </p:txBody>
      </p:sp>
      <p:sp>
        <p:nvSpPr>
          <p:cNvPr id="12" name="Text 10"/>
          <p:cNvSpPr/>
          <p:nvPr/>
        </p:nvSpPr>
        <p:spPr>
          <a:xfrm>
            <a:off x="5405795" y="4357211"/>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子文本级别</a:t>
            </a:r>
            <a:endParaRPr lang="en-US" sz="2100" dirty="0"/>
          </a:p>
        </p:txBody>
      </p:sp>
      <p:sp>
        <p:nvSpPr>
          <p:cNvPr id="13" name="Text 11"/>
          <p:cNvSpPr/>
          <p:nvPr/>
        </p:nvSpPr>
        <p:spPr>
          <a:xfrm>
            <a:off x="5405795" y="4817388"/>
            <a:ext cx="3818692"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将文本划分为句子或段落等子文本片段，对每个片段进行打分，然后整体删除得分较低的片段。</a:t>
            </a:r>
            <a:endParaRPr lang="en-US" sz="1550" dirty="0"/>
          </a:p>
        </p:txBody>
      </p:sp>
      <p:sp>
        <p:nvSpPr>
          <p:cNvPr id="14" name="Shape 12"/>
          <p:cNvSpPr/>
          <p:nvPr/>
        </p:nvSpPr>
        <p:spPr>
          <a:xfrm>
            <a:off x="9918859" y="3464362"/>
            <a:ext cx="3917513" cy="198358"/>
          </a:xfrm>
          <a:prstGeom prst="roundRect">
            <a:avLst>
              <a:gd name="adj" fmla="val 42025"/>
            </a:avLst>
          </a:prstGeom>
          <a:solidFill>
            <a:srgbClr val="E0D7F4"/>
          </a:solidFill>
          <a:ln w="7620">
            <a:solidFill>
              <a:srgbClr val="C6BDDA"/>
            </a:solidFill>
            <a:prstDash val="solid"/>
          </a:ln>
        </p:spPr>
      </p:sp>
      <p:sp>
        <p:nvSpPr>
          <p:cNvPr id="15" name="Shape 13"/>
          <p:cNvSpPr/>
          <p:nvPr/>
        </p:nvSpPr>
        <p:spPr>
          <a:xfrm>
            <a:off x="9621203" y="3265884"/>
            <a:ext cx="595313" cy="595313"/>
          </a:xfrm>
          <a:prstGeom prst="roundRect">
            <a:avLst>
              <a:gd name="adj" fmla="val 76800"/>
            </a:avLst>
          </a:prstGeom>
          <a:solidFill>
            <a:srgbClr val="E0D7F4"/>
          </a:solidFill>
          <a:ln w="7620">
            <a:solidFill>
              <a:srgbClr val="C6BDDA"/>
            </a:solidFill>
            <a:prstDash val="solid"/>
          </a:ln>
        </p:spPr>
      </p:sp>
      <p:sp>
        <p:nvSpPr>
          <p:cNvPr id="16" name="Text 14"/>
          <p:cNvSpPr/>
          <p:nvPr/>
        </p:nvSpPr>
        <p:spPr>
          <a:xfrm>
            <a:off x="9770031" y="3377565"/>
            <a:ext cx="297656" cy="372070"/>
          </a:xfrm>
          <a:prstGeom prst="rect">
            <a:avLst/>
          </a:prstGeom>
          <a:noFill/>
          <a:ln/>
        </p:spPr>
        <p:txBody>
          <a:bodyPr wrap="none" lIns="0" tIns="0" rIns="0" bIns="0" rtlCol="0" anchor="t"/>
          <a:lstStyle/>
          <a:p>
            <a:pPr marL="0" indent="0" algn="l">
              <a:lnSpc>
                <a:spcPts val="3750"/>
              </a:lnSpc>
              <a:buNone/>
            </a:pPr>
            <a:r>
              <a:rPr lang="en-US" sz="2300" b="1" dirty="0">
                <a:solidFill>
                  <a:srgbClr val="272525"/>
                </a:solidFill>
                <a:latin typeface="Petrona Bold" pitchFamily="34" charset="0"/>
                <a:ea typeface="Petrona Bold" pitchFamily="34" charset="-122"/>
                <a:cs typeface="Petrona Bold" pitchFamily="34" charset="-120"/>
              </a:rPr>
              <a:t>3</a:t>
            </a:r>
            <a:endParaRPr lang="en-US" sz="2300" dirty="0"/>
          </a:p>
        </p:txBody>
      </p:sp>
      <p:sp>
        <p:nvSpPr>
          <p:cNvPr id="17" name="Text 15"/>
          <p:cNvSpPr/>
          <p:nvPr/>
        </p:nvSpPr>
        <p:spPr>
          <a:xfrm>
            <a:off x="9819561" y="4059555"/>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272525"/>
                </a:solidFill>
                <a:latin typeface="Petrona Bold" pitchFamily="34" charset="0"/>
                <a:ea typeface="Petrona Bold" pitchFamily="34" charset="-122"/>
                <a:cs typeface="Petrona Bold" pitchFamily="34" charset="-120"/>
              </a:rPr>
              <a:t>全文本级别</a:t>
            </a:r>
            <a:endParaRPr lang="en-US" sz="2100" dirty="0"/>
          </a:p>
        </p:txBody>
      </p:sp>
      <p:sp>
        <p:nvSpPr>
          <p:cNvPr id="18" name="Text 16"/>
          <p:cNvSpPr/>
          <p:nvPr/>
        </p:nvSpPr>
        <p:spPr>
          <a:xfrm>
            <a:off x="9819561" y="4519732"/>
            <a:ext cx="3818573"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直接从整个文档中抽取出最核心、最重要的信息，生成一份精简的摘要。例如，PRCA 方法就是此类的代表。</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454712"/>
            <a:ext cx="6002298"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复用计算结果：优化性能</a:t>
            </a:r>
            <a:endParaRPr lang="en-US" sz="4250" dirty="0"/>
          </a:p>
        </p:txBody>
      </p:sp>
      <p:sp>
        <p:nvSpPr>
          <p:cNvPr id="3" name="Text 1"/>
          <p:cNvSpPr/>
          <p:nvPr/>
        </p:nvSpPr>
        <p:spPr>
          <a:xfrm>
            <a:off x="793790" y="3533775"/>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在实际应用中，许多用户可能会提出相似或重复的问题。为了避免重复的检索和生成计算，可以引入缓存机制。</a:t>
            </a:r>
            <a:endParaRPr lang="en-US" sz="1550" dirty="0"/>
          </a:p>
        </p:txBody>
      </p:sp>
      <p:sp>
        <p:nvSpPr>
          <p:cNvPr id="4" name="Shape 2"/>
          <p:cNvSpPr/>
          <p:nvPr/>
        </p:nvSpPr>
        <p:spPr>
          <a:xfrm>
            <a:off x="793790" y="4074557"/>
            <a:ext cx="13042821" cy="1700213"/>
          </a:xfrm>
          <a:prstGeom prst="roundRect">
            <a:avLst>
              <a:gd name="adj" fmla="val 4903"/>
            </a:avLst>
          </a:prstGeom>
          <a:solidFill>
            <a:srgbClr val="D0C3EE"/>
          </a:solidFill>
          <a:ln/>
        </p:spPr>
      </p:sp>
      <p:pic>
        <p:nvPicPr>
          <p:cNvPr id="5" name="Image 0" descr="preencoded.png"/>
          <p:cNvPicPr>
            <a:picLocks noChangeAspect="1"/>
          </p:cNvPicPr>
          <p:nvPr/>
        </p:nvPicPr>
        <p:blipFill>
          <a:blip r:embed="rId3"/>
          <a:stretch>
            <a:fillRect/>
          </a:stretch>
        </p:blipFill>
        <p:spPr>
          <a:xfrm>
            <a:off x="992148" y="4327446"/>
            <a:ext cx="341114" cy="272891"/>
          </a:xfrm>
          <a:prstGeom prst="rect">
            <a:avLst/>
          </a:prstGeom>
        </p:spPr>
      </p:pic>
      <p:sp>
        <p:nvSpPr>
          <p:cNvPr id="6" name="Text 3"/>
          <p:cNvSpPr/>
          <p:nvPr/>
        </p:nvSpPr>
        <p:spPr>
          <a:xfrm>
            <a:off x="1531620" y="4322445"/>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RAG-Cache 框架</a:t>
            </a:r>
            <a:endParaRPr lang="en-US" sz="2100" dirty="0"/>
          </a:p>
        </p:txBody>
      </p:sp>
      <p:sp>
        <p:nvSpPr>
          <p:cNvPr id="7" name="Text 4"/>
          <p:cNvSpPr/>
          <p:nvPr/>
        </p:nvSpPr>
        <p:spPr>
          <a:xfrm>
            <a:off x="1531620" y="4861917"/>
            <a:ext cx="12106632"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该框架会缓存之前查询的检索结果和生成内容。当接收到新查询时，系统首先判断该查询是否与缓存中的某个查询相似。如果相似，则可以直接复用缓存中的结果，从而大幅提升响应速度并降低计算开销。</a:t>
            </a:r>
            <a:endParaRPr lang="en-US" sz="1550" dirty="0"/>
          </a:p>
        </p:txBody>
      </p:sp>
      <p:pic>
        <p:nvPicPr>
          <p:cNvPr id="9" name="图片 8">
            <a:extLst>
              <a:ext uri="{FF2B5EF4-FFF2-40B4-BE49-F238E27FC236}">
                <a16:creationId xmlns:a16="http://schemas.microsoft.com/office/drawing/2014/main" id="{73508F7C-E6F5-5D8A-50F8-91D66D125A29}"/>
              </a:ext>
            </a:extLst>
          </p:cNvPr>
          <p:cNvPicPr>
            <a:picLocks noChangeAspect="1"/>
          </p:cNvPicPr>
          <p:nvPr/>
        </p:nvPicPr>
        <p:blipFill>
          <a:blip r:embed="rId4"/>
          <a:stretch>
            <a:fillRect/>
          </a:stretch>
        </p:blipFill>
        <p:spPr>
          <a:xfrm>
            <a:off x="7396651" y="720170"/>
            <a:ext cx="6439959" cy="233210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075" y="545663"/>
            <a:ext cx="6544508" cy="545306"/>
          </a:xfrm>
          <a:prstGeom prst="rect">
            <a:avLst/>
          </a:prstGeom>
          <a:noFill/>
          <a:ln/>
        </p:spPr>
        <p:txBody>
          <a:bodyPr wrap="none" lIns="0" tIns="0" rIns="0" bIns="0" rtlCol="0" anchor="t"/>
          <a:lstStyle/>
          <a:p>
            <a:pPr marL="0" indent="0" algn="l">
              <a:lnSpc>
                <a:spcPts val="4250"/>
              </a:lnSpc>
              <a:buNone/>
            </a:pPr>
            <a:r>
              <a:rPr lang="en-US" sz="3400" b="1" dirty="0">
                <a:solidFill>
                  <a:srgbClr val="F95F88"/>
                </a:solidFill>
                <a:latin typeface="Petrona Bold" pitchFamily="34" charset="0"/>
                <a:ea typeface="Petrona Bold" pitchFamily="34" charset="-122"/>
                <a:cs typeface="Petrona Bold" pitchFamily="34" charset="-120"/>
              </a:rPr>
              <a:t>LangChain：全面的应用开发框架</a:t>
            </a:r>
            <a:endParaRPr lang="en-US" sz="3400" dirty="0"/>
          </a:p>
        </p:txBody>
      </p:sp>
      <p:sp>
        <p:nvSpPr>
          <p:cNvPr id="3" name="Text 1"/>
          <p:cNvSpPr/>
          <p:nvPr/>
        </p:nvSpPr>
        <p:spPr>
          <a:xfrm>
            <a:off x="793075" y="1408152"/>
            <a:ext cx="13044249" cy="507444"/>
          </a:xfrm>
          <a:prstGeom prst="rect">
            <a:avLst/>
          </a:prstGeom>
          <a:noFill/>
          <a:ln/>
        </p:spPr>
        <p:txBody>
          <a:bodyPr wrap="square" lIns="0" tIns="0" rIns="0" bIns="0" rtlCol="0" anchor="t"/>
          <a:lstStyle/>
          <a:p>
            <a:pPr marL="0" indent="0" algn="l">
              <a:lnSpc>
                <a:spcPts val="1950"/>
              </a:lnSpc>
              <a:buNone/>
            </a:pPr>
            <a:r>
              <a:rPr lang="en-US" sz="1200" dirty="0">
                <a:solidFill>
                  <a:srgbClr val="272525"/>
                </a:solidFill>
                <a:latin typeface="Inter" pitchFamily="34" charset="0"/>
                <a:ea typeface="Inter" pitchFamily="34" charset="-122"/>
                <a:cs typeface="Inter" pitchFamily="34" charset="-120"/>
              </a:rPr>
              <a:t>LangChain 是一个功能全面、高度模块化的应用开发框架，旨在将大语言模型与外部数据源和工具进行连接。它的核心优势在于其"链式"思想，可以将不同的组件灵活地组合在一起，构建复杂的应用流程。</a:t>
            </a:r>
            <a:endParaRPr lang="en-US" sz="1200" dirty="0"/>
          </a:p>
        </p:txBody>
      </p:sp>
      <p:sp>
        <p:nvSpPr>
          <p:cNvPr id="4" name="Shape 2"/>
          <p:cNvSpPr/>
          <p:nvPr/>
        </p:nvSpPr>
        <p:spPr>
          <a:xfrm>
            <a:off x="793075" y="2093952"/>
            <a:ext cx="6442829" cy="1842135"/>
          </a:xfrm>
          <a:prstGeom prst="roundRect">
            <a:avLst>
              <a:gd name="adj" fmla="val 3617"/>
            </a:avLst>
          </a:prstGeom>
          <a:solidFill>
            <a:srgbClr val="E0D7F4"/>
          </a:solidFill>
          <a:ln w="7620">
            <a:solidFill>
              <a:srgbClr val="C6BDDA"/>
            </a:solidFill>
            <a:prstDash val="solid"/>
          </a:ln>
        </p:spPr>
      </p:sp>
      <p:sp>
        <p:nvSpPr>
          <p:cNvPr id="5" name="Shape 3"/>
          <p:cNvSpPr/>
          <p:nvPr/>
        </p:nvSpPr>
        <p:spPr>
          <a:xfrm>
            <a:off x="959287" y="2260163"/>
            <a:ext cx="475893" cy="475893"/>
          </a:xfrm>
          <a:prstGeom prst="roundRect">
            <a:avLst>
              <a:gd name="adj" fmla="val 19212482"/>
            </a:avLst>
          </a:prstGeom>
          <a:solidFill>
            <a:srgbClr val="6237C8"/>
          </a:solidFill>
          <a:ln/>
        </p:spPr>
      </p:sp>
      <p:sp>
        <p:nvSpPr>
          <p:cNvPr id="6" name="Text 4"/>
          <p:cNvSpPr/>
          <p:nvPr/>
        </p:nvSpPr>
        <p:spPr>
          <a:xfrm>
            <a:off x="1090136" y="2364224"/>
            <a:ext cx="214074" cy="267653"/>
          </a:xfrm>
          <a:prstGeom prst="rect">
            <a:avLst/>
          </a:prstGeom>
          <a:noFill/>
          <a:ln/>
        </p:spPr>
        <p:txBody>
          <a:bodyPr wrap="none" lIns="0" tIns="0" rIns="0" bIns="0" rtlCol="0" anchor="t"/>
          <a:lstStyle/>
          <a:p>
            <a:pPr marL="0" indent="0" algn="l">
              <a:lnSpc>
                <a:spcPts val="2650"/>
              </a:lnSpc>
              <a:buNone/>
            </a:pPr>
            <a:r>
              <a:rPr lang="en-US" sz="1650" b="1" dirty="0">
                <a:solidFill>
                  <a:srgbClr val="FFFFFF"/>
                </a:solidFill>
                <a:latin typeface="Petrona Bold" pitchFamily="34" charset="0"/>
                <a:ea typeface="Petrona Bold" pitchFamily="34" charset="-122"/>
                <a:cs typeface="Petrona Bold" pitchFamily="34" charset="-120"/>
              </a:rPr>
              <a:t>1</a:t>
            </a:r>
            <a:endParaRPr lang="en-US" sz="1650" dirty="0"/>
          </a:p>
        </p:txBody>
      </p:sp>
      <p:sp>
        <p:nvSpPr>
          <p:cNvPr id="7" name="Text 5"/>
          <p:cNvSpPr/>
          <p:nvPr/>
        </p:nvSpPr>
        <p:spPr>
          <a:xfrm>
            <a:off x="959287" y="2894648"/>
            <a:ext cx="2181106" cy="272653"/>
          </a:xfrm>
          <a:prstGeom prst="rect">
            <a:avLst/>
          </a:prstGeom>
          <a:noFill/>
          <a:ln/>
        </p:spPr>
        <p:txBody>
          <a:bodyPr wrap="none" lIns="0" tIns="0" rIns="0" bIns="0" rtlCol="0" anchor="t"/>
          <a:lstStyle/>
          <a:p>
            <a:pPr marL="0" indent="0" algn="l">
              <a:lnSpc>
                <a:spcPts val="2100"/>
              </a:lnSpc>
              <a:buNone/>
            </a:pPr>
            <a:r>
              <a:rPr lang="en-US" sz="1700" b="1" dirty="0">
                <a:solidFill>
                  <a:srgbClr val="272525"/>
                </a:solidFill>
                <a:latin typeface="Petrona Bold" pitchFamily="34" charset="0"/>
                <a:ea typeface="Petrona Bold" pitchFamily="34" charset="-122"/>
                <a:cs typeface="Petrona Bold" pitchFamily="34" charset="-120"/>
              </a:rPr>
              <a:t>Model I/O</a:t>
            </a:r>
            <a:endParaRPr lang="en-US" sz="1700" dirty="0"/>
          </a:p>
        </p:txBody>
      </p:sp>
      <p:sp>
        <p:nvSpPr>
          <p:cNvPr id="8" name="Text 6"/>
          <p:cNvSpPr/>
          <p:nvPr/>
        </p:nvSpPr>
        <p:spPr>
          <a:xfrm>
            <a:off x="959287" y="3262432"/>
            <a:ext cx="6110407" cy="253722"/>
          </a:xfrm>
          <a:prstGeom prst="rect">
            <a:avLst/>
          </a:prstGeom>
          <a:noFill/>
          <a:ln/>
        </p:spPr>
        <p:txBody>
          <a:bodyPr wrap="none" lIns="0" tIns="0" rIns="0" bIns="0" rtlCol="0" anchor="t"/>
          <a:lstStyle/>
          <a:p>
            <a:pPr marL="0" indent="0" algn="l">
              <a:lnSpc>
                <a:spcPts val="1950"/>
              </a:lnSpc>
              <a:buNone/>
            </a:pPr>
            <a:r>
              <a:rPr lang="en-US" sz="1200" dirty="0">
                <a:solidFill>
                  <a:srgbClr val="272525"/>
                </a:solidFill>
                <a:latin typeface="Inter" pitchFamily="34" charset="0"/>
                <a:ea typeface="Inter" pitchFamily="34" charset="-122"/>
                <a:cs typeface="Inter" pitchFamily="34" charset="-120"/>
              </a:rPr>
              <a:t>封装了与各种大语言模型的交互接口和 Prompt 管理功能。</a:t>
            </a:r>
            <a:endParaRPr lang="en-US" sz="1200" dirty="0"/>
          </a:p>
        </p:txBody>
      </p:sp>
      <p:sp>
        <p:nvSpPr>
          <p:cNvPr id="9" name="Shape 7"/>
          <p:cNvSpPr/>
          <p:nvPr/>
        </p:nvSpPr>
        <p:spPr>
          <a:xfrm>
            <a:off x="7394496" y="2093952"/>
            <a:ext cx="6442829" cy="1842135"/>
          </a:xfrm>
          <a:prstGeom prst="roundRect">
            <a:avLst>
              <a:gd name="adj" fmla="val 3617"/>
            </a:avLst>
          </a:prstGeom>
          <a:solidFill>
            <a:srgbClr val="E0D7F4"/>
          </a:solidFill>
          <a:ln w="7620">
            <a:solidFill>
              <a:srgbClr val="C6BDDA"/>
            </a:solidFill>
            <a:prstDash val="solid"/>
          </a:ln>
        </p:spPr>
      </p:sp>
      <p:sp>
        <p:nvSpPr>
          <p:cNvPr id="10" name="Shape 8"/>
          <p:cNvSpPr/>
          <p:nvPr/>
        </p:nvSpPr>
        <p:spPr>
          <a:xfrm>
            <a:off x="7560707" y="2260163"/>
            <a:ext cx="475893" cy="475893"/>
          </a:xfrm>
          <a:prstGeom prst="roundRect">
            <a:avLst>
              <a:gd name="adj" fmla="val 19212482"/>
            </a:avLst>
          </a:prstGeom>
          <a:solidFill>
            <a:srgbClr val="6237C8"/>
          </a:solidFill>
          <a:ln/>
        </p:spPr>
      </p:sp>
      <p:sp>
        <p:nvSpPr>
          <p:cNvPr id="11" name="Text 9"/>
          <p:cNvSpPr/>
          <p:nvPr/>
        </p:nvSpPr>
        <p:spPr>
          <a:xfrm>
            <a:off x="7691557" y="2364224"/>
            <a:ext cx="214074" cy="267653"/>
          </a:xfrm>
          <a:prstGeom prst="rect">
            <a:avLst/>
          </a:prstGeom>
          <a:noFill/>
          <a:ln/>
        </p:spPr>
        <p:txBody>
          <a:bodyPr wrap="none" lIns="0" tIns="0" rIns="0" bIns="0" rtlCol="0" anchor="t"/>
          <a:lstStyle/>
          <a:p>
            <a:pPr marL="0" indent="0" algn="l">
              <a:lnSpc>
                <a:spcPts val="2650"/>
              </a:lnSpc>
              <a:buNone/>
            </a:pPr>
            <a:r>
              <a:rPr lang="en-US" sz="1650" b="1" dirty="0">
                <a:solidFill>
                  <a:srgbClr val="FFFFFF"/>
                </a:solidFill>
                <a:latin typeface="Petrona Bold" pitchFamily="34" charset="0"/>
                <a:ea typeface="Petrona Bold" pitchFamily="34" charset="-122"/>
                <a:cs typeface="Petrona Bold" pitchFamily="34" charset="-120"/>
              </a:rPr>
              <a:t>2</a:t>
            </a:r>
            <a:endParaRPr lang="en-US" sz="1650" dirty="0"/>
          </a:p>
        </p:txBody>
      </p:sp>
      <p:sp>
        <p:nvSpPr>
          <p:cNvPr id="12" name="Text 10"/>
          <p:cNvSpPr/>
          <p:nvPr/>
        </p:nvSpPr>
        <p:spPr>
          <a:xfrm>
            <a:off x="7560707" y="2894648"/>
            <a:ext cx="2181106" cy="272653"/>
          </a:xfrm>
          <a:prstGeom prst="rect">
            <a:avLst/>
          </a:prstGeom>
          <a:noFill/>
          <a:ln/>
        </p:spPr>
        <p:txBody>
          <a:bodyPr wrap="none" lIns="0" tIns="0" rIns="0" bIns="0" rtlCol="0" anchor="t"/>
          <a:lstStyle/>
          <a:p>
            <a:pPr marL="0" indent="0" algn="l">
              <a:lnSpc>
                <a:spcPts val="2100"/>
              </a:lnSpc>
              <a:buNone/>
            </a:pPr>
            <a:r>
              <a:rPr lang="en-US" sz="1700" b="1" dirty="0">
                <a:solidFill>
                  <a:srgbClr val="272525"/>
                </a:solidFill>
                <a:latin typeface="Petrona Bold" pitchFamily="34" charset="0"/>
                <a:ea typeface="Petrona Bold" pitchFamily="34" charset="-122"/>
                <a:cs typeface="Petrona Bold" pitchFamily="34" charset="-120"/>
              </a:rPr>
              <a:t>Retrieval</a:t>
            </a:r>
            <a:endParaRPr lang="en-US" sz="1700" dirty="0"/>
          </a:p>
        </p:txBody>
      </p:sp>
      <p:sp>
        <p:nvSpPr>
          <p:cNvPr id="13" name="Text 11"/>
          <p:cNvSpPr/>
          <p:nvPr/>
        </p:nvSpPr>
        <p:spPr>
          <a:xfrm>
            <a:off x="7560707" y="3262432"/>
            <a:ext cx="6110407" cy="507444"/>
          </a:xfrm>
          <a:prstGeom prst="rect">
            <a:avLst/>
          </a:prstGeom>
          <a:noFill/>
          <a:ln/>
        </p:spPr>
        <p:txBody>
          <a:bodyPr wrap="square" lIns="0" tIns="0" rIns="0" bIns="0" rtlCol="0" anchor="t"/>
          <a:lstStyle/>
          <a:p>
            <a:pPr marL="0" indent="0" algn="l">
              <a:lnSpc>
                <a:spcPts val="1950"/>
              </a:lnSpc>
              <a:buNone/>
            </a:pPr>
            <a:r>
              <a:rPr lang="en-US" sz="1200" dirty="0">
                <a:solidFill>
                  <a:srgbClr val="272525"/>
                </a:solidFill>
                <a:latin typeface="Inter" pitchFamily="34" charset="0"/>
                <a:ea typeface="Inter" pitchFamily="34" charset="-122"/>
                <a:cs typeface="Inter" pitchFamily="34" charset="-120"/>
              </a:rPr>
              <a:t>构建 RAG 的核心，包含了文档加载、文本分割、向量化、索引构建和检索等全套工具。</a:t>
            </a:r>
            <a:endParaRPr lang="en-US" sz="1200" dirty="0"/>
          </a:p>
        </p:txBody>
      </p:sp>
      <p:sp>
        <p:nvSpPr>
          <p:cNvPr id="14" name="Shape 12"/>
          <p:cNvSpPr/>
          <p:nvPr/>
        </p:nvSpPr>
        <p:spPr>
          <a:xfrm>
            <a:off x="793075" y="4094678"/>
            <a:ext cx="6442829" cy="1588413"/>
          </a:xfrm>
          <a:prstGeom prst="roundRect">
            <a:avLst>
              <a:gd name="adj" fmla="val 4194"/>
            </a:avLst>
          </a:prstGeom>
          <a:solidFill>
            <a:srgbClr val="E0D7F4"/>
          </a:solidFill>
          <a:ln w="7620">
            <a:solidFill>
              <a:srgbClr val="C6BDDA"/>
            </a:solidFill>
            <a:prstDash val="solid"/>
          </a:ln>
        </p:spPr>
      </p:sp>
      <p:sp>
        <p:nvSpPr>
          <p:cNvPr id="15" name="Shape 13"/>
          <p:cNvSpPr/>
          <p:nvPr/>
        </p:nvSpPr>
        <p:spPr>
          <a:xfrm>
            <a:off x="959287" y="4260890"/>
            <a:ext cx="475893" cy="475893"/>
          </a:xfrm>
          <a:prstGeom prst="roundRect">
            <a:avLst>
              <a:gd name="adj" fmla="val 19212482"/>
            </a:avLst>
          </a:prstGeom>
          <a:solidFill>
            <a:srgbClr val="6237C8"/>
          </a:solidFill>
          <a:ln/>
        </p:spPr>
      </p:sp>
      <p:sp>
        <p:nvSpPr>
          <p:cNvPr id="16" name="Text 14"/>
          <p:cNvSpPr/>
          <p:nvPr/>
        </p:nvSpPr>
        <p:spPr>
          <a:xfrm>
            <a:off x="1090136" y="4364950"/>
            <a:ext cx="214074" cy="267653"/>
          </a:xfrm>
          <a:prstGeom prst="rect">
            <a:avLst/>
          </a:prstGeom>
          <a:noFill/>
          <a:ln/>
        </p:spPr>
        <p:txBody>
          <a:bodyPr wrap="none" lIns="0" tIns="0" rIns="0" bIns="0" rtlCol="0" anchor="t"/>
          <a:lstStyle/>
          <a:p>
            <a:pPr marL="0" indent="0" algn="l">
              <a:lnSpc>
                <a:spcPts val="2650"/>
              </a:lnSpc>
              <a:buNone/>
            </a:pPr>
            <a:r>
              <a:rPr lang="en-US" sz="1650" b="1" dirty="0">
                <a:solidFill>
                  <a:srgbClr val="FFFFFF"/>
                </a:solidFill>
                <a:latin typeface="Petrona Bold" pitchFamily="34" charset="0"/>
                <a:ea typeface="Petrona Bold" pitchFamily="34" charset="-122"/>
                <a:cs typeface="Petrona Bold" pitchFamily="34" charset="-120"/>
              </a:rPr>
              <a:t>3</a:t>
            </a:r>
            <a:endParaRPr lang="en-US" sz="1650" dirty="0"/>
          </a:p>
        </p:txBody>
      </p:sp>
      <p:sp>
        <p:nvSpPr>
          <p:cNvPr id="17" name="Text 15"/>
          <p:cNvSpPr/>
          <p:nvPr/>
        </p:nvSpPr>
        <p:spPr>
          <a:xfrm>
            <a:off x="959287" y="4895374"/>
            <a:ext cx="2181106" cy="272653"/>
          </a:xfrm>
          <a:prstGeom prst="rect">
            <a:avLst/>
          </a:prstGeom>
          <a:noFill/>
          <a:ln/>
        </p:spPr>
        <p:txBody>
          <a:bodyPr wrap="none" lIns="0" tIns="0" rIns="0" bIns="0" rtlCol="0" anchor="t"/>
          <a:lstStyle/>
          <a:p>
            <a:pPr marL="0" indent="0" algn="l">
              <a:lnSpc>
                <a:spcPts val="2100"/>
              </a:lnSpc>
              <a:buNone/>
            </a:pPr>
            <a:r>
              <a:rPr lang="en-US" sz="1700" b="1" dirty="0">
                <a:solidFill>
                  <a:srgbClr val="272525"/>
                </a:solidFill>
                <a:latin typeface="Petrona Bold" pitchFamily="34" charset="0"/>
                <a:ea typeface="Petrona Bold" pitchFamily="34" charset="-122"/>
                <a:cs typeface="Petrona Bold" pitchFamily="34" charset="-120"/>
              </a:rPr>
              <a:t>Chains</a:t>
            </a:r>
            <a:endParaRPr lang="en-US" sz="1700" dirty="0"/>
          </a:p>
        </p:txBody>
      </p:sp>
      <p:sp>
        <p:nvSpPr>
          <p:cNvPr id="18" name="Text 16"/>
          <p:cNvSpPr/>
          <p:nvPr/>
        </p:nvSpPr>
        <p:spPr>
          <a:xfrm>
            <a:off x="959287" y="5263158"/>
            <a:ext cx="6110407" cy="253722"/>
          </a:xfrm>
          <a:prstGeom prst="rect">
            <a:avLst/>
          </a:prstGeom>
          <a:noFill/>
          <a:ln/>
        </p:spPr>
        <p:txBody>
          <a:bodyPr wrap="none" lIns="0" tIns="0" rIns="0" bIns="0" rtlCol="0" anchor="t"/>
          <a:lstStyle/>
          <a:p>
            <a:pPr marL="0" indent="0" algn="l">
              <a:lnSpc>
                <a:spcPts val="1950"/>
              </a:lnSpc>
              <a:buNone/>
            </a:pPr>
            <a:r>
              <a:rPr lang="en-US" sz="1200" dirty="0">
                <a:solidFill>
                  <a:srgbClr val="272525"/>
                </a:solidFill>
                <a:latin typeface="Inter" pitchFamily="34" charset="0"/>
                <a:ea typeface="Inter" pitchFamily="34" charset="-122"/>
                <a:cs typeface="Inter" pitchFamily="34" charset="-120"/>
              </a:rPr>
              <a:t>将各个模块（如模型、检索器、Prompt）链接成一个按顺序执行的工作流。</a:t>
            </a:r>
            <a:endParaRPr lang="en-US" sz="1200" dirty="0"/>
          </a:p>
        </p:txBody>
      </p:sp>
      <p:sp>
        <p:nvSpPr>
          <p:cNvPr id="19" name="Shape 17"/>
          <p:cNvSpPr/>
          <p:nvPr/>
        </p:nvSpPr>
        <p:spPr>
          <a:xfrm>
            <a:off x="7394496" y="4094678"/>
            <a:ext cx="6442829" cy="1588413"/>
          </a:xfrm>
          <a:prstGeom prst="roundRect">
            <a:avLst>
              <a:gd name="adj" fmla="val 4194"/>
            </a:avLst>
          </a:prstGeom>
          <a:solidFill>
            <a:srgbClr val="E0D7F4"/>
          </a:solidFill>
          <a:ln w="7620">
            <a:solidFill>
              <a:srgbClr val="C6BDDA"/>
            </a:solidFill>
            <a:prstDash val="solid"/>
          </a:ln>
        </p:spPr>
      </p:sp>
      <p:sp>
        <p:nvSpPr>
          <p:cNvPr id="20" name="Shape 18"/>
          <p:cNvSpPr/>
          <p:nvPr/>
        </p:nvSpPr>
        <p:spPr>
          <a:xfrm>
            <a:off x="7560707" y="4260890"/>
            <a:ext cx="475893" cy="475893"/>
          </a:xfrm>
          <a:prstGeom prst="roundRect">
            <a:avLst>
              <a:gd name="adj" fmla="val 19212482"/>
            </a:avLst>
          </a:prstGeom>
          <a:solidFill>
            <a:srgbClr val="6237C8"/>
          </a:solidFill>
          <a:ln/>
        </p:spPr>
      </p:sp>
      <p:sp>
        <p:nvSpPr>
          <p:cNvPr id="21" name="Text 19"/>
          <p:cNvSpPr/>
          <p:nvPr/>
        </p:nvSpPr>
        <p:spPr>
          <a:xfrm>
            <a:off x="7691557" y="4364950"/>
            <a:ext cx="214074" cy="267653"/>
          </a:xfrm>
          <a:prstGeom prst="rect">
            <a:avLst/>
          </a:prstGeom>
          <a:noFill/>
          <a:ln/>
        </p:spPr>
        <p:txBody>
          <a:bodyPr wrap="none" lIns="0" tIns="0" rIns="0" bIns="0" rtlCol="0" anchor="t"/>
          <a:lstStyle/>
          <a:p>
            <a:pPr marL="0" indent="0" algn="l">
              <a:lnSpc>
                <a:spcPts val="2650"/>
              </a:lnSpc>
              <a:buNone/>
            </a:pPr>
            <a:r>
              <a:rPr lang="en-US" sz="1650" b="1" dirty="0">
                <a:solidFill>
                  <a:srgbClr val="FFFFFF"/>
                </a:solidFill>
                <a:latin typeface="Petrona Bold" pitchFamily="34" charset="0"/>
                <a:ea typeface="Petrona Bold" pitchFamily="34" charset="-122"/>
                <a:cs typeface="Petrona Bold" pitchFamily="34" charset="-120"/>
              </a:rPr>
              <a:t>4</a:t>
            </a:r>
            <a:endParaRPr lang="en-US" sz="1650" dirty="0"/>
          </a:p>
        </p:txBody>
      </p:sp>
      <p:sp>
        <p:nvSpPr>
          <p:cNvPr id="22" name="Text 20"/>
          <p:cNvSpPr/>
          <p:nvPr/>
        </p:nvSpPr>
        <p:spPr>
          <a:xfrm>
            <a:off x="7560707" y="4895374"/>
            <a:ext cx="2181106" cy="272653"/>
          </a:xfrm>
          <a:prstGeom prst="rect">
            <a:avLst/>
          </a:prstGeom>
          <a:noFill/>
          <a:ln/>
        </p:spPr>
        <p:txBody>
          <a:bodyPr wrap="none" lIns="0" tIns="0" rIns="0" bIns="0" rtlCol="0" anchor="t"/>
          <a:lstStyle/>
          <a:p>
            <a:pPr marL="0" indent="0" algn="l">
              <a:lnSpc>
                <a:spcPts val="2100"/>
              </a:lnSpc>
              <a:buNone/>
            </a:pPr>
            <a:r>
              <a:rPr lang="en-US" sz="1700" b="1" dirty="0">
                <a:solidFill>
                  <a:srgbClr val="272525"/>
                </a:solidFill>
                <a:latin typeface="Petrona Bold" pitchFamily="34" charset="0"/>
                <a:ea typeface="Petrona Bold" pitchFamily="34" charset="-122"/>
                <a:cs typeface="Petrona Bold" pitchFamily="34" charset="-120"/>
              </a:rPr>
              <a:t>Memory</a:t>
            </a:r>
            <a:endParaRPr lang="en-US" sz="1700" dirty="0"/>
          </a:p>
        </p:txBody>
      </p:sp>
      <p:sp>
        <p:nvSpPr>
          <p:cNvPr id="23" name="Text 21"/>
          <p:cNvSpPr/>
          <p:nvPr/>
        </p:nvSpPr>
        <p:spPr>
          <a:xfrm>
            <a:off x="7560707" y="5263158"/>
            <a:ext cx="6110407" cy="253722"/>
          </a:xfrm>
          <a:prstGeom prst="rect">
            <a:avLst/>
          </a:prstGeom>
          <a:noFill/>
          <a:ln/>
        </p:spPr>
        <p:txBody>
          <a:bodyPr wrap="none" lIns="0" tIns="0" rIns="0" bIns="0" rtlCol="0" anchor="t"/>
          <a:lstStyle/>
          <a:p>
            <a:pPr marL="0" indent="0" algn="l">
              <a:lnSpc>
                <a:spcPts val="1950"/>
              </a:lnSpc>
              <a:buNone/>
            </a:pPr>
            <a:r>
              <a:rPr lang="en-US" sz="1200" dirty="0">
                <a:solidFill>
                  <a:srgbClr val="272525"/>
                </a:solidFill>
                <a:latin typeface="Inter" pitchFamily="34" charset="0"/>
                <a:ea typeface="Inter" pitchFamily="34" charset="-122"/>
                <a:cs typeface="Inter" pitchFamily="34" charset="-120"/>
              </a:rPr>
              <a:t>用于存储和管理对话历史，使应用具备记忆能力。</a:t>
            </a:r>
            <a:endParaRPr lang="en-US" sz="1200" dirty="0"/>
          </a:p>
        </p:txBody>
      </p:sp>
      <p:sp>
        <p:nvSpPr>
          <p:cNvPr id="24" name="Shape 22"/>
          <p:cNvSpPr/>
          <p:nvPr/>
        </p:nvSpPr>
        <p:spPr>
          <a:xfrm>
            <a:off x="793075" y="5841682"/>
            <a:ext cx="6442829" cy="1842135"/>
          </a:xfrm>
          <a:prstGeom prst="roundRect">
            <a:avLst>
              <a:gd name="adj" fmla="val 3617"/>
            </a:avLst>
          </a:prstGeom>
          <a:solidFill>
            <a:srgbClr val="E0D7F4"/>
          </a:solidFill>
          <a:ln w="7620">
            <a:solidFill>
              <a:srgbClr val="C6BDDA"/>
            </a:solidFill>
            <a:prstDash val="solid"/>
          </a:ln>
        </p:spPr>
      </p:sp>
      <p:sp>
        <p:nvSpPr>
          <p:cNvPr id="25" name="Shape 23"/>
          <p:cNvSpPr/>
          <p:nvPr/>
        </p:nvSpPr>
        <p:spPr>
          <a:xfrm>
            <a:off x="959287" y="6007894"/>
            <a:ext cx="475893" cy="475893"/>
          </a:xfrm>
          <a:prstGeom prst="roundRect">
            <a:avLst>
              <a:gd name="adj" fmla="val 19212482"/>
            </a:avLst>
          </a:prstGeom>
          <a:solidFill>
            <a:srgbClr val="6237C8"/>
          </a:solidFill>
          <a:ln/>
        </p:spPr>
      </p:sp>
      <p:sp>
        <p:nvSpPr>
          <p:cNvPr id="26" name="Text 24"/>
          <p:cNvSpPr/>
          <p:nvPr/>
        </p:nvSpPr>
        <p:spPr>
          <a:xfrm>
            <a:off x="1090136" y="6111954"/>
            <a:ext cx="214074" cy="267653"/>
          </a:xfrm>
          <a:prstGeom prst="rect">
            <a:avLst/>
          </a:prstGeom>
          <a:noFill/>
          <a:ln/>
        </p:spPr>
        <p:txBody>
          <a:bodyPr wrap="none" lIns="0" tIns="0" rIns="0" bIns="0" rtlCol="0" anchor="t"/>
          <a:lstStyle/>
          <a:p>
            <a:pPr marL="0" indent="0" algn="l">
              <a:lnSpc>
                <a:spcPts val="2650"/>
              </a:lnSpc>
              <a:buNone/>
            </a:pPr>
            <a:r>
              <a:rPr lang="en-US" sz="1650" b="1" dirty="0">
                <a:solidFill>
                  <a:srgbClr val="FFFFFF"/>
                </a:solidFill>
                <a:latin typeface="Petrona Bold" pitchFamily="34" charset="0"/>
                <a:ea typeface="Petrona Bold" pitchFamily="34" charset="-122"/>
                <a:cs typeface="Petrona Bold" pitchFamily="34" charset="-120"/>
              </a:rPr>
              <a:t>5</a:t>
            </a:r>
            <a:endParaRPr lang="en-US" sz="1650" dirty="0"/>
          </a:p>
        </p:txBody>
      </p:sp>
      <p:sp>
        <p:nvSpPr>
          <p:cNvPr id="27" name="Text 25"/>
          <p:cNvSpPr/>
          <p:nvPr/>
        </p:nvSpPr>
        <p:spPr>
          <a:xfrm>
            <a:off x="959287" y="6642378"/>
            <a:ext cx="2181106" cy="272653"/>
          </a:xfrm>
          <a:prstGeom prst="rect">
            <a:avLst/>
          </a:prstGeom>
          <a:noFill/>
          <a:ln/>
        </p:spPr>
        <p:txBody>
          <a:bodyPr wrap="none" lIns="0" tIns="0" rIns="0" bIns="0" rtlCol="0" anchor="t"/>
          <a:lstStyle/>
          <a:p>
            <a:pPr marL="0" indent="0" algn="l">
              <a:lnSpc>
                <a:spcPts val="2100"/>
              </a:lnSpc>
              <a:buNone/>
            </a:pPr>
            <a:r>
              <a:rPr lang="en-US" sz="1700" b="1" dirty="0">
                <a:solidFill>
                  <a:srgbClr val="272525"/>
                </a:solidFill>
                <a:latin typeface="Petrona Bold" pitchFamily="34" charset="0"/>
                <a:ea typeface="Petrona Bold" pitchFamily="34" charset="-122"/>
                <a:cs typeface="Petrona Bold" pitchFamily="34" charset="-120"/>
              </a:rPr>
              <a:t>Agents</a:t>
            </a:r>
            <a:endParaRPr lang="en-US" sz="1700" dirty="0"/>
          </a:p>
        </p:txBody>
      </p:sp>
      <p:sp>
        <p:nvSpPr>
          <p:cNvPr id="28" name="Text 26"/>
          <p:cNvSpPr/>
          <p:nvPr/>
        </p:nvSpPr>
        <p:spPr>
          <a:xfrm>
            <a:off x="959287" y="7010162"/>
            <a:ext cx="6110407" cy="507444"/>
          </a:xfrm>
          <a:prstGeom prst="rect">
            <a:avLst/>
          </a:prstGeom>
          <a:noFill/>
          <a:ln/>
        </p:spPr>
        <p:txBody>
          <a:bodyPr wrap="square" lIns="0" tIns="0" rIns="0" bIns="0" rtlCol="0" anchor="t"/>
          <a:lstStyle/>
          <a:p>
            <a:pPr marL="0" indent="0" algn="l">
              <a:lnSpc>
                <a:spcPts val="1950"/>
              </a:lnSpc>
              <a:buNone/>
            </a:pPr>
            <a:r>
              <a:rPr lang="en-US" sz="1200" dirty="0">
                <a:solidFill>
                  <a:srgbClr val="272525"/>
                </a:solidFill>
                <a:latin typeface="Inter" pitchFamily="34" charset="0"/>
                <a:ea typeface="Inter" pitchFamily="34" charset="-122"/>
                <a:cs typeface="Inter" pitchFamily="34" charset="-120"/>
              </a:rPr>
              <a:t>赋予模型使用工具的能力，让模型可以自主决定调用哪个工具（如搜索引擎、计算器）来完成任务。</a:t>
            </a:r>
            <a:endParaRPr lang="en-US" sz="1200" dirty="0"/>
          </a:p>
        </p:txBody>
      </p:sp>
      <p:sp>
        <p:nvSpPr>
          <p:cNvPr id="29" name="Shape 27"/>
          <p:cNvSpPr/>
          <p:nvPr/>
        </p:nvSpPr>
        <p:spPr>
          <a:xfrm>
            <a:off x="7394496" y="5841682"/>
            <a:ext cx="6442829" cy="1842135"/>
          </a:xfrm>
          <a:prstGeom prst="roundRect">
            <a:avLst>
              <a:gd name="adj" fmla="val 3617"/>
            </a:avLst>
          </a:prstGeom>
          <a:solidFill>
            <a:srgbClr val="E0D7F4"/>
          </a:solidFill>
          <a:ln w="7620">
            <a:solidFill>
              <a:srgbClr val="C6BDDA"/>
            </a:solidFill>
            <a:prstDash val="solid"/>
          </a:ln>
        </p:spPr>
      </p:sp>
      <p:sp>
        <p:nvSpPr>
          <p:cNvPr id="30" name="Shape 28"/>
          <p:cNvSpPr/>
          <p:nvPr/>
        </p:nvSpPr>
        <p:spPr>
          <a:xfrm>
            <a:off x="7560707" y="6007894"/>
            <a:ext cx="475893" cy="475893"/>
          </a:xfrm>
          <a:prstGeom prst="roundRect">
            <a:avLst>
              <a:gd name="adj" fmla="val 19212482"/>
            </a:avLst>
          </a:prstGeom>
          <a:solidFill>
            <a:srgbClr val="6237C8"/>
          </a:solidFill>
          <a:ln/>
        </p:spPr>
      </p:sp>
      <p:sp>
        <p:nvSpPr>
          <p:cNvPr id="31" name="Text 29"/>
          <p:cNvSpPr/>
          <p:nvPr/>
        </p:nvSpPr>
        <p:spPr>
          <a:xfrm>
            <a:off x="7691557" y="6111954"/>
            <a:ext cx="214074" cy="267653"/>
          </a:xfrm>
          <a:prstGeom prst="rect">
            <a:avLst/>
          </a:prstGeom>
          <a:noFill/>
          <a:ln/>
        </p:spPr>
        <p:txBody>
          <a:bodyPr wrap="none" lIns="0" tIns="0" rIns="0" bIns="0" rtlCol="0" anchor="t"/>
          <a:lstStyle/>
          <a:p>
            <a:pPr marL="0" indent="0" algn="l">
              <a:lnSpc>
                <a:spcPts val="2650"/>
              </a:lnSpc>
              <a:buNone/>
            </a:pPr>
            <a:r>
              <a:rPr lang="en-US" sz="1650" b="1" dirty="0">
                <a:solidFill>
                  <a:srgbClr val="FFFFFF"/>
                </a:solidFill>
                <a:latin typeface="Petrona Bold" pitchFamily="34" charset="0"/>
                <a:ea typeface="Petrona Bold" pitchFamily="34" charset="-122"/>
                <a:cs typeface="Petrona Bold" pitchFamily="34" charset="-120"/>
              </a:rPr>
              <a:t>6</a:t>
            </a:r>
            <a:endParaRPr lang="en-US" sz="1650" dirty="0"/>
          </a:p>
        </p:txBody>
      </p:sp>
      <p:sp>
        <p:nvSpPr>
          <p:cNvPr id="32" name="Text 30"/>
          <p:cNvSpPr/>
          <p:nvPr/>
        </p:nvSpPr>
        <p:spPr>
          <a:xfrm>
            <a:off x="7560707" y="6642378"/>
            <a:ext cx="2181106" cy="272653"/>
          </a:xfrm>
          <a:prstGeom prst="rect">
            <a:avLst/>
          </a:prstGeom>
          <a:noFill/>
          <a:ln/>
        </p:spPr>
        <p:txBody>
          <a:bodyPr wrap="none" lIns="0" tIns="0" rIns="0" bIns="0" rtlCol="0" anchor="t"/>
          <a:lstStyle/>
          <a:p>
            <a:pPr marL="0" indent="0" algn="l">
              <a:lnSpc>
                <a:spcPts val="2100"/>
              </a:lnSpc>
              <a:buNone/>
            </a:pPr>
            <a:r>
              <a:rPr lang="en-US" sz="1700" b="1" dirty="0">
                <a:solidFill>
                  <a:srgbClr val="272525"/>
                </a:solidFill>
                <a:latin typeface="Petrona Bold" pitchFamily="34" charset="0"/>
                <a:ea typeface="Petrona Bold" pitchFamily="34" charset="-122"/>
                <a:cs typeface="Petrona Bold" pitchFamily="34" charset="-120"/>
              </a:rPr>
              <a:t>Callbacks</a:t>
            </a:r>
            <a:endParaRPr lang="en-US" sz="1700" dirty="0"/>
          </a:p>
        </p:txBody>
      </p:sp>
      <p:sp>
        <p:nvSpPr>
          <p:cNvPr id="33" name="Text 31"/>
          <p:cNvSpPr/>
          <p:nvPr/>
        </p:nvSpPr>
        <p:spPr>
          <a:xfrm>
            <a:off x="7560707" y="7010162"/>
            <a:ext cx="6110407" cy="253722"/>
          </a:xfrm>
          <a:prstGeom prst="rect">
            <a:avLst/>
          </a:prstGeom>
          <a:noFill/>
          <a:ln/>
        </p:spPr>
        <p:txBody>
          <a:bodyPr wrap="none" lIns="0" tIns="0" rIns="0" bIns="0" rtlCol="0" anchor="t"/>
          <a:lstStyle/>
          <a:p>
            <a:pPr marL="0" indent="0" algn="l">
              <a:lnSpc>
                <a:spcPts val="1950"/>
              </a:lnSpc>
              <a:buNone/>
            </a:pPr>
            <a:r>
              <a:rPr lang="en-US" sz="1200" dirty="0">
                <a:solidFill>
                  <a:srgbClr val="272525"/>
                </a:solidFill>
                <a:latin typeface="Inter" pitchFamily="34" charset="0"/>
                <a:ea typeface="Inter" pitchFamily="34" charset="-122"/>
                <a:cs typeface="Inter" pitchFamily="34" charset="-120"/>
              </a:rPr>
              <a:t>提供了一套回调系统，用于监控和干预链或代理执行的各个阶段。</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350407"/>
            <a:ext cx="9547503" cy="682228"/>
          </a:xfrm>
          <a:prstGeom prst="rect">
            <a:avLst/>
          </a:prstGeom>
          <a:noFill/>
          <a:ln/>
        </p:spPr>
        <p:txBody>
          <a:bodyPr wrap="none" lIns="0" tIns="0" rIns="0" bIns="0" rtlCol="0" anchor="t"/>
          <a:lstStyle/>
          <a:p>
            <a:pPr marL="0" indent="0" algn="l">
              <a:lnSpc>
                <a:spcPts val="5350"/>
              </a:lnSpc>
              <a:buNone/>
            </a:pPr>
            <a:r>
              <a:rPr lang="en-US" sz="4250" b="1" dirty="0">
                <a:solidFill>
                  <a:srgbClr val="F95F88"/>
                </a:solidFill>
                <a:latin typeface="Petrona Bold" pitchFamily="34" charset="0"/>
                <a:ea typeface="Petrona Bold" pitchFamily="34" charset="-122"/>
                <a:cs typeface="Petrona Bold" pitchFamily="34" charset="-120"/>
              </a:rPr>
              <a:t>LlamaIndex：专注数据索引的RAG框架</a:t>
            </a:r>
            <a:endParaRPr lang="en-US" sz="4250" dirty="0"/>
          </a:p>
        </p:txBody>
      </p:sp>
      <p:sp>
        <p:nvSpPr>
          <p:cNvPr id="3" name="Text 1"/>
          <p:cNvSpPr/>
          <p:nvPr/>
        </p:nvSpPr>
        <p:spPr>
          <a:xfrm>
            <a:off x="793790" y="242947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与 LangChain 的通用性不同，LlamaIndex 更加专注于数据的索引和检索，是专门为 RAG 场景优化的数据框架。它的核心目标是让大语言模型能够最高效地利用私有或领域特定的数据。</a:t>
            </a:r>
            <a:endParaRPr lang="en-US" sz="1550" dirty="0"/>
          </a:p>
        </p:txBody>
      </p:sp>
      <p:sp>
        <p:nvSpPr>
          <p:cNvPr id="4" name="Shape 2"/>
          <p:cNvSpPr/>
          <p:nvPr/>
        </p:nvSpPr>
        <p:spPr>
          <a:xfrm>
            <a:off x="793790" y="3287792"/>
            <a:ext cx="6422231" cy="1537692"/>
          </a:xfrm>
          <a:prstGeom prst="roundRect">
            <a:avLst>
              <a:gd name="adj" fmla="val 7136"/>
            </a:avLst>
          </a:prstGeom>
          <a:solidFill>
            <a:srgbClr val="FDFAF7"/>
          </a:solidFill>
          <a:ln w="22860">
            <a:solidFill>
              <a:srgbClr val="C6BDDA"/>
            </a:solidFill>
            <a:prstDash val="solid"/>
          </a:ln>
        </p:spPr>
      </p:sp>
      <p:sp>
        <p:nvSpPr>
          <p:cNvPr id="5" name="Shape 3"/>
          <p:cNvSpPr/>
          <p:nvPr/>
        </p:nvSpPr>
        <p:spPr>
          <a:xfrm>
            <a:off x="770930" y="3287792"/>
            <a:ext cx="91440" cy="1537692"/>
          </a:xfrm>
          <a:prstGeom prst="roundRect">
            <a:avLst>
              <a:gd name="adj" fmla="val 91163"/>
            </a:avLst>
          </a:prstGeom>
          <a:solidFill>
            <a:srgbClr val="6237C8"/>
          </a:solidFill>
          <a:ln/>
        </p:spPr>
      </p:sp>
      <p:sp>
        <p:nvSpPr>
          <p:cNvPr id="6" name="Text 4"/>
          <p:cNvSpPr/>
          <p:nvPr/>
        </p:nvSpPr>
        <p:spPr>
          <a:xfrm>
            <a:off x="1083588" y="3509010"/>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数据连接器</a:t>
            </a:r>
            <a:endParaRPr lang="en-US" sz="2100" dirty="0"/>
          </a:p>
        </p:txBody>
      </p:sp>
      <p:sp>
        <p:nvSpPr>
          <p:cNvPr id="7" name="Text 5"/>
          <p:cNvSpPr/>
          <p:nvPr/>
        </p:nvSpPr>
        <p:spPr>
          <a:xfrm>
            <a:off x="1083588" y="3969187"/>
            <a:ext cx="5911215"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支持从非常丰富的数据源（如 API、PDF、SQL 数据库、Notion、Slack 等）中提取数据。</a:t>
            </a:r>
            <a:endParaRPr lang="en-US" sz="1550" dirty="0"/>
          </a:p>
        </p:txBody>
      </p:sp>
      <p:sp>
        <p:nvSpPr>
          <p:cNvPr id="8" name="Shape 6"/>
          <p:cNvSpPr/>
          <p:nvPr/>
        </p:nvSpPr>
        <p:spPr>
          <a:xfrm>
            <a:off x="7414379" y="3287792"/>
            <a:ext cx="6422231" cy="1537692"/>
          </a:xfrm>
          <a:prstGeom prst="roundRect">
            <a:avLst>
              <a:gd name="adj" fmla="val 7136"/>
            </a:avLst>
          </a:prstGeom>
          <a:solidFill>
            <a:srgbClr val="FDFAF7"/>
          </a:solidFill>
          <a:ln w="22860">
            <a:solidFill>
              <a:srgbClr val="C6BDDA"/>
            </a:solidFill>
            <a:prstDash val="solid"/>
          </a:ln>
        </p:spPr>
      </p:sp>
      <p:sp>
        <p:nvSpPr>
          <p:cNvPr id="9" name="Shape 7"/>
          <p:cNvSpPr/>
          <p:nvPr/>
        </p:nvSpPr>
        <p:spPr>
          <a:xfrm>
            <a:off x="7391519" y="3287792"/>
            <a:ext cx="91440" cy="1537692"/>
          </a:xfrm>
          <a:prstGeom prst="roundRect">
            <a:avLst>
              <a:gd name="adj" fmla="val 91163"/>
            </a:avLst>
          </a:prstGeom>
          <a:solidFill>
            <a:srgbClr val="6237C8"/>
          </a:solidFill>
          <a:ln/>
        </p:spPr>
      </p:sp>
      <p:sp>
        <p:nvSpPr>
          <p:cNvPr id="10" name="Text 8"/>
          <p:cNvSpPr/>
          <p:nvPr/>
        </p:nvSpPr>
        <p:spPr>
          <a:xfrm>
            <a:off x="7704177" y="3509010"/>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高效索引与检索</a:t>
            </a:r>
            <a:endParaRPr lang="en-US" sz="2100" dirty="0"/>
          </a:p>
        </p:txBody>
      </p:sp>
      <p:sp>
        <p:nvSpPr>
          <p:cNvPr id="11" name="Text 9"/>
          <p:cNvSpPr/>
          <p:nvPr/>
        </p:nvSpPr>
        <p:spPr>
          <a:xfrm>
            <a:off x="7704177" y="3969187"/>
            <a:ext cx="5911215"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提供了一系列高级的索引结构（如树索引、关键词表索引）和检索策略，在查询效率和准确性上表现突出。</a:t>
            </a:r>
            <a:endParaRPr lang="en-US" sz="1550" dirty="0"/>
          </a:p>
        </p:txBody>
      </p:sp>
      <p:sp>
        <p:nvSpPr>
          <p:cNvPr id="12" name="Shape 10"/>
          <p:cNvSpPr/>
          <p:nvPr/>
        </p:nvSpPr>
        <p:spPr>
          <a:xfrm>
            <a:off x="793790" y="5023842"/>
            <a:ext cx="6422231" cy="1855232"/>
          </a:xfrm>
          <a:prstGeom prst="roundRect">
            <a:avLst>
              <a:gd name="adj" fmla="val 5915"/>
            </a:avLst>
          </a:prstGeom>
          <a:solidFill>
            <a:srgbClr val="FDFAF7"/>
          </a:solidFill>
          <a:ln w="22860">
            <a:solidFill>
              <a:srgbClr val="C6BDDA"/>
            </a:solidFill>
            <a:prstDash val="solid"/>
          </a:ln>
        </p:spPr>
      </p:sp>
      <p:sp>
        <p:nvSpPr>
          <p:cNvPr id="13" name="Shape 11"/>
          <p:cNvSpPr/>
          <p:nvPr/>
        </p:nvSpPr>
        <p:spPr>
          <a:xfrm>
            <a:off x="770930" y="5023842"/>
            <a:ext cx="91440" cy="1855232"/>
          </a:xfrm>
          <a:prstGeom prst="roundRect">
            <a:avLst>
              <a:gd name="adj" fmla="val 91163"/>
            </a:avLst>
          </a:prstGeom>
          <a:solidFill>
            <a:srgbClr val="6237C8"/>
          </a:solidFill>
          <a:ln/>
        </p:spPr>
      </p:sp>
      <p:sp>
        <p:nvSpPr>
          <p:cNvPr id="14" name="Text 12"/>
          <p:cNvSpPr/>
          <p:nvPr/>
        </p:nvSpPr>
        <p:spPr>
          <a:xfrm>
            <a:off x="1083588" y="5245060"/>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精细化后处理</a:t>
            </a:r>
            <a:endParaRPr lang="en-US" sz="2100" dirty="0"/>
          </a:p>
        </p:txBody>
      </p:sp>
      <p:sp>
        <p:nvSpPr>
          <p:cNvPr id="15" name="Text 13"/>
          <p:cNvSpPr/>
          <p:nvPr/>
        </p:nvSpPr>
        <p:spPr>
          <a:xfrm>
            <a:off x="1083588" y="5705237"/>
            <a:ext cx="5911215"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在检索到上下文信息后，支持对其进行过滤、重新排序、转换和摘要等精细化操作。</a:t>
            </a:r>
            <a:endParaRPr lang="en-US" sz="1550" dirty="0"/>
          </a:p>
        </p:txBody>
      </p:sp>
      <p:sp>
        <p:nvSpPr>
          <p:cNvPr id="16" name="Shape 14"/>
          <p:cNvSpPr/>
          <p:nvPr/>
        </p:nvSpPr>
        <p:spPr>
          <a:xfrm>
            <a:off x="7414379" y="5023842"/>
            <a:ext cx="6422231" cy="1855232"/>
          </a:xfrm>
          <a:prstGeom prst="roundRect">
            <a:avLst>
              <a:gd name="adj" fmla="val 5915"/>
            </a:avLst>
          </a:prstGeom>
          <a:solidFill>
            <a:srgbClr val="FDFAF7"/>
          </a:solidFill>
          <a:ln w="22860">
            <a:solidFill>
              <a:srgbClr val="C6BDDA"/>
            </a:solidFill>
            <a:prstDash val="solid"/>
          </a:ln>
        </p:spPr>
      </p:sp>
      <p:sp>
        <p:nvSpPr>
          <p:cNvPr id="17" name="Shape 15"/>
          <p:cNvSpPr/>
          <p:nvPr/>
        </p:nvSpPr>
        <p:spPr>
          <a:xfrm>
            <a:off x="7391519" y="5023842"/>
            <a:ext cx="91440" cy="1855232"/>
          </a:xfrm>
          <a:prstGeom prst="roundRect">
            <a:avLst>
              <a:gd name="adj" fmla="val 91163"/>
            </a:avLst>
          </a:prstGeom>
          <a:solidFill>
            <a:srgbClr val="6237C8"/>
          </a:solidFill>
          <a:ln/>
        </p:spPr>
      </p:sp>
      <p:sp>
        <p:nvSpPr>
          <p:cNvPr id="18" name="Text 16"/>
          <p:cNvSpPr/>
          <p:nvPr/>
        </p:nvSpPr>
        <p:spPr>
          <a:xfrm>
            <a:off x="7704177" y="5245060"/>
            <a:ext cx="2728913" cy="341114"/>
          </a:xfrm>
          <a:prstGeom prst="rect">
            <a:avLst/>
          </a:prstGeom>
          <a:noFill/>
          <a:ln/>
        </p:spPr>
        <p:txBody>
          <a:bodyPr wrap="none" lIns="0" tIns="0" rIns="0" bIns="0" rtlCol="0" anchor="t"/>
          <a:lstStyle/>
          <a:p>
            <a:pPr marL="0" indent="0" algn="l">
              <a:lnSpc>
                <a:spcPts val="2650"/>
              </a:lnSpc>
              <a:buNone/>
            </a:pPr>
            <a:r>
              <a:rPr lang="en-US" sz="2100" b="1" dirty="0">
                <a:solidFill>
                  <a:srgbClr val="6237C8"/>
                </a:solidFill>
                <a:latin typeface="Petrona Bold" pitchFamily="34" charset="0"/>
                <a:ea typeface="Petrona Bold" pitchFamily="34" charset="-122"/>
                <a:cs typeface="Petrona Bold" pitchFamily="34" charset="-120"/>
              </a:rPr>
              <a:t>与 LangChain 集成</a:t>
            </a:r>
            <a:endParaRPr lang="en-US" sz="2100" dirty="0"/>
          </a:p>
        </p:txBody>
      </p:sp>
      <p:sp>
        <p:nvSpPr>
          <p:cNvPr id="19" name="Text 17"/>
          <p:cNvSpPr/>
          <p:nvPr/>
        </p:nvSpPr>
        <p:spPr>
          <a:xfrm>
            <a:off x="7704177" y="5705237"/>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LlamaIndex 可以无缝地与 LangChain 框架结合使用，通常 LlamaIndex 负责高效的数据索引和检索部分，而 LangChain 负责构建更上层的应用逻辑和代理。</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1156</Words>
  <Application>Microsoft Office PowerPoint</Application>
  <PresentationFormat>自定义</PresentationFormat>
  <Paragraphs>243</Paragraphs>
  <Slides>26</Slides>
  <Notes>24</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26</vt:i4>
      </vt:variant>
    </vt:vector>
  </HeadingPairs>
  <TitlesOfParts>
    <vt:vector size="31" baseType="lpstr">
      <vt:lpstr>Arial</vt:lpstr>
      <vt:lpstr>Petrona Bold</vt:lpstr>
      <vt:lpstr>Inter</vt:lpstr>
      <vt:lpstr>Petrona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QY Z</cp:lastModifiedBy>
  <cp:revision>4</cp:revision>
  <dcterms:created xsi:type="dcterms:W3CDTF">2025-10-16T07:20:36Z</dcterms:created>
  <dcterms:modified xsi:type="dcterms:W3CDTF">2025-10-16T12:05:15Z</dcterms:modified>
</cp:coreProperties>
</file>