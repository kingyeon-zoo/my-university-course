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sldIdLst>
    <p:sldId id="499" r:id="rId2"/>
    <p:sldId id="532" r:id="rId3"/>
    <p:sldId id="529" r:id="rId4"/>
    <p:sldId id="524" r:id="rId5"/>
    <p:sldId id="523" r:id="rId6"/>
    <p:sldId id="535" r:id="rId7"/>
    <p:sldId id="536" r:id="rId8"/>
    <p:sldId id="521" r:id="rId9"/>
    <p:sldId id="522" r:id="rId10"/>
    <p:sldId id="506" r:id="rId11"/>
    <p:sldId id="533" r:id="rId12"/>
    <p:sldId id="503" r:id="rId13"/>
    <p:sldId id="504" r:id="rId14"/>
    <p:sldId id="511" r:id="rId15"/>
    <p:sldId id="530" r:id="rId16"/>
    <p:sldId id="525" r:id="rId17"/>
    <p:sldId id="510" r:id="rId18"/>
    <p:sldId id="509" r:id="rId19"/>
    <p:sldId id="534" r:id="rId20"/>
    <p:sldId id="531" r:id="rId21"/>
    <p:sldId id="526" r:id="rId22"/>
    <p:sldId id="517" r:id="rId23"/>
    <p:sldId id="541" r:id="rId24"/>
    <p:sldId id="544" r:id="rId25"/>
    <p:sldId id="1430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00"/>
    <a:srgbClr val="66FF33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479" autoAdjust="0"/>
  </p:normalViewPr>
  <p:slideViewPr>
    <p:cSldViewPr>
      <p:cViewPr varScale="1">
        <p:scale>
          <a:sx n="87" d="100"/>
          <a:sy n="87" d="100"/>
        </p:scale>
        <p:origin x="13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844FA4D-1E0A-48B7-9565-D8FADE229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E7898F6-F243-4936-B1FC-417DFE9AF1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EB34A35-5A11-4E8C-9125-592D674853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30090D84-DC09-4881-8CAD-344A09C14E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60FD57AC-7CC3-4286-94EC-890709880D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E30C7D50-70F1-49F6-8C4D-9CF5B37EAA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ABB4788-A4C9-435E-AAEE-82737D913C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0821B8-A8A7-4E82-982C-E794D7B1D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506AA-869D-4C31-B5E8-A6257D361BC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236A65-E5A8-461C-8FAE-F755C337DB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9594C23-E403-4250-8659-1AFE5C253E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F5E0C-BD85-43FD-8F4B-173C14F0FB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644906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FE3F2BB-1691-4BE1-BBC8-7DCBED635F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128FC-6D0C-4EA0-A69C-3312F30FAE3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9AA845-1C15-46FD-BE8C-FACE8BA3EE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8ACF3FB-6571-41BF-B800-7B68A5ABB4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CF332-9713-4441-9C33-78631748DA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80501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FECE4FB-D1B8-44C4-BAEC-B356018223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78A40-5291-4900-877A-5440F7AAB38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2816C9-300E-4130-B43A-733A76024E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E535460-2F6A-4DBE-ADEB-01EC1CB367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11D2F-115E-443D-8D05-AF158554C8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255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0CFB4C-4FCF-4B6A-9D1E-CEDEA96B98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7D37F-9568-4251-AD42-0D3D4796BAB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60226F-3C51-4326-8EFC-AB3EFEF363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3F0A951-095F-4DD4-B7B7-A6DB191C9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59E5F-E167-4C99-8725-5023F1356F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314760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2BAEB8E-256B-4097-8405-9E454CA21F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156A8-7B68-4412-B7D2-EB08CC9077C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6D46970-E35B-4E96-90FB-8DF97CC3C9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6022BFA-DCF1-4FF9-A88E-64945A144C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A7180-5D20-4B9B-B96F-F1DF9F526D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7809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FFBB141-8F87-4503-80B4-E9501BCA03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2623F-B7F3-4E8E-9FEB-4FCA403EFED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FC5EDB0-082E-492A-9C03-B84C9C8C1D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27C4C1F-EF36-497D-9A85-393D4C6352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69662-F2CA-4768-A96A-F44692C171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808489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93837FB-6F18-48CD-85AF-AC8D619223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55533-488D-4D00-837E-A52B7E88C0E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5B3184E-216C-4821-B500-51E8EA383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F592739-7072-4AE2-ADF5-D57C9930D8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6BE9D-6895-4B2E-A966-519B9B049C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94335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BA1425-5D46-45EC-A440-10E0D8A8D9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2A567-95D2-4745-9B2E-36BFC642615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E3BB97-9EB6-4B11-9856-93A7396A9C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A9CA77A-E9E6-456A-9264-540391AF11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E03C1-038B-4AAA-B06C-A9ADE60B2F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16945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0A4759-A77A-4068-9784-833A2D0AB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66647-3DD3-4DAB-95BE-E7A8E15F61C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55F44C-5C15-4FFE-A85F-3729866DE5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354E2DE-D261-4D9C-A045-8D65E7AF0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9216C-CB6A-49DD-8970-575C233B4C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30341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4451D3-1E29-4283-B961-1DC12FE866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79B59-CDCF-4707-A785-B578E35312D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D585E38-D00B-4397-9DE8-966FDC81A7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F03FF58-3161-4557-9F37-0600A44D50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B77AD-DFC0-4848-BD0B-4EFC29400A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37495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9F6E6E-BA7E-4FCE-B29E-1E7EC9FD36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4F24D-1F93-46AE-8E94-78FF6430B27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B54F7C8-4C61-42A8-B861-0D1A41F5C9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2A3695C-4E2D-4C54-874F-3C496708E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B7482-D0B6-4C12-B268-B4E08092D7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57202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B1F62E-2464-4364-BBED-890FB78046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4231D-13C5-4E89-B943-689BBE1C34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8CCE19-A2A4-4184-9BEB-82890DA877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4317602-E527-4018-BEA7-1E6C293DC2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99E26-BA6D-4B2B-9980-35C1CE8682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36396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A1E33097-1A91-4FFA-A460-8234412AA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ECD0B0A0-0F6B-4B13-BDDF-E9BED6E2C7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9F27A4F-6091-4B71-AEF6-8CE53CC0E2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pPr>
              <a:defRPr/>
            </a:pPr>
            <a:fld id="{7F9D66C2-B046-4FF8-9F37-40C03646F43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02C6DC4-0231-4CFF-BF18-EC6692D11D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437ACA3-880A-45C0-9901-3787596316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408D018-C652-45FA-96EA-1FF16A12A4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0" descr="12副本1">
            <a:extLst>
              <a:ext uri="{FF2B5EF4-FFF2-40B4-BE49-F238E27FC236}">
                <a16:creationId xmlns:a16="http://schemas.microsoft.com/office/drawing/2014/main" id="{0403C415-C006-434A-A9B0-9C9434E97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kumimoji="1" sz="2000" kern="1200">
          <a:solidFill>
            <a:schemeClr val="tx1"/>
          </a:solidFill>
          <a:latin typeface="+mj-lt"/>
          <a:ea typeface="+mj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CDCBD8CA-CEF4-4523-8EA3-6CA2BF9E07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717FEB6A-8700-400C-BC71-1A1307E8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076" name="灯片编号占位符 3">
            <a:extLst>
              <a:ext uri="{FF2B5EF4-FFF2-40B4-BE49-F238E27FC236}">
                <a16:creationId xmlns:a16="http://schemas.microsoft.com/office/drawing/2014/main" id="{9997448C-2C84-43D5-8688-440943A3A1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EF3575-DBD5-405E-9899-AF2C9C14ED99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7" name="页脚占位符 3">
            <a:extLst>
              <a:ext uri="{FF2B5EF4-FFF2-40B4-BE49-F238E27FC236}">
                <a16:creationId xmlns:a16="http://schemas.microsoft.com/office/drawing/2014/main" id="{242F9CB8-EE51-4E34-B650-B788728A3DA8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2AD0DD2B-7BC2-4847-BCFA-3B48022F6D8F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7B30D6DD-E652-488D-A58D-C6BFFBF4460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6438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 dirty="0">
                <a:solidFill>
                  <a:schemeClr val="accent2"/>
                </a:solidFill>
                <a:effectLst/>
                <a:ea typeface="隶书" panose="02010509060101010101" pitchFamily="49" charset="-122"/>
              </a:rPr>
              <a:t>离散数学</a:t>
            </a:r>
            <a:endParaRPr lang="zh-CN" altLang="en-US" sz="6600" b="1" dirty="0">
              <a:solidFill>
                <a:schemeClr val="accent2"/>
              </a:solidFill>
              <a:effectLst/>
              <a:ea typeface="隶书" panose="02010509060101010101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</a:rPr>
              <a:t>Discrete Mathematics</a:t>
            </a:r>
            <a:r>
              <a:rPr lang="en-US" altLang="zh-CN" sz="3600" b="1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9" name="Text Box 4">
            <a:extLst>
              <a:ext uri="{FF2B5EF4-FFF2-40B4-BE49-F238E27FC236}">
                <a16:creationId xmlns:a16="http://schemas.microsoft.com/office/drawing/2014/main" id="{594EE081-1CFC-41B3-BBCE-CB4565F8C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343400"/>
            <a:ext cx="68580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</a:t>
            </a:r>
            <a:r>
              <a:rPr kumimoji="0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博士</a:t>
            </a:r>
            <a:endParaRPr kumimoji="0" lang="en-US" altLang="zh-CN" sz="3200" b="1" dirty="0" smtClean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</a:t>
            </a: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计算机与信息</a:t>
            </a:r>
            <a:r>
              <a:rPr kumimoji="0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学院</a:t>
            </a:r>
            <a:endParaRPr kumimoji="0"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endParaRPr kumimoji="0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0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C0F7DCB-0F7F-48F1-AA70-FEEC8CEF9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音频 1">
            <a:hlinkClick r:id="" action="ppaction://media"/>
            <a:extLst>
              <a:ext uri="{FF2B5EF4-FFF2-40B4-BE49-F238E27FC236}">
                <a16:creationId xmlns:a16="http://schemas.microsoft.com/office/drawing/2014/main" id="{D9D0D3C7-06C2-4362-9CA0-4DA8DE4EF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25" y="6397625"/>
            <a:ext cx="2444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4243"/>
    </mc:Choice>
    <mc:Fallback xmlns="">
      <p:transition spd="slow" advTm="42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>
            <a:extLst>
              <a:ext uri="{FF2B5EF4-FFF2-40B4-BE49-F238E27FC236}">
                <a16:creationId xmlns:a16="http://schemas.microsoft.com/office/drawing/2014/main" id="{CA97B15A-3FF7-4D6C-8993-E15D86AF1C5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7F1DFF8-A1F6-437E-9BF3-A2F00230B604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9" name="页脚占位符 4">
            <a:extLst>
              <a:ext uri="{FF2B5EF4-FFF2-40B4-BE49-F238E27FC236}">
                <a16:creationId xmlns:a16="http://schemas.microsoft.com/office/drawing/2014/main" id="{390480FC-0FB6-4712-A272-170A8C79D90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4100" name="灯片编号占位符 5">
            <a:extLst>
              <a:ext uri="{FF2B5EF4-FFF2-40B4-BE49-F238E27FC236}">
                <a16:creationId xmlns:a16="http://schemas.microsoft.com/office/drawing/2014/main" id="{171E9B9F-0400-4FA1-8481-2117895E8DA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A5E3A83-E3F0-4856-AD16-4D8E08B51312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A879BB5B-713E-4ED6-AC88-AA37A8DED853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4213" y="2492375"/>
            <a:ext cx="8137525" cy="2159000"/>
          </a:xfrm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6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6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课程简介 </a:t>
            </a:r>
            <a:r>
              <a:rPr lang="en-US" altLang="zh-CN" sz="6600" b="1">
                <a:solidFill>
                  <a:schemeClr val="accent2"/>
                </a:solidFill>
              </a:rPr>
              <a:t/>
            </a:r>
            <a:br>
              <a:rPr lang="en-US" altLang="zh-CN" sz="6600" b="1">
                <a:solidFill>
                  <a:schemeClr val="accent2"/>
                </a:solidFill>
              </a:rPr>
            </a:br>
            <a:endParaRPr lang="en-US" altLang="zh-CN" sz="5400" b="1">
              <a:solidFill>
                <a:schemeClr val="accent2"/>
              </a:solidFill>
            </a:endParaRPr>
          </a:p>
        </p:txBody>
      </p:sp>
      <p:pic>
        <p:nvPicPr>
          <p:cNvPr id="4102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A5BEBBEA-0DA4-42F1-A7BA-78DA7EE3E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>
            <a:extLst>
              <a:ext uri="{FF2B5EF4-FFF2-40B4-BE49-F238E27FC236}">
                <a16:creationId xmlns:a16="http://schemas.microsoft.com/office/drawing/2014/main" id="{C34EA291-DCA1-48D3-A891-26F2D944630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14BA5B-6FA1-40AD-8636-4C61C1E757F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5123" name="Group 18">
            <a:extLst>
              <a:ext uri="{FF2B5EF4-FFF2-40B4-BE49-F238E27FC236}">
                <a16:creationId xmlns:a16="http://schemas.microsoft.com/office/drawing/2014/main" id="{A60B7304-AE3F-4D30-A325-4B152FDC151C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565400"/>
            <a:ext cx="4733925" cy="3024188"/>
            <a:chOff x="1474" y="1616"/>
            <a:chExt cx="2982" cy="1905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D62F67DB-1989-4202-BE54-1F8058F6FA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20" y="2380"/>
              <a:ext cx="2736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6" name="AutoShape 10">
              <a:extLst>
                <a:ext uri="{FF2B5EF4-FFF2-40B4-BE49-F238E27FC236}">
                  <a16:creationId xmlns:a16="http://schemas.microsoft.com/office/drawing/2014/main" id="{F2962637-6AE4-4695-80DD-3996D76D632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80" y="2281"/>
              <a:ext cx="432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27" name="Text Box 11">
              <a:extLst>
                <a:ext uri="{FF2B5EF4-FFF2-40B4-BE49-F238E27FC236}">
                  <a16:creationId xmlns:a16="http://schemas.microsoft.com/office/drawing/2014/main" id="{FB6224D9-E2AC-4168-8A6A-006A6565E38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64" y="2427"/>
              <a:ext cx="2286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离散数学课程内容</a:t>
              </a:r>
            </a:p>
          </p:txBody>
        </p:sp>
        <p:sp>
          <p:nvSpPr>
            <p:cNvPr id="5128" name="Text Box 12">
              <a:extLst>
                <a:ext uri="{FF2B5EF4-FFF2-40B4-BE49-F238E27FC236}">
                  <a16:creationId xmlns:a16="http://schemas.microsoft.com/office/drawing/2014/main" id="{E9469EE4-93CE-474F-BC98-7A3D450D836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4" y="2363"/>
              <a:ext cx="22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4DBBDCEA-1B99-4897-B23A-D1AE2E67F9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3058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30" name="AutoShape 15">
              <a:extLst>
                <a:ext uri="{FF2B5EF4-FFF2-40B4-BE49-F238E27FC236}">
                  <a16:creationId xmlns:a16="http://schemas.microsoft.com/office/drawing/2014/main" id="{56824CDF-4CF2-49D6-B7F0-00C94F68B0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961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1" name="Text Box 16">
              <a:extLst>
                <a:ext uri="{FF2B5EF4-FFF2-40B4-BE49-F238E27FC236}">
                  <a16:creationId xmlns:a16="http://schemas.microsoft.com/office/drawing/2014/main" id="{B024B408-39BC-41C0-AB32-741C433B805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3104"/>
              <a:ext cx="22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课程学习方法</a:t>
              </a:r>
              <a:endPara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" name="Text Box 17">
              <a:extLst>
                <a:ext uri="{FF2B5EF4-FFF2-40B4-BE49-F238E27FC236}">
                  <a16:creationId xmlns:a16="http://schemas.microsoft.com/office/drawing/2014/main" id="{721EE359-BDE6-4667-B0A2-764624CBBB5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3042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5133" name="AutoShape 19">
              <a:extLst>
                <a:ext uri="{FF2B5EF4-FFF2-40B4-BE49-F238E27FC236}">
                  <a16:creationId xmlns:a16="http://schemas.microsoft.com/office/drawing/2014/main" id="{20D060B4-3D9F-468E-AEFE-78523B5577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20" y="1713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4" name="AutoShape 20">
              <a:extLst>
                <a:ext uri="{FF2B5EF4-FFF2-40B4-BE49-F238E27FC236}">
                  <a16:creationId xmlns:a16="http://schemas.microsoft.com/office/drawing/2014/main" id="{B0A662EE-E23F-417B-9FD1-59A22DA8D2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80" y="1616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5" name="Text Box 21">
              <a:extLst>
                <a:ext uri="{FF2B5EF4-FFF2-40B4-BE49-F238E27FC236}">
                  <a16:creationId xmlns:a16="http://schemas.microsoft.com/office/drawing/2014/main" id="{7C6E3C23-CBA9-4534-A2C7-5D100D1B917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64" y="1759"/>
              <a:ext cx="22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离散数学课程性质</a:t>
              </a:r>
            </a:p>
          </p:txBody>
        </p:sp>
        <p:sp>
          <p:nvSpPr>
            <p:cNvPr id="5136" name="Text Box 22">
              <a:extLst>
                <a:ext uri="{FF2B5EF4-FFF2-40B4-BE49-F238E27FC236}">
                  <a16:creationId xmlns:a16="http://schemas.microsoft.com/office/drawing/2014/main" id="{7A73C160-C96A-478A-AACC-6629BC07DE9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4" y="1729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5124" name="Text Box 2">
            <a:extLst>
              <a:ext uri="{FF2B5EF4-FFF2-40B4-BE49-F238E27FC236}">
                <a16:creationId xmlns:a16="http://schemas.microsoft.com/office/drawing/2014/main" id="{B235B1A6-A72E-4A50-AF86-C798D2471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58838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</a:rPr>
              <a:t>本章学习内容</a:t>
            </a:r>
            <a:endParaRPr lang="zh-CN" altLang="en-US" sz="4800" b="1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>
            <a:extLst>
              <a:ext uri="{FF2B5EF4-FFF2-40B4-BE49-F238E27FC236}">
                <a16:creationId xmlns:a16="http://schemas.microsoft.com/office/drawing/2014/main" id="{81F7BCE4-FBAF-43C5-AC86-A6D7D717FAE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1C5EF0E-8347-4A7B-A4AD-79A564F3460C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" name="页脚占位符 4">
            <a:extLst>
              <a:ext uri="{FF2B5EF4-FFF2-40B4-BE49-F238E27FC236}">
                <a16:creationId xmlns:a16="http://schemas.microsoft.com/office/drawing/2014/main" id="{6650DE6E-7A82-4A05-96FD-A2B9D5AE053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6148" name="灯片编号占位符 5">
            <a:extLst>
              <a:ext uri="{FF2B5EF4-FFF2-40B4-BE49-F238E27FC236}">
                <a16:creationId xmlns:a16="http://schemas.microsoft.com/office/drawing/2014/main" id="{57ADB53B-DCB7-4AB5-B2D5-F94C3E1C1A63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34311EE-7881-43AC-978A-7173D026FAC7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E870E8BE-C869-48CA-82E0-3834AE8312B1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42988" y="2565400"/>
            <a:ext cx="7702550" cy="1655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离散数学课程性质</a:t>
            </a:r>
          </a:p>
        </p:txBody>
      </p:sp>
      <p:pic>
        <p:nvPicPr>
          <p:cNvPr id="6150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5BDEDE28-26CB-45C2-8028-62360E2DF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D1CDEFB-3E16-46C9-9208-F3B1DDB696FA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5A31356D-D0DE-40DC-AFDF-AD46DFB9AD64}" type="datetime1">
              <a:rPr lang="zh-CN" altLang="en-US" sz="1400" b="1">
                <a:latin typeface="+mj-lt"/>
              </a:rPr>
              <a:pPr eaLnBrk="1" hangingPunct="1">
                <a:defRPr/>
              </a:pPr>
              <a:t>2020/9/7</a:t>
            </a:fld>
            <a:endParaRPr lang="en-US" altLang="zh-CN" sz="1400" b="1">
              <a:latin typeface="+mj-lt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E35F0D9-4AFC-4685-81BA-C98F0A0B5698}"/>
              </a:ext>
            </a:extLst>
          </p:cNvPr>
          <p:cNvSpPr txBox="1">
            <a:spLocks noGrp="1"/>
          </p:cNvSpPr>
          <p:nvPr/>
        </p:nvSpPr>
        <p:spPr bwMode="auto">
          <a:xfrm>
            <a:off x="3132138" y="640080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</a:rPr>
              <a:t>计算机应用技术研究所</a:t>
            </a:r>
          </a:p>
        </p:txBody>
      </p:sp>
      <p:sp>
        <p:nvSpPr>
          <p:cNvPr id="7172" name="灯片编号占位符 5">
            <a:extLst>
              <a:ext uri="{FF2B5EF4-FFF2-40B4-BE49-F238E27FC236}">
                <a16:creationId xmlns:a16="http://schemas.microsoft.com/office/drawing/2014/main" id="{110268CA-C92D-426E-A583-5710797FADD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782D2BC-1728-442B-A8A2-67B604F4B983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" name="Text Box 2">
            <a:extLst>
              <a:ext uri="{FF2B5EF4-FFF2-40B4-BE49-F238E27FC236}">
                <a16:creationId xmlns:a16="http://schemas.microsoft.com/office/drawing/2014/main" id="{E6AAED2B-3632-4FDA-BB53-4C277B1BA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8200"/>
            <a:ext cx="6434137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数学与离散数学</a:t>
            </a:r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F5EADACB-588E-456E-BF56-5F6C3E0061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79613" y="2060575"/>
            <a:ext cx="6121400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4400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什么是数学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4400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数学的作用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4400" b="1"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离散数学</a:t>
            </a:r>
            <a:endParaRPr lang="en-US" altLang="zh-CN" sz="4400" b="1">
              <a:solidFill>
                <a:schemeClr val="accent2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17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3593D24-FE13-4099-B5A4-F7928905C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050" y="620713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4EE5826-2B78-457D-9025-1C6EBAA540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677EE4C-371E-4780-BA5D-853954F1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196" name="灯片编号占位符 5">
            <a:extLst>
              <a:ext uri="{FF2B5EF4-FFF2-40B4-BE49-F238E27FC236}">
                <a16:creationId xmlns:a16="http://schemas.microsoft.com/office/drawing/2014/main" id="{324B6FC5-E3A6-4335-A3E5-A6B3173CA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B409D5-1FF4-4288-87C2-A6ACB309552F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7" name="Text Box 2">
            <a:extLst>
              <a:ext uri="{FF2B5EF4-FFF2-40B4-BE49-F238E27FC236}">
                <a16:creationId xmlns:a16="http://schemas.microsoft.com/office/drawing/2014/main" id="{A177964E-F67D-4364-994B-F7E57A5A9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什么是数学</a:t>
            </a:r>
          </a:p>
        </p:txBody>
      </p:sp>
      <p:pic>
        <p:nvPicPr>
          <p:cNvPr id="819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74D1037-92CB-4211-A71E-B9232246C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75" y="620713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01E56BC-6850-43E8-B802-F653F0660979}"/>
              </a:ext>
            </a:extLst>
          </p:cNvPr>
          <p:cNvSpPr txBox="1"/>
          <p:nvPr/>
        </p:nvSpPr>
        <p:spPr>
          <a:xfrm>
            <a:off x="1042988" y="2439988"/>
            <a:ext cx="7705725" cy="15700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/>
              <a:t>数学</a:t>
            </a:r>
            <a:endParaRPr lang="en-US" altLang="zh-CN" b="1" dirty="0"/>
          </a:p>
          <a:p>
            <a:pPr>
              <a:defRPr/>
            </a:pPr>
            <a:r>
              <a:rPr lang="en-US" altLang="zh-CN" b="1" dirty="0"/>
              <a:t>   </a:t>
            </a:r>
            <a:r>
              <a:rPr lang="zh-CN" altLang="en-US" b="1" dirty="0"/>
              <a:t>是研究数、形、数与形的科学，对应分支分别为代数学、几何学和分析学。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9F0AD6-6C59-4DDB-A71C-EB167BFB4DE1}"/>
              </a:ext>
            </a:extLst>
          </p:cNvPr>
          <p:cNvSpPr txBox="1"/>
          <p:nvPr/>
        </p:nvSpPr>
        <p:spPr>
          <a:xfrm>
            <a:off x="1019175" y="4287838"/>
            <a:ext cx="7704138" cy="15684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/>
              <a:t>数学</a:t>
            </a:r>
            <a:endParaRPr lang="en-US" altLang="zh-CN" b="1" dirty="0"/>
          </a:p>
          <a:p>
            <a:pPr>
              <a:defRPr/>
            </a:pPr>
            <a:r>
              <a:rPr lang="en-US" altLang="zh-CN" b="1" dirty="0"/>
              <a:t>   </a:t>
            </a:r>
            <a:r>
              <a:rPr lang="zh-CN" altLang="en-US" b="1" dirty="0"/>
              <a:t>是以理性的手指触摸天上的星辰，是与上帝对话的语言。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9EE5BE1-9D1D-4F4E-A6A5-BF91B5D055E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96354FF-36AE-4063-BC67-0B217781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220" name="灯片编号占位符 5">
            <a:extLst>
              <a:ext uri="{FF2B5EF4-FFF2-40B4-BE49-F238E27FC236}">
                <a16:creationId xmlns:a16="http://schemas.microsoft.com/office/drawing/2014/main" id="{661C601A-67A0-409E-B7AA-B53DE8D6B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1782EB-7876-406D-964D-328C9DF518E1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1" name="Text Box 2">
            <a:extLst>
              <a:ext uri="{FF2B5EF4-FFF2-40B4-BE49-F238E27FC236}">
                <a16:creationId xmlns:a16="http://schemas.microsoft.com/office/drawing/2014/main" id="{A0490C44-A237-4ACE-81CB-D29C89E5B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5843588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数学的作用</a:t>
            </a:r>
          </a:p>
        </p:txBody>
      </p:sp>
      <p:pic>
        <p:nvPicPr>
          <p:cNvPr id="922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85BE37A-F605-4255-925C-2E1C0E81D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75" y="620713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文本框 1">
            <a:extLst>
              <a:ext uri="{FF2B5EF4-FFF2-40B4-BE49-F238E27FC236}">
                <a16:creationId xmlns:a16="http://schemas.microsoft.com/office/drawing/2014/main" id="{410A7860-248F-4228-8491-22AD57143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2276475"/>
            <a:ext cx="5616575" cy="6461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第一 思想或者创意；</a:t>
            </a:r>
          </a:p>
        </p:txBody>
      </p:sp>
      <p:sp>
        <p:nvSpPr>
          <p:cNvPr id="9224" name="文本框 9">
            <a:extLst>
              <a:ext uri="{FF2B5EF4-FFF2-40B4-BE49-F238E27FC236}">
                <a16:creationId xmlns:a16="http://schemas.microsoft.com/office/drawing/2014/main" id="{990A3850-1567-4943-9F07-596B0DD74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213100"/>
            <a:ext cx="5616575" cy="6461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第二 相应的理论体系；</a:t>
            </a:r>
          </a:p>
        </p:txBody>
      </p:sp>
      <p:sp>
        <p:nvSpPr>
          <p:cNvPr id="9225" name="文本框 10">
            <a:extLst>
              <a:ext uri="{FF2B5EF4-FFF2-40B4-BE49-F238E27FC236}">
                <a16:creationId xmlns:a16="http://schemas.microsoft.com/office/drawing/2014/main" id="{99ACA5C5-37CD-4B5B-B6B1-D4FE83FC2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3" y="4160838"/>
            <a:ext cx="6689725" cy="64611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第三 数学模型定量表示与分析</a:t>
            </a:r>
          </a:p>
        </p:txBody>
      </p:sp>
      <p:sp>
        <p:nvSpPr>
          <p:cNvPr id="9226" name="文本框 11">
            <a:extLst>
              <a:ext uri="{FF2B5EF4-FFF2-40B4-BE49-F238E27FC236}">
                <a16:creationId xmlns:a16="http://schemas.microsoft.com/office/drawing/2014/main" id="{1E92978A-1DC5-4810-AB86-B3420AC7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168900"/>
            <a:ext cx="5257800" cy="6461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第四 对数学模型的求解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30B51E0-0FC9-4DFD-8F8E-F2019BE737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8827F97-C79C-4E00-BA0C-2A305722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0244" name="灯片编号占位符 5">
            <a:extLst>
              <a:ext uri="{FF2B5EF4-FFF2-40B4-BE49-F238E27FC236}">
                <a16:creationId xmlns:a16="http://schemas.microsoft.com/office/drawing/2014/main" id="{90A58B89-604B-41D9-B945-83DA772BF2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B8EC39-48E3-4439-A532-199FC24F1400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5" name="Text Box 2">
            <a:extLst>
              <a:ext uri="{FF2B5EF4-FFF2-40B4-BE49-F238E27FC236}">
                <a16:creationId xmlns:a16="http://schemas.microsoft.com/office/drawing/2014/main" id="{9F9729CB-9101-43C7-93E3-8ADF0909B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数学基础</a:t>
            </a:r>
          </a:p>
        </p:txBody>
      </p:sp>
      <p:pic>
        <p:nvPicPr>
          <p:cNvPr id="1024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4F48604-9E9D-42E7-A8E3-73B489240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75" y="620713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10" descr="QQ截图20151115114337">
            <a:extLst>
              <a:ext uri="{FF2B5EF4-FFF2-40B4-BE49-F238E27FC236}">
                <a16:creationId xmlns:a16="http://schemas.microsoft.com/office/drawing/2014/main" id="{C2B0C586-BE16-4343-BCC3-BB908256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76475"/>
            <a:ext cx="7848600" cy="339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1D7DB1D-EB36-45B5-B527-23EF4A3672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4416D21-AAF7-4865-A62C-9EE8132A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268" name="灯片编号占位符 5">
            <a:extLst>
              <a:ext uri="{FF2B5EF4-FFF2-40B4-BE49-F238E27FC236}">
                <a16:creationId xmlns:a16="http://schemas.microsoft.com/office/drawing/2014/main" id="{3B16233B-6B7A-4BB5-8BB9-334E520119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F91027-F3DD-492D-A375-08920BFA1D85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9" name="Text Box 2">
            <a:extLst>
              <a:ext uri="{FF2B5EF4-FFF2-40B4-BE49-F238E27FC236}">
                <a16:creationId xmlns:a16="http://schemas.microsoft.com/office/drawing/2014/main" id="{CA784524-DAF6-46D7-8511-B3FA66F01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计算机的特点</a:t>
            </a:r>
          </a:p>
        </p:txBody>
      </p:sp>
      <p:pic>
        <p:nvPicPr>
          <p:cNvPr id="1127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ED63CBA-139A-4B51-AC05-2BB236890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838" y="620713"/>
            <a:ext cx="1300162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9" descr="QQ截图20151115114136">
            <a:extLst>
              <a:ext uri="{FF2B5EF4-FFF2-40B4-BE49-F238E27FC236}">
                <a16:creationId xmlns:a16="http://schemas.microsoft.com/office/drawing/2014/main" id="{70112715-7B18-4F44-98AB-4A4C3327C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205038"/>
            <a:ext cx="7496175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EFD780B-F584-4F32-9971-9558179D12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9028D1A-DFB7-4D54-A3D6-463B28B4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2292" name="灯片编号占位符 5">
            <a:extLst>
              <a:ext uri="{FF2B5EF4-FFF2-40B4-BE49-F238E27FC236}">
                <a16:creationId xmlns:a16="http://schemas.microsoft.com/office/drawing/2014/main" id="{38BE97B4-AEFB-4922-83BE-7EBFDA84BD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C21BAC-14BB-4148-987E-6C3DA9FCAF6A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Text Box 2">
            <a:extLst>
              <a:ext uri="{FF2B5EF4-FFF2-40B4-BE49-F238E27FC236}">
                <a16:creationId xmlns:a16="http://schemas.microsoft.com/office/drawing/2014/main" id="{86D3C80B-4EDD-4EEA-97ED-B27CD9578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930275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计算机数学</a:t>
            </a:r>
          </a:p>
        </p:txBody>
      </p:sp>
      <p:pic>
        <p:nvPicPr>
          <p:cNvPr id="1229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6BF94E6-4119-40F6-BC22-9194D1077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9" descr="QQ截图20151115114056">
            <a:extLst>
              <a:ext uri="{FF2B5EF4-FFF2-40B4-BE49-F238E27FC236}">
                <a16:creationId xmlns:a16="http://schemas.microsoft.com/office/drawing/2014/main" id="{20363414-3B57-47D7-A714-FC52A4513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420938"/>
            <a:ext cx="751522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784A582-DB0B-40A2-8F84-D61EB893CD4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5A31356D-D0DE-40DC-AFDF-AD46DFB9AD64}" type="datetime1">
              <a:rPr lang="zh-CN" altLang="en-US" sz="1400" b="1">
                <a:latin typeface="+mj-lt"/>
              </a:rPr>
              <a:pPr eaLnBrk="1" hangingPunct="1">
                <a:defRPr/>
              </a:pPr>
              <a:t>2020/9/7</a:t>
            </a:fld>
            <a:endParaRPr lang="en-US" altLang="zh-CN" sz="1400" b="1">
              <a:latin typeface="+mj-lt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656A4AF-D772-4A9E-819B-EA40141A7DA9}"/>
              </a:ext>
            </a:extLst>
          </p:cNvPr>
          <p:cNvSpPr txBox="1">
            <a:spLocks noGrp="1"/>
          </p:cNvSpPr>
          <p:nvPr/>
        </p:nvSpPr>
        <p:spPr bwMode="auto">
          <a:xfrm>
            <a:off x="3132138" y="640080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</a:rPr>
              <a:t>计算机应用技术研究所</a:t>
            </a:r>
          </a:p>
        </p:txBody>
      </p:sp>
      <p:sp>
        <p:nvSpPr>
          <p:cNvPr id="13316" name="灯片编号占位符 5">
            <a:extLst>
              <a:ext uri="{FF2B5EF4-FFF2-40B4-BE49-F238E27FC236}">
                <a16:creationId xmlns:a16="http://schemas.microsoft.com/office/drawing/2014/main" id="{ACE3156A-105F-4B5C-A2CC-125DCB51C08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88125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B168070-CBF5-4644-9007-997D192339FD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7" name="Text Box 2">
            <a:extLst>
              <a:ext uri="{FF2B5EF4-FFF2-40B4-BE49-F238E27FC236}">
                <a16:creationId xmlns:a16="http://schemas.microsoft.com/office/drawing/2014/main" id="{84C7F36F-48C5-47D0-9B2F-5E07F4482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836613"/>
            <a:ext cx="629602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离散数学的定义</a:t>
            </a:r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86A137EB-5A98-4F66-9E3C-75C9D68045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2349500"/>
            <a:ext cx="7416800" cy="3457575"/>
          </a:xfrm>
          <a:solidFill>
            <a:srgbClr val="000080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spcBef>
                <a:spcPct val="45000"/>
              </a:spcBef>
              <a:buFont typeface="Wingdings" panose="05000000000000000000" pitchFamily="2" charset="2"/>
              <a:buChar char="u"/>
            </a:pP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既古老又现代的数学学科</a:t>
            </a:r>
          </a:p>
          <a:p>
            <a:pPr eaLnBrk="1" hangingPunct="1">
              <a:lnSpc>
                <a:spcPct val="120000"/>
              </a:lnSpc>
              <a:spcBef>
                <a:spcPct val="45000"/>
              </a:spcBef>
              <a:buFont typeface="Wingdings" panose="05000000000000000000" pitchFamily="2" charset="2"/>
              <a:buChar char="u"/>
            </a:pP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研究对象是</a:t>
            </a:r>
            <a:r>
              <a:rPr lang="zh-CN" altLang="en-US" sz="3200" b="1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离散量之间的结构与关系</a:t>
            </a:r>
          </a:p>
          <a:p>
            <a:pPr eaLnBrk="1" hangingPunct="1">
              <a:lnSpc>
                <a:spcPct val="120000"/>
              </a:lnSpc>
              <a:spcBef>
                <a:spcPct val="45000"/>
              </a:spcBef>
              <a:buFont typeface="Wingdings" panose="05000000000000000000" pitchFamily="2" charset="2"/>
              <a:buChar char="u"/>
            </a:pP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是</a:t>
            </a:r>
            <a:r>
              <a:rPr lang="zh-CN" altLang="en-US" sz="3200" b="1">
                <a:solidFill>
                  <a:schemeClr val="accen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集合论</a:t>
            </a: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chemeClr val="accen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数理逻辑</a:t>
            </a: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chemeClr val="accen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图论</a:t>
            </a: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chemeClr val="accen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数论</a:t>
            </a: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chemeClr val="accen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组合计算</a:t>
            </a: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chemeClr val="accen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代数结构</a:t>
            </a:r>
            <a:r>
              <a:rPr lang="zh-CN" altLang="en-US" sz="3200" b="1">
                <a:solidFill>
                  <a:srgbClr val="66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等多个数学分支的</a:t>
            </a:r>
            <a:r>
              <a:rPr lang="zh-CN" altLang="en-US" sz="3200" b="1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集成</a:t>
            </a:r>
          </a:p>
        </p:txBody>
      </p:sp>
      <p:pic>
        <p:nvPicPr>
          <p:cNvPr id="1331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9398576-BBC2-46B3-BBFF-0FB2CA23F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7994ACF-1164-4A94-BA83-5ACF78C4E0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75F369B-CDA4-4393-BB5C-39943284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4340" name="灯片编号占位符 5">
            <a:extLst>
              <a:ext uri="{FF2B5EF4-FFF2-40B4-BE49-F238E27FC236}">
                <a16:creationId xmlns:a16="http://schemas.microsoft.com/office/drawing/2014/main" id="{9DC4047E-35F6-4364-A3A6-DF2B2EB1A2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9F00DF-777A-4D89-A44E-E1FD337AEF82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1" name="Text Box 2">
            <a:extLst>
              <a:ext uri="{FF2B5EF4-FFF2-40B4-BE49-F238E27FC236}">
                <a16:creationId xmlns:a16="http://schemas.microsoft.com/office/drawing/2014/main" id="{5967F46F-092F-4F15-B33F-3F1E03265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8200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离散数学的作用</a:t>
            </a:r>
          </a:p>
        </p:txBody>
      </p:sp>
      <p:pic>
        <p:nvPicPr>
          <p:cNvPr id="1434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C8C3770-488F-4DA8-AA7B-BCBBF3C58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913" y="620713"/>
            <a:ext cx="1300162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9" descr="QQ截图20160105135946">
            <a:extLst>
              <a:ext uri="{FF2B5EF4-FFF2-40B4-BE49-F238E27FC236}">
                <a16:creationId xmlns:a16="http://schemas.microsoft.com/office/drawing/2014/main" id="{C4DA7641-2337-49F4-B0F8-39B35C5D1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2120900"/>
            <a:ext cx="7724775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6B64687-2AAC-4F9D-B17B-1F00FB120F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85A7835-6C3A-4548-AAA1-EA924799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5364" name="灯片编号占位符 5">
            <a:extLst>
              <a:ext uri="{FF2B5EF4-FFF2-40B4-BE49-F238E27FC236}">
                <a16:creationId xmlns:a16="http://schemas.microsoft.com/office/drawing/2014/main" id="{26B3041F-47F3-4043-9BDC-7313F8034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CF3897-5B43-44E5-8044-0F23A7AAEA1C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5" name="Text Box 2">
            <a:extLst>
              <a:ext uri="{FF2B5EF4-FFF2-40B4-BE49-F238E27FC236}">
                <a16:creationId xmlns:a16="http://schemas.microsoft.com/office/drawing/2014/main" id="{7A402551-FBA7-4CCF-AD24-E4BF6FA10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836613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离散数学的作用</a:t>
            </a:r>
          </a:p>
        </p:txBody>
      </p:sp>
      <p:pic>
        <p:nvPicPr>
          <p:cNvPr id="1536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A550C24-B8EB-4377-905A-E39FB85A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438" y="620713"/>
            <a:ext cx="1163637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9" descr="QQ截图20160105135704">
            <a:extLst>
              <a:ext uri="{FF2B5EF4-FFF2-40B4-BE49-F238E27FC236}">
                <a16:creationId xmlns:a16="http://schemas.microsoft.com/office/drawing/2014/main" id="{832D0980-2CFF-46AD-A532-2AC561BEA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89138"/>
            <a:ext cx="8137525" cy="411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9DC1353-CDCA-4C84-A1E1-126AF26E45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E5412C3-69A1-4680-86E4-7AAAEE78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6388" name="灯片编号占位符 5">
            <a:extLst>
              <a:ext uri="{FF2B5EF4-FFF2-40B4-BE49-F238E27FC236}">
                <a16:creationId xmlns:a16="http://schemas.microsoft.com/office/drawing/2014/main" id="{EC860ADF-4730-4F43-9E18-6C5213916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FAE630-D323-4BDD-9556-BC3AD71EC3B4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9" name="Text Box 2">
            <a:extLst>
              <a:ext uri="{FF2B5EF4-FFF2-40B4-BE49-F238E27FC236}">
                <a16:creationId xmlns:a16="http://schemas.microsoft.com/office/drawing/2014/main" id="{9EDA3D53-D446-4741-A1A3-2A3036F5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结 论</a:t>
            </a:r>
          </a:p>
        </p:txBody>
      </p:sp>
      <p:pic>
        <p:nvPicPr>
          <p:cNvPr id="1639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5D7B74C-4F8D-4D5D-B357-55ADFFD9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9" descr="QQ截图20151115115646">
            <a:extLst>
              <a:ext uri="{FF2B5EF4-FFF2-40B4-BE49-F238E27FC236}">
                <a16:creationId xmlns:a16="http://schemas.microsoft.com/office/drawing/2014/main" id="{0BE0BE8C-CA29-4F1F-8AB7-9C465AC4D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33600"/>
            <a:ext cx="7839075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>
            <a:extLst>
              <a:ext uri="{FF2B5EF4-FFF2-40B4-BE49-F238E27FC236}">
                <a16:creationId xmlns:a16="http://schemas.microsoft.com/office/drawing/2014/main" id="{4B98C89A-27F0-4B62-AF07-A797FDB2D86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3FA878-38F1-4E9E-B5B1-32B0BE35CAA4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17411" name="Group 17">
            <a:extLst>
              <a:ext uri="{FF2B5EF4-FFF2-40B4-BE49-F238E27FC236}">
                <a16:creationId xmlns:a16="http://schemas.microsoft.com/office/drawing/2014/main" id="{1672109B-BD40-4457-8D3C-58EFF240E943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636838"/>
            <a:ext cx="4729162" cy="3024187"/>
            <a:chOff x="1519" y="1661"/>
            <a:chExt cx="2979" cy="1905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6C2DE2DA-23DC-482F-BE38-1D826F34F58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60" y="1760"/>
              <a:ext cx="2711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14" name="AutoShape 10">
              <a:extLst>
                <a:ext uri="{FF2B5EF4-FFF2-40B4-BE49-F238E27FC236}">
                  <a16:creationId xmlns:a16="http://schemas.microsoft.com/office/drawing/2014/main" id="{1F2189F0-2962-485F-8FF8-E7534B5DA3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22" y="1661"/>
              <a:ext cx="428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7415" name="Text Box 11">
              <a:extLst>
                <a:ext uri="{FF2B5EF4-FFF2-40B4-BE49-F238E27FC236}">
                  <a16:creationId xmlns:a16="http://schemas.microsoft.com/office/drawing/2014/main" id="{715F4716-DE9A-4053-92FB-CF4CA2C07E1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3" y="1807"/>
              <a:ext cx="22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离散数学课程性质</a:t>
              </a:r>
            </a:p>
          </p:txBody>
        </p:sp>
        <p:sp>
          <p:nvSpPr>
            <p:cNvPr id="17416" name="Text Box 12">
              <a:extLst>
                <a:ext uri="{FF2B5EF4-FFF2-40B4-BE49-F238E27FC236}">
                  <a16:creationId xmlns:a16="http://schemas.microsoft.com/office/drawing/2014/main" id="{9450A5B4-0D12-4D86-BEAB-B114F6C2C3B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1782"/>
              <a:ext cx="22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142243A3-29BE-4EC5-B806-8F5A4660860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3103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18" name="AutoShape 15">
              <a:extLst>
                <a:ext uri="{FF2B5EF4-FFF2-40B4-BE49-F238E27FC236}">
                  <a16:creationId xmlns:a16="http://schemas.microsoft.com/office/drawing/2014/main" id="{76BF1332-6BF9-465A-97C3-7B4EE0AAB1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3006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7419" name="Text Box 16">
              <a:extLst>
                <a:ext uri="{FF2B5EF4-FFF2-40B4-BE49-F238E27FC236}">
                  <a16:creationId xmlns:a16="http://schemas.microsoft.com/office/drawing/2014/main" id="{7F695BA1-A1EB-43EA-94D5-3B7D6EDF927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3" y="3149"/>
              <a:ext cx="2292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课程学习方法</a:t>
              </a:r>
            </a:p>
          </p:txBody>
        </p:sp>
        <p:sp>
          <p:nvSpPr>
            <p:cNvPr id="17420" name="Text Box 17">
              <a:extLst>
                <a:ext uri="{FF2B5EF4-FFF2-40B4-BE49-F238E27FC236}">
                  <a16:creationId xmlns:a16="http://schemas.microsoft.com/office/drawing/2014/main" id="{1E70F50B-0CEC-4BF6-9E40-837D2CBDA15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25" y="3087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17421" name="AutoShape 19">
              <a:extLst>
                <a:ext uri="{FF2B5EF4-FFF2-40B4-BE49-F238E27FC236}">
                  <a16:creationId xmlns:a16="http://schemas.microsoft.com/office/drawing/2014/main" id="{F8868E0B-0C8F-4419-B2FD-EBEAE1B14B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62" y="2438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7422" name="AutoShape 20">
              <a:extLst>
                <a:ext uri="{FF2B5EF4-FFF2-40B4-BE49-F238E27FC236}">
                  <a16:creationId xmlns:a16="http://schemas.microsoft.com/office/drawing/2014/main" id="{2FF6226D-C14E-446F-881F-81110FCC7D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22" y="2341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7423" name="Text Box 21">
              <a:extLst>
                <a:ext uri="{FF2B5EF4-FFF2-40B4-BE49-F238E27FC236}">
                  <a16:creationId xmlns:a16="http://schemas.microsoft.com/office/drawing/2014/main" id="{EAE6ECBB-55BD-448D-A3C0-22F65F2D3FC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6" y="2484"/>
              <a:ext cx="22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离散数学课程内容</a:t>
              </a:r>
            </a:p>
          </p:txBody>
        </p:sp>
        <p:sp>
          <p:nvSpPr>
            <p:cNvPr id="17424" name="Text Box 22">
              <a:extLst>
                <a:ext uri="{FF2B5EF4-FFF2-40B4-BE49-F238E27FC236}">
                  <a16:creationId xmlns:a16="http://schemas.microsoft.com/office/drawing/2014/main" id="{FD074747-523E-431A-8E0B-AA701FEA20A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2421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</p:grpSp>
      <p:sp>
        <p:nvSpPr>
          <p:cNvPr id="17412" name="Text Box 2">
            <a:extLst>
              <a:ext uri="{FF2B5EF4-FFF2-40B4-BE49-F238E27FC236}">
                <a16:creationId xmlns:a16="http://schemas.microsoft.com/office/drawing/2014/main" id="{9D11A7A6-C0E1-4280-AEE0-F9072AA31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0017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</a:rPr>
              <a:t>本章学习内容</a:t>
            </a:r>
            <a:endParaRPr lang="zh-CN" altLang="en-US" sz="4800" b="1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>
            <a:extLst>
              <a:ext uri="{FF2B5EF4-FFF2-40B4-BE49-F238E27FC236}">
                <a16:creationId xmlns:a16="http://schemas.microsoft.com/office/drawing/2014/main" id="{08A26760-1080-46EA-BB08-4F54CF2A76B7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6C11563-94E6-4924-B71F-9743D556AFB5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4">
            <a:extLst>
              <a:ext uri="{FF2B5EF4-FFF2-40B4-BE49-F238E27FC236}">
                <a16:creationId xmlns:a16="http://schemas.microsoft.com/office/drawing/2014/main" id="{73E09478-FFEC-4AE8-9EB4-F0CDE4973D14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18436" name="灯片编号占位符 5">
            <a:extLst>
              <a:ext uri="{FF2B5EF4-FFF2-40B4-BE49-F238E27FC236}">
                <a16:creationId xmlns:a16="http://schemas.microsoft.com/office/drawing/2014/main" id="{84D18138-B382-4387-806E-431CD5D215B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09A8BD2-3C2C-4133-8625-97632DEBEA58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9C4F3398-E487-4E9E-A21A-E6773CFB0F0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42988" y="2565400"/>
            <a:ext cx="7702550" cy="1655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离散数学课程内容</a:t>
            </a:r>
          </a:p>
        </p:txBody>
      </p:sp>
      <p:pic>
        <p:nvPicPr>
          <p:cNvPr id="18438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03F7F0CC-E05C-410E-AD98-E9B4600D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94C6A93-6CE9-4069-B44E-368465AE0E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246952B-89B2-43E4-8965-7C91268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9460" name="灯片编号占位符 5">
            <a:extLst>
              <a:ext uri="{FF2B5EF4-FFF2-40B4-BE49-F238E27FC236}">
                <a16:creationId xmlns:a16="http://schemas.microsoft.com/office/drawing/2014/main" id="{8C95E6DF-6A77-4EDD-92A2-AD56771C02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3E00F7-9839-4E2E-935B-EB8DFF668253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Text Box 2">
            <a:extLst>
              <a:ext uri="{FF2B5EF4-FFF2-40B4-BE49-F238E27FC236}">
                <a16:creationId xmlns:a16="http://schemas.microsoft.com/office/drawing/2014/main" id="{E43E7C8C-4890-4227-AE64-236D4255B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知识体系</a:t>
            </a:r>
          </a:p>
        </p:txBody>
      </p:sp>
      <p:pic>
        <p:nvPicPr>
          <p:cNvPr id="1946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965C490-7E4C-4A3C-88AF-5C832E913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8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9" descr="QQ截图20151115115854">
            <a:extLst>
              <a:ext uri="{FF2B5EF4-FFF2-40B4-BE49-F238E27FC236}">
                <a16:creationId xmlns:a16="http://schemas.microsoft.com/office/drawing/2014/main" id="{2098AB26-53BB-41EF-A621-2950847FE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5038"/>
            <a:ext cx="7993062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4">
            <a:extLst>
              <a:ext uri="{FF2B5EF4-FFF2-40B4-BE49-F238E27FC236}">
                <a16:creationId xmlns:a16="http://schemas.microsoft.com/office/drawing/2014/main" id="{54D6396B-27E2-4350-A9BF-6475600181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23" name="页脚占位符 5">
            <a:extLst>
              <a:ext uri="{FF2B5EF4-FFF2-40B4-BE49-F238E27FC236}">
                <a16:creationId xmlns:a16="http://schemas.microsoft.com/office/drawing/2014/main" id="{E4021C69-5777-4FF6-AB6D-701DC4A0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0484" name="灯片编号占位符 6">
            <a:extLst>
              <a:ext uri="{FF2B5EF4-FFF2-40B4-BE49-F238E27FC236}">
                <a16:creationId xmlns:a16="http://schemas.microsoft.com/office/drawing/2014/main" id="{54AD5C5A-1B8F-4D91-831B-F8A4323AB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CD155A-28EF-4AF0-A675-2745B0520A4F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5" name="Text Box 2">
            <a:extLst>
              <a:ext uri="{FF2B5EF4-FFF2-40B4-BE49-F238E27FC236}">
                <a16:creationId xmlns:a16="http://schemas.microsoft.com/office/drawing/2014/main" id="{5BF4EED4-0299-46DC-9E03-C6A8371E3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20713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知识体系</a:t>
            </a:r>
          </a:p>
        </p:txBody>
      </p:sp>
      <p:pic>
        <p:nvPicPr>
          <p:cNvPr id="2048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3CB35B2-F1E0-476E-8E92-70734EB58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09600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29" descr="QQ截图20160105135343">
            <a:extLst>
              <a:ext uri="{FF2B5EF4-FFF2-40B4-BE49-F238E27FC236}">
                <a16:creationId xmlns:a16="http://schemas.microsoft.com/office/drawing/2014/main" id="{30B8F5CD-724B-42EA-9201-2EFEF769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3070225"/>
            <a:ext cx="6896100" cy="310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9315F10-C157-43E9-9346-735EC295F170}"/>
              </a:ext>
            </a:extLst>
          </p:cNvPr>
          <p:cNvSpPr txBox="1"/>
          <p:nvPr/>
        </p:nvSpPr>
        <p:spPr>
          <a:xfrm>
            <a:off x="979488" y="1773238"/>
            <a:ext cx="7634287" cy="1076325"/>
          </a:xfrm>
          <a:prstGeom prst="rect">
            <a:avLst/>
          </a:prstGeom>
          <a:solidFill>
            <a:schemeClr val="accent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/>
              <a:t>涵盖六个数学分支：</a:t>
            </a:r>
            <a:r>
              <a:rPr lang="zh-CN" altLang="en-US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集合论、数理逻辑、图论、组合计算、数论、抽象代数</a:t>
            </a:r>
            <a:r>
              <a:rPr lang="zh-CN" altLang="en-US" b="1" dirty="0"/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FE5E36A-B4A8-49E0-8524-5C7C6835478E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5A31356D-D0DE-40DC-AFDF-AD46DFB9AD64}" type="datetime1">
              <a:rPr lang="zh-CN" altLang="en-US" sz="1400" b="1">
                <a:latin typeface="+mj-lt"/>
              </a:rPr>
              <a:pPr eaLnBrk="1" hangingPunct="1">
                <a:defRPr/>
              </a:pPr>
              <a:t>2020/9/7</a:t>
            </a:fld>
            <a:endParaRPr lang="en-US" altLang="zh-CN" sz="1400" b="1">
              <a:latin typeface="+mj-lt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19CDE78-988D-4A0A-A9FD-CDE3DB27FCF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</a:rPr>
              <a:t>计算机应用技术研究所</a:t>
            </a:r>
          </a:p>
        </p:txBody>
      </p:sp>
      <p:sp>
        <p:nvSpPr>
          <p:cNvPr id="21508" name="灯片编号占位符 5">
            <a:extLst>
              <a:ext uri="{FF2B5EF4-FFF2-40B4-BE49-F238E27FC236}">
                <a16:creationId xmlns:a16="http://schemas.microsoft.com/office/drawing/2014/main" id="{C4D38BFE-CEA4-47A6-8977-00FFAF6DAD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88125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C82CA22-6460-4557-A41F-A3B23842BBD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9" name="Text Box 2">
            <a:extLst>
              <a:ext uri="{FF2B5EF4-FFF2-40B4-BE49-F238E27FC236}">
                <a16:creationId xmlns:a16="http://schemas.microsoft.com/office/drawing/2014/main" id="{7C9BAA86-7B68-4043-A6D2-7020936DD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930275"/>
            <a:ext cx="5562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能力培养</a:t>
            </a:r>
          </a:p>
        </p:txBody>
      </p:sp>
      <p:pic>
        <p:nvPicPr>
          <p:cNvPr id="2151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7DB21F0-6533-4046-AE0D-460F1AFDA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09600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8" descr="QQ截图20160105135153">
            <a:extLst>
              <a:ext uri="{FF2B5EF4-FFF2-40B4-BE49-F238E27FC236}">
                <a16:creationId xmlns:a16="http://schemas.microsoft.com/office/drawing/2014/main" id="{76119FAA-65E9-4632-8843-86EBF17D5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363788"/>
            <a:ext cx="6840537" cy="358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>
            <a:extLst>
              <a:ext uri="{FF2B5EF4-FFF2-40B4-BE49-F238E27FC236}">
                <a16:creationId xmlns:a16="http://schemas.microsoft.com/office/drawing/2014/main" id="{72062666-84EB-453B-825B-053DA267A55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B5F2D0-5A3F-4276-8D09-1B2961885FE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11CF0F82-51BD-4C00-AA0B-BA467B620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本章学习内容</a:t>
            </a:r>
          </a:p>
        </p:txBody>
      </p:sp>
      <p:grpSp>
        <p:nvGrpSpPr>
          <p:cNvPr id="22532" name="Group 17">
            <a:extLst>
              <a:ext uri="{FF2B5EF4-FFF2-40B4-BE49-F238E27FC236}">
                <a16:creationId xmlns:a16="http://schemas.microsoft.com/office/drawing/2014/main" id="{386044ED-B254-4595-88F8-CFBC91A13201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638425"/>
            <a:ext cx="4724400" cy="2951163"/>
            <a:chOff x="1519" y="1616"/>
            <a:chExt cx="2976" cy="1859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DBFF58B8-805C-45F9-8B86-B94DD32D7B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1715"/>
              <a:ext cx="2736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34" name="AutoShape 10">
              <a:extLst>
                <a:ext uri="{FF2B5EF4-FFF2-40B4-BE49-F238E27FC236}">
                  <a16:creationId xmlns:a16="http://schemas.microsoft.com/office/drawing/2014/main" id="{071B511A-787F-4EED-BB4D-F387C2DEB8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1616"/>
              <a:ext cx="432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2535" name="Text Box 11">
              <a:extLst>
                <a:ext uri="{FF2B5EF4-FFF2-40B4-BE49-F238E27FC236}">
                  <a16:creationId xmlns:a16="http://schemas.microsoft.com/office/drawing/2014/main" id="{017C6E61-2EA6-46F3-8C2F-6F8BA48304C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3" y="1762"/>
              <a:ext cx="2292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离散数学课程性质</a:t>
              </a:r>
            </a:p>
          </p:txBody>
        </p:sp>
        <p:sp>
          <p:nvSpPr>
            <p:cNvPr id="22536" name="Text Box 12">
              <a:extLst>
                <a:ext uri="{FF2B5EF4-FFF2-40B4-BE49-F238E27FC236}">
                  <a16:creationId xmlns:a16="http://schemas.microsoft.com/office/drawing/2014/main" id="{B6F96852-8ED6-42C0-88F1-38A0F906138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1698"/>
              <a:ext cx="22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46690020-E4BB-4672-B2ED-4810F25014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2358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38" name="AutoShape 15">
              <a:extLst>
                <a:ext uri="{FF2B5EF4-FFF2-40B4-BE49-F238E27FC236}">
                  <a16:creationId xmlns:a16="http://schemas.microsoft.com/office/drawing/2014/main" id="{B63C34E2-80C2-4A90-A7BF-DB38100C92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2261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2539" name="Text Box 16">
              <a:extLst>
                <a:ext uri="{FF2B5EF4-FFF2-40B4-BE49-F238E27FC236}">
                  <a16:creationId xmlns:a16="http://schemas.microsoft.com/office/drawing/2014/main" id="{DE8C87AF-DA47-486F-9D82-D655FBEF619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3" y="2351"/>
              <a:ext cx="22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离散数学课程内容</a:t>
              </a:r>
            </a:p>
          </p:txBody>
        </p:sp>
        <p:sp>
          <p:nvSpPr>
            <p:cNvPr id="22540" name="Text Box 17">
              <a:extLst>
                <a:ext uri="{FF2B5EF4-FFF2-40B4-BE49-F238E27FC236}">
                  <a16:creationId xmlns:a16="http://schemas.microsoft.com/office/drawing/2014/main" id="{2398BFDA-C19F-41D2-90AD-1676A448078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2342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22541" name="AutoShape 19">
              <a:extLst>
                <a:ext uri="{FF2B5EF4-FFF2-40B4-BE49-F238E27FC236}">
                  <a16:creationId xmlns:a16="http://schemas.microsoft.com/office/drawing/2014/main" id="{369C91CF-2DF5-4385-AD64-AE12CF1D13C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3011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2542" name="AutoShape 20">
              <a:extLst>
                <a:ext uri="{FF2B5EF4-FFF2-40B4-BE49-F238E27FC236}">
                  <a16:creationId xmlns:a16="http://schemas.microsoft.com/office/drawing/2014/main" id="{1669343C-4B40-4BCA-A05F-D76314C15C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2914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2543" name="Text Box 21">
              <a:extLst>
                <a:ext uri="{FF2B5EF4-FFF2-40B4-BE49-F238E27FC236}">
                  <a16:creationId xmlns:a16="http://schemas.microsoft.com/office/drawing/2014/main" id="{19ECCD16-1AD9-4177-A896-5781618F5E9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44" y="3005"/>
              <a:ext cx="22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本课程学习方法</a:t>
              </a:r>
            </a:p>
          </p:txBody>
        </p:sp>
        <p:sp>
          <p:nvSpPr>
            <p:cNvPr id="22544" name="Text Box 22">
              <a:extLst>
                <a:ext uri="{FF2B5EF4-FFF2-40B4-BE49-F238E27FC236}">
                  <a16:creationId xmlns:a16="http://schemas.microsoft.com/office/drawing/2014/main" id="{868339E7-697E-4FC6-A5C6-ADF87F9C775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2994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>
            <a:extLst>
              <a:ext uri="{FF2B5EF4-FFF2-40B4-BE49-F238E27FC236}">
                <a16:creationId xmlns:a16="http://schemas.microsoft.com/office/drawing/2014/main" id="{DA5DFF4A-44ED-4437-A881-86AF4046000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3B06DAF-B7C4-4D5C-81EB-EBDC9085953D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页脚占位符 4">
            <a:extLst>
              <a:ext uri="{FF2B5EF4-FFF2-40B4-BE49-F238E27FC236}">
                <a16:creationId xmlns:a16="http://schemas.microsoft.com/office/drawing/2014/main" id="{E36F06E5-1D16-4877-87B0-AE723926272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23556" name="灯片编号占位符 5">
            <a:extLst>
              <a:ext uri="{FF2B5EF4-FFF2-40B4-BE49-F238E27FC236}">
                <a16:creationId xmlns:a16="http://schemas.microsoft.com/office/drawing/2014/main" id="{3C4CCBA4-C240-415E-A4FE-CECC96219D3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0B3148B-4456-498A-BEE0-67E95F32EF32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06482E06-658D-429D-A2F8-D5F855CAC9B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42988" y="2565400"/>
            <a:ext cx="7702550" cy="1655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本课程学习方法</a:t>
            </a:r>
          </a:p>
        </p:txBody>
      </p:sp>
      <p:pic>
        <p:nvPicPr>
          <p:cNvPr id="23558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EF132FB3-EFEC-4F33-9BDB-948CFBA1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1B6920A-282A-4D32-B04A-A5A7BFBA83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848E844-6730-437C-8006-23D35E16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4580" name="灯片编号占位符 5">
            <a:extLst>
              <a:ext uri="{FF2B5EF4-FFF2-40B4-BE49-F238E27FC236}">
                <a16:creationId xmlns:a16="http://schemas.microsoft.com/office/drawing/2014/main" id="{B5C4B9C2-3E2F-4FF5-86C8-0153CC596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1504E8-2E97-497E-A9B5-B9125EDB5730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1" name="Text Box 2">
            <a:extLst>
              <a:ext uri="{FF2B5EF4-FFF2-40B4-BE49-F238E27FC236}">
                <a16:creationId xmlns:a16="http://schemas.microsoft.com/office/drawing/2014/main" id="{4E7156E3-074C-4DD9-B40E-EF268F782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765175"/>
            <a:ext cx="565626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学习方法</a:t>
            </a:r>
          </a:p>
        </p:txBody>
      </p:sp>
      <p:pic>
        <p:nvPicPr>
          <p:cNvPr id="2458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ED475DD-844F-42F2-A911-7DF43824F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9" descr="QQ截图20151115120436">
            <a:extLst>
              <a:ext uri="{FF2B5EF4-FFF2-40B4-BE49-F238E27FC236}">
                <a16:creationId xmlns:a16="http://schemas.microsoft.com/office/drawing/2014/main" id="{27E291C4-2E8B-4E3C-A3DB-9F728DB4D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205038"/>
            <a:ext cx="7056438" cy="36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61EC7357-0D75-4C59-92C6-709C53A876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6A24C12A-6CEC-491A-8D18-1DBBC821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EDF18673-CAD8-4CB7-BB61-C7F04F6285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1831CC-94BA-4795-A433-80548026CD3C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5" name="页脚占位符 3">
            <a:extLst>
              <a:ext uri="{FF2B5EF4-FFF2-40B4-BE49-F238E27FC236}">
                <a16:creationId xmlns:a16="http://schemas.microsoft.com/office/drawing/2014/main" id="{1F026EDC-BE32-4A54-9E3B-921C8C21D4B4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32172A8D-5846-4550-B2EF-246ACBD69392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TextBox 7">
            <a:extLst>
              <a:ext uri="{FF2B5EF4-FFF2-40B4-BE49-F238E27FC236}">
                <a16:creationId xmlns:a16="http://schemas.microsoft.com/office/drawing/2014/main" id="{0DCF3F8E-1724-41C2-ACC1-F22B8635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951038"/>
            <a:ext cx="7704137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《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离散数学及其应用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》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 汪荣贵、王晓华、杨娟、李书杰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编著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，机械工业出版社，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2017.8      </a:t>
            </a:r>
            <a:endParaRPr kumimoji="0" lang="en-US" altLang="zh-CN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2">
            <a:extLst>
              <a:ext uri="{FF2B5EF4-FFF2-40B4-BE49-F238E27FC236}">
                <a16:creationId xmlns:a16="http://schemas.microsoft.com/office/drawing/2014/main" id="{E85DFCE0-7A8D-4DC8-9CFC-76760386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8200"/>
            <a:ext cx="58674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课程教材</a:t>
            </a:r>
          </a:p>
        </p:txBody>
      </p:sp>
      <p:pic>
        <p:nvPicPr>
          <p:cNvPr id="2560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FD4E23C-BF28-42D5-91C7-602834084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38" y="53340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9" name="图片 2">
            <a:extLst>
              <a:ext uri="{FF2B5EF4-FFF2-40B4-BE49-F238E27FC236}">
                <a16:creationId xmlns:a16="http://schemas.microsoft.com/office/drawing/2014/main" id="{7A415971-BCE4-4427-B88D-06F75963C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3028950"/>
            <a:ext cx="4616450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9045317C-795C-4033-A7AC-1DFD3EB9FE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2B1A3D22-5071-46C5-A0E6-02F8A095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87CD735E-6774-410C-9872-B5E704F74F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150EEB-2457-4604-AC69-5C45EA9A47F7}" type="slidenum"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9" name="页脚占位符 3">
            <a:extLst>
              <a:ext uri="{FF2B5EF4-FFF2-40B4-BE49-F238E27FC236}">
                <a16:creationId xmlns:a16="http://schemas.microsoft.com/office/drawing/2014/main" id="{8391B22B-21D9-4CB0-8ABA-F5960C16CB29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87FC6AAE-7CA8-40ED-9541-CCF9DE507BC0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Text Box 2">
            <a:extLst>
              <a:ext uri="{FF2B5EF4-FFF2-40B4-BE49-F238E27FC236}">
                <a16:creationId xmlns:a16="http://schemas.microsoft.com/office/drawing/2014/main" id="{715C132C-C617-469D-A080-BD54A9EC9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785813"/>
            <a:ext cx="571182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课程教参</a:t>
            </a:r>
          </a:p>
        </p:txBody>
      </p:sp>
      <p:pic>
        <p:nvPicPr>
          <p:cNvPr id="2663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A609C8E-B134-4A29-9335-D7DEDAB6E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38" y="53340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10" descr="QQ截图20160105140156">
            <a:extLst>
              <a:ext uri="{FF2B5EF4-FFF2-40B4-BE49-F238E27FC236}">
                <a16:creationId xmlns:a16="http://schemas.microsoft.com/office/drawing/2014/main" id="{A0ECC6E4-1704-4F70-9540-5B223017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2149475"/>
            <a:ext cx="7985125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>
            <a:extLst>
              <a:ext uri="{FF2B5EF4-FFF2-40B4-BE49-F238E27FC236}">
                <a16:creationId xmlns:a16="http://schemas.microsoft.com/office/drawing/2014/main" id="{1388F570-6101-4E8B-A9E4-396B55EA3EE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CD3D8D-ADE9-412E-B461-C20F39DC237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</p:txBody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F4A5C269-7D96-4723-855C-9A7DF54E1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</a:rPr>
              <a:t> 本章内容到此结束</a:t>
            </a:r>
            <a:endParaRPr lang="en-US" altLang="zh-CN" sz="5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楷体_GB2312" pitchFamily="49" charset="-122"/>
            </a:endParaRPr>
          </a:p>
        </p:txBody>
      </p:sp>
      <p:sp>
        <p:nvSpPr>
          <p:cNvPr id="27652" name="WordArt 6">
            <a:extLst>
              <a:ext uri="{FF2B5EF4-FFF2-40B4-BE49-F238E27FC236}">
                <a16:creationId xmlns:a16="http://schemas.microsoft.com/office/drawing/2014/main" id="{7554B6FB-98A9-4BD2-9538-252F0D89EB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</a:rPr>
              <a:t>谢谢大家！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b="1" dirty="0" smtClean="0"/>
        </a:defPPr>
      </a:lstStyle>
    </a:tx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张勇-硕士答辩</Template>
  <TotalTime>3344</TotalTime>
  <Words>425</Words>
  <Application>Microsoft Office PowerPoint</Application>
  <PresentationFormat>全屏显示(4:3)</PresentationFormat>
  <Paragraphs>134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黑体</vt:lpstr>
      <vt:lpstr>华文行楷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Wingdings 2</vt:lpstr>
      <vt:lpstr>张勇-硕士答辩</vt:lpstr>
      <vt:lpstr>PowerPoint 演示文稿</vt:lpstr>
      <vt:lpstr>第0章 课程简介  </vt:lpstr>
      <vt:lpstr>PowerPoint 演示文稿</vt:lpstr>
      <vt:lpstr>离散数学课程性质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离散数学课程内容</vt:lpstr>
      <vt:lpstr>PowerPoint 演示文稿</vt:lpstr>
      <vt:lpstr>PowerPoint 演示文稿</vt:lpstr>
      <vt:lpstr>PowerPoint 演示文稿</vt:lpstr>
      <vt:lpstr>PowerPoint 演示文稿</vt:lpstr>
      <vt:lpstr>本课程学习方法</vt:lpstr>
      <vt:lpstr>PowerPoint 演示文稿</vt:lpstr>
      <vt:lpstr>PowerPoint 演示文稿</vt:lpstr>
      <vt:lpstr>PowerPoint 演示文稿</vt:lpstr>
      <vt:lpstr>PowerPoint 演示文稿</vt:lpstr>
    </vt:vector>
  </TitlesOfParts>
  <Company>WWW.YlmF.CoM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图像中模糊边界目标的阈值分割方法研究</dc:title>
  <dc:creator>汪荣贵</dc:creator>
  <cp:lastModifiedBy>Windows 用户</cp:lastModifiedBy>
  <cp:revision>301</cp:revision>
  <dcterms:created xsi:type="dcterms:W3CDTF">2011-04-21T02:25:16Z</dcterms:created>
  <dcterms:modified xsi:type="dcterms:W3CDTF">2020-09-07T02:13:09Z</dcterms:modified>
</cp:coreProperties>
</file>