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  <p:sldMasterId id="2147483680" r:id="rId2"/>
  </p:sldMasterIdLst>
  <p:notesMasterIdLst>
    <p:notesMasterId r:id="rId111"/>
  </p:notesMasterIdLst>
  <p:sldIdLst>
    <p:sldId id="1123" r:id="rId3"/>
    <p:sldId id="1124" r:id="rId4"/>
    <p:sldId id="1154" r:id="rId5"/>
    <p:sldId id="1125" r:id="rId6"/>
    <p:sldId id="1126" r:id="rId7"/>
    <p:sldId id="1127" r:id="rId8"/>
    <p:sldId id="1132" r:id="rId9"/>
    <p:sldId id="1133" r:id="rId10"/>
    <p:sldId id="1135" r:id="rId11"/>
    <p:sldId id="1024" r:id="rId12"/>
    <p:sldId id="1129" r:id="rId13"/>
    <p:sldId id="1238" r:id="rId14"/>
    <p:sldId id="1131" r:id="rId15"/>
    <p:sldId id="1373" r:id="rId16"/>
    <p:sldId id="1374" r:id="rId17"/>
    <p:sldId id="1375" r:id="rId18"/>
    <p:sldId id="1376" r:id="rId19"/>
    <p:sldId id="1139" r:id="rId20"/>
    <p:sldId id="1366" r:id="rId21"/>
    <p:sldId id="1377" r:id="rId22"/>
    <p:sldId id="1241" r:id="rId23"/>
    <p:sldId id="1543" r:id="rId24"/>
    <p:sldId id="1033" r:id="rId25"/>
    <p:sldId id="1544" r:id="rId26"/>
    <p:sldId id="1545" r:id="rId27"/>
    <p:sldId id="1140" r:id="rId28"/>
    <p:sldId id="1035" r:id="rId29"/>
    <p:sldId id="1142" r:id="rId30"/>
    <p:sldId id="1203" r:id="rId31"/>
    <p:sldId id="1546" r:id="rId32"/>
    <p:sldId id="1547" r:id="rId33"/>
    <p:sldId id="1039" r:id="rId34"/>
    <p:sldId id="1548" r:id="rId35"/>
    <p:sldId id="1247" r:id="rId36"/>
    <p:sldId id="1146" r:id="rId37"/>
    <p:sldId id="1144" r:id="rId38"/>
    <p:sldId id="1216" r:id="rId39"/>
    <p:sldId id="1041" r:id="rId40"/>
    <p:sldId id="1549" r:id="rId41"/>
    <p:sldId id="1223" r:id="rId42"/>
    <p:sldId id="1224" r:id="rId43"/>
    <p:sldId id="1227" r:id="rId44"/>
    <p:sldId id="1251" r:id="rId45"/>
    <p:sldId id="1252" r:id="rId46"/>
    <p:sldId id="1217" r:id="rId47"/>
    <p:sldId id="1551" r:id="rId48"/>
    <p:sldId id="1550" r:id="rId49"/>
    <p:sldId id="1225" r:id="rId50"/>
    <p:sldId id="1553" r:id="rId51"/>
    <p:sldId id="1552" r:id="rId52"/>
    <p:sldId id="1254" r:id="rId53"/>
    <p:sldId id="1158" r:id="rId54"/>
    <p:sldId id="1150" r:id="rId55"/>
    <p:sldId id="1047" r:id="rId56"/>
    <p:sldId id="1255" r:id="rId57"/>
    <p:sldId id="1159" r:id="rId58"/>
    <p:sldId id="1162" r:id="rId59"/>
    <p:sldId id="1049" r:id="rId60"/>
    <p:sldId id="1050" r:id="rId61"/>
    <p:sldId id="1161" r:id="rId62"/>
    <p:sldId id="1163" r:id="rId63"/>
    <p:sldId id="1256" r:id="rId64"/>
    <p:sldId id="1258" r:id="rId65"/>
    <p:sldId id="1165" r:id="rId66"/>
    <p:sldId id="1164" r:id="rId67"/>
    <p:sldId id="1262" r:id="rId68"/>
    <p:sldId id="1168" r:id="rId69"/>
    <p:sldId id="1055" r:id="rId70"/>
    <p:sldId id="1557" r:id="rId71"/>
    <p:sldId id="1558" r:id="rId72"/>
    <p:sldId id="1166" r:id="rId73"/>
    <p:sldId id="1554" r:id="rId74"/>
    <p:sldId id="1215" r:id="rId75"/>
    <p:sldId id="1556" r:id="rId76"/>
    <p:sldId id="1555" r:id="rId77"/>
    <p:sldId id="1151" r:id="rId78"/>
    <p:sldId id="1061" r:id="rId79"/>
    <p:sldId id="1559" r:id="rId80"/>
    <p:sldId id="1169" r:id="rId81"/>
    <p:sldId id="1062" r:id="rId82"/>
    <p:sldId id="1170" r:id="rId83"/>
    <p:sldId id="1065" r:id="rId84"/>
    <p:sldId id="1560" r:id="rId85"/>
    <p:sldId id="1266" r:id="rId86"/>
    <p:sldId id="1267" r:id="rId87"/>
    <p:sldId id="1268" r:id="rId88"/>
    <p:sldId id="1270" r:id="rId89"/>
    <p:sldId id="1272" r:id="rId90"/>
    <p:sldId id="1273" r:id="rId91"/>
    <p:sldId id="1274" r:id="rId92"/>
    <p:sldId id="1275" r:id="rId93"/>
    <p:sldId id="1276" r:id="rId94"/>
    <p:sldId id="1277" r:id="rId95"/>
    <p:sldId id="1278" r:id="rId96"/>
    <p:sldId id="1279" r:id="rId97"/>
    <p:sldId id="1281" r:id="rId98"/>
    <p:sldId id="1283" r:id="rId99"/>
    <p:sldId id="1284" r:id="rId100"/>
    <p:sldId id="1285" r:id="rId101"/>
    <p:sldId id="1561" r:id="rId102"/>
    <p:sldId id="1288" r:id="rId103"/>
    <p:sldId id="1289" r:id="rId104"/>
    <p:sldId id="1291" r:id="rId105"/>
    <p:sldId id="1292" r:id="rId106"/>
    <p:sldId id="1562" r:id="rId107"/>
    <p:sldId id="1294" r:id="rId108"/>
    <p:sldId id="1295" r:id="rId109"/>
    <p:sldId id="1542" r:id="rId11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3200" kern="1200">
        <a:solidFill>
          <a:srgbClr val="FF0000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3200" kern="1200">
        <a:solidFill>
          <a:srgbClr val="FF0000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3200" kern="1200">
        <a:solidFill>
          <a:srgbClr val="FF0000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3200" kern="1200">
        <a:solidFill>
          <a:srgbClr val="FF0000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3200" kern="1200">
        <a:solidFill>
          <a:srgbClr val="FF0000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kern="1200">
        <a:solidFill>
          <a:srgbClr val="FF0000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kern="1200">
        <a:solidFill>
          <a:srgbClr val="FF0000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kern="1200">
        <a:solidFill>
          <a:srgbClr val="FF0000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kern="1200">
        <a:solidFill>
          <a:srgbClr val="FF0000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FFFF66"/>
    <a:srgbClr val="99FFCC"/>
    <a:srgbClr val="18AC04"/>
    <a:srgbClr val="008000"/>
    <a:srgbClr val="800080"/>
    <a:srgbClr val="FF00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97" autoAdjust="0"/>
    <p:restoredTop sz="95479" autoAdjust="0"/>
  </p:normalViewPr>
  <p:slideViewPr>
    <p:cSldViewPr>
      <p:cViewPr varScale="1">
        <p:scale>
          <a:sx n="87" d="100"/>
          <a:sy n="87" d="100"/>
        </p:scale>
        <p:origin x="1344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presProps" Target="presProps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viewProps" Target="viewProps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14" Type="http://schemas.openxmlformats.org/officeDocument/2006/relationships/theme" Target="theme/theme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tableStyles" Target="tableStyles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7516A040-5128-4B3D-AC07-97D918B2CCB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622377CE-78B3-4F20-A044-BFE2C19FDC6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185E4C12-0C30-4173-8B20-F0BF28B4468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EAABB889-F680-422E-8529-388FD5915F6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5366" name="Rectangle 6">
            <a:extLst>
              <a:ext uri="{FF2B5EF4-FFF2-40B4-BE49-F238E27FC236}">
                <a16:creationId xmlns:a16="http://schemas.microsoft.com/office/drawing/2014/main" id="{FC3196B7-DDDD-4B6B-ACCF-18FC3D9B9C1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67" name="Rectangle 7">
            <a:extLst>
              <a:ext uri="{FF2B5EF4-FFF2-40B4-BE49-F238E27FC236}">
                <a16:creationId xmlns:a16="http://schemas.microsoft.com/office/drawing/2014/main" id="{67FA488E-7A7F-452E-AB5B-EC8F573806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6DF689FF-013F-49D6-8652-271E1C28C0C1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2496EB3-C371-45F3-9686-58EAD2344C0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42F400-D7C4-46F3-B606-750EEF92B5D5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72AC20A-8D77-4F76-A415-D6C5AC707B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60B4A7DF-E816-4E4A-AFE6-D9B2396A14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50</a:t>
            </a:r>
            <a:r>
              <a:rPr lang="zh-CN" altLang="en-US"/>
              <a:t>－</a:t>
            </a:r>
            <a:fld id="{E9ABF108-4CAE-4181-B6BD-851F5D77E20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3504041"/>
      </p:ext>
    </p:extLst>
  </p:cSld>
  <p:clrMapOvr>
    <a:masterClrMapping/>
  </p:clrMapOvr>
  <p:transition/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D2DEA63-1854-467A-B4EC-A3DC681B04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7A473B-E355-4908-BEB3-7BC13694D174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1D429CC-C97B-4EC7-B0B5-F3DEBC3594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8A281D2-7340-4293-A40A-F117CCCF19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50</a:t>
            </a:r>
            <a:r>
              <a:rPr lang="zh-CN" altLang="en-US"/>
              <a:t>－</a:t>
            </a:r>
            <a:fld id="{C727AF2C-ADC0-4D1D-B641-86A463DC885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075192"/>
      </p:ext>
    </p:extLst>
  </p:cSld>
  <p:clrMapOvr>
    <a:masterClrMapping/>
  </p:clrMapOvr>
  <p:transition spd="med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BB9AC06-711C-4DFE-823E-ABDDA0AB6B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9FBF4E-E3A4-4842-8BC6-844860A9253C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F3286AA-FB03-4988-9A67-4006F63065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76A882C-5DA8-495B-9FFA-B563FF5657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50</a:t>
            </a:r>
            <a:r>
              <a:rPr lang="zh-CN" altLang="en-US"/>
              <a:t>－</a:t>
            </a:r>
            <a:fld id="{FA9A5DE2-33E6-417F-A55C-C4CB47651E9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1053315"/>
      </p:ext>
    </p:extLst>
  </p:cSld>
  <p:clrMapOvr>
    <a:masterClrMapping/>
  </p:clrMapOvr>
  <p:transition spd="med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4213" y="1989138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6613" y="1989138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AFF94FD-0436-4D2F-BD71-68EC7EE2D2E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BF4598-AAF3-4978-864E-8FFCED264425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98EB776-E9EB-4F67-ACB1-B59B4A6769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7BCF683B-CAA5-4C68-B5A3-78A2A7EFFD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50</a:t>
            </a:r>
            <a:r>
              <a:rPr lang="zh-CN" altLang="en-US"/>
              <a:t>－</a:t>
            </a:r>
            <a:fld id="{EAF63432-AEDD-46EB-8501-5973EB4060F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8986434"/>
      </p:ext>
    </p:extLst>
  </p:cSld>
  <p:clrMapOvr>
    <a:masterClrMapping/>
  </p:clrMapOvr>
  <p:transition spd="med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FC89EE6F-DE4B-48CD-A294-06EDC4FA86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7443E5-C3CD-4C9C-A8F4-C5AD5988084F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18D9AE78-95DF-4DFE-B3B0-2C9E39F027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254A9D3C-958F-410C-869B-10809579EA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50</a:t>
            </a:r>
            <a:r>
              <a:rPr lang="zh-CN" altLang="en-US"/>
              <a:t>－</a:t>
            </a:r>
            <a:fld id="{1AD2F646-6E11-4FD3-A512-FE711CF18A9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1294934"/>
      </p:ext>
    </p:extLst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3C96B99-3B34-45E9-8B19-CFC7D7C313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BF767C-915D-48AF-9896-056232EFF594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E33EC4B-2454-439C-A3C1-A5DF90F5AA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5898367-3B52-424F-BE9F-FF04564A85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50</a:t>
            </a:r>
            <a:r>
              <a:rPr lang="zh-CN" altLang="en-US"/>
              <a:t>－</a:t>
            </a:r>
            <a:fld id="{1D580DCD-0DF6-4B10-A838-FADA551F218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5619375"/>
      </p:ext>
    </p:extLst>
  </p:cSld>
  <p:clrMapOvr>
    <a:masterClrMapping/>
  </p:clrMapOvr>
  <p:transition spd="med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D1D52E33-7DF5-4F9A-B6A5-B22CC35D9F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7F21BB-CF5F-4ADF-B598-A75890EC1B36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678DEFD2-A989-40E8-992C-096B728D1C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3A2BE064-9B73-4FF3-94CD-44000F688D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50</a:t>
            </a:r>
            <a:r>
              <a:rPr lang="zh-CN" altLang="en-US"/>
              <a:t>－</a:t>
            </a:r>
            <a:fld id="{5478CF26-1427-4C04-890A-9C41C633D30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4921231"/>
      </p:ext>
    </p:extLst>
  </p:cSld>
  <p:clrMapOvr>
    <a:masterClrMapping/>
  </p:clrMapOvr>
  <p:transition spd="med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A9F2365-1678-47F6-BE15-A7715A9DDB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6A4738-7668-4D25-85BF-AF1E31455383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94143A6-8B3D-4A64-B401-37F62C906D5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54AE9533-C849-40DE-83B0-E69E36C666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50</a:t>
            </a:r>
            <a:r>
              <a:rPr lang="zh-CN" altLang="en-US"/>
              <a:t>－</a:t>
            </a:r>
            <a:fld id="{05BBE680-F21D-44C0-AD0C-715BCA3C713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8326177"/>
      </p:ext>
    </p:extLst>
  </p:cSld>
  <p:clrMapOvr>
    <a:masterClrMapping/>
  </p:clrMapOvr>
  <p:transition spd="med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3A22CEC-458D-4D54-B0D8-1EAEB66276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23F208-5CCA-4C99-AD43-7FDC18FDC643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6CF36AE-D6A5-4507-950D-455D9F2AE9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1A7B7830-1357-4A33-89E5-3CECA8C1B3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50</a:t>
            </a:r>
            <a:r>
              <a:rPr lang="zh-CN" altLang="en-US"/>
              <a:t>－</a:t>
            </a:r>
            <a:fld id="{CDCCA84B-60A7-4CDA-A646-1D0F09A81D9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11109185"/>
      </p:ext>
    </p:extLst>
  </p:cSld>
  <p:clrMapOvr>
    <a:masterClrMapping/>
  </p:clrMapOvr>
  <p:transition spd="med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AD6048A-52F3-4DDA-9EC5-7579F4AEAE1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CD2338-9D6D-4875-91EF-8B04F0FB9453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D3FB6A1-6FCD-4130-965E-2B59AA8D44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1EF11223-AA6D-4EF7-B711-7DB6ED28AC8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50</a:t>
            </a:r>
            <a:r>
              <a:rPr lang="zh-CN" altLang="en-US"/>
              <a:t>－</a:t>
            </a:r>
            <a:fld id="{0B1774BF-EB59-4629-983D-1148614B372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62259376"/>
      </p:ext>
    </p:extLst>
  </p:cSld>
  <p:clrMapOvr>
    <a:masterClrMapping/>
  </p:clrMapOvr>
  <p:transition spd="med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943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4213" y="609600"/>
            <a:ext cx="5678487" cy="54943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12B42B9-008B-4056-A9D7-0E02EA4887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C7C32-A7FF-42C1-A593-FD344E1A4E1B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118035D-6763-4D64-8282-A6F4D3E9D4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60B2478A-5D78-4788-92C2-792A6F514B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50</a:t>
            </a:r>
            <a:r>
              <a:rPr lang="zh-CN" altLang="en-US"/>
              <a:t>－</a:t>
            </a:r>
            <a:fld id="{C3BD5890-C212-4B08-8861-48665650865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2004272"/>
      </p:ext>
    </p:extLst>
  </p:cSld>
  <p:clrMapOvr>
    <a:masterClrMapping/>
  </p:clrMapOvr>
  <p:transition/>
  <p:hf sldNum="0"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4213" y="609600"/>
            <a:ext cx="7773987" cy="5494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82F63A2-C4F9-41F3-BB1B-F17C156DB7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A30010-13C1-4FFD-9FB1-8BA1DD680C60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25DA916-7E0A-47F8-AF89-338077E1D6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65A640D4-1898-415F-BDCD-902501DD8C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50</a:t>
            </a:r>
            <a:r>
              <a:rPr lang="zh-CN" altLang="en-US"/>
              <a:t>－</a:t>
            </a:r>
            <a:fld id="{31CA4519-E45F-4605-AEBE-B5689C20E75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90891196"/>
      </p:ext>
    </p:extLst>
  </p:cSld>
  <p:clrMapOvr>
    <a:masterClrMapping/>
  </p:clrMapOvr>
  <p:transition spd="med">
    <p:wipe dir="r"/>
  </p:transition>
  <p:hf sldNum="0"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066800" y="692150"/>
            <a:ext cx="7696200" cy="1524000"/>
          </a:xfrm>
        </p:spPr>
        <p:txBody>
          <a:bodyPr tIns="0" bIns="0" anchor="b"/>
          <a:lstStyle>
            <a:lvl1pPr>
              <a:lnSpc>
                <a:spcPct val="85000"/>
              </a:lnSpc>
              <a:defRPr sz="5800"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en-US" noProof="0"/>
          </a:p>
        </p:txBody>
      </p:sp>
    </p:spTree>
    <p:extLst>
      <p:ext uri="{BB962C8B-B14F-4D97-AF65-F5344CB8AC3E}">
        <p14:creationId xmlns:p14="http://schemas.microsoft.com/office/powerpoint/2010/main" val="1622120425"/>
      </p:ext>
    </p:extLst>
  </p:cSld>
  <p:clrMapOvr>
    <a:masterClrMapping/>
  </p:clrMapOvr>
  <p:transition spd="med">
    <p:wipe dir="r"/>
  </p:transition>
  <p:hf sldNum="0"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1188" y="696913"/>
            <a:ext cx="8064500" cy="9239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11188" y="1795463"/>
            <a:ext cx="3956050" cy="45862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719638" y="1795463"/>
            <a:ext cx="3956050" cy="22161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719638" y="4164013"/>
            <a:ext cx="3956050" cy="22177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40D487D9-8696-444C-8CA0-9ED6FC43FF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0825" y="6405563"/>
            <a:ext cx="1512888" cy="3365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1457E6-3BEE-4DEA-A5AF-BED53642B03C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5D4E9BA-1ECD-4D5F-9DF1-8D0CDC6C20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947025" y="6405563"/>
            <a:ext cx="1162050" cy="33655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50</a:t>
            </a:r>
            <a:r>
              <a:rPr lang="zh-CN" altLang="en-US"/>
              <a:t>－</a:t>
            </a:r>
            <a:fld id="{EE6B11FD-F898-4D98-B5A6-02BCAC5C9C3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5462071"/>
      </p:ext>
    </p:extLst>
  </p:cSld>
  <p:clrMapOvr>
    <a:masterClrMapping/>
  </p:clrMapOvr>
  <p:transition spd="med">
    <p:wipe dir="r"/>
  </p:transition>
  <p:hf sldNum="0"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4213" y="1989138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6613" y="1989138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D4BD282-87B4-4567-8705-5BD325B9C5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49E44D-EBDE-45C0-A88B-C20812F86EC0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C878292-F3B5-4CA6-B08A-5E4094226F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4EEE1B92-ABA4-48A9-BACF-02002073E0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50</a:t>
            </a:r>
            <a:r>
              <a:rPr lang="zh-CN" altLang="en-US"/>
              <a:t>－</a:t>
            </a:r>
            <a:fld id="{9A3EF9BC-5BED-4CB0-8937-C4812727E44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8220706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FED28BA-C726-4370-97FB-94586AD39A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6A422D-13B0-438E-9871-78A34EAD9323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3ED58C9-5B12-4317-9DB9-05839EF9B7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E051DFC-65A2-4A8B-9A42-97153BD57B5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B575FE-BE56-4E1E-A954-BE7F90C9352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0510498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C505A00-5552-4A71-B1C2-8C2924D1A9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0B599E-0A78-4178-9397-7D35833D7158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05B9130-6E8B-4413-BCA5-8495156299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598A61D-A7AD-4ADA-AFD4-BA47B345ED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B6B1B9-B5E4-42E5-B32B-775613257E0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8760037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6C73110-AC88-4F71-BA01-707CF26428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E4998F-35CD-445D-BAE1-1FA6E4829579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701F792-4DCD-4EE1-A477-AC0C7AD379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A4B8ACD-0509-4DAD-B96D-540A01C17C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6077C3-B63B-47CA-BD35-38AE2ED46D3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8911859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4213" y="1989138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6613" y="1989138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C41CF7-5C84-4A86-84C1-4F7DDA5E29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8A2834-EAFC-4374-9AAC-BD72B8407675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D4D334-9070-43C3-A153-A9A83935B8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F4F250-B839-4148-AA87-90F24E59FA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C4340F-DEA2-4C62-ABE2-809DE41E254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0812443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E0AEF87-93C3-4A25-9C23-9343BC600A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B73212-8DBE-4507-8127-48A5ADE3F117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035EEC7-24D3-4909-B3DA-BDCF3098BD5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9191308-9723-4B41-8265-B0C10B4E41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470557-288D-42BE-A72F-01F10FA3E0D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48674962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2CF4498-7D27-4155-9F80-37861742B5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7E6D6-7C10-453C-BF30-DDBA01B2A69A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6752498-21C2-49E3-8DDD-E2138A38A8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E4319BB-CA1B-495E-B819-2EAACCCC74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356E73B-22C2-4EB6-B6D3-D72BC87F013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4736246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CB82127-C4CE-4F88-BDA3-29D7274BEE1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42D1C2-63DC-48A3-9C63-BF1CF99C3624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2022666-C27A-48C6-9DF3-C55BEF3DD2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B6361BB-10D2-40A3-AD24-5A450F390C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670579-09DB-43EE-A169-4FDD8B6FBFC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0095451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692B02-6C12-412E-89C4-94B4292277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20CAEF-7FDD-4F44-9652-49F1C42EFD0E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2F5782-DAAD-4073-9576-BBA6987E29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FF0C57-5608-4807-952C-78306657EF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C4E9DAC-7D3B-4182-B34A-2A7824EC88D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33443561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D2DFAE-5F28-4BE4-BE89-9F6FA13C0C6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F4A0E0-3FA8-4F20-8A3D-6DC6092F37D9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B3BC66-84D6-426B-8581-B59EC57C006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50BF03-036B-4850-9F44-BC72244DF6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CC7EE0D-1DE7-49C0-AF54-B7F95D57CA7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7286403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69A238D-7E48-456C-A49A-3CF9730D2F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D8987F-7582-4904-BE76-2A8D43CB6B55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8067A01-2C9C-4D71-A865-E7B64FC5B6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43B67C8-F716-443C-84F0-4C7C36CE35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F8E440-D1EC-4217-A259-6D22A4AAE37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2224150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943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4213" y="609600"/>
            <a:ext cx="5678487" cy="54943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3E7EA09-F3A2-421B-AED1-0E9A417BAA0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1037C-9CFC-4389-B9FC-2D4026A64F6E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B7BE7AF-D4DE-4720-B369-16BF9BB121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3E70B24-9816-4C0C-99E0-EEC08E34B0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8D4A2E-7B12-4FE7-BBA5-800306BC6E6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778290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7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>
            <a:extLst>
              <a:ext uri="{FF2B5EF4-FFF2-40B4-BE49-F238E27FC236}">
                <a16:creationId xmlns:a16="http://schemas.microsoft.com/office/drawing/2014/main" id="{D837E920-D94B-4CC5-B93A-073D81487C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0C1F6A1E-63E2-43F5-ABA8-7C05BCE669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989138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A40D35FC-0312-46CC-BCE0-347EDBE6DA7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400" b="1">
                <a:ea typeface="黑体" pitchFamily="49" charset="-122"/>
              </a:defRPr>
            </a:lvl1pPr>
          </a:lstStyle>
          <a:p>
            <a:pPr>
              <a:defRPr/>
            </a:pPr>
            <a:fld id="{C45EE097-C3C6-43EB-B799-12C6EC458150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573BD987-1D52-4CD0-871C-8F793CF4336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1400" b="1">
                <a:ea typeface="黑体" pitchFamily="49" charset="-122"/>
              </a:defRPr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27229C12-6472-432E-81F1-4BB48ED562F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1"/>
            </a:lvl1pPr>
          </a:lstStyle>
          <a:p>
            <a:r>
              <a:rPr lang="en-US" altLang="zh-CN"/>
              <a:t>50</a:t>
            </a:r>
            <a:r>
              <a:rPr lang="zh-CN" altLang="en-US"/>
              <a:t>－</a:t>
            </a:r>
            <a:fld id="{892215FC-F393-43AE-A5F2-3475F34B04F5}" type="slidenum">
              <a:rPr lang="en-US" altLang="zh-CN"/>
              <a:pPr/>
              <a:t>‹#›</a:t>
            </a:fld>
            <a:endParaRPr lang="en-US" altLang="zh-CN"/>
          </a:p>
        </p:txBody>
      </p:sp>
      <p:pic>
        <p:nvPicPr>
          <p:cNvPr id="1031" name="Picture 10" descr="12副本1">
            <a:extLst>
              <a:ext uri="{FF2B5EF4-FFF2-40B4-BE49-F238E27FC236}">
                <a16:creationId xmlns:a16="http://schemas.microsoft.com/office/drawing/2014/main" id="{4D9374E7-4317-48C0-80BA-98BCFEDC32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88" y="658813"/>
            <a:ext cx="996950" cy="969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81" r:id="rId1"/>
    <p:sldLayoutId id="2147484295" r:id="rId2"/>
    <p:sldLayoutId id="2147484296" r:id="rId3"/>
    <p:sldLayoutId id="2147484297" r:id="rId4"/>
    <p:sldLayoutId id="2147484298" r:id="rId5"/>
    <p:sldLayoutId id="2147484299" r:id="rId6"/>
    <p:sldLayoutId id="2147484300" r:id="rId7"/>
    <p:sldLayoutId id="2147484301" r:id="rId8"/>
    <p:sldLayoutId id="2147484302" r:id="rId9"/>
    <p:sldLayoutId id="2147484303" r:id="rId10"/>
    <p:sldLayoutId id="2147484282" r:id="rId11"/>
    <p:sldLayoutId id="2147484304" r:id="rId12"/>
    <p:sldLayoutId id="2147484305" r:id="rId13"/>
    <p:sldLayoutId id="2147484306" r:id="rId14"/>
    <p:sldLayoutId id="2147484283" r:id="rId15"/>
  </p:sldLayoutIdLst>
  <p:transition/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kumimoji="1" sz="2400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kumimoji="1" sz="2000" kern="1200">
          <a:solidFill>
            <a:schemeClr val="tx1"/>
          </a:solidFill>
          <a:latin typeface="+mj-lt"/>
          <a:ea typeface="+mj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kern="1200">
          <a:solidFill>
            <a:schemeClr val="tx1"/>
          </a:solidFill>
          <a:latin typeface="+mj-lt"/>
          <a:ea typeface="+mj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1600" kern="1200">
          <a:solidFill>
            <a:schemeClr val="tx1"/>
          </a:solidFill>
          <a:latin typeface="+mj-lt"/>
          <a:ea typeface="+mj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1600" kern="1200">
          <a:solidFill>
            <a:schemeClr val="tx1"/>
          </a:solidFill>
          <a:latin typeface="+mj-lt"/>
          <a:ea typeface="+mj-ea"/>
          <a:cs typeface="楷体_GB231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E61708A9-9F7A-4E9C-A9A9-7C73171355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724995" name="Rectangle 3">
            <a:extLst>
              <a:ext uri="{FF2B5EF4-FFF2-40B4-BE49-F238E27FC236}">
                <a16:creationId xmlns:a16="http://schemas.microsoft.com/office/drawing/2014/main" id="{782663DC-DE34-43E1-8876-0A149CE490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989138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24996" name="Rectangle 4">
            <a:extLst>
              <a:ext uri="{FF2B5EF4-FFF2-40B4-BE49-F238E27FC236}">
                <a16:creationId xmlns:a16="http://schemas.microsoft.com/office/drawing/2014/main" id="{6E1F9E4D-6F90-4195-ACA1-12085ABAC10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400" b="1">
                <a:ea typeface="黑体" pitchFamily="49" charset="-122"/>
              </a:defRPr>
            </a:lvl1pPr>
          </a:lstStyle>
          <a:p>
            <a:pPr>
              <a:defRPr/>
            </a:pPr>
            <a:fld id="{D7D68ADF-4604-4A17-8774-D4FC14FDCCB9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724997" name="Rectangle 5">
            <a:extLst>
              <a:ext uri="{FF2B5EF4-FFF2-40B4-BE49-F238E27FC236}">
                <a16:creationId xmlns:a16="http://schemas.microsoft.com/office/drawing/2014/main" id="{F54AAF3B-7D9E-4013-90AE-62B1E83AB53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1400" b="1">
                <a:ea typeface="黑体" pitchFamily="49" charset="-122"/>
              </a:defRPr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724998" name="Rectangle 6">
            <a:extLst>
              <a:ext uri="{FF2B5EF4-FFF2-40B4-BE49-F238E27FC236}">
                <a16:creationId xmlns:a16="http://schemas.microsoft.com/office/drawing/2014/main" id="{CB2596A8-9A3F-4540-AEEB-CE01FFD052E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1"/>
            </a:lvl1pPr>
          </a:lstStyle>
          <a:p>
            <a:fld id="{21D58C7A-FBB9-41F5-9E51-D3F8FEFAF253}" type="slidenum">
              <a:rPr lang="en-US" altLang="zh-CN"/>
              <a:pPr/>
              <a:t>‹#›</a:t>
            </a:fld>
            <a:endParaRPr lang="en-US" altLang="zh-CN"/>
          </a:p>
        </p:txBody>
      </p:sp>
      <p:pic>
        <p:nvPicPr>
          <p:cNvPr id="2055" name="Picture 7" descr="12副本1">
            <a:extLst>
              <a:ext uri="{FF2B5EF4-FFF2-40B4-BE49-F238E27FC236}">
                <a16:creationId xmlns:a16="http://schemas.microsoft.com/office/drawing/2014/main" id="{BA31A5CE-A92D-4925-83A5-73E37B1E1F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88" y="658813"/>
            <a:ext cx="996950" cy="969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84" r:id="rId1"/>
    <p:sldLayoutId id="2147484285" r:id="rId2"/>
    <p:sldLayoutId id="2147484286" r:id="rId3"/>
    <p:sldLayoutId id="2147484287" r:id="rId4"/>
    <p:sldLayoutId id="2147484288" r:id="rId5"/>
    <p:sldLayoutId id="2147484289" r:id="rId6"/>
    <p:sldLayoutId id="2147484290" r:id="rId7"/>
    <p:sldLayoutId id="2147484291" r:id="rId8"/>
    <p:sldLayoutId id="2147484292" r:id="rId9"/>
    <p:sldLayoutId id="2147484293" r:id="rId10"/>
    <p:sldLayoutId id="2147484294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Blip>
          <a:blip r:embed="rId15"/>
        </a:buBlip>
        <a:defRPr sz="2400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5"/>
        </a:buBlip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0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6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1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wmf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5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0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4.png"/><Relationship Id="rId4" Type="http://schemas.openxmlformats.org/officeDocument/2006/relationships/image" Target="../media/image4.wmf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8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9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0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1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2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3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4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7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8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9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0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1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2.png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日期占位符 1">
            <a:extLst>
              <a:ext uri="{FF2B5EF4-FFF2-40B4-BE49-F238E27FC236}">
                <a16:creationId xmlns:a16="http://schemas.microsoft.com/office/drawing/2014/main" id="{E1D806F9-259B-46AC-83B5-E9C2AB580897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7D6D2FB-73B4-41BE-B910-2D2E71CBE7DC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387" name="页脚占位符 2">
            <a:extLst>
              <a:ext uri="{FF2B5EF4-FFF2-40B4-BE49-F238E27FC236}">
                <a16:creationId xmlns:a16="http://schemas.microsoft.com/office/drawing/2014/main" id="{61E2808B-7E98-490F-A1E1-DDD5494E615B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16388" name="灯片编号占位符 3">
            <a:extLst>
              <a:ext uri="{FF2B5EF4-FFF2-40B4-BE49-F238E27FC236}">
                <a16:creationId xmlns:a16="http://schemas.microsoft.com/office/drawing/2014/main" id="{EA6EDA39-F367-4CA3-8D4F-F599AB558E18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885C0454-398D-434F-BF73-3CEFCEEAA622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1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389" name="页脚占位符 3">
            <a:extLst>
              <a:ext uri="{FF2B5EF4-FFF2-40B4-BE49-F238E27FC236}">
                <a16:creationId xmlns:a16="http://schemas.microsoft.com/office/drawing/2014/main" id="{FF7D732A-6519-4A39-B218-ED3A4CEB4CA0}"/>
              </a:ext>
            </a:extLst>
          </p:cNvPr>
          <p:cNvSpPr txBox="1">
            <a:spLocks noGrp="1"/>
          </p:cNvSpPr>
          <p:nvPr/>
        </p:nvSpPr>
        <p:spPr bwMode="black">
          <a:xfrm>
            <a:off x="609600" y="6470650"/>
            <a:ext cx="5381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B9BD1A1A-1296-495C-90D2-D232C5FF0F7F}" type="slidenum">
              <a:rPr kumimoji="0" lang="en-US" altLang="zh-CN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algn="r">
                <a:spcBef>
                  <a:spcPct val="0"/>
                </a:spcBef>
                <a:buFontTx/>
                <a:buNone/>
              </a:pPr>
              <a:t>1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23939" name="Rectangle 3">
            <a:extLst>
              <a:ext uri="{FF2B5EF4-FFF2-40B4-BE49-F238E27FC236}">
                <a16:creationId xmlns:a16="http://schemas.microsoft.com/office/drawing/2014/main" id="{148001D1-BA1D-4441-9F19-F19C97DEA2D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84213" y="1412875"/>
            <a:ext cx="7826375" cy="2514600"/>
          </a:xfrm>
        </p:spPr>
        <p:txBody>
          <a:bodyPr/>
          <a:lstStyle/>
          <a:p>
            <a:pPr marL="400050" indent="-400050" algn="ctr" eaLnBrk="1" hangingPunct="1">
              <a:buFontTx/>
              <a:buNone/>
              <a:defRPr/>
            </a:pPr>
            <a:r>
              <a:rPr lang="zh-CN" altLang="en-US" sz="8000" b="1" dirty="0">
                <a:solidFill>
                  <a:schemeClr val="accent2"/>
                </a:solidFill>
                <a:effectLst/>
                <a:ea typeface="隶书" panose="02010509060101010101" pitchFamily="49" charset="-122"/>
                <a:cs typeface="楷体_GB2312" pitchFamily="49" charset="-122"/>
              </a:rPr>
              <a:t>离散数学</a:t>
            </a:r>
            <a:endParaRPr lang="zh-CN" altLang="en-US" sz="6600" b="1" dirty="0">
              <a:solidFill>
                <a:schemeClr val="accent2"/>
              </a:solidFill>
              <a:effectLst/>
              <a:ea typeface="隶书" panose="02010509060101010101" pitchFamily="49" charset="-122"/>
              <a:cs typeface="楷体_GB2312" pitchFamily="49" charset="-122"/>
            </a:endParaRPr>
          </a:p>
          <a:p>
            <a:pPr marL="400050" indent="-400050" algn="ctr" eaLnBrk="1" hangingPunct="1">
              <a:buFontTx/>
              <a:buNone/>
              <a:defRPr/>
            </a:pPr>
            <a:r>
              <a:rPr lang="en-US" altLang="zh-CN" sz="660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华文行楷" panose="02010800040101010101" pitchFamily="2" charset="-122"/>
                <a:cs typeface="楷体_GB2312" pitchFamily="49" charset="-122"/>
              </a:rPr>
              <a:t>Discrete Mathematics</a:t>
            </a:r>
            <a:r>
              <a:rPr lang="en-US" altLang="zh-CN" sz="3600" b="1" dirty="0">
                <a:solidFill>
                  <a:schemeClr val="accent2"/>
                </a:solidFill>
                <a:ea typeface="宋体" panose="02010600030101010101" pitchFamily="2" charset="-122"/>
                <a:cs typeface="楷体_GB2312" pitchFamily="49" charset="-122"/>
              </a:rPr>
              <a:t> </a:t>
            </a:r>
          </a:p>
        </p:txBody>
      </p:sp>
      <p:sp>
        <p:nvSpPr>
          <p:cNvPr id="16391" name="Text Box 4">
            <a:extLst>
              <a:ext uri="{FF2B5EF4-FFF2-40B4-BE49-F238E27FC236}">
                <a16:creationId xmlns:a16="http://schemas.microsoft.com/office/drawing/2014/main" id="{C3D1719D-BCFD-4FB9-9B8F-16B9354ECE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9988" y="4343400"/>
            <a:ext cx="6858000" cy="1317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CBCBCB"/>
                    </a:gs>
                    <a:gs pos="13000">
                      <a:srgbClr val="5F5F5F"/>
                    </a:gs>
                    <a:gs pos="21001">
                      <a:srgbClr val="5F5F5F"/>
                    </a:gs>
                    <a:gs pos="63000">
                      <a:srgbClr val="FFFFFF"/>
                    </a:gs>
                    <a:gs pos="67000">
                      <a:srgbClr val="B2B2B2"/>
                    </a:gs>
                    <a:gs pos="69000">
                      <a:srgbClr val="292929"/>
                    </a:gs>
                    <a:gs pos="82001">
                      <a:srgbClr val="777777"/>
                    </a:gs>
                    <a:gs pos="100000">
                      <a:srgbClr val="EAEAEA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00050" indent="-4000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buNone/>
            </a:pPr>
            <a:r>
              <a:rPr kumimoji="0"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杨娟</a:t>
            </a:r>
            <a:r>
              <a:rPr kumimoji="0" lang="zh-CN" altLang="en-US" sz="3200" b="1" dirty="0" smtClean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 博士</a:t>
            </a:r>
            <a:endParaRPr kumimoji="0" lang="zh-CN" altLang="en-US" sz="3200" b="1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algn="ctr" eaLnBrk="1" hangingPunct="1">
              <a:spcBef>
                <a:spcPct val="5000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buNone/>
            </a:pPr>
            <a:r>
              <a:rPr kumimoji="0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合肥工业大学计算机与信息学院</a:t>
            </a:r>
          </a:p>
        </p:txBody>
      </p:sp>
      <p:pic>
        <p:nvPicPr>
          <p:cNvPr id="1639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C4A0EAA5-EB2F-4EA7-9355-61AD9678A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188" y="549275"/>
            <a:ext cx="1401762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日期占位符 3">
            <a:extLst>
              <a:ext uri="{FF2B5EF4-FFF2-40B4-BE49-F238E27FC236}">
                <a16:creationId xmlns:a16="http://schemas.microsoft.com/office/drawing/2014/main" id="{EE5A9BDF-2176-45BD-BB0D-9D7B7A90D548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AF23406-2E67-49CD-910A-06E56B2D3CDE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411" name="页脚占位符 4">
            <a:extLst>
              <a:ext uri="{FF2B5EF4-FFF2-40B4-BE49-F238E27FC236}">
                <a16:creationId xmlns:a16="http://schemas.microsoft.com/office/drawing/2014/main" id="{ADA63CF7-DB41-4B6E-891C-3BA84D29C471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17412" name="灯片编号占位符 5">
            <a:extLst>
              <a:ext uri="{FF2B5EF4-FFF2-40B4-BE49-F238E27FC236}">
                <a16:creationId xmlns:a16="http://schemas.microsoft.com/office/drawing/2014/main" id="{CFDCA25B-B85F-46AE-B896-B42FE37DC551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A5401D3-01BD-470F-8329-AC7D5656CD15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413" name="Rectangle 2">
            <a:extLst>
              <a:ext uri="{FF2B5EF4-FFF2-40B4-BE49-F238E27FC236}">
                <a16:creationId xmlns:a16="http://schemas.microsoft.com/office/drawing/2014/main" id="{D6EFF1EC-F815-4FC7-9082-A765AD2265B3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732665" y="2089150"/>
            <a:ext cx="8137525" cy="2517775"/>
          </a:xfrm>
        </p:spPr>
        <p:txBody>
          <a:bodyPr/>
          <a:lstStyle/>
          <a:p>
            <a:pPr eaLnBrk="1" hangingPunct="1"/>
            <a:r>
              <a:rPr lang="zh-CN" altLang="en-US" sz="66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66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</a:t>
            </a:r>
            <a:r>
              <a:rPr lang="zh-CN" altLang="en-US" sz="66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章 树的基本理论与算法（上）</a:t>
            </a:r>
            <a:endParaRPr lang="zh-CN" altLang="en-US" sz="5400" b="1" dirty="0">
              <a:solidFill>
                <a:schemeClr val="accent2"/>
              </a:solidFill>
            </a:endParaRPr>
          </a:p>
        </p:txBody>
      </p:sp>
      <p:pic>
        <p:nvPicPr>
          <p:cNvPr id="17414" name="Picture 7" descr="C:\Program Files\Microsoft Office\MEDIA\CAGCAT10\j0292982.wmf">
            <a:extLst>
              <a:ext uri="{FF2B5EF4-FFF2-40B4-BE49-F238E27FC236}">
                <a16:creationId xmlns:a16="http://schemas.microsoft.com/office/drawing/2014/main" id="{B56D159B-5F6D-4E05-92C3-F9BF5CA494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575" y="4738688"/>
            <a:ext cx="1371600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日期占位符 3">
            <a:extLst>
              <a:ext uri="{FF2B5EF4-FFF2-40B4-BE49-F238E27FC236}">
                <a16:creationId xmlns:a16="http://schemas.microsoft.com/office/drawing/2014/main" id="{72323EAA-F271-494D-956B-F52AFAE0CA44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30F486C9-1547-4C92-9F48-5E0907AA9AEB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grpSp>
        <p:nvGrpSpPr>
          <p:cNvPr id="18435" name="Group 21">
            <a:extLst>
              <a:ext uri="{FF2B5EF4-FFF2-40B4-BE49-F238E27FC236}">
                <a16:creationId xmlns:a16="http://schemas.microsoft.com/office/drawing/2014/main" id="{D6083245-B686-4D78-981A-8CAF03FF5215}"/>
              </a:ext>
            </a:extLst>
          </p:cNvPr>
          <p:cNvGrpSpPr>
            <a:grpSpLocks/>
          </p:cNvGrpSpPr>
          <p:nvPr/>
        </p:nvGrpSpPr>
        <p:grpSpPr bwMode="auto">
          <a:xfrm>
            <a:off x="2339752" y="2132856"/>
            <a:ext cx="4733925" cy="3662363"/>
            <a:chOff x="1474" y="1344"/>
            <a:chExt cx="2982" cy="2307"/>
          </a:xfrm>
        </p:grpSpPr>
        <p:sp>
          <p:nvSpPr>
            <p:cNvPr id="1170441" name="AutoShape 9">
              <a:extLst>
                <a:ext uri="{FF2B5EF4-FFF2-40B4-BE49-F238E27FC236}">
                  <a16:creationId xmlns:a16="http://schemas.microsoft.com/office/drawing/2014/main" id="{E695477D-CDA0-44C9-9E24-E3CE890EAE1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720" y="2032"/>
              <a:ext cx="2736" cy="382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hlink"/>
                </a:gs>
                <a:gs pos="50000">
                  <a:schemeClr val="hlink">
                    <a:gamma/>
                    <a:tint val="21176"/>
                    <a:invGamma/>
                  </a:schemeClr>
                </a:gs>
                <a:gs pos="100000">
                  <a:schemeClr val="hlink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99190" dir="238833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8438" name="AutoShape 10">
              <a:extLst>
                <a:ext uri="{FF2B5EF4-FFF2-40B4-BE49-F238E27FC236}">
                  <a16:creationId xmlns:a16="http://schemas.microsoft.com/office/drawing/2014/main" id="{F7F62FD2-B500-4BEC-B818-487C9316DC5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80" y="1933"/>
              <a:ext cx="432" cy="573"/>
            </a:xfrm>
            <a:prstGeom prst="diamond">
              <a:avLst/>
            </a:prstGeom>
            <a:solidFill>
              <a:schemeClr val="hlink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63500" dir="221219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18439" name="Text Box 11">
              <a:extLst>
                <a:ext uri="{FF2B5EF4-FFF2-40B4-BE49-F238E27FC236}">
                  <a16:creationId xmlns:a16="http://schemas.microsoft.com/office/drawing/2014/main" id="{1561C465-EC68-414E-B735-4FE99CA6A02F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864" y="2079"/>
              <a:ext cx="216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2800" b="1" dirty="0">
                  <a:latin typeface="黑体" panose="02010609060101010101" pitchFamily="49" charset="-122"/>
                </a:rPr>
                <a:t>   </a:t>
              </a:r>
              <a:r>
                <a:rPr kumimoji="0"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根树的基本知识</a:t>
              </a:r>
            </a:p>
          </p:txBody>
        </p:sp>
        <p:sp>
          <p:nvSpPr>
            <p:cNvPr id="18440" name="Text Box 12">
              <a:extLst>
                <a:ext uri="{FF2B5EF4-FFF2-40B4-BE49-F238E27FC236}">
                  <a16:creationId xmlns:a16="http://schemas.microsoft.com/office/drawing/2014/main" id="{12169FA9-79B4-4AD5-B2C9-601695370FCB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574" y="2015"/>
              <a:ext cx="229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>
                  <a:solidFill>
                    <a:schemeClr val="bg1"/>
                  </a:solidFill>
                  <a:latin typeface="黑体" panose="02010609060101010101" pitchFamily="49" charset="-122"/>
                </a:rPr>
                <a:t>2</a:t>
              </a:r>
            </a:p>
          </p:txBody>
        </p:sp>
        <p:sp>
          <p:nvSpPr>
            <p:cNvPr id="1170446" name="AutoShape 14">
              <a:extLst>
                <a:ext uri="{FF2B5EF4-FFF2-40B4-BE49-F238E27FC236}">
                  <a16:creationId xmlns:a16="http://schemas.microsoft.com/office/drawing/2014/main" id="{161D4671-6E3F-44E4-A932-001F11BFBF1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714" y="2620"/>
              <a:ext cx="2736" cy="375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chemeClr val="folHlink">
                    <a:gamma/>
                    <a:tint val="21176"/>
                    <a:invGamma/>
                  </a:schemeClr>
                </a:gs>
                <a:gs pos="100000">
                  <a:schemeClr val="folHlink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99190" dir="238833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8442" name="AutoShape 15">
              <a:extLst>
                <a:ext uri="{FF2B5EF4-FFF2-40B4-BE49-F238E27FC236}">
                  <a16:creationId xmlns:a16="http://schemas.microsoft.com/office/drawing/2014/main" id="{80D70437-A4CB-4F21-818F-75AFDE8F6BF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4" y="2523"/>
              <a:ext cx="432" cy="560"/>
            </a:xfrm>
            <a:prstGeom prst="diamond">
              <a:avLst/>
            </a:prstGeom>
            <a:solidFill>
              <a:schemeClr val="folHlink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63500" dir="221219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18443" name="Text Box 16">
              <a:extLst>
                <a:ext uri="{FF2B5EF4-FFF2-40B4-BE49-F238E27FC236}">
                  <a16:creationId xmlns:a16="http://schemas.microsoft.com/office/drawing/2014/main" id="{F6F967A4-9FB8-4BD9-A8DC-E1ADD2B480E6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858" y="2666"/>
              <a:ext cx="216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2800" b="1" dirty="0">
                  <a:latin typeface="黑体" panose="02010609060101010101" pitchFamily="49" charset="-122"/>
                </a:rPr>
                <a:t>   </a:t>
              </a:r>
              <a:r>
                <a:rPr kumimoji="0"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特殊根树与算法</a:t>
              </a:r>
            </a:p>
          </p:txBody>
        </p:sp>
        <p:sp>
          <p:nvSpPr>
            <p:cNvPr id="18444" name="Text Box 17">
              <a:extLst>
                <a:ext uri="{FF2B5EF4-FFF2-40B4-BE49-F238E27FC236}">
                  <a16:creationId xmlns:a16="http://schemas.microsoft.com/office/drawing/2014/main" id="{0DE90B65-665C-4B57-BEF3-E991D9118D77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568" y="2604"/>
              <a:ext cx="2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>
                  <a:solidFill>
                    <a:schemeClr val="bg1"/>
                  </a:solidFill>
                  <a:latin typeface="黑体" panose="02010609060101010101" pitchFamily="49" charset="-122"/>
                </a:rPr>
                <a:t>3</a:t>
              </a:r>
            </a:p>
          </p:txBody>
        </p:sp>
        <p:sp>
          <p:nvSpPr>
            <p:cNvPr id="18445" name="AutoShape 19">
              <a:extLst>
                <a:ext uri="{FF2B5EF4-FFF2-40B4-BE49-F238E27FC236}">
                  <a16:creationId xmlns:a16="http://schemas.microsoft.com/office/drawing/2014/main" id="{29362790-0AA1-4648-860A-FDA7FABFDA8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720" y="1441"/>
              <a:ext cx="2736" cy="374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765E00"/>
                </a:gs>
                <a:gs pos="50000">
                  <a:srgbClr val="FFCC00"/>
                </a:gs>
                <a:gs pos="100000">
                  <a:srgbClr val="765E00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99190" dir="238833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18446" name="AutoShape 20">
              <a:extLst>
                <a:ext uri="{FF2B5EF4-FFF2-40B4-BE49-F238E27FC236}">
                  <a16:creationId xmlns:a16="http://schemas.microsoft.com/office/drawing/2014/main" id="{AE0640AF-E412-4370-A32E-0D1142D0FC0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80" y="1344"/>
              <a:ext cx="432" cy="561"/>
            </a:xfrm>
            <a:prstGeom prst="diamond">
              <a:avLst/>
            </a:prstGeom>
            <a:solidFill>
              <a:srgbClr val="CC9900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63500" dir="221219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18447" name="Text Box 21">
              <a:extLst>
                <a:ext uri="{FF2B5EF4-FFF2-40B4-BE49-F238E27FC236}">
                  <a16:creationId xmlns:a16="http://schemas.microsoft.com/office/drawing/2014/main" id="{AC2F73BC-EC45-47CD-9A28-C5CB98D68FD6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755" y="1488"/>
              <a:ext cx="240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2800" b="1" dirty="0">
                  <a:latin typeface="黑体" panose="02010609060101010101" pitchFamily="49" charset="-122"/>
                </a:rPr>
                <a:t>   </a:t>
              </a:r>
              <a:r>
                <a:rPr kumimoji="0"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无向树与生成树</a:t>
              </a:r>
            </a:p>
          </p:txBody>
        </p:sp>
        <p:sp>
          <p:nvSpPr>
            <p:cNvPr id="18448" name="Text Box 22">
              <a:extLst>
                <a:ext uri="{FF2B5EF4-FFF2-40B4-BE49-F238E27FC236}">
                  <a16:creationId xmlns:a16="http://schemas.microsoft.com/office/drawing/2014/main" id="{644DBEE9-A01A-46BE-8D85-0F137B7DE10A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574" y="1457"/>
              <a:ext cx="228" cy="3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>
                  <a:solidFill>
                    <a:schemeClr val="bg1"/>
                  </a:solidFill>
                  <a:latin typeface="黑体" panose="02010609060101010101" pitchFamily="49" charset="-122"/>
                </a:rPr>
                <a:t>1</a:t>
              </a:r>
            </a:p>
          </p:txBody>
        </p:sp>
        <p:sp>
          <p:nvSpPr>
            <p:cNvPr id="18449" name="AutoShape 29">
              <a:extLst>
                <a:ext uri="{FF2B5EF4-FFF2-40B4-BE49-F238E27FC236}">
                  <a16:creationId xmlns:a16="http://schemas.microsoft.com/office/drawing/2014/main" id="{63C5A8BE-8F01-429C-B6E7-683F2F674D0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714" y="3201"/>
              <a:ext cx="2736" cy="363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3366FF"/>
                </a:gs>
                <a:gs pos="50000">
                  <a:srgbClr val="D4DFFF"/>
                </a:gs>
                <a:gs pos="100000">
                  <a:srgbClr val="3366FF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99190" dir="238833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18450" name="AutoShape 30">
              <a:extLst>
                <a:ext uri="{FF2B5EF4-FFF2-40B4-BE49-F238E27FC236}">
                  <a16:creationId xmlns:a16="http://schemas.microsoft.com/office/drawing/2014/main" id="{B5FC9C9F-728B-4BF6-B7A4-98C267A775A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4" y="3107"/>
              <a:ext cx="432" cy="544"/>
            </a:xfrm>
            <a:prstGeom prst="diamond">
              <a:avLst/>
            </a:prstGeom>
            <a:solidFill>
              <a:srgbClr val="3366FF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63500" dir="221219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18451" name="Text Box 31">
              <a:extLst>
                <a:ext uri="{FF2B5EF4-FFF2-40B4-BE49-F238E27FC236}">
                  <a16:creationId xmlns:a16="http://schemas.microsoft.com/office/drawing/2014/main" id="{D32F26A8-C3A9-4036-8FF4-CECB32B92327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858" y="3246"/>
              <a:ext cx="21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2800" b="1" dirty="0">
                  <a:latin typeface="黑体" panose="02010609060101010101" pitchFamily="49" charset="-122"/>
                </a:rPr>
                <a:t>   </a:t>
              </a:r>
              <a:r>
                <a:rPr kumimoji="0"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树模型的应用</a:t>
              </a:r>
            </a:p>
          </p:txBody>
        </p:sp>
        <p:sp>
          <p:nvSpPr>
            <p:cNvPr id="18452" name="Text Box 32">
              <a:extLst>
                <a:ext uri="{FF2B5EF4-FFF2-40B4-BE49-F238E27FC236}">
                  <a16:creationId xmlns:a16="http://schemas.microsoft.com/office/drawing/2014/main" id="{7510B399-D931-4986-B593-8308E1F5C436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568" y="3188"/>
              <a:ext cx="2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>
                  <a:solidFill>
                    <a:schemeClr val="bg1"/>
                  </a:solidFill>
                  <a:latin typeface="黑体" panose="02010609060101010101" pitchFamily="49" charset="-122"/>
                </a:rPr>
                <a:t>4</a:t>
              </a:r>
            </a:p>
          </p:txBody>
        </p:sp>
      </p:grpSp>
      <p:sp>
        <p:nvSpPr>
          <p:cNvPr id="18436" name="Text Box 2">
            <a:extLst>
              <a:ext uri="{FF2B5EF4-FFF2-40B4-BE49-F238E27FC236}">
                <a16:creationId xmlns:a16="http://schemas.microsoft.com/office/drawing/2014/main" id="{3DAF1569-10DE-45B7-B95C-3C4D77C268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836613"/>
            <a:ext cx="708660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chemeClr val="bg1"/>
              </a:buClr>
              <a:buSzPts val="5400"/>
              <a:buFont typeface="Wingdings" panose="05000000000000000000" pitchFamily="2" charset="2"/>
              <a:buChar char="&amp;"/>
            </a:pPr>
            <a:r>
              <a:rPr kumimoji="0"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本章学习内容</a:t>
            </a:r>
            <a:endParaRPr kumimoji="0" lang="zh-CN" altLang="en-US" sz="32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日期占位符 3">
            <a:extLst>
              <a:ext uri="{FF2B5EF4-FFF2-40B4-BE49-F238E27FC236}">
                <a16:creationId xmlns:a16="http://schemas.microsoft.com/office/drawing/2014/main" id="{4E2A409F-E152-45C0-98F4-E182B9B9E2E0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294AE98-198A-4A4B-B31D-3E72F424B5F1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59" name="页脚占位符 4">
            <a:extLst>
              <a:ext uri="{FF2B5EF4-FFF2-40B4-BE49-F238E27FC236}">
                <a16:creationId xmlns:a16="http://schemas.microsoft.com/office/drawing/2014/main" id="{2A8C8E71-F72F-4632-9C43-4BEE2B9C8773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19460" name="灯片编号占位符 5">
            <a:extLst>
              <a:ext uri="{FF2B5EF4-FFF2-40B4-BE49-F238E27FC236}">
                <a16:creationId xmlns:a16="http://schemas.microsoft.com/office/drawing/2014/main" id="{A6CE4665-CA54-4B65-99C6-C2A57D9C6D42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FD2FC4E-D7C5-46F3-8915-A1FB9ECA2C7E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61" name="Rectangle 4">
            <a:extLst>
              <a:ext uri="{FF2B5EF4-FFF2-40B4-BE49-F238E27FC236}">
                <a16:creationId xmlns:a16="http://schemas.microsoft.com/office/drawing/2014/main" id="{5B267FC6-44A6-45D5-B511-1DF484FCA0B4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1190625" y="2565400"/>
            <a:ext cx="7197725" cy="1439863"/>
          </a:xfrm>
          <a:solidFill>
            <a:srgbClr val="0000FF"/>
          </a:solidFill>
        </p:spPr>
        <p:txBody>
          <a:bodyPr/>
          <a:lstStyle/>
          <a:p>
            <a:pPr eaLnBrk="1" hangingPunct="1"/>
            <a:r>
              <a:rPr lang="zh-CN" altLang="en-US" sz="6600" b="1" dirty="0">
                <a:solidFill>
                  <a:schemeClr val="bg1"/>
                </a:solidFill>
              </a:rPr>
              <a:t>无向树与生成树</a:t>
            </a:r>
          </a:p>
        </p:txBody>
      </p:sp>
      <p:pic>
        <p:nvPicPr>
          <p:cNvPr id="19462" name="Picture 7" descr="C:\Program Files\Microsoft Office\MEDIA\CAGCAT10\j0292982.wmf">
            <a:extLst>
              <a:ext uri="{FF2B5EF4-FFF2-40B4-BE49-F238E27FC236}">
                <a16:creationId xmlns:a16="http://schemas.microsoft.com/office/drawing/2014/main" id="{93D24C29-51C5-497E-94F0-3791CDB62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575" y="4738688"/>
            <a:ext cx="1371600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日期占位符 3">
            <a:extLst>
              <a:ext uri="{FF2B5EF4-FFF2-40B4-BE49-F238E27FC236}">
                <a16:creationId xmlns:a16="http://schemas.microsoft.com/office/drawing/2014/main" id="{C0582A6A-EAEB-4960-83D6-2C7B41BDABB0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794D120-1605-4070-BB25-D0B120202016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483" name="页脚占位符 4">
            <a:extLst>
              <a:ext uri="{FF2B5EF4-FFF2-40B4-BE49-F238E27FC236}">
                <a16:creationId xmlns:a16="http://schemas.microsoft.com/office/drawing/2014/main" id="{B3805A39-D05A-4CD1-ADE2-3174D51B442F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20484" name="灯片编号占位符 5">
            <a:extLst>
              <a:ext uri="{FF2B5EF4-FFF2-40B4-BE49-F238E27FC236}">
                <a16:creationId xmlns:a16="http://schemas.microsoft.com/office/drawing/2014/main" id="{00402D1D-C2B2-49EF-B6C0-EE8E1D72CC37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1D90BCE9-A2D1-4A12-BCA4-D2FB0E11FF44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485" name="Text Box 2">
            <a:extLst>
              <a:ext uri="{FF2B5EF4-FFF2-40B4-BE49-F238E27FC236}">
                <a16:creationId xmlns:a16="http://schemas.microsoft.com/office/drawing/2014/main" id="{DA92CC41-5B1F-4111-B4D6-456778348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836613"/>
            <a:ext cx="7086600" cy="83099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+mj-ea"/>
                <a:ea typeface="+mj-ea"/>
              </a:rPr>
              <a:t> 无向树与生成树</a:t>
            </a:r>
          </a:p>
        </p:txBody>
      </p:sp>
      <p:sp>
        <p:nvSpPr>
          <p:cNvPr id="20486" name="Rectangle 3">
            <a:extLst>
              <a:ext uri="{FF2B5EF4-FFF2-40B4-BE49-F238E27FC236}">
                <a16:creationId xmlns:a16="http://schemas.microsoft.com/office/drawing/2014/main" id="{F17FDA72-6347-441D-B27E-DB40E5EA263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483768" y="2414955"/>
            <a:ext cx="4392389" cy="316865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55000"/>
              </a:lnSpc>
              <a:buFont typeface="Wingdings" panose="05000000000000000000" pitchFamily="2" charset="2"/>
              <a:buChar char="J"/>
            </a:pPr>
            <a:r>
              <a:rPr lang="zh-CN" altLang="en-US" sz="3600" b="1" dirty="0"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无向树及其性质</a:t>
            </a:r>
          </a:p>
          <a:p>
            <a:pPr eaLnBrk="1" hangingPunct="1">
              <a:lnSpc>
                <a:spcPct val="155000"/>
              </a:lnSpc>
              <a:buFont typeface="Wingdings" panose="05000000000000000000" pitchFamily="2" charset="2"/>
              <a:buChar char="4"/>
            </a:pPr>
            <a:r>
              <a:rPr lang="zh-CN" altLang="en-US" sz="36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无向图的生成树</a:t>
            </a:r>
          </a:p>
          <a:p>
            <a:pPr eaLnBrk="1" hangingPunct="1">
              <a:lnSpc>
                <a:spcPct val="155000"/>
              </a:lnSpc>
              <a:buFont typeface="Wingdings" panose="05000000000000000000" pitchFamily="2" charset="2"/>
              <a:buChar char="4"/>
            </a:pPr>
            <a:r>
              <a:rPr lang="zh-CN" altLang="en-US" sz="36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最小生成树模型</a:t>
            </a:r>
          </a:p>
        </p:txBody>
      </p:sp>
      <p:pic>
        <p:nvPicPr>
          <p:cNvPr id="20487" name="Picture 7" descr="C:\Program Files\Microsoft Office\MEDIA\CAGCAT10\j0292982.wmf">
            <a:extLst>
              <a:ext uri="{FF2B5EF4-FFF2-40B4-BE49-F238E27FC236}">
                <a16:creationId xmlns:a16="http://schemas.microsoft.com/office/drawing/2014/main" id="{25FC6231-6E28-4A84-B9ED-BD6EB2D081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575" y="4738688"/>
            <a:ext cx="1371600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日期占位符 3">
            <a:extLst>
              <a:ext uri="{FF2B5EF4-FFF2-40B4-BE49-F238E27FC236}">
                <a16:creationId xmlns:a16="http://schemas.microsoft.com/office/drawing/2014/main" id="{B749ACBB-884E-49CD-8234-FD3704A350E5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CE0F080-DD77-4EA2-AF2C-A4C66C8B1790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511" name="Text Box 2">
            <a:extLst>
              <a:ext uri="{FF2B5EF4-FFF2-40B4-BE49-F238E27FC236}">
                <a16:creationId xmlns:a16="http://schemas.microsoft.com/office/drawing/2014/main" id="{F40FD316-2DA7-4440-BB2F-B408FA322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9647" y="574685"/>
            <a:ext cx="61198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树模型实例</a:t>
            </a:r>
          </a:p>
        </p:txBody>
      </p:sp>
      <p:pic>
        <p:nvPicPr>
          <p:cNvPr id="2151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437127EE-7221-46AD-90D2-5D1949FFF7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8384" y="507521"/>
            <a:ext cx="1058862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61C9B55-BC61-4615-93DB-10D5FBEF40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28" y="1772816"/>
            <a:ext cx="8676964" cy="4432479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D4D8B976-1B65-434A-AD52-9BB2B6B8E58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644008" y="2384512"/>
            <a:ext cx="4305300" cy="3384376"/>
          </a:xfrm>
          <a:solidFill>
            <a:schemeClr val="accent6">
              <a:lumMod val="75000"/>
            </a:schemeClr>
          </a:solidFill>
        </p:spPr>
        <p:txBody>
          <a:bodyPr/>
          <a:lstStyle/>
          <a:p>
            <a:pPr>
              <a:buFontTx/>
              <a:buNone/>
            </a:pPr>
            <a:r>
              <a:rPr lang="en-US" altLang="zh-CN" sz="2800" b="1" dirty="0">
                <a:solidFill>
                  <a:schemeClr val="bg1"/>
                </a:solidFill>
                <a:effectLst/>
                <a:ea typeface="宋体" panose="02010600030101010101" pitchFamily="2" charset="-122"/>
                <a:cs typeface="楷体_GB2312" pitchFamily="49" charset="-122"/>
              </a:rPr>
              <a:t>1</a:t>
            </a:r>
            <a:r>
              <a:rPr lang="zh-CN" altLang="en-US" sz="2800" b="1" dirty="0">
                <a:solidFill>
                  <a:schemeClr val="bg1"/>
                </a:solidFill>
                <a:effectLst/>
                <a:ea typeface="宋体" panose="02010600030101010101" pitchFamily="2" charset="-122"/>
                <a:cs typeface="楷体_GB2312" pitchFamily="49" charset="-122"/>
              </a:rPr>
              <a:t>、连通无回路的无向图称模型为</a:t>
            </a:r>
            <a:r>
              <a:rPr lang="zh-CN" altLang="en-US" sz="2800" b="1" i="1" dirty="0">
                <a:solidFill>
                  <a:srgbClr val="FFFF00"/>
                </a:solidFill>
                <a:effectLst/>
                <a:ea typeface="宋体" panose="02010600030101010101" pitchFamily="2" charset="-122"/>
                <a:cs typeface="楷体_GB2312" pitchFamily="49" charset="-122"/>
              </a:rPr>
              <a:t>无向树模型，</a:t>
            </a:r>
            <a:r>
              <a:rPr lang="zh-CN" altLang="en-US" sz="2800" b="1" i="1" dirty="0">
                <a:solidFill>
                  <a:schemeClr val="bg1"/>
                </a:solidFill>
                <a:effectLst/>
                <a:ea typeface="宋体" panose="02010600030101010101" pitchFamily="2" charset="-122"/>
                <a:cs typeface="楷体_GB2312" pitchFamily="49" charset="-122"/>
              </a:rPr>
              <a:t>简称为</a:t>
            </a:r>
            <a:r>
              <a:rPr lang="zh-CN" altLang="en-US" sz="2800" b="1" i="1" dirty="0">
                <a:solidFill>
                  <a:srgbClr val="FFFF00"/>
                </a:solidFill>
                <a:effectLst/>
                <a:ea typeface="宋体" panose="02010600030101010101" pitchFamily="2" charset="-122"/>
                <a:cs typeface="楷体_GB2312" pitchFamily="49" charset="-122"/>
              </a:rPr>
              <a:t>树</a:t>
            </a:r>
            <a:r>
              <a:rPr lang="zh-CN" altLang="en-US" sz="2800" b="1" dirty="0">
                <a:solidFill>
                  <a:schemeClr val="bg1"/>
                </a:solidFill>
                <a:effectLst/>
                <a:ea typeface="宋体" panose="02010600030101010101" pitchFamily="2" charset="-122"/>
                <a:cs typeface="楷体_GB2312" pitchFamily="49" charset="-122"/>
              </a:rPr>
              <a:t>。</a:t>
            </a:r>
          </a:p>
          <a:p>
            <a:pPr>
              <a:buFontTx/>
              <a:buNone/>
            </a:pPr>
            <a:endParaRPr lang="zh-CN" altLang="en-US" sz="2800" b="1" dirty="0">
              <a:solidFill>
                <a:schemeClr val="bg1"/>
              </a:solidFill>
              <a:effectLst/>
              <a:ea typeface="宋体" panose="02010600030101010101" pitchFamily="2" charset="-122"/>
              <a:cs typeface="楷体_GB2312" pitchFamily="49" charset="-122"/>
            </a:endParaRPr>
          </a:p>
          <a:p>
            <a:pPr>
              <a:buFontTx/>
              <a:buNone/>
            </a:pPr>
            <a:r>
              <a:rPr lang="en-US" altLang="zh-CN" sz="2800" b="1" dirty="0">
                <a:solidFill>
                  <a:schemeClr val="bg1"/>
                </a:solidFill>
                <a:effectLst/>
                <a:ea typeface="宋体" panose="02010600030101010101" pitchFamily="2" charset="-122"/>
                <a:cs typeface="楷体_GB2312" pitchFamily="49" charset="-122"/>
              </a:rPr>
              <a:t>2</a:t>
            </a:r>
            <a:r>
              <a:rPr lang="zh-CN" altLang="en-US" sz="2800" b="1" dirty="0">
                <a:solidFill>
                  <a:schemeClr val="bg1"/>
                </a:solidFill>
                <a:effectLst/>
                <a:ea typeface="宋体" panose="02010600030101010101" pitchFamily="2" charset="-122"/>
                <a:cs typeface="楷体_GB2312" pitchFamily="49" charset="-122"/>
              </a:rPr>
              <a:t>、 树中悬挂结点称为</a:t>
            </a:r>
            <a:r>
              <a:rPr lang="zh-CN" altLang="en-US" sz="2800" b="1" i="1" dirty="0">
                <a:solidFill>
                  <a:srgbClr val="FFFF00"/>
                </a:solidFill>
                <a:effectLst/>
                <a:ea typeface="宋体" panose="02010600030101010101" pitchFamily="2" charset="-122"/>
                <a:cs typeface="楷体_GB2312" pitchFamily="49" charset="-122"/>
              </a:rPr>
              <a:t>树叶结点</a:t>
            </a:r>
            <a:r>
              <a:rPr lang="zh-CN" altLang="en-US" sz="2800" b="1" i="1" dirty="0">
                <a:solidFill>
                  <a:schemeClr val="bg1"/>
                </a:solidFill>
                <a:effectLst/>
                <a:ea typeface="宋体" panose="02010600030101010101" pitchFamily="2" charset="-122"/>
                <a:cs typeface="楷体_GB2312" pitchFamily="49" charset="-122"/>
              </a:rPr>
              <a:t>或</a:t>
            </a:r>
            <a:r>
              <a:rPr lang="zh-CN" altLang="en-US" sz="2800" b="1" i="1" dirty="0">
                <a:solidFill>
                  <a:srgbClr val="FFFF00"/>
                </a:solidFill>
                <a:effectLst/>
                <a:ea typeface="宋体" panose="02010600030101010101" pitchFamily="2" charset="-122"/>
                <a:cs typeface="楷体_GB2312" pitchFamily="49" charset="-122"/>
              </a:rPr>
              <a:t>叶</a:t>
            </a:r>
            <a:r>
              <a:rPr lang="zh-CN" altLang="en-US" sz="2800" b="1" dirty="0">
                <a:solidFill>
                  <a:schemeClr val="bg1"/>
                </a:solidFill>
                <a:effectLst/>
                <a:ea typeface="宋体" panose="02010600030101010101" pitchFamily="2" charset="-122"/>
                <a:cs typeface="楷体_GB2312" pitchFamily="49" charset="-122"/>
              </a:rPr>
              <a:t>，其它结点称为</a:t>
            </a:r>
            <a:r>
              <a:rPr lang="zh-CN" altLang="en-US" sz="2800" b="1" i="1" dirty="0">
                <a:solidFill>
                  <a:srgbClr val="FFFF00"/>
                </a:solidFill>
                <a:effectLst/>
                <a:ea typeface="宋体" panose="02010600030101010101" pitchFamily="2" charset="-122"/>
                <a:cs typeface="楷体_GB2312" pitchFamily="49" charset="-122"/>
              </a:rPr>
              <a:t>分支点</a:t>
            </a:r>
            <a:r>
              <a:rPr lang="zh-CN" altLang="en-US" sz="2800" b="1" dirty="0">
                <a:solidFill>
                  <a:schemeClr val="bg1"/>
                </a:solidFill>
                <a:effectLst/>
                <a:ea typeface="宋体" panose="02010600030101010101" pitchFamily="2" charset="-122"/>
                <a:cs typeface="楷体_GB2312" pitchFamily="49" charset="-122"/>
              </a:rPr>
              <a:t>或</a:t>
            </a:r>
            <a:r>
              <a:rPr lang="zh-CN" altLang="en-US" sz="2800" b="1" i="1" dirty="0">
                <a:solidFill>
                  <a:srgbClr val="FFFF00"/>
                </a:solidFill>
                <a:effectLst/>
                <a:ea typeface="宋体" panose="02010600030101010101" pitchFamily="2" charset="-122"/>
                <a:cs typeface="楷体_GB2312" pitchFamily="49" charset="-122"/>
              </a:rPr>
              <a:t>内点</a:t>
            </a:r>
            <a:r>
              <a:rPr lang="zh-CN" altLang="en-US" sz="2800" b="1" dirty="0">
                <a:solidFill>
                  <a:schemeClr val="bg1"/>
                </a:solidFill>
                <a:effectLst/>
                <a:ea typeface="宋体" panose="02010600030101010101" pitchFamily="2" charset="-122"/>
                <a:cs typeface="楷体_GB2312" pitchFamily="49" charset="-122"/>
              </a:rPr>
              <a:t>。</a:t>
            </a:r>
          </a:p>
        </p:txBody>
      </p:sp>
      <p:grpSp>
        <p:nvGrpSpPr>
          <p:cNvPr id="22531" name="Group 10">
            <a:extLst>
              <a:ext uri="{FF2B5EF4-FFF2-40B4-BE49-F238E27FC236}">
                <a16:creationId xmlns:a16="http://schemas.microsoft.com/office/drawing/2014/main" id="{F51851D7-9B45-4482-8822-11D7383493F8}"/>
              </a:ext>
            </a:extLst>
          </p:cNvPr>
          <p:cNvGrpSpPr>
            <a:grpSpLocks/>
          </p:cNvGrpSpPr>
          <p:nvPr/>
        </p:nvGrpSpPr>
        <p:grpSpPr bwMode="auto">
          <a:xfrm>
            <a:off x="552476" y="1988344"/>
            <a:ext cx="3889375" cy="4103687"/>
            <a:chOff x="476" y="1253"/>
            <a:chExt cx="2450" cy="2585"/>
          </a:xfrm>
        </p:grpSpPr>
        <p:pic>
          <p:nvPicPr>
            <p:cNvPr id="22534" name="Picture 4" descr="Tree_graph">
              <a:extLst>
                <a:ext uri="{FF2B5EF4-FFF2-40B4-BE49-F238E27FC236}">
                  <a16:creationId xmlns:a16="http://schemas.microsoft.com/office/drawing/2014/main" id="{15DA4F93-425E-4702-ABA6-61968FC3DA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3" y="1706"/>
              <a:ext cx="1864" cy="19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19813" name="AutoShape 5">
              <a:extLst>
                <a:ext uri="{FF2B5EF4-FFF2-40B4-BE49-F238E27FC236}">
                  <a16:creationId xmlns:a16="http://schemas.microsoft.com/office/drawing/2014/main" id="{553BBFEB-967E-4ABB-9BA5-54BAD005309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884" y="1253"/>
              <a:ext cx="1043" cy="273"/>
            </a:xfrm>
            <a:prstGeom prst="cloudCallout">
              <a:avLst>
                <a:gd name="adj1" fmla="val -25074"/>
                <a:gd name="adj2" fmla="val 215565"/>
              </a:avLst>
            </a:prstGeom>
            <a:solidFill>
              <a:schemeClr val="folHlink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1" hangingPunct="1">
                <a:defRPr/>
              </a:pPr>
              <a:r>
                <a:rPr lang="zh-CN" altLang="en-US" sz="1800" b="1">
                  <a:solidFill>
                    <a:srgbClr val="FFFF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</a:rPr>
                <a:t>叶子</a:t>
              </a:r>
            </a:p>
          </p:txBody>
        </p:sp>
        <p:sp>
          <p:nvSpPr>
            <p:cNvPr id="119814" name="AutoShape 6">
              <a:extLst>
                <a:ext uri="{FF2B5EF4-FFF2-40B4-BE49-F238E27FC236}">
                  <a16:creationId xmlns:a16="http://schemas.microsoft.com/office/drawing/2014/main" id="{7B04806C-2ABF-4756-8C38-8D2B91CB30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8" y="3475"/>
              <a:ext cx="908" cy="363"/>
            </a:xfrm>
            <a:prstGeom prst="cloudCallout">
              <a:avLst>
                <a:gd name="adj1" fmla="val -60134"/>
                <a:gd name="adj2" fmla="val -134574"/>
              </a:avLst>
            </a:prstGeom>
            <a:solidFill>
              <a:schemeClr val="folHlink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1" hangingPunct="1">
                <a:defRPr/>
              </a:pPr>
              <a:r>
                <a:rPr lang="zh-CN" altLang="en-US" sz="1800" b="1">
                  <a:solidFill>
                    <a:srgbClr val="FFFF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</a:rPr>
                <a:t>分支点</a:t>
              </a:r>
            </a:p>
          </p:txBody>
        </p:sp>
        <p:sp>
          <p:nvSpPr>
            <p:cNvPr id="119815" name="AutoShape 7">
              <a:extLst>
                <a:ext uri="{FF2B5EF4-FFF2-40B4-BE49-F238E27FC236}">
                  <a16:creationId xmlns:a16="http://schemas.microsoft.com/office/drawing/2014/main" id="{53370694-1A20-4829-90E6-97DCFB2C24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" y="2387"/>
              <a:ext cx="908" cy="363"/>
            </a:xfrm>
            <a:prstGeom prst="cloudCallout">
              <a:avLst>
                <a:gd name="adj1" fmla="val 76319"/>
                <a:gd name="adj2" fmla="val -23005"/>
              </a:avLst>
            </a:prstGeom>
            <a:solidFill>
              <a:schemeClr val="folHlink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1" hangingPunct="1">
                <a:defRPr/>
              </a:pPr>
              <a:r>
                <a:rPr lang="zh-CN" altLang="en-US" sz="1800" b="1">
                  <a:solidFill>
                    <a:srgbClr val="FFFF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</a:rPr>
                <a:t>根</a:t>
              </a:r>
            </a:p>
          </p:txBody>
        </p:sp>
      </p:grpSp>
      <p:sp>
        <p:nvSpPr>
          <p:cNvPr id="22532" name="Text Box 2">
            <a:extLst>
              <a:ext uri="{FF2B5EF4-FFF2-40B4-BE49-F238E27FC236}">
                <a16:creationId xmlns:a16="http://schemas.microsoft.com/office/drawing/2014/main" id="{0B4DC5C2-3ACC-417A-89E2-7F5221ECD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692150"/>
            <a:ext cx="6409010" cy="83099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树的基本概念</a:t>
            </a:r>
          </a:p>
        </p:txBody>
      </p:sp>
      <p:pic>
        <p:nvPicPr>
          <p:cNvPr id="22533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B901A8D5-E050-47D3-BA1E-28A489D560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476250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8" name="Text Box 2">
            <a:extLst>
              <a:ext uri="{FF2B5EF4-FFF2-40B4-BE49-F238E27FC236}">
                <a16:creationId xmlns:a16="http://schemas.microsoft.com/office/drawing/2014/main" id="{7E3A69E0-7412-43AE-AC51-6F0E8BCC74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692150"/>
            <a:ext cx="6119813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树的基本概念</a:t>
            </a:r>
          </a:p>
        </p:txBody>
      </p:sp>
      <p:pic>
        <p:nvPicPr>
          <p:cNvPr id="23559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984CB3CA-D29A-4580-9F90-28567F30B3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476250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F3B550E-29F6-4E90-8C2E-0DA6FDE5BE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2" y="1916832"/>
            <a:ext cx="8379868" cy="4126062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Text Box 2">
            <a:extLst>
              <a:ext uri="{FF2B5EF4-FFF2-40B4-BE49-F238E27FC236}">
                <a16:creationId xmlns:a16="http://schemas.microsoft.com/office/drawing/2014/main" id="{EFB84155-88BA-4AC5-BE23-5B46A1485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648" y="657342"/>
            <a:ext cx="6417643" cy="92333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树模型的层次性</a:t>
            </a:r>
          </a:p>
        </p:txBody>
      </p:sp>
      <p:pic>
        <p:nvPicPr>
          <p:cNvPr id="24580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5336FFF9-FB83-4315-8A3B-9828C8BB42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476250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BB50FF3D-D721-4C8B-82F5-C9E6F99703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536" y="1772816"/>
            <a:ext cx="8269386" cy="424717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日期占位符 3">
            <a:extLst>
              <a:ext uri="{FF2B5EF4-FFF2-40B4-BE49-F238E27FC236}">
                <a16:creationId xmlns:a16="http://schemas.microsoft.com/office/drawing/2014/main" id="{D1F1CE7A-6D46-4626-8896-1E75049B51D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5A025C5-B034-4347-9234-863DE368F622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603" name="Rectangle 186">
            <a:extLst>
              <a:ext uri="{FF2B5EF4-FFF2-40B4-BE49-F238E27FC236}">
                <a16:creationId xmlns:a16="http://schemas.microsoft.com/office/drawing/2014/main" id="{46506B96-1C2A-4322-A1DE-3D7FBB1D4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06400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>
                    <a:alpha val="89803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604" name="Text Box 2">
            <a:extLst>
              <a:ext uri="{FF2B5EF4-FFF2-40B4-BE49-F238E27FC236}">
                <a16:creationId xmlns:a16="http://schemas.microsoft.com/office/drawing/2014/main" id="{0E353662-0F48-447C-87D4-E56D450E1D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92150"/>
            <a:ext cx="61198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树模型的定义</a:t>
            </a:r>
          </a:p>
        </p:txBody>
      </p:sp>
      <p:pic>
        <p:nvPicPr>
          <p:cNvPr id="25605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C80C2829-54A3-425E-8FAF-315E9756C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5588" y="476250"/>
            <a:ext cx="1233487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6" name="Picture 10" descr="QQ截图20150920161853">
            <a:extLst>
              <a:ext uri="{FF2B5EF4-FFF2-40B4-BE49-F238E27FC236}">
                <a16:creationId xmlns:a16="http://schemas.microsoft.com/office/drawing/2014/main" id="{03D88121-2EEF-4F67-A6E9-4E66286823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164" y="2713134"/>
            <a:ext cx="7560840" cy="3487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7" name="文本框 1">
            <a:extLst>
              <a:ext uri="{FF2B5EF4-FFF2-40B4-BE49-F238E27FC236}">
                <a16:creationId xmlns:a16="http://schemas.microsoft.com/office/drawing/2014/main" id="{F920A26A-D740-4AA0-BBAE-D6DB2DB187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1878013"/>
            <a:ext cx="8784975" cy="523220"/>
          </a:xfrm>
          <a:prstGeom prst="rect">
            <a:avLst/>
          </a:prstGeom>
          <a:solidFill>
            <a:srgbClr val="99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800" b="1" dirty="0"/>
              <a:t> 【</a:t>
            </a:r>
            <a:r>
              <a:rPr lang="zh-CN" altLang="en-US" sz="2800" b="1" dirty="0"/>
              <a:t>定义</a:t>
            </a:r>
            <a:r>
              <a:rPr lang="en-US" altLang="zh-CN" sz="2800" b="1" dirty="0"/>
              <a:t>】</a:t>
            </a:r>
            <a:r>
              <a:rPr lang="zh-CN" altLang="en-US" sz="2800" b="1" dirty="0">
                <a:solidFill>
                  <a:schemeClr val="tx1"/>
                </a:solidFill>
              </a:rPr>
              <a:t>连通无回路的无向图称为</a:t>
            </a:r>
            <a:r>
              <a:rPr lang="zh-CN" altLang="en-US" sz="2800" b="1" dirty="0">
                <a:solidFill>
                  <a:srgbClr val="0000FF"/>
                </a:solidFill>
              </a:rPr>
              <a:t>树</a:t>
            </a:r>
            <a:r>
              <a:rPr lang="zh-CN" altLang="en-US" sz="2800" b="1" dirty="0">
                <a:solidFill>
                  <a:schemeClr val="tx1"/>
                </a:solidFill>
              </a:rPr>
              <a:t>，常用</a:t>
            </a:r>
            <a:r>
              <a:rPr lang="en-US" altLang="zh-CN" sz="2800" b="1" dirty="0"/>
              <a:t>T</a:t>
            </a:r>
            <a:r>
              <a:rPr lang="zh-CN" altLang="en-US" sz="2800" b="1" dirty="0">
                <a:solidFill>
                  <a:schemeClr val="tx1"/>
                </a:solidFill>
              </a:rPr>
              <a:t>表示树。</a:t>
            </a:r>
          </a:p>
        </p:txBody>
      </p:sp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日期占位符 3">
            <a:extLst>
              <a:ext uri="{FF2B5EF4-FFF2-40B4-BE49-F238E27FC236}">
                <a16:creationId xmlns:a16="http://schemas.microsoft.com/office/drawing/2014/main" id="{0D359D1E-C9A3-4E49-B8DD-1BFC8530467D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9F56F76-24D3-44EE-BBE5-EAF224B67665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627" name="Text Box 2">
            <a:extLst>
              <a:ext uri="{FF2B5EF4-FFF2-40B4-BE49-F238E27FC236}">
                <a16:creationId xmlns:a16="http://schemas.microsoft.com/office/drawing/2014/main" id="{5D0D768B-0EF6-4D8D-A0D8-E3DAB316A2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908050"/>
            <a:ext cx="6119812" cy="923925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树模型的定义</a:t>
            </a:r>
          </a:p>
        </p:txBody>
      </p:sp>
      <p:pic>
        <p:nvPicPr>
          <p:cNvPr id="26628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F352A364-E43B-442B-B3FD-847A0AC686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368" y="625540"/>
            <a:ext cx="1164603" cy="12245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9" name="AutoShape 5">
            <a:extLst>
              <a:ext uri="{FF2B5EF4-FFF2-40B4-BE49-F238E27FC236}">
                <a16:creationId xmlns:a16="http://schemas.microsoft.com/office/drawing/2014/main" id="{6978023B-64BE-42A8-B89C-5175464355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142" y="4755890"/>
            <a:ext cx="7697985" cy="1225550"/>
          </a:xfrm>
          <a:prstGeom prst="horizontalScroll">
            <a:avLst>
              <a:gd name="adj" fmla="val 12500"/>
            </a:avLst>
          </a:prstGeom>
          <a:solidFill>
            <a:srgbClr val="99FFCC"/>
          </a:solidFill>
          <a:ln w="9525">
            <a:solidFill>
              <a:srgbClr val="0099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buClr>
                <a:schemeClr val="bg1"/>
              </a:buClr>
              <a:buFontTx/>
              <a:buChar char="•"/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树中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没有</a:t>
            </a:r>
            <a:r>
              <a:rPr lang="zh-CN" altLang="en-US" sz="2000" dirty="0">
                <a:solidFill>
                  <a:srgbClr val="FF0066"/>
                </a:solidFill>
                <a:latin typeface="Times New Roman" panose="02020603050405020304" pitchFamily="18" charset="0"/>
              </a:rPr>
              <a:t>环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和</a:t>
            </a:r>
            <a:r>
              <a:rPr lang="zh-CN" altLang="en-US" sz="2000" b="1" dirty="0">
                <a:solidFill>
                  <a:srgbClr val="FF0066"/>
                </a:solidFill>
                <a:latin typeface="Times New Roman" panose="02020603050405020304" pitchFamily="18" charset="0"/>
              </a:rPr>
              <a:t>平行边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，故为</a:t>
            </a:r>
            <a:r>
              <a:rPr lang="zh-CN" altLang="en-US" sz="2000" b="1" dirty="0">
                <a:solidFill>
                  <a:srgbClr val="FF0066"/>
                </a:solidFill>
                <a:latin typeface="Times New Roman" panose="02020603050405020304" pitchFamily="18" charset="0"/>
              </a:rPr>
              <a:t>简单图。根据</a:t>
            </a:r>
            <a:r>
              <a:rPr lang="zh-CN" altLang="en-US" sz="2000" b="1" dirty="0">
                <a:latin typeface="Times New Roman" panose="02020603050405020304" pitchFamily="18" charset="0"/>
              </a:rPr>
              <a:t>定义中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“无回路”</a:t>
            </a:r>
          </a:p>
          <a:p>
            <a:pPr eaLnBrk="1" hangingPunct="1">
              <a:buClr>
                <a:schemeClr val="bg1"/>
              </a:buClr>
              <a:buFontTx/>
              <a:buChar char="•"/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在任何非平凡树中，都</a:t>
            </a:r>
            <a:r>
              <a:rPr lang="zh-CN" altLang="en-US" sz="2000" b="1" dirty="0">
                <a:solidFill>
                  <a:srgbClr val="FF0066"/>
                </a:solidFill>
                <a:latin typeface="Times New Roman" panose="02020603050405020304" pitchFamily="18" charset="0"/>
              </a:rPr>
              <a:t>无度数为</a:t>
            </a:r>
            <a:r>
              <a:rPr lang="en-US" altLang="zh-CN" sz="2000" b="1" dirty="0">
                <a:solidFill>
                  <a:srgbClr val="FF0066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的结点。根据</a:t>
            </a:r>
            <a:r>
              <a:rPr lang="zh-CN" altLang="en-US" sz="2000" b="1" dirty="0">
                <a:latin typeface="Times New Roman" panose="02020603050405020304" pitchFamily="18" charset="0"/>
              </a:rPr>
              <a:t>定义中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“连通”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30" name="文本框 7">
            <a:extLst>
              <a:ext uri="{FF2B5EF4-FFF2-40B4-BE49-F238E27FC236}">
                <a16:creationId xmlns:a16="http://schemas.microsoft.com/office/drawing/2014/main" id="{5E5475C8-0518-4A9D-8D33-AAAA7A89A5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944" y="2112724"/>
            <a:ext cx="8136383" cy="954087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800" dirty="0"/>
              <a:t>  【</a:t>
            </a:r>
            <a:r>
              <a:rPr lang="zh-CN" altLang="en-US" sz="2800" dirty="0"/>
              <a:t>定义</a:t>
            </a:r>
            <a:r>
              <a:rPr lang="en-US" altLang="zh-CN" sz="2800" dirty="0"/>
              <a:t>】</a:t>
            </a:r>
            <a:r>
              <a:rPr lang="zh-CN" altLang="en-US" sz="2800" dirty="0">
                <a:solidFill>
                  <a:schemeClr val="tx1"/>
                </a:solidFill>
              </a:rPr>
              <a:t>树中悬挂结点称为</a:t>
            </a:r>
            <a:r>
              <a:rPr lang="zh-CN" altLang="en-US" sz="2800" dirty="0">
                <a:solidFill>
                  <a:srgbClr val="0000FF"/>
                </a:solidFill>
              </a:rPr>
              <a:t>树叶结点</a:t>
            </a:r>
            <a:r>
              <a:rPr lang="zh-CN" altLang="en-US" sz="2800" dirty="0">
                <a:solidFill>
                  <a:schemeClr val="tx1"/>
                </a:solidFill>
              </a:rPr>
              <a:t>，简称为</a:t>
            </a:r>
            <a:r>
              <a:rPr lang="zh-CN" altLang="en-US" sz="2800" dirty="0">
                <a:solidFill>
                  <a:srgbClr val="0000FF"/>
                </a:solidFill>
              </a:rPr>
              <a:t>叶结点</a:t>
            </a:r>
            <a:r>
              <a:rPr lang="zh-CN" altLang="en-US" sz="2800" dirty="0">
                <a:solidFill>
                  <a:schemeClr val="tx1"/>
                </a:solidFill>
              </a:rPr>
              <a:t>或</a:t>
            </a:r>
            <a:r>
              <a:rPr lang="zh-CN" altLang="en-US" sz="2800" dirty="0">
                <a:solidFill>
                  <a:srgbClr val="0000FF"/>
                </a:solidFill>
              </a:rPr>
              <a:t>叶</a:t>
            </a:r>
            <a:r>
              <a:rPr lang="zh-CN" altLang="en-US" sz="2800" dirty="0">
                <a:solidFill>
                  <a:schemeClr val="tx1"/>
                </a:solidFill>
              </a:rPr>
              <a:t>，其他结点称为</a:t>
            </a:r>
            <a:r>
              <a:rPr lang="zh-CN" altLang="en-US" sz="2800" dirty="0">
                <a:solidFill>
                  <a:srgbClr val="0000FF"/>
                </a:solidFill>
              </a:rPr>
              <a:t>分支点</a:t>
            </a:r>
            <a:r>
              <a:rPr lang="zh-CN" altLang="en-US" sz="2800" dirty="0">
                <a:solidFill>
                  <a:schemeClr val="tx1"/>
                </a:solidFill>
              </a:rPr>
              <a:t>或</a:t>
            </a:r>
            <a:r>
              <a:rPr lang="zh-CN" altLang="en-US" sz="2800" dirty="0">
                <a:solidFill>
                  <a:srgbClr val="0000FF"/>
                </a:solidFill>
              </a:rPr>
              <a:t>内点</a:t>
            </a:r>
            <a:r>
              <a:rPr lang="zh-CN" altLang="en-US" sz="2800" dirty="0">
                <a:solidFill>
                  <a:schemeClr val="tx1"/>
                </a:solidFill>
              </a:rPr>
              <a:t>。</a:t>
            </a:r>
          </a:p>
        </p:txBody>
      </p:sp>
      <p:sp>
        <p:nvSpPr>
          <p:cNvPr id="26631" name="文本框 8">
            <a:extLst>
              <a:ext uri="{FF2B5EF4-FFF2-40B4-BE49-F238E27FC236}">
                <a16:creationId xmlns:a16="http://schemas.microsoft.com/office/drawing/2014/main" id="{80783F9E-05D7-4941-9C33-A532F951D5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2" y="3608627"/>
            <a:ext cx="8064251" cy="954088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800" dirty="0"/>
              <a:t>  【</a:t>
            </a:r>
            <a:r>
              <a:rPr lang="zh-CN" altLang="en-US" sz="2800" dirty="0"/>
              <a:t>定义</a:t>
            </a:r>
            <a:r>
              <a:rPr lang="en-US" altLang="zh-CN" sz="2800" dirty="0"/>
              <a:t>】</a:t>
            </a:r>
            <a:r>
              <a:rPr lang="zh-CN" altLang="en-US" sz="2800" dirty="0">
                <a:solidFill>
                  <a:schemeClr val="tx1"/>
                </a:solidFill>
              </a:rPr>
              <a:t>平凡图称为</a:t>
            </a:r>
            <a:r>
              <a:rPr lang="zh-CN" altLang="en-US" sz="2800" dirty="0">
                <a:solidFill>
                  <a:srgbClr val="0000FF"/>
                </a:solidFill>
              </a:rPr>
              <a:t>空树</a:t>
            </a:r>
            <a:r>
              <a:rPr lang="zh-CN" altLang="en-US" sz="2800" dirty="0">
                <a:solidFill>
                  <a:schemeClr val="tx1"/>
                </a:solidFill>
              </a:rPr>
              <a:t>。所有连通分支均为树的无向图称为</a:t>
            </a:r>
            <a:r>
              <a:rPr lang="zh-CN" altLang="en-US" sz="2800" dirty="0">
                <a:solidFill>
                  <a:srgbClr val="0000FF"/>
                </a:solidFill>
              </a:rPr>
              <a:t>森林</a:t>
            </a:r>
            <a:r>
              <a:rPr lang="zh-CN" altLang="en-US" sz="2800" dirty="0">
                <a:solidFill>
                  <a:schemeClr val="tx1"/>
                </a:solidFill>
              </a:rPr>
              <a:t>。</a:t>
            </a:r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日期占位符 3">
            <a:extLst>
              <a:ext uri="{FF2B5EF4-FFF2-40B4-BE49-F238E27FC236}">
                <a16:creationId xmlns:a16="http://schemas.microsoft.com/office/drawing/2014/main" id="{4385E23B-444E-429F-8E66-AC2E3FB95205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DB15778-15C0-444A-8061-EDFB330EDCA7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651" name="Rectangle 186">
            <a:extLst>
              <a:ext uri="{FF2B5EF4-FFF2-40B4-BE49-F238E27FC236}">
                <a16:creationId xmlns:a16="http://schemas.microsoft.com/office/drawing/2014/main" id="{37039A3E-7692-41E3-86EA-8F20792B7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06400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>
                    <a:alpha val="89803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52" name="Text Box 2">
            <a:extLst>
              <a:ext uri="{FF2B5EF4-FFF2-40B4-BE49-F238E27FC236}">
                <a16:creationId xmlns:a16="http://schemas.microsoft.com/office/drawing/2014/main" id="{37C705E5-32FC-4E13-89BE-285BB04819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92150"/>
            <a:ext cx="61198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 题</a:t>
            </a:r>
          </a:p>
        </p:txBody>
      </p:sp>
      <p:pic>
        <p:nvPicPr>
          <p:cNvPr id="27653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5BAA60D3-9219-447E-A514-42A52A759A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5129" y="535825"/>
            <a:ext cx="1027638" cy="1080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4" name="矩形 2">
            <a:extLst>
              <a:ext uri="{FF2B5EF4-FFF2-40B4-BE49-F238E27FC236}">
                <a16:creationId xmlns:a16="http://schemas.microsoft.com/office/drawing/2014/main" id="{9A3EDC60-C4CC-4053-B6DE-D8938912E9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910" y="1829255"/>
            <a:ext cx="7920038" cy="128400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kumimoji="0"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kumimoji="0"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kumimoji="0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判断图所示各个图模型是否为树或森林。</a:t>
            </a:r>
            <a:endParaRPr kumimoji="0"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zh-CN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【分析】</a:t>
            </a:r>
            <a:r>
              <a:rPr kumimoji="0"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直接利用树的定义进行判定</a:t>
            </a:r>
            <a:r>
              <a:rPr kumimoji="0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kumimoji="0"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7655" name="图片 3">
            <a:extLst>
              <a:ext uri="{FF2B5EF4-FFF2-40B4-BE49-F238E27FC236}">
                <a16:creationId xmlns:a16="http://schemas.microsoft.com/office/drawing/2014/main" id="{B97E5F13-0CDD-4D83-9063-6C1A612675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341172"/>
            <a:ext cx="8567108" cy="2812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日期占位符 3">
            <a:extLst>
              <a:ext uri="{FF2B5EF4-FFF2-40B4-BE49-F238E27FC236}">
                <a16:creationId xmlns:a16="http://schemas.microsoft.com/office/drawing/2014/main" id="{7427F2DD-3433-4F5D-A116-9E96850DE16A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B830D3F-7009-46B2-BF7D-B9A7F64FF4CF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699" name="Text Box 2">
            <a:extLst>
              <a:ext uri="{FF2B5EF4-FFF2-40B4-BE49-F238E27FC236}">
                <a16:creationId xmlns:a16="http://schemas.microsoft.com/office/drawing/2014/main" id="{788064B5-FA3E-4831-BACB-3F69C3CF02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648" y="693943"/>
            <a:ext cx="6119812" cy="83099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树的基本性质</a:t>
            </a:r>
          </a:p>
        </p:txBody>
      </p:sp>
      <p:pic>
        <p:nvPicPr>
          <p:cNvPr id="29700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26532B8B-7F3F-4D87-AD5F-F37B404240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548680"/>
            <a:ext cx="971600" cy="1021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13BCFB69-03B0-4FFA-9624-3335483A63D1}"/>
                  </a:ext>
                </a:extLst>
              </p:cNvPr>
              <p:cNvSpPr/>
              <p:nvPr/>
            </p:nvSpPr>
            <p:spPr>
              <a:xfrm>
                <a:off x="215516" y="1742632"/>
                <a:ext cx="8712968" cy="4431598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38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【定理】 设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</m:t>
                        </m:r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𝑬</m:t>
                        </m:r>
                      </m:e>
                    </m:d>
                    <m:r>
                      <m:rPr>
                        <m:nor/>
                      </m:rPr>
                      <a:rPr lang="zh-CN" altLang="en-US" sz="2400" b="1" kern="100" dirty="0" smtClean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为无向图</m:t>
                    </m:r>
                    <m:r>
                      <a:rPr lang="zh-CN" altLang="zh-CN" sz="2400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，</m:t>
                    </m:r>
                    <m:r>
                      <m:rPr>
                        <m:nor/>
                      </m:rPr>
                      <a:rPr lang="zh-CN" altLang="en-US" sz="2400" b="1" kern="100" dirty="0" smtClean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且</m:t>
                    </m:r>
                    <m:d>
                      <m:dPr>
                        <m:begChr m:val="|"/>
                        <m:endChr m:val="|"/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</m:t>
                        </m:r>
                      </m:e>
                    </m:d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𝒏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 </m:t>
                    </m:r>
                    <m:d>
                      <m:dPr>
                        <m:begChr m:val="|"/>
                        <m:endChr m:val="|"/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𝑬</m:t>
                        </m:r>
                      </m:e>
                    </m:d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𝒎</m:t>
                    </m:r>
                    <m:r>
                      <a:rPr lang="zh-CN" altLang="zh-CN" sz="2400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，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则下述各个命题相互等值： </a:t>
                </a:r>
              </a:p>
              <a:p>
                <a:pPr indent="333375" algn="just">
                  <a:lnSpc>
                    <a:spcPts val="3800"/>
                  </a:lnSpc>
                  <a:spcAft>
                    <a:spcPts val="0"/>
                  </a:spcAft>
                </a:pPr>
                <a:r>
                  <a:rPr lang="zh-CN" altLang="zh-CN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连通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且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不含回路（即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是树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模型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）；</a:t>
                </a:r>
              </a:p>
              <a:p>
                <a:pPr indent="333375" algn="just">
                  <a:lnSpc>
                    <a:spcPts val="3800"/>
                  </a:lnSpc>
                  <a:spcAft>
                    <a:spcPts val="0"/>
                  </a:spcAft>
                </a:pPr>
                <a:r>
                  <a:rPr lang="zh-CN" altLang="zh-CN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不含回路且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𝒎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𝒏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；</a:t>
                </a:r>
              </a:p>
              <a:p>
                <a:pPr indent="333375" algn="just">
                  <a:lnSpc>
                    <a:spcPts val="3800"/>
                  </a:lnSpc>
                  <a:spcAft>
                    <a:spcPts val="0"/>
                  </a:spcAft>
                </a:pPr>
                <a:r>
                  <a:rPr lang="zh-CN" altLang="zh-CN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连通且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𝒎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𝒏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；</a:t>
                </a:r>
              </a:p>
              <a:p>
                <a:pPr indent="333375" algn="just">
                  <a:lnSpc>
                    <a:spcPts val="3800"/>
                  </a:lnSpc>
                  <a:spcAft>
                    <a:spcPts val="0"/>
                  </a:spcAft>
                </a:pPr>
                <a:r>
                  <a:rPr lang="zh-CN" altLang="zh-CN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4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不含回路，但在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中任意增加一条新边，就会得到一条基本回路； </a:t>
                </a: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endParaRPr lang="zh-CN" altLang="zh-CN" sz="24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333375" algn="just">
                  <a:lnSpc>
                    <a:spcPts val="3800"/>
                  </a:lnSpc>
                  <a:spcAft>
                    <a:spcPts val="0"/>
                  </a:spcAft>
                </a:pPr>
                <a:r>
                  <a:rPr lang="zh-CN" altLang="zh-CN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5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）当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𝒏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𝟐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连通，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但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删除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其中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任一边后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则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不连通； </a:t>
                </a:r>
              </a:p>
              <a:p>
                <a:pPr marL="266700" indent="66675" algn="just">
                  <a:lnSpc>
                    <a:spcPts val="3800"/>
                  </a:lnSpc>
                  <a:spcAft>
                    <a:spcPts val="0"/>
                  </a:spcAft>
                </a:pPr>
                <a:r>
                  <a:rPr lang="zh-CN" altLang="zh-CN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6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）当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𝒏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𝟐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中每对结点之间都有唯一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一条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基本通路。</a:t>
                </a: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13BCFB69-03B0-4FFA-9624-3335483A63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516" y="1742632"/>
                <a:ext cx="8712968" cy="4431598"/>
              </a:xfrm>
              <a:prstGeom prst="rect">
                <a:avLst/>
              </a:prstGeom>
              <a:blipFill>
                <a:blip r:embed="rId4"/>
                <a:stretch>
                  <a:fillRect l="-1049" t="-138" r="-1049" b="-22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日期占位符 3">
            <a:extLst>
              <a:ext uri="{FF2B5EF4-FFF2-40B4-BE49-F238E27FC236}">
                <a16:creationId xmlns:a16="http://schemas.microsoft.com/office/drawing/2014/main" id="{7427F2DD-3433-4F5D-A116-9E96850DE16A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B830D3F-7009-46B2-BF7D-B9A7F64FF4CF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699" name="Text Box 2">
            <a:extLst>
              <a:ext uri="{FF2B5EF4-FFF2-40B4-BE49-F238E27FC236}">
                <a16:creationId xmlns:a16="http://schemas.microsoft.com/office/drawing/2014/main" id="{788064B5-FA3E-4831-BACB-3F69C3CF02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648" y="674483"/>
            <a:ext cx="6119812" cy="83099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树的基本性质</a:t>
            </a:r>
          </a:p>
        </p:txBody>
      </p:sp>
      <p:pic>
        <p:nvPicPr>
          <p:cNvPr id="29700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26532B8B-7F3F-4D87-AD5F-F37B404240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376" y="548680"/>
            <a:ext cx="1029599" cy="1082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F0E8089D-B5CE-4A67-8C6B-F019DA43AE38}"/>
                  </a:ext>
                </a:extLst>
              </p:cNvPr>
              <p:cNvSpPr/>
              <p:nvPr/>
            </p:nvSpPr>
            <p:spPr>
              <a:xfrm>
                <a:off x="251520" y="1696274"/>
                <a:ext cx="8640960" cy="452431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indent="266700" algn="just"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【分析】采用循环论证的方法，即证明：</a:t>
                </a:r>
              </a:p>
              <a:p>
                <a:pPr indent="266700"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zh-CN" sz="2400" b="1" kern="1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（</m:t>
                      </m:r>
                      <m:r>
                        <a:rPr lang="en-US" altLang="zh-CN" sz="2400" b="1" i="1" kern="1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zh-CN" altLang="zh-CN" sz="2400" b="1" kern="1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）</m:t>
                      </m:r>
                      <m:r>
                        <a:rPr lang="en-US" altLang="zh-CN" sz="2400" b="1" kern="1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⇒</m:t>
                      </m:r>
                      <m:r>
                        <a:rPr lang="zh-CN" altLang="zh-CN" sz="2400" b="1" kern="1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（</m:t>
                      </m:r>
                      <m:r>
                        <a:rPr lang="en-US" altLang="zh-CN" sz="2400" b="1" i="1" kern="1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𝟐</m:t>
                      </m:r>
                      <m:r>
                        <a:rPr lang="zh-CN" altLang="zh-CN" sz="2400" b="1" kern="1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）</m:t>
                      </m:r>
                      <m:r>
                        <a:rPr lang="en-US" altLang="zh-CN" sz="2400" b="1" kern="1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⇒</m:t>
                      </m:r>
                      <m:r>
                        <a:rPr lang="zh-CN" altLang="zh-CN" sz="2400" b="1" kern="1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（</m:t>
                      </m:r>
                      <m:r>
                        <a:rPr lang="en-US" altLang="zh-CN" sz="2400" b="1" i="1" kern="1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𝟑</m:t>
                      </m:r>
                      <m:r>
                        <a:rPr lang="zh-CN" altLang="zh-CN" sz="2400" b="1" kern="1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）</m:t>
                      </m:r>
                      <m:r>
                        <a:rPr lang="en-US" altLang="zh-CN" sz="2400" b="1" kern="1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⇒</m:t>
                      </m:r>
                      <m:r>
                        <a:rPr lang="zh-CN" altLang="zh-CN" sz="2400" b="1" kern="1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（</m:t>
                      </m:r>
                      <m:r>
                        <a:rPr lang="en-US" altLang="zh-CN" sz="2400" b="1" i="1" kern="1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𝟒</m:t>
                      </m:r>
                      <m:r>
                        <a:rPr lang="zh-CN" altLang="zh-CN" sz="2400" b="1" kern="1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）</m:t>
                      </m:r>
                      <m:r>
                        <a:rPr lang="en-US" altLang="zh-CN" sz="2400" b="1" kern="1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⇒</m:t>
                      </m:r>
                      <m:r>
                        <a:rPr lang="zh-CN" altLang="zh-CN" sz="2400" b="1" kern="1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（</m:t>
                      </m:r>
                      <m:r>
                        <a:rPr lang="en-US" altLang="zh-CN" sz="2400" b="1" i="1" kern="1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𝟓</m:t>
                      </m:r>
                      <m:r>
                        <a:rPr lang="zh-CN" altLang="zh-CN" sz="2400" b="1" kern="1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）</m:t>
                      </m:r>
                      <m:r>
                        <a:rPr lang="en-US" altLang="zh-CN" sz="2400" b="1" kern="1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⇒</m:t>
                      </m:r>
                      <m:r>
                        <a:rPr lang="zh-CN" altLang="zh-CN" sz="2400" b="1" kern="1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（</m:t>
                      </m:r>
                      <m:r>
                        <a:rPr lang="en-US" altLang="zh-CN" sz="2400" b="1" i="1" kern="1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𝟔</m:t>
                      </m:r>
                      <m:r>
                        <a:rPr lang="zh-CN" altLang="zh-CN" sz="2400" b="1" kern="1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）</m:t>
                      </m:r>
                      <m:r>
                        <a:rPr lang="en-US" altLang="zh-CN" sz="2400" b="1" kern="1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⇒</m:t>
                      </m:r>
                      <m:r>
                        <a:rPr lang="zh-CN" altLang="zh-CN" sz="2400" b="1" kern="1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（</m:t>
                      </m:r>
                      <m:r>
                        <a:rPr lang="en-US" altLang="zh-CN" sz="2400" b="1" i="1" kern="1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zh-CN" altLang="zh-CN" sz="2400" b="1" kern="1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）</m:t>
                      </m:r>
                    </m:oMath>
                  </m:oMathPara>
                </a14:m>
                <a:endParaRPr lang="en-US" altLang="zh-CN" sz="2400" b="1" kern="100" dirty="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0"/>
                  </a:spcAft>
                </a:pP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然后根据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永真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蕴含关系的传递性，即可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证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</a:p>
              <a:p>
                <a:pPr algn="just"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【证明】 </a:t>
                </a:r>
                <a14:m>
                  <m:oMath xmlns:m="http://schemas.openxmlformats.org/officeDocument/2006/math">
                    <m:r>
                      <a:rPr lang="en-US" altLang="zh-CN" sz="2400" b="1" kern="1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b="1" i="1" kern="1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US" altLang="zh-CN" sz="2400" b="1" kern="1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)⇒(</m:t>
                    </m:r>
                    <m:r>
                      <a:rPr lang="en-US" altLang="zh-CN" sz="2400" b="1" i="1" kern="1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𝟐</m:t>
                    </m:r>
                    <m:r>
                      <a:rPr lang="en-US" altLang="zh-CN" sz="2400" b="1" kern="1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：对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𝒏</m:t>
                    </m:r>
                  </m:oMath>
                </a14:m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使用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数学归纳法进行证明。</a:t>
                </a:r>
                <a:endParaRPr lang="en-US" altLang="zh-CN" sz="24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  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𝒏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𝒎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，故有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𝒎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𝒏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。设当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𝒏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𝒌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时命题成立，现证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𝒏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𝒌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时命题也成立。</a:t>
                </a:r>
                <a:endParaRPr lang="en-US" altLang="zh-CN" sz="24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  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由于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连通且无回路，</a:t>
                </a:r>
                <a:r>
                  <a:rPr lang="zh-CN" altLang="zh-CN" sz="24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故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4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中至少有一个度为</a:t>
                </a:r>
                <a:r>
                  <a:rPr lang="en-US" altLang="zh-CN" sz="24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4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的结点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 smtClean="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 kern="100" smtClean="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，在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中删去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及其关联边，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可得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𝒌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个结点的连通且无回路的图，由归纳假设知它有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𝒌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条边。</a:t>
                </a:r>
                <a:endParaRPr lang="en-US" altLang="zh-CN" sz="24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  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再将结点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及其关联的边加回得到原图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故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中含有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𝒌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个结点和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𝒌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条边，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满足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公式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𝒎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𝒏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</a:p>
              <a:p>
                <a:pPr algn="just"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  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因此，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无回路且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𝒎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𝒏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𝟏</m:t>
                    </m:r>
                    <m:r>
                      <a:rPr lang="zh-CN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。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即</a:t>
                </a:r>
                <a14:m>
                  <m:oMath xmlns:m="http://schemas.openxmlformats.org/officeDocument/2006/math">
                    <m:r>
                      <a:rPr lang="zh-CN" altLang="zh-CN" sz="2400" b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（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𝟐</m:t>
                    </m:r>
                    <m:r>
                      <a:rPr lang="zh-CN" altLang="zh-CN" sz="2400" b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）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成立。</a:t>
                </a: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F0E8089D-B5CE-4A67-8C6B-F019DA43AE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696274"/>
                <a:ext cx="8640960" cy="4524315"/>
              </a:xfrm>
              <a:prstGeom prst="rect">
                <a:avLst/>
              </a:prstGeom>
              <a:blipFill>
                <a:blip r:embed="rId4"/>
                <a:stretch>
                  <a:fillRect l="-1058" t="-1617" r="-1058" b="-16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4861820"/>
      </p:ext>
    </p:extLst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日期占位符 3">
            <a:extLst>
              <a:ext uri="{FF2B5EF4-FFF2-40B4-BE49-F238E27FC236}">
                <a16:creationId xmlns:a16="http://schemas.microsoft.com/office/drawing/2014/main" id="{7427F2DD-3433-4F5D-A116-9E96850DE16A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B830D3F-7009-46B2-BF7D-B9A7F64FF4CF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699" name="Text Box 2">
            <a:extLst>
              <a:ext uri="{FF2B5EF4-FFF2-40B4-BE49-F238E27FC236}">
                <a16:creationId xmlns:a16="http://schemas.microsoft.com/office/drawing/2014/main" id="{788064B5-FA3E-4831-BACB-3F69C3CF02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648" y="565207"/>
            <a:ext cx="6119812" cy="83099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树的基本性质</a:t>
            </a:r>
          </a:p>
        </p:txBody>
      </p:sp>
      <p:pic>
        <p:nvPicPr>
          <p:cNvPr id="29700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26532B8B-7F3F-4D87-AD5F-F37B404240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507754"/>
            <a:ext cx="899592" cy="9459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B3F5483-CCFC-4EE6-A38C-AD6F72ED010A}"/>
                  </a:ext>
                </a:extLst>
              </p:cNvPr>
              <p:cNvSpPr/>
              <p:nvPr/>
            </p:nvSpPr>
            <p:spPr>
              <a:xfrm>
                <a:off x="161764" y="1545851"/>
                <a:ext cx="8820472" cy="4811382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32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  </a:t>
                </a:r>
                <a:r>
                  <a:rPr lang="en-US" altLang="zh-CN" sz="2400" b="1" kern="100" dirty="0">
                    <a:solidFill>
                      <a:schemeClr val="bg1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【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证明</a:t>
                </a:r>
                <a:r>
                  <a:rPr lang="en-US" altLang="zh-CN" sz="2400" b="1" kern="100" dirty="0">
                    <a:solidFill>
                      <a:schemeClr val="bg1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续</a:t>
                </a:r>
                <a:r>
                  <a:rPr lang="en-US" altLang="zh-CN" sz="2400" b="1" kern="100" dirty="0">
                    <a:solidFill>
                      <a:schemeClr val="bg1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)】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e>
                    </m:d>
                    <m:r>
                      <a:rPr lang="en-US" altLang="zh-CN" sz="2400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⇒</m:t>
                    </m:r>
                    <m:d>
                      <m:d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𝟑</m:t>
                        </m:r>
                      </m:e>
                    </m:d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：即假设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e>
                    </m:d>
                    <m:r>
                      <m:rPr>
                        <m:nor/>
                      </m:rPr>
                      <a:rPr lang="zh-CN" altLang="en-US" sz="2400" b="1" kern="100" dirty="0" smtClean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成立</m:t>
                    </m:r>
                    <m:r>
                      <a:rPr lang="zh-CN" altLang="zh-CN" sz="2400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，</m:t>
                    </m:r>
                    <m:r>
                      <m:rPr>
                        <m:nor/>
                      </m:rPr>
                      <a:rPr lang="zh-CN" altLang="en-US" sz="2400" b="1" kern="100" dirty="0" smtClean="0">
                        <a:solidFill>
                          <a:schemeClr val="bg1"/>
                        </a:solidFill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证明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是连通图，也就是说要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证明只有一个连通分支。</a:t>
                </a: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使用反证法。</a:t>
                </a:r>
                <a:endParaRPr lang="en-US" altLang="zh-CN" sz="24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ts val="32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  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𝒌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个连通分支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 ⋯, 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这些连通分支的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结点数分别为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𝒏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𝒏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  ⋯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𝒏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，边数分别为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 ⋯, 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𝒌</m:t>
                        </m:r>
                      </m:sub>
                    </m:sSub>
                    <m:r>
                      <a:rPr lang="zh-CN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。</m:t>
                    </m:r>
                  </m:oMath>
                </a14:m>
                <a:endParaRPr lang="en-US" altLang="zh-CN" sz="24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ts val="32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  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由于图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没有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回路，故每个连通分支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均为树，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则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有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</a:t>
                </a:r>
                <a:endParaRPr lang="en-US" altLang="zh-CN" sz="2400" b="1" i="1" kern="1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ts val="32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altLang="zh-CN" sz="2400" b="1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altLang="zh-CN" sz="2400" b="1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sz="2400" b="1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𝟏</m:t>
                      </m:r>
                    </m:oMath>
                  </m:oMathPara>
                </a14:m>
                <a:endParaRPr lang="en-US" altLang="zh-CN" sz="24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ts val="3200"/>
                  </a:lnSpc>
                  <a:spcAft>
                    <a:spcPts val="0"/>
                  </a:spcAft>
                </a:pP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即有：</a:t>
                </a:r>
              </a:p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     </m:t>
                      </m:r>
                      <m:r>
                        <a:rPr lang="en-US" altLang="zh-CN" sz="2400" b="1" i="1" kern="1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𝒎</m:t>
                      </m:r>
                      <m:r>
                        <a:rPr lang="en-US" altLang="zh-CN" sz="2400" b="1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𝒊</m:t>
                          </m:r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𝒌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2400" b="1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altLang="zh-CN" sz="2400" b="1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  <m:r>
                        <a:rPr lang="en-US" altLang="zh-CN" sz="2400" b="1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𝒊</m:t>
                          </m:r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𝒌</m:t>
                          </m:r>
                        </m:sup>
                        <m:e>
                          <m:d>
                            <m:dPr>
                              <m:ctrlPr>
                                <a:rPr lang="zh-CN" altLang="zh-CN" sz="2400" b="1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400" b="1" i="1" kern="1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kern="1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𝒏</m:t>
                                  </m:r>
                                </m:e>
                                <m:sub>
                                  <m:r>
                                    <a:rPr lang="en-US" altLang="zh-CN" sz="2400" b="1" i="1" kern="1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CN" sz="2400" b="1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zh-CN" sz="2400" b="1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e>
                          </m:d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CN" sz="2400" b="1" i="1" kern="1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𝒏</m:t>
                          </m:r>
                          <m:r>
                            <a:rPr lang="en-US" altLang="zh-CN" sz="2400" b="1" i="1" kern="1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2400" b="1" i="1" kern="1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𝒌</m:t>
                          </m:r>
                          <m:r>
                            <a:rPr lang="en-US" altLang="zh-CN" sz="2400" b="1" i="1" kern="1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CN" sz="2400" b="1" i="1" kern="1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𝒏</m:t>
                          </m:r>
                          <m:r>
                            <a:rPr lang="en-US" altLang="zh-CN" sz="2400" b="1" i="1" kern="1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2400" b="1" i="1" kern="1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𝟏</m:t>
                          </m:r>
                          <m:r>
                            <a:rPr lang="en-US" altLang="zh-CN" sz="2400" b="1" i="1" kern="1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altLang="zh-CN" sz="2400" b="1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       </m:t>
                      </m:r>
                    </m:oMath>
                  </m:oMathPara>
                </a14:m>
                <a:endParaRPr lang="zh-CN" altLang="zh-CN" sz="24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ts val="3200"/>
                  </a:lnSpc>
                  <a:spcAft>
                    <a:spcPts val="0"/>
                  </a:spcAft>
                </a:pP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故必有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𝒌</m:t>
                    </m:r>
                    <m:r>
                      <a:rPr lang="en-US" altLang="zh-CN" sz="2400" b="1" i="1" kern="1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1" i="1" kern="1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24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ts val="32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 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因此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是连通图且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满足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𝒎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𝒏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B3F5483-CCFC-4EE6-A38C-AD6F72ED01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764" y="1545851"/>
                <a:ext cx="8820472" cy="4811382"/>
              </a:xfrm>
              <a:prstGeom prst="rect">
                <a:avLst/>
              </a:prstGeom>
              <a:blipFill>
                <a:blip r:embed="rId4"/>
                <a:stretch>
                  <a:fillRect l="-1107" t="-1267" r="-1107" b="-13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2271512"/>
      </p:ext>
    </p:extLst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日期占位符 3">
            <a:extLst>
              <a:ext uri="{FF2B5EF4-FFF2-40B4-BE49-F238E27FC236}">
                <a16:creationId xmlns:a16="http://schemas.microsoft.com/office/drawing/2014/main" id="{7427F2DD-3433-4F5D-A116-9E96850DE16A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B830D3F-7009-46B2-BF7D-B9A7F64FF4CF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699" name="Text Box 2">
            <a:extLst>
              <a:ext uri="{FF2B5EF4-FFF2-40B4-BE49-F238E27FC236}">
                <a16:creationId xmlns:a16="http://schemas.microsoft.com/office/drawing/2014/main" id="{788064B5-FA3E-4831-BACB-3F69C3CF02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648" y="535454"/>
            <a:ext cx="6119812" cy="83099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树的基本性质</a:t>
            </a:r>
          </a:p>
        </p:txBody>
      </p:sp>
      <p:pic>
        <p:nvPicPr>
          <p:cNvPr id="29700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26532B8B-7F3F-4D87-AD5F-F37B404240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507754"/>
            <a:ext cx="899592" cy="9459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F7618903-668C-4A6D-A70F-1EF7B87FB66C}"/>
                  </a:ext>
                </a:extLst>
              </p:cNvPr>
              <p:cNvSpPr/>
              <p:nvPr/>
            </p:nvSpPr>
            <p:spPr>
              <a:xfrm>
                <a:off x="124607" y="1392633"/>
                <a:ext cx="8964488" cy="4927503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spcAft>
                    <a:spcPts val="0"/>
                  </a:spcAft>
                </a:pPr>
                <a:r>
                  <a:rPr lang="en-US" altLang="zh-CN" sz="2000" b="1" kern="100" dirty="0">
                    <a:solidFill>
                      <a:schemeClr val="bg1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   【</a:t>
                </a:r>
                <a:r>
                  <a:rPr lang="zh-CN" altLang="en-US" sz="2000" b="1" kern="100" dirty="0">
                    <a:solidFill>
                      <a:schemeClr val="bg1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证明</a:t>
                </a:r>
                <a:r>
                  <a:rPr lang="en-US" altLang="zh-CN" sz="2000" b="1" kern="100" dirty="0">
                    <a:solidFill>
                      <a:schemeClr val="bg1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zh-CN" altLang="en-US" sz="2000" b="1" kern="100" dirty="0">
                    <a:solidFill>
                      <a:schemeClr val="bg1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续</a:t>
                </a:r>
                <a:r>
                  <a:rPr lang="en-US" altLang="zh-CN" sz="2000" b="1" kern="100" dirty="0">
                    <a:solidFill>
                      <a:schemeClr val="bg1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)】</a:t>
                </a:r>
                <a14:m>
                  <m:oMath xmlns:m="http://schemas.openxmlformats.org/officeDocument/2006/math">
                    <m:r>
                      <a:rPr lang="en-US" altLang="zh-CN" sz="2000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𝟑</m:t>
                    </m:r>
                    <m:r>
                      <a:rPr lang="en-US" altLang="zh-CN" sz="2000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)⇒(</m:t>
                    </m:r>
                    <m:r>
                      <a:rPr lang="en-US" altLang="zh-CN" sz="20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𝟒</m:t>
                    </m:r>
                    <m:r>
                      <a:rPr lang="en-US" altLang="zh-CN" sz="2000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：设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0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𝟑</m:t>
                        </m:r>
                      </m:e>
                    </m:d>
                  </m:oMath>
                </a14:m>
                <a:r>
                  <a:rPr lang="zh-CN" altLang="en-US" sz="2000" b="1" kern="1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成立，证明</a:t>
                </a:r>
                <a14:m>
                  <m:oMath xmlns:m="http://schemas.openxmlformats.org/officeDocument/2006/math">
                    <m:r>
                      <a:rPr lang="en-US" altLang="zh-CN" sz="20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en-US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是边数最少的</a:t>
                </a:r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无回路</a:t>
                </a:r>
                <a:r>
                  <a:rPr lang="zh-CN" altLang="en-US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连通图。</a:t>
                </a:r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首先证明图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无回路。对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𝒏</m:t>
                    </m:r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做数学归纳法证明。</a:t>
                </a:r>
                <a:endParaRPr lang="en-US" altLang="zh-CN" sz="20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Aft>
                    <a:spcPts val="0"/>
                  </a:spcAft>
                </a:pPr>
                <a:r>
                  <a:rPr lang="en-US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</a:t>
                </a:r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𝒏</m:t>
                    </m:r>
                    <m:r>
                      <a:rPr lang="en-US" altLang="zh-CN" sz="20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0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𝒎</m:t>
                    </m:r>
                    <m:r>
                      <a:rPr lang="en-US" altLang="zh-CN" sz="20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0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𝒏</m:t>
                    </m:r>
                    <m:r>
                      <a:rPr lang="en-US" altLang="zh-CN" sz="20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20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US" altLang="zh-CN" sz="20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0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，显然无回路。设当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𝒏</m:t>
                    </m:r>
                    <m:r>
                      <a:rPr lang="en-US" altLang="zh-CN" sz="20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0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𝒌</m:t>
                    </m:r>
                    <m:r>
                      <a:rPr lang="en-US" altLang="zh-CN" sz="20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20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时图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无回路，</a:t>
                </a:r>
                <a:r>
                  <a:rPr lang="zh-CN" altLang="en-US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则对于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𝒏</m:t>
                    </m:r>
                    <m:r>
                      <a:rPr lang="en-US" altLang="zh-CN" sz="20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0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𝒌</m:t>
                    </m:r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</a:t>
                </a:r>
                <a:r>
                  <a:rPr lang="zh-CN" altLang="zh-CN" sz="20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因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en-US" sz="2000" b="1" kern="100" dirty="0">
                    <a:solidFill>
                      <a:srgbClr val="FFFF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为</a:t>
                </a:r>
                <a:r>
                  <a:rPr lang="zh-CN" altLang="zh-CN" sz="20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连通图，故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0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中每个结点的度均</a:t>
                </a:r>
                <a:r>
                  <a:rPr lang="zh-CN" altLang="en-US" sz="20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不小于</a:t>
                </a:r>
                <a:r>
                  <a:rPr lang="en-US" altLang="zh-CN" sz="20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0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且至少有一个度为</a:t>
                </a:r>
                <a:r>
                  <a:rPr lang="en-US" altLang="zh-CN" sz="20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0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的结点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b="1" i="1" kern="10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 kern="10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  <m:r>
                      <a:rPr lang="zh-CN" altLang="en-US" sz="20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。</m:t>
                    </m:r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因为如果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𝒌</m:t>
                    </m:r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个结点的度数都</a:t>
                </a:r>
                <a:r>
                  <a:rPr lang="zh-CN" altLang="en-US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不小于</a:t>
                </a:r>
                <a:r>
                  <a:rPr lang="en-US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，则有：</a:t>
                </a:r>
              </a:p>
              <a:p>
                <a:pPr marL="66675" indent="200025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𝟐</m:t>
                      </m:r>
                      <m:r>
                        <a:rPr lang="en-US" altLang="zh-CN" sz="2000" b="1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𝒎</m:t>
                      </m:r>
                      <m:r>
                        <a:rPr lang="en-US" altLang="zh-CN" sz="2000" b="1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zh-CN" sz="20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𝒗</m:t>
                          </m:r>
                          <m:r>
                            <a:rPr lang="en-US" altLang="zh-CN" sz="20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∈</m:t>
                          </m:r>
                          <m:r>
                            <a:rPr lang="en-US" altLang="zh-CN" sz="20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𝑽</m:t>
                          </m:r>
                        </m:sub>
                        <m:sup/>
                        <m:e>
                          <m:r>
                            <a:rPr lang="en-US" altLang="zh-CN" sz="20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𝒅𝒆𝒈</m:t>
                          </m:r>
                          <m:d>
                            <m:dPr>
                              <m:ctrlPr>
                                <a:rPr lang="zh-CN" altLang="zh-CN" sz="2000" b="1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𝒗</m:t>
                              </m:r>
                            </m:e>
                          </m:d>
                        </m:e>
                      </m:nary>
                      <m:r>
                        <a:rPr lang="en-US" altLang="zh-CN" sz="2000" b="1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≥</m:t>
                      </m:r>
                      <m:r>
                        <a:rPr lang="en-US" altLang="zh-CN" sz="2000" b="1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𝟐</m:t>
                      </m:r>
                      <m:r>
                        <a:rPr lang="en-US" altLang="zh-CN" sz="2000" b="1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𝒌</m:t>
                      </m:r>
                      <m:r>
                        <a:rPr lang="en-US" altLang="zh-CN" sz="2000" b="1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        </m:t>
                      </m:r>
                    </m:oMath>
                  </m:oMathPara>
                </a14:m>
                <a:endParaRPr lang="zh-CN" altLang="zh-CN" sz="20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66675" indent="266700">
                  <a:spcAft>
                    <a:spcPts val="0"/>
                  </a:spcAft>
                </a:pPr>
                <a:r>
                  <a:rPr lang="en-US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</a:t>
                </a:r>
                <a:r>
                  <a:rPr lang="zh-CN" altLang="zh-CN" sz="20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从而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𝒎</m:t>
                    </m:r>
                    <m:r>
                      <a:rPr lang="en-US" altLang="zh-CN" sz="2000" b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altLang="zh-CN" sz="2000" b="1" i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𝒌</m:t>
                    </m:r>
                  </m:oMath>
                </a14:m>
                <a:r>
                  <a:rPr lang="zh-CN" altLang="zh-CN" sz="20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，即至少图中有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𝒌</m:t>
                    </m:r>
                  </m:oMath>
                </a14:m>
                <a:r>
                  <a:rPr lang="zh-CN" altLang="zh-CN" sz="20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条边，与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𝒎</m:t>
                    </m:r>
                    <m:r>
                      <a:rPr lang="en-US" altLang="zh-CN" sz="2000" b="1" i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000" b="1" i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𝒏</m:t>
                    </m:r>
                    <m:r>
                      <a:rPr lang="en-US" altLang="zh-CN" sz="2000" b="1" i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2000" b="1" i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zh-CN" altLang="zh-CN" sz="20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矛盾。</a:t>
                </a:r>
              </a:p>
              <a:p>
                <a:pPr marL="66675" indent="266700">
                  <a:spcAft>
                    <a:spcPts val="0"/>
                  </a:spcAft>
                </a:pPr>
                <a:r>
                  <a:rPr lang="en-US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</a:t>
                </a:r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中删去度为</a:t>
                </a:r>
                <a:r>
                  <a:rPr lang="en-US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的结点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及其关联边，得到一个新图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p>
                        <m:r>
                          <a:rPr lang="en-US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由</a:t>
                </a:r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归纳假设知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p>
                        <m:r>
                          <a:rPr lang="en-US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无回路。</a:t>
                </a:r>
                <a:r>
                  <a:rPr lang="zh-CN" altLang="zh-CN" sz="20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由于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zh-CN" altLang="zh-CN" sz="2000" b="1" i="1" kern="10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en-US" altLang="zh-CN" sz="2000" b="1" i="1" kern="10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𝒅𝒆𝒈</m:t>
                        </m:r>
                      </m:fName>
                      <m:e>
                        <m:d>
                          <m:dPr>
                            <m:ctrlPr>
                              <a:rPr lang="zh-CN" altLang="zh-CN" sz="2000" b="1" i="1" kern="100">
                                <a:solidFill>
                                  <a:srgbClr val="FFFF6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000" b="1" i="1" kern="100">
                                    <a:solidFill>
                                      <a:srgbClr val="FFFF6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1" i="1" kern="100">
                                    <a:solidFill>
                                      <a:srgbClr val="FFFF66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000" b="1" i="1" kern="100">
                                    <a:solidFill>
                                      <a:srgbClr val="FFFF66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𝟎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altLang="zh-CN" sz="2000" b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000" b="1" i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zh-CN" altLang="zh-CN" sz="20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，故</a:t>
                </a:r>
                <a:r>
                  <a:rPr lang="zh-CN" altLang="en-US" sz="20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如果</a:t>
                </a:r>
                <a:r>
                  <a:rPr lang="zh-CN" altLang="zh-CN" sz="20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再将结点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b="1" i="1" kern="10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 kern="10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zh-CN" sz="20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及其关联边加回得到原图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0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20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那么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0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也无回路。</a:t>
                </a:r>
                <a:endParaRPr lang="en-US" altLang="zh-CN" sz="20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66675" indent="266700">
                  <a:spcAft>
                    <a:spcPts val="0"/>
                  </a:spcAft>
                </a:pPr>
                <a:r>
                  <a:rPr lang="en-US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</a:t>
                </a:r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再证如果在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中任意增加一条边</a:t>
                </a:r>
                <a14:m>
                  <m:oMath xmlns:m="http://schemas.openxmlformats.org/officeDocument/2006/math">
                    <m:r>
                      <a:rPr lang="en-US" altLang="zh-CN" sz="2000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2000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𝒋</m:t>
                        </m:r>
                      </m:sub>
                    </m:sSub>
                    <m:r>
                      <a:rPr lang="en-US" altLang="zh-CN" sz="2000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，则得到一条且仅一条基本回路：</a:t>
                </a:r>
              </a:p>
              <a:p>
                <a:pPr>
                  <a:spcAft>
                    <a:spcPts val="0"/>
                  </a:spcAft>
                </a:pPr>
                <a:r>
                  <a:rPr lang="en-US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  </a:t>
                </a:r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由于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连通，故从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有一条通路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𝑳</m:t>
                    </m:r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，再在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𝑳</m:t>
                    </m:r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中增加一条边</a:t>
                </a:r>
                <a14:m>
                  <m:oMath xmlns:m="http://schemas.openxmlformats.org/officeDocument/2006/math">
                    <m:r>
                      <a:rPr lang="en-US" altLang="zh-CN" sz="2000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2000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𝒋</m:t>
                        </m:r>
                      </m:sub>
                    </m:sSub>
                    <m:r>
                      <a:rPr lang="en-US" altLang="zh-CN" sz="2000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，就构成一条回路。若此回路不是唯一和基本</a:t>
                </a:r>
                <a:r>
                  <a:rPr lang="zh-CN" altLang="en-US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回路</a:t>
                </a:r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，则删去此新边，</a:t>
                </a:r>
                <a:r>
                  <a:rPr lang="zh-CN" altLang="en-US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此时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中必有回路，</a:t>
                </a:r>
                <a:r>
                  <a:rPr lang="zh-CN" altLang="en-US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可</a:t>
                </a:r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得</a:t>
                </a:r>
                <a:r>
                  <a:rPr lang="zh-CN" altLang="en-US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到</a:t>
                </a:r>
                <a:r>
                  <a:rPr lang="zh-CN" altLang="zh-CN" sz="20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矛盾。</a:t>
                </a: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F7618903-668C-4A6D-A70F-1EF7B87FB6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607" y="1392633"/>
                <a:ext cx="8964488" cy="4927503"/>
              </a:xfrm>
              <a:prstGeom prst="rect">
                <a:avLst/>
              </a:prstGeom>
              <a:blipFill>
                <a:blip r:embed="rId4"/>
                <a:stretch>
                  <a:fillRect l="-680" t="-865" b="-2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428069"/>
      </p:ext>
    </p:extLst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日期占位符 3">
            <a:extLst>
              <a:ext uri="{FF2B5EF4-FFF2-40B4-BE49-F238E27FC236}">
                <a16:creationId xmlns:a16="http://schemas.microsoft.com/office/drawing/2014/main" id="{7427F2DD-3433-4F5D-A116-9E96850DE16A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B830D3F-7009-46B2-BF7D-B9A7F64FF4CF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699" name="Text Box 2">
            <a:extLst>
              <a:ext uri="{FF2B5EF4-FFF2-40B4-BE49-F238E27FC236}">
                <a16:creationId xmlns:a16="http://schemas.microsoft.com/office/drawing/2014/main" id="{788064B5-FA3E-4831-BACB-3F69C3CF02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094" y="692696"/>
            <a:ext cx="6119812" cy="83099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树的基本性质</a:t>
            </a:r>
          </a:p>
        </p:txBody>
      </p:sp>
      <p:pic>
        <p:nvPicPr>
          <p:cNvPr id="29700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26532B8B-7F3F-4D87-AD5F-F37B404240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507754"/>
            <a:ext cx="899592" cy="9459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9CABB56F-75B5-4E2E-8EBA-00751B218CBF}"/>
                  </a:ext>
                </a:extLst>
              </p:cNvPr>
              <p:cNvSpPr/>
              <p:nvPr/>
            </p:nvSpPr>
            <p:spPr>
              <a:xfrm>
                <a:off x="251520" y="1857719"/>
                <a:ext cx="8712968" cy="4207177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ts val="3600"/>
                  </a:lnSpc>
                  <a:spcAft>
                    <a:spcPts val="0"/>
                  </a:spcAft>
                </a:pPr>
                <a:r>
                  <a:rPr lang="zh-CN" altLang="zh-CN" kern="100" dirty="0"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kern="100" dirty="0"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</a:t>
                </a: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【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证明</a:t>
                </a: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续</a:t>
                </a: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)】</a:t>
                </a:r>
                <a14:m>
                  <m:oMath xmlns:m="http://schemas.openxmlformats.org/officeDocument/2006/math">
                    <m:r>
                      <a:rPr lang="en-US" altLang="zh-CN" sz="2400" b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b="1" i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𝟒</m:t>
                    </m:r>
                    <m:r>
                      <a:rPr lang="en-US" altLang="zh-CN" sz="2400" b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)⇒(</m:t>
                    </m:r>
                    <m:r>
                      <a:rPr lang="en-US" altLang="zh-CN" sz="2400" b="1" i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𝟓</m:t>
                    </m:r>
                    <m:r>
                      <a:rPr lang="en-US" altLang="zh-CN" sz="2400" b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 若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不连通，则存在无通路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两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结点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，此时增加边</a:t>
                </a:r>
                <a14:m>
                  <m:oMath xmlns:m="http://schemas.openxmlformats.org/officeDocument/2006/math">
                    <m:r>
                      <a:rPr lang="en-US" altLang="zh-CN" sz="2400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2400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𝒋</m:t>
                        </m:r>
                      </m:sub>
                    </m:sSub>
                    <m:r>
                      <a:rPr lang="en-US" altLang="zh-CN" sz="2400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就不会产生回路，矛盾！故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是连通图。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由于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无回路，故删去任一边，图便不连通。</a:t>
                </a:r>
              </a:p>
              <a:p>
                <a:pPr indent="66675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 </a:t>
                </a:r>
                <a14:m>
                  <m:oMath xmlns:m="http://schemas.openxmlformats.org/officeDocument/2006/math">
                    <m:r>
                      <a:rPr lang="en-US" altLang="zh-CN" sz="2400" b="1" kern="1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b="1" i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𝟓</m:t>
                    </m:r>
                    <m:r>
                      <a:rPr lang="en-US" altLang="zh-CN" sz="2400" b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)⇒(</m:t>
                    </m:r>
                    <m:r>
                      <a:rPr lang="en-US" altLang="zh-CN" sz="2400" b="1" i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𝟔</m:t>
                    </m:r>
                    <m:r>
                      <a:rPr lang="en-US" altLang="zh-CN" sz="2400" b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：由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为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连通图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可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知</a:t>
                </a:r>
                <a:r>
                  <a:rPr lang="zh-CN" altLang="zh-CN" sz="2400" b="1" i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中任意两结点之间都有基本通路。若基本通路不唯一，则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中必有回路，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此时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删去回路上一条边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仍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为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连通，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得到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矛盾。故基本通路唯一。</a:t>
                </a:r>
              </a:p>
              <a:p>
                <a:pPr>
                  <a:lnSpc>
                    <a:spcPts val="36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  </a:t>
                </a:r>
                <a14:m>
                  <m:oMath xmlns:m="http://schemas.openxmlformats.org/officeDocument/2006/math">
                    <m:r>
                      <a:rPr lang="en-US" altLang="zh-CN" sz="2400" b="1" kern="1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b="1" i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𝟔</m:t>
                    </m:r>
                    <m:r>
                      <a:rPr lang="en-US" altLang="zh-CN" sz="2400" b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)⇒(</m:t>
                    </m:r>
                    <m:r>
                      <a:rPr lang="en-US" altLang="zh-CN" sz="2400" b="1" i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US" altLang="zh-CN" sz="2400" b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：显然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为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连通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图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。若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中含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有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回路，则回路上任意两结点之间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必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有两条基本通路，这与题设矛盾。因此，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图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连通且不含回路。</a:t>
                </a: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9CABB56F-75B5-4E2E-8EBA-00751B218C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857719"/>
                <a:ext cx="8712968" cy="4207177"/>
              </a:xfrm>
              <a:prstGeom prst="rect">
                <a:avLst/>
              </a:prstGeom>
              <a:blipFill>
                <a:blip r:embed="rId4"/>
                <a:stretch>
                  <a:fillRect l="-1049" t="-435" r="-1049" b="-17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8974726"/>
      </p:ext>
    </p:extLst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日期占位符 3">
            <a:extLst>
              <a:ext uri="{FF2B5EF4-FFF2-40B4-BE49-F238E27FC236}">
                <a16:creationId xmlns:a16="http://schemas.microsoft.com/office/drawing/2014/main" id="{7A1511F4-D028-44D1-A03B-98516FA69A65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395689C-F4C8-4B9A-9F73-2A01D7E95B6C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723" name="Text Box 2">
            <a:extLst>
              <a:ext uri="{FF2B5EF4-FFF2-40B4-BE49-F238E27FC236}">
                <a16:creationId xmlns:a16="http://schemas.microsoft.com/office/drawing/2014/main" id="{41DFF873-A165-40CF-8002-0AF5B71923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090" y="681492"/>
            <a:ext cx="6119812" cy="83099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树的基本性质</a:t>
            </a:r>
          </a:p>
        </p:txBody>
      </p:sp>
      <p:pic>
        <p:nvPicPr>
          <p:cNvPr id="30724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1A958C09-3CE4-4B41-B027-E296E0AD97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586182"/>
            <a:ext cx="971600" cy="1021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BAE6868F-0D5A-42A4-A14A-C0409B50C651}"/>
                  </a:ext>
                </a:extLst>
              </p:cNvPr>
              <p:cNvSpPr/>
              <p:nvPr/>
            </p:nvSpPr>
            <p:spPr>
              <a:xfrm>
                <a:off x="323528" y="1844824"/>
                <a:ext cx="8424936" cy="4249048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【定理 】任意非平凡树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𝑻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𝒏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𝒎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都至少有两片叶。</a:t>
                </a:r>
              </a:p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【分析】 </a:t>
                </a:r>
                <a:r>
                  <a:rPr lang="zh-CN" altLang="zh-CN" sz="24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利用握手定理和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𝒎</m:t>
                    </m:r>
                    <m:r>
                      <a:rPr lang="en-US" altLang="zh-CN" sz="2400" b="1" i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1" i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𝒏</m:t>
                    </m:r>
                    <m:r>
                      <a:rPr lang="en-US" altLang="zh-CN" sz="2400" b="1" i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2400" b="1" i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</a:p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【证明】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由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树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𝑻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是连通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图知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𝑻</m:t>
                    </m:r>
                  </m:oMath>
                </a14:m>
                <a:r>
                  <a:rPr lang="zh-CN" altLang="zh-CN" sz="24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中各结点的度均</a:t>
                </a:r>
                <a:r>
                  <a:rPr lang="zh-CN" altLang="en-US" sz="24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不小于</a:t>
                </a:r>
                <a:r>
                  <a:rPr lang="en-US" altLang="zh-CN" sz="24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。设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𝑻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仅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𝒌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个度为</a:t>
                </a: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的结点（</a:t>
                </a:r>
                <a:r>
                  <a:rPr lang="zh-CN" altLang="zh-CN" sz="24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即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𝒌</m:t>
                    </m:r>
                  </m:oMath>
                </a14:m>
                <a:r>
                  <a:rPr lang="zh-CN" altLang="zh-CN" sz="24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片叶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），则有：</a:t>
                </a:r>
              </a:p>
              <a:p>
                <a:pPr algn="ctr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  </m:t>
                      </m:r>
                      <m:r>
                        <a:rPr lang="en-US" altLang="zh-CN" sz="2400" b="1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𝟐</m:t>
                      </m:r>
                      <m:r>
                        <a:rPr lang="en-US" altLang="zh-CN" sz="2400" b="1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𝒎</m:t>
                      </m:r>
                      <m:r>
                        <a:rPr lang="en-US" altLang="zh-CN" sz="2400" b="1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 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𝒗</m:t>
                          </m:r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∈</m:t>
                          </m:r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𝑽</m:t>
                          </m:r>
                        </m:sub>
                        <m:sup/>
                        <m:e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𝒅𝒆𝒈</m:t>
                          </m:r>
                          <m:d>
                            <m:dPr>
                              <m:ctrlPr>
                                <a:rPr lang="zh-CN" altLang="zh-CN" sz="2400" b="1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𝒗</m:t>
                              </m:r>
                            </m:e>
                          </m:d>
                        </m:e>
                      </m:nary>
                      <m:r>
                        <a:rPr lang="en-US" altLang="zh-CN" sz="2400" b="1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≥</m:t>
                      </m:r>
                      <m:r>
                        <a:rPr lang="en-US" altLang="zh-CN" sz="2400" b="1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𝒌</m:t>
                      </m:r>
                      <m:r>
                        <a:rPr lang="en-US" altLang="zh-CN" sz="2400" b="1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sz="2400" b="1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𝟐</m:t>
                      </m:r>
                      <m:d>
                        <m:dPr>
                          <m:ctrlPr>
                            <a:rPr lang="zh-CN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𝒏</m:t>
                          </m:r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𝒌</m:t>
                          </m:r>
                        </m:e>
                      </m:d>
                      <m:r>
                        <a:rPr lang="en-US" altLang="zh-CN" sz="2400" b="1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b="1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𝟐</m:t>
                      </m:r>
                      <m:r>
                        <a:rPr lang="en-US" altLang="zh-CN" sz="2400" b="1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𝒏</m:t>
                      </m:r>
                      <m:r>
                        <a:rPr lang="en-US" altLang="zh-CN" sz="2400" b="1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sz="2400" b="1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𝒌</m:t>
                      </m:r>
                      <m:r>
                        <a:rPr lang="en-US" altLang="zh-CN" sz="2400" b="1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    </m:t>
                      </m:r>
                    </m:oMath>
                  </m:oMathPara>
                </a14:m>
                <a:endParaRPr lang="zh-CN" altLang="zh-CN" sz="24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   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由于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𝒎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𝒏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，故有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𝟐</m:t>
                    </m:r>
                    <m:d>
                      <m:d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𝒏</m:t>
                        </m:r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e>
                    </m:d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𝟐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𝒏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𝒌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，即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𝒌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𝟐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。定理得证。</a:t>
                </a: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BAE6868F-0D5A-42A4-A14A-C0409B50C6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1844824"/>
                <a:ext cx="8424936" cy="4249048"/>
              </a:xfrm>
              <a:prstGeom prst="rect">
                <a:avLst/>
              </a:prstGeom>
              <a:blipFill>
                <a:blip r:embed="rId4"/>
                <a:stretch>
                  <a:fillRect l="-1085" r="-1158" b="-17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日期占位符 3">
            <a:extLst>
              <a:ext uri="{FF2B5EF4-FFF2-40B4-BE49-F238E27FC236}">
                <a16:creationId xmlns:a16="http://schemas.microsoft.com/office/drawing/2014/main" id="{9E96C54C-15F3-4FC3-8A32-F509CE1C7987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45C166F-5761-4DAE-B4C3-AD102A5E371C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747" name="Rectangle 186">
            <a:extLst>
              <a:ext uri="{FF2B5EF4-FFF2-40B4-BE49-F238E27FC236}">
                <a16:creationId xmlns:a16="http://schemas.microsoft.com/office/drawing/2014/main" id="{DAF3BD02-AF38-41D0-A19B-2DCE54214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06400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>
                    <a:alpha val="89803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48" name="Text Box 2">
            <a:extLst>
              <a:ext uri="{FF2B5EF4-FFF2-40B4-BE49-F238E27FC236}">
                <a16:creationId xmlns:a16="http://schemas.microsoft.com/office/drawing/2014/main" id="{A7B3801F-B01E-4FC7-B3D6-8BCD4FFD15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0484" y="580112"/>
            <a:ext cx="61198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 题</a:t>
            </a:r>
          </a:p>
        </p:txBody>
      </p:sp>
      <p:pic>
        <p:nvPicPr>
          <p:cNvPr id="31749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F05A15FF-9128-4143-9CDA-4B8478EEF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561547"/>
            <a:ext cx="936675" cy="984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1750" name="矩形 2">
                <a:extLst>
                  <a:ext uri="{FF2B5EF4-FFF2-40B4-BE49-F238E27FC236}">
                    <a16:creationId xmlns:a16="http://schemas.microsoft.com/office/drawing/2014/main" id="{E12E1C7B-9033-48A0-B03C-87441D1C67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150" y="1598374"/>
                <a:ext cx="8892480" cy="4819781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2"/>
                  </a:buBlip>
                  <a:defRPr kumimoji="1" sz="2400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  <a:cs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楷体_GB2312" pitchFamily="49" charset="-122"/>
                  </a:defRPr>
                </a:lvl9pPr>
              </a:lstStyle>
              <a:p>
                <a:pPr>
                  <a:lnSpc>
                    <a:spcPts val="3600"/>
                  </a:lnSpc>
                  <a:spcBef>
                    <a:spcPct val="0"/>
                  </a:spcBef>
                  <a:buFontTx/>
                  <a:buNone/>
                </a:pPr>
                <a:r>
                  <a:rPr kumimoji="0" lang="en-US" altLang="zh-CN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  </a:t>
                </a:r>
                <a:r>
                  <a:rPr kumimoji="0" lang="en-US" altLang="zh-CN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【</a:t>
                </a:r>
                <a:r>
                  <a:rPr kumimoji="0" lang="zh-CN" altLang="en-US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例</a:t>
                </a:r>
                <a:r>
                  <a:rPr kumimoji="0" lang="en-US" altLang="zh-CN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】</a:t>
                </a:r>
                <a:r>
                  <a:rPr kumimoji="0" lang="zh-CN" altLang="en-US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已知树</a:t>
                </a:r>
                <a:r>
                  <a:rPr kumimoji="0" lang="en-US" altLang="zh-CN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T</a:t>
                </a:r>
                <a:r>
                  <a:rPr kumimoji="0" lang="zh-CN" altLang="en-US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中有</a:t>
                </a:r>
                <a:r>
                  <a:rPr kumimoji="0" lang="en-US" altLang="zh-CN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r>
                  <a:rPr kumimoji="0" lang="zh-CN" altLang="en-US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个度为</a:t>
                </a:r>
                <a:r>
                  <a:rPr kumimoji="0" lang="en-US" altLang="zh-CN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  <a:r>
                  <a:rPr kumimoji="0" lang="zh-CN" altLang="en-US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的结点，</a:t>
                </a:r>
                <a:r>
                  <a:rPr kumimoji="0" lang="en-US" altLang="zh-CN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  <a:r>
                  <a:rPr kumimoji="0" lang="zh-CN" altLang="en-US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个度为</a:t>
                </a:r>
                <a:r>
                  <a:rPr kumimoji="0" lang="en-US" altLang="zh-CN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  <a:r>
                  <a:rPr kumimoji="0" lang="zh-CN" altLang="en-US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的结点，其余的全是叶结点，试求出叶结点的数目并画出两个满足条件的非同构无向树模型。</a:t>
                </a:r>
                <a:endParaRPr kumimoji="0" lang="en-US" altLang="zh-CN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>
                  <a:lnSpc>
                    <a:spcPts val="3600"/>
                  </a:lnSpc>
                  <a:spcBef>
                    <a:spcPct val="0"/>
                  </a:spcBef>
                  <a:buFontTx/>
                  <a:buNone/>
                </a:pPr>
                <a:r>
                  <a:rPr kumimoji="0" lang="en-US" altLang="zh-CN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  </a:t>
                </a:r>
                <a:r>
                  <a:rPr kumimoji="0" lang="zh-CN" altLang="zh-CN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【分析】</a:t>
                </a:r>
                <a:r>
                  <a:rPr kumimoji="0" lang="zh-CN" altLang="pt-BR" b="1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利用握手定理和</a:t>
                </a:r>
                <a14:m>
                  <m:oMath xmlns:m="http://schemas.openxmlformats.org/officeDocument/2006/math">
                    <m:r>
                      <a:rPr lang="en-US" altLang="zh-CN" b="1" i="1" kern="1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𝒎</m:t>
                    </m:r>
                    <m:r>
                      <a:rPr lang="en-US" altLang="zh-CN" b="1" i="1" kern="1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1" i="1" kern="1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𝒏</m:t>
                    </m:r>
                    <m:r>
                      <a:rPr lang="en-US" altLang="zh-CN" b="1" i="1" kern="1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b="1" i="1" kern="1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kumimoji="0" lang="zh-CN" altLang="pt-BR" b="1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求解</a:t>
                </a:r>
                <a:r>
                  <a:rPr kumimoji="0" lang="zh-CN" altLang="en-US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。</a:t>
                </a:r>
                <a:endParaRPr kumimoji="0" lang="en-US" altLang="zh-CN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>
                  <a:buNone/>
                </a:pPr>
                <a:r>
                  <a:rPr lang="en-US" altLang="zh-CN" b="1" dirty="0"/>
                  <a:t>     </a:t>
                </a:r>
                <a:r>
                  <a:rPr lang="zh-CN" altLang="zh-CN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【解】设树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zh-CN" altLang="zh-CN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的结点数为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zh-CN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，边数为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zh-CN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，树叶数为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zh-CN" altLang="zh-CN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zh-CN" altLang="zh-CN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的总度数为：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     </m:t>
                      </m:r>
                    </m:oMath>
                  </m:oMathPara>
                </a14:m>
                <a:endParaRPr lang="zh-CN" altLang="zh-CN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>
                  <a:buNone/>
                </a:pPr>
                <a:r>
                  <a:rPr lang="zh-CN" altLang="zh-CN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由握手定理及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zh-CN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有：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⋅(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zh-CN" altLang="zh-CN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zh-CN" altLang="zh-CN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>
                  <a:buNone/>
                </a:pPr>
                <a:r>
                  <a:rPr lang="en-US" altLang="zh-CN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      </a:t>
                </a:r>
                <a:r>
                  <a:rPr lang="zh-CN" altLang="zh-CN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解得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zh-CN" altLang="zh-CN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，故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zh-CN" altLang="zh-CN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有</a:t>
                </a:r>
                <a:r>
                  <a:rPr lang="en-US" altLang="zh-CN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  <a:r>
                  <a:rPr lang="zh-CN" altLang="zh-CN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片树叶。</a:t>
                </a:r>
                <a:r>
                  <a:rPr lang="zh-CN" altLang="en-US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由此得到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zh-CN" altLang="en-US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中</a:t>
                </a:r>
                <a:r>
                  <a:rPr lang="zh-CN" altLang="zh-CN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的度</a:t>
                </a:r>
                <a:r>
                  <a:rPr lang="zh-CN" altLang="en-US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序列</a:t>
                </a:r>
                <a:r>
                  <a:rPr lang="zh-CN" altLang="zh-CN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为</a:t>
                </a:r>
                <a:r>
                  <a:rPr lang="zh-CN" altLang="en-US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：</a:t>
                </a:r>
                <a:endPara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algn="ctr">
                  <a:buNone/>
                </a:pPr>
                <a:r>
                  <a:rPr lang="en-US" altLang="zh-CN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r>
                  <a:rPr lang="zh-CN" altLang="zh-CN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，</a:t>
                </a:r>
                <a:r>
                  <a:rPr lang="en-US" altLang="zh-CN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r>
                  <a:rPr lang="zh-CN" altLang="zh-CN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，</a:t>
                </a:r>
                <a:r>
                  <a:rPr lang="en-US" altLang="zh-CN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r>
                  <a:rPr lang="zh-CN" altLang="zh-CN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，</a:t>
                </a:r>
                <a:r>
                  <a:rPr lang="en-US" altLang="zh-CN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  <a:r>
                  <a:rPr lang="zh-CN" altLang="zh-CN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，</a:t>
                </a:r>
                <a:r>
                  <a:rPr lang="en-US" altLang="zh-CN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  <a:r>
                  <a:rPr lang="zh-CN" altLang="zh-CN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，</a:t>
                </a:r>
                <a:r>
                  <a:rPr lang="en-US" altLang="zh-CN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  <a:endParaRPr kumimoji="0" lang="zh-CN" altLang="en-US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1750" name="矩形 2">
                <a:extLst>
                  <a:ext uri="{FF2B5EF4-FFF2-40B4-BE49-F238E27FC236}">
                    <a16:creationId xmlns:a16="http://schemas.microsoft.com/office/drawing/2014/main" id="{E12E1C7B-9033-48A0-B03C-87441D1C67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4150" y="1598374"/>
                <a:ext cx="8892480" cy="4819781"/>
              </a:xfrm>
              <a:prstGeom prst="rect">
                <a:avLst/>
              </a:prstGeom>
              <a:blipFill>
                <a:blip r:embed="rId4"/>
                <a:stretch>
                  <a:fillRect l="-1028" t="-506" b="-189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日期占位符 3">
            <a:extLst>
              <a:ext uri="{FF2B5EF4-FFF2-40B4-BE49-F238E27FC236}">
                <a16:creationId xmlns:a16="http://schemas.microsoft.com/office/drawing/2014/main" id="{9E96C54C-15F3-4FC3-8A32-F509CE1C7987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45C166F-5761-4DAE-B4C3-AD102A5E371C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747" name="Rectangle 186">
            <a:extLst>
              <a:ext uri="{FF2B5EF4-FFF2-40B4-BE49-F238E27FC236}">
                <a16:creationId xmlns:a16="http://schemas.microsoft.com/office/drawing/2014/main" id="{DAF3BD02-AF38-41D0-A19B-2DCE54214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06400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>
                    <a:alpha val="89803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48" name="Text Box 2">
            <a:extLst>
              <a:ext uri="{FF2B5EF4-FFF2-40B4-BE49-F238E27FC236}">
                <a16:creationId xmlns:a16="http://schemas.microsoft.com/office/drawing/2014/main" id="{A7B3801F-B01E-4FC7-B3D6-8BCD4FFD15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664" y="611133"/>
            <a:ext cx="61198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 题</a:t>
            </a:r>
          </a:p>
        </p:txBody>
      </p:sp>
      <p:pic>
        <p:nvPicPr>
          <p:cNvPr id="31749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F05A15FF-9128-4143-9CDA-4B8478EEF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4115" y="476250"/>
            <a:ext cx="1074960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1750" name="矩形 2">
                <a:extLst>
                  <a:ext uri="{FF2B5EF4-FFF2-40B4-BE49-F238E27FC236}">
                    <a16:creationId xmlns:a16="http://schemas.microsoft.com/office/drawing/2014/main" id="{E12E1C7B-9033-48A0-B03C-87441D1C67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249" y="1952698"/>
                <a:ext cx="8892480" cy="1431161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2"/>
                  </a:buBlip>
                  <a:defRPr kumimoji="1" sz="2400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  <a:cs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楷体_GB2312" pitchFamily="49" charset="-122"/>
                  </a:defRPr>
                </a:lvl9pPr>
              </a:lstStyle>
              <a:p>
                <a:pPr>
                  <a:lnSpc>
                    <a:spcPts val="36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dirty="0"/>
                  <a:t>     </a:t>
                </a:r>
                <a:r>
                  <a:rPr lang="en-US" altLang="zh-CN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【</a:t>
                </a:r>
                <a:r>
                  <a:rPr lang="zh-CN" altLang="en-US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解</a:t>
                </a:r>
                <a:r>
                  <a:rPr lang="en-US" altLang="zh-CN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</a:t>
                </a:r>
                <a:r>
                  <a:rPr lang="zh-CN" altLang="en-US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续</a:t>
                </a:r>
                <a:r>
                  <a:rPr lang="en-US" altLang="zh-CN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)】</a:t>
                </a:r>
                <a:r>
                  <a:rPr lang="zh-CN" altLang="en-US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下</a:t>
                </a:r>
                <a:r>
                  <a:rPr lang="zh-CN" altLang="zh-CN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图</a:t>
                </a:r>
                <a:r>
                  <a:rPr lang="zh-CN" altLang="en-US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为</a:t>
                </a:r>
                <a:r>
                  <a:rPr lang="zh-CN" altLang="zh-CN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两个满足上述度序列的树模型。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zh-CN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中</a:t>
                </a:r>
                <a:r>
                  <a:rPr lang="en-US" altLang="zh-CN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  <a:r>
                  <a:rPr lang="zh-CN" altLang="zh-CN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度结点仅与一个</a:t>
                </a:r>
                <a:r>
                  <a:rPr lang="en-US" altLang="zh-CN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  <a:r>
                  <a:rPr lang="zh-CN" altLang="zh-CN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度结点相邻，而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zh-CN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中</a:t>
                </a:r>
                <a:r>
                  <a:rPr lang="en-US" altLang="zh-CN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  <a:r>
                  <a:rPr lang="zh-CN" altLang="zh-CN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度结点与</a:t>
                </a:r>
                <a:r>
                  <a:rPr lang="en-US" altLang="zh-CN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  <a:r>
                  <a:rPr lang="zh-CN" altLang="zh-CN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个</a:t>
                </a:r>
                <a:r>
                  <a:rPr lang="en-US" altLang="zh-CN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  <a:r>
                  <a:rPr lang="zh-CN" altLang="zh-CN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度结点相邻，故两者不同构</a:t>
                </a:r>
                <a:r>
                  <a:rPr lang="zh-CN" altLang="en-US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。因此，它们</a:t>
                </a:r>
                <a:r>
                  <a:rPr lang="zh-CN" altLang="zh-CN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为所求</a:t>
                </a:r>
                <a:r>
                  <a:rPr lang="zh-CN" altLang="en-US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图模型</a:t>
                </a:r>
                <a:r>
                  <a:rPr lang="zh-CN" altLang="zh-CN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。</a:t>
                </a:r>
                <a:endParaRPr kumimoji="0" lang="zh-CN" altLang="en-US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1750" name="矩形 2">
                <a:extLst>
                  <a:ext uri="{FF2B5EF4-FFF2-40B4-BE49-F238E27FC236}">
                    <a16:creationId xmlns:a16="http://schemas.microsoft.com/office/drawing/2014/main" id="{E12E1C7B-9033-48A0-B03C-87441D1C67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9249" y="1952698"/>
                <a:ext cx="8892480" cy="1431161"/>
              </a:xfrm>
              <a:prstGeom prst="rect">
                <a:avLst/>
              </a:prstGeom>
              <a:blipFill>
                <a:blip r:embed="rId4"/>
                <a:stretch>
                  <a:fillRect l="-1028" t="-1702" r="-206" b="-723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1751" name="图片 1">
            <a:extLst>
              <a:ext uri="{FF2B5EF4-FFF2-40B4-BE49-F238E27FC236}">
                <a16:creationId xmlns:a16="http://schemas.microsoft.com/office/drawing/2014/main" id="{DB8CD410-0578-4D42-AE16-590888FFCD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249" y="3811024"/>
            <a:ext cx="8830071" cy="2047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87916113"/>
      </p:ext>
    </p:extLst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日期占位符 3">
            <a:extLst>
              <a:ext uri="{FF2B5EF4-FFF2-40B4-BE49-F238E27FC236}">
                <a16:creationId xmlns:a16="http://schemas.microsoft.com/office/drawing/2014/main" id="{2555FC25-C96E-49D9-9CD8-B638313E8A35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6A0A2D0-ADC8-4D8A-9408-B71F703A7888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71" name="页脚占位符 4">
            <a:extLst>
              <a:ext uri="{FF2B5EF4-FFF2-40B4-BE49-F238E27FC236}">
                <a16:creationId xmlns:a16="http://schemas.microsoft.com/office/drawing/2014/main" id="{5F3E0A24-9E2D-4A7F-9B4A-5C04BFFDB5E5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32772" name="灯片编号占位符 5">
            <a:extLst>
              <a:ext uri="{FF2B5EF4-FFF2-40B4-BE49-F238E27FC236}">
                <a16:creationId xmlns:a16="http://schemas.microsoft.com/office/drawing/2014/main" id="{42C60785-30E5-4F66-9735-4864929FEC62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D1A6023B-3D2A-435A-90E3-FDA39913B64E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21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74" name="Rectangle 3">
            <a:extLst>
              <a:ext uri="{FF2B5EF4-FFF2-40B4-BE49-F238E27FC236}">
                <a16:creationId xmlns:a16="http://schemas.microsoft.com/office/drawing/2014/main" id="{2D4EBDEF-6B88-404A-BB1F-CEC71B3756A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555875" y="2492375"/>
            <a:ext cx="4320381" cy="2952849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55000"/>
              </a:lnSpc>
              <a:buFont typeface="Wingdings" panose="05000000000000000000" pitchFamily="2" charset="2"/>
              <a:buChar char="4"/>
            </a:pPr>
            <a:r>
              <a:rPr lang="zh-CN" altLang="en-US" sz="36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无向树及其性质</a:t>
            </a:r>
          </a:p>
          <a:p>
            <a:pPr eaLnBrk="1" hangingPunct="1">
              <a:lnSpc>
                <a:spcPct val="155000"/>
              </a:lnSpc>
              <a:buFont typeface="Wingdings" panose="05000000000000000000" pitchFamily="2" charset="2"/>
              <a:buChar char="J"/>
            </a:pPr>
            <a:r>
              <a:rPr lang="zh-CN" altLang="en-US" sz="3600" b="1" dirty="0"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无向图的生成树</a:t>
            </a:r>
          </a:p>
          <a:p>
            <a:pPr eaLnBrk="1" hangingPunct="1">
              <a:lnSpc>
                <a:spcPct val="155000"/>
              </a:lnSpc>
              <a:buFont typeface="Wingdings" panose="05000000000000000000" pitchFamily="2" charset="2"/>
              <a:buChar char="4"/>
            </a:pPr>
            <a:r>
              <a:rPr lang="zh-CN" altLang="en-US" sz="36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最小生成树模型</a:t>
            </a:r>
          </a:p>
        </p:txBody>
      </p:sp>
      <p:pic>
        <p:nvPicPr>
          <p:cNvPr id="32775" name="Picture 7" descr="C:\Program Files\Microsoft Office\MEDIA\CAGCAT10\j0292982.wmf">
            <a:extLst>
              <a:ext uri="{FF2B5EF4-FFF2-40B4-BE49-F238E27FC236}">
                <a16:creationId xmlns:a16="http://schemas.microsoft.com/office/drawing/2014/main" id="{DC6AB378-4F6A-4FF2-9963-6A6C07344E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575" y="4738688"/>
            <a:ext cx="1371600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2">
            <a:extLst>
              <a:ext uri="{FF2B5EF4-FFF2-40B4-BE49-F238E27FC236}">
                <a16:creationId xmlns:a16="http://schemas.microsoft.com/office/drawing/2014/main" id="{C9550F39-873A-4A64-8A02-511446487B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836613"/>
            <a:ext cx="7086600" cy="83099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+mj-ea"/>
                <a:ea typeface="+mj-ea"/>
              </a:rPr>
              <a:t> 无向树与生成树</a:t>
            </a:r>
          </a:p>
        </p:txBody>
      </p:sp>
    </p:spTree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日期占位符 3">
            <a:extLst>
              <a:ext uri="{FF2B5EF4-FFF2-40B4-BE49-F238E27FC236}">
                <a16:creationId xmlns:a16="http://schemas.microsoft.com/office/drawing/2014/main" id="{F3F39693-0D8C-437E-A3FD-B9BA9F048F4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5B6A1C1-39EC-42EF-85E9-F893F79A9260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3795" name="Text Box 2">
            <a:extLst>
              <a:ext uri="{FF2B5EF4-FFF2-40B4-BE49-F238E27FC236}">
                <a16:creationId xmlns:a16="http://schemas.microsoft.com/office/drawing/2014/main" id="{F080FC13-BB97-4454-96A5-E877C9C295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858838"/>
            <a:ext cx="61198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生成树的概念</a:t>
            </a:r>
          </a:p>
        </p:txBody>
      </p:sp>
      <p:pic>
        <p:nvPicPr>
          <p:cNvPr id="33796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0B250652-3134-4FBA-9D1F-D342094A8E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513" y="476250"/>
            <a:ext cx="1233487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E15D34A-91FB-442F-B58F-F8B68FA44060}"/>
              </a:ext>
            </a:extLst>
          </p:cNvPr>
          <p:cNvSpPr/>
          <p:nvPr/>
        </p:nvSpPr>
        <p:spPr>
          <a:xfrm>
            <a:off x="539552" y="2145363"/>
            <a:ext cx="8280920" cy="3896516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zh-CN" altLang="zh-CN" sz="2800" b="1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树模型是大自然赐予的一种</a:t>
            </a:r>
            <a:r>
              <a:rPr lang="zh-CN" altLang="zh-CN" sz="2800" b="1" kern="100" dirty="0">
                <a:solidFill>
                  <a:srgbClr val="0000FF"/>
                </a:solidFill>
                <a:cs typeface="Times New Roman" panose="02020603050405020304" pitchFamily="18" charset="0"/>
              </a:rPr>
              <a:t>最简洁</a:t>
            </a:r>
            <a:r>
              <a:rPr lang="zh-CN" altLang="en-US" sz="2800" b="1" kern="100" dirty="0">
                <a:solidFill>
                  <a:srgbClr val="0000FF"/>
                </a:solidFill>
                <a:cs typeface="Times New Roman" panose="02020603050405020304" pitchFamily="18" charset="0"/>
              </a:rPr>
              <a:t>、</a:t>
            </a:r>
            <a:r>
              <a:rPr lang="zh-CN" altLang="zh-CN" sz="2800" b="1" kern="100" dirty="0">
                <a:solidFill>
                  <a:srgbClr val="0000FF"/>
                </a:solidFill>
                <a:cs typeface="Times New Roman" panose="02020603050405020304" pitchFamily="18" charset="0"/>
              </a:rPr>
              <a:t>最高效</a:t>
            </a:r>
            <a:r>
              <a:rPr lang="zh-CN" altLang="zh-CN" sz="2800" b="1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的连通无向图，任意两个结点之间</a:t>
            </a:r>
            <a:r>
              <a:rPr lang="zh-CN" altLang="zh-CN" sz="2800" b="1" kern="100" dirty="0">
                <a:solidFill>
                  <a:srgbClr val="0000FF"/>
                </a:solidFill>
                <a:cs typeface="Times New Roman" panose="02020603050405020304" pitchFamily="18" charset="0"/>
              </a:rPr>
              <a:t>有且仅有一条路径</a:t>
            </a:r>
            <a:r>
              <a:rPr lang="zh-CN" altLang="en-US" sz="2800" b="1" kern="100" dirty="0">
                <a:solidFill>
                  <a:srgbClr val="0000FF"/>
                </a:solidFill>
                <a:cs typeface="Times New Roman" panose="02020603050405020304" pitchFamily="18" charset="0"/>
              </a:rPr>
              <a:t>进行连接</a:t>
            </a:r>
            <a:r>
              <a:rPr lang="zh-CN" altLang="zh-CN" sz="2800" b="1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。</a:t>
            </a:r>
            <a:endParaRPr lang="en-US" altLang="zh-CN" sz="2800" b="1" kern="1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800" b="1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   </a:t>
            </a:r>
            <a:r>
              <a:rPr lang="zh-CN" altLang="zh-CN" sz="2800" b="1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因此，在对一般连通无向图进行化简的时候，</a:t>
            </a:r>
            <a:r>
              <a:rPr lang="zh-CN" altLang="en-US" sz="2800" b="1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通常</a:t>
            </a:r>
            <a:r>
              <a:rPr lang="zh-CN" altLang="zh-CN" sz="2800" b="1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会删除图的一些边</a:t>
            </a:r>
            <a:r>
              <a:rPr lang="zh-CN" altLang="zh-CN" sz="2800" b="1" kern="100" dirty="0">
                <a:solidFill>
                  <a:srgbClr val="0000FF"/>
                </a:solidFill>
                <a:cs typeface="Times New Roman" panose="02020603050405020304" pitchFamily="18" charset="0"/>
              </a:rPr>
              <a:t>将其转化为树结构</a:t>
            </a:r>
            <a:r>
              <a:rPr lang="zh-CN" altLang="zh-CN" sz="2800" b="1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的生成子图。这种生成子图称为无向图的</a:t>
            </a:r>
            <a:r>
              <a:rPr lang="zh-CN" altLang="zh-CN" sz="2800" b="1" kern="100" dirty="0">
                <a:solidFill>
                  <a:srgbClr val="0000FF"/>
                </a:solidFill>
                <a:cs typeface="Times New Roman" panose="02020603050405020304" pitchFamily="18" charset="0"/>
              </a:rPr>
              <a:t>生成树</a:t>
            </a:r>
            <a:r>
              <a:rPr lang="zh-CN" altLang="en-US" sz="2800" b="1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。</a:t>
            </a:r>
            <a:endParaRPr lang="zh-CN" altLang="zh-CN" sz="2800" b="1" kern="1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012796"/>
      </p:ext>
    </p:extLst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日期占位符 3">
            <a:extLst>
              <a:ext uri="{FF2B5EF4-FFF2-40B4-BE49-F238E27FC236}">
                <a16:creationId xmlns:a16="http://schemas.microsoft.com/office/drawing/2014/main" id="{F3F39693-0D8C-437E-A3FD-B9BA9F048F4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5B6A1C1-39EC-42EF-85E9-F893F79A9260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3795" name="Text Box 2">
            <a:extLst>
              <a:ext uri="{FF2B5EF4-FFF2-40B4-BE49-F238E27FC236}">
                <a16:creationId xmlns:a16="http://schemas.microsoft.com/office/drawing/2014/main" id="{F080FC13-BB97-4454-96A5-E877C9C295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858838"/>
            <a:ext cx="61198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生成树的定义</a:t>
            </a:r>
          </a:p>
        </p:txBody>
      </p:sp>
      <p:pic>
        <p:nvPicPr>
          <p:cNvPr id="33796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0B250652-3134-4FBA-9D1F-D342094A8E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513" y="476250"/>
            <a:ext cx="1233487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99DCE300-67D3-4114-8DDE-F6D8CA7AB1EE}"/>
                  </a:ext>
                </a:extLst>
              </p:cNvPr>
              <p:cNvSpPr/>
              <p:nvPr/>
            </p:nvSpPr>
            <p:spPr>
              <a:xfrm>
                <a:off x="395536" y="2060848"/>
                <a:ext cx="8424936" cy="3896516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800" b="1" kern="100" dirty="0"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</a:t>
                </a:r>
                <a:r>
                  <a:rPr lang="zh-CN" altLang="zh-CN" sz="28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【定义】</a:t>
                </a:r>
                <a:r>
                  <a:rPr lang="zh-CN" altLang="en-US" sz="28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对于任意给定的无向图模型</a:t>
                </a:r>
                <a14:m>
                  <m:oMath xmlns:m="http://schemas.openxmlformats.org/officeDocument/2006/math">
                    <m:r>
                      <a:rPr lang="en-US" altLang="zh-CN" sz="28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8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8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8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</m:t>
                        </m:r>
                        <m:r>
                          <a:rPr lang="en-US" altLang="zh-CN" sz="28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8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𝑬</m:t>
                        </m:r>
                      </m:e>
                    </m:d>
                    <m:r>
                      <a:rPr lang="en-US" altLang="zh-CN" sz="28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sz="28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，如果</a:t>
                </a:r>
                <a14:m>
                  <m:oMath xmlns:m="http://schemas.openxmlformats.org/officeDocument/2006/math">
                    <m:r>
                      <a:rPr lang="en-US" altLang="zh-CN" sz="28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8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的某个生成子图是</a:t>
                </a:r>
                <a:r>
                  <a:rPr lang="zh-CN" altLang="en-US" sz="28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一个</a:t>
                </a:r>
                <a:r>
                  <a:rPr lang="zh-CN" altLang="zh-CN" sz="28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树</a:t>
                </a:r>
                <a:r>
                  <a:rPr lang="zh-CN" altLang="en-US" sz="28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模型</a:t>
                </a:r>
                <a:r>
                  <a:rPr lang="zh-CN" altLang="zh-CN" sz="28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，则称该树为</a:t>
                </a:r>
                <a14:m>
                  <m:oMath xmlns:m="http://schemas.openxmlformats.org/officeDocument/2006/math">
                    <m:r>
                      <a:rPr lang="en-US" altLang="zh-CN" sz="28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8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的一</a:t>
                </a:r>
                <a:r>
                  <a:rPr lang="zh-CN" altLang="en-US" sz="28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颗</a:t>
                </a:r>
                <a:r>
                  <a:rPr lang="zh-CN" altLang="zh-CN" sz="28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生成树</a:t>
                </a:r>
                <a:r>
                  <a:rPr lang="zh-CN" altLang="zh-CN" sz="28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𝑻</m:t>
                        </m:r>
                      </m:e>
                      <m:sub>
                        <m:r>
                          <a:rPr lang="en-US" altLang="zh-CN" sz="28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sub>
                    </m:sSub>
                  </m:oMath>
                </a14:m>
                <a:r>
                  <a:rPr lang="zh-CN" altLang="zh-CN" sz="28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28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8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</a:t>
                </a:r>
                <a:r>
                  <a:rPr lang="zh-CN" altLang="zh-CN" sz="28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生成树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𝑻</m:t>
                        </m:r>
                      </m:e>
                      <m:sub>
                        <m:r>
                          <a:rPr lang="en-US" altLang="zh-CN" sz="28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sub>
                    </m:sSub>
                  </m:oMath>
                </a14:m>
                <a:r>
                  <a:rPr lang="zh-CN" altLang="zh-CN" sz="28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中的每条边均称为</a:t>
                </a:r>
                <a:r>
                  <a:rPr lang="zh-CN" altLang="zh-CN" sz="28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树枝</a:t>
                </a:r>
                <a:r>
                  <a:rPr lang="zh-CN" altLang="zh-CN" sz="28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；</a:t>
                </a:r>
                <a:endParaRPr lang="en-US" altLang="zh-CN" sz="28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8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altLang="zh-CN" sz="28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8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中不在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𝑻</m:t>
                        </m:r>
                      </m:e>
                      <m:sub>
                        <m:r>
                          <a:rPr lang="en-US" altLang="zh-CN" sz="28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sub>
                    </m:sSub>
                  </m:oMath>
                </a14:m>
                <a:r>
                  <a:rPr lang="zh-CN" altLang="zh-CN" sz="28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中的每条边均称为</a:t>
                </a:r>
                <a:r>
                  <a:rPr lang="zh-CN" altLang="zh-CN" sz="28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弦</a:t>
                </a:r>
                <a:r>
                  <a:rPr lang="zh-CN" altLang="zh-CN" sz="28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；</a:t>
                </a:r>
                <a:endParaRPr lang="en-US" altLang="zh-CN" sz="28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8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𝑻</m:t>
                        </m:r>
                      </m:e>
                      <m:sub>
                        <m:r>
                          <a:rPr lang="en-US" altLang="zh-CN" sz="28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sub>
                    </m:sSub>
                  </m:oMath>
                </a14:m>
                <a:r>
                  <a:rPr lang="zh-CN" altLang="zh-CN" sz="28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的所有弦</a:t>
                </a:r>
                <a:r>
                  <a:rPr lang="zh-CN" altLang="en-US" sz="28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组成</a:t>
                </a:r>
                <a:r>
                  <a:rPr lang="zh-CN" altLang="zh-CN" sz="28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的集合称为生成树的</a:t>
                </a:r>
                <a:r>
                  <a:rPr lang="zh-CN" altLang="zh-CN" sz="28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补</a:t>
                </a:r>
                <a:r>
                  <a:rPr lang="zh-CN" altLang="zh-CN" sz="28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99DCE300-67D3-4114-8DDE-F6D8CA7AB1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2060848"/>
                <a:ext cx="8424936" cy="3896516"/>
              </a:xfrm>
              <a:prstGeom prst="rect">
                <a:avLst/>
              </a:prstGeom>
              <a:blipFill>
                <a:blip r:embed="rId4"/>
                <a:stretch>
                  <a:fillRect l="-1520" r="-1447" b="-28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日期占位符 3">
            <a:extLst>
              <a:ext uri="{FF2B5EF4-FFF2-40B4-BE49-F238E27FC236}">
                <a16:creationId xmlns:a16="http://schemas.microsoft.com/office/drawing/2014/main" id="{F3F39693-0D8C-437E-A3FD-B9BA9F048F4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5B6A1C1-39EC-42EF-85E9-F893F79A9260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3795" name="Text Box 2">
            <a:extLst>
              <a:ext uri="{FF2B5EF4-FFF2-40B4-BE49-F238E27FC236}">
                <a16:creationId xmlns:a16="http://schemas.microsoft.com/office/drawing/2014/main" id="{F080FC13-BB97-4454-96A5-E877C9C295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858838"/>
            <a:ext cx="61198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生成树的定义</a:t>
            </a:r>
          </a:p>
        </p:txBody>
      </p:sp>
      <p:pic>
        <p:nvPicPr>
          <p:cNvPr id="33796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0B250652-3134-4FBA-9D1F-D342094A8E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376" y="600189"/>
            <a:ext cx="1115616" cy="1173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99DCE300-67D3-4114-8DDE-F6D8CA7AB1EE}"/>
                  </a:ext>
                </a:extLst>
              </p:cNvPr>
              <p:cNvSpPr/>
              <p:nvPr/>
            </p:nvSpPr>
            <p:spPr>
              <a:xfrm>
                <a:off x="395536" y="2060848"/>
                <a:ext cx="8424936" cy="3896516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800" b="1" kern="100" dirty="0"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</a:t>
                </a:r>
                <a:r>
                  <a:rPr lang="zh-CN" altLang="zh-CN" sz="28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【定义】</a:t>
                </a:r>
                <a:r>
                  <a:rPr lang="zh-CN" altLang="en-US" sz="28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对于任意给定的无向图模型</a:t>
                </a:r>
                <a14:m>
                  <m:oMath xmlns:m="http://schemas.openxmlformats.org/officeDocument/2006/math">
                    <m:r>
                      <a:rPr lang="en-US" altLang="zh-CN" sz="28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8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8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8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</m:t>
                        </m:r>
                        <m:r>
                          <a:rPr lang="en-US" altLang="zh-CN" sz="28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8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𝑬</m:t>
                        </m:r>
                      </m:e>
                    </m:d>
                    <m:r>
                      <a:rPr lang="en-US" altLang="zh-CN" sz="28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sz="28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，如果</a:t>
                </a:r>
                <a14:m>
                  <m:oMath xmlns:m="http://schemas.openxmlformats.org/officeDocument/2006/math">
                    <m:r>
                      <a:rPr lang="en-US" altLang="zh-CN" sz="28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8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的某个生成子图是</a:t>
                </a:r>
                <a:r>
                  <a:rPr lang="zh-CN" altLang="en-US" sz="28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一个</a:t>
                </a:r>
                <a:r>
                  <a:rPr lang="zh-CN" altLang="zh-CN" sz="28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树</a:t>
                </a:r>
                <a:r>
                  <a:rPr lang="zh-CN" altLang="en-US" sz="28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模型</a:t>
                </a:r>
                <a:r>
                  <a:rPr lang="zh-CN" altLang="zh-CN" sz="28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，则称该树为</a:t>
                </a:r>
                <a14:m>
                  <m:oMath xmlns:m="http://schemas.openxmlformats.org/officeDocument/2006/math">
                    <m:r>
                      <a:rPr lang="en-US" altLang="zh-CN" sz="28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8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的一</a:t>
                </a:r>
                <a:r>
                  <a:rPr lang="zh-CN" altLang="en-US" sz="28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颗</a:t>
                </a:r>
                <a:r>
                  <a:rPr lang="zh-CN" altLang="zh-CN" sz="28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生成树</a:t>
                </a:r>
                <a:r>
                  <a:rPr lang="zh-CN" altLang="zh-CN" sz="28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𝑻</m:t>
                        </m:r>
                      </m:e>
                      <m:sub>
                        <m:r>
                          <a:rPr lang="en-US" altLang="zh-CN" sz="28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sub>
                    </m:sSub>
                  </m:oMath>
                </a14:m>
                <a:r>
                  <a:rPr lang="zh-CN" altLang="zh-CN" sz="28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28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8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</a:t>
                </a:r>
                <a:r>
                  <a:rPr lang="zh-CN" altLang="zh-CN" sz="28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生成树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𝑻</m:t>
                        </m:r>
                      </m:e>
                      <m:sub>
                        <m:r>
                          <a:rPr lang="en-US" altLang="zh-CN" sz="28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sub>
                    </m:sSub>
                  </m:oMath>
                </a14:m>
                <a:r>
                  <a:rPr lang="zh-CN" altLang="zh-CN" sz="28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中的每条边均称为</a:t>
                </a:r>
                <a:r>
                  <a:rPr lang="zh-CN" altLang="zh-CN" sz="28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树枝</a:t>
                </a:r>
                <a:r>
                  <a:rPr lang="zh-CN" altLang="zh-CN" sz="28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；</a:t>
                </a:r>
                <a:endParaRPr lang="en-US" altLang="zh-CN" sz="28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8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altLang="zh-CN" sz="28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8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中不在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𝑻</m:t>
                        </m:r>
                      </m:e>
                      <m:sub>
                        <m:r>
                          <a:rPr lang="en-US" altLang="zh-CN" sz="28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sub>
                    </m:sSub>
                  </m:oMath>
                </a14:m>
                <a:r>
                  <a:rPr lang="zh-CN" altLang="zh-CN" sz="28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中的每条边均称为</a:t>
                </a:r>
                <a:r>
                  <a:rPr lang="zh-CN" altLang="zh-CN" sz="28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弦</a:t>
                </a:r>
                <a:r>
                  <a:rPr lang="zh-CN" altLang="zh-CN" sz="28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；</a:t>
                </a:r>
                <a:endParaRPr lang="en-US" altLang="zh-CN" sz="28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8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𝑻</m:t>
                        </m:r>
                      </m:e>
                      <m:sub>
                        <m:r>
                          <a:rPr lang="en-US" altLang="zh-CN" sz="28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sub>
                    </m:sSub>
                  </m:oMath>
                </a14:m>
                <a:r>
                  <a:rPr lang="zh-CN" altLang="zh-CN" sz="28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的所有弦</a:t>
                </a:r>
                <a:r>
                  <a:rPr lang="zh-CN" altLang="en-US" sz="28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组成</a:t>
                </a:r>
                <a:r>
                  <a:rPr lang="zh-CN" altLang="zh-CN" sz="28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的集合称为生成树的</a:t>
                </a:r>
                <a:r>
                  <a:rPr lang="zh-CN" altLang="zh-CN" sz="28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补</a:t>
                </a:r>
                <a:r>
                  <a:rPr lang="zh-CN" altLang="zh-CN" sz="28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99DCE300-67D3-4114-8DDE-F6D8CA7AB1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2060848"/>
                <a:ext cx="8424936" cy="3896516"/>
              </a:xfrm>
              <a:prstGeom prst="rect">
                <a:avLst/>
              </a:prstGeom>
              <a:blipFill>
                <a:blip r:embed="rId4"/>
                <a:stretch>
                  <a:fillRect l="-1520" r="-1447" b="-28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9936971"/>
      </p:ext>
    </p:extLst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日期占位符 3">
            <a:extLst>
              <a:ext uri="{FF2B5EF4-FFF2-40B4-BE49-F238E27FC236}">
                <a16:creationId xmlns:a16="http://schemas.microsoft.com/office/drawing/2014/main" id="{AE43B5A7-4523-4E52-8CDF-19250893CDEF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C6805D5-D9FB-4C5E-93B3-28F04FAF6F9E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4819" name="Text Box 2">
            <a:extLst>
              <a:ext uri="{FF2B5EF4-FFF2-40B4-BE49-F238E27FC236}">
                <a16:creationId xmlns:a16="http://schemas.microsoft.com/office/drawing/2014/main" id="{B369788C-97DE-4853-AF9A-096AAADCC9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92150"/>
            <a:ext cx="61198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 题</a:t>
            </a:r>
          </a:p>
        </p:txBody>
      </p:sp>
      <p:pic>
        <p:nvPicPr>
          <p:cNvPr id="34820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164A8401-4C8F-44C3-994F-432B897501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513" y="476250"/>
            <a:ext cx="1233487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FFD75DB0-7FA6-463F-9A3C-CB1E657B97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06" y="3832900"/>
            <a:ext cx="7730341" cy="22799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D92F3050-84DC-4E78-98DE-F1988FD145CA}"/>
                  </a:ext>
                </a:extLst>
              </p:cNvPr>
              <p:cNvSpPr/>
              <p:nvPr/>
            </p:nvSpPr>
            <p:spPr>
              <a:xfrm>
                <a:off x="323528" y="1941145"/>
                <a:ext cx="8712968" cy="1681294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:pPr indent="266700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 </a:t>
                </a:r>
                <a:r>
                  <a:rPr lang="zh-CN" altLang="en-US" sz="2400" b="1" kern="1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如下</a:t>
                </a:r>
                <a:r>
                  <a:rPr lang="zh-CN" altLang="zh-CN" sz="2400" b="1" kern="1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图所示</a:t>
                </a:r>
                <a:r>
                  <a:rPr lang="zh-CN" altLang="en-US" sz="2400" b="1" kern="1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，</a:t>
                </a:r>
                <a:r>
                  <a:rPr lang="zh-CN" altLang="zh-CN" sz="2400" b="1" kern="1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zh-CN" altLang="en-US" sz="2400" b="1" kern="1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分别是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2400" b="1" kern="1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的</a:t>
                </a:r>
                <a:r>
                  <a:rPr lang="zh-CN" altLang="zh-CN" sz="2400" b="1" kern="1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两棵不同构的生成树</a:t>
                </a:r>
                <a:r>
                  <a:rPr lang="zh-CN" altLang="en-US" sz="2400" b="1" kern="1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。</a:t>
                </a:r>
                <a:r>
                  <a:rPr lang="zh-CN" altLang="zh-CN" sz="2400" b="1" kern="1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对于生成树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，边</a:t>
                </a:r>
                <a:r>
                  <a:rPr lang="en-US" altLang="zh-CN" sz="2400" b="1" kern="1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e</a:t>
                </a:r>
                <a:r>
                  <a:rPr lang="en-US" altLang="zh-CN" sz="2400" b="1" kern="100" baseline="-250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2</a:t>
                </a:r>
                <a:r>
                  <a:rPr lang="en-US" altLang="zh-CN" sz="2400" b="1" kern="1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, e</a:t>
                </a:r>
                <a:r>
                  <a:rPr lang="en-US" altLang="zh-CN" sz="2400" b="1" kern="100" baseline="-250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3</a:t>
                </a:r>
                <a:r>
                  <a:rPr lang="en-US" altLang="zh-CN" sz="2400" b="1" kern="1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, e</a:t>
                </a:r>
                <a:r>
                  <a:rPr lang="en-US" altLang="zh-CN" sz="2400" b="1" kern="100" baseline="-250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4</a:t>
                </a:r>
                <a:r>
                  <a:rPr lang="en-US" altLang="zh-CN" sz="2400" b="1" kern="1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, e</a:t>
                </a:r>
                <a:r>
                  <a:rPr lang="en-US" altLang="zh-CN" sz="2400" b="1" kern="100" baseline="-250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5</a:t>
                </a:r>
                <a:r>
                  <a:rPr lang="zh-CN" altLang="zh-CN" sz="2400" b="1" kern="1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是其树枝，</a:t>
                </a:r>
                <a:r>
                  <a:rPr lang="en-US" altLang="zh-CN" sz="2400" b="1" kern="1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e</a:t>
                </a:r>
                <a:r>
                  <a:rPr lang="en-US" altLang="zh-CN" sz="2400" b="1" kern="100" baseline="-250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1</a:t>
                </a:r>
                <a:r>
                  <a:rPr lang="en-US" altLang="zh-CN" sz="2400" b="1" kern="1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, e</a:t>
                </a:r>
                <a:r>
                  <a:rPr lang="en-US" altLang="zh-CN" sz="2400" b="1" kern="100" baseline="-250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6</a:t>
                </a:r>
                <a:r>
                  <a:rPr lang="zh-CN" altLang="zh-CN" sz="2400" b="1" kern="1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是其弦；对于生成树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，</a:t>
                </a:r>
                <a:r>
                  <a:rPr lang="zh-CN" altLang="en-US" sz="2400" b="1" kern="1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边</a:t>
                </a:r>
                <a:r>
                  <a:rPr lang="en-US" altLang="zh-CN" sz="2400" b="1" kern="1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e</a:t>
                </a:r>
                <a:r>
                  <a:rPr lang="en-US" altLang="zh-CN" sz="2400" b="1" kern="100" baseline="-250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1</a:t>
                </a:r>
                <a:r>
                  <a:rPr lang="en-US" altLang="zh-CN" sz="2400" b="1" kern="1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, e</a:t>
                </a:r>
                <a:r>
                  <a:rPr lang="en-US" altLang="zh-CN" sz="2400" b="1" kern="100" baseline="-250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2</a:t>
                </a:r>
                <a:r>
                  <a:rPr lang="en-US" altLang="zh-CN" sz="2400" b="1" kern="1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, e</a:t>
                </a:r>
                <a:r>
                  <a:rPr lang="en-US" altLang="zh-CN" sz="2400" b="1" kern="100" baseline="-250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4</a:t>
                </a:r>
                <a:r>
                  <a:rPr lang="en-US" altLang="zh-CN" sz="2400" b="1" kern="1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, e</a:t>
                </a:r>
                <a:r>
                  <a:rPr lang="en-US" altLang="zh-CN" sz="2400" b="1" kern="100" baseline="-250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5</a:t>
                </a:r>
                <a:r>
                  <a:rPr lang="zh-CN" altLang="zh-CN" sz="2400" b="1" kern="1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是其树枝，</a:t>
                </a:r>
                <a:r>
                  <a:rPr lang="en-US" altLang="zh-CN" sz="2400" b="1" kern="1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e</a:t>
                </a:r>
                <a:r>
                  <a:rPr lang="en-US" altLang="zh-CN" sz="2400" b="1" kern="100" baseline="-250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3</a:t>
                </a:r>
                <a:r>
                  <a:rPr lang="en-US" altLang="zh-CN" sz="2400" b="1" kern="1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, e</a:t>
                </a:r>
                <a:r>
                  <a:rPr lang="en-US" altLang="zh-CN" sz="2400" b="1" kern="100" baseline="-250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6</a:t>
                </a:r>
                <a:r>
                  <a:rPr lang="zh-CN" altLang="zh-CN" sz="2400" b="1" kern="1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是其弦。</a:t>
                </a: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D92F3050-84DC-4E78-98DE-F1988FD145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1941145"/>
                <a:ext cx="8712968" cy="1681294"/>
              </a:xfrm>
              <a:prstGeom prst="rect">
                <a:avLst/>
              </a:prstGeom>
              <a:blipFill>
                <a:blip r:embed="rId5"/>
                <a:stretch>
                  <a:fillRect l="-1050" r="-1120"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7574738"/>
      </p:ext>
    </p:extLst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日期占位符 3">
            <a:extLst>
              <a:ext uri="{FF2B5EF4-FFF2-40B4-BE49-F238E27FC236}">
                <a16:creationId xmlns:a16="http://schemas.microsoft.com/office/drawing/2014/main" id="{AE43B5A7-4523-4E52-8CDF-19250893CDEF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C6805D5-D9FB-4C5E-93B3-28F04FAF6F9E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4819" name="Text Box 2">
            <a:extLst>
              <a:ext uri="{FF2B5EF4-FFF2-40B4-BE49-F238E27FC236}">
                <a16:creationId xmlns:a16="http://schemas.microsoft.com/office/drawing/2014/main" id="{B369788C-97DE-4853-AF9A-096AAADCC9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92150"/>
            <a:ext cx="61198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 题</a:t>
            </a:r>
          </a:p>
        </p:txBody>
      </p:sp>
      <p:pic>
        <p:nvPicPr>
          <p:cNvPr id="34820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164A8401-4C8F-44C3-994F-432B897501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513" y="476250"/>
            <a:ext cx="1233487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1" name="Picture 7" descr="QQ截图20150920172251">
            <a:extLst>
              <a:ext uri="{FF2B5EF4-FFF2-40B4-BE49-F238E27FC236}">
                <a16:creationId xmlns:a16="http://schemas.microsoft.com/office/drawing/2014/main" id="{74673BDF-F4C0-46AB-B9D1-511E5C548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1844824"/>
            <a:ext cx="7848600" cy="4402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日期占位符 3">
            <a:extLst>
              <a:ext uri="{FF2B5EF4-FFF2-40B4-BE49-F238E27FC236}">
                <a16:creationId xmlns:a16="http://schemas.microsoft.com/office/drawing/2014/main" id="{0F2E38D2-33D4-4777-B5C4-686E96C0C0E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58AA255-C980-4D11-9C51-73DB27E7F789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6867" name="Text Box 2">
            <a:extLst>
              <a:ext uri="{FF2B5EF4-FFF2-40B4-BE49-F238E27FC236}">
                <a16:creationId xmlns:a16="http://schemas.microsoft.com/office/drawing/2014/main" id="{E7D1B755-F86A-4742-8379-27719C3E3B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9632" y="667544"/>
            <a:ext cx="6480175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生成树的存在性</a:t>
            </a:r>
          </a:p>
        </p:txBody>
      </p:sp>
      <p:pic>
        <p:nvPicPr>
          <p:cNvPr id="36868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CEABDCBC-F474-42AF-9FB0-A4E2CC7D6A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8384" y="620343"/>
            <a:ext cx="938320" cy="98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C48139E6-A192-4D17-BDC1-0705B56340AE}"/>
                  </a:ext>
                </a:extLst>
              </p:cNvPr>
              <p:cNvSpPr/>
              <p:nvPr/>
            </p:nvSpPr>
            <p:spPr>
              <a:xfrm>
                <a:off x="179512" y="1851849"/>
                <a:ext cx="8892480" cy="452431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indent="267970" algn="just"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【定理】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𝐺</m:t>
                    </m:r>
                    <m:r>
                      <a:rPr lang="en-US" altLang="zh-CN" sz="2400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400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𝑉</m:t>
                        </m:r>
                        <m:r>
                          <a:rPr lang="en-US" altLang="zh-CN" sz="2400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是任意一个无向图，则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𝐺</m:t>
                    </m:r>
                    <m:r>
                      <a:rPr lang="en-US" altLang="zh-CN" sz="2400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400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𝑉</m:t>
                        </m:r>
                        <m:r>
                          <a:rPr lang="en-US" altLang="zh-CN" sz="2400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zh-CN" altLang="en-US" sz="24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存在生成树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2400" i="1" kern="10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𝐺</m:t>
                        </m:r>
                      </m:sub>
                    </m:sSub>
                    <m:r>
                      <a:rPr lang="en-US" altLang="zh-CN" sz="2400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400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sz="2400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zh-CN" altLang="zh-CN" sz="2400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，</m:t>
                        </m:r>
                        <m:sSub>
                          <m:sSubPr>
                            <m:ctrlPr>
                              <a:rPr lang="zh-CN" altLang="zh-CN" sz="2400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400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的充分必要条件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2400" i="1" kern="100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𝐺</m:t>
                    </m:r>
                  </m:oMath>
                </a14:m>
                <a:r>
                  <a:rPr lang="zh-CN" altLang="zh-CN" sz="24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是连通</a:t>
                </a:r>
                <a:r>
                  <a:rPr lang="zh-CN" altLang="en-US" sz="24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图</a:t>
                </a:r>
                <a:r>
                  <a:rPr lang="zh-CN" altLang="zh-CN" sz="2400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2400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7970" algn="just"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【证明】</a:t>
                </a:r>
                <a:r>
                  <a:rPr lang="zh-CN" altLang="zh-CN" sz="24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必要性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𝑻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sub>
                    </m:sSub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b="1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zh-CN" sz="2400" b="1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𝑻</m:t>
                            </m:r>
                          </m:sub>
                        </m:sSub>
                        <m: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，</m:t>
                        </m:r>
                        <m:sSub>
                          <m:sSubPr>
                            <m:ctrlPr>
                              <a:rPr lang="zh-CN" altLang="zh-CN" sz="2400" b="1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𝑬</m:t>
                            </m:r>
                          </m:e>
                          <m:sub>
                            <m:r>
                              <a:rPr lang="en-US" altLang="zh-CN" sz="2400" b="1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𝑻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zh-CN" altLang="zh-CN" sz="2400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</m:t>
                        </m:r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𝑬</m:t>
                        </m:r>
                      </m:e>
                    </m:d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的一棵生成树，则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由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树的定义知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𝑻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是连通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图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，由于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𝑻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具有相同的结点，故无向图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也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是连通的。</a:t>
                </a:r>
              </a:p>
              <a:p>
                <a:pPr indent="266700" algn="just"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</a:t>
                </a:r>
                <a:r>
                  <a:rPr lang="zh-CN" altLang="zh-CN" sz="24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充分性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</m:t>
                        </m:r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𝑬</m:t>
                        </m:r>
                      </m:e>
                    </m:d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是连通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图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无回路，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本身就是生成树，结论成立。</a:t>
                </a:r>
                <a:endParaRPr lang="en-US" altLang="zh-CN" sz="24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有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回路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，则可删除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中一条边得到图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。此时图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仍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为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连通且与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有相同的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结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点。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中无回路，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就是生成树；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仍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有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回路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，则删除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的一条边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24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spcAft>
                    <a:spcPts val="0"/>
                  </a:spcAft>
                </a:pP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如此继续下去，</a:t>
                </a:r>
                <a:r>
                  <a:rPr lang="zh-CN" altLang="zh-CN" sz="24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直到得到一个没有回路的连通图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400" b="1" i="1" kern="10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 kern="10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p>
                        <m:r>
                          <a:rPr lang="en-US" altLang="zh-CN" sz="2400" b="1" i="1" kern="10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zh-CN" sz="24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为止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。此时，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400" b="1" i="1" kern="100" smtClean="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 kern="10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p>
                        <m:r>
                          <a:rPr lang="en-US" altLang="zh-CN" sz="2400" b="1" i="1" kern="10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zh-CN" altLang="zh-CN" sz="2400" b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就</m:t>
                    </m:r>
                  </m:oMath>
                </a14:m>
                <a:r>
                  <a:rPr lang="zh-CN" altLang="zh-CN" sz="24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4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的一棵生成树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C48139E6-A192-4D17-BDC1-0705B56340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1851849"/>
                <a:ext cx="8892480" cy="4524315"/>
              </a:xfrm>
              <a:prstGeom prst="rect">
                <a:avLst/>
              </a:prstGeom>
              <a:blipFill>
                <a:blip r:embed="rId4"/>
                <a:stretch>
                  <a:fillRect l="-1028" t="-1617" r="-1097" b="-16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日期占位符 3">
            <a:extLst>
              <a:ext uri="{FF2B5EF4-FFF2-40B4-BE49-F238E27FC236}">
                <a16:creationId xmlns:a16="http://schemas.microsoft.com/office/drawing/2014/main" id="{092DE5CD-0A58-42B1-B348-C913515ED09D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B96CD1E-CDAB-4209-822F-28874B1CBFF6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8915" name="Text Box 2">
            <a:extLst>
              <a:ext uri="{FF2B5EF4-FFF2-40B4-BE49-F238E27FC236}">
                <a16:creationId xmlns:a16="http://schemas.microsoft.com/office/drawing/2014/main" id="{BC0273C0-DEC4-4A89-BAEF-E343964722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9632" y="764704"/>
            <a:ext cx="6480175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生成树的构造法</a:t>
            </a:r>
          </a:p>
        </p:txBody>
      </p:sp>
      <p:pic>
        <p:nvPicPr>
          <p:cNvPr id="38916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7AEBA597-3612-4B99-8C38-F2538B853F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376" y="548680"/>
            <a:ext cx="1115616" cy="1173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DB8171E8-E0CA-476D-8E73-FE0D10C3C4D6}"/>
                  </a:ext>
                </a:extLst>
              </p:cNvPr>
              <p:cNvSpPr/>
              <p:nvPr/>
            </p:nvSpPr>
            <p:spPr>
              <a:xfrm>
                <a:off x="287524" y="1988840"/>
                <a:ext cx="8568952" cy="3999428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en-US" sz="2800" b="1" kern="100" dirty="0">
                    <a:solidFill>
                      <a:srgbClr val="FFFF00"/>
                    </a:solidFill>
                    <a:cs typeface="Times New Roman" panose="02020603050405020304" pitchFamily="18" charset="0"/>
                  </a:rPr>
                  <a:t>破圈法：</a:t>
                </a:r>
                <a:endParaRPr lang="en-US" altLang="zh-CN" sz="2800" b="1" kern="100" dirty="0">
                  <a:solidFill>
                    <a:srgbClr val="FFFF00"/>
                  </a:solidFill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上述定理证明过程给出了构造生成树的一种具体算法，通常称之为</a:t>
                </a:r>
                <a:r>
                  <a:rPr lang="zh-CN" altLang="zh-CN" sz="2400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破圈法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24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破圈法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的关键是</a:t>
                </a:r>
                <a:r>
                  <a:rPr lang="zh-CN" altLang="zh-CN" sz="2400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判断图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400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中是否有回路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。若有回路，则删除回路中的一条边，直到图中</a:t>
                </a:r>
                <a:r>
                  <a:rPr lang="zh-CN" altLang="zh-CN" sz="2400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无回路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为止。</a:t>
                </a:r>
                <a:endParaRPr lang="en-US" altLang="zh-CN" sz="2400" b="1" kern="100" dirty="0">
                  <a:solidFill>
                    <a:schemeClr val="bg1"/>
                  </a:solidFill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假设图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</a:t>
                </a:r>
                <a:r>
                  <a:rPr lang="zh-CN" altLang="zh-CN" sz="2400" b="1" kern="100" dirty="0">
                    <a:solidFill>
                      <a:srgbClr val="FFFF66"/>
                    </a:solidFill>
                    <a:cs typeface="Times New Roman" panose="02020603050405020304" pitchFamily="18" charset="0"/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𝒏</m:t>
                    </m:r>
                  </m:oMath>
                </a14:m>
                <a:r>
                  <a:rPr lang="zh-CN" altLang="zh-CN" sz="2400" b="1" kern="100" dirty="0">
                    <a:solidFill>
                      <a:srgbClr val="FFFF66"/>
                    </a:solidFill>
                    <a:cs typeface="Times New Roman" panose="02020603050405020304" pitchFamily="18" charset="0"/>
                  </a:rPr>
                  <a:t>个结点和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𝒎</m:t>
                    </m:r>
                    <m:r>
                      <m:rPr>
                        <m:nor/>
                      </m:rPr>
                      <a:rPr lang="zh-CN" altLang="en-US" sz="2400" b="1" kern="100" dirty="0" smtClean="0">
                        <a:solidFill>
                          <a:srgbClr val="FFFF66"/>
                        </a:solidFill>
                        <a:cs typeface="Times New Roman" panose="02020603050405020304" pitchFamily="18" charset="0"/>
                      </a:rPr>
                      <m:t>条边</m:t>
                    </m:r>
                    <m:r>
                      <a:rPr lang="zh-CN" altLang="zh-CN" sz="2400" b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，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则由生成树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结点与边的关系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可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知，构造该图的生成树需删除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𝒎</m:t>
                    </m:r>
                    <m:r>
                      <a:rPr lang="en-US" altLang="zh-CN" sz="2400" b="1" i="1" kern="1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2400" b="1" i="1" kern="1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𝒏</m:t>
                    </m:r>
                    <m:r>
                      <a:rPr lang="en-US" altLang="zh-CN" sz="2400" b="1" i="1" kern="1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2400" b="1" i="1" kern="1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条边。</a:t>
                </a: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DB8171E8-E0CA-476D-8E73-FE0D10C3C4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524" y="1988840"/>
                <a:ext cx="8568952" cy="3999428"/>
              </a:xfrm>
              <a:prstGeom prst="rect">
                <a:avLst/>
              </a:prstGeom>
              <a:blipFill>
                <a:blip r:embed="rId4"/>
                <a:stretch>
                  <a:fillRect l="-1067" r="-1138" b="-19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日期占位符 3">
            <a:extLst>
              <a:ext uri="{FF2B5EF4-FFF2-40B4-BE49-F238E27FC236}">
                <a16:creationId xmlns:a16="http://schemas.microsoft.com/office/drawing/2014/main" id="{141564F7-4178-4035-84FC-22F0F33F6D6D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3B84049-12BD-40A4-B85F-D4BB6D784578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6" name="Rectangle 193">
            <a:extLst>
              <a:ext uri="{FF2B5EF4-FFF2-40B4-BE49-F238E27FC236}">
                <a16:creationId xmlns:a16="http://schemas.microsoft.com/office/drawing/2014/main" id="{4C5C5E6A-D8E9-4470-9260-590A44728F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2492896"/>
            <a:ext cx="752539" cy="1938992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4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破</a:t>
            </a:r>
            <a:endParaRPr kumimoji="0" lang="en-US" altLang="zh-CN" sz="40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4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圈</a:t>
            </a:r>
            <a:endParaRPr kumimoji="0" lang="en-US" altLang="zh-CN" sz="40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4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法</a:t>
            </a:r>
          </a:p>
        </p:txBody>
      </p:sp>
      <p:pic>
        <p:nvPicPr>
          <p:cNvPr id="40964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2312C046-9754-406D-927E-B7E51501EF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513" y="476250"/>
            <a:ext cx="1233487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5" name="Text Box 2">
            <a:extLst>
              <a:ext uri="{FF2B5EF4-FFF2-40B4-BE49-F238E27FC236}">
                <a16:creationId xmlns:a16="http://schemas.microsoft.com/office/drawing/2014/main" id="{39950B0A-71D0-447C-BA2B-B649AE4FF6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92150"/>
            <a:ext cx="61198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 题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5EE29FA-0734-4E17-8AD9-57D4E30A86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9277" y="1832333"/>
            <a:ext cx="7456815" cy="4476987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日期占位符 3">
            <a:extLst>
              <a:ext uri="{FF2B5EF4-FFF2-40B4-BE49-F238E27FC236}">
                <a16:creationId xmlns:a16="http://schemas.microsoft.com/office/drawing/2014/main" id="{092DE5CD-0A58-42B1-B348-C913515ED09D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B96CD1E-CDAB-4209-822F-28874B1CBFF6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8915" name="Text Box 2">
            <a:extLst>
              <a:ext uri="{FF2B5EF4-FFF2-40B4-BE49-F238E27FC236}">
                <a16:creationId xmlns:a16="http://schemas.microsoft.com/office/drawing/2014/main" id="{BC0273C0-DEC4-4A89-BAEF-E343964722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765175"/>
            <a:ext cx="6480175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生成树的构造法</a:t>
            </a:r>
          </a:p>
        </p:txBody>
      </p:sp>
      <p:pic>
        <p:nvPicPr>
          <p:cNvPr id="38916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7AEBA597-3612-4B99-8C38-F2538B853F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513" y="476250"/>
            <a:ext cx="1233487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DB8171E8-E0CA-476D-8E73-FE0D10C3C4D6}"/>
                  </a:ext>
                </a:extLst>
              </p:cNvPr>
              <p:cNvSpPr/>
              <p:nvPr/>
            </p:nvSpPr>
            <p:spPr>
              <a:xfrm>
                <a:off x="323528" y="1988840"/>
                <a:ext cx="8568952" cy="397641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en-US" sz="2800" b="1" kern="100" dirty="0">
                    <a:solidFill>
                      <a:srgbClr val="FFFF00"/>
                    </a:solidFill>
                    <a:cs typeface="Times New Roman" panose="02020603050405020304" pitchFamily="18" charset="0"/>
                  </a:rPr>
                  <a:t>避圈法：</a:t>
                </a:r>
                <a:endParaRPr lang="en-US" altLang="zh-CN" sz="2800" b="1" kern="100" dirty="0">
                  <a:solidFill>
                    <a:srgbClr val="FFFF00"/>
                  </a:solidFill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    </a:t>
                </a:r>
                <a:r>
                  <a:rPr lang="zh-CN" altLang="zh-CN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由于</a:t>
                </a:r>
                <a:r>
                  <a:rPr lang="zh-CN" altLang="en-US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对于包</a:t>
                </a:r>
                <a:r>
                  <a:rPr lang="zh-CN" altLang="zh-CN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含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𝒏</m:t>
                    </m:r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个结点和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𝒎</m:t>
                    </m:r>
                    <m:r>
                      <m:rPr>
                        <m:nor/>
                      </m:rPr>
                      <a:rPr lang="zh-CN" altLang="en-US" sz="2400" b="1" dirty="0">
                        <a:solidFill>
                          <a:schemeClr val="bg1"/>
                        </a:solidFill>
                        <a:latin typeface="+mj-ea"/>
                        <a:ea typeface="+mj-ea"/>
                      </a:rPr>
                      <m:t>条边</m:t>
                    </m:r>
                  </m:oMath>
                </a14:m>
                <a:r>
                  <a:rPr lang="zh-CN" altLang="en-US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的</a:t>
                </a:r>
                <a:r>
                  <a:rPr lang="zh-CN" altLang="zh-CN" sz="2400" b="1" dirty="0">
                    <a:solidFill>
                      <a:srgbClr val="FFFF66"/>
                    </a:solidFill>
                    <a:latin typeface="+mj-ea"/>
                    <a:ea typeface="+mj-ea"/>
                  </a:rPr>
                  <a:t>无向连通图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𝑮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=(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𝒏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,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𝒎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)</m:t>
                    </m:r>
                  </m:oMath>
                </a14:m>
                <a:r>
                  <a:rPr lang="zh-CN" altLang="en-US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，</a:t>
                </a:r>
                <a:r>
                  <a:rPr lang="en-US" altLang="zh-CN" sz="2400" b="1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一定存在生成树，且生成树中必</a:t>
                </a:r>
                <a:r>
                  <a:rPr lang="zh-CN" altLang="en-US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然含</a:t>
                </a:r>
                <a:r>
                  <a:rPr lang="zh-CN" altLang="zh-CN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+mj-ea"/>
                      </a:rPr>
                      <m:t>𝒏</m:t>
                    </m:r>
                  </m:oMath>
                </a14:m>
                <a:r>
                  <a:rPr lang="zh-CN" altLang="zh-CN" sz="2400" b="1" dirty="0">
                    <a:solidFill>
                      <a:srgbClr val="FFFF66"/>
                    </a:solidFill>
                    <a:latin typeface="+mj-ea"/>
                    <a:ea typeface="+mj-ea"/>
                  </a:rPr>
                  <a:t>个</a:t>
                </a:r>
                <a:r>
                  <a:rPr lang="zh-CN" altLang="en-US" sz="2400" b="1" dirty="0">
                    <a:solidFill>
                      <a:srgbClr val="FFFF66"/>
                    </a:solidFill>
                    <a:latin typeface="+mj-ea"/>
                    <a:ea typeface="+mj-ea"/>
                  </a:rPr>
                  <a:t>结</a:t>
                </a:r>
                <a:r>
                  <a:rPr lang="zh-CN" altLang="zh-CN" sz="2400" b="1" dirty="0">
                    <a:solidFill>
                      <a:srgbClr val="FFFF66"/>
                    </a:solidFill>
                    <a:latin typeface="+mj-ea"/>
                    <a:ea typeface="+mj-ea"/>
                  </a:rPr>
                  <a:t>点</a:t>
                </a:r>
                <a:r>
                  <a:rPr lang="zh-CN" altLang="zh-CN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+mj-ea"/>
                      </a:rPr>
                      <m:t>𝒏</m:t>
                    </m:r>
                    <m:r>
                      <a:rPr lang="en-US" altLang="zh-CN" sz="2400" b="1" i="1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+mj-ea"/>
                      </a:rPr>
                      <m:t>−</m:t>
                    </m:r>
                    <m:r>
                      <a:rPr lang="en-US" altLang="zh-CN" sz="2400" b="1" i="1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+mj-ea"/>
                      </a:rPr>
                      <m:t>𝟏</m:t>
                    </m:r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条树枝和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+mj-ea"/>
                      </a:rPr>
                      <m:t>𝒎</m:t>
                    </m:r>
                    <m:r>
                      <a:rPr lang="en-US" altLang="zh-CN" sz="2400" b="1" i="1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+mj-ea"/>
                      </a:rPr>
                      <m:t>−</m:t>
                    </m:r>
                    <m:r>
                      <a:rPr lang="en-US" altLang="zh-CN" sz="2400" b="1" i="1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+mj-ea"/>
                      </a:rPr>
                      <m:t>𝒏</m:t>
                    </m:r>
                    <m:r>
                      <a:rPr lang="en-US" altLang="zh-CN" sz="2400" b="1" i="1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+mj-ea"/>
                      </a:rPr>
                      <m:t>+</m:t>
                    </m:r>
                    <m:r>
                      <a:rPr lang="en-US" altLang="zh-CN" sz="2400" b="1" i="1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+mj-ea"/>
                      </a:rPr>
                      <m:t>𝟏</m:t>
                    </m:r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条弦。</a:t>
                </a:r>
                <a:endParaRPr lang="en-US" altLang="zh-CN" sz="2400" b="1" dirty="0">
                  <a:solidFill>
                    <a:schemeClr val="bg1"/>
                  </a:solidFill>
                  <a:latin typeface="+mj-ea"/>
                  <a:ea typeface="+mj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    </a:t>
                </a:r>
                <a:r>
                  <a:rPr lang="zh-CN" altLang="zh-CN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因此，</a:t>
                </a:r>
                <a:r>
                  <a:rPr lang="zh-CN" altLang="en-US" sz="2400" b="1" dirty="0">
                    <a:solidFill>
                      <a:srgbClr val="FFFF66"/>
                    </a:solidFill>
                    <a:latin typeface="+mj-ea"/>
                    <a:ea typeface="+mj-ea"/>
                  </a:rPr>
                  <a:t>如果</a:t>
                </a:r>
                <a:r>
                  <a:rPr lang="zh-CN" altLang="zh-CN" sz="2400" b="1" dirty="0">
                    <a:solidFill>
                      <a:srgbClr val="FFFF66"/>
                    </a:solidFill>
                    <a:latin typeface="+mj-ea"/>
                    <a:ea typeface="+mj-ea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+mj-ea"/>
                      </a:rPr>
                      <m:t>𝑮</m:t>
                    </m:r>
                  </m:oMath>
                </a14:m>
                <a:r>
                  <a:rPr lang="zh-CN" altLang="zh-CN" sz="2400" b="1" dirty="0">
                    <a:solidFill>
                      <a:srgbClr val="FFFF66"/>
                    </a:solidFill>
                    <a:latin typeface="+mj-ea"/>
                    <a:ea typeface="+mj-ea"/>
                  </a:rPr>
                  <a:t>中选择不构成任何回路的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+mj-ea"/>
                      </a:rPr>
                      <m:t>𝒏</m:t>
                    </m:r>
                    <m:r>
                      <a:rPr lang="en-US" altLang="zh-CN" sz="2400" b="1" i="1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+mj-ea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+mj-ea"/>
                      </a:rPr>
                      <m:t>𝟏</m:t>
                    </m:r>
                  </m:oMath>
                </a14:m>
                <a:r>
                  <a:rPr lang="zh-CN" altLang="zh-CN" sz="2400" b="1" dirty="0">
                    <a:solidFill>
                      <a:srgbClr val="FFFF66"/>
                    </a:solidFill>
                    <a:latin typeface="+mj-ea"/>
                    <a:ea typeface="+mj-ea"/>
                  </a:rPr>
                  <a:t>条边</a:t>
                </a:r>
                <a:r>
                  <a:rPr lang="zh-CN" altLang="en-US" sz="2400" b="1" dirty="0">
                    <a:solidFill>
                      <a:srgbClr val="FFFF66"/>
                    </a:solidFill>
                    <a:latin typeface="+mj-ea"/>
                    <a:ea typeface="+mj-ea"/>
                  </a:rPr>
                  <a:t>，</a:t>
                </a:r>
                <a:r>
                  <a:rPr lang="zh-CN" altLang="zh-CN" sz="2400" b="1" dirty="0">
                    <a:solidFill>
                      <a:srgbClr val="FFFF66"/>
                    </a:solidFill>
                    <a:latin typeface="+mj-ea"/>
                    <a:ea typeface="+mj-ea"/>
                  </a:rPr>
                  <a:t>就一定可以得到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+mj-ea"/>
                      </a:rPr>
                      <m:t>𝑮</m:t>
                    </m:r>
                  </m:oMath>
                </a14:m>
                <a:r>
                  <a:rPr lang="zh-CN" altLang="zh-CN" sz="2400" b="1" dirty="0">
                    <a:solidFill>
                      <a:srgbClr val="FFFF66"/>
                    </a:solidFill>
                    <a:latin typeface="+mj-ea"/>
                    <a:ea typeface="+mj-ea"/>
                  </a:rPr>
                  <a:t>的一个生成树</a:t>
                </a:r>
                <a:r>
                  <a:rPr lang="zh-CN" altLang="zh-CN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。</a:t>
                </a:r>
                <a:endParaRPr lang="en-US" altLang="zh-CN" sz="2400" b="1" dirty="0">
                  <a:solidFill>
                    <a:schemeClr val="bg1"/>
                  </a:solidFill>
                  <a:latin typeface="+mj-ea"/>
                  <a:ea typeface="+mj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    </a:t>
                </a:r>
                <a:r>
                  <a:rPr lang="zh-CN" altLang="en-US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由此</a:t>
                </a:r>
                <a:r>
                  <a:rPr lang="zh-CN" altLang="zh-CN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构造生成树的方法，通常称为</a:t>
                </a:r>
                <a:r>
                  <a:rPr lang="zh-CN" altLang="zh-CN" sz="2400" b="1" dirty="0">
                    <a:solidFill>
                      <a:srgbClr val="FFFF66"/>
                    </a:solidFill>
                    <a:latin typeface="+mj-ea"/>
                    <a:ea typeface="+mj-ea"/>
                  </a:rPr>
                  <a:t>避圈法</a:t>
                </a:r>
                <a:r>
                  <a:rPr lang="zh-CN" altLang="zh-CN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。</a:t>
                </a: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DB8171E8-E0CA-476D-8E73-FE0D10C3C4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1988840"/>
                <a:ext cx="8568952" cy="3976410"/>
              </a:xfrm>
              <a:prstGeom prst="rect">
                <a:avLst/>
              </a:prstGeom>
              <a:blipFill>
                <a:blip r:embed="rId4"/>
                <a:stretch>
                  <a:fillRect l="-1067" r="-996" b="-24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2467066"/>
      </p:ext>
    </p:extLst>
  </p:cSld>
  <p:clrMapOvr>
    <a:masterClrMapping/>
  </p:clrMapOvr>
  <p:transition spd="med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日期占位符 3">
            <a:extLst>
              <a:ext uri="{FF2B5EF4-FFF2-40B4-BE49-F238E27FC236}">
                <a16:creationId xmlns:a16="http://schemas.microsoft.com/office/drawing/2014/main" id="{141564F7-4178-4035-84FC-22F0F33F6D6D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3B84049-12BD-40A4-B85F-D4BB6D784578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6" name="Rectangle 193">
            <a:extLst>
              <a:ext uri="{FF2B5EF4-FFF2-40B4-BE49-F238E27FC236}">
                <a16:creationId xmlns:a16="http://schemas.microsoft.com/office/drawing/2014/main" id="{4C5C5E6A-D8E9-4470-9260-590A44728F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2636912"/>
            <a:ext cx="752539" cy="1938992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4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避圈</a:t>
            </a:r>
            <a:endParaRPr kumimoji="0" lang="en-US" altLang="zh-CN" sz="40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4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法</a:t>
            </a:r>
          </a:p>
        </p:txBody>
      </p:sp>
      <p:pic>
        <p:nvPicPr>
          <p:cNvPr id="40964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2312C046-9754-406D-927E-B7E51501EF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6776" y="476250"/>
            <a:ext cx="1077224" cy="1132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5" name="Text Box 2">
            <a:extLst>
              <a:ext uri="{FF2B5EF4-FFF2-40B4-BE49-F238E27FC236}">
                <a16:creationId xmlns:a16="http://schemas.microsoft.com/office/drawing/2014/main" id="{39950B0A-71D0-447C-BA2B-B649AE4FF6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094" y="585734"/>
            <a:ext cx="61198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 题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52B496A-29DE-4B5B-A1E6-3827947F4D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80" y="1700808"/>
            <a:ext cx="7020991" cy="4514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77913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日期占位符 3">
            <a:extLst>
              <a:ext uri="{FF2B5EF4-FFF2-40B4-BE49-F238E27FC236}">
                <a16:creationId xmlns:a16="http://schemas.microsoft.com/office/drawing/2014/main" id="{97A2C11D-8D39-4E48-8080-07AC67325EE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CF353C0-178D-49F2-A80B-DAB019C837AC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5059" name="Text Box 2">
            <a:extLst>
              <a:ext uri="{FF2B5EF4-FFF2-40B4-BE49-F238E27FC236}">
                <a16:creationId xmlns:a16="http://schemas.microsoft.com/office/drawing/2014/main" id="{BEDF2C79-3B08-4DC9-B023-123B08E90C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765175"/>
            <a:ext cx="6480175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生成树的构造</a:t>
            </a:r>
          </a:p>
        </p:txBody>
      </p:sp>
      <p:pic>
        <p:nvPicPr>
          <p:cNvPr id="45060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0C897D3E-BF4A-4671-B7E3-9DA1F8813A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513" y="476250"/>
            <a:ext cx="1233487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349E6F6-AE75-4AAD-9D91-A4C99FA4C332}"/>
              </a:ext>
            </a:extLst>
          </p:cNvPr>
          <p:cNvSpPr/>
          <p:nvPr/>
        </p:nvSpPr>
        <p:spPr>
          <a:xfrm>
            <a:off x="467544" y="1988840"/>
            <a:ext cx="8352928" cy="4191726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4000"/>
              </a:lnSpc>
            </a:pPr>
            <a:r>
              <a:rPr lang="zh-CN" altLang="en-US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kern="100" dirty="0">
                <a:solidFill>
                  <a:srgbClr val="FFFF00"/>
                </a:solidFill>
                <a:cs typeface="Times New Roman" panose="02020603050405020304" pitchFamily="18" charset="0"/>
              </a:rPr>
              <a:t>广度遍历法：</a:t>
            </a:r>
            <a:endParaRPr lang="en-US" altLang="zh-CN" sz="2800" b="1" kern="100" dirty="0">
              <a:solidFill>
                <a:srgbClr val="FFFF00"/>
              </a:solidFill>
              <a:cs typeface="Times New Roman" panose="02020603050405020304" pitchFamily="18" charset="0"/>
            </a:endParaRPr>
          </a:p>
          <a:p>
            <a:pPr>
              <a:lnSpc>
                <a:spcPts val="4000"/>
              </a:lnSpc>
            </a:pPr>
            <a:r>
              <a:rPr lang="en-US" altLang="zh-CN" sz="2400" b="1" kern="100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zh-CN" altLang="zh-CN" sz="2400" b="1" kern="100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破圈法和避圈法需要</a:t>
            </a:r>
            <a:r>
              <a:rPr lang="zh-CN" altLang="zh-CN" sz="2400" b="1" kern="100" dirty="0">
                <a:solidFill>
                  <a:srgbClr val="FFFF66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找出回路</a:t>
            </a:r>
            <a:r>
              <a:rPr lang="zh-CN" altLang="zh-CN" sz="2400" b="1" kern="100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zh-CN" altLang="zh-CN" sz="2400" b="1" kern="100" dirty="0">
                <a:solidFill>
                  <a:srgbClr val="FFFF66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验证不存在回路</a:t>
            </a:r>
            <a:r>
              <a:rPr lang="zh-CN" altLang="zh-CN" sz="2400" b="1" kern="100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，计算量通常较大。由于在对一般连通无向图进行</a:t>
            </a:r>
            <a:r>
              <a:rPr lang="zh-CN" altLang="en-US" sz="2400" b="1" kern="100" dirty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深度优先遍历搜索</a:t>
            </a:r>
            <a:r>
              <a:rPr lang="zh-CN" altLang="en-US" sz="2400" b="1" kern="100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zh-CN" altLang="zh-CN" sz="2400" b="1" kern="100" dirty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广度</a:t>
            </a:r>
            <a:r>
              <a:rPr lang="zh-CN" altLang="en-US" sz="2400" b="1" kern="100" dirty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优先</a:t>
            </a:r>
            <a:r>
              <a:rPr lang="zh-CN" altLang="zh-CN" sz="2400" b="1" kern="100" dirty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遍历搜索</a:t>
            </a:r>
            <a:r>
              <a:rPr lang="zh-CN" altLang="zh-CN" sz="2400" b="1" kern="100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的时候，会自然形成一个无回路的连通生成子图，即该图生成树。</a:t>
            </a:r>
            <a:endParaRPr lang="en-US" altLang="zh-CN" sz="2400" b="1" kern="100" dirty="0">
              <a:solidFill>
                <a:schemeClr val="bg1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4000"/>
              </a:lnSpc>
            </a:pPr>
            <a:r>
              <a:rPr lang="en-US" altLang="zh-CN" sz="2400" b="1" kern="100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</a:t>
            </a:r>
            <a:r>
              <a:rPr lang="zh-CN" altLang="zh-CN" sz="2400" b="1" kern="100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因此，</a:t>
            </a:r>
            <a:r>
              <a:rPr lang="zh-CN" altLang="zh-CN" sz="2400" b="1" kern="100" dirty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可以通过</a:t>
            </a:r>
            <a:r>
              <a:rPr lang="zh-CN" altLang="en-US" sz="2400" b="1" kern="100" dirty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深度优先遍历算法或</a:t>
            </a:r>
            <a:r>
              <a:rPr lang="zh-CN" altLang="zh-CN" sz="2400" b="1" kern="100" dirty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广度优先遍历算法构造生成树</a:t>
            </a:r>
            <a:r>
              <a:rPr lang="zh-CN" altLang="zh-CN" sz="2400" b="1" kern="100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en-US" sz="2400" b="1" kern="100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这类</a:t>
            </a:r>
            <a:r>
              <a:rPr lang="zh-CN" altLang="zh-CN" sz="2400" b="1" kern="100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算法无需判断回路，因而</a:t>
            </a:r>
            <a:r>
              <a:rPr lang="zh-CN" altLang="zh-CN" sz="2400" b="1" kern="100" dirty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具有较高的计算效率，比较适合计算机处理</a:t>
            </a:r>
            <a:r>
              <a:rPr lang="zh-CN" altLang="zh-CN" sz="2400" b="1" kern="100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日期占位符 3">
            <a:extLst>
              <a:ext uri="{FF2B5EF4-FFF2-40B4-BE49-F238E27FC236}">
                <a16:creationId xmlns:a16="http://schemas.microsoft.com/office/drawing/2014/main" id="{97A2C11D-8D39-4E48-8080-07AC67325EE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CF353C0-178D-49F2-A80B-DAB019C837AC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5059" name="Text Box 2">
            <a:extLst>
              <a:ext uri="{FF2B5EF4-FFF2-40B4-BE49-F238E27FC236}">
                <a16:creationId xmlns:a16="http://schemas.microsoft.com/office/drawing/2014/main" id="{BEDF2C79-3B08-4DC9-B023-123B08E90C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9632" y="620688"/>
            <a:ext cx="6480175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广度遍历构造法</a:t>
            </a:r>
          </a:p>
        </p:txBody>
      </p:sp>
      <p:pic>
        <p:nvPicPr>
          <p:cNvPr id="45060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0C897D3E-BF4A-4671-B7E3-9DA1F8813A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476250"/>
            <a:ext cx="1043608" cy="1097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ED1ACF2C-F0F6-46C7-A103-184E9FA9CFD7}"/>
                  </a:ext>
                </a:extLst>
              </p:cNvPr>
              <p:cNvSpPr/>
              <p:nvPr/>
            </p:nvSpPr>
            <p:spPr>
              <a:xfrm>
                <a:off x="684213" y="1700044"/>
                <a:ext cx="8143867" cy="4537268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对于连通图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</m:t>
                        </m:r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𝑬</m:t>
                        </m:r>
                      </m:e>
                    </m:d>
                  </m:oMath>
                </a14:m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，该算法的具体过程如下：</a:t>
                </a:r>
              </a:p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</a:t>
                </a:r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）任选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𝒔</m:t>
                    </m:r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𝑽</m:t>
                    </m:r>
                  </m:oMath>
                </a14:m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，将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𝒔</m:t>
                    </m:r>
                  </m:oMath>
                </a14:m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标记为</a:t>
                </a:r>
                <a:r>
                  <a:rPr lang="en-US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，令</a:t>
                </a:r>
                <a:r>
                  <a:rPr lang="zh-CN" altLang="en-US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</a:t>
                </a:r>
                <a:endParaRPr lang="en-US" altLang="zh-CN" sz="2400" b="1" i="1" kern="100" dirty="0">
                  <a:solidFill>
                    <a:schemeClr val="tx1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rgbClr val="0000FF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       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𝑳</m:t>
                    </m:r>
                    <m:r>
                      <a:rPr lang="en-US" altLang="zh-CN" sz="2400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zh-CN" altLang="zh-CN" sz="2400" b="1" i="1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1" i="1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𝒔</m:t>
                        </m:r>
                      </m:e>
                    </m:d>
                    <m:r>
                      <a:rPr lang="en-US" altLang="zh-CN" sz="2400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  </m:t>
                    </m:r>
                    <m:r>
                      <a:rPr lang="en-US" altLang="zh-CN" sz="2400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𝑽</m:t>
                    </m:r>
                    <m:r>
                      <a:rPr lang="en-US" altLang="zh-CN" sz="2400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𝑽</m:t>
                    </m:r>
                    <m:r>
                      <a:rPr lang="en-US" altLang="zh-CN" sz="2400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d>
                      <m:dPr>
                        <m:begChr m:val="{"/>
                        <m:endChr m:val="}"/>
                        <m:ctrlPr>
                          <a:rPr lang="zh-CN" altLang="zh-CN" sz="2400" b="1" i="1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1" i="1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𝒔</m:t>
                        </m:r>
                      </m:e>
                    </m:d>
                    <m:r>
                      <a:rPr lang="en-US" altLang="zh-CN" sz="2400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400" b="1" i="1" kern="1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  </m:t>
                    </m:r>
                    <m:r>
                      <a:rPr lang="en-US" altLang="zh-CN" sz="2400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𝒌</m:t>
                    </m:r>
                    <m:r>
                      <a:rPr lang="en-US" altLang="zh-CN" sz="2400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zh-CN" altLang="zh-CN" sz="24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；</a:t>
                </a:r>
              </a:p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</a:t>
                </a:r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）如果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𝑽</m:t>
                    </m:r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=∅</m:t>
                    </m:r>
                  </m:oMath>
                </a14:m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，则转（</a:t>
                </a:r>
                <a:r>
                  <a:rPr lang="en-US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4</a:t>
                </a:r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），否则令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𝒌</m:t>
                    </m:r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𝒌</m:t>
                    </m:r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；</a:t>
                </a:r>
              </a:p>
              <a:p>
                <a:pPr marL="66675" indent="200025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</a:t>
                </a:r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r>
                  <a:rPr lang="zh-CN" altLang="en-US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对于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𝑳</m:t>
                    </m:r>
                  </m:oMath>
                </a14:m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中所有标记为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𝒌</m:t>
                    </m:r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的结点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𝒗</m:t>
                    </m:r>
                  </m:oMath>
                </a14:m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，如果</a:t>
                </a:r>
                <a:r>
                  <a:rPr lang="zh-CN" altLang="zh-CN" sz="24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它与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𝑽</m:t>
                    </m:r>
                  </m:oMath>
                </a14:m>
                <a:r>
                  <a:rPr lang="zh-CN" altLang="zh-CN" sz="24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中的结点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𝒘</m:t>
                    </m:r>
                  </m:oMath>
                </a14:m>
                <a:r>
                  <a:rPr lang="zh-CN" altLang="zh-CN" sz="24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相连接，则将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𝒘</m:t>
                    </m:r>
                  </m:oMath>
                </a14:m>
                <a:r>
                  <a:rPr lang="zh-CN" altLang="zh-CN" sz="24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标记为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𝒌</m:t>
                    </m:r>
                  </m:oMath>
                </a14:m>
                <a:r>
                  <a:rPr lang="zh-CN" altLang="zh-CN" sz="24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24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并</a:t>
                </a:r>
                <a:r>
                  <a:rPr lang="zh-CN" altLang="zh-CN" sz="24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指定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𝒗</m:t>
                    </m:r>
                  </m:oMath>
                </a14:m>
                <a:r>
                  <a:rPr lang="zh-CN" altLang="zh-CN" sz="24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𝒘</m:t>
                    </m:r>
                  </m:oMath>
                </a14:m>
                <a:r>
                  <a:rPr lang="zh-CN" altLang="zh-CN" sz="24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的前驱</a:t>
                </a:r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，令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𝑳</m:t>
                    </m:r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𝑳</m:t>
                    </m:r>
                    <m:r>
                      <a:rPr lang="zh-CN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∪</m:t>
                    </m:r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{</m:t>
                    </m:r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𝒘</m:t>
                    </m:r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400" b="1" kern="100" dirty="0">
                    <a:solidFill>
                      <a:srgbClr val="0000FF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𝑽</m:t>
                    </m:r>
                    <m:r>
                      <a:rPr lang="en-US" altLang="zh-CN" sz="2400" b="1" i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1" i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𝑽</m:t>
                    </m:r>
                    <m:r>
                      <a:rPr lang="en-US" altLang="zh-CN" sz="2400" b="1" i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d>
                      <m:dPr>
                        <m:begChr m:val="{"/>
                        <m:endChr m:val="}"/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𝒘</m:t>
                        </m:r>
                      </m:e>
                    </m:d>
                  </m:oMath>
                </a14:m>
                <a:r>
                  <a:rPr lang="zh-CN" altLang="en-US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转</a:t>
                </a:r>
                <a:r>
                  <a:rPr lang="zh-CN" altLang="en-US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到</a:t>
                </a:r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）；</a:t>
                </a:r>
              </a:p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</a:t>
                </a:r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4</a:t>
                </a:r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𝑬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sub>
                    </m:sSub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zh-CN" altLang="zh-CN" sz="2400" b="1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𝒗</m:t>
                            </m:r>
                            <m:r>
                              <a:rPr lang="en-US" altLang="zh-CN" sz="2400" b="1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CN" sz="2400" b="1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𝒘</m:t>
                            </m:r>
                          </m:e>
                        </m:d>
                      </m:e>
                      <m:e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𝒘</m:t>
                        </m:r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∈</m:t>
                        </m:r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𝑳</m:t>
                        </m:r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  </m:t>
                        </m:r>
                        <m:r>
                          <a:rPr lang="en-US" altLang="zh-CN" sz="2400" b="1" i="1" kern="10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  <m:r>
                          <a:rPr lang="zh-CN" altLang="zh-CN" sz="2400" b="1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为</m:t>
                        </m:r>
                        <m:r>
                          <a:rPr lang="en-US" altLang="zh-CN" sz="2400" b="1" i="1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𝒘</m:t>
                        </m:r>
                        <m:r>
                          <a:rPr lang="zh-CN" altLang="zh-CN" sz="2400" b="1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的前驱</m:t>
                        </m:r>
                      </m:e>
                    </m:d>
                  </m:oMath>
                </a14:m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结束。</a:t>
                </a: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ED1ACF2C-F0F6-46C7-A103-184E9FA9CF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13" y="1700044"/>
                <a:ext cx="8143867" cy="4537268"/>
              </a:xfrm>
              <a:prstGeom prst="rect">
                <a:avLst/>
              </a:prstGeom>
              <a:blipFill>
                <a:blip r:embed="rId4"/>
                <a:stretch>
                  <a:fillRect l="-299" r="-1198" b="-17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515729"/>
      </p:ext>
    </p:extLst>
  </p:cSld>
  <p:clrMapOvr>
    <a:masterClrMapping/>
  </p:clrMapOvr>
  <p:transition spd="med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日期占位符 3">
            <a:extLst>
              <a:ext uri="{FF2B5EF4-FFF2-40B4-BE49-F238E27FC236}">
                <a16:creationId xmlns:a16="http://schemas.microsoft.com/office/drawing/2014/main" id="{93157EE9-636F-4B8D-8F64-A9587273A25E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94A818A-C536-4C14-9F7E-0D65949065FA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8131" name="Text Box 2">
            <a:extLst>
              <a:ext uri="{FF2B5EF4-FFF2-40B4-BE49-F238E27FC236}">
                <a16:creationId xmlns:a16="http://schemas.microsoft.com/office/drawing/2014/main" id="{A13F3891-8046-42AA-8BF4-2FCFE82DEF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92150"/>
            <a:ext cx="61198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 题（</a:t>
            </a: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</p:txBody>
      </p:sp>
      <p:pic>
        <p:nvPicPr>
          <p:cNvPr id="4813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A45A7B6F-C69E-45EE-A9D0-D330ACEBCC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513" y="476250"/>
            <a:ext cx="1233487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59DE62BE-58D2-43C9-92DD-9D8ED28BAD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2" y="1844824"/>
            <a:ext cx="8259689" cy="4337608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日期占位符 3">
            <a:extLst>
              <a:ext uri="{FF2B5EF4-FFF2-40B4-BE49-F238E27FC236}">
                <a16:creationId xmlns:a16="http://schemas.microsoft.com/office/drawing/2014/main" id="{9AEE1E62-1A8C-4854-BEE8-4340EAA20B33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4082AD3-3547-4702-8698-097B0E7EEA44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9155" name="Text Box 2">
            <a:extLst>
              <a:ext uri="{FF2B5EF4-FFF2-40B4-BE49-F238E27FC236}">
                <a16:creationId xmlns:a16="http://schemas.microsoft.com/office/drawing/2014/main" id="{546447A9-323D-4FDA-80EB-3529E9B678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92150"/>
            <a:ext cx="61198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 题（</a:t>
            </a: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</p:txBody>
      </p:sp>
      <p:pic>
        <p:nvPicPr>
          <p:cNvPr id="49156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47EEAE5E-2044-4F78-BC3B-B81C7EEB3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513" y="476250"/>
            <a:ext cx="1233487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10B2175-9CB2-40C6-8A1D-112F3BAD06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28" y="2037452"/>
            <a:ext cx="8655837" cy="4197017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日期占位符 3">
            <a:extLst>
              <a:ext uri="{FF2B5EF4-FFF2-40B4-BE49-F238E27FC236}">
                <a16:creationId xmlns:a16="http://schemas.microsoft.com/office/drawing/2014/main" id="{4732C579-994B-4272-84BC-71DBE23B3169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7AA3A94-2CBE-4FD8-BCF8-0D63EC1A9FC9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203" name="页脚占位符 4">
            <a:extLst>
              <a:ext uri="{FF2B5EF4-FFF2-40B4-BE49-F238E27FC236}">
                <a16:creationId xmlns:a16="http://schemas.microsoft.com/office/drawing/2014/main" id="{3BFB54B0-A24D-48BF-B057-05AD27DE835B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51204" name="灯片编号占位符 5">
            <a:extLst>
              <a:ext uri="{FF2B5EF4-FFF2-40B4-BE49-F238E27FC236}">
                <a16:creationId xmlns:a16="http://schemas.microsoft.com/office/drawing/2014/main" id="{34B9A921-633A-4D94-9B2B-D1446F75CFEB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0CB9D9F7-12D6-4628-B29F-7F82A3BA4458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36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205" name="Text Box 2">
            <a:extLst>
              <a:ext uri="{FF2B5EF4-FFF2-40B4-BE49-F238E27FC236}">
                <a16:creationId xmlns:a16="http://schemas.microsoft.com/office/drawing/2014/main" id="{4CF4A7BC-5CE1-424C-AE90-BDBF70A1F4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836613"/>
            <a:ext cx="7086600" cy="92333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无向树与生成树</a:t>
            </a:r>
          </a:p>
        </p:txBody>
      </p:sp>
      <p:sp>
        <p:nvSpPr>
          <p:cNvPr id="51206" name="Rectangle 3">
            <a:extLst>
              <a:ext uri="{FF2B5EF4-FFF2-40B4-BE49-F238E27FC236}">
                <a16:creationId xmlns:a16="http://schemas.microsoft.com/office/drawing/2014/main" id="{8BF46353-125E-49DE-8EC3-0F1B2560D19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555875" y="2492375"/>
            <a:ext cx="4608413" cy="316865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55000"/>
              </a:lnSpc>
              <a:buFont typeface="Wingdings" panose="05000000000000000000" pitchFamily="2" charset="2"/>
              <a:buChar char="4"/>
            </a:pPr>
            <a:r>
              <a:rPr lang="en-US" altLang="zh-CN" sz="36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</a:t>
            </a:r>
            <a:r>
              <a:rPr lang="zh-CN" altLang="en-US" sz="36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无向树及其性质</a:t>
            </a:r>
          </a:p>
          <a:p>
            <a:pPr eaLnBrk="1" hangingPunct="1">
              <a:lnSpc>
                <a:spcPct val="155000"/>
              </a:lnSpc>
              <a:buFont typeface="Wingdings" panose="05000000000000000000" pitchFamily="2" charset="2"/>
              <a:buChar char="4"/>
            </a:pPr>
            <a:r>
              <a:rPr lang="zh-CN" altLang="en-US" sz="36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无向图的生成树</a:t>
            </a:r>
          </a:p>
          <a:p>
            <a:pPr eaLnBrk="1" hangingPunct="1">
              <a:lnSpc>
                <a:spcPct val="155000"/>
              </a:lnSpc>
              <a:buFont typeface="Wingdings" panose="05000000000000000000" pitchFamily="2" charset="2"/>
              <a:buChar char="J"/>
            </a:pPr>
            <a:r>
              <a:rPr lang="zh-CN" altLang="en-US" sz="3600" b="1" dirty="0"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最小生成树模型</a:t>
            </a:r>
          </a:p>
        </p:txBody>
      </p:sp>
      <p:pic>
        <p:nvPicPr>
          <p:cNvPr id="51207" name="Picture 7" descr="C:\Program Files\Microsoft Office\MEDIA\CAGCAT10\j0292982.wmf">
            <a:extLst>
              <a:ext uri="{FF2B5EF4-FFF2-40B4-BE49-F238E27FC236}">
                <a16:creationId xmlns:a16="http://schemas.microsoft.com/office/drawing/2014/main" id="{BC0BBC0E-17AE-4219-84E2-58F6002BDF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575" y="4738688"/>
            <a:ext cx="1371600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日期占位符 3">
            <a:extLst>
              <a:ext uri="{FF2B5EF4-FFF2-40B4-BE49-F238E27FC236}">
                <a16:creationId xmlns:a16="http://schemas.microsoft.com/office/drawing/2014/main" id="{035020AD-BCA5-4D6B-8B1B-5CAD606056C2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4AB0EB1-FD6D-4007-A02A-679550C16141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3251" name="Text Box 2">
            <a:extLst>
              <a:ext uri="{FF2B5EF4-FFF2-40B4-BE49-F238E27FC236}">
                <a16:creationId xmlns:a16="http://schemas.microsoft.com/office/drawing/2014/main" id="{A312D336-D8F9-4DB8-8047-3E9EBF9096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930275"/>
            <a:ext cx="61198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应用实例</a:t>
            </a:r>
          </a:p>
        </p:txBody>
      </p:sp>
      <p:pic>
        <p:nvPicPr>
          <p:cNvPr id="5325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ECDB8F95-A4C2-4310-9CFA-FA6FC874C2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513" y="476250"/>
            <a:ext cx="1233487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5" name="Text Box 33">
            <a:extLst>
              <a:ext uri="{FF2B5EF4-FFF2-40B4-BE49-F238E27FC236}">
                <a16:creationId xmlns:a16="http://schemas.microsoft.com/office/drawing/2014/main" id="{B4E69C4A-869F-4422-B016-B4DEF85D02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616" y="5551928"/>
            <a:ext cx="6626225" cy="60801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3200" b="1" dirty="0">
                <a:solidFill>
                  <a:srgbClr val="FFFF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即要使得生成树各边权值之和最小。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BE58C82-F9BF-4F3D-9DD4-103FBFF9CB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963" y="2295398"/>
            <a:ext cx="4165187" cy="274825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1E0AA11-D5AB-475A-835E-879431FBFF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8064" y="2328276"/>
            <a:ext cx="3240360" cy="2774532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日期占位符 3">
            <a:extLst>
              <a:ext uri="{FF2B5EF4-FFF2-40B4-BE49-F238E27FC236}">
                <a16:creationId xmlns:a16="http://schemas.microsoft.com/office/drawing/2014/main" id="{EAB25DEA-6960-4CBC-A738-E7891DDBB33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F6439FB-A00F-496A-97A7-A60BF676E447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62995" name="AutoShape 51">
            <a:extLst>
              <a:ext uri="{FF2B5EF4-FFF2-40B4-BE49-F238E27FC236}">
                <a16:creationId xmlns:a16="http://schemas.microsoft.com/office/drawing/2014/main" id="{1A21A336-74F8-4C57-9E8F-B1DC67CB36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005" y="4293096"/>
            <a:ext cx="8196262" cy="2017712"/>
          </a:xfrm>
          <a:prstGeom prst="horizontalScroll">
            <a:avLst>
              <a:gd name="adj" fmla="val 12500"/>
            </a:avLst>
          </a:prstGeom>
          <a:gradFill rotWithShape="1">
            <a:gsLst>
              <a:gs pos="0">
                <a:srgbClr val="FFCC00">
                  <a:gamma/>
                  <a:shade val="46275"/>
                  <a:invGamma/>
                </a:srgbClr>
              </a:gs>
              <a:gs pos="50000">
                <a:srgbClr val="FFCC00">
                  <a:alpha val="30000"/>
                </a:srgbClr>
              </a:gs>
              <a:gs pos="100000">
                <a:srgbClr val="FFCC00">
                  <a:gamma/>
                  <a:shade val="46275"/>
                  <a:invGamma/>
                </a:srgbClr>
              </a:gs>
            </a:gsLst>
            <a:lin ang="5400000" scaled="1"/>
          </a:gradFill>
          <a:ln w="12700">
            <a:solidFill>
              <a:srgbClr val="00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zh-CN" altLang="en-US" sz="2800" b="1" dirty="0">
                <a:solidFill>
                  <a:schemeClr val="folHlink"/>
                </a:solidFill>
              </a:rPr>
              <a:t>   </a:t>
            </a:r>
            <a:r>
              <a:rPr lang="zh-CN" altLang="en-US" sz="2800" b="1" dirty="0">
                <a:solidFill>
                  <a:schemeClr val="tx1"/>
                </a:solidFill>
              </a:rPr>
              <a:t>无向图的生成树不唯一。同样地，</a:t>
            </a:r>
            <a:r>
              <a:rPr lang="zh-CN" altLang="en-US" sz="2800" b="1" dirty="0">
                <a:solidFill>
                  <a:srgbClr val="0000FF"/>
                </a:solidFill>
              </a:rPr>
              <a:t>赋权图的最小生成树也不一定唯一</a:t>
            </a:r>
            <a:r>
              <a:rPr lang="zh-CN" altLang="en-US" sz="2800" b="1" dirty="0">
                <a:solidFill>
                  <a:schemeClr val="tx1"/>
                </a:solidFill>
              </a:rPr>
              <a:t>。</a:t>
            </a:r>
          </a:p>
        </p:txBody>
      </p:sp>
      <p:sp>
        <p:nvSpPr>
          <p:cNvPr id="52231" name="Text Box 2">
            <a:extLst>
              <a:ext uri="{FF2B5EF4-FFF2-40B4-BE49-F238E27FC236}">
                <a16:creationId xmlns:a16="http://schemas.microsoft.com/office/drawing/2014/main" id="{C0BB0B71-3897-4148-879B-24E94CB7AD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92150"/>
            <a:ext cx="61198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最小生成树</a:t>
            </a:r>
          </a:p>
        </p:txBody>
      </p:sp>
      <p:pic>
        <p:nvPicPr>
          <p:cNvPr id="5223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A8DFA312-C4AF-498E-AE13-803BD3D18C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513" y="476250"/>
            <a:ext cx="1233487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8DA285E7-C97D-4D40-B94A-9C23AF73E020}"/>
                  </a:ext>
                </a:extLst>
              </p:cNvPr>
              <p:cNvSpPr/>
              <p:nvPr/>
            </p:nvSpPr>
            <p:spPr>
              <a:xfrm>
                <a:off x="673006" y="1881306"/>
                <a:ext cx="7930798" cy="2245102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【定义】 设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</m:t>
                        </m:r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𝑬</m:t>
                        </m:r>
                        <m:r>
                          <a:rPr lang="en-US" altLang="zh-CN" sz="2400" b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𝑾</m:t>
                        </m:r>
                      </m:e>
                    </m:d>
                    <m:r>
                      <a:rPr lang="zh-CN" altLang="zh-CN" sz="2400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，</m:t>
                    </m:r>
                  </m:oMath>
                </a14:m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任意给定的一个</a:t>
                </a:r>
                <a:r>
                  <a:rPr lang="zh-CN" altLang="en-US" sz="2400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赋值连通无向图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𝑻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的一棵生成树，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则称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𝑻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所有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树枝权值之和为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𝑻</m:t>
                    </m:r>
                  </m:oMath>
                </a14:m>
                <a:r>
                  <a:rPr lang="zh-CN" altLang="zh-CN" sz="2400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的权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，记为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𝛚</m:t>
                    </m:r>
                    <m:r>
                      <a:rPr lang="en-US" altLang="zh-CN" sz="2400" b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b="1" i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𝑻</m:t>
                    </m:r>
                    <m:r>
                      <a:rPr lang="en-US" altLang="zh-CN" sz="2400" b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。图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中具有最小权的生成树称为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</a:t>
                </a:r>
                <a:r>
                  <a:rPr lang="zh-CN" altLang="zh-CN" sz="2400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最小生成树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8DA285E7-C97D-4D40-B94A-9C23AF73E0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006" y="1881306"/>
                <a:ext cx="7930798" cy="2245102"/>
              </a:xfrm>
              <a:prstGeom prst="rect">
                <a:avLst/>
              </a:prstGeom>
              <a:blipFill>
                <a:blip r:embed="rId4"/>
                <a:stretch>
                  <a:fillRect l="-1153" r="-1230"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日期占位符 3">
            <a:extLst>
              <a:ext uri="{FF2B5EF4-FFF2-40B4-BE49-F238E27FC236}">
                <a16:creationId xmlns:a16="http://schemas.microsoft.com/office/drawing/2014/main" id="{035020AD-BCA5-4D6B-8B1B-5CAD606056C2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4AB0EB1-FD6D-4007-A02A-679550C16141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3251" name="Text Box 2">
            <a:extLst>
              <a:ext uri="{FF2B5EF4-FFF2-40B4-BE49-F238E27FC236}">
                <a16:creationId xmlns:a16="http://schemas.microsoft.com/office/drawing/2014/main" id="{A312D336-D8F9-4DB8-8047-3E9EBF9096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648" y="667544"/>
            <a:ext cx="61198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应用实例</a:t>
            </a:r>
          </a:p>
        </p:txBody>
      </p:sp>
      <p:pic>
        <p:nvPicPr>
          <p:cNvPr id="5325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ECDB8F95-A4C2-4310-9CFA-FA6FC874C2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513" y="476250"/>
            <a:ext cx="1233487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DA141838-5840-401B-988D-BE03CF7D90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640" y="1875572"/>
            <a:ext cx="6749927" cy="26547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10F27B00-807D-4D7D-9CBB-57C2B758AC17}"/>
                  </a:ext>
                </a:extLst>
              </p:cNvPr>
              <p:cNvSpPr/>
              <p:nvPr/>
            </p:nvSpPr>
            <p:spPr>
              <a:xfrm>
                <a:off x="827584" y="4725144"/>
                <a:ext cx="7776864" cy="1554272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ts val="38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</a:t>
                </a:r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图</a:t>
                </a:r>
                <a:r>
                  <a:rPr lang="en-US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(b)</a:t>
                </a:r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所示的带权树就是</a:t>
                </a:r>
                <a:r>
                  <a:rPr lang="zh-CN" altLang="en-US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图</a:t>
                </a:r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(a)</a:t>
                </a:r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所示带权图的最小生成树</a:t>
                </a:r>
                <a:r>
                  <a:rPr lang="zh-CN" altLang="en-US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，故</a:t>
                </a:r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在保证小区连通前提下管道修建费用最少为</a:t>
                </a:r>
                <a:r>
                  <a:rPr lang="zh-CN" altLang="en-US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</a:t>
                </a:r>
                <a:endParaRPr lang="en-US" altLang="zh-CN" sz="2400" b="1" i="1" kern="100" dirty="0">
                  <a:solidFill>
                    <a:schemeClr val="tx1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ts val="38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kern="10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𝟏𝟎</m:t>
                      </m:r>
                      <m:r>
                        <a:rPr lang="en-US" altLang="zh-CN" sz="2400" b="1" kern="1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sz="2400" b="1" i="1" kern="1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𝟏𝟎</m:t>
                      </m:r>
                      <m:r>
                        <a:rPr lang="en-US" altLang="zh-CN" sz="2400" b="1" kern="1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sz="2400" b="1" i="1" kern="1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𝟕</m:t>
                      </m:r>
                      <m:r>
                        <a:rPr lang="en-US" altLang="zh-CN" sz="2400" b="1" kern="1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sz="2400" b="1" i="1" kern="1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𝟔</m:t>
                      </m:r>
                      <m:r>
                        <a:rPr lang="en-US" altLang="zh-CN" sz="2400" b="1" kern="1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sz="2400" b="1" i="1" kern="1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𝟓</m:t>
                      </m:r>
                      <m:r>
                        <a:rPr lang="en-US" altLang="zh-CN" sz="2400" b="1" kern="1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b="1" i="1" kern="1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𝟑𝟖</m:t>
                      </m:r>
                      <m:r>
                        <a:rPr lang="en-US" altLang="zh-CN" sz="2400" b="1" kern="1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zh-CN" altLang="zh-CN" sz="2400" b="1" kern="1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万元</m:t>
                      </m:r>
                      <m:r>
                        <a:rPr lang="en-US" altLang="zh-CN" sz="2400" b="1" kern="1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sz="2400" b="1" kern="100" dirty="0">
                  <a:solidFill>
                    <a:srgbClr val="0000FF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10F27B00-807D-4D7D-9CBB-57C2B758AC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4725144"/>
                <a:ext cx="7776864" cy="1554272"/>
              </a:xfrm>
              <a:prstGeom prst="rect">
                <a:avLst/>
              </a:prstGeom>
              <a:blipFill>
                <a:blip r:embed="rId5"/>
                <a:stretch>
                  <a:fillRect l="-1255" t="-392" r="-12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0359955"/>
      </p:ext>
    </p:extLst>
  </p:cSld>
  <p:clrMapOvr>
    <a:masterClrMapping/>
  </p:clrMapOvr>
  <p:transition spd="med"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3">
            <a:extLst>
              <a:ext uri="{FF2B5EF4-FFF2-40B4-BE49-F238E27FC236}">
                <a16:creationId xmlns:a16="http://schemas.microsoft.com/office/drawing/2014/main" id="{9092887F-EC4A-477F-9611-C0E8E9F02EB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88299" y="2204864"/>
            <a:ext cx="8367401" cy="3528392"/>
          </a:xfrm>
          <a:solidFill>
            <a:schemeClr val="accent3">
              <a:lumMod val="85000"/>
            </a:schemeClr>
          </a:solidFill>
        </p:spPr>
        <p:txBody>
          <a:bodyPr/>
          <a:lstStyle/>
          <a:p>
            <a:pPr>
              <a:lnSpc>
                <a:spcPct val="150000"/>
              </a:lnSpc>
              <a:buNone/>
            </a:pPr>
            <a:r>
              <a:rPr lang="en-US" altLang="zh-CN" sz="3200" dirty="0">
                <a:effectLst/>
              </a:rPr>
              <a:t>         </a:t>
            </a:r>
            <a:r>
              <a:rPr lang="zh-CN" altLang="zh-CN" sz="3200" dirty="0">
                <a:effectLst/>
              </a:rPr>
              <a:t>克鲁斯卡尔算法</a:t>
            </a:r>
            <a:r>
              <a:rPr lang="zh-CN" altLang="en-US" sz="3200" dirty="0">
                <a:effectLst/>
              </a:rPr>
              <a:t>的</a:t>
            </a:r>
            <a:r>
              <a:rPr lang="zh-CN" altLang="zh-CN" sz="3200" dirty="0">
                <a:solidFill>
                  <a:srgbClr val="0000FF"/>
                </a:solidFill>
                <a:effectLst/>
              </a:rPr>
              <a:t>本质</a:t>
            </a:r>
            <a:r>
              <a:rPr lang="zh-CN" altLang="zh-CN" sz="3200" dirty="0">
                <a:effectLst/>
              </a:rPr>
              <a:t>是将构造生成树的</a:t>
            </a:r>
            <a:r>
              <a:rPr lang="zh-CN" altLang="zh-CN" sz="3200" dirty="0">
                <a:solidFill>
                  <a:srgbClr val="0000FF"/>
                </a:solidFill>
                <a:effectLst/>
              </a:rPr>
              <a:t>避圈法推广到求最小生成树</a:t>
            </a:r>
            <a:r>
              <a:rPr lang="zh-CN" altLang="en-US" sz="3200" dirty="0">
                <a:effectLst/>
              </a:rPr>
              <a:t>；</a:t>
            </a:r>
            <a:endParaRPr lang="en-US" altLang="zh-CN" sz="3200" dirty="0">
              <a:effectLst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3200" dirty="0">
                <a:effectLst/>
              </a:rPr>
              <a:t>         </a:t>
            </a:r>
            <a:r>
              <a:rPr lang="zh-CN" altLang="en-US" sz="3200" dirty="0">
                <a:effectLst/>
              </a:rPr>
              <a:t>基本思想</a:t>
            </a:r>
            <a:r>
              <a:rPr lang="zh-CN" altLang="zh-CN" sz="3200" dirty="0">
                <a:effectLst/>
              </a:rPr>
              <a:t>是：</a:t>
            </a:r>
            <a:r>
              <a:rPr lang="zh-CN" altLang="en-US" sz="3200" dirty="0">
                <a:effectLst/>
              </a:rPr>
              <a:t>基于贪心策略，</a:t>
            </a:r>
            <a:r>
              <a:rPr lang="zh-CN" altLang="en-US" sz="3200" b="1" dirty="0">
                <a:effectLst/>
                <a:ea typeface="宋体" panose="02010600030101010101" pitchFamily="2" charset="-122"/>
                <a:cs typeface="楷体_GB2312" pitchFamily="49" charset="-122"/>
              </a:rPr>
              <a:t>每次都选择</a:t>
            </a:r>
            <a:r>
              <a:rPr lang="zh-CN" altLang="en-US" sz="3200" b="1" dirty="0">
                <a:solidFill>
                  <a:srgbClr val="0000FF"/>
                </a:solidFill>
                <a:effectLst/>
                <a:ea typeface="宋体" panose="02010600030101010101" pitchFamily="2" charset="-122"/>
                <a:cs typeface="楷体_GB2312" pitchFamily="49" charset="-122"/>
              </a:rPr>
              <a:t>与已选边不构成回路</a:t>
            </a:r>
            <a:r>
              <a:rPr lang="zh-CN" altLang="en-US" sz="3200" b="1" dirty="0">
                <a:effectLst/>
                <a:ea typeface="宋体" panose="02010600030101010101" pitchFamily="2" charset="-122"/>
                <a:cs typeface="楷体_GB2312" pitchFamily="49" charset="-122"/>
              </a:rPr>
              <a:t>且</a:t>
            </a:r>
            <a:r>
              <a:rPr lang="zh-CN" altLang="en-US" sz="3200" b="1" dirty="0">
                <a:solidFill>
                  <a:srgbClr val="0000FF"/>
                </a:solidFill>
                <a:effectLst/>
                <a:ea typeface="宋体" panose="02010600030101010101" pitchFamily="2" charset="-122"/>
                <a:cs typeface="楷体_GB2312" pitchFamily="49" charset="-122"/>
              </a:rPr>
              <a:t>权值最小</a:t>
            </a:r>
            <a:r>
              <a:rPr lang="zh-CN" altLang="en-US" sz="3200" b="1" dirty="0">
                <a:effectLst/>
                <a:ea typeface="宋体" panose="02010600030101010101" pitchFamily="2" charset="-122"/>
                <a:cs typeface="楷体_GB2312" pitchFamily="49" charset="-122"/>
              </a:rPr>
              <a:t>的边。</a:t>
            </a:r>
            <a:endParaRPr lang="zh-CN" altLang="zh-CN" sz="3200" dirty="0">
              <a:effectLst/>
            </a:endParaRPr>
          </a:p>
        </p:txBody>
      </p:sp>
      <p:sp>
        <p:nvSpPr>
          <p:cNvPr id="64547" name="Text Box 2">
            <a:extLst>
              <a:ext uri="{FF2B5EF4-FFF2-40B4-BE49-F238E27FC236}">
                <a16:creationId xmlns:a16="http://schemas.microsoft.com/office/drawing/2014/main" id="{28FBD906-D96D-429C-B359-ECD462BF85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5921" y="709613"/>
            <a:ext cx="6632156" cy="830262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克鲁斯卡尔算法</a:t>
            </a:r>
          </a:p>
        </p:txBody>
      </p:sp>
      <p:pic>
        <p:nvPicPr>
          <p:cNvPr id="64548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D9240A9B-B2D1-4B2A-8968-7AC0B026E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3196" y="476250"/>
            <a:ext cx="1050804" cy="110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3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B1CB2B3B-531A-4D3D-8277-AFBE6A1397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513" y="476250"/>
            <a:ext cx="1233487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D3034AD0-D65C-4F42-BB49-6BC53297F7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1807866"/>
            <a:ext cx="7848872" cy="4488469"/>
          </a:xfrm>
          <a:prstGeom prst="rect">
            <a:avLst/>
          </a:prstGeom>
        </p:spPr>
      </p:pic>
      <p:sp>
        <p:nvSpPr>
          <p:cNvPr id="6" name="Text Box 2">
            <a:extLst>
              <a:ext uri="{FF2B5EF4-FFF2-40B4-BE49-F238E27FC236}">
                <a16:creationId xmlns:a16="http://schemas.microsoft.com/office/drawing/2014/main" id="{0352D101-649B-4531-98DC-AC362C5883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549275"/>
            <a:ext cx="6578600" cy="92333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算法流程示例</a:t>
            </a: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</a:p>
        </p:txBody>
      </p:sp>
    </p:spTree>
  </p:cSld>
  <p:clrMapOvr>
    <a:masterClrMapping/>
  </p:clrMapOvr>
  <p:transition spd="med"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日期占位符 3">
            <a:extLst>
              <a:ext uri="{FF2B5EF4-FFF2-40B4-BE49-F238E27FC236}">
                <a16:creationId xmlns:a16="http://schemas.microsoft.com/office/drawing/2014/main" id="{36087B95-A06D-4F31-A617-76595D355656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6A3DB0F-3068-48A4-82DA-A1D82F1D4E01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5543" name="Text Box 2">
            <a:extLst>
              <a:ext uri="{FF2B5EF4-FFF2-40B4-BE49-F238E27FC236}">
                <a16:creationId xmlns:a16="http://schemas.microsoft.com/office/drawing/2014/main" id="{51F20EE4-7616-4265-BE5A-C3CB763B07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549275"/>
            <a:ext cx="61198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算法基本流程</a:t>
            </a:r>
          </a:p>
        </p:txBody>
      </p:sp>
      <p:pic>
        <p:nvPicPr>
          <p:cNvPr id="65544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B2F74C62-BC74-495B-ACD8-528591FB3E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6362" y="476250"/>
            <a:ext cx="1027638" cy="1080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A6E1E918-83C5-413D-B83C-64363B74EC01}"/>
                  </a:ext>
                </a:extLst>
              </p:cNvPr>
              <p:cNvSpPr/>
              <p:nvPr/>
            </p:nvSpPr>
            <p:spPr>
              <a:xfrm>
                <a:off x="771813" y="1708456"/>
                <a:ext cx="7848872" cy="2937599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ts val="32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算法具体过程如下：</a:t>
                </a:r>
              </a:p>
              <a:p>
                <a:pPr indent="200025" algn="just">
                  <a:lnSpc>
                    <a:spcPts val="32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）在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中选取最小权边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，置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𝒊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；</a:t>
                </a:r>
                <a:endParaRPr lang="zh-CN" altLang="zh-CN" sz="24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00025" algn="just">
                  <a:lnSpc>
                    <a:spcPts val="32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）当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𝒊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𝒏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时，结束，否则转</a:t>
                </a: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(3)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</a:p>
              <a:p>
                <a:pPr indent="200025" algn="just">
                  <a:lnSpc>
                    <a:spcPts val="32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）设已选边为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,⋯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，在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中选取不同于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,⋯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𝒊</m:t>
                        </m:r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，使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,⋯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𝒊</m:t>
                        </m:r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中无回路且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𝒊</m:t>
                        </m:r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为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满足此条件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的边中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权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值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最小的边。</a:t>
                </a:r>
              </a:p>
              <a:p>
                <a:pPr>
                  <a:lnSpc>
                    <a:spcPts val="3200"/>
                  </a:lnSpc>
                </a:pP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4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）值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𝒊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𝒊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，转</a:t>
                </a: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(2)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zh-CN" altLang="en-US" sz="24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A6E1E918-83C5-413D-B83C-64363B74EC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813" y="1708456"/>
                <a:ext cx="7848872" cy="2937599"/>
              </a:xfrm>
              <a:prstGeom prst="rect">
                <a:avLst/>
              </a:prstGeom>
              <a:blipFill>
                <a:blip r:embed="rId4"/>
                <a:stretch>
                  <a:fillRect t="-2075" r="-1166" b="-39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>
            <a:extLst>
              <a:ext uri="{FF2B5EF4-FFF2-40B4-BE49-F238E27FC236}">
                <a16:creationId xmlns:a16="http://schemas.microsoft.com/office/drawing/2014/main" id="{4F8CF74E-AD9D-498D-952D-115528545A63}"/>
              </a:ext>
            </a:extLst>
          </p:cNvPr>
          <p:cNvSpPr/>
          <p:nvPr/>
        </p:nvSpPr>
        <p:spPr>
          <a:xfrm>
            <a:off x="684213" y="4918275"/>
            <a:ext cx="8136904" cy="1200329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r>
              <a:rPr lang="en-US" altLang="zh-CN" sz="24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zh-CN" altLang="zh-CN" sz="24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在克鲁斯卡尔算法的步骤</a:t>
            </a:r>
            <a:r>
              <a:rPr lang="en-US" altLang="zh-CN" sz="24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sz="24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sz="24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中，</a:t>
            </a:r>
            <a:r>
              <a:rPr lang="zh-CN" altLang="zh-CN" sz="2400" b="1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若满足条件的最小权边不止一条</a:t>
            </a:r>
            <a:r>
              <a:rPr lang="zh-CN" altLang="zh-CN" sz="24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，则可以从中选一条，这样就会产生不同的最小生成树。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日期占位符 3">
            <a:extLst>
              <a:ext uri="{FF2B5EF4-FFF2-40B4-BE49-F238E27FC236}">
                <a16:creationId xmlns:a16="http://schemas.microsoft.com/office/drawing/2014/main" id="{683AA71D-8CF0-4E49-AC56-2F37072718E0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BC4E221-B4AB-4ADC-BD44-A8B568996766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6861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F09A39F2-9984-4873-A577-C5C4E6EE55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476250"/>
            <a:ext cx="1043608" cy="1097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3" name="图片 2">
            <a:extLst>
              <a:ext uri="{FF2B5EF4-FFF2-40B4-BE49-F238E27FC236}">
                <a16:creationId xmlns:a16="http://schemas.microsoft.com/office/drawing/2014/main" id="{4869B522-7C2F-46D7-9808-AF4CDBFB6B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3526680"/>
            <a:ext cx="8066087" cy="265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CCAEF2BA-8A75-452D-922D-9C3F949C6F8E}"/>
              </a:ext>
            </a:extLst>
          </p:cNvPr>
          <p:cNvSpPr txBox="1">
            <a:spLocks noChangeArrowheads="1"/>
          </p:cNvSpPr>
          <p:nvPr/>
        </p:nvSpPr>
        <p:spPr>
          <a:xfrm>
            <a:off x="323529" y="1786309"/>
            <a:ext cx="8568952" cy="1527646"/>
          </a:xfrm>
          <a:prstGeom prst="rect">
            <a:avLst/>
          </a:prstGeom>
          <a:solidFill>
            <a:schemeClr val="accent5"/>
          </a:solidFill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 kern="1200">
                <a:solidFill>
                  <a:schemeClr val="tx1"/>
                </a:solidFill>
                <a:latin typeface="+mj-lt"/>
                <a:ea typeface="+mj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kern="1200">
                <a:solidFill>
                  <a:schemeClr val="tx1"/>
                </a:solidFill>
                <a:latin typeface="+mj-lt"/>
                <a:ea typeface="+mj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1600" kern="1200">
                <a:solidFill>
                  <a:schemeClr val="tx1"/>
                </a:solidFill>
                <a:latin typeface="+mj-lt"/>
                <a:ea typeface="+mj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 kern="1200">
                <a:solidFill>
                  <a:schemeClr val="tx1"/>
                </a:solidFill>
                <a:latin typeface="+mj-lt"/>
                <a:ea typeface="+mj-ea"/>
                <a:cs typeface="楷体_GB231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lnSpc>
                <a:spcPts val="3600"/>
              </a:lnSpc>
              <a:spcBef>
                <a:spcPts val="0"/>
              </a:spcBef>
              <a:buFontTx/>
              <a:buNone/>
              <a:defRPr/>
            </a:pPr>
            <a:r>
              <a:rPr lang="en-US" altLang="zh-CN" b="1" dirty="0">
                <a:solidFill>
                  <a:srgbClr val="FF0000"/>
                </a:solidFill>
                <a:effectLst/>
                <a:latin typeface="+mj-lt"/>
                <a:ea typeface="+mj-ea"/>
                <a:cs typeface="楷体_GB2312" pitchFamily="49" charset="-122"/>
              </a:rPr>
              <a:t>     【</a:t>
            </a:r>
            <a:r>
              <a:rPr lang="zh-CN" altLang="en-US" b="1" dirty="0">
                <a:solidFill>
                  <a:srgbClr val="FF0000"/>
                </a:solidFill>
                <a:effectLst/>
                <a:latin typeface="+mj-lt"/>
                <a:ea typeface="+mj-ea"/>
                <a:cs typeface="楷体_GB2312" pitchFamily="49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ffectLst/>
                <a:latin typeface="+mj-lt"/>
                <a:ea typeface="+mj-ea"/>
                <a:cs typeface="楷体_GB2312" pitchFamily="49" charset="-122"/>
              </a:rPr>
              <a:t>】</a:t>
            </a:r>
            <a:r>
              <a:rPr lang="zh-CN" altLang="en-US" b="1" dirty="0">
                <a:effectLst/>
                <a:latin typeface="+mj-lt"/>
                <a:ea typeface="+mj-ea"/>
                <a:cs typeface="楷体_GB2312" pitchFamily="49" charset="-122"/>
              </a:rPr>
              <a:t>用克鲁斯卡尔算法求图中赋权图的最小生成树。</a:t>
            </a:r>
            <a:endParaRPr lang="en-US" altLang="zh-CN" b="1" dirty="0">
              <a:effectLst/>
              <a:latin typeface="+mj-lt"/>
              <a:ea typeface="+mj-ea"/>
              <a:cs typeface="楷体_GB2312" pitchFamily="49" charset="-122"/>
            </a:endParaRPr>
          </a:p>
          <a:p>
            <a:pPr marL="0" indent="0" eaLnBrk="1" hangingPunct="1">
              <a:lnSpc>
                <a:spcPts val="3600"/>
              </a:lnSpc>
              <a:spcBef>
                <a:spcPts val="0"/>
              </a:spcBef>
              <a:buFontTx/>
              <a:buNone/>
              <a:defRPr/>
            </a:pPr>
            <a:r>
              <a:rPr lang="en-US" altLang="zh-CN" b="1" dirty="0">
                <a:solidFill>
                  <a:srgbClr val="FF0000"/>
                </a:solidFill>
                <a:effectLst/>
                <a:latin typeface="+mj-lt"/>
                <a:ea typeface="+mj-ea"/>
              </a:rPr>
              <a:t>     【</a:t>
            </a:r>
            <a:r>
              <a:rPr lang="zh-CN" altLang="en-US" b="1" dirty="0">
                <a:solidFill>
                  <a:srgbClr val="FF0000"/>
                </a:solidFill>
                <a:effectLst/>
                <a:latin typeface="+mj-lt"/>
                <a:ea typeface="+mj-ea"/>
              </a:rPr>
              <a:t>解</a:t>
            </a:r>
            <a:r>
              <a:rPr lang="en-US" altLang="zh-CN" b="1" dirty="0">
                <a:solidFill>
                  <a:srgbClr val="FF0000"/>
                </a:solidFill>
                <a:effectLst/>
                <a:latin typeface="+mj-lt"/>
                <a:ea typeface="+mj-ea"/>
              </a:rPr>
              <a:t>】</a:t>
            </a:r>
            <a:r>
              <a:rPr lang="zh-CN" altLang="en-US" b="1" dirty="0">
                <a:effectLst/>
                <a:latin typeface="+mj-lt"/>
                <a:ea typeface="+mj-ea"/>
              </a:rPr>
              <a:t>依次取边如下：</a:t>
            </a:r>
            <a:r>
              <a:rPr lang="en-US" altLang="zh-CN" b="1" dirty="0">
                <a:effectLst/>
                <a:latin typeface="+mj-lt"/>
                <a:ea typeface="+mj-ea"/>
                <a:sym typeface="Wingdings" panose="05000000000000000000" pitchFamily="2" charset="2"/>
              </a:rPr>
              <a:t>(</a:t>
            </a:r>
            <a:r>
              <a:rPr lang="en-US" altLang="zh-CN" b="1" dirty="0">
                <a:effectLst/>
                <a:latin typeface="+mj-lt"/>
                <a:ea typeface="+mj-ea"/>
              </a:rPr>
              <a:t>C,</a:t>
            </a:r>
            <a:r>
              <a:rPr lang="zh-CN" altLang="en-US" b="1" dirty="0">
                <a:effectLst/>
                <a:latin typeface="+mj-lt"/>
                <a:ea typeface="+mj-ea"/>
              </a:rPr>
              <a:t> </a:t>
            </a:r>
            <a:r>
              <a:rPr lang="en-US" altLang="zh-CN" b="1" dirty="0">
                <a:effectLst/>
                <a:latin typeface="+mj-lt"/>
                <a:ea typeface="+mj-ea"/>
              </a:rPr>
              <a:t>D), (F,</a:t>
            </a:r>
            <a:r>
              <a:rPr lang="zh-CN" altLang="en-US" b="1" dirty="0">
                <a:effectLst/>
                <a:latin typeface="+mj-lt"/>
                <a:ea typeface="+mj-ea"/>
              </a:rPr>
              <a:t> </a:t>
            </a:r>
            <a:r>
              <a:rPr lang="en-US" altLang="zh-CN" b="1" dirty="0">
                <a:effectLst/>
                <a:latin typeface="+mj-lt"/>
                <a:ea typeface="+mj-ea"/>
              </a:rPr>
              <a:t>G), (C,</a:t>
            </a:r>
            <a:r>
              <a:rPr lang="zh-CN" altLang="en-US" b="1" dirty="0">
                <a:effectLst/>
                <a:latin typeface="+mj-lt"/>
                <a:ea typeface="+mj-ea"/>
              </a:rPr>
              <a:t> </a:t>
            </a:r>
            <a:r>
              <a:rPr lang="en-US" altLang="zh-CN" b="1" dirty="0">
                <a:effectLst/>
                <a:latin typeface="+mj-lt"/>
                <a:ea typeface="+mj-ea"/>
              </a:rPr>
              <a:t>G), (G,</a:t>
            </a:r>
            <a:r>
              <a:rPr lang="zh-CN" altLang="en-US" b="1" dirty="0">
                <a:effectLst/>
                <a:latin typeface="+mj-lt"/>
                <a:ea typeface="+mj-ea"/>
              </a:rPr>
              <a:t> </a:t>
            </a:r>
            <a:r>
              <a:rPr lang="en-US" altLang="zh-CN" b="1" dirty="0">
                <a:effectLst/>
                <a:latin typeface="+mj-lt"/>
                <a:ea typeface="+mj-ea"/>
              </a:rPr>
              <a:t>H), (A,</a:t>
            </a:r>
            <a:r>
              <a:rPr lang="zh-CN" altLang="en-US" b="1" dirty="0">
                <a:effectLst/>
                <a:latin typeface="+mj-lt"/>
                <a:ea typeface="+mj-ea"/>
              </a:rPr>
              <a:t> </a:t>
            </a:r>
            <a:r>
              <a:rPr lang="en-US" altLang="zh-CN" b="1" dirty="0">
                <a:effectLst/>
                <a:latin typeface="+mj-lt"/>
                <a:ea typeface="+mj-ea"/>
              </a:rPr>
              <a:t>C), (B,</a:t>
            </a:r>
            <a:r>
              <a:rPr lang="zh-CN" altLang="en-US" b="1" dirty="0">
                <a:effectLst/>
                <a:latin typeface="+mj-lt"/>
                <a:ea typeface="+mj-ea"/>
              </a:rPr>
              <a:t> </a:t>
            </a:r>
            <a:r>
              <a:rPr lang="en-US" altLang="zh-CN" b="1" dirty="0">
                <a:effectLst/>
                <a:latin typeface="+mj-lt"/>
                <a:ea typeface="+mj-ea"/>
              </a:rPr>
              <a:t>C), (H,</a:t>
            </a:r>
            <a:r>
              <a:rPr lang="zh-CN" altLang="en-US" b="1" dirty="0">
                <a:effectLst/>
                <a:latin typeface="+mj-lt"/>
                <a:ea typeface="+mj-ea"/>
              </a:rPr>
              <a:t> </a:t>
            </a:r>
            <a:r>
              <a:rPr lang="en-US" altLang="zh-CN" b="1" dirty="0">
                <a:effectLst/>
                <a:latin typeface="+mj-lt"/>
                <a:ea typeface="+mj-ea"/>
              </a:rPr>
              <a:t>I), (B,</a:t>
            </a:r>
            <a:r>
              <a:rPr lang="zh-CN" altLang="en-US" b="1" dirty="0">
                <a:effectLst/>
                <a:latin typeface="+mj-lt"/>
                <a:ea typeface="+mj-ea"/>
              </a:rPr>
              <a:t> </a:t>
            </a:r>
            <a:r>
              <a:rPr lang="en-US" altLang="zh-CN" b="1" dirty="0">
                <a:effectLst/>
                <a:latin typeface="+mj-lt"/>
                <a:ea typeface="+mj-ea"/>
              </a:rPr>
              <a:t>E)</a:t>
            </a:r>
            <a:r>
              <a:rPr lang="zh-CN" altLang="en-US" b="1" dirty="0">
                <a:effectLst/>
                <a:latin typeface="+mj-lt"/>
                <a:ea typeface="+mj-ea"/>
              </a:rPr>
              <a:t>。 具体过程如图 </a:t>
            </a:r>
            <a:r>
              <a:rPr lang="en-US" altLang="zh-CN" b="1" dirty="0">
                <a:effectLst/>
                <a:latin typeface="+mj-lt"/>
                <a:ea typeface="+mj-ea"/>
              </a:rPr>
              <a:t>(b)</a:t>
            </a:r>
            <a:r>
              <a:rPr lang="zh-CN" altLang="en-US" b="1" dirty="0">
                <a:effectLst/>
                <a:latin typeface="+mj-lt"/>
                <a:ea typeface="+mj-ea"/>
              </a:rPr>
              <a:t>到 </a:t>
            </a:r>
            <a:r>
              <a:rPr lang="en-US" altLang="zh-CN" b="1" dirty="0">
                <a:effectLst/>
                <a:latin typeface="+mj-lt"/>
                <a:ea typeface="+mj-ea"/>
              </a:rPr>
              <a:t>(</a:t>
            </a:r>
            <a:r>
              <a:rPr lang="en-US" altLang="zh-CN" b="1" dirty="0" err="1">
                <a:effectLst/>
                <a:latin typeface="+mj-lt"/>
                <a:ea typeface="+mj-ea"/>
              </a:rPr>
              <a:t>i</a:t>
            </a:r>
            <a:r>
              <a:rPr lang="en-US" altLang="zh-CN" b="1" dirty="0">
                <a:effectLst/>
                <a:latin typeface="+mj-lt"/>
                <a:ea typeface="+mj-ea"/>
              </a:rPr>
              <a:t>)</a:t>
            </a:r>
            <a:r>
              <a:rPr lang="zh-CN" altLang="en-US" b="1" dirty="0">
                <a:effectLst/>
                <a:latin typeface="+mj-lt"/>
                <a:ea typeface="+mj-ea"/>
              </a:rPr>
              <a:t>。</a:t>
            </a:r>
            <a:endParaRPr lang="zh-CN" altLang="en-US" b="1" dirty="0">
              <a:cs typeface="楷体_GB2312" pitchFamily="49" charset="-122"/>
            </a:endParaRP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F3DA3E0F-B7E5-464B-8E6E-D21BB2DA4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648" y="620688"/>
            <a:ext cx="6264423" cy="83099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算法流程示例</a:t>
            </a:r>
            <a:r>
              <a:rPr lang="en-US" altLang="zh-CN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1522195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日期占位符 3">
            <a:extLst>
              <a:ext uri="{FF2B5EF4-FFF2-40B4-BE49-F238E27FC236}">
                <a16:creationId xmlns:a16="http://schemas.microsoft.com/office/drawing/2014/main" id="{7030DCE8-DA0F-4721-8B96-C8F0AD7861E7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BDB4E08-2166-4E08-883D-64834333E377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9635" name="Text Box 2">
            <a:extLst>
              <a:ext uri="{FF2B5EF4-FFF2-40B4-BE49-F238E27FC236}">
                <a16:creationId xmlns:a16="http://schemas.microsoft.com/office/drawing/2014/main" id="{C55F1D23-9355-4CD3-AC3B-C27A7A70A7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92150"/>
            <a:ext cx="61198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 题</a:t>
            </a:r>
          </a:p>
        </p:txBody>
      </p:sp>
      <p:pic>
        <p:nvPicPr>
          <p:cNvPr id="69636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730C1275-F097-4BEE-8740-64FF5F075B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513" y="476250"/>
            <a:ext cx="1233487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637" name="图片 3">
            <a:extLst>
              <a:ext uri="{FF2B5EF4-FFF2-40B4-BE49-F238E27FC236}">
                <a16:creationId xmlns:a16="http://schemas.microsoft.com/office/drawing/2014/main" id="{11376F54-6692-4B94-BA09-052FACC771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724025"/>
            <a:ext cx="7397750" cy="451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3946070"/>
      </p:ext>
    </p:extLst>
  </p:cSld>
  <p:clrMapOvr>
    <a:masterClrMapping/>
  </p:clrMapOvr>
  <p:transition spd="med">
    <p:wipe dir="r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日期占位符 3">
            <a:extLst>
              <a:ext uri="{FF2B5EF4-FFF2-40B4-BE49-F238E27FC236}">
                <a16:creationId xmlns:a16="http://schemas.microsoft.com/office/drawing/2014/main" id="{DD39D767-48E1-4839-BB88-2D129CD581B7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BD7C438-EEC5-405B-A2AD-CB73FC2E347A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4275" name="Text Box 2">
            <a:extLst>
              <a:ext uri="{FF2B5EF4-FFF2-40B4-BE49-F238E27FC236}">
                <a16:creationId xmlns:a16="http://schemas.microsoft.com/office/drawing/2014/main" id="{3C493B43-CA6D-449D-BF86-DBB4D9621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836613"/>
            <a:ext cx="61198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普莱姆算法</a:t>
            </a:r>
          </a:p>
        </p:txBody>
      </p:sp>
      <p:pic>
        <p:nvPicPr>
          <p:cNvPr id="54276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2A37107E-8CBD-42C4-9834-704618F0D5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513" y="476250"/>
            <a:ext cx="1233487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3" name="Rectangle 3">
            <a:extLst>
              <a:ext uri="{FF2B5EF4-FFF2-40B4-BE49-F238E27FC236}">
                <a16:creationId xmlns:a16="http://schemas.microsoft.com/office/drawing/2014/main" id="{EAA879EE-8BAF-46F9-8E1F-6A07011C3848}"/>
              </a:ext>
            </a:extLst>
          </p:cNvPr>
          <p:cNvSpPr>
            <a:spLocks noChangeArrowheads="1"/>
          </p:cNvSpPr>
          <p:nvPr/>
        </p:nvSpPr>
        <p:spPr bwMode="black">
          <a:xfrm>
            <a:off x="750392" y="2132856"/>
            <a:ext cx="7776864" cy="36004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342900" indent="-3429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lnSpc>
                <a:spcPct val="150000"/>
              </a:lnSpc>
              <a:buFontTx/>
              <a:buNone/>
              <a:defRPr/>
            </a:pPr>
            <a:r>
              <a:rPr lang="zh-CN" altLang="en-US" sz="3600" b="1" dirty="0">
                <a:solidFill>
                  <a:schemeClr val="bg1"/>
                </a:solidFill>
                <a:ea typeface="宋体" panose="02010600030101010101" pitchFamily="2" charset="-122"/>
              </a:rPr>
              <a:t>算法基本思想：</a:t>
            </a:r>
          </a:p>
          <a:p>
            <a:pPr>
              <a:lnSpc>
                <a:spcPct val="150000"/>
              </a:lnSpc>
              <a:buFontTx/>
              <a:buNone/>
              <a:defRPr/>
            </a:pPr>
            <a:r>
              <a:rPr kumimoji="0" lang="zh-CN" altLang="en-US" sz="28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      基于贪心策略，从任意结点开始，</a:t>
            </a:r>
            <a:r>
              <a:rPr kumimoji="0" lang="zh-CN" altLang="en-US" sz="2800" b="1" dirty="0">
                <a:solidFill>
                  <a:srgbClr val="FFFF66"/>
                </a:solidFill>
                <a:latin typeface="黑体" pitchFamily="49" charset="-122"/>
                <a:ea typeface="黑体" pitchFamily="49" charset="-122"/>
              </a:rPr>
              <a:t>每次增加一条最小权边</a:t>
            </a:r>
            <a:r>
              <a:rPr kumimoji="0" lang="zh-CN" altLang="en-US" sz="28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构成一棵新树。</a:t>
            </a:r>
            <a:endParaRPr kumimoji="0" lang="en-US" altLang="zh-CN" sz="2800" b="1" dirty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150000"/>
              </a:lnSpc>
              <a:buFontTx/>
              <a:buNone/>
              <a:defRPr/>
            </a:pPr>
            <a:r>
              <a:rPr kumimoji="0" lang="zh-CN" altLang="en-US" sz="28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      具体地说，就是每次选择</a:t>
            </a:r>
            <a:r>
              <a:rPr lang="zh-CN" altLang="en-US" sz="2800" b="1" dirty="0">
                <a:solidFill>
                  <a:srgbClr val="FFFF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一端已入选，另一端未入选的权值最小边，且不构成回路。</a:t>
            </a:r>
          </a:p>
        </p:txBody>
      </p:sp>
    </p:spTree>
  </p:cSld>
  <p:clrMapOvr>
    <a:masterClrMapping/>
  </p:clrMapOvr>
  <p:transition spd="med">
    <p:wipe dir="r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日期占位符 3">
            <a:extLst>
              <a:ext uri="{FF2B5EF4-FFF2-40B4-BE49-F238E27FC236}">
                <a16:creationId xmlns:a16="http://schemas.microsoft.com/office/drawing/2014/main" id="{31660DF2-A8F3-441A-9CE8-73E6E50CD807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F2D811B-196D-410E-8D36-A9A643B9AC87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5303" name="Text Box 2">
            <a:extLst>
              <a:ext uri="{FF2B5EF4-FFF2-40B4-BE49-F238E27FC236}">
                <a16:creationId xmlns:a16="http://schemas.microsoft.com/office/drawing/2014/main" id="{90DB857A-511F-48FF-BA0C-4782632669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549275"/>
            <a:ext cx="6578600" cy="92333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算法流程示例</a:t>
            </a: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</a:p>
        </p:txBody>
      </p:sp>
      <p:pic>
        <p:nvPicPr>
          <p:cNvPr id="55304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3E302E6A-A4F8-4A24-A4AD-22987B4B47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513" y="476250"/>
            <a:ext cx="1233487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2C54B4A-F0A0-4655-B6F1-277DE4DFFB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8" y="1700808"/>
            <a:ext cx="7200800" cy="456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94707"/>
      </p:ext>
    </p:extLst>
  </p:cSld>
  <p:clrMapOvr>
    <a:masterClrMapping/>
  </p:clrMapOvr>
  <p:transition spd="med">
    <p:wipe dir="r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日期占位符 3">
            <a:extLst>
              <a:ext uri="{FF2B5EF4-FFF2-40B4-BE49-F238E27FC236}">
                <a16:creationId xmlns:a16="http://schemas.microsoft.com/office/drawing/2014/main" id="{31660DF2-A8F3-441A-9CE8-73E6E50CD807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F2D811B-196D-410E-8D36-A9A643B9AC87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5304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3E302E6A-A4F8-4A24-A4AD-22987B4B47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6362" y="476250"/>
            <a:ext cx="1027638" cy="1080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2">
            <a:extLst>
              <a:ext uri="{FF2B5EF4-FFF2-40B4-BE49-F238E27FC236}">
                <a16:creationId xmlns:a16="http://schemas.microsoft.com/office/drawing/2014/main" id="{8BE53D3A-19DE-48CE-82E4-D178782DC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2700" y="706487"/>
            <a:ext cx="6578600" cy="92333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算法流程示例</a:t>
            </a: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46A3E18-449B-4A7F-8F50-A0E5A5FA60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544" y="1844824"/>
            <a:ext cx="8352928" cy="440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895427"/>
      </p:ext>
    </p:extLst>
  </p:cSld>
  <p:clrMapOvr>
    <a:masterClrMapping/>
  </p:clrMapOvr>
  <p:transition spd="med">
    <p:wipe dir="r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日期占位符 3">
            <a:extLst>
              <a:ext uri="{FF2B5EF4-FFF2-40B4-BE49-F238E27FC236}">
                <a16:creationId xmlns:a16="http://schemas.microsoft.com/office/drawing/2014/main" id="{31660DF2-A8F3-441A-9CE8-73E6E50CD807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F2D811B-196D-410E-8D36-A9A643B9AC87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5303" name="Text Box 2">
            <a:extLst>
              <a:ext uri="{FF2B5EF4-FFF2-40B4-BE49-F238E27FC236}">
                <a16:creationId xmlns:a16="http://schemas.microsoft.com/office/drawing/2014/main" id="{90DB857A-511F-48FF-BA0C-4782632669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549275"/>
            <a:ext cx="61198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算法基本流程</a:t>
            </a:r>
            <a:endParaRPr lang="en-US" altLang="zh-CN" sz="54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5304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3E302E6A-A4F8-4A24-A4AD-22987B4B47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513" y="476250"/>
            <a:ext cx="1233487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49A3CB80-FA3F-476A-BF10-DF88F217AA82}"/>
                  </a:ext>
                </a:extLst>
              </p:cNvPr>
              <p:cNvSpPr/>
              <p:nvPr/>
            </p:nvSpPr>
            <p:spPr>
              <a:xfrm>
                <a:off x="251520" y="1639883"/>
                <a:ext cx="8496944" cy="4668842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算法的具体过程如下：</a:t>
                </a:r>
              </a:p>
              <a:p>
                <a:pPr indent="266700" algn="just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）从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中任意选取一个结点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并令：</a:t>
                </a:r>
                <a:endParaRPr lang="en-US" altLang="zh-CN" sz="24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ctr">
                  <a:lnSpc>
                    <a:spcPts val="36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𝑻</m:t>
                        </m:r>
                      </m:sub>
                    </m:sSub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={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𝑬</m:t>
                        </m:r>
                      </m:e>
                      <m:sub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𝑻</m:t>
                        </m:r>
                      </m:sub>
                    </m:sSub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MS Mincho" panose="02020609040205080304" pitchFamily="49" charset="-128"/>
                        <a:cs typeface="MS Mincho" panose="02020609040205080304" pitchFamily="49" charset="-128"/>
                      </a:rPr>
                      <m:t>∅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𝒌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endParaRPr lang="zh-CN" altLang="zh-CN" sz="24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r>
                  <a:rPr lang="zh-CN" altLang="zh-CN" sz="24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𝑽</m:t>
                    </m:r>
                    <m:r>
                      <a:rPr lang="zh-CN" altLang="en-US" sz="2400" b="1" i="1" kern="100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m:t>−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 smtClean="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zh-CN" sz="2400" b="1" i="1" kern="100" smtClean="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𝑻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中选取与某个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 smtClean="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 kern="100" smtClean="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  <m:r>
                      <a:rPr lang="zh-CN" altLang="zh-CN" sz="2400" b="1" i="1" kern="100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∈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 smtClean="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zh-CN" sz="2400" b="1" i="1" kern="100" smtClean="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𝑻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邻接的结点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 smtClean="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 kern="100" smtClean="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，使得边</a:t>
                </a:r>
                <a14:m>
                  <m:oMath xmlns:m="http://schemas.openxmlformats.org/officeDocument/2006/math">
                    <m:r>
                      <a:rPr lang="en-US" altLang="zh-CN" sz="2400" b="1" kern="100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 smtClean="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 kern="100" smtClean="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  <m:r>
                      <a:rPr lang="zh-CN" altLang="zh-CN" sz="2400" b="1" kern="100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，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 smtClean="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 kern="100" smtClean="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𝒋</m:t>
                        </m:r>
                      </m:sub>
                    </m:sSub>
                    <m:r>
                      <a:rPr lang="en-US" altLang="zh-CN" sz="2400" b="1" kern="100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sz="24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的权最小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并令：</a:t>
                </a:r>
                <a:endParaRPr lang="en-US" altLang="zh-CN" sz="24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bg1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𝑻</m:t>
                        </m:r>
                      </m:sub>
                    </m:sSub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𝑻</m:t>
                        </m:r>
                      </m:sub>
                    </m:sSub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∪{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𝒋</m:t>
                        </m:r>
                      </m:sub>
                    </m:sSub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𝑬</m:t>
                        </m:r>
                      </m:e>
                      <m:sub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𝑻</m:t>
                        </m:r>
                      </m:sub>
                    </m:sSub>
                    <m:r>
                      <a:rPr lang="en-US" altLang="zh-CN" sz="2400" b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𝑬</m:t>
                        </m:r>
                      </m:e>
                      <m:sub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𝑻</m:t>
                        </m:r>
                      </m:sub>
                    </m:sSub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∪{(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  <m:r>
                      <a:rPr lang="zh-CN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，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𝒋</m:t>
                        </m:r>
                      </m:sub>
                    </m:sSub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)}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𝒌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𝒌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endParaRPr lang="zh-CN" altLang="zh-CN" sz="24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）重复步骤</a:t>
                </a: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(2)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，直到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𝒌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=|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𝑽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|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r>
                  <a:rPr lang="zh-CN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endParaRPr lang="en-US" altLang="zh-CN" sz="24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ts val="3600"/>
                  </a:lnSpc>
                  <a:spcAft>
                    <a:spcPts val="0"/>
                  </a:spcAft>
                </a:pPr>
                <a:endParaRPr lang="zh-CN" altLang="zh-CN" sz="24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在步骤</a:t>
                </a: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(2)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中，若满足条件的边不止一条，则可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任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选一条。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不同的选择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会产生不同的最小生成树。</a:t>
                </a: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49A3CB80-FA3F-476A-BF10-DF88F217AA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639883"/>
                <a:ext cx="8496944" cy="4668842"/>
              </a:xfrm>
              <a:prstGeom prst="rect">
                <a:avLst/>
              </a:prstGeom>
              <a:blipFill>
                <a:blip r:embed="rId4"/>
                <a:stretch>
                  <a:fillRect l="-1076" t="-522" r="-1148" b="-14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wipe dir="r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日期占位符 3">
            <a:extLst>
              <a:ext uri="{FF2B5EF4-FFF2-40B4-BE49-F238E27FC236}">
                <a16:creationId xmlns:a16="http://schemas.microsoft.com/office/drawing/2014/main" id="{31660DF2-A8F3-441A-9CE8-73E6E50CD807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F2D811B-196D-410E-8D36-A9A643B9AC87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5304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3E302E6A-A4F8-4A24-A4AD-22987B4B47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6362" y="476250"/>
            <a:ext cx="1027638" cy="1080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2">
            <a:extLst>
              <a:ext uri="{FF2B5EF4-FFF2-40B4-BE49-F238E27FC236}">
                <a16:creationId xmlns:a16="http://schemas.microsoft.com/office/drawing/2014/main" id="{8BE53D3A-19DE-48CE-82E4-D178782DC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2699" y="633462"/>
            <a:ext cx="6578600" cy="92333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算法的正确性</a:t>
            </a:r>
            <a:endParaRPr lang="en-US" altLang="zh-CN" sz="54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B193F7D-04FC-463C-82BC-89F6F70E4957}"/>
              </a:ext>
            </a:extLst>
          </p:cNvPr>
          <p:cNvSpPr/>
          <p:nvPr/>
        </p:nvSpPr>
        <p:spPr>
          <a:xfrm>
            <a:off x="395536" y="2132856"/>
            <a:ext cx="8424936" cy="3481018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8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zh-CN" altLang="zh-CN" sz="28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由于</a:t>
            </a:r>
            <a:r>
              <a:rPr lang="zh-CN" altLang="zh-CN" sz="2800" b="1" dirty="0"/>
              <a:t>克鲁斯卡尔算法</a:t>
            </a:r>
            <a:r>
              <a:rPr lang="zh-CN" altLang="en-US" sz="28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zh-CN" altLang="zh-CN" sz="2800" b="1" dirty="0"/>
              <a:t>普莱姆算法</a:t>
            </a:r>
            <a:r>
              <a:rPr lang="zh-CN" altLang="en-US" sz="2800" b="1" dirty="0">
                <a:solidFill>
                  <a:schemeClr val="tx1"/>
                </a:solidFill>
              </a:rPr>
              <a:t>都是</a:t>
            </a:r>
            <a:r>
              <a:rPr lang="zh-CN" altLang="zh-CN" sz="28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基于</a:t>
            </a:r>
            <a:r>
              <a:rPr lang="zh-CN" altLang="zh-CN" sz="2800" b="1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贪心策略</a:t>
            </a:r>
            <a:r>
              <a:rPr lang="zh-CN" altLang="zh-CN" sz="28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，每次循环只考虑</a:t>
            </a:r>
            <a:r>
              <a:rPr lang="zh-CN" altLang="zh-CN" sz="2800" b="1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本次选择的最优结果</a:t>
            </a:r>
            <a:r>
              <a:rPr lang="zh-CN" altLang="zh-CN" sz="28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，而不考虑下次如何选择，</a:t>
            </a:r>
            <a:r>
              <a:rPr lang="zh-CN" altLang="en-US" sz="28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因而</a:t>
            </a:r>
            <a:r>
              <a:rPr lang="zh-CN" altLang="zh-CN" sz="28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是一种</a:t>
            </a:r>
            <a:r>
              <a:rPr lang="zh-CN" altLang="zh-CN" sz="2800" b="1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局部最优算法</a:t>
            </a:r>
            <a:r>
              <a:rPr lang="zh-CN" altLang="zh-CN" sz="28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800" b="1" kern="10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</a:pPr>
            <a:r>
              <a:rPr lang="en-US" altLang="zh-CN" sz="28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zh-CN" altLang="zh-CN" sz="28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因此，必须证明算法的正确性</a:t>
            </a:r>
            <a:r>
              <a:rPr lang="zh-CN" altLang="en-US" sz="28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，即要证明</a:t>
            </a:r>
            <a:r>
              <a:rPr lang="zh-CN" altLang="en-US" sz="2800" b="1" kern="10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可以通过局部最优实现整体最优</a:t>
            </a:r>
            <a:r>
              <a:rPr lang="zh-CN" altLang="zh-CN" sz="28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278402805"/>
      </p:ext>
    </p:extLst>
  </p:cSld>
  <p:clrMapOvr>
    <a:masterClrMapping/>
  </p:clrMapOvr>
  <p:transition spd="med">
    <p:wipe dir="r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日期占位符 3">
            <a:extLst>
              <a:ext uri="{FF2B5EF4-FFF2-40B4-BE49-F238E27FC236}">
                <a16:creationId xmlns:a16="http://schemas.microsoft.com/office/drawing/2014/main" id="{31660DF2-A8F3-441A-9CE8-73E6E50CD807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F2D811B-196D-410E-8D36-A9A643B9AC87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5304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3E302E6A-A4F8-4A24-A4AD-22987B4B47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6362" y="476250"/>
            <a:ext cx="1027638" cy="1080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2">
            <a:extLst>
              <a:ext uri="{FF2B5EF4-FFF2-40B4-BE49-F238E27FC236}">
                <a16:creationId xmlns:a16="http://schemas.microsoft.com/office/drawing/2014/main" id="{8BE53D3A-19DE-48CE-82E4-D178782DC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2700" y="764704"/>
            <a:ext cx="6578600" cy="92333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算法的正确性</a:t>
            </a:r>
            <a:endParaRPr lang="en-US" altLang="zh-CN" sz="54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AB1257D3-87BB-4F59-B695-2B40D6ED41F5}"/>
                  </a:ext>
                </a:extLst>
              </p:cNvPr>
              <p:cNvSpPr/>
              <p:nvPr/>
            </p:nvSpPr>
            <p:spPr>
              <a:xfrm>
                <a:off x="377534" y="4230454"/>
                <a:ext cx="8496944" cy="169110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ct val="150000"/>
                  </a:lnSpc>
                  <a:spcAft>
                    <a:spcPts val="2400"/>
                  </a:spcAft>
                </a:pPr>
                <a:r>
                  <a:rPr lang="en-US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【定理】设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</m:t>
                        </m:r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𝑬</m:t>
                        </m:r>
                        <m:r>
                          <a:rPr lang="en-US" altLang="zh-CN" sz="2400" b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𝑾</m:t>
                        </m:r>
                      </m:e>
                    </m:d>
                  </m:oMath>
                </a14:m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是任意给定的</a:t>
                </a:r>
                <a:r>
                  <a:rPr lang="zh-CN" altLang="en-US" sz="2400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赋值连通无向图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则由</a:t>
                </a:r>
                <a:r>
                  <a:rPr lang="zh-CN" altLang="zh-CN" sz="24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普莱姆算法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构造的</a:t>
                </a:r>
                <a:r>
                  <a:rPr lang="zh-CN" altLang="zh-CN" sz="2400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任何生成树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𝑻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{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,…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𝒏</m:t>
                        </m:r>
                        <m:r>
                          <a:rPr lang="zh-CN" altLang="en-US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zh-CN" altLang="zh-CN" sz="2400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都是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400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的最小生成树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，其中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𝒏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的结点数。 </a:t>
                </a: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</a:t>
                </a:r>
                <a:endParaRPr lang="zh-CN" altLang="zh-CN" sz="24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AB1257D3-87BB-4F59-B695-2B40D6ED41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534" y="4230454"/>
                <a:ext cx="8496944" cy="1691104"/>
              </a:xfrm>
              <a:prstGeom prst="rect">
                <a:avLst/>
              </a:prstGeom>
              <a:blipFill>
                <a:blip r:embed="rId4"/>
                <a:stretch>
                  <a:fillRect l="-1148" r="-1076" b="-61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D948D8F2-4A9D-47E7-A6AE-4D76609F3950}"/>
                  </a:ext>
                </a:extLst>
              </p:cNvPr>
              <p:cNvSpPr/>
              <p:nvPr/>
            </p:nvSpPr>
            <p:spPr>
              <a:xfrm>
                <a:off x="323528" y="2113692"/>
                <a:ext cx="8550950" cy="169110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【定理】设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</m:t>
                        </m:r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𝑬</m:t>
                        </m:r>
                        <m:r>
                          <a:rPr lang="en-US" altLang="zh-CN" sz="2400" b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𝑾</m:t>
                        </m:r>
                      </m:e>
                    </m:d>
                  </m:oMath>
                </a14:m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是任意给定的</a:t>
                </a:r>
                <a:r>
                  <a:rPr lang="zh-CN" altLang="en-US" sz="2400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赋值连通无向图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则由</a:t>
                </a:r>
                <a:r>
                  <a:rPr lang="zh-CN" altLang="zh-CN" sz="24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克鲁斯卡尔算法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构造的任何生成树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𝑻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{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,…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𝒏</m:t>
                        </m:r>
                        <m:r>
                          <a:rPr lang="zh-CN" altLang="en-US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zh-CN" altLang="zh-CN" sz="24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都是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4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的最小生成树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，其中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𝒏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的结点数。</a:t>
                </a: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D948D8F2-4A9D-47E7-A6AE-4D76609F39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2113692"/>
                <a:ext cx="8550950" cy="1691104"/>
              </a:xfrm>
              <a:prstGeom prst="rect">
                <a:avLst/>
              </a:prstGeom>
              <a:blipFill>
                <a:blip r:embed="rId5"/>
                <a:stretch>
                  <a:fillRect l="-1069" r="-1140" b="-61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2179423"/>
      </p:ext>
    </p:extLst>
  </p:cSld>
  <p:clrMapOvr>
    <a:masterClrMapping/>
  </p:clrMapOvr>
  <p:transition spd="med">
    <p:wipe dir="r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日期占位符 3">
            <a:extLst>
              <a:ext uri="{FF2B5EF4-FFF2-40B4-BE49-F238E27FC236}">
                <a16:creationId xmlns:a16="http://schemas.microsoft.com/office/drawing/2014/main" id="{074F714F-09EA-4FED-945A-9B87255DF4E5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889ED91-F82A-431A-9ED6-53C03507B9D4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grpSp>
        <p:nvGrpSpPr>
          <p:cNvPr id="73731" name="Group 21">
            <a:extLst>
              <a:ext uri="{FF2B5EF4-FFF2-40B4-BE49-F238E27FC236}">
                <a16:creationId xmlns:a16="http://schemas.microsoft.com/office/drawing/2014/main" id="{5972830F-1404-4CA6-8D3B-883A69B2FB9F}"/>
              </a:ext>
            </a:extLst>
          </p:cNvPr>
          <p:cNvGrpSpPr>
            <a:grpSpLocks/>
          </p:cNvGrpSpPr>
          <p:nvPr/>
        </p:nvGrpSpPr>
        <p:grpSpPr bwMode="auto">
          <a:xfrm>
            <a:off x="2411760" y="2204864"/>
            <a:ext cx="4729162" cy="3671888"/>
            <a:chOff x="1516" y="1344"/>
            <a:chExt cx="2979" cy="2313"/>
          </a:xfrm>
        </p:grpSpPr>
        <p:sp>
          <p:nvSpPr>
            <p:cNvPr id="1170441" name="AutoShape 9">
              <a:extLst>
                <a:ext uri="{FF2B5EF4-FFF2-40B4-BE49-F238E27FC236}">
                  <a16:creationId xmlns:a16="http://schemas.microsoft.com/office/drawing/2014/main" id="{CAF5C95E-9D93-4272-86C3-5A3FFC33015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757" y="1443"/>
              <a:ext cx="2711" cy="382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hlink"/>
                </a:gs>
                <a:gs pos="50000">
                  <a:schemeClr val="hlink">
                    <a:gamma/>
                    <a:tint val="21176"/>
                    <a:invGamma/>
                  </a:schemeClr>
                </a:gs>
                <a:gs pos="100000">
                  <a:schemeClr val="hlink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99190" dir="238833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73734" name="AutoShape 10">
              <a:extLst>
                <a:ext uri="{FF2B5EF4-FFF2-40B4-BE49-F238E27FC236}">
                  <a16:creationId xmlns:a16="http://schemas.microsoft.com/office/drawing/2014/main" id="{F922B8F5-2E10-4C48-8A21-33A16A16C6D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19" y="1344"/>
              <a:ext cx="428" cy="573"/>
            </a:xfrm>
            <a:prstGeom prst="diamond">
              <a:avLst/>
            </a:prstGeom>
            <a:solidFill>
              <a:schemeClr val="hlink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63500" dir="221219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73735" name="Text Box 11">
              <a:extLst>
                <a:ext uri="{FF2B5EF4-FFF2-40B4-BE49-F238E27FC236}">
                  <a16:creationId xmlns:a16="http://schemas.microsoft.com/office/drawing/2014/main" id="{C105E389-C6D4-4D30-B8B9-A7078113D309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038" y="1481"/>
              <a:ext cx="2140" cy="3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无向树与生成树</a:t>
              </a:r>
            </a:p>
          </p:txBody>
        </p:sp>
        <p:sp>
          <p:nvSpPr>
            <p:cNvPr id="73736" name="Text Box 12">
              <a:extLst>
                <a:ext uri="{FF2B5EF4-FFF2-40B4-BE49-F238E27FC236}">
                  <a16:creationId xmlns:a16="http://schemas.microsoft.com/office/drawing/2014/main" id="{88F9E5F0-DBFF-4AE0-9786-0CEFE998879A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10" y="1465"/>
              <a:ext cx="226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>
                  <a:solidFill>
                    <a:schemeClr val="bg1"/>
                  </a:solidFill>
                  <a:latin typeface="黑体" panose="02010609060101010101" pitchFamily="49" charset="-122"/>
                </a:rPr>
                <a:t>1</a:t>
              </a:r>
            </a:p>
          </p:txBody>
        </p:sp>
        <p:sp>
          <p:nvSpPr>
            <p:cNvPr id="1170446" name="AutoShape 14">
              <a:extLst>
                <a:ext uri="{FF2B5EF4-FFF2-40B4-BE49-F238E27FC236}">
                  <a16:creationId xmlns:a16="http://schemas.microsoft.com/office/drawing/2014/main" id="{39D8566E-5A46-480B-9A23-6659556831E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756" y="2620"/>
              <a:ext cx="2736" cy="375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chemeClr val="folHlink">
                    <a:gamma/>
                    <a:tint val="21176"/>
                    <a:invGamma/>
                  </a:schemeClr>
                </a:gs>
                <a:gs pos="100000">
                  <a:schemeClr val="folHlink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99190" dir="238833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73738" name="AutoShape 15">
              <a:extLst>
                <a:ext uri="{FF2B5EF4-FFF2-40B4-BE49-F238E27FC236}">
                  <a16:creationId xmlns:a16="http://schemas.microsoft.com/office/drawing/2014/main" id="{1610325E-C6DB-41DF-A6CA-99ED9C5C652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16" y="2523"/>
              <a:ext cx="432" cy="560"/>
            </a:xfrm>
            <a:prstGeom prst="diamond">
              <a:avLst/>
            </a:prstGeom>
            <a:solidFill>
              <a:schemeClr val="folHlink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63500" dir="221219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73739" name="Text Box 16">
              <a:extLst>
                <a:ext uri="{FF2B5EF4-FFF2-40B4-BE49-F238E27FC236}">
                  <a16:creationId xmlns:a16="http://schemas.microsoft.com/office/drawing/2014/main" id="{B946CEB8-26AE-436A-9CD9-D56CC05F6E7F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032" y="2667"/>
              <a:ext cx="2160" cy="3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特殊根树与算法</a:t>
              </a:r>
            </a:p>
          </p:txBody>
        </p:sp>
        <p:sp>
          <p:nvSpPr>
            <p:cNvPr id="73740" name="Text Box 17">
              <a:extLst>
                <a:ext uri="{FF2B5EF4-FFF2-40B4-BE49-F238E27FC236}">
                  <a16:creationId xmlns:a16="http://schemas.microsoft.com/office/drawing/2014/main" id="{A9A88809-6F80-4A37-948E-4DC933425964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22" y="2604"/>
              <a:ext cx="2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>
                  <a:solidFill>
                    <a:schemeClr val="bg1"/>
                  </a:solidFill>
                  <a:latin typeface="黑体" panose="02010609060101010101" pitchFamily="49" charset="-122"/>
                </a:rPr>
                <a:t>3</a:t>
              </a:r>
            </a:p>
          </p:txBody>
        </p:sp>
        <p:sp>
          <p:nvSpPr>
            <p:cNvPr id="73741" name="AutoShape 19">
              <a:extLst>
                <a:ext uri="{FF2B5EF4-FFF2-40B4-BE49-F238E27FC236}">
                  <a16:creationId xmlns:a16="http://schemas.microsoft.com/office/drawing/2014/main" id="{1E3EC5C4-127D-421A-801E-3233611A710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759" y="2030"/>
              <a:ext cx="2736" cy="374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765E00"/>
                </a:gs>
                <a:gs pos="50000">
                  <a:srgbClr val="FFCC00"/>
                </a:gs>
                <a:gs pos="100000">
                  <a:srgbClr val="765E00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99190" dir="238833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73742" name="AutoShape 20">
              <a:extLst>
                <a:ext uri="{FF2B5EF4-FFF2-40B4-BE49-F238E27FC236}">
                  <a16:creationId xmlns:a16="http://schemas.microsoft.com/office/drawing/2014/main" id="{1C67198C-55C8-40A4-B1EF-F57E8C8ED41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19" y="1933"/>
              <a:ext cx="432" cy="561"/>
            </a:xfrm>
            <a:prstGeom prst="diamond">
              <a:avLst/>
            </a:prstGeom>
            <a:solidFill>
              <a:srgbClr val="CC9900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63500" dir="221219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73743" name="Text Box 21">
              <a:extLst>
                <a:ext uri="{FF2B5EF4-FFF2-40B4-BE49-F238E27FC236}">
                  <a16:creationId xmlns:a16="http://schemas.microsoft.com/office/drawing/2014/main" id="{FB4AD5B1-2E97-4D81-919C-A1789CDAC170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025" y="2056"/>
              <a:ext cx="21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根树的基本知识</a:t>
              </a:r>
            </a:p>
          </p:txBody>
        </p:sp>
        <p:sp>
          <p:nvSpPr>
            <p:cNvPr id="73744" name="Text Box 22">
              <a:extLst>
                <a:ext uri="{FF2B5EF4-FFF2-40B4-BE49-F238E27FC236}">
                  <a16:creationId xmlns:a16="http://schemas.microsoft.com/office/drawing/2014/main" id="{84D1784E-FBB9-4CCF-8EAB-21EC022770C4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10" y="2013"/>
              <a:ext cx="228" cy="3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>
                  <a:solidFill>
                    <a:schemeClr val="bg1"/>
                  </a:solidFill>
                  <a:latin typeface="黑体" panose="02010609060101010101" pitchFamily="49" charset="-122"/>
                </a:rPr>
                <a:t>2</a:t>
              </a:r>
            </a:p>
          </p:txBody>
        </p:sp>
        <p:sp>
          <p:nvSpPr>
            <p:cNvPr id="73745" name="AutoShape 29">
              <a:extLst>
                <a:ext uri="{FF2B5EF4-FFF2-40B4-BE49-F238E27FC236}">
                  <a16:creationId xmlns:a16="http://schemas.microsoft.com/office/drawing/2014/main" id="{42BEB154-0C99-4E73-86CB-C309D0A0863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756" y="3207"/>
              <a:ext cx="2736" cy="363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3366FF"/>
                </a:gs>
                <a:gs pos="50000">
                  <a:srgbClr val="D4DFFF"/>
                </a:gs>
                <a:gs pos="100000">
                  <a:srgbClr val="3366FF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99190" dir="238833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73746" name="AutoShape 30">
              <a:extLst>
                <a:ext uri="{FF2B5EF4-FFF2-40B4-BE49-F238E27FC236}">
                  <a16:creationId xmlns:a16="http://schemas.microsoft.com/office/drawing/2014/main" id="{A0A8ED9B-F5B6-41F7-8E61-07CA4036754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16" y="3113"/>
              <a:ext cx="432" cy="544"/>
            </a:xfrm>
            <a:prstGeom prst="diamond">
              <a:avLst/>
            </a:prstGeom>
            <a:solidFill>
              <a:srgbClr val="3366FF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63500" dir="221219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73747" name="Text Box 31">
              <a:extLst>
                <a:ext uri="{FF2B5EF4-FFF2-40B4-BE49-F238E27FC236}">
                  <a16:creationId xmlns:a16="http://schemas.microsoft.com/office/drawing/2014/main" id="{E07D2F16-831A-4B27-BBAA-4A266D8E9B32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900" y="3252"/>
              <a:ext cx="21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   树模型的应用</a:t>
              </a:r>
            </a:p>
          </p:txBody>
        </p:sp>
        <p:sp>
          <p:nvSpPr>
            <p:cNvPr id="73748" name="Text Box 32">
              <a:extLst>
                <a:ext uri="{FF2B5EF4-FFF2-40B4-BE49-F238E27FC236}">
                  <a16:creationId xmlns:a16="http://schemas.microsoft.com/office/drawing/2014/main" id="{7F46339A-3C1B-49D9-9138-D4191E90EA25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20" y="3209"/>
              <a:ext cx="2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>
                  <a:solidFill>
                    <a:schemeClr val="bg1"/>
                  </a:solidFill>
                  <a:latin typeface="黑体" panose="02010609060101010101" pitchFamily="49" charset="-122"/>
                </a:rPr>
                <a:t>4</a:t>
              </a:r>
            </a:p>
          </p:txBody>
        </p:sp>
      </p:grpSp>
      <p:sp>
        <p:nvSpPr>
          <p:cNvPr id="73732" name="Text Box 2">
            <a:extLst>
              <a:ext uri="{FF2B5EF4-FFF2-40B4-BE49-F238E27FC236}">
                <a16:creationId xmlns:a16="http://schemas.microsoft.com/office/drawing/2014/main" id="{2AA96828-E184-4289-A6AF-85BEE759B1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0813" y="877888"/>
            <a:ext cx="708660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本章学习内容</a:t>
            </a:r>
            <a:endParaRPr lang="zh-CN" altLang="en-US" sz="4800" b="1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日期占位符 3">
            <a:extLst>
              <a:ext uri="{FF2B5EF4-FFF2-40B4-BE49-F238E27FC236}">
                <a16:creationId xmlns:a16="http://schemas.microsoft.com/office/drawing/2014/main" id="{7CA4C067-B411-480E-9AD6-3E749C133F80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5E71B2E-D589-4132-8281-8869D3507FDD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4755" name="页脚占位符 4">
            <a:extLst>
              <a:ext uri="{FF2B5EF4-FFF2-40B4-BE49-F238E27FC236}">
                <a16:creationId xmlns:a16="http://schemas.microsoft.com/office/drawing/2014/main" id="{ACB4F453-1BAE-4B3B-86DE-046B5743013E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74756" name="灯片编号占位符 5">
            <a:extLst>
              <a:ext uri="{FF2B5EF4-FFF2-40B4-BE49-F238E27FC236}">
                <a16:creationId xmlns:a16="http://schemas.microsoft.com/office/drawing/2014/main" id="{6CA63F29-740C-4E1E-A93F-1A0C25B52BD1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561C55B6-282E-4AAB-8690-041946EEB2DA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52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4757" name="Rectangle 4">
            <a:extLst>
              <a:ext uri="{FF2B5EF4-FFF2-40B4-BE49-F238E27FC236}">
                <a16:creationId xmlns:a16="http://schemas.microsoft.com/office/drawing/2014/main" id="{72D6E062-77FF-472F-95AC-FD6FD166CD0D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1190625" y="2565400"/>
            <a:ext cx="7197725" cy="1439863"/>
          </a:xfrm>
          <a:solidFill>
            <a:srgbClr val="0000FF"/>
          </a:solidFill>
        </p:spPr>
        <p:txBody>
          <a:bodyPr/>
          <a:lstStyle/>
          <a:p>
            <a:pPr eaLnBrk="1" hangingPunct="1"/>
            <a:r>
              <a:rPr lang="zh-CN" altLang="en-US" sz="6600" b="1">
                <a:solidFill>
                  <a:schemeClr val="bg1"/>
                </a:solidFill>
              </a:rPr>
              <a:t>根树的基本知识</a:t>
            </a:r>
          </a:p>
        </p:txBody>
      </p:sp>
      <p:pic>
        <p:nvPicPr>
          <p:cNvPr id="74758" name="Picture 7" descr="C:\Program Files\Microsoft Office\MEDIA\CAGCAT10\j0292982.wmf">
            <a:extLst>
              <a:ext uri="{FF2B5EF4-FFF2-40B4-BE49-F238E27FC236}">
                <a16:creationId xmlns:a16="http://schemas.microsoft.com/office/drawing/2014/main" id="{1E3C3160-F84C-40D0-9EB7-CB8EC128F6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575" y="4738688"/>
            <a:ext cx="1371600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日期占位符 3">
            <a:extLst>
              <a:ext uri="{FF2B5EF4-FFF2-40B4-BE49-F238E27FC236}">
                <a16:creationId xmlns:a16="http://schemas.microsoft.com/office/drawing/2014/main" id="{D59EF6B6-7512-43C1-A465-C2AC3A58AB47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968871E-BDF9-4BF1-81F5-1A0BA67B636A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5779" name="页脚占位符 4">
            <a:extLst>
              <a:ext uri="{FF2B5EF4-FFF2-40B4-BE49-F238E27FC236}">
                <a16:creationId xmlns:a16="http://schemas.microsoft.com/office/drawing/2014/main" id="{91FCC4F9-DA83-41F7-818D-CE69F2BCA682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75780" name="灯片编号占位符 5">
            <a:extLst>
              <a:ext uri="{FF2B5EF4-FFF2-40B4-BE49-F238E27FC236}">
                <a16:creationId xmlns:a16="http://schemas.microsoft.com/office/drawing/2014/main" id="{A1336157-5626-4DB9-A961-EBD0D1886468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03A2194D-80A0-495B-BD19-FC68B4A0068A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53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5781" name="Text Box 2">
            <a:extLst>
              <a:ext uri="{FF2B5EF4-FFF2-40B4-BE49-F238E27FC236}">
                <a16:creationId xmlns:a16="http://schemas.microsoft.com/office/drawing/2014/main" id="{A91322E0-D4AC-4907-BD0C-BF53BEAA8E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836613"/>
            <a:ext cx="7086600" cy="923925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根树的基本知识</a:t>
            </a:r>
          </a:p>
        </p:txBody>
      </p:sp>
      <p:sp>
        <p:nvSpPr>
          <p:cNvPr id="75782" name="Rectangle 3">
            <a:extLst>
              <a:ext uri="{FF2B5EF4-FFF2-40B4-BE49-F238E27FC236}">
                <a16:creationId xmlns:a16="http://schemas.microsoft.com/office/drawing/2014/main" id="{8BFDDD8F-2696-437F-B6D5-D3440DCA406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555776" y="2481146"/>
            <a:ext cx="4392017" cy="316865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55000"/>
              </a:lnSpc>
              <a:buFont typeface="Wingdings" panose="05000000000000000000" pitchFamily="2" charset="2"/>
              <a:buChar char="J"/>
            </a:pPr>
            <a:r>
              <a:rPr lang="en-US" altLang="zh-CN" sz="3600" b="1" dirty="0"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</a:t>
            </a:r>
            <a:r>
              <a:rPr lang="zh-CN" altLang="en-US" sz="3600" b="1" dirty="0"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有向树与根树</a:t>
            </a:r>
          </a:p>
          <a:p>
            <a:pPr eaLnBrk="1" hangingPunct="1">
              <a:lnSpc>
                <a:spcPct val="155000"/>
              </a:lnSpc>
              <a:buFont typeface="Wingdings" panose="05000000000000000000" pitchFamily="2" charset="2"/>
              <a:buChar char="4"/>
            </a:pPr>
            <a:r>
              <a:rPr lang="zh-CN" altLang="en-US" sz="36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根树的基本算法</a:t>
            </a:r>
          </a:p>
          <a:p>
            <a:pPr eaLnBrk="1" hangingPunct="1">
              <a:lnSpc>
                <a:spcPct val="155000"/>
              </a:lnSpc>
              <a:buFont typeface="Wingdings" panose="05000000000000000000" pitchFamily="2" charset="2"/>
              <a:buChar char="4"/>
            </a:pPr>
            <a:r>
              <a:rPr lang="zh-CN" altLang="en-US" sz="36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前缀码与最优树</a:t>
            </a:r>
          </a:p>
        </p:txBody>
      </p:sp>
      <p:pic>
        <p:nvPicPr>
          <p:cNvPr id="75783" name="Picture 7" descr="C:\Program Files\Microsoft Office\MEDIA\CAGCAT10\j0292982.wmf">
            <a:extLst>
              <a:ext uri="{FF2B5EF4-FFF2-40B4-BE49-F238E27FC236}">
                <a16:creationId xmlns:a16="http://schemas.microsoft.com/office/drawing/2014/main" id="{10BCE852-7E74-4C10-A5FD-BE6C96C81E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575" y="4738688"/>
            <a:ext cx="1371600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091" name="Rectangle 3">
            <a:extLst>
              <a:ext uri="{FF2B5EF4-FFF2-40B4-BE49-F238E27FC236}">
                <a16:creationId xmlns:a16="http://schemas.microsoft.com/office/drawing/2014/main" id="{B6F9F816-FFF5-4F9C-B2EC-2469506D31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7544" y="1844824"/>
            <a:ext cx="8352928" cy="1223962"/>
          </a:xfrm>
          <a:solidFill>
            <a:schemeClr val="accent6">
              <a:lumMod val="75000"/>
            </a:schemeClr>
          </a:solidFill>
        </p:spPr>
        <p:txBody>
          <a:bodyPr/>
          <a:lstStyle/>
          <a:p>
            <a:pPr marL="0" indent="0" algn="just" eaLnBrk="1" hangingPunct="1">
              <a:lnSpc>
                <a:spcPct val="150000"/>
              </a:lnSpc>
              <a:buFontTx/>
              <a:buNone/>
              <a:defRPr/>
            </a:pP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  </a:t>
            </a:r>
            <a:r>
              <a:rPr lang="en-US" altLang="zh-CN" dirty="0">
                <a:solidFill>
                  <a:schemeClr val="bg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【</a:t>
            </a:r>
            <a:r>
              <a:rPr lang="zh-CN" altLang="en-US" dirty="0">
                <a:solidFill>
                  <a:schemeClr val="bg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定义</a:t>
            </a:r>
            <a:r>
              <a:rPr lang="en-US" altLang="zh-CN" dirty="0">
                <a:solidFill>
                  <a:schemeClr val="bg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】</a:t>
            </a:r>
            <a:r>
              <a:rPr lang="zh-CN" altLang="en-US" dirty="0">
                <a:solidFill>
                  <a:schemeClr val="bg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对于任意一个</a:t>
            </a:r>
            <a:r>
              <a:rPr lang="zh-CN" altLang="en-US" dirty="0">
                <a:solidFill>
                  <a:srgbClr val="FFFF66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有向图</a:t>
            </a:r>
            <a:r>
              <a:rPr lang="zh-CN" altLang="en-US" dirty="0">
                <a:solidFill>
                  <a:schemeClr val="bg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，如果</a:t>
            </a:r>
            <a:r>
              <a:rPr lang="zh-CN" altLang="en-US" dirty="0">
                <a:solidFill>
                  <a:srgbClr val="FFFF66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略去其所有有向边方向而得到的无向图</a:t>
            </a:r>
            <a:r>
              <a:rPr lang="zh-CN" altLang="en-US" dirty="0">
                <a:solidFill>
                  <a:schemeClr val="bg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是一棵无向树，则称该有向图为</a:t>
            </a:r>
            <a:r>
              <a:rPr lang="zh-CN" altLang="en-US" dirty="0">
                <a:solidFill>
                  <a:srgbClr val="FFFF66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有向树</a:t>
            </a:r>
            <a:r>
              <a:rPr lang="zh-CN" altLang="en-US" dirty="0">
                <a:solidFill>
                  <a:schemeClr val="bg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。 </a:t>
            </a:r>
          </a:p>
        </p:txBody>
      </p:sp>
      <p:sp>
        <p:nvSpPr>
          <p:cNvPr id="76803" name="日期占位符 3">
            <a:extLst>
              <a:ext uri="{FF2B5EF4-FFF2-40B4-BE49-F238E27FC236}">
                <a16:creationId xmlns:a16="http://schemas.microsoft.com/office/drawing/2014/main" id="{F705C4ED-423F-4BBD-9713-A24B0825436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2995237-E768-45ED-86FF-05FD084C252E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6804" name="Text Box 2">
            <a:extLst>
              <a:ext uri="{FF2B5EF4-FFF2-40B4-BE49-F238E27FC236}">
                <a16:creationId xmlns:a16="http://schemas.microsoft.com/office/drawing/2014/main" id="{09EE997C-3A3F-46EC-9D73-514CC18494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648" y="692696"/>
            <a:ext cx="6264423" cy="83099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有向树的概念</a:t>
            </a:r>
          </a:p>
        </p:txBody>
      </p:sp>
      <p:pic>
        <p:nvPicPr>
          <p:cNvPr id="76805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B98BA00D-BB98-48D2-AD34-05D8A539A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7879" y="476250"/>
            <a:ext cx="1096121" cy="115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806" name="Picture 9" descr="QQ截图20150920210320">
            <a:extLst>
              <a:ext uri="{FF2B5EF4-FFF2-40B4-BE49-F238E27FC236}">
                <a16:creationId xmlns:a16="http://schemas.microsoft.com/office/drawing/2014/main" id="{C2EDB295-7DBF-42E4-99F6-8F3ADA5227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3966334"/>
            <a:ext cx="7345363" cy="230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70115" name="Rectangle 3">
            <a:extLst>
              <a:ext uri="{FF2B5EF4-FFF2-40B4-BE49-F238E27FC236}">
                <a16:creationId xmlns:a16="http://schemas.microsoft.com/office/drawing/2014/main" id="{4FA6E81C-F416-4A67-8737-6FF6923C38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9793" y="3248180"/>
            <a:ext cx="4392488" cy="604838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buFontTx/>
              <a:buNone/>
              <a:defRPr/>
            </a:pPr>
            <a:r>
              <a:rPr lang="zh-CN" altLang="en-US" sz="32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下图中哪些是有向树？</a:t>
            </a:r>
          </a:p>
        </p:txBody>
      </p:sp>
    </p:spTree>
  </p:cSld>
  <p:clrMapOvr>
    <a:masterClrMapping/>
  </p:clrMapOvr>
  <p:transition spd="med">
    <p:wipe dir="r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日期占位符 3">
            <a:extLst>
              <a:ext uri="{FF2B5EF4-FFF2-40B4-BE49-F238E27FC236}">
                <a16:creationId xmlns:a16="http://schemas.microsoft.com/office/drawing/2014/main" id="{B03D0423-98F1-4D1A-B4B1-CE53A3AF130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AAC3C20-87FA-45F8-9E59-D4C7C9CAE9B6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7827" name="Text Box 2">
            <a:extLst>
              <a:ext uri="{FF2B5EF4-FFF2-40B4-BE49-F238E27FC236}">
                <a16:creationId xmlns:a16="http://schemas.microsoft.com/office/drawing/2014/main" id="{2BF17437-2233-4614-A634-9F3EE67FD2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2" y="620713"/>
            <a:ext cx="6552455" cy="92333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有向树与非有向树</a:t>
            </a:r>
          </a:p>
        </p:txBody>
      </p:sp>
      <p:pic>
        <p:nvPicPr>
          <p:cNvPr id="77828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8581614C-4C26-4CF2-846D-AE07C7AF67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513" y="476250"/>
            <a:ext cx="1233487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829" name="图片 1">
            <a:extLst>
              <a:ext uri="{FF2B5EF4-FFF2-40B4-BE49-F238E27FC236}">
                <a16:creationId xmlns:a16="http://schemas.microsoft.com/office/drawing/2014/main" id="{7064EBA4-FFF1-4AA7-ABEA-9D38B6B7A5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946889"/>
            <a:ext cx="8655787" cy="1717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矩形 2">
            <a:extLst>
              <a:ext uri="{FF2B5EF4-FFF2-40B4-BE49-F238E27FC236}">
                <a16:creationId xmlns:a16="http://schemas.microsoft.com/office/drawing/2014/main" id="{C41E23C2-83F5-466A-B177-57C592E73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3912080"/>
            <a:ext cx="8195349" cy="22217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kumimoji="0"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略去有向图所有边的方向，则由图</a:t>
            </a:r>
            <a:r>
              <a:rPr kumimoji="0" lang="en-US" altLang="zh-CN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(a),(b)</a:t>
            </a:r>
            <a:r>
              <a:rPr kumimoji="0"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得到的无向图都是树，而由图</a:t>
            </a:r>
            <a:r>
              <a:rPr kumimoji="0" lang="en-US" altLang="zh-CN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(c)</a:t>
            </a:r>
            <a:r>
              <a:rPr kumimoji="0"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得到的无向图有回路，由图</a:t>
            </a:r>
            <a:r>
              <a:rPr kumimoji="0" lang="en-US" altLang="zh-CN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(d)</a:t>
            </a:r>
            <a:r>
              <a:rPr kumimoji="0"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得到的无向图为森林。 </a:t>
            </a:r>
            <a:endParaRPr kumimoji="0" lang="en-US" altLang="zh-CN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图</a:t>
            </a:r>
            <a:r>
              <a:rPr kumimoji="0" lang="en-US" altLang="zh-CN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(a),(b)</a:t>
            </a:r>
            <a:r>
              <a:rPr kumimoji="0"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均是有向树</a:t>
            </a:r>
            <a:r>
              <a:rPr kumimoji="0"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 </a:t>
            </a:r>
            <a:r>
              <a:rPr kumimoji="0"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图</a:t>
            </a:r>
            <a:r>
              <a:rPr kumimoji="0" lang="en-US" altLang="zh-CN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(c),(d)</a:t>
            </a:r>
            <a:r>
              <a:rPr kumimoji="0"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均不是有向树</a:t>
            </a:r>
            <a:r>
              <a:rPr kumimoji="0"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r>
              <a:rPr kumimoji="0"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kumimoji="0" lang="zh-CN" altLang="en-US" sz="32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139" name="Rectangle 3">
            <a:extLst>
              <a:ext uri="{FF2B5EF4-FFF2-40B4-BE49-F238E27FC236}">
                <a16:creationId xmlns:a16="http://schemas.microsoft.com/office/drawing/2014/main" id="{B7C5E647-33A8-4829-B2C8-745108881DB8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539552" y="2261540"/>
            <a:ext cx="8280920" cy="3395637"/>
          </a:xfr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b="1" dirty="0">
                <a:solidFill>
                  <a:srgbClr val="FF0000"/>
                </a:solidFill>
                <a:cs typeface="楷体_GB2312" pitchFamily="49" charset="-122"/>
              </a:rPr>
              <a:t>      </a:t>
            </a:r>
            <a:r>
              <a:rPr lang="en-US" altLang="zh-CN" b="1" dirty="0">
                <a:solidFill>
                  <a:schemeClr val="bg1"/>
                </a:solidFill>
                <a:effectLst/>
                <a:cs typeface="楷体_GB2312" pitchFamily="49" charset="-122"/>
              </a:rPr>
              <a:t>【</a:t>
            </a:r>
            <a:r>
              <a:rPr lang="zh-CN" altLang="en-US" b="1" dirty="0">
                <a:solidFill>
                  <a:schemeClr val="bg1"/>
                </a:solidFill>
                <a:effectLst/>
                <a:cs typeface="楷体_GB2312" pitchFamily="49" charset="-122"/>
              </a:rPr>
              <a:t>定义</a:t>
            </a:r>
            <a:r>
              <a:rPr lang="en-US" altLang="zh-CN" b="1" dirty="0">
                <a:solidFill>
                  <a:schemeClr val="bg1"/>
                </a:solidFill>
                <a:effectLst/>
                <a:cs typeface="楷体_GB2312" pitchFamily="49" charset="-122"/>
              </a:rPr>
              <a:t>】</a:t>
            </a:r>
            <a:r>
              <a:rPr lang="zh-CN" altLang="en-US" b="1" dirty="0">
                <a:solidFill>
                  <a:schemeClr val="bg1"/>
                </a:solidFill>
                <a:effectLst/>
                <a:cs typeface="楷体_GB2312" pitchFamily="49" charset="-122"/>
              </a:rPr>
              <a:t>对于任意一棵非平凡有向树，如果</a:t>
            </a:r>
            <a:r>
              <a:rPr lang="zh-CN" altLang="en-US" b="1" dirty="0">
                <a:solidFill>
                  <a:srgbClr val="FFFF00"/>
                </a:solidFill>
                <a:effectLst/>
                <a:cs typeface="楷体_GB2312" pitchFamily="49" charset="-122"/>
              </a:rPr>
              <a:t>恰有一个结点的入度为</a:t>
            </a:r>
            <a:r>
              <a:rPr lang="en-US" altLang="zh-CN" b="1" dirty="0">
                <a:solidFill>
                  <a:srgbClr val="FFFF00"/>
                </a:solidFill>
                <a:effectLst/>
                <a:cs typeface="楷体_GB2312" pitchFamily="49" charset="-122"/>
              </a:rPr>
              <a:t>0</a:t>
            </a:r>
            <a:r>
              <a:rPr lang="zh-CN" altLang="en-US" b="1" dirty="0">
                <a:solidFill>
                  <a:schemeClr val="bg1"/>
                </a:solidFill>
                <a:effectLst/>
                <a:cs typeface="楷体_GB2312" pitchFamily="49" charset="-122"/>
              </a:rPr>
              <a:t>，其余所有结点的入度均为</a:t>
            </a:r>
            <a:r>
              <a:rPr lang="en-US" altLang="zh-CN" b="1" dirty="0">
                <a:solidFill>
                  <a:schemeClr val="bg1"/>
                </a:solidFill>
                <a:effectLst/>
                <a:cs typeface="楷体_GB2312" pitchFamily="49" charset="-122"/>
              </a:rPr>
              <a:t>1</a:t>
            </a:r>
            <a:r>
              <a:rPr lang="zh-CN" altLang="en-US" b="1" dirty="0">
                <a:solidFill>
                  <a:schemeClr val="bg1"/>
                </a:solidFill>
                <a:effectLst/>
                <a:cs typeface="楷体_GB2312" pitchFamily="49" charset="-122"/>
              </a:rPr>
              <a:t>，则称之为</a:t>
            </a:r>
            <a:r>
              <a:rPr lang="zh-CN" altLang="en-US" b="1" dirty="0">
                <a:solidFill>
                  <a:srgbClr val="FFFF66"/>
                </a:solidFill>
                <a:effectLst/>
                <a:cs typeface="楷体_GB2312" pitchFamily="49" charset="-122"/>
              </a:rPr>
              <a:t>根树</a:t>
            </a:r>
            <a:r>
              <a:rPr lang="zh-CN" altLang="en-US" b="1" dirty="0">
                <a:solidFill>
                  <a:schemeClr val="bg1"/>
                </a:solidFill>
                <a:effectLst/>
                <a:cs typeface="楷体_GB2312" pitchFamily="49" charset="-122"/>
              </a:rPr>
              <a:t>或</a:t>
            </a:r>
            <a:r>
              <a:rPr lang="zh-CN" altLang="en-US" b="1" dirty="0">
                <a:solidFill>
                  <a:srgbClr val="FFFF66"/>
                </a:solidFill>
                <a:effectLst/>
                <a:cs typeface="楷体_GB2312" pitchFamily="49" charset="-122"/>
              </a:rPr>
              <a:t>外向树</a:t>
            </a:r>
            <a:r>
              <a:rPr lang="zh-CN" altLang="en-US" b="1" dirty="0">
                <a:solidFill>
                  <a:schemeClr val="bg1"/>
                </a:solidFill>
                <a:effectLst/>
                <a:cs typeface="楷体_GB2312" pitchFamily="49" charset="-122"/>
              </a:rPr>
              <a:t>。其中：</a:t>
            </a:r>
            <a:endParaRPr lang="en-US" altLang="zh-CN" b="1" dirty="0">
              <a:solidFill>
                <a:schemeClr val="bg1"/>
              </a:solidFill>
              <a:effectLst/>
              <a:cs typeface="楷体_GB2312" pitchFamily="49" charset="-122"/>
            </a:endParaRPr>
          </a:p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b="1" dirty="0">
                <a:solidFill>
                  <a:schemeClr val="bg1"/>
                </a:solidFill>
                <a:effectLst/>
                <a:cs typeface="楷体_GB2312" pitchFamily="49" charset="-122"/>
              </a:rPr>
              <a:t>       </a:t>
            </a:r>
            <a:r>
              <a:rPr lang="zh-CN" altLang="en-US" b="1" dirty="0">
                <a:solidFill>
                  <a:srgbClr val="FFFF66"/>
                </a:solidFill>
                <a:effectLst/>
                <a:cs typeface="楷体_GB2312" pitchFamily="49" charset="-122"/>
              </a:rPr>
              <a:t>入度为</a:t>
            </a:r>
            <a:r>
              <a:rPr lang="en-US" altLang="zh-CN" b="1" dirty="0">
                <a:solidFill>
                  <a:srgbClr val="FFFF66"/>
                </a:solidFill>
                <a:effectLst/>
                <a:cs typeface="楷体_GB2312" pitchFamily="49" charset="-122"/>
              </a:rPr>
              <a:t>0</a:t>
            </a:r>
            <a:r>
              <a:rPr lang="zh-CN" altLang="en-US" b="1" dirty="0">
                <a:solidFill>
                  <a:schemeClr val="bg1"/>
                </a:solidFill>
                <a:effectLst/>
                <a:cs typeface="楷体_GB2312" pitchFamily="49" charset="-122"/>
              </a:rPr>
              <a:t>的结点称为</a:t>
            </a:r>
            <a:r>
              <a:rPr lang="zh-CN" altLang="en-US" b="1" dirty="0">
                <a:solidFill>
                  <a:srgbClr val="FFFF66"/>
                </a:solidFill>
                <a:effectLst/>
                <a:cs typeface="楷体_GB2312" pitchFamily="49" charset="-122"/>
              </a:rPr>
              <a:t>根结点</a:t>
            </a:r>
            <a:r>
              <a:rPr lang="zh-CN" altLang="en-US" b="1" dirty="0">
                <a:solidFill>
                  <a:schemeClr val="bg1"/>
                </a:solidFill>
                <a:effectLst/>
                <a:cs typeface="楷体_GB2312" pitchFamily="49" charset="-122"/>
              </a:rPr>
              <a:t>，简称为</a:t>
            </a:r>
            <a:r>
              <a:rPr lang="zh-CN" altLang="en-US" b="1" dirty="0">
                <a:solidFill>
                  <a:srgbClr val="FFFF66"/>
                </a:solidFill>
                <a:effectLst/>
                <a:cs typeface="楷体_GB2312" pitchFamily="49" charset="-122"/>
              </a:rPr>
              <a:t>根</a:t>
            </a:r>
            <a:r>
              <a:rPr lang="zh-CN" altLang="en-US" b="1" dirty="0">
                <a:solidFill>
                  <a:schemeClr val="bg1"/>
                </a:solidFill>
                <a:effectLst/>
                <a:cs typeface="楷体_GB2312" pitchFamily="49" charset="-122"/>
              </a:rPr>
              <a:t>；</a:t>
            </a:r>
          </a:p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  <a:defRPr/>
            </a:pPr>
            <a:r>
              <a:rPr lang="zh-CN" altLang="en-US" b="1" dirty="0">
                <a:solidFill>
                  <a:schemeClr val="bg1"/>
                </a:solidFill>
                <a:effectLst/>
                <a:cs typeface="楷体_GB2312" pitchFamily="49" charset="-122"/>
              </a:rPr>
              <a:t>       </a:t>
            </a:r>
            <a:r>
              <a:rPr lang="zh-CN" altLang="en-US" b="1" dirty="0">
                <a:solidFill>
                  <a:srgbClr val="FFFF66"/>
                </a:solidFill>
                <a:effectLst/>
                <a:cs typeface="楷体_GB2312" pitchFamily="49" charset="-122"/>
              </a:rPr>
              <a:t>出度为</a:t>
            </a:r>
            <a:r>
              <a:rPr lang="en-US" altLang="zh-CN" b="1" dirty="0">
                <a:solidFill>
                  <a:srgbClr val="FFFF66"/>
                </a:solidFill>
                <a:effectLst/>
                <a:cs typeface="楷体_GB2312" pitchFamily="49" charset="-122"/>
              </a:rPr>
              <a:t>0</a:t>
            </a:r>
            <a:r>
              <a:rPr lang="zh-CN" altLang="en-US" b="1" dirty="0">
                <a:solidFill>
                  <a:schemeClr val="bg1"/>
                </a:solidFill>
                <a:effectLst/>
                <a:cs typeface="楷体_GB2312" pitchFamily="49" charset="-122"/>
              </a:rPr>
              <a:t>的结点称为</a:t>
            </a:r>
            <a:r>
              <a:rPr lang="zh-CN" altLang="en-US" b="1" dirty="0">
                <a:solidFill>
                  <a:srgbClr val="FFFF66"/>
                </a:solidFill>
                <a:effectLst/>
                <a:cs typeface="楷体_GB2312" pitchFamily="49" charset="-122"/>
              </a:rPr>
              <a:t>叶结点</a:t>
            </a:r>
            <a:r>
              <a:rPr lang="zh-CN" altLang="en-US" b="1" dirty="0">
                <a:solidFill>
                  <a:schemeClr val="bg1"/>
                </a:solidFill>
                <a:effectLst/>
                <a:cs typeface="楷体_GB2312" pitchFamily="49" charset="-122"/>
              </a:rPr>
              <a:t>，简称为</a:t>
            </a:r>
            <a:r>
              <a:rPr lang="zh-CN" altLang="en-US" b="1" dirty="0">
                <a:solidFill>
                  <a:srgbClr val="FFFF66"/>
                </a:solidFill>
                <a:effectLst/>
                <a:cs typeface="楷体_GB2312" pitchFamily="49" charset="-122"/>
              </a:rPr>
              <a:t>叶</a:t>
            </a:r>
            <a:r>
              <a:rPr lang="zh-CN" altLang="en-US" b="1" dirty="0">
                <a:solidFill>
                  <a:schemeClr val="bg1"/>
                </a:solidFill>
                <a:effectLst/>
                <a:cs typeface="楷体_GB2312" pitchFamily="49" charset="-122"/>
              </a:rPr>
              <a:t>；</a:t>
            </a:r>
          </a:p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  <a:defRPr/>
            </a:pPr>
            <a:r>
              <a:rPr lang="zh-CN" altLang="en-US" b="1" dirty="0">
                <a:solidFill>
                  <a:schemeClr val="bg1"/>
                </a:solidFill>
                <a:effectLst/>
                <a:cs typeface="楷体_GB2312" pitchFamily="49" charset="-122"/>
              </a:rPr>
              <a:t>       </a:t>
            </a:r>
            <a:r>
              <a:rPr lang="zh-CN" altLang="en-US" b="1" dirty="0">
                <a:solidFill>
                  <a:srgbClr val="FFFF66"/>
                </a:solidFill>
                <a:effectLst/>
                <a:cs typeface="楷体_GB2312" pitchFamily="49" charset="-122"/>
              </a:rPr>
              <a:t>入度为</a:t>
            </a:r>
            <a:r>
              <a:rPr lang="en-US" altLang="zh-CN" b="1" dirty="0">
                <a:solidFill>
                  <a:srgbClr val="FFFF66"/>
                </a:solidFill>
                <a:effectLst/>
                <a:cs typeface="楷体_GB2312" pitchFamily="49" charset="-122"/>
              </a:rPr>
              <a:t>1</a:t>
            </a:r>
            <a:r>
              <a:rPr lang="zh-CN" altLang="en-US" b="1" dirty="0">
                <a:solidFill>
                  <a:srgbClr val="FFFF66"/>
                </a:solidFill>
                <a:effectLst/>
                <a:cs typeface="楷体_GB2312" pitchFamily="49" charset="-122"/>
              </a:rPr>
              <a:t>，出度大于</a:t>
            </a:r>
            <a:r>
              <a:rPr lang="en-US" altLang="zh-CN" b="1" dirty="0">
                <a:solidFill>
                  <a:srgbClr val="FFFF66"/>
                </a:solidFill>
                <a:effectLst/>
                <a:cs typeface="楷体_GB2312" pitchFamily="49" charset="-122"/>
              </a:rPr>
              <a:t>0</a:t>
            </a:r>
            <a:r>
              <a:rPr lang="zh-CN" altLang="en-US" b="1" dirty="0">
                <a:solidFill>
                  <a:schemeClr val="bg1"/>
                </a:solidFill>
                <a:effectLst/>
                <a:cs typeface="楷体_GB2312" pitchFamily="49" charset="-122"/>
              </a:rPr>
              <a:t>的结点称为</a:t>
            </a:r>
            <a:r>
              <a:rPr lang="zh-CN" altLang="en-US" b="1" dirty="0">
                <a:solidFill>
                  <a:srgbClr val="FFFF66"/>
                </a:solidFill>
                <a:effectLst/>
                <a:cs typeface="楷体_GB2312" pitchFamily="49" charset="-122"/>
              </a:rPr>
              <a:t>内结点</a:t>
            </a:r>
            <a:r>
              <a:rPr lang="zh-CN" altLang="en-US" b="1" dirty="0">
                <a:solidFill>
                  <a:schemeClr val="bg1"/>
                </a:solidFill>
                <a:effectLst/>
                <a:cs typeface="楷体_GB2312" pitchFamily="49" charset="-122"/>
              </a:rPr>
              <a:t>，简称为</a:t>
            </a:r>
            <a:r>
              <a:rPr lang="zh-CN" altLang="en-US" b="1" dirty="0">
                <a:solidFill>
                  <a:srgbClr val="FFFF66"/>
                </a:solidFill>
                <a:effectLst/>
                <a:cs typeface="楷体_GB2312" pitchFamily="49" charset="-122"/>
              </a:rPr>
              <a:t>内点</a:t>
            </a:r>
            <a:r>
              <a:rPr lang="zh-CN" altLang="en-US" b="1" dirty="0">
                <a:solidFill>
                  <a:schemeClr val="bg1"/>
                </a:solidFill>
                <a:effectLst/>
                <a:cs typeface="楷体_GB2312" pitchFamily="49" charset="-122"/>
              </a:rPr>
              <a:t>。</a:t>
            </a:r>
            <a:r>
              <a:rPr lang="en-US" altLang="zh-CN" b="1" dirty="0">
                <a:solidFill>
                  <a:schemeClr val="bg1"/>
                </a:solidFill>
                <a:effectLst/>
                <a:cs typeface="楷体_GB2312" pitchFamily="49" charset="-122"/>
              </a:rPr>
              <a:t>     </a:t>
            </a:r>
            <a:endParaRPr lang="zh-CN" altLang="en-US" b="1" dirty="0">
              <a:solidFill>
                <a:schemeClr val="bg1"/>
              </a:solidFill>
              <a:effectLst/>
              <a:cs typeface="楷体_GB2312" pitchFamily="49" charset="-122"/>
            </a:endParaRPr>
          </a:p>
        </p:txBody>
      </p:sp>
      <p:sp>
        <p:nvSpPr>
          <p:cNvPr id="78851" name="日期占位符 3">
            <a:extLst>
              <a:ext uri="{FF2B5EF4-FFF2-40B4-BE49-F238E27FC236}">
                <a16:creationId xmlns:a16="http://schemas.microsoft.com/office/drawing/2014/main" id="{D16B126E-45CB-4E41-8897-56186A6851A8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BE404BA-24CA-4D23-8C3C-555B4EBB1A62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8852" name="Text Box 2">
            <a:extLst>
              <a:ext uri="{FF2B5EF4-FFF2-40B4-BE49-F238E27FC236}">
                <a16:creationId xmlns:a16="http://schemas.microsoft.com/office/drawing/2014/main" id="{41915FE5-9AF0-4569-8FFF-AE5DE7811F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094" y="824656"/>
            <a:ext cx="61198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根树的定义</a:t>
            </a:r>
          </a:p>
        </p:txBody>
      </p:sp>
      <p:pic>
        <p:nvPicPr>
          <p:cNvPr id="78853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93CF5AA9-95F3-47F0-BEEE-C0EEDAD63B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8384" y="627089"/>
            <a:ext cx="1008784" cy="1060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日期占位符 3">
            <a:extLst>
              <a:ext uri="{FF2B5EF4-FFF2-40B4-BE49-F238E27FC236}">
                <a16:creationId xmlns:a16="http://schemas.microsoft.com/office/drawing/2014/main" id="{845DF203-25CB-4400-A632-90168CDDBC6F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BC2DD6D-43B5-4BCA-815D-B82DDDB40FC5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0899" name="Text Box 2">
            <a:extLst>
              <a:ext uri="{FF2B5EF4-FFF2-40B4-BE49-F238E27FC236}">
                <a16:creationId xmlns:a16="http://schemas.microsoft.com/office/drawing/2014/main" id="{AAE13328-9BE7-4132-9E86-ED9E7FBA2D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640" y="622300"/>
            <a:ext cx="61198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根树示例</a:t>
            </a:r>
          </a:p>
        </p:txBody>
      </p:sp>
      <p:pic>
        <p:nvPicPr>
          <p:cNvPr id="80900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251AF50E-AD76-4007-90CB-EEE486FF26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513" y="476250"/>
            <a:ext cx="1233487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0901" name="Picture 6" descr="QQ截图20150923115154">
            <a:extLst>
              <a:ext uri="{FF2B5EF4-FFF2-40B4-BE49-F238E27FC236}">
                <a16:creationId xmlns:a16="http://schemas.microsoft.com/office/drawing/2014/main" id="{1C609F40-3D41-4D4E-9805-01A0870330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538" y="1700213"/>
            <a:ext cx="4319587" cy="453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139" name="Rectangle 3">
            <a:extLst>
              <a:ext uri="{FF2B5EF4-FFF2-40B4-BE49-F238E27FC236}">
                <a16:creationId xmlns:a16="http://schemas.microsoft.com/office/drawing/2014/main" id="{D94D5DDA-6C2E-495E-8399-6BDE7C19B5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7544" y="1628800"/>
            <a:ext cx="8424936" cy="4392488"/>
          </a:xfrm>
          <a:solidFill>
            <a:schemeClr val="accent5"/>
          </a:solidFill>
          <a:ln>
            <a:noFill/>
          </a:ln>
        </p:spPr>
        <p:txBody>
          <a:bodyPr/>
          <a:lstStyle/>
          <a:p>
            <a:pPr marL="0" indent="0"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  <a:defRPr/>
            </a:pPr>
            <a:endParaRPr lang="en-US" altLang="zh-CN" sz="800" b="1" dirty="0">
              <a:cs typeface="楷体_GB2312" pitchFamily="49" charset="-122"/>
            </a:endParaRPr>
          </a:p>
          <a:p>
            <a:pPr marL="0" indent="0" algn="just" eaLnBrk="1" hangingPunct="1">
              <a:lnSpc>
                <a:spcPts val="6200"/>
              </a:lnSpc>
              <a:spcBef>
                <a:spcPct val="0"/>
              </a:spcBef>
              <a:buFontTx/>
              <a:buNone/>
              <a:defRPr/>
            </a:pPr>
            <a:r>
              <a:rPr lang="zh-CN" altLang="en-US" b="1" dirty="0">
                <a:solidFill>
                  <a:srgbClr val="0000FF"/>
                </a:solidFill>
                <a:effectLst/>
                <a:cs typeface="楷体_GB2312" pitchFamily="49" charset="-122"/>
              </a:rPr>
              <a:t>       </a:t>
            </a:r>
            <a:r>
              <a:rPr lang="zh-CN" altLang="en-US" sz="2800" b="1" dirty="0">
                <a:solidFill>
                  <a:srgbClr val="0000FF"/>
                </a:solidFill>
                <a:effectLst/>
                <a:cs typeface="楷体_GB2312" pitchFamily="49" charset="-122"/>
              </a:rPr>
              <a:t>内点和根</a:t>
            </a:r>
            <a:r>
              <a:rPr lang="zh-CN" altLang="en-US" sz="2800" b="1" dirty="0">
                <a:effectLst/>
                <a:cs typeface="楷体_GB2312" pitchFamily="49" charset="-122"/>
              </a:rPr>
              <a:t>统称为</a:t>
            </a:r>
            <a:r>
              <a:rPr lang="zh-CN" altLang="en-US" sz="2800" b="1" dirty="0">
                <a:solidFill>
                  <a:srgbClr val="FF0000"/>
                </a:solidFill>
                <a:effectLst/>
                <a:cs typeface="楷体_GB2312" pitchFamily="49" charset="-122"/>
              </a:rPr>
              <a:t>分支结点，简称为分支点</a:t>
            </a:r>
            <a:r>
              <a:rPr lang="zh-CN" altLang="en-US" sz="2800" b="1" dirty="0">
                <a:effectLst/>
                <a:cs typeface="楷体_GB2312" pitchFamily="49" charset="-122"/>
              </a:rPr>
              <a:t>。</a:t>
            </a:r>
          </a:p>
          <a:p>
            <a:pPr marL="0" indent="0" algn="just" eaLnBrk="1" hangingPunct="1">
              <a:lnSpc>
                <a:spcPts val="6200"/>
              </a:lnSpc>
              <a:spcBef>
                <a:spcPct val="0"/>
              </a:spcBef>
              <a:buFontTx/>
              <a:buNone/>
              <a:defRPr/>
            </a:pPr>
            <a:r>
              <a:rPr lang="zh-CN" altLang="en-US" sz="2800" b="1" dirty="0">
                <a:effectLst/>
                <a:cs typeface="楷体_GB2312" pitchFamily="49" charset="-122"/>
              </a:rPr>
              <a:t>      在根树中，从</a:t>
            </a:r>
            <a:r>
              <a:rPr lang="zh-CN" altLang="en-US" sz="2800" b="1" dirty="0">
                <a:solidFill>
                  <a:srgbClr val="800080"/>
                </a:solidFill>
                <a:effectLst/>
                <a:cs typeface="楷体_GB2312" pitchFamily="49" charset="-122"/>
              </a:rPr>
              <a:t>根到任一结点</a:t>
            </a:r>
            <a:r>
              <a:rPr lang="en-US" altLang="zh-CN" sz="2800" b="1" dirty="0">
                <a:solidFill>
                  <a:srgbClr val="800080"/>
                </a:solidFill>
                <a:effectLst/>
                <a:cs typeface="楷体_GB2312" pitchFamily="49" charset="-122"/>
              </a:rPr>
              <a:t>v</a:t>
            </a:r>
            <a:r>
              <a:rPr lang="zh-CN" altLang="en-US" sz="2800" b="1" dirty="0">
                <a:solidFill>
                  <a:srgbClr val="800080"/>
                </a:solidFill>
                <a:effectLst/>
                <a:cs typeface="楷体_GB2312" pitchFamily="49" charset="-122"/>
              </a:rPr>
              <a:t>的</a:t>
            </a:r>
            <a:r>
              <a:rPr lang="zh-CN" altLang="en-US" sz="2800" b="1" dirty="0">
                <a:solidFill>
                  <a:srgbClr val="0000FF"/>
                </a:solidFill>
                <a:effectLst/>
                <a:cs typeface="楷体_GB2312" pitchFamily="49" charset="-122"/>
              </a:rPr>
              <a:t>通路长度</a:t>
            </a:r>
            <a:r>
              <a:rPr lang="zh-CN" altLang="en-US" sz="2800" b="1" dirty="0">
                <a:effectLst/>
                <a:cs typeface="楷体_GB2312" pitchFamily="49" charset="-122"/>
              </a:rPr>
              <a:t>，称为该结点的</a:t>
            </a:r>
            <a:r>
              <a:rPr lang="zh-CN" altLang="en-US" sz="2800" b="1" dirty="0">
                <a:solidFill>
                  <a:srgbClr val="FF0000"/>
                </a:solidFill>
                <a:effectLst/>
                <a:cs typeface="楷体_GB2312" pitchFamily="49" charset="-122"/>
              </a:rPr>
              <a:t>层数</a:t>
            </a:r>
            <a:r>
              <a:rPr lang="zh-CN" altLang="en-US" sz="2800" b="1" dirty="0">
                <a:effectLst/>
                <a:cs typeface="楷体_GB2312" pitchFamily="49" charset="-122"/>
              </a:rPr>
              <a:t>；</a:t>
            </a:r>
          </a:p>
          <a:p>
            <a:pPr marL="0" indent="0" algn="just" eaLnBrk="1" hangingPunct="1">
              <a:lnSpc>
                <a:spcPts val="6200"/>
              </a:lnSpc>
              <a:spcBef>
                <a:spcPct val="0"/>
              </a:spcBef>
              <a:buFontTx/>
              <a:buNone/>
              <a:defRPr/>
            </a:pPr>
            <a:r>
              <a:rPr lang="zh-CN" altLang="en-US" sz="2800" b="1" dirty="0">
                <a:effectLst/>
                <a:cs typeface="楷体_GB2312" pitchFamily="49" charset="-122"/>
              </a:rPr>
              <a:t>      称</a:t>
            </a:r>
            <a:r>
              <a:rPr lang="zh-CN" altLang="en-US" sz="2800" b="1" dirty="0">
                <a:solidFill>
                  <a:srgbClr val="0000FF"/>
                </a:solidFill>
                <a:effectLst/>
                <a:cs typeface="楷体_GB2312" pitchFamily="49" charset="-122"/>
              </a:rPr>
              <a:t>层数相同</a:t>
            </a:r>
            <a:r>
              <a:rPr lang="zh-CN" altLang="en-US" sz="2800" b="1" dirty="0">
                <a:effectLst/>
                <a:cs typeface="楷体_GB2312" pitchFamily="49" charset="-122"/>
              </a:rPr>
              <a:t>的结点</a:t>
            </a:r>
            <a:r>
              <a:rPr lang="zh-CN" altLang="en-US" sz="2800" b="1" dirty="0">
                <a:solidFill>
                  <a:srgbClr val="FF0000"/>
                </a:solidFill>
                <a:effectLst/>
                <a:cs typeface="楷体_GB2312" pitchFamily="49" charset="-122"/>
              </a:rPr>
              <a:t>在同一层上</a:t>
            </a:r>
            <a:r>
              <a:rPr lang="zh-CN" altLang="en-US" sz="2800" b="1" dirty="0">
                <a:effectLst/>
                <a:cs typeface="楷体_GB2312" pitchFamily="49" charset="-122"/>
              </a:rPr>
              <a:t>；</a:t>
            </a:r>
          </a:p>
          <a:p>
            <a:pPr marL="0" indent="0" algn="just" eaLnBrk="1" hangingPunct="1">
              <a:lnSpc>
                <a:spcPts val="6200"/>
              </a:lnSpc>
              <a:spcBef>
                <a:spcPct val="0"/>
              </a:spcBef>
              <a:buFontTx/>
              <a:buNone/>
              <a:defRPr/>
            </a:pPr>
            <a:r>
              <a:rPr lang="zh-CN" altLang="en-US" sz="2800" b="1" dirty="0">
                <a:effectLst/>
                <a:cs typeface="楷体_GB2312" pitchFamily="49" charset="-122"/>
              </a:rPr>
              <a:t>      根树中所有结点的</a:t>
            </a:r>
            <a:r>
              <a:rPr lang="zh-CN" altLang="en-US" sz="2800" b="1" dirty="0">
                <a:solidFill>
                  <a:srgbClr val="0000FF"/>
                </a:solidFill>
                <a:effectLst/>
                <a:cs typeface="楷体_GB2312" pitchFamily="49" charset="-122"/>
              </a:rPr>
              <a:t>层数最大值</a:t>
            </a:r>
            <a:r>
              <a:rPr lang="zh-CN" altLang="en-US" sz="2800" b="1" dirty="0">
                <a:effectLst/>
                <a:cs typeface="楷体_GB2312" pitchFamily="49" charset="-122"/>
              </a:rPr>
              <a:t>称为该根树的</a:t>
            </a:r>
            <a:r>
              <a:rPr lang="zh-CN" altLang="en-US" sz="2800" b="1" dirty="0">
                <a:solidFill>
                  <a:srgbClr val="FF0000"/>
                </a:solidFill>
                <a:effectLst/>
                <a:cs typeface="楷体_GB2312" pitchFamily="49" charset="-122"/>
              </a:rPr>
              <a:t>高</a:t>
            </a:r>
            <a:r>
              <a:rPr lang="zh-CN" altLang="en-US" sz="2800" b="1" dirty="0">
                <a:effectLst/>
                <a:cs typeface="楷体_GB2312" pitchFamily="49" charset="-122"/>
              </a:rPr>
              <a:t>。 </a:t>
            </a:r>
          </a:p>
        </p:txBody>
      </p:sp>
      <p:sp>
        <p:nvSpPr>
          <p:cNvPr id="79875" name="日期占位符 3">
            <a:extLst>
              <a:ext uri="{FF2B5EF4-FFF2-40B4-BE49-F238E27FC236}">
                <a16:creationId xmlns:a16="http://schemas.microsoft.com/office/drawing/2014/main" id="{4F2D1DB2-A67C-4206-9108-A1F2DE88687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CACBB73-E5B3-4CE2-AAA0-808759EADDE2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9876" name="Text Box 2">
            <a:extLst>
              <a:ext uri="{FF2B5EF4-FFF2-40B4-BE49-F238E27FC236}">
                <a16:creationId xmlns:a16="http://schemas.microsoft.com/office/drawing/2014/main" id="{952C76A5-339D-437F-B464-F0B7CE4DA7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4007" y="620688"/>
            <a:ext cx="6335985" cy="83099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根树的若干术语</a:t>
            </a:r>
          </a:p>
        </p:txBody>
      </p:sp>
      <p:pic>
        <p:nvPicPr>
          <p:cNvPr id="79877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2F41ED4A-EE30-4B6E-A96A-9CA4ECAF49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376" y="476250"/>
            <a:ext cx="1187624" cy="1248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63" name="Rectangle 3">
            <a:extLst>
              <a:ext uri="{FF2B5EF4-FFF2-40B4-BE49-F238E27FC236}">
                <a16:creationId xmlns:a16="http://schemas.microsoft.com/office/drawing/2014/main" id="{7939AC37-4BC3-4544-A3B0-9A2744D024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23429" y="1679575"/>
            <a:ext cx="8368159" cy="957263"/>
          </a:xfrm>
          <a:solidFill>
            <a:schemeClr val="accent5"/>
          </a:solidFill>
        </p:spPr>
        <p:txBody>
          <a:bodyPr/>
          <a:lstStyle/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b="1" dirty="0">
                <a:solidFill>
                  <a:srgbClr val="FF0000"/>
                </a:solidFill>
                <a:cs typeface="楷体_GB2312" pitchFamily="49" charset="-122"/>
              </a:rPr>
              <a:t>   </a:t>
            </a:r>
            <a:r>
              <a:rPr lang="en-US" altLang="zh-CN" b="1" dirty="0">
                <a:solidFill>
                  <a:srgbClr val="FF0000"/>
                </a:solidFill>
                <a:effectLst/>
                <a:cs typeface="楷体_GB2312" pitchFamily="49" charset="-122"/>
              </a:rPr>
              <a:t>【</a:t>
            </a:r>
            <a:r>
              <a:rPr lang="zh-CN" altLang="en-US" b="1" dirty="0">
                <a:solidFill>
                  <a:srgbClr val="FF0000"/>
                </a:solidFill>
                <a:effectLst/>
                <a:cs typeface="楷体_GB2312" pitchFamily="49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ffectLst/>
                <a:cs typeface="楷体_GB2312" pitchFamily="49" charset="-122"/>
              </a:rPr>
              <a:t>】</a:t>
            </a:r>
            <a:r>
              <a:rPr lang="zh-CN" altLang="en-US" b="1" dirty="0">
                <a:effectLst/>
                <a:cs typeface="楷体_GB2312" pitchFamily="49" charset="-122"/>
              </a:rPr>
              <a:t>判断下图所示的图是否是根树？若是根树，给出其根、叶和内点，计算所有结点所在的层数和高。</a:t>
            </a:r>
          </a:p>
        </p:txBody>
      </p:sp>
      <p:sp>
        <p:nvSpPr>
          <p:cNvPr id="81923" name="日期占位符 3">
            <a:extLst>
              <a:ext uri="{FF2B5EF4-FFF2-40B4-BE49-F238E27FC236}">
                <a16:creationId xmlns:a16="http://schemas.microsoft.com/office/drawing/2014/main" id="{566C6412-27CC-44C1-86CE-9F93A59E206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3093466-2C50-4008-8309-2ACAFA3C3FD4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72246" name="Rectangle 86">
            <a:extLst>
              <a:ext uri="{FF2B5EF4-FFF2-40B4-BE49-F238E27FC236}">
                <a16:creationId xmlns:a16="http://schemas.microsoft.com/office/drawing/2014/main" id="{182C78E3-FB9C-4D9C-914F-A128EB5E6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1880" y="2824087"/>
            <a:ext cx="5656709" cy="3351046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Clr>
                <a:srgbClr val="FF3300"/>
              </a:buClr>
              <a:buFont typeface="Wingdings" panose="05000000000000000000" pitchFamily="2" charset="2"/>
              <a:buNone/>
              <a:defRPr/>
            </a:pPr>
            <a:r>
              <a:rPr kumimoji="0" lang="en-US" altLang="zh-CN" b="1" dirty="0">
                <a:solidFill>
                  <a:srgbClr val="FF0000"/>
                </a:solidFill>
              </a:rPr>
              <a:t>【</a:t>
            </a:r>
            <a:r>
              <a:rPr kumimoji="0" lang="zh-CN" altLang="en-US" b="1" dirty="0">
                <a:solidFill>
                  <a:srgbClr val="FF0000"/>
                </a:solidFill>
              </a:rPr>
              <a:t>解</a:t>
            </a:r>
            <a:r>
              <a:rPr kumimoji="0" lang="en-US" altLang="zh-CN" b="1" dirty="0">
                <a:solidFill>
                  <a:srgbClr val="FF0000"/>
                </a:solidFill>
              </a:rPr>
              <a:t>】</a:t>
            </a:r>
            <a:r>
              <a:rPr kumimoji="0" lang="zh-CN" altLang="en-US" b="1" dirty="0">
                <a:solidFill>
                  <a:srgbClr val="000000"/>
                </a:solidFill>
              </a:rPr>
              <a:t>是根树。</a:t>
            </a:r>
            <a:r>
              <a:rPr kumimoji="0" lang="en-US" altLang="zh-CN" b="1" dirty="0">
                <a:solidFill>
                  <a:srgbClr val="000000"/>
                </a:solidFill>
              </a:rPr>
              <a:t>v</a:t>
            </a:r>
            <a:r>
              <a:rPr kumimoji="0" lang="en-US" altLang="zh-CN" b="1" baseline="-25000" dirty="0">
                <a:solidFill>
                  <a:srgbClr val="000000"/>
                </a:solidFill>
              </a:rPr>
              <a:t>1</a:t>
            </a:r>
            <a:r>
              <a:rPr kumimoji="0" lang="zh-CN" altLang="en-US" b="1" dirty="0">
                <a:solidFill>
                  <a:srgbClr val="000000"/>
                </a:solidFill>
              </a:rPr>
              <a:t>为</a:t>
            </a:r>
            <a:r>
              <a:rPr kumimoji="0" lang="zh-CN" altLang="en-US" b="1" dirty="0">
                <a:solidFill>
                  <a:schemeClr val="accent2"/>
                </a:solidFill>
              </a:rPr>
              <a:t>根</a:t>
            </a:r>
            <a:r>
              <a:rPr kumimoji="0" lang="zh-CN" altLang="en-US" b="1" dirty="0">
                <a:solidFill>
                  <a:srgbClr val="000000"/>
                </a:solidFill>
              </a:rPr>
              <a:t>。</a:t>
            </a:r>
            <a:r>
              <a:rPr kumimoji="0" lang="en-US" altLang="zh-CN" b="1" dirty="0">
                <a:solidFill>
                  <a:srgbClr val="000000"/>
                </a:solidFill>
              </a:rPr>
              <a:t>v</a:t>
            </a:r>
            <a:r>
              <a:rPr kumimoji="0" lang="en-US" altLang="zh-CN" b="1" baseline="-25000" dirty="0">
                <a:solidFill>
                  <a:srgbClr val="000000"/>
                </a:solidFill>
              </a:rPr>
              <a:t>5</a:t>
            </a:r>
            <a:r>
              <a:rPr kumimoji="0" lang="en-US" altLang="zh-CN" b="1" dirty="0">
                <a:solidFill>
                  <a:srgbClr val="000000"/>
                </a:solidFill>
              </a:rPr>
              <a:t>,v</a:t>
            </a:r>
            <a:r>
              <a:rPr kumimoji="0" lang="en-US" altLang="zh-CN" b="1" baseline="-25000" dirty="0">
                <a:solidFill>
                  <a:srgbClr val="000000"/>
                </a:solidFill>
              </a:rPr>
              <a:t>6</a:t>
            </a:r>
            <a:r>
              <a:rPr kumimoji="0" lang="en-US" altLang="zh-CN" b="1" dirty="0">
                <a:solidFill>
                  <a:srgbClr val="000000"/>
                </a:solidFill>
              </a:rPr>
              <a:t>,v</a:t>
            </a:r>
            <a:r>
              <a:rPr kumimoji="0" lang="en-US" altLang="zh-CN" b="1" baseline="-25000" dirty="0">
                <a:solidFill>
                  <a:srgbClr val="000000"/>
                </a:solidFill>
              </a:rPr>
              <a:t>8</a:t>
            </a:r>
            <a:r>
              <a:rPr kumimoji="0" lang="en-US" altLang="zh-CN" b="1" dirty="0">
                <a:solidFill>
                  <a:srgbClr val="000000"/>
                </a:solidFill>
              </a:rPr>
              <a:t>,v</a:t>
            </a:r>
            <a:r>
              <a:rPr kumimoji="0" lang="en-US" altLang="zh-CN" b="1" baseline="-25000" dirty="0">
                <a:solidFill>
                  <a:srgbClr val="000000"/>
                </a:solidFill>
              </a:rPr>
              <a:t>9</a:t>
            </a:r>
            <a:r>
              <a:rPr kumimoji="0" lang="en-US" altLang="zh-CN" b="1" dirty="0">
                <a:solidFill>
                  <a:srgbClr val="000000"/>
                </a:solidFill>
              </a:rPr>
              <a:t>,v</a:t>
            </a:r>
            <a:r>
              <a:rPr kumimoji="0" lang="en-US" altLang="zh-CN" b="1" baseline="-25000" dirty="0">
                <a:solidFill>
                  <a:srgbClr val="000000"/>
                </a:solidFill>
              </a:rPr>
              <a:t>10</a:t>
            </a:r>
            <a:r>
              <a:rPr kumimoji="0" lang="en-US" altLang="zh-CN" b="1" dirty="0">
                <a:solidFill>
                  <a:srgbClr val="000000"/>
                </a:solidFill>
              </a:rPr>
              <a:t>, v</a:t>
            </a:r>
            <a:r>
              <a:rPr kumimoji="0" lang="en-US" altLang="zh-CN" b="1" baseline="-25000" dirty="0">
                <a:solidFill>
                  <a:srgbClr val="000000"/>
                </a:solidFill>
              </a:rPr>
              <a:t>12</a:t>
            </a:r>
            <a:r>
              <a:rPr kumimoji="0" lang="en-US" altLang="zh-CN" b="1" dirty="0">
                <a:solidFill>
                  <a:srgbClr val="000000"/>
                </a:solidFill>
              </a:rPr>
              <a:t>, v</a:t>
            </a:r>
            <a:r>
              <a:rPr kumimoji="0" lang="en-US" altLang="zh-CN" b="1" baseline="-25000" dirty="0">
                <a:solidFill>
                  <a:srgbClr val="000000"/>
                </a:solidFill>
              </a:rPr>
              <a:t>1</a:t>
            </a:r>
            <a:r>
              <a:rPr kumimoji="0" lang="zh-CN" altLang="en-US" b="1" dirty="0">
                <a:solidFill>
                  <a:srgbClr val="000000"/>
                </a:solidFill>
              </a:rPr>
              <a:t>为</a:t>
            </a:r>
            <a:r>
              <a:rPr kumimoji="0" lang="zh-CN" altLang="en-US" b="1" dirty="0">
                <a:solidFill>
                  <a:schemeClr val="accent2"/>
                </a:solidFill>
              </a:rPr>
              <a:t>叶</a:t>
            </a:r>
            <a:r>
              <a:rPr kumimoji="0" lang="zh-CN" altLang="en-US" b="1" dirty="0">
                <a:solidFill>
                  <a:srgbClr val="000000"/>
                </a:solidFill>
              </a:rPr>
              <a:t>，</a:t>
            </a:r>
            <a:r>
              <a:rPr kumimoji="0" lang="en-US" altLang="zh-CN" b="1" dirty="0">
                <a:solidFill>
                  <a:srgbClr val="000000"/>
                </a:solidFill>
              </a:rPr>
              <a:t>v</a:t>
            </a:r>
            <a:r>
              <a:rPr kumimoji="0" lang="en-US" altLang="zh-CN" b="1" baseline="-25000" dirty="0">
                <a:solidFill>
                  <a:srgbClr val="000000"/>
                </a:solidFill>
              </a:rPr>
              <a:t>2</a:t>
            </a:r>
            <a:r>
              <a:rPr kumimoji="0" lang="en-US" altLang="zh-CN" b="1" dirty="0">
                <a:solidFill>
                  <a:srgbClr val="000000"/>
                </a:solidFill>
              </a:rPr>
              <a:t>,v</a:t>
            </a:r>
            <a:r>
              <a:rPr kumimoji="0" lang="en-US" altLang="zh-CN" b="1" baseline="-25000" dirty="0">
                <a:solidFill>
                  <a:srgbClr val="000000"/>
                </a:solidFill>
              </a:rPr>
              <a:t>3</a:t>
            </a:r>
            <a:r>
              <a:rPr kumimoji="0" lang="en-US" altLang="zh-CN" b="1" dirty="0">
                <a:solidFill>
                  <a:srgbClr val="000000"/>
                </a:solidFill>
              </a:rPr>
              <a:t>,v</a:t>
            </a:r>
            <a:r>
              <a:rPr kumimoji="0" lang="en-US" altLang="zh-CN" b="1" baseline="-25000" dirty="0">
                <a:solidFill>
                  <a:srgbClr val="000000"/>
                </a:solidFill>
              </a:rPr>
              <a:t>4</a:t>
            </a:r>
            <a:r>
              <a:rPr kumimoji="0" lang="en-US" altLang="zh-CN" b="1" dirty="0">
                <a:solidFill>
                  <a:srgbClr val="000000"/>
                </a:solidFill>
              </a:rPr>
              <a:t>,v</a:t>
            </a:r>
            <a:r>
              <a:rPr kumimoji="0" lang="en-US" altLang="zh-CN" b="1" baseline="-25000" dirty="0">
                <a:solidFill>
                  <a:srgbClr val="000000"/>
                </a:solidFill>
              </a:rPr>
              <a:t>7</a:t>
            </a:r>
            <a:r>
              <a:rPr kumimoji="0" lang="en-US" altLang="zh-CN" b="1" dirty="0">
                <a:solidFill>
                  <a:srgbClr val="000000"/>
                </a:solidFill>
              </a:rPr>
              <a:t>,v</a:t>
            </a:r>
            <a:r>
              <a:rPr kumimoji="0" lang="en-US" altLang="zh-CN" b="1" baseline="-25000" dirty="0">
                <a:solidFill>
                  <a:srgbClr val="000000"/>
                </a:solidFill>
              </a:rPr>
              <a:t>11</a:t>
            </a:r>
            <a:r>
              <a:rPr kumimoji="0" lang="zh-CN" altLang="en-US" b="1" dirty="0">
                <a:solidFill>
                  <a:srgbClr val="000000"/>
                </a:solidFill>
              </a:rPr>
              <a:t>为</a:t>
            </a:r>
            <a:r>
              <a:rPr kumimoji="0" lang="zh-CN" altLang="en-US" b="1" dirty="0">
                <a:solidFill>
                  <a:schemeClr val="accent2"/>
                </a:solidFill>
              </a:rPr>
              <a:t>内点</a:t>
            </a:r>
            <a:r>
              <a:rPr kumimoji="0" lang="zh-CN" altLang="en-US" b="1" dirty="0">
                <a:solidFill>
                  <a:srgbClr val="000000"/>
                </a:solidFill>
              </a:rPr>
              <a:t>。</a:t>
            </a:r>
            <a:endParaRPr kumimoji="0" lang="en-US" altLang="zh-CN" b="1" dirty="0">
              <a:solidFill>
                <a:srgbClr val="000000"/>
              </a:solidFill>
            </a:endParaRP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Clr>
                <a:srgbClr val="FF3300"/>
              </a:buClr>
              <a:buFont typeface="Wingdings" panose="05000000000000000000" pitchFamily="2" charset="2"/>
              <a:buNone/>
              <a:defRPr/>
            </a:pPr>
            <a:r>
              <a:rPr kumimoji="0" lang="en-US" altLang="zh-CN" b="1" dirty="0">
                <a:solidFill>
                  <a:srgbClr val="000000"/>
                </a:solidFill>
              </a:rPr>
              <a:t>v</a:t>
            </a:r>
            <a:r>
              <a:rPr kumimoji="0" lang="en-US" altLang="zh-CN" b="1" baseline="-25000" dirty="0">
                <a:solidFill>
                  <a:srgbClr val="000000"/>
                </a:solidFill>
              </a:rPr>
              <a:t>1</a:t>
            </a:r>
            <a:r>
              <a:rPr kumimoji="0" lang="zh-CN" altLang="en-US" b="1" dirty="0">
                <a:solidFill>
                  <a:srgbClr val="000000"/>
                </a:solidFill>
              </a:rPr>
              <a:t>在</a:t>
            </a:r>
            <a:r>
              <a:rPr kumimoji="0" lang="zh-CN" altLang="en-US" b="1" dirty="0">
                <a:solidFill>
                  <a:schemeClr val="accent2"/>
                </a:solidFill>
              </a:rPr>
              <a:t>第零层</a:t>
            </a:r>
            <a:r>
              <a:rPr kumimoji="0" lang="zh-CN" altLang="en-US" b="1" dirty="0">
                <a:solidFill>
                  <a:srgbClr val="000000"/>
                </a:solidFill>
              </a:rPr>
              <a:t>，层数为</a:t>
            </a:r>
            <a:r>
              <a:rPr kumimoji="0" lang="en-US" altLang="zh-CN" b="1" dirty="0">
                <a:solidFill>
                  <a:srgbClr val="000000"/>
                </a:solidFill>
              </a:rPr>
              <a:t>0</a:t>
            </a:r>
            <a:r>
              <a:rPr kumimoji="0" lang="zh-CN" altLang="en-US" b="1" dirty="0">
                <a:solidFill>
                  <a:srgbClr val="000000"/>
                </a:solidFill>
              </a:rPr>
              <a:t>；</a:t>
            </a:r>
            <a:r>
              <a:rPr kumimoji="0" lang="en-US" altLang="zh-CN" b="1" dirty="0">
                <a:solidFill>
                  <a:srgbClr val="000000"/>
                </a:solidFill>
              </a:rPr>
              <a:t>v</a:t>
            </a:r>
            <a:r>
              <a:rPr kumimoji="0" lang="en-US" altLang="zh-CN" b="1" baseline="-25000" dirty="0">
                <a:solidFill>
                  <a:srgbClr val="000000"/>
                </a:solidFill>
              </a:rPr>
              <a:t>2</a:t>
            </a:r>
            <a:r>
              <a:rPr kumimoji="0" lang="en-US" altLang="zh-CN" b="1" dirty="0">
                <a:solidFill>
                  <a:srgbClr val="000000"/>
                </a:solidFill>
              </a:rPr>
              <a:t>,v</a:t>
            </a:r>
            <a:r>
              <a:rPr kumimoji="0" lang="en-US" altLang="zh-CN" b="1" baseline="-25000" dirty="0">
                <a:solidFill>
                  <a:srgbClr val="000000"/>
                </a:solidFill>
              </a:rPr>
              <a:t>3</a:t>
            </a:r>
            <a:r>
              <a:rPr kumimoji="0" lang="en-US" altLang="zh-CN" b="1" dirty="0">
                <a:solidFill>
                  <a:srgbClr val="000000"/>
                </a:solidFill>
              </a:rPr>
              <a:t>,v</a:t>
            </a:r>
            <a:r>
              <a:rPr kumimoji="0" lang="en-US" altLang="zh-CN" b="1" baseline="-25000" dirty="0">
                <a:solidFill>
                  <a:srgbClr val="000000"/>
                </a:solidFill>
              </a:rPr>
              <a:t>4</a:t>
            </a:r>
            <a:r>
              <a:rPr kumimoji="0" lang="zh-CN" altLang="en-US" b="1" dirty="0">
                <a:solidFill>
                  <a:srgbClr val="000000"/>
                </a:solidFill>
              </a:rPr>
              <a:t>处</a:t>
            </a:r>
            <a:r>
              <a:rPr kumimoji="0" lang="zh-CN" altLang="en-US" b="1" dirty="0">
                <a:solidFill>
                  <a:schemeClr val="accent2"/>
                </a:solidFill>
              </a:rPr>
              <a:t>第一层</a:t>
            </a:r>
            <a:r>
              <a:rPr kumimoji="0" lang="zh-CN" altLang="en-US" b="1" dirty="0">
                <a:solidFill>
                  <a:srgbClr val="000000"/>
                </a:solidFill>
              </a:rPr>
              <a:t>，层数为</a:t>
            </a:r>
            <a:r>
              <a:rPr kumimoji="0" lang="en-US" altLang="zh-CN" b="1" dirty="0">
                <a:solidFill>
                  <a:srgbClr val="000000"/>
                </a:solidFill>
              </a:rPr>
              <a:t>1</a:t>
            </a:r>
            <a:r>
              <a:rPr kumimoji="0" lang="zh-CN" altLang="en-US" b="1" dirty="0">
                <a:solidFill>
                  <a:srgbClr val="000000"/>
                </a:solidFill>
              </a:rPr>
              <a:t>；</a:t>
            </a:r>
            <a:r>
              <a:rPr kumimoji="0" lang="en-US" altLang="zh-CN" b="1" dirty="0">
                <a:solidFill>
                  <a:srgbClr val="000000"/>
                </a:solidFill>
              </a:rPr>
              <a:t>v</a:t>
            </a:r>
            <a:r>
              <a:rPr kumimoji="0" lang="en-US" altLang="zh-CN" b="1" baseline="-25000" dirty="0">
                <a:solidFill>
                  <a:srgbClr val="000000"/>
                </a:solidFill>
              </a:rPr>
              <a:t>5</a:t>
            </a:r>
            <a:r>
              <a:rPr kumimoji="0" lang="en-US" altLang="zh-CN" b="1" dirty="0">
                <a:solidFill>
                  <a:srgbClr val="000000"/>
                </a:solidFill>
              </a:rPr>
              <a:t>,v</a:t>
            </a:r>
            <a:r>
              <a:rPr kumimoji="0" lang="en-US" altLang="zh-CN" b="1" baseline="-25000" dirty="0">
                <a:solidFill>
                  <a:srgbClr val="000000"/>
                </a:solidFill>
              </a:rPr>
              <a:t>6</a:t>
            </a:r>
            <a:r>
              <a:rPr kumimoji="0" lang="en-US" altLang="zh-CN" b="1" dirty="0">
                <a:solidFill>
                  <a:srgbClr val="000000"/>
                </a:solidFill>
              </a:rPr>
              <a:t>,v</a:t>
            </a:r>
            <a:r>
              <a:rPr kumimoji="0" lang="en-US" altLang="zh-CN" b="1" baseline="-25000" dirty="0">
                <a:solidFill>
                  <a:srgbClr val="000000"/>
                </a:solidFill>
              </a:rPr>
              <a:t>7</a:t>
            </a:r>
            <a:r>
              <a:rPr kumimoji="0" lang="en-US" altLang="zh-CN" b="1" dirty="0">
                <a:solidFill>
                  <a:srgbClr val="000000"/>
                </a:solidFill>
              </a:rPr>
              <a:t>,v</a:t>
            </a:r>
            <a:r>
              <a:rPr kumimoji="0" lang="en-US" altLang="zh-CN" b="1" baseline="-25000" dirty="0">
                <a:solidFill>
                  <a:srgbClr val="000000"/>
                </a:solidFill>
              </a:rPr>
              <a:t>8</a:t>
            </a:r>
            <a:r>
              <a:rPr kumimoji="0" lang="en-US" altLang="zh-CN" b="1" dirty="0">
                <a:solidFill>
                  <a:srgbClr val="000000"/>
                </a:solidFill>
              </a:rPr>
              <a:t>,v</a:t>
            </a:r>
            <a:r>
              <a:rPr kumimoji="0" lang="en-US" altLang="zh-CN" b="1" baseline="-25000" dirty="0">
                <a:solidFill>
                  <a:srgbClr val="000000"/>
                </a:solidFill>
              </a:rPr>
              <a:t>9</a:t>
            </a:r>
            <a:r>
              <a:rPr kumimoji="0" lang="zh-CN" altLang="en-US" b="1" dirty="0">
                <a:solidFill>
                  <a:srgbClr val="000000"/>
                </a:solidFill>
              </a:rPr>
              <a:t>在</a:t>
            </a:r>
            <a:r>
              <a:rPr kumimoji="0" lang="zh-CN" altLang="en-US" b="1" dirty="0">
                <a:solidFill>
                  <a:schemeClr val="accent2"/>
                </a:solidFill>
              </a:rPr>
              <a:t>第二层</a:t>
            </a:r>
            <a:r>
              <a:rPr kumimoji="0" lang="zh-CN" altLang="en-US" b="1" dirty="0">
                <a:solidFill>
                  <a:srgbClr val="000000"/>
                </a:solidFill>
              </a:rPr>
              <a:t>，层数为</a:t>
            </a:r>
            <a:r>
              <a:rPr kumimoji="0" lang="en-US" altLang="zh-CN" b="1" dirty="0">
                <a:solidFill>
                  <a:srgbClr val="000000"/>
                </a:solidFill>
              </a:rPr>
              <a:t>2</a:t>
            </a:r>
            <a:r>
              <a:rPr kumimoji="0" lang="zh-CN" altLang="en-US" b="1" dirty="0">
                <a:solidFill>
                  <a:srgbClr val="000000"/>
                </a:solidFill>
              </a:rPr>
              <a:t>；</a:t>
            </a:r>
            <a:r>
              <a:rPr kumimoji="0" lang="en-US" altLang="zh-CN" b="1" dirty="0">
                <a:solidFill>
                  <a:srgbClr val="000000"/>
                </a:solidFill>
              </a:rPr>
              <a:t>v</a:t>
            </a:r>
            <a:r>
              <a:rPr kumimoji="0" lang="en-US" altLang="zh-CN" b="1" baseline="-25000" dirty="0">
                <a:solidFill>
                  <a:srgbClr val="000000"/>
                </a:solidFill>
              </a:rPr>
              <a:t>10</a:t>
            </a:r>
            <a:r>
              <a:rPr kumimoji="0" lang="en-US" altLang="zh-CN" b="1" dirty="0">
                <a:solidFill>
                  <a:srgbClr val="000000"/>
                </a:solidFill>
              </a:rPr>
              <a:t>,v</a:t>
            </a:r>
            <a:r>
              <a:rPr kumimoji="0" lang="en-US" altLang="zh-CN" b="1" baseline="-25000" dirty="0">
                <a:solidFill>
                  <a:srgbClr val="000000"/>
                </a:solidFill>
              </a:rPr>
              <a:t>11</a:t>
            </a:r>
            <a:r>
              <a:rPr kumimoji="0" lang="en-US" altLang="zh-CN" b="1" dirty="0">
                <a:solidFill>
                  <a:srgbClr val="000000"/>
                </a:solidFill>
              </a:rPr>
              <a:t>,v</a:t>
            </a:r>
            <a:r>
              <a:rPr kumimoji="0" lang="en-US" altLang="zh-CN" b="1" baseline="-25000" dirty="0">
                <a:solidFill>
                  <a:srgbClr val="000000"/>
                </a:solidFill>
              </a:rPr>
              <a:t>12</a:t>
            </a:r>
            <a:r>
              <a:rPr kumimoji="0" lang="zh-CN" altLang="en-US" b="1" dirty="0">
                <a:solidFill>
                  <a:srgbClr val="000000"/>
                </a:solidFill>
              </a:rPr>
              <a:t>在第三层，层数为</a:t>
            </a:r>
            <a:r>
              <a:rPr kumimoji="0" lang="en-US" altLang="zh-CN" b="1" dirty="0">
                <a:solidFill>
                  <a:srgbClr val="000000"/>
                </a:solidFill>
              </a:rPr>
              <a:t>3</a:t>
            </a:r>
            <a:r>
              <a:rPr kumimoji="0" lang="zh-CN" altLang="en-US" b="1" dirty="0">
                <a:solidFill>
                  <a:srgbClr val="000000"/>
                </a:solidFill>
              </a:rPr>
              <a:t>；</a:t>
            </a:r>
            <a:r>
              <a:rPr kumimoji="0" lang="en-US" altLang="zh-CN" b="1" dirty="0">
                <a:solidFill>
                  <a:srgbClr val="000000"/>
                </a:solidFill>
              </a:rPr>
              <a:t>v</a:t>
            </a:r>
            <a:r>
              <a:rPr kumimoji="0" lang="en-US" altLang="zh-CN" b="1" baseline="-25000" dirty="0">
                <a:solidFill>
                  <a:srgbClr val="000000"/>
                </a:solidFill>
              </a:rPr>
              <a:t>13</a:t>
            </a:r>
            <a:r>
              <a:rPr kumimoji="0" lang="zh-CN" altLang="en-US" b="1" dirty="0">
                <a:solidFill>
                  <a:srgbClr val="000000"/>
                </a:solidFill>
              </a:rPr>
              <a:t>处第四层，层数为</a:t>
            </a:r>
            <a:r>
              <a:rPr kumimoji="0" lang="en-US" altLang="zh-CN" b="1" dirty="0">
                <a:solidFill>
                  <a:srgbClr val="000000"/>
                </a:solidFill>
              </a:rPr>
              <a:t>4</a:t>
            </a:r>
            <a:r>
              <a:rPr kumimoji="0" lang="zh-CN" altLang="en-US" b="1" dirty="0">
                <a:solidFill>
                  <a:srgbClr val="000000"/>
                </a:solidFill>
              </a:rPr>
              <a:t>；</a:t>
            </a:r>
            <a:r>
              <a:rPr kumimoji="0" lang="zh-CN" altLang="en-US" b="1" dirty="0">
                <a:solidFill>
                  <a:schemeClr val="accent2"/>
                </a:solidFill>
              </a:rPr>
              <a:t>树高</a:t>
            </a:r>
            <a:r>
              <a:rPr kumimoji="0" lang="zh-CN" altLang="en-US" b="1" dirty="0">
                <a:solidFill>
                  <a:srgbClr val="000000"/>
                </a:solidFill>
              </a:rPr>
              <a:t>为</a:t>
            </a:r>
            <a:r>
              <a:rPr kumimoji="0" lang="en-US" altLang="zh-CN" b="1" dirty="0">
                <a:solidFill>
                  <a:srgbClr val="000000"/>
                </a:solidFill>
              </a:rPr>
              <a:t>4</a:t>
            </a:r>
            <a:r>
              <a:rPr kumimoji="0" lang="zh-CN" altLang="en-US" b="1" dirty="0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81926" name="Text Box 2">
            <a:extLst>
              <a:ext uri="{FF2B5EF4-FFF2-40B4-BE49-F238E27FC236}">
                <a16:creationId xmlns:a16="http://schemas.microsoft.com/office/drawing/2014/main" id="{DA54FB04-DB8D-4944-AAAE-C2815F3E8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549275"/>
            <a:ext cx="61198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 题</a:t>
            </a:r>
          </a:p>
        </p:txBody>
      </p:sp>
      <p:pic>
        <p:nvPicPr>
          <p:cNvPr id="81927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AA4C0EA0-4A62-4F21-9FFD-2424E8CAF0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513" y="404813"/>
            <a:ext cx="1233487" cy="1296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5E18CB81-5504-4E59-ADAC-A105C50093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04" y="2824086"/>
            <a:ext cx="3200879" cy="3333173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日期占位符 3">
            <a:extLst>
              <a:ext uri="{FF2B5EF4-FFF2-40B4-BE49-F238E27FC236}">
                <a16:creationId xmlns:a16="http://schemas.microsoft.com/office/drawing/2014/main" id="{266DEA38-5EE7-4462-A3EC-18039B8CC70E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EF070EF-A93B-4464-ADDA-63A420C89F46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2947" name="Text Box 2">
            <a:extLst>
              <a:ext uri="{FF2B5EF4-FFF2-40B4-BE49-F238E27FC236}">
                <a16:creationId xmlns:a16="http://schemas.microsoft.com/office/drawing/2014/main" id="{E16B738B-0197-40D8-9D47-909C28D2F3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765175"/>
            <a:ext cx="6626225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根树的倒置画法</a:t>
            </a:r>
          </a:p>
        </p:txBody>
      </p:sp>
      <p:pic>
        <p:nvPicPr>
          <p:cNvPr id="82948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50B6D00E-DD52-474A-8FB9-36432D1303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7581" y="688995"/>
            <a:ext cx="1026419" cy="1079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6EEF381-521F-436F-890A-ECE6CF6CCC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536" y="2204864"/>
            <a:ext cx="1872208" cy="328695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F56D1B9-1489-4B00-8713-11FED10090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3973" y="2220058"/>
            <a:ext cx="6034491" cy="3271759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日期占位符 3">
            <a:extLst>
              <a:ext uri="{FF2B5EF4-FFF2-40B4-BE49-F238E27FC236}">
                <a16:creationId xmlns:a16="http://schemas.microsoft.com/office/drawing/2014/main" id="{5BBD5FCE-2C02-4E13-81A3-8C52E5B87A5A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D720B5A-FF8E-4D29-8616-617E80D9A3E5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8067" name="Text Box 2">
            <a:extLst>
              <a:ext uri="{FF2B5EF4-FFF2-40B4-BE49-F238E27FC236}">
                <a16:creationId xmlns:a16="http://schemas.microsoft.com/office/drawing/2014/main" id="{46E7D98F-2C21-4B0F-8B80-706B783461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765175"/>
            <a:ext cx="6626225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根树的家族关系</a:t>
            </a:r>
          </a:p>
        </p:txBody>
      </p:sp>
      <p:pic>
        <p:nvPicPr>
          <p:cNvPr id="88068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381A4186-1456-431E-8929-6199322125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25" y="404813"/>
            <a:ext cx="1095375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8069" name="Group 33">
            <a:extLst>
              <a:ext uri="{FF2B5EF4-FFF2-40B4-BE49-F238E27FC236}">
                <a16:creationId xmlns:a16="http://schemas.microsoft.com/office/drawing/2014/main" id="{7604B613-F62A-4EC2-9249-BAD98776C094}"/>
              </a:ext>
            </a:extLst>
          </p:cNvPr>
          <p:cNvGrpSpPr>
            <a:grpSpLocks/>
          </p:cNvGrpSpPr>
          <p:nvPr/>
        </p:nvGrpSpPr>
        <p:grpSpPr bwMode="auto">
          <a:xfrm>
            <a:off x="1474788" y="1773238"/>
            <a:ext cx="5545137" cy="4392612"/>
            <a:chOff x="2108" y="1117"/>
            <a:chExt cx="3493" cy="2767"/>
          </a:xfrm>
        </p:grpSpPr>
        <p:sp>
          <p:nvSpPr>
            <p:cNvPr id="88070" name="Rectangle 11">
              <a:extLst>
                <a:ext uri="{FF2B5EF4-FFF2-40B4-BE49-F238E27FC236}">
                  <a16:creationId xmlns:a16="http://schemas.microsoft.com/office/drawing/2014/main" id="{ADF6348B-0C9D-4F5A-89DA-ADF2065D09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1344"/>
              <a:ext cx="2948" cy="25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08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8071" name="Oval 12">
              <a:extLst>
                <a:ext uri="{FF2B5EF4-FFF2-40B4-BE49-F238E27FC236}">
                  <a16:creationId xmlns:a16="http://schemas.microsoft.com/office/drawing/2014/main" id="{CA92476B-9E21-4182-A1B6-7AB4FD8378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4" y="1480"/>
              <a:ext cx="226" cy="227"/>
            </a:xfrm>
            <a:prstGeom prst="ellipse">
              <a:avLst/>
            </a:prstGeom>
            <a:noFill/>
            <a:ln w="508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1800" b="1"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88072" name="Oval 13">
              <a:extLst>
                <a:ext uri="{FF2B5EF4-FFF2-40B4-BE49-F238E27FC236}">
                  <a16:creationId xmlns:a16="http://schemas.microsoft.com/office/drawing/2014/main" id="{66A4A468-3729-44DC-83C1-CF7AB2B05C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0" y="2206"/>
              <a:ext cx="226" cy="227"/>
            </a:xfrm>
            <a:prstGeom prst="ellipse">
              <a:avLst/>
            </a:prstGeom>
            <a:noFill/>
            <a:ln w="508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1800" b="1">
                  <a:latin typeface="Arial" panose="020B0604020202020204" pitchFamily="34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88073" name="Oval 14">
              <a:extLst>
                <a:ext uri="{FF2B5EF4-FFF2-40B4-BE49-F238E27FC236}">
                  <a16:creationId xmlns:a16="http://schemas.microsoft.com/office/drawing/2014/main" id="{6DB550B5-C8AC-4D77-8F36-E632691863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3" y="2205"/>
              <a:ext cx="226" cy="227"/>
            </a:xfrm>
            <a:prstGeom prst="ellipse">
              <a:avLst/>
            </a:prstGeom>
            <a:noFill/>
            <a:ln w="508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1800" b="1">
                  <a:latin typeface="Arial" panose="020B0604020202020204" pitchFamily="34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88074" name="Oval 15">
              <a:extLst>
                <a:ext uri="{FF2B5EF4-FFF2-40B4-BE49-F238E27FC236}">
                  <a16:creationId xmlns:a16="http://schemas.microsoft.com/office/drawing/2014/main" id="{AC97A1DA-D751-429D-A115-7950C87189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2205"/>
              <a:ext cx="226" cy="227"/>
            </a:xfrm>
            <a:prstGeom prst="ellipse">
              <a:avLst/>
            </a:prstGeom>
            <a:noFill/>
            <a:ln w="508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1800" b="1">
                  <a:latin typeface="Arial" panose="020B0604020202020204" pitchFamily="34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88075" name="Oval 16">
              <a:extLst>
                <a:ext uri="{FF2B5EF4-FFF2-40B4-BE49-F238E27FC236}">
                  <a16:creationId xmlns:a16="http://schemas.microsoft.com/office/drawing/2014/main" id="{D5F6D42B-6DE9-4447-ACAB-5E3F686410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0" y="3067"/>
              <a:ext cx="226" cy="227"/>
            </a:xfrm>
            <a:prstGeom prst="ellipse">
              <a:avLst/>
            </a:prstGeom>
            <a:noFill/>
            <a:ln w="508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1800" b="1">
                  <a:latin typeface="Arial" panose="020B0604020202020204" pitchFamily="34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88076" name="Oval 17">
              <a:extLst>
                <a:ext uri="{FF2B5EF4-FFF2-40B4-BE49-F238E27FC236}">
                  <a16:creationId xmlns:a16="http://schemas.microsoft.com/office/drawing/2014/main" id="{EBA4A025-9D77-48C7-B578-3715F8E96B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3" y="3067"/>
              <a:ext cx="226" cy="227"/>
            </a:xfrm>
            <a:prstGeom prst="ellipse">
              <a:avLst/>
            </a:prstGeom>
            <a:noFill/>
            <a:ln w="508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1800" b="1">
                  <a:latin typeface="Arial" panose="020B0604020202020204" pitchFamily="34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88077" name="Oval 18">
              <a:extLst>
                <a:ext uri="{FF2B5EF4-FFF2-40B4-BE49-F238E27FC236}">
                  <a16:creationId xmlns:a16="http://schemas.microsoft.com/office/drawing/2014/main" id="{523FF5ED-F589-457C-8251-24816128BC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4" y="3067"/>
              <a:ext cx="226" cy="227"/>
            </a:xfrm>
            <a:prstGeom prst="ellipse">
              <a:avLst/>
            </a:prstGeom>
            <a:noFill/>
            <a:ln w="508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1800" b="1">
                  <a:latin typeface="Arial" panose="020B0604020202020204" pitchFamily="34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88078" name="Oval 19">
              <a:extLst>
                <a:ext uri="{FF2B5EF4-FFF2-40B4-BE49-F238E27FC236}">
                  <a16:creationId xmlns:a16="http://schemas.microsoft.com/office/drawing/2014/main" id="{DCD7F4D0-C283-47C2-997D-CA7E6DB79E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4" y="3067"/>
              <a:ext cx="226" cy="227"/>
            </a:xfrm>
            <a:prstGeom prst="ellipse">
              <a:avLst/>
            </a:prstGeom>
            <a:noFill/>
            <a:ln w="508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1800" b="1">
                  <a:latin typeface="Arial" panose="020B0604020202020204" pitchFamily="34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88079" name="Line 20">
              <a:extLst>
                <a:ext uri="{FF2B5EF4-FFF2-40B4-BE49-F238E27FC236}">
                  <a16:creationId xmlns:a16="http://schemas.microsoft.com/office/drawing/2014/main" id="{DB1040CA-809D-4FF2-ABC4-0F58860B08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52" y="1616"/>
              <a:ext cx="862" cy="589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80" name="Line 21">
              <a:extLst>
                <a:ext uri="{FF2B5EF4-FFF2-40B4-BE49-F238E27FC236}">
                  <a16:creationId xmlns:a16="http://schemas.microsoft.com/office/drawing/2014/main" id="{F28CB2A2-4441-42EB-BC68-C5B2ABE7E5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0" y="1706"/>
              <a:ext cx="0" cy="499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81" name="Line 22">
              <a:extLst>
                <a:ext uri="{FF2B5EF4-FFF2-40B4-BE49-F238E27FC236}">
                  <a16:creationId xmlns:a16="http://schemas.microsoft.com/office/drawing/2014/main" id="{72C975D8-16CC-4306-886F-A1158F84DD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1" y="1616"/>
              <a:ext cx="771" cy="589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82" name="Line 23">
              <a:extLst>
                <a:ext uri="{FF2B5EF4-FFF2-40B4-BE49-F238E27FC236}">
                  <a16:creationId xmlns:a16="http://schemas.microsoft.com/office/drawing/2014/main" id="{0C01A5E5-B0DC-42F1-9BBA-2A3C52CA2A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1" y="2432"/>
              <a:ext cx="0" cy="635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83" name="Line 24">
              <a:extLst>
                <a:ext uri="{FF2B5EF4-FFF2-40B4-BE49-F238E27FC236}">
                  <a16:creationId xmlns:a16="http://schemas.microsoft.com/office/drawing/2014/main" id="{1C300F54-77F7-4A16-A86B-F6E60DD96A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0" y="2432"/>
              <a:ext cx="0" cy="635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84" name="Line 25">
              <a:extLst>
                <a:ext uri="{FF2B5EF4-FFF2-40B4-BE49-F238E27FC236}">
                  <a16:creationId xmlns:a16="http://schemas.microsoft.com/office/drawing/2014/main" id="{8BF30117-9288-47E1-A6EE-F93E46F7AF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30" y="2432"/>
              <a:ext cx="227" cy="635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85" name="Line 26">
              <a:extLst>
                <a:ext uri="{FF2B5EF4-FFF2-40B4-BE49-F238E27FC236}">
                  <a16:creationId xmlns:a16="http://schemas.microsoft.com/office/drawing/2014/main" id="{64255CA1-2A84-4FEC-976A-A3800EBE97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8" y="2432"/>
              <a:ext cx="227" cy="635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86" name="AutoShape 28">
              <a:extLst>
                <a:ext uri="{FF2B5EF4-FFF2-40B4-BE49-F238E27FC236}">
                  <a16:creationId xmlns:a16="http://schemas.microsoft.com/office/drawing/2014/main" id="{B5BC85E1-0284-409B-BD96-E10B1AD2FE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9" y="1117"/>
              <a:ext cx="635" cy="499"/>
            </a:xfrm>
            <a:prstGeom prst="cloudCallout">
              <a:avLst>
                <a:gd name="adj1" fmla="val -80236"/>
                <a:gd name="adj2" fmla="val 46394"/>
              </a:avLst>
            </a:prstGeom>
            <a:solidFill>
              <a:schemeClr val="folHlink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b="1">
                  <a:latin typeface="Arial" panose="020B0604020202020204" pitchFamily="34" charset="0"/>
                  <a:ea typeface="宋体" panose="02010600030101010101" pitchFamily="2" charset="-122"/>
                </a:rPr>
                <a:t>根</a:t>
              </a:r>
            </a:p>
          </p:txBody>
        </p:sp>
        <p:sp>
          <p:nvSpPr>
            <p:cNvPr id="88087" name="Freeform 29">
              <a:extLst>
                <a:ext uri="{FF2B5EF4-FFF2-40B4-BE49-F238E27FC236}">
                  <a16:creationId xmlns:a16="http://schemas.microsoft.com/office/drawing/2014/main" id="{2431607F-E620-41FE-AA55-4A836B03E7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1" y="1979"/>
              <a:ext cx="2594" cy="631"/>
            </a:xfrm>
            <a:custGeom>
              <a:avLst/>
              <a:gdLst>
                <a:gd name="T0" fmla="*/ 2433 w 2594"/>
                <a:gd name="T1" fmla="*/ 164 h 631"/>
                <a:gd name="T2" fmla="*/ 2131 w 2594"/>
                <a:gd name="T3" fmla="*/ 82 h 631"/>
                <a:gd name="T4" fmla="*/ 1830 w 2594"/>
                <a:gd name="T5" fmla="*/ 55 h 631"/>
                <a:gd name="T6" fmla="*/ 1363 w 2594"/>
                <a:gd name="T7" fmla="*/ 0 h 631"/>
                <a:gd name="T8" fmla="*/ 659 w 2594"/>
                <a:gd name="T9" fmla="*/ 9 h 631"/>
                <a:gd name="T10" fmla="*/ 440 w 2594"/>
                <a:gd name="T11" fmla="*/ 55 h 631"/>
                <a:gd name="T12" fmla="*/ 339 w 2594"/>
                <a:gd name="T13" fmla="*/ 82 h 631"/>
                <a:gd name="T14" fmla="*/ 248 w 2594"/>
                <a:gd name="T15" fmla="*/ 119 h 631"/>
                <a:gd name="T16" fmla="*/ 74 w 2594"/>
                <a:gd name="T17" fmla="*/ 237 h 631"/>
                <a:gd name="T18" fmla="*/ 19 w 2594"/>
                <a:gd name="T19" fmla="*/ 301 h 631"/>
                <a:gd name="T20" fmla="*/ 19 w 2594"/>
                <a:gd name="T21" fmla="*/ 466 h 631"/>
                <a:gd name="T22" fmla="*/ 184 w 2594"/>
                <a:gd name="T23" fmla="*/ 557 h 631"/>
                <a:gd name="T24" fmla="*/ 586 w 2594"/>
                <a:gd name="T25" fmla="*/ 576 h 631"/>
                <a:gd name="T26" fmla="*/ 1546 w 2594"/>
                <a:gd name="T27" fmla="*/ 631 h 631"/>
                <a:gd name="T28" fmla="*/ 2113 w 2594"/>
                <a:gd name="T29" fmla="*/ 621 h 631"/>
                <a:gd name="T30" fmla="*/ 2397 w 2594"/>
                <a:gd name="T31" fmla="*/ 612 h 631"/>
                <a:gd name="T32" fmla="*/ 2479 w 2594"/>
                <a:gd name="T33" fmla="*/ 585 h 631"/>
                <a:gd name="T34" fmla="*/ 2515 w 2594"/>
                <a:gd name="T35" fmla="*/ 530 h 631"/>
                <a:gd name="T36" fmla="*/ 2570 w 2594"/>
                <a:gd name="T37" fmla="*/ 466 h 631"/>
                <a:gd name="T38" fmla="*/ 2589 w 2594"/>
                <a:gd name="T39" fmla="*/ 411 h 631"/>
                <a:gd name="T40" fmla="*/ 2515 w 2594"/>
                <a:gd name="T41" fmla="*/ 247 h 631"/>
                <a:gd name="T42" fmla="*/ 2479 w 2594"/>
                <a:gd name="T43" fmla="*/ 219 h 631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594" h="631">
                  <a:moveTo>
                    <a:pt x="2433" y="164"/>
                  </a:moveTo>
                  <a:cubicBezTo>
                    <a:pt x="2333" y="139"/>
                    <a:pt x="2232" y="102"/>
                    <a:pt x="2131" y="82"/>
                  </a:cubicBezTo>
                  <a:cubicBezTo>
                    <a:pt x="1995" y="55"/>
                    <a:pt x="1995" y="63"/>
                    <a:pt x="1830" y="55"/>
                  </a:cubicBezTo>
                  <a:cubicBezTo>
                    <a:pt x="1672" y="30"/>
                    <a:pt x="1525" y="9"/>
                    <a:pt x="1363" y="0"/>
                  </a:cubicBezTo>
                  <a:cubicBezTo>
                    <a:pt x="1128" y="3"/>
                    <a:pt x="894" y="4"/>
                    <a:pt x="659" y="9"/>
                  </a:cubicBezTo>
                  <a:cubicBezTo>
                    <a:pt x="588" y="11"/>
                    <a:pt x="508" y="35"/>
                    <a:pt x="440" y="55"/>
                  </a:cubicBezTo>
                  <a:cubicBezTo>
                    <a:pt x="407" y="65"/>
                    <a:pt x="339" y="82"/>
                    <a:pt x="339" y="82"/>
                  </a:cubicBezTo>
                  <a:cubicBezTo>
                    <a:pt x="310" y="96"/>
                    <a:pt x="276" y="103"/>
                    <a:pt x="248" y="119"/>
                  </a:cubicBezTo>
                  <a:cubicBezTo>
                    <a:pt x="190" y="151"/>
                    <a:pt x="126" y="195"/>
                    <a:pt x="74" y="237"/>
                  </a:cubicBezTo>
                  <a:cubicBezTo>
                    <a:pt x="52" y="255"/>
                    <a:pt x="40" y="281"/>
                    <a:pt x="19" y="301"/>
                  </a:cubicBezTo>
                  <a:cubicBezTo>
                    <a:pt x="3" y="368"/>
                    <a:pt x="0" y="365"/>
                    <a:pt x="19" y="466"/>
                  </a:cubicBezTo>
                  <a:cubicBezTo>
                    <a:pt x="25" y="500"/>
                    <a:pt x="167" y="550"/>
                    <a:pt x="184" y="557"/>
                  </a:cubicBezTo>
                  <a:cubicBezTo>
                    <a:pt x="309" y="606"/>
                    <a:pt x="452" y="573"/>
                    <a:pt x="586" y="576"/>
                  </a:cubicBezTo>
                  <a:cubicBezTo>
                    <a:pt x="922" y="631"/>
                    <a:pt x="1175" y="625"/>
                    <a:pt x="1546" y="631"/>
                  </a:cubicBezTo>
                  <a:cubicBezTo>
                    <a:pt x="1735" y="628"/>
                    <a:pt x="1924" y="625"/>
                    <a:pt x="2113" y="621"/>
                  </a:cubicBezTo>
                  <a:cubicBezTo>
                    <a:pt x="2208" y="619"/>
                    <a:pt x="2303" y="620"/>
                    <a:pt x="2397" y="612"/>
                  </a:cubicBezTo>
                  <a:cubicBezTo>
                    <a:pt x="2426" y="610"/>
                    <a:pt x="2479" y="585"/>
                    <a:pt x="2479" y="585"/>
                  </a:cubicBezTo>
                  <a:cubicBezTo>
                    <a:pt x="2491" y="567"/>
                    <a:pt x="2499" y="545"/>
                    <a:pt x="2515" y="530"/>
                  </a:cubicBezTo>
                  <a:cubicBezTo>
                    <a:pt x="2535" y="511"/>
                    <a:pt x="2558" y="492"/>
                    <a:pt x="2570" y="466"/>
                  </a:cubicBezTo>
                  <a:cubicBezTo>
                    <a:pt x="2578" y="448"/>
                    <a:pt x="2589" y="411"/>
                    <a:pt x="2589" y="411"/>
                  </a:cubicBezTo>
                  <a:cubicBezTo>
                    <a:pt x="2582" y="336"/>
                    <a:pt x="2594" y="272"/>
                    <a:pt x="2515" y="247"/>
                  </a:cubicBezTo>
                  <a:cubicBezTo>
                    <a:pt x="2492" y="223"/>
                    <a:pt x="2505" y="232"/>
                    <a:pt x="2479" y="219"/>
                  </a:cubicBezTo>
                </a:path>
              </a:pathLst>
            </a:custGeom>
            <a:noFill/>
            <a:ln w="50800" cap="flat" cmpd="sng">
              <a:solidFill>
                <a:srgbClr val="00CC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88" name="AutoShape 30">
              <a:extLst>
                <a:ext uri="{FF2B5EF4-FFF2-40B4-BE49-F238E27FC236}">
                  <a16:creationId xmlns:a16="http://schemas.microsoft.com/office/drawing/2014/main" id="{C5924E70-B1AF-4F05-8512-099F7A01FE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8" y="1512"/>
              <a:ext cx="1701" cy="428"/>
            </a:xfrm>
            <a:prstGeom prst="cloudCallout">
              <a:avLst>
                <a:gd name="adj1" fmla="val 21560"/>
                <a:gd name="adj2" fmla="val 99769"/>
              </a:avLst>
            </a:prstGeom>
            <a:solidFill>
              <a:schemeClr val="folHlink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b="1">
                  <a:latin typeface="Arial" panose="020B0604020202020204" pitchFamily="34" charset="0"/>
                  <a:ea typeface="宋体" panose="02010600030101010101" pitchFamily="2" charset="-122"/>
                </a:rPr>
                <a:t>互为兄弟</a:t>
              </a:r>
            </a:p>
          </p:txBody>
        </p:sp>
        <p:sp>
          <p:nvSpPr>
            <p:cNvPr id="88089" name="Freeform 31">
              <a:extLst>
                <a:ext uri="{FF2B5EF4-FFF2-40B4-BE49-F238E27FC236}">
                  <a16:creationId xmlns:a16="http://schemas.microsoft.com/office/drawing/2014/main" id="{B7412B9A-3CF4-449F-BBB7-75A916961E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8" y="2013"/>
              <a:ext cx="734" cy="1472"/>
            </a:xfrm>
            <a:custGeom>
              <a:avLst/>
              <a:gdLst>
                <a:gd name="T0" fmla="*/ 549 w 734"/>
                <a:gd name="T1" fmla="*/ 0 h 1472"/>
                <a:gd name="T2" fmla="*/ 265 w 734"/>
                <a:gd name="T3" fmla="*/ 27 h 1472"/>
                <a:gd name="T4" fmla="*/ 110 w 734"/>
                <a:gd name="T5" fmla="*/ 146 h 1472"/>
                <a:gd name="T6" fmla="*/ 64 w 734"/>
                <a:gd name="T7" fmla="*/ 237 h 1472"/>
                <a:gd name="T8" fmla="*/ 28 w 734"/>
                <a:gd name="T9" fmla="*/ 356 h 1472"/>
                <a:gd name="T10" fmla="*/ 18 w 734"/>
                <a:gd name="T11" fmla="*/ 393 h 1472"/>
                <a:gd name="T12" fmla="*/ 9 w 734"/>
                <a:gd name="T13" fmla="*/ 429 h 1472"/>
                <a:gd name="T14" fmla="*/ 0 w 734"/>
                <a:gd name="T15" fmla="*/ 502 h 1472"/>
                <a:gd name="T16" fmla="*/ 9 w 734"/>
                <a:gd name="T17" fmla="*/ 1161 h 1472"/>
                <a:gd name="T18" fmla="*/ 412 w 734"/>
                <a:gd name="T19" fmla="*/ 1472 h 1472"/>
                <a:gd name="T20" fmla="*/ 485 w 734"/>
                <a:gd name="T21" fmla="*/ 1453 h 1472"/>
                <a:gd name="T22" fmla="*/ 631 w 734"/>
                <a:gd name="T23" fmla="*/ 1289 h 1472"/>
                <a:gd name="T24" fmla="*/ 695 w 734"/>
                <a:gd name="T25" fmla="*/ 1115 h 1472"/>
                <a:gd name="T26" fmla="*/ 704 w 734"/>
                <a:gd name="T27" fmla="*/ 411 h 1472"/>
                <a:gd name="T28" fmla="*/ 668 w 734"/>
                <a:gd name="T29" fmla="*/ 237 h 1472"/>
                <a:gd name="T30" fmla="*/ 485 w 734"/>
                <a:gd name="T31" fmla="*/ 45 h 147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734" h="1472">
                  <a:moveTo>
                    <a:pt x="549" y="0"/>
                  </a:moveTo>
                  <a:cubicBezTo>
                    <a:pt x="456" y="23"/>
                    <a:pt x="360" y="12"/>
                    <a:pt x="265" y="27"/>
                  </a:cubicBezTo>
                  <a:cubicBezTo>
                    <a:pt x="201" y="48"/>
                    <a:pt x="162" y="106"/>
                    <a:pt x="110" y="146"/>
                  </a:cubicBezTo>
                  <a:cubicBezTo>
                    <a:pt x="99" y="180"/>
                    <a:pt x="78" y="204"/>
                    <a:pt x="64" y="237"/>
                  </a:cubicBezTo>
                  <a:cubicBezTo>
                    <a:pt x="40" y="291"/>
                    <a:pt x="45" y="290"/>
                    <a:pt x="28" y="356"/>
                  </a:cubicBezTo>
                  <a:cubicBezTo>
                    <a:pt x="25" y="368"/>
                    <a:pt x="21" y="381"/>
                    <a:pt x="18" y="393"/>
                  </a:cubicBezTo>
                  <a:cubicBezTo>
                    <a:pt x="15" y="405"/>
                    <a:pt x="9" y="429"/>
                    <a:pt x="9" y="429"/>
                  </a:cubicBezTo>
                  <a:cubicBezTo>
                    <a:pt x="6" y="453"/>
                    <a:pt x="0" y="477"/>
                    <a:pt x="0" y="502"/>
                  </a:cubicBezTo>
                  <a:cubicBezTo>
                    <a:pt x="0" y="722"/>
                    <a:pt x="3" y="941"/>
                    <a:pt x="9" y="1161"/>
                  </a:cubicBezTo>
                  <a:cubicBezTo>
                    <a:pt x="14" y="1345"/>
                    <a:pt x="274" y="1423"/>
                    <a:pt x="412" y="1472"/>
                  </a:cubicBezTo>
                  <a:cubicBezTo>
                    <a:pt x="437" y="1467"/>
                    <a:pt x="465" y="1469"/>
                    <a:pt x="485" y="1453"/>
                  </a:cubicBezTo>
                  <a:cubicBezTo>
                    <a:pt x="540" y="1409"/>
                    <a:pt x="589" y="1345"/>
                    <a:pt x="631" y="1289"/>
                  </a:cubicBezTo>
                  <a:cubicBezTo>
                    <a:pt x="643" y="1227"/>
                    <a:pt x="668" y="1171"/>
                    <a:pt x="695" y="1115"/>
                  </a:cubicBezTo>
                  <a:cubicBezTo>
                    <a:pt x="734" y="878"/>
                    <a:pt x="711" y="666"/>
                    <a:pt x="704" y="411"/>
                  </a:cubicBezTo>
                  <a:cubicBezTo>
                    <a:pt x="702" y="342"/>
                    <a:pt x="713" y="285"/>
                    <a:pt x="668" y="237"/>
                  </a:cubicBezTo>
                  <a:cubicBezTo>
                    <a:pt x="631" y="137"/>
                    <a:pt x="575" y="90"/>
                    <a:pt x="485" y="45"/>
                  </a:cubicBezTo>
                </a:path>
              </a:pathLst>
            </a:custGeom>
            <a:noFill/>
            <a:ln w="50800" cap="flat" cmpd="sng">
              <a:solidFill>
                <a:srgbClr val="99CC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88090" name="AutoShape 32">
              <a:extLst>
                <a:ext uri="{FF2B5EF4-FFF2-40B4-BE49-F238E27FC236}">
                  <a16:creationId xmlns:a16="http://schemas.microsoft.com/office/drawing/2014/main" id="{2B4A8764-B285-4CA9-A28D-46D05630B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3" y="3430"/>
              <a:ext cx="1360" cy="454"/>
            </a:xfrm>
            <a:prstGeom prst="cloudCallout">
              <a:avLst>
                <a:gd name="adj1" fmla="val 64704"/>
                <a:gd name="adj2" fmla="val -133699"/>
              </a:avLst>
            </a:prstGeom>
            <a:solidFill>
              <a:schemeClr val="folHlink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b="1">
                  <a:latin typeface="Arial" panose="020B0604020202020204" pitchFamily="34" charset="0"/>
                  <a:ea typeface="宋体" panose="02010600030101010101" pitchFamily="2" charset="-122"/>
                </a:rPr>
                <a:t>互为父子</a:t>
              </a:r>
            </a:p>
          </p:txBody>
        </p:sp>
      </p:grpSp>
    </p:spTree>
  </p:cSld>
  <p:clrMapOvr>
    <a:masterClrMapping/>
  </p:clrMapOvr>
  <p:transition spd="med">
    <p:wipe dir="r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3" name="日期占位符 3">
            <a:extLst>
              <a:ext uri="{FF2B5EF4-FFF2-40B4-BE49-F238E27FC236}">
                <a16:creationId xmlns:a16="http://schemas.microsoft.com/office/drawing/2014/main" id="{424FBAF7-DE50-4BBF-8DBA-162A924C150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359932B-B719-40F1-84D1-987A811393BF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7044" name="Text Box 2">
            <a:extLst>
              <a:ext uri="{FF2B5EF4-FFF2-40B4-BE49-F238E27FC236}">
                <a16:creationId xmlns:a16="http://schemas.microsoft.com/office/drawing/2014/main" id="{87ED58E5-B04A-40BD-B20B-B66A9F7C6E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765175"/>
            <a:ext cx="6626225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根树的家族关系</a:t>
            </a:r>
          </a:p>
        </p:txBody>
      </p:sp>
      <p:pic>
        <p:nvPicPr>
          <p:cNvPr id="87045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06DD439F-4E62-4D0B-A1DA-6315456BBA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25" y="404813"/>
            <a:ext cx="1095375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B9D3A680-06B5-474F-A5F5-20C43E510181}"/>
                  </a:ext>
                </a:extLst>
              </p:cNvPr>
              <p:cNvSpPr/>
              <p:nvPr/>
            </p:nvSpPr>
            <p:spPr>
              <a:xfrm>
                <a:off x="539552" y="2003100"/>
                <a:ext cx="8136904" cy="4117153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400" kern="100" dirty="0"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【定义】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对于任意给定的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根树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</a:t>
                </a:r>
                <a:endParaRPr lang="en-US" altLang="zh-CN" sz="24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如果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从结点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可达，则称结点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是结点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</a:t>
                </a:r>
                <a:r>
                  <a:rPr lang="zh-CN" altLang="zh-CN" sz="24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祖先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，结点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是结点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</a:t>
                </a:r>
                <a:r>
                  <a:rPr lang="zh-CN" altLang="zh-CN" sz="24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后代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；</a:t>
                </a:r>
                <a:endParaRPr lang="en-US" altLang="zh-CN" sz="24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如果</a:t>
                </a:r>
                <a14:m>
                  <m:oMath xmlns:m="http://schemas.openxmlformats.org/officeDocument/2006/math">
                    <m:r>
                      <a:rPr lang="zh-CN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b="1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kern="10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 kern="10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sz="2400" b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400" b="1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kern="10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 kern="10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𝒋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是根树的有向边，则称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</a:t>
                </a:r>
                <a:r>
                  <a:rPr lang="zh-CN" altLang="zh-CN" sz="24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父亲</a:t>
                </a:r>
                <a:r>
                  <a:rPr lang="zh-CN" altLang="en-US" sz="24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结点，简称为父亲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</a:t>
                </a:r>
                <a:r>
                  <a:rPr lang="zh-CN" altLang="zh-CN" sz="24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儿子</a:t>
                </a:r>
                <a:r>
                  <a:rPr lang="zh-CN" altLang="en-US" sz="24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结点，简称为儿子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；</a:t>
                </a:r>
                <a:endParaRPr lang="en-US" altLang="zh-CN" sz="24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如果根树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中某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两个结点是同一个结点的儿子，则称这两个结点是</a:t>
                </a:r>
                <a:r>
                  <a:rPr lang="zh-CN" altLang="en-US" sz="24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互为</a:t>
                </a:r>
                <a:r>
                  <a:rPr lang="zh-CN" altLang="zh-CN" sz="24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兄弟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，简称为</a:t>
                </a:r>
                <a:r>
                  <a:rPr lang="zh-CN" altLang="zh-CN" sz="24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兄弟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B9D3A680-06B5-474F-A5F5-20C43E5101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003100"/>
                <a:ext cx="8136904" cy="4117153"/>
              </a:xfrm>
              <a:prstGeom prst="rect">
                <a:avLst/>
              </a:prstGeom>
              <a:blipFill>
                <a:blip r:embed="rId4"/>
                <a:stretch>
                  <a:fillRect l="-1199" r="-1199" b="-19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wipe dir="r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日期占位符 3">
            <a:extLst>
              <a:ext uri="{FF2B5EF4-FFF2-40B4-BE49-F238E27FC236}">
                <a16:creationId xmlns:a16="http://schemas.microsoft.com/office/drawing/2014/main" id="{70B52786-F859-47FE-9AF1-1C2AF460EFA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AE5B6DB-9CAB-4350-A4E5-8C12AF62F140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8909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5FFEEBDB-8B86-4767-B655-5A956770D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8384" y="620688"/>
            <a:ext cx="1043608" cy="1097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9094" name="图片 1">
            <a:extLst>
              <a:ext uri="{FF2B5EF4-FFF2-40B4-BE49-F238E27FC236}">
                <a16:creationId xmlns:a16="http://schemas.microsoft.com/office/drawing/2014/main" id="{62051B9F-748C-4845-897C-BB9FCDA0D2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4127" y="2395733"/>
            <a:ext cx="3848870" cy="3049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2">
            <a:extLst>
              <a:ext uri="{FF2B5EF4-FFF2-40B4-BE49-F238E27FC236}">
                <a16:creationId xmlns:a16="http://schemas.microsoft.com/office/drawing/2014/main" id="{E53E23A8-9303-4C90-95CC-D85D9FA1A5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5656" y="652621"/>
            <a:ext cx="61198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 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BE4F47A5-68CD-4D3D-A3D8-747993FBF4F0}"/>
                  </a:ext>
                </a:extLst>
              </p:cNvPr>
              <p:cNvSpPr/>
              <p:nvPr/>
            </p:nvSpPr>
            <p:spPr>
              <a:xfrm>
                <a:off x="395536" y="1988840"/>
                <a:ext cx="4545602" cy="4216539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:pPr indent="266700" algn="just"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</a:t>
                </a:r>
                <a:r>
                  <a:rPr lang="zh-CN" altLang="en-US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对于右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图所示的</a:t>
                </a:r>
                <a:r>
                  <a:rPr lang="zh-CN" altLang="en-US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根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树</a:t>
                </a:r>
                <a:r>
                  <a:rPr lang="zh-CN" altLang="en-US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</a:t>
                </a:r>
                <a:endParaRPr lang="en-US" altLang="zh-CN" sz="2000" b="1" kern="100" dirty="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spcAft>
                    <a:spcPts val="0"/>
                  </a:spcAft>
                </a:pPr>
                <a:r>
                  <a:rPr lang="en-US" altLang="zh-CN" sz="2000" b="1" kern="100" dirty="0">
                    <a:solidFill>
                      <a:schemeClr val="tx1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𝑨</m:t>
                    </m:r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的出度为</a:t>
                </a:r>
                <a:r>
                  <a:rPr lang="en-US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𝑩</m:t>
                    </m:r>
                  </m:oMath>
                </a14:m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的出度为</a:t>
                </a:r>
                <a:r>
                  <a:rPr lang="en-US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𝑴</m:t>
                    </m:r>
                  </m:oMath>
                </a14:m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的出度为</a:t>
                </a:r>
                <a:r>
                  <a:rPr lang="en-US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；</a:t>
                </a:r>
                <a:endParaRPr lang="en-US" altLang="zh-CN" sz="2000" b="1" kern="100" dirty="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spcAft>
                    <a:spcPts val="0"/>
                  </a:spcAft>
                </a:pPr>
                <a:r>
                  <a:rPr lang="en-US" altLang="zh-CN" sz="2000" b="1" kern="100" dirty="0">
                    <a:solidFill>
                      <a:schemeClr val="tx1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𝑨</m:t>
                    </m:r>
                  </m:oMath>
                </a14:m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</a:t>
                </a:r>
                <a:r>
                  <a:rPr lang="zh-CN" altLang="en-US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儿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子为</a:t>
                </a:r>
                <a14:m>
                  <m:oMath xmlns:m="http://schemas.openxmlformats.org/officeDocument/2006/math">
                    <m:r>
                      <a:rPr lang="en-US" altLang="zh-CN" sz="2000" b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𝑩</m:t>
                    </m:r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𝑪</m:t>
                    </m:r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𝑫</m:t>
                    </m:r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𝑩</m:t>
                    </m:r>
                  </m:oMath>
                </a14:m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</a:t>
                </a:r>
                <a:r>
                  <a:rPr lang="zh-CN" altLang="en-US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儿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子为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𝑬</m:t>
                    </m:r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𝑭</m:t>
                    </m:r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；</a:t>
                </a:r>
                <a:endParaRPr lang="en-US" altLang="zh-CN" sz="2000" b="1" kern="100" dirty="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spcAft>
                    <a:spcPts val="0"/>
                  </a:spcAft>
                </a:pPr>
                <a:r>
                  <a:rPr lang="en-US" altLang="zh-CN" sz="2000" b="1" kern="100" dirty="0">
                    <a:solidFill>
                      <a:schemeClr val="tx1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𝑨</m:t>
                    </m:r>
                  </m:oMath>
                </a14:m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的层次为</a:t>
                </a:r>
                <a:r>
                  <a:rPr lang="en-US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𝑴</m:t>
                    </m:r>
                  </m:oMath>
                </a14:m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的层次为</a:t>
                </a:r>
                <a:r>
                  <a:rPr lang="en-US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；</a:t>
                </a:r>
                <a:endParaRPr lang="en-US" altLang="zh-CN" sz="2000" b="1" kern="100" dirty="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spcAft>
                    <a:spcPts val="0"/>
                  </a:spcAft>
                </a:pPr>
                <a:r>
                  <a:rPr lang="en-US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叶结点有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𝑲</m:t>
                    </m:r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𝑳</m:t>
                    </m:r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𝑭</m:t>
                    </m:r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𝑴</m:t>
                    </m:r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𝑰</m:t>
                    </m:r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𝑱</m:t>
                    </m:r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endParaRPr lang="en-US" altLang="zh-CN" sz="2000" b="1" kern="100" dirty="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spcAft>
                    <a:spcPts val="0"/>
                  </a:spcAft>
                </a:pPr>
                <a:r>
                  <a:rPr lang="en-US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分枝结点有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𝑨</m:t>
                    </m:r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𝑩</m:t>
                    </m:r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𝑪</m:t>
                    </m:r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𝑫</m:t>
                    </m:r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𝑬</m:t>
                    </m:r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𝑯</m:t>
                    </m:r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；</a:t>
                </a:r>
                <a:endParaRPr lang="en-US" altLang="zh-CN" sz="2000" b="1" kern="100" dirty="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spcAft>
                    <a:spcPts val="0"/>
                  </a:spcAft>
                </a:pPr>
                <a:r>
                  <a:rPr lang="en-US" altLang="zh-CN" sz="2000" b="1" kern="100" dirty="0">
                    <a:solidFill>
                      <a:schemeClr val="tx1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𝑰</m:t>
                    </m:r>
                  </m:oMath>
                </a14:m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</a:t>
                </a:r>
                <a:r>
                  <a:rPr lang="zh-CN" altLang="en-US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父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亲为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𝑫</m:t>
                    </m:r>
                  </m:oMath>
                </a14:m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𝑳</m:t>
                    </m:r>
                  </m:oMath>
                </a14:m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</a:t>
                </a:r>
                <a:r>
                  <a:rPr lang="zh-CN" altLang="en-US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父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亲为</a:t>
                </a:r>
                <a:r>
                  <a:rPr lang="en-US" altLang="zh-CN" sz="2000" b="1" i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E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；结点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𝑩</m:t>
                    </m:r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𝑪</m:t>
                    </m:r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𝑫</m:t>
                    </m:r>
                  </m:oMath>
                </a14:m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为兄弟，结点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𝑲</m:t>
                    </m:r>
                    <m:r>
                      <a:rPr lang="zh-CN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，</m:t>
                    </m:r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𝑳</m:t>
                    </m:r>
                  </m:oMath>
                </a14:m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为兄弟；</a:t>
                </a:r>
                <a:endParaRPr lang="en-US" altLang="zh-CN" sz="2000" b="1" kern="100" dirty="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spcAft>
                    <a:spcPts val="0"/>
                  </a:spcAft>
                </a:pPr>
                <a:r>
                  <a:rPr lang="en-US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树的高度为</a:t>
                </a:r>
                <a:r>
                  <a:rPr lang="en-US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；</a:t>
                </a:r>
                <a:endParaRPr lang="en-US" altLang="zh-CN" sz="2000" b="1" kern="100" dirty="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spcAft>
                    <a:spcPts val="0"/>
                  </a:spcAft>
                </a:pPr>
                <a:r>
                  <a:rPr lang="en-US" altLang="zh-CN" sz="2000" b="1" kern="100" dirty="0">
                    <a:solidFill>
                      <a:schemeClr val="tx1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𝑨</m:t>
                    </m:r>
                  </m:oMath>
                </a14:m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𝑭</m:t>
                    </m:r>
                    <m:r>
                      <a:rPr lang="zh-CN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、</m:t>
                    </m:r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的祖先，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𝑩</m:t>
                    </m:r>
                  </m:oMath>
                </a14:m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000" b="1" i="1" kern="100" dirty="0">
                    <a:solidFill>
                      <a:schemeClr val="tx1"/>
                    </a:solidFill>
                    <a:latin typeface="+mj-lt"/>
                    <a:ea typeface="宋体" panose="02010600030101010101" pitchFamily="2" charset="-122"/>
                    <a:cs typeface="Times New Roman" panose="02020603050405020304" pitchFamily="18" charset="0"/>
                  </a:rPr>
                  <a:t>G</a:t>
                </a:r>
                <a:r>
                  <a:rPr lang="zh-CN" altLang="en-US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𝑪</m:t>
                    </m:r>
                  </m:oMath>
                </a14:m>
                <a:r>
                  <a:rPr lang="zh-CN" altLang="en-US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等</a:t>
                </a:r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𝑨</m:t>
                    </m:r>
                  </m:oMath>
                </a14:m>
                <a:r>
                  <a:rPr lang="zh-CN" altLang="zh-CN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</a:t>
                </a:r>
                <a:r>
                  <a:rPr lang="zh-CN" altLang="en-US" sz="20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后代</a:t>
                </a:r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BE4F47A5-68CD-4D3D-A3D8-747993FBF4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988840"/>
                <a:ext cx="4545602" cy="4216539"/>
              </a:xfrm>
              <a:prstGeom prst="rect">
                <a:avLst/>
              </a:prstGeom>
              <a:blipFill>
                <a:blip r:embed="rId5"/>
                <a:stretch>
                  <a:fillRect l="-1475" t="-145" r="-1340" b="-17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wipe dir="r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日期占位符 3">
            <a:extLst>
              <a:ext uri="{FF2B5EF4-FFF2-40B4-BE49-F238E27FC236}">
                <a16:creationId xmlns:a16="http://schemas.microsoft.com/office/drawing/2014/main" id="{34E077C4-302F-4681-A50A-51C5C98A0295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3393255-0547-41B4-A38F-B40BD01A28F6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2163" name="Text Box 2">
            <a:extLst>
              <a:ext uri="{FF2B5EF4-FFF2-40B4-BE49-F238E27FC236}">
                <a16:creationId xmlns:a16="http://schemas.microsoft.com/office/drawing/2014/main" id="{2A753B37-8EB2-48F4-9741-C1DEFEFBAE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765175"/>
            <a:ext cx="5903912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有序根树模型 </a:t>
            </a:r>
          </a:p>
        </p:txBody>
      </p:sp>
      <p:pic>
        <p:nvPicPr>
          <p:cNvPr id="92164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4B9B775D-0964-4A09-87BA-3800AED650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25" y="549275"/>
            <a:ext cx="1095375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65" name="Picture 6" descr="QQ截图20150923125241">
            <a:extLst>
              <a:ext uri="{FF2B5EF4-FFF2-40B4-BE49-F238E27FC236}">
                <a16:creationId xmlns:a16="http://schemas.microsoft.com/office/drawing/2014/main" id="{B2B06F49-0965-45AB-AABA-90885A34E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6203" y="3894993"/>
            <a:ext cx="2910253" cy="2383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66" name="Picture 7" descr="QQ截图20150923131109">
            <a:extLst>
              <a:ext uri="{FF2B5EF4-FFF2-40B4-BE49-F238E27FC236}">
                <a16:creationId xmlns:a16="http://schemas.microsoft.com/office/drawing/2014/main" id="{676FD1B0-859F-4ED4-9596-888E16C7A8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894993"/>
            <a:ext cx="5040312" cy="236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EE7BDBB-ED07-4927-87E7-1CE4D3BAB00D}"/>
              </a:ext>
            </a:extLst>
          </p:cNvPr>
          <p:cNvSpPr/>
          <p:nvPr/>
        </p:nvSpPr>
        <p:spPr>
          <a:xfrm>
            <a:off x="467544" y="1783532"/>
            <a:ext cx="8208912" cy="189885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>
            <a:spAutoFit/>
          </a:bodyPr>
          <a:lstStyle/>
          <a:p>
            <a:pPr indent="266700" algn="just">
              <a:lnSpc>
                <a:spcPts val="3600"/>
              </a:lnSpc>
              <a:spcAft>
                <a:spcPts val="0"/>
              </a:spcAft>
            </a:pPr>
            <a:r>
              <a:rPr lang="en-US" altLang="zh-CN" sz="24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zh-CN" sz="2400" b="1" kern="100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有时会在根树的同层次的兄弟结点之间规定具体的大小排序，一般是从左到右进行排序，有时也可以用边的次序代替结点的次序。</a:t>
            </a:r>
            <a:r>
              <a:rPr lang="zh-CN" altLang="en-US" sz="2400" b="1" kern="100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这种具有规定次序的根树称为</a:t>
            </a:r>
            <a:r>
              <a:rPr lang="zh-CN" altLang="en-US" sz="2400" b="1" kern="100" dirty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有序根树</a:t>
            </a:r>
            <a:r>
              <a:rPr lang="zh-CN" altLang="en-US" sz="2400" b="1" kern="100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，通常简称为</a:t>
            </a:r>
            <a:r>
              <a:rPr lang="zh-CN" altLang="en-US" sz="2400" b="1" kern="100" dirty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有序树</a:t>
            </a:r>
            <a:r>
              <a:rPr lang="zh-CN" altLang="en-US" sz="2400" b="1" kern="100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zh-CN" sz="2400" b="1" kern="100" dirty="0">
              <a:solidFill>
                <a:schemeClr val="bg1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日期占位符 3">
            <a:extLst>
              <a:ext uri="{FF2B5EF4-FFF2-40B4-BE49-F238E27FC236}">
                <a16:creationId xmlns:a16="http://schemas.microsoft.com/office/drawing/2014/main" id="{4B7E7B41-D664-4ED1-8CC1-58449C8651E0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A5676C3-59C0-4A12-B0B7-287E1D47828E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4211" name="Text Box 2">
            <a:extLst>
              <a:ext uri="{FF2B5EF4-FFF2-40B4-BE49-F238E27FC236}">
                <a16:creationId xmlns:a16="http://schemas.microsoft.com/office/drawing/2014/main" id="{44D602F0-171C-41C2-B8C7-C0F8F80609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673" y="692696"/>
            <a:ext cx="6552654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4800" b="1" i="1" dirty="0">
                <a:solidFill>
                  <a:schemeClr val="bg1"/>
                </a:solidFill>
                <a:latin typeface="+mj-lt"/>
                <a:ea typeface="宋体" panose="02010600030101010101" pitchFamily="2" charset="-122"/>
              </a:rPr>
              <a:t>k</a:t>
            </a: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元树的概念</a:t>
            </a:r>
          </a:p>
        </p:txBody>
      </p:sp>
      <p:pic>
        <p:nvPicPr>
          <p:cNvPr id="9421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F8F42292-3A74-4477-8E2B-940641BBAA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0846" y="549275"/>
            <a:ext cx="1023154" cy="1075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CC026BE5-0F64-47A0-A19E-D21B7C3AC91F}"/>
                  </a:ext>
                </a:extLst>
              </p:cNvPr>
              <p:cNvSpPr/>
              <p:nvPr/>
            </p:nvSpPr>
            <p:spPr>
              <a:xfrm>
                <a:off x="684213" y="1847257"/>
                <a:ext cx="8136904" cy="1437188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【定义】 在根树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𝑻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中，若每个分支点</a:t>
                </a:r>
                <a:r>
                  <a:rPr lang="zh-CN" altLang="zh-CN" sz="2400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至多有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𝒌</m:t>
                    </m:r>
                  </m:oMath>
                </a14:m>
                <a:r>
                  <a:rPr lang="zh-CN" altLang="zh-CN" sz="2400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个儿子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，则称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𝑻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𝒌</m:t>
                    </m:r>
                  </m:oMath>
                </a14:m>
                <a:r>
                  <a:rPr lang="zh-CN" altLang="zh-CN" sz="2400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元树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𝒌</m:t>
                    </m:r>
                  </m:oMath>
                </a14:m>
                <a:r>
                  <a:rPr lang="zh-CN" altLang="zh-CN" sz="2400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叉树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；若每个分支点都</a:t>
                </a:r>
                <a:r>
                  <a:rPr lang="zh-CN" altLang="zh-CN" sz="2400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恰有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𝒌</m:t>
                    </m:r>
                  </m:oMath>
                </a14:m>
                <a:r>
                  <a:rPr lang="zh-CN" altLang="zh-CN" sz="2400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个儿子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，则称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𝑻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为</a:t>
                </a:r>
                <a:r>
                  <a:rPr lang="zh-CN" altLang="zh-CN" sz="2400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完全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𝒌</m:t>
                    </m:r>
                  </m:oMath>
                </a14:m>
                <a:r>
                  <a:rPr lang="zh-CN" altLang="zh-CN" sz="2400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元树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或</a:t>
                </a:r>
                <a:r>
                  <a:rPr lang="zh-CN" altLang="zh-CN" sz="2400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完全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𝒌</m:t>
                    </m:r>
                  </m:oMath>
                </a14:m>
                <a:r>
                  <a:rPr lang="zh-CN" altLang="zh-CN" sz="2400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叉树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；</a:t>
                </a: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CC026BE5-0F64-47A0-A19E-D21B7C3AC9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13" y="1847257"/>
                <a:ext cx="8136904" cy="1437188"/>
              </a:xfrm>
              <a:prstGeom prst="rect">
                <a:avLst/>
              </a:prstGeom>
              <a:blipFill>
                <a:blip r:embed="rId4"/>
                <a:stretch>
                  <a:fillRect l="-1124" t="-1695" r="-1199" b="-67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D9DF6F59-4B86-49C2-9C4D-0D7EA47296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9672" y="3429000"/>
            <a:ext cx="6655989" cy="2786096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日期占位符 3">
            <a:extLst>
              <a:ext uri="{FF2B5EF4-FFF2-40B4-BE49-F238E27FC236}">
                <a16:creationId xmlns:a16="http://schemas.microsoft.com/office/drawing/2014/main" id="{374989C1-2357-40A2-81C6-99EFBAE70340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0281BE4-1E2E-47B0-9B76-20308ADF31C4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4451" name="Text Box 2">
            <a:extLst>
              <a:ext uri="{FF2B5EF4-FFF2-40B4-BE49-F238E27FC236}">
                <a16:creationId xmlns:a16="http://schemas.microsoft.com/office/drawing/2014/main" id="{ABB57E44-DE80-49EE-AF40-45D4B4B457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692150"/>
            <a:ext cx="6119812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例 题</a:t>
            </a:r>
          </a:p>
        </p:txBody>
      </p:sp>
      <p:pic>
        <p:nvPicPr>
          <p:cNvPr id="10445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CFFB7C2A-2551-41E5-ABC3-C062B0280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25" y="549275"/>
            <a:ext cx="1095375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E74DEC85-BF33-46FD-A15D-0ABD43006385}"/>
                  </a:ext>
                </a:extLst>
              </p:cNvPr>
              <p:cNvSpPr/>
              <p:nvPr/>
            </p:nvSpPr>
            <p:spPr>
              <a:xfrm>
                <a:off x="251520" y="1784410"/>
                <a:ext cx="8424936" cy="4524315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400" dirty="0">
                    <a:latin typeface="+mj-ea"/>
                    <a:ea typeface="+mj-ea"/>
                  </a:rPr>
                  <a:t>   </a:t>
                </a:r>
                <a:r>
                  <a:rPr lang="zh-CN" altLang="zh-CN" sz="24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【例题】</a:t>
                </a:r>
                <a:r>
                  <a:rPr lang="zh-CN" altLang="zh-CN" sz="2400" b="1" dirty="0">
                    <a:solidFill>
                      <a:schemeClr val="tx1"/>
                    </a:solidFill>
                    <a:latin typeface="+mj-ea"/>
                    <a:ea typeface="+mj-ea"/>
                    <a:cs typeface="宋体" panose="02010600030101010101" pitchFamily="2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𝑻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  <a:latin typeface="+mj-ea"/>
                    <a:ea typeface="+mj-ea"/>
                    <a:cs typeface="宋体" panose="02010600030101010101" pitchFamily="2" charset="-122"/>
                  </a:rPr>
                  <a:t>为完全二元树，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  <a:cs typeface="宋体" panose="02010600030101010101" pitchFamily="2" charset="-122"/>
                      </a:rPr>
                      <m:t>𝒎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  <a:latin typeface="+mj-ea"/>
                    <a:ea typeface="+mj-ea"/>
                    <a:cs typeface="宋体" panose="02010600030101010101" pitchFamily="2" charset="-122"/>
                  </a:rPr>
                  <a:t>为边数，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  <a:cs typeface="宋体" panose="02010600030101010101" pitchFamily="2" charset="-122"/>
                      </a:rPr>
                      <m:t>𝒕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  <a:latin typeface="+mj-ea"/>
                    <a:ea typeface="+mj-ea"/>
                    <a:cs typeface="宋体" panose="02010600030101010101" pitchFamily="2" charset="-122"/>
                  </a:rPr>
                  <a:t>为叶数且不小于</a:t>
                </a:r>
                <a:r>
                  <a:rPr lang="en-US" altLang="zh-CN" sz="2400" b="1" dirty="0">
                    <a:solidFill>
                      <a:schemeClr val="tx1"/>
                    </a:solidFill>
                    <a:latin typeface="+mj-ea"/>
                    <a:ea typeface="+mj-ea"/>
                    <a:cs typeface="宋体" panose="02010600030101010101" pitchFamily="2" charset="-122"/>
                  </a:rPr>
                  <a:t>2</a:t>
                </a:r>
                <a:r>
                  <a:rPr lang="zh-CN" altLang="zh-CN" sz="2400" b="1" dirty="0">
                    <a:solidFill>
                      <a:schemeClr val="tx1"/>
                    </a:solidFill>
                    <a:latin typeface="+mj-ea"/>
                    <a:ea typeface="+mj-ea"/>
                    <a:cs typeface="宋体" panose="02010600030101010101" pitchFamily="2" charset="-122"/>
                  </a:rPr>
                  <a:t>，证明：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+mj-ea"/>
                      </a:rPr>
                      <m:t>𝒎</m:t>
                    </m:r>
                    <m:r>
                      <a:rPr lang="en-US" altLang="zh-CN" sz="24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+mj-ea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+mj-ea"/>
                      </a:rPr>
                      <m:t>𝟐</m:t>
                    </m:r>
                    <m:r>
                      <a:rPr lang="en-US" altLang="zh-CN" sz="24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+mj-ea"/>
                      </a:rPr>
                      <m:t>𝒕</m:t>
                    </m:r>
                    <m:r>
                      <a:rPr lang="zh-CN" altLang="en-US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+mj-ea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+mj-ea"/>
                      </a:rPr>
                      <m:t>𝟐</m:t>
                    </m:r>
                  </m:oMath>
                </a14:m>
                <a:r>
                  <a:rPr lang="en-US" altLang="zh-CN" sz="2400" b="1" dirty="0">
                    <a:solidFill>
                      <a:srgbClr val="0000FF"/>
                    </a:solidFill>
                    <a:latin typeface="+mj-ea"/>
                    <a:ea typeface="+mj-ea"/>
                  </a:rPr>
                  <a:t> </a:t>
                </a:r>
                <a:endParaRPr lang="en-US" altLang="zh-CN" sz="2400" b="1" dirty="0">
                  <a:solidFill>
                    <a:schemeClr val="tx1"/>
                  </a:solidFill>
                  <a:latin typeface="+mj-ea"/>
                  <a:ea typeface="+mj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   </a:t>
                </a:r>
                <a:r>
                  <a:rPr lang="zh-CN" altLang="zh-CN" sz="24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【证明】方法一：</a:t>
                </a:r>
                <a:endParaRPr lang="en-US" altLang="zh-CN" sz="2400" b="1" dirty="0">
                  <a:solidFill>
                    <a:schemeClr val="tx1"/>
                  </a:solidFill>
                  <a:latin typeface="+mj-ea"/>
                  <a:ea typeface="+mj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    </a:t>
                </a:r>
                <a:r>
                  <a:rPr lang="zh-CN" altLang="zh-CN" sz="24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𝑻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中的结点数为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𝒏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，分支点数为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𝒊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。根据二元完全树的定义，</a:t>
                </a:r>
                <a:r>
                  <a:rPr lang="zh-CN" altLang="en-US" sz="24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可知成立下列</a:t>
                </a:r>
                <a:r>
                  <a:rPr lang="zh-CN" altLang="zh-CN" sz="24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等式</a:t>
                </a:r>
                <a:r>
                  <a:rPr lang="zh-CN" altLang="en-US" sz="24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：</a:t>
                </a:r>
                <a:endParaRPr lang="en-US" altLang="zh-CN" sz="2400" b="1" dirty="0">
                  <a:solidFill>
                    <a:schemeClr val="tx1"/>
                  </a:solidFill>
                  <a:latin typeface="+mj-ea"/>
                  <a:ea typeface="+mj-ea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+mj-ea"/>
                        </a:rPr>
                        <m:t>𝒏</m:t>
                      </m:r>
                      <m:r>
                        <a:rPr lang="en-US" altLang="zh-CN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+mj-ea"/>
                        </a:rPr>
                        <m:t>=</m:t>
                      </m:r>
                      <m:r>
                        <a:rPr lang="en-US" altLang="zh-CN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+mj-ea"/>
                        </a:rPr>
                        <m:t>𝒊</m:t>
                      </m:r>
                      <m:r>
                        <a:rPr lang="en-US" altLang="zh-CN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+mj-ea"/>
                        </a:rPr>
                        <m:t>+</m:t>
                      </m:r>
                      <m:r>
                        <a:rPr lang="en-US" altLang="zh-CN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+mj-ea"/>
                        </a:rPr>
                        <m:t>𝒕</m:t>
                      </m:r>
                      <m:r>
                        <a:rPr lang="zh-CN" altLang="zh-CN" sz="2400" b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+mj-ea"/>
                        </a:rPr>
                        <m:t>，</m:t>
                      </m:r>
                      <m:r>
                        <a:rPr lang="en-US" altLang="zh-CN" sz="2400" b="1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+mj-ea"/>
                        </a:rPr>
                        <m:t>𝒎</m:t>
                      </m:r>
                      <m:r>
                        <a:rPr lang="en-US" altLang="zh-CN" sz="2400" b="1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+mj-ea"/>
                        </a:rPr>
                        <m:t>=</m:t>
                      </m:r>
                      <m:r>
                        <a:rPr lang="en-US" altLang="zh-CN" sz="2400" b="1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+mj-ea"/>
                        </a:rPr>
                        <m:t>𝟐</m:t>
                      </m:r>
                      <m:r>
                        <a:rPr lang="en-US" altLang="zh-CN" sz="2400" b="1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+mj-ea"/>
                        </a:rPr>
                        <m:t>𝒊</m:t>
                      </m:r>
                      <m:r>
                        <a:rPr lang="zh-CN" altLang="zh-CN" sz="2400" b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+mj-ea"/>
                        </a:rPr>
                        <m:t>，</m:t>
                      </m:r>
                      <m:r>
                        <a:rPr lang="en-US" altLang="zh-CN" sz="2400" b="1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+mj-ea"/>
                        </a:rPr>
                        <m:t>𝒎</m:t>
                      </m:r>
                      <m:r>
                        <a:rPr lang="en-US" altLang="zh-CN" sz="2400" b="1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+mj-ea"/>
                        </a:rPr>
                        <m:t>=</m:t>
                      </m:r>
                      <m:r>
                        <a:rPr lang="en-US" altLang="zh-CN" sz="2400" b="1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+mj-ea"/>
                        </a:rPr>
                        <m:t>𝒏</m:t>
                      </m:r>
                      <m:r>
                        <a:rPr lang="zh-CN" altLang="en-US" sz="2400" b="1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+mj-ea"/>
                        </a:rPr>
                        <m:t>−</m:t>
                      </m:r>
                      <m:r>
                        <a:rPr lang="en-US" altLang="zh-CN" sz="2400" b="1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+mj-ea"/>
                        </a:rPr>
                        <m:t>𝟏</m:t>
                      </m:r>
                    </m:oMath>
                  </m:oMathPara>
                </a14:m>
                <a:endParaRPr lang="zh-CN" altLang="zh-CN" sz="2400" b="1" dirty="0">
                  <a:solidFill>
                    <a:srgbClr val="0000FF"/>
                  </a:solidFill>
                  <a:latin typeface="+mj-ea"/>
                  <a:ea typeface="+mj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zh-CN" sz="24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解关于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𝒎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𝒏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𝒊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的三元一次方程组</a:t>
                </a:r>
                <a:r>
                  <a:rPr lang="zh-CN" altLang="en-US" sz="24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可</a:t>
                </a:r>
                <a:r>
                  <a:rPr lang="zh-CN" altLang="zh-CN" sz="24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得：</a:t>
                </a:r>
                <a:endParaRPr lang="en-US" altLang="zh-CN" sz="2400" b="1" dirty="0">
                  <a:solidFill>
                    <a:schemeClr val="tx1"/>
                  </a:solidFill>
                  <a:latin typeface="+mj-ea"/>
                  <a:ea typeface="+mj-ea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+mj-ea"/>
                        </a:rPr>
                        <m:t>𝒎</m:t>
                      </m:r>
                      <m:r>
                        <a:rPr lang="en-US" altLang="zh-CN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+mj-ea"/>
                        </a:rPr>
                        <m:t>=</m:t>
                      </m:r>
                      <m:r>
                        <a:rPr lang="en-US" altLang="zh-CN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+mj-ea"/>
                        </a:rPr>
                        <m:t>𝟐</m:t>
                      </m:r>
                      <m:r>
                        <a:rPr lang="en-US" altLang="zh-CN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+mj-ea"/>
                        </a:rPr>
                        <m:t>𝒕</m:t>
                      </m:r>
                      <m:r>
                        <a:rPr lang="zh-CN" altLang="en-US" sz="2400" b="1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+mj-ea"/>
                        </a:rPr>
                        <m:t>−</m:t>
                      </m:r>
                      <m:r>
                        <a:rPr lang="en-US" altLang="zh-CN" sz="2400" b="1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+mj-ea"/>
                        </a:rPr>
                        <m:t>𝟐</m:t>
                      </m:r>
                    </m:oMath>
                  </m:oMathPara>
                </a14:m>
                <a:endParaRPr lang="zh-CN" altLang="en-US" b="1" dirty="0">
                  <a:solidFill>
                    <a:srgbClr val="0000FF"/>
                  </a:solidFill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E74DEC85-BF33-46FD-A15D-0ABD430063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784410"/>
                <a:ext cx="8424936" cy="4524315"/>
              </a:xfrm>
              <a:prstGeom prst="rect">
                <a:avLst/>
              </a:prstGeom>
              <a:blipFill>
                <a:blip r:embed="rId4"/>
                <a:stretch>
                  <a:fillRect l="-1085" r="-3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0302392"/>
      </p:ext>
    </p:extLst>
  </p:cSld>
  <p:clrMapOvr>
    <a:masterClrMapping/>
  </p:clrMapOvr>
  <p:transition spd="med">
    <p:wipe dir="r"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日期占位符 3">
            <a:extLst>
              <a:ext uri="{FF2B5EF4-FFF2-40B4-BE49-F238E27FC236}">
                <a16:creationId xmlns:a16="http://schemas.microsoft.com/office/drawing/2014/main" id="{16EE680B-769B-40BF-B776-5979D1907BFF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F10E4C5-7F3A-4EEC-A9E7-2EAACE7C5135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5475" name="Text Box 2">
            <a:extLst>
              <a:ext uri="{FF2B5EF4-FFF2-40B4-BE49-F238E27FC236}">
                <a16:creationId xmlns:a16="http://schemas.microsoft.com/office/drawing/2014/main" id="{FB1327F2-FE27-4255-B293-A3A85FA8C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692150"/>
            <a:ext cx="6119812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例 题</a:t>
            </a:r>
          </a:p>
        </p:txBody>
      </p:sp>
      <p:pic>
        <p:nvPicPr>
          <p:cNvPr id="105476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C0BB7B82-E30A-46E7-B57F-CAAD728BF8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25" y="549275"/>
            <a:ext cx="1095375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B7DD4E6C-7BA3-469E-B51F-8506B07C3CA2}"/>
                  </a:ext>
                </a:extLst>
              </p:cNvPr>
              <p:cNvSpPr/>
              <p:nvPr/>
            </p:nvSpPr>
            <p:spPr>
              <a:xfrm>
                <a:off x="539552" y="1844824"/>
                <a:ext cx="8352209" cy="4359655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400" b="1" dirty="0">
                    <a:solidFill>
                      <a:schemeClr val="tx1"/>
                    </a:solidFill>
                    <a:latin typeface="+mj-ea"/>
                  </a:rPr>
                  <a:t>   </a:t>
                </a:r>
                <a:r>
                  <a:rPr lang="zh-CN" altLang="zh-CN" sz="2400" b="1" dirty="0">
                    <a:solidFill>
                      <a:schemeClr val="tx1"/>
                    </a:solidFill>
                    <a:latin typeface="+mj-ea"/>
                  </a:rPr>
                  <a:t>【证明</a:t>
                </a:r>
                <a:r>
                  <a:rPr lang="en-US" altLang="zh-CN" sz="2400" b="1" dirty="0">
                    <a:solidFill>
                      <a:schemeClr val="tx1"/>
                    </a:solidFill>
                    <a:latin typeface="+mj-ea"/>
                  </a:rPr>
                  <a:t>(</a:t>
                </a:r>
                <a:r>
                  <a:rPr lang="zh-CN" altLang="en-US" sz="2400" b="1" dirty="0">
                    <a:solidFill>
                      <a:schemeClr val="tx1"/>
                    </a:solidFill>
                    <a:latin typeface="+mj-ea"/>
                  </a:rPr>
                  <a:t>续</a:t>
                </a:r>
                <a:r>
                  <a:rPr lang="en-US" altLang="zh-CN" sz="2400" b="1" dirty="0">
                    <a:solidFill>
                      <a:schemeClr val="tx1"/>
                    </a:solidFill>
                    <a:latin typeface="+mj-ea"/>
                  </a:rPr>
                  <a:t>)</a:t>
                </a:r>
                <a:r>
                  <a:rPr lang="zh-CN" altLang="zh-CN" sz="2400" b="1" dirty="0">
                    <a:solidFill>
                      <a:schemeClr val="tx1"/>
                    </a:solidFill>
                    <a:latin typeface="+mj-ea"/>
                  </a:rPr>
                  <a:t>】方法</a:t>
                </a:r>
                <a:r>
                  <a:rPr lang="zh-CN" altLang="en-US" sz="2400" b="1" dirty="0">
                    <a:solidFill>
                      <a:schemeClr val="tx1"/>
                    </a:solidFill>
                    <a:latin typeface="+mj-ea"/>
                  </a:rPr>
                  <a:t>二</a:t>
                </a:r>
                <a:r>
                  <a:rPr lang="zh-CN" altLang="zh-CN" sz="2400" b="1" dirty="0">
                    <a:solidFill>
                      <a:schemeClr val="tx1"/>
                    </a:solidFill>
                    <a:latin typeface="+mj-ea"/>
                  </a:rPr>
                  <a:t>：</a:t>
                </a:r>
                <a:endParaRPr lang="en-US" altLang="zh-CN" sz="2400" b="1" dirty="0">
                  <a:solidFill>
                    <a:schemeClr val="tx1"/>
                  </a:solidFill>
                  <a:latin typeface="+mj-ea"/>
                </a:endParaRPr>
              </a:p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        </a:t>
                </a:r>
                <a:r>
                  <a:rPr lang="zh-CN" altLang="zh-CN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𝑻</m:t>
                    </m:r>
                  </m:oMath>
                </a14:m>
                <a:r>
                  <a:rPr lang="zh-CN" altLang="zh-CN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的结点</a:t>
                </a:r>
                <a:r>
                  <a:rPr lang="zh-CN" altLang="en-US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总</a:t>
                </a:r>
                <a:r>
                  <a:rPr lang="zh-CN" altLang="zh-CN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数为</a:t>
                </a:r>
                <a14:m>
                  <m:oMath xmlns:m="http://schemas.openxmlformats.org/officeDocument/2006/math">
                    <m:r>
                      <a:rPr lang="en-US" altLang="zh-CN" sz="2400" b="1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𝒏</m:t>
                    </m:r>
                  </m:oMath>
                </a14:m>
                <a:r>
                  <a:rPr lang="zh-CN" altLang="en-US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。由于</a:t>
                </a:r>
                <a:r>
                  <a:rPr lang="zh-CN" altLang="zh-CN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二元完全树除叶</a:t>
                </a:r>
                <a:r>
                  <a:rPr lang="zh-CN" altLang="en-US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结点</a:t>
                </a:r>
                <a:r>
                  <a:rPr lang="zh-CN" altLang="zh-CN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外</a:t>
                </a:r>
                <a:r>
                  <a:rPr lang="zh-CN" altLang="en-US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的</a:t>
                </a:r>
                <a:r>
                  <a:rPr lang="zh-CN" altLang="zh-CN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每个结点出度均为</a:t>
                </a:r>
                <a:r>
                  <a:rPr lang="en-US" altLang="zh-CN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2</a:t>
                </a:r>
                <a:r>
                  <a:rPr lang="zh-CN" altLang="en-US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，且</a:t>
                </a:r>
                <a:r>
                  <a:rPr lang="zh-CN" altLang="zh-CN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除根结点外</a:t>
                </a:r>
                <a:r>
                  <a:rPr lang="zh-CN" altLang="en-US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的</a:t>
                </a:r>
                <a:r>
                  <a:rPr lang="zh-CN" altLang="zh-CN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每个结点入度均为</a:t>
                </a:r>
                <a:r>
                  <a:rPr lang="en-US" altLang="zh-CN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1</a:t>
                </a:r>
                <a:r>
                  <a:rPr lang="zh-CN" altLang="zh-CN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 ，</a:t>
                </a:r>
                <a:r>
                  <a:rPr lang="zh-CN" altLang="en-US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故</a:t>
                </a:r>
                <a:r>
                  <a:rPr lang="zh-CN" altLang="zh-CN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由握手定理</a:t>
                </a:r>
                <a:r>
                  <a:rPr lang="zh-CN" altLang="en-US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可</a:t>
                </a:r>
                <a:r>
                  <a:rPr lang="zh-CN" altLang="zh-CN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知：</a:t>
                </a:r>
                <a:endParaRPr lang="zh-CN" altLang="zh-CN" sz="2400" b="1" kern="100" dirty="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kern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𝟐</m:t>
                      </m:r>
                      <m:r>
                        <a:rPr lang="en-US" altLang="zh-CN" sz="2400" b="1" i="1" kern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𝒎</m:t>
                      </m:r>
                      <m:r>
                        <a:rPr lang="en-US" altLang="zh-CN" sz="2400" b="1" i="1" kern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2400" b="1" i="1" ker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naryPr>
                        <m:sub>
                          <m:r>
                            <a:rPr lang="en-US" altLang="zh-CN" sz="2400" b="1" i="1" ker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𝒊</m:t>
                          </m:r>
                          <m:r>
                            <a:rPr lang="en-US" altLang="zh-CN" sz="2400" b="1" i="1" ker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=</m:t>
                          </m:r>
                          <m:r>
                            <a:rPr lang="en-US" altLang="zh-CN" sz="2400" b="1" i="1" ker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400" b="1" i="1" ker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𝒏</m:t>
                          </m:r>
                        </m:sup>
                        <m:e>
                          <m:r>
                            <a:rPr lang="en-US" altLang="zh-CN" sz="2400" b="1" i="1" ker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𝐝𝐞𝐠</m:t>
                          </m:r>
                          <m:r>
                            <a:rPr lang="en-US" altLang="zh-CN" sz="2400" b="1" ker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⁡</m:t>
                          </m:r>
                          <m:r>
                            <a:rPr lang="en-US" altLang="zh-CN" sz="2400" b="1" i="1" ker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sz="2400" b="1" i="1" ker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ker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zh-CN" sz="2400" b="1" i="1" ker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sz="2400" b="1" i="1" ker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)</m:t>
                          </m:r>
                        </m:e>
                      </m:nary>
                      <m:r>
                        <a:rPr lang="en-US" altLang="zh-CN" sz="2400" b="1" i="1" ker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2400" b="1" i="1" ker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naryPr>
                        <m:sub>
                          <m:r>
                            <a:rPr lang="en-US" altLang="zh-CN" sz="2400" b="1" i="1" ker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𝒊</m:t>
                          </m:r>
                          <m:r>
                            <a:rPr lang="en-US" altLang="zh-CN" sz="2400" b="1" i="1" ker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=</m:t>
                          </m:r>
                          <m:r>
                            <a:rPr lang="en-US" altLang="zh-CN" sz="2400" b="1" i="1" ker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400" b="1" i="1" ker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𝒏</m:t>
                          </m:r>
                        </m:sup>
                        <m:e>
                          <m:sSup>
                            <m:sSupPr>
                              <m:ctrlPr>
                                <a:rPr lang="zh-CN" altLang="zh-CN" sz="2400" b="1" i="1" ker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 ker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𝒅𝒆𝒈</m:t>
                              </m:r>
                            </m:e>
                            <m:sup>
                              <m:r>
                                <a:rPr lang="en-US" altLang="zh-CN" sz="2400" b="1" i="1" ker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+</m:t>
                              </m:r>
                            </m:sup>
                          </m:sSup>
                          <m:r>
                            <a:rPr lang="en-US" altLang="zh-CN" sz="2400" b="1" i="1" ker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sz="2400" b="1" i="1" ker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ker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zh-CN" sz="2400" b="1" i="1" ker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sz="2400" b="1" i="1" ker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)</m:t>
                          </m:r>
                        </m:e>
                      </m:nary>
                      <m:r>
                        <a:rPr lang="en-US" altLang="zh-CN" sz="2400" b="1" i="1" ker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2400" b="1" i="1" ker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naryPr>
                        <m:sub>
                          <m:r>
                            <a:rPr lang="en-US" altLang="zh-CN" sz="2400" b="1" i="1" ker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𝒊</m:t>
                          </m:r>
                          <m:r>
                            <a:rPr lang="en-US" altLang="zh-CN" sz="2400" b="1" i="1" ker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=</m:t>
                          </m:r>
                          <m:r>
                            <a:rPr lang="en-US" altLang="zh-CN" sz="2400" b="1" i="1" ker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400" b="1" i="1" ker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𝒏</m:t>
                          </m:r>
                        </m:sup>
                        <m:e>
                          <m:sSup>
                            <m:sSupPr>
                              <m:ctrlPr>
                                <a:rPr lang="zh-CN" altLang="zh-CN" sz="2400" b="1" i="1" ker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 ker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𝒅𝒆𝒈</m:t>
                              </m:r>
                            </m:e>
                            <m:sup>
                              <m:r>
                                <a:rPr lang="en-US" altLang="zh-CN" sz="2400" b="1" i="1" ker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−</m:t>
                              </m:r>
                            </m:sup>
                          </m:sSup>
                          <m:d>
                            <m:dPr>
                              <m:ctrlPr>
                                <a:rPr lang="zh-CN" altLang="zh-CN" sz="2400" b="1" i="1" ker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400" b="1" i="1" ker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ker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宋体" panose="02010600030101010101" pitchFamily="2" charset="-122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altLang="zh-CN" sz="2400" b="1" i="1" ker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宋体" panose="02010600030101010101" pitchFamily="2" charset="-122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zh-CN" altLang="zh-CN" sz="2400" b="1" kern="100" dirty="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=</m:t>
                      </m:r>
                      <m:r>
                        <a:rPr lang="en-US" altLang="zh-CN" sz="2400" b="1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𝟐</m:t>
                      </m:r>
                      <m:d>
                        <m:dPr>
                          <m:ctrlPr>
                            <a:rPr lang="zh-CN" altLang="zh-CN" sz="2400" b="1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400" b="1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𝒏</m:t>
                          </m:r>
                          <m:r>
                            <a:rPr lang="en-US" altLang="zh-CN" sz="2400" b="1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−</m:t>
                          </m:r>
                          <m:r>
                            <a:rPr lang="en-US" altLang="zh-CN" sz="2400" b="1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𝒕</m:t>
                          </m:r>
                        </m:e>
                      </m:d>
                      <m:r>
                        <a:rPr lang="en-US" altLang="zh-CN" sz="2400" b="1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+</m:t>
                      </m:r>
                      <m:r>
                        <a:rPr lang="en-US" altLang="zh-CN" sz="2400" b="1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𝒏</m:t>
                      </m:r>
                      <m:r>
                        <a:rPr lang="en-US" altLang="zh-CN" sz="2400" b="1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−</m:t>
                      </m:r>
                      <m:r>
                        <a:rPr lang="en-US" altLang="zh-CN" sz="2400" b="1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𝟏</m:t>
                      </m:r>
                      <m:r>
                        <a:rPr lang="en-US" altLang="zh-CN" sz="2400" b="1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=</m:t>
                      </m:r>
                      <m:r>
                        <a:rPr lang="en-US" altLang="zh-CN" sz="2400" b="1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𝟑</m:t>
                      </m:r>
                      <m:r>
                        <a:rPr lang="en-US" altLang="zh-CN" sz="2400" b="1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𝒏</m:t>
                      </m:r>
                      <m:r>
                        <a:rPr lang="en-US" altLang="zh-CN" sz="2400" b="1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−</m:t>
                      </m:r>
                      <m:r>
                        <a:rPr lang="en-US" altLang="zh-CN" sz="2400" b="1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𝟐</m:t>
                      </m:r>
                      <m:r>
                        <a:rPr lang="en-US" altLang="zh-CN" sz="2400" b="1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𝒕</m:t>
                      </m:r>
                      <m:r>
                        <a:rPr lang="en-US" altLang="zh-CN" sz="2400" b="1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−</m:t>
                      </m:r>
                      <m:r>
                        <a:rPr lang="en-US" altLang="zh-CN" sz="2400" b="1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𝟏</m:t>
                      </m:r>
                      <m:r>
                        <a:rPr lang="en-US" altLang="zh-CN" sz="2400" b="1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=</m:t>
                      </m:r>
                      <m:r>
                        <a:rPr lang="en-US" altLang="zh-CN" sz="2400" b="1" i="1" kern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𝟑</m:t>
                      </m:r>
                      <m:d>
                        <m:dPr>
                          <m:ctrlPr>
                            <a:rPr lang="zh-CN" altLang="zh-CN" sz="2400" b="1" i="1" ker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400" b="1" i="1" ker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𝒎</m:t>
                          </m:r>
                          <m:r>
                            <a:rPr lang="en-US" altLang="zh-CN" sz="2400" b="1" i="1" ker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+</m:t>
                          </m:r>
                          <m:r>
                            <a:rPr lang="en-US" altLang="zh-CN" sz="2400" b="1" i="1" ker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𝟏</m:t>
                          </m:r>
                        </m:e>
                      </m:d>
                      <m:r>
                        <a:rPr lang="en-US" altLang="zh-CN" sz="2400" b="1" i="1" ker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−</m:t>
                      </m:r>
                      <m:r>
                        <a:rPr lang="en-US" altLang="zh-CN" sz="2400" b="1" i="1" ker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𝟐</m:t>
                      </m:r>
                      <m:r>
                        <a:rPr lang="en-US" altLang="zh-CN" sz="2400" b="1" i="1" ker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𝒕</m:t>
                      </m:r>
                      <m:r>
                        <a:rPr lang="en-US" altLang="zh-CN" sz="2400" b="1" i="1" ker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−</m:t>
                      </m:r>
                      <m:r>
                        <a:rPr lang="en-US" altLang="zh-CN" sz="2400" b="1" i="1" ker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𝟏</m:t>
                      </m:r>
                    </m:oMath>
                  </m:oMathPara>
                </a14:m>
                <a:endParaRPr lang="zh-CN" altLang="zh-CN" sz="2400" b="1" kern="100" dirty="0">
                  <a:solidFill>
                    <a:srgbClr val="0000FF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zh-CN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故有</a:t>
                </a:r>
                <a:r>
                  <a:rPr lang="zh-CN" altLang="en-US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400" b="1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𝒎</m:t>
                    </m:r>
                    <m:r>
                      <a:rPr lang="en-US" altLang="zh-CN" sz="2400" b="1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=</m:t>
                    </m:r>
                    <m:r>
                      <a:rPr lang="en-US" altLang="zh-CN" sz="2400" b="1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𝟐</m:t>
                    </m:r>
                    <m:r>
                      <a:rPr lang="en-US" altLang="zh-CN" sz="2400" b="1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𝒕</m:t>
                    </m:r>
                    <m:r>
                      <a:rPr lang="zh-CN" altLang="en-US" sz="2400" b="1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m:t>−</m:t>
                    </m:r>
                    <m:r>
                      <a:rPr lang="en-US" altLang="zh-CN" sz="2400" b="1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𝟐</m:t>
                    </m:r>
                    <m:r>
                      <a:rPr lang="zh-CN" altLang="en-US" sz="2400" b="1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。</m:t>
                    </m:r>
                  </m:oMath>
                </a14:m>
                <a:endParaRPr lang="zh-CN" altLang="zh-CN" sz="2400" b="1" kern="100" dirty="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B7DD4E6C-7BA3-469E-B51F-8506B07C3C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1844824"/>
                <a:ext cx="8352209" cy="4359655"/>
              </a:xfrm>
              <a:prstGeom prst="rect">
                <a:avLst/>
              </a:prstGeom>
              <a:blipFill>
                <a:blip r:embed="rId4"/>
                <a:stretch>
                  <a:fillRect l="-1168" b="-16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5657710"/>
      </p:ext>
    </p:extLst>
  </p:cSld>
  <p:clrMapOvr>
    <a:masterClrMapping/>
  </p:clrMapOvr>
  <p:transition spd="med">
    <p:wipe dir="r"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日期占位符 3">
            <a:extLst>
              <a:ext uri="{FF2B5EF4-FFF2-40B4-BE49-F238E27FC236}">
                <a16:creationId xmlns:a16="http://schemas.microsoft.com/office/drawing/2014/main" id="{4E1BF510-89FB-4996-AF42-8CED2A66ED2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A10D525-9D72-418A-8A22-D4C47E6F389F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0356" name="Text Box 2">
            <a:extLst>
              <a:ext uri="{FF2B5EF4-FFF2-40B4-BE49-F238E27FC236}">
                <a16:creationId xmlns:a16="http://schemas.microsoft.com/office/drawing/2014/main" id="{4BA5FA97-1262-429D-83C0-D9E21D63B8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640" y="764704"/>
            <a:ext cx="6336555" cy="83099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完全树的基本性质</a:t>
            </a:r>
          </a:p>
        </p:txBody>
      </p:sp>
      <p:pic>
        <p:nvPicPr>
          <p:cNvPr id="100357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F7731612-73F5-45E5-B196-ECA8092D9B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376" y="553819"/>
            <a:ext cx="1095375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6C0FB3C2-F427-4881-98FC-C6967C3FD0AB}"/>
                  </a:ext>
                </a:extLst>
              </p:cNvPr>
              <p:cNvSpPr/>
              <p:nvPr/>
            </p:nvSpPr>
            <p:spPr>
              <a:xfrm>
                <a:off x="323528" y="1758179"/>
                <a:ext cx="8576443" cy="4461093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【定理】在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𝒌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元完全树中，若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𝒕</m:t>
                    </m:r>
                  </m:oMath>
                </a14:m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个叶子结点，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分支点数为 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𝒊</m:t>
                    </m:r>
                  </m:oMath>
                </a14:m>
                <a:r>
                  <a:rPr lang="zh-CN" altLang="en-US" sz="2400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个分支结点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，则成立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下式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</a:t>
                </a:r>
              </a:p>
              <a:p>
                <a:pPr indent="266700" algn="ctr">
                  <a:lnSpc>
                    <a:spcPct val="15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kern="1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             </m:t>
                      </m:r>
                      <m:d>
                        <m:dPr>
                          <m:begChr m:val="（"/>
                          <m:endChr m:val="）"/>
                          <m:ctrlPr>
                            <a:rPr lang="zh-CN" altLang="zh-CN" sz="2400" b="1" i="1" kern="1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 kern="1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𝒌</m:t>
                          </m:r>
                          <m:r>
                            <a:rPr lang="en-US" altLang="zh-CN" sz="2400" b="1" i="1" kern="1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MS Gothic" panose="020B0609070205080204" pitchFamily="49" charset="-128"/>
                            </a:rPr>
                            <m:t>−</m:t>
                          </m:r>
                          <m:r>
                            <a:rPr lang="en-US" altLang="zh-CN" sz="2400" b="1" i="1" kern="1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altLang="zh-CN" sz="2400" b="1" kern="1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altLang="zh-CN" sz="2400" b="1" i="1" kern="1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𝒊</m:t>
                      </m:r>
                      <m:r>
                        <a:rPr lang="en-US" altLang="zh-CN" sz="2400" b="1" kern="1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b="1" i="1" kern="1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𝒕</m:t>
                      </m:r>
                      <m:r>
                        <a:rPr lang="en-US" altLang="zh-CN" sz="2400" b="1" i="1" kern="1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sz="2400" b="1" i="1" kern="1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n-US" altLang="zh-CN" sz="2400" b="1" i="1" kern="1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                       </m:t>
                      </m:r>
                    </m:oMath>
                  </m:oMathPara>
                </a14:m>
                <a:endParaRPr lang="en-US" altLang="zh-CN" sz="2400" b="1" kern="100" dirty="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【证明】由于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该树共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𝒊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𝒕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个结点，故边数为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𝒊</m:t>
                    </m:r>
                    <m:r>
                      <a:rPr lang="en-US" altLang="zh-CN" sz="2400" b="1" i="1" kern="1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2400" b="1" i="1" kern="1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𝒕</m:t>
                    </m:r>
                    <m:r>
                      <a:rPr lang="en-US" altLang="zh-CN" sz="2400" b="1" i="1" kern="1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2400" b="1" i="1" kern="1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zh-CN" altLang="en-US" sz="2400" b="1" kern="100" dirty="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2400" b="1" kern="10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   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由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于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结点出度之和等于边数，故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𝒌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元完全树所有分支点的出度为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𝒌</m:t>
                    </m:r>
                    <m:r>
                      <a:rPr lang="en-US" altLang="zh-CN" sz="2400" b="1" i="1" kern="1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zh-CN" sz="2400" b="1" i="1" kern="1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𝒊</m:t>
                    </m:r>
                  </m:oMath>
                </a14:m>
                <a:r>
                  <a:rPr lang="en-US" altLang="zh-CN" sz="2400" b="1" kern="100" dirty="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即有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</a:t>
                </a:r>
                <a:endParaRPr lang="en-US" altLang="zh-CN" sz="2400" b="1" i="1" kern="100" dirty="0">
                  <a:solidFill>
                    <a:schemeClr val="bg1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𝒌</m:t>
                      </m:r>
                      <m:r>
                        <a:rPr lang="en-US" altLang="zh-CN" sz="2400" b="1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altLang="zh-CN" sz="2400" b="1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𝒊</m:t>
                      </m:r>
                      <m:r>
                        <a:rPr lang="en-US" altLang="zh-CN" sz="2400" b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b="1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𝒊</m:t>
                      </m:r>
                      <m:r>
                        <a:rPr lang="en-US" altLang="zh-CN" sz="2400" b="1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sz="2400" b="1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𝒕</m:t>
                      </m:r>
                      <m:r>
                        <a:rPr lang="zh-CN" altLang="en-US" sz="2400" b="1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m:t>−</m:t>
                      </m:r>
                      <m:r>
                        <a:rPr lang="en-US" altLang="zh-CN" sz="2400" b="1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𝟏</m:t>
                      </m:r>
                    </m:oMath>
                  </m:oMathPara>
                </a14:m>
                <a:endParaRPr lang="en-US" altLang="zh-CN" sz="24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即有</a:t>
                </a:r>
                <a14:m>
                  <m:oMath xmlns:m="http://schemas.openxmlformats.org/officeDocument/2006/math">
                    <m:d>
                      <m:dPr>
                        <m:begChr m:val="（"/>
                        <m:endChr m:val="）"/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𝒌</m:t>
                        </m:r>
                        <m:r>
                          <a:rPr lang="zh-CN" altLang="en-US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e>
                    </m:d>
                    <m:r>
                      <a:rPr lang="en-US" altLang="zh-CN" sz="2400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𝒊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𝒕</m:t>
                    </m:r>
                    <m:r>
                      <a:rPr lang="zh-CN" altLang="en-US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m:t>−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𝟏</m:t>
                    </m:r>
                    <m:r>
                      <a:rPr lang="zh-CN" altLang="en-US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。</m:t>
                    </m:r>
                  </m:oMath>
                </a14:m>
                <a:endParaRPr lang="zh-CN" altLang="zh-CN" sz="24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6C0FB3C2-F427-4881-98FC-C6967C3FD0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1758179"/>
                <a:ext cx="8576443" cy="4461093"/>
              </a:xfrm>
              <a:prstGeom prst="rect">
                <a:avLst/>
              </a:prstGeom>
              <a:blipFill>
                <a:blip r:embed="rId4"/>
                <a:stretch>
                  <a:fillRect l="-1066" r="-1137" b="-16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3498773"/>
      </p:ext>
    </p:extLst>
  </p:cSld>
  <p:clrMapOvr>
    <a:masterClrMapping/>
  </p:clrMapOvr>
  <p:transition spd="med">
    <p:wipe dir="r"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日期占位符 3">
            <a:extLst>
              <a:ext uri="{FF2B5EF4-FFF2-40B4-BE49-F238E27FC236}">
                <a16:creationId xmlns:a16="http://schemas.microsoft.com/office/drawing/2014/main" id="{4E1BF510-89FB-4996-AF42-8CED2A66ED2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A10D525-9D72-418A-8A22-D4C47E6F389F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0356" name="Text Box 2">
            <a:extLst>
              <a:ext uri="{FF2B5EF4-FFF2-40B4-BE49-F238E27FC236}">
                <a16:creationId xmlns:a16="http://schemas.microsoft.com/office/drawing/2014/main" id="{4BA5FA97-1262-429D-83C0-D9E21D63B8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640" y="764704"/>
            <a:ext cx="6336555" cy="92333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例 题</a:t>
            </a:r>
          </a:p>
        </p:txBody>
      </p:sp>
      <p:pic>
        <p:nvPicPr>
          <p:cNvPr id="100357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F7731612-73F5-45E5-B196-ECA8092D9B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376" y="553819"/>
            <a:ext cx="1095375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4EF548C4-E841-4C1B-B712-EF34B764B66B}"/>
                  </a:ext>
                </a:extLst>
              </p:cNvPr>
              <p:cNvSpPr/>
              <p:nvPr/>
            </p:nvSpPr>
            <p:spPr>
              <a:xfrm>
                <a:off x="161689" y="1952931"/>
                <a:ext cx="8676456" cy="4197367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【</a:t>
                </a:r>
                <a:r>
                  <a:rPr lang="zh-CN" altLang="en-US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例题</a:t>
                </a:r>
                <a:r>
                  <a:rPr lang="en-US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】</a:t>
                </a:r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某</a:t>
                </a:r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台计算机有一条加法指令，可计算</a:t>
                </a:r>
                <a:r>
                  <a:rPr lang="en-US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个数的和。若求这</a:t>
                </a:r>
                <a:r>
                  <a:rPr lang="en-US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9</a:t>
                </a:r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sz="2400" b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𝟒</m:t>
                        </m:r>
                      </m:sub>
                    </m:sSub>
                    <m:r>
                      <a:rPr lang="en-US" altLang="zh-CN" sz="2400" b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𝟓</m:t>
                        </m:r>
                      </m:sub>
                    </m:sSub>
                    <m:r>
                      <a:rPr lang="en-US" altLang="zh-CN" sz="2400" b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𝟔</m:t>
                        </m:r>
                      </m:sub>
                    </m:sSub>
                    <m:r>
                      <a:rPr lang="en-US" altLang="zh-CN" sz="2400" b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𝟕</m:t>
                        </m:r>
                      </m:sub>
                    </m:sSub>
                    <m:r>
                      <a:rPr lang="en-US" altLang="zh-CN" sz="2400" b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𝟖</m:t>
                        </m:r>
                      </m:sub>
                    </m:sSub>
                    <m:r>
                      <a:rPr lang="en-US" altLang="zh-CN" sz="2400" b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𝟗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之和，至少要执行几次加法指令？</a:t>
                </a:r>
                <a:endParaRPr lang="en-US" altLang="zh-CN" sz="2400" b="1" kern="100" dirty="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</a:t>
                </a:r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【解】用</a:t>
                </a:r>
                <a:r>
                  <a:rPr lang="en-US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个结点表示</a:t>
                </a:r>
                <a:r>
                  <a:rPr lang="en-US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个数，</a:t>
                </a:r>
                <a:r>
                  <a:rPr lang="zh-CN" altLang="zh-CN" sz="24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将表示</a:t>
                </a:r>
                <a:r>
                  <a:rPr lang="en-US" altLang="zh-CN" sz="24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zh-CN" sz="24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个数之和的结点作为</a:t>
                </a:r>
                <a:r>
                  <a:rPr lang="zh-CN" altLang="en-US" sz="24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它们的</a:t>
                </a:r>
                <a:r>
                  <a:rPr lang="zh-CN" altLang="zh-CN" sz="2400" b="1" kern="10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父节点</a:t>
                </a:r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可由此</a:t>
                </a:r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将该问题转化为求一个</a:t>
                </a:r>
                <a:r>
                  <a:rPr lang="en-US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元完全树的分支点</a:t>
                </a:r>
                <a:r>
                  <a:rPr lang="zh-CN" altLang="en-US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</a:t>
                </a:r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问题。</a:t>
                </a:r>
                <a:endParaRPr lang="en-US" altLang="zh-CN" sz="2400" b="1" kern="100" dirty="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</a:t>
                </a:r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把</a:t>
                </a:r>
                <a:r>
                  <a:rPr lang="en-US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9</a:t>
                </a:r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个数看成叶</a:t>
                </a:r>
                <a:r>
                  <a:rPr lang="zh-CN" altLang="en-US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结点</a:t>
                </a:r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。由</a:t>
                </a:r>
                <a:r>
                  <a:rPr lang="zh-CN" altLang="en-US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完全树的基本性质</a:t>
                </a:r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，有：</a:t>
                </a:r>
              </a:p>
              <a:p>
                <a:pPr algn="just">
                  <a:lnSpc>
                    <a:spcPts val="36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zh-CN" sz="2400" b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（</m:t>
                      </m:r>
                      <m:r>
                        <a:rPr lang="en-US" altLang="zh-CN" sz="2400" b="1" i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𝟑</m:t>
                      </m:r>
                      <m:r>
                        <a:rPr lang="zh-CN" altLang="en-US" sz="2400" b="1" i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m:t>−</m:t>
                      </m:r>
                      <m:r>
                        <a:rPr lang="en-US" altLang="zh-CN" sz="2400" b="1" i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zh-CN" altLang="zh-CN" sz="2400" b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）</m:t>
                      </m:r>
                      <m:r>
                        <a:rPr lang="en-US" altLang="zh-CN" sz="2400" b="1" i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m="http://schemas.openxmlformats.org/officeDocument/2006/math" xmlns="" val="tx"/>
                              </a:ext>
                            </a:extLst>
                          </a:hlinkClick>
                        </a:rPr>
                        <m:t>𝒊</m:t>
                      </m:r>
                      <m:r>
                        <a:rPr lang="en-US" altLang="zh-CN" sz="2400" b="1" i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b="1" i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𝟗</m:t>
                      </m:r>
                      <m:r>
                        <a:rPr lang="zh-CN" altLang="en-US" sz="2400" b="1" i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m:t>−</m:t>
                      </m:r>
                      <m:r>
                        <a:rPr lang="en-US" altLang="zh-CN" sz="2400" b="1" i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𝟏</m:t>
                      </m:r>
                    </m:oMath>
                  </m:oMathPara>
                </a14:m>
                <a:endParaRPr lang="zh-CN" altLang="zh-CN" sz="2400" b="1" kern="100" dirty="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ts val="3600"/>
                  </a:lnSpc>
                </a:pPr>
                <a:r>
                  <a:rPr lang="en-US" altLang="zh-CN" sz="2400" b="1" kern="100" dirty="0">
                    <a:solidFill>
                      <a:schemeClr val="tx1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   </a:t>
                </a:r>
                <a:r>
                  <a:rPr lang="zh-CN" altLang="en-US" sz="2400" b="1" kern="100" dirty="0">
                    <a:solidFill>
                      <a:schemeClr val="tx1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解</a:t>
                </a:r>
                <a:r>
                  <a:rPr lang="zh-CN" altLang="zh-CN" sz="2400" b="1" kern="100" dirty="0">
                    <a:solidFill>
                      <a:schemeClr val="tx1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得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𝒊</m:t>
                    </m:r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𝟒</m:t>
                    </m:r>
                  </m:oMath>
                </a14:m>
                <a:r>
                  <a:rPr lang="zh-CN" altLang="zh-CN" sz="2400" b="1" kern="100" dirty="0">
                    <a:solidFill>
                      <a:schemeClr val="tx1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，故至少要执行</a:t>
                </a:r>
                <a:r>
                  <a:rPr lang="en-US" altLang="zh-CN" sz="2400" b="1" kern="100" dirty="0">
                    <a:solidFill>
                      <a:schemeClr val="tx1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4</a:t>
                </a:r>
                <a:r>
                  <a:rPr lang="zh-CN" altLang="zh-CN" sz="2400" b="1" kern="100" dirty="0">
                    <a:solidFill>
                      <a:schemeClr val="tx1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次加法指令。</a:t>
                </a:r>
                <a:r>
                  <a:rPr lang="en-US" altLang="zh-CN" sz="2400" b="1" kern="100" dirty="0">
                    <a:solidFill>
                      <a:schemeClr val="tx1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   </a:t>
                </a:r>
                <a:endParaRPr lang="zh-CN" alt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4EF548C4-E841-4C1B-B712-EF34B764B6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689" y="1952931"/>
                <a:ext cx="8676456" cy="4197367"/>
              </a:xfrm>
              <a:prstGeom prst="rect">
                <a:avLst/>
              </a:prstGeom>
              <a:blipFill>
                <a:blip r:embed="rId4"/>
                <a:stretch>
                  <a:fillRect l="-1124" t="-581" r="-1054" b="-18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3992218"/>
      </p:ext>
    </p:extLst>
  </p:cSld>
  <p:clrMapOvr>
    <a:masterClrMapping/>
  </p:clrMapOvr>
  <p:transition spd="med">
    <p:wipe dir="r"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日期占位符 3">
            <a:extLst>
              <a:ext uri="{FF2B5EF4-FFF2-40B4-BE49-F238E27FC236}">
                <a16:creationId xmlns:a16="http://schemas.microsoft.com/office/drawing/2014/main" id="{4E1BF510-89FB-4996-AF42-8CED2A66ED2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A10D525-9D72-418A-8A22-D4C47E6F389F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0356" name="Text Box 2">
            <a:extLst>
              <a:ext uri="{FF2B5EF4-FFF2-40B4-BE49-F238E27FC236}">
                <a16:creationId xmlns:a16="http://schemas.microsoft.com/office/drawing/2014/main" id="{4BA5FA97-1262-429D-83C0-D9E21D63B8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640" y="764704"/>
            <a:ext cx="6336555" cy="92333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例 题</a:t>
            </a:r>
          </a:p>
        </p:txBody>
      </p:sp>
      <p:pic>
        <p:nvPicPr>
          <p:cNvPr id="100357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F7731612-73F5-45E5-B196-ECA8092D9B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376" y="553819"/>
            <a:ext cx="1095375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EF548C4-E841-4C1B-B712-EF34B764B66B}"/>
              </a:ext>
            </a:extLst>
          </p:cNvPr>
          <p:cNvSpPr/>
          <p:nvPr/>
        </p:nvSpPr>
        <p:spPr>
          <a:xfrm>
            <a:off x="161689" y="1952931"/>
            <a:ext cx="8676456" cy="513859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pPr algn="just">
              <a:lnSpc>
                <a:spcPts val="36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【解</a:t>
            </a:r>
            <a:r>
              <a:rPr lang="en-US" altLang="zh-CN" sz="24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4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续</a:t>
            </a:r>
            <a:r>
              <a:rPr lang="en-US" altLang="zh-CN" sz="24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24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】</a:t>
            </a:r>
            <a:r>
              <a:rPr lang="zh-CN" altLang="en-US" sz="24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下图表示两种可能的计算次序</a:t>
            </a:r>
            <a:r>
              <a:rPr lang="zh-CN" altLang="zh-CN" sz="2400" b="1" kern="1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en-US" altLang="zh-CN" sz="2400" b="1" kern="1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90E944B-F2EC-4D58-AEC7-272B3ABB8D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544" y="2655454"/>
            <a:ext cx="8136904" cy="3437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135327"/>
      </p:ext>
    </p:extLst>
  </p:cSld>
  <p:clrMapOvr>
    <a:masterClrMapping/>
  </p:clrMapOvr>
  <p:transition spd="med">
    <p:wipe dir="r"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9" name="日期占位符 3">
            <a:extLst>
              <a:ext uri="{FF2B5EF4-FFF2-40B4-BE49-F238E27FC236}">
                <a16:creationId xmlns:a16="http://schemas.microsoft.com/office/drawing/2014/main" id="{030268DC-F80C-4266-9CB5-BE16E363153F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0A62EEA-E04B-455A-8F12-B225CE427E07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6260" name="Text Box 2">
            <a:extLst>
              <a:ext uri="{FF2B5EF4-FFF2-40B4-BE49-F238E27FC236}">
                <a16:creationId xmlns:a16="http://schemas.microsoft.com/office/drawing/2014/main" id="{C4E560C7-1097-4F03-8656-59E1499201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664" y="804696"/>
            <a:ext cx="6119812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4800" b="1" i="1" dirty="0">
                <a:solidFill>
                  <a:schemeClr val="bg1"/>
                </a:solidFill>
                <a:latin typeface="+mj-lt"/>
                <a:ea typeface="宋体" panose="02010600030101010101" pitchFamily="2" charset="-122"/>
              </a:rPr>
              <a:t>k</a:t>
            </a: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元有序树的概念</a:t>
            </a:r>
          </a:p>
        </p:txBody>
      </p:sp>
      <p:pic>
        <p:nvPicPr>
          <p:cNvPr id="96261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2207862C-17FF-4729-A9D9-DC7B3B3421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25" y="549275"/>
            <a:ext cx="1095375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C07A2EE-8138-492D-A2D3-5B219D0EBF11}"/>
                  </a:ext>
                </a:extLst>
              </p:cNvPr>
              <p:cNvSpPr/>
              <p:nvPr/>
            </p:nvSpPr>
            <p:spPr>
              <a:xfrm>
                <a:off x="606476" y="1916832"/>
                <a:ext cx="8141988" cy="1437188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</a:t>
                </a: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【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定义</a:t>
                </a: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】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𝒌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元树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𝑻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的兄弟结点之间有序，则称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𝑻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𝒌</m:t>
                    </m:r>
                  </m:oMath>
                </a14:m>
                <a:r>
                  <a:rPr lang="zh-CN" altLang="zh-CN" sz="2400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元有序树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𝒌</m:t>
                    </m:r>
                  </m:oMath>
                </a14:m>
                <a:r>
                  <a:rPr lang="zh-CN" altLang="zh-CN" sz="2400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叉有序树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；若完全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𝒌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元树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𝑻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的兄弟结点之间有序，则称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𝑻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为</a:t>
                </a:r>
                <a:r>
                  <a:rPr lang="zh-CN" altLang="zh-CN" sz="2400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有序完全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𝒌</m:t>
                    </m:r>
                  </m:oMath>
                </a14:m>
                <a:r>
                  <a:rPr lang="zh-CN" altLang="zh-CN" sz="2400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元树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或</a:t>
                </a:r>
                <a:r>
                  <a:rPr lang="zh-CN" altLang="zh-CN" sz="2400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有序完全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𝒌</m:t>
                    </m:r>
                  </m:oMath>
                </a14:m>
                <a:r>
                  <a:rPr lang="zh-CN" altLang="zh-CN" sz="2400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叉树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zh-CN" altLang="zh-CN" sz="2400" b="1" kern="100" dirty="0"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C07A2EE-8138-492D-A2D3-5B219D0EBF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476" y="1916832"/>
                <a:ext cx="8141988" cy="1437188"/>
              </a:xfrm>
              <a:prstGeom prst="rect">
                <a:avLst/>
              </a:prstGeom>
              <a:blipFill>
                <a:blip r:embed="rId4"/>
                <a:stretch>
                  <a:fillRect l="-1123" t="-1695" r="-1123" b="-67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图片 12">
            <a:extLst>
              <a:ext uri="{FF2B5EF4-FFF2-40B4-BE49-F238E27FC236}">
                <a16:creationId xmlns:a16="http://schemas.microsoft.com/office/drawing/2014/main" id="{7E90CB08-D041-4821-B26B-796611AF79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79" y="3535912"/>
            <a:ext cx="8160830" cy="2696141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日期占位符 3">
            <a:extLst>
              <a:ext uri="{FF2B5EF4-FFF2-40B4-BE49-F238E27FC236}">
                <a16:creationId xmlns:a16="http://schemas.microsoft.com/office/drawing/2014/main" id="{266DEA38-5EE7-4462-A3EC-18039B8CC70E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EF070EF-A93B-4464-ADDA-63A420C89F46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82948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50B6D00E-DD52-474A-8FB9-36432D1303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7581" y="688995"/>
            <a:ext cx="1026419" cy="1079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2">
            <a:extLst>
              <a:ext uri="{FF2B5EF4-FFF2-40B4-BE49-F238E27FC236}">
                <a16:creationId xmlns:a16="http://schemas.microsoft.com/office/drawing/2014/main" id="{15065878-8E93-4C74-9A8A-89DD106393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765175"/>
            <a:ext cx="6626225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根树的层次结构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3FDD815-7014-49D8-9FA3-AF8C81300E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956" y="1984668"/>
            <a:ext cx="8692744" cy="410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97390"/>
      </p:ext>
    </p:extLst>
  </p:cSld>
  <p:clrMapOvr>
    <a:masterClrMapping/>
  </p:clrMapOvr>
  <p:transition spd="med">
    <p:wipe dir="r"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7" name="日期占位符 3">
            <a:extLst>
              <a:ext uri="{FF2B5EF4-FFF2-40B4-BE49-F238E27FC236}">
                <a16:creationId xmlns:a16="http://schemas.microsoft.com/office/drawing/2014/main" id="{5D060A51-B684-4C52-91E6-D35FBE806AD4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372D9BAD-7039-4AF5-B7C4-F072A1369F0B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8308" name="Text Box 2">
            <a:extLst>
              <a:ext uri="{FF2B5EF4-FFF2-40B4-BE49-F238E27FC236}">
                <a16:creationId xmlns:a16="http://schemas.microsoft.com/office/drawing/2014/main" id="{95854FF6-FEDE-437E-927A-DEFBA7390C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2" y="784207"/>
            <a:ext cx="6119812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子树的基本概念</a:t>
            </a:r>
            <a:endParaRPr lang="en-US" altLang="zh-CN" sz="4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98310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3ECFF376-BB74-43A2-915C-B1B8F2BFA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1850" y="620694"/>
            <a:ext cx="1095375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9507499-9961-4572-978A-55B0558E81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592" y="2028900"/>
            <a:ext cx="7682927" cy="270012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C5512346-3E70-4E46-B243-EB8CBAB9DB32}"/>
                  </a:ext>
                </a:extLst>
              </p:cNvPr>
              <p:cNvSpPr/>
              <p:nvPr/>
            </p:nvSpPr>
            <p:spPr>
              <a:xfrm>
                <a:off x="188212" y="4986298"/>
                <a:ext cx="8839013" cy="954107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:pPr indent="266700" algn="just">
                  <a:spcAft>
                    <a:spcPts val="0"/>
                  </a:spcAft>
                </a:pPr>
                <a:r>
                  <a:rPr lang="zh-CN" altLang="zh-CN" sz="2800" b="1" kern="1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注意：</a:t>
                </a:r>
                <a:endParaRPr lang="en-US" altLang="zh-CN" sz="2800" b="1" kern="100" dirty="0">
                  <a:solidFill>
                    <a:schemeClr val="tx1"/>
                  </a:solidFill>
                  <a:cs typeface="Times New Roman" panose="02020603050405020304" pitchFamily="18" charset="0"/>
                </a:endParaRPr>
              </a:p>
              <a:p>
                <a:pPr indent="266700" algn="just">
                  <a:spcAft>
                    <a:spcPts val="0"/>
                  </a:spcAft>
                </a:pPr>
                <a:r>
                  <a:rPr lang="en-US" altLang="zh-CN" sz="2800" b="1" kern="1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   </a:t>
                </a:r>
                <a:r>
                  <a:rPr lang="zh-CN" altLang="zh-CN" sz="2800" b="1" kern="100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以</a:t>
                </a:r>
                <a14:m>
                  <m:oMath xmlns:m="http://schemas.openxmlformats.org/officeDocument/2006/math">
                    <m:r>
                      <a:rPr lang="en-US" altLang="zh-CN" sz="2800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𝒗</m:t>
                    </m:r>
                  </m:oMath>
                </a14:m>
                <a:r>
                  <a:rPr lang="zh-CN" altLang="zh-CN" sz="2800" b="1" kern="100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为根的子树包含</a:t>
                </a:r>
                <a14:m>
                  <m:oMath xmlns:m="http://schemas.openxmlformats.org/officeDocument/2006/math">
                    <m:r>
                      <a:rPr lang="en-US" altLang="zh-CN" sz="2800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𝒗</m:t>
                    </m:r>
                  </m:oMath>
                </a14:m>
                <a:r>
                  <a:rPr lang="zh-CN" altLang="zh-CN" sz="2800" b="1" kern="100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，而</a:t>
                </a:r>
                <a14:m>
                  <m:oMath xmlns:m="http://schemas.openxmlformats.org/officeDocument/2006/math">
                    <m:r>
                      <a:rPr lang="en-US" altLang="zh-CN" sz="2800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𝒗</m:t>
                    </m:r>
                  </m:oMath>
                </a14:m>
                <a:r>
                  <a:rPr lang="zh-CN" altLang="zh-CN" sz="2800" b="1" kern="100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的左右子树不包含</a:t>
                </a:r>
                <a14:m>
                  <m:oMath xmlns:m="http://schemas.openxmlformats.org/officeDocument/2006/math">
                    <m:r>
                      <a:rPr lang="en-US" altLang="zh-CN" sz="2800" b="1" i="1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𝒗</m:t>
                    </m:r>
                  </m:oMath>
                </a14:m>
                <a:r>
                  <a:rPr lang="zh-CN" altLang="zh-CN" sz="2800" b="1" kern="100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。</a:t>
                </a:r>
                <a:endParaRPr lang="zh-CN" altLang="zh-CN" sz="2800" b="1" kern="100" dirty="0">
                  <a:solidFill>
                    <a:schemeClr val="tx1"/>
                  </a:solidFill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C5512346-3E70-4E46-B243-EB8CBAB9DB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212" y="4986298"/>
                <a:ext cx="8839013" cy="954107"/>
              </a:xfrm>
              <a:prstGeom prst="rect">
                <a:avLst/>
              </a:prstGeom>
              <a:blipFill>
                <a:blip r:embed="rId5"/>
                <a:stretch>
                  <a:fillRect t="-7051" r="-1034" b="-160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wipe dir="r"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日期占位符 3">
            <a:extLst>
              <a:ext uri="{FF2B5EF4-FFF2-40B4-BE49-F238E27FC236}">
                <a16:creationId xmlns:a16="http://schemas.microsoft.com/office/drawing/2014/main" id="{266DEA38-5EE7-4462-A3EC-18039B8CC70E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EF070EF-A93B-4464-ADDA-63A420C89F46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82948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50B6D00E-DD52-474A-8FB9-36432D1303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7581" y="509539"/>
            <a:ext cx="1026419" cy="1079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2">
            <a:extLst>
              <a:ext uri="{FF2B5EF4-FFF2-40B4-BE49-F238E27FC236}">
                <a16:creationId xmlns:a16="http://schemas.microsoft.com/office/drawing/2014/main" id="{D42D5313-906C-47A6-80E7-D61B10DD1B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20713"/>
            <a:ext cx="61198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 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259A7289-3EDC-4D63-B7DE-18805BC8F730}"/>
                  </a:ext>
                </a:extLst>
              </p:cNvPr>
              <p:cNvSpPr/>
              <p:nvPr/>
            </p:nvSpPr>
            <p:spPr>
              <a:xfrm>
                <a:off x="287524" y="1628800"/>
                <a:ext cx="8568952" cy="1938992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:pPr indent="266700" algn="just" fontAlgn="ctr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zh-CN" altLang="en-US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下</a:t>
                </a:r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图表示</a:t>
                </a:r>
                <a:r>
                  <a:rPr lang="zh-CN" altLang="en-US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的根树</a:t>
                </a:r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有</a:t>
                </a:r>
                <a:r>
                  <a:rPr lang="en-US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10</a:t>
                </a:r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个结点，其中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𝑨</m:t>
                    </m:r>
                  </m:oMath>
                </a14:m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是根结点，其余结点被分为</a:t>
                </a:r>
                <a:r>
                  <a:rPr lang="en-US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个互不相交的子集：</a:t>
                </a:r>
                <a:endParaRPr lang="en-US" altLang="zh-CN" sz="2400" b="1" kern="100" dirty="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 fontAlgn="ctr">
                  <a:lnSpc>
                    <a:spcPts val="36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b="1" i="1" kern="10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kern="1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altLang="zh-CN" sz="2400" b="1" i="1" kern="1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400" b="1" i="1" kern="1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zh-CN" sz="2400" b="1" i="1" kern="1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 kern="1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𝑩</m:t>
                          </m:r>
                          <m:r>
                            <a:rPr lang="en-US" altLang="zh-CN" sz="2400" b="1" i="1" kern="1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2400" b="1" i="1" kern="1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𝑬</m:t>
                          </m:r>
                          <m:r>
                            <a:rPr lang="en-US" altLang="zh-CN" sz="2400" b="1" i="1" kern="1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2400" b="1" i="1" kern="1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𝑭</m:t>
                          </m:r>
                        </m:e>
                      </m:d>
                      <m:r>
                        <a:rPr lang="en-US" altLang="zh-CN" sz="2400" b="1" i="1" kern="1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2400" b="1" i="1" kern="10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zh-CN" altLang="zh-CN" sz="2400" b="1" i="1" kern="1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kern="10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      </m:t>
                          </m:r>
                          <m:r>
                            <a:rPr lang="en-US" altLang="zh-CN" sz="2400" b="1" i="1" kern="1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altLang="zh-CN" sz="2400" b="1" i="1" kern="1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400" b="1" i="1" kern="1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zh-CN" sz="2400" b="1" i="1" kern="1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 kern="1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𝑪</m:t>
                          </m:r>
                          <m:r>
                            <a:rPr lang="en-US" altLang="zh-CN" sz="2400" b="1" i="1" kern="1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2400" b="1" i="1" kern="1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𝑮</m:t>
                          </m:r>
                        </m:e>
                      </m:d>
                      <m:r>
                        <a:rPr lang="en-US" altLang="zh-CN" sz="2400" b="1" i="1" kern="1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sz="2400" b="1" i="1" kern="1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kern="10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   </m:t>
                          </m:r>
                          <m:r>
                            <a:rPr lang="en-US" altLang="zh-CN" sz="2400" b="1" i="1" kern="1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altLang="zh-CN" sz="2400" b="1" i="1" kern="1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altLang="zh-CN" sz="2400" b="1" i="1" kern="1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={</m:t>
                      </m:r>
                      <m:r>
                        <a:rPr lang="en-US" altLang="zh-CN" sz="2400" b="1" i="1" kern="1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𝑫</m:t>
                      </m:r>
                      <m:r>
                        <a:rPr lang="en-US" altLang="zh-CN" sz="2400" b="1" i="1" kern="1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2400" b="1" i="1" kern="1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𝑯</m:t>
                      </m:r>
                      <m:r>
                        <a:rPr lang="en-US" altLang="zh-CN" sz="2400" b="1" i="1" kern="1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2400" b="1" i="1" kern="1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𝑰</m:t>
                      </m:r>
                      <m:r>
                        <a:rPr lang="en-US" altLang="zh-CN" sz="2400" b="1" i="1" kern="1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2400" b="1" i="1" kern="1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𝑱</m:t>
                      </m:r>
                      <m:r>
                        <a:rPr lang="en-US" altLang="zh-CN" sz="2400" b="1" i="1" kern="1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2400" b="1" kern="100" dirty="0">
                  <a:solidFill>
                    <a:srgbClr val="0000FF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 fontAlgn="ctr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tx1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𝑻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m:rPr>
                        <m:nor/>
                      </m:rPr>
                      <a:rPr lang="zh-CN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，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𝑻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m:rPr>
                        <m:nor/>
                      </m:rPr>
                      <a:rPr lang="zh-CN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，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𝑻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都是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𝑨</m:t>
                    </m:r>
                  </m:oMath>
                </a14:m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的子树，它们本身也分别是一棵树。</a:t>
                </a: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259A7289-3EDC-4D63-B7DE-18805BC8F7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524" y="1628800"/>
                <a:ext cx="8568952" cy="1938992"/>
              </a:xfrm>
              <a:prstGeom prst="rect">
                <a:avLst/>
              </a:prstGeom>
              <a:blipFill>
                <a:blip r:embed="rId4"/>
                <a:stretch>
                  <a:fillRect l="-1067" r="-1138" b="-6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53EDB64B-AEF7-446D-9626-6B801933A9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5696" y="3680222"/>
            <a:ext cx="5256584" cy="2557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701829"/>
      </p:ext>
    </p:extLst>
  </p:cSld>
  <p:clrMapOvr>
    <a:masterClrMapping/>
  </p:clrMapOvr>
  <p:transition spd="med">
    <p:wipe dir="r"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日期占位符 3">
            <a:extLst>
              <a:ext uri="{FF2B5EF4-FFF2-40B4-BE49-F238E27FC236}">
                <a16:creationId xmlns:a16="http://schemas.microsoft.com/office/drawing/2014/main" id="{266DEA38-5EE7-4462-A3EC-18039B8CC70E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EF070EF-A93B-4464-ADDA-63A420C89F46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82948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50B6D00E-DD52-474A-8FB9-36432D1303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7581" y="509539"/>
            <a:ext cx="1026419" cy="1079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2">
            <a:extLst>
              <a:ext uri="{FF2B5EF4-FFF2-40B4-BE49-F238E27FC236}">
                <a16:creationId xmlns:a16="http://schemas.microsoft.com/office/drawing/2014/main" id="{15065878-8E93-4C74-9A8A-89DD106393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7" y="692696"/>
            <a:ext cx="6626225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根树的递归定义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F6E4D67-C174-4A9B-A42C-B27C50298B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650" y="1959612"/>
            <a:ext cx="8380698" cy="4173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030567"/>
      </p:ext>
    </p:extLst>
  </p:cSld>
  <p:clrMapOvr>
    <a:masterClrMapping/>
  </p:clrMapOvr>
  <p:transition spd="med">
    <p:wipe dir="r"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日期占位符 3">
            <a:extLst>
              <a:ext uri="{FF2B5EF4-FFF2-40B4-BE49-F238E27FC236}">
                <a16:creationId xmlns:a16="http://schemas.microsoft.com/office/drawing/2014/main" id="{5ED48B12-95B3-4BE5-ABEC-72363AC8E389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00E6285-88B2-442D-BBA3-392E6C796240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6499" name="页脚占位符 4">
            <a:extLst>
              <a:ext uri="{FF2B5EF4-FFF2-40B4-BE49-F238E27FC236}">
                <a16:creationId xmlns:a16="http://schemas.microsoft.com/office/drawing/2014/main" id="{48900EC8-9B6B-463D-B2C4-7EBBFC415DD5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106500" name="灯片编号占位符 5">
            <a:extLst>
              <a:ext uri="{FF2B5EF4-FFF2-40B4-BE49-F238E27FC236}">
                <a16:creationId xmlns:a16="http://schemas.microsoft.com/office/drawing/2014/main" id="{2ECDBBC5-1112-4149-BB56-617AFE01E520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F03B3350-6F9C-459F-9F4F-AF4A48BAFA3D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76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6501" name="Text Box 2">
            <a:extLst>
              <a:ext uri="{FF2B5EF4-FFF2-40B4-BE49-F238E27FC236}">
                <a16:creationId xmlns:a16="http://schemas.microsoft.com/office/drawing/2014/main" id="{FD213DCF-8C04-496B-B3F9-38F2A94BE4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836613"/>
            <a:ext cx="7086600" cy="923925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根树的基本知识</a:t>
            </a:r>
          </a:p>
        </p:txBody>
      </p:sp>
      <p:sp>
        <p:nvSpPr>
          <p:cNvPr id="106502" name="Rectangle 3">
            <a:extLst>
              <a:ext uri="{FF2B5EF4-FFF2-40B4-BE49-F238E27FC236}">
                <a16:creationId xmlns:a16="http://schemas.microsoft.com/office/drawing/2014/main" id="{B3AFB62F-DD0D-4F53-A293-B5FA0E1886D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555311" y="2492896"/>
            <a:ext cx="4391893" cy="3024857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55000"/>
              </a:lnSpc>
              <a:buFont typeface="Wingdings" panose="05000000000000000000" pitchFamily="2" charset="2"/>
              <a:buChar char="4"/>
            </a:pPr>
            <a:r>
              <a:rPr lang="en-US" altLang="zh-CN" sz="36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</a:t>
            </a:r>
            <a:r>
              <a:rPr lang="zh-CN" altLang="en-US" sz="36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有向树与根树</a:t>
            </a:r>
          </a:p>
          <a:p>
            <a:pPr eaLnBrk="1" hangingPunct="1">
              <a:lnSpc>
                <a:spcPct val="155000"/>
              </a:lnSpc>
              <a:buFont typeface="Wingdings" panose="05000000000000000000" pitchFamily="2" charset="2"/>
              <a:buChar char="J"/>
            </a:pPr>
            <a:r>
              <a:rPr lang="zh-CN" altLang="en-US" sz="3600" b="1" dirty="0"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根树的基本算法</a:t>
            </a:r>
          </a:p>
          <a:p>
            <a:pPr eaLnBrk="1" hangingPunct="1">
              <a:lnSpc>
                <a:spcPct val="155000"/>
              </a:lnSpc>
              <a:buFont typeface="Wingdings" panose="05000000000000000000" pitchFamily="2" charset="2"/>
              <a:buChar char="4"/>
            </a:pPr>
            <a:r>
              <a:rPr lang="zh-CN" altLang="en-US" sz="36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前缀码与最优树</a:t>
            </a:r>
          </a:p>
        </p:txBody>
      </p:sp>
      <p:pic>
        <p:nvPicPr>
          <p:cNvPr id="106503" name="Picture 7" descr="C:\Program Files\Microsoft Office\MEDIA\CAGCAT10\j0292982.wmf">
            <a:extLst>
              <a:ext uri="{FF2B5EF4-FFF2-40B4-BE49-F238E27FC236}">
                <a16:creationId xmlns:a16="http://schemas.microsoft.com/office/drawing/2014/main" id="{B9DAD704-0AFD-4D7B-A301-07844E74DF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575" y="4738688"/>
            <a:ext cx="1371600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日期占位符 3">
            <a:extLst>
              <a:ext uri="{FF2B5EF4-FFF2-40B4-BE49-F238E27FC236}">
                <a16:creationId xmlns:a16="http://schemas.microsoft.com/office/drawing/2014/main" id="{9B211480-A35D-4F34-841B-E2C78EF9AE0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3E6D302-AB94-459F-83A3-032CD3F9DDA0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7523" name="Text Box 2">
            <a:extLst>
              <a:ext uri="{FF2B5EF4-FFF2-40B4-BE49-F238E27FC236}">
                <a16:creationId xmlns:a16="http://schemas.microsoft.com/office/drawing/2014/main" id="{D9728594-75C3-4AD9-8CFA-ACECACCEC7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764704"/>
            <a:ext cx="6119812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根树的基本算法</a:t>
            </a:r>
          </a:p>
        </p:txBody>
      </p:sp>
      <p:pic>
        <p:nvPicPr>
          <p:cNvPr id="107524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4D8A7F85-285B-4B84-9E85-8390F9092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25" y="549275"/>
            <a:ext cx="1095375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0CB62F47-1140-4F9D-AA26-321EA8AF36B4}"/>
                  </a:ext>
                </a:extLst>
              </p:cNvPr>
              <p:cNvSpPr/>
              <p:nvPr/>
            </p:nvSpPr>
            <p:spPr>
              <a:xfrm>
                <a:off x="467544" y="2072436"/>
                <a:ext cx="8392225" cy="3883755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400" b="1" dirty="0">
                    <a:solidFill>
                      <a:schemeClr val="tx1"/>
                    </a:solidFill>
                    <a:ea typeface="宋体" panose="02010600030101010101" pitchFamily="2" charset="-122"/>
                    <a:cs typeface="宋体" panose="02010600030101010101" pitchFamily="2" charset="-122"/>
                  </a:rPr>
                  <a:t>    </a:t>
                </a:r>
                <a:r>
                  <a:rPr lang="zh-CN" altLang="zh-CN" sz="2400" b="1" dirty="0">
                    <a:solidFill>
                      <a:schemeClr val="tx1"/>
                    </a:solidFill>
                    <a:ea typeface="宋体" panose="02010600030101010101" pitchFamily="2" charset="-122"/>
                    <a:cs typeface="宋体" panose="02010600030101010101" pitchFamily="2" charset="-122"/>
                  </a:rPr>
                  <a:t>对于根树，一个十分重要的问题是要找到一些方法能系统地访问树的结点，使得每个结点恰好访问一次，这就是根树的遍历问题。</a:t>
                </a:r>
                <a:endParaRPr lang="en-US" altLang="zh-CN" sz="2400" b="1" dirty="0">
                  <a:solidFill>
                    <a:schemeClr val="tx1"/>
                  </a:solidFill>
                  <a:ea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b="1" dirty="0">
                    <a:solidFill>
                      <a:schemeClr val="tx1"/>
                    </a:solidFill>
                    <a:ea typeface="宋体" panose="02010600030101010101" pitchFamily="2" charset="-122"/>
                    <a:cs typeface="宋体" panose="02010600030101010101" pitchFamily="2" charset="-122"/>
                  </a:rPr>
                  <a:t>    </a:t>
                </a:r>
                <a:r>
                  <a:rPr lang="zh-CN" altLang="zh-CN" sz="2400" b="1" dirty="0">
                    <a:solidFill>
                      <a:schemeClr val="tx1"/>
                    </a:solidFill>
                    <a:ea typeface="宋体" panose="02010600030101010101" pitchFamily="2" charset="-122"/>
                    <a:cs typeface="宋体" panose="02010600030101010101" pitchFamily="2" charset="-122"/>
                  </a:rPr>
                  <a:t>由于二元树在计算机中最易处理且任意根树都可转化为二元树，因此在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𝒌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  <a:ea typeface="宋体" panose="02010600030101010101" pitchFamily="2" charset="-122"/>
                    <a:cs typeface="宋体" panose="02010600030101010101" pitchFamily="2" charset="-122"/>
                  </a:rPr>
                  <a:t>元树中，应用得最广泛的是二元树。</a:t>
                </a:r>
                <a:endParaRPr lang="en-US" altLang="zh-CN" sz="2400" b="1" dirty="0">
                  <a:solidFill>
                    <a:schemeClr val="tx1"/>
                  </a:solidFill>
                  <a:ea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b="1" dirty="0">
                    <a:solidFill>
                      <a:schemeClr val="tx1"/>
                    </a:solidFill>
                    <a:ea typeface="宋体" panose="02010600030101010101" pitchFamily="2" charset="-122"/>
                    <a:cs typeface="宋体" panose="02010600030101010101" pitchFamily="2" charset="-122"/>
                  </a:rPr>
                  <a:t>    </a:t>
                </a:r>
                <a:r>
                  <a:rPr lang="zh-CN" altLang="zh-CN" sz="2400" b="1" dirty="0">
                    <a:solidFill>
                      <a:schemeClr val="tx1"/>
                    </a:solidFill>
                    <a:ea typeface="宋体" panose="02010600030101010101" pitchFamily="2" charset="-122"/>
                    <a:cs typeface="宋体" panose="02010600030101010101" pitchFamily="2" charset="-122"/>
                  </a:rPr>
                  <a:t>下面</a:t>
                </a:r>
                <a:r>
                  <a:rPr lang="zh-CN" altLang="en-US" sz="2400" b="1" dirty="0">
                    <a:solidFill>
                      <a:schemeClr val="tx1"/>
                    </a:solidFill>
                    <a:ea typeface="宋体" panose="02010600030101010101" pitchFamily="2" charset="-122"/>
                    <a:cs typeface="宋体" panose="02010600030101010101" pitchFamily="2" charset="-122"/>
                  </a:rPr>
                  <a:t>首</a:t>
                </a:r>
                <a:r>
                  <a:rPr lang="zh-CN" altLang="zh-CN" sz="2400" b="1" dirty="0">
                    <a:solidFill>
                      <a:schemeClr val="tx1"/>
                    </a:solidFill>
                    <a:ea typeface="宋体" panose="02010600030101010101" pitchFamily="2" charset="-122"/>
                    <a:cs typeface="宋体" panose="02010600030101010101" pitchFamily="2" charset="-122"/>
                  </a:rPr>
                  <a:t>先介绍</a:t>
                </a:r>
                <a:r>
                  <a:rPr lang="zh-CN" altLang="zh-CN" sz="2400" b="1" dirty="0">
                    <a:solidFill>
                      <a:srgbClr val="0000FF"/>
                    </a:solidFill>
                    <a:ea typeface="宋体" panose="02010600030101010101" pitchFamily="2" charset="-122"/>
                    <a:cs typeface="宋体" panose="02010600030101010101" pitchFamily="2" charset="-122"/>
                  </a:rPr>
                  <a:t>二元树的三种常用遍历</a:t>
                </a:r>
                <a:r>
                  <a:rPr lang="zh-CN" altLang="en-US" sz="2400" b="1" dirty="0">
                    <a:solidFill>
                      <a:srgbClr val="0000FF"/>
                    </a:solidFill>
                    <a:ea typeface="宋体" panose="02010600030101010101" pitchFamily="2" charset="-122"/>
                    <a:cs typeface="宋体" panose="02010600030101010101" pitchFamily="2" charset="-122"/>
                  </a:rPr>
                  <a:t>算法</a:t>
                </a:r>
                <a:r>
                  <a:rPr lang="zh-CN" altLang="zh-CN" sz="2400" b="1" dirty="0">
                    <a:solidFill>
                      <a:schemeClr val="tx1"/>
                    </a:solidFill>
                    <a:ea typeface="宋体" panose="02010600030101010101" pitchFamily="2" charset="-122"/>
                    <a:cs typeface="宋体" panose="02010600030101010101" pitchFamily="2" charset="-122"/>
                  </a:rPr>
                  <a:t>，然后介绍如何</a:t>
                </a:r>
                <a:r>
                  <a:rPr lang="zh-CN" altLang="zh-CN" sz="2400" b="1" dirty="0">
                    <a:solidFill>
                      <a:srgbClr val="0000FF"/>
                    </a:solidFill>
                    <a:ea typeface="宋体" panose="02010600030101010101" pitchFamily="2" charset="-122"/>
                    <a:cs typeface="宋体" panose="02010600030101010101" pitchFamily="2" charset="-122"/>
                  </a:rPr>
                  <a:t>将任意根树转化为二元树</a:t>
                </a:r>
                <a:r>
                  <a:rPr lang="zh-CN" altLang="zh-CN" sz="2400" b="1" dirty="0">
                    <a:solidFill>
                      <a:schemeClr val="tx1"/>
                    </a:solidFill>
                    <a:ea typeface="宋体" panose="02010600030101010101" pitchFamily="2" charset="-122"/>
                    <a:cs typeface="宋体" panose="02010600030101010101" pitchFamily="2" charset="-122"/>
                  </a:rPr>
                  <a:t>。</a:t>
                </a:r>
                <a:endParaRPr lang="zh-CN" alt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0CB62F47-1140-4F9D-AA26-321EA8AF36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2072436"/>
                <a:ext cx="8392225" cy="3883755"/>
              </a:xfrm>
              <a:prstGeom prst="rect">
                <a:avLst/>
              </a:prstGeom>
              <a:blipFill>
                <a:blip r:embed="rId4"/>
                <a:stretch>
                  <a:fillRect l="-1163" b="-26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wipe dir="r"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日期占位符 3">
            <a:extLst>
              <a:ext uri="{FF2B5EF4-FFF2-40B4-BE49-F238E27FC236}">
                <a16:creationId xmlns:a16="http://schemas.microsoft.com/office/drawing/2014/main" id="{9B211480-A35D-4F34-841B-E2C78EF9AE0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3E6D302-AB94-459F-83A3-032CD3F9DDA0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07524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4D8A7F85-285B-4B84-9E85-8390F9092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25" y="549275"/>
            <a:ext cx="1095375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CF619CD0-ECD2-4D25-8DDF-A0C91BC1060F}"/>
              </a:ext>
            </a:extLst>
          </p:cNvPr>
          <p:cNvSpPr/>
          <p:nvPr/>
        </p:nvSpPr>
        <p:spPr>
          <a:xfrm>
            <a:off x="847410" y="1825729"/>
            <a:ext cx="7449179" cy="4246355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pPr indent="266700">
              <a:lnSpc>
                <a:spcPct val="200000"/>
              </a:lnSpc>
              <a:spcAft>
                <a:spcPts val="0"/>
              </a:spcAft>
            </a:pPr>
            <a:r>
              <a:rPr lang="zh-CN" altLang="zh-CN" sz="2800" b="1" kern="0" dirty="0">
                <a:solidFill>
                  <a:schemeClr val="tx1"/>
                </a:solidFill>
                <a:cs typeface="宋体" panose="02010600030101010101" pitchFamily="2" charset="-122"/>
              </a:rPr>
              <a:t>二元树的遍历算法主要</a:t>
            </a:r>
            <a:r>
              <a:rPr lang="zh-CN" altLang="en-US" sz="2800" b="1" kern="0" dirty="0">
                <a:solidFill>
                  <a:schemeClr val="tx1"/>
                </a:solidFill>
                <a:cs typeface="宋体" panose="02010600030101010101" pitchFamily="2" charset="-122"/>
              </a:rPr>
              <a:t>有：</a:t>
            </a:r>
            <a:endParaRPr lang="en-US" altLang="zh-CN" sz="2800" b="1" kern="0" dirty="0">
              <a:solidFill>
                <a:schemeClr val="tx1"/>
              </a:solidFill>
              <a:cs typeface="宋体" panose="02010600030101010101" pitchFamily="2" charset="-122"/>
            </a:endParaRPr>
          </a:p>
          <a:p>
            <a:pPr indent="266700" algn="ctr">
              <a:lnSpc>
                <a:spcPct val="200000"/>
              </a:lnSpc>
              <a:spcAft>
                <a:spcPts val="0"/>
              </a:spcAft>
            </a:pPr>
            <a:r>
              <a:rPr lang="zh-CN" altLang="zh-CN" sz="2800" b="1" kern="0" dirty="0">
                <a:solidFill>
                  <a:srgbClr val="0000FF"/>
                </a:solidFill>
                <a:cs typeface="宋体" panose="02010600030101010101" pitchFamily="2" charset="-122"/>
              </a:rPr>
              <a:t>先根</a:t>
            </a:r>
            <a:r>
              <a:rPr lang="zh-CN" altLang="en-US" sz="2800" b="1" kern="0" dirty="0">
                <a:solidFill>
                  <a:srgbClr val="0000FF"/>
                </a:solidFill>
                <a:cs typeface="宋体" panose="02010600030101010101" pitchFamily="2" charset="-122"/>
              </a:rPr>
              <a:t>次序</a:t>
            </a:r>
            <a:r>
              <a:rPr lang="zh-CN" altLang="zh-CN" sz="2800" b="1" kern="0" dirty="0">
                <a:solidFill>
                  <a:srgbClr val="0000FF"/>
                </a:solidFill>
                <a:cs typeface="宋体" panose="02010600030101010101" pitchFamily="2" charset="-122"/>
              </a:rPr>
              <a:t>遍历算法</a:t>
            </a:r>
            <a:endParaRPr lang="en-US" altLang="zh-CN" sz="2800" b="1" kern="0" dirty="0">
              <a:solidFill>
                <a:srgbClr val="0000FF"/>
              </a:solidFill>
              <a:cs typeface="宋体" panose="02010600030101010101" pitchFamily="2" charset="-122"/>
            </a:endParaRPr>
          </a:p>
          <a:p>
            <a:pPr indent="266700" algn="ctr">
              <a:lnSpc>
                <a:spcPct val="200000"/>
              </a:lnSpc>
              <a:spcAft>
                <a:spcPts val="0"/>
              </a:spcAft>
            </a:pPr>
            <a:r>
              <a:rPr lang="zh-CN" altLang="zh-CN" sz="2800" b="1" kern="0" dirty="0">
                <a:solidFill>
                  <a:srgbClr val="0000FF"/>
                </a:solidFill>
                <a:cs typeface="宋体" panose="02010600030101010101" pitchFamily="2" charset="-122"/>
              </a:rPr>
              <a:t>中根</a:t>
            </a:r>
            <a:r>
              <a:rPr lang="zh-CN" altLang="en-US" sz="2800" b="1" kern="0" dirty="0">
                <a:solidFill>
                  <a:srgbClr val="0000FF"/>
                </a:solidFill>
                <a:cs typeface="宋体" panose="02010600030101010101" pitchFamily="2" charset="-122"/>
              </a:rPr>
              <a:t>次序</a:t>
            </a:r>
            <a:r>
              <a:rPr lang="zh-CN" altLang="zh-CN" sz="2800" b="1" kern="0" dirty="0">
                <a:solidFill>
                  <a:srgbClr val="0000FF"/>
                </a:solidFill>
                <a:cs typeface="宋体" panose="02010600030101010101" pitchFamily="2" charset="-122"/>
              </a:rPr>
              <a:t>遍历算法</a:t>
            </a:r>
            <a:endParaRPr lang="en-US" altLang="zh-CN" sz="2800" b="1" kern="0" dirty="0">
              <a:solidFill>
                <a:srgbClr val="0000FF"/>
              </a:solidFill>
              <a:cs typeface="宋体" panose="02010600030101010101" pitchFamily="2" charset="-122"/>
            </a:endParaRPr>
          </a:p>
          <a:p>
            <a:pPr indent="266700" algn="ctr">
              <a:lnSpc>
                <a:spcPct val="200000"/>
              </a:lnSpc>
              <a:spcAft>
                <a:spcPts val="0"/>
              </a:spcAft>
            </a:pPr>
            <a:r>
              <a:rPr lang="zh-CN" altLang="zh-CN" sz="2800" b="1" kern="0" dirty="0">
                <a:solidFill>
                  <a:srgbClr val="0000FF"/>
                </a:solidFill>
                <a:cs typeface="宋体" panose="02010600030101010101" pitchFamily="2" charset="-122"/>
              </a:rPr>
              <a:t>后根</a:t>
            </a:r>
            <a:r>
              <a:rPr lang="zh-CN" altLang="en-US" sz="2800" b="1" kern="0" dirty="0">
                <a:solidFill>
                  <a:srgbClr val="0000FF"/>
                </a:solidFill>
                <a:cs typeface="宋体" panose="02010600030101010101" pitchFamily="2" charset="-122"/>
              </a:rPr>
              <a:t>次序</a:t>
            </a:r>
            <a:r>
              <a:rPr lang="zh-CN" altLang="zh-CN" sz="2800" b="1" kern="0" dirty="0">
                <a:solidFill>
                  <a:srgbClr val="0000FF"/>
                </a:solidFill>
                <a:cs typeface="宋体" panose="02010600030101010101" pitchFamily="2" charset="-122"/>
              </a:rPr>
              <a:t>遍历算法</a:t>
            </a:r>
            <a:endParaRPr lang="en-US" altLang="zh-CN" sz="2800" b="1" kern="0" dirty="0">
              <a:solidFill>
                <a:srgbClr val="0000FF"/>
              </a:solidFill>
              <a:cs typeface="宋体" panose="02010600030101010101" pitchFamily="2" charset="-122"/>
            </a:endParaRPr>
          </a:p>
          <a:p>
            <a:pPr indent="266700">
              <a:lnSpc>
                <a:spcPct val="200000"/>
              </a:lnSpc>
              <a:spcAft>
                <a:spcPts val="0"/>
              </a:spcAft>
            </a:pPr>
            <a:r>
              <a:rPr lang="zh-CN" altLang="en-US" sz="2800" b="1" kern="0" dirty="0">
                <a:solidFill>
                  <a:schemeClr val="tx1"/>
                </a:solidFill>
                <a:cs typeface="宋体" panose="02010600030101010101" pitchFamily="2" charset="-122"/>
              </a:rPr>
              <a:t>它们均</a:t>
            </a:r>
            <a:r>
              <a:rPr lang="zh-CN" altLang="zh-CN" sz="2800" b="1" kern="0" dirty="0">
                <a:solidFill>
                  <a:schemeClr val="tx1"/>
                </a:solidFill>
                <a:cs typeface="宋体" panose="02010600030101010101" pitchFamily="2" charset="-122"/>
              </a:rPr>
              <a:t>采用</a:t>
            </a:r>
            <a:r>
              <a:rPr lang="zh-CN" altLang="zh-CN" sz="2800" b="1" kern="0" dirty="0">
                <a:solidFill>
                  <a:srgbClr val="0000FF"/>
                </a:solidFill>
                <a:cs typeface="宋体" panose="02010600030101010101" pitchFamily="2" charset="-122"/>
              </a:rPr>
              <a:t>递归方式</a:t>
            </a:r>
            <a:r>
              <a:rPr lang="zh-CN" altLang="en-US" sz="2800" b="1" kern="0" dirty="0">
                <a:solidFill>
                  <a:schemeClr val="tx1"/>
                </a:solidFill>
                <a:cs typeface="宋体" panose="02010600030101010101" pitchFamily="2" charset="-122"/>
              </a:rPr>
              <a:t>实现。</a:t>
            </a:r>
            <a:endParaRPr lang="zh-CN" altLang="zh-CN" sz="2800" b="1" kern="1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203F967C-7C85-4CCC-97F7-1C65489A72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692150"/>
            <a:ext cx="6119812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二元树的遍历法</a:t>
            </a:r>
          </a:p>
        </p:txBody>
      </p:sp>
    </p:spTree>
    <p:extLst>
      <p:ext uri="{BB962C8B-B14F-4D97-AF65-F5344CB8AC3E}">
        <p14:creationId xmlns:p14="http://schemas.microsoft.com/office/powerpoint/2010/main" val="969195862"/>
      </p:ext>
    </p:extLst>
  </p:cSld>
  <p:clrMapOvr>
    <a:masterClrMapping/>
  </p:clrMapOvr>
  <p:transition spd="med">
    <p:wipe dir="r"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日期占位符 3">
            <a:extLst>
              <a:ext uri="{FF2B5EF4-FFF2-40B4-BE49-F238E27FC236}">
                <a16:creationId xmlns:a16="http://schemas.microsoft.com/office/drawing/2014/main" id="{72BDFAC1-E83E-4EEE-B74E-24AD29CCBA04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53413EF-F4BE-4A8C-999D-E67A85A961FD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9571" name="Text Box 2">
            <a:extLst>
              <a:ext uri="{FF2B5EF4-FFF2-40B4-BE49-F238E27FC236}">
                <a16:creationId xmlns:a16="http://schemas.microsoft.com/office/drawing/2014/main" id="{BD3BEEC2-1F06-42F3-A078-0594081E3B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692150"/>
            <a:ext cx="6119812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二元树的遍历</a:t>
            </a:r>
          </a:p>
        </p:txBody>
      </p:sp>
      <p:pic>
        <p:nvPicPr>
          <p:cNvPr id="109572" name="Picture 4" descr="QQ截图20150923134451">
            <a:extLst>
              <a:ext uri="{FF2B5EF4-FFF2-40B4-BE49-F238E27FC236}">
                <a16:creationId xmlns:a16="http://schemas.microsoft.com/office/drawing/2014/main" id="{94DC8161-4F0F-4D4F-A653-21BBB2E6C1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2133600"/>
            <a:ext cx="7553325" cy="339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573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1EEDA12B-5F19-48CD-9615-CC484ADFD7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25" y="549275"/>
            <a:ext cx="1095375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日期占位符 3">
            <a:extLst>
              <a:ext uri="{FF2B5EF4-FFF2-40B4-BE49-F238E27FC236}">
                <a16:creationId xmlns:a16="http://schemas.microsoft.com/office/drawing/2014/main" id="{CF53D101-1BB5-45F3-9C4F-F624765CA93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684213" y="6400800"/>
            <a:ext cx="1905000" cy="457200"/>
          </a:xfrm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9DB9BD5-2AB6-441C-A758-BEFB1C941F62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8547" name="Text Box 2">
            <a:extLst>
              <a:ext uri="{FF2B5EF4-FFF2-40B4-BE49-F238E27FC236}">
                <a16:creationId xmlns:a16="http://schemas.microsoft.com/office/drawing/2014/main" id="{59299A9D-FC84-4DD0-8201-EDB4234212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692150"/>
            <a:ext cx="6119812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二元树的遍历法</a:t>
            </a:r>
          </a:p>
        </p:txBody>
      </p:sp>
      <p:pic>
        <p:nvPicPr>
          <p:cNvPr id="108548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11BCD443-FBA6-4BF9-8434-6AF047CF3A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25" y="549275"/>
            <a:ext cx="1095375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549" name="Picture 9" descr="QQ截图20150923135853">
            <a:extLst>
              <a:ext uri="{FF2B5EF4-FFF2-40B4-BE49-F238E27FC236}">
                <a16:creationId xmlns:a16="http://schemas.microsoft.com/office/drawing/2014/main" id="{3ACF06D1-2705-44E1-BC9B-F510A48082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184148"/>
            <a:ext cx="7410450" cy="355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日期占位符 3">
            <a:extLst>
              <a:ext uri="{FF2B5EF4-FFF2-40B4-BE49-F238E27FC236}">
                <a16:creationId xmlns:a16="http://schemas.microsoft.com/office/drawing/2014/main" id="{43B95B1B-75A7-46DD-A24C-26373B00524E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CFC8395-AD58-46A8-8321-983DAD64E137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0595" name="Text Box 2">
            <a:extLst>
              <a:ext uri="{FF2B5EF4-FFF2-40B4-BE49-F238E27FC236}">
                <a16:creationId xmlns:a16="http://schemas.microsoft.com/office/drawing/2014/main" id="{EDA9EDA0-2AA6-4FA3-9291-96F3442931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692150"/>
            <a:ext cx="6119812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二元树的遍历</a:t>
            </a:r>
          </a:p>
        </p:txBody>
      </p:sp>
      <p:pic>
        <p:nvPicPr>
          <p:cNvPr id="110596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D47245B6-A19D-40B9-9D73-7CC52AC7B6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25" y="549275"/>
            <a:ext cx="1095375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0597" name="Picture 6" descr="QQ截图20150923135959">
            <a:extLst>
              <a:ext uri="{FF2B5EF4-FFF2-40B4-BE49-F238E27FC236}">
                <a16:creationId xmlns:a16="http://schemas.microsoft.com/office/drawing/2014/main" id="{0042BB6F-93E3-4970-9284-820CA34A40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2060575"/>
            <a:ext cx="7561263" cy="355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Text Box 2">
            <a:extLst>
              <a:ext uri="{FF2B5EF4-FFF2-40B4-BE49-F238E27FC236}">
                <a16:creationId xmlns:a16="http://schemas.microsoft.com/office/drawing/2014/main" id="{1AA012A9-DE29-4EC7-A928-9E3383E0DD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640" y="550996"/>
            <a:ext cx="6624637" cy="92333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例 题</a:t>
            </a:r>
          </a:p>
        </p:txBody>
      </p:sp>
      <p:pic>
        <p:nvPicPr>
          <p:cNvPr id="111619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7F8353DF-5868-40E6-9A16-F39AEC9030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25" y="549275"/>
            <a:ext cx="1095375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C986D4F-CEFF-433C-815A-5BFDFE1F1D3A}"/>
              </a:ext>
            </a:extLst>
          </p:cNvPr>
          <p:cNvSpPr/>
          <p:nvPr/>
        </p:nvSpPr>
        <p:spPr>
          <a:xfrm>
            <a:off x="179400" y="1628800"/>
            <a:ext cx="8785199" cy="1413849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pPr indent="266700">
              <a:lnSpc>
                <a:spcPts val="3600"/>
              </a:lnSpc>
              <a:spcAft>
                <a:spcPts val="0"/>
              </a:spcAft>
            </a:pPr>
            <a:r>
              <a:rPr lang="zh-CN" altLang="zh-CN" sz="2400" b="1" kern="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【</a:t>
            </a:r>
            <a:r>
              <a:rPr lang="zh-CN" altLang="zh-CN" sz="24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例题</a:t>
            </a:r>
            <a:r>
              <a:rPr lang="zh-CN" altLang="zh-CN" sz="2400" b="1" kern="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】 对</a:t>
            </a:r>
            <a:r>
              <a:rPr lang="zh-CN" altLang="en-US" sz="2400" b="1" kern="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右</a:t>
            </a:r>
            <a:r>
              <a:rPr lang="zh-CN" altLang="zh-CN" sz="2400" b="1" kern="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图</a:t>
            </a:r>
            <a:r>
              <a:rPr lang="zh-CN" altLang="en-US" sz="2400" b="1" kern="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所示</a:t>
            </a:r>
            <a:r>
              <a:rPr lang="zh-CN" altLang="zh-CN" sz="2400" b="1" kern="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二元树使用三种遍历方法</a:t>
            </a:r>
            <a:r>
              <a:rPr lang="zh-CN" altLang="en-US" sz="2400" b="1" kern="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进行遍历</a:t>
            </a:r>
            <a:r>
              <a:rPr lang="zh-CN" altLang="zh-CN" sz="2400" b="1" kern="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zh-CN" sz="2400" b="1" kern="10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>
              <a:lnSpc>
                <a:spcPts val="3600"/>
              </a:lnSpc>
              <a:spcAft>
                <a:spcPts val="0"/>
              </a:spcAft>
            </a:pPr>
            <a:r>
              <a:rPr lang="zh-CN" altLang="zh-CN" sz="2400" b="1" kern="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【分析】将该树分解为根、左子树、右子树三部分，然后对子树做分解，直到叶</a:t>
            </a:r>
            <a:r>
              <a:rPr lang="zh-CN" altLang="en-US" sz="2400" b="1" kern="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结点</a:t>
            </a:r>
            <a:r>
              <a:rPr lang="zh-CN" altLang="zh-CN" sz="2400" b="1" kern="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为止。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24384F7-CC4F-4388-B26E-B15DCD983985}"/>
              </a:ext>
            </a:extLst>
          </p:cNvPr>
          <p:cNvSpPr/>
          <p:nvPr/>
        </p:nvSpPr>
        <p:spPr>
          <a:xfrm>
            <a:off x="251520" y="3284984"/>
            <a:ext cx="4859621" cy="2576667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pPr indent="266700">
              <a:lnSpc>
                <a:spcPct val="150000"/>
              </a:lnSpc>
              <a:spcAft>
                <a:spcPts val="0"/>
              </a:spcAft>
            </a:pPr>
            <a:r>
              <a:rPr lang="zh-CN" altLang="zh-CN" sz="2800" b="1" kern="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【解】</a:t>
            </a:r>
            <a:endParaRPr lang="en-US" altLang="zh-CN" sz="2800" b="1" kern="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>
              <a:lnSpc>
                <a:spcPct val="150000"/>
              </a:lnSpc>
            </a:pPr>
            <a:r>
              <a:rPr lang="zh-CN" altLang="zh-CN" sz="2800" b="1" dirty="0">
                <a:solidFill>
                  <a:schemeClr val="tx1"/>
                </a:solidFill>
                <a:ea typeface="宋体" panose="02010600030101010101" pitchFamily="2" charset="-122"/>
              </a:rPr>
              <a:t>先根遍历：</a:t>
            </a:r>
            <a:r>
              <a:rPr lang="en-US" altLang="zh-CN" sz="2800" b="1" dirty="0" err="1">
                <a:solidFill>
                  <a:schemeClr val="tx1"/>
                </a:solidFill>
                <a:ea typeface="宋体" panose="02010600030101010101" pitchFamily="2" charset="-122"/>
              </a:rPr>
              <a:t>abdgehicfjkl</a:t>
            </a:r>
            <a:r>
              <a:rPr lang="zh-CN" altLang="zh-CN" sz="2800" b="1" dirty="0">
                <a:solidFill>
                  <a:schemeClr val="tx1"/>
                </a:solidFill>
                <a:ea typeface="宋体" panose="02010600030101010101" pitchFamily="2" charset="-122"/>
              </a:rPr>
              <a:t>；</a:t>
            </a:r>
            <a:endParaRPr lang="en-US" altLang="zh-CN" sz="2800" b="1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indent="266700">
              <a:lnSpc>
                <a:spcPct val="150000"/>
              </a:lnSpc>
            </a:pPr>
            <a:r>
              <a:rPr lang="zh-CN" altLang="zh-CN" sz="2800" b="1" dirty="0">
                <a:solidFill>
                  <a:schemeClr val="tx1"/>
                </a:solidFill>
                <a:ea typeface="宋体" panose="02010600030101010101" pitchFamily="2" charset="-122"/>
              </a:rPr>
              <a:t>中根遍历：</a:t>
            </a:r>
            <a:r>
              <a:rPr lang="en-US" altLang="zh-CN" sz="2800" b="1" dirty="0" err="1">
                <a:solidFill>
                  <a:schemeClr val="tx1"/>
                </a:solidFill>
                <a:ea typeface="宋体" panose="02010600030101010101" pitchFamily="2" charset="-122"/>
              </a:rPr>
              <a:t>gdbheiajflkc</a:t>
            </a:r>
            <a:r>
              <a:rPr lang="zh-CN" altLang="zh-CN" sz="2800" b="1" dirty="0">
                <a:solidFill>
                  <a:schemeClr val="tx1"/>
                </a:solidFill>
                <a:ea typeface="宋体" panose="02010600030101010101" pitchFamily="2" charset="-122"/>
              </a:rPr>
              <a:t>；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chemeClr val="tx1"/>
                </a:solidFill>
                <a:ea typeface="宋体" panose="02010600030101010101" pitchFamily="2" charset="-122"/>
              </a:rPr>
              <a:t>  </a:t>
            </a:r>
            <a:r>
              <a:rPr lang="zh-CN" altLang="zh-CN" sz="2800" b="1" dirty="0">
                <a:solidFill>
                  <a:schemeClr val="tx1"/>
                </a:solidFill>
                <a:ea typeface="宋体" panose="02010600030101010101" pitchFamily="2" charset="-122"/>
              </a:rPr>
              <a:t>后根遍历：</a:t>
            </a:r>
            <a:r>
              <a:rPr lang="en-US" altLang="zh-CN" sz="2800" b="1" dirty="0" err="1">
                <a:solidFill>
                  <a:schemeClr val="tx1"/>
                </a:solidFill>
                <a:ea typeface="宋体" panose="02010600030101010101" pitchFamily="2" charset="-122"/>
              </a:rPr>
              <a:t>gdhiebjlkfca</a:t>
            </a:r>
            <a:r>
              <a:rPr lang="zh-CN" altLang="zh-CN" sz="2800" b="1" dirty="0">
                <a:solidFill>
                  <a:schemeClr val="tx1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sz="28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9C264DE-D11D-4655-A5A2-4CC6F6D85E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2080" y="3140968"/>
            <a:ext cx="3203097" cy="3132956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Text Box 2">
            <a:extLst>
              <a:ext uri="{FF2B5EF4-FFF2-40B4-BE49-F238E27FC236}">
                <a16:creationId xmlns:a16="http://schemas.microsoft.com/office/drawing/2014/main" id="{1AA012A9-DE29-4EC7-A928-9E3383E0DD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92150"/>
            <a:ext cx="6624637" cy="92333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例 题</a:t>
            </a:r>
          </a:p>
        </p:txBody>
      </p:sp>
      <p:pic>
        <p:nvPicPr>
          <p:cNvPr id="111619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7F8353DF-5868-40E6-9A16-F39AEC9030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25" y="549275"/>
            <a:ext cx="1095375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B1DADB6-F909-41DB-8D15-A42BAB0C65E8}"/>
              </a:ext>
            </a:extLst>
          </p:cNvPr>
          <p:cNvSpPr/>
          <p:nvPr/>
        </p:nvSpPr>
        <p:spPr>
          <a:xfrm>
            <a:off x="107505" y="2024243"/>
            <a:ext cx="4464495" cy="3907095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pPr indent="266700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【</a:t>
            </a:r>
            <a:r>
              <a:rPr lang="zh-CN" altLang="zh-CN" sz="24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例题</a:t>
            </a:r>
            <a:r>
              <a:rPr lang="zh-CN" altLang="zh-CN" sz="2400" b="1" kern="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】用二元树表示</a:t>
            </a:r>
            <a:r>
              <a:rPr lang="zh-CN" altLang="en-US" sz="2400" b="1" kern="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如下</a:t>
            </a:r>
            <a:r>
              <a:rPr lang="zh-CN" altLang="zh-CN" sz="2400" b="1" kern="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命题公式</a:t>
            </a:r>
            <a:r>
              <a:rPr lang="zh-CN" altLang="en-US" sz="2400" b="1" kern="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lang="en-US" altLang="zh-CN" sz="2400" b="1" kern="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>
              <a:lnSpc>
                <a:spcPct val="150000"/>
              </a:lnSpc>
              <a:spcAft>
                <a:spcPts val="0"/>
              </a:spcAft>
            </a:pPr>
            <a:r>
              <a:rPr lang="en-US" altLang="zh-CN" sz="2400" b="1" kern="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(P</a:t>
            </a:r>
            <a:r>
              <a:rPr lang="zh-CN" altLang="zh-CN" sz="2400" b="1" kern="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∨</a:t>
            </a:r>
            <a:r>
              <a:rPr lang="en-US" altLang="zh-CN" sz="2400" b="1" kern="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(¬ P</a:t>
            </a:r>
            <a:r>
              <a:rPr lang="zh-CN" altLang="zh-CN" sz="2400" b="1" kern="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∧</a:t>
            </a:r>
            <a:r>
              <a:rPr lang="en-US" altLang="zh-CN" sz="2400" b="1" kern="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Q ))</a:t>
            </a:r>
            <a:r>
              <a:rPr lang="zh-CN" altLang="zh-CN" sz="2400" b="1" kern="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∧</a:t>
            </a:r>
            <a:r>
              <a:rPr lang="en-US" altLang="zh-CN" sz="2400" b="1" kern="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((¬ P</a:t>
            </a:r>
            <a:r>
              <a:rPr lang="zh-CN" altLang="zh-CN" sz="2400" b="1" kern="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∨</a:t>
            </a:r>
            <a:r>
              <a:rPr lang="en-US" altLang="zh-CN" sz="2400" b="1" kern="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Q)</a:t>
            </a:r>
            <a:r>
              <a:rPr lang="zh-CN" altLang="zh-CN" sz="2400" b="1" kern="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∧</a:t>
            </a:r>
            <a:r>
              <a:rPr lang="en-US" altLang="zh-CN" sz="2400" b="1" kern="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¬ R)</a:t>
            </a:r>
            <a:endParaRPr lang="zh-CN" altLang="zh-CN" sz="2400" b="1" kern="10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【分析】把运算单元和运算符都当作二元树的各个结点。</a:t>
            </a:r>
            <a:endParaRPr lang="zh-CN" altLang="zh-CN" sz="2400" b="1" kern="10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【解】该命题公式为</a:t>
            </a:r>
            <a:r>
              <a:rPr lang="zh-CN" altLang="zh-CN" sz="2400" b="1" kern="0" dirty="0">
                <a:solidFill>
                  <a:schemeClr val="accent6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中根遍历模式</a:t>
            </a:r>
            <a:r>
              <a:rPr lang="zh-CN" altLang="zh-CN" sz="2400" b="1" kern="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，故二元树如</a:t>
            </a:r>
            <a:r>
              <a:rPr lang="zh-CN" altLang="en-US" sz="2400" b="1" kern="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右</a:t>
            </a:r>
            <a:r>
              <a:rPr lang="zh-CN" altLang="zh-CN" sz="2400" b="1" kern="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图所示。</a:t>
            </a:r>
            <a:endParaRPr lang="zh-CN" altLang="zh-CN" sz="2400" b="1" kern="10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24E64F0-5772-4549-87F6-B08EB3B21E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032" y="1916832"/>
            <a:ext cx="4104456" cy="4152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284037"/>
      </p:ext>
    </p:extLst>
  </p:cSld>
  <p:clrMapOvr>
    <a:masterClrMapping/>
  </p:clrMapOvr>
  <p:transition spd="med">
    <p:wipe dir="r"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ext Box 2">
            <a:extLst>
              <a:ext uri="{FF2B5EF4-FFF2-40B4-BE49-F238E27FC236}">
                <a16:creationId xmlns:a16="http://schemas.microsoft.com/office/drawing/2014/main" id="{C130F7D2-54FF-44DE-AE72-7EBF1C3BED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92150"/>
            <a:ext cx="6624637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例 题</a:t>
            </a:r>
          </a:p>
        </p:txBody>
      </p:sp>
      <p:pic>
        <p:nvPicPr>
          <p:cNvPr id="114691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1B1E2854-B8D4-4C94-91C0-857B3E1C8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25" y="549275"/>
            <a:ext cx="1095375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4694" name="图片 2">
            <a:extLst>
              <a:ext uri="{FF2B5EF4-FFF2-40B4-BE49-F238E27FC236}">
                <a16:creationId xmlns:a16="http://schemas.microsoft.com/office/drawing/2014/main" id="{065FDA0F-9D35-4036-82DE-619B53CBAE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3132743"/>
            <a:ext cx="2957625" cy="304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35F5AF21-49E1-4EE3-B986-6B648DACB2E5}"/>
                  </a:ext>
                </a:extLst>
              </p:cNvPr>
              <p:cNvSpPr/>
              <p:nvPr/>
            </p:nvSpPr>
            <p:spPr>
              <a:xfrm>
                <a:off x="175667" y="1700213"/>
                <a:ext cx="8937128" cy="1335622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:pPr indent="266700">
                  <a:lnSpc>
                    <a:spcPct val="115000"/>
                  </a:lnSpc>
                  <a:spcAft>
                    <a:spcPts val="0"/>
                  </a:spcAft>
                </a:pPr>
                <a:r>
                  <a:rPr lang="zh-CN" altLang="zh-CN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【</a:t>
                </a:r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例题</a:t>
                </a:r>
                <a:r>
                  <a:rPr lang="zh-CN" altLang="zh-CN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】 算术表达式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zh-CN" altLang="zh-CN" sz="2400" b="1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fPr>
                      <m:num>
                        <m:r>
                          <a:rPr lang="en-US" altLang="zh-CN" sz="2400" b="1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(</m:t>
                        </m:r>
                        <m:r>
                          <a:rPr lang="en-US" altLang="zh-CN" sz="2400" b="1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𝒂</m:t>
                        </m:r>
                        <m:r>
                          <a:rPr lang="en-US" altLang="zh-CN" sz="2400" b="1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∗</m:t>
                        </m:r>
                        <m:d>
                          <m:dPr>
                            <m:ctrlPr>
                              <a:rPr lang="zh-CN" altLang="zh-CN" sz="2400" b="1" i="1" ker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宋体" panose="0201060003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400" b="1" i="1" ker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宋体" panose="02010600030101010101" pitchFamily="2" charset="-122"/>
                              </a:rPr>
                              <m:t>𝒃</m:t>
                            </m:r>
                            <m:r>
                              <a:rPr lang="en-US" altLang="zh-CN" sz="2400" b="1" i="1" ker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宋体" panose="02010600030101010101" pitchFamily="2" charset="-122"/>
                              </a:rPr>
                              <m:t>+</m:t>
                            </m:r>
                            <m:r>
                              <a:rPr lang="en-US" altLang="zh-CN" sz="2400" b="1" i="1" ker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宋体" panose="02010600030101010101" pitchFamily="2" charset="-122"/>
                              </a:rPr>
                              <m:t>𝒄</m:t>
                            </m:r>
                          </m:e>
                        </m:d>
                        <m:r>
                          <a:rPr lang="en-US" altLang="zh-CN" sz="2400" b="1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−</m:t>
                        </m:r>
                        <m:r>
                          <a:rPr lang="en-US" altLang="zh-CN" sz="2400" b="1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𝒅</m:t>
                        </m:r>
                        <m:r>
                          <a:rPr lang="zh-CN" altLang="zh-CN" sz="2400" b="1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↑</m:t>
                        </m:r>
                        <m:r>
                          <a:rPr lang="en-US" altLang="zh-CN" sz="2400" b="1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𝟐</m:t>
                        </m:r>
                        <m:r>
                          <a:rPr lang="en-US" altLang="zh-CN" sz="2400" b="1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)</m:t>
                        </m:r>
                      </m:num>
                      <m:den>
                        <m:r>
                          <a:rPr lang="en-US" altLang="zh-CN" sz="2400" b="1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(</m:t>
                        </m:r>
                        <m:r>
                          <a:rPr lang="en-US" altLang="zh-CN" sz="2400" b="1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𝒂</m:t>
                        </m:r>
                        <m:r>
                          <a:rPr lang="en-US" altLang="zh-CN" sz="2400" b="1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∗(</m:t>
                        </m:r>
                        <m:r>
                          <a:rPr lang="en-US" altLang="zh-CN" sz="2400" b="1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𝒃</m:t>
                        </m:r>
                        <m:r>
                          <a:rPr lang="en-US" altLang="zh-CN" sz="2400" b="1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−</m:t>
                        </m:r>
                        <m:r>
                          <a:rPr lang="en-US" altLang="zh-CN" sz="2400" b="1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𝒄</m:t>
                        </m:r>
                        <m:r>
                          <a:rPr lang="en-US" altLang="zh-CN" sz="2400" b="1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))</m:t>
                        </m:r>
                      </m:den>
                    </m:f>
                  </m:oMath>
                </a14:m>
                <a:r>
                  <a:rPr lang="zh-CN" altLang="zh-CN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可用</a:t>
                </a:r>
                <a:r>
                  <a:rPr lang="en-US" altLang="zh-CN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2</a:t>
                </a:r>
                <a:r>
                  <a:rPr lang="zh-CN" altLang="zh-CN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元树</a:t>
                </a:r>
                <a:r>
                  <a:rPr lang="zh-CN" altLang="en-US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进行</a:t>
                </a:r>
                <a:r>
                  <a:rPr lang="zh-CN" altLang="zh-CN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表示</a:t>
                </a:r>
                <a:r>
                  <a:rPr lang="zh-CN" altLang="en-US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，</a:t>
                </a:r>
                <a:r>
                  <a:rPr lang="zh-CN" altLang="zh-CN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其中</a:t>
                </a:r>
                <a:r>
                  <a:rPr lang="en-US" altLang="zh-CN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*</a:t>
                </a:r>
                <a:r>
                  <a:rPr lang="zh-CN" altLang="zh-CN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表示数乘运算，↑表示指数运算</a:t>
                </a:r>
                <a:r>
                  <a:rPr lang="zh-CN" altLang="en-US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。使用这种</a:t>
                </a:r>
                <a:r>
                  <a:rPr lang="en-US" altLang="zh-CN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2</a:t>
                </a:r>
                <a:r>
                  <a:rPr lang="zh-CN" altLang="zh-CN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元树</a:t>
                </a:r>
                <a:r>
                  <a:rPr lang="zh-CN" altLang="en-US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给出该式的</a:t>
                </a:r>
                <a:r>
                  <a:rPr lang="zh-CN" altLang="zh-CN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前置表达式、中置表达式和后置表达式。 </a:t>
                </a: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35F5AF21-49E1-4EE3-B986-6B648DACB2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667" y="1700213"/>
                <a:ext cx="8937128" cy="1335622"/>
              </a:xfrm>
              <a:prstGeom prst="rect">
                <a:avLst/>
              </a:prstGeom>
              <a:blipFill>
                <a:blip r:embed="rId5"/>
                <a:stretch>
                  <a:fillRect l="-1091" t="-41096" r="-1023" b="-77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>
            <a:extLst>
              <a:ext uri="{FF2B5EF4-FFF2-40B4-BE49-F238E27FC236}">
                <a16:creationId xmlns:a16="http://schemas.microsoft.com/office/drawing/2014/main" id="{01E53606-7C02-4B9F-A3E7-7D9001B912AB}"/>
              </a:ext>
            </a:extLst>
          </p:cNvPr>
          <p:cNvSpPr/>
          <p:nvPr/>
        </p:nvSpPr>
        <p:spPr>
          <a:xfrm>
            <a:off x="467544" y="3219985"/>
            <a:ext cx="4572000" cy="2822183"/>
          </a:xfrm>
          <a:prstGeom prst="rect">
            <a:avLst/>
          </a:prstGeom>
          <a:solidFill>
            <a:schemeClr val="accent5"/>
          </a:solidFill>
        </p:spPr>
        <p:txBody>
          <a:bodyPr>
            <a:spAutoFit/>
          </a:bodyPr>
          <a:lstStyle/>
          <a:p>
            <a:pPr indent="266700">
              <a:lnSpc>
                <a:spcPts val="3600"/>
              </a:lnSpc>
              <a:spcAft>
                <a:spcPts val="0"/>
              </a:spcAft>
            </a:pPr>
            <a:r>
              <a:rPr lang="zh-CN" altLang="zh-CN" sz="2400" b="1" kern="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【解】先根遍历次序为：</a:t>
            </a:r>
            <a:endParaRPr lang="en-US" altLang="zh-CN" sz="2400" b="1" kern="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>
              <a:lnSpc>
                <a:spcPts val="3600"/>
              </a:lnSpc>
              <a:spcAft>
                <a:spcPts val="0"/>
              </a:spcAft>
            </a:pPr>
            <a:r>
              <a:rPr lang="en-US" altLang="zh-CN" sz="2400" b="1" kern="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    </a:t>
            </a:r>
            <a:r>
              <a:rPr lang="en-US" altLang="zh-CN" sz="2400" b="1" kern="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/ - * a + b c </a:t>
            </a:r>
            <a:r>
              <a:rPr lang="zh-CN" altLang="zh-CN" sz="2400" b="1" kern="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↑</a:t>
            </a:r>
            <a:r>
              <a:rPr lang="en-US" altLang="zh-CN" sz="2400" b="1" kern="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d 2 * a – b c</a:t>
            </a:r>
            <a:r>
              <a:rPr lang="zh-CN" altLang="zh-CN" sz="2400" b="1" kern="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；</a:t>
            </a:r>
            <a:endParaRPr lang="zh-CN" altLang="zh-CN" sz="2400" b="1" kern="10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>
              <a:lnSpc>
                <a:spcPts val="3600"/>
              </a:lnSpc>
              <a:spcAft>
                <a:spcPts val="0"/>
              </a:spcAft>
            </a:pPr>
            <a:r>
              <a:rPr lang="zh-CN" altLang="zh-CN" sz="2400" b="1" kern="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中根遍历次序为：</a:t>
            </a:r>
            <a:endParaRPr lang="en-US" altLang="zh-CN" sz="2400" b="1" kern="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>
              <a:lnSpc>
                <a:spcPts val="3600"/>
              </a:lnSpc>
              <a:spcAft>
                <a:spcPts val="0"/>
              </a:spcAft>
            </a:pPr>
            <a:r>
              <a:rPr lang="en-US" altLang="zh-CN" sz="2400" b="1" kern="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lang="en-US" altLang="zh-CN" sz="2400" b="1" kern="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a * b + c – d </a:t>
            </a:r>
            <a:r>
              <a:rPr lang="zh-CN" altLang="zh-CN" sz="2400" b="1" kern="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↑ </a:t>
            </a:r>
            <a:r>
              <a:rPr lang="en-US" altLang="zh-CN" sz="2400" b="1" kern="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2 / a * b - c </a:t>
            </a:r>
            <a:r>
              <a:rPr lang="zh-CN" altLang="zh-CN" sz="2400" b="1" kern="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；</a:t>
            </a:r>
            <a:endParaRPr lang="zh-CN" altLang="zh-CN" sz="2400" b="1" kern="10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>
              <a:lnSpc>
                <a:spcPts val="3600"/>
              </a:lnSpc>
              <a:spcAft>
                <a:spcPts val="0"/>
              </a:spcAft>
            </a:pPr>
            <a:r>
              <a:rPr lang="zh-CN" altLang="zh-CN" sz="2400" b="1" kern="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后根遍历次序为：</a:t>
            </a:r>
            <a:endParaRPr lang="en-US" altLang="zh-CN" sz="2400" b="1" kern="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>
              <a:lnSpc>
                <a:spcPts val="3600"/>
              </a:lnSpc>
              <a:spcAft>
                <a:spcPts val="0"/>
              </a:spcAft>
            </a:pPr>
            <a:r>
              <a:rPr lang="en-US" altLang="zh-CN" sz="2400" b="1" kern="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    </a:t>
            </a:r>
            <a:r>
              <a:rPr lang="en-US" altLang="zh-CN" sz="2400" b="1" kern="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a b c + * d 2 </a:t>
            </a:r>
            <a:r>
              <a:rPr lang="zh-CN" altLang="zh-CN" sz="2400" b="1" kern="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↑</a:t>
            </a:r>
            <a:r>
              <a:rPr lang="en-US" altLang="zh-CN" sz="2400" b="1" kern="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- a b c - * /</a:t>
            </a:r>
            <a:r>
              <a:rPr lang="zh-CN" altLang="en-US" sz="2400" b="1" kern="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zh-CN" sz="2400" b="1" kern="10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日期占位符 3">
            <a:extLst>
              <a:ext uri="{FF2B5EF4-FFF2-40B4-BE49-F238E27FC236}">
                <a16:creationId xmlns:a16="http://schemas.microsoft.com/office/drawing/2014/main" id="{FCA00882-A4E4-4DDD-AF30-00919EEE30C3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98AEFA6-F236-4AD6-B6D2-471B8CDC3B08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5715" name="Text Box 2">
            <a:extLst>
              <a:ext uri="{FF2B5EF4-FFF2-40B4-BE49-F238E27FC236}">
                <a16:creationId xmlns:a16="http://schemas.microsoft.com/office/drawing/2014/main" id="{F50BC5AC-ABBD-4008-84AD-46D0F6B070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692150"/>
            <a:ext cx="6119812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根树化为二元树</a:t>
            </a:r>
          </a:p>
        </p:txBody>
      </p:sp>
      <p:pic>
        <p:nvPicPr>
          <p:cNvPr id="115716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E464A7C0-A079-49FA-87DC-17542F6451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25" y="549275"/>
            <a:ext cx="1095375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26493A1-2802-4982-A01D-29A74814AEE8}"/>
              </a:ext>
            </a:extLst>
          </p:cNvPr>
          <p:cNvSpPr/>
          <p:nvPr/>
        </p:nvSpPr>
        <p:spPr>
          <a:xfrm>
            <a:off x="359532" y="1988680"/>
            <a:ext cx="8424935" cy="388375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>
            <a:spAutoFit/>
          </a:bodyPr>
          <a:lstStyle/>
          <a:p>
            <a:pPr indent="266700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0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根树转化为二元树算法</a:t>
            </a:r>
            <a:r>
              <a:rPr lang="zh-CN" altLang="en-US" sz="2400" b="1" kern="0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的基本</a:t>
            </a:r>
            <a:r>
              <a:rPr lang="zh-CN" altLang="zh-CN" sz="2400" b="1" kern="0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步骤如下：</a:t>
            </a:r>
            <a:endParaRPr lang="zh-CN" altLang="zh-CN" sz="2400" b="1" kern="100" dirty="0">
              <a:solidFill>
                <a:schemeClr val="bg1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0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400" b="1" kern="0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zh-CN" sz="2400" b="1" kern="0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）从根开始，保留每个父亲同其</a:t>
            </a:r>
            <a:r>
              <a:rPr lang="zh-CN" altLang="zh-CN" sz="2400" b="1" kern="0" dirty="0">
                <a:solidFill>
                  <a:srgbClr val="FFFF66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最左边儿子的连线</a:t>
            </a:r>
            <a:r>
              <a:rPr lang="zh-CN" altLang="zh-CN" sz="2400" b="1" kern="0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，撤销与别的儿子的连线。</a:t>
            </a:r>
            <a:endParaRPr lang="zh-CN" altLang="zh-CN" sz="2400" b="1" kern="100" dirty="0">
              <a:solidFill>
                <a:schemeClr val="bg1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0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400" b="1" kern="0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zh-CN" sz="2400" b="1" kern="0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）兄弟之间用</a:t>
            </a:r>
            <a:r>
              <a:rPr lang="zh-CN" altLang="zh-CN" sz="2400" b="1" kern="0" dirty="0">
                <a:solidFill>
                  <a:srgbClr val="FFFF66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从左向右的有向边连接</a:t>
            </a:r>
            <a:r>
              <a:rPr lang="zh-CN" altLang="zh-CN" sz="2400" b="1" kern="0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zh-CN" sz="2400" b="1" kern="100" dirty="0">
              <a:solidFill>
                <a:schemeClr val="bg1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0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400" b="1" kern="0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3</a:t>
            </a:r>
            <a:r>
              <a:rPr lang="zh-CN" altLang="zh-CN" sz="2400" b="1" kern="0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）按如下方法确定二元树给定结点</a:t>
            </a:r>
            <a:r>
              <a:rPr lang="zh-CN" altLang="zh-CN" sz="2400" b="1" kern="0" dirty="0">
                <a:solidFill>
                  <a:srgbClr val="FFFF66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左儿子和右儿子</a:t>
            </a:r>
            <a:r>
              <a:rPr lang="zh-CN" altLang="zh-CN" sz="2400" b="1" kern="0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：</a:t>
            </a:r>
            <a:endParaRPr lang="en-US" altLang="zh-CN" sz="2400" b="1" kern="0" dirty="0">
              <a:solidFill>
                <a:schemeClr val="bg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zh-CN" sz="2400" b="1" dirty="0">
                <a:solidFill>
                  <a:srgbClr val="FFFF66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将直接位于该结点下面的结点作为左儿子，将同一水平线上与给定结点右邻</a:t>
            </a:r>
            <a:r>
              <a:rPr lang="zh-CN" altLang="en-US" sz="2400" b="1" dirty="0">
                <a:solidFill>
                  <a:srgbClr val="FFFF66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接</a:t>
            </a:r>
            <a:r>
              <a:rPr lang="zh-CN" altLang="zh-CN" sz="2400" b="1" dirty="0">
                <a:solidFill>
                  <a:srgbClr val="FFFF66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zh-CN" altLang="en-US" sz="2400" b="1" dirty="0">
                <a:solidFill>
                  <a:srgbClr val="FFFF66"/>
                </a:solidFill>
                <a:cs typeface="宋体" panose="02010600030101010101" pitchFamily="2" charset="-122"/>
              </a:rPr>
              <a:t>兄弟</a:t>
            </a:r>
            <a:r>
              <a:rPr lang="zh-CN" altLang="zh-CN" sz="2400" b="1" dirty="0">
                <a:solidFill>
                  <a:srgbClr val="FFFF66"/>
                </a:solidFill>
                <a:cs typeface="宋体" panose="02010600030101010101" pitchFamily="2" charset="-122"/>
              </a:rPr>
              <a:t>结点作为右儿子</a:t>
            </a:r>
            <a:r>
              <a:rPr lang="zh-CN" altLang="zh-CN" sz="2400" b="1" dirty="0">
                <a:solidFill>
                  <a:srgbClr val="FFFF66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，以此类推</a:t>
            </a:r>
            <a:r>
              <a:rPr lang="zh-CN" altLang="en-US" sz="2400" b="1" dirty="0">
                <a:solidFill>
                  <a:schemeClr val="bg1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Text Box 2">
            <a:extLst>
              <a:ext uri="{FF2B5EF4-FFF2-40B4-BE49-F238E27FC236}">
                <a16:creationId xmlns:a16="http://schemas.microsoft.com/office/drawing/2014/main" id="{A75C62BC-535E-4DB3-93C7-FE148F4472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92150"/>
            <a:ext cx="6624637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算法示例</a:t>
            </a:r>
          </a:p>
        </p:txBody>
      </p:sp>
      <p:pic>
        <p:nvPicPr>
          <p:cNvPr id="116739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EAADB7BD-2205-48D9-8954-6817741980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25" y="549275"/>
            <a:ext cx="1095375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85CC1DC7-57F4-4282-BB04-130BC2BF4A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447" y="2745150"/>
            <a:ext cx="8417167" cy="3378263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FF5D8514-66B5-44BB-8EEF-4900E4F2B4D5}"/>
              </a:ext>
            </a:extLst>
          </p:cNvPr>
          <p:cNvSpPr/>
          <p:nvPr/>
        </p:nvSpPr>
        <p:spPr>
          <a:xfrm>
            <a:off x="539552" y="1772816"/>
            <a:ext cx="6624636" cy="715581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pPr indent="267970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0" dirty="0">
                <a:solidFill>
                  <a:schemeClr val="tx1"/>
                </a:solidFill>
                <a:cs typeface="宋体" panose="02010600030101010101" pitchFamily="2" charset="-122"/>
              </a:rPr>
              <a:t>【</a:t>
            </a:r>
            <a:r>
              <a:rPr lang="zh-CN" altLang="en-US" b="1" kern="0" dirty="0">
                <a:solidFill>
                  <a:schemeClr val="tx1"/>
                </a:solidFill>
                <a:cs typeface="宋体" panose="02010600030101010101" pitchFamily="2" charset="-122"/>
              </a:rPr>
              <a:t>关键要点</a:t>
            </a:r>
            <a:r>
              <a:rPr lang="zh-CN" altLang="zh-CN" b="1" kern="0" dirty="0">
                <a:solidFill>
                  <a:schemeClr val="tx1"/>
                </a:solidFill>
                <a:cs typeface="宋体" panose="02010600030101010101" pitchFamily="2" charset="-122"/>
              </a:rPr>
              <a:t>】</a:t>
            </a:r>
            <a:r>
              <a:rPr lang="zh-CN" altLang="en-US" b="1" kern="0" dirty="0">
                <a:solidFill>
                  <a:schemeClr val="tx1"/>
                </a:solidFill>
                <a:cs typeface="宋体" panose="02010600030101010101" pitchFamily="2" charset="-122"/>
              </a:rPr>
              <a:t>将</a:t>
            </a:r>
            <a:r>
              <a:rPr lang="zh-CN" altLang="zh-CN" b="1" kern="0" dirty="0">
                <a:solidFill>
                  <a:schemeClr val="tx1"/>
                </a:solidFill>
                <a:cs typeface="宋体" panose="02010600030101010101" pitchFamily="2" charset="-122"/>
              </a:rPr>
              <a:t>弟弟变右儿子。</a:t>
            </a:r>
            <a:endParaRPr lang="zh-CN" altLang="zh-CN" b="1" kern="1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日期占位符 3">
            <a:extLst>
              <a:ext uri="{FF2B5EF4-FFF2-40B4-BE49-F238E27FC236}">
                <a16:creationId xmlns:a16="http://schemas.microsoft.com/office/drawing/2014/main" id="{0CC874A5-CED1-4F64-B553-C9F3B6C218F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342B355-4A3C-4316-956E-62B1E61EE9B8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8787" name="Text Box 2">
            <a:extLst>
              <a:ext uri="{FF2B5EF4-FFF2-40B4-BE49-F238E27FC236}">
                <a16:creationId xmlns:a16="http://schemas.microsoft.com/office/drawing/2014/main" id="{D1C0104A-46EF-4E98-8964-90D5C68D5C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804863"/>
            <a:ext cx="6119812" cy="823912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森林化为二元树</a:t>
            </a:r>
          </a:p>
        </p:txBody>
      </p:sp>
      <p:pic>
        <p:nvPicPr>
          <p:cNvPr id="118788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9E3F86F3-AAC6-425A-A0BF-F0FA435ECE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25" y="549275"/>
            <a:ext cx="1095375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79030C5-4269-433C-AE22-3B7865D0729E}"/>
              </a:ext>
            </a:extLst>
          </p:cNvPr>
          <p:cNvSpPr/>
          <p:nvPr/>
        </p:nvSpPr>
        <p:spPr>
          <a:xfrm>
            <a:off x="251520" y="1734696"/>
            <a:ext cx="8767436" cy="156966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>
            <a:spAutoFit/>
          </a:bodyPr>
          <a:lstStyle/>
          <a:p>
            <a:pPr indent="266700">
              <a:spcAft>
                <a:spcPts val="0"/>
              </a:spcAft>
            </a:pPr>
            <a:r>
              <a:rPr lang="zh-CN" altLang="zh-CN" sz="2400" b="1" kern="0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具体过程如下： </a:t>
            </a:r>
            <a:endParaRPr lang="zh-CN" altLang="zh-CN" sz="2400" b="1" kern="100" dirty="0">
              <a:solidFill>
                <a:schemeClr val="bg1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>
              <a:spcAft>
                <a:spcPts val="0"/>
              </a:spcAft>
            </a:pPr>
            <a:r>
              <a:rPr lang="en-US" altLang="zh-CN" sz="2400" b="1" kern="0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zh-CN" sz="2400" b="1" kern="0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400" b="1" kern="0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zh-CN" sz="2400" b="1" kern="0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）先把森林中的每一棵树都表示成二元树；</a:t>
            </a:r>
            <a:endParaRPr lang="zh-CN" altLang="zh-CN" sz="2400" b="1" kern="100" dirty="0">
              <a:solidFill>
                <a:schemeClr val="bg1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solidFill>
                  <a:schemeClr val="bg1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zh-CN" sz="2400" b="1" dirty="0">
                <a:solidFill>
                  <a:schemeClr val="bg1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400" b="1" dirty="0">
                <a:solidFill>
                  <a:schemeClr val="bg1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zh-CN" sz="2400" b="1" dirty="0">
                <a:solidFill>
                  <a:schemeClr val="bg1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）除第一棵二元树外，依次将剩下的每棵二元树作为右边二元树根的右子树，直到所有二元树都连成一棵二元树为止。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EFF43FE-3203-4166-8A34-964A116989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3648" y="3398402"/>
            <a:ext cx="6552728" cy="2925941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日期占位符 3">
            <a:extLst>
              <a:ext uri="{FF2B5EF4-FFF2-40B4-BE49-F238E27FC236}">
                <a16:creationId xmlns:a16="http://schemas.microsoft.com/office/drawing/2014/main" id="{2B7A5A4B-B66F-47CF-81E6-AF885C35886F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5CB3CEE-9C56-4AA2-89B7-8A3A7C622012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0835" name="页脚占位符 4">
            <a:extLst>
              <a:ext uri="{FF2B5EF4-FFF2-40B4-BE49-F238E27FC236}">
                <a16:creationId xmlns:a16="http://schemas.microsoft.com/office/drawing/2014/main" id="{9CD30866-E072-4119-8B76-9CB56C16D606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120836" name="灯片编号占位符 5">
            <a:extLst>
              <a:ext uri="{FF2B5EF4-FFF2-40B4-BE49-F238E27FC236}">
                <a16:creationId xmlns:a16="http://schemas.microsoft.com/office/drawing/2014/main" id="{9E0F3A8F-ED9B-436F-B84B-1ED2213D9BFB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0B79C4C2-BED5-4949-8ACF-598296C95C0C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88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0837" name="Text Box 2">
            <a:extLst>
              <a:ext uri="{FF2B5EF4-FFF2-40B4-BE49-F238E27FC236}">
                <a16:creationId xmlns:a16="http://schemas.microsoft.com/office/drawing/2014/main" id="{2F3AD9CE-8DB8-4221-9D01-1A85237F70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640" y="836712"/>
            <a:ext cx="7086600" cy="923925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根树的基本知识</a:t>
            </a:r>
          </a:p>
        </p:txBody>
      </p:sp>
      <p:sp>
        <p:nvSpPr>
          <p:cNvPr id="120838" name="Rectangle 3">
            <a:extLst>
              <a:ext uri="{FF2B5EF4-FFF2-40B4-BE49-F238E27FC236}">
                <a16:creationId xmlns:a16="http://schemas.microsoft.com/office/drawing/2014/main" id="{0BDA2024-21EA-4F09-B033-52F6A85A80D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408237" y="2492896"/>
            <a:ext cx="4327525" cy="2952849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55000"/>
              </a:lnSpc>
              <a:buFont typeface="Wingdings" panose="05000000000000000000" pitchFamily="2" charset="2"/>
              <a:buChar char="4"/>
            </a:pPr>
            <a:r>
              <a:rPr lang="en-US" altLang="zh-CN" sz="36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</a:t>
            </a:r>
            <a:r>
              <a:rPr lang="zh-CN" altLang="en-US" sz="36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有向树与根树</a:t>
            </a:r>
          </a:p>
          <a:p>
            <a:pPr eaLnBrk="1" hangingPunct="1">
              <a:lnSpc>
                <a:spcPct val="155000"/>
              </a:lnSpc>
              <a:buFont typeface="Wingdings" panose="05000000000000000000" pitchFamily="2" charset="2"/>
              <a:buChar char="4"/>
            </a:pPr>
            <a:r>
              <a:rPr lang="zh-CN" altLang="en-US" sz="36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根树的基本算法</a:t>
            </a:r>
          </a:p>
          <a:p>
            <a:pPr eaLnBrk="1" hangingPunct="1">
              <a:lnSpc>
                <a:spcPct val="155000"/>
              </a:lnSpc>
              <a:buFont typeface="Wingdings" panose="05000000000000000000" pitchFamily="2" charset="2"/>
              <a:buChar char="J"/>
            </a:pPr>
            <a:r>
              <a:rPr lang="zh-CN" altLang="en-US" sz="3600" b="1" dirty="0"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前缀码与最优树</a:t>
            </a:r>
          </a:p>
        </p:txBody>
      </p:sp>
      <p:pic>
        <p:nvPicPr>
          <p:cNvPr id="120839" name="Picture 7" descr="C:\Program Files\Microsoft Office\MEDIA\CAGCAT10\j0292982.wmf">
            <a:extLst>
              <a:ext uri="{FF2B5EF4-FFF2-40B4-BE49-F238E27FC236}">
                <a16:creationId xmlns:a16="http://schemas.microsoft.com/office/drawing/2014/main" id="{3E36AC6E-70AE-41E6-B172-DACB1E389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575" y="4738688"/>
            <a:ext cx="1371600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43" name="Rectangle 3">
            <a:extLst>
              <a:ext uri="{FF2B5EF4-FFF2-40B4-BE49-F238E27FC236}">
                <a16:creationId xmlns:a16="http://schemas.microsoft.com/office/drawing/2014/main" id="{083DF253-B8FE-4930-8D9E-325892B078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5412" y="1894019"/>
            <a:ext cx="8893175" cy="4391025"/>
          </a:xfrm>
          <a:solidFill>
            <a:schemeClr val="accent5"/>
          </a:solidFill>
        </p:spPr>
        <p:txBody>
          <a:bodyPr/>
          <a:lstStyle/>
          <a:p>
            <a:pPr marL="0" indent="0" eaLnBrk="1" hangingPunct="1">
              <a:lnSpc>
                <a:spcPct val="140000"/>
              </a:lnSpc>
              <a:spcBef>
                <a:spcPct val="0"/>
              </a:spcBef>
              <a:buFontTx/>
              <a:buNone/>
              <a:defRPr/>
            </a:pPr>
            <a:r>
              <a:rPr lang="zh-CN" altLang="en-US" b="1" dirty="0">
                <a:cs typeface="楷体_GB2312" pitchFamily="49" charset="-122"/>
              </a:rPr>
              <a:t>       </a:t>
            </a:r>
            <a:r>
              <a:rPr lang="zh-CN" altLang="en-US" b="1" dirty="0">
                <a:effectLst/>
                <a:cs typeface="楷体_GB2312" pitchFamily="49" charset="-122"/>
              </a:rPr>
              <a:t>在计算机及通讯领域中常用二进制编码来表示符号，称之为</a:t>
            </a:r>
            <a:r>
              <a:rPr lang="zh-CN" altLang="en-US" b="1" dirty="0">
                <a:solidFill>
                  <a:schemeClr val="hlink"/>
                </a:solidFill>
                <a:effectLst/>
                <a:cs typeface="楷体_GB2312" pitchFamily="49" charset="-122"/>
              </a:rPr>
              <a:t>码字</a:t>
            </a:r>
            <a:r>
              <a:rPr lang="zh-CN" altLang="en-US" b="1" dirty="0">
                <a:effectLst/>
                <a:cs typeface="楷体_GB2312" pitchFamily="49" charset="-122"/>
              </a:rPr>
              <a:t>。例如，可用</a:t>
            </a:r>
            <a:r>
              <a:rPr lang="en-US" altLang="zh-CN" b="1" dirty="0">
                <a:effectLst/>
                <a:cs typeface="楷体_GB2312" pitchFamily="49" charset="-122"/>
              </a:rPr>
              <a:t>00</a:t>
            </a:r>
            <a:r>
              <a:rPr lang="zh-CN" altLang="en-US" b="1" dirty="0">
                <a:effectLst/>
                <a:cs typeface="楷体_GB2312" pitchFamily="49" charset="-122"/>
              </a:rPr>
              <a:t>、</a:t>
            </a:r>
            <a:r>
              <a:rPr lang="en-US" altLang="zh-CN" b="1" dirty="0">
                <a:effectLst/>
                <a:cs typeface="楷体_GB2312" pitchFamily="49" charset="-122"/>
              </a:rPr>
              <a:t>01</a:t>
            </a:r>
            <a:r>
              <a:rPr lang="zh-CN" altLang="en-US" b="1" dirty="0">
                <a:effectLst/>
                <a:cs typeface="楷体_GB2312" pitchFamily="49" charset="-122"/>
              </a:rPr>
              <a:t>、</a:t>
            </a:r>
            <a:r>
              <a:rPr lang="en-US" altLang="zh-CN" b="1" dirty="0">
                <a:effectLst/>
                <a:cs typeface="楷体_GB2312" pitchFamily="49" charset="-122"/>
              </a:rPr>
              <a:t>10</a:t>
            </a:r>
            <a:r>
              <a:rPr lang="zh-CN" altLang="en-US" b="1" dirty="0">
                <a:effectLst/>
                <a:cs typeface="楷体_GB2312" pitchFamily="49" charset="-122"/>
              </a:rPr>
              <a:t>、</a:t>
            </a:r>
            <a:r>
              <a:rPr lang="en-US" altLang="zh-CN" b="1" dirty="0">
                <a:effectLst/>
                <a:cs typeface="楷体_GB2312" pitchFamily="49" charset="-122"/>
              </a:rPr>
              <a:t>11</a:t>
            </a:r>
            <a:r>
              <a:rPr lang="zh-CN" altLang="en-US" b="1" dirty="0">
                <a:effectLst/>
                <a:cs typeface="楷体_GB2312" pitchFamily="49" charset="-122"/>
              </a:rPr>
              <a:t>分别表示字母</a:t>
            </a:r>
            <a:r>
              <a:rPr lang="en-US" altLang="zh-CN" b="1" dirty="0">
                <a:effectLst/>
                <a:cs typeface="楷体_GB2312" pitchFamily="49" charset="-122"/>
              </a:rPr>
              <a:t>A</a:t>
            </a:r>
            <a:r>
              <a:rPr lang="zh-CN" altLang="en-US" b="1" dirty="0">
                <a:effectLst/>
                <a:cs typeface="楷体_GB2312" pitchFamily="49" charset="-122"/>
              </a:rPr>
              <a:t>、</a:t>
            </a:r>
            <a:r>
              <a:rPr lang="en-US" altLang="zh-CN" b="1" dirty="0">
                <a:effectLst/>
                <a:cs typeface="楷体_GB2312" pitchFamily="49" charset="-122"/>
              </a:rPr>
              <a:t>B</a:t>
            </a:r>
            <a:r>
              <a:rPr lang="zh-CN" altLang="en-US" b="1" dirty="0">
                <a:effectLst/>
                <a:cs typeface="楷体_GB2312" pitchFamily="49" charset="-122"/>
              </a:rPr>
              <a:t>、</a:t>
            </a:r>
            <a:r>
              <a:rPr lang="en-US" altLang="zh-CN" b="1" dirty="0">
                <a:effectLst/>
                <a:cs typeface="楷体_GB2312" pitchFamily="49" charset="-122"/>
              </a:rPr>
              <a:t>C</a:t>
            </a:r>
            <a:r>
              <a:rPr lang="zh-CN" altLang="en-US" b="1" dirty="0">
                <a:effectLst/>
                <a:cs typeface="楷体_GB2312" pitchFamily="49" charset="-122"/>
              </a:rPr>
              <a:t>、</a:t>
            </a:r>
            <a:r>
              <a:rPr lang="en-US" altLang="zh-CN" b="1" dirty="0">
                <a:effectLst/>
                <a:cs typeface="楷体_GB2312" pitchFamily="49" charset="-122"/>
              </a:rPr>
              <a:t>D</a:t>
            </a:r>
            <a:r>
              <a:rPr lang="zh-CN" altLang="en-US" b="1" dirty="0">
                <a:effectLst/>
                <a:cs typeface="楷体_GB2312" pitchFamily="49" charset="-122"/>
              </a:rPr>
              <a:t>，则传输</a:t>
            </a:r>
            <a:r>
              <a:rPr lang="en-US" altLang="zh-CN" b="1" dirty="0">
                <a:effectLst/>
                <a:cs typeface="楷体_GB2312" pitchFamily="49" charset="-122"/>
              </a:rPr>
              <a:t>100</a:t>
            </a:r>
            <a:r>
              <a:rPr lang="zh-CN" altLang="en-US" b="1" dirty="0">
                <a:effectLst/>
                <a:cs typeface="楷体_GB2312" pitchFamily="49" charset="-122"/>
              </a:rPr>
              <a:t>个字母用</a:t>
            </a:r>
            <a:r>
              <a:rPr lang="en-US" altLang="zh-CN" b="1" dirty="0">
                <a:solidFill>
                  <a:srgbClr val="FF0000"/>
                </a:solidFill>
                <a:effectLst/>
                <a:cs typeface="楷体_GB2312" pitchFamily="49" charset="-122"/>
              </a:rPr>
              <a:t>200</a:t>
            </a:r>
            <a:r>
              <a:rPr lang="zh-CN" altLang="en-US" b="1" dirty="0">
                <a:effectLst/>
                <a:cs typeface="楷体_GB2312" pitchFamily="49" charset="-122"/>
              </a:rPr>
              <a:t>个二进制位。</a:t>
            </a:r>
          </a:p>
          <a:p>
            <a:pPr marL="0" indent="0" eaLnBrk="1" hangingPunct="1">
              <a:lnSpc>
                <a:spcPct val="140000"/>
              </a:lnSpc>
              <a:spcBef>
                <a:spcPct val="0"/>
              </a:spcBef>
              <a:buFontTx/>
              <a:buNone/>
              <a:defRPr/>
            </a:pPr>
            <a:r>
              <a:rPr lang="zh-CN" altLang="en-US" b="1" dirty="0">
                <a:effectLst/>
                <a:cs typeface="楷体_GB2312" pitchFamily="49" charset="-122"/>
              </a:rPr>
              <a:t>       但如果</a:t>
            </a:r>
            <a:r>
              <a:rPr lang="en-US" altLang="zh-CN" b="1" dirty="0">
                <a:effectLst/>
                <a:cs typeface="楷体_GB2312" pitchFamily="49" charset="-122"/>
              </a:rPr>
              <a:t>A</a:t>
            </a:r>
            <a:r>
              <a:rPr lang="zh-CN" altLang="en-US" b="1" dirty="0">
                <a:effectLst/>
                <a:cs typeface="楷体_GB2312" pitchFamily="49" charset="-122"/>
              </a:rPr>
              <a:t>出现的频率为</a:t>
            </a:r>
            <a:r>
              <a:rPr lang="en-US" altLang="zh-CN" b="1" dirty="0">
                <a:effectLst/>
                <a:cs typeface="楷体_GB2312" pitchFamily="49" charset="-122"/>
              </a:rPr>
              <a:t>60</a:t>
            </a:r>
            <a:r>
              <a:rPr lang="zh-CN" altLang="en-US" b="1" dirty="0">
                <a:effectLst/>
                <a:cs typeface="楷体_GB2312" pitchFamily="49" charset="-122"/>
              </a:rPr>
              <a:t>％，</a:t>
            </a:r>
            <a:r>
              <a:rPr lang="en-US" altLang="zh-CN" b="1" dirty="0">
                <a:effectLst/>
                <a:cs typeface="楷体_GB2312" pitchFamily="49" charset="-122"/>
              </a:rPr>
              <a:t>B</a:t>
            </a:r>
            <a:r>
              <a:rPr lang="zh-CN" altLang="en-US" b="1" dirty="0">
                <a:effectLst/>
                <a:cs typeface="楷体_GB2312" pitchFamily="49" charset="-122"/>
              </a:rPr>
              <a:t>出现的频率为</a:t>
            </a:r>
            <a:r>
              <a:rPr lang="en-US" altLang="zh-CN" b="1" dirty="0">
                <a:effectLst/>
                <a:cs typeface="楷体_GB2312" pitchFamily="49" charset="-122"/>
              </a:rPr>
              <a:t>25</a:t>
            </a:r>
            <a:r>
              <a:rPr lang="zh-CN" altLang="en-US" b="1" dirty="0">
                <a:effectLst/>
                <a:cs typeface="楷体_GB2312" pitchFamily="49" charset="-122"/>
              </a:rPr>
              <a:t>％，</a:t>
            </a:r>
            <a:r>
              <a:rPr lang="en-US" altLang="zh-CN" b="1" dirty="0">
                <a:effectLst/>
                <a:cs typeface="楷体_GB2312" pitchFamily="49" charset="-122"/>
              </a:rPr>
              <a:t>C</a:t>
            </a:r>
            <a:r>
              <a:rPr lang="zh-CN" altLang="en-US" b="1" dirty="0">
                <a:effectLst/>
                <a:cs typeface="楷体_GB2312" pitchFamily="49" charset="-122"/>
              </a:rPr>
              <a:t>出现的频率为</a:t>
            </a:r>
            <a:r>
              <a:rPr lang="en-US" altLang="zh-CN" b="1" dirty="0">
                <a:effectLst/>
                <a:cs typeface="楷体_GB2312" pitchFamily="49" charset="-122"/>
              </a:rPr>
              <a:t>10</a:t>
            </a:r>
            <a:r>
              <a:rPr lang="zh-CN" altLang="en-US" b="1" dirty="0">
                <a:effectLst/>
                <a:cs typeface="楷体_GB2312" pitchFamily="49" charset="-122"/>
              </a:rPr>
              <a:t>％，</a:t>
            </a:r>
            <a:r>
              <a:rPr lang="en-US" altLang="zh-CN" b="1" dirty="0">
                <a:effectLst/>
                <a:cs typeface="楷体_GB2312" pitchFamily="49" charset="-122"/>
              </a:rPr>
              <a:t>D</a:t>
            </a:r>
            <a:r>
              <a:rPr lang="zh-CN" altLang="en-US" b="1" dirty="0">
                <a:effectLst/>
                <a:cs typeface="楷体_GB2312" pitchFamily="49" charset="-122"/>
              </a:rPr>
              <a:t>出现的频率为</a:t>
            </a:r>
            <a:r>
              <a:rPr lang="en-US" altLang="zh-CN" b="1" dirty="0">
                <a:effectLst/>
                <a:cs typeface="楷体_GB2312" pitchFamily="49" charset="-122"/>
              </a:rPr>
              <a:t>5</a:t>
            </a:r>
            <a:r>
              <a:rPr lang="zh-CN" altLang="en-US" b="1" dirty="0">
                <a:effectLst/>
                <a:cs typeface="楷体_GB2312" pitchFamily="49" charset="-122"/>
              </a:rPr>
              <a:t>％。</a:t>
            </a:r>
          </a:p>
          <a:p>
            <a:pPr marL="0" indent="0" eaLnBrk="1" hangingPunct="1">
              <a:lnSpc>
                <a:spcPct val="140000"/>
              </a:lnSpc>
              <a:spcBef>
                <a:spcPct val="0"/>
              </a:spcBef>
              <a:buFontTx/>
              <a:buNone/>
              <a:defRPr/>
            </a:pPr>
            <a:r>
              <a:rPr lang="zh-CN" altLang="en-US" b="1" dirty="0">
                <a:effectLst/>
                <a:cs typeface="楷体_GB2312" pitchFamily="49" charset="-122"/>
              </a:rPr>
              <a:t>       </a:t>
            </a:r>
            <a:r>
              <a:rPr lang="zh-CN" altLang="en-US" b="1" dirty="0">
                <a:solidFill>
                  <a:srgbClr val="0000FF"/>
                </a:solidFill>
                <a:effectLst/>
                <a:cs typeface="楷体_GB2312" pitchFamily="49" charset="-122"/>
              </a:rPr>
              <a:t>用</a:t>
            </a:r>
            <a:r>
              <a:rPr lang="en-US" altLang="zh-CN" b="1" dirty="0">
                <a:solidFill>
                  <a:srgbClr val="0000FF"/>
                </a:solidFill>
                <a:effectLst/>
                <a:cs typeface="楷体_GB2312" pitchFamily="49" charset="-122"/>
              </a:rPr>
              <a:t>000</a:t>
            </a:r>
            <a:r>
              <a:rPr lang="zh-CN" altLang="en-US" b="1" dirty="0">
                <a:solidFill>
                  <a:srgbClr val="0000FF"/>
                </a:solidFill>
                <a:effectLst/>
                <a:cs typeface="楷体_GB2312" pitchFamily="49" charset="-122"/>
              </a:rPr>
              <a:t>表示字母</a:t>
            </a:r>
            <a:r>
              <a:rPr lang="en-US" altLang="zh-CN" b="1" dirty="0">
                <a:solidFill>
                  <a:srgbClr val="0000FF"/>
                </a:solidFill>
                <a:effectLst/>
                <a:cs typeface="楷体_GB2312" pitchFamily="49" charset="-122"/>
              </a:rPr>
              <a:t>D</a:t>
            </a:r>
            <a:r>
              <a:rPr lang="zh-CN" altLang="en-US" b="1" dirty="0">
                <a:solidFill>
                  <a:srgbClr val="0000FF"/>
                </a:solidFill>
                <a:effectLst/>
                <a:cs typeface="楷体_GB2312" pitchFamily="49" charset="-122"/>
              </a:rPr>
              <a:t>，用</a:t>
            </a:r>
            <a:r>
              <a:rPr lang="en-US" altLang="zh-CN" b="1" dirty="0">
                <a:solidFill>
                  <a:srgbClr val="0000FF"/>
                </a:solidFill>
                <a:effectLst/>
                <a:cs typeface="楷体_GB2312" pitchFamily="49" charset="-122"/>
              </a:rPr>
              <a:t>001</a:t>
            </a:r>
            <a:r>
              <a:rPr lang="zh-CN" altLang="en-US" b="1" dirty="0">
                <a:solidFill>
                  <a:srgbClr val="0000FF"/>
                </a:solidFill>
                <a:effectLst/>
                <a:cs typeface="楷体_GB2312" pitchFamily="49" charset="-122"/>
              </a:rPr>
              <a:t>表示字母</a:t>
            </a:r>
            <a:r>
              <a:rPr lang="en-US" altLang="zh-CN" b="1" dirty="0">
                <a:solidFill>
                  <a:srgbClr val="0000FF"/>
                </a:solidFill>
                <a:effectLst/>
                <a:cs typeface="楷体_GB2312" pitchFamily="49" charset="-122"/>
              </a:rPr>
              <a:t>C</a:t>
            </a:r>
            <a:r>
              <a:rPr lang="zh-CN" altLang="en-US" b="1" dirty="0">
                <a:solidFill>
                  <a:srgbClr val="0000FF"/>
                </a:solidFill>
                <a:effectLst/>
                <a:cs typeface="楷体_GB2312" pitchFamily="49" charset="-122"/>
              </a:rPr>
              <a:t>，</a:t>
            </a:r>
            <a:r>
              <a:rPr lang="en-US" altLang="zh-CN" b="1" dirty="0">
                <a:solidFill>
                  <a:srgbClr val="0000FF"/>
                </a:solidFill>
                <a:effectLst/>
                <a:cs typeface="楷体_GB2312" pitchFamily="49" charset="-122"/>
              </a:rPr>
              <a:t>01</a:t>
            </a:r>
            <a:r>
              <a:rPr lang="zh-CN" altLang="en-US" b="1" dirty="0">
                <a:solidFill>
                  <a:srgbClr val="0000FF"/>
                </a:solidFill>
                <a:effectLst/>
                <a:cs typeface="楷体_GB2312" pitchFamily="49" charset="-122"/>
              </a:rPr>
              <a:t>表示</a:t>
            </a:r>
            <a:r>
              <a:rPr lang="en-US" altLang="zh-CN" b="1" dirty="0">
                <a:solidFill>
                  <a:srgbClr val="0000FF"/>
                </a:solidFill>
                <a:effectLst/>
                <a:cs typeface="楷体_GB2312" pitchFamily="49" charset="-122"/>
              </a:rPr>
              <a:t>B</a:t>
            </a:r>
            <a:r>
              <a:rPr lang="zh-CN" altLang="en-US" b="1" dirty="0">
                <a:solidFill>
                  <a:srgbClr val="0000FF"/>
                </a:solidFill>
                <a:effectLst/>
                <a:cs typeface="楷体_GB2312" pitchFamily="49" charset="-122"/>
              </a:rPr>
              <a:t>，</a:t>
            </a:r>
            <a:r>
              <a:rPr lang="en-US" altLang="zh-CN" b="1" dirty="0">
                <a:solidFill>
                  <a:srgbClr val="0000FF"/>
                </a:solidFill>
                <a:effectLst/>
                <a:cs typeface="楷体_GB2312" pitchFamily="49" charset="-122"/>
              </a:rPr>
              <a:t>1</a:t>
            </a:r>
            <a:r>
              <a:rPr lang="zh-CN" altLang="en-US" b="1" dirty="0">
                <a:solidFill>
                  <a:srgbClr val="0000FF"/>
                </a:solidFill>
                <a:effectLst/>
                <a:cs typeface="楷体_GB2312" pitchFamily="49" charset="-122"/>
              </a:rPr>
              <a:t>表示</a:t>
            </a:r>
            <a:r>
              <a:rPr lang="en-US" altLang="zh-CN" b="1" dirty="0">
                <a:solidFill>
                  <a:srgbClr val="0000FF"/>
                </a:solidFill>
                <a:effectLst/>
                <a:cs typeface="楷体_GB2312" pitchFamily="49" charset="-122"/>
              </a:rPr>
              <a:t>A</a:t>
            </a:r>
            <a:r>
              <a:rPr lang="zh-CN" altLang="en-US" b="1" dirty="0">
                <a:effectLst/>
                <a:cs typeface="楷体_GB2312" pitchFamily="49" charset="-122"/>
              </a:rPr>
              <a:t>，则传输</a:t>
            </a:r>
            <a:r>
              <a:rPr lang="en-US" altLang="zh-CN" b="1" dirty="0">
                <a:effectLst/>
                <a:cs typeface="楷体_GB2312" pitchFamily="49" charset="-122"/>
              </a:rPr>
              <a:t>100</a:t>
            </a:r>
            <a:r>
              <a:rPr lang="zh-CN" altLang="en-US" b="1" dirty="0">
                <a:effectLst/>
                <a:cs typeface="楷体_GB2312" pitchFamily="49" charset="-122"/>
              </a:rPr>
              <a:t>个字母所用的二进制位为：</a:t>
            </a:r>
          </a:p>
          <a:p>
            <a:pPr marL="0" indent="0" algn="ctr" eaLnBrk="1" hangingPunct="1">
              <a:lnSpc>
                <a:spcPct val="14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b="1" dirty="0">
                <a:effectLst/>
                <a:cs typeface="楷体_GB2312" pitchFamily="49" charset="-122"/>
              </a:rPr>
              <a:t>3×5+3×10+2×25+1×60 = </a:t>
            </a:r>
            <a:r>
              <a:rPr lang="en-US" altLang="zh-CN" b="1" dirty="0">
                <a:solidFill>
                  <a:srgbClr val="FF0000"/>
                </a:solidFill>
                <a:effectLst/>
                <a:cs typeface="楷体_GB2312" pitchFamily="49" charset="-122"/>
              </a:rPr>
              <a:t>155</a:t>
            </a:r>
            <a:r>
              <a:rPr lang="zh-CN" altLang="en-US" b="1" dirty="0">
                <a:effectLst/>
                <a:cs typeface="楷体_GB2312" pitchFamily="49" charset="-122"/>
              </a:rPr>
              <a:t>。</a:t>
            </a:r>
          </a:p>
        </p:txBody>
      </p:sp>
      <p:sp>
        <p:nvSpPr>
          <p:cNvPr id="121859" name="日期占位符 3">
            <a:extLst>
              <a:ext uri="{FF2B5EF4-FFF2-40B4-BE49-F238E27FC236}">
                <a16:creationId xmlns:a16="http://schemas.microsoft.com/office/drawing/2014/main" id="{9AA04427-B59E-4975-B8DE-BC100325A2D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4B96CEA-F488-4055-BB0E-97F99FD54315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1860" name="Text Box 2">
            <a:extLst>
              <a:ext uri="{FF2B5EF4-FFF2-40B4-BE49-F238E27FC236}">
                <a16:creationId xmlns:a16="http://schemas.microsoft.com/office/drawing/2014/main" id="{EB9A9D80-AC4F-46D9-A6FA-B2505C4ADD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804863"/>
            <a:ext cx="6335712" cy="823912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编码的效率</a:t>
            </a:r>
          </a:p>
        </p:txBody>
      </p:sp>
      <p:pic>
        <p:nvPicPr>
          <p:cNvPr id="121861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BECBC703-6069-41A2-B6AB-BCCDEFAC7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25" y="549275"/>
            <a:ext cx="1095375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日期占位符 3">
            <a:extLst>
              <a:ext uri="{FF2B5EF4-FFF2-40B4-BE49-F238E27FC236}">
                <a16:creationId xmlns:a16="http://schemas.microsoft.com/office/drawing/2014/main" id="{30D39069-1245-4B23-ABEE-46025363993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13CD9AB-A14A-4DFE-A231-0AFB038F7AA9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2883" name="Text Box 2">
            <a:extLst>
              <a:ext uri="{FF2B5EF4-FFF2-40B4-BE49-F238E27FC236}">
                <a16:creationId xmlns:a16="http://schemas.microsoft.com/office/drawing/2014/main" id="{FB1A9829-48E7-429C-B02B-BC542684EA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640" y="728865"/>
            <a:ext cx="6335712" cy="83099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信号的分词问题</a:t>
            </a:r>
          </a:p>
        </p:txBody>
      </p:sp>
      <p:pic>
        <p:nvPicPr>
          <p:cNvPr id="122885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DB8DFD9E-54D1-4D99-8652-81EAC4BB35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25" y="549275"/>
            <a:ext cx="1095375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60DABFB-B7FF-4001-BED9-7AB920D31990}"/>
              </a:ext>
            </a:extLst>
          </p:cNvPr>
          <p:cNvSpPr/>
          <p:nvPr/>
        </p:nvSpPr>
        <p:spPr>
          <a:xfrm>
            <a:off x="611560" y="4941168"/>
            <a:ext cx="8136904" cy="1113766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400" b="1" dirty="0">
                <a:solidFill>
                  <a:schemeClr val="tx1"/>
                </a:solidFill>
              </a:rPr>
              <a:t>因此，</a:t>
            </a:r>
            <a:r>
              <a:rPr lang="zh-CN" altLang="zh-CN" sz="2400" b="1" dirty="0">
                <a:solidFill>
                  <a:schemeClr val="tx1"/>
                </a:solidFill>
                <a:cs typeface="宋体" panose="02010600030101010101" pitchFamily="2" charset="-122"/>
              </a:rPr>
              <a:t>需要一些特定的编码策略以避免出现类似</a:t>
            </a:r>
            <a:r>
              <a:rPr lang="zh-CN" altLang="en-US" sz="2400" b="1" dirty="0">
                <a:solidFill>
                  <a:schemeClr val="tx1"/>
                </a:solidFill>
                <a:cs typeface="宋体" panose="02010600030101010101" pitchFamily="2" charset="-122"/>
              </a:rPr>
              <a:t>的</a:t>
            </a:r>
            <a:r>
              <a:rPr lang="zh-CN" altLang="zh-CN" sz="2400" b="1" dirty="0">
                <a:solidFill>
                  <a:schemeClr val="tx1"/>
                </a:solidFill>
                <a:cs typeface="宋体" panose="02010600030101010101" pitchFamily="2" charset="-122"/>
              </a:rPr>
              <a:t>混淆情况</a:t>
            </a:r>
            <a:r>
              <a:rPr lang="zh-CN" altLang="en-US" sz="2400" b="1" dirty="0">
                <a:solidFill>
                  <a:schemeClr val="tx1"/>
                </a:solidFill>
                <a:cs typeface="宋体" panose="02010600030101010101" pitchFamily="2" charset="-122"/>
              </a:rPr>
              <a:t>，</a:t>
            </a:r>
            <a:r>
              <a:rPr lang="zh-CN" altLang="en-US" sz="2400" b="1" dirty="0">
                <a:solidFill>
                  <a:srgbClr val="0000FF"/>
                </a:solidFill>
                <a:cs typeface="宋体" panose="02010600030101010101" pitchFamily="2" charset="-122"/>
              </a:rPr>
              <a:t>实现对信号的正确分词</a:t>
            </a:r>
            <a:r>
              <a:rPr lang="zh-CN" altLang="en-US" sz="2400" b="1" dirty="0">
                <a:solidFill>
                  <a:schemeClr val="tx1"/>
                </a:solidFill>
                <a:cs typeface="宋体" panose="02010600030101010101" pitchFamily="2" charset="-122"/>
              </a:rPr>
              <a:t>。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9B12C58-8CCF-495D-A6DD-5A57903229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572" y="1772816"/>
            <a:ext cx="7704856" cy="2906051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日期占位符 3">
            <a:extLst>
              <a:ext uri="{FF2B5EF4-FFF2-40B4-BE49-F238E27FC236}">
                <a16:creationId xmlns:a16="http://schemas.microsoft.com/office/drawing/2014/main" id="{97CA4A11-C871-480B-BA0D-07C0AD53C99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684213" y="6400800"/>
            <a:ext cx="1905000" cy="457200"/>
          </a:xfrm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DA47E15-5F1C-48AB-8E1E-8D1985C43284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3907" name="Text Box 2">
            <a:extLst>
              <a:ext uri="{FF2B5EF4-FFF2-40B4-BE49-F238E27FC236}">
                <a16:creationId xmlns:a16="http://schemas.microsoft.com/office/drawing/2014/main" id="{5B0A8843-415F-4D50-820D-40522D9C91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836613"/>
            <a:ext cx="6335712" cy="823912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前缀的概念</a:t>
            </a:r>
          </a:p>
        </p:txBody>
      </p:sp>
      <p:pic>
        <p:nvPicPr>
          <p:cNvPr id="123909" name="Picture 10" descr="QQ截图20150923195241">
            <a:extLst>
              <a:ext uri="{FF2B5EF4-FFF2-40B4-BE49-F238E27FC236}">
                <a16:creationId xmlns:a16="http://schemas.microsoft.com/office/drawing/2014/main" id="{91A77198-5150-4CA8-A16D-F88E9353C6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3857744"/>
            <a:ext cx="6942907" cy="2372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910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8F2640AB-CBC2-4BB6-861B-C490859008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25" y="549275"/>
            <a:ext cx="1095375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8838CF3D-1418-4EB6-9BF0-811C997A0300}"/>
                  </a:ext>
                </a:extLst>
              </p:cNvPr>
              <p:cNvSpPr/>
              <p:nvPr/>
            </p:nvSpPr>
            <p:spPr>
              <a:xfrm>
                <a:off x="323528" y="1913582"/>
                <a:ext cx="8568952" cy="169110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    </a:t>
                </a:r>
                <a:r>
                  <a:rPr lang="zh-CN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【定义】设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zh-CN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𝟐</m:t>
                        </m:r>
                      </m:sub>
                    </m:sSub>
                    <m:r>
                      <a:rPr lang="en-US" altLang="zh-CN" sz="2400" b="1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⋯</m:t>
                    </m:r>
                    <m:sSub>
                      <m:sSubPr>
                        <m:ctrlPr>
                          <a:rPr lang="zh-CN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𝒏</m:t>
                        </m:r>
                        <m:r>
                          <a:rPr lang="zh-CN" altLang="en-US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zh-CN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是长度为</a:t>
                </a:r>
                <a14:m>
                  <m:oMath xmlns:m="http://schemas.openxmlformats.org/officeDocument/2006/math">
                    <m:r>
                      <a:rPr lang="en-US" altLang="zh-CN" sz="2400" b="1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𝒏</m:t>
                    </m:r>
                  </m:oMath>
                </a14:m>
                <a:r>
                  <a:rPr lang="zh-CN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的符号串，</a:t>
                </a:r>
                <a:r>
                  <a:rPr lang="zh-CN" altLang="en-US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分别</a:t>
                </a:r>
                <a:r>
                  <a:rPr lang="zh-CN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称其</a:t>
                </a:r>
                <a:r>
                  <a:rPr lang="zh-CN" altLang="zh-CN" sz="2400" b="1" kern="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子串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𝟏</m:t>
                        </m:r>
                      </m:sub>
                    </m:sSub>
                    <m:r>
                      <a:rPr lang="en-US" altLang="zh-CN" sz="2400" b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,</m:t>
                    </m:r>
                    <m:r>
                      <a:rPr lang="en-US" altLang="zh-CN" sz="2400" b="1" i="0" kern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  </m:t>
                    </m:r>
                    <m:sSub>
                      <m:sSubPr>
                        <m:ctrlPr>
                          <a:rPr lang="zh-CN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zh-CN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𝟐</m:t>
                        </m:r>
                      </m:sub>
                    </m:sSub>
                    <m:r>
                      <a:rPr lang="en-US" altLang="zh-CN" sz="2400" b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,</m:t>
                    </m:r>
                    <m:r>
                      <a:rPr lang="en-US" altLang="zh-CN" sz="2400" b="1" i="1" kern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  </m:t>
                    </m:r>
                    <m:sSub>
                      <m:sSubPr>
                        <m:ctrlPr>
                          <a:rPr lang="zh-CN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zh-CN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zh-CN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𝟑</m:t>
                        </m:r>
                      </m:sub>
                    </m:sSub>
                    <m:r>
                      <a:rPr lang="en-US" altLang="zh-CN" sz="2400" b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, </m:t>
                    </m:r>
                    <m:r>
                      <a:rPr lang="en-US" altLang="zh-CN" sz="2400" b="1" i="1" kern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 </m:t>
                    </m:r>
                    <m:r>
                      <a:rPr lang="en-US" altLang="zh-CN" sz="2400" b="1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⋯,</m:t>
                    </m:r>
                    <m:r>
                      <a:rPr lang="en-US" altLang="zh-CN" sz="2400" b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  </m:t>
                    </m:r>
                    <m:sSub>
                      <m:sSubPr>
                        <m:ctrlPr>
                          <a:rPr lang="zh-CN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zh-CN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𝟐</m:t>
                        </m:r>
                      </m:sub>
                    </m:sSub>
                    <m:r>
                      <a:rPr lang="en-US" altLang="zh-CN" sz="2400" b="1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⋯</m:t>
                    </m:r>
                    <m:sSub>
                      <m:sSubPr>
                        <m:ctrlPr>
                          <a:rPr lang="zh-CN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𝒏</m:t>
                        </m:r>
                        <m:r>
                          <a:rPr lang="zh-CN" altLang="en-US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zh-CN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𝟐</m:t>
                        </m:r>
                      </m:sub>
                    </m:sSub>
                    <m:r>
                      <a:rPr lang="en-US" altLang="zh-CN" sz="2400" b="1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⋯</m:t>
                    </m:r>
                    <m:sSub>
                      <m:sSubPr>
                        <m:ctrlPr>
                          <a:rPr lang="zh-CN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𝒏</m:t>
                        </m:r>
                        <m:r>
                          <a:rPr lang="zh-CN" altLang="en-US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zh-CN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的</a:t>
                </a:r>
                <a:r>
                  <a:rPr lang="zh-CN" altLang="zh-CN" sz="2400" b="1" kern="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长度为</a:t>
                </a:r>
                <a14:m>
                  <m:oMath xmlns:m="http://schemas.openxmlformats.org/officeDocument/2006/math">
                    <m:r>
                      <a:rPr lang="en-US" altLang="zh-CN" sz="2400" b="1" i="1" ker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𝟏</m:t>
                    </m:r>
                    <m:r>
                      <a:rPr lang="zh-CN" altLang="zh-CN" sz="2400" b="1" ker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，</m:t>
                    </m:r>
                    <m:r>
                      <a:rPr lang="en-US" altLang="zh-CN" sz="2400" b="1" i="1" ker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𝟐</m:t>
                    </m:r>
                    <m:r>
                      <a:rPr lang="zh-CN" altLang="zh-CN" sz="2400" b="1" ker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，</m:t>
                    </m:r>
                    <m:r>
                      <a:rPr lang="en-US" altLang="zh-CN" sz="2400" b="1" i="1" ker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⋯</m:t>
                    </m:r>
                    <m:r>
                      <a:rPr lang="zh-CN" altLang="zh-CN" sz="2400" b="1" ker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，</m:t>
                    </m:r>
                    <m:r>
                      <a:rPr lang="en-US" altLang="zh-CN" sz="2400" b="1" i="1" ker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𝒏</m:t>
                    </m:r>
                    <m:r>
                      <a:rPr lang="zh-CN" altLang="en-US" sz="2400" b="1" i="1" ker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m:t>−</m:t>
                    </m:r>
                    <m:r>
                      <a:rPr lang="en-US" altLang="zh-CN" sz="2400" b="1" i="1" ker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𝟏</m:t>
                    </m:r>
                  </m:oMath>
                </a14:m>
                <a:r>
                  <a:rPr lang="zh-CN" altLang="zh-CN" sz="2400" b="1" kern="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的前缀</a:t>
                </a:r>
                <a:r>
                  <a:rPr lang="zh-CN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。</a:t>
                </a:r>
                <a:endParaRPr lang="zh-CN" altLang="zh-CN" sz="24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8838CF3D-1418-4EB6-9BF0-811C997A03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1913582"/>
                <a:ext cx="8568952" cy="1691104"/>
              </a:xfrm>
              <a:prstGeom prst="rect">
                <a:avLst/>
              </a:prstGeom>
              <a:blipFill>
                <a:blip r:embed="rId5"/>
                <a:stretch>
                  <a:fillRect l="-1067" r="-1138" b="-61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wipe dir="r"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日期占位符 3">
            <a:extLst>
              <a:ext uri="{FF2B5EF4-FFF2-40B4-BE49-F238E27FC236}">
                <a16:creationId xmlns:a16="http://schemas.microsoft.com/office/drawing/2014/main" id="{79DE969D-CE46-4492-9907-7D2FB74FBAD4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8FE4488-2BE6-4377-8C90-D97283E0C0AA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4931" name="Text Box 2">
            <a:extLst>
              <a:ext uri="{FF2B5EF4-FFF2-40B4-BE49-F238E27FC236}">
                <a16:creationId xmlns:a16="http://schemas.microsoft.com/office/drawing/2014/main" id="{FF0E6211-048A-4AF3-B625-2D63FAE1C7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640" y="649287"/>
            <a:ext cx="6335713" cy="823912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前缀码的概念</a:t>
            </a:r>
          </a:p>
        </p:txBody>
      </p:sp>
      <p:pic>
        <p:nvPicPr>
          <p:cNvPr id="12493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A23C7630-DBB5-43EF-BDEA-E92818B281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549275"/>
            <a:ext cx="971600" cy="1020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4934" name="Picture 9" descr="QQ截图20150923200021">
            <a:extLst>
              <a:ext uri="{FF2B5EF4-FFF2-40B4-BE49-F238E27FC236}">
                <a16:creationId xmlns:a16="http://schemas.microsoft.com/office/drawing/2014/main" id="{17F93952-13F7-498D-9AA4-2DDD934D3F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4167315"/>
            <a:ext cx="7377516" cy="202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C337FCAB-6D56-439C-BC62-5CE7BCEFBD59}"/>
                  </a:ext>
                </a:extLst>
              </p:cNvPr>
              <p:cNvSpPr/>
              <p:nvPr/>
            </p:nvSpPr>
            <p:spPr>
              <a:xfrm>
                <a:off x="323528" y="1675855"/>
                <a:ext cx="8496944" cy="2360518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indent="266700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en-US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   </a:t>
                </a:r>
                <a:r>
                  <a:rPr lang="zh-CN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【定义】设</a:t>
                </a:r>
                <a14:m>
                  <m:oMath xmlns:m="http://schemas.openxmlformats.org/officeDocument/2006/math">
                    <m:r>
                      <a:rPr lang="en-US" altLang="zh-CN" sz="2400" b="1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𝑨</m:t>
                    </m:r>
                    <m:r>
                      <a:rPr lang="en-US" altLang="zh-CN" sz="2400" b="1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={</m:t>
                    </m:r>
                    <m:sSub>
                      <m:sSubPr>
                        <m:ctrlPr>
                          <a:rPr lang="zh-CN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𝒃</m:t>
                        </m:r>
                      </m:e>
                      <m:sub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𝟏</m:t>
                        </m:r>
                      </m:sub>
                    </m:sSub>
                    <m:r>
                      <a:rPr lang="en-US" altLang="zh-CN" sz="2400" b="1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,</m:t>
                    </m:r>
                    <m:sSub>
                      <m:sSubPr>
                        <m:ctrlPr>
                          <a:rPr lang="zh-CN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𝒃</m:t>
                        </m:r>
                      </m:e>
                      <m:sub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𝟐</m:t>
                        </m:r>
                      </m:sub>
                    </m:sSub>
                    <m:r>
                      <a:rPr lang="en-US" altLang="zh-CN" sz="2400" b="1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,⋯,</m:t>
                    </m:r>
                    <m:sSub>
                      <m:sSubPr>
                        <m:ctrlPr>
                          <a:rPr lang="zh-CN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𝒃</m:t>
                        </m:r>
                      </m:e>
                      <m:sub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𝒎</m:t>
                        </m:r>
                      </m:sub>
                    </m:sSub>
                    <m:r>
                      <a:rPr lang="en-US" altLang="zh-CN" sz="2400" b="1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}</m:t>
                    </m:r>
                  </m:oMath>
                </a14:m>
                <a:r>
                  <a:rPr lang="zh-CN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是一个</a:t>
                </a:r>
                <a:r>
                  <a:rPr lang="zh-CN" altLang="zh-CN" sz="2400" b="1" kern="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符号串集合</a:t>
                </a:r>
                <a:r>
                  <a:rPr lang="zh-CN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，若对任意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𝒃</m:t>
                        </m:r>
                      </m:e>
                      <m:sub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𝒊</m:t>
                        </m:r>
                      </m:sub>
                    </m:sSub>
                    <m:r>
                      <a:rPr lang="zh-CN" altLang="zh-CN" sz="2400" b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，</m:t>
                    </m:r>
                    <m:sSub>
                      <m:sSubPr>
                        <m:ctrlPr>
                          <a:rPr lang="zh-CN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𝒃</m:t>
                        </m:r>
                      </m:e>
                      <m:sub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𝒋</m:t>
                        </m:r>
                      </m:sub>
                    </m:sSub>
                    <m:r>
                      <a:rPr lang="en-US" altLang="zh-CN" sz="2400" b="1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∈</m:t>
                    </m:r>
                    <m:r>
                      <a:rPr lang="en-US" altLang="zh-CN" sz="2400" b="1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𝑨</m:t>
                    </m:r>
                    <m:r>
                      <a:rPr lang="zh-CN" altLang="zh-CN" sz="2400" b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，</m:t>
                    </m:r>
                    <m:r>
                      <m:rPr>
                        <m:nor/>
                      </m:rPr>
                      <a:rPr lang="zh-CN" altLang="en-US" sz="2400" b="1" kern="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满足</m:t>
                    </m:r>
                    <m:sSub>
                      <m:sSubPr>
                        <m:ctrlPr>
                          <a:rPr lang="zh-CN" altLang="zh-CN" sz="2400" b="1" i="1" kern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ker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𝒃</m:t>
                        </m:r>
                      </m:e>
                      <m:sub>
                        <m:r>
                          <a:rPr lang="en-US" altLang="zh-CN" sz="2400" b="1" i="1" ker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𝒊</m:t>
                        </m:r>
                      </m:sub>
                    </m:sSub>
                    <m:r>
                      <a:rPr lang="en-US" altLang="zh-CN" sz="2400" b="1" i="1" ker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≠</m:t>
                    </m:r>
                    <m:sSub>
                      <m:sSubPr>
                        <m:ctrlPr>
                          <a:rPr lang="zh-CN" altLang="zh-CN" sz="2400" b="1" i="1" ker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ker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𝒃</m:t>
                        </m:r>
                      </m:e>
                      <m:sub>
                        <m:r>
                          <a:rPr lang="en-US" altLang="zh-CN" sz="2400" b="1" i="1" ker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zh-CN" altLang="zh-CN" sz="2400" b="1" kern="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ker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𝒃</m:t>
                        </m:r>
                      </m:e>
                      <m:sub>
                        <m:r>
                          <a:rPr lang="en-US" altLang="zh-CN" sz="2400" b="1" i="1" ker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zh-CN" sz="2400" b="1" kern="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不是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ker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𝒃</m:t>
                        </m:r>
                      </m:e>
                      <m:sub>
                        <m:r>
                          <a:rPr lang="en-US" altLang="zh-CN" sz="2400" b="1" i="1" ker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zh-CN" altLang="zh-CN" sz="2400" b="1" kern="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的前缀</a:t>
                </a:r>
                <a:r>
                  <a:rPr lang="zh-CN" altLang="en-US" sz="2400" b="1" kern="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ker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𝒃</m:t>
                        </m:r>
                      </m:e>
                      <m:sub>
                        <m:r>
                          <a:rPr lang="en-US" altLang="zh-CN" sz="2400" b="1" i="1" ker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zh-CN" altLang="zh-CN" sz="2400" b="1" kern="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也不是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ker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𝒃</m:t>
                        </m:r>
                      </m:e>
                      <m:sub>
                        <m:r>
                          <a:rPr lang="en-US" altLang="zh-CN" sz="2400" b="1" i="1" ker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zh-CN" sz="2400" b="1" kern="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的前缀</a:t>
                </a:r>
                <a:r>
                  <a:rPr lang="zh-CN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，则称</a:t>
                </a:r>
                <a14:m>
                  <m:oMath xmlns:m="http://schemas.openxmlformats.org/officeDocument/2006/math">
                    <m:r>
                      <a:rPr lang="en-US" altLang="zh-CN" sz="2400" b="1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𝑨</m:t>
                    </m:r>
                  </m:oMath>
                </a14:m>
                <a:r>
                  <a:rPr lang="zh-CN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为</a:t>
                </a:r>
                <a:r>
                  <a:rPr lang="zh-CN" altLang="zh-CN" sz="2400" b="1" kern="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前缀码</a:t>
                </a:r>
                <a:r>
                  <a:rPr lang="zh-CN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。</a:t>
                </a:r>
                <a:r>
                  <a:rPr lang="zh-CN" altLang="en-US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此时，</a:t>
                </a:r>
                <a:r>
                  <a:rPr lang="zh-CN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若符号串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𝒃</m:t>
                        </m:r>
                      </m:e>
                      <m:sub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𝒊</m:t>
                        </m:r>
                      </m:sub>
                    </m:sSub>
                    <m:d>
                      <m:dPr>
                        <m:begChr m:val="（"/>
                        <m:endChr m:val="）"/>
                        <m:ctrlPr>
                          <a:rPr lang="zh-CN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𝒊</m:t>
                        </m:r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=</m:t>
                        </m:r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𝟏</m:t>
                        </m:r>
                        <m:r>
                          <a:rPr lang="en-US" altLang="zh-CN" sz="2400" b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,</m:t>
                        </m:r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𝟐</m:t>
                        </m:r>
                        <m:r>
                          <a:rPr lang="en-US" altLang="zh-CN" sz="2400" b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,⋯</m:t>
                        </m:r>
                        <m:r>
                          <a:rPr lang="zh-CN" altLang="zh-CN" sz="2400" b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，</m:t>
                        </m:r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𝒎</m:t>
                        </m:r>
                      </m:e>
                    </m:d>
                  </m:oMath>
                </a14:m>
                <a:r>
                  <a:rPr lang="zh-CN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，只</a:t>
                </a:r>
                <a:r>
                  <a:rPr lang="zh-CN" altLang="en-US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有</a:t>
                </a:r>
                <a:r>
                  <a:rPr lang="en-US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0</a:t>
                </a:r>
                <a:r>
                  <a:rPr lang="zh-CN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和</a:t>
                </a:r>
                <a:r>
                  <a:rPr lang="en-US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1</a:t>
                </a:r>
                <a:r>
                  <a:rPr lang="zh-CN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两个符号，则称</a:t>
                </a:r>
                <a14:m>
                  <m:oMath xmlns:m="http://schemas.openxmlformats.org/officeDocument/2006/math">
                    <m:r>
                      <a:rPr lang="en-US" altLang="zh-CN" sz="2400" b="1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𝑨</m:t>
                    </m:r>
                  </m:oMath>
                </a14:m>
                <a:r>
                  <a:rPr lang="zh-CN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为</a:t>
                </a:r>
                <a:r>
                  <a:rPr lang="zh-CN" altLang="zh-CN" sz="2400" b="1" kern="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二元前缀码</a:t>
                </a:r>
                <a:r>
                  <a:rPr lang="en-US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,  </a:t>
                </a:r>
                <a:r>
                  <a:rPr lang="zh-CN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在不引起混淆</a:t>
                </a:r>
                <a:r>
                  <a:rPr lang="zh-CN" altLang="en-US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的</a:t>
                </a:r>
                <a:r>
                  <a:rPr lang="zh-CN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时</a:t>
                </a:r>
                <a:r>
                  <a:rPr lang="zh-CN" altLang="en-US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候亦</a:t>
                </a:r>
                <a:r>
                  <a:rPr lang="zh-CN" altLang="zh-CN" sz="2400" b="1" kern="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简称为前缀码</a:t>
                </a:r>
                <a:r>
                  <a:rPr lang="zh-CN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。</a:t>
                </a:r>
                <a:endParaRPr lang="zh-CN" altLang="zh-CN" sz="24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C337FCAB-6D56-439C-BC62-5CE7BCEFBD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1675855"/>
                <a:ext cx="8496944" cy="2360518"/>
              </a:xfrm>
              <a:prstGeom prst="rect">
                <a:avLst/>
              </a:prstGeom>
              <a:blipFill>
                <a:blip r:embed="rId5"/>
                <a:stretch>
                  <a:fillRect l="-1076" t="-1034" r="-574" b="-38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wipe dir="r"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日期占位符 3">
            <a:extLst>
              <a:ext uri="{FF2B5EF4-FFF2-40B4-BE49-F238E27FC236}">
                <a16:creationId xmlns:a16="http://schemas.microsoft.com/office/drawing/2014/main" id="{E243FF21-D00B-478E-BD83-41C21B04B55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1ACE3B3-09FC-497A-A454-FF2FCCB41B1F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5955" name="Text Box 2">
            <a:extLst>
              <a:ext uri="{FF2B5EF4-FFF2-40B4-BE49-F238E27FC236}">
                <a16:creationId xmlns:a16="http://schemas.microsoft.com/office/drawing/2014/main" id="{A2809F6F-70B3-4633-A7D3-D438B6B0AF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795338"/>
            <a:ext cx="6337300" cy="7620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用二元树构造前缀码</a:t>
            </a:r>
          </a:p>
        </p:txBody>
      </p:sp>
      <p:pic>
        <p:nvPicPr>
          <p:cNvPr id="125956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02F22B41-8681-45CA-AF72-84A54FDBBF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25" y="549275"/>
            <a:ext cx="1095375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4D2DBBB4-9DD6-44C2-BBAB-6AE1A1170283}"/>
                  </a:ext>
                </a:extLst>
              </p:cNvPr>
              <p:cNvSpPr/>
              <p:nvPr/>
            </p:nvSpPr>
            <p:spPr>
              <a:xfrm>
                <a:off x="539552" y="2132856"/>
                <a:ext cx="8280920" cy="3745513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en-US" altLang="zh-CN" sz="2400" b="1" kern="0" dirty="0"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     </a:t>
                </a:r>
                <a:r>
                  <a:rPr lang="zh-CN" altLang="en-US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对于任意</a:t>
                </a:r>
                <a:r>
                  <a:rPr lang="zh-CN" altLang="zh-CN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给定一棵</a:t>
                </a:r>
                <a:r>
                  <a:rPr lang="zh-CN" altLang="en-US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具</a:t>
                </a:r>
                <a:r>
                  <a:rPr lang="zh-CN" altLang="zh-CN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sz="2400" b="1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𝒕</m:t>
                    </m:r>
                  </m:oMath>
                </a14:m>
                <a:r>
                  <a:rPr lang="zh-CN" altLang="zh-CN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片叶二元树</a:t>
                </a:r>
                <a14:m>
                  <m:oMath xmlns:m="http://schemas.openxmlformats.org/officeDocument/2006/math">
                    <m:r>
                      <a:rPr lang="en-US" altLang="zh-CN" sz="2400" b="1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𝑻</m:t>
                    </m:r>
                  </m:oMath>
                </a14:m>
                <a:r>
                  <a:rPr lang="zh-CN" altLang="zh-CN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。设</a:t>
                </a:r>
                <a14:m>
                  <m:oMath xmlns:m="http://schemas.openxmlformats.org/officeDocument/2006/math">
                    <m:r>
                      <a:rPr lang="en-US" altLang="zh-CN" sz="2400" b="1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𝒗</m:t>
                    </m:r>
                  </m:oMath>
                </a14:m>
                <a:r>
                  <a:rPr lang="zh-CN" altLang="zh-CN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b="1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𝑻</m:t>
                    </m:r>
                  </m:oMath>
                </a14:m>
                <a:r>
                  <a:rPr lang="zh-CN" altLang="zh-CN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的任一分支点，则</a:t>
                </a:r>
                <a14:m>
                  <m:oMath xmlns:m="http://schemas.openxmlformats.org/officeDocument/2006/math">
                    <m:r>
                      <a:rPr lang="en-US" altLang="zh-CN" sz="2400" b="1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𝒗</m:t>
                    </m:r>
                  </m:oMath>
                </a14:m>
                <a:r>
                  <a:rPr lang="zh-CN" altLang="zh-CN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至少一个儿子至多两个儿子。</a:t>
                </a:r>
                <a:endParaRPr lang="en-US" altLang="zh-CN" sz="2400" b="1" kern="0" dirty="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indent="266700" algn="just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en-US" altLang="zh-CN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     </a:t>
                </a:r>
                <a:r>
                  <a:rPr lang="zh-CN" altLang="zh-CN" sz="2400" b="1" kern="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400" b="1" i="1" ker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𝒗</m:t>
                    </m:r>
                  </m:oMath>
                </a14:m>
                <a:r>
                  <a:rPr lang="zh-CN" altLang="zh-CN" sz="2400" b="1" kern="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有两个儿子，则在由</a:t>
                </a:r>
                <a14:m>
                  <m:oMath xmlns:m="http://schemas.openxmlformats.org/officeDocument/2006/math">
                    <m:r>
                      <a:rPr lang="en-US" altLang="zh-CN" sz="2400" b="1" i="1" ker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𝒗</m:t>
                    </m:r>
                  </m:oMath>
                </a14:m>
                <a:r>
                  <a:rPr lang="zh-CN" altLang="zh-CN" sz="2400" b="1" kern="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引出的两条边上，左边的</a:t>
                </a:r>
                <a:r>
                  <a:rPr lang="zh-CN" altLang="en-US" sz="2400" b="1" kern="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结点</a:t>
                </a:r>
                <a:r>
                  <a:rPr lang="zh-CN" altLang="zh-CN" sz="2400" b="1" kern="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标</a:t>
                </a:r>
                <a:r>
                  <a:rPr lang="en-US" altLang="zh-CN" sz="2400" b="1" kern="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0</a:t>
                </a:r>
                <a:r>
                  <a:rPr lang="zh-CN" altLang="zh-CN" sz="2400" b="1" kern="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，右边的</a:t>
                </a:r>
                <a:r>
                  <a:rPr lang="zh-CN" altLang="en-US" sz="2400" b="1" kern="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结点</a:t>
                </a:r>
                <a:r>
                  <a:rPr lang="zh-CN" altLang="zh-CN" sz="2400" b="1" kern="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标</a:t>
                </a:r>
                <a:r>
                  <a:rPr lang="en-US" altLang="zh-CN" sz="2400" b="1" kern="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1</a:t>
                </a:r>
                <a:r>
                  <a:rPr lang="zh-CN" altLang="zh-CN" sz="2400" b="1" kern="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；若</a:t>
                </a:r>
                <a14:m>
                  <m:oMath xmlns:m="http://schemas.openxmlformats.org/officeDocument/2006/math">
                    <m:r>
                      <a:rPr lang="en-US" altLang="zh-CN" sz="2400" b="1" i="1" ker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𝒗</m:t>
                    </m:r>
                  </m:oMath>
                </a14:m>
                <a:r>
                  <a:rPr lang="zh-CN" altLang="zh-CN" sz="2400" b="1" kern="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只有一个儿子，在</a:t>
                </a:r>
                <a14:m>
                  <m:oMath xmlns:m="http://schemas.openxmlformats.org/officeDocument/2006/math">
                    <m:r>
                      <a:rPr lang="en-US" altLang="zh-CN" sz="2400" b="1" i="1" ker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𝒗</m:t>
                    </m:r>
                  </m:oMath>
                </a14:m>
                <a:r>
                  <a:rPr lang="zh-CN" altLang="zh-CN" sz="2400" b="1" kern="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引出的边上可标</a:t>
                </a:r>
                <a:r>
                  <a:rPr lang="en-US" altLang="zh-CN" sz="2400" b="1" kern="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0</a:t>
                </a:r>
                <a:r>
                  <a:rPr lang="zh-CN" altLang="zh-CN" sz="2400" b="1" kern="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也可标</a:t>
                </a:r>
                <a:r>
                  <a:rPr lang="en-US" altLang="zh-CN" sz="2400" b="1" kern="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1</a:t>
                </a:r>
                <a:r>
                  <a:rPr lang="zh-CN" altLang="zh-CN" sz="2400" b="1" kern="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。</a:t>
                </a:r>
                <a:endParaRPr lang="en-US" altLang="zh-CN" sz="2400" b="1" kern="0" dirty="0">
                  <a:solidFill>
                    <a:srgbClr val="0000FF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indent="266700" algn="just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en-US" altLang="zh-CN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     </a:t>
                </a:r>
                <a:r>
                  <a:rPr lang="zh-CN" altLang="zh-CN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𝑣</m:t>
                        </m:r>
                      </m:e>
                      <m:sub>
                        <m:r>
                          <a:rPr lang="en-US" altLang="zh-CN" sz="2400" b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2400" b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𝑇</m:t>
                    </m:r>
                  </m:oMath>
                </a14:m>
                <a:r>
                  <a:rPr lang="zh-CN" altLang="zh-CN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的任意一片叶，</a:t>
                </a:r>
                <a:r>
                  <a:rPr lang="zh-CN" altLang="zh-CN" sz="2400" b="1" kern="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从树根到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ker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𝑣</m:t>
                        </m:r>
                      </m:e>
                      <m:sub>
                        <m:r>
                          <a:rPr lang="en-US" altLang="zh-CN" sz="2400" b="1" ker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2400" b="1" kern="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的通路上各边的标号组成的符号串放在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ker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𝑣</m:t>
                        </m:r>
                      </m:e>
                      <m:sub>
                        <m:r>
                          <a:rPr lang="en-US" altLang="zh-CN" sz="2400" b="1" ker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2400" b="1" kern="0" dirty="0">
                    <a:solidFill>
                      <a:srgbClr val="0000FF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处</a:t>
                </a:r>
                <a:r>
                  <a:rPr lang="zh-CN" altLang="zh-CN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，</a:t>
                </a:r>
                <a:r>
                  <a:rPr lang="zh-CN" altLang="en-US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则由</a:t>
                </a:r>
                <a14:m>
                  <m:oMath xmlns:m="http://schemas.openxmlformats.org/officeDocument/2006/math">
                    <m:r>
                      <a:rPr lang="en-US" altLang="zh-CN" sz="2400" b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𝑡</m:t>
                    </m:r>
                  </m:oMath>
                </a14:m>
                <a:r>
                  <a:rPr lang="zh-CN" altLang="zh-CN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片叶处的</a:t>
                </a:r>
                <a14:m>
                  <m:oMath xmlns:m="http://schemas.openxmlformats.org/officeDocument/2006/math">
                    <m:r>
                      <a:rPr lang="en-US" altLang="zh-CN" sz="2400" b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𝑡</m:t>
                    </m:r>
                  </m:oMath>
                </a14:m>
                <a:r>
                  <a:rPr lang="zh-CN" altLang="zh-CN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个符号串组成的集合为一个二元前缀码</a:t>
                </a:r>
                <a:r>
                  <a:rPr lang="zh-CN" altLang="zh-CN" sz="2400" dirty="0">
                    <a:solidFill>
                      <a:schemeClr val="tx1"/>
                    </a:solidFill>
                  </a:rPr>
                  <a:t>。</a:t>
                </a:r>
                <a:endParaRPr lang="zh-CN" altLang="zh-CN" sz="2400" b="1" kern="100" dirty="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4D2DBBB4-9DD6-44C2-BBAB-6AE1A11702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132856"/>
                <a:ext cx="8280920" cy="3745513"/>
              </a:xfrm>
              <a:prstGeom prst="rect">
                <a:avLst/>
              </a:prstGeom>
              <a:blipFill>
                <a:blip r:embed="rId4"/>
                <a:stretch>
                  <a:fillRect l="-1178" t="-651" r="-1105" b="-21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wipe dir="r"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日期占位符 3">
            <a:extLst>
              <a:ext uri="{FF2B5EF4-FFF2-40B4-BE49-F238E27FC236}">
                <a16:creationId xmlns:a16="http://schemas.microsoft.com/office/drawing/2014/main" id="{EC5CFDC4-C5C5-4420-A066-DD00FE11CF2D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09F6FA9-401C-449C-B1C9-AB22B8D08C45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6979" name="Text Box 2">
            <a:extLst>
              <a:ext uri="{FF2B5EF4-FFF2-40B4-BE49-F238E27FC236}">
                <a16:creationId xmlns:a16="http://schemas.microsoft.com/office/drawing/2014/main" id="{3D7B2E2D-EA1A-4284-8D44-5833013389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758266"/>
            <a:ext cx="6337300" cy="83099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前缀码构造算法</a:t>
            </a:r>
          </a:p>
        </p:txBody>
      </p:sp>
      <p:pic>
        <p:nvPicPr>
          <p:cNvPr id="126980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68D51389-5237-4F1D-BB64-15B87042FE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25" y="549275"/>
            <a:ext cx="1095375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796000A-EB70-4BD7-A62C-B21D11354219}"/>
              </a:ext>
            </a:extLst>
          </p:cNvPr>
          <p:cNvSpPr txBox="1"/>
          <p:nvPr/>
        </p:nvSpPr>
        <p:spPr>
          <a:xfrm>
            <a:off x="755576" y="5445224"/>
            <a:ext cx="8064896" cy="584775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显然，有序二元树与前缀码是</a:t>
            </a:r>
            <a:r>
              <a:rPr lang="zh-CN" altLang="en-US" dirty="0">
                <a:solidFill>
                  <a:srgbClr val="0000FF"/>
                </a:solidFill>
              </a:rPr>
              <a:t>一一对应</a:t>
            </a:r>
            <a:r>
              <a:rPr lang="zh-CN" altLang="en-US" dirty="0">
                <a:solidFill>
                  <a:schemeClr val="tx1"/>
                </a:solidFill>
              </a:rPr>
              <a:t>的。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EB94DB7-0020-4B5A-9E3A-E7FB2B7BEA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84" y="1909089"/>
            <a:ext cx="7798396" cy="3298378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日期占位符 3">
            <a:extLst>
              <a:ext uri="{FF2B5EF4-FFF2-40B4-BE49-F238E27FC236}">
                <a16:creationId xmlns:a16="http://schemas.microsoft.com/office/drawing/2014/main" id="{ACE5FA8F-2DF2-4EC7-8F7F-10BE7EC56CE8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BE1C7B6-0E4C-4914-BAF1-BCFCBCCC8A79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8003" name="Text Box 2">
            <a:extLst>
              <a:ext uri="{FF2B5EF4-FFF2-40B4-BE49-F238E27FC236}">
                <a16:creationId xmlns:a16="http://schemas.microsoft.com/office/drawing/2014/main" id="{7B8FB7EB-22A9-428B-88D7-71A0C273E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20713"/>
            <a:ext cx="6335712" cy="823912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例 题</a:t>
            </a:r>
          </a:p>
        </p:txBody>
      </p:sp>
      <p:pic>
        <p:nvPicPr>
          <p:cNvPr id="128004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A874F1F9-57DB-4533-BFF7-81EB527A5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25" y="549275"/>
            <a:ext cx="1095375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8005" name="Rectangle 3">
            <a:extLst>
              <a:ext uri="{FF2B5EF4-FFF2-40B4-BE49-F238E27FC236}">
                <a16:creationId xmlns:a16="http://schemas.microsoft.com/office/drawing/2014/main" id="{EA35A7E4-6609-4653-AFD6-E9378F5643A8}"/>
              </a:ext>
            </a:extLst>
          </p:cNvPr>
          <p:cNvSpPr>
            <a:spLocks noChangeArrowheads="1"/>
          </p:cNvSpPr>
          <p:nvPr/>
        </p:nvSpPr>
        <p:spPr bwMode="black">
          <a:xfrm>
            <a:off x="1043608" y="1622142"/>
            <a:ext cx="6912768" cy="105984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lnSpc>
                <a:spcPts val="3600"/>
              </a:lnSpc>
              <a:buNone/>
            </a:pP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    【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】</a:t>
            </a:r>
            <a:r>
              <a:rPr lang="zh-CN" altLang="en-US" b="1" dirty="0">
                <a:ea typeface="宋体" panose="02010600030101010101" pitchFamily="2" charset="-122"/>
              </a:rPr>
              <a:t>求下图所示二元树产生的前缀码。</a:t>
            </a:r>
            <a:endParaRPr lang="en-US" altLang="zh-CN" b="1" dirty="0">
              <a:ea typeface="宋体" panose="02010600030101010101" pitchFamily="2" charset="-122"/>
            </a:endParaRPr>
          </a:p>
          <a:p>
            <a:pPr>
              <a:lnSpc>
                <a:spcPts val="3600"/>
              </a:lnSpc>
              <a:buNone/>
            </a:pP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    【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解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】</a:t>
            </a:r>
            <a:r>
              <a:rPr lang="en-US" altLang="zh-CN" b="1" dirty="0">
                <a:ea typeface="宋体" panose="02010600030101010101" pitchFamily="2" charset="-122"/>
              </a:rPr>
              <a:t>{000</a:t>
            </a:r>
            <a:r>
              <a:rPr lang="zh-CN" altLang="en-US" b="1" dirty="0"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ea typeface="宋体" panose="02010600030101010101" pitchFamily="2" charset="-122"/>
              </a:rPr>
              <a:t>001</a:t>
            </a:r>
            <a:r>
              <a:rPr lang="zh-CN" altLang="en-US" b="1" dirty="0"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ea typeface="宋体" panose="02010600030101010101" pitchFamily="2" charset="-122"/>
              </a:rPr>
              <a:t>01</a:t>
            </a:r>
            <a:r>
              <a:rPr lang="zh-CN" altLang="en-US" b="1" dirty="0"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ea typeface="宋体" panose="02010600030101010101" pitchFamily="2" charset="-122"/>
              </a:rPr>
              <a:t>10</a:t>
            </a:r>
            <a:r>
              <a:rPr lang="zh-CN" altLang="en-US" b="1" dirty="0"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ea typeface="宋体" panose="02010600030101010101" pitchFamily="2" charset="-122"/>
              </a:rPr>
              <a:t>11}</a:t>
            </a:r>
            <a:endParaRPr lang="zh-CN" altLang="en-US" sz="2800" b="1" dirty="0">
              <a:ea typeface="宋体" panose="02010600030101010101" pitchFamily="2" charset="-122"/>
            </a:endParaRPr>
          </a:p>
        </p:txBody>
      </p:sp>
      <p:pic>
        <p:nvPicPr>
          <p:cNvPr id="128006" name="图片 1">
            <a:extLst>
              <a:ext uri="{FF2B5EF4-FFF2-40B4-BE49-F238E27FC236}">
                <a16:creationId xmlns:a16="http://schemas.microsoft.com/office/drawing/2014/main" id="{25256B12-D81A-4087-9AB3-F093993F12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3" y="2845711"/>
            <a:ext cx="4834697" cy="3437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日期占位符 3">
            <a:extLst>
              <a:ext uri="{FF2B5EF4-FFF2-40B4-BE49-F238E27FC236}">
                <a16:creationId xmlns:a16="http://schemas.microsoft.com/office/drawing/2014/main" id="{7FBB044D-DCD0-4EDB-88FD-E9C89BDD98C8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BF3165D-B200-49BB-A8A3-81A3D439665A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3005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8E9124E9-A890-478B-B188-9B38AA60B6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533378"/>
            <a:ext cx="971600" cy="1020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0053" name="Rectangle 3">
            <a:extLst>
              <a:ext uri="{FF2B5EF4-FFF2-40B4-BE49-F238E27FC236}">
                <a16:creationId xmlns:a16="http://schemas.microsoft.com/office/drawing/2014/main" id="{DAEE3AA8-380C-4C53-B73E-E16BD456A614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95536" y="1648994"/>
            <a:ext cx="8358550" cy="102088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      </a:t>
            </a:r>
            <a:r>
              <a:rPr lang="en-US" altLang="zh-CN" b="1" dirty="0">
                <a:ea typeface="宋体" panose="02010600030101010101" pitchFamily="2" charset="-122"/>
              </a:rPr>
              <a:t>【</a:t>
            </a:r>
            <a:r>
              <a:rPr lang="zh-CN" altLang="en-US" b="1" dirty="0"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ea typeface="宋体" panose="02010600030101010101" pitchFamily="2" charset="-122"/>
              </a:rPr>
              <a:t>】</a:t>
            </a:r>
            <a:r>
              <a:rPr lang="zh-CN" altLang="en-US" b="1" dirty="0">
                <a:ea typeface="宋体" panose="02010600030101010101" pitchFamily="2" charset="-122"/>
              </a:rPr>
              <a:t>下图所示有序二元树可生成前缀码：</a:t>
            </a:r>
            <a:endParaRPr lang="en-US" altLang="zh-CN" b="1" dirty="0">
              <a:ea typeface="宋体" panose="02010600030101010101" pitchFamily="2" charset="-122"/>
            </a:endParaRPr>
          </a:p>
          <a:p>
            <a:pPr algn="ctr">
              <a:buFontTx/>
              <a:buNone/>
            </a:pP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0000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0001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001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010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011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100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101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11</a:t>
            </a:r>
            <a:endParaRPr lang="zh-CN" altLang="en-US" b="1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1E30505-28A3-43BD-B32E-D083771BF4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3768" y="2818446"/>
            <a:ext cx="3956450" cy="2433530"/>
          </a:xfrm>
          <a:prstGeom prst="rect">
            <a:avLst/>
          </a:prstGeom>
        </p:spPr>
      </p:pic>
      <p:sp>
        <p:nvSpPr>
          <p:cNvPr id="47" name="Rectangle 3">
            <a:extLst>
              <a:ext uri="{FF2B5EF4-FFF2-40B4-BE49-F238E27FC236}">
                <a16:creationId xmlns:a16="http://schemas.microsoft.com/office/drawing/2014/main" id="{BA629EB5-E01F-47E7-BF4B-2F9B2104837A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95536" y="5350394"/>
            <a:ext cx="8358550" cy="9366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lnSpc>
                <a:spcPts val="3600"/>
              </a:lnSpc>
              <a:buFontTx/>
              <a:buNone/>
            </a:pPr>
            <a:r>
              <a:rPr lang="en-US" altLang="zh-CN" b="1" dirty="0">
                <a:solidFill>
                  <a:schemeClr val="bg1"/>
                </a:solidFill>
                <a:ea typeface="宋体" panose="02010600030101010101" pitchFamily="2" charset="-122"/>
              </a:rPr>
              <a:t>         </a:t>
            </a:r>
            <a:r>
              <a:rPr lang="zh-CN" altLang="en-US" b="1" dirty="0">
                <a:solidFill>
                  <a:schemeClr val="bg1"/>
                </a:solidFill>
                <a:ea typeface="宋体" panose="02010600030101010101" pitchFamily="2" charset="-122"/>
              </a:rPr>
              <a:t>任意一颗</a:t>
            </a:r>
            <a:r>
              <a:rPr lang="zh-CN" altLang="en-US" b="1" dirty="0">
                <a:solidFill>
                  <a:srgbClr val="FFFF00"/>
                </a:solidFill>
                <a:ea typeface="宋体" panose="02010600030101010101" pitchFamily="2" charset="-122"/>
              </a:rPr>
              <a:t>具有</a:t>
            </a:r>
            <a:r>
              <a:rPr lang="en-US" altLang="zh-CN" b="1" dirty="0">
                <a:solidFill>
                  <a:srgbClr val="FFFF00"/>
                </a:solidFill>
                <a:ea typeface="宋体" panose="02010600030101010101" pitchFamily="2" charset="-122"/>
              </a:rPr>
              <a:t>26</a:t>
            </a:r>
            <a:r>
              <a:rPr lang="zh-CN" altLang="en-US" b="1" dirty="0">
                <a:solidFill>
                  <a:srgbClr val="FFFF00"/>
                </a:solidFill>
                <a:ea typeface="宋体" panose="02010600030101010101" pitchFamily="2" charset="-122"/>
              </a:rPr>
              <a:t>个树叶的有序二元树</a:t>
            </a:r>
            <a:r>
              <a:rPr lang="zh-CN" altLang="en-US" b="1" dirty="0">
                <a:solidFill>
                  <a:schemeClr val="bg1"/>
                </a:solidFill>
                <a:ea typeface="宋体" panose="02010600030101010101" pitchFamily="2" charset="-122"/>
              </a:rPr>
              <a:t>，都可以实现英文字母的一个</a:t>
            </a:r>
            <a:r>
              <a:rPr lang="zh-CN" altLang="en-US" b="1" dirty="0">
                <a:solidFill>
                  <a:srgbClr val="FFFF00"/>
                </a:solidFill>
                <a:ea typeface="宋体" panose="02010600030101010101" pitchFamily="2" charset="-122"/>
              </a:rPr>
              <a:t>前缀码编码方案</a:t>
            </a:r>
            <a:r>
              <a:rPr lang="zh-CN" altLang="en-US" b="1" dirty="0">
                <a:solidFill>
                  <a:schemeClr val="bg1"/>
                </a:solidFill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6C36D0B7-C84E-4BB8-B92B-C6DF80CBFD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20713"/>
            <a:ext cx="6335712" cy="823912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对字符的编码</a:t>
            </a:r>
          </a:p>
        </p:txBody>
      </p:sp>
    </p:spTree>
  </p:cSld>
  <p:clrMapOvr>
    <a:masterClrMapping/>
  </p:clrMapOvr>
  <p:transition spd="med">
    <p:wipe dir="r"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日期占位符 3">
            <a:extLst>
              <a:ext uri="{FF2B5EF4-FFF2-40B4-BE49-F238E27FC236}">
                <a16:creationId xmlns:a16="http://schemas.microsoft.com/office/drawing/2014/main" id="{05AD601A-D7A2-42CE-BAC5-E92F0A57CE83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289C883-946E-4E1D-8116-19B1840892CF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2099" name="Text Box 2">
            <a:extLst>
              <a:ext uri="{FF2B5EF4-FFF2-40B4-BE49-F238E27FC236}">
                <a16:creationId xmlns:a16="http://schemas.microsoft.com/office/drawing/2014/main" id="{206FF92B-1503-4F9D-BE4D-3B6EBD39E0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20713"/>
            <a:ext cx="6335712" cy="823912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对字符的解码</a:t>
            </a:r>
          </a:p>
        </p:txBody>
      </p:sp>
      <p:pic>
        <p:nvPicPr>
          <p:cNvPr id="132100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E1B97EBA-A780-494A-8695-0087EE711E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25" y="549275"/>
            <a:ext cx="1095375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2102" name="Rectangle 3">
            <a:extLst>
              <a:ext uri="{FF2B5EF4-FFF2-40B4-BE49-F238E27FC236}">
                <a16:creationId xmlns:a16="http://schemas.microsoft.com/office/drawing/2014/main" id="{6E5941D7-14E0-4F68-98B0-F5B6F933CFDA}"/>
              </a:ext>
            </a:extLst>
          </p:cNvPr>
          <p:cNvSpPr>
            <a:spLocks noChangeArrowheads="1"/>
          </p:cNvSpPr>
          <p:nvPr/>
        </p:nvSpPr>
        <p:spPr bwMode="black">
          <a:xfrm>
            <a:off x="540247" y="1836012"/>
            <a:ext cx="8352928" cy="922338"/>
          </a:xfrm>
          <a:prstGeom prst="rect">
            <a:avLst/>
          </a:prstGeom>
          <a:solidFill>
            <a:schemeClr val="accent5"/>
          </a:solidFill>
          <a:ln w="28575"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buFontTx/>
              <a:buNone/>
            </a:pPr>
            <a:r>
              <a:rPr lang="zh-CN" altLang="en-US" b="1" dirty="0">
                <a:ea typeface="宋体" panose="02010600030101010101" pitchFamily="2" charset="-122"/>
              </a:rPr>
              <a:t>   如果收到一串数字：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11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010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011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101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011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100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001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0000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0001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0000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100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001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0000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100</a:t>
            </a:r>
            <a:r>
              <a:rPr lang="zh-CN" altLang="en-US" b="1" dirty="0"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132103" name="Text Box 50">
            <a:extLst>
              <a:ext uri="{FF2B5EF4-FFF2-40B4-BE49-F238E27FC236}">
                <a16:creationId xmlns:a16="http://schemas.microsoft.com/office/drawing/2014/main" id="{075E5A87-31FC-4451-8AA5-0C498E23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2160" y="3722246"/>
            <a:ext cx="3024336" cy="525401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dirty="0" err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Zhixingafangan</a:t>
            </a:r>
            <a:endParaRPr kumimoji="0" lang="zh-CN" altLang="en-US" sz="2800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2104" name="Text Box 51">
            <a:extLst>
              <a:ext uri="{FF2B5EF4-FFF2-40B4-BE49-F238E27FC236}">
                <a16:creationId xmlns:a16="http://schemas.microsoft.com/office/drawing/2014/main" id="{B8DC12BE-20ED-4A95-838D-B1F3509F0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1884" y="5013176"/>
            <a:ext cx="2384887" cy="52540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执行</a:t>
            </a:r>
            <a:r>
              <a:rPr kumimoji="0" lang="en-US" altLang="zh-CN" sz="28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r>
              <a:rPr kumimoji="0" lang="zh-CN" altLang="en-US" sz="28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方案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0F6FCA9-D442-4492-8C47-6AAE163AD2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813" y="2887594"/>
            <a:ext cx="5034618" cy="3349693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日期占位符 3">
            <a:extLst>
              <a:ext uri="{FF2B5EF4-FFF2-40B4-BE49-F238E27FC236}">
                <a16:creationId xmlns:a16="http://schemas.microsoft.com/office/drawing/2014/main" id="{37B7BB62-A84F-46EE-A793-9A308FE6567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0BE1003-9995-4B2C-9854-028198585979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3123" name="Text Box 2">
            <a:extLst>
              <a:ext uri="{FF2B5EF4-FFF2-40B4-BE49-F238E27FC236}">
                <a16:creationId xmlns:a16="http://schemas.microsoft.com/office/drawing/2014/main" id="{F5D4D56B-ADD4-4D6F-B1F9-B4F27949E1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92150"/>
            <a:ext cx="6335712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使用最优树编码</a:t>
            </a:r>
          </a:p>
        </p:txBody>
      </p:sp>
      <p:pic>
        <p:nvPicPr>
          <p:cNvPr id="133124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42E79A58-9CD7-42B0-AF93-5DB57471B7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25" y="549275"/>
            <a:ext cx="1095375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5E59880-C71B-41AC-AF09-50A763762AE4}"/>
                  </a:ext>
                </a:extLst>
              </p:cNvPr>
              <p:cNvSpPr/>
              <p:nvPr/>
            </p:nvSpPr>
            <p:spPr>
              <a:xfrm>
                <a:off x="684213" y="1964240"/>
                <a:ext cx="8136904" cy="4038991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b="1" dirty="0">
                    <a:solidFill>
                      <a:schemeClr val="bg1"/>
                    </a:solidFill>
                    <a:ea typeface="宋体" panose="02010600030101010101" pitchFamily="2" charset="-122"/>
                  </a:rPr>
                  <a:t>    </a:t>
                </a:r>
                <a:r>
                  <a:rPr lang="zh-CN" altLang="en-US" sz="2800" b="1" dirty="0">
                    <a:solidFill>
                      <a:schemeClr val="bg1"/>
                    </a:solidFill>
                    <a:effectLst/>
                  </a:rPr>
                  <a:t>既然任意一颗</a:t>
                </a:r>
                <a:r>
                  <a:rPr lang="zh-CN" altLang="en-US" sz="2800" b="1" dirty="0">
                    <a:solidFill>
                      <a:srgbClr val="FFFF00"/>
                    </a:solidFill>
                    <a:effectLst/>
                  </a:rPr>
                  <a:t>有序二元树</a:t>
                </a:r>
                <a:r>
                  <a:rPr lang="zh-CN" altLang="en-US" sz="2800" b="1" dirty="0">
                    <a:solidFill>
                      <a:schemeClr val="bg1"/>
                    </a:solidFill>
                    <a:effectLst/>
                  </a:rPr>
                  <a:t>都可以实现一个前缀码编码方案，</a:t>
                </a:r>
                <a:endParaRPr lang="en-US" altLang="zh-CN" sz="2800" b="1" dirty="0">
                  <a:solidFill>
                    <a:schemeClr val="bg1"/>
                  </a:solidFill>
                  <a:effectLst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800" b="1" dirty="0">
                    <a:solidFill>
                      <a:schemeClr val="bg1"/>
                    </a:solidFill>
                  </a:rPr>
                  <a:t>    </a:t>
                </a:r>
                <a:r>
                  <a:rPr lang="zh-CN" altLang="en-US" sz="2800" b="1" dirty="0">
                    <a:solidFill>
                      <a:schemeClr val="bg1"/>
                    </a:solidFill>
                    <a:effectLst/>
                  </a:rPr>
                  <a:t>那么</a:t>
                </a:r>
                <a:r>
                  <a:rPr lang="zh-CN" altLang="en-US" sz="2800" b="1" dirty="0">
                    <a:solidFill>
                      <a:srgbClr val="FFFF00"/>
                    </a:solidFill>
                    <a:effectLst/>
                  </a:rPr>
                  <a:t>如何选择适当的有序二元树</a:t>
                </a:r>
                <a:r>
                  <a:rPr lang="zh-CN" altLang="en-US" sz="2800" b="1" dirty="0">
                    <a:solidFill>
                      <a:schemeClr val="accent3"/>
                    </a:solidFill>
                    <a:effectLst/>
                  </a:rPr>
                  <a:t>以</a:t>
                </a:r>
                <a:r>
                  <a:rPr lang="zh-CN" altLang="en-US" sz="2800" b="1" dirty="0">
                    <a:solidFill>
                      <a:schemeClr val="bg1"/>
                    </a:solidFill>
                    <a:effectLst/>
                  </a:rPr>
                  <a:t>生成较好的编码方案呢？</a:t>
                </a:r>
                <a:endParaRPr lang="en-US" altLang="zh-CN" sz="2800" b="1" dirty="0">
                  <a:solidFill>
                    <a:schemeClr val="bg1"/>
                  </a:solidFill>
                  <a:effectLst/>
                  <a:cs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  <a:spcBef>
                    <a:spcPts val="1200"/>
                  </a:spcBef>
                  <a:spcAft>
                    <a:spcPts val="0"/>
                  </a:spcAft>
                </a:pPr>
                <a:r>
                  <a:rPr lang="en-US" altLang="zh-CN" sz="2800" b="1" dirty="0">
                    <a:solidFill>
                      <a:schemeClr val="bg1"/>
                    </a:solidFill>
                    <a:effectLst/>
                    <a:cs typeface="宋体" panose="02010600030101010101" pitchFamily="2" charset="-122"/>
                  </a:rPr>
                  <a:t>    </a:t>
                </a:r>
                <a:r>
                  <a:rPr lang="zh-CN" altLang="zh-CN" sz="2800" b="1" dirty="0">
                    <a:solidFill>
                      <a:schemeClr val="bg1"/>
                    </a:solidFill>
                    <a:effectLst/>
                    <a:cs typeface="宋体" panose="02010600030101010101" pitchFamily="2" charset="-122"/>
                  </a:rPr>
                  <a:t>当已知</a:t>
                </a:r>
                <a:r>
                  <a:rPr lang="zh-CN" altLang="zh-CN" sz="2800" b="1" dirty="0">
                    <a:solidFill>
                      <a:srgbClr val="FFFF66"/>
                    </a:solidFill>
                    <a:effectLst/>
                    <a:cs typeface="宋体" panose="02010600030101010101" pitchFamily="2" charset="-122"/>
                  </a:rPr>
                  <a:t>传输符号出现的频率</a:t>
                </a:r>
                <a:r>
                  <a:rPr lang="zh-CN" altLang="zh-CN" sz="2800" b="1" dirty="0">
                    <a:solidFill>
                      <a:schemeClr val="bg1"/>
                    </a:solidFill>
                    <a:effectLst/>
                    <a:cs typeface="宋体" panose="02010600030101010101" pitchFamily="2" charset="-122"/>
                  </a:rPr>
                  <a:t>时，可用</a:t>
                </a:r>
                <a:r>
                  <a:rPr lang="zh-CN" altLang="zh-CN" sz="2800" b="1" dirty="0">
                    <a:solidFill>
                      <a:srgbClr val="FFFF66"/>
                    </a:solidFill>
                    <a:effectLst/>
                    <a:cs typeface="宋体" panose="02010600030101010101" pitchFamily="2" charset="-122"/>
                  </a:rPr>
                  <a:t>最优二元树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𝑻</m:t>
                    </m:r>
                  </m:oMath>
                </a14:m>
                <a:r>
                  <a:rPr lang="zh-CN" altLang="zh-CN" sz="2800" b="1" dirty="0">
                    <a:solidFill>
                      <a:schemeClr val="bg1"/>
                    </a:solidFill>
                    <a:effectLst/>
                    <a:cs typeface="宋体" panose="02010600030101010101" pitchFamily="2" charset="-122"/>
                  </a:rPr>
                  <a:t>产生前缀码以获得较高的编码效率</a:t>
                </a:r>
                <a:r>
                  <a:rPr lang="zh-CN" altLang="en-US" sz="2800" b="1" dirty="0">
                    <a:solidFill>
                      <a:schemeClr val="bg1"/>
                    </a:solidFill>
                    <a:effectLst/>
                    <a:cs typeface="宋体" panose="02010600030101010101" pitchFamily="2" charset="-122"/>
                  </a:rPr>
                  <a:t>。</a:t>
                </a:r>
                <a:endParaRPr lang="zh-CN" altLang="en-US" sz="2800" b="1" dirty="0">
                  <a:solidFill>
                    <a:schemeClr val="bg1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5E59880-C71B-41AC-AF09-50A763762A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13" y="1964240"/>
                <a:ext cx="8136904" cy="4038991"/>
              </a:xfrm>
              <a:prstGeom prst="rect">
                <a:avLst/>
              </a:prstGeom>
              <a:blipFill>
                <a:blip r:embed="rId4"/>
                <a:stretch>
                  <a:fillRect l="-1498" r="-449" b="-28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wipe dir="r"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日期占位符 3">
            <a:extLst>
              <a:ext uri="{FF2B5EF4-FFF2-40B4-BE49-F238E27FC236}">
                <a16:creationId xmlns:a16="http://schemas.microsoft.com/office/drawing/2014/main" id="{E1E9AE44-C12D-4FD4-93E6-55551F66A38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B114806-D55D-4210-8B28-02CC523F1BEC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4147" name="Text Box 2">
            <a:extLst>
              <a:ext uri="{FF2B5EF4-FFF2-40B4-BE49-F238E27FC236}">
                <a16:creationId xmlns:a16="http://schemas.microsoft.com/office/drawing/2014/main" id="{4762A7C4-E796-4724-B084-A7F9AA63C6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908050"/>
            <a:ext cx="6335712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最优树的概念</a:t>
            </a:r>
          </a:p>
        </p:txBody>
      </p:sp>
      <p:pic>
        <p:nvPicPr>
          <p:cNvPr id="134148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C3601AD1-700C-4448-B3A7-28869E9109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25" y="549275"/>
            <a:ext cx="1095375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AC2A83B7-DD39-4C6A-B9FA-6B7B1E534B5E}"/>
                  </a:ext>
                </a:extLst>
              </p:cNvPr>
              <p:cNvSpPr/>
              <p:nvPr/>
            </p:nvSpPr>
            <p:spPr>
              <a:xfrm>
                <a:off x="349151" y="1823027"/>
                <a:ext cx="8301235" cy="445442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indent="266700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8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    </a:t>
                </a:r>
                <a:r>
                  <a:rPr lang="zh-CN" altLang="zh-CN" sz="28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【定义】设有一棵二元树</a:t>
                </a:r>
                <a14:m>
                  <m:oMath xmlns:m="http://schemas.openxmlformats.org/officeDocument/2006/math">
                    <m:r>
                      <a:rPr lang="en-US" altLang="zh-CN" sz="2800" b="1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𝑻</m:t>
                    </m:r>
                  </m:oMath>
                </a14:m>
                <a:r>
                  <a:rPr lang="zh-CN" altLang="zh-CN" sz="28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，若对其所</a:t>
                </a:r>
                <a:r>
                  <a:rPr lang="zh-CN" altLang="en-US" sz="28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sz="2800" b="1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𝒕</m:t>
                    </m:r>
                  </m:oMath>
                </a14:m>
                <a:r>
                  <a:rPr lang="zh-CN" altLang="zh-CN" sz="28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片叶赋以权值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8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𝒘</m:t>
                        </m:r>
                      </m:e>
                      <m:sub>
                        <m:r>
                          <a:rPr lang="en-US" altLang="zh-CN" sz="28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𝟏</m:t>
                        </m:r>
                      </m:sub>
                    </m:sSub>
                    <m:r>
                      <a:rPr lang="en-US" altLang="zh-CN" sz="2800" b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,</m:t>
                    </m:r>
                    <m:sSub>
                      <m:sSubPr>
                        <m:ctrlPr>
                          <a:rPr lang="zh-CN" altLang="zh-CN" sz="28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8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𝒘</m:t>
                        </m:r>
                      </m:e>
                      <m:sub>
                        <m:r>
                          <a:rPr lang="en-US" altLang="zh-CN" sz="28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𝟐</m:t>
                        </m:r>
                      </m:sub>
                    </m:sSub>
                    <m:r>
                      <a:rPr lang="en-US" altLang="zh-CN" sz="2800" b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,⋯,</m:t>
                    </m:r>
                    <m:sSub>
                      <m:sSubPr>
                        <m:ctrlPr>
                          <a:rPr lang="zh-CN" altLang="zh-CN" sz="28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8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𝒘</m:t>
                        </m:r>
                      </m:e>
                      <m:sub>
                        <m:r>
                          <a:rPr lang="en-US" altLang="zh-CN" sz="28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zh-CN" altLang="zh-CN" sz="28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，则称之为</a:t>
                </a:r>
                <a:r>
                  <a:rPr lang="zh-CN" altLang="zh-CN" sz="2800" b="1" kern="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赋权二元树</a:t>
                </a:r>
                <a:r>
                  <a:rPr lang="zh-CN" altLang="zh-CN" sz="28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；</a:t>
                </a:r>
                <a:endParaRPr lang="en-US" altLang="zh-CN" sz="2800" b="1" kern="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indent="266700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8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    </a:t>
                </a:r>
                <a:r>
                  <a:rPr lang="zh-CN" altLang="zh-CN" sz="28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若权为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8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𝒘</m:t>
                        </m:r>
                      </m:e>
                      <m:sub>
                        <m:r>
                          <a:rPr lang="en-US" altLang="zh-CN" sz="28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zh-CN" sz="28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的</a:t>
                </a:r>
                <a:r>
                  <a:rPr lang="zh-CN" altLang="en-US" sz="28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树</a:t>
                </a:r>
                <a:r>
                  <a:rPr lang="zh-CN" altLang="zh-CN" sz="28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叶层数为</a:t>
                </a:r>
                <a14:m>
                  <m:oMath xmlns:m="http://schemas.openxmlformats.org/officeDocument/2006/math">
                    <m:r>
                      <a:rPr lang="en-US" altLang="zh-CN" sz="2800" b="1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𝑳</m:t>
                    </m:r>
                    <m:r>
                      <a:rPr lang="en-US" altLang="zh-CN" sz="2800" b="1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(</m:t>
                    </m:r>
                    <m:sSub>
                      <m:sSubPr>
                        <m:ctrlPr>
                          <a:rPr lang="zh-CN" altLang="zh-CN" sz="28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8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𝒘</m:t>
                        </m:r>
                      </m:e>
                      <m:sub>
                        <m:r>
                          <a:rPr lang="en-US" altLang="zh-CN" sz="28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𝒊</m:t>
                        </m:r>
                      </m:sub>
                    </m:sSub>
                    <m:r>
                      <a:rPr lang="en-US" altLang="zh-CN" sz="2800" b="1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)</m:t>
                    </m:r>
                  </m:oMath>
                </a14:m>
                <a:r>
                  <a:rPr lang="zh-CN" altLang="zh-CN" sz="28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，则称：</a:t>
                </a:r>
                <a:endParaRPr lang="zh-CN" altLang="zh-CN" sz="28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ker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          </m:t>
                      </m:r>
                      <m:r>
                        <a:rPr lang="en-US" altLang="zh-CN" sz="2800" b="1" i="1" kern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𝒘</m:t>
                      </m:r>
                      <m:d>
                        <m:dPr>
                          <m:begChr m:val="（"/>
                          <m:endChr m:val="）"/>
                          <m:ctrlPr>
                            <a:rPr lang="zh-CN" altLang="zh-CN" sz="2800" b="1" i="1" ker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800" b="1" i="1" ker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𝑻</m:t>
                          </m:r>
                        </m:e>
                      </m:d>
                      <m:r>
                        <a:rPr lang="en-US" altLang="zh-CN" sz="2800" b="1" i="1" ker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2800" b="1" i="1" ker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naryPr>
                        <m:sub>
                          <m:r>
                            <a:rPr lang="en-US" altLang="zh-CN" sz="2800" b="1" i="1" ker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𝒊</m:t>
                          </m:r>
                          <m:r>
                            <a:rPr lang="en-US" altLang="zh-CN" sz="2800" b="1" i="1" ker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=</m:t>
                          </m:r>
                          <m:r>
                            <a:rPr lang="en-US" altLang="zh-CN" sz="2800" b="1" i="1" ker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 ker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𝒕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2800" b="1" i="1" ker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ker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altLang="zh-CN" sz="2800" b="1" i="1" ker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sz="2800" b="1" i="1" ker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×</m:t>
                          </m:r>
                          <m:r>
                            <a:rPr lang="en-US" altLang="zh-CN" sz="2800" b="1" i="1" ker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𝑳</m:t>
                          </m:r>
                          <m:d>
                            <m:dPr>
                              <m:begChr m:val="（"/>
                              <m:endChr m:val="）"/>
                              <m:ctrlPr>
                                <a:rPr lang="zh-CN" altLang="zh-CN" sz="2800" b="1" i="1" ker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800" b="1" i="1" ker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ker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宋体" panose="02010600030101010101" pitchFamily="2" charset="-122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en-US" altLang="zh-CN" sz="2800" b="1" i="1" ker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宋体" panose="02010600030101010101" pitchFamily="2" charset="-122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800" b="1" i="1" ker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                </m:t>
                          </m:r>
                        </m:e>
                      </m:nary>
                    </m:oMath>
                  </m:oMathPara>
                </a14:m>
                <a:endParaRPr lang="zh-CN" altLang="zh-CN" sz="28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zh-CN" sz="28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为该赋权二元树</a:t>
                </a:r>
                <a14:m>
                  <m:oMath xmlns:m="http://schemas.openxmlformats.org/officeDocument/2006/math">
                    <m:r>
                      <a:rPr lang="en-US" altLang="zh-CN" sz="2800" b="1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𝑻</m:t>
                    </m:r>
                  </m:oMath>
                </a14:m>
                <a:r>
                  <a:rPr lang="zh-CN" altLang="zh-CN" sz="28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的</a:t>
                </a:r>
                <a:r>
                  <a:rPr lang="zh-CN" altLang="zh-CN" sz="2800" b="1" kern="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权</a:t>
                </a:r>
                <a:r>
                  <a:rPr lang="zh-CN" altLang="zh-CN" sz="28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；</a:t>
                </a:r>
                <a:endParaRPr lang="en-US" altLang="zh-CN" sz="2800" b="1" kern="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8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        </a:t>
                </a:r>
                <a14:m>
                  <m:oMath xmlns:m="http://schemas.openxmlformats.org/officeDocument/2006/math">
                    <m:r>
                      <a:rPr lang="zh-CN" altLang="zh-CN" sz="2800" b="1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宋体" panose="02010600030101010101" pitchFamily="2" charset="-122"/>
                      </a:rPr>
                      <m:t> </m:t>
                    </m:r>
                    <m:r>
                      <a:rPr lang="en-US" altLang="zh-CN" sz="2800" b="1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宋体" panose="02010600030101010101" pitchFamily="2" charset="-122"/>
                      </a:rPr>
                      <m:t>𝒘</m:t>
                    </m:r>
                    <m:d>
                      <m:dPr>
                        <m:begChr m:val="（"/>
                        <m:endChr m:val="）"/>
                        <m:ctrlPr>
                          <a:rPr lang="zh-CN" altLang="zh-CN" sz="28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sz="28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𝑻</m:t>
                        </m:r>
                      </m:e>
                    </m:d>
                  </m:oMath>
                </a14:m>
                <a:r>
                  <a:rPr lang="zh-CN" altLang="zh-CN" sz="28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最小的</a:t>
                </a:r>
                <a:r>
                  <a:rPr lang="zh-CN" altLang="en-US" sz="28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赋权</a:t>
                </a:r>
                <a:r>
                  <a:rPr lang="zh-CN" altLang="zh-CN" sz="28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二元树称为</a:t>
                </a:r>
                <a:r>
                  <a:rPr lang="zh-CN" altLang="zh-CN" sz="2800" b="1" kern="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最优树</a:t>
                </a:r>
                <a:r>
                  <a:rPr lang="zh-CN" altLang="zh-CN" sz="28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。</a:t>
                </a:r>
                <a:endParaRPr lang="zh-CN" altLang="zh-CN" sz="28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AC2A83B7-DD39-4C6A-B9FA-6B7B1E534B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51" y="1823027"/>
                <a:ext cx="8301235" cy="4454425"/>
              </a:xfrm>
              <a:prstGeom prst="rect">
                <a:avLst/>
              </a:prstGeom>
              <a:blipFill>
                <a:blip r:embed="rId4"/>
                <a:stretch>
                  <a:fillRect l="-1468" r="-1542" b="-21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wipe dir="r"/>
  </p:transition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日期占位符 3">
            <a:extLst>
              <a:ext uri="{FF2B5EF4-FFF2-40B4-BE49-F238E27FC236}">
                <a16:creationId xmlns:a16="http://schemas.microsoft.com/office/drawing/2014/main" id="{E1E9AE44-C12D-4FD4-93E6-55551F66A38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B114806-D55D-4210-8B28-02CC523F1BEC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4147" name="Text Box 2">
            <a:extLst>
              <a:ext uri="{FF2B5EF4-FFF2-40B4-BE49-F238E27FC236}">
                <a16:creationId xmlns:a16="http://schemas.microsoft.com/office/drawing/2014/main" id="{4762A7C4-E796-4724-B084-A7F9AA63C6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4144" y="712787"/>
            <a:ext cx="6335712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最优树的概念</a:t>
            </a:r>
          </a:p>
        </p:txBody>
      </p:sp>
      <p:pic>
        <p:nvPicPr>
          <p:cNvPr id="134148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C3601AD1-700C-4448-B3A7-28869E9109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5610" y="620688"/>
            <a:ext cx="958878" cy="1007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E4B7EFD1-E0B6-4D4F-9513-834BAF15AEDE}"/>
                  </a:ext>
                </a:extLst>
              </p:cNvPr>
              <p:cNvSpPr/>
              <p:nvPr/>
            </p:nvSpPr>
            <p:spPr>
              <a:xfrm>
                <a:off x="323528" y="1783597"/>
                <a:ext cx="8640960" cy="4351256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indent="267335" algn="just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zh-CN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【定理】设</a:t>
                </a:r>
                <a14:m>
                  <m:oMath xmlns:m="http://schemas.openxmlformats.org/officeDocument/2006/math">
                    <m:r>
                      <a:rPr lang="en-US" altLang="zh-CN" sz="2400" b="1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𝑻</m:t>
                    </m:r>
                  </m:oMath>
                </a14:m>
                <a:r>
                  <a:rPr lang="zh-CN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是一棵带有权值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𝒘</m:t>
                        </m:r>
                      </m:e>
                      <m:sub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𝟏</m:t>
                        </m:r>
                      </m:sub>
                    </m:sSub>
                    <m:r>
                      <a:rPr lang="en-US" altLang="zh-CN" sz="2400" b="1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≤</m:t>
                    </m:r>
                    <m:sSub>
                      <m:sSubPr>
                        <m:ctrlPr>
                          <a:rPr lang="zh-CN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𝒘</m:t>
                        </m:r>
                      </m:e>
                      <m:sub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𝟐</m:t>
                        </m:r>
                      </m:sub>
                    </m:sSub>
                    <m:r>
                      <a:rPr lang="en-US" altLang="zh-CN" sz="2400" b="1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≤⋯≤</m:t>
                    </m:r>
                    <m:sSub>
                      <m:sSubPr>
                        <m:ctrlPr>
                          <a:rPr lang="zh-CN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𝒘</m:t>
                        </m:r>
                      </m:e>
                      <m:sub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zh-CN" altLang="en-US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的</a:t>
                </a:r>
                <a:r>
                  <a:rPr lang="zh-CN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最优树。其中权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𝒘</m:t>
                        </m:r>
                      </m:e>
                      <m:sub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𝟏</m:t>
                        </m:r>
                      </m:sub>
                    </m:sSub>
                    <m:r>
                      <a:rPr lang="zh-CN" altLang="zh-CN" sz="2400" b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和</m:t>
                    </m:r>
                    <m:sSub>
                      <m:sSubPr>
                        <m:ctrlPr>
                          <a:rPr lang="zh-CN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𝒘</m:t>
                        </m:r>
                      </m:e>
                      <m:sub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对应叶结点是兄弟，并且如果</a:t>
                </a:r>
                <a:r>
                  <a:rPr lang="zh-CN" altLang="zh-CN" sz="2400" b="1" kern="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将其父结点改为带权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ker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𝒘</m:t>
                        </m:r>
                      </m:e>
                      <m:sub>
                        <m:r>
                          <a:rPr lang="en-US" altLang="zh-CN" sz="2400" b="1" i="1" ker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𝟏</m:t>
                        </m:r>
                      </m:sub>
                    </m:sSub>
                    <m:r>
                      <a:rPr lang="en-US" altLang="zh-CN" sz="2400" b="1" ker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+</m:t>
                    </m:r>
                    <m:sSub>
                      <m:sSubPr>
                        <m:ctrlPr>
                          <a:rPr lang="zh-CN" altLang="zh-CN" sz="2400" b="1" i="1" ker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ker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𝒘</m:t>
                        </m:r>
                      </m:e>
                      <m:sub>
                        <m:r>
                          <a:rPr lang="en-US" altLang="zh-CN" sz="2400" b="1" i="1" ker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zh-CN" sz="2400" b="1" kern="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的叶结点</a:t>
                </a:r>
                <a:r>
                  <a:rPr lang="zh-CN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，则由此得到的新树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𝑻</m:t>
                        </m:r>
                      </m:e>
                      <m:sup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也是一棵最优树。</a:t>
                </a:r>
                <a:endParaRPr lang="zh-CN" altLang="zh-CN" sz="24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7335" algn="just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zh-CN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【证明】该定理的证明较复杂，在此从略。</a:t>
                </a:r>
                <a:endParaRPr lang="zh-CN" altLang="zh-CN" sz="24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ts val="3600"/>
                  </a:lnSpc>
                  <a:spcBef>
                    <a:spcPts val="1200"/>
                  </a:spcBef>
                </a:pPr>
                <a:r>
                  <a:rPr lang="en-US" altLang="zh-CN" sz="2400" b="1" dirty="0">
                    <a:solidFill>
                      <a:schemeClr val="bg1"/>
                    </a:solidFill>
                    <a:ea typeface="宋体" panose="02010600030101010101" pitchFamily="2" charset="-122"/>
                    <a:cs typeface="宋体" panose="02010600030101010101" pitchFamily="2" charset="-122"/>
                  </a:rPr>
                  <a:t>   </a:t>
                </a:r>
                <a:r>
                  <a:rPr lang="zh-CN" altLang="zh-CN" sz="2400" b="1" dirty="0">
                    <a:solidFill>
                      <a:schemeClr val="bg1"/>
                    </a:solidFill>
                    <a:cs typeface="宋体" panose="02010600030101010101" pitchFamily="2" charset="-122"/>
                  </a:rPr>
                  <a:t>根据上述定理，美国计算机科学家霍夫曼在</a:t>
                </a:r>
                <a:r>
                  <a:rPr lang="en-US" altLang="zh-CN" sz="2400" b="1" dirty="0">
                    <a:solidFill>
                      <a:schemeClr val="bg1"/>
                    </a:solidFill>
                    <a:cs typeface="宋体" panose="02010600030101010101" pitchFamily="2" charset="-122"/>
                  </a:rPr>
                  <a:t>1952</a:t>
                </a:r>
                <a:r>
                  <a:rPr lang="zh-CN" altLang="zh-CN" sz="2400" b="1" dirty="0">
                    <a:solidFill>
                      <a:schemeClr val="bg1"/>
                    </a:solidFill>
                    <a:cs typeface="宋体" panose="02010600030101010101" pitchFamily="2" charset="-122"/>
                  </a:rPr>
                  <a:t>年提出一种构造最优树的算法，通常称之为</a:t>
                </a:r>
                <a:r>
                  <a:rPr lang="zh-CN" altLang="zh-CN" sz="2400" b="1" dirty="0">
                    <a:solidFill>
                      <a:srgbClr val="FFFF00"/>
                    </a:solidFill>
                    <a:cs typeface="宋体" panose="02010600030101010101" pitchFamily="2" charset="-122"/>
                  </a:rPr>
                  <a:t>霍夫曼算法</a:t>
                </a:r>
                <a:r>
                  <a:rPr lang="zh-CN" altLang="zh-CN" sz="2400" b="1" dirty="0">
                    <a:solidFill>
                      <a:schemeClr val="bg1"/>
                    </a:solidFill>
                    <a:cs typeface="宋体" panose="02010600030101010101" pitchFamily="2" charset="-122"/>
                  </a:rPr>
                  <a:t>。</a:t>
                </a:r>
                <a:endParaRPr lang="en-US" altLang="zh-CN" sz="2400" b="1" dirty="0">
                  <a:solidFill>
                    <a:schemeClr val="bg1"/>
                  </a:solidFill>
                  <a:cs typeface="宋体" panose="02010600030101010101" pitchFamily="2" charset="-122"/>
                </a:endParaRPr>
              </a:p>
              <a:p>
                <a:pPr>
                  <a:lnSpc>
                    <a:spcPts val="3600"/>
                  </a:lnSpc>
                </a:pPr>
                <a:r>
                  <a:rPr lang="en-US" altLang="zh-CN" sz="2400" b="1" dirty="0">
                    <a:solidFill>
                      <a:schemeClr val="bg1"/>
                    </a:solidFill>
                    <a:cs typeface="宋体" panose="02010600030101010101" pitchFamily="2" charset="-122"/>
                  </a:rPr>
                  <a:t>   </a:t>
                </a:r>
                <a:r>
                  <a:rPr lang="zh-CN" altLang="zh-CN" sz="2400" b="1" dirty="0">
                    <a:solidFill>
                      <a:schemeClr val="bg1"/>
                    </a:solidFill>
                    <a:cs typeface="宋体" panose="02010600030101010101" pitchFamily="2" charset="-122"/>
                  </a:rPr>
                  <a:t>对于任意给定权值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𝒘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≤</m:t>
                    </m:r>
                    <m:sSub>
                      <m:sSubPr>
                        <m:ctrlPr>
                          <a:rPr lang="zh-CN" altLang="zh-CN" sz="2400" b="1" i="1" ker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𝒘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≤⋯≤</m:t>
                    </m:r>
                    <m:sSub>
                      <m:sSubPr>
                        <m:ctrlPr>
                          <a:rPr lang="zh-CN" altLang="zh-CN" sz="2400" b="1" i="1" ker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𝒘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  <a:cs typeface="宋体" panose="02010600030101010101" pitchFamily="2" charset="-122"/>
                  </a:rPr>
                  <a:t>，算法基本思路是：</a:t>
                </a:r>
                <a:r>
                  <a:rPr lang="zh-CN" altLang="zh-CN" sz="2400" b="1" dirty="0">
                    <a:solidFill>
                      <a:srgbClr val="FFFF00"/>
                    </a:solidFill>
                    <a:cs typeface="宋体" panose="02010600030101010101" pitchFamily="2" charset="-122"/>
                  </a:rPr>
                  <a:t>要画一棵带有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𝒕</m:t>
                    </m:r>
                  </m:oMath>
                </a14:m>
                <a:r>
                  <a:rPr lang="zh-CN" altLang="zh-CN" sz="2400" b="1" dirty="0">
                    <a:solidFill>
                      <a:srgbClr val="FFFF00"/>
                    </a:solidFill>
                    <a:cs typeface="宋体" panose="02010600030101010101" pitchFamily="2" charset="-122"/>
                  </a:rPr>
                  <a:t>个权的最优树，则可依据定理将问题转化为要画一棵带有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𝒕</m:t>
                    </m:r>
                    <m:r>
                      <a:rPr lang="en-US" altLang="zh-CN" sz="2400" b="1" i="1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𝟏</m:t>
                    </m:r>
                  </m:oMath>
                </a14:m>
                <a:r>
                  <a:rPr lang="zh-CN" altLang="zh-CN" sz="2400" b="1" dirty="0">
                    <a:solidFill>
                      <a:srgbClr val="FFFF00"/>
                    </a:solidFill>
                    <a:cs typeface="宋体" panose="02010600030101010101" pitchFamily="2" charset="-122"/>
                  </a:rPr>
                  <a:t>个权的最优树，</a:t>
                </a:r>
                <a:r>
                  <a:rPr lang="zh-CN" altLang="zh-CN" sz="2400" b="1" dirty="0">
                    <a:solidFill>
                      <a:schemeClr val="bg1"/>
                    </a:solidFill>
                    <a:cs typeface="宋体" panose="02010600030101010101" pitchFamily="2" charset="-122"/>
                  </a:rPr>
                  <a:t>依次类推</a:t>
                </a:r>
                <a:r>
                  <a:rPr lang="zh-CN" altLang="en-US" sz="2400" b="1" dirty="0">
                    <a:solidFill>
                      <a:schemeClr val="bg1"/>
                    </a:solidFill>
                    <a:cs typeface="宋体" panose="02010600030101010101" pitchFamily="2" charset="-122"/>
                  </a:rPr>
                  <a:t>。</a:t>
                </a:r>
                <a:endParaRPr lang="zh-CN" altLang="en-US" sz="24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E4B7EFD1-E0B6-4D4F-9513-834BAF15AE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1783597"/>
                <a:ext cx="8640960" cy="4351256"/>
              </a:xfrm>
              <a:prstGeom prst="rect">
                <a:avLst/>
              </a:prstGeom>
              <a:blipFill>
                <a:blip r:embed="rId4"/>
                <a:stretch>
                  <a:fillRect l="-1058" t="-561" r="-1058" b="-19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6568566"/>
      </p:ext>
    </p:extLst>
  </p:cSld>
  <p:clrMapOvr>
    <a:masterClrMapping/>
  </p:clrMapOvr>
  <p:transition spd="med">
    <p:wipe dir="r"/>
  </p:transition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日期占位符 3">
            <a:extLst>
              <a:ext uri="{FF2B5EF4-FFF2-40B4-BE49-F238E27FC236}">
                <a16:creationId xmlns:a16="http://schemas.microsoft.com/office/drawing/2014/main" id="{FAB2C223-3F8C-48FF-AAEF-939880233A2D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76D7153-5D6E-4921-ABF9-FC2CBAC796DB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7219" name="Text Box 2">
            <a:extLst>
              <a:ext uri="{FF2B5EF4-FFF2-40B4-BE49-F238E27FC236}">
                <a16:creationId xmlns:a16="http://schemas.microsoft.com/office/drawing/2014/main" id="{F07B6576-D1F4-40CD-9AF1-A938CD7DF5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908050"/>
            <a:ext cx="6335712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霍夫曼算法流程</a:t>
            </a:r>
          </a:p>
        </p:txBody>
      </p:sp>
      <p:pic>
        <p:nvPicPr>
          <p:cNvPr id="137220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E46452BE-B4EA-4F6A-A963-EF425781E1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25" y="549275"/>
            <a:ext cx="1095375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3FF2E681-85E1-4F88-AA9F-F3F3C0AA2260}"/>
                  </a:ext>
                </a:extLst>
              </p:cNvPr>
              <p:cNvSpPr/>
              <p:nvPr/>
            </p:nvSpPr>
            <p:spPr>
              <a:xfrm>
                <a:off x="107504" y="1988840"/>
                <a:ext cx="8928992" cy="247478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indent="266700">
                  <a:spcAft>
                    <a:spcPts val="0"/>
                  </a:spcAft>
                </a:pPr>
                <a:r>
                  <a:rPr lang="zh-CN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（</a:t>
                </a:r>
                <a:r>
                  <a:rPr lang="en-US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1</a:t>
                </a:r>
                <a:r>
                  <a:rPr lang="zh-CN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）初始：令</a:t>
                </a:r>
                <a14:m>
                  <m:oMath xmlns:m="http://schemas.openxmlformats.org/officeDocument/2006/math">
                    <m:r>
                      <a:rPr lang="en-US" altLang="zh-CN" sz="2400" b="1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𝑺</m:t>
                    </m:r>
                    <m:r>
                      <a:rPr lang="en-US" altLang="zh-CN" sz="2400" b="1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={</m:t>
                    </m:r>
                    <m:sSub>
                      <m:sSubPr>
                        <m:ctrlPr>
                          <a:rPr lang="zh-CN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𝒘</m:t>
                        </m:r>
                      </m:e>
                      <m:sub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𝟏</m:t>
                        </m:r>
                      </m:sub>
                    </m:sSub>
                    <m:r>
                      <a:rPr lang="en-US" altLang="zh-CN" sz="2400" b="1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,</m:t>
                    </m:r>
                    <m:sSub>
                      <m:sSubPr>
                        <m:ctrlPr>
                          <a:rPr lang="zh-CN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𝒘</m:t>
                        </m:r>
                      </m:e>
                      <m:sub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𝟐</m:t>
                        </m:r>
                      </m:sub>
                    </m:sSub>
                    <m:r>
                      <a:rPr lang="en-US" altLang="zh-CN" sz="2400" b="1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,⋯,}</m:t>
                    </m:r>
                  </m:oMath>
                </a14:m>
                <a:r>
                  <a:rPr lang="zh-CN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；</a:t>
                </a:r>
                <a:endParaRPr lang="zh-CN" altLang="zh-CN" sz="24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>
                  <a:spcAft>
                    <a:spcPts val="0"/>
                  </a:spcAft>
                </a:pPr>
                <a:r>
                  <a:rPr lang="zh-CN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（</a:t>
                </a:r>
                <a:r>
                  <a:rPr lang="en-US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2</a:t>
                </a:r>
                <a:r>
                  <a:rPr lang="zh-CN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）从</a:t>
                </a:r>
                <a14:m>
                  <m:oMath xmlns:m="http://schemas.openxmlformats.org/officeDocument/2006/math">
                    <m:r>
                      <a:rPr lang="en-US" altLang="zh-CN" sz="2400" b="1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𝑺</m:t>
                    </m:r>
                  </m:oMath>
                </a14:m>
                <a:r>
                  <a:rPr lang="zh-CN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中取出两个最小的权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𝒘</m:t>
                        </m:r>
                      </m:e>
                      <m:sub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𝒘</m:t>
                        </m:r>
                      </m:e>
                      <m:sub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zh-CN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，</a:t>
                </a:r>
                <a:r>
                  <a:rPr lang="zh-CN" altLang="zh-CN" sz="2400" b="1" kern="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画带权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ker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𝒘</m:t>
                        </m:r>
                      </m:e>
                      <m:sub>
                        <m:r>
                          <a:rPr lang="en-US" altLang="zh-CN" sz="2400" b="1" i="1" ker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2400" b="1" kern="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的</a:t>
                </a:r>
                <a:r>
                  <a:rPr lang="zh-CN" altLang="zh-CN" sz="2400" b="1" kern="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结点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ker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 ker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2400" b="1" kern="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、</a:t>
                </a:r>
                <a:r>
                  <a:rPr lang="zh-CN" altLang="zh-CN" sz="2400" b="1" kern="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带权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ker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𝒘</m:t>
                        </m:r>
                      </m:e>
                      <m:sub>
                        <m:r>
                          <a:rPr lang="en-US" altLang="zh-CN" sz="2400" b="1" i="1" ker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zh-CN" altLang="zh-CN" sz="2400" b="1" kern="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结点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ker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 ker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zh-CN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。画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zh-CN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的父亲</a:t>
                </a:r>
                <a14:m>
                  <m:oMath xmlns:m="http://schemas.openxmlformats.org/officeDocument/2006/math">
                    <m:r>
                      <a:rPr lang="en-US" altLang="zh-CN" sz="2400" b="1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𝒗</m:t>
                    </m:r>
                  </m:oMath>
                </a14:m>
                <a:r>
                  <a:rPr lang="zh-CN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，连接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b="1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𝒗</m:t>
                    </m:r>
                  </m:oMath>
                </a14:m>
                <a:r>
                  <a:rPr lang="zh-CN" altLang="en-US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zh-CN" altLang="en-US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b="1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𝒗</m:t>
                    </m:r>
                  </m:oMath>
                </a14:m>
                <a:r>
                  <a:rPr lang="zh-CN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，令</a:t>
                </a:r>
                <a14:m>
                  <m:oMath xmlns:m="http://schemas.openxmlformats.org/officeDocument/2006/math">
                    <m:r>
                      <a:rPr lang="en-US" altLang="zh-CN" sz="2400" b="1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𝒗</m:t>
                    </m:r>
                  </m:oMath>
                </a14:m>
                <a:r>
                  <a:rPr lang="zh-CN" altLang="en-US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的</a:t>
                </a:r>
                <a:r>
                  <a:rPr lang="zh-CN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权</a:t>
                </a:r>
                <a:r>
                  <a:rPr lang="zh-CN" altLang="en-US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𝒘</m:t>
                        </m:r>
                      </m:e>
                      <m:sub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𝒊</m:t>
                        </m:r>
                      </m:sub>
                    </m:sSub>
                    <m:r>
                      <a:rPr lang="en-US" altLang="zh-CN" sz="2400" b="1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+</m:t>
                    </m:r>
                    <m:sSub>
                      <m:sSubPr>
                        <m:ctrlPr>
                          <a:rPr lang="zh-CN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𝒘</m:t>
                        </m:r>
                      </m:e>
                      <m:sub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zh-CN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；</a:t>
                </a:r>
                <a:endParaRPr lang="zh-CN" altLang="zh-CN" sz="24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>
                  <a:spcAft>
                    <a:spcPts val="0"/>
                  </a:spcAft>
                </a:pPr>
                <a:r>
                  <a:rPr lang="zh-CN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（</a:t>
                </a:r>
                <a:r>
                  <a:rPr lang="en-US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3</a:t>
                </a:r>
                <a:r>
                  <a:rPr lang="zh-CN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）令</a:t>
                </a:r>
                <a14:m>
                  <m:oMath xmlns:m="http://schemas.openxmlformats.org/officeDocument/2006/math">
                    <m:r>
                      <a:rPr lang="en-US" altLang="zh-CN" sz="2400" b="1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𝑺</m:t>
                    </m:r>
                    <m:r>
                      <a:rPr lang="en-US" altLang="zh-CN" sz="2400" b="1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=</m:t>
                    </m:r>
                    <m:d>
                      <m:dPr>
                        <m:begChr m:val="（"/>
                        <m:endChr m:val="）"/>
                        <m:ctrlPr>
                          <a:rPr lang="zh-CN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𝑺</m:t>
                        </m:r>
                        <m:r>
                          <a:rPr lang="zh-CN" altLang="en-US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m:t>−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zh-CN" altLang="zh-CN" sz="2400" b="1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宋体" panose="0201060003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b="1" i="1" ker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宋体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ker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宋体" panose="02010600030101010101" pitchFamily="2" charset="-122"/>
                                  </a:rPr>
                                  <m:t>𝒘</m:t>
                                </m:r>
                              </m:e>
                              <m:sub>
                                <m:r>
                                  <a:rPr lang="en-US" altLang="zh-CN" sz="2400" b="1" i="1" ker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宋体" panose="02010600030101010101" pitchFamily="2" charset="-122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n-US" altLang="zh-CN" sz="2400" b="1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宋体" panose="02010600030101010101" pitchFamily="2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zh-CN" sz="2400" b="1" i="1" ker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宋体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ker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宋体" panose="02010600030101010101" pitchFamily="2" charset="-122"/>
                                  </a:rPr>
                                  <m:t>𝒘</m:t>
                                </m:r>
                              </m:e>
                              <m:sub>
                                <m:r>
                                  <a:rPr lang="en-US" altLang="zh-CN" sz="2400" b="1" i="1" ker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宋体" panose="02010600030101010101" pitchFamily="2" charset="-122"/>
                                  </a:rPr>
                                  <m:t>𝒋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zh-CN" sz="2400" b="1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∪{</m:t>
                    </m:r>
                    <m:sSub>
                      <m:sSubPr>
                        <m:ctrlPr>
                          <a:rPr lang="zh-CN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𝒘</m:t>
                        </m:r>
                      </m:e>
                      <m:sub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𝒊</m:t>
                        </m:r>
                      </m:sub>
                    </m:sSub>
                    <m:r>
                      <a:rPr lang="en-US" altLang="zh-CN" sz="2400" b="1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+</m:t>
                    </m:r>
                    <m:sSub>
                      <m:sSubPr>
                        <m:ctrlPr>
                          <a:rPr lang="zh-CN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𝒘</m:t>
                        </m:r>
                      </m:e>
                      <m:sub>
                        <m:r>
                          <a:rPr lang="en-US" altLang="zh-CN" sz="2400" b="1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𝒋</m:t>
                        </m:r>
                      </m:sub>
                    </m:sSub>
                    <m:r>
                      <a:rPr lang="en-US" altLang="zh-CN" sz="2400" b="1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}</m:t>
                    </m:r>
                  </m:oMath>
                </a14:m>
                <a:r>
                  <a:rPr lang="zh-CN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；</a:t>
                </a:r>
                <a:endParaRPr lang="zh-CN" altLang="zh-CN" sz="24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>
                  <a:spcAft>
                    <a:spcPts val="0"/>
                  </a:spcAft>
                </a:pPr>
                <a:r>
                  <a:rPr lang="zh-CN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（</a:t>
                </a:r>
                <a:r>
                  <a:rPr lang="en-US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4</a:t>
                </a:r>
                <a:r>
                  <a:rPr lang="zh-CN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）判断</a:t>
                </a:r>
                <a14:m>
                  <m:oMath xmlns:m="http://schemas.openxmlformats.org/officeDocument/2006/math">
                    <m:r>
                      <a:rPr lang="en-US" altLang="zh-CN" sz="2400" b="1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𝑺</m:t>
                    </m:r>
                  </m:oMath>
                </a14:m>
                <a:r>
                  <a:rPr lang="zh-CN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是否只含一个元素。若是，则停止，否则转（</a:t>
                </a:r>
                <a:r>
                  <a:rPr lang="en-US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2</a:t>
                </a:r>
                <a:r>
                  <a:rPr lang="zh-CN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）。</a:t>
                </a:r>
                <a:endParaRPr lang="zh-CN" altLang="zh-CN" sz="24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3FF2E681-85E1-4F88-AA9F-F3F3C0AA22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1988840"/>
                <a:ext cx="8928992" cy="2474780"/>
              </a:xfrm>
              <a:prstGeom prst="rect">
                <a:avLst/>
              </a:prstGeom>
              <a:blipFill>
                <a:blip r:embed="rId4"/>
                <a:stretch>
                  <a:fillRect l="-1093" t="-2956" r="-888" b="-49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26EC1956-4A8E-4A05-9009-4CE2634E6A72}"/>
                  </a:ext>
                </a:extLst>
              </p:cNvPr>
              <p:cNvSpPr/>
              <p:nvPr/>
            </p:nvSpPr>
            <p:spPr>
              <a:xfrm>
                <a:off x="467544" y="4690824"/>
                <a:ext cx="8424936" cy="1427378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ts val="3600"/>
                  </a:lnSpc>
                </a:pPr>
                <a:r>
                  <a:rPr lang="en-US" altLang="zh-CN" sz="2400" dirty="0">
                    <a:solidFill>
                      <a:schemeClr val="tx1"/>
                    </a:solidFill>
                    <a:cs typeface="宋体" panose="02010600030101010101" pitchFamily="2" charset="-122"/>
                  </a:rPr>
                  <a:t>    </a:t>
                </a:r>
                <a:r>
                  <a:rPr lang="zh-CN" altLang="zh-CN" sz="2400" b="1" dirty="0">
                    <a:solidFill>
                      <a:schemeClr val="tx1"/>
                    </a:solidFill>
                    <a:cs typeface="宋体" panose="02010600030101010101" pitchFamily="2" charset="-122"/>
                  </a:rPr>
                  <a:t>可以看出，霍夫曼算法采用递推的方式构造最优树</a:t>
                </a:r>
                <a:r>
                  <a:rPr lang="zh-CN" altLang="en-US" sz="2400" b="1" dirty="0">
                    <a:solidFill>
                      <a:schemeClr val="tx1"/>
                    </a:solidFill>
                    <a:cs typeface="宋体" panose="02010600030101010101" pitchFamily="2" charset="-122"/>
                  </a:rPr>
                  <a:t>。</a:t>
                </a:r>
                <a:r>
                  <a:rPr lang="zh-CN" altLang="zh-CN" sz="2400" b="1" dirty="0">
                    <a:solidFill>
                      <a:schemeClr val="tx1"/>
                    </a:solidFill>
                    <a:cs typeface="宋体" panose="02010600030101010101" pitchFamily="2" charset="-122"/>
                  </a:rPr>
                  <a:t>核心思想是</a:t>
                </a:r>
                <a:r>
                  <a:rPr lang="zh-CN" altLang="en-US" sz="2400" b="1" dirty="0">
                    <a:solidFill>
                      <a:schemeClr val="tx1"/>
                    </a:solidFill>
                    <a:cs typeface="宋体" panose="02010600030101010101" pitchFamily="2" charset="-122"/>
                  </a:rPr>
                  <a:t>：</a:t>
                </a:r>
                <a:r>
                  <a:rPr lang="zh-CN" altLang="zh-CN" sz="2400" b="1" dirty="0">
                    <a:solidFill>
                      <a:schemeClr val="tx1"/>
                    </a:solidFill>
                    <a:cs typeface="宋体" panose="02010600030101010101" pitchFamily="2" charset="-122"/>
                  </a:rPr>
                  <a:t>逐步从从带权为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𝒘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+</m:t>
                    </m:r>
                    <m:sSub>
                      <m:sSubPr>
                        <m:ctrlPr>
                          <a:rPr lang="zh-CN" altLang="zh-CN" sz="2400" b="1" i="1" ker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𝒘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𝟐</m:t>
                        </m:r>
                      </m:sub>
                    </m:sSub>
                    <m:r>
                      <a:rPr lang="en-US" altLang="zh-CN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,</m:t>
                    </m:r>
                    <m:sSub>
                      <m:sSubPr>
                        <m:ctrlPr>
                          <a:rPr lang="zh-CN" altLang="zh-CN" sz="2400" b="1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𝒘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𝟑</m:t>
                        </m:r>
                      </m:sub>
                    </m:sSub>
                    <m:r>
                      <a:rPr lang="en-US" altLang="zh-CN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,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⋯</m:t>
                    </m:r>
                    <m:r>
                      <a:rPr lang="en-US" altLang="zh-CN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,</m:t>
                    </m:r>
                    <m:sSub>
                      <m:sSubPr>
                        <m:ctrlPr>
                          <a:rPr lang="zh-CN" altLang="zh-CN" sz="2400" b="1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𝒘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  <a:cs typeface="宋体" panose="02010600030101010101" pitchFamily="2" charset="-122"/>
                  </a:rPr>
                  <a:t>的最优树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400" b="1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𝑻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  <a:cs typeface="宋体" panose="02010600030101010101" pitchFamily="2" charset="-122"/>
                  </a:rPr>
                  <a:t>中得到带权为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𝒘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𝟏</m:t>
                        </m:r>
                      </m:sub>
                    </m:sSub>
                    <m:r>
                      <a:rPr lang="zh-CN" altLang="zh-CN" sz="2400" b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，</m:t>
                    </m:r>
                    <m:sSub>
                      <m:sSubPr>
                        <m:ctrlPr>
                          <a:rPr lang="zh-CN" altLang="zh-CN" sz="2400" b="1" i="1" ker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𝒘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𝟐</m:t>
                        </m:r>
                      </m:sub>
                    </m:sSub>
                    <m:r>
                      <a:rPr lang="zh-CN" altLang="zh-CN" sz="2400" b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，</m:t>
                    </m:r>
                    <m:r>
                      <a:rPr lang="en-US" altLang="zh-CN" sz="2400" b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⋯</m:t>
                    </m:r>
                    <m:r>
                      <a:rPr lang="zh-CN" altLang="zh-CN" sz="2400" b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，</m:t>
                    </m:r>
                    <m:sSub>
                      <m:sSubPr>
                        <m:ctrlPr>
                          <a:rPr lang="zh-CN" altLang="zh-CN" sz="2400" b="1" i="1" ker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𝒘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  <a:cs typeface="宋体" panose="02010600030101010101" pitchFamily="2" charset="-122"/>
                  </a:rPr>
                  <a:t>的最优树。</a:t>
                </a:r>
                <a:endParaRPr lang="zh-CN" alt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26EC1956-4A8E-4A05-9009-4CE2634E6A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4690824"/>
                <a:ext cx="8424936" cy="1427378"/>
              </a:xfrm>
              <a:prstGeom prst="rect">
                <a:avLst/>
              </a:prstGeom>
              <a:blipFill>
                <a:blip r:embed="rId5"/>
                <a:stretch>
                  <a:fillRect l="-1158" t="-1702" b="-72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wipe dir="r"/>
  </p:transition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日期占位符 3">
            <a:extLst>
              <a:ext uri="{FF2B5EF4-FFF2-40B4-BE49-F238E27FC236}">
                <a16:creationId xmlns:a16="http://schemas.microsoft.com/office/drawing/2014/main" id="{ED79A805-C0DC-4488-9680-5DD8180B93C1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50E3CFA-634B-42BD-989F-17B4014BBB18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38243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1A02C997-EBEA-4DBB-8793-736D091C22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25" y="549275"/>
            <a:ext cx="1095375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8244" name="Text Box 2">
            <a:extLst>
              <a:ext uri="{FF2B5EF4-FFF2-40B4-BE49-F238E27FC236}">
                <a16:creationId xmlns:a16="http://schemas.microsoft.com/office/drawing/2014/main" id="{9ED2042B-3A00-4940-A99E-16465DA673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92150"/>
            <a:ext cx="6335712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例 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A33B4CB-F92C-4271-A0FC-4E295F908EE6}"/>
              </a:ext>
            </a:extLst>
          </p:cNvPr>
          <p:cNvSpPr/>
          <p:nvPr/>
        </p:nvSpPr>
        <p:spPr>
          <a:xfrm>
            <a:off x="647341" y="1835662"/>
            <a:ext cx="7704856" cy="1311193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pPr indent="266700">
              <a:lnSpc>
                <a:spcPct val="150000"/>
              </a:lnSpc>
              <a:spcAft>
                <a:spcPts val="0"/>
              </a:spcAft>
            </a:pPr>
            <a:r>
              <a:rPr lang="zh-CN" altLang="zh-CN" sz="2800" b="1" kern="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【</a:t>
            </a:r>
            <a:r>
              <a:rPr lang="zh-CN" altLang="zh-CN" sz="28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例题</a:t>
            </a:r>
            <a:r>
              <a:rPr lang="zh-CN" altLang="zh-CN" sz="2800" b="1" kern="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】 求带权</a:t>
            </a:r>
            <a:r>
              <a:rPr lang="en-US" altLang="zh-CN" sz="2800" b="1" kern="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zh-CN" sz="2800" b="1" kern="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800" b="1" kern="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6</a:t>
            </a:r>
            <a:r>
              <a:rPr lang="zh-CN" altLang="zh-CN" sz="2800" b="1" kern="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800" b="1" kern="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9</a:t>
            </a:r>
            <a:r>
              <a:rPr lang="zh-CN" altLang="zh-CN" sz="2800" b="1" kern="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800" b="1" kern="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11</a:t>
            </a:r>
            <a:r>
              <a:rPr lang="zh-CN" altLang="zh-CN" sz="2800" b="1" kern="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800" b="1" kern="0" dirty="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15</a:t>
            </a:r>
            <a:r>
              <a:rPr lang="zh-CN" altLang="zh-CN" sz="2800" b="1" kern="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的最优树。</a:t>
            </a:r>
            <a:endParaRPr lang="en-US" altLang="zh-CN" sz="2800" b="1" kern="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>
              <a:lnSpc>
                <a:spcPct val="150000"/>
              </a:lnSpc>
              <a:spcAft>
                <a:spcPts val="0"/>
              </a:spcAft>
            </a:pPr>
            <a:r>
              <a:rPr lang="zh-CN" altLang="zh-CN" sz="2800" b="1" dirty="0">
                <a:solidFill>
                  <a:schemeClr val="tx1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【解】</a:t>
            </a:r>
            <a:r>
              <a:rPr lang="zh-CN" altLang="en-US" sz="2800" b="1" dirty="0">
                <a:solidFill>
                  <a:schemeClr val="tx1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构造</a:t>
            </a:r>
            <a:r>
              <a:rPr lang="zh-CN" altLang="zh-CN" sz="2800" b="1" dirty="0">
                <a:solidFill>
                  <a:schemeClr val="tx1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过程如</a:t>
            </a:r>
            <a:r>
              <a:rPr lang="zh-CN" altLang="en-US" sz="2800" b="1" dirty="0">
                <a:solidFill>
                  <a:schemeClr val="tx1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下</a:t>
            </a:r>
            <a:r>
              <a:rPr lang="zh-CN" altLang="zh-CN" sz="2800" b="1" dirty="0">
                <a:solidFill>
                  <a:schemeClr val="tx1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图所示。</a:t>
            </a:r>
            <a:endParaRPr lang="zh-CN" altLang="zh-CN" sz="2800" b="1" kern="10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19F3227-4667-4A5E-A1E2-DFD658F751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28" y="3429000"/>
            <a:ext cx="8812080" cy="2555265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日期占位符 3">
            <a:extLst>
              <a:ext uri="{FF2B5EF4-FFF2-40B4-BE49-F238E27FC236}">
                <a16:creationId xmlns:a16="http://schemas.microsoft.com/office/drawing/2014/main" id="{F90068FA-F183-42F1-B755-CC12B28CEC3B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443216E-FFAB-4F04-AFD1-93946B0E8230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40291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FD73941D-45E3-448B-A557-05DE4E332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25" y="549275"/>
            <a:ext cx="1095375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0292" name="Text Box 2">
            <a:extLst>
              <a:ext uri="{FF2B5EF4-FFF2-40B4-BE49-F238E27FC236}">
                <a16:creationId xmlns:a16="http://schemas.microsoft.com/office/drawing/2014/main" id="{C05F24D4-7C15-4B33-A16D-CDEF0831F0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92150"/>
            <a:ext cx="6335712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例 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323F502-1B44-45D0-A464-BDCA7874AA7A}"/>
              </a:ext>
            </a:extLst>
          </p:cNvPr>
          <p:cNvSpPr/>
          <p:nvPr/>
        </p:nvSpPr>
        <p:spPr>
          <a:xfrm>
            <a:off x="467544" y="1625015"/>
            <a:ext cx="8352928" cy="27991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b="1" kern="0" dirty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zh-CN" altLang="zh-CN" sz="2400" b="1" kern="0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【</a:t>
            </a:r>
            <a:r>
              <a:rPr lang="zh-CN" altLang="zh-CN" sz="2400" b="1" kern="100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例题</a:t>
            </a:r>
            <a:r>
              <a:rPr lang="zh-CN" altLang="zh-CN" sz="2400" b="1" kern="0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】 已知在通信中，十进制数字出现的频率分别是：</a:t>
            </a:r>
            <a:endParaRPr lang="zh-CN" altLang="zh-CN" sz="2400" b="1" kern="100" dirty="0">
              <a:solidFill>
                <a:schemeClr val="bg1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1600200">
              <a:lnSpc>
                <a:spcPct val="150000"/>
              </a:lnSpc>
              <a:spcAft>
                <a:spcPts val="0"/>
              </a:spcAft>
            </a:pPr>
            <a:r>
              <a:rPr lang="en-US" altLang="zh-CN" sz="2400" b="1" kern="0" dirty="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zh-CN" sz="2400" b="1" kern="0" dirty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zh-CN" sz="2400" b="1" kern="0" dirty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20%  1</a:t>
            </a:r>
            <a:r>
              <a:rPr lang="zh-CN" altLang="zh-CN" sz="2400" b="1" kern="0" dirty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zh-CN" sz="2400" b="1" kern="0" dirty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15%   2</a:t>
            </a:r>
            <a:r>
              <a:rPr lang="zh-CN" altLang="zh-CN" sz="2400" b="1" kern="0" dirty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zh-CN" sz="2400" b="1" kern="0" dirty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10%   3</a:t>
            </a:r>
            <a:r>
              <a:rPr lang="zh-CN" altLang="zh-CN" sz="2400" b="1" kern="0" dirty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zh-CN" sz="2400" b="1" kern="0" dirty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10%    4:10%</a:t>
            </a:r>
            <a:endParaRPr lang="zh-CN" altLang="zh-CN" sz="2400" b="1" kern="100" dirty="0">
              <a:solidFill>
                <a:srgbClr val="FFFF00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16002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b="1" kern="0" dirty="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zh-CN" sz="2400" b="1" kern="0" dirty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zh-CN" sz="2400" b="1" kern="0" dirty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5%    6</a:t>
            </a:r>
            <a:r>
              <a:rPr lang="zh-CN" altLang="zh-CN" sz="2400" b="1" kern="0" dirty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zh-CN" sz="2400" b="1" kern="0" dirty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10%   7</a:t>
            </a:r>
            <a:r>
              <a:rPr lang="zh-CN" altLang="zh-CN" sz="2400" b="1" kern="0" dirty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zh-CN" sz="2400" b="1" kern="0" dirty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5%      8</a:t>
            </a:r>
            <a:r>
              <a:rPr lang="zh-CN" altLang="zh-CN" sz="2400" b="1" kern="0" dirty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zh-CN" sz="2400" b="1" kern="0" dirty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10%    9:5%</a:t>
            </a:r>
            <a:endParaRPr lang="zh-CN" altLang="zh-CN" sz="2400" b="1" kern="100" dirty="0">
              <a:solidFill>
                <a:srgbClr val="FFFF00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b="1" kern="0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    </a:t>
            </a:r>
            <a:r>
              <a:rPr lang="zh-CN" altLang="en-US" sz="2400" b="1" kern="0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试</a:t>
            </a:r>
            <a:r>
              <a:rPr lang="zh-CN" altLang="zh-CN" sz="2400" b="1" kern="0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求传输它们的最佳前缀码，当用最佳前缀码传输</a:t>
            </a:r>
            <a:r>
              <a:rPr lang="en-US" altLang="zh-CN" sz="2400" b="1" kern="0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10000</a:t>
            </a:r>
            <a:r>
              <a:rPr lang="zh-CN" altLang="zh-CN" sz="2400" b="1" kern="0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个按上述频率出现的数字需要多少个二进制码？ </a:t>
            </a:r>
            <a:endParaRPr lang="zh-CN" altLang="zh-CN" sz="2400" b="1" kern="100" dirty="0">
              <a:solidFill>
                <a:schemeClr val="bg1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54FECB19-C428-49CE-B45D-BDAD6BD1E8AA}"/>
                  </a:ext>
                </a:extLst>
              </p:cNvPr>
              <p:cNvSpPr/>
              <p:nvPr/>
            </p:nvSpPr>
            <p:spPr>
              <a:xfrm>
                <a:off x="503548" y="4520496"/>
                <a:ext cx="8352928" cy="1754326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zh-CN" sz="2400" b="1" kern="0" dirty="0">
                    <a:solidFill>
                      <a:schemeClr val="tx1"/>
                    </a:solidFill>
                    <a:latin typeface="+mj-lt"/>
                    <a:ea typeface="宋体" panose="02010600030101010101" pitchFamily="2" charset="-122"/>
                    <a:cs typeface="宋体" panose="02010600030101010101" pitchFamily="2" charset="-122"/>
                  </a:rPr>
                  <a:t>【解】（</a:t>
                </a:r>
                <a:r>
                  <a:rPr lang="en-US" altLang="zh-CN" sz="2400" b="1" kern="0" dirty="0">
                    <a:solidFill>
                      <a:schemeClr val="tx1"/>
                    </a:solidFill>
                    <a:latin typeface="+mj-lt"/>
                    <a:ea typeface="宋体" panose="02010600030101010101" pitchFamily="2" charset="-122"/>
                    <a:cs typeface="宋体" panose="02010600030101010101" pitchFamily="2" charset="-122"/>
                  </a:rPr>
                  <a:t>1</a:t>
                </a:r>
                <a:r>
                  <a:rPr lang="zh-CN" altLang="zh-CN" sz="2400" b="1" kern="0" dirty="0">
                    <a:solidFill>
                      <a:schemeClr val="tx1"/>
                    </a:solidFill>
                    <a:latin typeface="+mj-lt"/>
                    <a:ea typeface="宋体" panose="02010600030101010101" pitchFamily="2" charset="-122"/>
                    <a:cs typeface="宋体" panose="02010600030101010101" pitchFamily="2" charset="-122"/>
                  </a:rPr>
                  <a:t>）令</a:t>
                </a:r>
                <a:r>
                  <a:rPr lang="en-US" altLang="zh-CN" sz="2400" b="1" i="1" kern="0" dirty="0" err="1">
                    <a:solidFill>
                      <a:schemeClr val="tx1"/>
                    </a:solidFill>
                    <a:latin typeface="+mj-lt"/>
                    <a:ea typeface="宋体" panose="02010600030101010101" pitchFamily="2" charset="-122"/>
                    <a:cs typeface="宋体" panose="02010600030101010101" pitchFamily="2" charset="-122"/>
                  </a:rPr>
                  <a:t>i</a:t>
                </a:r>
                <a:r>
                  <a:rPr lang="zh-CN" altLang="zh-CN" sz="2400" b="1" kern="0" dirty="0">
                    <a:solidFill>
                      <a:schemeClr val="tx1"/>
                    </a:solidFill>
                    <a:latin typeface="+mj-lt"/>
                    <a:ea typeface="宋体" panose="02010600030101010101" pitchFamily="2" charset="-122"/>
                    <a:cs typeface="宋体" panose="02010600030101010101" pitchFamily="2" charset="-122"/>
                  </a:rPr>
                  <a:t>对应的树叶的权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𝒘</m:t>
                        </m:r>
                      </m:e>
                      <m:sub>
                        <m:r>
                          <a:rPr lang="en-US" altLang="zh-CN" sz="2400" b="1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𝒊</m:t>
                        </m:r>
                      </m:sub>
                    </m:sSub>
                    <m:r>
                      <a:rPr lang="en-US" altLang="zh-CN" sz="2400" b="1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=</m:t>
                    </m:r>
                    <m:r>
                      <a:rPr lang="en-US" altLang="zh-CN" sz="2400" b="1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𝟏𝟎𝟎</m:t>
                    </m:r>
                    <m:sSub>
                      <m:sSubPr>
                        <m:ctrlPr>
                          <a:rPr lang="zh-CN" altLang="zh-CN" sz="2400" b="1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𝒑</m:t>
                        </m:r>
                      </m:e>
                      <m:sub>
                        <m:r>
                          <a:rPr lang="en-US" altLang="zh-CN" sz="2400" b="1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zh-CN" sz="2400" b="1" kern="0" dirty="0">
                    <a:solidFill>
                      <a:schemeClr val="tx1"/>
                    </a:solidFill>
                    <a:latin typeface="+mj-lt"/>
                    <a:ea typeface="宋体" panose="02010600030101010101" pitchFamily="2" charset="-122"/>
                    <a:cs typeface="宋体" panose="02010600030101010101" pitchFamily="2" charset="-122"/>
                  </a:rPr>
                  <a:t>，则</a:t>
                </a:r>
                <a:r>
                  <a:rPr lang="zh-CN" altLang="en-US" sz="2400" b="1" kern="0" dirty="0">
                    <a:solidFill>
                      <a:schemeClr val="tx1"/>
                    </a:solidFill>
                    <a:latin typeface="+mj-lt"/>
                    <a:ea typeface="宋体" panose="02010600030101010101" pitchFamily="2" charset="-122"/>
                    <a:cs typeface="宋体" panose="02010600030101010101" pitchFamily="2" charset="-122"/>
                  </a:rPr>
                  <a:t>有：</a:t>
                </a:r>
                <a:endParaRPr lang="zh-CN" altLang="zh-CN" sz="2400" b="1" kern="100" dirty="0">
                  <a:solidFill>
                    <a:schemeClr val="tx1"/>
                  </a:solidFill>
                  <a:latin typeface="+mj-lt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5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b="1" i="1" kern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1" i="1" ker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 </m:t>
                          </m:r>
                          <m:r>
                            <a:rPr lang="en-US" altLang="zh-CN" sz="2400" b="1" i="1" ker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𝒘</m:t>
                          </m:r>
                        </m:e>
                        <m:sub>
                          <m:r>
                            <a:rPr lang="en-US" altLang="zh-CN" sz="2400" b="1" i="1" ker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𝟎</m:t>
                          </m:r>
                        </m:sub>
                      </m:sSub>
                      <m:r>
                        <a:rPr lang="en-US" altLang="zh-CN" sz="2400" b="1" i="1" ker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=</m:t>
                      </m:r>
                      <m:r>
                        <a:rPr lang="en-US" altLang="zh-CN" sz="2400" b="1" i="1" ker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𝟐𝟎</m:t>
                      </m:r>
                      <m:r>
                        <a:rPr lang="en-US" altLang="zh-CN" sz="2400" b="1" i="1" ker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  </m:t>
                      </m:r>
                      <m:sSub>
                        <m:sSubPr>
                          <m:ctrlPr>
                            <a:rPr lang="zh-CN" altLang="zh-CN" sz="2400" b="1" i="1" ker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1" i="1" ker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𝒘</m:t>
                          </m:r>
                        </m:e>
                        <m:sub>
                          <m:r>
                            <a:rPr lang="en-US" altLang="zh-CN" sz="2400" b="1" i="1" ker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sz="2400" b="1" i="1" ker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=</m:t>
                      </m:r>
                      <m:r>
                        <a:rPr lang="en-US" altLang="zh-CN" sz="2400" b="1" i="1" ker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𝟏𝟓</m:t>
                      </m:r>
                      <m:r>
                        <a:rPr lang="en-US" altLang="zh-CN" sz="2400" b="1" i="1" ker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  </m:t>
                      </m:r>
                      <m:sSub>
                        <m:sSubPr>
                          <m:ctrlPr>
                            <a:rPr lang="zh-CN" altLang="zh-CN" sz="2400" b="1" i="1" ker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1" i="1" ker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𝒘</m:t>
                          </m:r>
                        </m:e>
                        <m:sub>
                          <m:r>
                            <a:rPr lang="en-US" altLang="zh-CN" sz="2400" b="1" i="1" ker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sz="2400" b="1" i="1" ker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=</m:t>
                      </m:r>
                      <m:r>
                        <a:rPr lang="en-US" altLang="zh-CN" sz="2400" b="1" i="1" ker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𝟏𝟎</m:t>
                      </m:r>
                      <m:r>
                        <a:rPr lang="en-US" altLang="zh-CN" sz="2400" b="1" i="1" ker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  </m:t>
                      </m:r>
                      <m:sSub>
                        <m:sSubPr>
                          <m:ctrlPr>
                            <a:rPr lang="zh-CN" altLang="zh-CN" sz="2400" b="1" i="1" ker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1" i="1" ker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𝒘</m:t>
                          </m:r>
                        </m:e>
                        <m:sub>
                          <m:r>
                            <a:rPr lang="en-US" altLang="zh-CN" sz="2400" b="1" i="1" ker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𝟑</m:t>
                          </m:r>
                        </m:sub>
                      </m:sSub>
                      <m:r>
                        <a:rPr lang="en-US" altLang="zh-CN" sz="2400" b="1" ker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=</m:t>
                      </m:r>
                      <m:r>
                        <a:rPr lang="en-US" altLang="zh-CN" sz="2400" b="1" i="1" ker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𝟏𝟎</m:t>
                      </m:r>
                      <m:r>
                        <a:rPr lang="en-US" altLang="zh-CN" sz="2400" b="1" ker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  </m:t>
                      </m:r>
                      <m:sSub>
                        <m:sSubPr>
                          <m:ctrlPr>
                            <a:rPr lang="zh-CN" altLang="zh-CN" sz="2400" b="1" i="1" ker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1" i="1" ker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𝒘</m:t>
                          </m:r>
                        </m:e>
                        <m:sub>
                          <m:r>
                            <a:rPr lang="en-US" altLang="zh-CN" sz="2400" b="1" i="1" ker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𝟒</m:t>
                          </m:r>
                        </m:sub>
                      </m:sSub>
                      <m:r>
                        <a:rPr lang="en-US" altLang="zh-CN" sz="2400" b="1" i="1" ker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=</m:t>
                      </m:r>
                      <m:r>
                        <a:rPr lang="en-US" altLang="zh-CN" sz="2400" b="1" i="1" ker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𝟏𝟎</m:t>
                      </m:r>
                    </m:oMath>
                  </m:oMathPara>
                </a14:m>
                <a:endParaRPr lang="zh-CN" altLang="zh-CN" sz="2400" b="1" kern="100" dirty="0">
                  <a:solidFill>
                    <a:srgbClr val="0000FF"/>
                  </a:solidFill>
                  <a:latin typeface="+mj-lt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5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b="1" i="1" ker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1" i="1" ker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𝒘</m:t>
                          </m:r>
                        </m:e>
                        <m:sub>
                          <m:r>
                            <a:rPr lang="en-US" altLang="zh-CN" sz="2400" b="1" i="1" ker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𝟒</m:t>
                          </m:r>
                        </m:sub>
                      </m:sSub>
                      <m:r>
                        <a:rPr lang="en-US" altLang="zh-CN" sz="2400" b="1" i="1" ker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=</m:t>
                      </m:r>
                      <m:r>
                        <a:rPr lang="en-US" altLang="zh-CN" sz="2400" b="1" i="1" ker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𝟓</m:t>
                      </m:r>
                      <m:r>
                        <a:rPr lang="en-US" altLang="zh-CN" sz="2400" b="1" i="1" ker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   </m:t>
                      </m:r>
                      <m:sSub>
                        <m:sSubPr>
                          <m:ctrlPr>
                            <a:rPr lang="zh-CN" altLang="zh-CN" sz="2400" b="1" i="1" ker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1" i="1" ker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𝒘</m:t>
                          </m:r>
                        </m:e>
                        <m:sub>
                          <m:r>
                            <a:rPr lang="en-US" altLang="zh-CN" sz="2400" b="1" i="1" ker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𝟔</m:t>
                          </m:r>
                        </m:sub>
                      </m:sSub>
                      <m:r>
                        <a:rPr lang="en-US" altLang="zh-CN" sz="2400" b="1" i="1" ker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=</m:t>
                      </m:r>
                      <m:r>
                        <a:rPr lang="en-US" altLang="zh-CN" sz="2400" b="1" i="1" ker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𝟏𝟎</m:t>
                      </m:r>
                      <m:r>
                        <a:rPr lang="en-US" altLang="zh-CN" sz="2400" b="1" i="1" ker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  </m:t>
                      </m:r>
                      <m:sSub>
                        <m:sSubPr>
                          <m:ctrlPr>
                            <a:rPr lang="zh-CN" altLang="zh-CN" sz="2400" b="1" i="1" ker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1" i="1" ker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𝒘</m:t>
                          </m:r>
                        </m:e>
                        <m:sub>
                          <m:r>
                            <a:rPr lang="en-US" altLang="zh-CN" sz="2400" b="1" i="1" ker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𝟕</m:t>
                          </m:r>
                        </m:sub>
                      </m:sSub>
                      <m:r>
                        <a:rPr lang="en-US" altLang="zh-CN" sz="2400" b="1" i="1" ker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=</m:t>
                      </m:r>
                      <m:r>
                        <a:rPr lang="en-US" altLang="zh-CN" sz="2400" b="1" i="1" ker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𝟓</m:t>
                      </m:r>
                      <m:r>
                        <a:rPr lang="en-US" altLang="zh-CN" sz="2400" b="1" i="1" ker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   </m:t>
                      </m:r>
                      <m:sSub>
                        <m:sSubPr>
                          <m:ctrlPr>
                            <a:rPr lang="zh-CN" altLang="zh-CN" sz="2400" b="1" i="1" ker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1" i="1" ker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𝒘</m:t>
                          </m:r>
                        </m:e>
                        <m:sub>
                          <m:r>
                            <a:rPr lang="en-US" altLang="zh-CN" sz="2400" b="1" i="1" ker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𝟖</m:t>
                          </m:r>
                        </m:sub>
                      </m:sSub>
                      <m:r>
                        <a:rPr lang="en-US" altLang="zh-CN" sz="2400" b="1" ker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=</m:t>
                      </m:r>
                      <m:r>
                        <a:rPr lang="en-US" altLang="zh-CN" sz="2400" b="1" i="1" ker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𝟏𝟎</m:t>
                      </m:r>
                      <m:r>
                        <a:rPr lang="en-US" altLang="zh-CN" sz="2400" b="1" ker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  </m:t>
                      </m:r>
                      <m:sSub>
                        <m:sSubPr>
                          <m:ctrlPr>
                            <a:rPr lang="zh-CN" altLang="zh-CN" sz="2400" b="1" i="1" ker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b="1" i="1" ker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𝒘</m:t>
                          </m:r>
                        </m:e>
                        <m:sub>
                          <m:r>
                            <a:rPr lang="en-US" altLang="zh-CN" sz="2400" b="1" i="1" ker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𝟗</m:t>
                          </m:r>
                        </m:sub>
                      </m:sSub>
                      <m:r>
                        <a:rPr lang="en-US" altLang="zh-CN" sz="2400" b="1" i="1" ker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=</m:t>
                      </m:r>
                      <m:r>
                        <a:rPr lang="en-US" altLang="zh-CN" sz="2400" b="1" i="1" ker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𝟓</m:t>
                      </m:r>
                    </m:oMath>
                  </m:oMathPara>
                </a14:m>
                <a:endParaRPr lang="zh-CN" altLang="zh-CN" sz="2400" b="1" kern="100" dirty="0">
                  <a:solidFill>
                    <a:srgbClr val="0000FF"/>
                  </a:solidFill>
                  <a:latin typeface="+mj-lt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54FECB19-C428-49CE-B45D-BDAD6BD1E8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548" y="4520496"/>
                <a:ext cx="8352928" cy="1754326"/>
              </a:xfrm>
              <a:prstGeom prst="rect">
                <a:avLst/>
              </a:prstGeom>
              <a:blipFill>
                <a:blip r:embed="rId4"/>
                <a:stretch>
                  <a:fillRect l="-11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wipe dir="r"/>
  </p:transition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日期占位符 3">
            <a:extLst>
              <a:ext uri="{FF2B5EF4-FFF2-40B4-BE49-F238E27FC236}">
                <a16:creationId xmlns:a16="http://schemas.microsoft.com/office/drawing/2014/main" id="{C162C428-373D-472C-B686-389046D0D5F1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3FB73BA-D342-43A5-BB35-D1B963599B46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41315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E908A0E5-8B15-403D-B8BB-6C066DA92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8384" y="549275"/>
            <a:ext cx="991505" cy="1041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1316" name="Text Box 2">
            <a:extLst>
              <a:ext uri="{FF2B5EF4-FFF2-40B4-BE49-F238E27FC236}">
                <a16:creationId xmlns:a16="http://schemas.microsoft.com/office/drawing/2014/main" id="{93A8410A-0D8B-4BF7-B45C-BB7BDB2E60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92150"/>
            <a:ext cx="6335712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例 题</a:t>
            </a:r>
          </a:p>
        </p:txBody>
      </p:sp>
      <p:pic>
        <p:nvPicPr>
          <p:cNvPr id="141319" name="图片 4">
            <a:extLst>
              <a:ext uri="{FF2B5EF4-FFF2-40B4-BE49-F238E27FC236}">
                <a16:creationId xmlns:a16="http://schemas.microsoft.com/office/drawing/2014/main" id="{8F7F00F1-82AF-4AB5-AF23-D7F75D6392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852351"/>
            <a:ext cx="7282182" cy="3456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582AB436-915E-4EE2-94F8-121A29DF46B5}"/>
              </a:ext>
            </a:extLst>
          </p:cNvPr>
          <p:cNvSpPr/>
          <p:nvPr/>
        </p:nvSpPr>
        <p:spPr>
          <a:xfrm>
            <a:off x="544239" y="1656811"/>
            <a:ext cx="8280920" cy="1113766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2400" b="1" kern="0" dirty="0">
                <a:solidFill>
                  <a:schemeClr val="tx1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   【</a:t>
            </a:r>
            <a:r>
              <a:rPr lang="zh-CN" altLang="en-US" sz="2400" b="1" kern="0" dirty="0">
                <a:solidFill>
                  <a:schemeClr val="tx1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解</a:t>
            </a:r>
            <a:r>
              <a:rPr lang="en-US" altLang="zh-CN" sz="2400" b="1" kern="0" dirty="0">
                <a:solidFill>
                  <a:schemeClr val="tx1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2400" b="1" kern="0" dirty="0">
                <a:solidFill>
                  <a:schemeClr val="tx1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续</a:t>
            </a:r>
            <a:r>
              <a:rPr lang="en-US" altLang="zh-CN" sz="2400" b="1" kern="0" dirty="0">
                <a:solidFill>
                  <a:schemeClr val="tx1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)】</a:t>
            </a:r>
            <a:r>
              <a:rPr lang="zh-CN" altLang="zh-CN" sz="2400" b="1" kern="0" dirty="0">
                <a:solidFill>
                  <a:schemeClr val="tx1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构造带</a:t>
            </a:r>
            <a:r>
              <a:rPr lang="zh-CN" altLang="en-US" sz="2400" b="1" kern="0" dirty="0">
                <a:solidFill>
                  <a:schemeClr val="tx1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权</a:t>
            </a:r>
            <a:r>
              <a:rPr lang="en-US" altLang="zh-CN" sz="2400" b="1" kern="0" dirty="0">
                <a:solidFill>
                  <a:schemeClr val="tx1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5,5,5,10,10,10,10,10,15,20</a:t>
            </a:r>
            <a:r>
              <a:rPr lang="zh-CN" altLang="zh-CN" sz="2400" b="1" kern="0" dirty="0">
                <a:solidFill>
                  <a:schemeClr val="tx1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的最优二元树如</a:t>
            </a:r>
            <a:r>
              <a:rPr lang="zh-CN" altLang="en-US" sz="2400" b="1" kern="0" dirty="0">
                <a:solidFill>
                  <a:schemeClr val="tx1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下图</a:t>
            </a:r>
            <a:r>
              <a:rPr lang="zh-CN" altLang="zh-CN" sz="2400" b="1" kern="0" dirty="0">
                <a:solidFill>
                  <a:schemeClr val="tx1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所示</a:t>
            </a:r>
            <a:r>
              <a:rPr lang="zh-CN" altLang="en-US" sz="2400" b="1" kern="0" dirty="0">
                <a:solidFill>
                  <a:schemeClr val="tx1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lang="zh-CN" altLang="zh-CN" sz="2400" b="1" kern="100" dirty="0">
              <a:solidFill>
                <a:srgbClr val="0000FF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日期占位符 3">
            <a:extLst>
              <a:ext uri="{FF2B5EF4-FFF2-40B4-BE49-F238E27FC236}">
                <a16:creationId xmlns:a16="http://schemas.microsoft.com/office/drawing/2014/main" id="{C162C428-373D-472C-B686-389046D0D5F1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3FB73BA-D342-43A5-BB35-D1B963599B46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41315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E908A0E5-8B15-403D-B8BB-6C066DA92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537703"/>
            <a:ext cx="971600" cy="1020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1316" name="Text Box 2">
            <a:extLst>
              <a:ext uri="{FF2B5EF4-FFF2-40B4-BE49-F238E27FC236}">
                <a16:creationId xmlns:a16="http://schemas.microsoft.com/office/drawing/2014/main" id="{93A8410A-0D8B-4BF7-B45C-BB7BDB2E60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4144" y="620688"/>
            <a:ext cx="6335712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例 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82AB436-915E-4EE2-94F8-121A29DF46B5}"/>
                  </a:ext>
                </a:extLst>
              </p:cNvPr>
              <p:cNvSpPr/>
              <p:nvPr/>
            </p:nvSpPr>
            <p:spPr>
              <a:xfrm>
                <a:off x="411977" y="1652218"/>
                <a:ext cx="8208912" cy="4645502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ts val="3600"/>
                  </a:lnSpc>
                  <a:spcAft>
                    <a:spcPts val="0"/>
                  </a:spcAft>
                </a:pPr>
                <a:r>
                  <a:rPr lang="en-US" altLang="zh-CN" sz="2400" b="1" kern="0" dirty="0">
                    <a:solidFill>
                      <a:schemeClr val="tx1"/>
                    </a:solidFill>
                    <a:ea typeface="宋体" panose="02010600030101010101" pitchFamily="2" charset="-122"/>
                    <a:cs typeface="宋体" panose="02010600030101010101" pitchFamily="2" charset="-122"/>
                  </a:rPr>
                  <a:t>   </a:t>
                </a:r>
                <a:r>
                  <a:rPr lang="en-US" altLang="zh-CN" sz="2400" b="1" kern="0" dirty="0">
                    <a:solidFill>
                      <a:schemeClr val="tx1"/>
                    </a:solidFill>
                    <a:latin typeface="+mj-ea"/>
                    <a:ea typeface="+mj-ea"/>
                    <a:cs typeface="宋体" panose="02010600030101010101" pitchFamily="2" charset="-122"/>
                  </a:rPr>
                  <a:t>【</a:t>
                </a:r>
                <a:r>
                  <a:rPr lang="zh-CN" altLang="en-US" sz="2400" b="1" kern="0" dirty="0">
                    <a:solidFill>
                      <a:schemeClr val="tx1"/>
                    </a:solidFill>
                    <a:latin typeface="+mj-ea"/>
                    <a:ea typeface="+mj-ea"/>
                    <a:cs typeface="宋体" panose="02010600030101010101" pitchFamily="2" charset="-122"/>
                  </a:rPr>
                  <a:t>解</a:t>
                </a:r>
                <a:r>
                  <a:rPr lang="en-US" altLang="zh-CN" sz="2400" b="1" kern="0" dirty="0">
                    <a:solidFill>
                      <a:schemeClr val="tx1"/>
                    </a:solidFill>
                    <a:latin typeface="+mj-ea"/>
                    <a:ea typeface="+mj-ea"/>
                    <a:cs typeface="宋体" panose="02010600030101010101" pitchFamily="2" charset="-122"/>
                  </a:rPr>
                  <a:t>(</a:t>
                </a:r>
                <a:r>
                  <a:rPr lang="zh-CN" altLang="en-US" sz="2400" b="1" kern="0" dirty="0">
                    <a:solidFill>
                      <a:schemeClr val="tx1"/>
                    </a:solidFill>
                    <a:latin typeface="+mj-ea"/>
                    <a:ea typeface="+mj-ea"/>
                    <a:cs typeface="宋体" panose="02010600030101010101" pitchFamily="2" charset="-122"/>
                  </a:rPr>
                  <a:t>续</a:t>
                </a:r>
                <a:r>
                  <a:rPr lang="en-US" altLang="zh-CN" sz="2400" b="1" kern="0" dirty="0">
                    <a:solidFill>
                      <a:schemeClr val="tx1"/>
                    </a:solidFill>
                    <a:latin typeface="+mj-ea"/>
                    <a:ea typeface="+mj-ea"/>
                    <a:cs typeface="宋体" panose="02010600030101010101" pitchFamily="2" charset="-122"/>
                  </a:rPr>
                  <a:t>)】</a:t>
                </a:r>
                <a:r>
                  <a:rPr lang="zh-CN" altLang="en-US" sz="2400" b="1" kern="0" dirty="0">
                    <a:solidFill>
                      <a:schemeClr val="tx1"/>
                    </a:solidFill>
                    <a:ea typeface="宋体" panose="02010600030101010101" pitchFamily="2" charset="-122"/>
                    <a:cs typeface="宋体" panose="02010600030101010101" pitchFamily="2" charset="-122"/>
                  </a:rPr>
                  <a:t>得到</a:t>
                </a:r>
                <a:r>
                  <a:rPr lang="zh-CN" altLang="zh-CN" sz="2400" b="1" kern="0" dirty="0">
                    <a:solidFill>
                      <a:schemeClr val="tx1"/>
                    </a:solidFill>
                    <a:ea typeface="宋体" panose="02010600030101010101" pitchFamily="2" charset="-122"/>
                    <a:cs typeface="宋体" panose="02010600030101010101" pitchFamily="2" charset="-122"/>
                  </a:rPr>
                  <a:t>最佳前缀码为：</a:t>
                </a:r>
                <a:endParaRPr lang="zh-CN" altLang="zh-CN" sz="2400" b="1" kern="100" dirty="0">
                  <a:solidFill>
                    <a:schemeClr val="tx1"/>
                  </a:solidFill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ts val="36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ker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{</m:t>
                      </m:r>
                      <m:r>
                        <a:rPr lang="en-US" altLang="zh-CN" sz="2400" b="1" i="1" ker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𝟏𝟎</m:t>
                      </m:r>
                      <m:r>
                        <a:rPr lang="zh-CN" altLang="zh-CN" sz="2400" b="1" ker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，</m:t>
                      </m:r>
                      <m:r>
                        <a:rPr lang="en-US" altLang="zh-CN" sz="2400" b="1" i="1" kern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𝟎𝟎𝟏</m:t>
                      </m:r>
                      <m:r>
                        <a:rPr lang="zh-CN" altLang="en-US" sz="2400" b="1" i="1" ker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，</m:t>
                      </m:r>
                      <m:r>
                        <a:rPr lang="en-US" altLang="zh-CN" sz="2400" b="1" i="1" kern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𝟎</m:t>
                      </m:r>
                      <m:r>
                        <a:rPr lang="en-US" altLang="zh-CN" sz="2400" b="1" i="1" ker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𝟏</m:t>
                      </m:r>
                      <m:r>
                        <a:rPr lang="en-US" altLang="zh-CN" sz="2400" b="1" i="1" kern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𝟎</m:t>
                      </m:r>
                      <m:r>
                        <a:rPr lang="zh-CN" altLang="zh-CN" sz="2400" b="1" ker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，</m:t>
                      </m:r>
                      <m:r>
                        <a:rPr lang="en-US" altLang="zh-CN" sz="2400" b="1" i="1" kern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𝟏𝟏𝟎</m:t>
                      </m:r>
                      <m:r>
                        <a:rPr lang="zh-CN" altLang="en-US" sz="2400" b="1" i="1" ker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，</m:t>
                      </m:r>
                      <m:r>
                        <a:rPr lang="en-US" altLang="zh-CN" sz="2400" b="1" i="0" kern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𝟏𝟏𝟏</m:t>
                      </m:r>
                      <m:r>
                        <a:rPr lang="zh-CN" altLang="en-US" sz="2400" b="1" i="1" ker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，</m:t>
                      </m:r>
                      <m:r>
                        <a:rPr lang="en-US" altLang="zh-CN" sz="2400" b="1" i="1" kern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𝟎𝟎𝟎𝟏</m:t>
                      </m:r>
                      <m:r>
                        <a:rPr lang="zh-CN" altLang="en-US" sz="2400" b="1" i="1" ker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，</m:t>
                      </m:r>
                    </m:oMath>
                  </m:oMathPara>
                </a14:m>
                <a:endParaRPr lang="en-US" altLang="zh-CN" sz="2400" b="1" i="1" kern="0" dirty="0">
                  <a:solidFill>
                    <a:srgbClr val="0000FF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indent="266700" algn="just">
                  <a:lnSpc>
                    <a:spcPts val="36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kern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𝟎𝟏𝟏𝟎</m:t>
                      </m:r>
                      <m:r>
                        <a:rPr lang="zh-CN" altLang="en-US" sz="2400" b="1" i="1" ker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，</m:t>
                      </m:r>
                      <m:r>
                        <a:rPr lang="en-US" altLang="zh-CN" sz="2400" b="1" i="1" kern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𝟎𝟏𝟏𝟏</m:t>
                      </m:r>
                      <m:r>
                        <a:rPr lang="zh-CN" altLang="zh-CN" sz="2400" b="1" ker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，</m:t>
                      </m:r>
                      <m:r>
                        <a:rPr lang="en-US" altLang="zh-CN" sz="2400" b="1" i="1" ker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𝟎𝟎𝟎𝟎</m:t>
                      </m:r>
                      <m:r>
                        <a:rPr lang="en-US" altLang="zh-CN" sz="2400" b="1" i="1" kern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𝟎</m:t>
                      </m:r>
                      <m:r>
                        <a:rPr lang="en-US" altLang="zh-CN" sz="2400" b="1" i="1" kern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,</m:t>
                      </m:r>
                      <m:r>
                        <a:rPr lang="en-US" altLang="zh-CN" sz="2400" b="1" i="1" kern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𝟎𝟎𝟎𝟎𝟏</m:t>
                      </m:r>
                      <m:r>
                        <a:rPr lang="en-US" altLang="zh-CN" sz="2400" b="1" ker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}</m:t>
                      </m:r>
                    </m:oMath>
                  </m:oMathPara>
                </a14:m>
                <a:endParaRPr lang="zh-CN" altLang="zh-CN" sz="2400" b="1" kern="100" dirty="0">
                  <a:solidFill>
                    <a:srgbClr val="0000FF"/>
                  </a:solidFill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ts val="3600"/>
                  </a:lnSpc>
                </a:pPr>
                <a:r>
                  <a:rPr lang="en-US" altLang="zh-CN" sz="24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    </a:t>
                </a:r>
                <a:r>
                  <a:rPr lang="zh-CN" altLang="zh-CN" sz="24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（</a:t>
                </a:r>
                <a:r>
                  <a:rPr lang="en-US" altLang="zh-CN" sz="24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2</a:t>
                </a:r>
                <a:r>
                  <a:rPr lang="zh-CN" altLang="zh-CN" sz="24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）</a:t>
                </a:r>
                <a:r>
                  <a:rPr lang="zh-CN" altLang="en-US" sz="24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则有：</a:t>
                </a:r>
                <a:endParaRPr lang="en-US" altLang="zh-CN" sz="2400" b="1" dirty="0">
                  <a:solidFill>
                    <a:schemeClr val="tx1"/>
                  </a:solidFill>
                  <a:latin typeface="+mj-ea"/>
                  <a:ea typeface="+mj-ea"/>
                </a:endParaRPr>
              </a:p>
              <a:p>
                <a:pPr>
                  <a:lnSpc>
                    <a:spcPts val="36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24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CN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𝟐𝟎</m:t>
                      </m:r>
                      <m:r>
                        <a:rPr lang="en-US" altLang="zh-CN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  <m:r>
                        <a:rPr lang="en-US" altLang="zh-CN" sz="24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24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zh-CN" altLang="zh-C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  <m:r>
                            <a:rPr lang="en-US" altLang="zh-CN" sz="2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%+</m:t>
                          </m:r>
                          <m:r>
                            <a:rPr lang="en-US" altLang="zh-C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𝟏𝟓</m:t>
                          </m:r>
                          <m:r>
                            <a:rPr lang="en-US" altLang="zh-CN" sz="2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%+</m:t>
                          </m:r>
                          <m:r>
                            <a:rPr lang="en-US" altLang="zh-C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  <m:r>
                            <a:rPr lang="en-US" altLang="zh-CN" sz="2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%+</m:t>
                          </m:r>
                          <m:r>
                            <a:rPr lang="en-US" altLang="zh-C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  <m:r>
                            <a:rPr lang="en-US" altLang="zh-CN" sz="2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%</m:t>
                          </m:r>
                        </m:e>
                      </m:d>
                    </m:oMath>
                  </m:oMathPara>
                </a14:m>
                <a:endParaRPr lang="en-US" altLang="zh-CN" sz="24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ts val="36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24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zh-CN" altLang="zh-C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altLang="zh-CN" sz="2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%+</m:t>
                          </m:r>
                          <m:r>
                            <a:rPr lang="en-US" altLang="zh-C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  <m:r>
                            <a:rPr lang="en-US" altLang="zh-CN" sz="2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%+</m:t>
                          </m:r>
                          <m:r>
                            <a:rPr lang="en-US" altLang="zh-C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  <m:r>
                            <a:rPr lang="en-US" altLang="zh-CN" sz="2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%</m:t>
                          </m:r>
                        </m:e>
                      </m:d>
                      <m:r>
                        <a:rPr lang="en-US" altLang="zh-CN" sz="24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altLang="zh-CN" sz="24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zh-CN" altLang="zh-C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altLang="zh-CN" sz="2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%+</m:t>
                          </m:r>
                          <m:r>
                            <a:rPr lang="en-US" altLang="zh-C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altLang="zh-CN" sz="2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%</m:t>
                          </m:r>
                        </m:e>
                      </m:d>
                    </m:oMath>
                  </m:oMathPara>
                </a14:m>
                <a:endParaRPr lang="en-US" altLang="zh-CN" sz="24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ts val="36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𝟐𝟓</m:t>
                      </m:r>
                    </m:oMath>
                  </m:oMathPara>
                </a14:m>
                <a:endParaRPr lang="en-US" altLang="zh-CN" sz="2400" b="1" dirty="0">
                  <a:solidFill>
                    <a:srgbClr val="0000FF"/>
                  </a:solidFill>
                  <a:latin typeface="+mj-ea"/>
                  <a:ea typeface="+mj-ea"/>
                </a:endParaRPr>
              </a:p>
              <a:p>
                <a:pPr>
                  <a:lnSpc>
                    <a:spcPts val="3600"/>
                  </a:lnSpc>
                </a:pPr>
                <a:r>
                  <a:rPr lang="zh-CN" altLang="en-US" sz="24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    故</a:t>
                </a:r>
                <a:r>
                  <a:rPr lang="zh-CN" altLang="zh-CN" sz="24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传输</a:t>
                </a:r>
                <a:r>
                  <a:rPr lang="en-US" altLang="zh-CN" sz="24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10000</a:t>
                </a:r>
                <a:r>
                  <a:rPr lang="zh-CN" altLang="zh-CN" sz="24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个这样的字母所</a:t>
                </a:r>
                <a:r>
                  <a:rPr lang="zh-CN" altLang="en-US" sz="24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需</a:t>
                </a:r>
                <a:r>
                  <a:rPr lang="zh-CN" altLang="zh-CN" sz="24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二进制码为：</a:t>
                </a:r>
              </a:p>
              <a:p>
                <a:pPr>
                  <a:lnSpc>
                    <a:spcPts val="36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+mj-ea"/>
                        </a:rPr>
                        <m:t>𝟑</m:t>
                      </m:r>
                      <m:r>
                        <a:rPr lang="en-US" altLang="zh-CN" sz="2400" b="1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+mj-ea"/>
                        </a:rPr>
                        <m:t>.</m:t>
                      </m:r>
                      <m:r>
                        <a:rPr lang="en-US" altLang="zh-CN" sz="2400" b="1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+mj-ea"/>
                        </a:rPr>
                        <m:t>𝟐𝟓</m:t>
                      </m:r>
                      <m:r>
                        <a:rPr lang="en-US" altLang="zh-CN" sz="2400" b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+mj-ea"/>
                        </a:rPr>
                        <m:t>×</m:t>
                      </m:r>
                      <m:r>
                        <a:rPr lang="en-US" altLang="zh-CN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+mj-ea"/>
                        </a:rPr>
                        <m:t>𝟏𝟎𝟎𝟎𝟎</m:t>
                      </m:r>
                      <m:r>
                        <a:rPr lang="en-US" altLang="zh-CN" sz="2400" b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+mj-ea"/>
                        </a:rPr>
                        <m:t>=</m:t>
                      </m:r>
                      <m:r>
                        <a:rPr lang="en-US" altLang="zh-CN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+mj-ea"/>
                        </a:rPr>
                        <m:t>𝟑𝟐𝟓𝟎𝟎</m:t>
                      </m:r>
                    </m:oMath>
                  </m:oMathPara>
                </a14:m>
                <a:endParaRPr lang="en-US" altLang="zh-CN" sz="2400" b="1" dirty="0">
                  <a:solidFill>
                    <a:srgbClr val="0000FF"/>
                  </a:solidFill>
                  <a:latin typeface="+mj-ea"/>
                  <a:ea typeface="+mj-ea"/>
                </a:endParaRPr>
              </a:p>
              <a:p>
                <a:pPr>
                  <a:lnSpc>
                    <a:spcPts val="3600"/>
                  </a:lnSpc>
                </a:pPr>
                <a:r>
                  <a:rPr lang="zh-CN" altLang="zh-CN" sz="24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即传输</a:t>
                </a:r>
                <a:r>
                  <a:rPr lang="en-US" altLang="zh-CN" sz="24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10000</a:t>
                </a:r>
                <a:r>
                  <a:rPr lang="zh-CN" altLang="zh-CN" sz="24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个数字需要</a:t>
                </a:r>
                <a:r>
                  <a:rPr lang="en-US" altLang="zh-CN" sz="24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32500</a:t>
                </a:r>
                <a:r>
                  <a:rPr lang="zh-CN" altLang="zh-CN" sz="24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个二进制码。</a:t>
                </a:r>
                <a:endParaRPr lang="zh-CN" altLang="zh-CN" sz="2400" b="1" kern="100" dirty="0">
                  <a:solidFill>
                    <a:schemeClr val="tx1"/>
                  </a:solidFill>
                  <a:latin typeface="+mj-ea"/>
                  <a:ea typeface="+mj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82AB436-915E-4EE2-94F8-121A29DF46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977" y="1652218"/>
                <a:ext cx="8208912" cy="4645502"/>
              </a:xfrm>
              <a:prstGeom prst="rect">
                <a:avLst/>
              </a:prstGeom>
              <a:blipFill>
                <a:blip r:embed="rId4"/>
                <a:stretch>
                  <a:fillRect l="-1189" t="-525" b="-19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8898472"/>
      </p:ext>
    </p:extLst>
  </p:cSld>
  <p:clrMapOvr>
    <a:masterClrMapping/>
  </p:clrMapOvr>
  <p:transition spd="med">
    <p:wipe dir="r"/>
  </p:transition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日期占位符 3">
            <a:extLst>
              <a:ext uri="{FF2B5EF4-FFF2-40B4-BE49-F238E27FC236}">
                <a16:creationId xmlns:a16="http://schemas.microsoft.com/office/drawing/2014/main" id="{5630D750-FFAA-462B-9488-31E88976C1CA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E62DA1D-2F53-4496-9302-41F3F4180A96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43363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B796069C-DC5D-42ED-91BD-2696C4CDCB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25" y="549275"/>
            <a:ext cx="1095375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64" name="Text Box 2">
            <a:extLst>
              <a:ext uri="{FF2B5EF4-FFF2-40B4-BE49-F238E27FC236}">
                <a16:creationId xmlns:a16="http://schemas.microsoft.com/office/drawing/2014/main" id="{9C58EAFC-0525-483C-BC2D-AF837768AB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588963"/>
            <a:ext cx="6335712" cy="823912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例 题</a:t>
            </a:r>
          </a:p>
        </p:txBody>
      </p:sp>
      <p:pic>
        <p:nvPicPr>
          <p:cNvPr id="143365" name="Picture 7" descr="QQ截图20150923204117">
            <a:extLst>
              <a:ext uri="{FF2B5EF4-FFF2-40B4-BE49-F238E27FC236}">
                <a16:creationId xmlns:a16="http://schemas.microsoft.com/office/drawing/2014/main" id="{68D0FD40-2D1A-4FB0-8574-27E05D86DC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586134"/>
            <a:ext cx="7416750" cy="4622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日期占位符 3">
            <a:extLst>
              <a:ext uri="{FF2B5EF4-FFF2-40B4-BE49-F238E27FC236}">
                <a16:creationId xmlns:a16="http://schemas.microsoft.com/office/drawing/2014/main" id="{2F7C4D87-CA20-41E3-A10E-2126E6877A5A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8F323F2-B2F3-4BCE-B94B-E371E4B91E22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44387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946634EE-D3A1-4CEB-B6C3-7F2DBF659C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25" y="549275"/>
            <a:ext cx="1095375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4388" name="Text Box 2">
            <a:extLst>
              <a:ext uri="{FF2B5EF4-FFF2-40B4-BE49-F238E27FC236}">
                <a16:creationId xmlns:a16="http://schemas.microsoft.com/office/drawing/2014/main" id="{580F527C-A71D-4D5C-801B-29D2E37B2E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20713"/>
            <a:ext cx="6335712" cy="823912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例 题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67695A2-97E2-4312-93C5-821FB90968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75" y="1772816"/>
            <a:ext cx="7902813" cy="4332077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日期占位符 3">
            <a:extLst>
              <a:ext uri="{FF2B5EF4-FFF2-40B4-BE49-F238E27FC236}">
                <a16:creationId xmlns:a16="http://schemas.microsoft.com/office/drawing/2014/main" id="{E9DEAC2B-9A4B-45BB-848B-9C234DEE8636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5254934-0C39-4267-8B95-3F40AD5EB362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0899" name="Text Box 2">
            <a:extLst>
              <a:ext uri="{FF2B5EF4-FFF2-40B4-BE49-F238E27FC236}">
                <a16:creationId xmlns:a16="http://schemas.microsoft.com/office/drawing/2014/main" id="{BBB78957-511A-4215-80BD-406A1601F9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1412875"/>
            <a:ext cx="6335713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None/>
            </a:pPr>
            <a:r>
              <a:rPr lang="zh-CN" altLang="en-US" sz="5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本节内容到此结束</a:t>
            </a:r>
            <a:endParaRPr lang="en-US" altLang="zh-CN" sz="54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0900" name="WordArt 6">
            <a:extLst>
              <a:ext uri="{FF2B5EF4-FFF2-40B4-BE49-F238E27FC236}">
                <a16:creationId xmlns:a16="http://schemas.microsoft.com/office/drawing/2014/main" id="{501CC8AA-ED62-43C1-8670-518D4FB1B26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590800" y="3048000"/>
            <a:ext cx="4419600" cy="2514600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58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r>
              <a:rPr lang="zh-CN" altLang="en-US" sz="36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宋体" panose="02010600030101010101" pitchFamily="2" charset="-122"/>
                <a:ea typeface="宋体" panose="02010600030101010101" pitchFamily="2" charset="-122"/>
              </a:rPr>
              <a:t>谢谢大家！</a:t>
            </a:r>
          </a:p>
        </p:txBody>
      </p:sp>
    </p:spTree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张勇-硕士答辩">
  <a:themeElements>
    <a:clrScheme name="张勇-硕士答辩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3399FF"/>
      </a:folHlink>
    </a:clrScheme>
    <a:fontScheme name="张勇-硕士答辩">
      <a:majorFont>
        <a:latin typeface="Times New Roman"/>
        <a:ea typeface="宋体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张勇-硕士答辩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张勇-硕士答辩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张勇-硕士答辩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张勇-硕士答辩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张勇-硕士答辩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张勇-硕士答辩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张勇-硕士答辩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张勇-硕士答辩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张勇-硕士答辩">
  <a:themeElements>
    <a:clrScheme name="1_张勇-硕士答辩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3399FF"/>
      </a:folHlink>
    </a:clrScheme>
    <a:fontScheme name="1_张勇-硕士答辩">
      <a:majorFont>
        <a:latin typeface="Times New Roman"/>
        <a:ea typeface="宋体"/>
        <a:cs typeface=""/>
      </a:majorFont>
      <a:minorFont>
        <a:latin typeface="楷体_GB2312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张勇-硕士答辩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张勇-硕士答辩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张勇-硕士答辩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张勇-硕士答辩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张勇-硕士答辩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张勇-硕士答辩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张勇-硕士答辩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张勇-硕士答辩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第6章_二元关系</Template>
  <TotalTime>7978</TotalTime>
  <Words>8382</Words>
  <Application>Microsoft Office PowerPoint</Application>
  <PresentationFormat>全屏显示(4:3)</PresentationFormat>
  <Paragraphs>555</Paragraphs>
  <Slides>108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108</vt:i4>
      </vt:variant>
    </vt:vector>
  </HeadingPairs>
  <TitlesOfParts>
    <vt:vector size="124" baseType="lpstr">
      <vt:lpstr>MS Gothic</vt:lpstr>
      <vt:lpstr>MS Mincho</vt:lpstr>
      <vt:lpstr>黑体</vt:lpstr>
      <vt:lpstr>华文行楷</vt:lpstr>
      <vt:lpstr>楷体_GB2312</vt:lpstr>
      <vt:lpstr>隶书</vt:lpstr>
      <vt:lpstr>宋体</vt:lpstr>
      <vt:lpstr>微软雅黑</vt:lpstr>
      <vt:lpstr>Arial</vt:lpstr>
      <vt:lpstr>Calibri</vt:lpstr>
      <vt:lpstr>Cambria Math</vt:lpstr>
      <vt:lpstr>Times New Roman</vt:lpstr>
      <vt:lpstr>Wingdings</vt:lpstr>
      <vt:lpstr>Wingdings 2</vt:lpstr>
      <vt:lpstr>张勇-硕士答辩</vt:lpstr>
      <vt:lpstr>1_张勇-硕士答辩</vt:lpstr>
      <vt:lpstr>PowerPoint 演示文稿</vt:lpstr>
      <vt:lpstr>第9章 树的基本理论与算法（上）</vt:lpstr>
      <vt:lpstr>PowerPoint 演示文稿</vt:lpstr>
      <vt:lpstr>无向树与生成树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根树的基本知识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UESTC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汪荣贵</dc:creator>
  <cp:lastModifiedBy>Windows 用户</cp:lastModifiedBy>
  <cp:revision>311</cp:revision>
  <dcterms:created xsi:type="dcterms:W3CDTF">2008-02-21T03:51:14Z</dcterms:created>
  <dcterms:modified xsi:type="dcterms:W3CDTF">2020-09-07T02:20:40Z</dcterms:modified>
</cp:coreProperties>
</file>