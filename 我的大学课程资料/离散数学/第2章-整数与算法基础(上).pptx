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19"/>
  </p:notesMasterIdLst>
  <p:sldIdLst>
    <p:sldId id="749" r:id="rId2"/>
    <p:sldId id="636" r:id="rId3"/>
    <p:sldId id="643" r:id="rId4"/>
    <p:sldId id="653" r:id="rId5"/>
    <p:sldId id="654" r:id="rId6"/>
    <p:sldId id="521" r:id="rId7"/>
    <p:sldId id="530" r:id="rId8"/>
    <p:sldId id="529" r:id="rId9"/>
    <p:sldId id="531" r:id="rId10"/>
    <p:sldId id="746" r:id="rId11"/>
    <p:sldId id="527" r:id="rId12"/>
    <p:sldId id="533" r:id="rId13"/>
    <p:sldId id="537" r:id="rId14"/>
    <p:sldId id="655" r:id="rId15"/>
    <p:sldId id="682" r:id="rId16"/>
    <p:sldId id="545" r:id="rId17"/>
    <p:sldId id="547" r:id="rId18"/>
    <p:sldId id="747" r:id="rId19"/>
    <p:sldId id="748" r:id="rId20"/>
    <p:sldId id="548" r:id="rId21"/>
    <p:sldId id="549" r:id="rId22"/>
    <p:sldId id="717" r:id="rId23"/>
    <p:sldId id="683" r:id="rId24"/>
    <p:sldId id="550" r:id="rId25"/>
    <p:sldId id="551" r:id="rId26"/>
    <p:sldId id="552" r:id="rId27"/>
    <p:sldId id="553" r:id="rId28"/>
    <p:sldId id="554" r:id="rId29"/>
    <p:sldId id="716" r:id="rId30"/>
    <p:sldId id="555" r:id="rId31"/>
    <p:sldId id="556" r:id="rId32"/>
    <p:sldId id="557" r:id="rId33"/>
    <p:sldId id="718" r:id="rId34"/>
    <p:sldId id="558" r:id="rId35"/>
    <p:sldId id="559" r:id="rId36"/>
    <p:sldId id="561" r:id="rId37"/>
    <p:sldId id="562" r:id="rId38"/>
    <p:sldId id="684" r:id="rId39"/>
    <p:sldId id="563" r:id="rId40"/>
    <p:sldId id="564" r:id="rId41"/>
    <p:sldId id="565" r:id="rId42"/>
    <p:sldId id="719" r:id="rId43"/>
    <p:sldId id="566" r:id="rId44"/>
    <p:sldId id="567" r:id="rId45"/>
    <p:sldId id="568" r:id="rId46"/>
    <p:sldId id="570" r:id="rId47"/>
    <p:sldId id="571" r:id="rId48"/>
    <p:sldId id="572" r:id="rId49"/>
    <p:sldId id="573" r:id="rId50"/>
    <p:sldId id="574" r:id="rId51"/>
    <p:sldId id="575" r:id="rId52"/>
    <p:sldId id="576" r:id="rId53"/>
    <p:sldId id="720" r:id="rId54"/>
    <p:sldId id="722" r:id="rId55"/>
    <p:sldId id="724" r:id="rId56"/>
    <p:sldId id="725" r:id="rId57"/>
    <p:sldId id="578" r:id="rId58"/>
    <p:sldId id="579" r:id="rId59"/>
    <p:sldId id="581" r:id="rId60"/>
    <p:sldId id="582" r:id="rId61"/>
    <p:sldId id="583" r:id="rId62"/>
    <p:sldId id="584" r:id="rId63"/>
    <p:sldId id="585" r:id="rId64"/>
    <p:sldId id="728" r:id="rId65"/>
    <p:sldId id="685" r:id="rId66"/>
    <p:sldId id="726" r:id="rId67"/>
    <p:sldId id="586" r:id="rId68"/>
    <p:sldId id="587" r:id="rId69"/>
    <p:sldId id="590" r:id="rId70"/>
    <p:sldId id="704" r:id="rId71"/>
    <p:sldId id="703" r:id="rId72"/>
    <p:sldId id="701" r:id="rId73"/>
    <p:sldId id="702" r:id="rId74"/>
    <p:sldId id="686" r:id="rId75"/>
    <p:sldId id="705" r:id="rId76"/>
    <p:sldId id="594" r:id="rId77"/>
    <p:sldId id="595" r:id="rId78"/>
    <p:sldId id="596" r:id="rId79"/>
    <p:sldId id="657" r:id="rId80"/>
    <p:sldId id="727" r:id="rId81"/>
    <p:sldId id="627" r:id="rId82"/>
    <p:sldId id="628" r:id="rId83"/>
    <p:sldId id="629" r:id="rId84"/>
    <p:sldId id="706" r:id="rId85"/>
    <p:sldId id="707" r:id="rId86"/>
    <p:sldId id="708" r:id="rId87"/>
    <p:sldId id="709" r:id="rId88"/>
    <p:sldId id="663" r:id="rId89"/>
    <p:sldId id="664" r:id="rId90"/>
    <p:sldId id="665" r:id="rId91"/>
    <p:sldId id="710" r:id="rId92"/>
    <p:sldId id="688" r:id="rId93"/>
    <p:sldId id="690" r:id="rId94"/>
    <p:sldId id="666" r:id="rId95"/>
    <p:sldId id="689" r:id="rId96"/>
    <p:sldId id="656" r:id="rId97"/>
    <p:sldId id="669" r:id="rId98"/>
    <p:sldId id="672" r:id="rId99"/>
    <p:sldId id="668" r:id="rId100"/>
    <p:sldId id="692" r:id="rId101"/>
    <p:sldId id="729" r:id="rId102"/>
    <p:sldId id="730" r:id="rId103"/>
    <p:sldId id="731" r:id="rId104"/>
    <p:sldId id="732" r:id="rId105"/>
    <p:sldId id="733" r:id="rId106"/>
    <p:sldId id="734" r:id="rId107"/>
    <p:sldId id="735" r:id="rId108"/>
    <p:sldId id="736" r:id="rId109"/>
    <p:sldId id="737" r:id="rId110"/>
    <p:sldId id="738" r:id="rId111"/>
    <p:sldId id="739" r:id="rId112"/>
    <p:sldId id="740" r:id="rId113"/>
    <p:sldId id="741" r:id="rId114"/>
    <p:sldId id="742" r:id="rId115"/>
    <p:sldId id="743" r:id="rId116"/>
    <p:sldId id="744" r:id="rId117"/>
    <p:sldId id="745" r:id="rId118"/>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kumimoji="1" sz="2400" kern="1200">
        <a:solidFill>
          <a:schemeClr val="tx1"/>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kumimoji="1" sz="2400" kern="1200">
        <a:solidFill>
          <a:schemeClr val="tx1"/>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kumimoji="1" sz="2400" kern="1200">
        <a:solidFill>
          <a:schemeClr val="tx1"/>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kumimoji="1" sz="2400" kern="1200">
        <a:solidFill>
          <a:schemeClr val="tx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kumimoji="1" sz="2400" kern="1200">
        <a:solidFill>
          <a:schemeClr val="tx1"/>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kumimoji="1" sz="2400" kern="1200">
        <a:solidFill>
          <a:schemeClr val="tx1"/>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kumimoji="1" sz="2400" kern="1200">
        <a:solidFill>
          <a:schemeClr val="tx1"/>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kumimoji="1" sz="2400" kern="120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eamsummit" initials="dream" lastIdx="1" clrIdx="0">
    <p:extLst>
      <p:ext uri="{19B8F6BF-5375-455C-9EA6-DF929625EA0E}">
        <p15:presenceInfo xmlns:p15="http://schemas.microsoft.com/office/powerpoint/2012/main" userId="dreamsummi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0099FF"/>
    <a:srgbClr val="CD58D6"/>
    <a:srgbClr val="FFCC00"/>
    <a:srgbClr val="D60093"/>
    <a:srgbClr val="FF66FF"/>
    <a:srgbClr val="CC0066"/>
    <a:srgbClr val="CCECFF"/>
    <a:srgbClr val="669900"/>
    <a:srgbClr val="80C5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84" autoAdjust="0"/>
    <p:restoredTop sz="94636" autoAdjust="0"/>
  </p:normalViewPr>
  <p:slideViewPr>
    <p:cSldViewPr>
      <p:cViewPr varScale="1">
        <p:scale>
          <a:sx n="83" d="100"/>
          <a:sy n="83" d="100"/>
        </p:scale>
        <p:origin x="146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spcBef>
                <a:spcPct val="0"/>
              </a:spcBef>
              <a:defRPr kumimoji="0" sz="1200">
                <a:latin typeface="Arial" panose="020B0604020202020204" pitchFamily="34" charset="0"/>
                <a:ea typeface="宋体" panose="02010600030101010101" pitchFamily="2" charset="-122"/>
              </a:defRPr>
            </a:lvl1pPr>
          </a:lstStyle>
          <a:p>
            <a:pPr>
              <a:defRPr/>
            </a:pPr>
            <a:endParaRPr lang="en-US" altLang="zh-CN"/>
          </a:p>
        </p:txBody>
      </p:sp>
      <p:sp>
        <p:nvSpPr>
          <p:cNvPr id="2355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kumimoji="0"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355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spcBef>
                <a:spcPct val="0"/>
              </a:spcBef>
              <a:defRPr kumimoji="0" sz="1200">
                <a:latin typeface="Arial" panose="020B0604020202020204" pitchFamily="34" charset="0"/>
                <a:ea typeface="宋体" panose="02010600030101010101" pitchFamily="2" charset="-122"/>
              </a:defRPr>
            </a:lvl1pPr>
          </a:lstStyle>
          <a:p>
            <a:pPr>
              <a:defRPr/>
            </a:pPr>
            <a:endParaRPr lang="en-US" altLang="zh-CN"/>
          </a:p>
        </p:txBody>
      </p:sp>
      <p:sp>
        <p:nvSpPr>
          <p:cNvPr id="2355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defRPr kumimoji="0" sz="1200">
                <a:latin typeface="Arial" panose="020B0604020202020204" pitchFamily="34" charset="0"/>
                <a:ea typeface="宋体" panose="02010600030101010101" pitchFamily="2" charset="-122"/>
              </a:defRPr>
            </a:lvl1pPr>
          </a:lstStyle>
          <a:p>
            <a:pPr>
              <a:defRPr/>
            </a:pPr>
            <a:fld id="{12B19732-FED6-4982-AB66-F099A404FADE}" type="slidenum">
              <a:rPr lang="en-US" altLang="zh-CN"/>
              <a:pPr>
                <a:defRPr/>
              </a:pPr>
              <a:t>‹#›</a:t>
            </a:fld>
            <a:endParaRPr lang="en-US" altLang="zh-CN"/>
          </a:p>
        </p:txBody>
      </p:sp>
    </p:spTree>
    <p:extLst>
      <p:ext uri="{BB962C8B-B14F-4D97-AF65-F5344CB8AC3E}">
        <p14:creationId xmlns:p14="http://schemas.microsoft.com/office/powerpoint/2010/main" val="24184245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p:spPr>
        <p:txBody>
          <a:bodyPr/>
          <a:lstStyle/>
          <a:p>
            <a:endParaRPr lang="zh-CN" altLang="en-US" smtClean="0"/>
          </a:p>
        </p:txBody>
      </p:sp>
      <p:sp>
        <p:nvSpPr>
          <p:cNvPr id="26628" name="灯片编号占位符 3"/>
          <p:cNvSpPr>
            <a:spLocks noGrp="1"/>
          </p:cNvSpPr>
          <p:nvPr>
            <p:ph type="sldNum" sz="quarter" idx="5"/>
          </p:nvPr>
        </p:nvSpPr>
        <p:spPr>
          <a:noFill/>
        </p:spPr>
        <p:txBody>
          <a:bodyPr/>
          <a:lstStyle>
            <a:lvl1pPr>
              <a:defRPr kumimoji="1" sz="2400">
                <a:solidFill>
                  <a:schemeClr val="tx1"/>
                </a:solidFill>
                <a:latin typeface="黑体" panose="02010609060101010101" pitchFamily="49" charset="-122"/>
                <a:ea typeface="黑体" panose="02010609060101010101" pitchFamily="49" charset="-122"/>
              </a:defRPr>
            </a:lvl1pPr>
            <a:lvl2pPr marL="742950" indent="-285750">
              <a:defRPr kumimoji="1" sz="2400">
                <a:solidFill>
                  <a:schemeClr val="tx1"/>
                </a:solidFill>
                <a:latin typeface="黑体" panose="02010609060101010101" pitchFamily="49" charset="-122"/>
                <a:ea typeface="黑体" panose="02010609060101010101" pitchFamily="49" charset="-122"/>
              </a:defRPr>
            </a:lvl2pPr>
            <a:lvl3pPr marL="1143000" indent="-228600">
              <a:defRPr kumimoji="1" sz="2400">
                <a:solidFill>
                  <a:schemeClr val="tx1"/>
                </a:solidFill>
                <a:latin typeface="黑体" panose="02010609060101010101" pitchFamily="49" charset="-122"/>
                <a:ea typeface="黑体" panose="02010609060101010101" pitchFamily="49" charset="-122"/>
              </a:defRPr>
            </a:lvl3pPr>
            <a:lvl4pPr marL="1600200" indent="-228600">
              <a:defRPr kumimoji="1" sz="2400">
                <a:solidFill>
                  <a:schemeClr val="tx1"/>
                </a:solidFill>
                <a:latin typeface="黑体" panose="02010609060101010101" pitchFamily="49" charset="-122"/>
                <a:ea typeface="黑体" panose="02010609060101010101" pitchFamily="49" charset="-122"/>
              </a:defRPr>
            </a:lvl4pPr>
            <a:lvl5pPr marL="2057400" indent="-228600">
              <a:defRPr kumimoji="1" sz="24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黑体" panose="02010609060101010101" pitchFamily="49" charset="-122"/>
                <a:ea typeface="黑体" panose="02010609060101010101" pitchFamily="49" charset="-122"/>
              </a:defRPr>
            </a:lvl9pPr>
          </a:lstStyle>
          <a:p>
            <a:fld id="{7FE970D5-0548-45EE-96CA-BCFD99E63E07}" type="slidenum">
              <a:rPr kumimoji="0" lang="en-US" altLang="zh-CN" sz="1200" smtClean="0">
                <a:latin typeface="Arial" panose="020B0604020202020204" pitchFamily="34" charset="0"/>
                <a:ea typeface="宋体" panose="02010600030101010101" pitchFamily="2" charset="-122"/>
              </a:rPr>
              <a:pPr/>
              <a:t>26</a:t>
            </a:fld>
            <a:endParaRPr kumimoji="0" lang="en-US" altLang="zh-CN" sz="1200" smtClean="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75641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280CB2E2-BB0D-4099-9D4D-8FB12F59EE28}"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80C209C3-5562-432A-9AE9-07FE3DAB5FB1}" type="slidenum">
              <a:rPr lang="en-US" altLang="zh-CN"/>
              <a:pPr>
                <a:defRPr/>
              </a:pPr>
              <a:t>‹#›</a:t>
            </a:fld>
            <a:endParaRPr lang="en-US" altLang="zh-CN"/>
          </a:p>
        </p:txBody>
      </p:sp>
    </p:spTree>
    <p:extLst>
      <p:ext uri="{BB962C8B-B14F-4D97-AF65-F5344CB8AC3E}">
        <p14:creationId xmlns:p14="http://schemas.microsoft.com/office/powerpoint/2010/main" val="350472775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C2A876A0-0D26-4763-958B-48E4D691832E}"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CC82A2E6-FB58-407A-9859-BA51807B3188}" type="slidenum">
              <a:rPr lang="en-US" altLang="zh-CN"/>
              <a:pPr>
                <a:defRPr/>
              </a:pPr>
              <a:t>‹#›</a:t>
            </a:fld>
            <a:endParaRPr lang="en-US" altLang="zh-CN"/>
          </a:p>
        </p:txBody>
      </p:sp>
    </p:spTree>
    <p:extLst>
      <p:ext uri="{BB962C8B-B14F-4D97-AF65-F5344CB8AC3E}">
        <p14:creationId xmlns:p14="http://schemas.microsoft.com/office/powerpoint/2010/main" val="361538132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fld id="{4DC6EC51-F596-4795-AF2E-136E789AA270}"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2F5C2029-BAD0-4DEE-8C86-CA7A7176F519}" type="slidenum">
              <a:rPr lang="en-US" altLang="zh-CN"/>
              <a:pPr>
                <a:defRPr/>
              </a:pPr>
              <a:t>‹#›</a:t>
            </a:fld>
            <a:endParaRPr lang="en-US" altLang="zh-CN"/>
          </a:p>
        </p:txBody>
      </p:sp>
    </p:spTree>
    <p:extLst>
      <p:ext uri="{BB962C8B-B14F-4D97-AF65-F5344CB8AC3E}">
        <p14:creationId xmlns:p14="http://schemas.microsoft.com/office/powerpoint/2010/main" val="364470594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42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66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fld id="{C906C4CA-CE23-43E6-AF8B-B1BD21888957}" type="datetime1">
              <a:rPr lang="zh-CN" altLang="en-US"/>
              <a:pPr>
                <a:defRPr/>
              </a:pPr>
              <a:t>2020/9/7</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ln/>
        </p:spPr>
        <p:txBody>
          <a:bodyPr/>
          <a:lstStyle>
            <a:lvl1pPr>
              <a:defRPr/>
            </a:lvl1pPr>
          </a:lstStyle>
          <a:p>
            <a:pPr>
              <a:defRPr/>
            </a:pPr>
            <a:fld id="{AEA12A94-BF75-4BDB-8C0E-EF26F1E58E63}" type="slidenum">
              <a:rPr lang="en-US" altLang="zh-CN"/>
              <a:pPr>
                <a:defRPr/>
              </a:pPr>
              <a:t>‹#›</a:t>
            </a:fld>
            <a:endParaRPr lang="en-US" altLang="zh-CN"/>
          </a:p>
        </p:txBody>
      </p:sp>
    </p:spTree>
    <p:extLst>
      <p:ext uri="{BB962C8B-B14F-4D97-AF65-F5344CB8AC3E}">
        <p14:creationId xmlns:p14="http://schemas.microsoft.com/office/powerpoint/2010/main" val="130141179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fld id="{1A3481E3-23ED-4183-94DE-4C58E1EDA13A}" type="datetime1">
              <a:rPr lang="zh-CN" altLang="en-US"/>
              <a:pPr>
                <a:defRPr/>
              </a:pPr>
              <a:t>2020/9/7</a:t>
            </a:fld>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9" name="Rectangle 7"/>
          <p:cNvSpPr>
            <a:spLocks noGrp="1" noChangeArrowheads="1"/>
          </p:cNvSpPr>
          <p:nvPr>
            <p:ph type="sldNum" sz="quarter" idx="12"/>
          </p:nvPr>
        </p:nvSpPr>
        <p:spPr>
          <a:ln/>
        </p:spPr>
        <p:txBody>
          <a:bodyPr/>
          <a:lstStyle>
            <a:lvl1pPr>
              <a:defRPr/>
            </a:lvl1pPr>
          </a:lstStyle>
          <a:p>
            <a:pPr>
              <a:defRPr/>
            </a:pPr>
            <a:fld id="{FFE5FAFE-AF2C-4BC6-87B6-61BB1515102F}" type="slidenum">
              <a:rPr lang="en-US" altLang="zh-CN"/>
              <a:pPr>
                <a:defRPr/>
              </a:pPr>
              <a:t>‹#›</a:t>
            </a:fld>
            <a:endParaRPr lang="en-US" altLang="zh-CN"/>
          </a:p>
        </p:txBody>
      </p:sp>
    </p:spTree>
    <p:extLst>
      <p:ext uri="{BB962C8B-B14F-4D97-AF65-F5344CB8AC3E}">
        <p14:creationId xmlns:p14="http://schemas.microsoft.com/office/powerpoint/2010/main" val="129026628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fld id="{DCAAF981-4B87-4BAA-BC56-6E5D35BA7FCB}" type="datetime1">
              <a:rPr lang="zh-CN" altLang="en-US"/>
              <a:pPr>
                <a:defRPr/>
              </a:pPr>
              <a:t>2020/9/7</a:t>
            </a:fld>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7"/>
          <p:cNvSpPr>
            <a:spLocks noGrp="1" noChangeArrowheads="1"/>
          </p:cNvSpPr>
          <p:nvPr>
            <p:ph type="sldNum" sz="quarter" idx="12"/>
          </p:nvPr>
        </p:nvSpPr>
        <p:spPr>
          <a:ln/>
        </p:spPr>
        <p:txBody>
          <a:bodyPr/>
          <a:lstStyle>
            <a:lvl1pPr>
              <a:defRPr/>
            </a:lvl1pPr>
          </a:lstStyle>
          <a:p>
            <a:pPr>
              <a:defRPr/>
            </a:pPr>
            <a:fld id="{4494E3B6-9B8A-4D9B-B9DC-1396D857BE69}" type="slidenum">
              <a:rPr lang="en-US" altLang="zh-CN"/>
              <a:pPr>
                <a:defRPr/>
              </a:pPr>
              <a:t>‹#›</a:t>
            </a:fld>
            <a:endParaRPr lang="en-US" altLang="zh-CN"/>
          </a:p>
        </p:txBody>
      </p:sp>
    </p:spTree>
    <p:extLst>
      <p:ext uri="{BB962C8B-B14F-4D97-AF65-F5344CB8AC3E}">
        <p14:creationId xmlns:p14="http://schemas.microsoft.com/office/powerpoint/2010/main" val="376586988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fld id="{DD4EB096-F379-41D8-B53D-B08D2967DDF4}" type="datetime1">
              <a:rPr lang="zh-CN" altLang="en-US"/>
              <a:pPr>
                <a:defRPr/>
              </a:pPr>
              <a:t>2020/9/7</a:t>
            </a:fld>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4" name="Rectangle 7"/>
          <p:cNvSpPr>
            <a:spLocks noGrp="1" noChangeArrowheads="1"/>
          </p:cNvSpPr>
          <p:nvPr>
            <p:ph type="sldNum" sz="quarter" idx="12"/>
          </p:nvPr>
        </p:nvSpPr>
        <p:spPr>
          <a:ln/>
        </p:spPr>
        <p:txBody>
          <a:bodyPr/>
          <a:lstStyle>
            <a:lvl1pPr>
              <a:defRPr/>
            </a:lvl1pPr>
          </a:lstStyle>
          <a:p>
            <a:pPr>
              <a:defRPr/>
            </a:pPr>
            <a:fld id="{6C88CADC-1527-4AA6-8464-933B68F1D326}" type="slidenum">
              <a:rPr lang="en-US" altLang="zh-CN"/>
              <a:pPr>
                <a:defRPr/>
              </a:pPr>
              <a:t>‹#›</a:t>
            </a:fld>
            <a:endParaRPr lang="en-US" altLang="zh-CN"/>
          </a:p>
        </p:txBody>
      </p:sp>
    </p:spTree>
    <p:extLst>
      <p:ext uri="{BB962C8B-B14F-4D97-AF65-F5344CB8AC3E}">
        <p14:creationId xmlns:p14="http://schemas.microsoft.com/office/powerpoint/2010/main" val="43207533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fld id="{70EF2E67-A2F3-4792-8448-6EE15AD23478}" type="datetime1">
              <a:rPr lang="zh-CN" altLang="en-US"/>
              <a:pPr>
                <a:defRPr/>
              </a:pPr>
              <a:t>2020/9/7</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ln/>
        </p:spPr>
        <p:txBody>
          <a:bodyPr/>
          <a:lstStyle>
            <a:lvl1pPr>
              <a:defRPr/>
            </a:lvl1pPr>
          </a:lstStyle>
          <a:p>
            <a:pPr>
              <a:defRPr/>
            </a:pPr>
            <a:fld id="{7C2DF8D4-93AA-4898-8D88-C4444DDE5B6D}" type="slidenum">
              <a:rPr lang="en-US" altLang="zh-CN"/>
              <a:pPr>
                <a:defRPr/>
              </a:pPr>
              <a:t>‹#›</a:t>
            </a:fld>
            <a:endParaRPr lang="en-US" altLang="zh-CN"/>
          </a:p>
        </p:txBody>
      </p:sp>
    </p:spTree>
    <p:extLst>
      <p:ext uri="{BB962C8B-B14F-4D97-AF65-F5344CB8AC3E}">
        <p14:creationId xmlns:p14="http://schemas.microsoft.com/office/powerpoint/2010/main" val="291931965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fld id="{8BAFE982-CC84-4A6F-98A6-3FE526B3AF0C}" type="datetime1">
              <a:rPr lang="zh-CN" altLang="en-US"/>
              <a:pPr>
                <a:defRPr/>
              </a:pPr>
              <a:t>2020/9/7</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ln/>
        </p:spPr>
        <p:txBody>
          <a:bodyPr/>
          <a:lstStyle>
            <a:lvl1pPr>
              <a:defRPr/>
            </a:lvl1pPr>
          </a:lstStyle>
          <a:p>
            <a:pPr>
              <a:defRPr/>
            </a:pPr>
            <a:fld id="{68B16636-1D4A-4925-8375-CF47CCBCDB30}" type="slidenum">
              <a:rPr lang="en-US" altLang="zh-CN"/>
              <a:pPr>
                <a:defRPr/>
              </a:pPr>
              <a:t>‹#›</a:t>
            </a:fld>
            <a:endParaRPr lang="en-US" altLang="zh-CN"/>
          </a:p>
        </p:txBody>
      </p:sp>
    </p:spTree>
    <p:extLst>
      <p:ext uri="{BB962C8B-B14F-4D97-AF65-F5344CB8AC3E}">
        <p14:creationId xmlns:p14="http://schemas.microsoft.com/office/powerpoint/2010/main" val="1883860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CD6DF808-BA0A-47EC-BD51-76603CA8EC5C}"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56660BFD-D82B-4639-9F6C-91DC50646CDF}" type="slidenum">
              <a:rPr lang="en-US" altLang="zh-CN"/>
              <a:pPr>
                <a:defRPr/>
              </a:pPr>
              <a:t>‹#›</a:t>
            </a:fld>
            <a:endParaRPr lang="en-US" altLang="zh-CN"/>
          </a:p>
        </p:txBody>
      </p:sp>
    </p:spTree>
    <p:extLst>
      <p:ext uri="{BB962C8B-B14F-4D97-AF65-F5344CB8AC3E}">
        <p14:creationId xmlns:p14="http://schemas.microsoft.com/office/powerpoint/2010/main" val="336946289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6B50390C-DA04-4749-825D-962C892926AF}"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pPr>
              <a:defRPr/>
            </a:pPr>
            <a:fld id="{1422C80E-A167-4025-AAD0-E2870D9DEC50}" type="slidenum">
              <a:rPr lang="en-US" altLang="zh-CN"/>
              <a:pPr>
                <a:defRPr/>
              </a:pPr>
              <a:t>‹#›</a:t>
            </a:fld>
            <a:endParaRPr lang="en-US" altLang="zh-CN"/>
          </a:p>
        </p:txBody>
      </p:sp>
    </p:spTree>
    <p:extLst>
      <p:ext uri="{BB962C8B-B14F-4D97-AF65-F5344CB8AC3E}">
        <p14:creationId xmlns:p14="http://schemas.microsoft.com/office/powerpoint/2010/main" val="331587080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42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66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fld id="{FCB3DCEE-8F87-4AF5-AB98-FC083EB47968}" type="datetime1">
              <a:rPr lang="zh-CN" altLang="en-US"/>
              <a:pPr>
                <a:defRPr/>
              </a:pPr>
              <a:t>2020/9/7</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a:ln/>
        </p:spPr>
        <p:txBody>
          <a:bodyPr/>
          <a:lstStyle>
            <a:lvl1pPr>
              <a:defRPr/>
            </a:lvl1pPr>
          </a:lstStyle>
          <a:p>
            <a:pPr>
              <a:defRPr/>
            </a:pPr>
            <a:fld id="{DFABB0E2-13B3-43D8-812D-CCE90D361191}" type="slidenum">
              <a:rPr lang="en-US" altLang="zh-CN"/>
              <a:pPr>
                <a:defRPr/>
              </a:pPr>
              <a:t>‹#›</a:t>
            </a:fld>
            <a:endParaRPr lang="en-US" altLang="zh-CN"/>
          </a:p>
        </p:txBody>
      </p:sp>
    </p:spTree>
    <p:extLst>
      <p:ext uri="{BB962C8B-B14F-4D97-AF65-F5344CB8AC3E}">
        <p14:creationId xmlns:p14="http://schemas.microsoft.com/office/powerpoint/2010/main" val="377343368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42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6613" y="1989138"/>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6613" y="4122738"/>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5"/>
          <p:cNvSpPr>
            <a:spLocks noGrp="1" noChangeArrowheads="1"/>
          </p:cNvSpPr>
          <p:nvPr>
            <p:ph type="dt" sz="half" idx="10"/>
          </p:nvPr>
        </p:nvSpPr>
        <p:spPr>
          <a:ln/>
        </p:spPr>
        <p:txBody>
          <a:bodyPr/>
          <a:lstStyle>
            <a:lvl1pPr>
              <a:defRPr/>
            </a:lvl1pPr>
          </a:lstStyle>
          <a:p>
            <a:pPr>
              <a:defRPr/>
            </a:pPr>
            <a:fld id="{57CB8877-7F97-4936-ABA8-9F67C564FBFE}" type="datetime1">
              <a:rPr lang="zh-CN" altLang="en-US"/>
              <a:pPr>
                <a:defRPr/>
              </a:pPr>
              <a:t>2020/9/7</a:t>
            </a:fld>
            <a:endParaRPr lang="en-US" altLang="zh-CN"/>
          </a:p>
        </p:txBody>
      </p:sp>
      <p:sp>
        <p:nvSpPr>
          <p:cNvPr id="7"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8" name="Rectangle 7"/>
          <p:cNvSpPr>
            <a:spLocks noGrp="1" noChangeArrowheads="1"/>
          </p:cNvSpPr>
          <p:nvPr>
            <p:ph type="sldNum" sz="quarter" idx="12"/>
          </p:nvPr>
        </p:nvSpPr>
        <p:spPr>
          <a:ln/>
        </p:spPr>
        <p:txBody>
          <a:bodyPr/>
          <a:lstStyle>
            <a:lvl1pPr>
              <a:defRPr/>
            </a:lvl1pPr>
          </a:lstStyle>
          <a:p>
            <a:pPr>
              <a:defRPr/>
            </a:pPr>
            <a:fld id="{4E912C5D-BB5B-4ED4-828B-78BDD76EDE82}" type="slidenum">
              <a:rPr lang="en-US" altLang="zh-CN"/>
              <a:pPr>
                <a:defRPr/>
              </a:pPr>
              <a:t>‹#›</a:t>
            </a:fld>
            <a:endParaRPr lang="en-US" altLang="zh-CN"/>
          </a:p>
        </p:txBody>
      </p:sp>
    </p:spTree>
    <p:extLst>
      <p:ext uri="{BB962C8B-B14F-4D97-AF65-F5344CB8AC3E}">
        <p14:creationId xmlns:p14="http://schemas.microsoft.com/office/powerpoint/2010/main" val="83015225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4213" y="1989138"/>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6613" y="1989138"/>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6613" y="4122738"/>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5"/>
          <p:cNvSpPr>
            <a:spLocks noGrp="1" noChangeArrowheads="1"/>
          </p:cNvSpPr>
          <p:nvPr>
            <p:ph type="dt" sz="half" idx="10"/>
          </p:nvPr>
        </p:nvSpPr>
        <p:spPr>
          <a:ln/>
        </p:spPr>
        <p:txBody>
          <a:bodyPr/>
          <a:lstStyle>
            <a:lvl1pPr>
              <a:defRPr/>
            </a:lvl1pPr>
          </a:lstStyle>
          <a:p>
            <a:pPr>
              <a:defRPr/>
            </a:pPr>
            <a:fld id="{60B0F72D-1E72-4876-851E-7B1989B538E8}" type="datetime1">
              <a:rPr lang="zh-CN" altLang="en-US"/>
              <a:pPr>
                <a:defRPr/>
              </a:pPr>
              <a:t>2020/9/7</a:t>
            </a:fld>
            <a:endParaRPr lang="en-US" altLang="zh-CN"/>
          </a:p>
        </p:txBody>
      </p:sp>
      <p:sp>
        <p:nvSpPr>
          <p:cNvPr id="7"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8" name="Rectangle 7"/>
          <p:cNvSpPr>
            <a:spLocks noGrp="1" noChangeArrowheads="1"/>
          </p:cNvSpPr>
          <p:nvPr>
            <p:ph type="sldNum" sz="quarter" idx="12"/>
          </p:nvPr>
        </p:nvSpPr>
        <p:spPr>
          <a:ln/>
        </p:spPr>
        <p:txBody>
          <a:bodyPr/>
          <a:lstStyle>
            <a:lvl1pPr>
              <a:defRPr/>
            </a:lvl1pPr>
          </a:lstStyle>
          <a:p>
            <a:pPr>
              <a:defRPr/>
            </a:pPr>
            <a:fld id="{6FEBA5C8-2887-4030-9C25-E55FB0A69620}" type="slidenum">
              <a:rPr lang="en-US" altLang="zh-CN"/>
              <a:pPr>
                <a:defRPr/>
              </a:pPr>
              <a:t>‹#›</a:t>
            </a:fld>
            <a:endParaRPr lang="en-US" altLang="zh-CN"/>
          </a:p>
        </p:txBody>
      </p:sp>
    </p:spTree>
    <p:extLst>
      <p:ext uri="{BB962C8B-B14F-4D97-AF65-F5344CB8AC3E}">
        <p14:creationId xmlns:p14="http://schemas.microsoft.com/office/powerpoint/2010/main" val="296472749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4100" name="Rectangle 4"/>
          <p:cNvSpPr>
            <a:spLocks noGrp="1" noChangeArrowheads="1"/>
          </p:cNvSpPr>
          <p:nvPr>
            <p:ph type="body" idx="1"/>
          </p:nvPr>
        </p:nvSpPr>
        <p:spPr bwMode="auto">
          <a:xfrm>
            <a:off x="684213" y="19891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101" name="Rectangle 5"/>
          <p:cNvSpPr>
            <a:spLocks noGrp="1" noChangeArrowheads="1"/>
          </p:cNvSpPr>
          <p:nvPr>
            <p:ph type="dt" sz="half" idx="2"/>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spcBef>
                <a:spcPct val="0"/>
              </a:spcBef>
              <a:defRPr sz="1400" b="1">
                <a:latin typeface="+mj-lt"/>
                <a:ea typeface="宋体" panose="02010600030101010101" pitchFamily="2" charset="-122"/>
              </a:defRPr>
            </a:lvl1pPr>
          </a:lstStyle>
          <a:p>
            <a:pPr>
              <a:defRPr/>
            </a:pPr>
            <a:fld id="{9A9D9FE5-8C5B-45C5-83D3-9B951AF0A2F5}" type="datetime1">
              <a:rPr lang="zh-CN" altLang="en-US"/>
              <a:pPr>
                <a:defRPr/>
              </a:pPr>
              <a:t>2020/9/7</a:t>
            </a:fld>
            <a:endParaRPr lang="en-US" altLang="zh-CN"/>
          </a:p>
        </p:txBody>
      </p:sp>
      <p:sp>
        <p:nvSpPr>
          <p:cNvPr id="4102" name="Rectangle 6"/>
          <p:cNvSpPr>
            <a:spLocks noGrp="1" noChangeArrowheads="1"/>
          </p:cNvSpPr>
          <p:nvPr>
            <p:ph type="ftr" sz="quarter" idx="3"/>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latin typeface="+mj-lt"/>
                <a:ea typeface="宋体" panose="02010600030101010101" pitchFamily="2" charset="-122"/>
              </a:defRPr>
            </a:lvl1pPr>
          </a:lstStyle>
          <a:p>
            <a:pPr>
              <a:defRPr/>
            </a:pPr>
            <a:r>
              <a:rPr lang="zh-CN" altLang="en-US"/>
              <a:t>计算机应用技术研究所</a:t>
            </a:r>
          </a:p>
        </p:txBody>
      </p:sp>
      <p:sp>
        <p:nvSpPr>
          <p:cNvPr id="4103" name="Rectangle 7"/>
          <p:cNvSpPr>
            <a:spLocks noGrp="1" noChangeArrowheads="1"/>
          </p:cNvSpPr>
          <p:nvPr>
            <p:ph type="sldNum" sz="quarter" idx="4"/>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b="1">
                <a:latin typeface="+mj-lt"/>
                <a:ea typeface="宋体" panose="02010600030101010101" pitchFamily="2" charset="-122"/>
              </a:defRPr>
            </a:lvl1pPr>
          </a:lstStyle>
          <a:p>
            <a:pPr>
              <a:defRPr/>
            </a:pPr>
            <a:fld id="{6790D5F2-49F9-4939-9609-D69B413DCCC3}" type="slidenum">
              <a:rPr lang="en-US" altLang="zh-CN"/>
              <a:pPr>
                <a:defRPr/>
              </a:pPr>
              <a:t>‹#›</a:t>
            </a:fld>
            <a:endParaRPr lang="en-US" altLang="zh-CN"/>
          </a:p>
        </p:txBody>
      </p:sp>
      <p:pic>
        <p:nvPicPr>
          <p:cNvPr id="1031" name="Picture 10" descr="12副本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transition/>
  <p:timing>
    <p:tnLst>
      <p:par>
        <p:cTn id="1" dur="indefinite" restart="never" nodeType="tmRoot"/>
      </p:par>
    </p:tnLst>
  </p:timing>
  <p:hf hdr="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8"/>
        </a:buBlip>
        <a:defRPr kumimoji="1"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8"/>
        </a:buBlip>
        <a:defRPr kumimoji="1" sz="2000" kern="1200">
          <a:solidFill>
            <a:schemeClr val="tx1"/>
          </a:solidFill>
          <a:latin typeface="+mj-lt"/>
          <a:ea typeface="+mj-ea"/>
          <a:cs typeface="+mn-cs"/>
        </a:defRPr>
      </a:lvl2pPr>
      <a:lvl3pPr marL="1143000" indent="-228600" algn="l" rtl="0" eaLnBrk="0" fontAlgn="base" hangingPunct="0">
        <a:spcBef>
          <a:spcPct val="20000"/>
        </a:spcBef>
        <a:spcAft>
          <a:spcPct val="0"/>
        </a:spcAft>
        <a:buChar char="•"/>
        <a:defRPr kumimoji="1" kern="1200">
          <a:solidFill>
            <a:schemeClr val="tx1"/>
          </a:solidFill>
          <a:latin typeface="+mj-lt"/>
          <a:ea typeface="+mj-ea"/>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mj-lt"/>
          <a:ea typeface="+mj-ea"/>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mj-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wmf"/><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4.wmf"/></Relationships>
</file>

<file path=ppt/slides/_rels/slide27.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4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4.wmf"/></Relationships>
</file>

<file path=ppt/slides/_rels/slide3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59.png"/><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1.png"/><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6.png"/></Relationships>
</file>

<file path=ppt/slides/_rels/slide4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4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9.png"/><Relationship Id="rId4" Type="http://schemas.openxmlformats.org/officeDocument/2006/relationships/image" Target="../media/image68.png"/></Relationships>
</file>

<file path=ppt/slides/_rels/slide4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wmf"/><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4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5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5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5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6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6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63.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9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6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92.png"/><Relationship Id="rId4" Type="http://schemas.openxmlformats.org/officeDocument/2006/relationships/image" Target="../media/image91.png"/></Relationships>
</file>

<file path=ppt/slides/_rels/slide6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6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6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95.png"/></Relationships>
</file>

<file path=ppt/slides/_rels/slide6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6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7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7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7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7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s>
</file>

<file path=ppt/slides/_rels/slide7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7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7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109.png"/></Relationships>
</file>

<file path=ppt/slides/_rels/slide7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7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11.png"/></Relationships>
</file>

<file path=ppt/slides/_rels/slide8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8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8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8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8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10.png"/></Relationships>
</file>

<file path=ppt/slides/_rels/slide86.xml.rels><?xml version="1.0" encoding="UTF-8" standalone="yes"?>
<Relationships xmlns="http://schemas.openxmlformats.org/package/2006/relationships"><Relationship Id="rId3" Type="http://schemas.openxmlformats.org/officeDocument/2006/relationships/image" Target="../media/image1120.png"/><Relationship Id="rId7" Type="http://schemas.openxmlformats.org/officeDocument/2006/relationships/image" Target="../media/image115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140.png"/><Relationship Id="rId5" Type="http://schemas.openxmlformats.org/officeDocument/2006/relationships/image" Target="../media/image1130.png"/><Relationship Id="rId4" Type="http://schemas.openxmlformats.org/officeDocument/2006/relationships/image" Target="../media/image4.wmf"/></Relationships>
</file>

<file path=ppt/slides/_rels/slide8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8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8.png"/><Relationship Id="rId4" Type="http://schemas.openxmlformats.org/officeDocument/2006/relationships/image" Target="../media/image117.png"/></Relationships>
</file>

<file path=ppt/slides/_rels/slide8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9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0.png"/></Relationships>
</file>

<file path=ppt/slides/_rels/slide9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1.png"/></Relationships>
</file>

<file path=ppt/slides/_rels/slide9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23.png"/><Relationship Id="rId4" Type="http://schemas.openxmlformats.org/officeDocument/2006/relationships/image" Target="../media/image122.png"/></Relationships>
</file>

<file path=ppt/slides/_rels/slide9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4.png"/></Relationships>
</file>

<file path=ppt/slides/_rels/slide9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9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0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10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10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10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3.png"/><Relationship Id="rId4" Type="http://schemas.openxmlformats.org/officeDocument/2006/relationships/image" Target="../media/image132.png"/></Relationships>
</file>

<file path=ppt/slides/_rels/slide10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10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10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13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10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110.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4.wmf"/><Relationship Id="rId7" Type="http://schemas.openxmlformats.org/officeDocument/2006/relationships/image" Target="../media/image14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s>
</file>

<file path=ppt/slides/_rels/slide1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1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8.png"/><Relationship Id="rId4" Type="http://schemas.openxmlformats.org/officeDocument/2006/relationships/image" Target="../media/image147.png"/></Relationships>
</file>

<file path=ppt/slides/_rels/slide1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50.png"/><Relationship Id="rId4" Type="http://schemas.openxmlformats.org/officeDocument/2006/relationships/image" Target="../media/image149.png"/></Relationships>
</file>

<file path=ppt/slides/_rels/slide1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1.png"/></Relationships>
</file>

<file path=ppt/slides/_rels/slide1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1"/>
          <p:cNvSpPr>
            <a:spLocks noGrp="1"/>
          </p:cNvSpPr>
          <p:nvPr>
            <p:ph type="dt" sz="quarter" idx="10"/>
          </p:nvPr>
        </p:nvSpPr>
        <p:spPr/>
        <p:txBody>
          <a:bodyPr/>
          <a:lstStyle/>
          <a:p>
            <a:pPr>
              <a:defRPr/>
            </a:pPr>
            <a:fld id="{5A31356D-D0DE-40DC-AFDF-AD46DFB9AD64}" type="datetime1">
              <a:rPr lang="zh-CN" altLang="en-US"/>
              <a:pPr>
                <a:defRPr/>
              </a:pPr>
              <a:t>2020/9/7</a:t>
            </a:fld>
            <a:endParaRPr lang="en-US" altLang="zh-CN"/>
          </a:p>
        </p:txBody>
      </p:sp>
      <p:sp>
        <p:nvSpPr>
          <p:cNvPr id="7" name="页脚占位符 2"/>
          <p:cNvSpPr>
            <a:spLocks noGrp="1"/>
          </p:cNvSpPr>
          <p:nvPr>
            <p:ph type="ftr" sz="quarter" idx="11"/>
          </p:nvPr>
        </p:nvSpPr>
        <p:spPr/>
        <p:txBody>
          <a:bodyPr/>
          <a:lstStyle/>
          <a:p>
            <a:pPr>
              <a:defRPr/>
            </a:pPr>
            <a:r>
              <a:rPr lang="zh-CN" altLang="en-US"/>
              <a:t>计算机应用技术研究所</a:t>
            </a:r>
          </a:p>
        </p:txBody>
      </p:sp>
      <p:sp>
        <p:nvSpPr>
          <p:cNvPr id="8" name="灯片编号占位符 3"/>
          <p:cNvSpPr>
            <a:spLocks noGrp="1"/>
          </p:cNvSpPr>
          <p:nvPr>
            <p:ph type="sldNum" sz="quarter" idx="12"/>
          </p:nvPr>
        </p:nvSpPr>
        <p:spPr/>
        <p:txBody>
          <a:bodyPr/>
          <a:lstStyle/>
          <a:p>
            <a:pPr>
              <a:defRPr/>
            </a:pPr>
            <a:fld id="{E655A8CB-2FDD-4E74-9CDA-4E7F502DEE26}" type="slidenum">
              <a:rPr lang="en-US" altLang="zh-CN"/>
              <a:pPr>
                <a:defRPr/>
              </a:pPr>
              <a:t>1</a:t>
            </a:fld>
            <a:endParaRPr lang="en-US" altLang="zh-CN"/>
          </a:p>
        </p:txBody>
      </p:sp>
      <p:sp>
        <p:nvSpPr>
          <p:cNvPr id="3077" name="页脚占位符 3"/>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8D67E171-4FF2-449D-9B65-4692C8480EAD}"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1</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23939" name="Rectangle 3"/>
          <p:cNvSpPr>
            <a:spLocks noGrp="1" noChangeArrowheads="1"/>
          </p:cNvSpPr>
          <p:nvPr>
            <p:ph type="body" idx="4294967295"/>
          </p:nvPr>
        </p:nvSpPr>
        <p:spPr>
          <a:xfrm>
            <a:off x="706438" y="1412875"/>
            <a:ext cx="7826375" cy="2514600"/>
          </a:xfrm>
        </p:spPr>
        <p:txBody>
          <a:bodyPr/>
          <a:lstStyle/>
          <a:p>
            <a:pPr marL="400050" indent="-400050" algn="ctr" eaLnBrk="1" hangingPunct="1">
              <a:buFontTx/>
              <a:buNone/>
              <a:defRPr/>
            </a:pPr>
            <a:r>
              <a:rPr lang="zh-CN" altLang="en-US" sz="8000" b="1" dirty="0" smtClean="0">
                <a:solidFill>
                  <a:schemeClr val="accent2"/>
                </a:solidFill>
                <a:effectLst/>
                <a:ea typeface="隶书" panose="02010509060101010101" pitchFamily="49" charset="-122"/>
              </a:rPr>
              <a:t>离散数学</a:t>
            </a:r>
            <a:endParaRPr lang="zh-CN" altLang="en-US" sz="6600" b="1" dirty="0" smtClean="0">
              <a:solidFill>
                <a:schemeClr val="accent2"/>
              </a:solidFill>
              <a:effectLst/>
              <a:ea typeface="隶书" panose="02010509060101010101" pitchFamily="49" charset="-122"/>
            </a:endParaRPr>
          </a:p>
          <a:p>
            <a:pPr marL="400050" indent="-400050" algn="ctr" eaLnBrk="1" hangingPunct="1">
              <a:buFontTx/>
              <a:buNone/>
              <a:defRPr/>
            </a:pPr>
            <a:r>
              <a:rPr lang="en-US" altLang="zh-CN" sz="6600" dirty="0" smtClean="0">
                <a:solidFill>
                  <a:schemeClr val="accent2"/>
                </a:solidFill>
                <a:effectLst/>
                <a:latin typeface="Times New Roman" panose="02020603050405020304" pitchFamily="18" charset="0"/>
                <a:ea typeface="华文行楷" panose="02010800040101010101" pitchFamily="2" charset="-122"/>
              </a:rPr>
              <a:t>Discrete Mathematics</a:t>
            </a:r>
            <a:r>
              <a:rPr lang="en-US" altLang="zh-CN" sz="3600" b="1" dirty="0" smtClean="0">
                <a:ea typeface="宋体" panose="02010600030101010101" pitchFamily="2" charset="-122"/>
              </a:rPr>
              <a:t> </a:t>
            </a:r>
          </a:p>
        </p:txBody>
      </p:sp>
      <p:sp>
        <p:nvSpPr>
          <p:cNvPr id="3079" name="Text Box 4"/>
          <p:cNvSpPr txBox="1">
            <a:spLocks noChangeArrowheads="1"/>
          </p:cNvSpPr>
          <p:nvPr/>
        </p:nvSpPr>
        <p:spPr bwMode="auto">
          <a:xfrm>
            <a:off x="1169988" y="4343400"/>
            <a:ext cx="6858000" cy="132959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20000"/>
              </a:spcAft>
              <a:buClr>
                <a:srgbClr val="228A88"/>
              </a:buClr>
              <a:buFont typeface="Wingdings 2" panose="05020102010507070707" pitchFamily="18" charset="2"/>
              <a:buNone/>
            </a:pPr>
            <a:r>
              <a:rPr kumimoji="0" lang="zh-CN" altLang="en-US" sz="3200" b="1" dirty="0">
                <a:latin typeface="黑体" panose="02010609060101010101" pitchFamily="49" charset="-122"/>
                <a:ea typeface="黑体" panose="02010609060101010101" pitchFamily="49" charset="-122"/>
                <a:cs typeface="Arial" panose="020B0604020202020204" pitchFamily="34" charset="0"/>
              </a:rPr>
              <a:t>杨娟</a:t>
            </a:r>
            <a:r>
              <a:rPr kumimoji="0" lang="zh-CN" altLang="en-US" sz="3200" b="1" dirty="0" smtClean="0">
                <a:latin typeface="黑体" panose="02010609060101010101" pitchFamily="49" charset="-122"/>
                <a:ea typeface="黑体" panose="02010609060101010101" pitchFamily="49" charset="-122"/>
                <a:cs typeface="Arial" panose="020B0604020202020204" pitchFamily="34" charset="0"/>
              </a:rPr>
              <a:t> 博士</a:t>
            </a:r>
            <a:endParaRPr kumimoji="0" lang="en-US" altLang="zh-CN" sz="3200" b="1" dirty="0" smtClean="0">
              <a:latin typeface="黑体" panose="02010609060101010101" pitchFamily="49" charset="-122"/>
              <a:ea typeface="黑体" panose="02010609060101010101" pitchFamily="49" charset="-122"/>
              <a:cs typeface="Arial" panose="020B0604020202020204" pitchFamily="34" charset="0"/>
            </a:endParaRPr>
          </a:p>
          <a:p>
            <a:pPr algn="ctr" eaLnBrk="1" hangingPunct="1">
              <a:spcBef>
                <a:spcPct val="50000"/>
              </a:spcBef>
              <a:spcAft>
                <a:spcPct val="20000"/>
              </a:spcAft>
              <a:buClr>
                <a:srgbClr val="228A88"/>
              </a:buClr>
              <a:buFont typeface="Wingdings 2" panose="05020102010507070707" pitchFamily="18" charset="2"/>
              <a:buNone/>
            </a:pPr>
            <a:r>
              <a:rPr kumimoji="0" lang="zh-CN" altLang="en-US" sz="2800" b="1" dirty="0" smtClean="0">
                <a:latin typeface="黑体" panose="02010609060101010101" pitchFamily="49" charset="-122"/>
                <a:ea typeface="黑体" panose="02010609060101010101" pitchFamily="49" charset="-122"/>
                <a:cs typeface="Arial" panose="020B0604020202020204" pitchFamily="34" charset="0"/>
              </a:rPr>
              <a:t>合肥工业大学</a:t>
            </a:r>
            <a:r>
              <a:rPr kumimoji="0" lang="zh-CN" altLang="en-US" sz="2800" b="1" dirty="0">
                <a:latin typeface="黑体" panose="02010609060101010101" pitchFamily="49" charset="-122"/>
                <a:ea typeface="黑体" panose="02010609060101010101" pitchFamily="49" charset="-122"/>
                <a:cs typeface="Arial" panose="020B0604020202020204" pitchFamily="34" charset="0"/>
              </a:rPr>
              <a:t>计算机与信息学院</a:t>
            </a:r>
          </a:p>
        </p:txBody>
      </p:sp>
      <p:pic>
        <p:nvPicPr>
          <p:cNvPr id="3080" name="Picture 6" descr="C:\Program Files\Microsoft Office\MEDIA\CAGCAT10\j0293844.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188"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25762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5" name="页脚占位符 4"/>
          <p:cNvSpPr>
            <a:spLocks noGrp="1"/>
          </p:cNvSpPr>
          <p:nvPr>
            <p:ph type="ftr" sz="quarter" idx="11"/>
          </p:nvPr>
        </p:nvSpPr>
        <p:spPr/>
        <p:txBody>
          <a:bodyPr/>
          <a:lstStyle/>
          <a:p>
            <a:pPr>
              <a:defRPr/>
            </a:pPr>
            <a:r>
              <a:rPr lang="zh-CN" altLang="en-US"/>
              <a:t>计算机应用技术研究所</a:t>
            </a:r>
          </a:p>
        </p:txBody>
      </p:sp>
      <p:sp>
        <p:nvSpPr>
          <p:cNvPr id="6" name="灯片编号占位符 5"/>
          <p:cNvSpPr>
            <a:spLocks noGrp="1"/>
          </p:cNvSpPr>
          <p:nvPr>
            <p:ph type="sldNum" sz="quarter" idx="12"/>
          </p:nvPr>
        </p:nvSpPr>
        <p:spPr/>
        <p:txBody>
          <a:bodyPr/>
          <a:lstStyle/>
          <a:p>
            <a:pPr>
              <a:defRPr/>
            </a:pPr>
            <a:fld id="{56609053-306E-4C85-B2A2-877EC31AE1DC}" type="slidenum">
              <a:rPr lang="en-US" altLang="zh-CN"/>
              <a:pPr>
                <a:defRPr/>
              </a:pPr>
              <a:t>2</a:t>
            </a:fld>
            <a:endParaRPr lang="en-US" altLang="zh-CN"/>
          </a:p>
        </p:txBody>
      </p:sp>
      <p:sp>
        <p:nvSpPr>
          <p:cNvPr id="4101" name="Rectangle 2"/>
          <p:cNvSpPr>
            <a:spLocks noGrp="1" noChangeArrowheads="1"/>
          </p:cNvSpPr>
          <p:nvPr>
            <p:ph type="ctrTitle"/>
          </p:nvPr>
        </p:nvSpPr>
        <p:spPr>
          <a:xfrm>
            <a:off x="827088" y="2422525"/>
            <a:ext cx="8137525" cy="2230438"/>
          </a:xfrm>
        </p:spPr>
        <p:txBody>
          <a:bodyPr anchor="ctr"/>
          <a:lstStyle/>
          <a:p>
            <a:pPr eaLnBrk="1" hangingPunct="1"/>
            <a:r>
              <a:rPr lang="zh-CN" altLang="en-US" sz="4800" b="1" smtClean="0">
                <a:solidFill>
                  <a:schemeClr val="accent2"/>
                </a:solidFill>
                <a:latin typeface="黑体" panose="02010609060101010101" pitchFamily="49" charset="-122"/>
                <a:ea typeface="黑体" panose="02010609060101010101" pitchFamily="49" charset="-122"/>
              </a:rPr>
              <a:t>第</a:t>
            </a:r>
            <a:r>
              <a:rPr lang="en-US" altLang="zh-CN" sz="4800" b="1" smtClean="0">
                <a:solidFill>
                  <a:schemeClr val="accent2"/>
                </a:solidFill>
                <a:latin typeface="黑体" panose="02010609060101010101" pitchFamily="49" charset="-122"/>
                <a:ea typeface="黑体" panose="02010609060101010101" pitchFamily="49" charset="-122"/>
              </a:rPr>
              <a:t>2</a:t>
            </a:r>
            <a:r>
              <a:rPr lang="zh-CN" altLang="en-US" sz="4800" b="1" smtClean="0">
                <a:solidFill>
                  <a:schemeClr val="accent2"/>
                </a:solidFill>
                <a:latin typeface="黑体" panose="02010609060101010101" pitchFamily="49" charset="-122"/>
                <a:ea typeface="黑体" panose="02010609060101010101" pitchFamily="49" charset="-122"/>
              </a:rPr>
              <a:t>章 整数与算法设计基础</a:t>
            </a:r>
            <a:r>
              <a:rPr lang="zh-CN" altLang="en-US" sz="6600" b="1" smtClean="0">
                <a:solidFill>
                  <a:schemeClr val="accent2"/>
                </a:solidFill>
                <a:latin typeface="黑体" panose="02010609060101010101" pitchFamily="49" charset="-122"/>
                <a:ea typeface="黑体" panose="02010609060101010101" pitchFamily="49" charset="-122"/>
              </a:rPr>
              <a:t/>
            </a:r>
            <a:br>
              <a:rPr lang="zh-CN" altLang="en-US" sz="6600" b="1" smtClean="0">
                <a:solidFill>
                  <a:schemeClr val="accent2"/>
                </a:solidFill>
                <a:latin typeface="黑体" panose="02010609060101010101" pitchFamily="49" charset="-122"/>
                <a:ea typeface="黑体" panose="02010609060101010101" pitchFamily="49" charset="-122"/>
              </a:rPr>
            </a:br>
            <a:r>
              <a:rPr lang="zh-CN" altLang="en-US" sz="5400" b="1" smtClean="0">
                <a:solidFill>
                  <a:schemeClr val="accent2"/>
                </a:solidFill>
                <a:latin typeface="黑体" panose="02010609060101010101" pitchFamily="49" charset="-122"/>
                <a:ea typeface="黑体" panose="02010609060101010101" pitchFamily="49" charset="-122"/>
              </a:rPr>
              <a:t>（上）</a:t>
            </a:r>
          </a:p>
        </p:txBody>
      </p:sp>
      <p:pic>
        <p:nvPicPr>
          <p:cNvPr id="4102"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3A5C924A-B82F-4B99-AE10-83714BD5CA6D}"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grpSp>
        <p:nvGrpSpPr>
          <p:cNvPr id="5123" name="Group 21"/>
          <p:cNvGrpSpPr>
            <a:grpSpLocks/>
          </p:cNvGrpSpPr>
          <p:nvPr/>
        </p:nvGrpSpPr>
        <p:grpSpPr bwMode="auto">
          <a:xfrm>
            <a:off x="2339975" y="2349500"/>
            <a:ext cx="4733925" cy="3662363"/>
            <a:chOff x="1474" y="1480"/>
            <a:chExt cx="2982" cy="2307"/>
          </a:xfrm>
        </p:grpSpPr>
        <p:sp>
          <p:nvSpPr>
            <p:cNvPr id="1170441" name="AutoShape 9"/>
            <p:cNvSpPr>
              <a:spLocks noChangeArrowheads="1"/>
            </p:cNvSpPr>
            <p:nvPr/>
          </p:nvSpPr>
          <p:spPr bwMode="gray">
            <a:xfrm>
              <a:off x="1720" y="2168"/>
              <a:ext cx="2736"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5126" name="AutoShape 10"/>
            <p:cNvSpPr>
              <a:spLocks noChangeArrowheads="1"/>
            </p:cNvSpPr>
            <p:nvPr/>
          </p:nvSpPr>
          <p:spPr bwMode="gray">
            <a:xfrm>
              <a:off x="1480" y="2069"/>
              <a:ext cx="432" cy="573"/>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27" name="Text Box 11"/>
            <p:cNvSpPr txBox="1">
              <a:spLocks noChangeArrowheads="1"/>
            </p:cNvSpPr>
            <p:nvPr/>
          </p:nvSpPr>
          <p:spPr bwMode="gray">
            <a:xfrm>
              <a:off x="1864" y="2215"/>
              <a:ext cx="258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rPr>
                <a:t> 同余算术及其运用</a:t>
              </a:r>
              <a:endParaRPr kumimoji="0" lang="zh-CN" altLang="en-US" sz="2800" b="1" dirty="0">
                <a:latin typeface="黑体" panose="02010609060101010101" pitchFamily="49" charset="-122"/>
                <a:ea typeface="黑体" panose="02010609060101010101" pitchFamily="49" charset="-122"/>
              </a:endParaRPr>
            </a:p>
          </p:txBody>
        </p:sp>
        <p:sp>
          <p:nvSpPr>
            <p:cNvPr id="5128" name="Text Box 12"/>
            <p:cNvSpPr txBox="1">
              <a:spLocks noChangeArrowheads="1"/>
            </p:cNvSpPr>
            <p:nvPr/>
          </p:nvSpPr>
          <p:spPr bwMode="gray">
            <a:xfrm>
              <a:off x="1574" y="2151"/>
              <a:ext cx="22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2</a:t>
              </a:r>
            </a:p>
          </p:txBody>
        </p:sp>
        <p:sp>
          <p:nvSpPr>
            <p:cNvPr id="1170446" name="AutoShape 14"/>
            <p:cNvSpPr>
              <a:spLocks noChangeArrowheads="1"/>
            </p:cNvSpPr>
            <p:nvPr/>
          </p:nvSpPr>
          <p:spPr bwMode="gray">
            <a:xfrm>
              <a:off x="1714" y="2756"/>
              <a:ext cx="2736" cy="375"/>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5130" name="AutoShape 15"/>
            <p:cNvSpPr>
              <a:spLocks noChangeArrowheads="1"/>
            </p:cNvSpPr>
            <p:nvPr/>
          </p:nvSpPr>
          <p:spPr bwMode="gray">
            <a:xfrm>
              <a:off x="1474" y="2659"/>
              <a:ext cx="432" cy="560"/>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1" name="Text Box 16"/>
            <p:cNvSpPr txBox="1">
              <a:spLocks noChangeArrowheads="1"/>
            </p:cNvSpPr>
            <p:nvPr/>
          </p:nvSpPr>
          <p:spPr bwMode="gray">
            <a:xfrm>
              <a:off x="1858" y="2802"/>
              <a:ext cx="238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rPr>
                <a:t>  算法设计的基本知识</a:t>
              </a:r>
              <a:endParaRPr kumimoji="0" lang="zh-CN" altLang="en-US" sz="2800" b="1" dirty="0">
                <a:latin typeface="黑体" panose="02010609060101010101" pitchFamily="49" charset="-122"/>
                <a:ea typeface="黑体" panose="02010609060101010101" pitchFamily="49" charset="-122"/>
              </a:endParaRPr>
            </a:p>
          </p:txBody>
        </p:sp>
        <p:sp>
          <p:nvSpPr>
            <p:cNvPr id="5132" name="Text Box 17"/>
            <p:cNvSpPr txBox="1">
              <a:spLocks noChangeArrowheads="1"/>
            </p:cNvSpPr>
            <p:nvPr/>
          </p:nvSpPr>
          <p:spPr bwMode="gray">
            <a:xfrm>
              <a:off x="1568" y="2740"/>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3</a:t>
              </a:r>
            </a:p>
          </p:txBody>
        </p:sp>
        <p:sp>
          <p:nvSpPr>
            <p:cNvPr id="5133" name="AutoShape 19"/>
            <p:cNvSpPr>
              <a:spLocks noChangeArrowheads="1"/>
            </p:cNvSpPr>
            <p:nvPr/>
          </p:nvSpPr>
          <p:spPr bwMode="gray">
            <a:xfrm>
              <a:off x="1720" y="1577"/>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4" name="AutoShape 20"/>
            <p:cNvSpPr>
              <a:spLocks noChangeArrowheads="1"/>
            </p:cNvSpPr>
            <p:nvPr/>
          </p:nvSpPr>
          <p:spPr bwMode="gray">
            <a:xfrm>
              <a:off x="1480" y="1480"/>
              <a:ext cx="432" cy="561"/>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5" name="Text Box 21"/>
            <p:cNvSpPr txBox="1">
              <a:spLocks noChangeArrowheads="1"/>
            </p:cNvSpPr>
            <p:nvPr/>
          </p:nvSpPr>
          <p:spPr bwMode="gray">
            <a:xfrm>
              <a:off x="1927" y="1623"/>
              <a:ext cx="252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zh-CN" altLang="en-US" sz="2800" b="1" dirty="0">
                  <a:latin typeface="黑体" panose="02010609060101010101" pitchFamily="49" charset="-122"/>
                </a:rPr>
                <a:t>   整数</a:t>
              </a:r>
              <a:r>
                <a:rPr kumimoji="0" lang="zh-CN" altLang="en-US" sz="2800" b="1" dirty="0">
                  <a:latin typeface="黑体" panose="02010609060101010101" pitchFamily="49" charset="-122"/>
                  <a:ea typeface="黑体" panose="02010609060101010101" pitchFamily="49" charset="-122"/>
                </a:rPr>
                <a:t>的基本知识</a:t>
              </a:r>
            </a:p>
          </p:txBody>
        </p:sp>
        <p:sp>
          <p:nvSpPr>
            <p:cNvPr id="5136" name="Text Box 22"/>
            <p:cNvSpPr txBox="1">
              <a:spLocks noChangeArrowheads="1"/>
            </p:cNvSpPr>
            <p:nvPr/>
          </p:nvSpPr>
          <p:spPr bwMode="gray">
            <a:xfrm>
              <a:off x="1568" y="1600"/>
              <a:ext cx="228"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1</a:t>
              </a:r>
            </a:p>
          </p:txBody>
        </p:sp>
        <p:sp>
          <p:nvSpPr>
            <p:cNvPr id="5137" name="AutoShape 29"/>
            <p:cNvSpPr>
              <a:spLocks noChangeArrowheads="1"/>
            </p:cNvSpPr>
            <p:nvPr/>
          </p:nvSpPr>
          <p:spPr bwMode="gray">
            <a:xfrm>
              <a:off x="1714" y="3337"/>
              <a:ext cx="2736" cy="363"/>
            </a:xfrm>
            <a:prstGeom prst="roundRect">
              <a:avLst>
                <a:gd name="adj" fmla="val 16667"/>
              </a:avLst>
            </a:prstGeom>
            <a:gradFill rotWithShape="1">
              <a:gsLst>
                <a:gs pos="0">
                  <a:srgbClr val="3366FF"/>
                </a:gs>
                <a:gs pos="50000">
                  <a:srgbClr val="D4DFFF"/>
                </a:gs>
                <a:gs pos="100000">
                  <a:srgbClr val="3366FF"/>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8" name="AutoShape 30"/>
            <p:cNvSpPr>
              <a:spLocks noChangeArrowheads="1"/>
            </p:cNvSpPr>
            <p:nvPr/>
          </p:nvSpPr>
          <p:spPr bwMode="gray">
            <a:xfrm>
              <a:off x="1474" y="3243"/>
              <a:ext cx="432" cy="544"/>
            </a:xfrm>
            <a:prstGeom prst="diamond">
              <a:avLst/>
            </a:prstGeom>
            <a:solidFill>
              <a:srgbClr val="3366FF"/>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139" name="Text Box 31"/>
            <p:cNvSpPr txBox="1">
              <a:spLocks noChangeArrowheads="1"/>
            </p:cNvSpPr>
            <p:nvPr/>
          </p:nvSpPr>
          <p:spPr bwMode="gray">
            <a:xfrm>
              <a:off x="1858" y="3382"/>
              <a:ext cx="25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dirty="0">
                  <a:latin typeface="黑体" panose="02010609060101010101" pitchFamily="49" charset="-122"/>
                </a:rPr>
                <a:t> 算法设计策略与应用</a:t>
              </a:r>
              <a:endParaRPr kumimoji="0" lang="zh-CN" altLang="en-US" sz="2800" b="1" dirty="0">
                <a:latin typeface="黑体" panose="02010609060101010101" pitchFamily="49" charset="-122"/>
                <a:ea typeface="黑体" panose="02010609060101010101" pitchFamily="49" charset="-122"/>
              </a:endParaRPr>
            </a:p>
          </p:txBody>
        </p:sp>
        <p:sp>
          <p:nvSpPr>
            <p:cNvPr id="5140" name="Text Box 32"/>
            <p:cNvSpPr txBox="1">
              <a:spLocks noChangeArrowheads="1"/>
            </p:cNvSpPr>
            <p:nvPr/>
          </p:nvSpPr>
          <p:spPr bwMode="gray">
            <a:xfrm>
              <a:off x="1568" y="3324"/>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4</a:t>
              </a:r>
            </a:p>
          </p:txBody>
        </p:sp>
      </p:grpSp>
      <p:sp>
        <p:nvSpPr>
          <p:cNvPr id="5124"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endParaRPr lang="zh-CN" altLang="en-US">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146E3C44-38CC-48C0-B02C-26D47A6E25B8}"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614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614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fld id="{617BA469-CF36-40C2-9A0E-7A203475CC23}"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4</a:t>
            </a:fld>
            <a:endParaRPr lang="en-US" altLang="zh-CN" sz="1400" b="1">
              <a:latin typeface="Times New Roman" panose="02020603050405020304" pitchFamily="18" charset="0"/>
              <a:ea typeface="宋体" panose="02010600030101010101" pitchFamily="2" charset="-122"/>
            </a:endParaRPr>
          </a:p>
        </p:txBody>
      </p:sp>
      <p:sp>
        <p:nvSpPr>
          <p:cNvPr id="6149" name="Rectangle 4"/>
          <p:cNvSpPr>
            <a:spLocks noGrp="1" noChangeArrowheads="1"/>
          </p:cNvSpPr>
          <p:nvPr>
            <p:ph type="ctrTitle" idx="4294967295"/>
          </p:nvPr>
        </p:nvSpPr>
        <p:spPr>
          <a:xfrm>
            <a:off x="1042988" y="2565400"/>
            <a:ext cx="7702550" cy="1655763"/>
          </a:xfrm>
          <a:solidFill>
            <a:srgbClr val="0000FF"/>
          </a:solidFill>
        </p:spPr>
        <p:txBody>
          <a:bodyPr/>
          <a:lstStyle/>
          <a:p>
            <a:pPr eaLnBrk="1" hangingPunct="1"/>
            <a:r>
              <a:rPr lang="zh-CN" altLang="en-US" sz="6600" b="1" smtClean="0">
                <a:solidFill>
                  <a:schemeClr val="bg1"/>
                </a:solidFill>
              </a:rPr>
              <a:t>整数的基本知识</a:t>
            </a:r>
          </a:p>
        </p:txBody>
      </p:sp>
      <p:pic>
        <p:nvPicPr>
          <p:cNvPr id="6150"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331913" y="1001713"/>
            <a:ext cx="62722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整数的基本知识</a:t>
            </a:r>
          </a:p>
        </p:txBody>
      </p:sp>
      <p:sp>
        <p:nvSpPr>
          <p:cNvPr id="7171" name="Rectangle 3"/>
          <p:cNvSpPr>
            <a:spLocks noGrp="1" noChangeArrowheads="1"/>
          </p:cNvSpPr>
          <p:nvPr>
            <p:ph type="body" sz="half" idx="1"/>
          </p:nvPr>
        </p:nvSpPr>
        <p:spPr>
          <a:xfrm>
            <a:off x="2266950" y="2708275"/>
            <a:ext cx="5400675" cy="2665413"/>
          </a:xfrm>
          <a:noFill/>
        </p:spPr>
        <p:txBody>
          <a:bodyPr lIns="92075" tIns="46038" rIns="92075" bIns="46038"/>
          <a:lstStyle/>
          <a:p>
            <a:pPr>
              <a:lnSpc>
                <a:spcPct val="130000"/>
              </a:lnSpc>
              <a:spcBef>
                <a:spcPct val="30000"/>
              </a:spcBef>
              <a:buFont typeface="Wingdings" panose="05000000000000000000" pitchFamily="2" charset="2"/>
              <a:buChar char="J"/>
            </a:pPr>
            <a:r>
              <a:rPr lang="zh-CN" altLang="en-US" sz="3600" b="1" dirty="0" smtClean="0">
                <a:solidFill>
                  <a:schemeClr val="accent2"/>
                </a:solidFill>
                <a:effectLst/>
                <a:latin typeface="黑体" panose="02010609060101010101" pitchFamily="49" charset="-122"/>
                <a:ea typeface="黑体" panose="02010609060101010101" pitchFamily="49" charset="-122"/>
              </a:rPr>
              <a:t> 整数与整除算法</a:t>
            </a:r>
            <a:endParaRPr lang="en-US" altLang="zh-CN" sz="3600" b="1" dirty="0" smtClean="0">
              <a:solidFill>
                <a:schemeClr val="accent2"/>
              </a:solidFill>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整数的因数分解</a:t>
            </a: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素数的性质与查找</a:t>
            </a:r>
          </a:p>
        </p:txBody>
      </p:sp>
      <p:pic>
        <p:nvPicPr>
          <p:cNvPr id="717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4"/>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5"/>
          <p:cNvSpPr>
            <a:spLocks noGrp="1"/>
          </p:cNvSpPr>
          <p:nvPr>
            <p:ph type="ftr" sz="quarter" idx="11"/>
          </p:nvPr>
        </p:nvSpPr>
        <p:spPr/>
        <p:txBody>
          <a:bodyPr/>
          <a:lstStyle/>
          <a:p>
            <a:pPr>
              <a:defRPr/>
            </a:pPr>
            <a:r>
              <a:rPr lang="zh-CN" altLang="en-US"/>
              <a:t>计算机应用技术研究所</a:t>
            </a:r>
          </a:p>
        </p:txBody>
      </p:sp>
      <p:sp>
        <p:nvSpPr>
          <p:cNvPr id="8" name="灯片编号占位符 6"/>
          <p:cNvSpPr>
            <a:spLocks noGrp="1"/>
          </p:cNvSpPr>
          <p:nvPr>
            <p:ph type="sldNum" sz="quarter" idx="12"/>
          </p:nvPr>
        </p:nvSpPr>
        <p:spPr>
          <a:xfrm>
            <a:off x="6588125" y="6400800"/>
            <a:ext cx="1905000" cy="457200"/>
          </a:xfrm>
        </p:spPr>
        <p:txBody>
          <a:bodyPr/>
          <a:lstStyle/>
          <a:p>
            <a:pPr>
              <a:defRPr/>
            </a:pPr>
            <a:fld id="{EFAB8625-F9BC-41D9-AA9E-199F0DEEA90B}" type="slidenum">
              <a:rPr lang="en-US" altLang="zh-CN"/>
              <a:pPr>
                <a:defRPr/>
              </a:pPr>
              <a:t>6</a:t>
            </a:fld>
            <a:endParaRPr lang="en-US" altLang="zh-CN"/>
          </a:p>
        </p:txBody>
      </p:sp>
      <p:sp>
        <p:nvSpPr>
          <p:cNvPr id="8197" name="Text Box 2"/>
          <p:cNvSpPr txBox="1">
            <a:spLocks noChangeArrowheads="1"/>
          </p:cNvSpPr>
          <p:nvPr/>
        </p:nvSpPr>
        <p:spPr bwMode="auto">
          <a:xfrm>
            <a:off x="1468438" y="836613"/>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整数</a:t>
            </a:r>
          </a:p>
        </p:txBody>
      </p:sp>
      <p:pic>
        <p:nvPicPr>
          <p:cNvPr id="819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16400" y="2276475"/>
            <a:ext cx="4276725"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文本框 8"/>
          <p:cNvSpPr txBox="1">
            <a:spLocks noChangeArrowheads="1"/>
          </p:cNvSpPr>
          <p:nvPr/>
        </p:nvSpPr>
        <p:spPr bwMode="auto">
          <a:xfrm>
            <a:off x="1116013" y="2427288"/>
            <a:ext cx="2447925" cy="2862262"/>
          </a:xfrm>
          <a:prstGeom prst="rect">
            <a:avLst/>
          </a:prstGeom>
          <a:solidFill>
            <a:srgbClr val="CC99FF"/>
          </a:solidFill>
          <a:ln w="12700">
            <a:solidFill>
              <a:schemeClr val="tx1"/>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a:latin typeface="黑体" panose="02010609060101010101" pitchFamily="49" charset="-122"/>
                <a:ea typeface="黑体" panose="02010609060101010101" pitchFamily="49" charset="-122"/>
              </a:rPr>
              <a:t>在第一章，我们得到自然数和自然数集的定义。在自然数集中加入每个非零的相反数就得到整个整数集合</a:t>
            </a:r>
            <a:r>
              <a:rPr lang="en-US" altLang="zh-CN" sz="2000" i="1">
                <a:latin typeface="黑体" panose="02010609060101010101" pitchFamily="49" charset="-122"/>
                <a:ea typeface="黑体" panose="02010609060101010101" pitchFamily="49" charset="-122"/>
              </a:rPr>
              <a:t>Z</a:t>
            </a:r>
            <a:r>
              <a:rPr lang="zh-CN" altLang="en-US" sz="2000" i="1">
                <a:latin typeface="黑体" panose="02010609060101010101" pitchFamily="49" charset="-122"/>
                <a:ea typeface="黑体" panose="02010609060101010101" pitchFamily="49" charset="-122"/>
              </a:rPr>
              <a:t>。对于整数集合</a:t>
            </a:r>
            <a:r>
              <a:rPr lang="en-US" altLang="zh-CN" sz="2000" i="1">
                <a:latin typeface="黑体" panose="02010609060101010101" pitchFamily="49" charset="-122"/>
                <a:ea typeface="黑体" panose="02010609060101010101" pitchFamily="49" charset="-122"/>
              </a:rPr>
              <a:t>Z </a:t>
            </a:r>
            <a:r>
              <a:rPr lang="zh-CN" altLang="en-US" sz="2000" i="1">
                <a:latin typeface="黑体" panose="02010609060101010101" pitchFamily="49" charset="-122"/>
                <a:ea typeface="黑体" panose="02010609060101010101" pitchFamily="49" charset="-122"/>
              </a:rPr>
              <a:t>，有：</a:t>
            </a:r>
            <a:r>
              <a:rPr lang="en-US" altLang="zh-CN" sz="2000" i="1">
                <a:latin typeface="黑体" panose="02010609060101010101" pitchFamily="49" charset="-122"/>
                <a:ea typeface="黑体" panose="02010609060101010101" pitchFamily="49" charset="-122"/>
              </a:rPr>
              <a:t>Z</a:t>
            </a:r>
            <a:r>
              <a:rPr lang="en-US" altLang="zh-CN" sz="2000">
                <a:latin typeface="黑体" panose="02010609060101010101" pitchFamily="49" charset="-122"/>
                <a:ea typeface="黑体" panose="02010609060101010101" pitchFamily="49" charset="-122"/>
              </a:rPr>
              <a:t>={…,-4,-3,-2,-1,0,1,2,3,4…}</a:t>
            </a:r>
            <a:endParaRPr lang="zh-CN" altLang="en-US" sz="200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61902AA1-7313-4DBE-A1E5-BBB5513C9C3C}" type="slidenum">
              <a:rPr lang="en-US" altLang="zh-CN"/>
              <a:pPr>
                <a:defRPr/>
              </a:pPr>
              <a:t>7</a:t>
            </a:fld>
            <a:endParaRPr lang="en-US" altLang="zh-CN"/>
          </a:p>
        </p:txBody>
      </p:sp>
      <p:sp>
        <p:nvSpPr>
          <p:cNvPr id="9221" name="Text Box 2"/>
          <p:cNvSpPr txBox="1">
            <a:spLocks noChangeArrowheads="1"/>
          </p:cNvSpPr>
          <p:nvPr/>
        </p:nvSpPr>
        <p:spPr bwMode="auto">
          <a:xfrm>
            <a:off x="1468438" y="836613"/>
            <a:ext cx="6199187"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整除的概念与性质</a:t>
            </a:r>
          </a:p>
        </p:txBody>
      </p:sp>
      <p:pic>
        <p:nvPicPr>
          <p:cNvPr id="922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763688" y="2044680"/>
            <a:ext cx="5976664" cy="2286000"/>
          </a:xfrm>
          <a:prstGeom prst="rect">
            <a:avLst/>
          </a:prstGeom>
          <a:blipFill rotWithShape="0">
            <a:blip r:embed="rId4"/>
            <a:stretch>
              <a:fillRect l="-1019" t="-1867" b="-1600"/>
            </a:stretch>
          </a:blipFill>
        </p:spPr>
        <p:txBody>
          <a:bodyPr/>
          <a:lstStyle/>
          <a:p>
            <a:pPr>
              <a:defRPr/>
            </a:pPr>
            <a:r>
              <a:rPr lang="zh-CN" altLang="en-US">
                <a:noFill/>
              </a:rPr>
              <a:t> </a:t>
            </a:r>
          </a:p>
        </p:txBody>
      </p:sp>
      <p:pic>
        <p:nvPicPr>
          <p:cNvPr id="9224" name="图片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15963" y="4437063"/>
            <a:ext cx="150495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5" name="图片 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4841875"/>
            <a:ext cx="6599238"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E4567D7B-C59F-4535-9C18-52F06DFF6476}" type="slidenum">
              <a:rPr lang="en-US" altLang="zh-CN"/>
              <a:pPr>
                <a:defRPr/>
              </a:pPr>
              <a:t>8</a:t>
            </a:fld>
            <a:endParaRPr lang="en-US" altLang="zh-CN"/>
          </a:p>
        </p:txBody>
      </p:sp>
      <p:sp>
        <p:nvSpPr>
          <p:cNvPr id="10245" name="Text Box 2"/>
          <p:cNvSpPr txBox="1">
            <a:spLocks noChangeArrowheads="1"/>
          </p:cNvSpPr>
          <p:nvPr/>
        </p:nvSpPr>
        <p:spPr bwMode="auto">
          <a:xfrm>
            <a:off x="1476375" y="1052513"/>
            <a:ext cx="6264275" cy="76993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ea typeface="宋体" panose="02010600030101010101" pitchFamily="2" charset="-122"/>
                <a:cs typeface="Arial" panose="020B0604020202020204" pitchFamily="34" charset="0"/>
              </a:rPr>
              <a:t>素数（质数）与合数</a:t>
            </a:r>
          </a:p>
        </p:txBody>
      </p:sp>
      <p:pic>
        <p:nvPicPr>
          <p:cNvPr id="102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7" name="文本框 1"/>
          <p:cNvSpPr txBox="1">
            <a:spLocks noRot="1" noChangeAspect="1" noMove="1" noResize="1" noEditPoints="1" noAdjustHandles="1" noChangeArrowheads="1" noChangeShapeType="1" noTextEdit="1"/>
          </p:cNvSpPr>
          <p:nvPr/>
        </p:nvSpPr>
        <p:spPr bwMode="auto">
          <a:xfrm>
            <a:off x="1259632" y="2147894"/>
            <a:ext cx="6913562" cy="1260000"/>
          </a:xfrm>
          <a:prstGeom prst="rect">
            <a:avLst/>
          </a:prstGeom>
          <a:blipFill rotWithShape="0">
            <a:blip r:embed="rId4"/>
            <a:stretch>
              <a:fillRect l="-1411" t="-5314" b="-3865"/>
            </a:stretch>
          </a:blipFill>
          <a:ln>
            <a:noFill/>
          </a:ln>
        </p:spPr>
        <p:txBody>
          <a:bodyPr/>
          <a:lstStyle/>
          <a:p>
            <a:pPr>
              <a:defRPr/>
            </a:pPr>
            <a:r>
              <a:rPr lang="zh-CN" altLang="en-US">
                <a:noFill/>
              </a:rPr>
              <a:t> </a:t>
            </a:r>
          </a:p>
        </p:txBody>
      </p:sp>
      <p:pic>
        <p:nvPicPr>
          <p:cNvPr id="10248"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28638" y="3513138"/>
            <a:ext cx="1042987" cy="102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1768008" y="3730146"/>
            <a:ext cx="6077417" cy="584775"/>
          </a:xfrm>
          <a:prstGeom prst="rect">
            <a:avLst/>
          </a:prstGeom>
          <a:noFill/>
        </p:spPr>
        <p:txBody>
          <a:bodyPr>
            <a:spAutoFit/>
          </a:bodyPr>
          <a:lstStyle/>
          <a:p>
            <a:pPr algn="ctr">
              <a:defRPr/>
            </a:pPr>
            <a:r>
              <a:rPr lang="zh-CN" altLang="en-US" sz="3200" b="1" dirty="0">
                <a:ln w="6600">
                  <a:solidFill>
                    <a:schemeClr val="accent2"/>
                  </a:solidFill>
                  <a:prstDash val="solid"/>
                </a:ln>
                <a:solidFill>
                  <a:srgbClr val="FFFFFF"/>
                </a:solidFill>
                <a:effectLst>
                  <a:outerShdw dist="38100" dir="2700000" algn="tl" rotWithShape="0">
                    <a:schemeClr val="accent2"/>
                  </a:outerShdw>
                </a:effectLst>
              </a:rPr>
              <a:t>如何判断一个数是不是素数呢？</a:t>
            </a:r>
          </a:p>
        </p:txBody>
      </p:sp>
      <p:sp>
        <p:nvSpPr>
          <p:cNvPr id="13" name="文本框 12"/>
          <p:cNvSpPr txBox="1"/>
          <p:nvPr/>
        </p:nvSpPr>
        <p:spPr>
          <a:xfrm>
            <a:off x="1709738" y="4359275"/>
            <a:ext cx="6192837" cy="1477963"/>
          </a:xfrm>
          <a:prstGeom prst="rect">
            <a:avLst/>
          </a:prstGeom>
          <a:solidFill>
            <a:schemeClr val="accent2">
              <a:lumMod val="60000"/>
              <a:lumOff val="40000"/>
            </a:schemeClr>
          </a:solidFill>
        </p:spPr>
        <p:txBody>
          <a:bodyPr>
            <a:spAutoFit/>
          </a:bodyPr>
          <a:lstStyle/>
          <a:p>
            <a:pPr>
              <a:defRPr/>
            </a:pPr>
            <a:r>
              <a:rPr lang="zh-CN" altLang="en-US" sz="1800" dirty="0"/>
              <a:t>目前使用较有效的方法是试除法。用试除法判断一个自然数</a:t>
            </a:r>
            <a:r>
              <a:rPr lang="en-US" altLang="zh-CN" sz="1800" dirty="0"/>
              <a:t>a</a:t>
            </a:r>
            <a:r>
              <a:rPr lang="zh-CN" altLang="en-US" sz="1800" dirty="0"/>
              <a:t>是不是素数时，用各个素数从小到大依次去除</a:t>
            </a:r>
            <a:r>
              <a:rPr lang="en-US" altLang="zh-CN" sz="1800" dirty="0"/>
              <a:t>a</a:t>
            </a:r>
            <a:r>
              <a:rPr lang="zh-CN" altLang="en-US" sz="1800" dirty="0"/>
              <a:t>，如果到某一个素数正好整除，这个</a:t>
            </a:r>
            <a:r>
              <a:rPr lang="en-US" altLang="zh-CN" sz="1800" dirty="0"/>
              <a:t>a</a:t>
            </a:r>
            <a:r>
              <a:rPr lang="zh-CN" altLang="en-US" sz="1800" dirty="0"/>
              <a:t>就可以断定不是素数；如果不能整除，当不完全商又小于这个素数时，就不必再继续试除，可以断定</a:t>
            </a:r>
            <a:r>
              <a:rPr lang="en-US" altLang="zh-CN" sz="1800" dirty="0"/>
              <a:t>a</a:t>
            </a:r>
            <a:r>
              <a:rPr lang="zh-CN" altLang="en-US" sz="1800" dirty="0"/>
              <a:t>必然是素数。</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a:xfrm>
            <a:off x="6588125" y="6400800"/>
            <a:ext cx="1905000" cy="457200"/>
          </a:xfrm>
        </p:spPr>
        <p:txBody>
          <a:bodyPr/>
          <a:lstStyle/>
          <a:p>
            <a:pPr>
              <a:defRPr/>
            </a:pPr>
            <a:fld id="{7FD4F826-8B85-49AC-AE9B-E57E08312F6D}" type="slidenum">
              <a:rPr lang="en-US" altLang="zh-CN"/>
              <a:pPr>
                <a:defRPr/>
              </a:pPr>
              <a:t>9</a:t>
            </a:fld>
            <a:endParaRPr lang="en-US" altLang="zh-CN"/>
          </a:p>
        </p:txBody>
      </p:sp>
      <p:sp>
        <p:nvSpPr>
          <p:cNvPr id="11269" name="Text Box 2"/>
          <p:cNvSpPr txBox="1">
            <a:spLocks noChangeArrowheads="1"/>
          </p:cNvSpPr>
          <p:nvPr/>
        </p:nvSpPr>
        <p:spPr bwMode="auto">
          <a:xfrm>
            <a:off x="1476375" y="836613"/>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整数相关的定理</a:t>
            </a:r>
          </a:p>
        </p:txBody>
      </p:sp>
      <p:pic>
        <p:nvPicPr>
          <p:cNvPr id="1127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图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4481513"/>
            <a:ext cx="1041400" cy="102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741534" y="4677507"/>
            <a:ext cx="5646691" cy="584775"/>
          </a:xfrm>
          <a:prstGeom prst="rect">
            <a:avLst/>
          </a:prstGeom>
          <a:noFill/>
        </p:spPr>
        <p:txBody>
          <a:bodyPr>
            <a:spAutoFit/>
          </a:bodyPr>
          <a:lstStyle/>
          <a:p>
            <a:pPr algn="ctr">
              <a:defRPr/>
            </a:pPr>
            <a:r>
              <a:rPr lang="zh-CN" altLang="en-US" sz="3200" b="1" dirty="0">
                <a:ln w="6600">
                  <a:solidFill>
                    <a:schemeClr val="accent2"/>
                  </a:solidFill>
                  <a:prstDash val="solid"/>
                </a:ln>
                <a:solidFill>
                  <a:srgbClr val="FFFFFF"/>
                </a:solidFill>
                <a:effectLst>
                  <a:outerShdw dist="38100" dir="2700000" algn="tl" rotWithShape="0">
                    <a:schemeClr val="accent2"/>
                  </a:outerShdw>
                </a:effectLst>
              </a:rPr>
              <a:t>怎么证明以上的定理呢？</a:t>
            </a:r>
          </a:p>
        </p:txBody>
      </p:sp>
      <p:sp>
        <p:nvSpPr>
          <p:cNvPr id="2" name="文本框 1"/>
          <p:cNvSpPr txBox="1">
            <a:spLocks noRot="1" noChangeAspect="1" noMove="1" noResize="1" noEditPoints="1" noAdjustHandles="1" noChangeArrowheads="1" noChangeShapeType="1" noTextEdit="1"/>
          </p:cNvSpPr>
          <p:nvPr/>
        </p:nvSpPr>
        <p:spPr>
          <a:xfrm>
            <a:off x="1608954" y="2024063"/>
            <a:ext cx="5911850" cy="2400657"/>
          </a:xfrm>
          <a:prstGeom prst="rect">
            <a:avLst/>
          </a:prstGeom>
          <a:blipFill rotWithShape="0">
            <a:blip r:embed="rId5"/>
            <a:stretch>
              <a:fillRect l="-822" t="-1008"/>
            </a:stretch>
          </a:blipFill>
          <a:ln w="19050">
            <a:solidFill>
              <a:schemeClr val="accent1"/>
            </a:solidFill>
            <a:prstDash val="sysDash"/>
          </a:ln>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a:xfrm>
            <a:off x="6588125" y="6400800"/>
            <a:ext cx="1905000" cy="457200"/>
          </a:xfrm>
        </p:spPr>
        <p:txBody>
          <a:bodyPr/>
          <a:lstStyle/>
          <a:p>
            <a:pPr>
              <a:defRPr/>
            </a:pPr>
            <a:fld id="{7FD4F826-8B85-49AC-AE9B-E57E08312F6D}" type="slidenum">
              <a:rPr lang="en-US" altLang="zh-CN"/>
              <a:pPr>
                <a:defRPr/>
              </a:pPr>
              <a:t>10</a:t>
            </a:fld>
            <a:endParaRPr lang="en-US" altLang="zh-CN"/>
          </a:p>
        </p:txBody>
      </p:sp>
      <p:sp>
        <p:nvSpPr>
          <p:cNvPr id="11269" name="Text Box 2"/>
          <p:cNvSpPr txBox="1">
            <a:spLocks noChangeArrowheads="1"/>
          </p:cNvSpPr>
          <p:nvPr/>
        </p:nvSpPr>
        <p:spPr bwMode="auto">
          <a:xfrm>
            <a:off x="1476375" y="836613"/>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smtClean="0">
                <a:solidFill>
                  <a:schemeClr val="bg1"/>
                </a:solidFill>
                <a:latin typeface="宋体" panose="02010600030101010101" pitchFamily="2" charset="-122"/>
                <a:ea typeface="宋体" panose="02010600030101010101" pitchFamily="2" charset="-122"/>
                <a:cs typeface="Arial" panose="020B0604020202020204" pitchFamily="34" charset="0"/>
              </a:rPr>
              <a:t>例 题</a:t>
            </a:r>
            <a:endParaRPr lang="zh-CN" altLang="en-US" sz="5400" b="1" dirty="0">
              <a:solidFill>
                <a:schemeClr val="bg1"/>
              </a:solidFill>
              <a:latin typeface="宋体" panose="02010600030101010101" pitchFamily="2" charset="-122"/>
              <a:ea typeface="宋体" panose="02010600030101010101" pitchFamily="2" charset="-122"/>
              <a:cs typeface="Arial" panose="020B0604020202020204" pitchFamily="34" charset="0"/>
            </a:endParaRPr>
          </a:p>
        </p:txBody>
      </p:sp>
      <p:pic>
        <p:nvPicPr>
          <p:cNvPr id="1127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1168139" y="2204864"/>
                <a:ext cx="6807721" cy="2494722"/>
              </a:xfrm>
              <a:prstGeom prst="rect">
                <a:avLst/>
              </a:prstGeom>
              <a:noFill/>
              <a:ln w="25400">
                <a:solidFill>
                  <a:srgbClr val="FFC000"/>
                </a:solidFill>
              </a:ln>
            </p:spPr>
            <p:txBody>
              <a:bodyPr wrap="square" rtlCol="0">
                <a:spAutoFit/>
              </a:bodyPr>
              <a:lstStyle/>
              <a:p>
                <a:pPr>
                  <a:lnSpc>
                    <a:spcPct val="150000"/>
                  </a:lnSpc>
                </a:pPr>
                <a:r>
                  <a:rPr lang="zh-CN" altLang="zh-CN" dirty="0" smtClean="0">
                    <a:solidFill>
                      <a:srgbClr val="FF0000"/>
                    </a:solidFill>
                  </a:rPr>
                  <a:t>【例</a:t>
                </a:r>
                <a:r>
                  <a:rPr lang="en-US" altLang="zh-CN" dirty="0" smtClean="0">
                    <a:solidFill>
                      <a:srgbClr val="FF0000"/>
                    </a:solidFill>
                  </a:rPr>
                  <a:t>1</a:t>
                </a:r>
                <a:r>
                  <a:rPr lang="zh-CN" altLang="zh-CN" dirty="0" smtClean="0">
                    <a:solidFill>
                      <a:srgbClr val="FF0000"/>
                    </a:solidFill>
                  </a:rPr>
                  <a:t>】</a:t>
                </a:r>
                <a:r>
                  <a:rPr lang="zh-CN" altLang="zh-CN" dirty="0"/>
                  <a:t>求证：若</a:t>
                </a:r>
                <a:r>
                  <a:rPr lang="en-US" altLang="zh-CN" i="1" dirty="0"/>
                  <a:t>b</a:t>
                </a:r>
                <a:r>
                  <a:rPr lang="zh-CN" altLang="zh-CN" dirty="0"/>
                  <a:t>是奇数，则</a:t>
                </a:r>
                <a14:m>
                  <m:oMath xmlns:m="http://schemas.openxmlformats.org/officeDocument/2006/math">
                    <m:r>
                      <a:rPr lang="en-US" altLang="zh-CN">
                        <a:latin typeface="Cambria Math" panose="02040503050406030204" pitchFamily="18" charset="0"/>
                      </a:rPr>
                      <m:t>8|(</m:t>
                    </m:r>
                    <m:sSup>
                      <m:sSupPr>
                        <m:ctrlPr>
                          <a:rPr lang="zh-CN"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2</m:t>
                        </m:r>
                      </m:sup>
                    </m:sSup>
                    <m:r>
                      <a:rPr lang="en-US" altLang="zh-CN" i="1">
                        <a:latin typeface="Cambria Math" panose="02040503050406030204" pitchFamily="18" charset="0"/>
                      </a:rPr>
                      <m:t>−</m:t>
                    </m:r>
                    <m:r>
                      <a:rPr lang="en-US" altLang="zh-CN">
                        <a:latin typeface="Cambria Math" panose="02040503050406030204" pitchFamily="18" charset="0"/>
                      </a:rPr>
                      <m:t>1)</m:t>
                    </m:r>
                  </m:oMath>
                </a14:m>
                <a:r>
                  <a:rPr lang="zh-CN" altLang="zh-CN" dirty="0"/>
                  <a:t>。</a:t>
                </a:r>
              </a:p>
              <a:p>
                <a:pPr>
                  <a:lnSpc>
                    <a:spcPct val="150000"/>
                  </a:lnSpc>
                </a:pPr>
                <a:r>
                  <a:rPr lang="zh-CN" altLang="zh-CN" dirty="0"/>
                  <a:t>【证明】设</a:t>
                </a:r>
                <a14:m>
                  <m:oMath xmlns:m="http://schemas.openxmlformats.org/officeDocument/2006/math">
                    <m:r>
                      <a:rPr lang="en-US" altLang="zh-CN" i="1">
                        <a:latin typeface="Cambria Math" panose="02040503050406030204" pitchFamily="18" charset="0"/>
                      </a:rPr>
                      <m:t>𝑏</m:t>
                    </m:r>
                    <m:r>
                      <a:rPr lang="en-US" altLang="zh-CN">
                        <a:latin typeface="Cambria Math" panose="02040503050406030204" pitchFamily="18" charset="0"/>
                      </a:rPr>
                      <m:t>=2</m:t>
                    </m:r>
                    <m:r>
                      <a:rPr lang="en-US" altLang="zh-CN" i="1">
                        <a:latin typeface="Cambria Math" panose="02040503050406030204" pitchFamily="18" charset="0"/>
                      </a:rPr>
                      <m:t>𝑘</m:t>
                    </m:r>
                    <m:r>
                      <a:rPr lang="en-US" altLang="zh-CN">
                        <a:latin typeface="Cambria Math" panose="02040503050406030204" pitchFamily="18" charset="0"/>
                      </a:rPr>
                      <m:t>+1</m:t>
                    </m:r>
                  </m:oMath>
                </a14:m>
                <a:r>
                  <a:rPr lang="zh-CN" altLang="zh-CN" dirty="0"/>
                  <a:t>，则</a:t>
                </a:r>
              </a:p>
              <a:p>
                <a:pPr>
                  <a:lnSpc>
                    <a:spcPct val="150000"/>
                  </a:lnSpc>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2</m:t>
                          </m:r>
                        </m:sup>
                      </m:sSup>
                      <m:r>
                        <a:rPr lang="en-US" altLang="zh-CN" i="1">
                          <a:latin typeface="Cambria Math" panose="02040503050406030204" pitchFamily="18" charset="0"/>
                        </a:rPr>
                        <m:t>−</m:t>
                      </m:r>
                      <m:r>
                        <a:rPr lang="en-US" altLang="zh-CN">
                          <a:latin typeface="Cambria Math" panose="02040503050406030204" pitchFamily="18" charset="0"/>
                        </a:rPr>
                        <m:t>1=</m:t>
                      </m:r>
                      <m:sSup>
                        <m:sSupPr>
                          <m:ctrlPr>
                            <a:rPr lang="zh-CN" altLang="zh-CN" i="1">
                              <a:latin typeface="Cambria Math" panose="02040503050406030204" pitchFamily="18" charset="0"/>
                            </a:rPr>
                          </m:ctrlPr>
                        </m:sSupPr>
                        <m:e>
                          <m:d>
                            <m:dPr>
                              <m:begChr m:val="（"/>
                              <m:endChr m:val="）"/>
                              <m:ctrlPr>
                                <a:rPr lang="zh-CN" altLang="zh-CN" i="1">
                                  <a:latin typeface="Cambria Math" panose="02040503050406030204" pitchFamily="18" charset="0"/>
                                </a:rPr>
                              </m:ctrlPr>
                            </m:dPr>
                            <m:e>
                              <m:r>
                                <a:rPr lang="en-US" altLang="zh-CN">
                                  <a:latin typeface="Cambria Math" panose="02040503050406030204" pitchFamily="18" charset="0"/>
                                </a:rPr>
                                <m:t>2</m:t>
                              </m:r>
                              <m:r>
                                <a:rPr lang="en-US" altLang="zh-CN" i="1">
                                  <a:latin typeface="Cambria Math" panose="02040503050406030204" pitchFamily="18" charset="0"/>
                                </a:rPr>
                                <m:t>𝑘</m:t>
                              </m:r>
                              <m:r>
                                <a:rPr lang="en-US" altLang="zh-CN" i="1">
                                  <a:latin typeface="Cambria Math" panose="02040503050406030204" pitchFamily="18" charset="0"/>
                                </a:rPr>
                                <m:t>−</m:t>
                              </m:r>
                              <m:r>
                                <a:rPr lang="en-US" altLang="zh-CN">
                                  <a:latin typeface="Cambria Math" panose="02040503050406030204" pitchFamily="18" charset="0"/>
                                </a:rPr>
                                <m:t>1</m:t>
                              </m:r>
                            </m:e>
                          </m:d>
                        </m:e>
                        <m:sup>
                          <m:r>
                            <a:rPr lang="en-US" altLang="zh-CN" i="1">
                              <a:latin typeface="Cambria Math" panose="02040503050406030204" pitchFamily="18" charset="0"/>
                            </a:rPr>
                            <m:t>2</m:t>
                          </m:r>
                        </m:sup>
                      </m:sSup>
                      <m:r>
                        <a:rPr lang="en-US" altLang="zh-CN" i="1">
                          <a:latin typeface="Cambria Math" panose="02040503050406030204" pitchFamily="18" charset="0"/>
                        </a:rPr>
                        <m:t>−1=4</m:t>
                      </m:r>
                      <m:r>
                        <a:rPr lang="en-US" altLang="zh-CN" i="1">
                          <a:latin typeface="Cambria Math" panose="02040503050406030204" pitchFamily="18" charset="0"/>
                        </a:rPr>
                        <m:t>𝑘</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𝑘</m:t>
                          </m:r>
                          <m:r>
                            <a:rPr lang="en-US" altLang="zh-CN">
                              <a:latin typeface="Cambria Math" panose="02040503050406030204" pitchFamily="18" charset="0"/>
                            </a:rPr>
                            <m:t>+1</m:t>
                          </m:r>
                        </m:e>
                      </m:d>
                      <m:r>
                        <a:rPr lang="zh-CN" altLang="zh-CN">
                          <a:latin typeface="Cambria Math" panose="02040503050406030204" pitchFamily="18" charset="0"/>
                        </a:rPr>
                        <m:t>。</m:t>
                      </m:r>
                    </m:oMath>
                  </m:oMathPara>
                </a14:m>
                <a:endParaRPr lang="zh-CN" altLang="zh-CN" dirty="0"/>
              </a:p>
              <a:p>
                <a:pPr>
                  <a:lnSpc>
                    <a:spcPct val="150000"/>
                  </a:lnSpc>
                </a:pPr>
                <a:r>
                  <a:rPr lang="zh-CN" altLang="zh-CN" dirty="0"/>
                  <a:t>在</a:t>
                </a:r>
                <a:r>
                  <a:rPr lang="en-US" altLang="zh-CN" i="1" dirty="0"/>
                  <a:t>k</a:t>
                </a:r>
                <a:r>
                  <a:rPr lang="zh-CN" altLang="zh-CN" dirty="0"/>
                  <a:t>和</a:t>
                </a:r>
                <a14:m>
                  <m:oMath xmlns:m="http://schemas.openxmlformats.org/officeDocument/2006/math">
                    <m:r>
                      <a:rPr lang="en-US" altLang="zh-CN" i="1">
                        <a:latin typeface="Cambria Math" panose="02040503050406030204" pitchFamily="18" charset="0"/>
                      </a:rPr>
                      <m:t>𝑘</m:t>
                    </m:r>
                    <m:r>
                      <a:rPr lang="en-US" altLang="zh-CN">
                        <a:latin typeface="Cambria Math" panose="02040503050406030204" pitchFamily="18" charset="0"/>
                      </a:rPr>
                      <m:t>+1</m:t>
                    </m:r>
                  </m:oMath>
                </a14:m>
                <a:r>
                  <a:rPr lang="zh-CN" altLang="zh-CN" dirty="0"/>
                  <a:t>中必有一个是偶数，故有</a:t>
                </a:r>
                <a14:m>
                  <m:oMath xmlns:m="http://schemas.openxmlformats.org/officeDocument/2006/math">
                    <m:r>
                      <a:rPr lang="en-US" altLang="zh-CN">
                        <a:latin typeface="Cambria Math" panose="02040503050406030204" pitchFamily="18" charset="0"/>
                      </a:rPr>
                      <m:t>8|(</m:t>
                    </m:r>
                    <m:sSup>
                      <m:sSupPr>
                        <m:ctrlPr>
                          <a:rPr lang="zh-CN"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2</m:t>
                        </m:r>
                      </m:sup>
                    </m:sSup>
                    <m:r>
                      <a:rPr lang="en-US" altLang="zh-CN" i="1">
                        <a:latin typeface="Cambria Math" panose="02040503050406030204" pitchFamily="18" charset="0"/>
                      </a:rPr>
                      <m:t>−</m:t>
                    </m:r>
                    <m:r>
                      <a:rPr lang="en-US" altLang="zh-CN">
                        <a:latin typeface="Cambria Math" panose="02040503050406030204" pitchFamily="18" charset="0"/>
                      </a:rPr>
                      <m:t>1)</m:t>
                    </m:r>
                  </m:oMath>
                </a14:m>
                <a:r>
                  <a:rPr lang="zh-CN" altLang="zh-CN" dirty="0"/>
                  <a:t>。</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1168139" y="2204864"/>
                <a:ext cx="6807721" cy="2494722"/>
              </a:xfrm>
              <a:prstGeom prst="rect">
                <a:avLst/>
              </a:prstGeom>
              <a:blipFill rotWithShape="0">
                <a:blip r:embed="rId4"/>
                <a:stretch>
                  <a:fillRect l="-1250"/>
                </a:stretch>
              </a:blipFill>
              <a:ln w="25400">
                <a:solidFill>
                  <a:srgbClr val="FFC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22934273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FA3190C4-7EBB-4BFE-A1AC-DC31484E5EEB}" type="slidenum">
              <a:rPr lang="en-US" altLang="zh-CN"/>
              <a:pPr>
                <a:defRPr/>
              </a:pPr>
              <a:t>11</a:t>
            </a:fld>
            <a:endParaRPr lang="en-US" altLang="zh-CN"/>
          </a:p>
        </p:txBody>
      </p:sp>
      <p:sp>
        <p:nvSpPr>
          <p:cNvPr id="12293" name="Text Box 2"/>
          <p:cNvSpPr txBox="1">
            <a:spLocks noChangeArrowheads="1"/>
          </p:cNvSpPr>
          <p:nvPr/>
        </p:nvSpPr>
        <p:spPr bwMode="auto">
          <a:xfrm>
            <a:off x="1612900" y="765175"/>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例题</a:t>
            </a:r>
          </a:p>
        </p:txBody>
      </p:sp>
      <p:pic>
        <p:nvPicPr>
          <p:cNvPr id="1229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8206" y="1916832"/>
            <a:ext cx="8250630" cy="417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7" name="灯片编号占位符 5"/>
          <p:cNvSpPr>
            <a:spLocks noGrp="1"/>
          </p:cNvSpPr>
          <p:nvPr>
            <p:ph type="sldNum" sz="quarter" idx="12"/>
          </p:nvPr>
        </p:nvSpPr>
        <p:spPr>
          <a:xfrm>
            <a:off x="6588125" y="6400800"/>
            <a:ext cx="1905000" cy="457200"/>
          </a:xfrm>
        </p:spPr>
        <p:txBody>
          <a:bodyPr/>
          <a:lstStyle/>
          <a:p>
            <a:pPr>
              <a:defRPr/>
            </a:pPr>
            <a:fld id="{A1F3B8D7-3C38-458F-AF5E-EE73B5372B70}" type="slidenum">
              <a:rPr lang="en-US" altLang="zh-CN"/>
              <a:pPr>
                <a:defRPr/>
              </a:pPr>
              <a:t>12</a:t>
            </a:fld>
            <a:endParaRPr lang="en-US" altLang="zh-CN"/>
          </a:p>
        </p:txBody>
      </p:sp>
      <p:sp>
        <p:nvSpPr>
          <p:cNvPr id="13317" name="Text Box 2"/>
          <p:cNvSpPr txBox="1">
            <a:spLocks noChangeArrowheads="1"/>
          </p:cNvSpPr>
          <p:nvPr/>
        </p:nvSpPr>
        <p:spPr bwMode="auto">
          <a:xfrm>
            <a:off x="1468438" y="836613"/>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整数相关的定理</a:t>
            </a:r>
          </a:p>
        </p:txBody>
      </p:sp>
      <p:pic>
        <p:nvPicPr>
          <p:cNvPr id="1331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2231" y="2076346"/>
            <a:ext cx="66484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a:spLocks noRot="1" noChangeAspect="1" noMove="1" noResize="1" noEditPoints="1" noAdjustHandles="1" noChangeArrowheads="1" noChangeShapeType="1" noTextEdit="1"/>
          </p:cNvSpPr>
          <p:nvPr/>
        </p:nvSpPr>
        <p:spPr>
          <a:xfrm>
            <a:off x="1100553" y="3356992"/>
            <a:ext cx="6711807" cy="1569660"/>
          </a:xfrm>
          <a:prstGeom prst="rect">
            <a:avLst/>
          </a:prstGeom>
          <a:blipFill rotWithShape="0">
            <a:blip r:embed="rId5"/>
            <a:stretch>
              <a:fillRect l="-1453" t="-3113" r="-727" b="-8171"/>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a:xfrm>
            <a:off x="684213" y="6400800"/>
            <a:ext cx="1905000" cy="457200"/>
          </a:xfrm>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FAC4A2DF-2B42-44B0-99C4-BBBA0F953BFC}" type="slidenum">
              <a:rPr lang="en-US" altLang="zh-CN"/>
              <a:pPr>
                <a:defRPr/>
              </a:pPr>
              <a:t>13</a:t>
            </a:fld>
            <a:endParaRPr lang="en-US" altLang="zh-CN"/>
          </a:p>
        </p:txBody>
      </p:sp>
      <p:sp>
        <p:nvSpPr>
          <p:cNvPr id="14341" name="Text Box 2"/>
          <p:cNvSpPr txBox="1">
            <a:spLocks noChangeArrowheads="1"/>
          </p:cNvSpPr>
          <p:nvPr/>
        </p:nvSpPr>
        <p:spPr bwMode="auto">
          <a:xfrm>
            <a:off x="1684338" y="930275"/>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总结</a:t>
            </a:r>
          </a:p>
        </p:txBody>
      </p:sp>
      <p:pic>
        <p:nvPicPr>
          <p:cNvPr id="1434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文本框 1"/>
          <p:cNvSpPr txBox="1">
            <a:spLocks noChangeArrowheads="1"/>
          </p:cNvSpPr>
          <p:nvPr/>
        </p:nvSpPr>
        <p:spPr bwMode="auto">
          <a:xfrm>
            <a:off x="1187625" y="2780928"/>
            <a:ext cx="7200800" cy="2749664"/>
          </a:xfrm>
          <a:prstGeom prst="rect">
            <a:avLst/>
          </a:prstGeom>
          <a:solidFill>
            <a:srgbClr val="FF00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dirty="0">
                <a:latin typeface="黑体" panose="02010609060101010101" pitchFamily="49" charset="-122"/>
                <a:ea typeface="黑体" panose="02010609060101010101" pitchFamily="49" charset="-122"/>
              </a:rPr>
              <a:t>从上述定理的证明过程可以看出，整除是带余除法中余数等于 </a:t>
            </a:r>
            <a:r>
              <a:rPr lang="en-US" altLang="zh-CN" sz="2800" dirty="0">
                <a:latin typeface="黑体" panose="02010609060101010101" pitchFamily="49" charset="-122"/>
                <a:ea typeface="黑体" panose="02010609060101010101" pitchFamily="49" charset="-122"/>
              </a:rPr>
              <a:t>0 </a:t>
            </a:r>
            <a:r>
              <a:rPr lang="zh-CN" altLang="en-US" sz="2800" dirty="0">
                <a:latin typeface="黑体" panose="02010609060101010101" pitchFamily="49" charset="-122"/>
                <a:ea typeface="黑体" panose="02010609060101010101" pitchFamily="49" charset="-122"/>
              </a:rPr>
              <a:t>的情形。 因此，带余除法可以看成是对整除的一种推广。 事实上，还可通过带余除法的概念来定义和理解整除的概念，即 </a:t>
            </a:r>
            <a:r>
              <a:rPr lang="en-US" altLang="zh-CN" sz="2800" dirty="0">
                <a:latin typeface="黑体" panose="02010609060101010101" pitchFamily="49" charset="-122"/>
                <a:ea typeface="黑体" panose="02010609060101010101" pitchFamily="49" charset="-122"/>
              </a:rPr>
              <a:t>a </a:t>
            </a:r>
            <a:r>
              <a:rPr lang="zh-CN" altLang="en-US" sz="2800" dirty="0">
                <a:latin typeface="黑体" panose="02010609060101010101" pitchFamily="49" charset="-122"/>
                <a:ea typeface="黑体" panose="02010609060101010101" pitchFamily="49" charset="-122"/>
              </a:rPr>
              <a:t>能够整除 </a:t>
            </a:r>
            <a:r>
              <a:rPr lang="en-US" altLang="zh-CN" sz="2800" dirty="0">
                <a:latin typeface="黑体" panose="02010609060101010101" pitchFamily="49" charset="-122"/>
                <a:ea typeface="黑体" panose="02010609060101010101" pitchFamily="49" charset="-122"/>
              </a:rPr>
              <a:t>b </a:t>
            </a:r>
            <a:r>
              <a:rPr lang="zh-CN" altLang="en-US" sz="2800" dirty="0">
                <a:latin typeface="黑体" panose="02010609060101010101" pitchFamily="49" charset="-122"/>
                <a:ea typeface="黑体" panose="02010609060101010101" pitchFamily="49" charset="-122"/>
              </a:rPr>
              <a:t>的当且仅当 </a:t>
            </a:r>
            <a:r>
              <a:rPr lang="en-US" altLang="zh-CN" sz="2800" dirty="0">
                <a:latin typeface="黑体" panose="02010609060101010101" pitchFamily="49" charset="-122"/>
                <a:ea typeface="黑体" panose="02010609060101010101" pitchFamily="49" charset="-122"/>
              </a:rPr>
              <a:t>b </a:t>
            </a:r>
            <a:r>
              <a:rPr lang="zh-CN" altLang="en-US" sz="2800" dirty="0">
                <a:latin typeface="黑体" panose="02010609060101010101" pitchFamily="49" charset="-122"/>
                <a:ea typeface="黑体" panose="02010609060101010101" pitchFamily="49" charset="-122"/>
              </a:rPr>
              <a:t>除以 </a:t>
            </a:r>
            <a:r>
              <a:rPr lang="en-US" altLang="zh-CN" sz="2800" dirty="0">
                <a:latin typeface="黑体" panose="02010609060101010101" pitchFamily="49" charset="-122"/>
                <a:ea typeface="黑体" panose="02010609060101010101" pitchFamily="49" charset="-122"/>
              </a:rPr>
              <a:t>a </a:t>
            </a:r>
            <a:r>
              <a:rPr lang="zh-CN" altLang="en-US" sz="2800" dirty="0">
                <a:latin typeface="黑体" panose="02010609060101010101" pitchFamily="49" charset="-122"/>
                <a:ea typeface="黑体" panose="02010609060101010101" pitchFamily="49" charset="-122"/>
              </a:rPr>
              <a:t>的余数为 </a:t>
            </a:r>
            <a:r>
              <a:rPr lang="en-US" altLang="zh-CN" sz="2800" dirty="0">
                <a:latin typeface="黑体" panose="02010609060101010101" pitchFamily="49" charset="-122"/>
                <a:ea typeface="黑体" panose="02010609060101010101" pitchFamily="49" charset="-122"/>
              </a:rPr>
              <a:t>0</a:t>
            </a:r>
            <a:r>
              <a:rPr lang="zh-CN" altLang="en-US" sz="2800" dirty="0">
                <a:latin typeface="黑体" panose="02010609060101010101" pitchFamily="49" charset="-122"/>
                <a:ea typeface="黑体" panose="02010609060101010101" pitchFamily="49" charset="-122"/>
              </a:rPr>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1331913" y="1001713"/>
            <a:ext cx="62722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整数的因数分解</a:t>
            </a:r>
          </a:p>
        </p:txBody>
      </p:sp>
      <p:sp>
        <p:nvSpPr>
          <p:cNvPr id="16387" name="Rectangle 3"/>
          <p:cNvSpPr>
            <a:spLocks noGrp="1" noChangeArrowheads="1"/>
          </p:cNvSpPr>
          <p:nvPr>
            <p:ph type="body" sz="half" idx="1"/>
          </p:nvPr>
        </p:nvSpPr>
        <p:spPr>
          <a:xfrm>
            <a:off x="2266950" y="2420938"/>
            <a:ext cx="5400675" cy="3600450"/>
          </a:xfrm>
        </p:spPr>
        <p:txBody>
          <a:bodyPr lIns="92075" tIns="46038" rIns="92075" bIns="46038"/>
          <a:lstStyle/>
          <a:p>
            <a:pPr>
              <a:lnSpc>
                <a:spcPct val="130000"/>
              </a:lnSpc>
              <a:spcBef>
                <a:spcPct val="30000"/>
              </a:spcBef>
              <a:buFont typeface="Wingdings" panose="05000000000000000000" pitchFamily="2" charset="2"/>
              <a:buChar char="4"/>
              <a:defRPr/>
            </a:pPr>
            <a:r>
              <a:rPr lang="zh-CN" altLang="en-US" sz="3600" b="1" dirty="0" smtClean="0">
                <a:effectLst/>
                <a:latin typeface="黑体" panose="02010609060101010101" pitchFamily="49" charset="-122"/>
                <a:ea typeface="黑体" panose="02010609060101010101" pitchFamily="49" charset="-122"/>
              </a:rPr>
              <a:t> 整数与整数除法</a:t>
            </a:r>
            <a:endParaRPr lang="en-US" altLang="zh-CN" sz="3600" b="1" dirty="0" smtClean="0">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J"/>
              <a:defRPr/>
            </a:pPr>
            <a:r>
              <a:rPr lang="zh-CN" altLang="en-US" sz="3600" b="1" dirty="0" smtClean="0">
                <a:solidFill>
                  <a:schemeClr val="accent2"/>
                </a:solidFill>
                <a:effectLst/>
                <a:latin typeface="黑体" panose="02010609060101010101" pitchFamily="49" charset="-122"/>
                <a:ea typeface="黑体" panose="02010609060101010101" pitchFamily="49" charset="-122"/>
              </a:rPr>
              <a:t> 整数的因数分解</a:t>
            </a:r>
          </a:p>
          <a:p>
            <a:pPr>
              <a:lnSpc>
                <a:spcPct val="130000"/>
              </a:lnSpc>
              <a:spcBef>
                <a:spcPct val="30000"/>
              </a:spcBef>
              <a:buFont typeface="Wingdings" panose="05000000000000000000" pitchFamily="2" charset="2"/>
              <a:buChar char="4"/>
              <a:defRPr/>
            </a:pPr>
            <a:r>
              <a:rPr lang="zh-CN" altLang="en-US" sz="3600" b="1" dirty="0" smtClean="0">
                <a:effectLst/>
                <a:latin typeface="黑体" panose="02010609060101010101" pitchFamily="49" charset="-122"/>
                <a:ea typeface="黑体" panose="02010609060101010101" pitchFamily="49" charset="-122"/>
              </a:rPr>
              <a:t> 素数的性质和查找</a:t>
            </a:r>
          </a:p>
        </p:txBody>
      </p:sp>
      <p:pic>
        <p:nvPicPr>
          <p:cNvPr id="1536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a:xfrm>
            <a:off x="684213" y="6400800"/>
            <a:ext cx="1905000" cy="457200"/>
          </a:xfrm>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062BE313-AF10-4640-8EFD-A2E74353A059}" type="slidenum">
              <a:rPr lang="en-US" altLang="zh-CN"/>
              <a:pPr>
                <a:defRPr/>
              </a:pPr>
              <a:t>15</a:t>
            </a:fld>
            <a:endParaRPr lang="en-US" altLang="zh-CN"/>
          </a:p>
        </p:txBody>
      </p:sp>
      <p:sp>
        <p:nvSpPr>
          <p:cNvPr id="16389" name="Text Box 2"/>
          <p:cNvSpPr txBox="1">
            <a:spLocks noChangeArrowheads="1"/>
          </p:cNvSpPr>
          <p:nvPr/>
        </p:nvSpPr>
        <p:spPr bwMode="auto">
          <a:xfrm>
            <a:off x="1684338" y="930275"/>
            <a:ext cx="591185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因数分解的概念</a:t>
            </a:r>
          </a:p>
        </p:txBody>
      </p:sp>
      <p:pic>
        <p:nvPicPr>
          <p:cNvPr id="1639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827088" y="2636838"/>
            <a:ext cx="7489825" cy="20320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spAutoFit/>
          </a:bodyPr>
          <a:lstStyle/>
          <a:p>
            <a:pPr>
              <a:lnSpc>
                <a:spcPct val="150000"/>
              </a:lnSpc>
              <a:defRPr/>
            </a:pPr>
            <a:r>
              <a:rPr lang="zh-CN" altLang="en-US" sz="2800" dirty="0">
                <a:latin typeface="黑体" panose="02010609060101010101" pitchFamily="49" charset="-122"/>
                <a:ea typeface="黑体" panose="02010609060101010101" pitchFamily="49" charset="-122"/>
              </a:rPr>
              <a:t>把一个整数分解成两个或更多的除</a:t>
            </a: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外的整数相乘的过程。</a:t>
            </a:r>
          </a:p>
          <a:p>
            <a:pPr>
              <a:lnSpc>
                <a:spcPct val="150000"/>
              </a:lnSpc>
              <a:defRPr/>
            </a:pPr>
            <a:r>
              <a:rPr lang="zh-CN" altLang="en-US" sz="2800" dirty="0">
                <a:latin typeface="黑体" panose="02010609060101010101" pitchFamily="49" charset="-122"/>
                <a:ea typeface="黑体" panose="02010609060101010101" pitchFamily="49" charset="-122"/>
              </a:rPr>
              <a:t>这些整数称为这个数的因数。</a:t>
            </a:r>
            <a:endParaRPr lang="zh-CN" altLang="en-US" sz="2800" dirty="0">
              <a:solidFill>
                <a:srgbClr val="FFFF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62A11F05-89E2-44DC-B4D7-F0741A42FBEF}" type="slidenum">
              <a:rPr lang="en-US" altLang="zh-CN"/>
              <a:pPr>
                <a:defRPr/>
              </a:pPr>
              <a:t>16</a:t>
            </a:fld>
            <a:endParaRPr lang="en-US" altLang="zh-CN"/>
          </a:p>
        </p:txBody>
      </p:sp>
      <p:sp>
        <p:nvSpPr>
          <p:cNvPr id="524290" name="Rectangle 2"/>
          <p:cNvSpPr>
            <a:spLocks noGrp="1" noChangeArrowheads="1"/>
          </p:cNvSpPr>
          <p:nvPr>
            <p:ph type="body" idx="1"/>
          </p:nvPr>
        </p:nvSpPr>
        <p:spPr>
          <a:xfrm>
            <a:off x="1042988" y="2060575"/>
            <a:ext cx="7921625" cy="4103688"/>
          </a:xfrm>
        </p:spPr>
        <p:txBody>
          <a:bodyPr lIns="92075" tIns="46038" rIns="92075" bIns="46038"/>
          <a:lstStyle/>
          <a:p>
            <a:pPr eaLnBrk="1" hangingPunct="1">
              <a:buFont typeface="Wingdings" panose="05000000000000000000" pitchFamily="2" charset="2"/>
              <a:buNone/>
              <a:defRPr/>
            </a:pPr>
            <a:r>
              <a:rPr lang="en-US" altLang="zh-CN" b="1" dirty="0" smtClean="0"/>
              <a:t> </a:t>
            </a:r>
            <a:endParaRPr lang="en-US" altLang="zh-CN" b="1" dirty="0" smtClean="0">
              <a:solidFill>
                <a:schemeClr val="hlink"/>
              </a:solidFill>
              <a:effectLst/>
            </a:endParaRPr>
          </a:p>
        </p:txBody>
      </p:sp>
      <p:pic>
        <p:nvPicPr>
          <p:cNvPr id="1741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Text Box 2"/>
          <p:cNvSpPr txBox="1">
            <a:spLocks noChangeArrowheads="1"/>
          </p:cNvSpPr>
          <p:nvPr/>
        </p:nvSpPr>
        <p:spPr bwMode="auto">
          <a:xfrm>
            <a:off x="1547813" y="714375"/>
            <a:ext cx="591185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公因数与公倍数</a:t>
            </a:r>
          </a:p>
        </p:txBody>
      </p:sp>
      <p:pic>
        <p:nvPicPr>
          <p:cNvPr id="17416"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5664" y="5354638"/>
            <a:ext cx="750093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图片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3" y="1879600"/>
            <a:ext cx="7473950"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8" name="文本框 3"/>
          <p:cNvSpPr txBox="1">
            <a:spLocks noChangeArrowheads="1"/>
          </p:cNvSpPr>
          <p:nvPr/>
        </p:nvSpPr>
        <p:spPr bwMode="auto">
          <a:xfrm>
            <a:off x="855663" y="4389438"/>
            <a:ext cx="7500937" cy="830262"/>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latin typeface="黑体" panose="02010609060101010101" pitchFamily="49" charset="-122"/>
                <a:ea typeface="黑体" panose="02010609060101010101" pitchFamily="49" charset="-122"/>
              </a:rPr>
              <a:t>这两个问题该怎么求解呢？这就用到了下面介绍的公因数与公倍数的概念</a:t>
            </a:r>
          </a:p>
        </p:txBody>
      </p:sp>
      <p:pic>
        <p:nvPicPr>
          <p:cNvPr id="17419" name="图片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42963" y="3160713"/>
            <a:ext cx="7473950"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11" name="页脚占位符 4"/>
          <p:cNvSpPr>
            <a:spLocks noGrp="1"/>
          </p:cNvSpPr>
          <p:nvPr>
            <p:ph type="ftr" sz="quarter" idx="11"/>
          </p:nvPr>
        </p:nvSpPr>
        <p:spPr/>
        <p:txBody>
          <a:bodyPr/>
          <a:lstStyle/>
          <a:p>
            <a:pPr>
              <a:defRPr/>
            </a:pPr>
            <a:r>
              <a:rPr lang="zh-CN" altLang="en-US"/>
              <a:t>计算机应用技术研究所</a:t>
            </a:r>
          </a:p>
        </p:txBody>
      </p:sp>
      <p:sp>
        <p:nvSpPr>
          <p:cNvPr id="12" name="灯片编号占位符 5"/>
          <p:cNvSpPr>
            <a:spLocks noGrp="1"/>
          </p:cNvSpPr>
          <p:nvPr>
            <p:ph type="sldNum" sz="quarter" idx="12"/>
          </p:nvPr>
        </p:nvSpPr>
        <p:spPr/>
        <p:txBody>
          <a:bodyPr/>
          <a:lstStyle/>
          <a:p>
            <a:pPr>
              <a:defRPr/>
            </a:pPr>
            <a:fld id="{E676C0BE-75A5-4945-BF2A-734F92844D62}" type="slidenum">
              <a:rPr lang="en-US" altLang="zh-CN"/>
              <a:pPr>
                <a:defRPr/>
              </a:pPr>
              <a:t>17</a:t>
            </a:fld>
            <a:endParaRPr lang="en-US" altLang="zh-CN"/>
          </a:p>
        </p:txBody>
      </p:sp>
      <p:sp>
        <p:nvSpPr>
          <p:cNvPr id="18437" name="Text Box 2"/>
          <p:cNvSpPr txBox="1">
            <a:spLocks noChangeArrowheads="1"/>
          </p:cNvSpPr>
          <p:nvPr/>
        </p:nvSpPr>
        <p:spPr bwMode="auto">
          <a:xfrm>
            <a:off x="1258888" y="588963"/>
            <a:ext cx="6553200" cy="14462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000" b="1">
                <a:solidFill>
                  <a:schemeClr val="bg1"/>
                </a:solidFill>
                <a:latin typeface="宋体" panose="02010600030101010101" pitchFamily="2" charset="-122"/>
                <a:ea typeface="宋体" panose="02010600030101010101" pitchFamily="2" charset="-122"/>
                <a:cs typeface="Arial" panose="020B0604020202020204" pitchFamily="34" charset="0"/>
              </a:rPr>
              <a:t>最大公因数与最小公倍数的概念</a:t>
            </a:r>
          </a:p>
        </p:txBody>
      </p:sp>
      <p:pic>
        <p:nvPicPr>
          <p:cNvPr id="1843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8475"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70013" y="4406900"/>
            <a:ext cx="6627812"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AutoShape 7"/>
          <p:cNvSpPr>
            <a:spLocks noChangeArrowheads="1"/>
          </p:cNvSpPr>
          <p:nvPr/>
        </p:nvSpPr>
        <p:spPr bwMode="auto">
          <a:xfrm>
            <a:off x="230188" y="5233988"/>
            <a:ext cx="1139825" cy="795337"/>
          </a:xfrm>
          <a:prstGeom prst="cloudCallout">
            <a:avLst>
              <a:gd name="adj1" fmla="val 115380"/>
              <a:gd name="adj2" fmla="val -43968"/>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400" b="1">
                <a:solidFill>
                  <a:schemeClr val="bg1"/>
                </a:solidFill>
                <a:latin typeface="Arial" panose="020B0604020202020204" pitchFamily="34" charset="0"/>
                <a:ea typeface="黑体" panose="02010609060101010101" pitchFamily="49" charset="-122"/>
              </a:rPr>
              <a:t>最小公倍数</a:t>
            </a:r>
          </a:p>
        </p:txBody>
      </p:sp>
      <p:sp>
        <p:nvSpPr>
          <p:cNvPr id="18441" name="AutoShape 8"/>
          <p:cNvSpPr>
            <a:spLocks noChangeArrowheads="1"/>
          </p:cNvSpPr>
          <p:nvPr/>
        </p:nvSpPr>
        <p:spPr bwMode="auto">
          <a:xfrm flipH="1">
            <a:off x="17463" y="3622675"/>
            <a:ext cx="1241425" cy="722313"/>
          </a:xfrm>
          <a:prstGeom prst="cloudCallout">
            <a:avLst>
              <a:gd name="adj1" fmla="val -136958"/>
              <a:gd name="adj2" fmla="val 102148"/>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1400" b="1">
                <a:solidFill>
                  <a:schemeClr val="bg1"/>
                </a:solidFill>
                <a:latin typeface="Arial" panose="020B0604020202020204" pitchFamily="34" charset="0"/>
                <a:ea typeface="黑体" panose="02010609060101010101" pitchFamily="49" charset="-122"/>
              </a:rPr>
              <a:t>最大公因数</a:t>
            </a:r>
          </a:p>
        </p:txBody>
      </p:sp>
      <p:sp>
        <p:nvSpPr>
          <p:cNvPr id="18442" name="文本框 2"/>
          <p:cNvSpPr txBox="1">
            <a:spLocks noChangeArrowheads="1"/>
          </p:cNvSpPr>
          <p:nvPr/>
        </p:nvSpPr>
        <p:spPr bwMode="auto">
          <a:xfrm>
            <a:off x="1214438" y="2289175"/>
            <a:ext cx="6754812" cy="1703388"/>
          </a:xfrm>
          <a:prstGeom prst="rect">
            <a:avLst/>
          </a:prstGeom>
          <a:solidFill>
            <a:srgbClr val="4268B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600">
                <a:solidFill>
                  <a:srgbClr val="46BA54"/>
                </a:solidFill>
                <a:latin typeface="黑体" panose="02010609060101010101" pitchFamily="49" charset="-122"/>
                <a:ea typeface="黑体" panose="02010609060101010101" pitchFamily="49" charset="-122"/>
              </a:rPr>
              <a:t>自然数</a:t>
            </a:r>
            <a:r>
              <a:rPr lang="en-US" altLang="zh-CN" sz="1600">
                <a:solidFill>
                  <a:srgbClr val="46BA54"/>
                </a:solidFill>
                <a:latin typeface="黑体" panose="02010609060101010101" pitchFamily="49" charset="-122"/>
                <a:ea typeface="黑体" panose="02010609060101010101" pitchFamily="49" charset="-122"/>
              </a:rPr>
              <a:t>1</a:t>
            </a:r>
            <a:r>
              <a:rPr lang="zh-CN" altLang="en-US" sz="1600">
                <a:solidFill>
                  <a:srgbClr val="46BA54"/>
                </a:solidFill>
                <a:latin typeface="黑体" panose="02010609060101010101" pitchFamily="49" charset="-122"/>
                <a:ea typeface="黑体" panose="02010609060101010101" pitchFamily="49" charset="-122"/>
              </a:rPr>
              <a:t>可以整除任意整数，因此对于任意两个整数，它们的公因数总是存在的。 公因数表达的是两个整数的共同部分，通常需要考察两个整数之间的共同部分最大值能达到多少，故有所谓最大公因数的概念。同样，对于任意两个整数，这两个整数的乘积就是它们的公倍数，因此，公倍数总是存在的，需要着重考察的通常式公倍数的最小值，因而有最小公倍数的概念。</a:t>
            </a:r>
            <a:r>
              <a:rPr lang="zh-CN" altLang="en-US">
                <a:solidFill>
                  <a:srgbClr val="46BA54"/>
                </a:solidFill>
                <a:latin typeface="黑体" panose="02010609060101010101" pitchFamily="49" charset="-122"/>
                <a:ea typeface="黑体" panose="02010609060101010101" pitchFamily="49" charset="-122"/>
              </a:rPr>
              <a:t> </a:t>
            </a:r>
            <a:r>
              <a:rPr lang="zh-CN" altLang="en-US">
                <a:latin typeface="黑体" panose="02010609060101010101" pitchFamily="49" charset="-122"/>
                <a:ea typeface="黑体" panose="02010609060101010101" pitchFamily="49" charset="-122"/>
              </a:rPr>
              <a:t/>
            </a:r>
            <a:br>
              <a:rPr lang="zh-CN" altLang="en-US">
                <a:latin typeface="黑体" panose="02010609060101010101" pitchFamily="49" charset="-122"/>
                <a:ea typeface="黑体" panose="02010609060101010101" pitchFamily="49" charset="-122"/>
              </a:rPr>
            </a:br>
            <a:endParaRPr lang="zh-CN" altLang="en-US">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11" name="页脚占位符 4"/>
          <p:cNvSpPr>
            <a:spLocks noGrp="1"/>
          </p:cNvSpPr>
          <p:nvPr>
            <p:ph type="ftr" sz="quarter" idx="11"/>
          </p:nvPr>
        </p:nvSpPr>
        <p:spPr/>
        <p:txBody>
          <a:bodyPr/>
          <a:lstStyle/>
          <a:p>
            <a:pPr>
              <a:defRPr/>
            </a:pPr>
            <a:r>
              <a:rPr lang="zh-CN" altLang="en-US"/>
              <a:t>计算机应用技术研究所</a:t>
            </a:r>
          </a:p>
        </p:txBody>
      </p:sp>
      <p:sp>
        <p:nvSpPr>
          <p:cNvPr id="12" name="灯片编号占位符 5"/>
          <p:cNvSpPr>
            <a:spLocks noGrp="1"/>
          </p:cNvSpPr>
          <p:nvPr>
            <p:ph type="sldNum" sz="quarter" idx="12"/>
          </p:nvPr>
        </p:nvSpPr>
        <p:spPr/>
        <p:txBody>
          <a:bodyPr/>
          <a:lstStyle/>
          <a:p>
            <a:pPr>
              <a:defRPr/>
            </a:pPr>
            <a:fld id="{E676C0BE-75A5-4945-BF2A-734F92844D62}" type="slidenum">
              <a:rPr lang="en-US" altLang="zh-CN"/>
              <a:pPr>
                <a:defRPr/>
              </a:pPr>
              <a:t>18</a:t>
            </a:fld>
            <a:endParaRPr lang="en-US" altLang="zh-CN"/>
          </a:p>
        </p:txBody>
      </p:sp>
      <p:sp>
        <p:nvSpPr>
          <p:cNvPr id="18437" name="Text Box 2"/>
          <p:cNvSpPr txBox="1">
            <a:spLocks noChangeArrowheads="1"/>
          </p:cNvSpPr>
          <p:nvPr/>
        </p:nvSpPr>
        <p:spPr bwMode="auto">
          <a:xfrm>
            <a:off x="1258888" y="588963"/>
            <a:ext cx="6553200" cy="14462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000" b="1">
                <a:solidFill>
                  <a:schemeClr val="bg1"/>
                </a:solidFill>
                <a:latin typeface="宋体" panose="02010600030101010101" pitchFamily="2" charset="-122"/>
                <a:ea typeface="宋体" panose="02010600030101010101" pitchFamily="2" charset="-122"/>
                <a:cs typeface="Arial" panose="020B0604020202020204" pitchFamily="34" charset="0"/>
              </a:rPr>
              <a:t>最大公因数与最小公倍数的概念</a:t>
            </a:r>
          </a:p>
        </p:txBody>
      </p:sp>
      <p:pic>
        <p:nvPicPr>
          <p:cNvPr id="1843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8475"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899592" y="2267997"/>
            <a:ext cx="1182089" cy="1588937"/>
          </a:xfrm>
          <a:prstGeom prst="rect">
            <a:avLst/>
          </a:prstGeom>
        </p:spPr>
      </p:pic>
      <p:sp>
        <p:nvSpPr>
          <p:cNvPr id="3" name="椭圆 2"/>
          <p:cNvSpPr/>
          <p:nvPr/>
        </p:nvSpPr>
        <p:spPr bwMode="auto">
          <a:xfrm>
            <a:off x="2699792" y="2277861"/>
            <a:ext cx="3672408" cy="1368152"/>
          </a:xfrm>
          <a:prstGeom prst="ellipse">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3295427" y="2423328"/>
            <a:ext cx="2701280" cy="1077218"/>
          </a:xfrm>
          <a:prstGeom prst="rect">
            <a:avLst/>
          </a:prstGeom>
          <a:noFill/>
        </p:spPr>
        <p:txBody>
          <a:bodyPr wrap="square" rtlCol="0">
            <a:spAutoFit/>
          </a:bodyPr>
          <a:lstStyle/>
          <a:p>
            <a:r>
              <a:rPr lang="zh-CN" altLang="en-US" sz="1600" dirty="0" smtClean="0">
                <a:latin typeface="隶书" panose="02010509060101010101" pitchFamily="49" charset="-122"/>
                <a:ea typeface="隶书" panose="02010509060101010101" pitchFamily="49" charset="-122"/>
              </a:rPr>
              <a:t>前面已经学习了两个整数的最大公因数与最小公倍数的概念，现在推广到</a:t>
            </a:r>
            <a:r>
              <a:rPr lang="en-US" altLang="zh-CN" sz="1600" dirty="0" smtClean="0">
                <a:latin typeface="隶书" panose="02010509060101010101" pitchFamily="49" charset="-122"/>
                <a:ea typeface="隶书" panose="02010509060101010101" pitchFamily="49" charset="-122"/>
              </a:rPr>
              <a:t>K</a:t>
            </a:r>
            <a:r>
              <a:rPr lang="zh-CN" altLang="en-US" sz="1600" dirty="0" smtClean="0">
                <a:latin typeface="隶书" panose="02010509060101010101" pitchFamily="49" charset="-122"/>
                <a:ea typeface="隶书" panose="02010509060101010101" pitchFamily="49" charset="-122"/>
              </a:rPr>
              <a:t>个整数的情况</a:t>
            </a:r>
            <a:endParaRPr lang="zh-CN" altLang="en-US" sz="1600" dirty="0">
              <a:latin typeface="隶书" panose="02010509060101010101" pitchFamily="49" charset="-122"/>
              <a:ea typeface="隶书" panose="02010509060101010101" pitchFamily="49" charset="-122"/>
            </a:endParaRPr>
          </a:p>
        </p:txBody>
      </p:sp>
      <p:sp>
        <p:nvSpPr>
          <p:cNvPr id="5" name="虚尾箭头 4"/>
          <p:cNvSpPr/>
          <p:nvPr/>
        </p:nvSpPr>
        <p:spPr bwMode="auto">
          <a:xfrm rot="5400000">
            <a:off x="4170128" y="3754866"/>
            <a:ext cx="844413" cy="722647"/>
          </a:xfrm>
          <a:prstGeom prst="stripedRightArrow">
            <a:avLst>
              <a:gd name="adj1" fmla="val 49175"/>
              <a:gd name="adj2" fmla="val 50000"/>
            </a:avLst>
          </a:prstGeom>
          <a:solidFill>
            <a:srgbClr val="00B0F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p:cNvSpPr txBox="1"/>
              <p:nvPr/>
            </p:nvSpPr>
            <p:spPr>
              <a:xfrm>
                <a:off x="826300" y="4833112"/>
                <a:ext cx="3313652" cy="1200329"/>
              </a:xfrm>
              <a:prstGeom prst="rect">
                <a:avLst/>
              </a:prstGeom>
              <a:solidFill>
                <a:srgbClr val="92D050"/>
              </a:solidFill>
              <a:ln w="25400">
                <a:solidFill>
                  <a:schemeClr val="tx1"/>
                </a:solidFill>
                <a:prstDash val="dashDot"/>
              </a:ln>
            </p:spPr>
            <p:txBody>
              <a:bodyPr wrap="square" rtlCol="0">
                <a:spAutoFit/>
              </a:bodyPr>
              <a:lstStyle/>
              <a:p>
                <a:r>
                  <a:rPr lang="zh-CN" altLang="zh-CN" sz="1200" dirty="0"/>
                  <a:t>【</a:t>
                </a:r>
                <a:r>
                  <a:rPr lang="zh-CN" altLang="zh-CN" sz="1200" b="1" dirty="0"/>
                  <a:t>定义</a:t>
                </a:r>
                <a:r>
                  <a:rPr lang="en-US" altLang="zh-CN" sz="1200" b="1" dirty="0"/>
                  <a:t>2.5</a:t>
                </a:r>
                <a:r>
                  <a:rPr lang="zh-CN" altLang="zh-CN" sz="1200" dirty="0"/>
                  <a:t>】假设</a:t>
                </a:r>
                <a14:m>
                  <m:oMath xmlns:m="http://schemas.openxmlformats.org/officeDocument/2006/math">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1</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2</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𝑘</m:t>
                        </m:r>
                      </m:sub>
                    </m:sSub>
                  </m:oMath>
                </a14:m>
                <a:r>
                  <a:rPr lang="zh-CN" altLang="zh-CN" sz="1200" dirty="0"/>
                  <a:t>是</a:t>
                </a:r>
                <a:r>
                  <a:rPr lang="en-US" altLang="zh-CN" sz="1200" i="1" dirty="0"/>
                  <a:t>k</a:t>
                </a:r>
                <a:r>
                  <a:rPr lang="zh-CN" altLang="zh-CN" sz="1200" dirty="0"/>
                  <a:t>个不全为零的整数，如果</a:t>
                </a:r>
                <a:r>
                  <a:rPr lang="en-US" altLang="zh-CN" sz="1200" i="1" dirty="0"/>
                  <a:t>s</a:t>
                </a:r>
                <a:r>
                  <a:rPr lang="zh-CN" altLang="zh-CN" sz="1200" dirty="0"/>
                  <a:t>是其中每个整数的因数，则称</a:t>
                </a:r>
                <a:r>
                  <a:rPr lang="en-US" altLang="zh-CN" sz="1200" i="1" dirty="0"/>
                  <a:t>t</a:t>
                </a:r>
                <a:r>
                  <a:rPr lang="zh-CN" altLang="zh-CN" sz="1200" dirty="0"/>
                  <a:t>是</a:t>
                </a:r>
                <a14:m>
                  <m:oMath xmlns:m="http://schemas.openxmlformats.org/officeDocument/2006/math">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1</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2</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𝑘</m:t>
                        </m:r>
                      </m:sub>
                    </m:sSub>
                  </m:oMath>
                </a14:m>
                <a:r>
                  <a:rPr lang="zh-CN" altLang="zh-CN" sz="1200" dirty="0"/>
                  <a:t>的一个</a:t>
                </a:r>
                <a:r>
                  <a:rPr lang="zh-CN" altLang="zh-CN" sz="1200" b="1" dirty="0"/>
                  <a:t>公因数</a:t>
                </a:r>
                <a:r>
                  <a:rPr lang="zh-CN" altLang="zh-CN" sz="1200" dirty="0"/>
                  <a:t>。对于给定的整数</a:t>
                </a:r>
                <a14:m>
                  <m:oMath xmlns:m="http://schemas.openxmlformats.org/officeDocument/2006/math">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1</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2</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𝑘</m:t>
                        </m:r>
                      </m:sub>
                    </m:sSub>
                  </m:oMath>
                </a14:m>
                <a:r>
                  <a:rPr lang="zh-CN" altLang="zh-CN" sz="1200" dirty="0"/>
                  <a:t>，它们的公因数只有有限多个，其中最大的那个公因数称为</a:t>
                </a:r>
                <a14:m>
                  <m:oMath xmlns:m="http://schemas.openxmlformats.org/officeDocument/2006/math">
                    <m:sSub>
                      <m:sSubPr>
                        <m:ctrlPr>
                          <a:rPr lang="zh-CN" altLang="zh-CN" sz="1200" i="1" smtClean="0">
                            <a:solidFill>
                              <a:srgbClr val="FFFF00"/>
                            </a:solidFill>
                            <a:latin typeface="Cambria Math" panose="02040503050406030204" pitchFamily="18" charset="0"/>
                          </a:rPr>
                        </m:ctrlPr>
                      </m:sSubPr>
                      <m:e>
                        <m:r>
                          <a:rPr lang="en-US" altLang="zh-CN" sz="1200" i="1">
                            <a:solidFill>
                              <a:srgbClr val="FFFF00"/>
                            </a:solidFill>
                            <a:latin typeface="Cambria Math" panose="02040503050406030204" pitchFamily="18" charset="0"/>
                          </a:rPr>
                          <m:t>𝑎</m:t>
                        </m:r>
                      </m:e>
                      <m:sub>
                        <m:r>
                          <a:rPr lang="en-US" altLang="zh-CN" sz="1200" i="1">
                            <a:solidFill>
                              <a:srgbClr val="FFFF00"/>
                            </a:solidFill>
                            <a:latin typeface="Cambria Math" panose="02040503050406030204" pitchFamily="18" charset="0"/>
                          </a:rPr>
                          <m:t>1</m:t>
                        </m:r>
                      </m:sub>
                    </m:sSub>
                    <m:r>
                      <a:rPr lang="en-US" altLang="zh-CN" sz="1200" i="1">
                        <a:solidFill>
                          <a:srgbClr val="FFFF00"/>
                        </a:solidFill>
                        <a:latin typeface="Cambria Math" panose="02040503050406030204" pitchFamily="18" charset="0"/>
                      </a:rPr>
                      <m:t>,</m:t>
                    </m:r>
                    <m:sSub>
                      <m:sSubPr>
                        <m:ctrlPr>
                          <a:rPr lang="zh-CN" altLang="zh-CN" sz="1200" i="1">
                            <a:solidFill>
                              <a:srgbClr val="FFFF00"/>
                            </a:solidFill>
                            <a:latin typeface="Cambria Math" panose="02040503050406030204" pitchFamily="18" charset="0"/>
                          </a:rPr>
                        </m:ctrlPr>
                      </m:sSubPr>
                      <m:e>
                        <m:r>
                          <a:rPr lang="en-US" altLang="zh-CN" sz="1200" i="1">
                            <a:solidFill>
                              <a:srgbClr val="FFFF00"/>
                            </a:solidFill>
                            <a:latin typeface="Cambria Math" panose="02040503050406030204" pitchFamily="18" charset="0"/>
                          </a:rPr>
                          <m:t>𝑎</m:t>
                        </m:r>
                      </m:e>
                      <m:sub>
                        <m:r>
                          <a:rPr lang="en-US" altLang="zh-CN" sz="1200" i="1">
                            <a:solidFill>
                              <a:srgbClr val="FFFF00"/>
                            </a:solidFill>
                            <a:latin typeface="Cambria Math" panose="02040503050406030204" pitchFamily="18" charset="0"/>
                          </a:rPr>
                          <m:t>2</m:t>
                        </m:r>
                      </m:sub>
                    </m:sSub>
                    <m:r>
                      <a:rPr lang="en-US" altLang="zh-CN" sz="1200" i="1">
                        <a:solidFill>
                          <a:srgbClr val="FFFF00"/>
                        </a:solidFill>
                        <a:latin typeface="Cambria Math" panose="02040503050406030204" pitchFamily="18" charset="0"/>
                      </a:rPr>
                      <m:t>,⋯,</m:t>
                    </m:r>
                    <m:sSub>
                      <m:sSubPr>
                        <m:ctrlPr>
                          <a:rPr lang="zh-CN" altLang="zh-CN" sz="1200" i="1">
                            <a:solidFill>
                              <a:srgbClr val="FFFF00"/>
                            </a:solidFill>
                            <a:latin typeface="Cambria Math" panose="02040503050406030204" pitchFamily="18" charset="0"/>
                          </a:rPr>
                        </m:ctrlPr>
                      </m:sSubPr>
                      <m:e>
                        <m:r>
                          <a:rPr lang="en-US" altLang="zh-CN" sz="1200" i="1">
                            <a:solidFill>
                              <a:srgbClr val="FFFF00"/>
                            </a:solidFill>
                            <a:latin typeface="Cambria Math" panose="02040503050406030204" pitchFamily="18" charset="0"/>
                          </a:rPr>
                          <m:t>𝑎</m:t>
                        </m:r>
                      </m:e>
                      <m:sub>
                        <m:r>
                          <a:rPr lang="en-US" altLang="zh-CN" sz="1200" i="1">
                            <a:solidFill>
                              <a:srgbClr val="FFFF00"/>
                            </a:solidFill>
                            <a:latin typeface="Cambria Math" panose="02040503050406030204" pitchFamily="18" charset="0"/>
                          </a:rPr>
                          <m:t>𝑘</m:t>
                        </m:r>
                      </m:sub>
                    </m:sSub>
                  </m:oMath>
                </a14:m>
                <a:r>
                  <a:rPr lang="zh-CN" altLang="zh-CN" sz="1200" dirty="0">
                    <a:solidFill>
                      <a:srgbClr val="FFFF00"/>
                    </a:solidFill>
                  </a:rPr>
                  <a:t>的</a:t>
                </a:r>
                <a:r>
                  <a:rPr lang="zh-CN" altLang="zh-CN" sz="1200" b="1" dirty="0">
                    <a:solidFill>
                      <a:srgbClr val="FFFF00"/>
                    </a:solidFill>
                  </a:rPr>
                  <a:t>最大公因数</a:t>
                </a:r>
                <a:r>
                  <a:rPr lang="zh-CN" altLang="zh-CN" sz="1200" b="1" dirty="0"/>
                  <a:t>，</a:t>
                </a:r>
                <a:r>
                  <a:rPr lang="zh-CN" altLang="zh-CN" sz="1200" dirty="0"/>
                  <a:t>记为</a:t>
                </a:r>
                <a14:m>
                  <m:oMath xmlns:m="http://schemas.openxmlformats.org/officeDocument/2006/math">
                    <m:r>
                      <m:rPr>
                        <m:sty m:val="p"/>
                      </m:rPr>
                      <a:rPr lang="en-US" altLang="zh-CN" sz="1200">
                        <a:latin typeface="Cambria Math" panose="02040503050406030204" pitchFamily="18" charset="0"/>
                      </a:rPr>
                      <m:t>gcd</m:t>
                    </m:r>
                    <m:r>
                      <a:rPr lang="en-US" altLang="zh-CN" sz="1200">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1</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2</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𝑘</m:t>
                        </m:r>
                      </m:sub>
                    </m:sSub>
                    <m:r>
                      <a:rPr lang="en-US" altLang="zh-CN" sz="1200" i="1">
                        <a:latin typeface="Cambria Math" panose="02040503050406030204" pitchFamily="18" charset="0"/>
                      </a:rPr>
                      <m:t>)</m:t>
                    </m:r>
                  </m:oMath>
                </a14:m>
                <a:r>
                  <a:rPr lang="zh-CN" altLang="zh-CN" sz="1200" dirty="0" smtClean="0"/>
                  <a:t>。</a:t>
                </a:r>
                <a:endParaRPr lang="zh-CN" altLang="zh-CN" sz="1200" dirty="0"/>
              </a:p>
            </p:txBody>
          </p:sp>
        </mc:Choice>
        <mc:Fallback xmlns="">
          <p:sp>
            <p:nvSpPr>
              <p:cNvPr id="6" name="文本框 5"/>
              <p:cNvSpPr txBox="1">
                <a:spLocks noRot="1" noChangeAspect="1" noMove="1" noResize="1" noEditPoints="1" noAdjustHandles="1" noChangeArrowheads="1" noChangeShapeType="1" noTextEdit="1"/>
              </p:cNvSpPr>
              <p:nvPr/>
            </p:nvSpPr>
            <p:spPr>
              <a:xfrm>
                <a:off x="826300" y="4833112"/>
                <a:ext cx="3313652" cy="1200329"/>
              </a:xfrm>
              <a:prstGeom prst="rect">
                <a:avLst/>
              </a:prstGeom>
              <a:blipFill rotWithShape="0">
                <a:blip r:embed="rId5"/>
                <a:stretch>
                  <a:fillRect b="-1990"/>
                </a:stretch>
              </a:blipFill>
              <a:ln w="25400">
                <a:solidFill>
                  <a:schemeClr val="tx1"/>
                </a:solidFill>
                <a:prstDash val="dash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5559797" y="4818178"/>
                <a:ext cx="2898403" cy="1200329"/>
              </a:xfrm>
              <a:prstGeom prst="rect">
                <a:avLst/>
              </a:prstGeom>
              <a:solidFill>
                <a:srgbClr val="92D050"/>
              </a:solidFill>
              <a:ln w="25400">
                <a:solidFill>
                  <a:schemeClr val="tx1"/>
                </a:solidFill>
                <a:prstDash val="dashDot"/>
              </a:ln>
            </p:spPr>
            <p:txBody>
              <a:bodyPr wrap="square" rtlCol="0">
                <a:spAutoFit/>
              </a:bodyPr>
              <a:lstStyle/>
              <a:p>
                <a:r>
                  <a:rPr lang="zh-CN" altLang="zh-CN" sz="1200" dirty="0"/>
                  <a:t>【</a:t>
                </a:r>
                <a:r>
                  <a:rPr lang="zh-CN" altLang="zh-CN" sz="1200" b="1" dirty="0"/>
                  <a:t>定义</a:t>
                </a:r>
                <a:r>
                  <a:rPr lang="en-US" altLang="zh-CN" sz="1200" b="1" dirty="0"/>
                  <a:t>2.6</a:t>
                </a:r>
                <a:r>
                  <a:rPr lang="zh-CN" altLang="zh-CN" sz="1200" dirty="0"/>
                  <a:t>】假设</a:t>
                </a:r>
                <a14:m>
                  <m:oMath xmlns:m="http://schemas.openxmlformats.org/officeDocument/2006/math">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1</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2</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𝑘</m:t>
                        </m:r>
                      </m:sub>
                    </m:sSub>
                  </m:oMath>
                </a14:m>
                <a:r>
                  <a:rPr lang="zh-CN" altLang="zh-CN" sz="1200" dirty="0"/>
                  <a:t>是</a:t>
                </a:r>
                <a:r>
                  <a:rPr lang="en-US" altLang="zh-CN" sz="1200" i="1" dirty="0"/>
                  <a:t>k</a:t>
                </a:r>
                <a:r>
                  <a:rPr lang="zh-CN" altLang="zh-CN" sz="1200" dirty="0"/>
                  <a:t>个不全为零的整数，如果</a:t>
                </a:r>
                <a:r>
                  <a:rPr lang="en-US" altLang="zh-CN" sz="1200" i="1" dirty="0"/>
                  <a:t>t</a:t>
                </a:r>
                <a:r>
                  <a:rPr lang="zh-CN" altLang="zh-CN" sz="1200" dirty="0"/>
                  <a:t>是其中每个整数的倍数，则称</a:t>
                </a:r>
                <a:r>
                  <a:rPr lang="en-US" altLang="zh-CN" sz="1200" i="1" dirty="0"/>
                  <a:t>t</a:t>
                </a:r>
                <a:r>
                  <a:rPr lang="zh-CN" altLang="zh-CN" sz="1200" dirty="0"/>
                  <a:t>是</a:t>
                </a:r>
                <a14:m>
                  <m:oMath xmlns:m="http://schemas.openxmlformats.org/officeDocument/2006/math">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1</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2</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𝑘</m:t>
                        </m:r>
                      </m:sub>
                    </m:sSub>
                  </m:oMath>
                </a14:m>
                <a:r>
                  <a:rPr lang="zh-CN" altLang="zh-CN" sz="1200" dirty="0"/>
                  <a:t>的一个</a:t>
                </a:r>
                <a:r>
                  <a:rPr lang="zh-CN" altLang="zh-CN" sz="1200" b="1" dirty="0"/>
                  <a:t>公倍数</a:t>
                </a:r>
                <a:r>
                  <a:rPr lang="zh-CN" altLang="zh-CN" sz="1200" dirty="0"/>
                  <a:t>。</a:t>
                </a:r>
                <a14:m>
                  <m:oMath xmlns:m="http://schemas.openxmlformats.org/officeDocument/2006/math">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1</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2</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𝑘</m:t>
                        </m:r>
                      </m:sub>
                    </m:sSub>
                  </m:oMath>
                </a14:m>
                <a:r>
                  <a:rPr lang="zh-CN" altLang="zh-CN" sz="1200" dirty="0"/>
                  <a:t>的所有公倍数中数值最小的那个公倍数，称为</a:t>
                </a:r>
                <a14:m>
                  <m:oMath xmlns:m="http://schemas.openxmlformats.org/officeDocument/2006/math">
                    <m:sSub>
                      <m:sSubPr>
                        <m:ctrlPr>
                          <a:rPr lang="zh-CN" altLang="zh-CN" sz="1200" i="1" smtClean="0">
                            <a:solidFill>
                              <a:srgbClr val="FFFF00"/>
                            </a:solidFill>
                            <a:latin typeface="Cambria Math" panose="02040503050406030204" pitchFamily="18" charset="0"/>
                          </a:rPr>
                        </m:ctrlPr>
                      </m:sSubPr>
                      <m:e>
                        <m:r>
                          <a:rPr lang="en-US" altLang="zh-CN" sz="1200" i="1">
                            <a:solidFill>
                              <a:srgbClr val="FFFF00"/>
                            </a:solidFill>
                            <a:latin typeface="Cambria Math" panose="02040503050406030204" pitchFamily="18" charset="0"/>
                          </a:rPr>
                          <m:t>𝑎</m:t>
                        </m:r>
                      </m:e>
                      <m:sub>
                        <m:r>
                          <a:rPr lang="en-US" altLang="zh-CN" sz="1200" i="1">
                            <a:solidFill>
                              <a:srgbClr val="FFFF00"/>
                            </a:solidFill>
                            <a:latin typeface="Cambria Math" panose="02040503050406030204" pitchFamily="18" charset="0"/>
                          </a:rPr>
                          <m:t>1</m:t>
                        </m:r>
                      </m:sub>
                    </m:sSub>
                    <m:r>
                      <a:rPr lang="en-US" altLang="zh-CN" sz="1200" i="1">
                        <a:solidFill>
                          <a:srgbClr val="FFFF00"/>
                        </a:solidFill>
                        <a:latin typeface="Cambria Math" panose="02040503050406030204" pitchFamily="18" charset="0"/>
                      </a:rPr>
                      <m:t>,</m:t>
                    </m:r>
                    <m:sSub>
                      <m:sSubPr>
                        <m:ctrlPr>
                          <a:rPr lang="zh-CN" altLang="zh-CN" sz="1200" i="1">
                            <a:solidFill>
                              <a:srgbClr val="FFFF00"/>
                            </a:solidFill>
                            <a:latin typeface="Cambria Math" panose="02040503050406030204" pitchFamily="18" charset="0"/>
                          </a:rPr>
                        </m:ctrlPr>
                      </m:sSubPr>
                      <m:e>
                        <m:r>
                          <a:rPr lang="en-US" altLang="zh-CN" sz="1200" i="1">
                            <a:solidFill>
                              <a:srgbClr val="FFFF00"/>
                            </a:solidFill>
                            <a:latin typeface="Cambria Math" panose="02040503050406030204" pitchFamily="18" charset="0"/>
                          </a:rPr>
                          <m:t>𝑎</m:t>
                        </m:r>
                      </m:e>
                      <m:sub>
                        <m:r>
                          <a:rPr lang="en-US" altLang="zh-CN" sz="1200" i="1">
                            <a:solidFill>
                              <a:srgbClr val="FFFF00"/>
                            </a:solidFill>
                            <a:latin typeface="Cambria Math" panose="02040503050406030204" pitchFamily="18" charset="0"/>
                          </a:rPr>
                          <m:t>2</m:t>
                        </m:r>
                      </m:sub>
                    </m:sSub>
                    <m:r>
                      <a:rPr lang="en-US" altLang="zh-CN" sz="1200" i="1">
                        <a:solidFill>
                          <a:srgbClr val="FFFF00"/>
                        </a:solidFill>
                        <a:latin typeface="Cambria Math" panose="02040503050406030204" pitchFamily="18" charset="0"/>
                      </a:rPr>
                      <m:t>,⋯,</m:t>
                    </m:r>
                    <m:sSub>
                      <m:sSubPr>
                        <m:ctrlPr>
                          <a:rPr lang="zh-CN" altLang="zh-CN" sz="1200" i="1">
                            <a:solidFill>
                              <a:srgbClr val="FFFF00"/>
                            </a:solidFill>
                            <a:latin typeface="Cambria Math" panose="02040503050406030204" pitchFamily="18" charset="0"/>
                          </a:rPr>
                        </m:ctrlPr>
                      </m:sSubPr>
                      <m:e>
                        <m:r>
                          <a:rPr lang="en-US" altLang="zh-CN" sz="1200" i="1">
                            <a:solidFill>
                              <a:srgbClr val="FFFF00"/>
                            </a:solidFill>
                            <a:latin typeface="Cambria Math" panose="02040503050406030204" pitchFamily="18" charset="0"/>
                          </a:rPr>
                          <m:t>𝑎</m:t>
                        </m:r>
                      </m:e>
                      <m:sub>
                        <m:r>
                          <a:rPr lang="en-US" altLang="zh-CN" sz="1200" i="1">
                            <a:solidFill>
                              <a:srgbClr val="FFFF00"/>
                            </a:solidFill>
                            <a:latin typeface="Cambria Math" panose="02040503050406030204" pitchFamily="18" charset="0"/>
                          </a:rPr>
                          <m:t>𝑘</m:t>
                        </m:r>
                      </m:sub>
                    </m:sSub>
                  </m:oMath>
                </a14:m>
                <a:r>
                  <a:rPr lang="zh-CN" altLang="zh-CN" sz="1200" dirty="0">
                    <a:solidFill>
                      <a:srgbClr val="FFFF00"/>
                    </a:solidFill>
                  </a:rPr>
                  <a:t>的</a:t>
                </a:r>
                <a:r>
                  <a:rPr lang="zh-CN" altLang="zh-CN" sz="1200" b="1" dirty="0">
                    <a:solidFill>
                      <a:srgbClr val="FFFF00"/>
                    </a:solidFill>
                  </a:rPr>
                  <a:t>最小公倍数</a:t>
                </a:r>
                <a:r>
                  <a:rPr lang="zh-CN" altLang="zh-CN" sz="1200" b="1" dirty="0"/>
                  <a:t>，记为</a:t>
                </a:r>
                <a14:m>
                  <m:oMath xmlns:m="http://schemas.openxmlformats.org/officeDocument/2006/math">
                    <m:r>
                      <m:rPr>
                        <m:sty m:val="p"/>
                      </m:rPr>
                      <a:rPr lang="en-US" altLang="zh-CN" sz="1200">
                        <a:latin typeface="Cambria Math" panose="02040503050406030204" pitchFamily="18" charset="0"/>
                      </a:rPr>
                      <m:t>lcm</m:t>
                    </m:r>
                    <m:r>
                      <a:rPr lang="en-US" altLang="zh-CN" sz="1200">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1</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2</m:t>
                        </m:r>
                      </m:sub>
                    </m:sSub>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𝑎</m:t>
                        </m:r>
                      </m:e>
                      <m:sub>
                        <m:r>
                          <a:rPr lang="en-US" altLang="zh-CN" sz="1200" i="1">
                            <a:latin typeface="Cambria Math" panose="02040503050406030204" pitchFamily="18" charset="0"/>
                          </a:rPr>
                          <m:t>𝑘</m:t>
                        </m:r>
                      </m:sub>
                    </m:sSub>
                    <m:r>
                      <a:rPr lang="en-US" altLang="zh-CN" sz="1200" i="1">
                        <a:latin typeface="Cambria Math" panose="02040503050406030204" pitchFamily="18" charset="0"/>
                      </a:rPr>
                      <m:t>)</m:t>
                    </m:r>
                  </m:oMath>
                </a14:m>
                <a:r>
                  <a:rPr lang="zh-CN" altLang="zh-CN" sz="1200" dirty="0"/>
                  <a:t>。</a:t>
                </a:r>
              </a:p>
            </p:txBody>
          </p:sp>
        </mc:Choice>
        <mc:Fallback xmlns="">
          <p:sp>
            <p:nvSpPr>
              <p:cNvPr id="16" name="文本框 15"/>
              <p:cNvSpPr txBox="1">
                <a:spLocks noRot="1" noChangeAspect="1" noMove="1" noResize="1" noEditPoints="1" noAdjustHandles="1" noChangeArrowheads="1" noChangeShapeType="1" noTextEdit="1"/>
              </p:cNvSpPr>
              <p:nvPr/>
            </p:nvSpPr>
            <p:spPr>
              <a:xfrm>
                <a:off x="5559797" y="4818178"/>
                <a:ext cx="2898403" cy="1200329"/>
              </a:xfrm>
              <a:prstGeom prst="rect">
                <a:avLst/>
              </a:prstGeom>
              <a:blipFill rotWithShape="0">
                <a:blip r:embed="rId6"/>
                <a:stretch>
                  <a:fillRect b="-1990"/>
                </a:stretch>
              </a:blipFill>
              <a:ln w="25400">
                <a:solidFill>
                  <a:schemeClr val="tx1"/>
                </a:solidFill>
                <a:prstDash val="dashDot"/>
              </a:ln>
            </p:spPr>
            <p:txBody>
              <a:bodyPr/>
              <a:lstStyle/>
              <a:p>
                <a:r>
                  <a:rPr lang="zh-CN" altLang="en-US">
                    <a:noFill/>
                  </a:rPr>
                  <a:t> </a:t>
                </a:r>
              </a:p>
            </p:txBody>
          </p:sp>
        </mc:Fallback>
      </mc:AlternateContent>
      <p:sp>
        <p:nvSpPr>
          <p:cNvPr id="7" name="左中括号 6"/>
          <p:cNvSpPr/>
          <p:nvPr/>
        </p:nvSpPr>
        <p:spPr bwMode="auto">
          <a:xfrm rot="5400000">
            <a:off x="4499412" y="2596604"/>
            <a:ext cx="185846" cy="4069431"/>
          </a:xfrm>
          <a:prstGeom prst="leftBracke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4939302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11" name="页脚占位符 4"/>
          <p:cNvSpPr>
            <a:spLocks noGrp="1"/>
          </p:cNvSpPr>
          <p:nvPr>
            <p:ph type="ftr" sz="quarter" idx="11"/>
          </p:nvPr>
        </p:nvSpPr>
        <p:spPr/>
        <p:txBody>
          <a:bodyPr/>
          <a:lstStyle/>
          <a:p>
            <a:pPr>
              <a:defRPr/>
            </a:pPr>
            <a:r>
              <a:rPr lang="zh-CN" altLang="en-US"/>
              <a:t>计算机应用技术研究所</a:t>
            </a:r>
          </a:p>
        </p:txBody>
      </p:sp>
      <p:sp>
        <p:nvSpPr>
          <p:cNvPr id="12" name="灯片编号占位符 5"/>
          <p:cNvSpPr>
            <a:spLocks noGrp="1"/>
          </p:cNvSpPr>
          <p:nvPr>
            <p:ph type="sldNum" sz="quarter" idx="12"/>
          </p:nvPr>
        </p:nvSpPr>
        <p:spPr/>
        <p:txBody>
          <a:bodyPr/>
          <a:lstStyle/>
          <a:p>
            <a:pPr>
              <a:defRPr/>
            </a:pPr>
            <a:fld id="{E676C0BE-75A5-4945-BF2A-734F92844D62}" type="slidenum">
              <a:rPr lang="en-US" altLang="zh-CN"/>
              <a:pPr>
                <a:defRPr/>
              </a:pPr>
              <a:t>19</a:t>
            </a:fld>
            <a:endParaRPr lang="en-US" altLang="zh-CN"/>
          </a:p>
        </p:txBody>
      </p:sp>
      <p:sp>
        <p:nvSpPr>
          <p:cNvPr id="18437" name="Text Box 2"/>
          <p:cNvSpPr txBox="1">
            <a:spLocks noChangeArrowheads="1"/>
          </p:cNvSpPr>
          <p:nvPr/>
        </p:nvSpPr>
        <p:spPr bwMode="auto">
          <a:xfrm>
            <a:off x="1258888" y="588963"/>
            <a:ext cx="6553200" cy="14462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000" b="1">
                <a:solidFill>
                  <a:schemeClr val="bg1"/>
                </a:solidFill>
                <a:latin typeface="宋体" panose="02010600030101010101" pitchFamily="2" charset="-122"/>
                <a:ea typeface="宋体" panose="02010600030101010101" pitchFamily="2" charset="-122"/>
                <a:cs typeface="Arial" panose="020B0604020202020204" pitchFamily="34" charset="0"/>
              </a:rPr>
              <a:t>最大公因数与最小公倍数的概念</a:t>
            </a:r>
          </a:p>
        </p:txBody>
      </p:sp>
      <p:pic>
        <p:nvPicPr>
          <p:cNvPr id="1843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8475"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8" name="文本框 7"/>
              <p:cNvSpPr txBox="1"/>
              <p:nvPr/>
            </p:nvSpPr>
            <p:spPr>
              <a:xfrm>
                <a:off x="1403140" y="2312741"/>
                <a:ext cx="6913276" cy="3693319"/>
              </a:xfrm>
              <a:prstGeom prst="rect">
                <a:avLst/>
              </a:prstGeom>
              <a:noFill/>
              <a:ln w="25400">
                <a:solidFill>
                  <a:schemeClr val="accent1">
                    <a:lumMod val="75000"/>
                  </a:schemeClr>
                </a:solidFill>
              </a:ln>
            </p:spPr>
            <p:txBody>
              <a:bodyPr wrap="square" rtlCol="0">
                <a:spAutoFit/>
              </a:bodyPr>
              <a:lstStyle/>
              <a:p>
                <a:r>
                  <a:rPr lang="zh-CN" altLang="zh-CN" sz="1800" dirty="0" smtClean="0"/>
                  <a:t>【例</a:t>
                </a:r>
                <a:r>
                  <a:rPr lang="en-US" altLang="zh-CN" sz="1800" dirty="0" smtClean="0"/>
                  <a:t>1</a:t>
                </a:r>
                <a:r>
                  <a:rPr lang="zh-CN" altLang="zh-CN" sz="1800" dirty="0" smtClean="0"/>
                  <a:t>】</a:t>
                </a:r>
                <a:r>
                  <a:rPr lang="en-US" altLang="zh-CN" sz="1800" dirty="0"/>
                  <a:t>24</a:t>
                </a:r>
                <a:r>
                  <a:rPr lang="zh-CN" altLang="zh-CN" sz="1800" dirty="0"/>
                  <a:t>和</a:t>
                </a:r>
                <a:r>
                  <a:rPr lang="en-US" altLang="zh-CN" sz="1800" dirty="0"/>
                  <a:t>36</a:t>
                </a:r>
                <a:r>
                  <a:rPr lang="zh-CN" altLang="zh-CN" sz="1800" dirty="0"/>
                  <a:t>的最大公因数是什么？</a:t>
                </a:r>
              </a:p>
              <a:p>
                <a:r>
                  <a:rPr lang="en-US" altLang="zh-CN" sz="1800" dirty="0"/>
                  <a:t>	17</a:t>
                </a:r>
                <a:r>
                  <a:rPr lang="zh-CN" altLang="zh-CN" sz="1800" dirty="0"/>
                  <a:t>和</a:t>
                </a:r>
                <a:r>
                  <a:rPr lang="en-US" altLang="zh-CN" sz="1800" dirty="0"/>
                  <a:t>22</a:t>
                </a:r>
                <a:r>
                  <a:rPr lang="zh-CN" altLang="zh-CN" sz="1800" dirty="0"/>
                  <a:t>的最大公因数是什么？</a:t>
                </a:r>
              </a:p>
              <a:p>
                <a:r>
                  <a:rPr lang="zh-CN" altLang="zh-CN" sz="1800" dirty="0"/>
                  <a:t>【解】</a:t>
                </a:r>
                <a:r>
                  <a:rPr lang="en-US" altLang="zh-CN" sz="1800" dirty="0"/>
                  <a:t>24</a:t>
                </a:r>
                <a:r>
                  <a:rPr lang="zh-CN" altLang="zh-CN" sz="1800" dirty="0"/>
                  <a:t>和</a:t>
                </a:r>
                <a:r>
                  <a:rPr lang="en-US" altLang="zh-CN" sz="1800" dirty="0"/>
                  <a:t>36</a:t>
                </a:r>
                <a:r>
                  <a:rPr lang="zh-CN" altLang="zh-CN" sz="1800" dirty="0"/>
                  <a:t>的正公因数是</a:t>
                </a:r>
                <a14:m>
                  <m:oMath xmlns:m="http://schemas.openxmlformats.org/officeDocument/2006/math">
                    <m:r>
                      <a:rPr lang="en-US" altLang="zh-CN" sz="1800">
                        <a:latin typeface="Cambria Math" panose="02040503050406030204" pitchFamily="18" charset="0"/>
                      </a:rPr>
                      <m:t>1</m:t>
                    </m:r>
                    <m:r>
                      <a:rPr lang="zh-CN" altLang="zh-CN" sz="1800">
                        <a:latin typeface="Cambria Math" panose="02040503050406030204" pitchFamily="18" charset="0"/>
                      </a:rPr>
                      <m:t>，</m:t>
                    </m:r>
                    <m:r>
                      <a:rPr lang="en-US" altLang="zh-CN" sz="1800">
                        <a:latin typeface="Cambria Math" panose="02040503050406030204" pitchFamily="18" charset="0"/>
                      </a:rPr>
                      <m:t>2</m:t>
                    </m:r>
                    <m:r>
                      <a:rPr lang="zh-CN" altLang="zh-CN" sz="1800">
                        <a:latin typeface="Cambria Math" panose="02040503050406030204" pitchFamily="18" charset="0"/>
                      </a:rPr>
                      <m:t>，</m:t>
                    </m:r>
                    <m:r>
                      <a:rPr lang="en-US" altLang="zh-CN" sz="1800">
                        <a:latin typeface="Cambria Math" panose="02040503050406030204" pitchFamily="18" charset="0"/>
                      </a:rPr>
                      <m:t>3</m:t>
                    </m:r>
                    <m:r>
                      <a:rPr lang="zh-CN" altLang="zh-CN" sz="1800">
                        <a:latin typeface="Cambria Math" panose="02040503050406030204" pitchFamily="18" charset="0"/>
                      </a:rPr>
                      <m:t>，</m:t>
                    </m:r>
                    <m:r>
                      <a:rPr lang="en-US" altLang="zh-CN" sz="1800">
                        <a:latin typeface="Cambria Math" panose="02040503050406030204" pitchFamily="18" charset="0"/>
                      </a:rPr>
                      <m:t>4</m:t>
                    </m:r>
                    <m:r>
                      <a:rPr lang="zh-CN" altLang="zh-CN" sz="1800">
                        <a:latin typeface="Cambria Math" panose="02040503050406030204" pitchFamily="18" charset="0"/>
                      </a:rPr>
                      <m:t>，</m:t>
                    </m:r>
                    <m:r>
                      <a:rPr lang="en-US" altLang="zh-CN" sz="1800">
                        <a:latin typeface="Cambria Math" panose="02040503050406030204" pitchFamily="18" charset="0"/>
                      </a:rPr>
                      <m:t>6</m:t>
                    </m:r>
                    <m:r>
                      <a:rPr lang="zh-CN" altLang="zh-CN" sz="1800">
                        <a:latin typeface="Cambria Math" panose="02040503050406030204" pitchFamily="18" charset="0"/>
                      </a:rPr>
                      <m:t>，</m:t>
                    </m:r>
                    <m:r>
                      <a:rPr lang="en-US" altLang="zh-CN" sz="1800">
                        <a:latin typeface="Cambria Math" panose="02040503050406030204" pitchFamily="18" charset="0"/>
                      </a:rPr>
                      <m:t>12</m:t>
                    </m:r>
                  </m:oMath>
                </a14:m>
                <a:r>
                  <a:rPr lang="zh-CN" altLang="zh-CN" sz="1800" dirty="0"/>
                  <a:t>，</a:t>
                </a:r>
                <a:r>
                  <a:rPr lang="zh-CN" altLang="en-US" sz="1800" dirty="0" smtClean="0"/>
                  <a:t>故有</a:t>
                </a:r>
                <a14:m>
                  <m:oMath xmlns:m="http://schemas.openxmlformats.org/officeDocument/2006/math">
                    <m:r>
                      <a:rPr lang="zh-CN" altLang="en-US" sz="1800" i="1" dirty="0">
                        <a:latin typeface="Cambria Math" panose="02040503050406030204" pitchFamily="18" charset="0"/>
                      </a:rPr>
                      <m:t>：</m:t>
                    </m:r>
                  </m:oMath>
                </a14:m>
                <a:endParaRPr lang="en-US" altLang="zh-CN" sz="180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gcd</m:t>
                      </m:r>
                      <m:r>
                        <a:rPr lang="en-US" altLang="zh-CN" sz="1800">
                          <a:latin typeface="Cambria Math" panose="02040503050406030204" pitchFamily="18" charset="0"/>
                        </a:rPr>
                        <m:t>(24,36)=12</m:t>
                      </m:r>
                    </m:oMath>
                  </m:oMathPara>
                </a14:m>
                <a:endParaRPr lang="zh-CN" altLang="zh-CN" sz="1800" dirty="0"/>
              </a:p>
              <a:p>
                <a:r>
                  <a:rPr lang="en-US" altLang="zh-CN" sz="1800" dirty="0"/>
                  <a:t> </a:t>
                </a:r>
                <a:r>
                  <a:rPr lang="en-US" altLang="zh-CN" sz="1800" dirty="0" smtClean="0"/>
                  <a:t>    17</a:t>
                </a:r>
                <a:r>
                  <a:rPr lang="zh-CN" altLang="zh-CN" sz="1800" dirty="0"/>
                  <a:t>和</a:t>
                </a:r>
                <a:r>
                  <a:rPr lang="en-US" altLang="zh-CN" sz="1800" dirty="0"/>
                  <a:t>22</a:t>
                </a:r>
                <a:r>
                  <a:rPr lang="zh-CN" altLang="zh-CN" sz="1800" dirty="0"/>
                  <a:t>除</a:t>
                </a:r>
                <a:r>
                  <a:rPr lang="en-US" altLang="zh-CN" sz="1800" dirty="0"/>
                  <a:t>1</a:t>
                </a:r>
                <a:r>
                  <a:rPr lang="zh-CN" altLang="zh-CN" sz="1800" dirty="0"/>
                  <a:t>以外没有正公因数</a:t>
                </a:r>
                <a:r>
                  <a:rPr lang="zh-CN" altLang="zh-CN" sz="1800" dirty="0" smtClean="0"/>
                  <a:t>，</a:t>
                </a:r>
                <a:r>
                  <a:rPr lang="zh-CN" altLang="en-US" sz="1800" dirty="0" smtClean="0"/>
                  <a:t>故</a:t>
                </a:r>
                <a:r>
                  <a:rPr lang="zh-CN" altLang="zh-CN" sz="1800" dirty="0" smtClean="0"/>
                  <a:t>有</a:t>
                </a:r>
                <a:r>
                  <a:rPr lang="zh-CN" altLang="zh-CN" sz="1800" dirty="0"/>
                  <a:t>：</a:t>
                </a:r>
                <a:endParaRPr lang="en-US" altLang="zh-CN" sz="1800" dirty="0" smtClean="0"/>
              </a:p>
              <a:p>
                <a:r>
                  <a:rPr lang="en-US" altLang="zh-CN" sz="1800" dirty="0"/>
                  <a:t> </a:t>
                </a:r>
                <a:r>
                  <a:rPr lang="en-US" altLang="zh-CN" sz="1800" dirty="0" smtClean="0"/>
                  <a:t>                     </a:t>
                </a:r>
                <a14:m>
                  <m:oMath xmlns:m="http://schemas.openxmlformats.org/officeDocument/2006/math">
                    <m:r>
                      <m:rPr>
                        <m:sty m:val="p"/>
                      </m:rPr>
                      <a:rPr lang="en-US" altLang="zh-CN" sz="1800">
                        <a:latin typeface="Cambria Math" panose="02040503050406030204" pitchFamily="18" charset="0"/>
                      </a:rPr>
                      <m:t>gcd</m:t>
                    </m:r>
                    <m:r>
                      <a:rPr lang="en-US" altLang="zh-CN" sz="1800">
                        <a:latin typeface="Cambria Math" panose="02040503050406030204" pitchFamily="18" charset="0"/>
                      </a:rPr>
                      <m:t>(12, 22)=1</m:t>
                    </m:r>
                  </m:oMath>
                </a14:m>
                <a:endParaRPr lang="en-US" altLang="zh-CN" sz="1800" dirty="0" smtClean="0"/>
              </a:p>
              <a:p>
                <a:endParaRPr lang="zh-CN" altLang="zh-CN" sz="1800" dirty="0"/>
              </a:p>
              <a:p>
                <a:r>
                  <a:rPr lang="zh-CN" altLang="zh-CN" sz="1800" dirty="0" smtClean="0"/>
                  <a:t>【例</a:t>
                </a:r>
                <a:r>
                  <a:rPr lang="en-US" altLang="zh-CN" sz="1800" dirty="0"/>
                  <a:t>2</a:t>
                </a:r>
                <a:r>
                  <a:rPr lang="zh-CN" altLang="zh-CN" sz="1800" dirty="0" smtClean="0"/>
                  <a:t>】</a:t>
                </a:r>
                <a:r>
                  <a:rPr lang="zh-CN" altLang="zh-CN" sz="1800" dirty="0"/>
                  <a:t>求</a:t>
                </a:r>
                <a14:m>
                  <m:oMath xmlns:m="http://schemas.openxmlformats.org/officeDocument/2006/math">
                    <m:r>
                      <a:rPr lang="en-US" altLang="zh-CN" sz="1800">
                        <a:latin typeface="Cambria Math" panose="02040503050406030204" pitchFamily="18" charset="0"/>
                      </a:rPr>
                      <m:t>6, 18</m:t>
                    </m:r>
                    <m:r>
                      <a:rPr lang="zh-CN" altLang="zh-CN" sz="1800">
                        <a:latin typeface="Cambria Math" panose="02040503050406030204" pitchFamily="18" charset="0"/>
                      </a:rPr>
                      <m:t>和</m:t>
                    </m:r>
                    <m:r>
                      <a:rPr lang="en-US" altLang="zh-CN" sz="1800">
                        <a:latin typeface="Cambria Math" panose="02040503050406030204" pitchFamily="18" charset="0"/>
                      </a:rPr>
                      <m:t>12</m:t>
                    </m:r>
                  </m:oMath>
                </a14:m>
                <a:r>
                  <a:rPr lang="zh-CN" altLang="zh-CN" sz="1800" dirty="0"/>
                  <a:t>的最小公倍数。</a:t>
                </a:r>
              </a:p>
              <a:p>
                <a:r>
                  <a:rPr lang="zh-CN" altLang="zh-CN" sz="1800" dirty="0"/>
                  <a:t>【解】</a:t>
                </a:r>
                <a:r>
                  <a:rPr lang="en-US" altLang="zh-CN" sz="1800" dirty="0"/>
                  <a:t>36</a:t>
                </a:r>
                <a:r>
                  <a:rPr lang="zh-CN" altLang="zh-CN" sz="1800" dirty="0"/>
                  <a:t>可以同时整除</a:t>
                </a:r>
                <a14:m>
                  <m:oMath xmlns:m="http://schemas.openxmlformats.org/officeDocument/2006/math">
                    <m:r>
                      <a:rPr lang="en-US" altLang="zh-CN" sz="1800">
                        <a:latin typeface="Cambria Math" panose="02040503050406030204" pitchFamily="18" charset="0"/>
                      </a:rPr>
                      <m:t>6, 18</m:t>
                    </m:r>
                    <m:r>
                      <a:rPr lang="zh-CN" altLang="zh-CN" sz="1800">
                        <a:latin typeface="Cambria Math" panose="02040503050406030204" pitchFamily="18" charset="0"/>
                      </a:rPr>
                      <m:t>和</m:t>
                    </m:r>
                    <m:r>
                      <a:rPr lang="en-US" altLang="zh-CN" sz="1800">
                        <a:latin typeface="Cambria Math" panose="02040503050406030204" pitchFamily="18" charset="0"/>
                      </a:rPr>
                      <m:t>12</m:t>
                    </m:r>
                  </m:oMath>
                </a14:m>
                <a:r>
                  <a:rPr lang="zh-CN" altLang="zh-CN" sz="1800" dirty="0"/>
                  <a:t>，所以</a:t>
                </a:r>
                <a:r>
                  <a:rPr lang="en-US" altLang="zh-CN" sz="1800" dirty="0"/>
                  <a:t>36</a:t>
                </a:r>
                <a:r>
                  <a:rPr lang="zh-CN" altLang="zh-CN" sz="1800" dirty="0"/>
                  <a:t>是它们的一个公倍数，同理</a:t>
                </a:r>
                <a14:m>
                  <m:oMath xmlns:m="http://schemas.openxmlformats.org/officeDocument/2006/math">
                    <m:r>
                      <a:rPr lang="en-US" altLang="zh-CN" sz="1800">
                        <a:latin typeface="Cambria Math" panose="02040503050406030204" pitchFamily="18" charset="0"/>
                      </a:rPr>
                      <m:t>72,144</m:t>
                    </m:r>
                    <m:r>
                      <a:rPr lang="zh-CN" altLang="zh-CN" sz="1800">
                        <a:latin typeface="Cambria Math" panose="02040503050406030204" pitchFamily="18" charset="0"/>
                      </a:rPr>
                      <m:t>，</m:t>
                    </m:r>
                    <m:r>
                      <a:rPr lang="en-US" altLang="zh-CN" sz="1800">
                        <a:latin typeface="Cambria Math" panose="02040503050406030204" pitchFamily="18" charset="0"/>
                      </a:rPr>
                      <m:t>⋯</m:t>
                    </m:r>
                  </m:oMath>
                </a14:m>
                <a:r>
                  <a:rPr lang="zh-CN" altLang="zh-CN" sz="1800" dirty="0"/>
                  <a:t>也是</a:t>
                </a:r>
                <a14:m>
                  <m:oMath xmlns:m="http://schemas.openxmlformats.org/officeDocument/2006/math">
                    <m:r>
                      <a:rPr lang="en-US" altLang="zh-CN" sz="1800">
                        <a:latin typeface="Cambria Math" panose="02040503050406030204" pitchFamily="18" charset="0"/>
                      </a:rPr>
                      <m:t>6, 18</m:t>
                    </m:r>
                    <m:r>
                      <a:rPr lang="zh-CN" altLang="zh-CN" sz="1800">
                        <a:latin typeface="Cambria Math" panose="02040503050406030204" pitchFamily="18" charset="0"/>
                      </a:rPr>
                      <m:t>和</m:t>
                    </m:r>
                    <m:r>
                      <a:rPr lang="en-US" altLang="zh-CN" sz="1800">
                        <a:latin typeface="Cambria Math" panose="02040503050406030204" pitchFamily="18" charset="0"/>
                      </a:rPr>
                      <m:t>12</m:t>
                    </m:r>
                  </m:oMath>
                </a14:m>
                <a:r>
                  <a:rPr lang="zh-CN" altLang="zh-CN" sz="1800" dirty="0"/>
                  <a:t>的公倍数，</a:t>
                </a:r>
                <a:r>
                  <a:rPr lang="en-US" altLang="zh-CN" sz="1800" dirty="0"/>
                  <a:t>36</a:t>
                </a:r>
                <a14:m>
                  <m:oMath xmlns:m="http://schemas.openxmlformats.org/officeDocument/2006/math">
                    <m:r>
                      <a:rPr lang="zh-CN" altLang="zh-CN" sz="1800">
                        <a:latin typeface="Cambria Math" panose="02040503050406030204" pitchFamily="18" charset="0"/>
                      </a:rPr>
                      <m:t>是</m:t>
                    </m:r>
                    <m:r>
                      <a:rPr lang="en-US" altLang="zh-CN" sz="1800">
                        <a:latin typeface="Cambria Math" panose="02040503050406030204" pitchFamily="18" charset="0"/>
                      </a:rPr>
                      <m:t>6, 18</m:t>
                    </m:r>
                    <m:r>
                      <a:rPr lang="zh-CN" altLang="zh-CN" sz="1800">
                        <a:latin typeface="Cambria Math" panose="02040503050406030204" pitchFamily="18" charset="0"/>
                      </a:rPr>
                      <m:t>和</m:t>
                    </m:r>
                    <m:r>
                      <a:rPr lang="en-US" altLang="zh-CN" sz="1800">
                        <a:latin typeface="Cambria Math" panose="02040503050406030204" pitchFamily="18" charset="0"/>
                      </a:rPr>
                      <m:t>12</m:t>
                    </m:r>
                    <m:r>
                      <a:rPr lang="zh-CN" altLang="zh-CN" sz="1800">
                        <a:latin typeface="Cambria Math" panose="02040503050406030204" pitchFamily="18" charset="0"/>
                      </a:rPr>
                      <m:t>的</m:t>
                    </m:r>
                  </m:oMath>
                </a14:m>
                <a:r>
                  <a:rPr lang="zh-CN" altLang="zh-CN" sz="1800" dirty="0"/>
                  <a:t>所有公倍数中数值最小的公倍数，故有：</a:t>
                </a:r>
              </a:p>
              <a:p>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lcm</m:t>
                      </m:r>
                      <m:d>
                        <m:dPr>
                          <m:begChr m:val="（"/>
                          <m:endChr m:val="）"/>
                          <m:ctrlPr>
                            <a:rPr lang="zh-CN" altLang="zh-CN" sz="1800" i="1">
                              <a:latin typeface="Cambria Math" panose="02040503050406030204" pitchFamily="18" charset="0"/>
                            </a:rPr>
                          </m:ctrlPr>
                        </m:dPr>
                        <m:e>
                          <m:r>
                            <a:rPr lang="en-US" altLang="zh-CN" sz="1800">
                              <a:latin typeface="Cambria Math" panose="02040503050406030204" pitchFamily="18" charset="0"/>
                            </a:rPr>
                            <m:t>6, 18, 12</m:t>
                          </m:r>
                        </m:e>
                      </m:d>
                      <m:r>
                        <a:rPr lang="en-US" altLang="zh-CN" sz="1800">
                          <a:latin typeface="Cambria Math" panose="02040503050406030204" pitchFamily="18" charset="0"/>
                        </a:rPr>
                        <m:t>=36</m:t>
                      </m:r>
                    </m:oMath>
                  </m:oMathPara>
                </a14:m>
                <a:endParaRPr lang="zh-CN" altLang="zh-CN" sz="1800" dirty="0"/>
              </a:p>
              <a:p>
                <a:r>
                  <a:rPr lang="zh-CN" altLang="zh-CN" sz="1800" dirty="0"/>
                  <a:t>即</a:t>
                </a:r>
                <a14:m>
                  <m:oMath xmlns:m="http://schemas.openxmlformats.org/officeDocument/2006/math">
                    <m:r>
                      <a:rPr lang="en-US" altLang="zh-CN" sz="1800">
                        <a:latin typeface="Cambria Math" panose="02040503050406030204" pitchFamily="18" charset="0"/>
                      </a:rPr>
                      <m:t>6, 18</m:t>
                    </m:r>
                    <m:r>
                      <a:rPr lang="zh-CN" altLang="zh-CN" sz="1800">
                        <a:latin typeface="Cambria Math" panose="02040503050406030204" pitchFamily="18" charset="0"/>
                      </a:rPr>
                      <m:t>和</m:t>
                    </m:r>
                    <m:r>
                      <a:rPr lang="en-US" altLang="zh-CN" sz="1800">
                        <a:latin typeface="Cambria Math" panose="02040503050406030204" pitchFamily="18" charset="0"/>
                      </a:rPr>
                      <m:t>12</m:t>
                    </m:r>
                  </m:oMath>
                </a14:m>
                <a:r>
                  <a:rPr lang="zh-CN" altLang="zh-CN" sz="1800" dirty="0"/>
                  <a:t>的最小公倍数为</a:t>
                </a:r>
                <a:r>
                  <a:rPr lang="en-US" altLang="zh-CN" sz="1800" dirty="0"/>
                  <a:t>36</a:t>
                </a:r>
                <a:r>
                  <a:rPr lang="zh-CN" altLang="zh-CN" sz="1800" dirty="0"/>
                  <a:t>。</a:t>
                </a:r>
                <a:endParaRPr lang="zh-CN" altLang="en-US" sz="1800" dirty="0"/>
              </a:p>
            </p:txBody>
          </p:sp>
        </mc:Choice>
        <mc:Fallback xmlns="">
          <p:sp>
            <p:nvSpPr>
              <p:cNvPr id="8" name="文本框 7"/>
              <p:cNvSpPr txBox="1">
                <a:spLocks noRot="1" noChangeAspect="1" noMove="1" noResize="1" noEditPoints="1" noAdjustHandles="1" noChangeArrowheads="1" noChangeShapeType="1" noTextEdit="1"/>
              </p:cNvSpPr>
              <p:nvPr/>
            </p:nvSpPr>
            <p:spPr>
              <a:xfrm>
                <a:off x="1403140" y="2312741"/>
                <a:ext cx="6913276" cy="3693319"/>
              </a:xfrm>
              <a:prstGeom prst="rect">
                <a:avLst/>
              </a:prstGeom>
              <a:blipFill>
                <a:blip r:embed="rId4"/>
                <a:stretch>
                  <a:fillRect l="-527" t="-492" r="-264" b="-984"/>
                </a:stretch>
              </a:blipFill>
              <a:ln w="25400">
                <a:solidFill>
                  <a:schemeClr val="accent1">
                    <a:lumMod val="75000"/>
                  </a:schemeClr>
                </a:solidFill>
              </a:ln>
            </p:spPr>
            <p:txBody>
              <a:bodyPr/>
              <a:lstStyle/>
              <a:p>
                <a:r>
                  <a:rPr lang="zh-CN" altLang="en-US">
                    <a:noFill/>
                  </a:rPr>
                  <a:t> </a:t>
                </a:r>
              </a:p>
            </p:txBody>
          </p:sp>
        </mc:Fallback>
      </mc:AlternateContent>
      <p:cxnSp>
        <p:nvCxnSpPr>
          <p:cNvPr id="13" name="直接连接符 12"/>
          <p:cNvCxnSpPr>
            <a:stCxn id="8" idx="1"/>
            <a:endCxn id="8" idx="3"/>
          </p:cNvCxnSpPr>
          <p:nvPr/>
        </p:nvCxnSpPr>
        <p:spPr bwMode="auto">
          <a:xfrm>
            <a:off x="1403140" y="4159401"/>
            <a:ext cx="6913276" cy="0"/>
          </a:xfrm>
          <a:prstGeom prst="line">
            <a:avLst/>
          </a:prstGeom>
          <a:noFill/>
          <a:ln w="25400" cap="flat" cmpd="sng" algn="ctr">
            <a:solidFill>
              <a:srgbClr val="FF7C80"/>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550175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a:xfrm>
            <a:off x="6588125" y="6400800"/>
            <a:ext cx="1905000" cy="457200"/>
          </a:xfrm>
        </p:spPr>
        <p:txBody>
          <a:bodyPr/>
          <a:lstStyle/>
          <a:p>
            <a:pPr>
              <a:defRPr/>
            </a:pPr>
            <a:fld id="{41A65EAE-4BAD-440B-A29E-16EB6B9765DA}" type="slidenum">
              <a:rPr lang="en-US" altLang="zh-CN"/>
              <a:pPr>
                <a:defRPr/>
              </a:pPr>
              <a:t>20</a:t>
            </a:fld>
            <a:endParaRPr lang="en-US" altLang="zh-CN"/>
          </a:p>
        </p:txBody>
      </p:sp>
      <p:sp>
        <p:nvSpPr>
          <p:cNvPr id="19461" name="Text Box 2"/>
          <p:cNvSpPr txBox="1">
            <a:spLocks noChangeArrowheads="1"/>
          </p:cNvSpPr>
          <p:nvPr/>
        </p:nvSpPr>
        <p:spPr bwMode="auto">
          <a:xfrm>
            <a:off x="1403350" y="876300"/>
            <a:ext cx="6048375" cy="132397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000" b="1">
                <a:solidFill>
                  <a:schemeClr val="bg1"/>
                </a:solidFill>
                <a:latin typeface="宋体" panose="02010600030101010101" pitchFamily="2" charset="-122"/>
                <a:ea typeface="宋体" panose="02010600030101010101" pitchFamily="2" charset="-122"/>
                <a:cs typeface="Arial" panose="020B0604020202020204" pitchFamily="34" charset="0"/>
              </a:rPr>
              <a:t>最大公因数与最小公倍数的关系</a:t>
            </a:r>
          </a:p>
        </p:txBody>
      </p:sp>
      <p:pic>
        <p:nvPicPr>
          <p:cNvPr id="1946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文本框 1"/>
          <p:cNvSpPr txBox="1">
            <a:spLocks noChangeArrowheads="1"/>
          </p:cNvSpPr>
          <p:nvPr/>
        </p:nvSpPr>
        <p:spPr bwMode="auto">
          <a:xfrm>
            <a:off x="1608138" y="2443163"/>
            <a:ext cx="5832475" cy="1014412"/>
          </a:xfrm>
          <a:prstGeom prst="rect">
            <a:avLst/>
          </a:prstGeom>
          <a:solidFill>
            <a:srgbClr val="D6009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dirty="0">
                <a:solidFill>
                  <a:srgbClr val="BFFBAF"/>
                </a:solidFill>
                <a:latin typeface="黑体" panose="02010609060101010101" pitchFamily="49" charset="-122"/>
                <a:ea typeface="黑体" panose="02010609060101010101" pitchFamily="49" charset="-122"/>
              </a:rPr>
              <a:t>通过最大公因数与最小公倍数的定义，我们可以看到这二者是通过两个自然数的某种运算得到的，那么这二者之间是否存在某种关系呢？</a:t>
            </a:r>
          </a:p>
        </p:txBody>
      </p:sp>
      <p:pic>
        <p:nvPicPr>
          <p:cNvPr id="19464"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43013" y="3656013"/>
            <a:ext cx="6561137"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7E99E91A-48B1-4581-944B-28E68BADB33F}" type="slidenum">
              <a:rPr lang="en-US" altLang="zh-CN"/>
              <a:pPr>
                <a:defRPr/>
              </a:pPr>
              <a:t>21</a:t>
            </a:fld>
            <a:endParaRPr lang="en-US" altLang="zh-CN"/>
          </a:p>
        </p:txBody>
      </p:sp>
      <p:sp>
        <p:nvSpPr>
          <p:cNvPr id="20485" name="Text Box 2"/>
          <p:cNvSpPr txBox="1">
            <a:spLocks noChangeArrowheads="1"/>
          </p:cNvSpPr>
          <p:nvPr/>
        </p:nvSpPr>
        <p:spPr bwMode="auto">
          <a:xfrm>
            <a:off x="1403350" y="765175"/>
            <a:ext cx="62642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最大公因数的性质</a:t>
            </a:r>
          </a:p>
        </p:txBody>
      </p:sp>
      <p:pic>
        <p:nvPicPr>
          <p:cNvPr id="2048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487073" y="1868090"/>
            <a:ext cx="1832553" cy="584775"/>
          </a:xfrm>
          <a:prstGeom prst="rect">
            <a:avLst/>
          </a:prstGeom>
          <a:noFill/>
          <a:scene3d>
            <a:camera prst="orthographicFront">
              <a:rot lat="0" lon="0" rev="1200000"/>
            </a:camera>
            <a:lightRig rig="threePt" dir="t"/>
          </a:scene3d>
        </p:spPr>
        <p:txBody>
          <a:bodyPr wrap="none">
            <a:spAutoFit/>
          </a:bodyPr>
          <a:lstStyle/>
          <a:p>
            <a:pPr algn="ctr">
              <a:defRPr/>
            </a:pPr>
            <a:r>
              <a:rPr lang="zh-CN" altLang="en-US" sz="3200" b="1" dirty="0">
                <a:ln w="6600">
                  <a:solidFill>
                    <a:schemeClr val="accent2"/>
                  </a:solidFill>
                  <a:prstDash val="solid"/>
                </a:ln>
                <a:gradFill flip="none" rotWithShape="1">
                  <a:gsLst>
                    <a:gs pos="0">
                      <a:srgbClr val="BBC486"/>
                    </a:gs>
                    <a:gs pos="48000">
                      <a:schemeClr val="accent3">
                        <a:lumMod val="97000"/>
                        <a:lumOff val="3000"/>
                      </a:schemeClr>
                    </a:gs>
                    <a:gs pos="100000">
                      <a:schemeClr val="accent3">
                        <a:lumMod val="60000"/>
                        <a:lumOff val="40000"/>
                      </a:schemeClr>
                    </a:gs>
                  </a:gsLst>
                  <a:lin ang="16200000" scaled="1"/>
                  <a:tileRect/>
                </a:gradFill>
                <a:effectLst>
                  <a:outerShdw dist="38100" dir="2700000" algn="tl" rotWithShape="0">
                    <a:schemeClr val="accent2"/>
                  </a:outerShdw>
                </a:effectLst>
              </a:rPr>
              <a:t>带余除法</a:t>
            </a:r>
          </a:p>
        </p:txBody>
      </p:sp>
      <p:sp>
        <p:nvSpPr>
          <p:cNvPr id="5" name="文本框 4"/>
          <p:cNvSpPr txBox="1">
            <a:spLocks noRot="1" noChangeAspect="1" noMove="1" noResize="1" noEditPoints="1" noAdjustHandles="1" noChangeArrowheads="1" noChangeShapeType="1" noTextEdit="1"/>
          </p:cNvSpPr>
          <p:nvPr/>
        </p:nvSpPr>
        <p:spPr>
          <a:xfrm>
            <a:off x="1616408" y="2424907"/>
            <a:ext cx="6048672" cy="1015663"/>
          </a:xfrm>
          <a:prstGeom prst="rect">
            <a:avLst/>
          </a:prstGeom>
          <a:blipFill rotWithShape="0">
            <a:blip r:embed="rId4"/>
            <a:stretch>
              <a:fillRect l="-1008" t="-3614" r="-706" b="-10241"/>
            </a:stretch>
          </a:blipFill>
        </p:spPr>
        <p:txBody>
          <a:bodyPr/>
          <a:lstStyle/>
          <a:p>
            <a:pPr>
              <a:defRPr/>
            </a:pPr>
            <a:r>
              <a:rPr lang="zh-CN" altLang="en-US">
                <a:noFill/>
              </a:rPr>
              <a:t> </a:t>
            </a:r>
          </a:p>
        </p:txBody>
      </p:sp>
      <p:sp>
        <p:nvSpPr>
          <p:cNvPr id="9" name="文本框 8"/>
          <p:cNvSpPr txBox="1"/>
          <p:nvPr/>
        </p:nvSpPr>
        <p:spPr>
          <a:xfrm>
            <a:off x="1617663" y="3638550"/>
            <a:ext cx="6070600" cy="708025"/>
          </a:xfrm>
          <a:prstGeom prst="rect">
            <a:avLst/>
          </a:prstGeom>
          <a:solidFill>
            <a:schemeClr val="bg1"/>
          </a:solidFill>
          <a:ln w="15875">
            <a:solidFill>
              <a:srgbClr val="FFFF00"/>
            </a:solidFill>
          </a:ln>
        </p:spPr>
        <p:txBody>
          <a:bodyPr>
            <a:spAutoFit/>
          </a:bodyPr>
          <a:lstStyle/>
          <a:p>
            <a:pPr>
              <a:defRPr/>
            </a:pPr>
            <a:r>
              <a:rPr lang="zh-CN" altLang="en-US" sz="2000" dirty="0">
                <a:solidFill>
                  <a:schemeClr val="accent2">
                    <a:lumMod val="40000"/>
                    <a:lumOff val="60000"/>
                  </a:schemeClr>
                </a:solidFill>
              </a:rPr>
              <a:t>最大公因数在带余除法中有一个比较好的性质，在这里加以介绍</a:t>
            </a:r>
          </a:p>
        </p:txBody>
      </p:sp>
      <p:pic>
        <p:nvPicPr>
          <p:cNvPr id="20490" name="图片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14450" y="4527550"/>
            <a:ext cx="6677025"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a:spLocks noRot="1" noChangeAspect="1" noMove="1" noResize="1" noEditPoints="1" noAdjustHandles="1" noChangeArrowheads="1" noChangeShapeType="1" noTextEdit="1"/>
          </p:cNvSpPr>
          <p:nvPr/>
        </p:nvSpPr>
        <p:spPr>
          <a:xfrm>
            <a:off x="2312886" y="5967768"/>
            <a:ext cx="4680520" cy="338554"/>
          </a:xfrm>
          <a:prstGeom prst="rect">
            <a:avLst/>
          </a:prstGeom>
          <a:blipFill rotWithShape="0">
            <a:blip r:embed="rId6"/>
            <a:stretch>
              <a:fillRect l="-651" t="-7143" b="-19643"/>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F844E046-431C-4FDB-BB5B-F8EC911527A0}" type="slidenum">
              <a:rPr lang="en-US" altLang="zh-CN"/>
              <a:pPr>
                <a:defRPr/>
              </a:pPr>
              <a:t>22</a:t>
            </a:fld>
            <a:endParaRPr lang="en-US" altLang="zh-CN"/>
          </a:p>
        </p:txBody>
      </p:sp>
      <p:sp>
        <p:nvSpPr>
          <p:cNvPr id="21509" name="Text Box 2"/>
          <p:cNvSpPr txBox="1">
            <a:spLocks noChangeArrowheads="1"/>
          </p:cNvSpPr>
          <p:nvPr/>
        </p:nvSpPr>
        <p:spPr bwMode="auto">
          <a:xfrm>
            <a:off x="1403350" y="765175"/>
            <a:ext cx="62642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例题</a:t>
            </a:r>
          </a:p>
        </p:txBody>
      </p:sp>
      <p:pic>
        <p:nvPicPr>
          <p:cNvPr id="2151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1600" y="3717032"/>
            <a:ext cx="7677084" cy="207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385020" y="1951038"/>
            <a:ext cx="6120680" cy="1200329"/>
          </a:xfrm>
          <a:prstGeom prst="rect">
            <a:avLst/>
          </a:prstGeom>
          <a:blipFill rotWithShape="0">
            <a:blip r:embed="rId5"/>
            <a:stretch>
              <a:fillRect/>
            </a:stretch>
          </a:blipFill>
          <a:effectLst>
            <a:glow rad="63500">
              <a:schemeClr val="accent2">
                <a:satMod val="175000"/>
                <a:alpha val="40000"/>
              </a:schemeClr>
            </a:glow>
            <a:outerShdw blurRad="50800" dist="38100" algn="l" rotWithShape="0">
              <a:prstClr val="black">
                <a:alpha val="40000"/>
              </a:prstClr>
            </a:outerShdw>
          </a:effectLst>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a:xfrm>
            <a:off x="684213" y="6400800"/>
            <a:ext cx="1905000" cy="457200"/>
          </a:xfrm>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768E2598-9FC2-4D13-A46B-96A94E68D7E0}" type="slidenum">
              <a:rPr lang="en-US" altLang="zh-CN"/>
              <a:pPr>
                <a:defRPr/>
              </a:pPr>
              <a:t>23</a:t>
            </a:fld>
            <a:endParaRPr lang="en-US" altLang="zh-CN"/>
          </a:p>
        </p:txBody>
      </p:sp>
      <p:sp>
        <p:nvSpPr>
          <p:cNvPr id="22533" name="Text Box 2"/>
          <p:cNvSpPr txBox="1">
            <a:spLocks noChangeArrowheads="1"/>
          </p:cNvSpPr>
          <p:nvPr/>
        </p:nvSpPr>
        <p:spPr bwMode="auto">
          <a:xfrm>
            <a:off x="1187450" y="765175"/>
            <a:ext cx="662463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辗转相除法</a:t>
            </a:r>
          </a:p>
        </p:txBody>
      </p:sp>
      <p:pic>
        <p:nvPicPr>
          <p:cNvPr id="2253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0513"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文本框 1"/>
          <p:cNvSpPr txBox="1">
            <a:spLocks noChangeArrowheads="1"/>
          </p:cNvSpPr>
          <p:nvPr/>
        </p:nvSpPr>
        <p:spPr bwMode="auto">
          <a:xfrm>
            <a:off x="1258888" y="2205038"/>
            <a:ext cx="676910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latin typeface="黑体" panose="02010609060101010101" pitchFamily="49" charset="-122"/>
              <a:ea typeface="黑体" panose="02010609060101010101" pitchFamily="49" charset="-122"/>
            </a:endParaRPr>
          </a:p>
        </p:txBody>
      </p:sp>
      <p:sp>
        <p:nvSpPr>
          <p:cNvPr id="22536" name="流程图: 资料带 2"/>
          <p:cNvSpPr>
            <a:spLocks noChangeArrowheads="1"/>
          </p:cNvSpPr>
          <p:nvPr/>
        </p:nvSpPr>
        <p:spPr bwMode="auto">
          <a:xfrm>
            <a:off x="250825" y="1773238"/>
            <a:ext cx="5473700" cy="3933825"/>
          </a:xfrm>
          <a:prstGeom prst="flowChartPunchedTape">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22537" name="文本框 3"/>
          <p:cNvSpPr txBox="1">
            <a:spLocks noChangeArrowheads="1"/>
          </p:cNvSpPr>
          <p:nvPr/>
        </p:nvSpPr>
        <p:spPr bwMode="auto">
          <a:xfrm>
            <a:off x="323850" y="2765425"/>
            <a:ext cx="532765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latin typeface="黑体" panose="02010609060101010101" pitchFamily="49" charset="-122"/>
                <a:ea typeface="黑体" panose="02010609060101010101" pitchFamily="49" charset="-122"/>
              </a:rPr>
              <a:t>辗转相除法是一种古老的算法，在国际上也称为欧几里得算法，起初源于欧几里得</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几何原本</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第</a:t>
            </a:r>
            <a:r>
              <a:rPr lang="en-US" altLang="zh-CN">
                <a:latin typeface="黑体" panose="02010609060101010101" pitchFamily="49" charset="-122"/>
                <a:ea typeface="黑体" panose="02010609060101010101" pitchFamily="49" charset="-122"/>
              </a:rPr>
              <a:t>Ⅶ</a:t>
            </a:r>
            <a:r>
              <a:rPr lang="zh-CN" altLang="en-US">
                <a:latin typeface="黑体" panose="02010609060101010101" pitchFamily="49" charset="-122"/>
                <a:ea typeface="黑体" panose="02010609060101010101" pitchFamily="49" charset="-122"/>
              </a:rPr>
              <a:t>卷命题</a:t>
            </a:r>
            <a:r>
              <a:rPr lang="en-US" altLang="zh-CN">
                <a:latin typeface="黑体" panose="02010609060101010101" pitchFamily="49" charset="-122"/>
                <a:ea typeface="黑体" panose="02010609060101010101" pitchFamily="49" charset="-122"/>
              </a:rPr>
              <a:t>Ⅰ</a:t>
            </a:r>
            <a:r>
              <a:rPr lang="zh-CN" altLang="en-US">
                <a:latin typeface="黑体" panose="02010609060101010101" pitchFamily="49" charset="-122"/>
                <a:ea typeface="黑体" panose="02010609060101010101" pitchFamily="49" charset="-122"/>
              </a:rPr>
              <a:t>，在中国也称为更相减损术，最初来源于</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九章算术</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方田</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第六题。</a:t>
            </a:r>
          </a:p>
        </p:txBody>
      </p:sp>
      <p:pic>
        <p:nvPicPr>
          <p:cNvPr id="22538" name="图片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40538" y="4208463"/>
            <a:ext cx="1617662"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9" name="图片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516688" y="1920875"/>
            <a:ext cx="2263775"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a:xfrm>
            <a:off x="684213" y="6400800"/>
            <a:ext cx="1905000" cy="457200"/>
          </a:xfrm>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BCA576DB-E3EA-4344-B750-A6845DD77619}" type="slidenum">
              <a:rPr lang="en-US" altLang="zh-CN"/>
              <a:pPr>
                <a:defRPr/>
              </a:pPr>
              <a:t>24</a:t>
            </a:fld>
            <a:endParaRPr lang="en-US" altLang="zh-CN"/>
          </a:p>
        </p:txBody>
      </p:sp>
      <p:sp>
        <p:nvSpPr>
          <p:cNvPr id="23557" name="Text Box 2"/>
          <p:cNvSpPr txBox="1">
            <a:spLocks noChangeArrowheads="1"/>
          </p:cNvSpPr>
          <p:nvPr/>
        </p:nvSpPr>
        <p:spPr bwMode="auto">
          <a:xfrm>
            <a:off x="1468438" y="930275"/>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辗转相除法</a:t>
            </a:r>
          </a:p>
        </p:txBody>
      </p:sp>
      <p:pic>
        <p:nvPicPr>
          <p:cNvPr id="2355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矩形 3"/>
          <p:cNvSpPr>
            <a:spLocks noChangeArrowheads="1"/>
          </p:cNvSpPr>
          <p:nvPr/>
        </p:nvSpPr>
        <p:spPr bwMode="auto">
          <a:xfrm>
            <a:off x="539750" y="3014663"/>
            <a:ext cx="5481638" cy="223202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2" name="文本框 1"/>
          <p:cNvSpPr txBox="1"/>
          <p:nvPr/>
        </p:nvSpPr>
        <p:spPr>
          <a:xfrm>
            <a:off x="539552" y="2589517"/>
            <a:ext cx="5760640" cy="2785378"/>
          </a:xfrm>
          <a:prstGeom prst="rect">
            <a:avLst/>
          </a:prstGeom>
          <a:noFill/>
          <a:effectLst/>
        </p:spPr>
        <p:txBody>
          <a:bodyPr>
            <a:spAutoFit/>
          </a:bodyPr>
          <a:lstStyle/>
          <a:p>
            <a:pPr>
              <a:lnSpc>
                <a:spcPts val="3000"/>
              </a:lnSpc>
              <a:defRPr/>
            </a:pPr>
            <a:r>
              <a:rPr lang="zh-CN" altLang="zh-CN" sz="2000" dirty="0">
                <a:solidFill>
                  <a:srgbClr val="CC6600"/>
                </a:solidFill>
                <a:effectLst>
                  <a:glow rad="63500">
                    <a:srgbClr val="FFFF00">
                      <a:alpha val="40000"/>
                    </a:srgbClr>
                  </a:glow>
                </a:effectLst>
              </a:rPr>
              <a:t>辗转相除法步骤</a:t>
            </a:r>
            <a:r>
              <a:rPr lang="en-US" altLang="zh-CN" sz="2000" dirty="0">
                <a:solidFill>
                  <a:srgbClr val="CC6600"/>
                </a:solidFill>
                <a:effectLst>
                  <a:glow rad="63500">
                    <a:srgbClr val="FFFF00">
                      <a:alpha val="40000"/>
                    </a:srgbClr>
                  </a:glow>
                </a:effectLst>
              </a:rPr>
              <a:t>:</a:t>
            </a:r>
            <a:endParaRPr lang="zh-CN" altLang="zh-CN" sz="2000" dirty="0">
              <a:solidFill>
                <a:srgbClr val="CC6600"/>
              </a:solidFill>
              <a:effectLst>
                <a:glow rad="63500">
                  <a:srgbClr val="FFFF00">
                    <a:alpha val="40000"/>
                  </a:srgbClr>
                </a:glow>
              </a:effectLst>
            </a:endParaRPr>
          </a:p>
          <a:p>
            <a:pPr marL="342900" indent="-342900">
              <a:lnSpc>
                <a:spcPts val="3000"/>
              </a:lnSpc>
              <a:buFont typeface="Wingdings" panose="05000000000000000000" pitchFamily="2" charset="2"/>
              <a:buChar char="Ø"/>
              <a:defRPr/>
            </a:pPr>
            <a:r>
              <a:rPr lang="zh-CN" altLang="zh-CN" sz="2000" dirty="0"/>
              <a:t>第一步</a:t>
            </a:r>
            <a:r>
              <a:rPr lang="en-US" altLang="zh-CN" sz="2000" dirty="0"/>
              <a:t>: </a:t>
            </a:r>
            <a:r>
              <a:rPr lang="zh-CN" altLang="zh-CN" sz="2000" dirty="0"/>
              <a:t>输入两个正整数</a:t>
            </a:r>
            <a:r>
              <a:rPr lang="en-US" altLang="zh-CN" sz="2000" dirty="0" err="1"/>
              <a:t>m,n</a:t>
            </a:r>
            <a:r>
              <a:rPr lang="en-US" altLang="zh-CN" sz="2000" dirty="0"/>
              <a:t>(m&gt;n) ;</a:t>
            </a:r>
            <a:endParaRPr lang="zh-CN" altLang="zh-CN" sz="2000" dirty="0"/>
          </a:p>
          <a:p>
            <a:pPr marL="342900" indent="-342900">
              <a:lnSpc>
                <a:spcPts val="3000"/>
              </a:lnSpc>
              <a:buFont typeface="Wingdings" panose="05000000000000000000" pitchFamily="2" charset="2"/>
              <a:buChar char="Ø"/>
              <a:defRPr/>
            </a:pPr>
            <a:r>
              <a:rPr lang="zh-CN" altLang="zh-CN" sz="2000" dirty="0"/>
              <a:t>第二步</a:t>
            </a:r>
            <a:r>
              <a:rPr lang="en-US" altLang="zh-CN" sz="2000" dirty="0"/>
              <a:t>: </a:t>
            </a:r>
            <a:r>
              <a:rPr lang="zh-CN" altLang="zh-CN" sz="2000" dirty="0"/>
              <a:t>计算</a:t>
            </a:r>
            <a:r>
              <a:rPr lang="en-US" altLang="zh-CN" sz="2000" dirty="0"/>
              <a:t>m</a:t>
            </a:r>
            <a:r>
              <a:rPr lang="zh-CN" altLang="zh-CN" sz="2000" dirty="0"/>
              <a:t>除以</a:t>
            </a:r>
            <a:r>
              <a:rPr lang="en-US" altLang="zh-CN" sz="2000" dirty="0"/>
              <a:t>n</a:t>
            </a:r>
            <a:r>
              <a:rPr lang="zh-CN" altLang="zh-CN" sz="2000" dirty="0"/>
              <a:t>所得的余数</a:t>
            </a:r>
            <a:r>
              <a:rPr lang="en-US" altLang="zh-CN" sz="2000" dirty="0"/>
              <a:t>r;</a:t>
            </a:r>
            <a:endParaRPr lang="zh-CN" altLang="zh-CN" sz="2000" dirty="0"/>
          </a:p>
          <a:p>
            <a:pPr marL="342900" indent="-342900">
              <a:lnSpc>
                <a:spcPts val="3000"/>
              </a:lnSpc>
              <a:buFont typeface="Wingdings" panose="05000000000000000000" pitchFamily="2" charset="2"/>
              <a:buChar char="Ø"/>
              <a:defRPr/>
            </a:pPr>
            <a:r>
              <a:rPr lang="zh-CN" altLang="zh-CN" sz="2000" dirty="0"/>
              <a:t>第三步</a:t>
            </a:r>
            <a:r>
              <a:rPr lang="en-US" altLang="zh-CN" sz="2000" dirty="0"/>
              <a:t>:  m=n n=r;</a:t>
            </a:r>
            <a:endParaRPr lang="zh-CN" altLang="zh-CN" sz="2000" dirty="0"/>
          </a:p>
          <a:p>
            <a:pPr marL="342900" indent="-342900">
              <a:lnSpc>
                <a:spcPts val="3000"/>
              </a:lnSpc>
              <a:buFont typeface="Wingdings" panose="05000000000000000000" pitchFamily="2" charset="2"/>
              <a:buChar char="Ø"/>
              <a:defRPr/>
            </a:pPr>
            <a:r>
              <a:rPr lang="zh-CN" altLang="zh-CN" sz="2000" dirty="0"/>
              <a:t>第四步</a:t>
            </a:r>
            <a:r>
              <a:rPr lang="en-US" altLang="zh-CN" sz="2000" dirty="0"/>
              <a:t>: </a:t>
            </a:r>
            <a:r>
              <a:rPr lang="zh-CN" altLang="zh-CN" sz="2000" dirty="0"/>
              <a:t>若</a:t>
            </a:r>
            <a:r>
              <a:rPr lang="en-US" altLang="zh-CN" sz="2000" dirty="0"/>
              <a:t>r= 0,</a:t>
            </a:r>
            <a:r>
              <a:rPr lang="zh-CN" altLang="zh-CN" sz="2000" dirty="0"/>
              <a:t>则</a:t>
            </a:r>
            <a:r>
              <a:rPr lang="en-US" altLang="zh-CN" sz="2000" dirty="0"/>
              <a:t> </a:t>
            </a:r>
            <a:r>
              <a:rPr lang="en-US" altLang="zh-CN" sz="2000" dirty="0" err="1"/>
              <a:t>m,n</a:t>
            </a:r>
            <a:r>
              <a:rPr lang="zh-CN" altLang="zh-CN" sz="2000" dirty="0"/>
              <a:t>的最大公约数等于</a:t>
            </a:r>
            <a:r>
              <a:rPr lang="en-US" altLang="zh-CN" sz="2000" dirty="0"/>
              <a:t>m;</a:t>
            </a:r>
            <a:r>
              <a:rPr lang="zh-CN" altLang="zh-CN" sz="2000" dirty="0"/>
              <a:t>否则转到第二步</a:t>
            </a:r>
            <a:r>
              <a:rPr lang="en-US" altLang="zh-CN" sz="2000" dirty="0"/>
              <a:t>;</a:t>
            </a:r>
            <a:endParaRPr lang="zh-CN" altLang="zh-CN" sz="2000" dirty="0"/>
          </a:p>
          <a:p>
            <a:pPr marL="342900" indent="-342900">
              <a:lnSpc>
                <a:spcPts val="3000"/>
              </a:lnSpc>
              <a:buFont typeface="Wingdings" panose="05000000000000000000" pitchFamily="2" charset="2"/>
              <a:buChar char="Ø"/>
              <a:defRPr/>
            </a:pPr>
            <a:r>
              <a:rPr lang="zh-CN" altLang="zh-CN" sz="2000" dirty="0"/>
              <a:t>第五步</a:t>
            </a:r>
            <a:r>
              <a:rPr lang="en-US" altLang="zh-CN" sz="2000" dirty="0"/>
              <a:t>: </a:t>
            </a:r>
            <a:r>
              <a:rPr lang="zh-CN" altLang="zh-CN" sz="2000" dirty="0"/>
              <a:t>输出最大公约数</a:t>
            </a:r>
            <a:r>
              <a:rPr lang="en-US" altLang="zh-CN" sz="2000" dirty="0"/>
              <a:t>m</a:t>
            </a:r>
            <a:r>
              <a:rPr lang="zh-CN" altLang="zh-CN" sz="2000" dirty="0"/>
              <a:t>。</a:t>
            </a:r>
            <a:endParaRPr lang="zh-CN" altLang="en-US" dirty="0"/>
          </a:p>
        </p:txBody>
      </p:sp>
      <p:pic>
        <p:nvPicPr>
          <p:cNvPr id="23561" name="图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97600" y="3014663"/>
            <a:ext cx="301942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6019800" y="2564904"/>
            <a:ext cx="2800672" cy="769441"/>
          </a:xfrm>
          <a:prstGeom prst="rect">
            <a:avLst/>
          </a:prstGeom>
          <a:noFill/>
        </p:spPr>
        <p:txBody>
          <a:bodyPr>
            <a:spAutoFit/>
          </a:bodyPr>
          <a:lstStyle/>
          <a:p>
            <a:pPr>
              <a:defRPr/>
            </a:pPr>
            <a:r>
              <a:rPr lang="zh-CN" altLang="en-US" sz="2000" dirty="0">
                <a:solidFill>
                  <a:srgbClr val="CC6600"/>
                </a:solidFill>
                <a:effectLst>
                  <a:glow rad="63500">
                    <a:srgbClr val="FFFF00">
                      <a:alpha val="40000"/>
                    </a:srgbClr>
                  </a:glow>
                </a:effectLst>
              </a:rPr>
              <a:t>用程序框图表示出来</a:t>
            </a:r>
            <a:r>
              <a:rPr lang="en-US" altLang="zh-CN" sz="2000" dirty="0">
                <a:solidFill>
                  <a:srgbClr val="CC6600"/>
                </a:solidFill>
                <a:effectLst>
                  <a:glow rad="63500">
                    <a:srgbClr val="FFFF00">
                      <a:alpha val="40000"/>
                    </a:srgbClr>
                  </a:glow>
                </a:effectLst>
              </a:rPr>
              <a:t>:</a:t>
            </a:r>
            <a:endParaRPr lang="zh-CN" altLang="zh-CN" sz="2000" dirty="0">
              <a:solidFill>
                <a:srgbClr val="CC6600"/>
              </a:solidFill>
              <a:effectLst>
                <a:glow rad="63500">
                  <a:srgbClr val="FFFF00">
                    <a:alpha val="40000"/>
                  </a:srgbClr>
                </a:glow>
              </a:effectLst>
            </a:endParaRPr>
          </a:p>
          <a:p>
            <a:pPr>
              <a:defRPr/>
            </a:pPr>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2C479668-0469-4CB1-B39A-57E5B7B02CF0}" type="slidenum">
              <a:rPr lang="en-US" altLang="zh-CN"/>
              <a:pPr>
                <a:defRPr/>
              </a:pPr>
              <a:t>25</a:t>
            </a:fld>
            <a:endParaRPr lang="en-US" altLang="zh-CN"/>
          </a:p>
        </p:txBody>
      </p:sp>
      <p:sp>
        <p:nvSpPr>
          <p:cNvPr id="24581" name="Text Box 2"/>
          <p:cNvSpPr txBox="1">
            <a:spLocks noChangeArrowheads="1"/>
          </p:cNvSpPr>
          <p:nvPr/>
        </p:nvSpPr>
        <p:spPr bwMode="auto">
          <a:xfrm>
            <a:off x="1539875" y="714375"/>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辗转相除法</a:t>
            </a:r>
          </a:p>
        </p:txBody>
      </p:sp>
      <p:pic>
        <p:nvPicPr>
          <p:cNvPr id="2458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9112" y="1826850"/>
            <a:ext cx="7953375"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图片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31639" y="3665175"/>
            <a:ext cx="6753121" cy="2644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9" name="页脚占位符 4"/>
          <p:cNvSpPr>
            <a:spLocks noGrp="1"/>
          </p:cNvSpPr>
          <p:nvPr>
            <p:ph type="ftr" sz="quarter" idx="11"/>
          </p:nvPr>
        </p:nvSpPr>
        <p:spPr/>
        <p:txBody>
          <a:bodyPr/>
          <a:lstStyle/>
          <a:p>
            <a:pPr>
              <a:defRPr/>
            </a:pPr>
            <a:r>
              <a:rPr lang="zh-CN" altLang="en-US"/>
              <a:t>计算机应用技术研究所</a:t>
            </a:r>
          </a:p>
        </p:txBody>
      </p:sp>
      <p:sp>
        <p:nvSpPr>
          <p:cNvPr id="10" name="灯片编号占位符 5"/>
          <p:cNvSpPr>
            <a:spLocks noGrp="1"/>
          </p:cNvSpPr>
          <p:nvPr>
            <p:ph type="sldNum" sz="quarter" idx="12"/>
          </p:nvPr>
        </p:nvSpPr>
        <p:spPr/>
        <p:txBody>
          <a:bodyPr/>
          <a:lstStyle/>
          <a:p>
            <a:pPr>
              <a:defRPr/>
            </a:pPr>
            <a:fld id="{9BFF6CB9-D40D-4FD0-B3C0-6C78DB93CF18}" type="slidenum">
              <a:rPr lang="en-US" altLang="zh-CN"/>
              <a:pPr>
                <a:defRPr/>
              </a:pPr>
              <a:t>26</a:t>
            </a:fld>
            <a:endParaRPr lang="en-US" altLang="zh-CN"/>
          </a:p>
        </p:txBody>
      </p:sp>
      <p:sp>
        <p:nvSpPr>
          <p:cNvPr id="25605" name="Text Box 2"/>
          <p:cNvSpPr txBox="1">
            <a:spLocks noChangeArrowheads="1"/>
          </p:cNvSpPr>
          <p:nvPr/>
        </p:nvSpPr>
        <p:spPr bwMode="auto">
          <a:xfrm>
            <a:off x="1539875" y="620713"/>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辗转相除法</a:t>
            </a:r>
          </a:p>
        </p:txBody>
      </p:sp>
      <p:pic>
        <p:nvPicPr>
          <p:cNvPr id="25606"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323553" y="2011938"/>
            <a:ext cx="6344493" cy="1209600"/>
          </a:xfrm>
          <a:prstGeom prst="rect">
            <a:avLst/>
          </a:prstGeom>
          <a:blipFill rotWithShape="0">
            <a:blip r:embed="rId5"/>
            <a:stretch>
              <a:fillRect/>
            </a:stretch>
          </a:blipFill>
          <a:ln w="15875">
            <a:solidFill>
              <a:schemeClr val="accent1"/>
            </a:solidFill>
            <a:prstDash val="dashDot"/>
          </a:ln>
          <a:effectLst>
            <a:glow rad="127000">
              <a:srgbClr val="0070C0"/>
            </a:glow>
          </a:effectLst>
        </p:spPr>
        <p:txBody>
          <a:bodyPr/>
          <a:lstStyle/>
          <a:p>
            <a:pPr>
              <a:defRPr/>
            </a:pPr>
            <a:r>
              <a:rPr lang="zh-CN" altLang="en-US">
                <a:noFill/>
              </a:rPr>
              <a:t> </a:t>
            </a:r>
          </a:p>
        </p:txBody>
      </p:sp>
      <p:pic>
        <p:nvPicPr>
          <p:cNvPr id="3" name="图片 2"/>
          <p:cNvPicPr>
            <a:picLocks noChangeAspect="1"/>
          </p:cNvPicPr>
          <p:nvPr/>
        </p:nvPicPr>
        <p:blipFill>
          <a:blip r:embed="rId6"/>
          <a:stretch>
            <a:fillRect/>
          </a:stretch>
        </p:blipFill>
        <p:spPr>
          <a:xfrm>
            <a:off x="107504" y="4574658"/>
            <a:ext cx="1333333" cy="428571"/>
          </a:xfrm>
          <a:prstGeom prst="rect">
            <a:avLst/>
          </a:prstGeom>
          <a:solidFill>
            <a:schemeClr val="tx1"/>
          </a:solidFill>
          <a:effectLst>
            <a:glow rad="139700">
              <a:srgbClr val="FF0000">
                <a:alpha val="40000"/>
              </a:srgbClr>
            </a:glow>
          </a:effectLst>
        </p:spPr>
      </p:pic>
      <p:sp>
        <p:nvSpPr>
          <p:cNvPr id="6" name="文本框 5"/>
          <p:cNvSpPr txBox="1">
            <a:spLocks noRot="1" noChangeAspect="1" noMove="1" noResize="1" noEditPoints="1" noAdjustHandles="1" noChangeArrowheads="1" noChangeShapeType="1" noTextEdit="1"/>
          </p:cNvSpPr>
          <p:nvPr/>
        </p:nvSpPr>
        <p:spPr>
          <a:xfrm>
            <a:off x="1539875" y="3698363"/>
            <a:ext cx="5965825" cy="2308324"/>
          </a:xfrm>
          <a:prstGeom prst="rect">
            <a:avLst/>
          </a:prstGeom>
          <a:blipFill rotWithShape="0">
            <a:blip r:embed="rId7"/>
            <a:stretch>
              <a:fillRect l="-1636" t="-2910" b="-5291"/>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982D4D09-4DBD-47A4-BBA6-BFBCCBF6C538}" type="slidenum">
              <a:rPr lang="en-US" altLang="zh-CN"/>
              <a:pPr>
                <a:defRPr/>
              </a:pPr>
              <a:t>27</a:t>
            </a:fld>
            <a:endParaRPr lang="en-US" altLang="zh-CN"/>
          </a:p>
        </p:txBody>
      </p:sp>
      <p:sp>
        <p:nvSpPr>
          <p:cNvPr id="27653" name="Text Box 2"/>
          <p:cNvSpPr txBox="1">
            <a:spLocks noChangeArrowheads="1"/>
          </p:cNvSpPr>
          <p:nvPr/>
        </p:nvSpPr>
        <p:spPr bwMode="auto">
          <a:xfrm>
            <a:off x="1547813" y="930275"/>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例题</a:t>
            </a:r>
          </a:p>
        </p:txBody>
      </p:sp>
      <p:pic>
        <p:nvPicPr>
          <p:cNvPr id="2765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062882"/>
            <a:ext cx="8282490" cy="704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89506" y="2857763"/>
            <a:ext cx="3325475" cy="608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7" name="图片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398246" y="3729905"/>
            <a:ext cx="1914525"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8" name="图片 8"/>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411413" y="4157662"/>
            <a:ext cx="5449163"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9" name="右箭头 9"/>
          <p:cNvSpPr>
            <a:spLocks noChangeArrowheads="1"/>
          </p:cNvSpPr>
          <p:nvPr/>
        </p:nvSpPr>
        <p:spPr bwMode="auto">
          <a:xfrm rot="-1832089">
            <a:off x="1122363" y="5011738"/>
            <a:ext cx="1296987" cy="236537"/>
          </a:xfrm>
          <a:prstGeom prst="rightArrow">
            <a:avLst>
              <a:gd name="adj1" fmla="val 50000"/>
              <a:gd name="adj2" fmla="val 87021"/>
            </a:avLst>
          </a:prstGeom>
          <a:solidFill>
            <a:srgbClr val="FF7C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27660" name="右箭头 13"/>
          <p:cNvSpPr>
            <a:spLocks noChangeArrowheads="1"/>
          </p:cNvSpPr>
          <p:nvPr/>
        </p:nvSpPr>
        <p:spPr bwMode="auto">
          <a:xfrm rot="-10130980">
            <a:off x="5719763" y="3189288"/>
            <a:ext cx="1624012" cy="207962"/>
          </a:xfrm>
          <a:prstGeom prst="rightArrow">
            <a:avLst>
              <a:gd name="adj1" fmla="val 50000"/>
              <a:gd name="adj2" fmla="val 87166"/>
            </a:avLst>
          </a:prstGeom>
          <a:solidFill>
            <a:srgbClr val="FF7C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11" name="文本框 10"/>
          <p:cNvSpPr txBox="1"/>
          <p:nvPr/>
        </p:nvSpPr>
        <p:spPr>
          <a:xfrm>
            <a:off x="7348538" y="3205163"/>
            <a:ext cx="1576387" cy="369887"/>
          </a:xfrm>
          <a:prstGeom prst="rect">
            <a:avLst/>
          </a:prstGeom>
          <a:solidFill>
            <a:schemeClr val="bg2">
              <a:lumMod val="60000"/>
              <a:lumOff val="40000"/>
            </a:schemeClr>
          </a:solidFill>
        </p:spPr>
        <p:txBody>
          <a:bodyPr>
            <a:spAutoFit/>
          </a:bodyPr>
          <a:lstStyle/>
          <a:p>
            <a:pPr>
              <a:defRPr/>
            </a:pPr>
            <a:r>
              <a:rPr lang="zh-CN" altLang="en-US" sz="1800" dirty="0">
                <a:effectLst>
                  <a:outerShdw blurRad="38100" dist="38100" dir="2700000" algn="tl">
                    <a:srgbClr val="000000">
                      <a:alpha val="43137"/>
                    </a:srgbClr>
                  </a:outerShdw>
                </a:effectLst>
                <a:latin typeface="华文行楷" panose="02010800040101010101" pitchFamily="2" charset="-122"/>
                <a:ea typeface="华文行楷" panose="02010800040101010101" pitchFamily="2" charset="-122"/>
              </a:rPr>
              <a:t>做辗转相除法</a:t>
            </a:r>
          </a:p>
        </p:txBody>
      </p:sp>
      <p:sp>
        <p:nvSpPr>
          <p:cNvPr id="16" name="文本框 15"/>
          <p:cNvSpPr txBox="1"/>
          <p:nvPr/>
        </p:nvSpPr>
        <p:spPr>
          <a:xfrm>
            <a:off x="365125" y="5584825"/>
            <a:ext cx="1576388" cy="369888"/>
          </a:xfrm>
          <a:prstGeom prst="rect">
            <a:avLst/>
          </a:prstGeom>
          <a:solidFill>
            <a:schemeClr val="bg2">
              <a:lumMod val="60000"/>
              <a:lumOff val="40000"/>
            </a:schemeClr>
          </a:solidFill>
        </p:spPr>
        <p:txBody>
          <a:bodyPr>
            <a:spAutoFit/>
          </a:bodyPr>
          <a:lstStyle/>
          <a:p>
            <a:pPr>
              <a:defRPr/>
            </a:pPr>
            <a:r>
              <a:rPr lang="zh-CN" altLang="en-US" sz="1800" dirty="0">
                <a:effectLst>
                  <a:outerShdw blurRad="38100" dist="38100" dir="2700000" algn="tl">
                    <a:srgbClr val="000000">
                      <a:alpha val="43137"/>
                    </a:srgbClr>
                  </a:outerShdw>
                </a:effectLst>
                <a:latin typeface="华文行楷" panose="02010800040101010101" pitchFamily="2" charset="-122"/>
                <a:ea typeface="华文行楷" panose="02010800040101010101" pitchFamily="2" charset="-122"/>
              </a:rPr>
              <a:t>从后向前迭代</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9" name="页脚占位符 4"/>
          <p:cNvSpPr>
            <a:spLocks noGrp="1"/>
          </p:cNvSpPr>
          <p:nvPr>
            <p:ph type="ftr" sz="quarter" idx="11"/>
          </p:nvPr>
        </p:nvSpPr>
        <p:spPr/>
        <p:txBody>
          <a:bodyPr/>
          <a:lstStyle/>
          <a:p>
            <a:pPr>
              <a:defRPr/>
            </a:pPr>
            <a:r>
              <a:rPr lang="zh-CN" altLang="en-US"/>
              <a:t>计算机应用技术研究所</a:t>
            </a:r>
          </a:p>
        </p:txBody>
      </p:sp>
      <p:sp>
        <p:nvSpPr>
          <p:cNvPr id="10" name="灯片编号占位符 5"/>
          <p:cNvSpPr>
            <a:spLocks noGrp="1"/>
          </p:cNvSpPr>
          <p:nvPr>
            <p:ph type="sldNum" sz="quarter" idx="12"/>
          </p:nvPr>
        </p:nvSpPr>
        <p:spPr/>
        <p:txBody>
          <a:bodyPr/>
          <a:lstStyle/>
          <a:p>
            <a:pPr>
              <a:defRPr/>
            </a:pPr>
            <a:fld id="{79022A10-BADB-49BD-9F1B-962E88CFF887}" type="slidenum">
              <a:rPr lang="en-US" altLang="zh-CN"/>
              <a:pPr>
                <a:defRPr/>
              </a:pPr>
              <a:t>28</a:t>
            </a:fld>
            <a:endParaRPr lang="en-US" altLang="zh-CN"/>
          </a:p>
        </p:txBody>
      </p:sp>
      <p:sp>
        <p:nvSpPr>
          <p:cNvPr id="28677" name="Text Box 2"/>
          <p:cNvSpPr txBox="1">
            <a:spLocks noChangeArrowheads="1"/>
          </p:cNvSpPr>
          <p:nvPr/>
        </p:nvSpPr>
        <p:spPr bwMode="auto">
          <a:xfrm>
            <a:off x="1547813" y="642938"/>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辗转相除法</a:t>
            </a:r>
          </a:p>
        </p:txBody>
      </p:sp>
      <p:pic>
        <p:nvPicPr>
          <p:cNvPr id="2867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Rectangle 5"/>
          <p:cNvSpPr>
            <a:spLocks noGrp="1" noChangeArrowheads="1"/>
          </p:cNvSpPr>
          <p:nvPr>
            <p:ph type="body" idx="1"/>
          </p:nvPr>
        </p:nvSpPr>
        <p:spPr>
          <a:xfrm>
            <a:off x="939800" y="1844675"/>
            <a:ext cx="7127875" cy="1581150"/>
          </a:xfrm>
          <a:solidFill>
            <a:schemeClr val="bg1"/>
          </a:solidFill>
          <a:ln w="38100">
            <a:solidFill>
              <a:schemeClr val="bg2"/>
            </a:solidFill>
            <a:miter lim="800000"/>
            <a:headEnd/>
            <a:tailEnd/>
          </a:ln>
        </p:spPr>
        <p:txBody>
          <a:bodyPr>
            <a:spAutoFit/>
          </a:bodyPr>
          <a:lstStyle/>
          <a:p>
            <a:pPr marL="0" indent="0" eaLnBrk="1" hangingPunct="1">
              <a:lnSpc>
                <a:spcPct val="125000"/>
              </a:lnSpc>
              <a:buFontTx/>
              <a:buNone/>
              <a:defRPr/>
            </a:pPr>
            <a:r>
              <a:rPr lang="zh-CN" altLang="en-US" sz="1800" dirty="0">
                <a:effectLst/>
                <a:latin typeface="华文琥珀" panose="02010800040101010101" pitchFamily="2" charset="-122"/>
                <a:ea typeface="华文琥珀" panose="02010800040101010101" pitchFamily="2" charset="-122"/>
              </a:rPr>
              <a:t>上述定理表明</a:t>
            </a:r>
            <a:r>
              <a:rPr lang="zh-CN" altLang="en-US" sz="1800" dirty="0" smtClean="0">
                <a:effectLst/>
                <a:latin typeface="华文琥珀" panose="02010800040101010101" pitchFamily="2" charset="-122"/>
                <a:ea typeface="华文琥珀" panose="02010800040101010101" pitchFamily="2" charset="-122"/>
              </a:rPr>
              <a:t>，整数 </a:t>
            </a:r>
            <a:r>
              <a:rPr lang="en-US" altLang="zh-CN" sz="1800" i="1" dirty="0">
                <a:solidFill>
                  <a:schemeClr val="accent2"/>
                </a:solidFill>
                <a:effectLst/>
                <a:latin typeface="华文琥珀" panose="02010800040101010101" pitchFamily="2" charset="-122"/>
                <a:ea typeface="华文琥珀" panose="02010800040101010101" pitchFamily="2" charset="-122"/>
              </a:rPr>
              <a:t>a </a:t>
            </a:r>
            <a:r>
              <a:rPr lang="zh-CN" altLang="en-US" sz="1800" dirty="0">
                <a:solidFill>
                  <a:schemeClr val="accent2"/>
                </a:solidFill>
                <a:effectLst/>
                <a:latin typeface="华文琥珀" panose="02010800040101010101" pitchFamily="2" charset="-122"/>
                <a:ea typeface="华文琥珀" panose="02010800040101010101" pitchFamily="2" charset="-122"/>
              </a:rPr>
              <a:t>和 </a:t>
            </a:r>
            <a:r>
              <a:rPr lang="en-US" altLang="zh-CN" sz="1800" i="1" dirty="0">
                <a:solidFill>
                  <a:schemeClr val="accent2"/>
                </a:solidFill>
                <a:effectLst/>
                <a:latin typeface="华文琥珀" panose="02010800040101010101" pitchFamily="2" charset="-122"/>
                <a:ea typeface="华文琥珀" panose="02010800040101010101" pitchFamily="2" charset="-122"/>
              </a:rPr>
              <a:t>b </a:t>
            </a:r>
            <a:r>
              <a:rPr lang="zh-CN" altLang="en-US" sz="1800" dirty="0">
                <a:solidFill>
                  <a:schemeClr val="accent2"/>
                </a:solidFill>
                <a:effectLst/>
                <a:latin typeface="华文琥珀" panose="02010800040101010101" pitchFamily="2" charset="-122"/>
                <a:ea typeface="华文琥珀" panose="02010800040101010101" pitchFamily="2" charset="-122"/>
              </a:rPr>
              <a:t>的最大公因数可以表示为它们的</a:t>
            </a:r>
            <a:r>
              <a:rPr lang="zh-CN" altLang="en-US" sz="1800" dirty="0" smtClean="0">
                <a:solidFill>
                  <a:schemeClr val="accent2"/>
                </a:solidFill>
                <a:effectLst/>
                <a:latin typeface="华文琥珀" panose="02010800040101010101" pitchFamily="2" charset="-122"/>
                <a:ea typeface="华文琥珀" panose="02010800040101010101" pitchFamily="2" charset="-122"/>
              </a:rPr>
              <a:t>一个</a:t>
            </a:r>
            <a:r>
              <a:rPr lang="zh-CN" altLang="en-US" sz="1800" dirty="0" smtClean="0">
                <a:solidFill>
                  <a:srgbClr val="C00000"/>
                </a:solidFill>
                <a:effectLst/>
                <a:latin typeface="华文琥珀" panose="02010800040101010101" pitchFamily="2" charset="-122"/>
                <a:ea typeface="华文琥珀" panose="02010800040101010101" pitchFamily="2" charset="-122"/>
              </a:rPr>
              <a:t>线性组合</a:t>
            </a:r>
            <a:r>
              <a:rPr lang="zh-CN" altLang="en-US" sz="1800" dirty="0" smtClean="0">
                <a:effectLst/>
                <a:latin typeface="华文琥珀" panose="02010800040101010101" pitchFamily="2" charset="-122"/>
                <a:ea typeface="华文琥珀" panose="02010800040101010101" pitchFamily="2" charset="-122"/>
              </a:rPr>
              <a:t>。这</a:t>
            </a:r>
            <a:r>
              <a:rPr lang="zh-CN" altLang="en-US" sz="1800" dirty="0">
                <a:effectLst/>
                <a:latin typeface="华文琥珀" panose="02010800040101010101" pitchFamily="2" charset="-122"/>
                <a:ea typeface="华文琥珀" panose="02010800040101010101" pitchFamily="2" charset="-122"/>
              </a:rPr>
              <a:t>就给出</a:t>
            </a:r>
            <a:r>
              <a:rPr lang="zh-CN" altLang="en-US" sz="1800" dirty="0" smtClean="0">
                <a:effectLst/>
                <a:latin typeface="华文琥珀" panose="02010800040101010101" pitchFamily="2" charset="-122"/>
                <a:ea typeface="华文琥珀" panose="02010800040101010101" pitchFamily="2" charset="-122"/>
              </a:rPr>
              <a:t>了最</a:t>
            </a:r>
            <a:r>
              <a:rPr lang="zh-CN" altLang="en-US" sz="1800" dirty="0">
                <a:effectLst/>
                <a:latin typeface="华文琥珀" panose="02010800040101010101" pitchFamily="2" charset="-122"/>
                <a:ea typeface="华文琥珀" panose="02010800040101010101" pitchFamily="2" charset="-122"/>
              </a:rPr>
              <a:t>大公因式一种具体表达形式，这种表达形式对于考察最大公因数的性质具有非常重要的</a:t>
            </a:r>
            <a:r>
              <a:rPr lang="zh-CN" altLang="en-US" sz="1800" dirty="0" smtClean="0">
                <a:effectLst/>
                <a:latin typeface="华文琥珀" panose="02010800040101010101" pitchFamily="2" charset="-122"/>
                <a:ea typeface="华文琥珀" panose="02010800040101010101" pitchFamily="2" charset="-122"/>
              </a:rPr>
              <a:t>作用。例如，使用</a:t>
            </a:r>
            <a:r>
              <a:rPr lang="zh-CN" altLang="en-US" sz="1800" dirty="0">
                <a:effectLst/>
                <a:latin typeface="华文琥珀" panose="02010800040101010101" pitchFamily="2" charset="-122"/>
                <a:ea typeface="华文琥珀" panose="02010800040101010101" pitchFamily="2" charset="-122"/>
              </a:rPr>
              <a:t>上述线性组合表达式</a:t>
            </a:r>
            <a:r>
              <a:rPr lang="zh-CN" altLang="en-US" sz="1800" dirty="0" smtClean="0">
                <a:effectLst/>
                <a:latin typeface="华文琥珀" panose="02010800040101010101" pitchFamily="2" charset="-122"/>
                <a:ea typeface="华文琥珀" panose="02010800040101010101" pitchFamily="2" charset="-122"/>
              </a:rPr>
              <a:t>，可</a:t>
            </a:r>
            <a:r>
              <a:rPr lang="zh-CN" altLang="en-US" sz="1800" dirty="0">
                <a:effectLst/>
                <a:latin typeface="华文琥珀" panose="02010800040101010101" pitchFamily="2" charset="-122"/>
                <a:ea typeface="华文琥珀" panose="02010800040101010101" pitchFamily="2" charset="-122"/>
              </a:rPr>
              <a:t>得到最大公因数下述性质：</a:t>
            </a:r>
            <a:r>
              <a:rPr lang="zh-CN" altLang="en-US" sz="1800" dirty="0" smtClean="0">
                <a:latin typeface="华文琥珀" panose="02010800040101010101" pitchFamily="2" charset="-122"/>
                <a:ea typeface="华文琥珀" panose="02010800040101010101" pitchFamily="2" charset="-122"/>
              </a:rPr>
              <a:t> </a:t>
            </a:r>
            <a:r>
              <a:rPr lang="zh-CN" altLang="en-US" dirty="0" smtClean="0"/>
              <a:t/>
            </a:r>
            <a:br>
              <a:rPr lang="zh-CN" altLang="en-US" dirty="0" smtClean="0"/>
            </a:br>
            <a:endParaRPr lang="zh-CN" altLang="en-US" b="1" dirty="0" smtClean="0">
              <a:effectLst/>
              <a:latin typeface="黑体" panose="02010609060101010101" pitchFamily="49" charset="-122"/>
              <a:ea typeface="黑体" panose="02010609060101010101" pitchFamily="49" charset="-122"/>
            </a:endParaRPr>
          </a:p>
        </p:txBody>
      </p:sp>
      <p:pic>
        <p:nvPicPr>
          <p:cNvPr id="28680"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50938" y="3482975"/>
            <a:ext cx="67056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1" name="文本框 2"/>
          <p:cNvSpPr txBox="1">
            <a:spLocks noChangeArrowheads="1"/>
          </p:cNvSpPr>
          <p:nvPr/>
        </p:nvSpPr>
        <p:spPr bwMode="auto">
          <a:xfrm>
            <a:off x="1219200" y="5000625"/>
            <a:ext cx="6705600" cy="1322388"/>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600">
                <a:latin typeface="方正舒体" panose="02010601030101010101" pitchFamily="2" charset="-122"/>
                <a:ea typeface="方正舒体" panose="02010601030101010101" pitchFamily="2" charset="-122"/>
              </a:rPr>
              <a:t>现在我们举个例子对上述定理进行深入地了解。</a:t>
            </a:r>
            <a:endParaRPr lang="en-US" altLang="zh-CN" sz="1600">
              <a:latin typeface="方正舒体" panose="02010601030101010101" pitchFamily="2" charset="-122"/>
              <a:ea typeface="方正舒体" panose="02010601030101010101" pitchFamily="2" charset="-122"/>
            </a:endParaRPr>
          </a:p>
          <a:p>
            <a:pPr>
              <a:spcBef>
                <a:spcPct val="0"/>
              </a:spcBef>
              <a:buFontTx/>
              <a:buNone/>
            </a:pPr>
            <a:r>
              <a:rPr lang="zh-CN" altLang="en-US" sz="1600">
                <a:latin typeface="方正舒体" panose="02010601030101010101" pitchFamily="2" charset="-122"/>
                <a:ea typeface="方正舒体" panose="02010601030101010101" pitchFamily="2" charset="-122"/>
              </a:rPr>
              <a:t>例如，</a:t>
            </a:r>
            <a:r>
              <a:rPr lang="en-US" altLang="zh-CN" sz="1600">
                <a:latin typeface="方正舒体" panose="02010601030101010101" pitchFamily="2" charset="-122"/>
                <a:ea typeface="方正舒体" panose="02010601030101010101" pitchFamily="2" charset="-122"/>
              </a:rPr>
              <a:t>gcd(56,24)=8,</a:t>
            </a:r>
            <a:r>
              <a:rPr lang="zh-CN" altLang="en-US" sz="1600">
                <a:latin typeface="方正舒体" panose="02010601030101010101" pitchFamily="2" charset="-122"/>
                <a:ea typeface="方正舒体" panose="02010601030101010101" pitchFamily="2" charset="-122"/>
              </a:rPr>
              <a:t>因此有</a:t>
            </a:r>
            <a:r>
              <a:rPr lang="en-US" altLang="zh-CN" sz="1600">
                <a:latin typeface="方正舒体" panose="02010601030101010101" pitchFamily="2" charset="-122"/>
                <a:ea typeface="方正舒体" panose="02010601030101010101" pitchFamily="2" charset="-122"/>
              </a:rPr>
              <a:t>m=-1,n=2</a:t>
            </a:r>
            <a:r>
              <a:rPr lang="zh-CN" altLang="en-US" sz="1600">
                <a:latin typeface="方正舒体" panose="02010601030101010101" pitchFamily="2" charset="-122"/>
                <a:ea typeface="方正舒体" panose="02010601030101010101" pitchFamily="2" charset="-122"/>
              </a:rPr>
              <a:t>使得：</a:t>
            </a:r>
            <a:endParaRPr lang="en-US" altLang="zh-CN" sz="1600">
              <a:latin typeface="方正舒体" panose="02010601030101010101" pitchFamily="2" charset="-122"/>
              <a:ea typeface="方正舒体" panose="02010601030101010101" pitchFamily="2" charset="-122"/>
            </a:endParaRPr>
          </a:p>
          <a:p>
            <a:pPr algn="ctr">
              <a:spcBef>
                <a:spcPct val="0"/>
              </a:spcBef>
              <a:buFontTx/>
              <a:buNone/>
            </a:pPr>
            <a:r>
              <a:rPr lang="en-US" altLang="zh-CN" sz="1600">
                <a:latin typeface="方正舒体" panose="02010601030101010101" pitchFamily="2" charset="-122"/>
                <a:ea typeface="方正舒体" panose="02010601030101010101" pitchFamily="2" charset="-122"/>
              </a:rPr>
              <a:t>8=56</a:t>
            </a:r>
            <a:r>
              <a:rPr lang="zh-CN" altLang="en-US" sz="1600">
                <a:latin typeface="方正舒体" panose="02010601030101010101" pitchFamily="2" charset="-122"/>
                <a:ea typeface="方正舒体" panose="02010601030101010101" pitchFamily="2" charset="-122"/>
              </a:rPr>
              <a:t>*（</a:t>
            </a:r>
            <a:r>
              <a:rPr lang="en-US" altLang="zh-CN" sz="1600">
                <a:latin typeface="方正舒体" panose="02010601030101010101" pitchFamily="2" charset="-122"/>
                <a:ea typeface="方正舒体" panose="02010601030101010101" pitchFamily="2" charset="-122"/>
              </a:rPr>
              <a:t>-1</a:t>
            </a:r>
            <a:r>
              <a:rPr lang="zh-CN" altLang="en-US" sz="1600">
                <a:latin typeface="方正舒体" panose="02010601030101010101" pitchFamily="2" charset="-122"/>
                <a:ea typeface="方正舒体" panose="02010601030101010101" pitchFamily="2" charset="-122"/>
              </a:rPr>
              <a:t>）</a:t>
            </a:r>
            <a:r>
              <a:rPr lang="en-US" altLang="zh-CN" sz="1600">
                <a:latin typeface="方正舒体" panose="02010601030101010101" pitchFamily="2" charset="-122"/>
                <a:ea typeface="方正舒体" panose="02010601030101010101" pitchFamily="2" charset="-122"/>
              </a:rPr>
              <a:t>+24</a:t>
            </a:r>
            <a:r>
              <a:rPr lang="zh-CN" altLang="en-US" sz="1600">
                <a:latin typeface="方正舒体" panose="02010601030101010101" pitchFamily="2" charset="-122"/>
                <a:ea typeface="方正舒体" panose="02010601030101010101" pitchFamily="2" charset="-122"/>
              </a:rPr>
              <a:t>*</a:t>
            </a:r>
            <a:r>
              <a:rPr lang="en-US" altLang="zh-CN" sz="1600">
                <a:latin typeface="方正舒体" panose="02010601030101010101" pitchFamily="2" charset="-122"/>
                <a:ea typeface="方正舒体" panose="02010601030101010101" pitchFamily="2" charset="-122"/>
              </a:rPr>
              <a:t>2</a:t>
            </a:r>
          </a:p>
          <a:p>
            <a:pPr>
              <a:spcBef>
                <a:spcPct val="0"/>
              </a:spcBef>
              <a:buFontTx/>
              <a:buNone/>
            </a:pPr>
            <a:r>
              <a:rPr lang="zh-CN" altLang="en-US" sz="1600">
                <a:latin typeface="方正舒体" panose="02010601030101010101" pitchFamily="2" charset="-122"/>
                <a:ea typeface="方正舒体" panose="02010601030101010101" pitchFamily="2" charset="-122"/>
              </a:rPr>
              <a:t>通过这个例子我们可以看到，</a:t>
            </a:r>
            <a:r>
              <a:rPr lang="en-US" altLang="zh-CN" sz="1600">
                <a:latin typeface="方正舒体" panose="02010601030101010101" pitchFamily="2" charset="-122"/>
                <a:ea typeface="方正舒体" panose="02010601030101010101" pitchFamily="2" charset="-122"/>
              </a:rPr>
              <a:t>8</a:t>
            </a:r>
            <a:r>
              <a:rPr lang="zh-CN" altLang="en-US" sz="1600">
                <a:latin typeface="方正舒体" panose="02010601030101010101" pitchFamily="2" charset="-122"/>
                <a:ea typeface="方正舒体" panose="02010601030101010101" pitchFamily="2" charset="-122"/>
              </a:rPr>
              <a:t>不仅是</a:t>
            </a:r>
            <a:r>
              <a:rPr lang="en-US" altLang="zh-CN" sz="1600">
                <a:latin typeface="方正舒体" panose="02010601030101010101" pitchFamily="2" charset="-122"/>
                <a:ea typeface="方正舒体" panose="02010601030101010101" pitchFamily="2" charset="-122"/>
              </a:rPr>
              <a:t>56</a:t>
            </a:r>
            <a:r>
              <a:rPr lang="zh-CN" altLang="en-US" sz="1600">
                <a:latin typeface="方正舒体" panose="02010601030101010101" pitchFamily="2" charset="-122"/>
                <a:ea typeface="方正舒体" panose="02010601030101010101" pitchFamily="2" charset="-122"/>
              </a:rPr>
              <a:t>与</a:t>
            </a:r>
            <a:r>
              <a:rPr lang="en-US" altLang="zh-CN" sz="1600">
                <a:latin typeface="方正舒体" panose="02010601030101010101" pitchFamily="2" charset="-122"/>
                <a:ea typeface="方正舒体" panose="02010601030101010101" pitchFamily="2" charset="-122"/>
              </a:rPr>
              <a:t>24</a:t>
            </a:r>
            <a:r>
              <a:rPr lang="zh-CN" altLang="en-US" sz="1600">
                <a:latin typeface="方正舒体" panose="02010601030101010101" pitchFamily="2" charset="-122"/>
                <a:ea typeface="方正舒体" panose="02010601030101010101" pitchFamily="2" charset="-122"/>
              </a:rPr>
              <a:t>两个整数的最大公因数，也是这两个整数的所有因数的倍数，这才是这个定理所要告诉我们的地方。</a:t>
            </a:r>
            <a:endParaRPr lang="en-US" altLang="zh-CN" sz="1600">
              <a:latin typeface="方正舒体" panose="02010601030101010101" pitchFamily="2" charset="-122"/>
              <a:ea typeface="方正舒体" panose="02010601030101010101" pitchFamily="2" charset="-122"/>
            </a:endParaRPr>
          </a:p>
        </p:txBody>
      </p:sp>
      <p:pic>
        <p:nvPicPr>
          <p:cNvPr id="28682"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0500" y="5176838"/>
            <a:ext cx="925513"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1331913" y="858838"/>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互素的概念</a:t>
            </a:r>
            <a:endParaRPr lang="zh-CN" altLang="en-US" sz="4800" b="1">
              <a:solidFill>
                <a:schemeClr val="bg1"/>
              </a:solidFill>
              <a:latin typeface="宋体" panose="02010600030101010101" pitchFamily="2" charset="-122"/>
              <a:ea typeface="宋体" panose="02010600030101010101" pitchFamily="2" charset="-122"/>
            </a:endParaRPr>
          </a:p>
        </p:txBody>
      </p:sp>
      <p:pic>
        <p:nvPicPr>
          <p:cNvPr id="2969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403350" y="2133600"/>
            <a:ext cx="6264275" cy="1938338"/>
          </a:xfrm>
          <a:prstGeom prst="rect">
            <a:avLst/>
          </a:prstGeom>
          <a:solidFill>
            <a:schemeClr val="bg2">
              <a:lumMod val="60000"/>
              <a:lumOff val="40000"/>
            </a:schemeClr>
          </a:solidFill>
        </p:spPr>
        <p:txBody>
          <a:bodyPr>
            <a:spAutoFit/>
          </a:bodyPr>
          <a:lstStyle/>
          <a:p>
            <a:pPr>
              <a:defRPr/>
            </a:pPr>
            <a:r>
              <a:rPr lang="zh-CN" altLang="zh-CN" sz="2000" dirty="0">
                <a:latin typeface="华文琥珀" panose="02010800040101010101" pitchFamily="2" charset="-122"/>
                <a:ea typeface="华文琥珀" panose="02010800040101010101" pitchFamily="2" charset="-122"/>
              </a:rPr>
              <a:t>从整除的角度看，</a:t>
            </a:r>
            <a:r>
              <a:rPr lang="zh-CN" altLang="zh-CN" sz="2000" dirty="0">
                <a:solidFill>
                  <a:srgbClr val="FF0000"/>
                </a:solidFill>
                <a:latin typeface="华文琥珀" panose="02010800040101010101" pitchFamily="2" charset="-122"/>
                <a:ea typeface="华文琥珀" panose="02010800040101010101" pitchFamily="2" charset="-122"/>
              </a:rPr>
              <a:t>两个整数的公因数表达的是这两个整数共性成分</a:t>
            </a:r>
            <a:r>
              <a:rPr lang="zh-CN" altLang="zh-CN" sz="2000" dirty="0">
                <a:latin typeface="华文琥珀" panose="02010800040101010101" pitchFamily="2" charset="-122"/>
                <a:ea typeface="华文琥珀" panose="02010800040101010101" pitchFamily="2" charset="-122"/>
              </a:rPr>
              <a:t>。如果两个整数的最大公因数为</a:t>
            </a:r>
            <a:r>
              <a:rPr lang="en-US" altLang="zh-CN" sz="2000" dirty="0">
                <a:latin typeface="华文琥珀" panose="02010800040101010101" pitchFamily="2" charset="-122"/>
                <a:ea typeface="华文琥珀" panose="02010800040101010101" pitchFamily="2" charset="-122"/>
              </a:rPr>
              <a:t>1</a:t>
            </a:r>
            <a:r>
              <a:rPr lang="zh-CN" altLang="zh-CN" sz="2000" dirty="0">
                <a:latin typeface="华文琥珀" panose="02010800040101010101" pitchFamily="2" charset="-122"/>
                <a:ea typeface="华文琥珀" panose="02010800040101010101" pitchFamily="2" charset="-122"/>
              </a:rPr>
              <a:t>，则表明这两个整数除</a:t>
            </a:r>
            <a:r>
              <a:rPr lang="en-US" altLang="zh-CN" sz="2000" dirty="0">
                <a:latin typeface="华文琥珀" panose="02010800040101010101" pitchFamily="2" charset="-122"/>
                <a:ea typeface="华文琥珀" panose="02010800040101010101" pitchFamily="2" charset="-122"/>
              </a:rPr>
              <a:t>1</a:t>
            </a:r>
            <a:r>
              <a:rPr lang="zh-CN" altLang="zh-CN" sz="2000" dirty="0">
                <a:latin typeface="华文琥珀" panose="02010800040101010101" pitchFamily="2" charset="-122"/>
                <a:ea typeface="华文琥珀" panose="02010800040101010101" pitchFamily="2" charset="-122"/>
              </a:rPr>
              <a:t>之外没有任何额外的共性成分。因此，从结构上看，这两个整数之间具有很强的独立性。</a:t>
            </a:r>
            <a:r>
              <a:rPr lang="zh-CN" altLang="zh-CN" sz="2000" dirty="0">
                <a:solidFill>
                  <a:srgbClr val="FFFF00"/>
                </a:solidFill>
                <a:latin typeface="华文琥珀" panose="02010800040101010101" pitchFamily="2" charset="-122"/>
                <a:ea typeface="华文琥珀" panose="02010800040101010101" pitchFamily="2" charset="-122"/>
              </a:rPr>
              <a:t>这种很强的独立性我们称之为互素</a:t>
            </a:r>
            <a:r>
              <a:rPr lang="zh-CN" altLang="zh-CN" sz="2000" dirty="0">
                <a:latin typeface="华文琥珀" panose="02010800040101010101" pitchFamily="2" charset="-122"/>
                <a:ea typeface="华文琥珀" panose="02010800040101010101" pitchFamily="2" charset="-122"/>
              </a:rPr>
              <a:t>。</a:t>
            </a:r>
            <a:r>
              <a:rPr lang="zh-CN" altLang="en-US" sz="2000" dirty="0">
                <a:latin typeface="华文琥珀" panose="02010800040101010101" pitchFamily="2" charset="-122"/>
                <a:ea typeface="华文琥珀" panose="02010800040101010101" pitchFamily="2" charset="-122"/>
              </a:rPr>
              <a:t>下面就介绍互素的概念。</a:t>
            </a:r>
          </a:p>
        </p:txBody>
      </p:sp>
      <p:pic>
        <p:nvPicPr>
          <p:cNvPr id="29701" name="图片 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1000" y="4652963"/>
            <a:ext cx="1016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双波形 4"/>
          <p:cNvSpPr/>
          <p:nvPr/>
        </p:nvSpPr>
        <p:spPr bwMode="auto">
          <a:xfrm>
            <a:off x="1425575" y="4297363"/>
            <a:ext cx="6192838" cy="1727200"/>
          </a:xfrm>
          <a:prstGeom prst="doubleWave">
            <a:avLst/>
          </a:prstGeom>
          <a:solidFill>
            <a:schemeClr val="accent2">
              <a:lumMod val="40000"/>
              <a:lumOff val="60000"/>
            </a:schemeClr>
          </a:solidFill>
          <a:ln>
            <a:noFill/>
          </a:ln>
          <a:effectLst/>
          <a:extLst/>
        </p:spPr>
        <p:txBody>
          <a:bodyPr/>
          <a:lstStyle/>
          <a:p>
            <a:pPr algn="ctr" eaLnBrk="1" hangingPunct="1">
              <a:spcBef>
                <a:spcPct val="20000"/>
              </a:spcBef>
              <a:defRPr/>
            </a:pPr>
            <a:endParaRPr lang="zh-CN" altLang="en-US" sz="3200">
              <a:latin typeface="宋体" panose="02010600030101010101" pitchFamily="2" charset="-122"/>
              <a:ea typeface="宋体" panose="02010600030101010101" pitchFamily="2" charset="-122"/>
            </a:endParaRPr>
          </a:p>
        </p:txBody>
      </p:sp>
      <p:sp>
        <p:nvSpPr>
          <p:cNvPr id="6" name="文本框 5"/>
          <p:cNvSpPr txBox="1">
            <a:spLocks noRot="1" noChangeAspect="1" noMove="1" noResize="1" noEditPoints="1" noAdjustHandles="1" noChangeArrowheads="1" noChangeShapeType="1" noTextEdit="1"/>
          </p:cNvSpPr>
          <p:nvPr/>
        </p:nvSpPr>
        <p:spPr>
          <a:xfrm>
            <a:off x="1425703" y="4509120"/>
            <a:ext cx="6178422" cy="1292662"/>
          </a:xfrm>
          <a:prstGeom prst="rect">
            <a:avLst/>
          </a:prstGeom>
          <a:blipFill rotWithShape="0">
            <a:blip r:embed="rId5"/>
            <a:stretch>
              <a:fillRect l="-888" t="-3774" r="-691" b="-9906"/>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76BA8E97-134F-43E9-BB83-95115F2D3B6C}" type="slidenum">
              <a:rPr lang="en-US" altLang="zh-CN"/>
              <a:pPr>
                <a:defRPr/>
              </a:pPr>
              <a:t>30</a:t>
            </a:fld>
            <a:endParaRPr lang="en-US" altLang="zh-CN"/>
          </a:p>
        </p:txBody>
      </p:sp>
      <p:sp>
        <p:nvSpPr>
          <p:cNvPr id="30725" name="Text Box 2"/>
          <p:cNvSpPr txBox="1">
            <a:spLocks noChangeArrowheads="1"/>
          </p:cNvSpPr>
          <p:nvPr/>
        </p:nvSpPr>
        <p:spPr bwMode="auto">
          <a:xfrm>
            <a:off x="1547813" y="785813"/>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例题</a:t>
            </a:r>
          </a:p>
        </p:txBody>
      </p:sp>
      <p:pic>
        <p:nvPicPr>
          <p:cNvPr id="3072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文本框 1"/>
          <p:cNvSpPr txBox="1">
            <a:spLocks noChangeArrowheads="1"/>
          </p:cNvSpPr>
          <p:nvPr/>
        </p:nvSpPr>
        <p:spPr bwMode="auto">
          <a:xfrm>
            <a:off x="1547813" y="2133600"/>
            <a:ext cx="6159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a:solidFill>
                  <a:srgbClr val="00B050"/>
                </a:solidFill>
                <a:latin typeface="方正姚体" panose="02010601030101010101" pitchFamily="2" charset="-122"/>
                <a:ea typeface="方正姚体" panose="02010601030101010101" pitchFamily="2" charset="-122"/>
              </a:rPr>
              <a:t>【例题</a:t>
            </a:r>
            <a:r>
              <a:rPr lang="en-US" altLang="zh-CN">
                <a:solidFill>
                  <a:srgbClr val="00B050"/>
                </a:solidFill>
                <a:latin typeface="方正姚体" panose="02010601030101010101" pitchFamily="2" charset="-122"/>
                <a:ea typeface="方正姚体" panose="02010601030101010101" pitchFamily="2" charset="-122"/>
              </a:rPr>
              <a:t>2.9</a:t>
            </a:r>
            <a:r>
              <a:rPr lang="zh-CN" altLang="zh-CN">
                <a:solidFill>
                  <a:srgbClr val="00B050"/>
                </a:solidFill>
                <a:latin typeface="方正姚体" panose="02010601030101010101" pitchFamily="2" charset="-122"/>
                <a:ea typeface="方正姚体" panose="02010601030101010101" pitchFamily="2" charset="-122"/>
              </a:rPr>
              <a:t>】小于</a:t>
            </a:r>
            <a:r>
              <a:rPr lang="en-US" altLang="zh-CN">
                <a:solidFill>
                  <a:srgbClr val="00B050"/>
                </a:solidFill>
                <a:latin typeface="方正姚体" panose="02010601030101010101" pitchFamily="2" charset="-122"/>
                <a:ea typeface="方正姚体" panose="02010601030101010101" pitchFamily="2" charset="-122"/>
              </a:rPr>
              <a:t>12</a:t>
            </a:r>
            <a:r>
              <a:rPr lang="zh-CN" altLang="zh-CN">
                <a:solidFill>
                  <a:srgbClr val="00B050"/>
                </a:solidFill>
                <a:latin typeface="方正姚体" panose="02010601030101010101" pitchFamily="2" charset="-122"/>
                <a:ea typeface="方正姚体" panose="02010601030101010101" pitchFamily="2" charset="-122"/>
              </a:rPr>
              <a:t>的哪些正整数与</a:t>
            </a:r>
            <a:r>
              <a:rPr lang="en-US" altLang="zh-CN">
                <a:solidFill>
                  <a:srgbClr val="00B050"/>
                </a:solidFill>
                <a:latin typeface="方正姚体" panose="02010601030101010101" pitchFamily="2" charset="-122"/>
                <a:ea typeface="方正姚体" panose="02010601030101010101" pitchFamily="2" charset="-122"/>
              </a:rPr>
              <a:t>12</a:t>
            </a:r>
            <a:r>
              <a:rPr lang="zh-CN" altLang="zh-CN">
                <a:solidFill>
                  <a:srgbClr val="00B050"/>
                </a:solidFill>
                <a:latin typeface="方正姚体" panose="02010601030101010101" pitchFamily="2" charset="-122"/>
                <a:ea typeface="方正姚体" panose="02010601030101010101" pitchFamily="2" charset="-122"/>
              </a:rPr>
              <a:t>互素？</a:t>
            </a:r>
          </a:p>
          <a:p>
            <a:pPr>
              <a:spcBef>
                <a:spcPct val="0"/>
              </a:spcBef>
              <a:buFontTx/>
              <a:buNone/>
            </a:pPr>
            <a:endParaRPr lang="zh-CN" altLang="en-US">
              <a:solidFill>
                <a:srgbClr val="00B050"/>
              </a:solidFill>
              <a:latin typeface="黑体" panose="02010609060101010101" pitchFamily="49" charset="-122"/>
              <a:ea typeface="黑体" panose="02010609060101010101" pitchFamily="49" charset="-122"/>
            </a:endParaRPr>
          </a:p>
        </p:txBody>
      </p:sp>
      <p:pic>
        <p:nvPicPr>
          <p:cNvPr id="30728" name="图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15225" y="1844675"/>
            <a:ext cx="1041400"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9" name="图片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012950" y="2824163"/>
            <a:ext cx="522922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0" name="文本框 14"/>
          <p:cNvSpPr txBox="1">
            <a:spLocks noChangeArrowheads="1"/>
          </p:cNvSpPr>
          <p:nvPr/>
        </p:nvSpPr>
        <p:spPr bwMode="auto">
          <a:xfrm>
            <a:off x="1423988" y="3870325"/>
            <a:ext cx="61595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a:solidFill>
                  <a:srgbClr val="00B050"/>
                </a:solidFill>
                <a:latin typeface="方正姚体" panose="02010601030101010101" pitchFamily="2" charset="-122"/>
                <a:ea typeface="方正姚体" panose="02010601030101010101" pitchFamily="2" charset="-122"/>
              </a:rPr>
              <a:t>【例题</a:t>
            </a:r>
            <a:r>
              <a:rPr lang="en-US" altLang="zh-CN">
                <a:solidFill>
                  <a:srgbClr val="00B050"/>
                </a:solidFill>
                <a:latin typeface="方正姚体" panose="02010601030101010101" pitchFamily="2" charset="-122"/>
                <a:ea typeface="方正姚体" panose="02010601030101010101" pitchFamily="2" charset="-122"/>
              </a:rPr>
              <a:t>2.10</a:t>
            </a:r>
            <a:r>
              <a:rPr lang="zh-CN" altLang="zh-CN">
                <a:solidFill>
                  <a:srgbClr val="00B050"/>
                </a:solidFill>
                <a:latin typeface="方正姚体" panose="02010601030101010101" pitchFamily="2" charset="-122"/>
                <a:ea typeface="方正姚体" panose="02010601030101010101" pitchFamily="2" charset="-122"/>
              </a:rPr>
              <a:t>】判断整数</a:t>
            </a:r>
            <a:r>
              <a:rPr lang="en-US" altLang="zh-CN">
                <a:solidFill>
                  <a:srgbClr val="00B050"/>
                </a:solidFill>
                <a:latin typeface="方正姚体" panose="02010601030101010101" pitchFamily="2" charset="-122"/>
                <a:ea typeface="方正姚体" panose="02010601030101010101" pitchFamily="2" charset="-122"/>
              </a:rPr>
              <a:t>10, 17</a:t>
            </a:r>
            <a:r>
              <a:rPr lang="zh-CN" altLang="zh-CN">
                <a:solidFill>
                  <a:srgbClr val="00B050"/>
                </a:solidFill>
                <a:latin typeface="方正姚体" panose="02010601030101010101" pitchFamily="2" charset="-122"/>
                <a:ea typeface="方正姚体" panose="02010601030101010101" pitchFamily="2" charset="-122"/>
              </a:rPr>
              <a:t>和</a:t>
            </a:r>
            <a:r>
              <a:rPr lang="en-US" altLang="zh-CN">
                <a:solidFill>
                  <a:srgbClr val="00B050"/>
                </a:solidFill>
                <a:latin typeface="方正姚体" panose="02010601030101010101" pitchFamily="2" charset="-122"/>
                <a:ea typeface="方正姚体" panose="02010601030101010101" pitchFamily="2" charset="-122"/>
              </a:rPr>
              <a:t>21</a:t>
            </a:r>
            <a:r>
              <a:rPr lang="zh-CN" altLang="zh-CN">
                <a:solidFill>
                  <a:srgbClr val="00B050"/>
                </a:solidFill>
                <a:latin typeface="方正姚体" panose="02010601030101010101" pitchFamily="2" charset="-122"/>
                <a:ea typeface="方正姚体" panose="02010601030101010101" pitchFamily="2" charset="-122"/>
              </a:rPr>
              <a:t>是否两两互素，整数</a:t>
            </a:r>
            <a:r>
              <a:rPr lang="en-US" altLang="zh-CN">
                <a:solidFill>
                  <a:srgbClr val="00B050"/>
                </a:solidFill>
                <a:latin typeface="方正姚体" panose="02010601030101010101" pitchFamily="2" charset="-122"/>
                <a:ea typeface="方正姚体" panose="02010601030101010101" pitchFamily="2" charset="-122"/>
              </a:rPr>
              <a:t>10, 19</a:t>
            </a:r>
            <a:r>
              <a:rPr lang="zh-CN" altLang="zh-CN">
                <a:solidFill>
                  <a:srgbClr val="00B050"/>
                </a:solidFill>
                <a:latin typeface="方正姚体" panose="02010601030101010101" pitchFamily="2" charset="-122"/>
                <a:ea typeface="方正姚体" panose="02010601030101010101" pitchFamily="2" charset="-122"/>
              </a:rPr>
              <a:t>和</a:t>
            </a:r>
            <a:r>
              <a:rPr lang="en-US" altLang="zh-CN">
                <a:solidFill>
                  <a:srgbClr val="00B050"/>
                </a:solidFill>
                <a:latin typeface="方正姚体" panose="02010601030101010101" pitchFamily="2" charset="-122"/>
                <a:ea typeface="方正姚体" panose="02010601030101010101" pitchFamily="2" charset="-122"/>
              </a:rPr>
              <a:t>24</a:t>
            </a:r>
            <a:r>
              <a:rPr lang="zh-CN" altLang="zh-CN">
                <a:solidFill>
                  <a:srgbClr val="00B050"/>
                </a:solidFill>
                <a:latin typeface="方正姚体" panose="02010601030101010101" pitchFamily="2" charset="-122"/>
                <a:ea typeface="方正姚体" panose="02010601030101010101" pitchFamily="2" charset="-122"/>
              </a:rPr>
              <a:t>是否两两互素。</a:t>
            </a:r>
            <a:endParaRPr lang="zh-CN" altLang="en-US">
              <a:solidFill>
                <a:srgbClr val="00B050"/>
              </a:solidFill>
              <a:latin typeface="方正姚体" panose="02010601030101010101" pitchFamily="2" charset="-122"/>
              <a:ea typeface="方正姚体" panose="02010601030101010101" pitchFamily="2" charset="-122"/>
            </a:endParaRPr>
          </a:p>
        </p:txBody>
      </p:sp>
      <p:pic>
        <p:nvPicPr>
          <p:cNvPr id="30731" name="图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15225" y="3678238"/>
            <a:ext cx="1041400" cy="102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2" name="图片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322388" y="5065713"/>
            <a:ext cx="66103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a:xfrm>
            <a:off x="684213" y="6400800"/>
            <a:ext cx="1905000" cy="457200"/>
          </a:xfrm>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7366FC96-7414-45FA-86D8-8B9564AB6E0C}" type="slidenum">
              <a:rPr lang="en-US" altLang="zh-CN"/>
              <a:pPr>
                <a:defRPr/>
              </a:pPr>
              <a:t>31</a:t>
            </a:fld>
            <a:endParaRPr lang="en-US" altLang="zh-CN"/>
          </a:p>
        </p:txBody>
      </p:sp>
      <p:sp>
        <p:nvSpPr>
          <p:cNvPr id="535555" name="Rectangle 3"/>
          <p:cNvSpPr>
            <a:spLocks noGrp="1" noChangeArrowheads="1"/>
          </p:cNvSpPr>
          <p:nvPr>
            <p:ph type="body" idx="1"/>
          </p:nvPr>
        </p:nvSpPr>
        <p:spPr>
          <a:xfrm>
            <a:off x="468313" y="2133600"/>
            <a:ext cx="8351837" cy="795338"/>
          </a:xfrm>
          <a:solidFill>
            <a:srgbClr val="CCFFFF"/>
          </a:solidFill>
          <a:ln w="38100">
            <a:solidFill>
              <a:srgbClr val="33CCCC"/>
            </a:solidFill>
            <a:miter lim="800000"/>
            <a:headEnd/>
            <a:tailEnd/>
          </a:ln>
        </p:spPr>
        <p:txBody>
          <a:bodyPr lIns="0" tIns="0" rIns="0" bIns="0">
            <a:spAutoFit/>
          </a:bodyPr>
          <a:lstStyle/>
          <a:p>
            <a:pPr marL="0" indent="0" eaLnBrk="1" hangingPunct="1">
              <a:lnSpc>
                <a:spcPct val="115000"/>
              </a:lnSpc>
              <a:buFontTx/>
              <a:buNone/>
              <a:defRPr/>
            </a:pPr>
            <a:r>
              <a:rPr lang="zh-CN" altLang="en-US" dirty="0" smtClean="0">
                <a:effectLst>
                  <a:outerShdw blurRad="38100" dist="38100" dir="2700000" algn="tl">
                    <a:srgbClr val="FFFFFF"/>
                  </a:outerShdw>
                </a:effectLst>
                <a:latin typeface="黑体" panose="02010609060101010101" pitchFamily="49" charset="-122"/>
                <a:ea typeface="黑体" panose="02010609060101010101" pitchFamily="49" charset="-122"/>
              </a:rPr>
              <a:t>前面介绍了互素的概念，从互素的概念出发，能够得到一些比较好的性质，下面一一介绍</a:t>
            </a:r>
          </a:p>
        </p:txBody>
      </p:sp>
      <p:sp>
        <p:nvSpPr>
          <p:cNvPr id="31750" name="Text Box 2"/>
          <p:cNvSpPr txBox="1">
            <a:spLocks noChangeArrowheads="1"/>
          </p:cNvSpPr>
          <p:nvPr/>
        </p:nvSpPr>
        <p:spPr bwMode="auto">
          <a:xfrm>
            <a:off x="1476375" y="642938"/>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互素的性质</a:t>
            </a:r>
          </a:p>
        </p:txBody>
      </p:sp>
      <p:pic>
        <p:nvPicPr>
          <p:cNvPr id="3175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棱台 2"/>
          <p:cNvSpPr>
            <a:spLocks noChangeArrowheads="1"/>
          </p:cNvSpPr>
          <p:nvPr/>
        </p:nvSpPr>
        <p:spPr bwMode="auto">
          <a:xfrm>
            <a:off x="900113" y="3038475"/>
            <a:ext cx="7181850" cy="3054350"/>
          </a:xfrm>
          <a:prstGeom prst="bevel">
            <a:avLst>
              <a:gd name="adj" fmla="val 4593"/>
            </a:avLst>
          </a:prstGeom>
          <a:solidFill>
            <a:srgbClr val="FFC000"/>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4" name="文本框 3"/>
          <p:cNvSpPr txBox="1">
            <a:spLocks noRot="1" noChangeAspect="1" noMove="1" noResize="1" noEditPoints="1" noAdjustHandles="1" noChangeArrowheads="1" noChangeShapeType="1" noTextEdit="1"/>
          </p:cNvSpPr>
          <p:nvPr/>
        </p:nvSpPr>
        <p:spPr>
          <a:xfrm>
            <a:off x="1115616" y="3356992"/>
            <a:ext cx="6768752" cy="2062103"/>
          </a:xfrm>
          <a:prstGeom prst="rect">
            <a:avLst/>
          </a:prstGeom>
          <a:blipFill rotWithShape="0">
            <a:blip r:embed="rId4"/>
            <a:stretch>
              <a:fillRect l="-360" t="-1183" r="-270" b="-2663"/>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DBF0AF93-2BAE-4E73-A51E-919DE8B3027B}" type="slidenum">
              <a:rPr lang="en-US" altLang="zh-CN"/>
              <a:pPr>
                <a:defRPr/>
              </a:pPr>
              <a:t>32</a:t>
            </a:fld>
            <a:endParaRPr lang="en-US" altLang="zh-CN"/>
          </a:p>
        </p:txBody>
      </p:sp>
      <p:sp>
        <p:nvSpPr>
          <p:cNvPr id="32773" name="Text Box 2"/>
          <p:cNvSpPr txBox="1">
            <a:spLocks noChangeArrowheads="1"/>
          </p:cNvSpPr>
          <p:nvPr/>
        </p:nvSpPr>
        <p:spPr bwMode="auto">
          <a:xfrm>
            <a:off x="1539875" y="714375"/>
            <a:ext cx="591185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互素性质的证明</a:t>
            </a:r>
          </a:p>
        </p:txBody>
      </p:sp>
      <p:pic>
        <p:nvPicPr>
          <p:cNvPr id="3277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259632" y="2204864"/>
            <a:ext cx="6776541" cy="3354765"/>
          </a:xfrm>
          <a:prstGeom prst="rect">
            <a:avLst/>
          </a:prstGeom>
          <a:blipFill rotWithShape="0">
            <a:blip r:embed="rId4"/>
            <a:stretch>
              <a:fillRect l="-990" t="-1091" r="-90" b="-1455"/>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30CE7AE0-E12F-4726-9E93-AB5E82F0DF59}" type="slidenum">
              <a:rPr lang="en-US" altLang="zh-CN"/>
              <a:pPr>
                <a:defRPr/>
              </a:pPr>
              <a:t>33</a:t>
            </a:fld>
            <a:endParaRPr lang="en-US" altLang="zh-CN"/>
          </a:p>
        </p:txBody>
      </p:sp>
      <p:sp>
        <p:nvSpPr>
          <p:cNvPr id="33797" name="Text Box 2"/>
          <p:cNvSpPr txBox="1">
            <a:spLocks noChangeArrowheads="1"/>
          </p:cNvSpPr>
          <p:nvPr/>
        </p:nvSpPr>
        <p:spPr bwMode="auto">
          <a:xfrm>
            <a:off x="1539875" y="714375"/>
            <a:ext cx="591185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互素性质的证明</a:t>
            </a:r>
          </a:p>
        </p:txBody>
      </p:sp>
      <p:pic>
        <p:nvPicPr>
          <p:cNvPr id="3379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276503" y="1916832"/>
            <a:ext cx="6679873" cy="3600986"/>
          </a:xfrm>
          <a:prstGeom prst="rect">
            <a:avLst/>
          </a:prstGeom>
          <a:blipFill rotWithShape="0">
            <a:blip r:embed="rId4"/>
            <a:stretch>
              <a:fillRect l="-912" t="-846" b="-1015"/>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4B827FA7-7C3C-404B-BEA0-F0746525DCC6}" type="slidenum">
              <a:rPr lang="en-US" altLang="zh-CN"/>
              <a:pPr>
                <a:defRPr/>
              </a:pPr>
              <a:t>34</a:t>
            </a:fld>
            <a:endParaRPr lang="en-US" altLang="zh-CN"/>
          </a:p>
        </p:txBody>
      </p:sp>
      <p:sp>
        <p:nvSpPr>
          <p:cNvPr id="537603" name="Rectangle 3"/>
          <p:cNvSpPr>
            <a:spLocks noGrp="1" noRot="1" noChangeAspect="1" noMove="1" noResize="1" noEditPoints="1" noAdjustHandles="1" noChangeArrowheads="1" noChangeShapeType="1" noTextEdit="1"/>
          </p:cNvSpPr>
          <p:nvPr>
            <p:ph type="body" idx="1"/>
          </p:nvPr>
        </p:nvSpPr>
        <p:spPr>
          <a:xfrm>
            <a:off x="971550" y="2060575"/>
            <a:ext cx="7200900" cy="1008385"/>
          </a:xfrm>
          <a:blipFill rotWithShape="0">
            <a:blip r:embed="rId2"/>
            <a:stretch>
              <a:fillRect l="-1431" t="-5263" b="-7602"/>
            </a:stretch>
          </a:blipFill>
          <a:ln w="38100">
            <a:solidFill>
              <a:schemeClr val="bg2"/>
            </a:solidFill>
            <a:miter lim="800000"/>
            <a:headEnd/>
            <a:tailEnd/>
          </a:ln>
        </p:spPr>
        <p:txBody>
          <a:bodyPr/>
          <a:lstStyle/>
          <a:p>
            <a:pPr>
              <a:defRPr/>
            </a:pPr>
            <a:r>
              <a:rPr lang="zh-CN" altLang="en-US">
                <a:noFill/>
              </a:rPr>
              <a:t> </a:t>
            </a:r>
          </a:p>
        </p:txBody>
      </p:sp>
      <p:sp>
        <p:nvSpPr>
          <p:cNvPr id="34822" name="Text Box 2"/>
          <p:cNvSpPr txBox="1">
            <a:spLocks noChangeArrowheads="1"/>
          </p:cNvSpPr>
          <p:nvPr/>
        </p:nvSpPr>
        <p:spPr bwMode="auto">
          <a:xfrm>
            <a:off x="1403350" y="714375"/>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例题</a:t>
            </a:r>
          </a:p>
        </p:txBody>
      </p:sp>
      <p:pic>
        <p:nvPicPr>
          <p:cNvPr id="34823"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1259632" y="3573016"/>
            <a:ext cx="6696744" cy="1938992"/>
          </a:xfrm>
          <a:prstGeom prst="rect">
            <a:avLst/>
          </a:prstGeom>
          <a:blipFill rotWithShape="0">
            <a:blip r:embed="rId5"/>
            <a:stretch>
              <a:fillRect l="-1457" t="-2201" b="-6604"/>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9" name="页脚占位符 4"/>
          <p:cNvSpPr>
            <a:spLocks noGrp="1"/>
          </p:cNvSpPr>
          <p:nvPr>
            <p:ph type="ftr" sz="quarter" idx="11"/>
          </p:nvPr>
        </p:nvSpPr>
        <p:spPr/>
        <p:txBody>
          <a:bodyPr/>
          <a:lstStyle/>
          <a:p>
            <a:pPr>
              <a:defRPr/>
            </a:pPr>
            <a:r>
              <a:rPr lang="zh-CN" altLang="en-US"/>
              <a:t>计算机应用技术研究所</a:t>
            </a:r>
          </a:p>
        </p:txBody>
      </p:sp>
      <p:sp>
        <p:nvSpPr>
          <p:cNvPr id="10" name="灯片编号占位符 5"/>
          <p:cNvSpPr>
            <a:spLocks noGrp="1"/>
          </p:cNvSpPr>
          <p:nvPr>
            <p:ph type="sldNum" sz="quarter" idx="12"/>
          </p:nvPr>
        </p:nvSpPr>
        <p:spPr/>
        <p:txBody>
          <a:bodyPr/>
          <a:lstStyle/>
          <a:p>
            <a:pPr>
              <a:defRPr/>
            </a:pPr>
            <a:fld id="{C4FFE64B-8EDC-4E48-BEC5-4878FD3DBF45}" type="slidenum">
              <a:rPr lang="en-US" altLang="zh-CN"/>
              <a:pPr>
                <a:defRPr/>
              </a:pPr>
              <a:t>35</a:t>
            </a:fld>
            <a:endParaRPr lang="en-US" altLang="zh-CN"/>
          </a:p>
        </p:txBody>
      </p:sp>
      <p:sp>
        <p:nvSpPr>
          <p:cNvPr id="35845" name="Text Box 2"/>
          <p:cNvSpPr txBox="1">
            <a:spLocks noChangeArrowheads="1"/>
          </p:cNvSpPr>
          <p:nvPr/>
        </p:nvSpPr>
        <p:spPr bwMode="auto">
          <a:xfrm>
            <a:off x="1403350" y="714375"/>
            <a:ext cx="59118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算术基本定理</a:t>
            </a:r>
          </a:p>
        </p:txBody>
      </p:sp>
      <p:pic>
        <p:nvPicPr>
          <p:cNvPr id="358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文本框 10"/>
          <p:cNvSpPr txBox="1">
            <a:spLocks noChangeArrowheads="1"/>
          </p:cNvSpPr>
          <p:nvPr/>
        </p:nvSpPr>
        <p:spPr bwMode="auto">
          <a:xfrm>
            <a:off x="1403350" y="2133600"/>
            <a:ext cx="61214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latin typeface="黑体" panose="02010609060101010101" pitchFamily="49" charset="-122"/>
              <a:ea typeface="黑体" panose="02010609060101010101" pitchFamily="49" charset="-122"/>
            </a:endParaRPr>
          </a:p>
        </p:txBody>
      </p:sp>
      <p:sp>
        <p:nvSpPr>
          <p:cNvPr id="12" name="文本框 11"/>
          <p:cNvSpPr txBox="1"/>
          <p:nvPr/>
        </p:nvSpPr>
        <p:spPr>
          <a:xfrm>
            <a:off x="1062038" y="1901825"/>
            <a:ext cx="6645275" cy="4156075"/>
          </a:xfrm>
          <a:prstGeom prst="rect">
            <a:avLst/>
          </a:prstGeom>
          <a:solidFill>
            <a:srgbClr val="99CC00"/>
          </a:solidFill>
          <a:effectLst>
            <a:outerShdw blurRad="50800" dist="38100" dir="18900000" algn="bl" rotWithShape="0">
              <a:srgbClr val="00B0F0">
                <a:alpha val="40000"/>
              </a:srgbClr>
            </a:outerShdw>
          </a:effectLst>
        </p:spPr>
        <p:txBody>
          <a:bodyPr>
            <a:spAutoFit/>
          </a:bodyPr>
          <a:lstStyle/>
          <a:p>
            <a:pPr>
              <a:defRPr/>
            </a:pPr>
            <a:r>
              <a:rPr lang="zh-CN" altLang="en-US" dirty="0">
                <a:solidFill>
                  <a:srgbClr val="FF0000"/>
                </a:solidFill>
                <a:latin typeface="华文楷体" panose="02010600040101010101" pitchFamily="2" charset="-122"/>
                <a:ea typeface="华文楷体" panose="02010600040101010101" pitchFamily="2" charset="-122"/>
              </a:rPr>
              <a:t>算术基本定理是初等数论中一条非常基本和重要的定理，它把对自然数的研究转化为对其最基本的元素一素数的研究。它所体现的唯一因子分解的思想，在现代交换环理论中起着非常重要的作用。唯一因子分解的思想从本质上讲是指以下两种性质</a:t>
            </a:r>
            <a:r>
              <a:rPr lang="en-US" altLang="zh-CN" dirty="0">
                <a:solidFill>
                  <a:srgbClr val="FF0000"/>
                </a:solidFill>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存在性和唯一性”。所谓“存在性”就是指一个元素可以分解为有限多个不可约因子的乘积</a:t>
            </a:r>
            <a:r>
              <a:rPr lang="en-US" altLang="zh-CN" dirty="0">
                <a:solidFill>
                  <a:srgbClr val="FF0000"/>
                </a:solidFill>
                <a:latin typeface="华文楷体" panose="02010600040101010101" pitchFamily="2" charset="-122"/>
                <a:ea typeface="华文楷体" panose="02010600040101010101" pitchFamily="2" charset="-122"/>
              </a:rPr>
              <a:t>;“</a:t>
            </a:r>
            <a:r>
              <a:rPr lang="zh-CN" altLang="en-US" dirty="0">
                <a:solidFill>
                  <a:srgbClr val="FF0000"/>
                </a:solidFill>
                <a:latin typeface="华文楷体" panose="02010600040101010101" pitchFamily="2" charset="-122"/>
                <a:ea typeface="华文楷体" panose="02010600040101010101" pitchFamily="2" charset="-122"/>
              </a:rPr>
              <a:t>唯一性”是指这种分解表示在某种意义上来说是唯一的。唯一因子分解的思想最初作为一个自然数的性质而出现，这个性质就是通常所说的算术基本定理。</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AD1B6BA9-D681-4247-8E9E-8DFF49F7231A}" type="slidenum">
              <a:rPr lang="en-US" altLang="zh-CN"/>
              <a:pPr>
                <a:defRPr/>
              </a:pPr>
              <a:t>36</a:t>
            </a:fld>
            <a:endParaRPr lang="en-US" altLang="zh-CN"/>
          </a:p>
        </p:txBody>
      </p:sp>
      <p:sp>
        <p:nvSpPr>
          <p:cNvPr id="36869" name="Text Box 2"/>
          <p:cNvSpPr txBox="1">
            <a:spLocks noChangeArrowheads="1"/>
          </p:cNvSpPr>
          <p:nvPr/>
        </p:nvSpPr>
        <p:spPr bwMode="auto">
          <a:xfrm>
            <a:off x="1403350" y="588963"/>
            <a:ext cx="6048375"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引理</a:t>
            </a:r>
          </a:p>
        </p:txBody>
      </p:sp>
      <p:pic>
        <p:nvPicPr>
          <p:cNvPr id="3687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951038"/>
            <a:ext cx="66960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1186118" y="2802606"/>
            <a:ext cx="6696744" cy="3197414"/>
          </a:xfrm>
          <a:prstGeom prst="rect">
            <a:avLst/>
          </a:prstGeom>
          <a:blipFill rotWithShape="0">
            <a:blip r:embed="rId5"/>
            <a:stretch>
              <a:fillRect l="-1457" t="-2099" r="-1275"/>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dirty="0"/>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644C4AB7-7D83-42F4-8654-3D21B25AF8E2}" type="slidenum">
              <a:rPr lang="en-US" altLang="zh-CN"/>
              <a:pPr>
                <a:defRPr/>
              </a:pPr>
              <a:t>37</a:t>
            </a:fld>
            <a:endParaRPr lang="en-US" altLang="zh-CN"/>
          </a:p>
        </p:txBody>
      </p:sp>
      <p:sp>
        <p:nvSpPr>
          <p:cNvPr id="37893" name="Text Box 2"/>
          <p:cNvSpPr txBox="1">
            <a:spLocks noChangeArrowheads="1"/>
          </p:cNvSpPr>
          <p:nvPr/>
        </p:nvSpPr>
        <p:spPr bwMode="auto">
          <a:xfrm>
            <a:off x="1403350" y="804863"/>
            <a:ext cx="6048375"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算术基本定理</a:t>
            </a:r>
          </a:p>
        </p:txBody>
      </p:sp>
      <p:pic>
        <p:nvPicPr>
          <p:cNvPr id="3789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845585" y="1951038"/>
            <a:ext cx="7452828" cy="881075"/>
          </a:xfrm>
          <a:prstGeom prst="rect">
            <a:avLst/>
          </a:prstGeom>
          <a:blipFill rotWithShape="0">
            <a:blip r:embed="rId4"/>
            <a:stretch>
              <a:fillRect l="-402" b="-599"/>
            </a:stretch>
          </a:blipFill>
          <a:effectLst>
            <a:glow rad="63500">
              <a:schemeClr val="accent6">
                <a:satMod val="175000"/>
                <a:alpha val="40000"/>
              </a:schemeClr>
            </a:glow>
            <a:softEdge rad="12700"/>
          </a:effectLst>
        </p:spPr>
        <p:txBody>
          <a:bodyPr/>
          <a:lstStyle/>
          <a:p>
            <a:pPr>
              <a:defRPr/>
            </a:pPr>
            <a:r>
              <a:rPr lang="zh-CN" altLang="en-US">
                <a:noFill/>
              </a:rPr>
              <a:t> </a:t>
            </a:r>
          </a:p>
        </p:txBody>
      </p:sp>
      <p:pic>
        <p:nvPicPr>
          <p:cNvPr id="37896" name="图片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00150" y="3014663"/>
            <a:ext cx="6743700"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7" name="竖卷形 4"/>
          <p:cNvSpPr>
            <a:spLocks noChangeArrowheads="1"/>
          </p:cNvSpPr>
          <p:nvPr/>
        </p:nvSpPr>
        <p:spPr bwMode="auto">
          <a:xfrm>
            <a:off x="8026400" y="3014663"/>
            <a:ext cx="863600" cy="2989262"/>
          </a:xfrm>
          <a:prstGeom prst="verticalScroll">
            <a:avLst>
              <a:gd name="adj" fmla="val 12500"/>
            </a:avLst>
          </a:pr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9" name="文本框 8"/>
          <p:cNvSpPr txBox="1"/>
          <p:nvPr/>
        </p:nvSpPr>
        <p:spPr>
          <a:xfrm>
            <a:off x="8044280" y="3178741"/>
            <a:ext cx="727828" cy="2789891"/>
          </a:xfrm>
          <a:prstGeom prst="rect">
            <a:avLst/>
          </a:prstGeom>
          <a:noFill/>
        </p:spPr>
        <p:txBody>
          <a:bodyPr vert="wordArtVert">
            <a:spAutoFit/>
          </a:bodyPr>
          <a:lstStyle/>
          <a:p>
            <a:pPr>
              <a:lnSpc>
                <a:spcPts val="2000"/>
              </a:lnSpc>
              <a:defRPr/>
            </a:pPr>
            <a:r>
              <a:rPr lang="zh-CN" altLang="zh-CN" dirty="0">
                <a:latin typeface="方正舒体" panose="02010601030101010101" pitchFamily="2" charset="-122"/>
                <a:ea typeface="方正舒体" panose="02010601030101010101" pitchFamily="2" charset="-122"/>
              </a:rPr>
              <a:t>整数素数分解的存在性与唯一性</a:t>
            </a:r>
            <a:endParaRPr lang="zh-CN" altLang="en-US" dirty="0">
              <a:latin typeface="方正舒体" panose="02010601030101010101" pitchFamily="2" charset="-122"/>
              <a:ea typeface="方正舒体" panose="02010601030101010101" pitchFamily="2"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日期占位符 4"/>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9" name="页脚占位符 5"/>
          <p:cNvSpPr>
            <a:spLocks noGrp="1"/>
          </p:cNvSpPr>
          <p:nvPr>
            <p:ph type="ftr" sz="quarter" idx="11"/>
          </p:nvPr>
        </p:nvSpPr>
        <p:spPr/>
        <p:txBody>
          <a:bodyPr/>
          <a:lstStyle/>
          <a:p>
            <a:pPr>
              <a:defRPr/>
            </a:pPr>
            <a:r>
              <a:rPr lang="zh-CN" altLang="en-US"/>
              <a:t>计算机应用技术研究所</a:t>
            </a:r>
          </a:p>
        </p:txBody>
      </p:sp>
      <p:sp>
        <p:nvSpPr>
          <p:cNvPr id="10" name="灯片编号占位符 6"/>
          <p:cNvSpPr>
            <a:spLocks noGrp="1"/>
          </p:cNvSpPr>
          <p:nvPr>
            <p:ph type="sldNum" sz="quarter" idx="12"/>
          </p:nvPr>
        </p:nvSpPr>
        <p:spPr/>
        <p:txBody>
          <a:bodyPr/>
          <a:lstStyle/>
          <a:p>
            <a:pPr>
              <a:defRPr/>
            </a:pPr>
            <a:fld id="{3F809704-DCCB-41F3-A22F-D20B992C378C}" type="slidenum">
              <a:rPr lang="en-US" altLang="zh-CN"/>
              <a:pPr>
                <a:defRPr/>
              </a:pPr>
              <a:t>38</a:t>
            </a:fld>
            <a:endParaRPr lang="en-US" altLang="zh-CN"/>
          </a:p>
        </p:txBody>
      </p:sp>
      <p:sp>
        <p:nvSpPr>
          <p:cNvPr id="38917" name="Text Box 2"/>
          <p:cNvSpPr txBox="1">
            <a:spLocks noChangeArrowheads="1"/>
          </p:cNvSpPr>
          <p:nvPr/>
        </p:nvSpPr>
        <p:spPr bwMode="auto">
          <a:xfrm>
            <a:off x="1403350" y="588963"/>
            <a:ext cx="6048375"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素幂分解式</a:t>
            </a:r>
          </a:p>
        </p:txBody>
      </p:sp>
      <p:pic>
        <p:nvPicPr>
          <p:cNvPr id="3891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a:spLocks noRot="1" noChangeAspect="1" noMove="1" noResize="1" noEditPoints="1" noAdjustHandles="1" noChangeArrowheads="1" noChangeShapeType="1" noTextEdit="1"/>
          </p:cNvSpPr>
          <p:nvPr/>
        </p:nvSpPr>
        <p:spPr>
          <a:xfrm>
            <a:off x="866826" y="1772816"/>
            <a:ext cx="7541368" cy="1310295"/>
          </a:xfrm>
          <a:prstGeom prst="rect">
            <a:avLst/>
          </a:prstGeom>
          <a:blipFill rotWithShape="0">
            <a:blip r:embed="rId4"/>
            <a:stretch>
              <a:fillRect l="-647" t="-3721" r="-243"/>
            </a:stretch>
          </a:blipFill>
        </p:spPr>
        <p:txBody>
          <a:bodyPr/>
          <a:lstStyle/>
          <a:p>
            <a:pPr>
              <a:defRPr/>
            </a:pPr>
            <a:r>
              <a:rPr lang="zh-CN" altLang="en-US">
                <a:noFill/>
              </a:rPr>
              <a:t> </a:t>
            </a:r>
          </a:p>
        </p:txBody>
      </p:sp>
      <p:pic>
        <p:nvPicPr>
          <p:cNvPr id="38920" name="图片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885113" y="3951288"/>
            <a:ext cx="1258887"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1" name="文本框 6"/>
          <p:cNvSpPr txBox="1">
            <a:spLocks noChangeArrowheads="1"/>
          </p:cNvSpPr>
          <p:nvPr/>
        </p:nvSpPr>
        <p:spPr bwMode="auto">
          <a:xfrm>
            <a:off x="1230313" y="4105275"/>
            <a:ext cx="6632575" cy="830263"/>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b="1">
                <a:latin typeface="华文新魏" panose="02010800040101010101" pitchFamily="2" charset="-122"/>
                <a:ea typeface="华文新魏" panose="02010800040101010101" pitchFamily="2" charset="-122"/>
              </a:rPr>
              <a:t>整数的素幂分解式给出了整数一种基于素数的结构表达，在数论研究中具有非常重要的作用。</a:t>
            </a:r>
            <a:endParaRPr lang="zh-CN" altLang="en-US" b="1">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日期占位符 4"/>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9" name="页脚占位符 5"/>
          <p:cNvSpPr>
            <a:spLocks noGrp="1"/>
          </p:cNvSpPr>
          <p:nvPr>
            <p:ph type="ftr" sz="quarter" idx="11"/>
          </p:nvPr>
        </p:nvSpPr>
        <p:spPr/>
        <p:txBody>
          <a:bodyPr/>
          <a:lstStyle/>
          <a:p>
            <a:pPr>
              <a:defRPr/>
            </a:pPr>
            <a:r>
              <a:rPr lang="zh-CN" altLang="en-US"/>
              <a:t>计算机应用技术研究所</a:t>
            </a:r>
          </a:p>
        </p:txBody>
      </p:sp>
      <p:sp>
        <p:nvSpPr>
          <p:cNvPr id="10" name="灯片编号占位符 6"/>
          <p:cNvSpPr>
            <a:spLocks noGrp="1"/>
          </p:cNvSpPr>
          <p:nvPr>
            <p:ph type="sldNum" sz="quarter" idx="12"/>
          </p:nvPr>
        </p:nvSpPr>
        <p:spPr/>
        <p:txBody>
          <a:bodyPr/>
          <a:lstStyle/>
          <a:p>
            <a:pPr>
              <a:defRPr/>
            </a:pPr>
            <a:fld id="{9F521529-D2C6-4135-8A90-BDCA6CFAFD97}" type="slidenum">
              <a:rPr lang="en-US" altLang="zh-CN"/>
              <a:pPr>
                <a:defRPr/>
              </a:pPr>
              <a:t>39</a:t>
            </a:fld>
            <a:endParaRPr lang="en-US" altLang="zh-CN"/>
          </a:p>
        </p:txBody>
      </p:sp>
      <p:sp>
        <p:nvSpPr>
          <p:cNvPr id="39941" name="Text Box 2"/>
          <p:cNvSpPr txBox="1">
            <a:spLocks noChangeArrowheads="1"/>
          </p:cNvSpPr>
          <p:nvPr/>
        </p:nvSpPr>
        <p:spPr bwMode="auto">
          <a:xfrm>
            <a:off x="1403350" y="588963"/>
            <a:ext cx="6048375"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例题</a:t>
            </a:r>
          </a:p>
        </p:txBody>
      </p:sp>
      <p:pic>
        <p:nvPicPr>
          <p:cNvPr id="3994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文本框 4"/>
          <p:cNvSpPr txBox="1">
            <a:spLocks noChangeArrowheads="1"/>
          </p:cNvSpPr>
          <p:nvPr/>
        </p:nvSpPr>
        <p:spPr bwMode="auto">
          <a:xfrm>
            <a:off x="1641475" y="1628775"/>
            <a:ext cx="5400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例</a:t>
            </a:r>
            <a:r>
              <a:rPr lang="en-US" altLang="zh-CN">
                <a:latin typeface="黑体" panose="02010609060101010101" pitchFamily="49" charset="-122"/>
                <a:ea typeface="黑体" panose="02010609060101010101" pitchFamily="49" charset="-122"/>
              </a:rPr>
              <a:t>1】</a:t>
            </a:r>
            <a:r>
              <a:rPr lang="zh-CN" altLang="zh-CN">
                <a:latin typeface="黑体" panose="02010609060101010101" pitchFamily="49" charset="-122"/>
                <a:ea typeface="黑体" panose="02010609060101010101" pitchFamily="49" charset="-122"/>
              </a:rPr>
              <a:t>写出</a:t>
            </a:r>
            <a:r>
              <a:rPr lang="en-US" altLang="zh-CN">
                <a:latin typeface="黑体" panose="02010609060101010101" pitchFamily="49" charset="-122"/>
                <a:ea typeface="黑体" panose="02010609060101010101" pitchFamily="49" charset="-122"/>
              </a:rPr>
              <a:t>51480</a:t>
            </a:r>
            <a:r>
              <a:rPr lang="zh-CN" altLang="zh-CN">
                <a:latin typeface="黑体" panose="02010609060101010101" pitchFamily="49" charset="-122"/>
                <a:ea typeface="黑体" panose="02010609060101010101" pitchFamily="49" charset="-122"/>
              </a:rPr>
              <a:t>的素幂分解式。</a:t>
            </a:r>
            <a:endParaRPr lang="zh-CN" altLang="en-US">
              <a:latin typeface="黑体" panose="02010609060101010101" pitchFamily="49" charset="-122"/>
              <a:ea typeface="黑体" panose="02010609060101010101" pitchFamily="49" charset="-122"/>
            </a:endParaRPr>
          </a:p>
        </p:txBody>
      </p:sp>
      <p:pic>
        <p:nvPicPr>
          <p:cNvPr id="39944" name="图片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74838" y="2225675"/>
            <a:ext cx="539432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5" name="文本框 15"/>
          <p:cNvSpPr txBox="1">
            <a:spLocks noChangeArrowheads="1"/>
          </p:cNvSpPr>
          <p:nvPr/>
        </p:nvSpPr>
        <p:spPr bwMode="auto">
          <a:xfrm>
            <a:off x="1636713" y="3159125"/>
            <a:ext cx="54006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例</a:t>
            </a:r>
            <a:r>
              <a:rPr lang="en-US" altLang="zh-CN">
                <a:latin typeface="黑体" panose="02010609060101010101" pitchFamily="49" charset="-122"/>
                <a:ea typeface="黑体" panose="02010609060101010101" pitchFamily="49" charset="-122"/>
              </a:rPr>
              <a:t>2】</a:t>
            </a:r>
            <a:r>
              <a:rPr lang="zh-CN" altLang="zh-CN">
                <a:latin typeface="黑体" panose="02010609060101010101" pitchFamily="49" charset="-122"/>
                <a:ea typeface="黑体" panose="02010609060101010101" pitchFamily="49" charset="-122"/>
              </a:rPr>
              <a:t>写出</a:t>
            </a:r>
            <a:r>
              <a:rPr lang="en-US" altLang="zh-CN">
                <a:latin typeface="黑体" panose="02010609060101010101" pitchFamily="49" charset="-122"/>
                <a:ea typeface="黑体" panose="02010609060101010101" pitchFamily="49" charset="-122"/>
              </a:rPr>
              <a:t>10</a:t>
            </a:r>
            <a:r>
              <a:rPr lang="zh-CN" altLang="zh-CN">
                <a:latin typeface="黑体" panose="02010609060101010101" pitchFamily="49" charset="-122"/>
                <a:ea typeface="黑体" panose="02010609060101010101" pitchFamily="49" charset="-122"/>
              </a:rPr>
              <a:t>个连续的正整数，使他们都是合数。</a:t>
            </a:r>
            <a:endParaRPr lang="zh-CN" altLang="en-US">
              <a:latin typeface="黑体" panose="02010609060101010101" pitchFamily="49" charset="-122"/>
              <a:ea typeface="黑体" panose="02010609060101010101" pitchFamily="49" charset="-122"/>
            </a:endParaRPr>
          </a:p>
        </p:txBody>
      </p:sp>
      <p:pic>
        <p:nvPicPr>
          <p:cNvPr id="39946" name="图片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36713" y="4549775"/>
            <a:ext cx="6624637"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0779F368-C1D2-41F5-9488-856A57E13CBD}" type="slidenum">
              <a:rPr lang="en-US" altLang="zh-CN"/>
              <a:pPr>
                <a:defRPr/>
              </a:pPr>
              <a:t>40</a:t>
            </a:fld>
            <a:endParaRPr lang="en-US" altLang="zh-CN"/>
          </a:p>
        </p:txBody>
      </p:sp>
      <p:sp>
        <p:nvSpPr>
          <p:cNvPr id="40965" name="Text Box 2"/>
          <p:cNvSpPr txBox="1">
            <a:spLocks noChangeArrowheads="1"/>
          </p:cNvSpPr>
          <p:nvPr/>
        </p:nvSpPr>
        <p:spPr bwMode="auto">
          <a:xfrm>
            <a:off x="1403350" y="876300"/>
            <a:ext cx="60483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素幂分解式</a:t>
            </a:r>
          </a:p>
        </p:txBody>
      </p:sp>
      <p:pic>
        <p:nvPicPr>
          <p:cNvPr id="4096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827584" y="1863514"/>
            <a:ext cx="7704856" cy="2290179"/>
          </a:xfrm>
          <a:prstGeom prst="rect">
            <a:avLst/>
          </a:prstGeom>
          <a:blipFill rotWithShape="0">
            <a:blip r:embed="rId4"/>
            <a:stretch>
              <a:fillRect l="-709" t="-1053"/>
            </a:stretch>
          </a:blipFill>
          <a:ln w="28575">
            <a:solidFill>
              <a:schemeClr val="accent2"/>
            </a:solidFill>
            <a:prstDash val="sysDot"/>
          </a:ln>
        </p:spPr>
        <p:txBody>
          <a:bodyPr/>
          <a:lstStyle/>
          <a:p>
            <a:pPr>
              <a:defRPr/>
            </a:pPr>
            <a:r>
              <a:rPr lang="zh-CN" altLang="en-US">
                <a:noFill/>
              </a:rPr>
              <a:t> </a:t>
            </a:r>
          </a:p>
        </p:txBody>
      </p:sp>
      <p:sp>
        <p:nvSpPr>
          <p:cNvPr id="5" name="图文框 4"/>
          <p:cNvSpPr/>
          <p:nvPr/>
        </p:nvSpPr>
        <p:spPr bwMode="auto">
          <a:xfrm>
            <a:off x="1709738" y="4365625"/>
            <a:ext cx="5940425" cy="1174750"/>
          </a:xfrm>
          <a:prstGeom prst="frame">
            <a:avLst>
              <a:gd name="adj1" fmla="val 14379"/>
            </a:avLst>
          </a:prstGeom>
          <a:solidFill>
            <a:srgbClr val="00B0F0"/>
          </a:solidFill>
          <a:ln>
            <a:noFill/>
          </a:ln>
          <a:effectLst/>
          <a:extLst/>
        </p:spPr>
        <p:txBody>
          <a:bodyPr/>
          <a:lstStyle/>
          <a:p>
            <a:pPr algn="ctr" eaLnBrk="1" hangingPunct="1">
              <a:spcBef>
                <a:spcPct val="20000"/>
              </a:spcBef>
              <a:defRPr/>
            </a:pPr>
            <a:endParaRPr lang="zh-CN" altLang="en-US" sz="3200">
              <a:latin typeface="宋体" panose="02010600030101010101" pitchFamily="2" charset="-122"/>
              <a:ea typeface="宋体" panose="02010600030101010101" pitchFamily="2" charset="-122"/>
            </a:endParaRPr>
          </a:p>
        </p:txBody>
      </p:sp>
      <p:sp>
        <p:nvSpPr>
          <p:cNvPr id="40969" name="文本框 8"/>
          <p:cNvSpPr txBox="1">
            <a:spLocks noChangeArrowheads="1"/>
          </p:cNvSpPr>
          <p:nvPr/>
        </p:nvSpPr>
        <p:spPr bwMode="auto">
          <a:xfrm>
            <a:off x="1847850" y="4506913"/>
            <a:ext cx="56038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800">
                <a:solidFill>
                  <a:srgbClr val="FF0000"/>
                </a:solidFill>
                <a:latin typeface="方正舒体" panose="02010601030101010101" pitchFamily="2" charset="-122"/>
                <a:ea typeface="方正舒体" panose="02010601030101010101" pitchFamily="2" charset="-122"/>
              </a:rPr>
              <a:t>上面这个</a:t>
            </a:r>
            <a:r>
              <a:rPr lang="zh-CN" altLang="zh-CN" sz="1800">
                <a:solidFill>
                  <a:srgbClr val="FF0000"/>
                </a:solidFill>
                <a:latin typeface="方正舒体" panose="02010601030101010101" pitchFamily="2" charset="-122"/>
                <a:ea typeface="方正舒体" panose="02010601030101010101" pitchFamily="2" charset="-122"/>
              </a:rPr>
              <a:t>定理表明，可以使用其素幂分解式计算两个整数的最大公约数和最小公倍数，还可以证明最大公约数和最小公倍数之间的关系。</a:t>
            </a:r>
            <a:endParaRPr lang="zh-CN" altLang="en-US" sz="1800">
              <a:solidFill>
                <a:srgbClr val="FF0000"/>
              </a:solidFill>
              <a:latin typeface="方正舒体" panose="02010601030101010101" pitchFamily="2" charset="-122"/>
              <a:ea typeface="方正舒体" panose="02010601030101010101" pitchFamily="2" charset="-122"/>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B335029B-FE19-4AB9-87B3-057AC9EBE2BA}" type="slidenum">
              <a:rPr lang="en-US" altLang="zh-CN"/>
              <a:pPr>
                <a:defRPr/>
              </a:pPr>
              <a:t>41</a:t>
            </a:fld>
            <a:endParaRPr lang="en-US" altLang="zh-CN"/>
          </a:p>
        </p:txBody>
      </p:sp>
      <p:sp>
        <p:nvSpPr>
          <p:cNvPr id="41989" name="Text Box 2"/>
          <p:cNvSpPr txBox="1">
            <a:spLocks noChangeArrowheads="1"/>
          </p:cNvSpPr>
          <p:nvPr/>
        </p:nvSpPr>
        <p:spPr bwMode="auto">
          <a:xfrm>
            <a:off x="1403350" y="804863"/>
            <a:ext cx="6048375"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例题</a:t>
            </a:r>
          </a:p>
        </p:txBody>
      </p:sp>
      <p:pic>
        <p:nvPicPr>
          <p:cNvPr id="4199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649289" y="1878083"/>
            <a:ext cx="6210925" cy="501163"/>
          </a:xfrm>
          <a:prstGeom prst="rect">
            <a:avLst/>
          </a:prstGeom>
          <a:blipFill rotWithShape="0">
            <a:blip r:embed="rId4"/>
            <a:stretch>
              <a:fillRect l="-1572" t="-6098" r="-196" b="-23171"/>
            </a:stretch>
          </a:blipFill>
        </p:spPr>
        <p:txBody>
          <a:bodyPr/>
          <a:lstStyle/>
          <a:p>
            <a:pPr>
              <a:defRPr/>
            </a:pPr>
            <a:r>
              <a:rPr lang="zh-CN" altLang="en-US">
                <a:noFill/>
              </a:rPr>
              <a:t> </a:t>
            </a:r>
          </a:p>
        </p:txBody>
      </p:sp>
      <p:pic>
        <p:nvPicPr>
          <p:cNvPr id="41992" name="图片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84363" y="2625725"/>
            <a:ext cx="508635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3" name="文本框 10"/>
          <p:cNvSpPr txBox="1">
            <a:spLocks noChangeArrowheads="1"/>
          </p:cNvSpPr>
          <p:nvPr/>
        </p:nvSpPr>
        <p:spPr bwMode="auto">
          <a:xfrm>
            <a:off x="1630363" y="3652838"/>
            <a:ext cx="62118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a:latin typeface="黑体" panose="02010609060101010101" pitchFamily="49" charset="-122"/>
                <a:ea typeface="黑体" panose="02010609060101010101" pitchFamily="49" charset="-122"/>
              </a:rPr>
              <a:t>【例</a:t>
            </a:r>
            <a:r>
              <a:rPr lang="en-US" altLang="zh-CN">
                <a:latin typeface="黑体" panose="02010609060101010101" pitchFamily="49" charset="-122"/>
                <a:ea typeface="黑体" panose="02010609060101010101" pitchFamily="49" charset="-122"/>
              </a:rPr>
              <a:t>2</a:t>
            </a:r>
            <a:r>
              <a:rPr lang="zh-CN" altLang="zh-CN">
                <a:latin typeface="黑体" panose="02010609060101010101" pitchFamily="49" charset="-122"/>
                <a:ea typeface="黑体" panose="02010609060101010101" pitchFamily="49" charset="-122"/>
              </a:rPr>
              <a:t>】求</a:t>
            </a:r>
            <a:r>
              <a:rPr lang="en-US" altLang="zh-CN">
                <a:latin typeface="黑体" panose="02010609060101010101" pitchFamily="49" charset="-122"/>
                <a:ea typeface="黑体" panose="02010609060101010101" pitchFamily="49" charset="-122"/>
              </a:rPr>
              <a:t>132</a:t>
            </a:r>
            <a:r>
              <a:rPr lang="zh-CN" altLang="zh-CN">
                <a:latin typeface="黑体" panose="02010609060101010101" pitchFamily="49" charset="-122"/>
                <a:ea typeface="黑体" panose="02010609060101010101" pitchFamily="49" charset="-122"/>
              </a:rPr>
              <a:t>与</a:t>
            </a:r>
            <a:r>
              <a:rPr lang="en-US" altLang="zh-CN">
                <a:latin typeface="黑体" panose="02010609060101010101" pitchFamily="49" charset="-122"/>
                <a:ea typeface="黑体" panose="02010609060101010101" pitchFamily="49" charset="-122"/>
              </a:rPr>
              <a:t>240</a:t>
            </a:r>
            <a:r>
              <a:rPr lang="zh-CN" altLang="zh-CN">
                <a:latin typeface="黑体" panose="02010609060101010101" pitchFamily="49" charset="-122"/>
                <a:ea typeface="黑体" panose="02010609060101010101" pitchFamily="49" charset="-122"/>
              </a:rPr>
              <a:t>的最大公因数与最小公倍数。</a:t>
            </a:r>
            <a:endParaRPr lang="zh-CN" altLang="en-US">
              <a:latin typeface="黑体" panose="02010609060101010101" pitchFamily="49" charset="-122"/>
              <a:ea typeface="黑体" panose="02010609060101010101" pitchFamily="49" charset="-122"/>
            </a:endParaRPr>
          </a:p>
        </p:txBody>
      </p:sp>
      <p:pic>
        <p:nvPicPr>
          <p:cNvPr id="41994" name="图片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043113" y="4594225"/>
            <a:ext cx="5057775"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1331913" y="1001713"/>
            <a:ext cx="62722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整数的基本知识</a:t>
            </a:r>
          </a:p>
        </p:txBody>
      </p:sp>
      <p:sp>
        <p:nvSpPr>
          <p:cNvPr id="43011" name="Rectangle 3"/>
          <p:cNvSpPr>
            <a:spLocks noGrp="1" noChangeArrowheads="1"/>
          </p:cNvSpPr>
          <p:nvPr>
            <p:ph type="body" sz="half" idx="1"/>
          </p:nvPr>
        </p:nvSpPr>
        <p:spPr>
          <a:xfrm>
            <a:off x="2266950" y="2420938"/>
            <a:ext cx="5400675" cy="3600450"/>
          </a:xfrm>
          <a:noFill/>
        </p:spPr>
        <p:txBody>
          <a:bodyPr lIns="92075" tIns="46038" rIns="92075" bIns="46038"/>
          <a:lstStyle/>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整数与整数除法</a:t>
            </a:r>
            <a:endParaRPr lang="en-US" altLang="zh-CN" sz="3600" b="1" dirty="0" smtClean="0">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整数的因数分解</a:t>
            </a:r>
          </a:p>
          <a:p>
            <a:pPr>
              <a:lnSpc>
                <a:spcPct val="130000"/>
              </a:lnSpc>
              <a:spcBef>
                <a:spcPct val="30000"/>
              </a:spcBef>
              <a:buFont typeface="Wingdings" panose="05000000000000000000" pitchFamily="2" charset="2"/>
              <a:buChar char="J"/>
            </a:pPr>
            <a:r>
              <a:rPr lang="zh-CN" altLang="en-US" sz="3600" b="1" dirty="0" smtClean="0">
                <a:solidFill>
                  <a:schemeClr val="accent2"/>
                </a:solidFill>
                <a:effectLst/>
                <a:latin typeface="黑体" panose="02010609060101010101" pitchFamily="49" charset="-122"/>
                <a:ea typeface="黑体" panose="02010609060101010101" pitchFamily="49" charset="-122"/>
              </a:rPr>
              <a:t> 素数的性质与查找</a:t>
            </a:r>
            <a:endParaRPr lang="zh-CN" altLang="en-US" sz="3600" b="1" dirty="0" smtClean="0">
              <a:effectLst/>
              <a:latin typeface="黑体" panose="02010609060101010101" pitchFamily="49" charset="-122"/>
              <a:ea typeface="黑体" panose="02010609060101010101" pitchFamily="49" charset="-122"/>
            </a:endParaRPr>
          </a:p>
        </p:txBody>
      </p:sp>
      <p:pic>
        <p:nvPicPr>
          <p:cNvPr id="4301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4"/>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5"/>
          <p:cNvSpPr>
            <a:spLocks noGrp="1"/>
          </p:cNvSpPr>
          <p:nvPr>
            <p:ph type="ftr" sz="quarter" idx="11"/>
          </p:nvPr>
        </p:nvSpPr>
        <p:spPr/>
        <p:txBody>
          <a:bodyPr/>
          <a:lstStyle/>
          <a:p>
            <a:pPr>
              <a:defRPr/>
            </a:pPr>
            <a:r>
              <a:rPr lang="zh-CN" altLang="en-US"/>
              <a:t>计算机应用技术研究所</a:t>
            </a:r>
          </a:p>
        </p:txBody>
      </p:sp>
      <p:sp>
        <p:nvSpPr>
          <p:cNvPr id="15" name="灯片编号占位符 6"/>
          <p:cNvSpPr>
            <a:spLocks noGrp="1"/>
          </p:cNvSpPr>
          <p:nvPr>
            <p:ph type="sldNum" sz="quarter" idx="12"/>
          </p:nvPr>
        </p:nvSpPr>
        <p:spPr/>
        <p:txBody>
          <a:bodyPr/>
          <a:lstStyle/>
          <a:p>
            <a:pPr>
              <a:defRPr/>
            </a:pPr>
            <a:fld id="{E51590D1-5762-4D8D-9AB4-67E75FB8D0AE}" type="slidenum">
              <a:rPr lang="en-US" altLang="zh-CN"/>
              <a:pPr>
                <a:defRPr/>
              </a:pPr>
              <a:t>43</a:t>
            </a:fld>
            <a:endParaRPr lang="en-US" altLang="zh-CN"/>
          </a:p>
        </p:txBody>
      </p:sp>
      <p:sp>
        <p:nvSpPr>
          <p:cNvPr id="44037" name="Text Box 2"/>
          <p:cNvSpPr txBox="1">
            <a:spLocks noChangeArrowheads="1"/>
          </p:cNvSpPr>
          <p:nvPr/>
        </p:nvSpPr>
        <p:spPr bwMode="auto">
          <a:xfrm>
            <a:off x="1403350" y="588963"/>
            <a:ext cx="6048375"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素数的性质</a:t>
            </a:r>
          </a:p>
        </p:txBody>
      </p:sp>
      <p:pic>
        <p:nvPicPr>
          <p:cNvPr id="4403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9" name="文本框 3"/>
          <p:cNvSpPr txBox="1">
            <a:spLocks noChangeArrowheads="1"/>
          </p:cNvSpPr>
          <p:nvPr/>
        </p:nvSpPr>
        <p:spPr bwMode="auto">
          <a:xfrm>
            <a:off x="1008063" y="1706563"/>
            <a:ext cx="6838950" cy="16319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a:latin typeface="华文新魏" panose="02010800040101010101" pitchFamily="2" charset="-122"/>
                <a:ea typeface="华文新魏" panose="02010800040101010101" pitchFamily="2" charset="-122"/>
              </a:rPr>
              <a:t>如果一个问题的求解过程复杂度远高于其设立过程复杂度，那么它就有潜力被设计为一个密码学算法。至于像公钥密码这种天才的构想，就需要这个问题难的同时还具有一些特殊特性。目前为止，公钥密码在本质上也就</a:t>
            </a:r>
            <a:r>
              <a:rPr lang="en-US" altLang="zh-CN" sz="2000">
                <a:latin typeface="华文新魏" panose="02010800040101010101" pitchFamily="2" charset="-122"/>
                <a:ea typeface="华文新魏" panose="02010800040101010101" pitchFamily="2" charset="-122"/>
              </a:rPr>
              <a:t>RSA</a:t>
            </a:r>
            <a:r>
              <a:rPr lang="zh-CN" altLang="en-US" sz="2000">
                <a:latin typeface="华文新魏" panose="02010800040101010101" pitchFamily="2" charset="-122"/>
                <a:ea typeface="华文新魏" panose="02010800040101010101" pitchFamily="2" charset="-122"/>
              </a:rPr>
              <a:t>和椭圆曲线两套内核而已，在二者中素数都有很重要的地位。</a:t>
            </a:r>
          </a:p>
        </p:txBody>
      </p:sp>
      <p:sp>
        <p:nvSpPr>
          <p:cNvPr id="5" name="七边形 4"/>
          <p:cNvSpPr/>
          <p:nvPr/>
        </p:nvSpPr>
        <p:spPr bwMode="auto">
          <a:xfrm>
            <a:off x="2706688" y="3351213"/>
            <a:ext cx="3313112" cy="2220912"/>
          </a:xfrm>
          <a:prstGeom prst="heptagon">
            <a:avLst/>
          </a:prstGeom>
          <a:solidFill>
            <a:schemeClr val="bg1">
              <a:lumMod val="75000"/>
            </a:schemeClr>
          </a:solidFill>
          <a:ln>
            <a:noFill/>
          </a:ln>
          <a:effectLst/>
          <a:extLst/>
        </p:spPr>
        <p:txBody>
          <a:bodyPr/>
          <a:lstStyle/>
          <a:p>
            <a:pPr algn="ctr" eaLnBrk="1" hangingPunct="1">
              <a:spcBef>
                <a:spcPct val="20000"/>
              </a:spcBef>
              <a:defRPr/>
            </a:pPr>
            <a:endParaRPr lang="zh-CN" altLang="en-US" sz="3200">
              <a:latin typeface="宋体" panose="02010600030101010101" pitchFamily="2" charset="-122"/>
              <a:ea typeface="宋体" panose="02010600030101010101" pitchFamily="2" charset="-122"/>
            </a:endParaRPr>
          </a:p>
        </p:txBody>
      </p:sp>
      <p:sp>
        <p:nvSpPr>
          <p:cNvPr id="6" name="文本框 5"/>
          <p:cNvSpPr txBox="1"/>
          <p:nvPr/>
        </p:nvSpPr>
        <p:spPr>
          <a:xfrm>
            <a:off x="3203575" y="3968750"/>
            <a:ext cx="2736850" cy="1200150"/>
          </a:xfrm>
          <a:prstGeom prst="rect">
            <a:avLst/>
          </a:prstGeom>
          <a:noFill/>
        </p:spPr>
        <p:txBody>
          <a:bodyPr>
            <a:spAutoFit/>
          </a:bodyPr>
          <a:lstStyle/>
          <a:p>
            <a:pPr>
              <a:defRPr/>
            </a:pPr>
            <a:r>
              <a:rPr lang="zh-CN" altLang="en-US" dirty="0">
                <a:solidFill>
                  <a:schemeClr val="accent2">
                    <a:lumMod val="60000"/>
                    <a:lumOff val="40000"/>
                  </a:schemeClr>
                </a:solidFill>
              </a:rPr>
              <a:t>那素数又有哪些比较好的性质值得我们去学习呢？</a:t>
            </a:r>
          </a:p>
        </p:txBody>
      </p:sp>
      <p:pic>
        <p:nvPicPr>
          <p:cNvPr id="44042" name="图片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1675" y="3783013"/>
            <a:ext cx="1935163" cy="178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右箭头 9"/>
          <p:cNvSpPr/>
          <p:nvPr/>
        </p:nvSpPr>
        <p:spPr bwMode="auto">
          <a:xfrm>
            <a:off x="6051550" y="4568825"/>
            <a:ext cx="1431925" cy="287338"/>
          </a:xfrm>
          <a:prstGeom prst="rightArrow">
            <a:avLst>
              <a:gd name="adj1" fmla="val 50000"/>
              <a:gd name="adj2" fmla="val 82945"/>
            </a:avLst>
          </a:prstGeom>
          <a:solidFill>
            <a:schemeClr val="accent1">
              <a:lumMod val="75000"/>
            </a:schemeClr>
          </a:solidFill>
          <a:ln>
            <a:noFill/>
          </a:ln>
          <a:effectLst/>
          <a:extLst/>
        </p:spPr>
        <p:txBody>
          <a:bodyPr/>
          <a:lstStyle/>
          <a:p>
            <a:pPr algn="ctr" eaLnBrk="1" hangingPunct="1">
              <a:spcBef>
                <a:spcPct val="20000"/>
              </a:spcBef>
              <a:defRPr/>
            </a:pPr>
            <a:endParaRPr lang="zh-CN" altLang="en-US" sz="3200">
              <a:latin typeface="宋体" panose="02010600030101010101" pitchFamily="2" charset="-122"/>
              <a:ea typeface="宋体" panose="02010600030101010101" pitchFamily="2" charset="-122"/>
            </a:endParaRPr>
          </a:p>
        </p:txBody>
      </p:sp>
      <p:sp>
        <p:nvSpPr>
          <p:cNvPr id="11" name="文本框 10"/>
          <p:cNvSpPr txBox="1"/>
          <p:nvPr/>
        </p:nvSpPr>
        <p:spPr>
          <a:xfrm>
            <a:off x="7479939" y="3599209"/>
            <a:ext cx="1530796" cy="1938992"/>
          </a:xfrm>
          <a:prstGeom prst="rect">
            <a:avLst/>
          </a:prstGeom>
          <a:noFill/>
          <a:ln w="25400">
            <a:solidFill>
              <a:srgbClr val="FF9966"/>
            </a:solidFill>
            <a:prstDash val="sysDot"/>
          </a:ln>
          <a:effectLst>
            <a:glow rad="228600">
              <a:schemeClr val="accent5">
                <a:satMod val="175000"/>
                <a:alpha val="40000"/>
              </a:schemeClr>
            </a:glow>
          </a:effectLst>
        </p:spPr>
        <p:txBody>
          <a:bodyPr>
            <a:spAutoFit/>
          </a:bodyPr>
          <a:lstStyle/>
          <a:p>
            <a:pPr>
              <a:defRPr/>
            </a:pPr>
            <a:r>
              <a:rPr lang="zh-CN" altLang="en-US" sz="2000" dirty="0">
                <a:effectLst>
                  <a:glow rad="63500">
                    <a:schemeClr val="accent2">
                      <a:satMod val="175000"/>
                      <a:alpha val="40000"/>
                    </a:schemeClr>
                  </a:glow>
                  <a:outerShdw blurRad="50800" dist="38100" algn="l" rotWithShape="0">
                    <a:prstClr val="black">
                      <a:alpha val="40000"/>
                    </a:prstClr>
                  </a:outerShdw>
                </a:effectLst>
                <a:latin typeface="方正舒体" panose="02010601030101010101" pitchFamily="2" charset="-122"/>
                <a:ea typeface="方正舒体" panose="02010601030101010101" pitchFamily="2" charset="-122"/>
              </a:rPr>
              <a:t>要好好学习这些性质！这也是后面我们</a:t>
            </a:r>
            <a:r>
              <a:rPr lang="zh-CN" altLang="en-US" sz="2000" dirty="0" smtClean="0">
                <a:effectLst>
                  <a:glow rad="63500">
                    <a:schemeClr val="accent2">
                      <a:satMod val="175000"/>
                      <a:alpha val="40000"/>
                    </a:schemeClr>
                  </a:glow>
                  <a:outerShdw blurRad="50800" dist="38100" algn="l" rotWithShape="0">
                    <a:prstClr val="black">
                      <a:alpha val="40000"/>
                    </a:prstClr>
                  </a:outerShdw>
                </a:effectLst>
                <a:latin typeface="方正舒体" panose="02010601030101010101" pitchFamily="2" charset="-122"/>
                <a:ea typeface="方正舒体" panose="02010601030101010101" pitchFamily="2" charset="-122"/>
              </a:rPr>
              <a:t>学习加密算法</a:t>
            </a:r>
            <a:r>
              <a:rPr lang="zh-CN" altLang="en-US" sz="2000" dirty="0">
                <a:effectLst>
                  <a:glow rad="63500">
                    <a:schemeClr val="accent2">
                      <a:satMod val="175000"/>
                      <a:alpha val="40000"/>
                    </a:schemeClr>
                  </a:glow>
                  <a:outerShdw blurRad="50800" dist="38100" algn="l" rotWithShape="0">
                    <a:prstClr val="black">
                      <a:alpha val="40000"/>
                    </a:prstClr>
                  </a:outerShdw>
                </a:effectLst>
                <a:latin typeface="方正舒体" panose="02010601030101010101" pitchFamily="2" charset="-122"/>
                <a:ea typeface="方正舒体" panose="02010601030101010101" pitchFamily="2" charset="-122"/>
              </a:rPr>
              <a:t>的基础。</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1"/>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2"/>
          <p:cNvSpPr>
            <a:spLocks noGrp="1"/>
          </p:cNvSpPr>
          <p:nvPr>
            <p:ph type="ftr" sz="quarter" idx="11"/>
          </p:nvPr>
        </p:nvSpPr>
        <p:spPr/>
        <p:txBody>
          <a:bodyPr/>
          <a:lstStyle/>
          <a:p>
            <a:pPr>
              <a:defRPr/>
            </a:pPr>
            <a:r>
              <a:rPr lang="zh-CN" altLang="en-US"/>
              <a:t>计算机应用技术研究所</a:t>
            </a:r>
          </a:p>
        </p:txBody>
      </p:sp>
      <p:sp>
        <p:nvSpPr>
          <p:cNvPr id="8" name="灯片编号占位符 3"/>
          <p:cNvSpPr>
            <a:spLocks noGrp="1"/>
          </p:cNvSpPr>
          <p:nvPr>
            <p:ph type="sldNum" sz="quarter" idx="12"/>
          </p:nvPr>
        </p:nvSpPr>
        <p:spPr/>
        <p:txBody>
          <a:bodyPr/>
          <a:lstStyle/>
          <a:p>
            <a:pPr>
              <a:defRPr/>
            </a:pPr>
            <a:fld id="{5408C342-DE5B-48D2-8BAE-B1F5FBD38DE7}" type="slidenum">
              <a:rPr lang="en-US" altLang="zh-CN"/>
              <a:pPr>
                <a:defRPr/>
              </a:pPr>
              <a:t>44</a:t>
            </a:fld>
            <a:endParaRPr lang="en-US" altLang="zh-CN" dirty="0"/>
          </a:p>
        </p:txBody>
      </p:sp>
      <p:sp>
        <p:nvSpPr>
          <p:cNvPr id="45061" name="Text Box 2"/>
          <p:cNvSpPr txBox="1">
            <a:spLocks noChangeArrowheads="1"/>
          </p:cNvSpPr>
          <p:nvPr/>
        </p:nvSpPr>
        <p:spPr bwMode="auto">
          <a:xfrm>
            <a:off x="1403350" y="588963"/>
            <a:ext cx="60483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素数的性质</a:t>
            </a:r>
          </a:p>
        </p:txBody>
      </p:sp>
      <p:pic>
        <p:nvPicPr>
          <p:cNvPr id="4506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376363" y="1951038"/>
            <a:ext cx="6232525" cy="1016000"/>
          </a:xfrm>
          <a:prstGeom prst="rect">
            <a:avLst/>
          </a:prstGeom>
          <a:noFill/>
          <a:ln w="22225">
            <a:solidFill>
              <a:schemeClr val="accent2">
                <a:lumMod val="60000"/>
                <a:lumOff val="40000"/>
              </a:schemeClr>
            </a:solidFill>
          </a:ln>
        </p:spPr>
        <p:txBody>
          <a:bodyPr>
            <a:spAutoFit/>
          </a:bodyPr>
          <a:lstStyle/>
          <a:p>
            <a:pPr>
              <a:defRPr/>
            </a:pPr>
            <a:r>
              <a:rPr lang="zh-CN" altLang="zh-CN" sz="2000" b="1" dirty="0"/>
              <a:t>【定理</a:t>
            </a:r>
            <a:r>
              <a:rPr lang="en-US" altLang="zh-CN" sz="2000" b="1" dirty="0"/>
              <a:t>2.15</a:t>
            </a:r>
            <a:r>
              <a:rPr lang="zh-CN" altLang="zh-CN" sz="2000" b="1" dirty="0"/>
              <a:t>】</a:t>
            </a:r>
            <a:r>
              <a:rPr lang="zh-CN" altLang="zh-CN" sz="2000" dirty="0"/>
              <a:t>假设</a:t>
            </a:r>
            <a:r>
              <a:rPr lang="en-US" altLang="zh-CN" sz="2000" i="1" dirty="0"/>
              <a:t>p</a:t>
            </a:r>
            <a:r>
              <a:rPr lang="zh-CN" altLang="zh-CN" sz="2000" dirty="0"/>
              <a:t>是任意一个给定的素数，则它与其它任意整数</a:t>
            </a:r>
            <a:r>
              <a:rPr lang="en-US" altLang="zh-CN" sz="2000" i="1" dirty="0"/>
              <a:t>a</a:t>
            </a:r>
            <a:r>
              <a:rPr lang="zh-CN" altLang="zh-CN" sz="2000" dirty="0"/>
              <a:t>之间的关系是：要么</a:t>
            </a:r>
            <a:r>
              <a:rPr lang="en-US" altLang="zh-CN" sz="2000" i="1" dirty="0"/>
              <a:t>p</a:t>
            </a:r>
            <a:r>
              <a:rPr lang="zh-CN" altLang="zh-CN" sz="2000" dirty="0"/>
              <a:t>与</a:t>
            </a:r>
            <a:r>
              <a:rPr lang="en-US" altLang="zh-CN" sz="2000" i="1" dirty="0"/>
              <a:t>a</a:t>
            </a:r>
            <a:r>
              <a:rPr lang="zh-CN" altLang="zh-CN" sz="2000" dirty="0"/>
              <a:t>互素，要么</a:t>
            </a:r>
            <a:r>
              <a:rPr lang="en-US" altLang="zh-CN" sz="2000" i="1" dirty="0"/>
              <a:t>p</a:t>
            </a:r>
            <a:r>
              <a:rPr lang="zh-CN" altLang="zh-CN" sz="2000" dirty="0"/>
              <a:t>能够整除</a:t>
            </a:r>
            <a:r>
              <a:rPr lang="en-US" altLang="zh-CN" sz="2000" i="1" dirty="0"/>
              <a:t>a</a:t>
            </a:r>
            <a:r>
              <a:rPr lang="zh-CN" altLang="zh-CN" sz="2000" dirty="0"/>
              <a:t>。</a:t>
            </a:r>
            <a:endParaRPr lang="zh-CN" altLang="en-US" sz="2000" dirty="0"/>
          </a:p>
        </p:txBody>
      </p:sp>
      <p:sp>
        <p:nvSpPr>
          <p:cNvPr id="3" name="文本框 2"/>
          <p:cNvSpPr txBox="1">
            <a:spLocks noRot="1" noChangeAspect="1" noMove="1" noResize="1" noEditPoints="1" noAdjustHandles="1" noChangeArrowheads="1" noChangeShapeType="1" noTextEdit="1"/>
          </p:cNvSpPr>
          <p:nvPr/>
        </p:nvSpPr>
        <p:spPr>
          <a:xfrm>
            <a:off x="827584" y="3182413"/>
            <a:ext cx="7849021" cy="2014206"/>
          </a:xfrm>
          <a:prstGeom prst="rect">
            <a:avLst/>
          </a:prstGeom>
          <a:blipFill rotWithShape="0">
            <a:blip r:embed="rId4"/>
            <a:stretch>
              <a:fillRect l="-1243" t="-2424" b="-6061"/>
            </a:stretch>
          </a:blipFill>
        </p:spPr>
        <p:txBody>
          <a:bodyPr/>
          <a:lstStyle/>
          <a:p>
            <a:pPr>
              <a:defRPr/>
            </a:pPr>
            <a:r>
              <a:rPr lang="zh-CN" altLang="en-US">
                <a:noFill/>
              </a:rPr>
              <a:t> </a:t>
            </a:r>
          </a:p>
        </p:txBody>
      </p:sp>
      <p:sp>
        <p:nvSpPr>
          <p:cNvPr id="45065" name="左弧形箭头 4"/>
          <p:cNvSpPr>
            <a:spLocks noChangeArrowheads="1"/>
          </p:cNvSpPr>
          <p:nvPr/>
        </p:nvSpPr>
        <p:spPr bwMode="auto">
          <a:xfrm>
            <a:off x="39688" y="5013325"/>
            <a:ext cx="787400" cy="1079500"/>
          </a:xfrm>
          <a:prstGeom prst="curvedRightArrow">
            <a:avLst>
              <a:gd name="adj1" fmla="val 18349"/>
              <a:gd name="adj2" fmla="val 50047"/>
              <a:gd name="adj3" fmla="val 25000"/>
            </a:avLst>
          </a:prstGeom>
          <a:solidFill>
            <a:srgbClr val="66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45066" name="文本框 8"/>
          <p:cNvSpPr txBox="1">
            <a:spLocks noChangeArrowheads="1"/>
          </p:cNvSpPr>
          <p:nvPr/>
        </p:nvSpPr>
        <p:spPr bwMode="auto">
          <a:xfrm>
            <a:off x="1168400" y="5364163"/>
            <a:ext cx="6337300" cy="923925"/>
          </a:xfrm>
          <a:prstGeom prst="rect">
            <a:avLst/>
          </a:prstGeom>
          <a:noFill/>
          <a:ln w="25400" cmpd="dbl">
            <a:solidFill>
              <a:srgbClr val="FF66FF"/>
            </a:solidFill>
            <a:prstDash val="sys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1800">
                <a:latin typeface="方正舒体" panose="02010601030101010101" pitchFamily="2" charset="-122"/>
                <a:ea typeface="方正舒体" panose="02010601030101010101" pitchFamily="2" charset="-122"/>
              </a:rPr>
              <a:t>素数的一个非常独特性质是它与其它整数之间具有如</a:t>
            </a:r>
            <a:r>
              <a:rPr lang="zh-CN" altLang="en-US" sz="1800">
                <a:latin typeface="方正舒体" panose="02010601030101010101" pitchFamily="2" charset="-122"/>
                <a:ea typeface="方正舒体" panose="02010601030101010101" pitchFamily="2" charset="-122"/>
              </a:rPr>
              <a:t>上</a:t>
            </a:r>
            <a:r>
              <a:rPr lang="zh-CN" altLang="zh-CN" sz="1800">
                <a:latin typeface="方正舒体" panose="02010601030101010101" pitchFamily="2" charset="-122"/>
                <a:ea typeface="方正舒体" panose="02010601030101010101" pitchFamily="2" charset="-122"/>
              </a:rPr>
              <a:t>非常简单而直接的关系，这种简单直接的关系是使用素数考察整数性质的基础。</a:t>
            </a:r>
            <a:endParaRPr lang="zh-CN" altLang="en-US" sz="1800">
              <a:latin typeface="方正舒体" panose="02010601030101010101" pitchFamily="2" charset="-122"/>
              <a:ea typeface="方正舒体" panose="02010601030101010101" pitchFamily="2"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1"/>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2"/>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7" name="灯片编号占位符 3"/>
          <p:cNvSpPr>
            <a:spLocks noGrp="1"/>
          </p:cNvSpPr>
          <p:nvPr>
            <p:ph type="sldNum" sz="quarter" idx="12"/>
          </p:nvPr>
        </p:nvSpPr>
        <p:spPr/>
        <p:txBody>
          <a:bodyPr/>
          <a:lstStyle/>
          <a:p>
            <a:pPr>
              <a:defRPr/>
            </a:pPr>
            <a:fld id="{5B25D4B5-F3B9-4CB6-A45B-38F649013AA8}" type="slidenum">
              <a:rPr lang="en-US" altLang="zh-CN"/>
              <a:pPr>
                <a:defRPr/>
              </a:pPr>
              <a:t>45</a:t>
            </a:fld>
            <a:endParaRPr lang="en-US" altLang="zh-CN"/>
          </a:p>
        </p:txBody>
      </p:sp>
      <p:sp>
        <p:nvSpPr>
          <p:cNvPr id="46085" name="Text Box 2"/>
          <p:cNvSpPr txBox="1">
            <a:spLocks noChangeArrowheads="1"/>
          </p:cNvSpPr>
          <p:nvPr/>
        </p:nvSpPr>
        <p:spPr bwMode="auto">
          <a:xfrm>
            <a:off x="1403350" y="876300"/>
            <a:ext cx="60483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素数的性质</a:t>
            </a:r>
          </a:p>
        </p:txBody>
      </p:sp>
      <p:pic>
        <p:nvPicPr>
          <p:cNvPr id="4608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a:spLocks noRot="1" noChangeAspect="1" noMove="1" noResize="1" noEditPoints="1" noAdjustHandles="1" noChangeArrowheads="1" noChangeShapeType="1" noTextEdit="1"/>
          </p:cNvSpPr>
          <p:nvPr/>
        </p:nvSpPr>
        <p:spPr>
          <a:xfrm>
            <a:off x="1450354" y="2052862"/>
            <a:ext cx="6231807" cy="1631216"/>
          </a:xfrm>
          <a:prstGeom prst="rect">
            <a:avLst/>
          </a:prstGeom>
          <a:blipFill rotWithShape="0">
            <a:blip r:embed="rId4"/>
            <a:stretch>
              <a:fillRect l="-877" t="-1476" r="-487" b="-4428"/>
            </a:stretch>
          </a:blipFill>
          <a:ln w="22225">
            <a:solidFill>
              <a:schemeClr val="accent2">
                <a:lumMod val="60000"/>
                <a:lumOff val="40000"/>
              </a:schemeClr>
            </a:solidFill>
          </a:ln>
        </p:spPr>
        <p:txBody>
          <a:bodyPr/>
          <a:lstStyle/>
          <a:p>
            <a:pPr>
              <a:defRPr/>
            </a:pPr>
            <a:r>
              <a:rPr lang="zh-CN" altLang="en-US">
                <a:noFill/>
              </a:rPr>
              <a:t> </a:t>
            </a:r>
          </a:p>
        </p:txBody>
      </p:sp>
      <p:pic>
        <p:nvPicPr>
          <p:cNvPr id="46088"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79525" y="3978275"/>
            <a:ext cx="66008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a:xfrm>
            <a:off x="6588125" y="6400800"/>
            <a:ext cx="1905000" cy="457200"/>
          </a:xfrm>
        </p:spPr>
        <p:txBody>
          <a:bodyPr/>
          <a:lstStyle/>
          <a:p>
            <a:pPr>
              <a:defRPr/>
            </a:pPr>
            <a:fld id="{A8ED561E-F459-4294-8D4D-A005E6122375}" type="slidenum">
              <a:rPr lang="en-US" altLang="zh-CN"/>
              <a:pPr>
                <a:defRPr/>
              </a:pPr>
              <a:t>46</a:t>
            </a:fld>
            <a:endParaRPr lang="en-US" altLang="zh-CN"/>
          </a:p>
        </p:txBody>
      </p:sp>
      <p:sp>
        <p:nvSpPr>
          <p:cNvPr id="47109" name="Text Box 2"/>
          <p:cNvSpPr txBox="1">
            <a:spLocks noChangeArrowheads="1"/>
          </p:cNvSpPr>
          <p:nvPr/>
        </p:nvSpPr>
        <p:spPr bwMode="auto">
          <a:xfrm>
            <a:off x="1403350" y="804863"/>
            <a:ext cx="6192838"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素数的查找</a:t>
            </a:r>
          </a:p>
        </p:txBody>
      </p:sp>
      <p:pic>
        <p:nvPicPr>
          <p:cNvPr id="4711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1455738" y="1916113"/>
            <a:ext cx="6232525" cy="708025"/>
          </a:xfrm>
          <a:prstGeom prst="rect">
            <a:avLst/>
          </a:prstGeom>
          <a:noFill/>
          <a:ln w="22225">
            <a:solidFill>
              <a:schemeClr val="accent2">
                <a:lumMod val="60000"/>
                <a:lumOff val="40000"/>
              </a:schemeClr>
            </a:solidFill>
          </a:ln>
        </p:spPr>
        <p:txBody>
          <a:bodyPr>
            <a:spAutoFit/>
          </a:bodyPr>
          <a:lstStyle/>
          <a:p>
            <a:pPr>
              <a:defRPr/>
            </a:pPr>
            <a:r>
              <a:rPr lang="zh-CN" altLang="zh-CN" sz="2000" dirty="0"/>
              <a:t>下面讨论素数的计数问题。首先考虑在整个正整数集合中，到底有多少个素数？下面的定理给出了答案：</a:t>
            </a:r>
            <a:endParaRPr lang="zh-CN" altLang="en-US" sz="2000" dirty="0"/>
          </a:p>
        </p:txBody>
      </p:sp>
      <p:sp>
        <p:nvSpPr>
          <p:cNvPr id="3" name="文本框 2"/>
          <p:cNvSpPr txBox="1"/>
          <p:nvPr/>
        </p:nvSpPr>
        <p:spPr>
          <a:xfrm>
            <a:off x="1166813" y="2913063"/>
            <a:ext cx="6665912" cy="461962"/>
          </a:xfrm>
          <a:prstGeom prst="rect">
            <a:avLst/>
          </a:prstGeom>
          <a:solidFill>
            <a:srgbClr val="CCFFFF"/>
          </a:solidFill>
          <a:ln w="19050">
            <a:solidFill>
              <a:schemeClr val="bg2">
                <a:lumMod val="60000"/>
                <a:lumOff val="40000"/>
              </a:schemeClr>
            </a:solidFill>
          </a:ln>
        </p:spPr>
        <p:txBody>
          <a:bodyPr>
            <a:spAutoFit/>
          </a:bodyPr>
          <a:lstStyle/>
          <a:p>
            <a:pPr>
              <a:defRPr/>
            </a:pPr>
            <a:r>
              <a:rPr lang="zh-CN" altLang="zh-CN" dirty="0">
                <a:solidFill>
                  <a:srgbClr val="FF0000"/>
                </a:solidFill>
              </a:rPr>
              <a:t>【</a:t>
            </a:r>
            <a:r>
              <a:rPr lang="zh-CN" altLang="zh-CN" b="1" dirty="0">
                <a:solidFill>
                  <a:srgbClr val="FF0000"/>
                </a:solidFill>
              </a:rPr>
              <a:t>定理</a:t>
            </a:r>
            <a:r>
              <a:rPr lang="en-US" altLang="zh-CN" b="1" dirty="0">
                <a:solidFill>
                  <a:srgbClr val="FF0000"/>
                </a:solidFill>
              </a:rPr>
              <a:t>2.17</a:t>
            </a:r>
            <a:r>
              <a:rPr lang="zh-CN" altLang="zh-CN" dirty="0">
                <a:solidFill>
                  <a:srgbClr val="FF0000"/>
                </a:solidFill>
              </a:rPr>
              <a:t>】正整数集合中的素数有无穷多个。</a:t>
            </a:r>
            <a:endParaRPr lang="zh-CN" altLang="en-US" dirty="0">
              <a:solidFill>
                <a:srgbClr val="FF0000"/>
              </a:solidFill>
            </a:endParaRPr>
          </a:p>
        </p:txBody>
      </p:sp>
      <p:pic>
        <p:nvPicPr>
          <p:cNvPr id="47113"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3662363"/>
            <a:ext cx="6561138"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a:xfrm>
            <a:off x="684213" y="6400800"/>
            <a:ext cx="1905000" cy="457200"/>
          </a:xfrm>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15DD1A4C-0362-4EA0-81FC-AE857C88E3C2}" type="slidenum">
              <a:rPr lang="en-US" altLang="zh-CN"/>
              <a:pPr>
                <a:defRPr/>
              </a:pPr>
              <a:t>47</a:t>
            </a:fld>
            <a:endParaRPr lang="en-US" altLang="zh-CN"/>
          </a:p>
        </p:txBody>
      </p:sp>
      <p:pic>
        <p:nvPicPr>
          <p:cNvPr id="48133"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56550" y="549275"/>
            <a:ext cx="1187450"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Rectangle 4"/>
          <p:cNvSpPr>
            <a:spLocks noChangeArrowheads="1"/>
          </p:cNvSpPr>
          <p:nvPr/>
        </p:nvSpPr>
        <p:spPr bwMode="auto">
          <a:xfrm>
            <a:off x="1282700" y="2033588"/>
            <a:ext cx="6626225" cy="1077912"/>
          </a:xfrm>
          <a:prstGeom prst="rect">
            <a:avLst/>
          </a:prstGeom>
          <a:solidFill>
            <a:srgbClr val="CCFFFF"/>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Clr>
                <a:srgbClr val="00FF00"/>
              </a:buClr>
              <a:buFont typeface="Wingdings" panose="05000000000000000000" pitchFamily="2" charset="2"/>
              <a:buNone/>
            </a:pPr>
            <a:r>
              <a:rPr lang="zh-CN" altLang="en-US" sz="3200" b="1">
                <a:latin typeface="黑体" panose="02010609060101010101" pitchFamily="49" charset="-122"/>
                <a:ea typeface="黑体" panose="02010609060101010101" pitchFamily="49" charset="-122"/>
                <a:sym typeface="Symbol" panose="05050102010706020507" pitchFamily="18" charset="2"/>
              </a:rPr>
              <a:t>现在我们考虑给定一个正整数集合，如何找到这个集合中的所有素数呢？</a:t>
            </a:r>
          </a:p>
        </p:txBody>
      </p:sp>
      <p:sp>
        <p:nvSpPr>
          <p:cNvPr id="48135" name="Text Box 2"/>
          <p:cNvSpPr txBox="1">
            <a:spLocks noChangeArrowheads="1"/>
          </p:cNvSpPr>
          <p:nvPr/>
        </p:nvSpPr>
        <p:spPr bwMode="auto">
          <a:xfrm>
            <a:off x="1403350" y="804863"/>
            <a:ext cx="6192838"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素数的查找</a:t>
            </a:r>
          </a:p>
        </p:txBody>
      </p:sp>
      <p:sp>
        <p:nvSpPr>
          <p:cNvPr id="48136" name="下箭头 1"/>
          <p:cNvSpPr>
            <a:spLocks noChangeArrowheads="1"/>
          </p:cNvSpPr>
          <p:nvPr/>
        </p:nvSpPr>
        <p:spPr bwMode="auto">
          <a:xfrm>
            <a:off x="4140200" y="3178175"/>
            <a:ext cx="503238" cy="674688"/>
          </a:xfrm>
          <a:prstGeom prst="downArrow">
            <a:avLst>
              <a:gd name="adj1" fmla="val 50000"/>
              <a:gd name="adj2" fmla="val 50009"/>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pic>
        <p:nvPicPr>
          <p:cNvPr id="48137"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63650" y="3875088"/>
            <a:ext cx="6562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8"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90638" y="4749800"/>
            <a:ext cx="6562725"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9" name="页脚占位符 4"/>
          <p:cNvSpPr>
            <a:spLocks noGrp="1"/>
          </p:cNvSpPr>
          <p:nvPr>
            <p:ph type="ftr" sz="quarter" idx="11"/>
          </p:nvPr>
        </p:nvSpPr>
        <p:spPr/>
        <p:txBody>
          <a:bodyPr/>
          <a:lstStyle/>
          <a:p>
            <a:pPr>
              <a:defRPr/>
            </a:pPr>
            <a:r>
              <a:rPr lang="zh-CN" altLang="en-US"/>
              <a:t>计算机应用技术研究所</a:t>
            </a:r>
          </a:p>
        </p:txBody>
      </p:sp>
      <p:sp>
        <p:nvSpPr>
          <p:cNvPr id="10" name="灯片编号占位符 5"/>
          <p:cNvSpPr>
            <a:spLocks noGrp="1"/>
          </p:cNvSpPr>
          <p:nvPr>
            <p:ph type="sldNum" sz="quarter" idx="12"/>
          </p:nvPr>
        </p:nvSpPr>
        <p:spPr/>
        <p:txBody>
          <a:bodyPr/>
          <a:lstStyle/>
          <a:p>
            <a:pPr>
              <a:defRPr/>
            </a:pPr>
            <a:fld id="{2AB507E5-7E03-4DA6-A6E4-9ADD510EF56B}" type="slidenum">
              <a:rPr lang="en-US" altLang="zh-CN"/>
              <a:pPr>
                <a:defRPr/>
              </a:pPr>
              <a:t>48</a:t>
            </a:fld>
            <a:endParaRPr lang="en-US" altLang="zh-CN"/>
          </a:p>
        </p:txBody>
      </p:sp>
      <p:sp>
        <p:nvSpPr>
          <p:cNvPr id="551938" name="Rectangle 2"/>
          <p:cNvSpPr>
            <a:spLocks noGrp="1" noChangeArrowheads="1"/>
          </p:cNvSpPr>
          <p:nvPr>
            <p:ph type="body" idx="1"/>
          </p:nvPr>
        </p:nvSpPr>
        <p:spPr>
          <a:xfrm>
            <a:off x="1474788" y="2024063"/>
            <a:ext cx="6194425" cy="649287"/>
          </a:xfrm>
          <a:solidFill>
            <a:srgbClr val="CCFFFF"/>
          </a:solidFill>
          <a:ln w="28575">
            <a:solidFill>
              <a:schemeClr val="hlink"/>
            </a:solidFill>
            <a:miter lim="800000"/>
            <a:headEnd/>
            <a:tailEnd/>
          </a:ln>
        </p:spPr>
        <p:txBody>
          <a:bodyPr/>
          <a:lstStyle/>
          <a:p>
            <a:pPr eaLnBrk="1" hangingPunct="1">
              <a:lnSpc>
                <a:spcPct val="120000"/>
              </a:lnSpc>
              <a:buFontTx/>
              <a:buNone/>
              <a:defRPr/>
            </a:pPr>
            <a:r>
              <a:rPr lang="en-US" altLang="zh-CN" dirty="0" smtClean="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  </a:t>
            </a:r>
            <a:r>
              <a:rPr lang="zh-CN" altLang="zh-CN" sz="2800" dirty="0" smtClean="0">
                <a:effectLst/>
              </a:rPr>
              <a:t>【例</a:t>
            </a:r>
            <a:r>
              <a:rPr lang="en-US" altLang="zh-CN" sz="2800" dirty="0" smtClean="0">
                <a:effectLst/>
              </a:rPr>
              <a:t>1</a:t>
            </a:r>
            <a:r>
              <a:rPr lang="zh-CN" altLang="zh-CN" sz="2800" dirty="0" smtClean="0">
                <a:effectLst/>
              </a:rPr>
              <a:t>】</a:t>
            </a:r>
            <a:r>
              <a:rPr lang="zh-CN" altLang="zh-CN" sz="2800" dirty="0">
                <a:effectLst/>
              </a:rPr>
              <a:t>判断</a:t>
            </a:r>
            <a:r>
              <a:rPr lang="en-US" altLang="zh-CN" sz="2800" dirty="0">
                <a:effectLst/>
              </a:rPr>
              <a:t>137</a:t>
            </a:r>
            <a:r>
              <a:rPr lang="zh-CN" altLang="zh-CN" sz="2800" dirty="0">
                <a:effectLst/>
              </a:rPr>
              <a:t>和</a:t>
            </a:r>
            <a:r>
              <a:rPr lang="en-US" altLang="zh-CN" sz="2800" dirty="0">
                <a:effectLst/>
              </a:rPr>
              <a:t>157</a:t>
            </a:r>
            <a:r>
              <a:rPr lang="zh-CN" altLang="zh-CN" sz="2800" dirty="0">
                <a:effectLst/>
              </a:rPr>
              <a:t>是否是素数。</a:t>
            </a:r>
          </a:p>
          <a:p>
            <a:pPr eaLnBrk="1" hangingPunct="1">
              <a:lnSpc>
                <a:spcPct val="120000"/>
              </a:lnSpc>
              <a:buFontTx/>
              <a:buNone/>
              <a:defRPr/>
            </a:pPr>
            <a:endParaRPr lang="zh-CN" altLang="en-US" dirty="0" smtClean="0">
              <a:effectLst>
                <a:outerShdw blurRad="38100" dist="38100" dir="2700000" algn="tl">
                  <a:srgbClr val="FFFFFF"/>
                </a:outerShdw>
              </a:effectLst>
              <a:latin typeface="黑体" panose="02010609060101010101" pitchFamily="49" charset="-122"/>
              <a:ea typeface="黑体" panose="02010609060101010101" pitchFamily="49" charset="-122"/>
            </a:endParaRPr>
          </a:p>
        </p:txBody>
      </p:sp>
      <p:sp>
        <p:nvSpPr>
          <p:cNvPr id="49158" name="Text Box 2"/>
          <p:cNvSpPr txBox="1">
            <a:spLocks noChangeArrowheads="1"/>
          </p:cNvSpPr>
          <p:nvPr/>
        </p:nvSpPr>
        <p:spPr bwMode="auto">
          <a:xfrm>
            <a:off x="1331913" y="876300"/>
            <a:ext cx="62642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例题</a:t>
            </a:r>
          </a:p>
        </p:txBody>
      </p:sp>
      <p:pic>
        <p:nvPicPr>
          <p:cNvPr id="4915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3688" y="549275"/>
            <a:ext cx="123031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475408" y="3068960"/>
            <a:ext cx="6193184" cy="2346861"/>
          </a:xfrm>
          <a:prstGeom prst="rect">
            <a:avLst/>
          </a:prstGeom>
          <a:blipFill rotWithShape="0">
            <a:blip r:embed="rId4"/>
            <a:stretch>
              <a:fillRect l="-1275" t="-771" r="-980" b="-4370"/>
            </a:stretch>
          </a:blipFill>
          <a:ln w="25400" cmpd="thickThin">
            <a:solidFill>
              <a:schemeClr val="accent1">
                <a:lumMod val="60000"/>
                <a:lumOff val="40000"/>
              </a:schemeClr>
            </a:solidFill>
            <a:prstDash val="dashDot"/>
          </a:ln>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1"/>
          <p:cNvSpPr>
            <a:spLocks noGrp="1"/>
          </p:cNvSpPr>
          <p:nvPr>
            <p:ph type="dt" sz="quarter" idx="10"/>
          </p:nvPr>
        </p:nvSpPr>
        <p:spPr>
          <a:xfrm>
            <a:off x="684213" y="6400800"/>
            <a:ext cx="1905000" cy="457200"/>
          </a:xfrm>
        </p:spPr>
        <p:txBody>
          <a:bodyPr/>
          <a:lstStyle/>
          <a:p>
            <a:pPr>
              <a:defRPr/>
            </a:pPr>
            <a:fld id="{3F629C76-EA6E-4280-AA98-6DA8B1385DB1}" type="datetime1">
              <a:rPr lang="zh-CN" altLang="en-US"/>
              <a:pPr>
                <a:defRPr/>
              </a:pPr>
              <a:t>2020/9/7</a:t>
            </a:fld>
            <a:endParaRPr lang="en-US" altLang="zh-CN"/>
          </a:p>
        </p:txBody>
      </p:sp>
      <p:sp>
        <p:nvSpPr>
          <p:cNvPr id="7" name="页脚占位符 2"/>
          <p:cNvSpPr>
            <a:spLocks noGrp="1"/>
          </p:cNvSpPr>
          <p:nvPr>
            <p:ph type="ftr" sz="quarter" idx="11"/>
          </p:nvPr>
        </p:nvSpPr>
        <p:spPr/>
        <p:txBody>
          <a:bodyPr/>
          <a:lstStyle/>
          <a:p>
            <a:pPr>
              <a:defRPr/>
            </a:pPr>
            <a:r>
              <a:rPr lang="zh-CN" altLang="en-US"/>
              <a:t>计算机应用技术研究所</a:t>
            </a:r>
          </a:p>
        </p:txBody>
      </p:sp>
      <p:sp>
        <p:nvSpPr>
          <p:cNvPr id="8" name="灯片编号占位符 3"/>
          <p:cNvSpPr>
            <a:spLocks noGrp="1"/>
          </p:cNvSpPr>
          <p:nvPr>
            <p:ph type="sldNum" sz="quarter" idx="12"/>
          </p:nvPr>
        </p:nvSpPr>
        <p:spPr/>
        <p:txBody>
          <a:bodyPr/>
          <a:lstStyle/>
          <a:p>
            <a:pPr>
              <a:defRPr/>
            </a:pPr>
            <a:fld id="{1D67F32A-49DB-41DC-A55B-67092414E299}" type="slidenum">
              <a:rPr lang="en-US" altLang="zh-CN"/>
              <a:pPr>
                <a:defRPr/>
              </a:pPr>
              <a:t>49</a:t>
            </a:fld>
            <a:endParaRPr lang="en-US" altLang="zh-CN"/>
          </a:p>
        </p:txBody>
      </p:sp>
      <p:sp>
        <p:nvSpPr>
          <p:cNvPr id="50181" name="Text Box 2"/>
          <p:cNvSpPr txBox="1">
            <a:spLocks noChangeArrowheads="1"/>
          </p:cNvSpPr>
          <p:nvPr/>
        </p:nvSpPr>
        <p:spPr bwMode="auto">
          <a:xfrm>
            <a:off x="1331913" y="876300"/>
            <a:ext cx="60483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爱氏晒法</a:t>
            </a:r>
          </a:p>
        </p:txBody>
      </p:sp>
      <p:pic>
        <p:nvPicPr>
          <p:cNvPr id="5018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65" name="Rectangle 5"/>
          <p:cNvSpPr>
            <a:spLocks noChangeArrowheads="1"/>
          </p:cNvSpPr>
          <p:nvPr/>
        </p:nvSpPr>
        <p:spPr bwMode="auto">
          <a:xfrm>
            <a:off x="752475" y="2101850"/>
            <a:ext cx="7705725" cy="1295400"/>
          </a:xfrm>
          <a:prstGeom prst="rect">
            <a:avLst/>
          </a:prstGeom>
          <a:solidFill>
            <a:srgbClr val="CCFFFF"/>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marL="0" indent="0" eaLnBrk="1" hangingPunct="1">
              <a:lnSpc>
                <a:spcPct val="120000"/>
              </a:lnSpc>
              <a:buFontTx/>
              <a:buNone/>
              <a:defRPr/>
            </a:pPr>
            <a:r>
              <a:rPr lang="zh-CN" altLang="en-US" dirty="0" smtClean="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下面再介绍另外一种查找指定正整数集合素数的方法，它来源于定理</a:t>
            </a:r>
            <a:r>
              <a:rPr lang="en-US" altLang="zh-CN" dirty="0" smtClean="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2.18</a:t>
            </a:r>
            <a:r>
              <a:rPr lang="zh-CN" altLang="en-US" dirty="0" smtClean="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，但较之更为方便简洁，读者阅读之后便会有这样的感觉。</a:t>
            </a:r>
            <a:endParaRPr lang="zh-CN" altLang="en-US" sz="2800" b="1" dirty="0" smtClean="0">
              <a:latin typeface="黑体" panose="02010609060101010101" pitchFamily="49" charset="-122"/>
              <a:ea typeface="黑体" panose="02010609060101010101" pitchFamily="49" charset="-122"/>
            </a:endParaRPr>
          </a:p>
        </p:txBody>
      </p:sp>
      <p:sp>
        <p:nvSpPr>
          <p:cNvPr id="2" name="云形 1"/>
          <p:cNvSpPr/>
          <p:nvPr/>
        </p:nvSpPr>
        <p:spPr bwMode="auto">
          <a:xfrm>
            <a:off x="1036638" y="3751263"/>
            <a:ext cx="1871662" cy="685800"/>
          </a:xfrm>
          <a:prstGeom prst="cloud">
            <a:avLst/>
          </a:prstGeom>
          <a:solidFill>
            <a:srgbClr val="FFC000"/>
          </a:solidFill>
          <a:ln>
            <a:noFill/>
          </a:ln>
          <a:effectLst/>
          <a:extLst/>
        </p:spPr>
        <p:txBody>
          <a:bodyPr/>
          <a:lstStyle/>
          <a:p>
            <a:pPr algn="ctr" eaLnBrk="1" hangingPunct="1">
              <a:spcBef>
                <a:spcPct val="20000"/>
              </a:spcBef>
              <a:defRPr/>
            </a:pPr>
            <a:endParaRPr lang="zh-CN" altLang="en-US" sz="3200">
              <a:latin typeface="宋体" panose="02010600030101010101" pitchFamily="2" charset="-122"/>
              <a:ea typeface="宋体" panose="02010600030101010101" pitchFamily="2" charset="-122"/>
            </a:endParaRPr>
          </a:p>
        </p:txBody>
      </p:sp>
      <p:sp>
        <p:nvSpPr>
          <p:cNvPr id="3" name="文本框 2"/>
          <p:cNvSpPr txBox="1"/>
          <p:nvPr/>
        </p:nvSpPr>
        <p:spPr>
          <a:xfrm>
            <a:off x="1213834" y="3833937"/>
            <a:ext cx="1710433" cy="461665"/>
          </a:xfrm>
          <a:prstGeom prst="rect">
            <a:avLst/>
          </a:prstGeom>
          <a:noFill/>
        </p:spPr>
        <p:txBody>
          <a:bodyPr>
            <a:spAutoFit/>
          </a:bodyPr>
          <a:lstStyle/>
          <a:p>
            <a:pPr>
              <a:defRPr/>
            </a:pPr>
            <a:r>
              <a:rPr lang="zh-CN" altLang="en-US" dirty="0">
                <a:effectLst>
                  <a:glow rad="63500">
                    <a:schemeClr val="accent3">
                      <a:satMod val="175000"/>
                      <a:alpha val="40000"/>
                    </a:schemeClr>
                  </a:glow>
                  <a:reflection blurRad="6350" stA="60000" endA="900" endPos="58000" dir="5400000" sy="-100000" algn="bl" rotWithShape="0"/>
                </a:effectLst>
                <a:latin typeface="方正舒体" panose="02010601030101010101" pitchFamily="2" charset="-122"/>
                <a:ea typeface="方正舒体" panose="02010601030101010101" pitchFamily="2" charset="-122"/>
              </a:rPr>
              <a:t>爱氏筛法：</a:t>
            </a:r>
          </a:p>
        </p:txBody>
      </p:sp>
      <p:sp>
        <p:nvSpPr>
          <p:cNvPr id="4" name="Rectangle 2"/>
          <p:cNvSpPr>
            <a:spLocks noRot="1" noChangeAspect="1" noMove="1" noResize="1" noEditPoints="1" noAdjustHandles="1" noChangeArrowheads="1" noChangeShapeType="1" noTextEdit="1"/>
          </p:cNvSpPr>
          <p:nvPr/>
        </p:nvSpPr>
        <p:spPr bwMode="auto">
          <a:xfrm>
            <a:off x="1042987" y="4579937"/>
            <a:ext cx="7273925" cy="1713858"/>
          </a:xfrm>
          <a:prstGeom prst="rect">
            <a:avLst/>
          </a:prstGeom>
          <a:blipFill rotWithShape="0">
            <a:blip r:embed="rId4"/>
            <a:stretch>
              <a:fillRect l="-1585" t="-1742" r="-1334" b="-4878"/>
            </a:stretch>
          </a:blipFill>
          <a:ln w="381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1"/>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2"/>
          <p:cNvSpPr>
            <a:spLocks noGrp="1"/>
          </p:cNvSpPr>
          <p:nvPr>
            <p:ph type="ftr" sz="quarter" idx="11"/>
          </p:nvPr>
        </p:nvSpPr>
        <p:spPr/>
        <p:txBody>
          <a:bodyPr/>
          <a:lstStyle/>
          <a:p>
            <a:pPr>
              <a:defRPr/>
            </a:pPr>
            <a:r>
              <a:rPr lang="zh-CN" altLang="en-US"/>
              <a:t>计算机应用技术研究所</a:t>
            </a:r>
          </a:p>
        </p:txBody>
      </p:sp>
      <p:sp>
        <p:nvSpPr>
          <p:cNvPr id="8" name="灯片编号占位符 3"/>
          <p:cNvSpPr>
            <a:spLocks noGrp="1"/>
          </p:cNvSpPr>
          <p:nvPr>
            <p:ph type="sldNum" sz="quarter" idx="12"/>
          </p:nvPr>
        </p:nvSpPr>
        <p:spPr/>
        <p:txBody>
          <a:bodyPr/>
          <a:lstStyle/>
          <a:p>
            <a:pPr>
              <a:defRPr/>
            </a:pPr>
            <a:fld id="{E439FD16-BECE-4B06-BED1-DF63BAC67000}" type="slidenum">
              <a:rPr lang="en-US" altLang="zh-CN"/>
              <a:pPr>
                <a:defRPr/>
              </a:pPr>
              <a:t>50</a:t>
            </a:fld>
            <a:endParaRPr lang="en-US" altLang="zh-CN"/>
          </a:p>
        </p:txBody>
      </p:sp>
      <p:sp>
        <p:nvSpPr>
          <p:cNvPr id="51205" name="Text Box 2"/>
          <p:cNvSpPr txBox="1">
            <a:spLocks noChangeArrowheads="1"/>
          </p:cNvSpPr>
          <p:nvPr/>
        </p:nvSpPr>
        <p:spPr bwMode="auto">
          <a:xfrm>
            <a:off x="1331913" y="876300"/>
            <a:ext cx="60483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rPr>
              <a:t> 例 题</a:t>
            </a:r>
          </a:p>
        </p:txBody>
      </p:sp>
      <p:pic>
        <p:nvPicPr>
          <p:cNvPr id="5120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172006" y="2024063"/>
            <a:ext cx="6799988" cy="3168175"/>
          </a:xfrm>
          <a:prstGeom prst="rect">
            <a:avLst/>
          </a:prstGeom>
          <a:blipFill rotWithShape="0">
            <a:blip r:embed="rId4"/>
            <a:stretch>
              <a:fillRect l="-717" t="-962" b="-1731"/>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E4846814-1B2D-47A3-8F6C-7E630CC284EE}" type="slidenum">
              <a:rPr lang="en-US" altLang="zh-CN"/>
              <a:pPr>
                <a:defRPr/>
              </a:pPr>
              <a:t>51</a:t>
            </a:fld>
            <a:endParaRPr lang="en-US" altLang="zh-CN"/>
          </a:p>
        </p:txBody>
      </p:sp>
      <p:sp>
        <p:nvSpPr>
          <p:cNvPr id="52229" name="Text Box 2"/>
          <p:cNvSpPr txBox="1">
            <a:spLocks noChangeArrowheads="1"/>
          </p:cNvSpPr>
          <p:nvPr/>
        </p:nvSpPr>
        <p:spPr bwMode="auto">
          <a:xfrm>
            <a:off x="1331913" y="692150"/>
            <a:ext cx="60483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例题</a:t>
            </a:r>
          </a:p>
        </p:txBody>
      </p:sp>
      <p:pic>
        <p:nvPicPr>
          <p:cNvPr id="5223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78763" y="476250"/>
            <a:ext cx="1265237" cy="133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1115752" y="2132856"/>
            <a:ext cx="6912495" cy="2990114"/>
          </a:xfrm>
          <a:prstGeom prst="rect">
            <a:avLst/>
          </a:prstGeom>
          <a:blipFill rotWithShape="0">
            <a:blip r:embed="rId4"/>
            <a:stretch>
              <a:fillRect l="-705" t="-1429" b="-1837"/>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9" name="灯片编号占位符 5"/>
          <p:cNvSpPr>
            <a:spLocks noGrp="1"/>
          </p:cNvSpPr>
          <p:nvPr>
            <p:ph type="sldNum" sz="quarter" idx="12"/>
          </p:nvPr>
        </p:nvSpPr>
        <p:spPr>
          <a:xfrm>
            <a:off x="6588125" y="6400800"/>
            <a:ext cx="1905000" cy="457200"/>
          </a:xfrm>
        </p:spPr>
        <p:txBody>
          <a:bodyPr/>
          <a:lstStyle/>
          <a:p>
            <a:pPr>
              <a:defRPr/>
            </a:pPr>
            <a:fld id="{137B9DB4-0552-4D74-8906-4C0A9A849059}" type="slidenum">
              <a:rPr lang="en-US" altLang="zh-CN"/>
              <a:pPr>
                <a:defRPr/>
              </a:pPr>
              <a:t>52</a:t>
            </a:fld>
            <a:endParaRPr lang="en-US" altLang="zh-CN"/>
          </a:p>
        </p:txBody>
      </p:sp>
      <p:sp>
        <p:nvSpPr>
          <p:cNvPr id="53253" name="Text Box 2"/>
          <p:cNvSpPr txBox="1">
            <a:spLocks noChangeArrowheads="1"/>
          </p:cNvSpPr>
          <p:nvPr/>
        </p:nvSpPr>
        <p:spPr bwMode="auto">
          <a:xfrm>
            <a:off x="1331913" y="692150"/>
            <a:ext cx="640873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总结与拓展</a:t>
            </a:r>
          </a:p>
        </p:txBody>
      </p:sp>
      <p:pic>
        <p:nvPicPr>
          <p:cNvPr id="5325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27988"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1231900" y="1916832"/>
            <a:ext cx="6696075" cy="2677656"/>
          </a:xfrm>
          <a:prstGeom prst="rect">
            <a:avLst/>
          </a:prstGeom>
          <a:blipFill rotWithShape="0">
            <a:blip r:embed="rId4"/>
            <a:stretch>
              <a:fillRect l="-1179" t="-1351" r="-635" b="-3604"/>
            </a:stretch>
          </a:blipFill>
          <a:ln w="25400" cmpd="thinThick">
            <a:solidFill>
              <a:srgbClr val="FFC000"/>
            </a:solidFill>
            <a:prstDash val="sysDot"/>
          </a:ln>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0EFA123-C579-47DA-B3E1-4B438B61F34D}" type="datetime1">
              <a:rPr lang="zh-CN" altLang="en-US" smtClean="0"/>
              <a:pPr>
                <a:defRPr/>
              </a:pPr>
              <a:t>2020/9/7</a:t>
            </a:fld>
            <a:endParaRPr lang="en-US" altLang="zh-CN" dirty="0"/>
          </a:p>
        </p:txBody>
      </p:sp>
      <p:sp>
        <p:nvSpPr>
          <p:cNvPr id="5" name="页脚占位符 4"/>
          <p:cNvSpPr>
            <a:spLocks noGrp="1"/>
          </p:cNvSpPr>
          <p:nvPr>
            <p:ph type="ftr" sz="quarter" idx="11"/>
          </p:nvPr>
        </p:nvSpPr>
        <p:spPr/>
        <p:txBody>
          <a:bodyPr/>
          <a:lstStyle/>
          <a:p>
            <a:pPr>
              <a:defRPr/>
            </a:pPr>
            <a:r>
              <a:rPr lang="zh-CN" altLang="en-US" dirty="0" smtClean="0"/>
              <a:t>计算机应用技术研究所</a:t>
            </a:r>
            <a:endParaRPr lang="zh-CN" altLang="en-US" dirty="0"/>
          </a:p>
        </p:txBody>
      </p:sp>
      <p:sp>
        <p:nvSpPr>
          <p:cNvPr id="6" name="灯片编号占位符 5"/>
          <p:cNvSpPr>
            <a:spLocks noGrp="1"/>
          </p:cNvSpPr>
          <p:nvPr>
            <p:ph type="sldNum" sz="quarter" idx="12"/>
          </p:nvPr>
        </p:nvSpPr>
        <p:spPr/>
        <p:txBody>
          <a:bodyPr/>
          <a:lstStyle/>
          <a:p>
            <a:pPr>
              <a:defRPr/>
            </a:pPr>
            <a:fld id="{0CC4D2A5-90E9-48E2-937F-06962EEB11A7}" type="slidenum">
              <a:rPr lang="en-US" altLang="zh-CN" smtClean="0"/>
              <a:pPr>
                <a:defRPr/>
              </a:pPr>
              <a:t>53</a:t>
            </a:fld>
            <a:endParaRPr lang="en-US" altLang="zh-CN" dirty="0"/>
          </a:p>
        </p:txBody>
      </p:sp>
      <p:sp>
        <p:nvSpPr>
          <p:cNvPr id="54277" name="WordArt 3"/>
          <p:cNvSpPr>
            <a:spLocks noChangeArrowheads="1" noChangeShapeType="1" noTextEdit="1"/>
          </p:cNvSpPr>
          <p:nvPr/>
        </p:nvSpPr>
        <p:spPr bwMode="auto">
          <a:xfrm>
            <a:off x="2744788" y="2205038"/>
            <a:ext cx="4419600" cy="2514600"/>
          </a:xfrm>
          <a:prstGeom prst="rect">
            <a:avLst/>
          </a:prstGeom>
        </p:spPr>
        <p:txBody>
          <a:bodyPr wrap="none" fromWordArt="1">
            <a:prstTxWarp prst="textCascadeUp">
              <a:avLst>
                <a:gd name="adj" fmla="val 44444"/>
              </a:avLst>
            </a:prstTxWarp>
            <a:scene3d>
              <a:camera prst="legacyPerspectiveFront">
                <a:rot lat="20519964"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a:round/>
                  <a:headEnd/>
                  <a:tailEnd/>
                </a:ln>
                <a:gradFill rotWithShape="1">
                  <a:gsLst>
                    <a:gs pos="0">
                      <a:srgbClr val="FFE701"/>
                    </a:gs>
                    <a:gs pos="100000">
                      <a:srgbClr val="FE3E02"/>
                    </a:gs>
                  </a:gsLst>
                  <a:lin ang="5400000" scaled="1"/>
                </a:gradFill>
              </a:rPr>
              <a:t>本节结束！</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C67EF253-7657-46CD-BF1A-A9DF3B24B6FD}"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grpSp>
        <p:nvGrpSpPr>
          <p:cNvPr id="55299" name="Group 21"/>
          <p:cNvGrpSpPr>
            <a:grpSpLocks/>
          </p:cNvGrpSpPr>
          <p:nvPr/>
        </p:nvGrpSpPr>
        <p:grpSpPr bwMode="auto">
          <a:xfrm>
            <a:off x="2411413" y="2349500"/>
            <a:ext cx="4735512" cy="3671888"/>
            <a:chOff x="1519" y="1480"/>
            <a:chExt cx="2983" cy="2313"/>
          </a:xfrm>
        </p:grpSpPr>
        <p:sp>
          <p:nvSpPr>
            <p:cNvPr id="1170441" name="AutoShape 9"/>
            <p:cNvSpPr>
              <a:spLocks noChangeArrowheads="1"/>
            </p:cNvSpPr>
            <p:nvPr/>
          </p:nvSpPr>
          <p:spPr bwMode="gray">
            <a:xfrm>
              <a:off x="1791" y="1570"/>
              <a:ext cx="2711" cy="38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55302" name="AutoShape 10"/>
            <p:cNvSpPr>
              <a:spLocks noChangeArrowheads="1"/>
            </p:cNvSpPr>
            <p:nvPr/>
          </p:nvSpPr>
          <p:spPr bwMode="gray">
            <a:xfrm>
              <a:off x="1522" y="1480"/>
              <a:ext cx="428" cy="573"/>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5303" name="Text Box 11"/>
            <p:cNvSpPr txBox="1">
              <a:spLocks noChangeArrowheads="1"/>
            </p:cNvSpPr>
            <p:nvPr/>
          </p:nvSpPr>
          <p:spPr bwMode="gray">
            <a:xfrm>
              <a:off x="1965" y="1626"/>
              <a:ext cx="21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整数</a:t>
              </a:r>
              <a:r>
                <a:rPr kumimoji="0" lang="zh-CN" altLang="en-US" sz="2800" b="1">
                  <a:latin typeface="黑体" panose="02010609060101010101" pitchFamily="49" charset="-122"/>
                  <a:ea typeface="黑体" panose="02010609060101010101" pitchFamily="49" charset="-122"/>
                </a:rPr>
                <a:t>的基本知识</a:t>
              </a:r>
            </a:p>
          </p:txBody>
        </p:sp>
        <p:sp>
          <p:nvSpPr>
            <p:cNvPr id="55304" name="Text Box 12"/>
            <p:cNvSpPr txBox="1">
              <a:spLocks noChangeArrowheads="1"/>
            </p:cNvSpPr>
            <p:nvPr/>
          </p:nvSpPr>
          <p:spPr bwMode="gray">
            <a:xfrm>
              <a:off x="1613" y="1601"/>
              <a:ext cx="226"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1</a:t>
              </a:r>
            </a:p>
          </p:txBody>
        </p:sp>
        <p:sp>
          <p:nvSpPr>
            <p:cNvPr id="1170446" name="AutoShape 14"/>
            <p:cNvSpPr>
              <a:spLocks noChangeArrowheads="1"/>
            </p:cNvSpPr>
            <p:nvPr/>
          </p:nvSpPr>
          <p:spPr bwMode="gray">
            <a:xfrm>
              <a:off x="1759" y="2756"/>
              <a:ext cx="2736" cy="375"/>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55306" name="AutoShape 15"/>
            <p:cNvSpPr>
              <a:spLocks noChangeArrowheads="1"/>
            </p:cNvSpPr>
            <p:nvPr/>
          </p:nvSpPr>
          <p:spPr bwMode="gray">
            <a:xfrm>
              <a:off x="1519" y="2659"/>
              <a:ext cx="432" cy="560"/>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5307" name="Text Box 16"/>
            <p:cNvSpPr txBox="1">
              <a:spLocks noChangeArrowheads="1"/>
            </p:cNvSpPr>
            <p:nvPr/>
          </p:nvSpPr>
          <p:spPr bwMode="gray">
            <a:xfrm>
              <a:off x="2041" y="2803"/>
              <a:ext cx="2160"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算法设计的基本知识</a:t>
              </a:r>
              <a:endParaRPr kumimoji="0" lang="zh-CN" altLang="en-US" sz="2800" b="1">
                <a:latin typeface="黑体" panose="02010609060101010101" pitchFamily="49" charset="-122"/>
                <a:ea typeface="黑体" panose="02010609060101010101" pitchFamily="49" charset="-122"/>
              </a:endParaRPr>
            </a:p>
          </p:txBody>
        </p:sp>
        <p:sp>
          <p:nvSpPr>
            <p:cNvPr id="55308" name="Text Box 17"/>
            <p:cNvSpPr txBox="1">
              <a:spLocks noChangeArrowheads="1"/>
            </p:cNvSpPr>
            <p:nvPr/>
          </p:nvSpPr>
          <p:spPr bwMode="gray">
            <a:xfrm>
              <a:off x="1625" y="2740"/>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3</a:t>
              </a:r>
            </a:p>
          </p:txBody>
        </p:sp>
        <p:sp>
          <p:nvSpPr>
            <p:cNvPr id="55309" name="AutoShape 19"/>
            <p:cNvSpPr>
              <a:spLocks noChangeArrowheads="1"/>
            </p:cNvSpPr>
            <p:nvPr/>
          </p:nvSpPr>
          <p:spPr bwMode="gray">
            <a:xfrm>
              <a:off x="1762" y="2166"/>
              <a:ext cx="2736" cy="374"/>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5310" name="AutoShape 20"/>
            <p:cNvSpPr>
              <a:spLocks noChangeArrowheads="1"/>
            </p:cNvSpPr>
            <p:nvPr/>
          </p:nvSpPr>
          <p:spPr bwMode="gray">
            <a:xfrm>
              <a:off x="1522" y="2069"/>
              <a:ext cx="432" cy="561"/>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5311" name="Text Box 21"/>
            <p:cNvSpPr txBox="1">
              <a:spLocks noChangeArrowheads="1"/>
            </p:cNvSpPr>
            <p:nvPr/>
          </p:nvSpPr>
          <p:spPr bwMode="gray">
            <a:xfrm>
              <a:off x="1954" y="2213"/>
              <a:ext cx="233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同余算术及其运用</a:t>
              </a:r>
              <a:endParaRPr kumimoji="0" lang="zh-CN" altLang="en-US" sz="2800" b="1">
                <a:latin typeface="黑体" panose="02010609060101010101" pitchFamily="49" charset="-122"/>
                <a:ea typeface="黑体" panose="02010609060101010101" pitchFamily="49" charset="-122"/>
              </a:endParaRPr>
            </a:p>
          </p:txBody>
        </p:sp>
        <p:sp>
          <p:nvSpPr>
            <p:cNvPr id="55312" name="Text Box 22"/>
            <p:cNvSpPr txBox="1">
              <a:spLocks noChangeArrowheads="1"/>
            </p:cNvSpPr>
            <p:nvPr/>
          </p:nvSpPr>
          <p:spPr bwMode="gray">
            <a:xfrm>
              <a:off x="1613" y="2149"/>
              <a:ext cx="228"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2</a:t>
              </a:r>
            </a:p>
          </p:txBody>
        </p:sp>
        <p:sp>
          <p:nvSpPr>
            <p:cNvPr id="55313" name="AutoShape 29"/>
            <p:cNvSpPr>
              <a:spLocks noChangeArrowheads="1"/>
            </p:cNvSpPr>
            <p:nvPr/>
          </p:nvSpPr>
          <p:spPr bwMode="gray">
            <a:xfrm>
              <a:off x="1759" y="3343"/>
              <a:ext cx="2736" cy="363"/>
            </a:xfrm>
            <a:prstGeom prst="roundRect">
              <a:avLst>
                <a:gd name="adj" fmla="val 16667"/>
              </a:avLst>
            </a:prstGeom>
            <a:gradFill rotWithShape="1">
              <a:gsLst>
                <a:gs pos="0">
                  <a:srgbClr val="3366FF"/>
                </a:gs>
                <a:gs pos="50000">
                  <a:srgbClr val="D4DFFF"/>
                </a:gs>
                <a:gs pos="100000">
                  <a:srgbClr val="3366FF"/>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5314" name="AutoShape 30"/>
            <p:cNvSpPr>
              <a:spLocks noChangeArrowheads="1"/>
            </p:cNvSpPr>
            <p:nvPr/>
          </p:nvSpPr>
          <p:spPr bwMode="gray">
            <a:xfrm>
              <a:off x="1519" y="3249"/>
              <a:ext cx="432" cy="544"/>
            </a:xfrm>
            <a:prstGeom prst="diamond">
              <a:avLst/>
            </a:prstGeom>
            <a:solidFill>
              <a:srgbClr val="3366FF"/>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55315" name="Text Box 31"/>
            <p:cNvSpPr txBox="1">
              <a:spLocks noChangeArrowheads="1"/>
            </p:cNvSpPr>
            <p:nvPr/>
          </p:nvSpPr>
          <p:spPr bwMode="gray">
            <a:xfrm>
              <a:off x="2066" y="3379"/>
              <a:ext cx="21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算法设计策略与应用</a:t>
              </a:r>
              <a:endParaRPr kumimoji="0" lang="zh-CN" altLang="en-US" sz="2800" b="1">
                <a:latin typeface="黑体" panose="02010609060101010101" pitchFamily="49" charset="-122"/>
                <a:ea typeface="黑体" panose="02010609060101010101" pitchFamily="49" charset="-122"/>
              </a:endParaRPr>
            </a:p>
          </p:txBody>
        </p:sp>
        <p:sp>
          <p:nvSpPr>
            <p:cNvPr id="55316" name="Text Box 32"/>
            <p:cNvSpPr txBox="1">
              <a:spLocks noChangeArrowheads="1"/>
            </p:cNvSpPr>
            <p:nvPr/>
          </p:nvSpPr>
          <p:spPr bwMode="gray">
            <a:xfrm>
              <a:off x="1623" y="3345"/>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4</a:t>
              </a:r>
            </a:p>
          </p:txBody>
        </p:sp>
      </p:grpSp>
      <p:sp>
        <p:nvSpPr>
          <p:cNvPr id="55300"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endParaRPr lang="zh-CN" altLang="en-US">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83B1043E-D085-4951-B253-5BC62A290620}" type="datetime1">
              <a:rPr lang="zh-CN" altLang="en-US" sz="1400" b="1">
                <a:latin typeface="Times New Roman" panose="02020603050405020304" pitchFamily="18" charset="0"/>
                <a:ea typeface="宋体" panose="02010600030101010101" pitchFamily="2" charset="-122"/>
              </a:rPr>
              <a:pPr eaLnBrk="1" hangingPunct="1">
                <a:spcBef>
                  <a:spcPct val="0"/>
                </a:spcBef>
                <a:buFontTx/>
                <a:buNone/>
              </a:pPr>
              <a:t>2020/9/7</a:t>
            </a:fld>
            <a:endParaRPr lang="en-US" altLang="zh-CN" sz="1400" b="1">
              <a:latin typeface="Times New Roman" panose="02020603050405020304" pitchFamily="18" charset="0"/>
              <a:ea typeface="宋体" panose="02010600030101010101" pitchFamily="2" charset="-122"/>
            </a:endParaRPr>
          </a:p>
        </p:txBody>
      </p:sp>
      <p:sp>
        <p:nvSpPr>
          <p:cNvPr id="5632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计算机应用技术研究所</a:t>
            </a:r>
          </a:p>
        </p:txBody>
      </p:sp>
      <p:sp>
        <p:nvSpPr>
          <p:cNvPr id="5632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fld id="{BFDCA386-DF81-4425-A123-FF0E9333189A}" type="slidenum">
              <a:rPr lang="en-US" altLang="zh-CN" sz="1400" b="1">
                <a:latin typeface="Times New Roman" panose="02020603050405020304" pitchFamily="18" charset="0"/>
                <a:ea typeface="宋体" panose="02010600030101010101" pitchFamily="2" charset="-122"/>
              </a:rPr>
              <a:pPr algn="r" eaLnBrk="1" hangingPunct="1">
                <a:spcBef>
                  <a:spcPct val="0"/>
                </a:spcBef>
                <a:buFontTx/>
                <a:buNone/>
              </a:pPr>
              <a:t>55</a:t>
            </a:fld>
            <a:endParaRPr lang="en-US" altLang="zh-CN" sz="1400" b="1">
              <a:latin typeface="Times New Roman" panose="02020603050405020304" pitchFamily="18" charset="0"/>
              <a:ea typeface="宋体" panose="02010600030101010101" pitchFamily="2" charset="-122"/>
            </a:endParaRPr>
          </a:p>
        </p:txBody>
      </p:sp>
      <p:sp>
        <p:nvSpPr>
          <p:cNvPr id="56325" name="Rectangle 4"/>
          <p:cNvSpPr>
            <a:spLocks noGrp="1" noChangeArrowheads="1"/>
          </p:cNvSpPr>
          <p:nvPr>
            <p:ph type="ctrTitle" idx="4294967295"/>
          </p:nvPr>
        </p:nvSpPr>
        <p:spPr>
          <a:xfrm>
            <a:off x="1042988" y="2565400"/>
            <a:ext cx="7702550" cy="1655763"/>
          </a:xfrm>
          <a:solidFill>
            <a:srgbClr val="0000FF"/>
          </a:solidFill>
        </p:spPr>
        <p:txBody>
          <a:bodyPr/>
          <a:lstStyle/>
          <a:p>
            <a:pPr eaLnBrk="1" hangingPunct="1"/>
            <a:r>
              <a:rPr lang="zh-CN" altLang="en-US" sz="6600" b="1" smtClean="0">
                <a:solidFill>
                  <a:schemeClr val="bg1"/>
                </a:solidFill>
              </a:rPr>
              <a:t>同余算术及其运用</a:t>
            </a:r>
          </a:p>
        </p:txBody>
      </p:sp>
      <p:pic>
        <p:nvPicPr>
          <p:cNvPr id="56326" name="Picture 7" descr="C:\Program Files\Microsoft Office\MEDIA\CAGCAT10\j029298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1331913" y="1001713"/>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4800" b="1" dirty="0">
                <a:solidFill>
                  <a:schemeClr val="bg1"/>
                </a:solidFill>
                <a:latin typeface="宋体" panose="02010600030101010101" pitchFamily="2" charset="-122"/>
                <a:ea typeface="宋体" panose="02010600030101010101" pitchFamily="2" charset="-122"/>
              </a:rPr>
              <a:t>同余算术及其运用</a:t>
            </a:r>
          </a:p>
        </p:txBody>
      </p:sp>
      <p:sp>
        <p:nvSpPr>
          <p:cNvPr id="57347" name="Rectangle 3"/>
          <p:cNvSpPr>
            <a:spLocks noGrp="1" noChangeArrowheads="1"/>
          </p:cNvSpPr>
          <p:nvPr>
            <p:ph type="body" sz="half" idx="1"/>
          </p:nvPr>
        </p:nvSpPr>
        <p:spPr>
          <a:xfrm>
            <a:off x="2051050" y="2781300"/>
            <a:ext cx="5400675" cy="2665413"/>
          </a:xfrm>
          <a:noFill/>
        </p:spPr>
        <p:txBody>
          <a:bodyPr lIns="92075" tIns="46038" rIns="92075" bIns="46038"/>
          <a:lstStyle/>
          <a:p>
            <a:pPr>
              <a:lnSpc>
                <a:spcPct val="130000"/>
              </a:lnSpc>
              <a:spcBef>
                <a:spcPct val="30000"/>
              </a:spcBef>
              <a:buFont typeface="Wingdings" panose="05000000000000000000" pitchFamily="2" charset="2"/>
              <a:buChar char="J"/>
            </a:pPr>
            <a:r>
              <a:rPr lang="zh-CN" altLang="en-US" sz="3600" b="1" dirty="0" smtClean="0">
                <a:solidFill>
                  <a:schemeClr val="accent2"/>
                </a:solidFill>
                <a:effectLst/>
                <a:latin typeface="黑体" panose="02010609060101010101" pitchFamily="49" charset="-122"/>
                <a:ea typeface="黑体" panose="02010609060101010101" pitchFamily="49" charset="-122"/>
              </a:rPr>
              <a:t> 同余关系及其运算</a:t>
            </a:r>
            <a:endParaRPr lang="en-US" altLang="zh-CN" sz="3600" b="1" dirty="0" smtClean="0">
              <a:solidFill>
                <a:schemeClr val="accent2"/>
              </a:solidFill>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同余方程与方程组</a:t>
            </a:r>
          </a:p>
          <a:p>
            <a:pPr>
              <a:lnSpc>
                <a:spcPct val="130000"/>
              </a:lnSpc>
              <a:spcBef>
                <a:spcPct val="30000"/>
              </a:spcBef>
              <a:buFont typeface="Wingdings" panose="05000000000000000000" pitchFamily="2" charset="2"/>
              <a:buChar char="4"/>
            </a:pPr>
            <a:r>
              <a:rPr lang="en-US" altLang="zh-CN" sz="3600" b="1" dirty="0" smtClean="0">
                <a:effectLst/>
                <a:latin typeface="黑体" panose="02010609060101010101" pitchFamily="49" charset="-122"/>
                <a:ea typeface="黑体" panose="02010609060101010101" pitchFamily="49" charset="-122"/>
              </a:rPr>
              <a:t> </a:t>
            </a:r>
            <a:r>
              <a:rPr lang="zh-CN" altLang="en-US" sz="3600" b="1" dirty="0" smtClean="0">
                <a:effectLst/>
                <a:latin typeface="黑体" panose="02010609060101010101" pitchFamily="49" charset="-122"/>
                <a:ea typeface="黑体" panose="02010609060101010101" pitchFamily="49" charset="-122"/>
              </a:rPr>
              <a:t>整数加密算法</a:t>
            </a:r>
          </a:p>
        </p:txBody>
      </p:sp>
      <p:pic>
        <p:nvPicPr>
          <p:cNvPr id="5734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554A2D7B-C298-4A9F-9FEF-B38008D8D0FA}" type="slidenum">
              <a:rPr lang="en-US" altLang="zh-CN"/>
              <a:pPr>
                <a:defRPr/>
              </a:pPr>
              <a:t>57</a:t>
            </a:fld>
            <a:endParaRPr lang="en-US" altLang="zh-CN"/>
          </a:p>
        </p:txBody>
      </p:sp>
      <p:sp>
        <p:nvSpPr>
          <p:cNvPr id="58373" name="Text Box 2"/>
          <p:cNvSpPr txBox="1">
            <a:spLocks noChangeArrowheads="1"/>
          </p:cNvSpPr>
          <p:nvPr/>
        </p:nvSpPr>
        <p:spPr bwMode="auto">
          <a:xfrm>
            <a:off x="1331913" y="949325"/>
            <a:ext cx="6048375" cy="83026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000" b="1">
                <a:solidFill>
                  <a:schemeClr val="bg1"/>
                </a:solidFill>
                <a:latin typeface="宋体" panose="02010600030101010101" pitchFamily="2" charset="-122"/>
                <a:ea typeface="宋体" panose="02010600030101010101" pitchFamily="2" charset="-122"/>
              </a:rPr>
              <a:t>同余算术的产生背景</a:t>
            </a:r>
          </a:p>
        </p:txBody>
      </p:sp>
      <p:pic>
        <p:nvPicPr>
          <p:cNvPr id="5837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5"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42113" y="2206625"/>
            <a:ext cx="2366962" cy="343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6" name="流程图: 延期 3"/>
          <p:cNvSpPr>
            <a:spLocks noChangeArrowheads="1"/>
          </p:cNvSpPr>
          <p:nvPr/>
        </p:nvSpPr>
        <p:spPr bwMode="auto">
          <a:xfrm>
            <a:off x="400050" y="2052638"/>
            <a:ext cx="6376988" cy="4032250"/>
          </a:xfrm>
          <a:prstGeom prst="flowChartDelay">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58377" name="文本框 1"/>
          <p:cNvSpPr txBox="1">
            <a:spLocks noChangeArrowheads="1"/>
          </p:cNvSpPr>
          <p:nvPr/>
        </p:nvSpPr>
        <p:spPr bwMode="auto">
          <a:xfrm>
            <a:off x="657225" y="2606675"/>
            <a:ext cx="5665788"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latin typeface="黑体" panose="02010609060101010101" pitchFamily="49" charset="-122"/>
                <a:ea typeface="黑体" panose="02010609060101010101" pitchFamily="49" charset="-122"/>
              </a:rPr>
              <a:t>   </a:t>
            </a:r>
            <a:r>
              <a:rPr lang="en-US" altLang="zh-CN" sz="2000">
                <a:latin typeface="华文楷体" panose="02010600040101010101" pitchFamily="2" charset="-122"/>
                <a:ea typeface="华文楷体" panose="02010600040101010101" pitchFamily="2" charset="-122"/>
              </a:rPr>
              <a:t>1801</a:t>
            </a:r>
            <a:r>
              <a:rPr lang="zh-CN" altLang="en-US" sz="2000">
                <a:latin typeface="华文楷体" panose="02010600040101010101" pitchFamily="2" charset="-122"/>
                <a:ea typeface="华文楷体" panose="02010600040101010101" pitchFamily="2" charset="-122"/>
              </a:rPr>
              <a:t>年</a:t>
            </a:r>
            <a:r>
              <a:rPr lang="en-US" altLang="zh-CN" sz="2000">
                <a:latin typeface="华文楷体" panose="02010600040101010101" pitchFamily="2" charset="-122"/>
                <a:ea typeface="华文楷体" panose="02010600040101010101" pitchFamily="2" charset="-122"/>
              </a:rPr>
              <a:t>,24 </a:t>
            </a:r>
            <a:r>
              <a:rPr lang="zh-CN" altLang="en-US" sz="2000">
                <a:latin typeface="华文楷体" panose="02010600040101010101" pitchFamily="2" charset="-122"/>
                <a:ea typeface="华文楷体" panose="02010600040101010101" pitchFamily="2" charset="-122"/>
              </a:rPr>
              <a:t>岁的高斯</a:t>
            </a:r>
            <a:r>
              <a:rPr lang="en-US" altLang="zh-CN" sz="2000">
                <a:latin typeface="华文楷体" panose="02010600040101010101" pitchFamily="2" charset="-122"/>
                <a:ea typeface="华文楷体" panose="02010600040101010101" pitchFamily="2" charset="-122"/>
              </a:rPr>
              <a:t>(1777-1855)</a:t>
            </a:r>
            <a:r>
              <a:rPr lang="zh-CN" altLang="en-US" sz="2000">
                <a:latin typeface="华文楷体" panose="02010600040101010101" pitchFamily="2" charset="-122"/>
                <a:ea typeface="华文楷体" panose="02010600040101010101" pitchFamily="2" charset="-122"/>
              </a:rPr>
              <a:t>出版了专著</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算术研究</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在其中他提出了模演算法</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以统一的观点处理了数论中的许多问题</a:t>
            </a:r>
            <a:r>
              <a:rPr lang="en-US" altLang="zh-CN" sz="2000">
                <a:latin typeface="华文楷体" panose="02010600040101010101" pitchFamily="2" charset="-122"/>
                <a:ea typeface="华文楷体" panose="02010600040101010101" pitchFamily="2" charset="-122"/>
              </a:rPr>
              <a:t>,</a:t>
            </a:r>
            <a:r>
              <a:rPr lang="zh-CN" altLang="en-US" sz="2000">
                <a:latin typeface="华文楷体" panose="02010600040101010101" pitchFamily="2" charset="-122"/>
                <a:ea typeface="华文楷体" panose="02010600040101010101" pitchFamily="2" charset="-122"/>
              </a:rPr>
              <a:t>从而开创了数论研究的新时代。</a:t>
            </a:r>
            <a:endParaRPr lang="en-US" altLang="zh-CN" sz="2000">
              <a:latin typeface="华文楷体" panose="02010600040101010101" pitchFamily="2" charset="-122"/>
              <a:ea typeface="华文楷体" panose="02010600040101010101" pitchFamily="2" charset="-122"/>
            </a:endParaRPr>
          </a:p>
          <a:p>
            <a:pPr>
              <a:spcBef>
                <a:spcPct val="0"/>
              </a:spcBef>
              <a:buFontTx/>
              <a:buNone/>
            </a:pPr>
            <a:r>
              <a:rPr lang="en-US" altLang="zh-CN" sz="2000">
                <a:latin typeface="华文楷体" panose="02010600040101010101" pitchFamily="2" charset="-122"/>
                <a:ea typeface="华文楷体" panose="02010600040101010101" pitchFamily="2" charset="-122"/>
              </a:rPr>
              <a:t>    </a:t>
            </a:r>
            <a:r>
              <a:rPr lang="zh-CN" altLang="zh-CN" sz="2000">
                <a:latin typeface="华文楷体" panose="02010600040101010101" pitchFamily="2" charset="-122"/>
                <a:ea typeface="华文楷体" panose="02010600040101010101" pitchFamily="2" charset="-122"/>
              </a:rPr>
              <a:t>同余算术是整理理论一个重要发展并构成初等数论的理论核心，它从在一种比整除约束更为宽松的条件下考察整数的运算及性质并得到很多非常精彩的数论成果，这些成果在整数加密算法设计等多个领域得到广泛应用。</a:t>
            </a:r>
            <a:endParaRPr lang="zh-CN" altLang="en-US" sz="200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7" name="灯片编号占位符 5"/>
          <p:cNvSpPr>
            <a:spLocks noGrp="1"/>
          </p:cNvSpPr>
          <p:nvPr>
            <p:ph type="sldNum" sz="quarter" idx="12"/>
          </p:nvPr>
        </p:nvSpPr>
        <p:spPr>
          <a:xfrm>
            <a:off x="6588125" y="6400800"/>
            <a:ext cx="1905000" cy="457200"/>
          </a:xfrm>
        </p:spPr>
        <p:txBody>
          <a:bodyPr/>
          <a:lstStyle/>
          <a:p>
            <a:pPr>
              <a:defRPr/>
            </a:pPr>
            <a:fld id="{21BE5FE8-7684-409D-8467-F687720E8783}" type="slidenum">
              <a:rPr lang="en-US" altLang="zh-CN"/>
              <a:pPr>
                <a:defRPr/>
              </a:pPr>
              <a:t>58</a:t>
            </a:fld>
            <a:endParaRPr lang="en-US" altLang="zh-CN"/>
          </a:p>
        </p:txBody>
      </p:sp>
      <p:sp>
        <p:nvSpPr>
          <p:cNvPr id="59397" name="Text Box 2"/>
          <p:cNvSpPr txBox="1">
            <a:spLocks noChangeArrowheads="1"/>
          </p:cNvSpPr>
          <p:nvPr/>
        </p:nvSpPr>
        <p:spPr bwMode="auto">
          <a:xfrm>
            <a:off x="1331913" y="949325"/>
            <a:ext cx="60483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400" b="1">
                <a:solidFill>
                  <a:schemeClr val="bg1"/>
                </a:solidFill>
                <a:latin typeface="宋体" panose="02010600030101010101" pitchFamily="2" charset="-122"/>
                <a:ea typeface="宋体" panose="02010600030101010101" pitchFamily="2" charset="-122"/>
              </a:rPr>
              <a:t>同余关系及其运算</a:t>
            </a:r>
          </a:p>
        </p:txBody>
      </p:sp>
      <p:pic>
        <p:nvPicPr>
          <p:cNvPr id="5939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67843" y="2060848"/>
            <a:ext cx="6824190" cy="1569660"/>
          </a:xfrm>
          <a:prstGeom prst="rect">
            <a:avLst/>
          </a:prstGeom>
          <a:solidFill>
            <a:schemeClr val="bg1"/>
          </a:solidFill>
          <a:effectLst>
            <a:glow rad="63500">
              <a:schemeClr val="accent4">
                <a:satMod val="175000"/>
                <a:alpha val="40000"/>
              </a:schemeClr>
            </a:glow>
          </a:effectLst>
        </p:spPr>
        <p:txBody>
          <a:bodyPr>
            <a:spAutoFit/>
          </a:bodyPr>
          <a:lstStyle/>
          <a:p>
            <a:pPr>
              <a:defRPr/>
            </a:pPr>
            <a:r>
              <a:rPr lang="zh-CN" altLang="zh-CN" dirty="0">
                <a:solidFill>
                  <a:srgbClr val="00B0F0"/>
                </a:solidFill>
              </a:rPr>
              <a:t>对于任一给定的正整数</a:t>
            </a:r>
            <a:r>
              <a:rPr lang="en-US" altLang="zh-CN" i="1" dirty="0">
                <a:solidFill>
                  <a:srgbClr val="00B0F0"/>
                </a:solidFill>
              </a:rPr>
              <a:t>m</a:t>
            </a:r>
            <a:r>
              <a:rPr lang="zh-CN" altLang="zh-CN" dirty="0">
                <a:solidFill>
                  <a:srgbClr val="00B0F0"/>
                </a:solidFill>
              </a:rPr>
              <a:t>，通过考察所有整数除以</a:t>
            </a:r>
            <a:r>
              <a:rPr lang="en-US" altLang="zh-CN" i="1" dirty="0">
                <a:solidFill>
                  <a:srgbClr val="00B0F0"/>
                </a:solidFill>
              </a:rPr>
              <a:t>m</a:t>
            </a:r>
            <a:r>
              <a:rPr lang="zh-CN" altLang="zh-CN" dirty="0">
                <a:solidFill>
                  <a:srgbClr val="00B0F0"/>
                </a:solidFill>
              </a:rPr>
              <a:t>所得余数的差异，把</a:t>
            </a:r>
            <a:r>
              <a:rPr lang="zh-CN" altLang="zh-CN" dirty="0">
                <a:solidFill>
                  <a:srgbClr val="FF0000"/>
                </a:solidFill>
              </a:rPr>
              <a:t>所有具有相同余数的整数归为一类</a:t>
            </a:r>
            <a:r>
              <a:rPr lang="zh-CN" altLang="zh-CN" dirty="0">
                <a:solidFill>
                  <a:srgbClr val="00B0F0"/>
                </a:solidFill>
              </a:rPr>
              <a:t>，则可将所有整数分为</a:t>
            </a:r>
            <a:r>
              <a:rPr lang="en-US" altLang="zh-CN" i="1" dirty="0">
                <a:solidFill>
                  <a:srgbClr val="00B0F0"/>
                </a:solidFill>
              </a:rPr>
              <a:t>m</a:t>
            </a:r>
            <a:r>
              <a:rPr lang="zh-CN" altLang="zh-CN" dirty="0">
                <a:solidFill>
                  <a:srgbClr val="00B0F0"/>
                </a:solidFill>
              </a:rPr>
              <a:t>个基本类型。</a:t>
            </a:r>
            <a:r>
              <a:rPr lang="zh-CN" altLang="en-US" dirty="0">
                <a:solidFill>
                  <a:srgbClr val="00B0F0"/>
                </a:solidFill>
              </a:rPr>
              <a:t>基于上述思想，我们给出同余关系的定义。</a:t>
            </a:r>
          </a:p>
        </p:txBody>
      </p:sp>
      <p:sp>
        <p:nvSpPr>
          <p:cNvPr id="3" name="文本框 2"/>
          <p:cNvSpPr txBox="1">
            <a:spLocks noRot="1" noChangeAspect="1" noMove="1" noResize="1" noEditPoints="1" noAdjustHandles="1" noChangeArrowheads="1" noChangeShapeType="1" noTextEdit="1"/>
          </p:cNvSpPr>
          <p:nvPr/>
        </p:nvSpPr>
        <p:spPr>
          <a:xfrm>
            <a:off x="1043608" y="3933056"/>
            <a:ext cx="6948425" cy="2041200"/>
          </a:xfrm>
          <a:prstGeom prst="rect">
            <a:avLst/>
          </a:prstGeom>
          <a:blipFill rotWithShape="0">
            <a:blip r:embed="rId4"/>
            <a:stretch>
              <a:fillRect l="-524" t="-885" r="-175" b="-2065"/>
            </a:stretch>
          </a:blipFill>
          <a:ln w="22225">
            <a:solidFill>
              <a:schemeClr val="accent5">
                <a:lumMod val="75000"/>
              </a:schemeClr>
            </a:solidFill>
            <a:prstDash val="sysDot"/>
          </a:ln>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5" name="页脚占位符 4"/>
          <p:cNvSpPr>
            <a:spLocks noGrp="1"/>
          </p:cNvSpPr>
          <p:nvPr>
            <p:ph type="ftr" sz="quarter" idx="11"/>
          </p:nvPr>
        </p:nvSpPr>
        <p:spPr/>
        <p:txBody>
          <a:bodyPr/>
          <a:lstStyle/>
          <a:p>
            <a:pPr>
              <a:defRPr/>
            </a:pPr>
            <a:r>
              <a:rPr lang="zh-CN" altLang="en-US"/>
              <a:t>计算机应用技术研究所</a:t>
            </a:r>
          </a:p>
        </p:txBody>
      </p:sp>
      <p:sp>
        <p:nvSpPr>
          <p:cNvPr id="16" name="灯片编号占位符 5"/>
          <p:cNvSpPr>
            <a:spLocks noGrp="1"/>
          </p:cNvSpPr>
          <p:nvPr>
            <p:ph type="sldNum" sz="quarter" idx="12"/>
          </p:nvPr>
        </p:nvSpPr>
        <p:spPr/>
        <p:txBody>
          <a:bodyPr/>
          <a:lstStyle/>
          <a:p>
            <a:pPr>
              <a:defRPr/>
            </a:pPr>
            <a:fld id="{AB19ED80-35CA-41B6-8769-4EDF304772C5}" type="slidenum">
              <a:rPr lang="en-US" altLang="zh-CN"/>
              <a:pPr>
                <a:defRPr/>
              </a:pPr>
              <a:t>59</a:t>
            </a:fld>
            <a:endParaRPr lang="en-US" altLang="zh-CN"/>
          </a:p>
        </p:txBody>
      </p:sp>
      <p:sp>
        <p:nvSpPr>
          <p:cNvPr id="60421" name="Text Box 2"/>
          <p:cNvSpPr txBox="1">
            <a:spLocks noChangeArrowheads="1"/>
          </p:cNvSpPr>
          <p:nvPr/>
        </p:nvSpPr>
        <p:spPr bwMode="auto">
          <a:xfrm>
            <a:off x="1331913" y="804863"/>
            <a:ext cx="60483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000" b="1">
                <a:solidFill>
                  <a:schemeClr val="bg1"/>
                </a:solidFill>
                <a:latin typeface="宋体" panose="02010600030101010101" pitchFamily="2" charset="-122"/>
                <a:ea typeface="宋体" panose="02010600030101010101" pitchFamily="2" charset="-122"/>
              </a:rPr>
              <a:t>同余关系的判定定理</a:t>
            </a:r>
          </a:p>
        </p:txBody>
      </p:sp>
      <p:pic>
        <p:nvPicPr>
          <p:cNvPr id="6042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1156" name="Rectangle 4"/>
          <p:cNvSpPr>
            <a:spLocks noChangeArrowheads="1"/>
          </p:cNvSpPr>
          <p:nvPr/>
        </p:nvSpPr>
        <p:spPr bwMode="auto">
          <a:xfrm>
            <a:off x="971550" y="2082800"/>
            <a:ext cx="7200900" cy="1368425"/>
          </a:xfrm>
          <a:prstGeom prst="rect">
            <a:avLst/>
          </a:prstGeom>
          <a:solidFill>
            <a:srgbClr val="CCFFFF"/>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marL="0" indent="0" eaLnBrk="1" hangingPunct="1">
              <a:lnSpc>
                <a:spcPct val="120000"/>
              </a:lnSpc>
              <a:buFontTx/>
              <a:buNone/>
              <a:defRPr/>
            </a:pPr>
            <a:r>
              <a:rPr lang="en-US" altLang="zh-CN" b="1" dirty="0" smtClean="0">
                <a:solidFill>
                  <a:srgbClr val="FF0000"/>
                </a:solidFill>
                <a:effectLst>
                  <a:outerShdw blurRad="38100" dist="38100" dir="2700000" algn="tl">
                    <a:srgbClr val="000000"/>
                  </a:outerShdw>
                </a:effectLst>
                <a:latin typeface="黑体" panose="02010609060101010101" pitchFamily="49" charset="-122"/>
                <a:ea typeface="黑体" panose="02010609060101010101" pitchFamily="49" charset="-122"/>
              </a:rPr>
              <a:t>  </a:t>
            </a:r>
            <a:r>
              <a:rPr lang="zh-CN" altLang="en-US" sz="2000" dirty="0" smtClean="0">
                <a:solidFill>
                  <a:schemeClr val="tx1">
                    <a:lumMod val="75000"/>
                    <a:lumOff val="25000"/>
                  </a:schemeClr>
                </a:solidFill>
                <a:latin typeface="黑体" panose="02010609060101010101" pitchFamily="49" charset="-122"/>
                <a:ea typeface="黑体" panose="02010609060101010101" pitchFamily="49" charset="-122"/>
              </a:rPr>
              <a:t>有了同余关系的概念后，对于给定的两个整数，我们如何准确判定这两个整数是否具有同余关系呢？这就用到了我们下面要讲的</a:t>
            </a:r>
            <a:r>
              <a:rPr lang="zh-CN" altLang="en-US" sz="2000" b="1" dirty="0">
                <a:solidFill>
                  <a:schemeClr val="accent2">
                    <a:lumMod val="75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同余关系的判定定理</a:t>
            </a:r>
            <a:endParaRPr lang="zh-CN" altLang="en-US" sz="2000" b="1" dirty="0" smtClean="0">
              <a:solidFill>
                <a:schemeClr val="accent2">
                  <a:lumMod val="75000"/>
                </a:schemeClr>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3" name="文本框 2"/>
          <p:cNvSpPr txBox="1">
            <a:spLocks noRot="1" noChangeAspect="1" noMove="1" noResize="1" noEditPoints="1" noAdjustHandles="1" noChangeArrowheads="1" noChangeShapeType="1" noTextEdit="1"/>
          </p:cNvSpPr>
          <p:nvPr/>
        </p:nvSpPr>
        <p:spPr>
          <a:xfrm>
            <a:off x="971860" y="3645024"/>
            <a:ext cx="7200279" cy="1200329"/>
          </a:xfrm>
          <a:prstGeom prst="rect">
            <a:avLst/>
          </a:prstGeom>
          <a:blipFill rotWithShape="0">
            <a:blip r:embed="rId4"/>
            <a:stretch>
              <a:fillRect l="-1096" t="-4478" r="-590" b="-7960"/>
            </a:stretch>
          </a:blipFill>
          <a:ln w="22225">
            <a:solidFill>
              <a:srgbClr val="92D050"/>
            </a:solidFill>
            <a:prstDash val="dashDot"/>
          </a:ln>
        </p:spPr>
        <p:txBody>
          <a:bodyPr/>
          <a:lstStyle/>
          <a:p>
            <a:pPr>
              <a:defRPr/>
            </a:pPr>
            <a:r>
              <a:rPr lang="zh-CN" altLang="en-US">
                <a:noFill/>
              </a:rPr>
              <a:t> </a:t>
            </a:r>
          </a:p>
        </p:txBody>
      </p:sp>
      <p:pic>
        <p:nvPicPr>
          <p:cNvPr id="60425"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85888" y="4922838"/>
            <a:ext cx="63722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4ED40FC9-713D-4A81-8762-864968B9FF2E}" type="slidenum">
              <a:rPr lang="en-US" altLang="zh-CN"/>
              <a:pPr>
                <a:defRPr/>
              </a:pPr>
              <a:t>60</a:t>
            </a:fld>
            <a:endParaRPr lang="en-US" altLang="zh-CN"/>
          </a:p>
        </p:txBody>
      </p:sp>
      <p:sp>
        <p:nvSpPr>
          <p:cNvPr id="61445" name="Text Box 2"/>
          <p:cNvSpPr txBox="1">
            <a:spLocks noChangeArrowheads="1"/>
          </p:cNvSpPr>
          <p:nvPr/>
        </p:nvSpPr>
        <p:spPr bwMode="auto">
          <a:xfrm>
            <a:off x="1331913" y="692150"/>
            <a:ext cx="60483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000" b="1">
                <a:solidFill>
                  <a:schemeClr val="bg1"/>
                </a:solidFill>
                <a:latin typeface="宋体" panose="02010600030101010101" pitchFamily="2" charset="-122"/>
                <a:ea typeface="宋体" panose="02010600030101010101" pitchFamily="2" charset="-122"/>
              </a:rPr>
              <a:t>同余关系的判定定理</a:t>
            </a:r>
          </a:p>
        </p:txBody>
      </p:sp>
      <p:pic>
        <p:nvPicPr>
          <p:cNvPr id="614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539750" y="1916113"/>
            <a:ext cx="6192838" cy="460375"/>
          </a:xfrm>
          <a:prstGeom prst="rect">
            <a:avLst/>
          </a:prstGeom>
          <a:noFill/>
        </p:spPr>
        <p:txBody>
          <a:bodyPr>
            <a:spAutoFit/>
          </a:bodyPr>
          <a:lstStyle/>
          <a:p>
            <a:pPr>
              <a:defRPr/>
            </a:pPr>
            <a:r>
              <a:rPr lang="zh-CN" altLang="en-US" b="1" dirty="0">
                <a:effectLst>
                  <a:outerShdw blurRad="38100" dist="38100" dir="2700000" algn="tl">
                    <a:srgbClr val="000000">
                      <a:alpha val="43137"/>
                    </a:srgbClr>
                  </a:outerShdw>
                </a:effectLst>
                <a:latin typeface="方正姚体" panose="02010601030101010101" pitchFamily="2" charset="-122"/>
                <a:ea typeface="方正姚体" panose="02010601030101010101" pitchFamily="2" charset="-122"/>
              </a:rPr>
              <a:t>同余关系的判定定理也有第二种表示方式：</a:t>
            </a:r>
          </a:p>
        </p:txBody>
      </p:sp>
      <p:sp>
        <p:nvSpPr>
          <p:cNvPr id="4" name="文本框 3"/>
          <p:cNvSpPr txBox="1">
            <a:spLocks noRot="1" noChangeAspect="1" noMove="1" noResize="1" noEditPoints="1" noAdjustHandles="1" noChangeArrowheads="1" noChangeShapeType="1" noTextEdit="1"/>
          </p:cNvSpPr>
          <p:nvPr/>
        </p:nvSpPr>
        <p:spPr>
          <a:xfrm>
            <a:off x="1187624" y="2671340"/>
            <a:ext cx="6624736" cy="1200329"/>
          </a:xfrm>
          <a:prstGeom prst="rect">
            <a:avLst/>
          </a:prstGeom>
          <a:blipFill rotWithShape="0">
            <a:blip r:embed="rId4"/>
            <a:stretch>
              <a:fillRect l="-1472" t="-4061" r="-92" b="-9137"/>
            </a:stretch>
          </a:blipFill>
        </p:spPr>
        <p:txBody>
          <a:bodyPr/>
          <a:lstStyle/>
          <a:p>
            <a:pPr>
              <a:defRPr/>
            </a:pPr>
            <a:r>
              <a:rPr lang="zh-CN" altLang="en-US">
                <a:noFill/>
              </a:rPr>
              <a:t> </a:t>
            </a:r>
          </a:p>
        </p:txBody>
      </p:sp>
      <p:sp>
        <p:nvSpPr>
          <p:cNvPr id="5" name="泪滴形 4"/>
          <p:cNvSpPr/>
          <p:nvPr/>
        </p:nvSpPr>
        <p:spPr bwMode="auto">
          <a:xfrm>
            <a:off x="2268538" y="4033838"/>
            <a:ext cx="3671887" cy="2087562"/>
          </a:xfrm>
          <a:prstGeom prst="teardrop">
            <a:avLst/>
          </a:prstGeom>
          <a:solidFill>
            <a:srgbClr val="FF66FF"/>
          </a:solidFill>
          <a:ln>
            <a:noFill/>
          </a:ln>
          <a:effectLst/>
          <a:extLst/>
        </p:spPr>
        <p:txBody>
          <a:bodyPr/>
          <a:lstStyle/>
          <a:p>
            <a:pPr algn="ctr" eaLnBrk="1" hangingPunct="1">
              <a:spcBef>
                <a:spcPct val="20000"/>
              </a:spcBef>
              <a:defRPr/>
            </a:pPr>
            <a:endParaRPr lang="zh-CN" altLang="en-US" sz="3200">
              <a:latin typeface="宋体" panose="02010600030101010101" pitchFamily="2" charset="-122"/>
              <a:ea typeface="宋体" panose="02010600030101010101" pitchFamily="2" charset="-122"/>
            </a:endParaRPr>
          </a:p>
        </p:txBody>
      </p:sp>
      <p:sp>
        <p:nvSpPr>
          <p:cNvPr id="9" name="文本框 8"/>
          <p:cNvSpPr txBox="1"/>
          <p:nvPr/>
        </p:nvSpPr>
        <p:spPr>
          <a:xfrm>
            <a:off x="2843213" y="4189413"/>
            <a:ext cx="3025775" cy="2062162"/>
          </a:xfrm>
          <a:prstGeom prst="rect">
            <a:avLst/>
          </a:prstGeom>
          <a:noFill/>
        </p:spPr>
        <p:txBody>
          <a:bodyPr>
            <a:spAutoFit/>
          </a:bodyPr>
          <a:lstStyle/>
          <a:p>
            <a:pPr>
              <a:defRPr/>
            </a:pPr>
            <a:r>
              <a:rPr lang="zh-CN" altLang="zh-CN" sz="20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在现实生活中，时钟的钟点读数模</a:t>
            </a:r>
            <a:r>
              <a:rPr lang="en-US" altLang="zh-CN" sz="20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12</a:t>
            </a:r>
            <a:r>
              <a:rPr lang="zh-CN" altLang="zh-CN" sz="20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同余或者模</a:t>
            </a:r>
            <a:r>
              <a:rPr lang="en-US" altLang="zh-CN" sz="20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24</a:t>
            </a:r>
            <a:r>
              <a:rPr lang="zh-CN" altLang="zh-CN" sz="20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同余，分和秒读数模</a:t>
            </a:r>
            <a:r>
              <a:rPr lang="en-US" altLang="zh-CN" sz="20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60</a:t>
            </a:r>
            <a:r>
              <a:rPr lang="zh-CN" altLang="zh-CN" sz="20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同余，星期几的读法则是模</a:t>
            </a:r>
            <a:r>
              <a:rPr lang="en-US" altLang="zh-CN" sz="20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7</a:t>
            </a:r>
            <a:r>
              <a:rPr lang="zh-CN" altLang="zh-CN" sz="20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同余</a:t>
            </a:r>
            <a:r>
              <a:rPr lang="zh-CN" altLang="zh-CN"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a:t>
            </a:r>
          </a:p>
          <a:p>
            <a:pPr>
              <a:defRPr/>
            </a:pPr>
            <a:endParaRPr lang="zh-CN" altLang="en-US" dirty="0"/>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4"/>
          <p:cNvSpPr>
            <a:spLocks noGrp="1"/>
          </p:cNvSpPr>
          <p:nvPr>
            <p:ph type="ftr" sz="quarter" idx="11"/>
          </p:nvPr>
        </p:nvSpPr>
        <p:spPr/>
        <p:txBody>
          <a:bodyPr/>
          <a:lstStyle/>
          <a:p>
            <a:pPr>
              <a:defRPr/>
            </a:pPr>
            <a:r>
              <a:rPr lang="zh-CN" altLang="en-US"/>
              <a:t>计算机应用技术研究所</a:t>
            </a:r>
          </a:p>
        </p:txBody>
      </p:sp>
      <p:sp>
        <p:nvSpPr>
          <p:cNvPr id="15" name="灯片编号占位符 5"/>
          <p:cNvSpPr>
            <a:spLocks noGrp="1"/>
          </p:cNvSpPr>
          <p:nvPr>
            <p:ph type="sldNum" sz="quarter" idx="12"/>
          </p:nvPr>
        </p:nvSpPr>
        <p:spPr/>
        <p:txBody>
          <a:bodyPr/>
          <a:lstStyle/>
          <a:p>
            <a:pPr>
              <a:defRPr/>
            </a:pPr>
            <a:fld id="{22AB1EE0-51D9-45B4-85BE-6AA06C888F8C}" type="slidenum">
              <a:rPr lang="en-US" altLang="zh-CN"/>
              <a:pPr>
                <a:defRPr/>
              </a:pPr>
              <a:t>61</a:t>
            </a:fld>
            <a:endParaRPr lang="en-US" altLang="zh-CN"/>
          </a:p>
        </p:txBody>
      </p:sp>
      <p:sp>
        <p:nvSpPr>
          <p:cNvPr id="62469" name="Text Box 2"/>
          <p:cNvSpPr txBox="1">
            <a:spLocks noChangeArrowheads="1"/>
          </p:cNvSpPr>
          <p:nvPr/>
        </p:nvSpPr>
        <p:spPr bwMode="auto">
          <a:xfrm>
            <a:off x="1331913" y="692150"/>
            <a:ext cx="60483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同余关系的性质</a:t>
            </a:r>
          </a:p>
        </p:txBody>
      </p:sp>
      <p:pic>
        <p:nvPicPr>
          <p:cNvPr id="6247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1" name="文本框 2"/>
          <p:cNvSpPr txBox="1">
            <a:spLocks noChangeArrowheads="1"/>
          </p:cNvSpPr>
          <p:nvPr/>
        </p:nvSpPr>
        <p:spPr bwMode="auto">
          <a:xfrm>
            <a:off x="1036638" y="1916113"/>
            <a:ext cx="4175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b="1">
                <a:latin typeface="黑体" panose="02010609060101010101" pitchFamily="49" charset="-122"/>
                <a:ea typeface="黑体" panose="02010609060101010101" pitchFamily="49" charset="-122"/>
              </a:rPr>
              <a:t>同余关系的保加性和保乘性：</a:t>
            </a:r>
            <a:endParaRPr lang="zh-CN" altLang="en-US" b="1">
              <a:latin typeface="黑体" panose="02010609060101010101" pitchFamily="49" charset="-122"/>
              <a:ea typeface="黑体" panose="02010609060101010101" pitchFamily="49" charset="-122"/>
            </a:endParaRPr>
          </a:p>
        </p:txBody>
      </p:sp>
      <p:sp>
        <p:nvSpPr>
          <p:cNvPr id="4" name="文本框 3"/>
          <p:cNvSpPr txBox="1">
            <a:spLocks noRot="1" noChangeAspect="1" noMove="1" noResize="1" noEditPoints="1" noAdjustHandles="1" noChangeArrowheads="1" noChangeShapeType="1" noTextEdit="1"/>
          </p:cNvSpPr>
          <p:nvPr/>
        </p:nvSpPr>
        <p:spPr>
          <a:xfrm>
            <a:off x="1152116" y="2634910"/>
            <a:ext cx="6839768" cy="1938992"/>
          </a:xfrm>
          <a:prstGeom prst="rect">
            <a:avLst/>
          </a:prstGeom>
          <a:blipFill rotWithShape="0">
            <a:blip r:embed="rId4"/>
            <a:stretch>
              <a:fillRect l="-1426" t="-2516"/>
            </a:stretch>
          </a:blipFill>
        </p:spPr>
        <p:txBody>
          <a:bodyPr/>
          <a:lstStyle/>
          <a:p>
            <a:pPr>
              <a:defRPr/>
            </a:pPr>
            <a:r>
              <a:rPr lang="zh-CN" altLang="en-US">
                <a:noFill/>
              </a:rPr>
              <a:t> </a:t>
            </a:r>
          </a:p>
        </p:txBody>
      </p:sp>
      <p:pic>
        <p:nvPicPr>
          <p:cNvPr id="62473" name="图片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781550"/>
            <a:ext cx="5981700"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1948831E-6A95-47E4-A9F3-93D93D674D8D}" type="slidenum">
              <a:rPr lang="en-US" altLang="zh-CN"/>
              <a:pPr>
                <a:defRPr/>
              </a:pPr>
              <a:t>62</a:t>
            </a:fld>
            <a:endParaRPr lang="en-US" altLang="zh-CN"/>
          </a:p>
        </p:txBody>
      </p:sp>
      <p:sp>
        <p:nvSpPr>
          <p:cNvPr id="63493" name="Text Box 2"/>
          <p:cNvSpPr txBox="1">
            <a:spLocks noChangeArrowheads="1"/>
          </p:cNvSpPr>
          <p:nvPr/>
        </p:nvSpPr>
        <p:spPr bwMode="auto">
          <a:xfrm>
            <a:off x="1331913" y="692150"/>
            <a:ext cx="60483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同余关系的性质</a:t>
            </a:r>
          </a:p>
        </p:txBody>
      </p:sp>
      <p:pic>
        <p:nvPicPr>
          <p:cNvPr id="6349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5" name="文本框 9"/>
          <p:cNvSpPr txBox="1">
            <a:spLocks noChangeArrowheads="1"/>
          </p:cNvSpPr>
          <p:nvPr/>
        </p:nvSpPr>
        <p:spPr bwMode="auto">
          <a:xfrm>
            <a:off x="1036638" y="1916113"/>
            <a:ext cx="2959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b="1">
                <a:latin typeface="黑体" panose="02010609060101010101" pitchFamily="49" charset="-122"/>
                <a:ea typeface="黑体" panose="02010609060101010101" pitchFamily="49" charset="-122"/>
              </a:rPr>
              <a:t>同余关系的</a:t>
            </a:r>
            <a:r>
              <a:rPr lang="zh-CN" altLang="en-US" b="1">
                <a:latin typeface="黑体" panose="02010609060101010101" pitchFamily="49" charset="-122"/>
                <a:ea typeface="黑体" panose="02010609060101010101" pitchFamily="49" charset="-122"/>
              </a:rPr>
              <a:t>运算律</a:t>
            </a:r>
            <a:r>
              <a:rPr lang="zh-CN" altLang="zh-CN" b="1">
                <a:latin typeface="黑体" panose="02010609060101010101" pitchFamily="49" charset="-122"/>
                <a:ea typeface="黑体" panose="02010609060101010101" pitchFamily="49" charset="-122"/>
              </a:rPr>
              <a:t>：</a:t>
            </a:r>
            <a:endParaRPr lang="zh-CN" altLang="en-US" b="1">
              <a:latin typeface="黑体" panose="02010609060101010101" pitchFamily="49" charset="-122"/>
              <a:ea typeface="黑体" panose="02010609060101010101" pitchFamily="49" charset="-122"/>
            </a:endParaRPr>
          </a:p>
        </p:txBody>
      </p:sp>
      <p:sp>
        <p:nvSpPr>
          <p:cNvPr id="3" name="文本框 2"/>
          <p:cNvSpPr txBox="1">
            <a:spLocks noRot="1" noChangeAspect="1" noMove="1" noResize="1" noEditPoints="1" noAdjustHandles="1" noChangeArrowheads="1" noChangeShapeType="1" noTextEdit="1"/>
          </p:cNvSpPr>
          <p:nvPr/>
        </p:nvSpPr>
        <p:spPr>
          <a:xfrm>
            <a:off x="1541594" y="2492896"/>
            <a:ext cx="6774822" cy="878510"/>
          </a:xfrm>
          <a:prstGeom prst="rect">
            <a:avLst/>
          </a:prstGeom>
          <a:blipFill rotWithShape="0">
            <a:blip r:embed="rId4"/>
            <a:stretch>
              <a:fillRect l="-1260" b="-13889"/>
            </a:stretch>
          </a:blipFill>
        </p:spPr>
        <p:txBody>
          <a:bodyPr/>
          <a:lstStyle/>
          <a:p>
            <a:pPr>
              <a:defRPr/>
            </a:pPr>
            <a:r>
              <a:rPr lang="zh-CN" altLang="en-US">
                <a:noFill/>
              </a:rPr>
              <a:t> </a:t>
            </a:r>
          </a:p>
        </p:txBody>
      </p:sp>
      <p:sp>
        <p:nvSpPr>
          <p:cNvPr id="4" name="文本框 3"/>
          <p:cNvSpPr txBox="1">
            <a:spLocks noRot="1" noChangeAspect="1" noMove="1" noResize="1" noEditPoints="1" noAdjustHandles="1" noChangeArrowheads="1" noChangeShapeType="1" noTextEdit="1"/>
          </p:cNvSpPr>
          <p:nvPr/>
        </p:nvSpPr>
        <p:spPr>
          <a:xfrm>
            <a:off x="1259632" y="3656328"/>
            <a:ext cx="7884368" cy="1938992"/>
          </a:xfrm>
          <a:prstGeom prst="rect">
            <a:avLst/>
          </a:prstGeom>
          <a:blipFill rotWithShape="0">
            <a:blip r:embed="rId5"/>
            <a:stretch>
              <a:fillRect l="-1237" t="-2516" b="-4088"/>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FCB6A131-EFA7-47DF-8C46-BDFFBDF18E85}" type="slidenum">
              <a:rPr lang="en-US" altLang="zh-CN"/>
              <a:pPr>
                <a:defRPr/>
              </a:pPr>
              <a:t>63</a:t>
            </a:fld>
            <a:endParaRPr lang="en-US" altLang="zh-CN"/>
          </a:p>
        </p:txBody>
      </p:sp>
      <p:sp>
        <p:nvSpPr>
          <p:cNvPr id="64517" name="Text Box 2"/>
          <p:cNvSpPr txBox="1">
            <a:spLocks noChangeArrowheads="1"/>
          </p:cNvSpPr>
          <p:nvPr/>
        </p:nvSpPr>
        <p:spPr bwMode="auto">
          <a:xfrm>
            <a:off x="1331913" y="692150"/>
            <a:ext cx="60483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同余关系的性质</a:t>
            </a:r>
          </a:p>
        </p:txBody>
      </p:sp>
      <p:pic>
        <p:nvPicPr>
          <p:cNvPr id="6451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1259632" y="1916832"/>
            <a:ext cx="6624736" cy="830997"/>
          </a:xfrm>
          <a:prstGeom prst="rect">
            <a:avLst/>
          </a:prstGeom>
          <a:blipFill rotWithShape="0">
            <a:blip r:embed="rId4"/>
            <a:stretch>
              <a:fillRect l="-1473" t="-8029" b="-13139"/>
            </a:stretch>
          </a:blipFill>
        </p:spPr>
        <p:txBody>
          <a:bodyPr/>
          <a:lstStyle/>
          <a:p>
            <a:pPr>
              <a:defRPr/>
            </a:pPr>
            <a:r>
              <a:rPr lang="zh-CN" altLang="en-US">
                <a:noFill/>
              </a:rPr>
              <a:t> </a:t>
            </a:r>
          </a:p>
        </p:txBody>
      </p:sp>
      <p:pic>
        <p:nvPicPr>
          <p:cNvPr id="64520"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2862263"/>
            <a:ext cx="6629400"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21" name="图片 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4954588"/>
            <a:ext cx="1408112"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2" name="流程图: 显示 9"/>
          <p:cNvSpPr>
            <a:spLocks noChangeArrowheads="1"/>
          </p:cNvSpPr>
          <p:nvPr/>
        </p:nvSpPr>
        <p:spPr bwMode="auto">
          <a:xfrm>
            <a:off x="2735263" y="4954588"/>
            <a:ext cx="3673475" cy="1320800"/>
          </a:xfrm>
          <a:prstGeom prst="flowChartDisplay">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11" name="文本框 10"/>
          <p:cNvSpPr txBox="1">
            <a:spLocks noRot="1" noChangeAspect="1" noMove="1" noResize="1" noEditPoints="1" noAdjustHandles="1" noChangeArrowheads="1" noChangeShapeType="1" noTextEdit="1"/>
          </p:cNvSpPr>
          <p:nvPr/>
        </p:nvSpPr>
        <p:spPr>
          <a:xfrm>
            <a:off x="3124200" y="5022851"/>
            <a:ext cx="3171008" cy="1077218"/>
          </a:xfrm>
          <a:prstGeom prst="rect">
            <a:avLst/>
          </a:prstGeom>
          <a:blipFill rotWithShape="0">
            <a:blip r:embed="rId7"/>
            <a:stretch>
              <a:fillRect l="-1346" t="-1695" b="-7910"/>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381125" y="692150"/>
            <a:ext cx="62722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同余关系的性质</a:t>
            </a:r>
          </a:p>
        </p:txBody>
      </p:sp>
      <p:pic>
        <p:nvPicPr>
          <p:cNvPr id="6553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115616" y="1916113"/>
            <a:ext cx="7007299" cy="1938992"/>
          </a:xfrm>
          <a:prstGeom prst="rect">
            <a:avLst/>
          </a:prstGeom>
          <a:blipFill rotWithShape="0">
            <a:blip r:embed="rId4"/>
            <a:stretch>
              <a:fillRect l="-1305" t="-2516" b="-5346"/>
            </a:stretch>
          </a:blipFill>
        </p:spPr>
        <p:txBody>
          <a:bodyPr/>
          <a:lstStyle/>
          <a:p>
            <a:pPr>
              <a:defRPr/>
            </a:pPr>
            <a:r>
              <a:rPr lang="zh-CN" altLang="en-US">
                <a:noFill/>
              </a:rPr>
              <a:t> </a:t>
            </a:r>
          </a:p>
        </p:txBody>
      </p:sp>
      <p:pic>
        <p:nvPicPr>
          <p:cNvPr id="65541"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55763" y="3933825"/>
            <a:ext cx="5927725"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4"/>
          <p:cNvSpPr>
            <a:spLocks noGrp="1"/>
          </p:cNvSpPr>
          <p:nvPr>
            <p:ph type="ftr" sz="quarter" idx="11"/>
          </p:nvPr>
        </p:nvSpPr>
        <p:spPr/>
        <p:txBody>
          <a:bodyPr/>
          <a:lstStyle/>
          <a:p>
            <a:pPr>
              <a:defRPr/>
            </a:pPr>
            <a:r>
              <a:rPr lang="zh-CN" altLang="en-US"/>
              <a:t>计算机应用技术研究所</a:t>
            </a:r>
          </a:p>
        </p:txBody>
      </p:sp>
      <p:sp>
        <p:nvSpPr>
          <p:cNvPr id="15" name="灯片编号占位符 5"/>
          <p:cNvSpPr>
            <a:spLocks noGrp="1"/>
          </p:cNvSpPr>
          <p:nvPr>
            <p:ph type="sldNum" sz="quarter" idx="12"/>
          </p:nvPr>
        </p:nvSpPr>
        <p:spPr/>
        <p:txBody>
          <a:bodyPr/>
          <a:lstStyle/>
          <a:p>
            <a:pPr>
              <a:defRPr/>
            </a:pPr>
            <a:fld id="{F7AE2E63-1C29-4109-A80B-2E639EA05C43}" type="slidenum">
              <a:rPr lang="en-US" altLang="zh-CN"/>
              <a:pPr>
                <a:defRPr/>
              </a:pPr>
              <a:t>65</a:t>
            </a:fld>
            <a:endParaRPr lang="en-US" altLang="zh-CN"/>
          </a:p>
        </p:txBody>
      </p:sp>
      <p:sp>
        <p:nvSpPr>
          <p:cNvPr id="66565" name="Text Box 2"/>
          <p:cNvSpPr txBox="1">
            <a:spLocks noChangeArrowheads="1"/>
          </p:cNvSpPr>
          <p:nvPr/>
        </p:nvSpPr>
        <p:spPr bwMode="auto">
          <a:xfrm>
            <a:off x="1331913" y="692150"/>
            <a:ext cx="60483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例题</a:t>
            </a:r>
            <a:endParaRPr lang="zh-CN" altLang="en-US" sz="4800" b="1">
              <a:solidFill>
                <a:schemeClr val="bg1"/>
              </a:solidFill>
              <a:latin typeface="宋体" panose="02010600030101010101" pitchFamily="2" charset="-122"/>
              <a:ea typeface="宋体" panose="02010600030101010101" pitchFamily="2" charset="-122"/>
            </a:endParaRPr>
          </a:p>
        </p:txBody>
      </p:sp>
      <p:pic>
        <p:nvPicPr>
          <p:cNvPr id="6656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331913" y="2132856"/>
            <a:ext cx="6840487" cy="3785652"/>
          </a:xfrm>
          <a:prstGeom prst="rect">
            <a:avLst/>
          </a:prstGeom>
          <a:blipFill rotWithShape="0">
            <a:blip r:embed="rId4"/>
            <a:stretch>
              <a:fillRect l="-1336"/>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4"/>
          <p:cNvSpPr>
            <a:spLocks noGrp="1"/>
          </p:cNvSpPr>
          <p:nvPr>
            <p:ph type="ftr" sz="quarter" idx="11"/>
          </p:nvPr>
        </p:nvSpPr>
        <p:spPr/>
        <p:txBody>
          <a:bodyPr/>
          <a:lstStyle/>
          <a:p>
            <a:pPr>
              <a:defRPr/>
            </a:pPr>
            <a:r>
              <a:rPr lang="zh-CN" altLang="en-US"/>
              <a:t>计算机应用技术研究所</a:t>
            </a:r>
          </a:p>
        </p:txBody>
      </p:sp>
      <p:sp>
        <p:nvSpPr>
          <p:cNvPr id="15" name="灯片编号占位符 5"/>
          <p:cNvSpPr>
            <a:spLocks noGrp="1"/>
          </p:cNvSpPr>
          <p:nvPr>
            <p:ph type="sldNum" sz="quarter" idx="12"/>
          </p:nvPr>
        </p:nvSpPr>
        <p:spPr/>
        <p:txBody>
          <a:bodyPr/>
          <a:lstStyle/>
          <a:p>
            <a:pPr>
              <a:defRPr/>
            </a:pPr>
            <a:fld id="{85EEB864-5274-41FD-9AF0-A63BD9E3B1FE}" type="slidenum">
              <a:rPr lang="en-US" altLang="zh-CN"/>
              <a:pPr>
                <a:defRPr/>
              </a:pPr>
              <a:t>66</a:t>
            </a:fld>
            <a:endParaRPr lang="en-US" altLang="zh-CN"/>
          </a:p>
        </p:txBody>
      </p:sp>
      <p:sp>
        <p:nvSpPr>
          <p:cNvPr id="67589" name="Text Box 2"/>
          <p:cNvSpPr txBox="1">
            <a:spLocks noChangeArrowheads="1"/>
          </p:cNvSpPr>
          <p:nvPr/>
        </p:nvSpPr>
        <p:spPr bwMode="auto">
          <a:xfrm>
            <a:off x="1331913" y="692150"/>
            <a:ext cx="60483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例题</a:t>
            </a:r>
            <a:endParaRPr lang="zh-CN" altLang="en-US" sz="4800" b="1">
              <a:solidFill>
                <a:schemeClr val="bg1"/>
              </a:solidFill>
              <a:latin typeface="宋体" panose="02010600030101010101" pitchFamily="2" charset="-122"/>
              <a:ea typeface="宋体" panose="02010600030101010101" pitchFamily="2" charset="-122"/>
            </a:endParaRPr>
          </a:p>
        </p:txBody>
      </p:sp>
      <p:pic>
        <p:nvPicPr>
          <p:cNvPr id="6759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331913" y="2132856"/>
            <a:ext cx="6840487" cy="3472169"/>
          </a:xfrm>
          <a:prstGeom prst="rect">
            <a:avLst/>
          </a:prstGeom>
          <a:blipFill rotWithShape="0">
            <a:blip r:embed="rId4"/>
            <a:stretch>
              <a:fillRect l="-1336" t="-1406"/>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日期占位符 5"/>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5" name="页脚占位符 6"/>
          <p:cNvSpPr>
            <a:spLocks noGrp="1"/>
          </p:cNvSpPr>
          <p:nvPr>
            <p:ph type="ftr" sz="quarter" idx="11"/>
          </p:nvPr>
        </p:nvSpPr>
        <p:spPr/>
        <p:txBody>
          <a:bodyPr/>
          <a:lstStyle/>
          <a:p>
            <a:pPr>
              <a:defRPr/>
            </a:pPr>
            <a:r>
              <a:rPr lang="zh-CN" altLang="en-US"/>
              <a:t>计算机应用技术研究所</a:t>
            </a:r>
          </a:p>
        </p:txBody>
      </p:sp>
      <p:sp>
        <p:nvSpPr>
          <p:cNvPr id="16" name="灯片编号占位符 7"/>
          <p:cNvSpPr>
            <a:spLocks noGrp="1"/>
          </p:cNvSpPr>
          <p:nvPr>
            <p:ph type="sldNum" sz="quarter" idx="12"/>
          </p:nvPr>
        </p:nvSpPr>
        <p:spPr/>
        <p:txBody>
          <a:bodyPr/>
          <a:lstStyle/>
          <a:p>
            <a:pPr>
              <a:defRPr/>
            </a:pPr>
            <a:fld id="{B72CBDE8-AEED-4E2C-9F1E-65B8C5B81C33}" type="slidenum">
              <a:rPr lang="en-US" altLang="zh-CN"/>
              <a:pPr>
                <a:defRPr/>
              </a:pPr>
              <a:t>67</a:t>
            </a:fld>
            <a:endParaRPr lang="en-US" altLang="zh-CN"/>
          </a:p>
        </p:txBody>
      </p:sp>
      <p:sp>
        <p:nvSpPr>
          <p:cNvPr id="68613" name="Text Box 2"/>
          <p:cNvSpPr txBox="1">
            <a:spLocks noChangeArrowheads="1"/>
          </p:cNvSpPr>
          <p:nvPr/>
        </p:nvSpPr>
        <p:spPr bwMode="auto">
          <a:xfrm>
            <a:off x="1331913" y="692150"/>
            <a:ext cx="60483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同余类</a:t>
            </a:r>
          </a:p>
        </p:txBody>
      </p:sp>
      <p:pic>
        <p:nvPicPr>
          <p:cNvPr id="6861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5" name="文本框 4"/>
          <p:cNvSpPr txBox="1">
            <a:spLocks noChangeArrowheads="1"/>
          </p:cNvSpPr>
          <p:nvPr/>
        </p:nvSpPr>
        <p:spPr bwMode="auto">
          <a:xfrm>
            <a:off x="1368425" y="1995488"/>
            <a:ext cx="6407150" cy="1200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latin typeface="黑体" panose="02010609060101010101" pitchFamily="49" charset="-122"/>
                <a:ea typeface="黑体" panose="02010609060101010101" pitchFamily="49" charset="-122"/>
              </a:rPr>
              <a:t>前面已经介绍了同于关系的相关知识，利用同余关系可以实现</a:t>
            </a:r>
            <a:r>
              <a:rPr lang="zh-CN" altLang="en-US">
                <a:solidFill>
                  <a:srgbClr val="0099FF"/>
                </a:solidFill>
                <a:latin typeface="黑体" panose="02010609060101010101" pitchFamily="49" charset="-122"/>
                <a:ea typeface="黑体" panose="02010609060101010101" pitchFamily="49" charset="-122"/>
              </a:rPr>
              <a:t>对整数集合的划分</a:t>
            </a:r>
            <a:r>
              <a:rPr lang="zh-CN" altLang="en-US">
                <a:latin typeface="黑体" panose="02010609060101010101" pitchFamily="49" charset="-122"/>
                <a:ea typeface="黑体" panose="02010609060101010101" pitchFamily="49" charset="-122"/>
              </a:rPr>
              <a:t>，得到的结果就是</a:t>
            </a:r>
            <a:r>
              <a:rPr lang="zh-CN" altLang="zh-CN">
                <a:latin typeface="黑体" panose="02010609060101010101" pitchFamily="49" charset="-122"/>
                <a:ea typeface="黑体" panose="02010609060101010101" pitchFamily="49" charset="-122"/>
              </a:rPr>
              <a:t>划分为</a:t>
            </a:r>
            <a:r>
              <a:rPr lang="en-US" altLang="zh-CN" i="1">
                <a:solidFill>
                  <a:srgbClr val="00B0F0"/>
                </a:solidFill>
                <a:latin typeface="黑体" panose="02010609060101010101" pitchFamily="49" charset="-122"/>
                <a:ea typeface="黑体" panose="02010609060101010101" pitchFamily="49" charset="-122"/>
              </a:rPr>
              <a:t>m</a:t>
            </a:r>
            <a:r>
              <a:rPr lang="zh-CN" altLang="zh-CN">
                <a:solidFill>
                  <a:srgbClr val="00B0F0"/>
                </a:solidFill>
                <a:latin typeface="黑体" panose="02010609060101010101" pitchFamily="49" charset="-122"/>
                <a:ea typeface="黑体" panose="02010609060101010101" pitchFamily="49" charset="-122"/>
              </a:rPr>
              <a:t>个互不相交的子集合</a:t>
            </a:r>
            <a:r>
              <a:rPr lang="zh-CN" altLang="en-US">
                <a:latin typeface="黑体" panose="02010609060101010101" pitchFamily="49" charset="-122"/>
                <a:ea typeface="黑体" panose="02010609060101010101" pitchFamily="49" charset="-122"/>
              </a:rPr>
              <a:t>。</a:t>
            </a:r>
          </a:p>
        </p:txBody>
      </p:sp>
      <p:sp>
        <p:nvSpPr>
          <p:cNvPr id="6" name="文本框 5"/>
          <p:cNvSpPr txBox="1">
            <a:spLocks noRot="1" noChangeAspect="1" noMove="1" noResize="1" noEditPoints="1" noAdjustHandles="1" noChangeArrowheads="1" noChangeShapeType="1" noTextEdit="1"/>
          </p:cNvSpPr>
          <p:nvPr/>
        </p:nvSpPr>
        <p:spPr>
          <a:xfrm>
            <a:off x="827720" y="3429000"/>
            <a:ext cx="7488559" cy="2308324"/>
          </a:xfrm>
          <a:prstGeom prst="rect">
            <a:avLst/>
          </a:prstGeom>
          <a:blipFill rotWithShape="0">
            <a:blip r:embed="rId4"/>
            <a:stretch>
              <a:fillRect l="-1136" t="-1571" b="-3665"/>
            </a:stretch>
          </a:blipFill>
          <a:ln w="22225">
            <a:solidFill>
              <a:srgbClr val="FF66FF"/>
            </a:solidFill>
            <a:prstDash val="lgDashDotDot"/>
          </a:ln>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E464F2E5-11CE-443E-9688-8F9302DB7653}" type="slidenum">
              <a:rPr lang="en-US" altLang="zh-CN"/>
              <a:pPr>
                <a:defRPr/>
              </a:pPr>
              <a:t>68</a:t>
            </a:fld>
            <a:endParaRPr lang="en-US" altLang="zh-CN"/>
          </a:p>
        </p:txBody>
      </p:sp>
      <p:sp>
        <p:nvSpPr>
          <p:cNvPr id="69637" name="Text Box 2"/>
          <p:cNvSpPr txBox="1">
            <a:spLocks noChangeArrowheads="1"/>
          </p:cNvSpPr>
          <p:nvPr/>
        </p:nvSpPr>
        <p:spPr bwMode="auto">
          <a:xfrm>
            <a:off x="1331913" y="692150"/>
            <a:ext cx="60483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同余类的性质</a:t>
            </a:r>
          </a:p>
        </p:txBody>
      </p:sp>
      <p:pic>
        <p:nvPicPr>
          <p:cNvPr id="6963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773541" y="1916832"/>
            <a:ext cx="7668344" cy="830997"/>
          </a:xfrm>
          <a:prstGeom prst="rect">
            <a:avLst/>
          </a:prstGeom>
          <a:blipFill rotWithShape="0">
            <a:blip r:embed="rId4"/>
            <a:stretch>
              <a:fillRect l="-1272" t="-8029" b="-15328"/>
            </a:stretch>
          </a:blipFill>
        </p:spPr>
        <p:txBody>
          <a:bodyPr/>
          <a:lstStyle/>
          <a:p>
            <a:pPr>
              <a:defRPr/>
            </a:pPr>
            <a:r>
              <a:rPr lang="zh-CN" altLang="en-US">
                <a:noFill/>
              </a:rPr>
              <a:t> </a:t>
            </a:r>
          </a:p>
        </p:txBody>
      </p:sp>
      <p:sp>
        <p:nvSpPr>
          <p:cNvPr id="4" name="文本框 3"/>
          <p:cNvSpPr txBox="1">
            <a:spLocks noRot="1" noChangeAspect="1" noMove="1" noResize="1" noEditPoints="1" noAdjustHandles="1" noChangeArrowheads="1" noChangeShapeType="1" noTextEdit="1"/>
          </p:cNvSpPr>
          <p:nvPr/>
        </p:nvSpPr>
        <p:spPr>
          <a:xfrm>
            <a:off x="1122325" y="3068960"/>
            <a:ext cx="7344816" cy="1980799"/>
          </a:xfrm>
          <a:prstGeom prst="rect">
            <a:avLst/>
          </a:prstGeom>
          <a:blipFill rotWithShape="0">
            <a:blip r:embed="rId5"/>
            <a:stretch>
              <a:fillRect l="-910" t="-1824"/>
            </a:stretch>
          </a:blipFill>
          <a:ln w="22225">
            <a:solidFill>
              <a:schemeClr val="accent2">
                <a:lumMod val="75000"/>
              </a:schemeClr>
            </a:solidFill>
          </a:ln>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4"/>
          <p:cNvSpPr>
            <a:spLocks noGrp="1"/>
          </p:cNvSpPr>
          <p:nvPr>
            <p:ph type="ftr" sz="quarter" idx="11"/>
          </p:nvPr>
        </p:nvSpPr>
        <p:spPr/>
        <p:txBody>
          <a:bodyPr/>
          <a:lstStyle/>
          <a:p>
            <a:pPr>
              <a:defRPr/>
            </a:pPr>
            <a:r>
              <a:rPr lang="zh-CN" altLang="en-US"/>
              <a:t>计算机应用技术研究所</a:t>
            </a:r>
          </a:p>
        </p:txBody>
      </p:sp>
      <p:sp>
        <p:nvSpPr>
          <p:cNvPr id="15" name="灯片编号占位符 5"/>
          <p:cNvSpPr>
            <a:spLocks noGrp="1"/>
          </p:cNvSpPr>
          <p:nvPr>
            <p:ph type="sldNum" sz="quarter" idx="12"/>
          </p:nvPr>
        </p:nvSpPr>
        <p:spPr/>
        <p:txBody>
          <a:bodyPr/>
          <a:lstStyle/>
          <a:p>
            <a:pPr>
              <a:defRPr/>
            </a:pPr>
            <a:fld id="{07F883BC-672B-4BE3-BA53-5199AE5C98C8}" type="slidenum">
              <a:rPr lang="en-US" altLang="zh-CN"/>
              <a:pPr>
                <a:defRPr/>
              </a:pPr>
              <a:t>69</a:t>
            </a:fld>
            <a:endParaRPr lang="en-US" altLang="zh-CN"/>
          </a:p>
        </p:txBody>
      </p:sp>
      <p:sp>
        <p:nvSpPr>
          <p:cNvPr id="70661" name="Text Box 2"/>
          <p:cNvSpPr txBox="1">
            <a:spLocks noChangeArrowheads="1"/>
          </p:cNvSpPr>
          <p:nvPr/>
        </p:nvSpPr>
        <p:spPr bwMode="auto">
          <a:xfrm>
            <a:off x="1258888" y="804863"/>
            <a:ext cx="640873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同余类的性质</a:t>
            </a:r>
          </a:p>
        </p:txBody>
      </p:sp>
      <p:pic>
        <p:nvPicPr>
          <p:cNvPr id="7066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剪去对角的矩形 2"/>
          <p:cNvSpPr/>
          <p:nvPr/>
        </p:nvSpPr>
        <p:spPr bwMode="auto">
          <a:xfrm>
            <a:off x="1619250" y="2420938"/>
            <a:ext cx="6048375" cy="2808287"/>
          </a:xfrm>
          <a:prstGeom prst="snip2DiagRect">
            <a:avLst/>
          </a:prstGeom>
          <a:solidFill>
            <a:schemeClr val="accent1"/>
          </a:solidFill>
          <a:ln>
            <a:noFill/>
          </a:ln>
          <a:effectLst/>
          <a:extLst/>
        </p:spPr>
        <p:txBody>
          <a:bodyPr/>
          <a:lstStyle/>
          <a:p>
            <a:pPr algn="ctr" eaLnBrk="1" hangingPunct="1">
              <a:spcBef>
                <a:spcPct val="20000"/>
              </a:spcBef>
              <a:defRPr/>
            </a:pPr>
            <a:endParaRPr lang="zh-CN" altLang="en-US" sz="3200">
              <a:latin typeface="宋体" panose="02010600030101010101" pitchFamily="2" charset="-122"/>
              <a:ea typeface="宋体" panose="02010600030101010101" pitchFamily="2" charset="-122"/>
            </a:endParaRPr>
          </a:p>
        </p:txBody>
      </p:sp>
      <p:sp>
        <p:nvSpPr>
          <p:cNvPr id="4" name="文本框 3"/>
          <p:cNvSpPr txBox="1"/>
          <p:nvPr/>
        </p:nvSpPr>
        <p:spPr>
          <a:xfrm>
            <a:off x="1908175" y="2708275"/>
            <a:ext cx="5543550" cy="2247900"/>
          </a:xfrm>
          <a:prstGeom prst="rect">
            <a:avLst/>
          </a:prstGeom>
          <a:noFill/>
        </p:spPr>
        <p:txBody>
          <a:bodyPr>
            <a:spAutoFit/>
          </a:bodyPr>
          <a:lstStyle/>
          <a:p>
            <a:pPr>
              <a:defRPr/>
            </a:pPr>
            <a:r>
              <a:rPr lang="zh-CN" altLang="zh-CN" sz="2800" dirty="0">
                <a:solidFill>
                  <a:srgbClr val="FF0000"/>
                </a:solidFill>
                <a:effectLst>
                  <a:outerShdw blurRad="38100" dist="38100" dir="2700000" algn="tl">
                    <a:srgbClr val="000000">
                      <a:alpha val="43137"/>
                    </a:srgbClr>
                  </a:outerShdw>
                </a:effectLst>
              </a:rPr>
              <a:t>上述定理表明，每个整数必定属于且仅属于其中一个剩余类，属于同一个剩余类的任意两个整数都是模</a:t>
            </a:r>
            <a:r>
              <a:rPr lang="en-US" altLang="zh-CN" sz="2800" i="1" dirty="0">
                <a:solidFill>
                  <a:srgbClr val="FF0000"/>
                </a:solidFill>
                <a:effectLst>
                  <a:outerShdw blurRad="38100" dist="38100" dir="2700000" algn="tl">
                    <a:srgbClr val="000000">
                      <a:alpha val="43137"/>
                    </a:srgbClr>
                  </a:outerShdw>
                </a:effectLst>
              </a:rPr>
              <a:t>m</a:t>
            </a:r>
            <a:r>
              <a:rPr lang="zh-CN" altLang="zh-CN" sz="2800" dirty="0">
                <a:solidFill>
                  <a:srgbClr val="FF0000"/>
                </a:solidFill>
                <a:effectLst>
                  <a:outerShdw blurRad="38100" dist="38100" dir="2700000" algn="tl">
                    <a:srgbClr val="000000">
                      <a:alpha val="43137"/>
                    </a:srgbClr>
                  </a:outerShdw>
                </a:effectLst>
              </a:rPr>
              <a:t>同余的，属于不同剩余类的任意两个整数不可能是模</a:t>
            </a:r>
            <a:r>
              <a:rPr lang="en-US" altLang="zh-CN" sz="2800" i="1" dirty="0">
                <a:solidFill>
                  <a:srgbClr val="FF0000"/>
                </a:solidFill>
                <a:effectLst>
                  <a:outerShdw blurRad="38100" dist="38100" dir="2700000" algn="tl">
                    <a:srgbClr val="000000">
                      <a:alpha val="43137"/>
                    </a:srgbClr>
                  </a:outerShdw>
                </a:effectLst>
              </a:rPr>
              <a:t>m</a:t>
            </a:r>
            <a:r>
              <a:rPr lang="zh-CN" altLang="zh-CN" sz="2800" dirty="0">
                <a:solidFill>
                  <a:srgbClr val="FF0000"/>
                </a:solidFill>
                <a:effectLst>
                  <a:outerShdw blurRad="38100" dist="38100" dir="2700000" algn="tl">
                    <a:srgbClr val="000000">
                      <a:alpha val="43137"/>
                    </a:srgbClr>
                  </a:outerShdw>
                </a:effectLst>
              </a:rPr>
              <a:t>同余的。</a:t>
            </a:r>
            <a:endParaRPr lang="zh-CN" altLang="en-US" sz="2800" dirty="0">
              <a:solidFill>
                <a:srgbClr val="FF0000"/>
              </a:solidFill>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4"/>
          <p:cNvSpPr>
            <a:spLocks noGrp="1"/>
          </p:cNvSpPr>
          <p:nvPr>
            <p:ph type="ftr" sz="quarter" idx="11"/>
          </p:nvPr>
        </p:nvSpPr>
        <p:spPr/>
        <p:txBody>
          <a:bodyPr/>
          <a:lstStyle/>
          <a:p>
            <a:pPr>
              <a:defRPr/>
            </a:pPr>
            <a:r>
              <a:rPr lang="zh-CN" altLang="en-US"/>
              <a:t>计算机应用技术研究所</a:t>
            </a:r>
          </a:p>
        </p:txBody>
      </p:sp>
      <p:sp>
        <p:nvSpPr>
          <p:cNvPr id="15" name="灯片编号占位符 5"/>
          <p:cNvSpPr>
            <a:spLocks noGrp="1"/>
          </p:cNvSpPr>
          <p:nvPr>
            <p:ph type="sldNum" sz="quarter" idx="12"/>
          </p:nvPr>
        </p:nvSpPr>
        <p:spPr/>
        <p:txBody>
          <a:bodyPr/>
          <a:lstStyle/>
          <a:p>
            <a:pPr>
              <a:defRPr/>
            </a:pPr>
            <a:fld id="{334DB333-7DE7-4104-8887-EF18AFCC920A}" type="slidenum">
              <a:rPr lang="en-US" altLang="zh-CN"/>
              <a:pPr>
                <a:defRPr/>
              </a:pPr>
              <a:t>70</a:t>
            </a:fld>
            <a:endParaRPr lang="en-US" altLang="zh-CN"/>
          </a:p>
        </p:txBody>
      </p:sp>
      <p:sp>
        <p:nvSpPr>
          <p:cNvPr id="71685" name="Text Box 2"/>
          <p:cNvSpPr txBox="1">
            <a:spLocks noChangeArrowheads="1"/>
          </p:cNvSpPr>
          <p:nvPr/>
        </p:nvSpPr>
        <p:spPr bwMode="auto">
          <a:xfrm>
            <a:off x="1258888" y="804863"/>
            <a:ext cx="6408737"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4400" b="1">
                <a:solidFill>
                  <a:schemeClr val="bg1"/>
                </a:solidFill>
                <a:latin typeface="宋体" panose="02010600030101010101" pitchFamily="2" charset="-122"/>
                <a:ea typeface="宋体" panose="02010600030101010101" pitchFamily="2" charset="-122"/>
              </a:rPr>
              <a:t>同余类的加法与乘法</a:t>
            </a:r>
          </a:p>
        </p:txBody>
      </p:sp>
      <p:pic>
        <p:nvPicPr>
          <p:cNvPr id="7168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359372" y="2204864"/>
            <a:ext cx="6552728" cy="1663200"/>
          </a:xfrm>
          <a:prstGeom prst="rect">
            <a:avLst/>
          </a:prstGeom>
          <a:blipFill rotWithShape="0">
            <a:blip r:embed="rId4"/>
            <a:stretch>
              <a:fillRect l="-1391" t="-2536" b="-725"/>
            </a:stretch>
          </a:blipFill>
          <a:ln w="19050" cmpd="dbl">
            <a:solidFill>
              <a:schemeClr val="accent1">
                <a:lumMod val="75000"/>
              </a:schemeClr>
            </a:solidFill>
          </a:ln>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85B6F0C6-6BDB-4B64-93B6-3231D381C21C}" type="slidenum">
              <a:rPr lang="en-US" altLang="zh-CN"/>
              <a:pPr>
                <a:defRPr/>
              </a:pPr>
              <a:t>71</a:t>
            </a:fld>
            <a:endParaRPr lang="en-US" altLang="zh-CN"/>
          </a:p>
        </p:txBody>
      </p:sp>
      <p:sp>
        <p:nvSpPr>
          <p:cNvPr id="72709" name="Text Box 2"/>
          <p:cNvSpPr txBox="1">
            <a:spLocks noChangeArrowheads="1"/>
          </p:cNvSpPr>
          <p:nvPr/>
        </p:nvSpPr>
        <p:spPr bwMode="auto">
          <a:xfrm>
            <a:off x="1331913" y="692150"/>
            <a:ext cx="60483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例题</a:t>
            </a:r>
          </a:p>
        </p:txBody>
      </p:sp>
      <p:pic>
        <p:nvPicPr>
          <p:cNvPr id="7271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1259632" y="1916832"/>
            <a:ext cx="6912495" cy="1938992"/>
          </a:xfrm>
          <a:prstGeom prst="rect">
            <a:avLst/>
          </a:prstGeom>
          <a:blipFill rotWithShape="0">
            <a:blip r:embed="rId4"/>
            <a:stretch>
              <a:fillRect l="-1411" t="-3448" r="-1146" b="-5956"/>
            </a:stretch>
          </a:blipFill>
        </p:spPr>
        <p:txBody>
          <a:bodyPr/>
          <a:lstStyle/>
          <a:p>
            <a:pPr>
              <a:defRPr/>
            </a:pPr>
            <a:r>
              <a:rPr lang="zh-CN" altLang="en-US">
                <a:noFill/>
              </a:rPr>
              <a:t> </a:t>
            </a:r>
          </a:p>
        </p:txBody>
      </p:sp>
      <p:pic>
        <p:nvPicPr>
          <p:cNvPr id="72712"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85963" y="3825875"/>
            <a:ext cx="5172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3" name="图片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984375" y="4664075"/>
            <a:ext cx="5151438"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4"/>
          <p:cNvSpPr>
            <a:spLocks noGrp="1"/>
          </p:cNvSpPr>
          <p:nvPr>
            <p:ph type="ftr" sz="quarter" idx="11"/>
          </p:nvPr>
        </p:nvSpPr>
        <p:spPr/>
        <p:txBody>
          <a:bodyPr/>
          <a:lstStyle/>
          <a:p>
            <a:pPr>
              <a:defRPr/>
            </a:pPr>
            <a:r>
              <a:rPr lang="zh-CN" altLang="en-US"/>
              <a:t>计算机应用技术研究所</a:t>
            </a:r>
          </a:p>
        </p:txBody>
      </p:sp>
      <p:sp>
        <p:nvSpPr>
          <p:cNvPr id="15" name="灯片编号占位符 5"/>
          <p:cNvSpPr>
            <a:spLocks noGrp="1"/>
          </p:cNvSpPr>
          <p:nvPr>
            <p:ph type="sldNum" sz="quarter" idx="12"/>
          </p:nvPr>
        </p:nvSpPr>
        <p:spPr/>
        <p:txBody>
          <a:bodyPr/>
          <a:lstStyle/>
          <a:p>
            <a:pPr>
              <a:defRPr/>
            </a:pPr>
            <a:fld id="{B18380CF-5196-44F1-A2D9-E3C67367CA71}" type="slidenum">
              <a:rPr lang="en-US" altLang="zh-CN"/>
              <a:pPr>
                <a:defRPr/>
              </a:pPr>
              <a:t>72</a:t>
            </a:fld>
            <a:endParaRPr lang="en-US" altLang="zh-CN"/>
          </a:p>
        </p:txBody>
      </p:sp>
      <p:sp>
        <p:nvSpPr>
          <p:cNvPr id="73733" name="Text Box 2"/>
          <p:cNvSpPr txBox="1">
            <a:spLocks noChangeArrowheads="1"/>
          </p:cNvSpPr>
          <p:nvPr/>
        </p:nvSpPr>
        <p:spPr bwMode="auto">
          <a:xfrm>
            <a:off x="1258888" y="620713"/>
            <a:ext cx="640873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例题</a:t>
            </a:r>
          </a:p>
        </p:txBody>
      </p:sp>
      <p:pic>
        <p:nvPicPr>
          <p:cNvPr id="7373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5"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24063" y="2420938"/>
            <a:ext cx="50958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4"/>
          <p:cNvSpPr>
            <a:spLocks noGrp="1"/>
          </p:cNvSpPr>
          <p:nvPr>
            <p:ph type="ftr" sz="quarter" idx="11"/>
          </p:nvPr>
        </p:nvSpPr>
        <p:spPr/>
        <p:txBody>
          <a:bodyPr/>
          <a:lstStyle/>
          <a:p>
            <a:pPr>
              <a:defRPr/>
            </a:pPr>
            <a:r>
              <a:rPr lang="zh-CN" altLang="en-US"/>
              <a:t>计算机应用技术研究所</a:t>
            </a:r>
          </a:p>
        </p:txBody>
      </p:sp>
      <p:sp>
        <p:nvSpPr>
          <p:cNvPr id="15" name="灯片编号占位符 5"/>
          <p:cNvSpPr>
            <a:spLocks noGrp="1"/>
          </p:cNvSpPr>
          <p:nvPr>
            <p:ph type="sldNum" sz="quarter" idx="12"/>
          </p:nvPr>
        </p:nvSpPr>
        <p:spPr/>
        <p:txBody>
          <a:bodyPr/>
          <a:lstStyle/>
          <a:p>
            <a:pPr>
              <a:defRPr/>
            </a:pPr>
            <a:fld id="{2CE4A919-3CCE-4D1C-9BFE-688EC82C0A66}" type="slidenum">
              <a:rPr lang="en-US" altLang="zh-CN"/>
              <a:pPr>
                <a:defRPr/>
              </a:pPr>
              <a:t>73</a:t>
            </a:fld>
            <a:endParaRPr lang="en-US" altLang="zh-CN"/>
          </a:p>
        </p:txBody>
      </p:sp>
      <p:sp>
        <p:nvSpPr>
          <p:cNvPr id="74757" name="Text Box 2"/>
          <p:cNvSpPr txBox="1">
            <a:spLocks noChangeArrowheads="1"/>
          </p:cNvSpPr>
          <p:nvPr/>
        </p:nvSpPr>
        <p:spPr bwMode="auto">
          <a:xfrm>
            <a:off x="1258888" y="620713"/>
            <a:ext cx="640873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例题</a:t>
            </a:r>
          </a:p>
        </p:txBody>
      </p:sp>
      <p:pic>
        <p:nvPicPr>
          <p:cNvPr id="7475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932041" y="2060848"/>
            <a:ext cx="6550496" cy="2538837"/>
          </a:xfrm>
          <a:prstGeom prst="rect">
            <a:avLst/>
          </a:prstGeom>
          <a:blipFill rotWithShape="0">
            <a:blip r:embed="rId4"/>
            <a:stretch>
              <a:fillRect l="-1490" t="-2398"/>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4"/>
          <p:cNvSpPr>
            <a:spLocks noGrp="1"/>
          </p:cNvSpPr>
          <p:nvPr>
            <p:ph type="ftr" sz="quarter" idx="11"/>
          </p:nvPr>
        </p:nvSpPr>
        <p:spPr/>
        <p:txBody>
          <a:bodyPr/>
          <a:lstStyle/>
          <a:p>
            <a:pPr>
              <a:defRPr/>
            </a:pPr>
            <a:r>
              <a:rPr lang="zh-CN" altLang="en-US"/>
              <a:t>计算机应用技术研究所</a:t>
            </a:r>
          </a:p>
        </p:txBody>
      </p:sp>
      <p:sp>
        <p:nvSpPr>
          <p:cNvPr id="15" name="灯片编号占位符 5"/>
          <p:cNvSpPr>
            <a:spLocks noGrp="1"/>
          </p:cNvSpPr>
          <p:nvPr>
            <p:ph type="sldNum" sz="quarter" idx="12"/>
          </p:nvPr>
        </p:nvSpPr>
        <p:spPr/>
        <p:txBody>
          <a:bodyPr/>
          <a:lstStyle/>
          <a:p>
            <a:pPr>
              <a:defRPr/>
            </a:pPr>
            <a:fld id="{AFC97C44-EDB3-43FD-8298-018FE52A7892}" type="slidenum">
              <a:rPr lang="en-US" altLang="zh-CN"/>
              <a:pPr>
                <a:defRPr/>
              </a:pPr>
              <a:t>74</a:t>
            </a:fld>
            <a:endParaRPr lang="en-US" altLang="zh-CN"/>
          </a:p>
        </p:txBody>
      </p:sp>
      <p:sp>
        <p:nvSpPr>
          <p:cNvPr id="75781" name="Text Box 2"/>
          <p:cNvSpPr txBox="1">
            <a:spLocks noChangeArrowheads="1"/>
          </p:cNvSpPr>
          <p:nvPr/>
        </p:nvSpPr>
        <p:spPr bwMode="auto">
          <a:xfrm>
            <a:off x="1258888" y="804863"/>
            <a:ext cx="640873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完全剩余系</a:t>
            </a:r>
          </a:p>
        </p:txBody>
      </p:sp>
      <p:pic>
        <p:nvPicPr>
          <p:cNvPr id="7578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a:spLocks noRot="1" noChangeAspect="1" noMove="1" noResize="1" noEditPoints="1" noAdjustHandles="1" noChangeArrowheads="1" noChangeShapeType="1" noTextEdit="1"/>
          </p:cNvSpPr>
          <p:nvPr/>
        </p:nvSpPr>
        <p:spPr>
          <a:xfrm>
            <a:off x="1043608" y="1988840"/>
            <a:ext cx="7344816" cy="2308324"/>
          </a:xfrm>
          <a:prstGeom prst="rect">
            <a:avLst/>
          </a:prstGeom>
          <a:blipFill rotWithShape="0">
            <a:blip r:embed="rId4"/>
            <a:stretch>
              <a:fillRect l="-1159" t="-1832" b="-3665"/>
            </a:stretch>
          </a:blipFill>
          <a:ln w="19050">
            <a:solidFill>
              <a:schemeClr val="hlink"/>
            </a:solidFill>
          </a:ln>
        </p:spPr>
        <p:txBody>
          <a:bodyPr/>
          <a:lstStyle/>
          <a:p>
            <a:pPr>
              <a:defRPr/>
            </a:pPr>
            <a:r>
              <a:rPr lang="zh-CN" altLang="en-US">
                <a:noFill/>
              </a:rPr>
              <a:t> </a:t>
            </a:r>
          </a:p>
        </p:txBody>
      </p:sp>
      <p:sp>
        <p:nvSpPr>
          <p:cNvPr id="5" name="泪滴形 4"/>
          <p:cNvSpPr/>
          <p:nvPr/>
        </p:nvSpPr>
        <p:spPr bwMode="auto">
          <a:xfrm rot="21135520">
            <a:off x="2373313" y="4527550"/>
            <a:ext cx="3541712" cy="1804988"/>
          </a:xfrm>
          <a:prstGeom prst="teardrop">
            <a:avLst/>
          </a:prstGeom>
          <a:solidFill>
            <a:srgbClr val="92D050"/>
          </a:solidFill>
          <a:ln>
            <a:noFill/>
          </a:ln>
          <a:effectLst/>
          <a:extLst/>
        </p:spPr>
        <p:txBody>
          <a:bodyPr/>
          <a:lstStyle/>
          <a:p>
            <a:pPr algn="ctr" eaLnBrk="1" hangingPunct="1">
              <a:spcBef>
                <a:spcPct val="20000"/>
              </a:spcBef>
              <a:defRPr/>
            </a:pPr>
            <a:endParaRPr lang="zh-CN" altLang="en-US" sz="3200">
              <a:latin typeface="宋体" panose="02010600030101010101" pitchFamily="2" charset="-122"/>
              <a:ea typeface="宋体" panose="02010600030101010101" pitchFamily="2" charset="-122"/>
            </a:endParaRPr>
          </a:p>
        </p:txBody>
      </p:sp>
      <p:sp>
        <p:nvSpPr>
          <p:cNvPr id="6" name="文本框 5"/>
          <p:cNvSpPr txBox="1">
            <a:spLocks noRot="1" noChangeAspect="1" noMove="1" noResize="1" noEditPoints="1" noAdjustHandles="1" noChangeArrowheads="1" noChangeShapeType="1" noTextEdit="1"/>
          </p:cNvSpPr>
          <p:nvPr/>
        </p:nvSpPr>
        <p:spPr>
          <a:xfrm>
            <a:off x="3059832" y="4744587"/>
            <a:ext cx="2664296" cy="1384995"/>
          </a:xfrm>
          <a:prstGeom prst="rect">
            <a:avLst/>
          </a:prstGeom>
          <a:blipFill rotWithShape="0">
            <a:blip r:embed="rId5"/>
            <a:stretch>
              <a:fillRect l="-686" t="-439" b="-3509"/>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4" name="页脚占位符 4"/>
          <p:cNvSpPr>
            <a:spLocks noGrp="1"/>
          </p:cNvSpPr>
          <p:nvPr>
            <p:ph type="ftr" sz="quarter" idx="11"/>
          </p:nvPr>
        </p:nvSpPr>
        <p:spPr/>
        <p:txBody>
          <a:bodyPr/>
          <a:lstStyle/>
          <a:p>
            <a:pPr>
              <a:defRPr/>
            </a:pPr>
            <a:r>
              <a:rPr lang="zh-CN" altLang="en-US"/>
              <a:t>计算机应用技术研究所</a:t>
            </a:r>
          </a:p>
        </p:txBody>
      </p:sp>
      <p:sp>
        <p:nvSpPr>
          <p:cNvPr id="15" name="灯片编号占位符 5"/>
          <p:cNvSpPr>
            <a:spLocks noGrp="1"/>
          </p:cNvSpPr>
          <p:nvPr>
            <p:ph type="sldNum" sz="quarter" idx="12"/>
          </p:nvPr>
        </p:nvSpPr>
        <p:spPr/>
        <p:txBody>
          <a:bodyPr/>
          <a:lstStyle/>
          <a:p>
            <a:pPr>
              <a:defRPr/>
            </a:pPr>
            <a:fld id="{7D5B5825-52F9-42EE-94A2-16B897F54303}" type="slidenum">
              <a:rPr lang="en-US" altLang="zh-CN"/>
              <a:pPr>
                <a:defRPr/>
              </a:pPr>
              <a:t>75</a:t>
            </a:fld>
            <a:endParaRPr lang="en-US" altLang="zh-CN"/>
          </a:p>
        </p:txBody>
      </p:sp>
      <p:sp>
        <p:nvSpPr>
          <p:cNvPr id="76805" name="Text Box 2"/>
          <p:cNvSpPr txBox="1">
            <a:spLocks noChangeArrowheads="1"/>
          </p:cNvSpPr>
          <p:nvPr/>
        </p:nvSpPr>
        <p:spPr bwMode="auto">
          <a:xfrm>
            <a:off x="1258888" y="804863"/>
            <a:ext cx="640873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模</a:t>
            </a:r>
            <a:r>
              <a:rPr lang="en-US" altLang="zh-CN" sz="5400" b="1">
                <a:solidFill>
                  <a:schemeClr val="bg1"/>
                </a:solidFill>
                <a:latin typeface="宋体" panose="02010600030101010101" pitchFamily="2" charset="-122"/>
                <a:ea typeface="宋体" panose="02010600030101010101" pitchFamily="2" charset="-122"/>
              </a:rPr>
              <a:t>m</a:t>
            </a:r>
            <a:r>
              <a:rPr lang="zh-CN" altLang="en-US" sz="5400" b="1">
                <a:solidFill>
                  <a:schemeClr val="bg1"/>
                </a:solidFill>
                <a:latin typeface="宋体" panose="02010600030101010101" pitchFamily="2" charset="-122"/>
                <a:ea typeface="宋体" panose="02010600030101010101" pitchFamily="2" charset="-122"/>
              </a:rPr>
              <a:t>简化同余类</a:t>
            </a:r>
          </a:p>
        </p:txBody>
      </p:sp>
      <p:pic>
        <p:nvPicPr>
          <p:cNvPr id="7680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7" name="流程图: 库存数据 1"/>
          <p:cNvSpPr>
            <a:spLocks noChangeArrowheads="1"/>
          </p:cNvSpPr>
          <p:nvPr/>
        </p:nvSpPr>
        <p:spPr bwMode="auto">
          <a:xfrm rot="-5400000">
            <a:off x="3621088" y="-4763"/>
            <a:ext cx="1543050" cy="5222875"/>
          </a:xfrm>
          <a:prstGeom prst="flowChartOnlineStorage">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3" name="文本框 2"/>
          <p:cNvSpPr txBox="1">
            <a:spLocks noRot="1" noChangeAspect="1" noMove="1" noResize="1" noEditPoints="1" noAdjustHandles="1" noChangeArrowheads="1" noChangeShapeType="1" noTextEdit="1"/>
          </p:cNvSpPr>
          <p:nvPr/>
        </p:nvSpPr>
        <p:spPr>
          <a:xfrm>
            <a:off x="2122996" y="2222430"/>
            <a:ext cx="4680520" cy="923330"/>
          </a:xfrm>
          <a:prstGeom prst="rect">
            <a:avLst/>
          </a:prstGeom>
          <a:blipFill rotWithShape="0">
            <a:blip r:embed="rId4"/>
            <a:stretch>
              <a:fillRect l="-1042" t="-5298" b="-9934"/>
            </a:stretch>
          </a:blipFill>
        </p:spPr>
        <p:txBody>
          <a:bodyPr/>
          <a:lstStyle/>
          <a:p>
            <a:pPr>
              <a:defRPr/>
            </a:pPr>
            <a:r>
              <a:rPr lang="zh-CN" altLang="en-US">
                <a:noFill/>
              </a:rPr>
              <a:t> </a:t>
            </a:r>
          </a:p>
        </p:txBody>
      </p:sp>
      <p:sp>
        <p:nvSpPr>
          <p:cNvPr id="5" name="文本框 4"/>
          <p:cNvSpPr txBox="1">
            <a:spLocks noRot="1" noChangeAspect="1" noMove="1" noResize="1" noEditPoints="1" noAdjustHandles="1" noChangeArrowheads="1" noChangeShapeType="1" noTextEdit="1"/>
          </p:cNvSpPr>
          <p:nvPr/>
        </p:nvSpPr>
        <p:spPr>
          <a:xfrm>
            <a:off x="1007604" y="3494341"/>
            <a:ext cx="7128792" cy="2276329"/>
          </a:xfrm>
          <a:prstGeom prst="rect">
            <a:avLst/>
          </a:prstGeom>
          <a:blipFill rotWithShape="0">
            <a:blip r:embed="rId5"/>
            <a:stretch>
              <a:fillRect l="-855" t="-1872" r="-256" b="-3743"/>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400959BB-AB49-40A7-BF1D-E07A4E954BCE}" type="slidenum">
              <a:rPr lang="en-US" altLang="zh-CN"/>
              <a:pPr>
                <a:defRPr/>
              </a:pPr>
              <a:t>76</a:t>
            </a:fld>
            <a:endParaRPr lang="en-US" altLang="zh-CN"/>
          </a:p>
        </p:txBody>
      </p:sp>
      <p:sp>
        <p:nvSpPr>
          <p:cNvPr id="77829" name="Text Box 2"/>
          <p:cNvSpPr txBox="1">
            <a:spLocks noChangeArrowheads="1"/>
          </p:cNvSpPr>
          <p:nvPr/>
        </p:nvSpPr>
        <p:spPr bwMode="auto">
          <a:xfrm>
            <a:off x="1187450" y="836613"/>
            <a:ext cx="6408738"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欧拉函数</a:t>
            </a:r>
            <a:endParaRPr lang="zh-CN" altLang="en-US" sz="4400" b="1">
              <a:solidFill>
                <a:schemeClr val="bg1"/>
              </a:solidFill>
              <a:latin typeface="宋体" panose="02010600030101010101" pitchFamily="2" charset="-122"/>
              <a:ea typeface="宋体" panose="02010600030101010101" pitchFamily="2" charset="-122"/>
            </a:endParaRPr>
          </a:p>
        </p:txBody>
      </p:sp>
      <p:pic>
        <p:nvPicPr>
          <p:cNvPr id="7783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1"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6138" y="2063750"/>
            <a:ext cx="7451725"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4"/>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1" name="页脚占位符 5"/>
          <p:cNvSpPr>
            <a:spLocks noGrp="1"/>
          </p:cNvSpPr>
          <p:nvPr>
            <p:ph type="ftr" sz="quarter" idx="11"/>
          </p:nvPr>
        </p:nvSpPr>
        <p:spPr/>
        <p:txBody>
          <a:bodyPr/>
          <a:lstStyle/>
          <a:p>
            <a:pPr>
              <a:defRPr/>
            </a:pPr>
            <a:r>
              <a:rPr lang="zh-CN" altLang="en-US"/>
              <a:t>计算机应用技术研究所</a:t>
            </a:r>
          </a:p>
        </p:txBody>
      </p:sp>
      <p:sp>
        <p:nvSpPr>
          <p:cNvPr id="12" name="灯片编号占位符 6"/>
          <p:cNvSpPr>
            <a:spLocks noGrp="1"/>
          </p:cNvSpPr>
          <p:nvPr>
            <p:ph type="sldNum" sz="quarter" idx="12"/>
          </p:nvPr>
        </p:nvSpPr>
        <p:spPr/>
        <p:txBody>
          <a:bodyPr/>
          <a:lstStyle/>
          <a:p>
            <a:pPr>
              <a:defRPr/>
            </a:pPr>
            <a:fld id="{5312AAC1-E91A-45CA-A117-6842E8571A1D}" type="slidenum">
              <a:rPr lang="en-US" altLang="zh-CN"/>
              <a:pPr>
                <a:defRPr/>
              </a:pPr>
              <a:t>77</a:t>
            </a:fld>
            <a:endParaRPr lang="en-US" altLang="zh-CN"/>
          </a:p>
        </p:txBody>
      </p:sp>
      <p:sp>
        <p:nvSpPr>
          <p:cNvPr id="78853" name="Text Box 2"/>
          <p:cNvSpPr txBox="1">
            <a:spLocks noChangeArrowheads="1"/>
          </p:cNvSpPr>
          <p:nvPr/>
        </p:nvSpPr>
        <p:spPr bwMode="auto">
          <a:xfrm>
            <a:off x="1187450" y="836613"/>
            <a:ext cx="6408738"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欧拉函数</a:t>
            </a:r>
            <a:endParaRPr lang="zh-CN" altLang="en-US" sz="4400" b="1">
              <a:solidFill>
                <a:schemeClr val="bg1"/>
              </a:solidFill>
              <a:latin typeface="宋体" panose="02010600030101010101" pitchFamily="2" charset="-122"/>
              <a:ea typeface="宋体" panose="02010600030101010101" pitchFamily="2" charset="-122"/>
            </a:endParaRPr>
          </a:p>
        </p:txBody>
      </p:sp>
      <p:pic>
        <p:nvPicPr>
          <p:cNvPr id="7885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5"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871663"/>
            <a:ext cx="7899400" cy="41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9" name="页脚占位符 4"/>
          <p:cNvSpPr>
            <a:spLocks noGrp="1"/>
          </p:cNvSpPr>
          <p:nvPr>
            <p:ph type="ftr" sz="quarter" idx="11"/>
          </p:nvPr>
        </p:nvSpPr>
        <p:spPr/>
        <p:txBody>
          <a:bodyPr/>
          <a:lstStyle/>
          <a:p>
            <a:pPr>
              <a:defRPr/>
            </a:pPr>
            <a:r>
              <a:rPr lang="zh-CN" altLang="en-US"/>
              <a:t>计算机应用技术研究所</a:t>
            </a:r>
          </a:p>
        </p:txBody>
      </p:sp>
      <p:sp>
        <p:nvSpPr>
          <p:cNvPr id="10" name="灯片编号占位符 5"/>
          <p:cNvSpPr>
            <a:spLocks noGrp="1"/>
          </p:cNvSpPr>
          <p:nvPr>
            <p:ph type="sldNum" sz="quarter" idx="12"/>
          </p:nvPr>
        </p:nvSpPr>
        <p:spPr/>
        <p:txBody>
          <a:bodyPr/>
          <a:lstStyle/>
          <a:p>
            <a:pPr>
              <a:defRPr/>
            </a:pPr>
            <a:fld id="{E9A28AC9-25AA-4871-B3AD-DBF4636FDF54}" type="slidenum">
              <a:rPr lang="en-US" altLang="zh-CN"/>
              <a:pPr>
                <a:defRPr/>
              </a:pPr>
              <a:t>78</a:t>
            </a:fld>
            <a:endParaRPr lang="en-US" altLang="zh-CN"/>
          </a:p>
        </p:txBody>
      </p:sp>
      <p:sp>
        <p:nvSpPr>
          <p:cNvPr id="79877" name="Text Box 2"/>
          <p:cNvSpPr txBox="1">
            <a:spLocks noChangeArrowheads="1"/>
          </p:cNvSpPr>
          <p:nvPr/>
        </p:nvSpPr>
        <p:spPr bwMode="auto">
          <a:xfrm>
            <a:off x="1187450" y="620713"/>
            <a:ext cx="640873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rPr>
              <a:t> </a:t>
            </a:r>
            <a:r>
              <a:rPr lang="zh-CN" altLang="en-US" sz="5400" b="1">
                <a:solidFill>
                  <a:schemeClr val="bg1"/>
                </a:solidFill>
                <a:latin typeface="宋体" panose="02010600030101010101" pitchFamily="2" charset="-122"/>
                <a:ea typeface="宋体" panose="02010600030101010101" pitchFamily="2" charset="-122"/>
              </a:rPr>
              <a:t>例题</a:t>
            </a:r>
          </a:p>
        </p:txBody>
      </p:sp>
      <p:pic>
        <p:nvPicPr>
          <p:cNvPr id="7987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1331640" y="1916832"/>
            <a:ext cx="6480720" cy="2789674"/>
          </a:xfrm>
          <a:prstGeom prst="rect">
            <a:avLst/>
          </a:prstGeom>
          <a:blipFill rotWithShape="0">
            <a:blip r:embed="rId4"/>
            <a:stretch>
              <a:fillRect l="-1410" r="-1222" b="-3493"/>
            </a:stretch>
          </a:blipFill>
        </p:spPr>
        <p:txBody>
          <a:bodyPr/>
          <a:lstStyle/>
          <a:p>
            <a:pPr>
              <a:defRPr/>
            </a:pPr>
            <a:r>
              <a:rPr lang="zh-CN" altLang="en-US">
                <a:noFill/>
              </a:rPr>
              <a:t> </a:t>
            </a: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1381125" y="692150"/>
            <a:ext cx="62722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例题</a:t>
            </a:r>
          </a:p>
        </p:txBody>
      </p:sp>
      <p:pic>
        <p:nvPicPr>
          <p:cNvPr id="8089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1547664" y="1916113"/>
            <a:ext cx="6105429" cy="2775760"/>
          </a:xfrm>
          <a:prstGeom prst="rect">
            <a:avLst/>
          </a:prstGeom>
          <a:blipFill rotWithShape="0">
            <a:blip r:embed="rId4"/>
            <a:stretch>
              <a:fillRect l="-1598" b="-3947"/>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1331913" y="858838"/>
            <a:ext cx="627221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同余算术及其应用</a:t>
            </a:r>
          </a:p>
        </p:txBody>
      </p:sp>
      <p:sp>
        <p:nvSpPr>
          <p:cNvPr id="81923" name="Rectangle 3"/>
          <p:cNvSpPr>
            <a:spLocks noGrp="1" noChangeArrowheads="1"/>
          </p:cNvSpPr>
          <p:nvPr>
            <p:ph type="body" sz="half" idx="1"/>
          </p:nvPr>
        </p:nvSpPr>
        <p:spPr>
          <a:xfrm>
            <a:off x="2124075" y="2706688"/>
            <a:ext cx="5400675" cy="3025775"/>
          </a:xfrm>
          <a:noFill/>
        </p:spPr>
        <p:txBody>
          <a:bodyPr lIns="92075" tIns="46038" rIns="92075" bIns="46038"/>
          <a:lstStyle/>
          <a:p>
            <a:pPr>
              <a:lnSpc>
                <a:spcPct val="130000"/>
              </a:lnSpc>
              <a:spcBef>
                <a:spcPct val="30000"/>
              </a:spcBef>
              <a:buFont typeface="Wingdings" panose="05000000000000000000" pitchFamily="2" charset="2"/>
              <a:buChar char="4"/>
            </a:pPr>
            <a:r>
              <a:rPr lang="en-US" altLang="zh-CN" sz="3600" b="1" dirty="0" smtClean="0">
                <a:effectLst/>
                <a:latin typeface="黑体" panose="02010609060101010101" pitchFamily="49" charset="-122"/>
                <a:ea typeface="黑体" panose="02010609060101010101" pitchFamily="49" charset="-122"/>
              </a:rPr>
              <a:t> </a:t>
            </a:r>
            <a:r>
              <a:rPr lang="zh-CN" altLang="en-US" sz="3600" b="1" dirty="0" smtClean="0">
                <a:effectLst/>
                <a:latin typeface="黑体" panose="02010609060101010101" pitchFamily="49" charset="-122"/>
                <a:ea typeface="黑体" panose="02010609060101010101" pitchFamily="49" charset="-122"/>
              </a:rPr>
              <a:t>同余关系及其运算</a:t>
            </a:r>
            <a:endParaRPr lang="en-US" altLang="zh-CN" sz="3600" b="1" dirty="0" smtClean="0">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J"/>
            </a:pPr>
            <a:r>
              <a:rPr lang="en-US" altLang="zh-CN" sz="3600" b="1" dirty="0" smtClean="0">
                <a:solidFill>
                  <a:schemeClr val="accent2"/>
                </a:solidFill>
                <a:effectLst/>
                <a:latin typeface="黑体" panose="02010609060101010101" pitchFamily="49" charset="-122"/>
                <a:ea typeface="黑体" panose="02010609060101010101" pitchFamily="49" charset="-122"/>
              </a:rPr>
              <a:t> </a:t>
            </a:r>
            <a:r>
              <a:rPr lang="zh-CN" altLang="en-US" sz="3600" b="1" dirty="0" smtClean="0">
                <a:solidFill>
                  <a:schemeClr val="accent2"/>
                </a:solidFill>
                <a:effectLst/>
                <a:latin typeface="黑体" panose="02010609060101010101" pitchFamily="49" charset="-122"/>
                <a:ea typeface="黑体" panose="02010609060101010101" pitchFamily="49" charset="-122"/>
              </a:rPr>
              <a:t>同余方程与方程组</a:t>
            </a: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整数加密算法</a:t>
            </a:r>
          </a:p>
        </p:txBody>
      </p:sp>
      <p:pic>
        <p:nvPicPr>
          <p:cNvPr id="8192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2C57542C-D7D5-4B81-8F67-9148CB38212C}" type="slidenum">
              <a:rPr lang="en-US" altLang="zh-CN"/>
              <a:pPr>
                <a:defRPr/>
              </a:pPr>
              <a:t>81</a:t>
            </a:fld>
            <a:endParaRPr lang="en-US" altLang="zh-CN"/>
          </a:p>
        </p:txBody>
      </p:sp>
      <p:sp>
        <p:nvSpPr>
          <p:cNvPr id="82949" name="Text Box 2"/>
          <p:cNvSpPr txBox="1">
            <a:spLocks noChangeArrowheads="1"/>
          </p:cNvSpPr>
          <p:nvPr/>
        </p:nvSpPr>
        <p:spPr bwMode="auto">
          <a:xfrm>
            <a:off x="1331913" y="747713"/>
            <a:ext cx="6264275"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同余方程</a:t>
            </a:r>
          </a:p>
        </p:txBody>
      </p:sp>
      <p:pic>
        <p:nvPicPr>
          <p:cNvPr id="8295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1" name="文本框 1"/>
          <p:cNvSpPr txBox="1">
            <a:spLocks noChangeArrowheads="1"/>
          </p:cNvSpPr>
          <p:nvPr/>
        </p:nvSpPr>
        <p:spPr bwMode="auto">
          <a:xfrm>
            <a:off x="1065213" y="1773238"/>
            <a:ext cx="6983412" cy="2246312"/>
          </a:xfrm>
          <a:prstGeom prst="rect">
            <a:avLst/>
          </a:prstGeom>
          <a:solidFill>
            <a:srgbClr val="CCECFF"/>
          </a:solidFill>
          <a:ln w="19050">
            <a:solidFill>
              <a:schemeClr val="accent1"/>
            </a:solidFill>
            <a:prstDash val="sysDash"/>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孙子算经</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中的题目：有物不知其数，三个一数余二，五个一数余三，七个一数又余二，问该物总数几何？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孙子算经</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中的解法：三三数之，取数七十，与余数二相乘；五五数之，取数二十一，与余数三相乘；七七数之，取数十五，与余数二相乘。</a:t>
            </a:r>
            <a:endParaRPr lang="en-US" altLang="zh-CN" sz="2000">
              <a:latin typeface="黑体" panose="02010609060101010101" pitchFamily="49" charset="-122"/>
              <a:ea typeface="黑体" panose="02010609060101010101" pitchFamily="49" charset="-122"/>
            </a:endParaRPr>
          </a:p>
          <a:p>
            <a:pPr>
              <a:spcBef>
                <a:spcPct val="0"/>
              </a:spcBef>
              <a:buFontTx/>
              <a:buNone/>
            </a:pPr>
            <a:r>
              <a:rPr lang="zh-CN" altLang="en-US" sz="2000">
                <a:latin typeface="黑体" panose="02010609060101010101" pitchFamily="49" charset="-122"/>
                <a:ea typeface="黑体" panose="02010609060101010101" pitchFamily="49" charset="-122"/>
              </a:rPr>
              <a:t>    这其实就是利用方程的思想求解带余除法问题，我们现在给出解决这类问题的数学方法。</a:t>
            </a:r>
          </a:p>
        </p:txBody>
      </p:sp>
      <p:sp>
        <p:nvSpPr>
          <p:cNvPr id="3" name="文本框 2"/>
          <p:cNvSpPr txBox="1">
            <a:spLocks noRot="1" noChangeAspect="1" noMove="1" noResize="1" noEditPoints="1" noAdjustHandles="1" noChangeArrowheads="1" noChangeShapeType="1" noTextEdit="1"/>
          </p:cNvSpPr>
          <p:nvPr/>
        </p:nvSpPr>
        <p:spPr>
          <a:xfrm>
            <a:off x="1064763" y="4149080"/>
            <a:ext cx="6984503" cy="1969200"/>
          </a:xfrm>
          <a:prstGeom prst="rect">
            <a:avLst/>
          </a:prstGeom>
          <a:blipFill rotWithShape="0">
            <a:blip r:embed="rId4"/>
            <a:stretch>
              <a:fillRect l="-786" t="-1858" r="-87" b="-6502"/>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6DDFB613-244E-4C8C-80BA-1ECB2CB5C953}" type="slidenum">
              <a:rPr lang="en-US" altLang="zh-CN"/>
              <a:pPr>
                <a:defRPr/>
              </a:pPr>
              <a:t>82</a:t>
            </a:fld>
            <a:endParaRPr lang="en-US" altLang="zh-CN"/>
          </a:p>
        </p:txBody>
      </p:sp>
      <p:sp>
        <p:nvSpPr>
          <p:cNvPr id="83973" name="Text Box 2"/>
          <p:cNvSpPr txBox="1">
            <a:spLocks noChangeArrowheads="1"/>
          </p:cNvSpPr>
          <p:nvPr/>
        </p:nvSpPr>
        <p:spPr bwMode="auto">
          <a:xfrm>
            <a:off x="1476375" y="765175"/>
            <a:ext cx="5903913" cy="83026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000" b="1">
                <a:solidFill>
                  <a:schemeClr val="bg1"/>
                </a:solidFill>
                <a:latin typeface="宋体" panose="02010600030101010101" pitchFamily="2" charset="-122"/>
                <a:ea typeface="宋体" panose="02010600030101010101" pitchFamily="2" charset="-122"/>
              </a:rPr>
              <a:t>同余方程解的存在性</a:t>
            </a:r>
          </a:p>
        </p:txBody>
      </p:sp>
      <p:pic>
        <p:nvPicPr>
          <p:cNvPr id="8397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3975" name="组合 3"/>
          <p:cNvGrpSpPr>
            <a:grpSpLocks/>
          </p:cNvGrpSpPr>
          <p:nvPr/>
        </p:nvGrpSpPr>
        <p:grpSpPr bwMode="auto">
          <a:xfrm>
            <a:off x="0" y="1593850"/>
            <a:ext cx="1828800" cy="1501775"/>
            <a:chOff x="943648" y="2000314"/>
            <a:chExt cx="1828153" cy="1500693"/>
          </a:xfrm>
        </p:grpSpPr>
        <p:sp>
          <p:nvSpPr>
            <p:cNvPr id="2" name="椭圆形标注 1"/>
            <p:cNvSpPr/>
            <p:nvPr/>
          </p:nvSpPr>
          <p:spPr bwMode="auto">
            <a:xfrm rot="16200000">
              <a:off x="1107378" y="1836584"/>
              <a:ext cx="1500693" cy="1828153"/>
            </a:xfrm>
            <a:prstGeom prst="wedgeEllipseCallout">
              <a:avLst/>
            </a:prstGeom>
            <a:solidFill>
              <a:schemeClr val="bg2">
                <a:lumMod val="60000"/>
                <a:lumOff val="40000"/>
              </a:schemeClr>
            </a:solidFill>
            <a:ln>
              <a:noFill/>
            </a:ln>
            <a:effectLst/>
            <a:extLst/>
          </p:spPr>
          <p:txBody>
            <a:bodyPr/>
            <a:lstStyle/>
            <a:p>
              <a:pPr algn="ctr" eaLnBrk="1" hangingPunct="1">
                <a:spcBef>
                  <a:spcPct val="20000"/>
                </a:spcBef>
                <a:defRPr/>
              </a:pPr>
              <a:endParaRPr lang="zh-CN" altLang="en-US" sz="3200">
                <a:latin typeface="宋体" panose="02010600030101010101" pitchFamily="2" charset="-122"/>
                <a:ea typeface="宋体" panose="02010600030101010101" pitchFamily="2" charset="-122"/>
              </a:endParaRPr>
            </a:p>
          </p:txBody>
        </p:sp>
        <p:sp>
          <p:nvSpPr>
            <p:cNvPr id="83978" name="文本框 2"/>
            <p:cNvSpPr txBox="1">
              <a:spLocks noChangeArrowheads="1"/>
            </p:cNvSpPr>
            <p:nvPr/>
          </p:nvSpPr>
          <p:spPr bwMode="auto">
            <a:xfrm>
              <a:off x="1115616" y="2150495"/>
              <a:ext cx="158417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800">
                  <a:solidFill>
                    <a:srgbClr val="0070C0"/>
                  </a:solidFill>
                  <a:latin typeface="方正舒体" panose="02010601030101010101" pitchFamily="2" charset="-122"/>
                  <a:ea typeface="方正舒体" panose="02010601030101010101" pitchFamily="2" charset="-122"/>
                </a:rPr>
                <a:t>如何求解一个同余方程，即该方程是否存在解？</a:t>
              </a:r>
            </a:p>
          </p:txBody>
        </p:sp>
      </p:grpSp>
      <p:sp>
        <p:nvSpPr>
          <p:cNvPr id="9" name="文本框 8"/>
          <p:cNvSpPr txBox="1">
            <a:spLocks noRot="1" noChangeAspect="1" noMove="1" noResize="1" noEditPoints="1" noAdjustHandles="1" noChangeArrowheads="1" noChangeShapeType="1" noTextEdit="1"/>
          </p:cNvSpPr>
          <p:nvPr/>
        </p:nvSpPr>
        <p:spPr>
          <a:xfrm>
            <a:off x="1468935" y="2835958"/>
            <a:ext cx="6087243" cy="2677656"/>
          </a:xfrm>
          <a:prstGeom prst="rect">
            <a:avLst/>
          </a:prstGeom>
          <a:blipFill rotWithShape="0">
            <a:blip r:embed="rId4"/>
            <a:stretch>
              <a:fillRect l="-1602" t="-1822" b="-3645"/>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1BBA0F75-F21B-423A-9B68-AEA9F7398542}" type="slidenum">
              <a:rPr lang="en-US" altLang="zh-CN"/>
              <a:pPr>
                <a:defRPr/>
              </a:pPr>
              <a:t>83</a:t>
            </a:fld>
            <a:endParaRPr lang="en-US" altLang="zh-CN"/>
          </a:p>
        </p:txBody>
      </p:sp>
      <p:sp>
        <p:nvSpPr>
          <p:cNvPr id="84997" name="Text Box 2"/>
          <p:cNvSpPr txBox="1">
            <a:spLocks noChangeArrowheads="1"/>
          </p:cNvSpPr>
          <p:nvPr/>
        </p:nvSpPr>
        <p:spPr bwMode="auto">
          <a:xfrm>
            <a:off x="1601788" y="765175"/>
            <a:ext cx="5903912"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证明</a:t>
            </a:r>
          </a:p>
        </p:txBody>
      </p:sp>
      <p:pic>
        <p:nvPicPr>
          <p:cNvPr id="8499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259632" y="2024063"/>
            <a:ext cx="6744536" cy="3304046"/>
          </a:xfrm>
          <a:prstGeom prst="rect">
            <a:avLst/>
          </a:prstGeom>
          <a:blipFill rotWithShape="0">
            <a:blip r:embed="rId4"/>
            <a:stretch>
              <a:fillRect l="-814" t="-369" r="-633" b="-1661"/>
            </a:stretch>
          </a:blipFill>
        </p:spPr>
        <p:txBody>
          <a:bodyPr/>
          <a:lstStyle/>
          <a:p>
            <a:pPr>
              <a:defRPr/>
            </a:pPr>
            <a:r>
              <a:rPr lang="zh-CN" altLang="en-US">
                <a:noFill/>
              </a:rPr>
              <a:t> </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a:xfrm>
            <a:off x="3132138" y="6400800"/>
            <a:ext cx="2895600" cy="457200"/>
          </a:xfrm>
        </p:spPr>
        <p:txBody>
          <a:bodyPr/>
          <a:lstStyle/>
          <a:p>
            <a:pPr>
              <a:defRPr/>
            </a:pPr>
            <a:r>
              <a:rPr lang="zh-CN" altLang="en-US" dirty="0"/>
              <a:t>计算机应用技术研究所</a:t>
            </a:r>
          </a:p>
        </p:txBody>
      </p:sp>
      <p:sp>
        <p:nvSpPr>
          <p:cNvPr id="7" name="灯片编号占位符 5"/>
          <p:cNvSpPr>
            <a:spLocks noGrp="1"/>
          </p:cNvSpPr>
          <p:nvPr>
            <p:ph type="sldNum" sz="quarter" idx="12"/>
          </p:nvPr>
        </p:nvSpPr>
        <p:spPr/>
        <p:txBody>
          <a:bodyPr/>
          <a:lstStyle/>
          <a:p>
            <a:pPr>
              <a:defRPr/>
            </a:pPr>
            <a:fld id="{7BE269F6-A1C5-41DD-AF24-E4ED7FF6E2A9}" type="slidenum">
              <a:rPr lang="en-US" altLang="zh-CN"/>
              <a:pPr>
                <a:defRPr/>
              </a:pPr>
              <a:t>84</a:t>
            </a:fld>
            <a:endParaRPr lang="en-US" altLang="zh-CN"/>
          </a:p>
        </p:txBody>
      </p:sp>
      <p:sp>
        <p:nvSpPr>
          <p:cNvPr id="86021" name="Text Box 2"/>
          <p:cNvSpPr txBox="1">
            <a:spLocks noChangeArrowheads="1"/>
          </p:cNvSpPr>
          <p:nvPr/>
        </p:nvSpPr>
        <p:spPr bwMode="auto">
          <a:xfrm>
            <a:off x="1331913" y="692150"/>
            <a:ext cx="5903912"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a:solidFill>
                  <a:schemeClr val="bg1"/>
                </a:solidFill>
                <a:latin typeface="宋体" panose="02010600030101010101" pitchFamily="2" charset="-122"/>
                <a:ea typeface="宋体" panose="02010600030101010101" pitchFamily="2" charset="-122"/>
              </a:rPr>
              <a:t> </a:t>
            </a:r>
            <a:r>
              <a:rPr lang="zh-CN" altLang="en-US" sz="4800" b="1">
                <a:solidFill>
                  <a:schemeClr val="bg1"/>
                </a:solidFill>
                <a:latin typeface="宋体" panose="02010600030101010101" pitchFamily="2" charset="-122"/>
                <a:ea typeface="宋体" panose="02010600030101010101" pitchFamily="2" charset="-122"/>
              </a:rPr>
              <a:t>例题</a:t>
            </a:r>
          </a:p>
        </p:txBody>
      </p:sp>
      <p:pic>
        <p:nvPicPr>
          <p:cNvPr id="8602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699853" y="2174270"/>
            <a:ext cx="5760169" cy="4031873"/>
          </a:xfrm>
          <a:prstGeom prst="rect">
            <a:avLst/>
          </a:prstGeom>
          <a:blipFill rotWithShape="0">
            <a:blip r:embed="rId4"/>
            <a:stretch>
              <a:fillRect l="-635" t="-605" b="-1210"/>
            </a:stretch>
          </a:blipFill>
        </p:spPr>
        <p:txBody>
          <a:bodyPr/>
          <a:lstStyle/>
          <a:p>
            <a:r>
              <a:rPr lang="zh-CN" altLang="en-US">
                <a:noFill/>
              </a:rPr>
              <a:t> </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FFD7A7EB-6A0F-4968-8A57-971D25890E94}" type="slidenum">
              <a:rPr lang="en-US" altLang="zh-CN"/>
              <a:pPr>
                <a:defRPr/>
              </a:pPr>
              <a:t>85</a:t>
            </a:fld>
            <a:endParaRPr lang="en-US" altLang="zh-CN"/>
          </a:p>
        </p:txBody>
      </p:sp>
      <p:sp>
        <p:nvSpPr>
          <p:cNvPr id="88069" name="Text Box 2"/>
          <p:cNvSpPr txBox="1">
            <a:spLocks noChangeArrowheads="1"/>
          </p:cNvSpPr>
          <p:nvPr/>
        </p:nvSpPr>
        <p:spPr bwMode="auto">
          <a:xfrm>
            <a:off x="1331913" y="620713"/>
            <a:ext cx="5903912"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smtClean="0">
                <a:solidFill>
                  <a:schemeClr val="bg1"/>
                </a:solidFill>
                <a:latin typeface="宋体" panose="02010600030101010101" pitchFamily="2" charset="-122"/>
                <a:ea typeface="宋体" panose="02010600030101010101" pitchFamily="2" charset="-122"/>
              </a:rPr>
              <a:t>化‘</a:t>
            </a:r>
            <a:r>
              <a:rPr lang="en-US" altLang="zh-CN" sz="4800" b="1" dirty="0" smtClean="0">
                <a:solidFill>
                  <a:schemeClr val="bg1"/>
                </a:solidFill>
                <a:latin typeface="宋体" panose="02010600030101010101" pitchFamily="2" charset="-122"/>
                <a:ea typeface="宋体" panose="02010600030101010101" pitchFamily="2" charset="-122"/>
              </a:rPr>
              <a:t>1</a:t>
            </a:r>
            <a:r>
              <a:rPr lang="zh-CN" altLang="en-US" sz="4800" b="1" dirty="0" smtClean="0">
                <a:solidFill>
                  <a:schemeClr val="bg1"/>
                </a:solidFill>
                <a:latin typeface="宋体" panose="02010600030101010101" pitchFamily="2" charset="-122"/>
                <a:ea typeface="宋体" panose="02010600030101010101" pitchFamily="2" charset="-122"/>
              </a:rPr>
              <a:t>’法</a:t>
            </a:r>
            <a:r>
              <a:rPr lang="en-US" altLang="zh-CN" sz="4800" b="1" dirty="0" smtClean="0">
                <a:solidFill>
                  <a:schemeClr val="bg1"/>
                </a:solidFill>
                <a:latin typeface="宋体" panose="02010600030101010101" pitchFamily="2" charset="-122"/>
                <a:ea typeface="宋体" panose="02010600030101010101" pitchFamily="2" charset="-122"/>
              </a:rPr>
              <a:t> </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8807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827584" y="1628800"/>
            <a:ext cx="7128891" cy="830997"/>
          </a:xfrm>
          <a:prstGeom prst="rect">
            <a:avLst/>
          </a:prstGeom>
          <a:solidFill>
            <a:srgbClr val="CCECFF"/>
          </a:solidFill>
        </p:spPr>
        <p:txBody>
          <a:bodyPr wrap="square" rtlCol="0">
            <a:spAutoFit/>
          </a:bodyPr>
          <a:lstStyle/>
          <a:p>
            <a:r>
              <a:rPr lang="zh-CN" altLang="zh-CN" sz="1600" dirty="0"/>
              <a:t>在解一元一次方程的时候，经常将等式两边同时乘以未知数一次项系数的倒数，将</a:t>
            </a:r>
            <a:r>
              <a:rPr lang="zh-CN" altLang="zh-CN" sz="1600" dirty="0">
                <a:solidFill>
                  <a:srgbClr val="669900"/>
                </a:solidFill>
              </a:rPr>
              <a:t>未知数一次项的系数化为</a:t>
            </a:r>
            <a:r>
              <a:rPr lang="en-US" altLang="zh-CN" sz="1600" dirty="0">
                <a:solidFill>
                  <a:srgbClr val="669900"/>
                </a:solidFill>
              </a:rPr>
              <a:t>1</a:t>
            </a:r>
            <a:r>
              <a:rPr lang="zh-CN" altLang="zh-CN" sz="1600" dirty="0"/>
              <a:t>，由此实现对方程组的求解。现通过类似方法对同余方程求解。</a:t>
            </a:r>
          </a:p>
        </p:txBody>
      </p:sp>
      <p:sp>
        <p:nvSpPr>
          <p:cNvPr id="3" name="左大括号 2"/>
          <p:cNvSpPr/>
          <p:nvPr/>
        </p:nvSpPr>
        <p:spPr bwMode="auto">
          <a:xfrm>
            <a:off x="1763688" y="3014857"/>
            <a:ext cx="216024" cy="2297196"/>
          </a:xfrm>
          <a:prstGeom prst="leftBrac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4" name="文本框 3"/>
              <p:cNvSpPr txBox="1"/>
              <p:nvPr/>
            </p:nvSpPr>
            <p:spPr>
              <a:xfrm>
                <a:off x="2132817" y="3074458"/>
                <a:ext cx="5832648" cy="2262158"/>
              </a:xfrm>
              <a:prstGeom prst="rect">
                <a:avLst/>
              </a:prstGeom>
              <a:noFill/>
            </p:spPr>
            <p:txBody>
              <a:bodyPr wrap="square" rtlCol="0">
                <a:spAutoFit/>
              </a:bodyPr>
              <a:lstStyle/>
              <a:p>
                <a:pPr marL="285750" indent="-285750">
                  <a:spcAft>
                    <a:spcPts val="1800"/>
                  </a:spcAft>
                  <a:buFont typeface="Wingdings" panose="05000000000000000000" pitchFamily="2" charset="2"/>
                  <a:buChar char="l"/>
                </a:pPr>
                <a:r>
                  <a:rPr lang="zh-CN" altLang="zh-CN" sz="1600" dirty="0" smtClean="0">
                    <a:solidFill>
                      <a:schemeClr val="accent6">
                        <a:lumMod val="60000"/>
                        <a:lumOff val="40000"/>
                      </a:schemeClr>
                    </a:solidFill>
                  </a:rPr>
                  <a:t>如果存在一个相应的整数</a:t>
                </a:r>
                <a14:m>
                  <m:oMath xmlns:m="http://schemas.openxmlformats.org/officeDocument/2006/math">
                    <m:acc>
                      <m:accPr>
                        <m:chr m:val="̅"/>
                        <m:ctrlPr>
                          <a:rPr lang="zh-CN" altLang="zh-CN" sz="1600" i="1">
                            <a:solidFill>
                              <a:schemeClr val="accent6">
                                <a:lumMod val="60000"/>
                                <a:lumOff val="40000"/>
                              </a:schemeClr>
                            </a:solidFill>
                            <a:latin typeface="Cambria Math" panose="02040503050406030204" pitchFamily="18" charset="0"/>
                          </a:rPr>
                        </m:ctrlPr>
                      </m:accPr>
                      <m:e>
                        <m:r>
                          <a:rPr lang="en-US" altLang="zh-CN" sz="1600" i="1">
                            <a:solidFill>
                              <a:schemeClr val="accent6">
                                <a:lumMod val="60000"/>
                                <a:lumOff val="40000"/>
                              </a:schemeClr>
                            </a:solidFill>
                            <a:latin typeface="Cambria Math" panose="02040503050406030204" pitchFamily="18" charset="0"/>
                          </a:rPr>
                          <m:t>𝑎</m:t>
                        </m:r>
                      </m:e>
                    </m:acc>
                  </m:oMath>
                </a14:m>
                <a:r>
                  <a:rPr lang="zh-CN" altLang="zh-CN" sz="1600" dirty="0">
                    <a:solidFill>
                      <a:schemeClr val="accent6">
                        <a:lumMod val="60000"/>
                        <a:lumOff val="40000"/>
                      </a:schemeClr>
                    </a:solidFill>
                  </a:rPr>
                  <a:t>，满足：</a:t>
                </a:r>
                <a14:m>
                  <m:oMath xmlns:m="http://schemas.openxmlformats.org/officeDocument/2006/math">
                    <m:acc>
                      <m:accPr>
                        <m:chr m:val="̅"/>
                        <m:ctrlPr>
                          <a:rPr lang="zh-CN" altLang="zh-CN" sz="1600" i="1">
                            <a:solidFill>
                              <a:schemeClr val="accent6">
                                <a:lumMod val="60000"/>
                                <a:lumOff val="40000"/>
                              </a:schemeClr>
                            </a:solidFill>
                            <a:latin typeface="Cambria Math" panose="02040503050406030204" pitchFamily="18" charset="0"/>
                          </a:rPr>
                        </m:ctrlPr>
                      </m:accPr>
                      <m:e>
                        <m:r>
                          <a:rPr lang="en-US" altLang="zh-CN" sz="1600" i="1">
                            <a:solidFill>
                              <a:schemeClr val="accent6">
                                <a:lumMod val="60000"/>
                                <a:lumOff val="40000"/>
                              </a:schemeClr>
                            </a:solidFill>
                            <a:latin typeface="Cambria Math" panose="02040503050406030204" pitchFamily="18" charset="0"/>
                          </a:rPr>
                          <m:t>𝑎</m:t>
                        </m:r>
                      </m:e>
                    </m:acc>
                    <m:r>
                      <a:rPr lang="en-US" altLang="zh-CN" sz="1600" i="1">
                        <a:solidFill>
                          <a:schemeClr val="accent6">
                            <a:lumMod val="60000"/>
                            <a:lumOff val="40000"/>
                          </a:schemeClr>
                        </a:solidFill>
                        <a:latin typeface="Cambria Math" panose="02040503050406030204" pitchFamily="18" charset="0"/>
                      </a:rPr>
                      <m:t>∙</m:t>
                    </m:r>
                    <m:r>
                      <a:rPr lang="en-US" altLang="zh-CN" sz="1600" i="1">
                        <a:solidFill>
                          <a:schemeClr val="accent6">
                            <a:lumMod val="60000"/>
                            <a:lumOff val="40000"/>
                          </a:schemeClr>
                        </a:solidFill>
                        <a:latin typeface="Cambria Math" panose="02040503050406030204" pitchFamily="18" charset="0"/>
                      </a:rPr>
                      <m:t>𝑎</m:t>
                    </m:r>
                    <m:r>
                      <a:rPr lang="en-US" altLang="zh-CN" sz="1600" i="1">
                        <a:solidFill>
                          <a:schemeClr val="accent6">
                            <a:lumMod val="60000"/>
                            <a:lumOff val="40000"/>
                          </a:schemeClr>
                        </a:solidFill>
                        <a:latin typeface="Cambria Math" panose="02040503050406030204" pitchFamily="18" charset="0"/>
                      </a:rPr>
                      <m:t>≡1</m:t>
                    </m:r>
                    <m:d>
                      <m:dPr>
                        <m:ctrlPr>
                          <a:rPr lang="en-US" altLang="zh-CN" sz="1600" i="1">
                            <a:solidFill>
                              <a:schemeClr val="accent6">
                                <a:lumMod val="60000"/>
                                <a:lumOff val="40000"/>
                              </a:schemeClr>
                            </a:solidFill>
                            <a:latin typeface="Cambria Math" panose="02040503050406030204" pitchFamily="18" charset="0"/>
                          </a:rPr>
                        </m:ctrlPr>
                      </m:dPr>
                      <m:e>
                        <m:r>
                          <m:rPr>
                            <m:nor/>
                          </m:rPr>
                          <a:rPr lang="en-US" altLang="zh-CN" sz="1600">
                            <a:solidFill>
                              <a:schemeClr val="accent6">
                                <a:lumMod val="60000"/>
                                <a:lumOff val="40000"/>
                              </a:schemeClr>
                            </a:solidFill>
                          </a:rPr>
                          <m:t>mod</m:t>
                        </m:r>
                        <m:r>
                          <a:rPr lang="en-US" altLang="zh-CN" sz="1600" i="1">
                            <a:solidFill>
                              <a:schemeClr val="accent6">
                                <a:lumMod val="60000"/>
                                <a:lumOff val="40000"/>
                              </a:schemeClr>
                            </a:solidFill>
                            <a:latin typeface="Cambria Math" panose="02040503050406030204" pitchFamily="18" charset="0"/>
                          </a:rPr>
                          <m:t>𝑚</m:t>
                        </m:r>
                      </m:e>
                    </m:d>
                  </m:oMath>
                </a14:m>
                <a:endParaRPr lang="en-US" altLang="zh-CN" sz="1600" dirty="0" smtClean="0"/>
              </a:p>
              <a:p>
                <a:pPr marL="285750" indent="-285750">
                  <a:spcBef>
                    <a:spcPts val="0"/>
                  </a:spcBef>
                  <a:spcAft>
                    <a:spcPts val="1800"/>
                  </a:spcAft>
                  <a:buFont typeface="Wingdings" panose="05000000000000000000" pitchFamily="2" charset="2"/>
                  <a:buChar char="l"/>
                </a:pPr>
                <a:r>
                  <a:rPr lang="zh-CN" altLang="zh-CN" sz="1600" dirty="0" smtClean="0">
                    <a:solidFill>
                      <a:srgbClr val="80C56D"/>
                    </a:solidFill>
                  </a:rPr>
                  <a:t>根据未知整数</a:t>
                </a:r>
                <a:r>
                  <a:rPr lang="en-US" altLang="zh-CN" sz="1600" i="1" dirty="0">
                    <a:solidFill>
                      <a:srgbClr val="80C56D"/>
                    </a:solidFill>
                  </a:rPr>
                  <a:t>x</a:t>
                </a:r>
                <a:r>
                  <a:rPr lang="zh-CN" altLang="zh-CN" sz="1600" dirty="0">
                    <a:solidFill>
                      <a:srgbClr val="80C56D"/>
                    </a:solidFill>
                  </a:rPr>
                  <a:t>同余关系的自反性</a:t>
                </a:r>
                <a14:m>
                  <m:oMath xmlns:m="http://schemas.openxmlformats.org/officeDocument/2006/math">
                    <m:r>
                      <a:rPr lang="en-US" altLang="zh-CN" sz="1600" i="1">
                        <a:solidFill>
                          <a:srgbClr val="80C56D"/>
                        </a:solidFill>
                        <a:latin typeface="Cambria Math" panose="02040503050406030204" pitchFamily="18" charset="0"/>
                      </a:rPr>
                      <m:t>𝑥</m:t>
                    </m:r>
                    <m:r>
                      <a:rPr lang="en-US" altLang="zh-CN" sz="1600" i="1">
                        <a:solidFill>
                          <a:srgbClr val="80C56D"/>
                        </a:solidFill>
                        <a:latin typeface="Cambria Math" panose="02040503050406030204" pitchFamily="18" charset="0"/>
                      </a:rPr>
                      <m:t>≡</m:t>
                    </m:r>
                    <m:r>
                      <a:rPr lang="en-US" altLang="zh-CN" sz="1600" i="1">
                        <a:solidFill>
                          <a:srgbClr val="80C56D"/>
                        </a:solidFill>
                        <a:latin typeface="Cambria Math" panose="02040503050406030204" pitchFamily="18" charset="0"/>
                      </a:rPr>
                      <m:t>𝑥</m:t>
                    </m:r>
                    <m:r>
                      <a:rPr lang="en-US" altLang="zh-CN" sz="1600" i="1">
                        <a:solidFill>
                          <a:srgbClr val="80C56D"/>
                        </a:solidFill>
                        <a:latin typeface="Cambria Math" panose="02040503050406030204" pitchFamily="18" charset="0"/>
                      </a:rPr>
                      <m:t>(</m:t>
                    </m:r>
                    <m:r>
                      <m:rPr>
                        <m:nor/>
                      </m:rPr>
                      <a:rPr lang="en-US" altLang="zh-CN" sz="1600">
                        <a:solidFill>
                          <a:srgbClr val="80C56D"/>
                        </a:solidFill>
                      </a:rPr>
                      <m:t>mod</m:t>
                    </m:r>
                    <m:r>
                      <a:rPr lang="en-US" altLang="zh-CN" sz="1600" i="1">
                        <a:solidFill>
                          <a:srgbClr val="80C56D"/>
                        </a:solidFill>
                        <a:latin typeface="Cambria Math" panose="02040503050406030204" pitchFamily="18" charset="0"/>
                      </a:rPr>
                      <m:t> </m:t>
                    </m:r>
                    <m:r>
                      <a:rPr lang="en-US" altLang="zh-CN" sz="1600" i="1">
                        <a:solidFill>
                          <a:srgbClr val="80C56D"/>
                        </a:solidFill>
                        <a:latin typeface="Cambria Math" panose="02040503050406030204" pitchFamily="18" charset="0"/>
                      </a:rPr>
                      <m:t>𝑚</m:t>
                    </m:r>
                    <m:r>
                      <a:rPr lang="en-US" altLang="zh-CN" sz="1600" i="1">
                        <a:solidFill>
                          <a:srgbClr val="80C56D"/>
                        </a:solidFill>
                        <a:latin typeface="Cambria Math" panose="02040503050406030204" pitchFamily="18" charset="0"/>
                      </a:rPr>
                      <m:t>)</m:t>
                    </m:r>
                  </m:oMath>
                </a14:m>
                <a:r>
                  <a:rPr lang="zh-CN" altLang="zh-CN" sz="1600" dirty="0">
                    <a:solidFill>
                      <a:srgbClr val="80C56D"/>
                    </a:solidFill>
                  </a:rPr>
                  <a:t>，有：</a:t>
                </a:r>
                <a14:m>
                  <m:oMath xmlns:m="http://schemas.openxmlformats.org/officeDocument/2006/math">
                    <m:acc>
                      <m:accPr>
                        <m:chr m:val="̅"/>
                        <m:ctrlPr>
                          <a:rPr lang="zh-CN" altLang="zh-CN" sz="1600" i="1">
                            <a:solidFill>
                              <a:srgbClr val="80C56D"/>
                            </a:solidFill>
                            <a:latin typeface="Cambria Math" panose="02040503050406030204" pitchFamily="18" charset="0"/>
                          </a:rPr>
                        </m:ctrlPr>
                      </m:accPr>
                      <m:e>
                        <m:r>
                          <a:rPr lang="en-US" altLang="zh-CN" sz="1600" i="1">
                            <a:solidFill>
                              <a:srgbClr val="80C56D"/>
                            </a:solidFill>
                            <a:latin typeface="Cambria Math" panose="02040503050406030204" pitchFamily="18" charset="0"/>
                          </a:rPr>
                          <m:t>𝑎</m:t>
                        </m:r>
                      </m:e>
                    </m:acc>
                    <m:r>
                      <a:rPr lang="en-US" altLang="zh-CN" sz="1600" i="1">
                        <a:solidFill>
                          <a:srgbClr val="80C56D"/>
                        </a:solidFill>
                        <a:latin typeface="Cambria Math" panose="02040503050406030204" pitchFamily="18" charset="0"/>
                      </a:rPr>
                      <m:t>∙</m:t>
                    </m:r>
                    <m:r>
                      <a:rPr lang="en-US" altLang="zh-CN" sz="1600" i="1">
                        <a:solidFill>
                          <a:srgbClr val="80C56D"/>
                        </a:solidFill>
                        <a:latin typeface="Cambria Math" panose="02040503050406030204" pitchFamily="18" charset="0"/>
                      </a:rPr>
                      <m:t>𝑎</m:t>
                    </m:r>
                    <m:r>
                      <a:rPr lang="en-US" altLang="zh-CN" sz="1600" i="1">
                        <a:solidFill>
                          <a:srgbClr val="80C56D"/>
                        </a:solidFill>
                        <a:latin typeface="Cambria Math" panose="02040503050406030204" pitchFamily="18" charset="0"/>
                      </a:rPr>
                      <m:t>∙</m:t>
                    </m:r>
                    <m:r>
                      <a:rPr lang="en-US" altLang="zh-CN" sz="1600" i="1">
                        <a:solidFill>
                          <a:srgbClr val="80C56D"/>
                        </a:solidFill>
                        <a:latin typeface="Cambria Math" panose="02040503050406030204" pitchFamily="18" charset="0"/>
                      </a:rPr>
                      <m:t>𝑥</m:t>
                    </m:r>
                    <m:r>
                      <a:rPr lang="en-US" altLang="zh-CN" sz="1600" i="1">
                        <a:solidFill>
                          <a:srgbClr val="80C56D"/>
                        </a:solidFill>
                        <a:latin typeface="Cambria Math" panose="02040503050406030204" pitchFamily="18" charset="0"/>
                      </a:rPr>
                      <m:t>≡</m:t>
                    </m:r>
                    <m:r>
                      <a:rPr lang="en-US" altLang="zh-CN" sz="1600" i="1">
                        <a:solidFill>
                          <a:srgbClr val="80C56D"/>
                        </a:solidFill>
                        <a:latin typeface="Cambria Math" panose="02040503050406030204" pitchFamily="18" charset="0"/>
                      </a:rPr>
                      <m:t>𝑥</m:t>
                    </m:r>
                    <m:r>
                      <a:rPr lang="en-US" altLang="zh-CN" sz="1600" i="1">
                        <a:solidFill>
                          <a:srgbClr val="80C56D"/>
                        </a:solidFill>
                        <a:latin typeface="Cambria Math" panose="02040503050406030204" pitchFamily="18" charset="0"/>
                      </a:rPr>
                      <m:t> (</m:t>
                    </m:r>
                    <m:r>
                      <m:rPr>
                        <m:nor/>
                      </m:rPr>
                      <a:rPr lang="en-US" altLang="zh-CN" sz="1600">
                        <a:solidFill>
                          <a:srgbClr val="80C56D"/>
                        </a:solidFill>
                      </a:rPr>
                      <m:t>mod</m:t>
                    </m:r>
                    <m:r>
                      <a:rPr lang="en-US" altLang="zh-CN" sz="1600" i="1">
                        <a:solidFill>
                          <a:srgbClr val="80C56D"/>
                        </a:solidFill>
                        <a:latin typeface="Cambria Math" panose="02040503050406030204" pitchFamily="18" charset="0"/>
                      </a:rPr>
                      <m:t>𝑚</m:t>
                    </m:r>
                    <m:r>
                      <a:rPr lang="en-US" altLang="zh-CN" sz="1600" i="1">
                        <a:solidFill>
                          <a:srgbClr val="80C56D"/>
                        </a:solidFill>
                        <a:latin typeface="Cambria Math" panose="02040503050406030204" pitchFamily="18" charset="0"/>
                      </a:rPr>
                      <m:t>)</m:t>
                    </m:r>
                  </m:oMath>
                </a14:m>
                <a:endParaRPr lang="en-US" altLang="zh-CN" sz="1600" dirty="0" smtClean="0">
                  <a:solidFill>
                    <a:srgbClr val="80C56D"/>
                  </a:solidFill>
                </a:endParaRPr>
              </a:p>
              <a:p>
                <a:pPr marL="285750" indent="-285750">
                  <a:spcAft>
                    <a:spcPts val="1800"/>
                  </a:spcAft>
                  <a:buFont typeface="Wingdings" panose="05000000000000000000" pitchFamily="2" charset="2"/>
                  <a:buChar char="l"/>
                </a:pPr>
                <a:r>
                  <a:rPr lang="zh-CN" altLang="zh-CN" sz="1600" dirty="0" smtClean="0">
                    <a:solidFill>
                      <a:srgbClr val="FFC000"/>
                    </a:solidFill>
                  </a:rPr>
                  <a:t>同余方程两边同时乘以</a:t>
                </a:r>
                <a14:m>
                  <m:oMath xmlns:m="http://schemas.openxmlformats.org/officeDocument/2006/math">
                    <m:acc>
                      <m:accPr>
                        <m:chr m:val="̅"/>
                        <m:ctrlPr>
                          <a:rPr lang="zh-CN" altLang="zh-CN" sz="1600" i="1">
                            <a:solidFill>
                              <a:srgbClr val="FFC000"/>
                            </a:solidFill>
                            <a:latin typeface="Cambria Math" panose="02040503050406030204" pitchFamily="18" charset="0"/>
                          </a:rPr>
                        </m:ctrlPr>
                      </m:accPr>
                      <m:e>
                        <m:r>
                          <a:rPr lang="en-US" altLang="zh-CN" sz="1600" i="1">
                            <a:solidFill>
                              <a:srgbClr val="FFC000"/>
                            </a:solidFill>
                            <a:latin typeface="Cambria Math" panose="02040503050406030204" pitchFamily="18" charset="0"/>
                          </a:rPr>
                          <m:t>𝑎</m:t>
                        </m:r>
                      </m:e>
                    </m:acc>
                  </m:oMath>
                </a14:m>
                <a:r>
                  <a:rPr lang="zh-CN" altLang="zh-CN" sz="1600" dirty="0">
                    <a:solidFill>
                      <a:srgbClr val="FFC000"/>
                    </a:solidFill>
                  </a:rPr>
                  <a:t>，得到：</a:t>
                </a:r>
                <a14:m>
                  <m:oMath xmlns:m="http://schemas.openxmlformats.org/officeDocument/2006/math">
                    <m:acc>
                      <m:accPr>
                        <m:chr m:val="̅"/>
                        <m:ctrlPr>
                          <a:rPr lang="zh-CN" altLang="zh-CN" sz="1600" i="1">
                            <a:solidFill>
                              <a:srgbClr val="FFC000"/>
                            </a:solidFill>
                            <a:latin typeface="Cambria Math" panose="02040503050406030204" pitchFamily="18" charset="0"/>
                          </a:rPr>
                        </m:ctrlPr>
                      </m:accPr>
                      <m:e>
                        <m:r>
                          <a:rPr lang="en-US" altLang="zh-CN" sz="1600" i="1">
                            <a:solidFill>
                              <a:srgbClr val="FFC000"/>
                            </a:solidFill>
                            <a:latin typeface="Cambria Math" panose="02040503050406030204" pitchFamily="18" charset="0"/>
                          </a:rPr>
                          <m:t>𝑎</m:t>
                        </m:r>
                      </m:e>
                    </m:acc>
                    <m:r>
                      <a:rPr lang="en-US" altLang="zh-CN" sz="1600" i="1">
                        <a:solidFill>
                          <a:srgbClr val="FFC000"/>
                        </a:solidFill>
                        <a:latin typeface="Cambria Math" panose="02040503050406030204" pitchFamily="18" charset="0"/>
                      </a:rPr>
                      <m:t>∙</m:t>
                    </m:r>
                    <m:r>
                      <a:rPr lang="en-US" altLang="zh-CN" sz="1600" i="1">
                        <a:solidFill>
                          <a:srgbClr val="FFC000"/>
                        </a:solidFill>
                        <a:latin typeface="Cambria Math" panose="02040503050406030204" pitchFamily="18" charset="0"/>
                      </a:rPr>
                      <m:t>𝑎</m:t>
                    </m:r>
                    <m:r>
                      <a:rPr lang="en-US" altLang="zh-CN" sz="1600" i="1">
                        <a:solidFill>
                          <a:srgbClr val="FFC000"/>
                        </a:solidFill>
                        <a:latin typeface="Cambria Math" panose="02040503050406030204" pitchFamily="18" charset="0"/>
                      </a:rPr>
                      <m:t>∙</m:t>
                    </m:r>
                    <m:r>
                      <a:rPr lang="en-US" altLang="zh-CN" sz="1600" i="1">
                        <a:solidFill>
                          <a:srgbClr val="FFC000"/>
                        </a:solidFill>
                        <a:latin typeface="Cambria Math" panose="02040503050406030204" pitchFamily="18" charset="0"/>
                      </a:rPr>
                      <m:t>𝑥</m:t>
                    </m:r>
                    <m:r>
                      <a:rPr lang="en-US" altLang="zh-CN" sz="1600" i="1">
                        <a:solidFill>
                          <a:srgbClr val="FFC000"/>
                        </a:solidFill>
                        <a:latin typeface="Cambria Math" panose="02040503050406030204" pitchFamily="18" charset="0"/>
                      </a:rPr>
                      <m:t>≡</m:t>
                    </m:r>
                    <m:acc>
                      <m:accPr>
                        <m:chr m:val="̅"/>
                        <m:ctrlPr>
                          <a:rPr lang="zh-CN" altLang="zh-CN" sz="1600" i="1">
                            <a:solidFill>
                              <a:srgbClr val="FFC000"/>
                            </a:solidFill>
                            <a:latin typeface="Cambria Math" panose="02040503050406030204" pitchFamily="18" charset="0"/>
                          </a:rPr>
                        </m:ctrlPr>
                      </m:accPr>
                      <m:e>
                        <m:r>
                          <a:rPr lang="en-US" altLang="zh-CN" sz="1600" i="1">
                            <a:solidFill>
                              <a:srgbClr val="FFC000"/>
                            </a:solidFill>
                            <a:latin typeface="Cambria Math" panose="02040503050406030204" pitchFamily="18" charset="0"/>
                          </a:rPr>
                          <m:t>𝑎</m:t>
                        </m:r>
                      </m:e>
                    </m:acc>
                    <m:r>
                      <a:rPr lang="en-US" altLang="zh-CN" sz="1600" i="1">
                        <a:solidFill>
                          <a:srgbClr val="FFC000"/>
                        </a:solidFill>
                        <a:latin typeface="Cambria Math" panose="02040503050406030204" pitchFamily="18" charset="0"/>
                      </a:rPr>
                      <m:t>∙</m:t>
                    </m:r>
                    <m:r>
                      <a:rPr lang="en-US" altLang="zh-CN" sz="1600" i="1">
                        <a:solidFill>
                          <a:srgbClr val="FFC000"/>
                        </a:solidFill>
                        <a:latin typeface="Cambria Math" panose="02040503050406030204" pitchFamily="18" charset="0"/>
                      </a:rPr>
                      <m:t>𝑏</m:t>
                    </m:r>
                    <m:r>
                      <a:rPr lang="en-US" altLang="zh-CN" sz="1600" i="1">
                        <a:solidFill>
                          <a:srgbClr val="FFC000"/>
                        </a:solidFill>
                        <a:latin typeface="Cambria Math" panose="02040503050406030204" pitchFamily="18" charset="0"/>
                      </a:rPr>
                      <m:t>(</m:t>
                    </m:r>
                    <m:r>
                      <m:rPr>
                        <m:nor/>
                      </m:rPr>
                      <a:rPr lang="en-US" altLang="zh-CN" sz="1600">
                        <a:solidFill>
                          <a:srgbClr val="FFC000"/>
                        </a:solidFill>
                      </a:rPr>
                      <m:t>mod</m:t>
                    </m:r>
                    <m:r>
                      <a:rPr lang="en-US" altLang="zh-CN" sz="1600" i="1">
                        <a:solidFill>
                          <a:srgbClr val="FFC000"/>
                        </a:solidFill>
                        <a:latin typeface="Cambria Math" panose="02040503050406030204" pitchFamily="18" charset="0"/>
                      </a:rPr>
                      <m:t> </m:t>
                    </m:r>
                    <m:r>
                      <a:rPr lang="en-US" altLang="zh-CN" sz="1600" i="1">
                        <a:solidFill>
                          <a:srgbClr val="FFC000"/>
                        </a:solidFill>
                        <a:latin typeface="Cambria Math" panose="02040503050406030204" pitchFamily="18" charset="0"/>
                      </a:rPr>
                      <m:t>𝑚</m:t>
                    </m:r>
                    <m:r>
                      <a:rPr lang="en-US" altLang="zh-CN" sz="1600" i="1">
                        <a:solidFill>
                          <a:srgbClr val="FFC000"/>
                        </a:solidFill>
                        <a:latin typeface="Cambria Math" panose="02040503050406030204" pitchFamily="18" charset="0"/>
                      </a:rPr>
                      <m:t>)</m:t>
                    </m:r>
                  </m:oMath>
                </a14:m>
                <a:endParaRPr lang="en-US" altLang="zh-CN" sz="1600" dirty="0" smtClean="0">
                  <a:solidFill>
                    <a:srgbClr val="FFC000"/>
                  </a:solidFill>
                </a:endParaRPr>
              </a:p>
              <a:p>
                <a:pPr marL="285750" indent="-285750">
                  <a:buFont typeface="Wingdings" panose="05000000000000000000" pitchFamily="2" charset="2"/>
                  <a:buChar char="l"/>
                </a:pPr>
                <a:r>
                  <a:rPr lang="zh-CN" altLang="zh-CN" sz="1600" dirty="0" smtClean="0">
                    <a:solidFill>
                      <a:srgbClr val="FF0000"/>
                    </a:solidFill>
                  </a:rPr>
                  <a:t>由同余关系传递性可知，</a:t>
                </a:r>
                <a:r>
                  <a:rPr lang="en-US" altLang="zh-CN" sz="1600" i="1" dirty="0">
                    <a:solidFill>
                      <a:srgbClr val="FF0000"/>
                    </a:solidFill>
                  </a:rPr>
                  <a:t>x</a:t>
                </a:r>
                <a:r>
                  <a:rPr lang="zh-CN" altLang="zh-CN" sz="1600" dirty="0">
                    <a:solidFill>
                      <a:srgbClr val="FF0000"/>
                    </a:solidFill>
                  </a:rPr>
                  <a:t>与</a:t>
                </a:r>
                <a14:m>
                  <m:oMath xmlns:m="http://schemas.openxmlformats.org/officeDocument/2006/math">
                    <m:acc>
                      <m:accPr>
                        <m:chr m:val="̅"/>
                        <m:ctrlPr>
                          <a:rPr lang="zh-CN" altLang="zh-CN" sz="1600" i="1">
                            <a:solidFill>
                              <a:srgbClr val="FF0000"/>
                            </a:solidFill>
                            <a:latin typeface="Cambria Math" panose="02040503050406030204" pitchFamily="18" charset="0"/>
                          </a:rPr>
                        </m:ctrlPr>
                      </m:accPr>
                      <m:e>
                        <m:r>
                          <a:rPr lang="en-US" altLang="zh-CN" sz="1600" i="1">
                            <a:solidFill>
                              <a:srgbClr val="FF0000"/>
                            </a:solidFill>
                            <a:latin typeface="Cambria Math" panose="02040503050406030204" pitchFamily="18" charset="0"/>
                          </a:rPr>
                          <m:t>𝑎</m:t>
                        </m:r>
                      </m:e>
                    </m:acc>
                    <m:r>
                      <a:rPr lang="en-US" altLang="zh-CN" sz="1600" i="1">
                        <a:solidFill>
                          <a:srgbClr val="FF0000"/>
                        </a:solidFill>
                        <a:latin typeface="Cambria Math" panose="02040503050406030204" pitchFamily="18" charset="0"/>
                      </a:rPr>
                      <m:t>∙</m:t>
                    </m:r>
                    <m:r>
                      <a:rPr lang="en-US" altLang="zh-CN" sz="1600" i="1">
                        <a:solidFill>
                          <a:srgbClr val="FF0000"/>
                        </a:solidFill>
                        <a:latin typeface="Cambria Math" panose="02040503050406030204" pitchFamily="18" charset="0"/>
                      </a:rPr>
                      <m:t>𝑏</m:t>
                    </m:r>
                    <m:r>
                      <a:rPr lang="en-US" altLang="zh-CN" sz="1600" i="1">
                        <a:solidFill>
                          <a:srgbClr val="FF0000"/>
                        </a:solidFill>
                        <a:latin typeface="Cambria Math" panose="02040503050406030204" pitchFamily="18" charset="0"/>
                      </a:rPr>
                      <m:t>(</m:t>
                    </m:r>
                    <m:r>
                      <m:rPr>
                        <m:nor/>
                      </m:rPr>
                      <a:rPr lang="en-US" altLang="zh-CN" sz="1600">
                        <a:solidFill>
                          <a:srgbClr val="FF0000"/>
                        </a:solidFill>
                      </a:rPr>
                      <m:t>mod</m:t>
                    </m:r>
                    <m:r>
                      <a:rPr lang="en-US" altLang="zh-CN" sz="1600" i="1">
                        <a:solidFill>
                          <a:srgbClr val="FF0000"/>
                        </a:solidFill>
                        <a:latin typeface="Cambria Math" panose="02040503050406030204" pitchFamily="18" charset="0"/>
                      </a:rPr>
                      <m:t> </m:t>
                    </m:r>
                    <m:r>
                      <a:rPr lang="en-US" altLang="zh-CN" sz="1600" i="1">
                        <a:solidFill>
                          <a:srgbClr val="FF0000"/>
                        </a:solidFill>
                        <a:latin typeface="Cambria Math" panose="02040503050406030204" pitchFamily="18" charset="0"/>
                      </a:rPr>
                      <m:t>𝑚</m:t>
                    </m:r>
                    <m:r>
                      <a:rPr lang="en-US" altLang="zh-CN" sz="1600" i="1">
                        <a:solidFill>
                          <a:srgbClr val="FF0000"/>
                        </a:solidFill>
                        <a:latin typeface="Cambria Math" panose="02040503050406030204" pitchFamily="18" charset="0"/>
                      </a:rPr>
                      <m:t>)</m:t>
                    </m:r>
                  </m:oMath>
                </a14:m>
                <a:r>
                  <a:rPr lang="zh-CN" altLang="zh-CN" sz="1600" dirty="0">
                    <a:solidFill>
                      <a:srgbClr val="FF0000"/>
                    </a:solidFill>
                  </a:rPr>
                  <a:t>同余，即有：</a:t>
                </a:r>
                <a14:m>
                  <m:oMath xmlns:m="http://schemas.openxmlformats.org/officeDocument/2006/math">
                    <m:r>
                      <a:rPr lang="en-US" altLang="zh-CN" sz="1600" i="1">
                        <a:solidFill>
                          <a:srgbClr val="FF0000"/>
                        </a:solidFill>
                        <a:latin typeface="Cambria Math" panose="02040503050406030204" pitchFamily="18" charset="0"/>
                      </a:rPr>
                      <m:t>𝑥</m:t>
                    </m:r>
                    <m:r>
                      <a:rPr lang="en-US" altLang="zh-CN" sz="1600" i="1">
                        <a:solidFill>
                          <a:srgbClr val="FF0000"/>
                        </a:solidFill>
                        <a:latin typeface="Cambria Math" panose="02040503050406030204" pitchFamily="18" charset="0"/>
                      </a:rPr>
                      <m:t>≡</m:t>
                    </m:r>
                    <m:acc>
                      <m:accPr>
                        <m:chr m:val="̅"/>
                        <m:ctrlPr>
                          <a:rPr lang="zh-CN" altLang="zh-CN" sz="1600" i="1">
                            <a:solidFill>
                              <a:srgbClr val="FF0000"/>
                            </a:solidFill>
                            <a:latin typeface="Cambria Math" panose="02040503050406030204" pitchFamily="18" charset="0"/>
                          </a:rPr>
                        </m:ctrlPr>
                      </m:accPr>
                      <m:e>
                        <m:r>
                          <a:rPr lang="en-US" altLang="zh-CN" sz="1600" i="1">
                            <a:solidFill>
                              <a:srgbClr val="FF0000"/>
                            </a:solidFill>
                            <a:latin typeface="Cambria Math" panose="02040503050406030204" pitchFamily="18" charset="0"/>
                          </a:rPr>
                          <m:t>𝑎</m:t>
                        </m:r>
                      </m:e>
                    </m:acc>
                    <m:r>
                      <a:rPr lang="en-US" altLang="zh-CN" sz="1600" i="1">
                        <a:solidFill>
                          <a:srgbClr val="FF0000"/>
                        </a:solidFill>
                        <a:latin typeface="Cambria Math" panose="02040503050406030204" pitchFamily="18" charset="0"/>
                      </a:rPr>
                      <m:t>∙</m:t>
                    </m:r>
                    <m:r>
                      <a:rPr lang="en-US" altLang="zh-CN" sz="1600" i="1">
                        <a:solidFill>
                          <a:srgbClr val="FF0000"/>
                        </a:solidFill>
                        <a:latin typeface="Cambria Math" panose="02040503050406030204" pitchFamily="18" charset="0"/>
                      </a:rPr>
                      <m:t>𝑏</m:t>
                    </m:r>
                    <m:r>
                      <a:rPr lang="en-US" altLang="zh-CN" sz="1600" i="1">
                        <a:solidFill>
                          <a:srgbClr val="FF0000"/>
                        </a:solidFill>
                        <a:latin typeface="Cambria Math" panose="02040503050406030204" pitchFamily="18" charset="0"/>
                      </a:rPr>
                      <m:t>(</m:t>
                    </m:r>
                    <m:r>
                      <m:rPr>
                        <m:nor/>
                      </m:rPr>
                      <a:rPr lang="en-US" altLang="zh-CN" sz="1600">
                        <a:solidFill>
                          <a:srgbClr val="FF0000"/>
                        </a:solidFill>
                      </a:rPr>
                      <m:t>mod</m:t>
                    </m:r>
                    <m:r>
                      <a:rPr lang="en-US" altLang="zh-CN" sz="1600" i="1">
                        <a:solidFill>
                          <a:srgbClr val="FF0000"/>
                        </a:solidFill>
                        <a:latin typeface="Cambria Math" panose="02040503050406030204" pitchFamily="18" charset="0"/>
                      </a:rPr>
                      <m:t> </m:t>
                    </m:r>
                    <m:r>
                      <a:rPr lang="en-US" altLang="zh-CN" sz="1600" i="1">
                        <a:solidFill>
                          <a:srgbClr val="FF0000"/>
                        </a:solidFill>
                        <a:latin typeface="Cambria Math" panose="02040503050406030204" pitchFamily="18" charset="0"/>
                      </a:rPr>
                      <m:t>𝑚</m:t>
                    </m:r>
                    <m:r>
                      <a:rPr lang="en-US" altLang="zh-CN" sz="1600" i="1">
                        <a:solidFill>
                          <a:srgbClr val="FF0000"/>
                        </a:solidFill>
                        <a:latin typeface="Cambria Math" panose="02040503050406030204" pitchFamily="18" charset="0"/>
                      </a:rPr>
                      <m:t>)</m:t>
                    </m:r>
                  </m:oMath>
                </a14:m>
                <a:endParaRPr lang="zh-CN" altLang="en-US" sz="1600" dirty="0">
                  <a:solidFill>
                    <a:srgbClr val="FF0000"/>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2132817" y="3074458"/>
                <a:ext cx="5832648" cy="2262158"/>
              </a:xfrm>
              <a:prstGeom prst="rect">
                <a:avLst/>
              </a:prstGeom>
              <a:blipFill rotWithShape="0">
                <a:blip r:embed="rId4"/>
                <a:stretch>
                  <a:fillRect l="-418" t="-1078" r="-2926" b="-1078"/>
                </a:stretch>
              </a:blipFill>
            </p:spPr>
            <p:txBody>
              <a:bodyPr/>
              <a:lstStyle/>
              <a:p>
                <a:r>
                  <a:rPr lang="zh-CN" altLang="en-US">
                    <a:noFill/>
                  </a:rPr>
                  <a:t> </a:t>
                </a:r>
              </a:p>
            </p:txBody>
          </p:sp>
        </mc:Fallback>
      </mc:AlternateContent>
      <p:sp>
        <p:nvSpPr>
          <p:cNvPr id="8" name="流程图: 库存数据 7"/>
          <p:cNvSpPr/>
          <p:nvPr/>
        </p:nvSpPr>
        <p:spPr bwMode="auto">
          <a:xfrm flipH="1">
            <a:off x="669825" y="3891456"/>
            <a:ext cx="1008112" cy="529317"/>
          </a:xfrm>
          <a:prstGeom prst="flowChartOnlineStorage">
            <a:avLst/>
          </a:prstGeom>
          <a:solidFill>
            <a:schemeClr val="accent2">
              <a:lumMod val="7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9" name="文本框 8"/>
          <p:cNvSpPr txBox="1"/>
          <p:nvPr/>
        </p:nvSpPr>
        <p:spPr>
          <a:xfrm>
            <a:off x="833568" y="3967836"/>
            <a:ext cx="791443" cy="338554"/>
          </a:xfrm>
          <a:prstGeom prst="rect">
            <a:avLst/>
          </a:prstGeom>
          <a:noFill/>
        </p:spPr>
        <p:txBody>
          <a:bodyPr wrap="square" rtlCol="0">
            <a:spAutoFit/>
          </a:bodyPr>
          <a:lstStyle/>
          <a:p>
            <a:r>
              <a:rPr lang="zh-CN" altLang="en-US" sz="1600" dirty="0" smtClean="0">
                <a:solidFill>
                  <a:schemeClr val="bg1"/>
                </a:solidFill>
              </a:rPr>
              <a:t>化</a:t>
            </a:r>
            <a:r>
              <a:rPr lang="en-US" altLang="zh-CN" sz="1600" dirty="0" smtClean="0">
                <a:solidFill>
                  <a:schemeClr val="bg1"/>
                </a:solidFill>
              </a:rPr>
              <a:t>1</a:t>
            </a:r>
            <a:r>
              <a:rPr lang="zh-CN" altLang="en-US" sz="1600" dirty="0" smtClean="0">
                <a:solidFill>
                  <a:schemeClr val="bg1"/>
                </a:solidFill>
              </a:rPr>
              <a:t>法</a:t>
            </a:r>
            <a:endParaRPr lang="zh-CN" altLang="en-US" sz="1600" dirty="0">
              <a:solidFill>
                <a:schemeClr val="bg1"/>
              </a:solidFill>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EDCDF698-F7A7-49C0-88E7-C98171024862}" type="slidenum">
              <a:rPr lang="en-US" altLang="zh-CN"/>
              <a:pPr>
                <a:defRPr/>
              </a:pPr>
              <a:t>86</a:t>
            </a:fld>
            <a:endParaRPr lang="en-US" altLang="zh-CN"/>
          </a:p>
        </p:txBody>
      </p:sp>
      <mc:AlternateContent xmlns:mc="http://schemas.openxmlformats.org/markup-compatibility/2006" xmlns:a14="http://schemas.microsoft.com/office/drawing/2010/main">
        <mc:Choice Requires="a14">
          <p:sp>
            <p:nvSpPr>
              <p:cNvPr id="90117" name="Text Box 2"/>
              <p:cNvSpPr txBox="1">
                <a:spLocks noChangeArrowheads="1"/>
              </p:cNvSpPr>
              <p:nvPr/>
            </p:nvSpPr>
            <p:spPr bwMode="auto">
              <a:xfrm>
                <a:off x="1331913" y="620713"/>
                <a:ext cx="5903912" cy="823912"/>
              </a:xfrm>
              <a:prstGeom prst="rect">
                <a:avLst/>
              </a:prstGeom>
              <a:solidFill>
                <a:srgbClr val="3366FF"/>
              </a:solidFill>
              <a:ln>
                <a:noFill/>
              </a:ln>
              <a:effectLst>
                <a:outerShdw dist="107763" dir="2700000" algn="ctr" rotWithShape="0">
                  <a:schemeClr val="bg2"/>
                </a:outerShdw>
              </a:effectLst>
              <a:extLst>
                <a:ext uri="{91240B29-F687-4F45-9708-019B960494DF}">
                  <a14:hiddenLine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14:m>
                  <m:oMath xmlns:m="http://schemas.openxmlformats.org/officeDocument/2006/math">
                    <m:acc>
                      <m:accPr>
                        <m:chr m:val="̅"/>
                        <m:ctrlPr>
                          <a:rPr lang="zh-CN" altLang="zh-CN" sz="4800" b="1" i="1">
                            <a:solidFill>
                              <a:schemeClr val="bg1"/>
                            </a:solidFill>
                            <a:latin typeface="Cambria Math" panose="02040503050406030204" pitchFamily="18" charset="0"/>
                            <a:ea typeface="宋体" panose="02010600030101010101" pitchFamily="2" charset="-122"/>
                          </a:rPr>
                        </m:ctrlPr>
                      </m:accPr>
                      <m:e>
                        <m:r>
                          <a:rPr lang="en-US" altLang="zh-CN" sz="4800" b="1">
                            <a:solidFill>
                              <a:schemeClr val="bg1"/>
                            </a:solidFill>
                            <a:latin typeface="Cambria Math" panose="02040503050406030204" pitchFamily="18" charset="0"/>
                            <a:ea typeface="宋体" panose="02010600030101010101" pitchFamily="2" charset="-122"/>
                          </a:rPr>
                          <m:t>𝑎</m:t>
                        </m:r>
                      </m:e>
                    </m:acc>
                  </m:oMath>
                </a14:m>
                <a:r>
                  <a:rPr lang="zh-CN" altLang="zh-CN" sz="4800" b="1" dirty="0">
                    <a:solidFill>
                      <a:schemeClr val="bg1"/>
                    </a:solidFill>
                    <a:latin typeface="宋体" panose="02010600030101010101" pitchFamily="2" charset="-122"/>
                    <a:ea typeface="宋体" panose="02010600030101010101" pitchFamily="2" charset="-122"/>
                  </a:rPr>
                  <a:t>的定义</a:t>
                </a:r>
                <a:endParaRPr lang="zh-CN" altLang="en-US" sz="4800" b="1" dirty="0">
                  <a:solidFill>
                    <a:schemeClr val="bg1"/>
                  </a:solidFill>
                  <a:latin typeface="宋体" panose="02010600030101010101" pitchFamily="2" charset="-122"/>
                  <a:ea typeface="宋体" panose="02010600030101010101" pitchFamily="2" charset="-122"/>
                </a:endParaRPr>
              </a:p>
            </p:txBody>
          </p:sp>
        </mc:Choice>
        <mc:Fallback xmlns="">
          <p:sp>
            <p:nvSpPr>
              <p:cNvPr id="90117" name="Text Box 2"/>
              <p:cNvSpPr txBox="1">
                <a:spLocks noRot="1" noChangeAspect="1" noMove="1" noResize="1" noEditPoints="1" noAdjustHandles="1" noChangeArrowheads="1" noChangeShapeType="1" noTextEdit="1"/>
              </p:cNvSpPr>
              <p:nvPr/>
            </p:nvSpPr>
            <p:spPr bwMode="auto">
              <a:xfrm>
                <a:off x="1331913" y="620713"/>
                <a:ext cx="5903912" cy="823912"/>
              </a:xfrm>
              <a:prstGeom prst="rect">
                <a:avLst/>
              </a:prstGeom>
              <a:blipFill rotWithShape="0">
                <a:blip r:embed="rId3"/>
                <a:stretch>
                  <a:fillRect t="-5687"/>
                </a:stretch>
              </a:blip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90118" name="Picture 6" descr="C:\Program Files\Microsoft Office\MEDIA\CAGCAT10\j0293844.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267570" y="1844824"/>
                <a:ext cx="6624736" cy="1015663"/>
              </a:xfrm>
              <a:prstGeom prst="rect">
                <a:avLst/>
              </a:prstGeom>
              <a:solidFill>
                <a:schemeClr val="bg2">
                  <a:lumMod val="60000"/>
                  <a:lumOff val="40000"/>
                </a:schemeClr>
              </a:solidFill>
            </p:spPr>
            <p:txBody>
              <a:bodyPr wrap="square" rtlCol="0">
                <a:spAutoFit/>
              </a:bodyPr>
              <a:lstStyle/>
              <a:p>
                <a:r>
                  <a:rPr lang="zh-CN" altLang="zh-CN" sz="2000" dirty="0"/>
                  <a:t>【</a:t>
                </a:r>
                <a:r>
                  <a:rPr lang="zh-CN" altLang="zh-CN" sz="2000" b="1" dirty="0"/>
                  <a:t>定义</a:t>
                </a:r>
                <a:r>
                  <a:rPr lang="en-US" altLang="zh-CN" sz="2000" b="1" dirty="0"/>
                  <a:t>2.15</a:t>
                </a:r>
                <a:r>
                  <a:rPr lang="zh-CN" altLang="zh-CN" sz="2000" dirty="0"/>
                  <a:t>】设</a:t>
                </a:r>
                <a:r>
                  <a:rPr lang="en-US" altLang="zh-CN" sz="2000" i="1" dirty="0"/>
                  <a:t>m</a:t>
                </a:r>
                <a:r>
                  <a:rPr lang="zh-CN" altLang="zh-CN" sz="2000" dirty="0"/>
                  <a:t>是任一给定的正整数，</a:t>
                </a:r>
                <a:r>
                  <a:rPr lang="en-US" altLang="zh-CN" sz="2000" i="1" dirty="0"/>
                  <a:t>a</a:t>
                </a:r>
                <a:r>
                  <a:rPr lang="zh-CN" altLang="zh-CN" sz="2000" dirty="0"/>
                  <a:t>是任一与</a:t>
                </a:r>
                <a:r>
                  <a:rPr lang="en-US" altLang="zh-CN" sz="2000" i="1" dirty="0"/>
                  <a:t>m</a:t>
                </a:r>
                <a:r>
                  <a:rPr lang="zh-CN" altLang="zh-CN" sz="2000" dirty="0"/>
                  <a:t>互素的整数，满足</a:t>
                </a:r>
                <a14:m>
                  <m:oMath xmlns:m="http://schemas.openxmlformats.org/officeDocument/2006/math">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𝑥</m:t>
                    </m:r>
                    <m:r>
                      <a:rPr lang="en-US" altLang="zh-CN" sz="2000" i="1">
                        <a:latin typeface="Cambria Math" panose="02040503050406030204" pitchFamily="18" charset="0"/>
                      </a:rPr>
                      <m:t>≡1 (</m:t>
                    </m:r>
                    <m:r>
                      <m:rPr>
                        <m:nor/>
                      </m:rPr>
                      <a:rPr lang="en-US" altLang="zh-CN" sz="2000" i="1"/>
                      <m:t>mod</m:t>
                    </m:r>
                    <m:r>
                      <a:rPr lang="en-US" altLang="zh-CN" sz="2000" i="1">
                        <a:latin typeface="Cambria Math" panose="02040503050406030204" pitchFamily="18" charset="0"/>
                      </a:rPr>
                      <m:t> </m:t>
                    </m:r>
                    <m:r>
                      <a:rPr lang="en-US" altLang="zh-CN" sz="2000" i="1">
                        <a:latin typeface="Cambria Math" panose="02040503050406030204" pitchFamily="18" charset="0"/>
                      </a:rPr>
                      <m:t>𝑚</m:t>
                    </m:r>
                    <m:r>
                      <a:rPr lang="en-US" altLang="zh-CN" sz="2000" i="1">
                        <a:latin typeface="Cambria Math" panose="02040503050406030204" pitchFamily="18" charset="0"/>
                      </a:rPr>
                      <m:t>)</m:t>
                    </m:r>
                  </m:oMath>
                </a14:m>
                <a:r>
                  <a:rPr lang="zh-CN" altLang="zh-CN" sz="2000" dirty="0"/>
                  <a:t>的最小正整数解称为整数</a:t>
                </a:r>
                <a:r>
                  <a:rPr lang="en-US" altLang="zh-CN" sz="2000" i="1" dirty="0"/>
                  <a:t>a</a:t>
                </a:r>
                <a:r>
                  <a:rPr lang="zh-CN" altLang="zh-CN" sz="2000" dirty="0"/>
                  <a:t>的</a:t>
                </a:r>
                <a:r>
                  <a:rPr lang="zh-CN" altLang="zh-CN" sz="2000" b="1" dirty="0"/>
                  <a:t>模</a:t>
                </a:r>
                <a:r>
                  <a:rPr lang="en-US" altLang="zh-CN" sz="2000" b="1" i="1" dirty="0"/>
                  <a:t>m</a:t>
                </a:r>
                <a:r>
                  <a:rPr lang="zh-CN" altLang="zh-CN" sz="2000" b="1" dirty="0"/>
                  <a:t>逆，记为</a:t>
                </a:r>
                <a14:m>
                  <m:oMath xmlns:m="http://schemas.openxmlformats.org/officeDocument/2006/math">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𝑎</m:t>
                        </m:r>
                      </m:e>
                    </m:acc>
                  </m:oMath>
                </a14:m>
                <a:r>
                  <a:rPr lang="zh-CN" altLang="zh-CN" sz="2000" dirty="0"/>
                  <a:t>。</a:t>
                </a:r>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267570" y="1844824"/>
                <a:ext cx="6624736" cy="1015663"/>
              </a:xfrm>
              <a:prstGeom prst="rect">
                <a:avLst/>
              </a:prstGeom>
              <a:blipFill rotWithShape="0">
                <a:blip r:embed="rId5"/>
                <a:stretch>
                  <a:fillRect l="-1012" t="-3614" b="-9036"/>
                </a:stretch>
              </a:blipFill>
            </p:spPr>
            <p:txBody>
              <a:bodyPr/>
              <a:lstStyle/>
              <a:p>
                <a:r>
                  <a:rPr lang="zh-CN" altLang="en-US">
                    <a:noFill/>
                  </a:rPr>
                  <a:t> </a:t>
                </a:r>
              </a:p>
            </p:txBody>
          </p:sp>
        </mc:Fallback>
      </mc:AlternateContent>
      <p:grpSp>
        <p:nvGrpSpPr>
          <p:cNvPr id="8" name="组合 7"/>
          <p:cNvGrpSpPr/>
          <p:nvPr/>
        </p:nvGrpSpPr>
        <p:grpSpPr>
          <a:xfrm>
            <a:off x="3779912" y="2878186"/>
            <a:ext cx="1296144" cy="1656184"/>
            <a:chOff x="3707904" y="2924944"/>
            <a:chExt cx="1296144" cy="1656184"/>
          </a:xfrm>
        </p:grpSpPr>
        <p:sp>
          <p:nvSpPr>
            <p:cNvPr id="3" name="下箭头 2"/>
            <p:cNvSpPr/>
            <p:nvPr/>
          </p:nvSpPr>
          <p:spPr bwMode="auto">
            <a:xfrm>
              <a:off x="3707904" y="2924944"/>
              <a:ext cx="1296144" cy="1656184"/>
            </a:xfrm>
            <a:prstGeom prst="downArrow">
              <a:avLst/>
            </a:prstGeom>
            <a:solidFill>
              <a:schemeClr val="accent2">
                <a:lumMod val="40000"/>
                <a:lumOff val="6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4" name="文本框 3"/>
                <p:cNvSpPr txBox="1"/>
                <p:nvPr/>
              </p:nvSpPr>
              <p:spPr>
                <a:xfrm>
                  <a:off x="4075643" y="2968206"/>
                  <a:ext cx="557332" cy="1569660"/>
                </a:xfrm>
                <a:prstGeom prst="rect">
                  <a:avLst/>
                </a:prstGeom>
                <a:noFill/>
              </p:spPr>
              <p:txBody>
                <a:bodyPr vert="horz" wrap="square" rtlCol="0" anchor="ctr" anchorCtr="1">
                  <a:spAutoFit/>
                </a:bodyPr>
                <a:lstStyle/>
                <a:p>
                  <a:r>
                    <a:rPr lang="zh-CN" altLang="en-US" dirty="0" smtClean="0"/>
                    <a:t>如何求</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𝑎</m:t>
                          </m:r>
                        </m:e>
                      </m:acc>
                    </m:oMath>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4075643" y="2968206"/>
                  <a:ext cx="557332" cy="1569660"/>
                </a:xfrm>
                <a:prstGeom prst="rect">
                  <a:avLst/>
                </a:prstGeom>
                <a:blipFill rotWithShape="0">
                  <a:blip r:embed="rId6"/>
                  <a:stretch>
                    <a:fillRect l="-9783" t="-2713" r="-10870"/>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 name="文本框 8"/>
              <p:cNvSpPr txBox="1"/>
              <p:nvPr/>
            </p:nvSpPr>
            <p:spPr>
              <a:xfrm>
                <a:off x="1267570" y="4715839"/>
                <a:ext cx="6552728" cy="1200329"/>
              </a:xfrm>
              <a:prstGeom prst="rect">
                <a:avLst/>
              </a:prstGeom>
              <a:solidFill>
                <a:schemeClr val="accent2">
                  <a:lumMod val="60000"/>
                  <a:lumOff val="40000"/>
                </a:schemeClr>
              </a:solidFill>
            </p:spPr>
            <p:txBody>
              <a:bodyPr wrap="square" rtlCol="0">
                <a:spAutoFit/>
              </a:bodyPr>
              <a:lstStyle/>
              <a:p>
                <a:r>
                  <a:rPr lang="zh-CN" altLang="zh-CN" dirty="0"/>
                  <a:t>【</a:t>
                </a:r>
                <a:r>
                  <a:rPr lang="zh-CN" altLang="zh-CN" b="1" dirty="0"/>
                  <a:t>定理</a:t>
                </a:r>
                <a:r>
                  <a:rPr lang="en-US" altLang="zh-CN" b="1" dirty="0"/>
                  <a:t>2.27</a:t>
                </a:r>
                <a:r>
                  <a:rPr lang="zh-CN" altLang="zh-CN" dirty="0"/>
                  <a:t>】设</a:t>
                </a:r>
                <a:r>
                  <a:rPr lang="en-US" altLang="zh-CN" i="1" dirty="0"/>
                  <a:t>m</a:t>
                </a:r>
                <a:r>
                  <a:rPr lang="zh-CN" altLang="zh-CN" dirty="0"/>
                  <a:t>和</a:t>
                </a:r>
                <a:r>
                  <a:rPr lang="en-US" altLang="zh-CN" i="1" dirty="0"/>
                  <a:t>a</a:t>
                </a:r>
                <a:r>
                  <a:rPr lang="zh-CN" altLang="zh-CN" dirty="0"/>
                  <a:t>是两个互素的整数，且</a:t>
                </a:r>
                <a14:m>
                  <m:oMath xmlns:m="http://schemas.openxmlformats.org/officeDocument/2006/math">
                    <m:r>
                      <a:rPr lang="en-US" altLang="zh-CN" i="1">
                        <a:latin typeface="Cambria Math" panose="02040503050406030204" pitchFamily="18" charset="0"/>
                      </a:rPr>
                      <m:t>𝑚</m:t>
                    </m:r>
                    <m:r>
                      <a:rPr lang="en-US" altLang="zh-CN">
                        <a:latin typeface="Cambria Math" panose="02040503050406030204" pitchFamily="18" charset="0"/>
                      </a:rPr>
                      <m:t>&gt;1</m:t>
                    </m:r>
                  </m:oMath>
                </a14:m>
                <a:r>
                  <a:rPr lang="zh-CN" altLang="zh-CN" dirty="0"/>
                  <a:t>，则存在唯一一个小于</a:t>
                </a:r>
                <a:r>
                  <a:rPr lang="en-US" altLang="zh-CN" i="1" dirty="0"/>
                  <a:t>m</a:t>
                </a:r>
                <a:r>
                  <a:rPr lang="zh-CN" altLang="zh-CN" dirty="0"/>
                  <a:t>的正整数</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𝑎</m:t>
                        </m:r>
                      </m:e>
                    </m:acc>
                  </m:oMath>
                </a14:m>
                <a:r>
                  <a:rPr lang="zh-CN" altLang="zh-CN" dirty="0"/>
                  <a:t>，它是</a:t>
                </a:r>
                <a:r>
                  <a:rPr lang="en-US" altLang="zh-CN" i="1" dirty="0"/>
                  <a:t>a</a:t>
                </a:r>
                <a:r>
                  <a:rPr lang="zh-CN" altLang="zh-CN" dirty="0"/>
                  <a:t>的模</a:t>
                </a:r>
                <a:r>
                  <a:rPr lang="en-US" altLang="zh-CN" i="1" dirty="0"/>
                  <a:t>m</a:t>
                </a:r>
                <a:r>
                  <a:rPr lang="zh-CN" altLang="zh-CN" dirty="0"/>
                  <a:t>逆，即有：</a:t>
                </a:r>
                <a14:m>
                  <m:oMath xmlns:m="http://schemas.openxmlformats.org/officeDocument/2006/math">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𝑎</m:t>
                        </m:r>
                      </m:e>
                    </m:acc>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≡1(</m:t>
                    </m:r>
                    <m:r>
                      <m:rPr>
                        <m:nor/>
                      </m:rPr>
                      <a:rPr lang="en-US" altLang="zh-CN"/>
                      <m:t>mod</m:t>
                    </m:r>
                    <m:r>
                      <a:rPr lang="en-US" altLang="zh-CN" i="1">
                        <a:latin typeface="Cambria Math" panose="02040503050406030204" pitchFamily="18" charset="0"/>
                      </a:rPr>
                      <m:t> </m:t>
                    </m:r>
                    <m:r>
                      <a:rPr lang="en-US" altLang="zh-CN" i="1">
                        <a:latin typeface="Cambria Math" panose="02040503050406030204" pitchFamily="18" charset="0"/>
                      </a:rPr>
                      <m:t>𝑚</m:t>
                    </m:r>
                    <m:r>
                      <a:rPr lang="en-US" altLang="zh-CN" i="1">
                        <a:latin typeface="Cambria Math" panose="02040503050406030204" pitchFamily="18" charset="0"/>
                      </a:rPr>
                      <m:t>)</m:t>
                    </m:r>
                  </m:oMath>
                </a14:m>
                <a:r>
                  <a:rPr lang="zh-CN" altLang="zh-CN" dirty="0"/>
                  <a:t>。</a:t>
                </a:r>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1267570" y="4715839"/>
                <a:ext cx="6552728" cy="1200329"/>
              </a:xfrm>
              <a:prstGeom prst="rect">
                <a:avLst/>
              </a:prstGeom>
              <a:blipFill rotWithShape="0">
                <a:blip r:embed="rId7"/>
                <a:stretch>
                  <a:fillRect l="-1488" t="-4061" r="-744" b="-9137"/>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7D8A8500-5447-406D-A789-F668A43113F2}" type="slidenum">
              <a:rPr lang="en-US" altLang="zh-CN"/>
              <a:pPr>
                <a:defRPr/>
              </a:pPr>
              <a:t>87</a:t>
            </a:fld>
            <a:endParaRPr lang="en-US" altLang="zh-CN"/>
          </a:p>
        </p:txBody>
      </p:sp>
      <p:sp>
        <p:nvSpPr>
          <p:cNvPr id="89093" name="Text Box 2"/>
          <p:cNvSpPr txBox="1">
            <a:spLocks noChangeArrowheads="1"/>
          </p:cNvSpPr>
          <p:nvPr/>
        </p:nvSpPr>
        <p:spPr bwMode="auto">
          <a:xfrm>
            <a:off x="1331913" y="620713"/>
            <a:ext cx="5903912"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证明</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8909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347082" y="2024063"/>
                <a:ext cx="7200800" cy="2677656"/>
              </a:xfrm>
              <a:prstGeom prst="rect">
                <a:avLst/>
              </a:prstGeom>
              <a:noFill/>
            </p:spPr>
            <p:txBody>
              <a:bodyPr wrap="square" rtlCol="0">
                <a:spAutoFit/>
              </a:bodyPr>
              <a:lstStyle/>
              <a:p>
                <a:r>
                  <a:rPr lang="zh-CN" altLang="zh-CN" dirty="0"/>
                  <a:t>【证明】由定理</a:t>
                </a:r>
                <a:r>
                  <a:rPr lang="en-US" altLang="zh-CN" dirty="0"/>
                  <a:t>2.6</a:t>
                </a:r>
                <a:r>
                  <a:rPr lang="zh-CN" altLang="zh-CN" dirty="0"/>
                  <a:t>中所说的线性组合及</a:t>
                </a:r>
                <a14:m>
                  <m:oMath xmlns:m="http://schemas.openxmlformats.org/officeDocument/2006/math">
                    <m:func>
                      <m:funcPr>
                        <m:ctrlPr>
                          <a:rPr lang="zh-CN" altLang="zh-CN" i="1">
                            <a:latin typeface="Cambria Math" panose="02040503050406030204" pitchFamily="18" charset="0"/>
                          </a:rPr>
                        </m:ctrlPr>
                      </m:funcPr>
                      <m:fName>
                        <m:r>
                          <m:rPr>
                            <m:nor/>
                          </m:rPr>
                          <a:rPr lang="en-US" altLang="zh-CN"/>
                          <m:t>gcd</m:t>
                        </m:r>
                      </m:fName>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𝑎</m:t>
                            </m:r>
                            <m:r>
                              <a:rPr lang="zh-CN" altLang="zh-CN">
                                <a:latin typeface="Cambria Math" panose="02040503050406030204" pitchFamily="18" charset="0"/>
                              </a:rPr>
                              <m:t>，</m:t>
                            </m:r>
                            <m:r>
                              <a:rPr lang="en-US" altLang="zh-CN" i="1">
                                <a:latin typeface="Cambria Math" panose="02040503050406030204" pitchFamily="18" charset="0"/>
                              </a:rPr>
                              <m:t>𝑚</m:t>
                            </m:r>
                          </m:e>
                        </m:d>
                      </m:e>
                    </m:func>
                    <m:r>
                      <a:rPr lang="en-US" altLang="zh-CN">
                        <a:latin typeface="Cambria Math" panose="02040503050406030204" pitchFamily="18" charset="0"/>
                      </a:rPr>
                      <m:t>=1</m:t>
                    </m:r>
                  </m:oMath>
                </a14:m>
                <a:r>
                  <a:rPr lang="zh-CN" altLang="zh-CN" dirty="0"/>
                  <a:t>知，有整数</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1</m:t>
                        </m:r>
                      </m:sub>
                    </m:sSub>
                  </m:oMath>
                </a14:m>
                <a:r>
                  <a:rPr lang="zh-CN" altLang="zh-CN" dirty="0"/>
                  <a:t>和</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2</m:t>
                        </m:r>
                      </m:sub>
                    </m:sSub>
                  </m:oMath>
                </a14:m>
                <a:r>
                  <a:rPr lang="zh-CN" altLang="zh-CN" dirty="0"/>
                  <a:t>使</a:t>
                </a:r>
              </a:p>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𝑚</m:t>
                      </m:r>
                      <m:r>
                        <a:rPr lang="en-US" altLang="zh-CN">
                          <a:latin typeface="Cambria Math" panose="02040503050406030204" pitchFamily="18" charset="0"/>
                        </a:rPr>
                        <m:t>=1</m:t>
                      </m:r>
                    </m:oMath>
                  </m:oMathPara>
                </a14:m>
                <a:endParaRPr lang="zh-CN" altLang="zh-CN" dirty="0"/>
              </a:p>
              <a:p>
                <a:r>
                  <a:rPr lang="zh-CN" altLang="zh-CN" dirty="0"/>
                  <a:t>即有：</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𝑚</m:t>
                    </m:r>
                    <m:r>
                      <a:rPr lang="en-US" altLang="zh-CN">
                        <a:latin typeface="Cambria Math" panose="02040503050406030204" pitchFamily="18" charset="0"/>
                      </a:rPr>
                      <m:t>≡1(</m:t>
                    </m:r>
                    <m:r>
                      <m:rPr>
                        <m:nor/>
                      </m:rPr>
                      <a:rPr lang="en-US" altLang="zh-CN"/>
                      <m:t>mod</m:t>
                    </m:r>
                    <m:r>
                      <a:rPr lang="en-US" altLang="zh-CN">
                        <a:latin typeface="Cambria Math" panose="02040503050406030204" pitchFamily="18" charset="0"/>
                      </a:rPr>
                      <m:t> </m:t>
                    </m:r>
                    <m:r>
                      <a:rPr lang="en-US" altLang="zh-CN" i="1">
                        <a:latin typeface="Cambria Math" panose="02040503050406030204" pitchFamily="18" charset="0"/>
                      </a:rPr>
                      <m:t>𝑚</m:t>
                    </m:r>
                    <m:r>
                      <a:rPr lang="en-US" altLang="zh-CN">
                        <a:latin typeface="Cambria Math" panose="02040503050406030204" pitchFamily="18" charset="0"/>
                      </a:rPr>
                      <m:t>)</m:t>
                    </m:r>
                  </m:oMath>
                </a14:m>
                <a:r>
                  <a:rPr lang="zh-CN" altLang="zh-CN" dirty="0"/>
                  <a:t>。由于</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𝑚</m:t>
                    </m:r>
                    <m:r>
                      <a:rPr lang="en-US" altLang="zh-CN" i="1">
                        <a:latin typeface="Cambria Math" panose="02040503050406030204" pitchFamily="18" charset="0"/>
                      </a:rPr>
                      <m:t>=0</m:t>
                    </m:r>
                    <m:r>
                      <a:rPr lang="en-US" altLang="zh-CN">
                        <a:latin typeface="Cambria Math" panose="02040503050406030204" pitchFamily="18" charset="0"/>
                      </a:rPr>
                      <m:t>(</m:t>
                    </m:r>
                    <m:r>
                      <m:rPr>
                        <m:nor/>
                      </m:rPr>
                      <a:rPr lang="en-US" altLang="zh-CN"/>
                      <m:t>mod</m:t>
                    </m:r>
                    <m:r>
                      <a:rPr lang="en-US" altLang="zh-CN">
                        <a:latin typeface="Cambria Math" panose="02040503050406030204" pitchFamily="18" charset="0"/>
                      </a:rPr>
                      <m:t> </m:t>
                    </m:r>
                    <m:r>
                      <a:rPr lang="en-US" altLang="zh-CN" i="1">
                        <a:latin typeface="Cambria Math" panose="02040503050406030204" pitchFamily="18" charset="0"/>
                      </a:rPr>
                      <m:t>𝑚</m:t>
                    </m:r>
                    <m:r>
                      <a:rPr lang="en-US" altLang="zh-CN">
                        <a:latin typeface="Cambria Math" panose="02040503050406030204" pitchFamily="18" charset="0"/>
                      </a:rPr>
                      <m:t>)</m:t>
                    </m:r>
                  </m:oMath>
                </a14:m>
                <a:r>
                  <a:rPr lang="zh-CN" altLang="zh-CN" dirty="0"/>
                  <a:t>，故有：</a:t>
                </a:r>
              </a:p>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a:latin typeface="Cambria Math" panose="02040503050406030204" pitchFamily="18" charset="0"/>
                        </a:rPr>
                        <m:t>≡1(</m:t>
                      </m:r>
                      <m:r>
                        <m:rPr>
                          <m:nor/>
                        </m:rPr>
                        <a:rPr lang="en-US" altLang="zh-CN"/>
                        <m:t>mod</m:t>
                      </m:r>
                      <m:r>
                        <a:rPr lang="en-US" altLang="zh-CN">
                          <a:latin typeface="Cambria Math" panose="02040503050406030204" pitchFamily="18" charset="0"/>
                        </a:rPr>
                        <m:t> </m:t>
                      </m:r>
                      <m:r>
                        <a:rPr lang="en-US" altLang="zh-CN" i="1">
                          <a:latin typeface="Cambria Math" panose="02040503050406030204" pitchFamily="18" charset="0"/>
                        </a:rPr>
                        <m:t>𝑚</m:t>
                      </m:r>
                      <m:r>
                        <a:rPr lang="en-US" altLang="zh-CN">
                          <a:latin typeface="Cambria Math" panose="02040503050406030204" pitchFamily="18" charset="0"/>
                        </a:rPr>
                        <m:t>)</m:t>
                      </m:r>
                    </m:oMath>
                  </m:oMathPara>
                </a14:m>
                <a:endParaRPr lang="zh-CN" altLang="zh-CN" dirty="0"/>
              </a:p>
              <a:p>
                <a:r>
                  <a:rPr lang="zh-CN" altLang="zh-CN" dirty="0"/>
                  <a:t>因此，</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1</m:t>
                        </m:r>
                      </m:sub>
                    </m:sSub>
                  </m:oMath>
                </a14:m>
                <a:r>
                  <a:rPr lang="zh-CN" altLang="zh-CN" dirty="0"/>
                  <a:t>为</a:t>
                </a:r>
                <a:r>
                  <a:rPr lang="en-US" altLang="zh-CN" i="1" dirty="0"/>
                  <a:t>a</a:t>
                </a:r>
                <a:r>
                  <a:rPr lang="zh-CN" altLang="zh-CN" dirty="0"/>
                  <a:t>的模</a:t>
                </a:r>
                <a:r>
                  <a:rPr lang="en-US" altLang="zh-CN" i="1" dirty="0"/>
                  <a:t>m</a:t>
                </a:r>
                <a:r>
                  <a:rPr lang="zh-CN" altLang="zh-CN" dirty="0"/>
                  <a:t>的逆。</a:t>
                </a:r>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1347082" y="2024063"/>
                <a:ext cx="7200800" cy="2677656"/>
              </a:xfrm>
              <a:prstGeom prst="rect">
                <a:avLst/>
              </a:prstGeom>
              <a:blipFill rotWithShape="0">
                <a:blip r:embed="rId4"/>
                <a:stretch>
                  <a:fillRect l="-1355" t="-1822" b="-3645"/>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4856E890-AE46-4F66-B6A9-43B646D02829}" type="slidenum">
              <a:rPr lang="en-US" altLang="zh-CN"/>
              <a:pPr>
                <a:defRPr/>
              </a:pPr>
              <a:t>88</a:t>
            </a:fld>
            <a:endParaRPr lang="en-US" altLang="zh-CN" dirty="0"/>
          </a:p>
        </p:txBody>
      </p:sp>
      <p:sp>
        <p:nvSpPr>
          <p:cNvPr id="95238" name="Text Box 2"/>
          <p:cNvSpPr txBox="1">
            <a:spLocks noChangeArrowheads="1"/>
          </p:cNvSpPr>
          <p:nvPr/>
        </p:nvSpPr>
        <p:spPr bwMode="auto">
          <a:xfrm>
            <a:off x="1403350" y="765175"/>
            <a:ext cx="62642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例题</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9524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636713" y="1988840"/>
                <a:ext cx="6480720" cy="3416320"/>
              </a:xfrm>
              <a:prstGeom prst="rect">
                <a:avLst/>
              </a:prstGeom>
              <a:noFill/>
            </p:spPr>
            <p:txBody>
              <a:bodyPr wrap="square" rtlCol="0">
                <a:spAutoFit/>
              </a:bodyPr>
              <a:lstStyle/>
              <a:p>
                <a:r>
                  <a:rPr lang="zh-CN" altLang="zh-CN" dirty="0" smtClean="0"/>
                  <a:t>【例</a:t>
                </a:r>
                <a:r>
                  <a:rPr lang="en-US" altLang="zh-CN" dirty="0" smtClean="0"/>
                  <a:t>1</a:t>
                </a:r>
                <a:r>
                  <a:rPr lang="zh-CN" altLang="zh-CN" dirty="0" smtClean="0"/>
                  <a:t>】 </a:t>
                </a:r>
                <a:r>
                  <a:rPr lang="zh-CN" altLang="zh-CN" dirty="0"/>
                  <a:t>线性同余</a:t>
                </a:r>
                <a14:m>
                  <m:oMath xmlns:m="http://schemas.openxmlformats.org/officeDocument/2006/math">
                    <m:r>
                      <a:rPr lang="en-US" altLang="zh-CN">
                        <a:latin typeface="Cambria Math" panose="02040503050406030204" pitchFamily="18" charset="0"/>
                      </a:rPr>
                      <m:t>3</m:t>
                    </m:r>
                    <m:r>
                      <a:rPr lang="en-US" altLang="zh-CN" i="1">
                        <a:latin typeface="Cambria Math" panose="02040503050406030204" pitchFamily="18" charset="0"/>
                      </a:rPr>
                      <m:t>𝑥</m:t>
                    </m:r>
                    <m:r>
                      <a:rPr lang="en-US" altLang="zh-CN">
                        <a:latin typeface="Cambria Math" panose="02040503050406030204" pitchFamily="18" charset="0"/>
                      </a:rPr>
                      <m:t>≡4(</m:t>
                    </m:r>
                    <m:r>
                      <m:rPr>
                        <m:nor/>
                      </m:rPr>
                      <a:rPr lang="en-US" altLang="zh-CN"/>
                      <m:t>mod</m:t>
                    </m:r>
                    <m:r>
                      <a:rPr lang="en-US" altLang="zh-CN">
                        <a:latin typeface="Cambria Math" panose="02040503050406030204" pitchFamily="18" charset="0"/>
                      </a:rPr>
                      <m:t> 7)</m:t>
                    </m:r>
                  </m:oMath>
                </a14:m>
                <a:r>
                  <a:rPr lang="zh-CN" altLang="zh-CN" dirty="0"/>
                  <a:t>的解是什么？</a:t>
                </a:r>
              </a:p>
              <a:p>
                <a:r>
                  <a:rPr lang="zh-CN" altLang="zh-CN" dirty="0"/>
                  <a:t>【解】从上一例题知道</a:t>
                </a:r>
                <a14:m>
                  <m:oMath xmlns:m="http://schemas.openxmlformats.org/officeDocument/2006/math">
                    <m:r>
                      <a:rPr lang="en-US" altLang="zh-CN" i="1">
                        <a:latin typeface="Cambria Math" panose="02040503050406030204" pitchFamily="18" charset="0"/>
                      </a:rPr>
                      <m:t>−</m:t>
                    </m:r>
                    <m:r>
                      <a:rPr lang="en-US" altLang="zh-CN">
                        <a:latin typeface="Cambria Math" panose="02040503050406030204" pitchFamily="18" charset="0"/>
                      </a:rPr>
                      <m:t>2</m:t>
                    </m:r>
                    <m:r>
                      <a:rPr lang="zh-CN" altLang="zh-CN">
                        <a:latin typeface="Cambria Math" panose="02040503050406030204" pitchFamily="18" charset="0"/>
                      </a:rPr>
                      <m:t>是</m:t>
                    </m:r>
                    <m:r>
                      <a:rPr lang="en-US" altLang="zh-CN">
                        <a:latin typeface="Cambria Math" panose="02040503050406030204" pitchFamily="18" charset="0"/>
                      </a:rPr>
                      <m:t>3</m:t>
                    </m:r>
                    <m:r>
                      <a:rPr lang="zh-CN" altLang="zh-CN">
                        <a:latin typeface="Cambria Math" panose="02040503050406030204" pitchFamily="18" charset="0"/>
                      </a:rPr>
                      <m:t>模</m:t>
                    </m:r>
                    <m:r>
                      <a:rPr lang="en-US" altLang="zh-CN">
                        <a:latin typeface="Cambria Math" panose="02040503050406030204" pitchFamily="18" charset="0"/>
                      </a:rPr>
                      <m:t>7</m:t>
                    </m:r>
                  </m:oMath>
                </a14:m>
                <a:r>
                  <a:rPr lang="zh-CN" altLang="zh-CN" dirty="0"/>
                  <a:t>的逆。在同余式两边同乘以</a:t>
                </a:r>
                <a14:m>
                  <m:oMath xmlns:m="http://schemas.openxmlformats.org/officeDocument/2006/math">
                    <m:r>
                      <a:rPr lang="en-US" altLang="zh-CN" i="1">
                        <a:latin typeface="Cambria Math" panose="02040503050406030204" pitchFamily="18" charset="0"/>
                      </a:rPr>
                      <m:t>−</m:t>
                    </m:r>
                    <m:r>
                      <a:rPr lang="en-US" altLang="zh-CN">
                        <a:latin typeface="Cambria Math" panose="02040503050406030204" pitchFamily="18" charset="0"/>
                      </a:rPr>
                      <m:t>2</m:t>
                    </m:r>
                  </m:oMath>
                </a14:m>
                <a:r>
                  <a:rPr lang="zh-CN" altLang="zh-CN" dirty="0"/>
                  <a:t>得</a:t>
                </a: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en-US" altLang="zh-CN">
                          <a:latin typeface="Cambria Math" panose="02040503050406030204" pitchFamily="18" charset="0"/>
                        </a:rPr>
                        <m:t>2∙3</m:t>
                      </m:r>
                      <m:r>
                        <a:rPr lang="en-US" altLang="zh-CN" i="1">
                          <a:latin typeface="Cambria Math" panose="02040503050406030204" pitchFamily="18" charset="0"/>
                        </a:rPr>
                        <m:t>𝑥</m:t>
                      </m:r>
                      <m:r>
                        <a:rPr lang="en-US" altLang="zh-CN">
                          <a:latin typeface="Cambria Math" panose="02040503050406030204" pitchFamily="18" charset="0"/>
                        </a:rPr>
                        <m:t>≡</m:t>
                      </m:r>
                      <m:r>
                        <a:rPr lang="en-US" altLang="zh-CN" i="1">
                          <a:latin typeface="Cambria Math" panose="02040503050406030204" pitchFamily="18" charset="0"/>
                        </a:rPr>
                        <m:t>−</m:t>
                      </m:r>
                      <m:r>
                        <a:rPr lang="en-US" altLang="zh-CN">
                          <a:latin typeface="Cambria Math" panose="02040503050406030204" pitchFamily="18" charset="0"/>
                        </a:rPr>
                        <m:t>2∙4(</m:t>
                      </m:r>
                      <m:r>
                        <m:rPr>
                          <m:nor/>
                        </m:rPr>
                        <a:rPr lang="en-US" altLang="zh-CN"/>
                        <m:t>mod</m:t>
                      </m:r>
                      <m:r>
                        <a:rPr lang="en-US" altLang="zh-CN">
                          <a:latin typeface="Cambria Math" panose="02040503050406030204" pitchFamily="18" charset="0"/>
                        </a:rPr>
                        <m:t> 7)</m:t>
                      </m:r>
                    </m:oMath>
                  </m:oMathPara>
                </a14:m>
                <a:endParaRPr lang="zh-CN" altLang="zh-CN" dirty="0"/>
              </a:p>
              <a:p>
                <a:r>
                  <a:rPr lang="zh-CN" altLang="zh-CN" dirty="0"/>
                  <a:t>因为</a:t>
                </a:r>
                <a14:m>
                  <m:oMath xmlns:m="http://schemas.openxmlformats.org/officeDocument/2006/math">
                    <m:r>
                      <a:rPr lang="en-US" altLang="zh-CN" i="1">
                        <a:latin typeface="Cambria Math" panose="02040503050406030204" pitchFamily="18" charset="0"/>
                      </a:rPr>
                      <m:t>−</m:t>
                    </m:r>
                    <m:r>
                      <a:rPr lang="en-US" altLang="zh-CN">
                        <a:latin typeface="Cambria Math" panose="02040503050406030204" pitchFamily="18" charset="0"/>
                      </a:rPr>
                      <m:t>6≡1(</m:t>
                    </m:r>
                    <m:r>
                      <a:rPr lang="en-US" altLang="zh-CN" i="1">
                        <a:latin typeface="Cambria Math" panose="02040503050406030204" pitchFamily="18" charset="0"/>
                      </a:rPr>
                      <m:t>𝑚𝑜𝑑</m:t>
                    </m:r>
                    <m:r>
                      <a:rPr lang="en-US" altLang="zh-CN">
                        <a:latin typeface="Cambria Math" panose="02040503050406030204" pitchFamily="18" charset="0"/>
                      </a:rPr>
                      <m:t> 7)</m:t>
                    </m:r>
                  </m:oMath>
                </a14:m>
                <a:r>
                  <a:rPr lang="zh-CN" altLang="zh-CN" dirty="0"/>
                  <a:t>且</a:t>
                </a:r>
                <a14:m>
                  <m:oMath xmlns:m="http://schemas.openxmlformats.org/officeDocument/2006/math">
                    <m:r>
                      <a:rPr lang="en-US" altLang="zh-CN" i="1">
                        <a:latin typeface="Cambria Math" panose="02040503050406030204" pitchFamily="18" charset="0"/>
                      </a:rPr>
                      <m:t>−</m:t>
                    </m:r>
                    <m:r>
                      <a:rPr lang="en-US" altLang="zh-CN">
                        <a:latin typeface="Cambria Math" panose="02040503050406030204" pitchFamily="18" charset="0"/>
                      </a:rPr>
                      <m:t>8≡6(</m:t>
                    </m:r>
                    <m:r>
                      <a:rPr lang="en-US" altLang="zh-CN" i="1">
                        <a:latin typeface="Cambria Math" panose="02040503050406030204" pitchFamily="18" charset="0"/>
                      </a:rPr>
                      <m:t>𝑚𝑜𝑑</m:t>
                    </m:r>
                    <m:r>
                      <a:rPr lang="en-US" altLang="zh-CN">
                        <a:latin typeface="Cambria Math" panose="02040503050406030204" pitchFamily="18" charset="0"/>
                      </a:rPr>
                      <m:t> 7)</m:t>
                    </m:r>
                  </m:oMath>
                </a14:m>
                <a:r>
                  <a:rPr lang="zh-CN" altLang="zh-CN" dirty="0"/>
                  <a:t>，所以若</a:t>
                </a:r>
                <a:r>
                  <a:rPr lang="en-US" altLang="zh-CN" i="1" dirty="0"/>
                  <a:t>x</a:t>
                </a:r>
                <a:r>
                  <a:rPr lang="zh-CN" altLang="zh-CN" dirty="0"/>
                  <a:t>是解，必有：</a:t>
                </a: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𝑥</m:t>
                      </m:r>
                      <m:r>
                        <a:rPr lang="en-US" altLang="zh-CN">
                          <a:latin typeface="Cambria Math" panose="02040503050406030204" pitchFamily="18" charset="0"/>
                        </a:rPr>
                        <m:t>≡</m:t>
                      </m:r>
                      <m:r>
                        <a:rPr lang="en-US" altLang="zh-CN" i="1">
                          <a:latin typeface="Cambria Math" panose="02040503050406030204" pitchFamily="18" charset="0"/>
                        </a:rPr>
                        <m:t>−</m:t>
                      </m:r>
                      <m:r>
                        <a:rPr lang="en-US" altLang="zh-CN">
                          <a:latin typeface="Cambria Math" panose="02040503050406030204" pitchFamily="18" charset="0"/>
                        </a:rPr>
                        <m:t>8≡6(</m:t>
                      </m:r>
                      <m:r>
                        <a:rPr lang="en-US" altLang="zh-CN" i="1">
                          <a:latin typeface="Cambria Math" panose="02040503050406030204" pitchFamily="18" charset="0"/>
                        </a:rPr>
                        <m:t>𝑚𝑜𝑑</m:t>
                      </m:r>
                      <m:r>
                        <a:rPr lang="en-US" altLang="zh-CN">
                          <a:latin typeface="Cambria Math" panose="02040503050406030204" pitchFamily="18" charset="0"/>
                        </a:rPr>
                        <m:t> 7)</m:t>
                      </m:r>
                    </m:oMath>
                  </m:oMathPara>
                </a14:m>
                <a:endParaRPr lang="zh-CN" altLang="zh-CN" dirty="0"/>
              </a:p>
              <a:p>
                <a:r>
                  <a:rPr lang="zh-CN" altLang="zh-CN" dirty="0"/>
                  <a:t>故有：</a:t>
                </a:r>
              </a:p>
              <a:p>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3</m:t>
                      </m:r>
                      <m:r>
                        <a:rPr lang="en-US" altLang="zh-CN" i="1">
                          <a:latin typeface="Cambria Math" panose="02040503050406030204" pitchFamily="18" charset="0"/>
                        </a:rPr>
                        <m:t>𝑥</m:t>
                      </m:r>
                      <m:r>
                        <a:rPr lang="en-US" altLang="zh-CN">
                          <a:latin typeface="Cambria Math" panose="02040503050406030204" pitchFamily="18" charset="0"/>
                        </a:rPr>
                        <m:t>≡3∙6=18≡4(</m:t>
                      </m:r>
                      <m:r>
                        <m:rPr>
                          <m:nor/>
                        </m:rPr>
                        <a:rPr lang="en-US" altLang="zh-CN"/>
                        <m:t>mod</m:t>
                      </m:r>
                      <m:r>
                        <a:rPr lang="en-US" altLang="zh-CN">
                          <a:latin typeface="Cambria Math" panose="02040503050406030204" pitchFamily="18" charset="0"/>
                        </a:rPr>
                        <m:t> 7)</m:t>
                      </m:r>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1636713" y="1988840"/>
                <a:ext cx="6480720" cy="3416320"/>
              </a:xfrm>
              <a:prstGeom prst="rect">
                <a:avLst/>
              </a:prstGeom>
              <a:blipFill rotWithShape="0">
                <a:blip r:embed="rId4"/>
                <a:stretch>
                  <a:fillRect l="-1410" t="-1961" r="-188" b="-1783"/>
                </a:stretch>
              </a:blipFill>
            </p:spPr>
            <p:txBody>
              <a:bodyPr/>
              <a:lstStyle/>
              <a:p>
                <a:r>
                  <a:rPr lang="zh-CN" altLang="en-US">
                    <a:noFill/>
                  </a:rPr>
                  <a:t> </a:t>
                </a:r>
              </a:p>
            </p:txBody>
          </p:sp>
        </mc:Fallback>
      </mc:AlternateContent>
      <p:sp>
        <p:nvSpPr>
          <p:cNvPr id="3" name="圆角右箭头 2"/>
          <p:cNvSpPr/>
          <p:nvPr/>
        </p:nvSpPr>
        <p:spPr bwMode="auto">
          <a:xfrm>
            <a:off x="971600" y="3212976"/>
            <a:ext cx="2016224" cy="1152128"/>
          </a:xfrm>
          <a:prstGeom prst="bentArrow">
            <a:avLst>
              <a:gd name="adj1" fmla="val 10070"/>
              <a:gd name="adj2" fmla="val 11248"/>
              <a:gd name="adj3" fmla="val 24214"/>
              <a:gd name="adj4" fmla="val 43750"/>
            </a:avLst>
          </a:prstGeom>
          <a:solidFill>
            <a:srgbClr val="3366FF"/>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云形 3"/>
          <p:cNvSpPr/>
          <p:nvPr/>
        </p:nvSpPr>
        <p:spPr bwMode="auto">
          <a:xfrm>
            <a:off x="251520" y="4437111"/>
            <a:ext cx="1385193" cy="754335"/>
          </a:xfrm>
          <a:prstGeom prst="cloud">
            <a:avLst/>
          </a:prstGeom>
          <a:solidFill>
            <a:schemeClr val="bg2">
              <a:lumMod val="60000"/>
              <a:lumOff val="4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5" name="文本框 4"/>
              <p:cNvSpPr txBox="1"/>
              <p:nvPr/>
            </p:nvSpPr>
            <p:spPr>
              <a:xfrm>
                <a:off x="395536" y="4452783"/>
                <a:ext cx="1241177" cy="738664"/>
              </a:xfrm>
              <a:prstGeom prst="rect">
                <a:avLst/>
              </a:prstGeom>
              <a:noFill/>
            </p:spPr>
            <p:txBody>
              <a:bodyPr wrap="square" rtlCol="0">
                <a:spAutoFit/>
              </a:bodyPr>
              <a:lstStyle/>
              <a:p>
                <a:r>
                  <a:rPr lang="zh-CN" altLang="zh-CN" sz="1400" dirty="0" smtClean="0">
                    <a:solidFill>
                      <a:srgbClr val="6699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在线性同余式两边同乘以</a:t>
                </a:r>
                <a14:m>
                  <m:oMath xmlns:m="http://schemas.openxmlformats.org/officeDocument/2006/math">
                    <m:acc>
                      <m:accPr>
                        <m:chr m:val="̅"/>
                        <m:ctrlPr>
                          <a:rPr lang="zh-CN" altLang="zh-CN" sz="1400" i="1">
                            <a:solidFill>
                              <a:srgbClr val="669900"/>
                            </a:solidFill>
                            <a:effectLst>
                              <a:outerShdw blurRad="38100" dist="38100" dir="2700000" algn="tl">
                                <a:srgbClr val="000000">
                                  <a:alpha val="43137"/>
                                </a:srgbClr>
                              </a:outerShdw>
                            </a:effectLst>
                            <a:latin typeface="Cambria Math" panose="02040503050406030204" pitchFamily="18" charset="0"/>
                          </a:rPr>
                        </m:ctrlPr>
                      </m:accPr>
                      <m:e>
                        <m:r>
                          <a:rPr lang="en-US" altLang="zh-CN" sz="1400" i="1">
                            <a:solidFill>
                              <a:srgbClr val="669900"/>
                            </a:solidFill>
                            <a:effectLst>
                              <a:outerShdw blurRad="38100" dist="38100" dir="2700000" algn="tl">
                                <a:srgbClr val="000000">
                                  <a:alpha val="43137"/>
                                </a:srgbClr>
                              </a:outerShdw>
                            </a:effectLst>
                            <a:latin typeface="Cambria Math" panose="02040503050406030204" pitchFamily="18" charset="0"/>
                          </a:rPr>
                          <m:t>𝑎</m:t>
                        </m:r>
                      </m:e>
                    </m:acc>
                  </m:oMath>
                </a14:m>
                <a:endParaRPr lang="zh-CN" altLang="en-US" sz="1400" dirty="0">
                  <a:latin typeface="方正舒体" panose="02010601030101010101" pitchFamily="2" charset="-122"/>
                  <a:ea typeface="方正舒体" panose="02010601030101010101" pitchFamily="2"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95536" y="4452783"/>
                <a:ext cx="1241177" cy="738664"/>
              </a:xfrm>
              <a:prstGeom prst="rect">
                <a:avLst/>
              </a:prstGeom>
              <a:blipFill rotWithShape="0">
                <a:blip r:embed="rId5"/>
                <a:stretch>
                  <a:fillRect l="-1970" t="-1639" b="-9836"/>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12" name="页脚占位符 4"/>
          <p:cNvSpPr>
            <a:spLocks noGrp="1"/>
          </p:cNvSpPr>
          <p:nvPr>
            <p:ph type="ftr" sz="quarter" idx="11"/>
          </p:nvPr>
        </p:nvSpPr>
        <p:spPr/>
        <p:txBody>
          <a:bodyPr/>
          <a:lstStyle/>
          <a:p>
            <a:pPr>
              <a:defRPr/>
            </a:pPr>
            <a:r>
              <a:rPr lang="zh-CN" altLang="en-US"/>
              <a:t>计算机应用技术研究所</a:t>
            </a:r>
          </a:p>
        </p:txBody>
      </p:sp>
      <p:sp>
        <p:nvSpPr>
          <p:cNvPr id="13" name="灯片编号占位符 5"/>
          <p:cNvSpPr>
            <a:spLocks noGrp="1"/>
          </p:cNvSpPr>
          <p:nvPr>
            <p:ph type="sldNum" sz="quarter" idx="12"/>
          </p:nvPr>
        </p:nvSpPr>
        <p:spPr/>
        <p:txBody>
          <a:bodyPr/>
          <a:lstStyle/>
          <a:p>
            <a:pPr>
              <a:defRPr/>
            </a:pPr>
            <a:fld id="{0308724C-72A9-49C1-8BE9-BFD8F5989E5E}" type="slidenum">
              <a:rPr lang="en-US" altLang="zh-CN"/>
              <a:pPr>
                <a:defRPr/>
              </a:pPr>
              <a:t>89</a:t>
            </a:fld>
            <a:endParaRPr lang="en-US" altLang="zh-CN"/>
          </a:p>
        </p:txBody>
      </p:sp>
      <p:sp>
        <p:nvSpPr>
          <p:cNvPr id="96268" name="Text Box 2"/>
          <p:cNvSpPr txBox="1">
            <a:spLocks noChangeArrowheads="1"/>
          </p:cNvSpPr>
          <p:nvPr/>
        </p:nvSpPr>
        <p:spPr bwMode="auto">
          <a:xfrm>
            <a:off x="1404938" y="876300"/>
            <a:ext cx="6262687"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例题</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9626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1083742" y="2210907"/>
                <a:ext cx="7444308" cy="3600986"/>
              </a:xfrm>
              <a:prstGeom prst="rect">
                <a:avLst/>
              </a:prstGeom>
              <a:noFill/>
            </p:spPr>
            <p:txBody>
              <a:bodyPr wrap="square" rtlCol="0">
                <a:spAutoFit/>
              </a:bodyPr>
              <a:lstStyle/>
              <a:p>
                <a:r>
                  <a:rPr lang="zh-CN" altLang="zh-CN" dirty="0" smtClean="0"/>
                  <a:t>【例</a:t>
                </a:r>
                <a:r>
                  <a:rPr lang="en-US" altLang="zh-CN" dirty="0" smtClean="0"/>
                  <a:t>2</a:t>
                </a:r>
                <a:r>
                  <a:rPr lang="zh-CN" altLang="zh-CN" dirty="0" smtClean="0"/>
                  <a:t>】</a:t>
                </a:r>
                <a:r>
                  <a:rPr lang="zh-CN" altLang="zh-CN" dirty="0"/>
                  <a:t>利用模的逆求同余方程</a:t>
                </a:r>
                <a14:m>
                  <m:oMath xmlns:m="http://schemas.openxmlformats.org/officeDocument/2006/math">
                    <m:r>
                      <a:rPr lang="en-US" altLang="zh-CN">
                        <a:latin typeface="Cambria Math" panose="02040503050406030204" pitchFamily="18" charset="0"/>
                      </a:rPr>
                      <m:t>7</m:t>
                    </m:r>
                    <m:r>
                      <a:rPr lang="en-US" altLang="zh-CN" i="1">
                        <a:latin typeface="Cambria Math" panose="02040503050406030204" pitchFamily="18" charset="0"/>
                      </a:rPr>
                      <m:t>𝑥</m:t>
                    </m:r>
                    <m:r>
                      <a:rPr lang="en-US" altLang="zh-CN">
                        <a:latin typeface="Cambria Math" panose="02040503050406030204" pitchFamily="18" charset="0"/>
                      </a:rPr>
                      <m:t>≡22(</m:t>
                    </m:r>
                    <m:r>
                      <m:rPr>
                        <m:nor/>
                      </m:rPr>
                      <a:rPr lang="en-US" altLang="zh-CN"/>
                      <m:t>mod</m:t>
                    </m:r>
                    <m:r>
                      <a:rPr lang="en-US" altLang="zh-CN">
                        <a:latin typeface="Cambria Math" panose="02040503050406030204" pitchFamily="18" charset="0"/>
                      </a:rPr>
                      <m:t>31)</m:t>
                    </m:r>
                  </m:oMath>
                </a14:m>
                <a:r>
                  <a:rPr lang="zh-CN" altLang="zh-CN" dirty="0"/>
                  <a:t>的解。</a:t>
                </a:r>
              </a:p>
              <a:p>
                <a:pPr>
                  <a:lnSpc>
                    <a:spcPct val="150000"/>
                  </a:lnSpc>
                </a:pPr>
                <a:r>
                  <a:rPr lang="zh-CN" altLang="zh-CN" dirty="0"/>
                  <a:t>【解】因为</a:t>
                </a:r>
                <a14:m>
                  <m:oMath xmlns:m="http://schemas.openxmlformats.org/officeDocument/2006/math">
                    <m:d>
                      <m:dPr>
                        <m:begChr m:val="（"/>
                        <m:endChr m:val="）"/>
                        <m:ctrlPr>
                          <a:rPr lang="zh-CN" altLang="zh-CN" i="1">
                            <a:latin typeface="Cambria Math" panose="02040503050406030204" pitchFamily="18" charset="0"/>
                          </a:rPr>
                        </m:ctrlPr>
                      </m:dPr>
                      <m:e>
                        <m:r>
                          <a:rPr lang="en-US" altLang="zh-CN">
                            <a:latin typeface="Cambria Math" panose="02040503050406030204" pitchFamily="18" charset="0"/>
                          </a:rPr>
                          <m:t>7, 31</m:t>
                        </m:r>
                      </m:e>
                    </m:d>
                    <m:r>
                      <a:rPr lang="en-US" altLang="zh-CN">
                        <a:latin typeface="Cambria Math" panose="02040503050406030204" pitchFamily="18" charset="0"/>
                      </a:rPr>
                      <m:t>=1</m:t>
                    </m:r>
                  </m:oMath>
                </a14:m>
                <a:r>
                  <a:rPr lang="zh-CN" altLang="zh-CN" dirty="0"/>
                  <a:t>，故只有一个不同余的解。由</a:t>
                </a:r>
                <a14:m>
                  <m:oMath xmlns:m="http://schemas.openxmlformats.org/officeDocument/2006/math">
                    <m:r>
                      <a:rPr lang="en-US" altLang="zh-CN" i="1">
                        <a:latin typeface="Cambria Math" panose="02040503050406030204" pitchFamily="18" charset="0"/>
                      </a:rPr>
                      <m:t>7∗9</m:t>
                    </m:r>
                    <m:r>
                      <a:rPr lang="en-US" altLang="zh-CN">
                        <a:latin typeface="Cambria Math" panose="02040503050406030204" pitchFamily="18" charset="0"/>
                      </a:rPr>
                      <m:t>≡1(</m:t>
                    </m:r>
                    <m:r>
                      <m:rPr>
                        <m:nor/>
                      </m:rPr>
                      <a:rPr lang="en-US" altLang="zh-CN"/>
                      <m:t>mod</m:t>
                    </m:r>
                    <m:r>
                      <a:rPr lang="en-US" altLang="zh-CN">
                        <a:latin typeface="Cambria Math" panose="02040503050406030204" pitchFamily="18" charset="0"/>
                      </a:rPr>
                      <m:t> 31)</m:t>
                    </m:r>
                  </m:oMath>
                </a14:m>
                <a:r>
                  <a:rPr lang="zh-CN" altLang="zh-CN" dirty="0"/>
                  <a:t>知</a:t>
                </a:r>
                <a:r>
                  <a:rPr lang="en-US" altLang="zh-CN" dirty="0"/>
                  <a:t>9</a:t>
                </a:r>
                <a:r>
                  <a:rPr lang="zh-CN" altLang="zh-CN" dirty="0"/>
                  <a:t>是</a:t>
                </a:r>
                <a:r>
                  <a:rPr lang="en-US" altLang="zh-CN" dirty="0"/>
                  <a:t>7</a:t>
                </a:r>
                <a:r>
                  <a:rPr lang="zh-CN" altLang="zh-CN" dirty="0"/>
                  <a:t>的模</a:t>
                </a:r>
                <a:r>
                  <a:rPr lang="en-US" altLang="zh-CN" dirty="0"/>
                  <a:t>31</a:t>
                </a:r>
                <a:r>
                  <a:rPr lang="zh-CN" altLang="zh-CN" dirty="0"/>
                  <a:t>的逆。在</a:t>
                </a:r>
                <a14:m>
                  <m:oMath xmlns:m="http://schemas.openxmlformats.org/officeDocument/2006/math">
                    <m:r>
                      <a:rPr lang="en-US" altLang="zh-CN" i="1">
                        <a:latin typeface="Cambria Math" panose="02040503050406030204" pitchFamily="18" charset="0"/>
                      </a:rPr>
                      <m:t>7</m:t>
                    </m:r>
                    <m:r>
                      <a:rPr lang="en-US" altLang="zh-CN" i="1">
                        <a:latin typeface="Cambria Math" panose="02040503050406030204" pitchFamily="18" charset="0"/>
                      </a:rPr>
                      <m:t>𝑥</m:t>
                    </m:r>
                    <m:r>
                      <a:rPr lang="en-US" altLang="zh-CN">
                        <a:latin typeface="Cambria Math" panose="02040503050406030204" pitchFamily="18" charset="0"/>
                      </a:rPr>
                      <m:t>≡22(</m:t>
                    </m:r>
                    <m:r>
                      <m:rPr>
                        <m:nor/>
                      </m:rPr>
                      <a:rPr lang="en-US" altLang="zh-CN"/>
                      <m:t>mod</m:t>
                    </m:r>
                    <m:r>
                      <a:rPr lang="en-US" altLang="zh-CN">
                        <a:latin typeface="Cambria Math" panose="02040503050406030204" pitchFamily="18" charset="0"/>
                      </a:rPr>
                      <m:t> 31)</m:t>
                    </m:r>
                  </m:oMath>
                </a14:m>
                <a:r>
                  <a:rPr lang="zh-CN" altLang="zh-CN" dirty="0"/>
                  <a:t>两边乘</a:t>
                </a:r>
                <a:r>
                  <a:rPr lang="en-US" altLang="zh-CN" dirty="0"/>
                  <a:t>9</a:t>
                </a:r>
                <a:r>
                  <a:rPr lang="zh-CN" altLang="zh-CN" dirty="0"/>
                  <a:t>，得到：</a:t>
                </a: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7</m:t>
                      </m:r>
                      <m:r>
                        <a:rPr lang="en-US" altLang="zh-CN">
                          <a:latin typeface="Cambria Math" panose="02040503050406030204" pitchFamily="18" charset="0"/>
                        </a:rPr>
                        <m:t>∙</m:t>
                      </m:r>
                      <m:r>
                        <a:rPr lang="en-US" altLang="zh-CN" i="1">
                          <a:latin typeface="Cambria Math" panose="02040503050406030204" pitchFamily="18" charset="0"/>
                        </a:rPr>
                        <m:t>9</m:t>
                      </m:r>
                      <m:r>
                        <a:rPr lang="en-US" altLang="zh-CN" i="1">
                          <a:latin typeface="Cambria Math" panose="02040503050406030204" pitchFamily="18" charset="0"/>
                        </a:rPr>
                        <m:t>𝑥</m:t>
                      </m:r>
                      <m:r>
                        <a:rPr lang="en-US" altLang="zh-CN">
                          <a:latin typeface="Cambria Math" panose="02040503050406030204" pitchFamily="18" charset="0"/>
                        </a:rPr>
                        <m:t>≡22∙9(</m:t>
                      </m:r>
                      <m:r>
                        <m:rPr>
                          <m:nor/>
                        </m:rPr>
                        <a:rPr lang="en-US" altLang="zh-CN"/>
                        <m:t>mod</m:t>
                      </m:r>
                      <m:r>
                        <a:rPr lang="en-US" altLang="zh-CN">
                          <a:latin typeface="Cambria Math" panose="02040503050406030204" pitchFamily="18" charset="0"/>
                        </a:rPr>
                        <m:t> 31)</m:t>
                      </m:r>
                    </m:oMath>
                  </m:oMathPara>
                </a14:m>
                <a:endParaRPr lang="zh-CN" altLang="zh-CN" dirty="0"/>
              </a:p>
              <a:p>
                <a:r>
                  <a:rPr lang="zh-CN" altLang="zh-CN" dirty="0"/>
                  <a:t>由于</a:t>
                </a:r>
                <a14:m>
                  <m:oMath xmlns:m="http://schemas.openxmlformats.org/officeDocument/2006/math">
                    <m:r>
                      <a:rPr lang="en-US" altLang="zh-CN" i="1">
                        <a:latin typeface="Cambria Math" panose="02040503050406030204" pitchFamily="18" charset="0"/>
                      </a:rPr>
                      <m:t>7</m:t>
                    </m:r>
                    <m:r>
                      <a:rPr lang="en-US" altLang="zh-CN">
                        <a:latin typeface="Cambria Math" panose="02040503050406030204" pitchFamily="18" charset="0"/>
                      </a:rPr>
                      <m:t>∙</m:t>
                    </m:r>
                    <m:r>
                      <a:rPr lang="en-US" altLang="zh-CN" i="1">
                        <a:latin typeface="Cambria Math" panose="02040503050406030204" pitchFamily="18" charset="0"/>
                      </a:rPr>
                      <m:t>9</m:t>
                    </m:r>
                    <m:r>
                      <a:rPr lang="en-US" altLang="zh-CN">
                        <a:latin typeface="Cambria Math" panose="02040503050406030204" pitchFamily="18" charset="0"/>
                      </a:rPr>
                      <m:t>≡1(</m:t>
                    </m:r>
                    <m:r>
                      <m:rPr>
                        <m:nor/>
                      </m:rPr>
                      <a:rPr lang="en-US" altLang="zh-CN"/>
                      <m:t>mod</m:t>
                    </m:r>
                    <m:r>
                      <a:rPr lang="en-US" altLang="zh-CN">
                        <a:latin typeface="Cambria Math" panose="02040503050406030204" pitchFamily="18" charset="0"/>
                      </a:rPr>
                      <m:t> 31)</m:t>
                    </m:r>
                  </m:oMath>
                </a14:m>
                <a:r>
                  <a:rPr lang="zh-CN" altLang="zh-CN" dirty="0"/>
                  <a:t>，故其唯一不同余解为：</a:t>
                </a: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𝑥</m:t>
                      </m:r>
                      <m:r>
                        <a:rPr lang="en-US" altLang="zh-CN">
                          <a:latin typeface="Cambria Math" panose="02040503050406030204" pitchFamily="18" charset="0"/>
                        </a:rPr>
                        <m:t>≡21</m:t>
                      </m:r>
                      <m:r>
                        <a:rPr lang="en-US" altLang="zh-CN" i="1">
                          <a:latin typeface="Cambria Math" panose="02040503050406030204" pitchFamily="18" charset="0"/>
                        </a:rPr>
                        <m:t>∗</m:t>
                      </m:r>
                      <m:r>
                        <a:rPr lang="en-US" altLang="zh-CN">
                          <a:latin typeface="Cambria Math" panose="02040503050406030204" pitchFamily="18" charset="0"/>
                        </a:rPr>
                        <m:t>9(</m:t>
                      </m:r>
                      <m:r>
                        <m:rPr>
                          <m:nor/>
                        </m:rPr>
                        <a:rPr lang="en-US" altLang="zh-CN"/>
                        <m:t>mod</m:t>
                      </m:r>
                      <m:r>
                        <a:rPr lang="en-US" altLang="zh-CN">
                          <a:latin typeface="Cambria Math" panose="02040503050406030204" pitchFamily="18" charset="0"/>
                        </a:rPr>
                        <m:t> 31)</m:t>
                      </m:r>
                    </m:oMath>
                  </m:oMathPara>
                </a14:m>
                <a:endParaRPr lang="zh-CN" altLang="zh-CN" dirty="0"/>
              </a:p>
              <a:p>
                <a:r>
                  <a:rPr lang="zh-CN" altLang="zh-CN" dirty="0"/>
                  <a:t>因此</a:t>
                </a:r>
                <a14:m>
                  <m:oMath xmlns:m="http://schemas.openxmlformats.org/officeDocument/2006/math">
                    <m:r>
                      <a:rPr lang="en-US" altLang="zh-CN" i="1">
                        <a:latin typeface="Cambria Math" panose="02040503050406030204" pitchFamily="18" charset="0"/>
                      </a:rPr>
                      <m:t>𝑥</m:t>
                    </m:r>
                    <m:r>
                      <a:rPr lang="en-US" altLang="zh-CN">
                        <a:latin typeface="Cambria Math" panose="02040503050406030204" pitchFamily="18" charset="0"/>
                      </a:rPr>
                      <m:t>≡198≡12(</m:t>
                    </m:r>
                    <m:r>
                      <m:rPr>
                        <m:nor/>
                      </m:rPr>
                      <a:rPr lang="en-US" altLang="zh-CN"/>
                      <m:t>mod</m:t>
                    </m:r>
                    <m:r>
                      <a:rPr lang="en-US" altLang="zh-CN">
                        <a:latin typeface="Cambria Math" panose="02040503050406030204" pitchFamily="18" charset="0"/>
                      </a:rPr>
                      <m:t> 31)</m:t>
                    </m:r>
                  </m:oMath>
                </a14:m>
                <a:r>
                  <a:rPr lang="zh-CN" altLang="zh-CN" dirty="0"/>
                  <a:t>为原方程的解。</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1083742" y="2210907"/>
                <a:ext cx="7444308" cy="3600986"/>
              </a:xfrm>
              <a:prstGeom prst="rect">
                <a:avLst/>
              </a:prstGeom>
              <a:blipFill rotWithShape="0">
                <a:blip r:embed="rId4"/>
                <a:stretch>
                  <a:fillRect l="-1310" t="-1864" b="-2542"/>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txBox="1">
            <a:spLocks noGrp="1"/>
          </p:cNvSpPr>
          <p:nvPr/>
        </p:nvSpPr>
        <p:spPr bwMode="auto">
          <a:xfrm>
            <a:off x="684213" y="63817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fld id="{3F629C76-EA6E-4280-AA98-6DA8B1385DB1}" type="datetime1">
              <a:rPr lang="zh-CN" altLang="en-US" sz="1400" b="1">
                <a:latin typeface="+mj-lt"/>
                <a:ea typeface="宋体" panose="02010600030101010101" pitchFamily="2" charset="-122"/>
              </a:rPr>
              <a:pPr eaLnBrk="1" hangingPunct="1">
                <a:defRPr/>
              </a:pPr>
              <a:t>2020/9/7</a:t>
            </a:fld>
            <a:endParaRPr lang="en-US" altLang="zh-CN" sz="1400" b="1">
              <a:latin typeface="+mj-lt"/>
              <a:ea typeface="宋体" panose="02010600030101010101" pitchFamily="2" charset="-122"/>
            </a:endParaRPr>
          </a:p>
        </p:txBody>
      </p:sp>
      <p:sp>
        <p:nvSpPr>
          <p:cNvPr id="11" name="页脚占位符 4"/>
          <p:cNvSpPr txBox="1">
            <a:spLocks noGrp="1"/>
          </p:cNvSpPr>
          <p:nvPr/>
        </p:nvSpPr>
        <p:spPr bwMode="auto">
          <a:xfrm>
            <a:off x="3124200" y="635635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r>
              <a:rPr lang="zh-CN" altLang="en-US" sz="1400" b="1">
                <a:latin typeface="+mj-lt"/>
                <a:ea typeface="宋体" panose="02010600030101010101" pitchFamily="2" charset="-122"/>
              </a:rPr>
              <a:t>计算机应用技术研究所</a:t>
            </a:r>
          </a:p>
        </p:txBody>
      </p:sp>
      <p:sp>
        <p:nvSpPr>
          <p:cNvPr id="12" name="灯片编号占位符 5"/>
          <p:cNvSpPr txBox="1">
            <a:spLocks noGrp="1"/>
          </p:cNvSpPr>
          <p:nvPr/>
        </p:nvSpPr>
        <p:spPr bwMode="auto">
          <a:xfrm>
            <a:off x="6553200" y="63563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defRPr/>
            </a:pPr>
            <a:fld id="{BC21F467-3756-4A5E-8F27-09913C432BB8}" type="slidenum">
              <a:rPr lang="en-US" altLang="zh-CN" sz="1400" b="1">
                <a:latin typeface="+mj-lt"/>
                <a:ea typeface="宋体" panose="02010600030101010101" pitchFamily="2" charset="-122"/>
              </a:rPr>
              <a:pPr algn="r" eaLnBrk="1" hangingPunct="1">
                <a:defRPr/>
              </a:pPr>
              <a:t>90</a:t>
            </a:fld>
            <a:endParaRPr lang="en-US" altLang="zh-CN" sz="1400" b="1">
              <a:latin typeface="+mj-lt"/>
              <a:ea typeface="宋体" panose="02010600030101010101" pitchFamily="2" charset="-122"/>
            </a:endParaRPr>
          </a:p>
        </p:txBody>
      </p:sp>
      <p:sp>
        <p:nvSpPr>
          <p:cNvPr id="97285" name="Text Box 2"/>
          <p:cNvSpPr txBox="1">
            <a:spLocks noChangeArrowheads="1"/>
          </p:cNvSpPr>
          <p:nvPr/>
        </p:nvSpPr>
        <p:spPr bwMode="auto">
          <a:xfrm>
            <a:off x="6372225" y="6597650"/>
            <a:ext cx="27717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200" b="1">
                <a:solidFill>
                  <a:schemeClr val="bg1"/>
                </a:solidFill>
                <a:latin typeface="Times New Roman" panose="02020603050405020304" pitchFamily="18" charset="0"/>
                <a:ea typeface="方正舒体" panose="02010601030101010101" pitchFamily="2" charset="-122"/>
              </a:rPr>
              <a:t>3.3  </a:t>
            </a:r>
            <a:r>
              <a:rPr kumimoji="0" lang="zh-CN" altLang="en-US" sz="1200" b="1">
                <a:solidFill>
                  <a:schemeClr val="bg1"/>
                </a:solidFill>
                <a:latin typeface="Times New Roman" panose="02020603050405020304" pitchFamily="18" charset="0"/>
                <a:ea typeface="方正舒体" panose="02010601030101010101" pitchFamily="2" charset="-122"/>
              </a:rPr>
              <a:t>集合定义的自然数和归纳法证明</a:t>
            </a:r>
          </a:p>
        </p:txBody>
      </p:sp>
      <p:sp>
        <p:nvSpPr>
          <p:cNvPr id="97286" name="Text Box 2"/>
          <p:cNvSpPr txBox="1">
            <a:spLocks noChangeArrowheads="1"/>
          </p:cNvSpPr>
          <p:nvPr/>
        </p:nvSpPr>
        <p:spPr bwMode="auto">
          <a:xfrm>
            <a:off x="1512094" y="692696"/>
            <a:ext cx="6119812"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zh-CN" sz="5400" b="1" dirty="0">
                <a:solidFill>
                  <a:schemeClr val="bg1"/>
                </a:solidFill>
                <a:latin typeface="宋体" panose="02010600030101010101" pitchFamily="2" charset="-122"/>
                <a:ea typeface="宋体" panose="02010600030101010101" pitchFamily="2" charset="-122"/>
              </a:rPr>
              <a:t>同余方程组</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9728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031977" y="2146501"/>
                <a:ext cx="7080046" cy="3382080"/>
              </a:xfrm>
              <a:prstGeom prst="rect">
                <a:avLst/>
              </a:prstGeom>
              <a:solidFill>
                <a:schemeClr val="accent5">
                  <a:lumMod val="75000"/>
                </a:schemeClr>
              </a:solidFill>
              <a:ln w="25400">
                <a:solidFill>
                  <a:schemeClr val="tx1">
                    <a:lumMod val="75000"/>
                    <a:lumOff val="25000"/>
                  </a:schemeClr>
                </a:solidFill>
              </a:ln>
            </p:spPr>
            <p:txBody>
              <a:bodyPr wrap="square" rtlCol="0">
                <a:spAutoFit/>
              </a:bodyPr>
              <a:lstStyle/>
              <a:p>
                <a:r>
                  <a:rPr lang="zh-CN" altLang="zh-CN" dirty="0"/>
                  <a:t>【</a:t>
                </a:r>
                <a:r>
                  <a:rPr lang="zh-CN" altLang="zh-CN" b="1" dirty="0"/>
                  <a:t>定义</a:t>
                </a:r>
                <a:r>
                  <a:rPr lang="en-US" altLang="zh-CN" b="1" dirty="0"/>
                  <a:t>2.16</a:t>
                </a:r>
                <a:r>
                  <a:rPr lang="zh-CN" altLang="zh-CN" dirty="0"/>
                  <a:t>】假设</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𝑘</m:t>
                        </m:r>
                      </m:sub>
                    </m:sSub>
                  </m:oMath>
                </a14:m>
                <a:r>
                  <a:rPr lang="zh-CN" altLang="zh-CN" dirty="0"/>
                  <a:t>为</a:t>
                </a:r>
                <a:r>
                  <a:rPr lang="en-US" altLang="zh-CN" i="1" dirty="0"/>
                  <a:t>k</a:t>
                </a:r>
                <a:r>
                  <a:rPr lang="zh-CN" altLang="zh-CN" dirty="0"/>
                  <a:t>个正整数，</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r>
                      <a:rPr lang="en-US" altLang="zh-CN" i="1">
                        <a:latin typeface="Cambria Math" panose="02040503050406030204" pitchFamily="18" charset="0"/>
                      </a:rPr>
                      <m:t>, ⋯,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oMath>
                </a14:m>
                <a:r>
                  <a:rPr lang="zh-CN" altLang="zh-CN" dirty="0"/>
                  <a:t>为</a:t>
                </a:r>
                <a:r>
                  <a:rPr lang="en-US" altLang="zh-CN" i="1" dirty="0"/>
                  <a:t>k</a:t>
                </a:r>
                <a:r>
                  <a:rPr lang="zh-CN" altLang="zh-CN" dirty="0"/>
                  <a:t>个整数，由下列</a:t>
                </a:r>
                <a:r>
                  <a:rPr lang="en-US" altLang="zh-CN" i="1" dirty="0"/>
                  <a:t>k</a:t>
                </a:r>
                <a:r>
                  <a:rPr lang="zh-CN" altLang="zh-CN" dirty="0"/>
                  <a:t>个以</a:t>
                </a:r>
                <a:r>
                  <a:rPr lang="en-US" altLang="zh-CN" i="1" dirty="0"/>
                  <a:t>x</a:t>
                </a:r>
                <a:r>
                  <a:rPr lang="zh-CN" altLang="zh-CN" dirty="0"/>
                  <a:t>为未知整数的同余方程联立而成的方程组，称为</a:t>
                </a:r>
                <a:r>
                  <a:rPr lang="zh-CN" altLang="zh-CN" b="1" dirty="0"/>
                  <a:t>同余方程组</a:t>
                </a:r>
                <a:r>
                  <a:rPr lang="zh-CN" altLang="zh-CN" dirty="0"/>
                  <a:t>：</a:t>
                </a:r>
              </a:p>
              <a:p>
                <a:r>
                  <a:rPr lang="en-US" altLang="zh-CN" dirty="0"/>
                  <a:t>        </a:t>
                </a:r>
                <a:r>
                  <a:rPr lang="en-US" altLang="zh-CN" dirty="0" smtClean="0"/>
                  <a:t>   </a:t>
                </a:r>
                <a14:m>
                  <m:oMath xmlns:m="http://schemas.openxmlformats.org/officeDocument/2006/math">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r>
                              <a:rPr lang="en-US" altLang="zh-CN" i="1">
                                <a:latin typeface="Cambria Math" panose="02040503050406030204" pitchFamily="18" charset="0"/>
                              </a:rPr>
                              <m:t>(</m:t>
                            </m:r>
                            <m:r>
                              <m:rPr>
                                <m:nor/>
                              </m:rPr>
                              <a:rPr lang="en-US" altLang="zh-CN"/>
                              <m:t>mod</m:t>
                            </m:r>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1</m:t>
                                </m:r>
                              </m:sub>
                            </m:sSub>
                            <m:r>
                              <a:rPr lang="en-US" altLang="zh-CN" i="1">
                                <a:latin typeface="Cambria Math" panose="02040503050406030204" pitchFamily="18" charset="0"/>
                              </a:rPr>
                              <m:t>)</m:t>
                            </m:r>
                          </m:e>
                          <m:e>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r>
                              <a:rPr lang="en-US" altLang="zh-CN" i="1">
                                <a:latin typeface="Cambria Math" panose="02040503050406030204" pitchFamily="18" charset="0"/>
                              </a:rPr>
                              <m:t>(</m:t>
                            </m:r>
                            <m:r>
                              <m:rPr>
                                <m:nor/>
                              </m:rPr>
                              <a:rPr lang="en-US" altLang="zh-CN"/>
                              <m:t>mod</m:t>
                            </m:r>
                            <m:sSub>
                              <m:sSubPr>
                                <m:ctrlPr>
                                  <a:rPr lang="zh-CN"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2</m:t>
                                </m:r>
                              </m:sub>
                            </m:sSub>
                            <m:r>
                              <a:rPr lang="en-US" altLang="zh-CN" i="1">
                                <a:latin typeface="Cambria Math" panose="02040503050406030204" pitchFamily="18" charset="0"/>
                              </a:rPr>
                              <m:t>)</m:t>
                            </m:r>
                          </m:e>
                          <m:e>
                            <m:m>
                              <m:mPr>
                                <m:mcs>
                                  <m:mc>
                                    <m:mcPr>
                                      <m:count m:val="1"/>
                                      <m:mcJc m:val="center"/>
                                    </m:mcPr>
                                  </m:mc>
                                </m:mcs>
                                <m:ctrlPr>
                                  <a:rPr lang="zh-CN" altLang="zh-CN" i="1">
                                    <a:latin typeface="Cambria Math" panose="02040503050406030204" pitchFamily="18" charset="0"/>
                                  </a:rPr>
                                </m:ctrlPr>
                              </m:mPr>
                              <m:mr>
                                <m:e>
                                  <m:r>
                                    <a:rPr lang="en-US" altLang="zh-CN" i="1">
                                      <a:latin typeface="Cambria Math" panose="02040503050406030204" pitchFamily="18" charset="0"/>
                                    </a:rPr>
                                    <m:t>⋯</m:t>
                                  </m:r>
                                </m:e>
                              </m:mr>
                              <m:mr>
                                <m:e>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𝑘</m:t>
                                      </m:r>
                                    </m:sub>
                                  </m:sSub>
                                  <m:r>
                                    <a:rPr lang="en-US" altLang="zh-CN" i="1">
                                      <a:latin typeface="Cambria Math" panose="02040503050406030204" pitchFamily="18" charset="0"/>
                                    </a:rPr>
                                    <m:t>(</m:t>
                                  </m:r>
                                  <m:r>
                                    <m:rPr>
                                      <m:nor/>
                                    </m:rPr>
                                    <a:rPr lang="en-US" altLang="zh-CN"/>
                                    <m:t>mod</m:t>
                                  </m:r>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i="1">
                                          <a:latin typeface="Cambria Math" panose="02040503050406030204" pitchFamily="18" charset="0"/>
                                        </a:rPr>
                                        <m:t>𝑘</m:t>
                                      </m:r>
                                    </m:sub>
                                  </m:sSub>
                                  <m:r>
                                    <a:rPr lang="en-US" altLang="zh-CN" i="1">
                                      <a:latin typeface="Cambria Math" panose="02040503050406030204" pitchFamily="18" charset="0"/>
                                    </a:rPr>
                                    <m:t>)</m:t>
                                  </m:r>
                                </m:e>
                              </m:mr>
                            </m:m>
                          </m:e>
                        </m:eqArr>
                      </m:e>
                    </m:d>
                  </m:oMath>
                </a14:m>
                <a:r>
                  <a:rPr lang="en-US" altLang="zh-CN" dirty="0"/>
                  <a:t>           </a:t>
                </a:r>
                <a:r>
                  <a:rPr lang="zh-CN" altLang="zh-CN" dirty="0" smtClean="0"/>
                  <a:t>（</a:t>
                </a:r>
                <a:r>
                  <a:rPr lang="en-US" altLang="zh-CN" dirty="0"/>
                  <a:t>2-14</a:t>
                </a:r>
                <a:r>
                  <a:rPr lang="zh-CN" altLang="zh-CN" dirty="0"/>
                  <a:t>）</a:t>
                </a:r>
              </a:p>
              <a:p>
                <a:r>
                  <a:rPr lang="zh-CN" altLang="zh-CN" dirty="0"/>
                  <a:t>若存在一个整数</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zh-CN" altLang="zh-CN" dirty="0"/>
                  <a:t>满足上述所有同余方程，则称</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zh-CN" altLang="zh-CN" dirty="0"/>
                  <a:t>是该同余方程组的一个</a:t>
                </a:r>
                <a:r>
                  <a:rPr lang="zh-CN" altLang="zh-CN" b="1" dirty="0"/>
                  <a:t>解</a:t>
                </a:r>
                <a:r>
                  <a:rPr lang="zh-CN" altLang="zh-CN" dirty="0"/>
                  <a:t>。</a:t>
                </a:r>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1031977" y="2146501"/>
                <a:ext cx="7080046" cy="3382080"/>
              </a:xfrm>
              <a:prstGeom prst="rect">
                <a:avLst/>
              </a:prstGeom>
              <a:blipFill rotWithShape="0">
                <a:blip r:embed="rId4"/>
                <a:stretch>
                  <a:fillRect l="-1115" t="-1610" b="-2683"/>
                </a:stretch>
              </a:blipFill>
              <a:ln w="25400">
                <a:solidFill>
                  <a:schemeClr val="tx1">
                    <a:lumMod val="75000"/>
                    <a:lumOff val="25000"/>
                  </a:schemeClr>
                </a:solidFill>
              </a:ln>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txBox="1">
            <a:spLocks noGrp="1"/>
          </p:cNvSpPr>
          <p:nvPr/>
        </p:nvSpPr>
        <p:spPr bwMode="auto">
          <a:xfrm>
            <a:off x="684213" y="63817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fld id="{3F629C76-EA6E-4280-AA98-6DA8B1385DB1}" type="datetime1">
              <a:rPr lang="zh-CN" altLang="en-US" sz="1400" b="1">
                <a:latin typeface="+mj-lt"/>
                <a:ea typeface="宋体" panose="02010600030101010101" pitchFamily="2" charset="-122"/>
              </a:rPr>
              <a:pPr eaLnBrk="1" hangingPunct="1">
                <a:defRPr/>
              </a:pPr>
              <a:t>2020/9/7</a:t>
            </a:fld>
            <a:endParaRPr lang="en-US" altLang="zh-CN" sz="1400" b="1">
              <a:latin typeface="+mj-lt"/>
              <a:ea typeface="宋体" panose="02010600030101010101" pitchFamily="2" charset="-122"/>
            </a:endParaRPr>
          </a:p>
        </p:txBody>
      </p:sp>
      <p:sp>
        <p:nvSpPr>
          <p:cNvPr id="6" name="页脚占位符 4"/>
          <p:cNvSpPr txBox="1">
            <a:spLocks noGrp="1"/>
          </p:cNvSpPr>
          <p:nvPr/>
        </p:nvSpPr>
        <p:spPr bwMode="auto">
          <a:xfrm>
            <a:off x="3124200" y="635635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r>
              <a:rPr lang="zh-CN" altLang="en-US" sz="1400" b="1">
                <a:latin typeface="+mj-lt"/>
                <a:ea typeface="宋体" panose="02010600030101010101" pitchFamily="2" charset="-122"/>
              </a:rPr>
              <a:t>计算机应用技术研究所</a:t>
            </a:r>
          </a:p>
        </p:txBody>
      </p:sp>
      <p:sp>
        <p:nvSpPr>
          <p:cNvPr id="7" name="灯片编号占位符 5"/>
          <p:cNvSpPr txBox="1">
            <a:spLocks noGrp="1"/>
          </p:cNvSpPr>
          <p:nvPr/>
        </p:nvSpPr>
        <p:spPr bwMode="auto">
          <a:xfrm>
            <a:off x="6553200" y="63563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defRPr/>
            </a:pPr>
            <a:fld id="{D3A2DF79-A60F-4A57-BCEE-09F8C1F29878}" type="slidenum">
              <a:rPr lang="en-US" altLang="zh-CN" sz="1400" b="1">
                <a:latin typeface="+mj-lt"/>
                <a:ea typeface="宋体" panose="02010600030101010101" pitchFamily="2" charset="-122"/>
              </a:rPr>
              <a:pPr algn="r" eaLnBrk="1" hangingPunct="1">
                <a:defRPr/>
              </a:pPr>
              <a:t>91</a:t>
            </a:fld>
            <a:endParaRPr lang="en-US" altLang="zh-CN" sz="1400" b="1">
              <a:latin typeface="+mj-lt"/>
              <a:ea typeface="宋体" panose="02010600030101010101" pitchFamily="2" charset="-122"/>
            </a:endParaRPr>
          </a:p>
        </p:txBody>
      </p:sp>
      <p:sp>
        <p:nvSpPr>
          <p:cNvPr id="101381" name="Text Box 2"/>
          <p:cNvSpPr txBox="1">
            <a:spLocks noChangeArrowheads="1"/>
          </p:cNvSpPr>
          <p:nvPr/>
        </p:nvSpPr>
        <p:spPr bwMode="auto">
          <a:xfrm>
            <a:off x="1331640" y="762394"/>
            <a:ext cx="66452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中国余数定理</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0138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827584" y="1988840"/>
            <a:ext cx="7560840" cy="3785652"/>
          </a:xfrm>
          <a:prstGeom prst="rect">
            <a:avLst/>
          </a:prstGeom>
          <a:solidFill>
            <a:srgbClr val="FFC000"/>
          </a:solidFill>
          <a:ln w="25400">
            <a:solidFill>
              <a:schemeClr val="accent1">
                <a:lumMod val="75000"/>
              </a:schemeClr>
            </a:solidFill>
            <a:prstDash val="sysDot"/>
          </a:ln>
        </p:spPr>
        <p:txBody>
          <a:bodyPr wrap="square" rtlCol="0">
            <a:spAutoFit/>
          </a:bodyPr>
          <a:lstStyle/>
          <a:p>
            <a:r>
              <a:rPr lang="zh-CN" altLang="en-US" dirty="0" smtClean="0"/>
              <a:t>中国</a:t>
            </a:r>
            <a:r>
              <a:rPr lang="zh-CN" altLang="en-US" dirty="0"/>
              <a:t>余数定理</a:t>
            </a:r>
            <a:r>
              <a:rPr lang="en-US" altLang="zh-CN" dirty="0"/>
              <a:t>,</a:t>
            </a:r>
            <a:r>
              <a:rPr lang="zh-CN" altLang="en-US" dirty="0"/>
              <a:t>也称中国剩余定理，孙子剩余定理。 从</a:t>
            </a:r>
            <a:r>
              <a:rPr lang="en-US" altLang="zh-CN" dirty="0"/>
              <a:t>《</a:t>
            </a:r>
            <a:r>
              <a:rPr lang="zh-CN" altLang="en-US" dirty="0"/>
              <a:t>孙子算经</a:t>
            </a:r>
            <a:r>
              <a:rPr lang="en-US" altLang="zh-CN" dirty="0"/>
              <a:t>》</a:t>
            </a:r>
            <a:r>
              <a:rPr lang="zh-CN" altLang="en-US" dirty="0"/>
              <a:t>到秦九韶</a:t>
            </a:r>
            <a:r>
              <a:rPr lang="en-US" altLang="zh-CN" dirty="0"/>
              <a:t>《</a:t>
            </a:r>
            <a:r>
              <a:rPr lang="zh-CN" altLang="en-US" dirty="0"/>
              <a:t>数书九章</a:t>
            </a:r>
            <a:r>
              <a:rPr lang="en-US" altLang="zh-CN" dirty="0"/>
              <a:t>》</a:t>
            </a:r>
            <a:r>
              <a:rPr lang="zh-CN" altLang="en-US" dirty="0"/>
              <a:t>对一次同余式问题的研究成果，在</a:t>
            </a:r>
            <a:r>
              <a:rPr lang="en-US" altLang="zh-CN" dirty="0"/>
              <a:t>19</a:t>
            </a:r>
            <a:r>
              <a:rPr lang="zh-CN" altLang="en-US" dirty="0"/>
              <a:t>世纪中期开始受到西方数学界的重视。</a:t>
            </a:r>
            <a:r>
              <a:rPr lang="en-US" altLang="zh-CN" dirty="0"/>
              <a:t>1852</a:t>
            </a:r>
            <a:r>
              <a:rPr lang="zh-CN" altLang="en-US" dirty="0"/>
              <a:t>年，英国传教士伟烈亚力向欧洲介绍了 </a:t>
            </a:r>
            <a:r>
              <a:rPr lang="en-US" altLang="zh-CN" dirty="0"/>
              <a:t>《</a:t>
            </a:r>
            <a:r>
              <a:rPr lang="zh-CN" altLang="en-US" dirty="0"/>
              <a:t>孙子算经</a:t>
            </a:r>
            <a:r>
              <a:rPr lang="en-US" altLang="zh-CN" dirty="0"/>
              <a:t>》</a:t>
            </a:r>
            <a:r>
              <a:rPr lang="zh-CN" altLang="en-US" dirty="0"/>
              <a:t>的“物不知数”题和秦九韶的“大衍求一术”；</a:t>
            </a:r>
            <a:r>
              <a:rPr lang="en-US" altLang="zh-CN" dirty="0"/>
              <a:t>1876</a:t>
            </a:r>
            <a:r>
              <a:rPr lang="zh-CN" altLang="en-US" dirty="0"/>
              <a:t>年，德国人马蒂生指出，中国的这一解法与西方</a:t>
            </a:r>
            <a:r>
              <a:rPr lang="en-US" altLang="zh-CN" dirty="0"/>
              <a:t>19</a:t>
            </a:r>
            <a:r>
              <a:rPr lang="zh-CN" altLang="en-US" dirty="0"/>
              <a:t>世纪高斯</a:t>
            </a:r>
            <a:r>
              <a:rPr lang="en-US" altLang="zh-CN" dirty="0"/>
              <a:t>《</a:t>
            </a:r>
            <a:r>
              <a:rPr lang="zh-CN" altLang="en-US" dirty="0"/>
              <a:t>算术探究</a:t>
            </a:r>
            <a:r>
              <a:rPr lang="en-US" altLang="zh-CN" dirty="0"/>
              <a:t>》</a:t>
            </a:r>
            <a:r>
              <a:rPr lang="zh-CN" altLang="en-US" dirty="0"/>
              <a:t>中关于一次同余式 组的解法完全一致。从此，中国古代数学的这一创造逐渐受到世界学者的瞩目，并在西方数学史著作中正式被称为“中国剩余定理”。</a:t>
            </a: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txBox="1">
            <a:spLocks noGrp="1"/>
          </p:cNvSpPr>
          <p:nvPr/>
        </p:nvSpPr>
        <p:spPr bwMode="auto">
          <a:xfrm>
            <a:off x="684213" y="63817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fld id="{3F629C76-EA6E-4280-AA98-6DA8B1385DB1}" type="datetime1">
              <a:rPr lang="zh-CN" altLang="en-US" sz="1400" b="1">
                <a:latin typeface="+mj-lt"/>
                <a:ea typeface="宋体" panose="02010600030101010101" pitchFamily="2" charset="-122"/>
              </a:rPr>
              <a:pPr eaLnBrk="1" hangingPunct="1">
                <a:defRPr/>
              </a:pPr>
              <a:t>2020/9/7</a:t>
            </a:fld>
            <a:endParaRPr lang="en-US" altLang="zh-CN" sz="1400" b="1">
              <a:latin typeface="+mj-lt"/>
              <a:ea typeface="宋体" panose="02010600030101010101" pitchFamily="2" charset="-122"/>
            </a:endParaRPr>
          </a:p>
        </p:txBody>
      </p:sp>
      <p:sp>
        <p:nvSpPr>
          <p:cNvPr id="6" name="页脚占位符 4"/>
          <p:cNvSpPr txBox="1">
            <a:spLocks noGrp="1"/>
          </p:cNvSpPr>
          <p:nvPr/>
        </p:nvSpPr>
        <p:spPr bwMode="auto">
          <a:xfrm>
            <a:off x="3124200" y="635635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r>
              <a:rPr lang="zh-CN" altLang="en-US" sz="1400" b="1">
                <a:latin typeface="+mj-lt"/>
                <a:ea typeface="宋体" panose="02010600030101010101" pitchFamily="2" charset="-122"/>
              </a:rPr>
              <a:t>计算机应用技术研究所</a:t>
            </a:r>
          </a:p>
        </p:txBody>
      </p:sp>
      <p:sp>
        <p:nvSpPr>
          <p:cNvPr id="7" name="灯片编号占位符 5"/>
          <p:cNvSpPr txBox="1">
            <a:spLocks noGrp="1"/>
          </p:cNvSpPr>
          <p:nvPr/>
        </p:nvSpPr>
        <p:spPr bwMode="auto">
          <a:xfrm>
            <a:off x="6553200" y="63563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defRPr/>
            </a:pPr>
            <a:fld id="{FCC04FE0-ECE0-4CC7-8A76-9FBB7C17A8C7}" type="slidenum">
              <a:rPr lang="en-US" altLang="zh-CN" sz="1400" b="1">
                <a:latin typeface="+mj-lt"/>
                <a:ea typeface="宋体" panose="02010600030101010101" pitchFamily="2" charset="-122"/>
              </a:rPr>
              <a:pPr algn="r" eaLnBrk="1" hangingPunct="1">
                <a:defRPr/>
              </a:pPr>
              <a:t>92</a:t>
            </a:fld>
            <a:endParaRPr lang="en-US" altLang="zh-CN" sz="1400" b="1">
              <a:latin typeface="+mj-lt"/>
              <a:ea typeface="宋体" panose="02010600030101010101" pitchFamily="2" charset="-122"/>
            </a:endParaRPr>
          </a:p>
        </p:txBody>
      </p:sp>
      <p:sp>
        <p:nvSpPr>
          <p:cNvPr id="98309" name="Text Box 2"/>
          <p:cNvSpPr txBox="1">
            <a:spLocks noChangeArrowheads="1"/>
          </p:cNvSpPr>
          <p:nvPr/>
        </p:nvSpPr>
        <p:spPr bwMode="auto">
          <a:xfrm>
            <a:off x="1404938" y="876300"/>
            <a:ext cx="66452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中国余数定理</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9831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899592" y="2000153"/>
                <a:ext cx="7812360" cy="3998274"/>
              </a:xfrm>
              <a:prstGeom prst="rect">
                <a:avLst/>
              </a:prstGeom>
              <a:solidFill>
                <a:srgbClr val="FF66FF"/>
              </a:solidFill>
              <a:ln w="25400" cmpd="dbl">
                <a:solidFill>
                  <a:schemeClr val="accent1"/>
                </a:solidFill>
                <a:prstDash val="sysDot"/>
              </a:ln>
            </p:spPr>
            <p:txBody>
              <a:bodyPr wrap="square" rtlCol="0">
                <a:spAutoFit/>
              </a:bodyPr>
              <a:lstStyle/>
              <a:p>
                <a:r>
                  <a:rPr lang="zh-CN" altLang="zh-CN" sz="1800" dirty="0"/>
                  <a:t>【</a:t>
                </a:r>
                <a:r>
                  <a:rPr lang="zh-CN" altLang="zh-CN" sz="1800" b="1" dirty="0"/>
                  <a:t>定理</a:t>
                </a:r>
                <a:r>
                  <a:rPr lang="en-US" altLang="zh-CN" sz="1800" b="1" dirty="0"/>
                  <a:t>2.28</a:t>
                </a:r>
                <a:r>
                  <a:rPr lang="zh-CN" altLang="zh-CN" sz="1800" dirty="0"/>
                  <a:t>】（中国余数定理）设</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1</m:t>
                        </m:r>
                      </m:sub>
                    </m:sSub>
                    <m:r>
                      <a:rPr lang="zh-CN"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2</m:t>
                        </m:r>
                      </m:sub>
                    </m:sSub>
                    <m:r>
                      <a:rPr lang="zh-CN" altLang="zh-CN" sz="1800">
                        <a:latin typeface="Cambria Math" panose="02040503050406030204" pitchFamily="18" charset="0"/>
                      </a:rPr>
                      <m:t>，</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𝑘</m:t>
                        </m:r>
                      </m:sub>
                    </m:sSub>
                  </m:oMath>
                </a14:m>
                <a:r>
                  <a:rPr lang="zh-CN" altLang="zh-CN" sz="1800" dirty="0"/>
                  <a:t>是两两互素的正整数，那么同余式组（</a:t>
                </a:r>
                <a:r>
                  <a:rPr lang="en-US" altLang="zh-CN" sz="1800" dirty="0"/>
                  <a:t>2-14</a:t>
                </a:r>
                <a:r>
                  <a:rPr lang="zh-CN" altLang="zh-CN" sz="1800" dirty="0"/>
                  <a:t>）有唯一的以</a:t>
                </a:r>
                <a14:m>
                  <m:oMath xmlns:m="http://schemas.openxmlformats.org/officeDocument/2006/math">
                    <m:r>
                      <a:rPr lang="en-US" altLang="zh-CN" sz="1800" i="1">
                        <a:latin typeface="Cambria Math" panose="02040503050406030204" pitchFamily="18" charset="0"/>
                      </a:rPr>
                      <m:t>𝑀</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𝑚</m:t>
                        </m:r>
                      </m:e>
                      <m:sub>
                        <m:r>
                          <a:rPr lang="en-US" altLang="zh-CN" sz="1800" i="1">
                            <a:latin typeface="Cambria Math" panose="02040503050406030204" pitchFamily="18" charset="0"/>
                          </a:rPr>
                          <m:t>1</m:t>
                        </m:r>
                      </m:sub>
                    </m:sSub>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2</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𝑘</m:t>
                        </m:r>
                      </m:sub>
                    </m:sSub>
                    <m:r>
                      <a:rPr lang="zh-CN" altLang="zh-CN" sz="1800">
                        <a:latin typeface="Cambria Math" panose="02040503050406030204" pitchFamily="18" charset="0"/>
                      </a:rPr>
                      <m:t>为模的解。</m:t>
                    </m:r>
                  </m:oMath>
                </a14:m>
                <a:endParaRPr lang="zh-CN" altLang="zh-CN" sz="1800" dirty="0"/>
              </a:p>
              <a:p>
                <a:r>
                  <a:rPr lang="zh-CN" altLang="zh-CN" sz="1800" dirty="0"/>
                  <a:t>【证明】首先构造一个联立解，以满足同余式组（</a:t>
                </a:r>
                <a:r>
                  <a:rPr lang="en-US" altLang="zh-CN" sz="1800" dirty="0"/>
                  <a:t>2-14</a:t>
                </a:r>
                <a:r>
                  <a:rPr lang="zh-CN" altLang="zh-CN" sz="1800" dirty="0"/>
                  <a:t>）中的每个同余方程：</a:t>
                </a:r>
              </a:p>
              <a:p>
                <a:r>
                  <a:rPr lang="zh-CN" altLang="zh-CN" sz="1800" dirty="0"/>
                  <a:t>记</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f>
                      <m:fPr>
                        <m:type m:val="lin"/>
                        <m:ctrlPr>
                          <a:rPr lang="zh-CN" altLang="zh-CN" sz="1800" i="1">
                            <a:latin typeface="Cambria Math" panose="02040503050406030204" pitchFamily="18" charset="0"/>
                          </a:rPr>
                        </m:ctrlPr>
                      </m:fPr>
                      <m:num>
                        <m:r>
                          <a:rPr lang="en-US" altLang="zh-CN" sz="1800" i="1">
                            <a:latin typeface="Cambria Math" panose="02040503050406030204" pitchFamily="18" charset="0"/>
                          </a:rPr>
                          <m:t>𝑀</m:t>
                        </m:r>
                      </m:num>
                      <m:den>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den>
                    </m:f>
                    <m:r>
                      <a:rPr lang="zh-CN" altLang="zh-CN" sz="1800">
                        <a:latin typeface="Cambria Math" panose="02040503050406030204" pitchFamily="18" charset="0"/>
                      </a:rPr>
                      <m:t>，</m:t>
                    </m:r>
                    <m:r>
                      <a:rPr lang="en-US" altLang="zh-CN" sz="1800">
                        <a:latin typeface="Cambria Math" panose="02040503050406030204" pitchFamily="18" charset="0"/>
                      </a:rPr>
                      <m:t>1≤</m:t>
                    </m:r>
                    <m:r>
                      <a:rPr lang="en-US" altLang="zh-CN" sz="1800" i="1">
                        <a:latin typeface="Cambria Math" panose="02040503050406030204" pitchFamily="18" charset="0"/>
                      </a:rPr>
                      <m:t>𝑖</m:t>
                    </m:r>
                    <m:r>
                      <a:rPr lang="en-US" altLang="zh-CN" sz="1800">
                        <a:latin typeface="Cambria Math" panose="02040503050406030204" pitchFamily="18" charset="0"/>
                      </a:rPr>
                      <m:t>≤</m:t>
                    </m:r>
                    <m:r>
                      <a:rPr lang="en-US" altLang="zh-CN" sz="1800" i="1">
                        <a:latin typeface="Cambria Math" panose="02040503050406030204" pitchFamily="18" charset="0"/>
                      </a:rPr>
                      <m:t>𝑘</m:t>
                    </m:r>
                  </m:oMath>
                </a14:m>
                <a:r>
                  <a:rPr lang="zh-CN" altLang="zh-CN" sz="1800" dirty="0"/>
                  <a:t>，由于</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1</m:t>
                        </m:r>
                      </m:sub>
                    </m:sSub>
                    <m:r>
                      <a:rPr lang="zh-CN"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2</m:t>
                        </m:r>
                      </m:sub>
                    </m:sSub>
                    <m:r>
                      <a:rPr lang="zh-CN" altLang="zh-CN" sz="1800">
                        <a:latin typeface="Cambria Math" panose="02040503050406030204" pitchFamily="18" charset="0"/>
                      </a:rPr>
                      <m:t>，</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𝑘</m:t>
                        </m:r>
                      </m:sub>
                    </m:sSub>
                  </m:oMath>
                </a14:m>
                <a:r>
                  <a:rPr lang="zh-CN" altLang="zh-CN" sz="1800" dirty="0"/>
                  <a:t>两两互素，故有：</a:t>
                </a:r>
              </a:p>
              <a:p>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𝑖</m:t>
                          </m:r>
                        </m:sub>
                      </m:sSub>
                      <m:r>
                        <a:rPr lang="zh-CN"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r>
                        <a:rPr lang="en-US" altLang="zh-CN" sz="1800">
                          <a:latin typeface="Cambria Math" panose="02040503050406030204" pitchFamily="18" charset="0"/>
                        </a:rPr>
                        <m:t>)=1</m:t>
                      </m:r>
                      <m:r>
                        <a:rPr lang="zh-CN" altLang="zh-CN" sz="1800">
                          <a:latin typeface="Cambria Math" panose="02040503050406030204" pitchFamily="18" charset="0"/>
                        </a:rPr>
                        <m:t>。</m:t>
                      </m:r>
                    </m:oMath>
                  </m:oMathPara>
                </a14:m>
                <a:endParaRPr lang="zh-CN" altLang="zh-CN" sz="1800" dirty="0"/>
              </a:p>
              <a:p>
                <a:r>
                  <a:rPr lang="zh-CN" altLang="zh-CN" sz="1800" dirty="0"/>
                  <a:t>根据定理</a:t>
                </a:r>
                <a:r>
                  <a:rPr lang="en-US" altLang="zh-CN" sz="1800" dirty="0"/>
                  <a:t>2.27</a:t>
                </a:r>
                <a:r>
                  <a:rPr lang="zh-CN" altLang="zh-CN" sz="1800" dirty="0"/>
                  <a:t>，可求出</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𝑖</m:t>
                        </m:r>
                      </m:sub>
                    </m:sSub>
                  </m:oMath>
                </a14:m>
                <a:r>
                  <a:rPr lang="zh-CN" altLang="zh-CN" sz="1800" dirty="0"/>
                  <a:t>的模</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oMath>
                </a14:m>
                <a:r>
                  <a:rPr lang="zh-CN" altLang="zh-CN" sz="1800" dirty="0"/>
                  <a:t>的逆</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𝑖</m:t>
                        </m:r>
                      </m:sub>
                    </m:sSub>
                  </m:oMath>
                </a14:m>
                <a:r>
                  <a:rPr lang="zh-CN" altLang="zh-CN" sz="1800" dirty="0"/>
                  <a:t>，即有：</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≡1</m:t>
                    </m:r>
                    <m:r>
                      <a:rPr lang="en-US" altLang="zh-CN" sz="1800">
                        <a:latin typeface="Cambria Math" panose="02040503050406030204" pitchFamily="18" charset="0"/>
                      </a:rPr>
                      <m:t>(</m:t>
                    </m:r>
                    <m:r>
                      <a:rPr lang="en-US" altLang="zh-CN" sz="1800" i="1">
                        <a:latin typeface="Cambria Math" panose="02040503050406030204" pitchFamily="18" charset="0"/>
                      </a:rPr>
                      <m:t>𝑚𝑜𝑑</m:t>
                    </m:r>
                    <m:r>
                      <a:rPr lang="en-US" altLang="zh-CN" sz="1800">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r>
                      <a:rPr lang="en-US" altLang="zh-CN" sz="1800">
                        <a:latin typeface="Cambria Math" panose="02040503050406030204" pitchFamily="18" charset="0"/>
                      </a:rPr>
                      <m:t>)</m:t>
                    </m:r>
                  </m:oMath>
                </a14:m>
                <a:r>
                  <a:rPr lang="zh-CN" altLang="zh-CN" sz="1800" dirty="0"/>
                  <a:t>。</a:t>
                </a:r>
              </a:p>
              <a:p>
                <a:r>
                  <a:rPr lang="zh-CN" altLang="zh-CN" sz="1800" dirty="0"/>
                  <a:t>令</a:t>
                </a:r>
                <a14:m>
                  <m:oMath xmlns:m="http://schemas.openxmlformats.org/officeDocument/2006/math">
                    <m:r>
                      <a:rPr lang="en-US" altLang="zh-CN" sz="1800" i="1">
                        <a:latin typeface="Cambria Math" panose="02040503050406030204" pitchFamily="18" charset="0"/>
                      </a:rPr>
                      <m:t>𝑥</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1</m:t>
                        </m:r>
                      </m:sub>
                    </m:sSub>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1</m:t>
                        </m:r>
                      </m:sub>
                    </m:sSub>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1</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2</m:t>
                        </m:r>
                      </m:sub>
                    </m:sSub>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2</m:t>
                        </m:r>
                      </m:sub>
                    </m:sSub>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𝑘</m:t>
                        </m:r>
                      </m:sub>
                    </m:sSub>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𝑘</m:t>
                        </m:r>
                      </m:sub>
                    </m:sSub>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𝑘</m:t>
                        </m:r>
                      </m:sub>
                    </m:sSub>
                  </m:oMath>
                </a14:m>
                <a:r>
                  <a:rPr lang="zh-CN" altLang="zh-CN" sz="1800" dirty="0"/>
                  <a:t>。则对任意</a:t>
                </a:r>
                <a14:m>
                  <m:oMath xmlns:m="http://schemas.openxmlformats.org/officeDocument/2006/math">
                    <m:r>
                      <a:rPr lang="en-US" altLang="zh-CN" sz="1800">
                        <a:latin typeface="Cambria Math" panose="02040503050406030204" pitchFamily="18" charset="0"/>
                      </a:rPr>
                      <m:t>1≤</m:t>
                    </m:r>
                    <m:r>
                      <a:rPr lang="en-US" altLang="zh-CN" sz="1800" i="1">
                        <a:latin typeface="Cambria Math" panose="02040503050406030204" pitchFamily="18" charset="0"/>
                      </a:rPr>
                      <m:t>𝑖</m:t>
                    </m:r>
                    <m:r>
                      <a:rPr lang="en-US" altLang="zh-CN" sz="1800">
                        <a:latin typeface="Cambria Math" panose="02040503050406030204" pitchFamily="18" charset="0"/>
                      </a:rPr>
                      <m:t>≤</m:t>
                    </m:r>
                    <m:r>
                      <a:rPr lang="en-US" altLang="zh-CN" sz="1800" i="1">
                        <a:latin typeface="Cambria Math" panose="02040503050406030204" pitchFamily="18" charset="0"/>
                      </a:rPr>
                      <m:t>𝑘</m:t>
                    </m:r>
                  </m:oMath>
                </a14:m>
                <a:r>
                  <a:rPr lang="zh-CN" altLang="zh-CN" sz="1800" dirty="0"/>
                  <a:t>，因为</a:t>
                </a:r>
                <a14:m>
                  <m:oMath xmlns:m="http://schemas.openxmlformats.org/officeDocument/2006/math">
                    <m:r>
                      <a:rPr lang="en-US" altLang="zh-CN" sz="1800" i="1">
                        <a:latin typeface="Cambria Math" panose="02040503050406030204" pitchFamily="18" charset="0"/>
                      </a:rPr>
                      <m:t>𝑖</m:t>
                    </m:r>
                    <m:r>
                      <a:rPr lang="en-US" altLang="zh-CN" sz="1800">
                        <a:latin typeface="Cambria Math" panose="02040503050406030204" pitchFamily="18" charset="0"/>
                      </a:rPr>
                      <m:t>≠</m:t>
                    </m:r>
                    <m:r>
                      <a:rPr lang="en-US" altLang="zh-CN" sz="1800" i="1">
                        <a:latin typeface="Cambria Math" panose="02040503050406030204" pitchFamily="18" charset="0"/>
                      </a:rPr>
                      <m:t>𝑗</m:t>
                    </m:r>
                    <m:r>
                      <a:rPr lang="en-US" altLang="zh-CN" sz="1800">
                        <a:latin typeface="Cambria Math" panose="02040503050406030204" pitchFamily="18" charset="0"/>
                      </a:rPr>
                      <m:t> </m:t>
                    </m:r>
                  </m:oMath>
                </a14:m>
                <a:r>
                  <a:rPr lang="zh-CN" altLang="zh-CN" sz="1800" dirty="0"/>
                  <a:t>时</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𝑗</m:t>
                        </m:r>
                      </m:sub>
                    </m:sSub>
                  </m:oMath>
                </a14:m>
                <a:r>
                  <a:rPr lang="zh-CN" altLang="zh-CN" sz="1800" dirty="0"/>
                  <a:t>，故有：</a:t>
                </a:r>
              </a:p>
              <a:p>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𝑗</m:t>
                          </m:r>
                        </m:sub>
                      </m:sSub>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𝑗</m:t>
                          </m:r>
                        </m:sub>
                      </m:sSub>
                      <m:r>
                        <a:rPr lang="en-US" altLang="zh-CN" sz="1800" i="1">
                          <a:latin typeface="Cambria Math" panose="02040503050406030204" pitchFamily="18" charset="0"/>
                        </a:rPr>
                        <m:t>≡0</m:t>
                      </m:r>
                      <m:r>
                        <a:rPr lang="en-US" altLang="zh-CN" sz="1800">
                          <a:latin typeface="Cambria Math" panose="02040503050406030204" pitchFamily="18" charset="0"/>
                        </a:rPr>
                        <m:t>(</m:t>
                      </m:r>
                      <m:r>
                        <m:rPr>
                          <m:nor/>
                        </m:rPr>
                        <a:rPr lang="en-US" altLang="zh-CN" sz="1800"/>
                        <m:t>mod</m:t>
                      </m:r>
                      <m:r>
                        <a:rPr lang="en-US" altLang="zh-CN" sz="1800">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r>
                        <a:rPr lang="en-US" altLang="zh-CN" sz="1800">
                          <a:latin typeface="Cambria Math" panose="02040503050406030204" pitchFamily="18" charset="0"/>
                        </a:rPr>
                        <m:t>)</m:t>
                      </m:r>
                    </m:oMath>
                  </m:oMathPara>
                </a14:m>
                <a:endParaRPr lang="zh-CN" altLang="zh-CN" sz="1800" dirty="0"/>
              </a:p>
              <a:p>
                <a:r>
                  <a:rPr lang="zh-CN" altLang="zh-CN" sz="1800" dirty="0"/>
                  <a:t>即有：</a:t>
                </a:r>
              </a:p>
              <a:p>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rPr>
                        <m:t>𝑥</m:t>
                      </m:r>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𝑀</m:t>
                          </m:r>
                        </m:e>
                        <m:sub>
                          <m:r>
                            <a:rPr lang="en-US" altLang="zh-CN" sz="1800" i="1">
                              <a:latin typeface="Cambria Math" panose="02040503050406030204" pitchFamily="18" charset="0"/>
                            </a:rPr>
                            <m:t>𝑗</m:t>
                          </m:r>
                        </m:sub>
                      </m:sSub>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𝑗</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r>
                        <a:rPr lang="en-US" altLang="zh-CN" sz="1800">
                          <a:latin typeface="Cambria Math" panose="02040503050406030204" pitchFamily="18" charset="0"/>
                        </a:rPr>
                        <m:t>(</m:t>
                      </m:r>
                      <m:r>
                        <m:rPr>
                          <m:nor/>
                        </m:rPr>
                        <a:rPr lang="en-US" altLang="zh-CN" sz="1800"/>
                        <m:t>mod</m:t>
                      </m:r>
                      <m:r>
                        <a:rPr lang="en-US" altLang="zh-CN" sz="1800">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r>
                        <a:rPr lang="en-US" altLang="zh-CN" sz="1800">
                          <a:latin typeface="Cambria Math" panose="02040503050406030204" pitchFamily="18" charset="0"/>
                        </a:rPr>
                        <m:t>)</m:t>
                      </m:r>
                    </m:oMath>
                  </m:oMathPara>
                </a14:m>
                <a:endParaRPr lang="zh-CN" altLang="zh-CN" sz="1800" dirty="0"/>
              </a:p>
              <a:p>
                <a:r>
                  <a:rPr lang="zh-CN" altLang="zh-CN" dirty="0"/>
                  <a:t>故</a:t>
                </a:r>
                <a14:m>
                  <m:oMath xmlns:m="http://schemas.openxmlformats.org/officeDocument/2006/math">
                    <m:r>
                      <a:rPr lang="en-US" altLang="zh-CN" i="1">
                        <a:latin typeface="Cambria Math" panose="02040503050406030204" pitchFamily="18" charset="0"/>
                      </a:rPr>
                      <m:t>𝑥</m:t>
                    </m:r>
                  </m:oMath>
                </a14:m>
                <a:r>
                  <a:rPr lang="zh-CN" altLang="zh-CN" dirty="0"/>
                  <a:t>是所有同余方程公共解。</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899592" y="2000153"/>
                <a:ext cx="7812360" cy="3998274"/>
              </a:xfrm>
              <a:prstGeom prst="rect">
                <a:avLst/>
              </a:prstGeom>
              <a:blipFill rotWithShape="0">
                <a:blip r:embed="rId4"/>
                <a:stretch>
                  <a:fillRect l="-1089" t="-758" b="-1818"/>
                </a:stretch>
              </a:blipFill>
              <a:ln w="25400" cmpd="dbl">
                <a:solidFill>
                  <a:schemeClr val="accent1"/>
                </a:solidFill>
                <a:prstDash val="sysDot"/>
              </a:ln>
            </p:spPr>
            <p:txBody>
              <a:bodyPr/>
              <a:lstStyle/>
              <a:p>
                <a:r>
                  <a:rPr lang="zh-CN" altLang="en-US">
                    <a:noFill/>
                  </a:rPr>
                  <a:t> </a:t>
                </a:r>
              </a:p>
            </p:txBody>
          </p:sp>
        </mc:Fallback>
      </mc:AlternateContent>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txBox="1">
            <a:spLocks noGrp="1"/>
          </p:cNvSpPr>
          <p:nvPr/>
        </p:nvSpPr>
        <p:spPr bwMode="auto">
          <a:xfrm>
            <a:off x="684213" y="63817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fld id="{3F629C76-EA6E-4280-AA98-6DA8B1385DB1}" type="datetime1">
              <a:rPr lang="zh-CN" altLang="en-US" sz="1400" b="1">
                <a:latin typeface="+mj-lt"/>
                <a:ea typeface="宋体" panose="02010600030101010101" pitchFamily="2" charset="-122"/>
              </a:rPr>
              <a:pPr eaLnBrk="1" hangingPunct="1">
                <a:defRPr/>
              </a:pPr>
              <a:t>2020/9/7</a:t>
            </a:fld>
            <a:endParaRPr lang="en-US" altLang="zh-CN" sz="1400" b="1">
              <a:latin typeface="+mj-lt"/>
              <a:ea typeface="宋体" panose="02010600030101010101" pitchFamily="2" charset="-122"/>
            </a:endParaRPr>
          </a:p>
        </p:txBody>
      </p:sp>
      <p:sp>
        <p:nvSpPr>
          <p:cNvPr id="6" name="页脚占位符 4"/>
          <p:cNvSpPr txBox="1">
            <a:spLocks noGrp="1"/>
          </p:cNvSpPr>
          <p:nvPr/>
        </p:nvSpPr>
        <p:spPr bwMode="auto">
          <a:xfrm>
            <a:off x="3124200" y="635635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r>
              <a:rPr lang="zh-CN" altLang="en-US" sz="1400" b="1">
                <a:latin typeface="+mj-lt"/>
                <a:ea typeface="宋体" panose="02010600030101010101" pitchFamily="2" charset="-122"/>
              </a:rPr>
              <a:t>计算机应用技术研究所</a:t>
            </a:r>
          </a:p>
        </p:txBody>
      </p:sp>
      <p:sp>
        <p:nvSpPr>
          <p:cNvPr id="7" name="灯片编号占位符 5"/>
          <p:cNvSpPr txBox="1">
            <a:spLocks noGrp="1"/>
          </p:cNvSpPr>
          <p:nvPr/>
        </p:nvSpPr>
        <p:spPr bwMode="auto">
          <a:xfrm>
            <a:off x="6553200" y="63563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defRPr/>
            </a:pPr>
            <a:fld id="{E65BB649-5D3A-4B9E-AFD5-7A31CA66D341}" type="slidenum">
              <a:rPr lang="en-US" altLang="zh-CN" sz="1400" b="1">
                <a:latin typeface="+mj-lt"/>
                <a:ea typeface="宋体" panose="02010600030101010101" pitchFamily="2" charset="-122"/>
              </a:rPr>
              <a:pPr algn="r" eaLnBrk="1" hangingPunct="1">
                <a:defRPr/>
              </a:pPr>
              <a:t>93</a:t>
            </a:fld>
            <a:endParaRPr lang="en-US" altLang="zh-CN" sz="1400" b="1">
              <a:latin typeface="+mj-lt"/>
              <a:ea typeface="宋体" panose="02010600030101010101" pitchFamily="2" charset="-122"/>
            </a:endParaRPr>
          </a:p>
        </p:txBody>
      </p:sp>
      <p:sp>
        <p:nvSpPr>
          <p:cNvPr id="100357" name="Text Box 2"/>
          <p:cNvSpPr txBox="1">
            <a:spLocks noChangeArrowheads="1"/>
          </p:cNvSpPr>
          <p:nvPr/>
        </p:nvSpPr>
        <p:spPr bwMode="auto">
          <a:xfrm>
            <a:off x="1404938" y="876300"/>
            <a:ext cx="66452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证明</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0035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307195" y="2027238"/>
                <a:ext cx="6840760" cy="1477328"/>
              </a:xfrm>
              <a:prstGeom prst="rect">
                <a:avLst/>
              </a:prstGeom>
              <a:solidFill>
                <a:srgbClr val="FF66FF"/>
              </a:solidFill>
              <a:ln w="22225" cmpd="dbl">
                <a:solidFill>
                  <a:schemeClr val="accent1"/>
                </a:solidFill>
                <a:prstDash val="sysDot"/>
              </a:ln>
            </p:spPr>
            <p:txBody>
              <a:bodyPr wrap="square" rtlCol="0">
                <a:spAutoFit/>
              </a:bodyPr>
              <a:lstStyle/>
              <a:p>
                <a:r>
                  <a:rPr lang="zh-CN" altLang="zh-CN" sz="1800" dirty="0"/>
                  <a:t>其次，证明任何两个解均模</a:t>
                </a:r>
                <a14:m>
                  <m:oMath xmlns:m="http://schemas.openxmlformats.org/officeDocument/2006/math">
                    <m:r>
                      <a:rPr lang="en-US" altLang="zh-CN" sz="1800" i="1">
                        <a:latin typeface="Cambria Math" panose="02040503050406030204" pitchFamily="18" charset="0"/>
                      </a:rPr>
                      <m:t>𝑀</m:t>
                    </m:r>
                  </m:oMath>
                </a14:m>
                <a:r>
                  <a:rPr lang="zh-CN" altLang="zh-CN" sz="1800" dirty="0"/>
                  <a:t>同余：假设</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0</m:t>
                        </m:r>
                      </m:sub>
                    </m:sSub>
                    <m:r>
                      <a:rPr lang="zh-CN"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1</m:t>
                        </m:r>
                      </m:sub>
                    </m:sSub>
                  </m:oMath>
                </a14:m>
                <a:r>
                  <a:rPr lang="zh-CN" altLang="zh-CN" sz="1800" dirty="0"/>
                  <a:t>是任意两个同余式组的解，则有：</a:t>
                </a:r>
              </a:p>
              <a:p>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0</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r>
                        <a:rPr lang="en-US" altLang="zh-CN" sz="1800">
                          <a:latin typeface="Cambria Math" panose="02040503050406030204" pitchFamily="18" charset="0"/>
                        </a:rPr>
                        <m:t>(</m:t>
                      </m:r>
                      <m:r>
                        <m:rPr>
                          <m:nor/>
                        </m:rPr>
                        <a:rPr lang="en-US" altLang="zh-CN" sz="1800"/>
                        <m:t>mod</m:t>
                      </m:r>
                      <m:r>
                        <a:rPr lang="en-US" altLang="zh-CN" sz="1800">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r>
                        <a:rPr lang="en-US" altLang="zh-CN" sz="1800">
                          <a:latin typeface="Cambria Math" panose="02040503050406030204" pitchFamily="18" charset="0"/>
                        </a:rPr>
                        <m:t>)</m:t>
                      </m:r>
                    </m:oMath>
                  </m:oMathPara>
                </a14:m>
                <a:endParaRPr lang="zh-CN" altLang="zh-CN" sz="1800" dirty="0"/>
              </a:p>
              <a:p>
                <a:r>
                  <a:rPr lang="zh-CN" altLang="zh-CN" sz="1800" dirty="0"/>
                  <a:t>因此</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0</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1</m:t>
                        </m:r>
                      </m:sub>
                    </m:sSub>
                    <m:r>
                      <a:rPr lang="en-US" altLang="zh-CN" sz="1800">
                        <a:latin typeface="Cambria Math" panose="02040503050406030204" pitchFamily="18" charset="0"/>
                      </a:rPr>
                      <m:t>)</m:t>
                    </m:r>
                  </m:oMath>
                </a14:m>
                <a:r>
                  <a:rPr lang="zh-CN" altLang="zh-CN" sz="1800" dirty="0"/>
                  <a:t>。 由于</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𝑖</m:t>
                        </m:r>
                      </m:sub>
                    </m:sSub>
                  </m:oMath>
                </a14:m>
                <a:r>
                  <a:rPr lang="zh-CN" altLang="zh-CN" sz="1800" dirty="0"/>
                  <a:t>两两互素，故</a:t>
                </a:r>
                <a14:m>
                  <m:oMath xmlns:m="http://schemas.openxmlformats.org/officeDocument/2006/math">
                    <m:r>
                      <a:rPr lang="en-US" altLang="zh-CN" sz="1800" i="1">
                        <a:latin typeface="Cambria Math" panose="02040503050406030204" pitchFamily="18" charset="0"/>
                      </a:rPr>
                      <m:t>𝑀</m:t>
                    </m:r>
                    <m:r>
                      <a:rPr lang="en-US" altLang="zh-CN" sz="1800" i="1">
                        <a:latin typeface="Cambria Math" panose="02040503050406030204" pitchFamily="18" charset="0"/>
                      </a:rPr>
                      <m:t>|</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0</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1</m:t>
                        </m:r>
                      </m:sub>
                    </m:sSub>
                    <m:r>
                      <a:rPr lang="en-US" altLang="zh-CN" sz="1800">
                        <a:latin typeface="Cambria Math" panose="02040503050406030204" pitchFamily="18" charset="0"/>
                      </a:rPr>
                      <m:t>)</m:t>
                    </m:r>
                  </m:oMath>
                </a14:m>
                <a:r>
                  <a:rPr lang="zh-CN" altLang="zh-CN" sz="1800" dirty="0"/>
                  <a:t>，即有</a:t>
                </a:r>
                <a14:m>
                  <m:oMath xmlns:m="http://schemas.openxmlformats.org/officeDocument/2006/math">
                    <m:r>
                      <a:rPr lang="en-US" altLang="zh-CN" sz="1800" i="1">
                        <a:latin typeface="Cambria Math" panose="02040503050406030204" pitchFamily="18" charset="0"/>
                      </a:rPr>
                      <m:t>𝑥</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0</m:t>
                        </m:r>
                      </m:sub>
                    </m:sSub>
                    <m:r>
                      <a:rPr lang="en-US" altLang="zh-CN" sz="1800">
                        <a:latin typeface="Cambria Math" panose="02040503050406030204" pitchFamily="18" charset="0"/>
                      </a:rPr>
                      <m:t>(</m:t>
                    </m:r>
                    <m:r>
                      <a:rPr lang="en-US" altLang="zh-CN" sz="1800" i="1">
                        <a:latin typeface="Cambria Math" panose="02040503050406030204" pitchFamily="18" charset="0"/>
                      </a:rPr>
                      <m:t>𝑚𝑜𝑑</m:t>
                    </m:r>
                    <m:r>
                      <a:rPr lang="en-US" altLang="zh-CN" sz="1800">
                        <a:latin typeface="Cambria Math" panose="02040503050406030204" pitchFamily="18" charset="0"/>
                      </a:rPr>
                      <m:t> </m:t>
                    </m:r>
                    <m:r>
                      <a:rPr lang="en-US" altLang="zh-CN" sz="1800" i="1">
                        <a:latin typeface="Cambria Math" panose="02040503050406030204" pitchFamily="18" charset="0"/>
                      </a:rPr>
                      <m:t>𝑀</m:t>
                    </m:r>
                    <m:r>
                      <a:rPr lang="en-US" altLang="zh-CN" sz="1800">
                        <a:latin typeface="Cambria Math" panose="02040503050406030204" pitchFamily="18" charset="0"/>
                      </a:rPr>
                      <m:t>)</m:t>
                    </m:r>
                  </m:oMath>
                </a14:m>
                <a:r>
                  <a:rPr lang="zh-CN" altLang="zh-CN" sz="1800" dirty="0"/>
                  <a:t>。因此同余式组（</a:t>
                </a:r>
                <a:r>
                  <a:rPr lang="en-US" altLang="zh-CN" sz="1800" dirty="0"/>
                  <a:t>2-14</a:t>
                </a:r>
                <a:r>
                  <a:rPr lang="zh-CN" altLang="zh-CN" sz="1800" dirty="0"/>
                  <a:t>）的模</a:t>
                </a:r>
                <a:r>
                  <a:rPr lang="en-US" altLang="zh-CN" sz="1800" i="1" dirty="0"/>
                  <a:t>M</a:t>
                </a:r>
                <a:r>
                  <a:rPr lang="zh-CN" altLang="zh-CN" sz="1800" dirty="0"/>
                  <a:t>不同余解是唯一的。</a:t>
                </a:r>
                <a:endParaRPr lang="zh-CN" altLang="en-US" sz="1800" dirty="0"/>
              </a:p>
            </p:txBody>
          </p:sp>
        </mc:Choice>
        <mc:Fallback xmlns="">
          <p:sp>
            <p:nvSpPr>
              <p:cNvPr id="2" name="文本框 1"/>
              <p:cNvSpPr txBox="1">
                <a:spLocks noRot="1" noChangeAspect="1" noMove="1" noResize="1" noEditPoints="1" noAdjustHandles="1" noChangeArrowheads="1" noChangeShapeType="1" noTextEdit="1"/>
              </p:cNvSpPr>
              <p:nvPr/>
            </p:nvSpPr>
            <p:spPr>
              <a:xfrm>
                <a:off x="1307195" y="2027238"/>
                <a:ext cx="6840760" cy="1477328"/>
              </a:xfrm>
              <a:prstGeom prst="rect">
                <a:avLst/>
              </a:prstGeom>
              <a:blipFill rotWithShape="0">
                <a:blip r:embed="rId4"/>
                <a:stretch>
                  <a:fillRect l="-532" t="-2439" b="-4065"/>
                </a:stretch>
              </a:blipFill>
              <a:ln w="22225" cmpd="dbl">
                <a:solidFill>
                  <a:schemeClr val="accent1"/>
                </a:solidFill>
                <a:prstDash val="sysDot"/>
              </a:ln>
            </p:spPr>
            <p:txBody>
              <a:bodyPr/>
              <a:lstStyle/>
              <a:p>
                <a:r>
                  <a:rPr lang="zh-CN" altLang="en-US">
                    <a:noFill/>
                  </a:rPr>
                  <a:t> </a:t>
                </a:r>
              </a:p>
            </p:txBody>
          </p:sp>
        </mc:Fallback>
      </mc:AlternateContent>
      <p:sp>
        <p:nvSpPr>
          <p:cNvPr id="4" name="燕尾形箭头 3"/>
          <p:cNvSpPr/>
          <p:nvPr/>
        </p:nvSpPr>
        <p:spPr bwMode="auto">
          <a:xfrm rot="19727484">
            <a:off x="1585471" y="3809168"/>
            <a:ext cx="1260140" cy="302285"/>
          </a:xfrm>
          <a:prstGeom prst="notchedRightArrow">
            <a:avLst>
              <a:gd name="adj1" fmla="val 69795"/>
              <a:gd name="adj2" fmla="val 72193"/>
            </a:avLst>
          </a:prstGeom>
          <a:solidFill>
            <a:srgbClr val="00B05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9" name="弦形 8"/>
          <p:cNvSpPr/>
          <p:nvPr/>
        </p:nvSpPr>
        <p:spPr bwMode="auto">
          <a:xfrm rot="20273742">
            <a:off x="314272" y="3825604"/>
            <a:ext cx="2357596" cy="1370456"/>
          </a:xfrm>
          <a:prstGeom prst="chord">
            <a:avLst>
              <a:gd name="adj1" fmla="val 3312278"/>
              <a:gd name="adj2" fmla="val 16950237"/>
            </a:avLst>
          </a:prstGeom>
          <a:solidFill>
            <a:schemeClr val="accent2">
              <a:lumMod val="75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0" name="文本框 9"/>
          <p:cNvSpPr txBox="1"/>
          <p:nvPr/>
        </p:nvSpPr>
        <p:spPr>
          <a:xfrm>
            <a:off x="539552" y="4149080"/>
            <a:ext cx="1295499" cy="1015663"/>
          </a:xfrm>
          <a:prstGeom prst="rect">
            <a:avLst/>
          </a:prstGeom>
          <a:noFill/>
        </p:spPr>
        <p:txBody>
          <a:bodyPr wrap="square" rtlCol="0">
            <a:spAutoFit/>
          </a:bodyPr>
          <a:lstStyle/>
          <a:p>
            <a:r>
              <a:rPr lang="zh-CN" altLang="zh-CN" sz="1200"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当以上定义的同余方程组中所有模两两互素时，方程组一定有唯一的一组解。</a:t>
            </a:r>
            <a:endParaRPr lang="zh-CN" altLang="en-US" sz="1200"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endParaRPr>
          </a:p>
        </p:txBody>
      </p:sp>
      <p:pic>
        <p:nvPicPr>
          <p:cNvPr id="11" name="图片 10"/>
          <p:cNvPicPr>
            <a:picLocks noChangeAspect="1"/>
          </p:cNvPicPr>
          <p:nvPr/>
        </p:nvPicPr>
        <p:blipFill>
          <a:blip r:embed="rId5"/>
          <a:stretch>
            <a:fillRect/>
          </a:stretch>
        </p:blipFill>
        <p:spPr>
          <a:xfrm>
            <a:off x="3491880" y="3531733"/>
            <a:ext cx="4558333" cy="2744879"/>
          </a:xfrm>
          <a:prstGeom prst="rect">
            <a:avLst/>
          </a:prstGeom>
        </p:spPr>
      </p:pic>
      <p:sp>
        <p:nvSpPr>
          <p:cNvPr id="12" name="文本框 11"/>
          <p:cNvSpPr txBox="1"/>
          <p:nvPr/>
        </p:nvSpPr>
        <p:spPr>
          <a:xfrm>
            <a:off x="5329064" y="3731579"/>
            <a:ext cx="2448272" cy="584775"/>
          </a:xfrm>
          <a:prstGeom prst="rect">
            <a:avLst/>
          </a:prstGeom>
          <a:noFill/>
        </p:spPr>
        <p:txBody>
          <a:bodyPr wrap="square" rtlCol="0">
            <a:spAutoFit/>
          </a:bodyPr>
          <a:lstStyle/>
          <a:p>
            <a:r>
              <a:rPr lang="zh-CN" altLang="en-US" sz="1600" dirty="0" smtClean="0">
                <a:solidFill>
                  <a:srgbClr val="00B050"/>
                </a:solidFill>
              </a:rPr>
              <a:t>如何用算法步骤表示中国剩余定理？</a:t>
            </a:r>
            <a:endParaRPr lang="zh-CN" altLang="en-US" sz="1600" dirty="0">
              <a:solidFill>
                <a:srgbClr val="00B050"/>
              </a:solidFill>
            </a:endParaRP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txBox="1">
            <a:spLocks noGrp="1"/>
          </p:cNvSpPr>
          <p:nvPr/>
        </p:nvSpPr>
        <p:spPr bwMode="auto">
          <a:xfrm>
            <a:off x="684213" y="63817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fld id="{3F629C76-EA6E-4280-AA98-6DA8B1385DB1}" type="datetime1">
              <a:rPr lang="zh-CN" altLang="en-US" sz="1400" b="1">
                <a:latin typeface="+mj-lt"/>
                <a:ea typeface="宋体" panose="02010600030101010101" pitchFamily="2" charset="-122"/>
              </a:rPr>
              <a:pPr eaLnBrk="1" hangingPunct="1">
                <a:defRPr/>
              </a:pPr>
              <a:t>2020/9/7</a:t>
            </a:fld>
            <a:endParaRPr lang="en-US" altLang="zh-CN" sz="1400" b="1">
              <a:latin typeface="+mj-lt"/>
              <a:ea typeface="宋体" panose="02010600030101010101" pitchFamily="2" charset="-122"/>
            </a:endParaRPr>
          </a:p>
        </p:txBody>
      </p:sp>
      <p:sp>
        <p:nvSpPr>
          <p:cNvPr id="6" name="页脚占位符 4"/>
          <p:cNvSpPr txBox="1">
            <a:spLocks noGrp="1"/>
          </p:cNvSpPr>
          <p:nvPr/>
        </p:nvSpPr>
        <p:spPr bwMode="auto">
          <a:xfrm>
            <a:off x="3124200" y="635635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r>
              <a:rPr lang="zh-CN" altLang="en-US" sz="1400" b="1">
                <a:latin typeface="+mj-lt"/>
                <a:ea typeface="宋体" panose="02010600030101010101" pitchFamily="2" charset="-122"/>
              </a:rPr>
              <a:t>计算机应用技术研究所</a:t>
            </a:r>
          </a:p>
        </p:txBody>
      </p:sp>
      <p:sp>
        <p:nvSpPr>
          <p:cNvPr id="7" name="灯片编号占位符 5"/>
          <p:cNvSpPr txBox="1">
            <a:spLocks noGrp="1"/>
          </p:cNvSpPr>
          <p:nvPr/>
        </p:nvSpPr>
        <p:spPr bwMode="auto">
          <a:xfrm>
            <a:off x="6553200" y="63563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defRPr/>
            </a:pPr>
            <a:fld id="{4E894874-35B4-48DF-B8CC-D87BE0BCBB99}" type="slidenum">
              <a:rPr lang="en-US" altLang="zh-CN" sz="1400" b="1">
                <a:latin typeface="+mj-lt"/>
                <a:ea typeface="宋体" panose="02010600030101010101" pitchFamily="2" charset="-122"/>
              </a:rPr>
              <a:pPr algn="r" eaLnBrk="1" hangingPunct="1">
                <a:defRPr/>
              </a:pPr>
              <a:t>94</a:t>
            </a:fld>
            <a:endParaRPr lang="en-US" altLang="zh-CN" sz="1400" b="1">
              <a:latin typeface="+mj-lt"/>
              <a:ea typeface="宋体" panose="02010600030101010101" pitchFamily="2" charset="-122"/>
            </a:endParaRPr>
          </a:p>
        </p:txBody>
      </p:sp>
      <p:sp>
        <p:nvSpPr>
          <p:cNvPr id="102406" name="Text Box 2"/>
          <p:cNvSpPr txBox="1">
            <a:spLocks noChangeArrowheads="1"/>
          </p:cNvSpPr>
          <p:nvPr/>
        </p:nvSpPr>
        <p:spPr bwMode="auto">
          <a:xfrm>
            <a:off x="1404938" y="876300"/>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中国剩余定理</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02407"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981213" y="1988840"/>
            <a:ext cx="5544616" cy="3785652"/>
          </a:xfrm>
          <a:prstGeom prst="rect">
            <a:avLst/>
          </a:prstGeom>
          <a:solidFill>
            <a:srgbClr val="CCECFF"/>
          </a:solidFill>
          <a:effectLst>
            <a:glow rad="76200">
              <a:srgbClr val="FFFF00">
                <a:alpha val="40000"/>
              </a:srgbClr>
            </a:glow>
          </a:effectLst>
        </p:spPr>
        <p:txBody>
          <a:bodyPr wrap="square" rtlCol="0">
            <a:spAutoFit/>
          </a:bodyPr>
          <a:lstStyle/>
          <a:p>
            <a:pPr marL="342900" indent="-342900">
              <a:buFont typeface="Wingdings" panose="05000000000000000000" pitchFamily="2" charset="2"/>
              <a:buChar char="p"/>
            </a:pPr>
            <a:r>
              <a:rPr lang="zh-CN" altLang="en-US" dirty="0"/>
              <a:t>第一步</a:t>
            </a:r>
            <a:r>
              <a:rPr lang="en-US" altLang="zh-CN" dirty="0"/>
              <a:t>:</a:t>
            </a:r>
          </a:p>
          <a:p>
            <a:r>
              <a:rPr lang="zh-CN" altLang="en-US" dirty="0" smtClean="0"/>
              <a:t>  求</a:t>
            </a:r>
            <a:r>
              <a:rPr lang="zh-CN" altLang="en-US" dirty="0"/>
              <a:t>各除数的</a:t>
            </a:r>
            <a:r>
              <a:rPr lang="zh-CN" altLang="en-US" dirty="0" smtClean="0"/>
              <a:t>最小公倍数；</a:t>
            </a:r>
            <a:endParaRPr lang="en-US" altLang="zh-CN" dirty="0" smtClean="0"/>
          </a:p>
          <a:p>
            <a:pPr marL="342900" indent="-342900">
              <a:buFont typeface="Wingdings" panose="05000000000000000000" pitchFamily="2" charset="2"/>
              <a:buChar char="p"/>
            </a:pPr>
            <a:r>
              <a:rPr lang="zh-CN" altLang="en-US" dirty="0"/>
              <a:t>第二步</a:t>
            </a:r>
            <a:r>
              <a:rPr lang="en-US" altLang="zh-CN" dirty="0"/>
              <a:t>:</a:t>
            </a:r>
          </a:p>
          <a:p>
            <a:r>
              <a:rPr lang="zh-CN" altLang="en-US" dirty="0" smtClean="0"/>
              <a:t>  求</a:t>
            </a:r>
            <a:r>
              <a:rPr lang="zh-CN" altLang="en-US" dirty="0"/>
              <a:t>各除数的基础</a:t>
            </a:r>
            <a:r>
              <a:rPr lang="zh-CN" altLang="en-US" dirty="0" smtClean="0"/>
              <a:t>数；</a:t>
            </a:r>
            <a:endParaRPr lang="en-US" altLang="zh-CN" dirty="0" smtClean="0"/>
          </a:p>
          <a:p>
            <a:pPr marL="342900" indent="-342900">
              <a:buFont typeface="Wingdings" panose="05000000000000000000" pitchFamily="2" charset="2"/>
              <a:buChar char="p"/>
            </a:pPr>
            <a:r>
              <a:rPr lang="zh-CN" altLang="en-US" dirty="0"/>
              <a:t>第三步：</a:t>
            </a:r>
            <a:br>
              <a:rPr lang="zh-CN" altLang="en-US" dirty="0"/>
            </a:br>
            <a:r>
              <a:rPr lang="zh-CN" altLang="en-US" dirty="0" smtClean="0"/>
              <a:t>  求</a:t>
            </a:r>
            <a:r>
              <a:rPr lang="zh-CN" altLang="en-US" dirty="0"/>
              <a:t>各基础数</a:t>
            </a:r>
            <a:r>
              <a:rPr lang="zh-CN" altLang="en-US" dirty="0" smtClean="0"/>
              <a:t>和；</a:t>
            </a:r>
            <a:endParaRPr lang="en-US" altLang="zh-CN" dirty="0" smtClean="0"/>
          </a:p>
          <a:p>
            <a:pPr marL="342900" indent="-342900">
              <a:buFont typeface="Wingdings" panose="05000000000000000000" pitchFamily="2" charset="2"/>
              <a:buChar char="p"/>
            </a:pPr>
            <a:r>
              <a:rPr lang="zh-CN" altLang="en-US" dirty="0"/>
              <a:t>第四步</a:t>
            </a:r>
            <a:r>
              <a:rPr lang="en-US" altLang="zh-CN" dirty="0"/>
              <a:t>:</a:t>
            </a:r>
            <a:br>
              <a:rPr lang="en-US" altLang="zh-CN" dirty="0"/>
            </a:br>
            <a:r>
              <a:rPr lang="en-US" altLang="zh-CN" dirty="0" smtClean="0"/>
              <a:t>  </a:t>
            </a:r>
            <a:r>
              <a:rPr lang="zh-CN" altLang="en-US" dirty="0" smtClean="0"/>
              <a:t>求</a:t>
            </a:r>
            <a:r>
              <a:rPr lang="zh-CN" altLang="en-US" dirty="0"/>
              <a:t>基准数</a:t>
            </a:r>
            <a:r>
              <a:rPr lang="en-US" altLang="zh-CN" dirty="0"/>
              <a:t>(</a:t>
            </a:r>
            <a:r>
              <a:rPr lang="zh-CN" altLang="en-US" dirty="0"/>
              <a:t>最小的，只有一个</a:t>
            </a:r>
            <a:r>
              <a:rPr lang="en-US" altLang="zh-CN" dirty="0" smtClean="0"/>
              <a:t>)</a:t>
            </a:r>
            <a:r>
              <a:rPr lang="zh-CN" altLang="en-US" dirty="0" smtClean="0"/>
              <a:t>；</a:t>
            </a:r>
            <a:endParaRPr lang="en-US" altLang="zh-CN" dirty="0" smtClean="0"/>
          </a:p>
          <a:p>
            <a:pPr marL="342900" indent="-342900">
              <a:buFont typeface="Wingdings" panose="05000000000000000000" pitchFamily="2" charset="2"/>
              <a:buChar char="p"/>
            </a:pPr>
            <a:r>
              <a:rPr lang="zh-CN" altLang="en-US" dirty="0"/>
              <a:t>第五步</a:t>
            </a:r>
            <a:r>
              <a:rPr lang="en-US" altLang="zh-CN" dirty="0"/>
              <a:t>:</a:t>
            </a:r>
          </a:p>
          <a:p>
            <a:r>
              <a:rPr lang="zh-CN" altLang="en-US" dirty="0" smtClean="0"/>
              <a:t>  求</a:t>
            </a:r>
            <a:r>
              <a:rPr lang="zh-CN" altLang="en-US" dirty="0"/>
              <a:t>适合条件的数</a:t>
            </a:r>
            <a:r>
              <a:rPr lang="en-US" altLang="zh-CN" dirty="0" smtClean="0"/>
              <a:t>X</a:t>
            </a:r>
            <a:r>
              <a:rPr lang="zh-CN" altLang="en-US" dirty="0" smtClean="0"/>
              <a:t>。</a:t>
            </a:r>
            <a:endParaRPr lang="en-US" altLang="zh-CN" dirty="0"/>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txBox="1">
            <a:spLocks noGrp="1"/>
          </p:cNvSpPr>
          <p:nvPr/>
        </p:nvSpPr>
        <p:spPr bwMode="auto">
          <a:xfrm>
            <a:off x="684213" y="63817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fld id="{3F629C76-EA6E-4280-AA98-6DA8B1385DB1}" type="datetime1">
              <a:rPr lang="zh-CN" altLang="en-US" sz="1400" b="1">
                <a:latin typeface="+mj-lt"/>
                <a:ea typeface="宋体" panose="02010600030101010101" pitchFamily="2" charset="-122"/>
              </a:rPr>
              <a:pPr eaLnBrk="1" hangingPunct="1">
                <a:defRPr/>
              </a:pPr>
              <a:t>2020/9/7</a:t>
            </a:fld>
            <a:endParaRPr lang="en-US" altLang="zh-CN" sz="1400" b="1">
              <a:latin typeface="+mj-lt"/>
              <a:ea typeface="宋体" panose="02010600030101010101" pitchFamily="2" charset="-122"/>
            </a:endParaRPr>
          </a:p>
        </p:txBody>
      </p:sp>
      <p:sp>
        <p:nvSpPr>
          <p:cNvPr id="6" name="页脚占位符 4"/>
          <p:cNvSpPr txBox="1">
            <a:spLocks noGrp="1"/>
          </p:cNvSpPr>
          <p:nvPr/>
        </p:nvSpPr>
        <p:spPr bwMode="auto">
          <a:xfrm>
            <a:off x="3124200" y="635635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r>
              <a:rPr lang="zh-CN" altLang="en-US" sz="1400" b="1">
                <a:latin typeface="+mj-lt"/>
                <a:ea typeface="宋体" panose="02010600030101010101" pitchFamily="2" charset="-122"/>
              </a:rPr>
              <a:t>计算机应用技术研究所</a:t>
            </a:r>
          </a:p>
        </p:txBody>
      </p:sp>
      <p:sp>
        <p:nvSpPr>
          <p:cNvPr id="7" name="灯片编号占位符 5"/>
          <p:cNvSpPr txBox="1">
            <a:spLocks noGrp="1"/>
          </p:cNvSpPr>
          <p:nvPr/>
        </p:nvSpPr>
        <p:spPr bwMode="auto">
          <a:xfrm>
            <a:off x="6553200" y="635635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defRPr/>
            </a:pPr>
            <a:fld id="{1D2CE631-14AE-4945-8C48-3944FE3E6A63}" type="slidenum">
              <a:rPr lang="en-US" altLang="zh-CN" sz="1400" b="1">
                <a:latin typeface="+mj-lt"/>
                <a:ea typeface="宋体" panose="02010600030101010101" pitchFamily="2" charset="-122"/>
              </a:rPr>
              <a:pPr algn="r" eaLnBrk="1" hangingPunct="1">
                <a:defRPr/>
              </a:pPr>
              <a:t>95</a:t>
            </a:fld>
            <a:endParaRPr lang="en-US" altLang="zh-CN" sz="1400" b="1">
              <a:latin typeface="+mj-lt"/>
              <a:ea typeface="宋体" panose="02010600030101010101" pitchFamily="2" charset="-122"/>
            </a:endParaRPr>
          </a:p>
        </p:txBody>
      </p:sp>
      <p:sp>
        <p:nvSpPr>
          <p:cNvPr id="99333" name="Text Box 2"/>
          <p:cNvSpPr txBox="1">
            <a:spLocks noChangeArrowheads="1"/>
          </p:cNvSpPr>
          <p:nvPr/>
        </p:nvSpPr>
        <p:spPr bwMode="auto">
          <a:xfrm>
            <a:off x="1404938" y="876300"/>
            <a:ext cx="66452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例题</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9933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199183" y="1800225"/>
                <a:ext cx="7056784" cy="4618380"/>
              </a:xfrm>
              <a:prstGeom prst="rect">
                <a:avLst/>
              </a:prstGeom>
              <a:noFill/>
            </p:spPr>
            <p:txBody>
              <a:bodyPr wrap="square" rtlCol="0">
                <a:spAutoFit/>
              </a:bodyPr>
              <a:lstStyle/>
              <a:p>
                <a:r>
                  <a:rPr lang="zh-CN" altLang="zh-CN" sz="1800" dirty="0"/>
                  <a:t>【例题</a:t>
                </a:r>
                <a:r>
                  <a:rPr lang="en-US" altLang="zh-CN" sz="1800" dirty="0"/>
                  <a:t>2.29</a:t>
                </a:r>
                <a:r>
                  <a:rPr lang="zh-CN" altLang="zh-CN" sz="1800" dirty="0"/>
                  <a:t>】 求整数</a:t>
                </a:r>
                <a:r>
                  <a:rPr lang="en-US" altLang="zh-CN" sz="1800" i="1" dirty="0"/>
                  <a:t>n</a:t>
                </a:r>
                <a:r>
                  <a:rPr lang="zh-CN" altLang="zh-CN" sz="1800" dirty="0"/>
                  <a:t>，它被</a:t>
                </a:r>
                <a:r>
                  <a:rPr lang="en-US" altLang="zh-CN" sz="1800" dirty="0"/>
                  <a:t>3</a:t>
                </a:r>
                <a:r>
                  <a:rPr lang="zh-CN" altLang="zh-CN" sz="1800" dirty="0"/>
                  <a:t>，</a:t>
                </a:r>
                <a:r>
                  <a:rPr lang="en-US" altLang="zh-CN" sz="1800" dirty="0"/>
                  <a:t>5</a:t>
                </a:r>
                <a:r>
                  <a:rPr lang="zh-CN" altLang="zh-CN" sz="1800" dirty="0"/>
                  <a:t>，</a:t>
                </a:r>
                <a:r>
                  <a:rPr lang="en-US" altLang="zh-CN" sz="1800" dirty="0"/>
                  <a:t>7</a:t>
                </a:r>
                <a:r>
                  <a:rPr lang="zh-CN" altLang="zh-CN" sz="1800" dirty="0"/>
                  <a:t>除的余数分别是</a:t>
                </a:r>
                <a:r>
                  <a:rPr lang="en-US" altLang="zh-CN" sz="1800" dirty="0"/>
                  <a:t>1</a:t>
                </a:r>
                <a:r>
                  <a:rPr lang="zh-CN" altLang="zh-CN" sz="1800" dirty="0"/>
                  <a:t>，</a:t>
                </a:r>
                <a:r>
                  <a:rPr lang="en-US" altLang="zh-CN" sz="1800" dirty="0"/>
                  <a:t>2</a:t>
                </a:r>
                <a:r>
                  <a:rPr lang="zh-CN" altLang="zh-CN" sz="1800" dirty="0"/>
                  <a:t>，</a:t>
                </a:r>
                <a:r>
                  <a:rPr lang="en-US" altLang="zh-CN" sz="1800" dirty="0"/>
                  <a:t>3</a:t>
                </a:r>
                <a:r>
                  <a:rPr lang="zh-CN" altLang="zh-CN" sz="1800" dirty="0"/>
                  <a:t>。</a:t>
                </a:r>
              </a:p>
              <a:p>
                <a:r>
                  <a:rPr lang="zh-CN" altLang="zh-CN" sz="1800" dirty="0"/>
                  <a:t>【解】设</a:t>
                </a:r>
                <a:r>
                  <a:rPr lang="en-US" altLang="zh-CN" sz="1800" i="1" dirty="0"/>
                  <a:t>n</a:t>
                </a:r>
                <a:r>
                  <a:rPr lang="zh-CN" altLang="zh-CN" sz="1800" dirty="0"/>
                  <a:t>是同余方程组</a:t>
                </a:r>
              </a:p>
              <a:p>
                <a:pPr/>
                <a14:m>
                  <m:oMathPara xmlns:m="http://schemas.openxmlformats.org/officeDocument/2006/math">
                    <m:oMathParaPr>
                      <m:jc m:val="centerGroup"/>
                    </m:oMathParaPr>
                    <m:oMath xmlns:m="http://schemas.openxmlformats.org/officeDocument/2006/math">
                      <m:d>
                        <m:dPr>
                          <m:begChr m:val="{"/>
                          <m:endChr m:val=""/>
                          <m:ctrlPr>
                            <a:rPr lang="zh-CN" altLang="zh-CN" sz="1800" i="1">
                              <a:latin typeface="Cambria Math" panose="02040503050406030204" pitchFamily="18" charset="0"/>
                            </a:rPr>
                          </m:ctrlPr>
                        </m:dPr>
                        <m:e>
                          <m:eqArr>
                            <m:eqArrPr>
                              <m:ctrlPr>
                                <a:rPr lang="zh-CN" altLang="zh-CN" sz="1800" i="1">
                                  <a:latin typeface="Cambria Math" panose="02040503050406030204" pitchFamily="18" charset="0"/>
                                </a:rPr>
                              </m:ctrlPr>
                            </m:eqArrPr>
                            <m:e>
                              <m:r>
                                <a:rPr lang="en-US" altLang="zh-CN" sz="1800" i="1">
                                  <a:latin typeface="Cambria Math" panose="02040503050406030204" pitchFamily="18" charset="0"/>
                                </a:rPr>
                                <m:t>𝑛</m:t>
                              </m:r>
                              <m:r>
                                <a:rPr lang="en-US" altLang="zh-CN" sz="1800" i="1">
                                  <a:latin typeface="Cambria Math" panose="02040503050406030204" pitchFamily="18" charset="0"/>
                                </a:rPr>
                                <m:t>≡1(</m:t>
                              </m:r>
                              <m:r>
                                <m:rPr>
                                  <m:nor/>
                                </m:rPr>
                                <a:rPr lang="en-US" altLang="zh-CN" sz="1800"/>
                                <m:t>mod</m:t>
                              </m:r>
                              <m:r>
                                <a:rPr lang="en-US" altLang="zh-CN" sz="1800" i="1">
                                  <a:latin typeface="Cambria Math" panose="02040503050406030204" pitchFamily="18" charset="0"/>
                                </a:rPr>
                                <m:t> 3)</m:t>
                              </m:r>
                            </m:e>
                            <m:e>
                              <m:r>
                                <a:rPr lang="en-US" altLang="zh-CN" sz="1800" i="1">
                                  <a:latin typeface="Cambria Math" panose="02040503050406030204" pitchFamily="18" charset="0"/>
                                </a:rPr>
                                <m:t>𝑛</m:t>
                              </m:r>
                              <m:r>
                                <a:rPr lang="en-US" altLang="zh-CN" sz="1800" i="1">
                                  <a:latin typeface="Cambria Math" panose="02040503050406030204" pitchFamily="18" charset="0"/>
                                </a:rPr>
                                <m:t>≡2(</m:t>
                              </m:r>
                              <m:r>
                                <m:rPr>
                                  <m:nor/>
                                </m:rPr>
                                <a:rPr lang="en-US" altLang="zh-CN" sz="1800"/>
                                <m:t>mod</m:t>
                              </m:r>
                              <m:r>
                                <a:rPr lang="en-US" altLang="zh-CN" sz="1800" i="1">
                                  <a:latin typeface="Cambria Math" panose="02040503050406030204" pitchFamily="18" charset="0"/>
                                </a:rPr>
                                <m:t> 5)</m:t>
                              </m:r>
                            </m:e>
                            <m:e>
                              <m:r>
                                <a:rPr lang="en-US" altLang="zh-CN" sz="1800" i="1">
                                  <a:latin typeface="Cambria Math" panose="02040503050406030204" pitchFamily="18" charset="0"/>
                                </a:rPr>
                                <m:t>𝑛</m:t>
                              </m:r>
                              <m:r>
                                <a:rPr lang="en-US" altLang="zh-CN" sz="1800" i="1">
                                  <a:latin typeface="Cambria Math" panose="02040503050406030204" pitchFamily="18" charset="0"/>
                                </a:rPr>
                                <m:t>≡3(</m:t>
                              </m:r>
                              <m:r>
                                <m:rPr>
                                  <m:nor/>
                                </m:rPr>
                                <a:rPr lang="en-US" altLang="zh-CN" sz="1800"/>
                                <m:t>mod</m:t>
                              </m:r>
                              <m:r>
                                <a:rPr lang="en-US" altLang="zh-CN" sz="1800" i="1">
                                  <a:latin typeface="Cambria Math" panose="02040503050406030204" pitchFamily="18" charset="0"/>
                                </a:rPr>
                                <m:t> 7)</m:t>
                              </m:r>
                            </m:e>
                          </m:eqArr>
                        </m:e>
                      </m:d>
                    </m:oMath>
                  </m:oMathPara>
                </a14:m>
                <a:endParaRPr lang="zh-CN" altLang="zh-CN" sz="1800" dirty="0"/>
              </a:p>
              <a:p>
                <a:r>
                  <a:rPr lang="zh-CN" altLang="zh-CN" sz="1800" dirty="0"/>
                  <a:t>的解。根据定理</a:t>
                </a:r>
                <a:r>
                  <a:rPr lang="en-US" altLang="zh-CN" sz="1800" dirty="0"/>
                  <a:t>2.28</a:t>
                </a:r>
                <a:r>
                  <a:rPr lang="zh-CN" altLang="zh-CN" sz="1800" dirty="0"/>
                  <a:t>，取</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=3</m:t>
                    </m:r>
                    <m:r>
                      <a:rPr lang="zh-CN"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=5</m:t>
                    </m:r>
                    <m:r>
                      <a:rPr lang="zh-CN"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𝑚</m:t>
                        </m:r>
                      </m:e>
                      <m:sub>
                        <m:r>
                          <a:rPr lang="en-US" altLang="zh-CN" sz="1800" i="1">
                            <a:latin typeface="Cambria Math" panose="02040503050406030204" pitchFamily="18" charset="0"/>
                          </a:rPr>
                          <m:t>3</m:t>
                        </m:r>
                      </m:sub>
                    </m:sSub>
                    <m:r>
                      <a:rPr lang="en-US" altLang="zh-CN" sz="1800" i="1">
                        <a:latin typeface="Cambria Math" panose="02040503050406030204" pitchFamily="18" charset="0"/>
                      </a:rPr>
                      <m:t>=7</m:t>
                    </m:r>
                    <m:r>
                      <a:rPr lang="zh-CN" altLang="zh-CN" sz="1800">
                        <a:latin typeface="Cambria Math" panose="02040503050406030204" pitchFamily="18" charset="0"/>
                      </a:rPr>
                      <m:t>，</m:t>
                    </m:r>
                    <m:r>
                      <a:rPr lang="en-US" altLang="zh-CN" sz="1800" i="1">
                        <a:latin typeface="Cambria Math" panose="02040503050406030204" pitchFamily="18" charset="0"/>
                      </a:rPr>
                      <m:t>𝑀</m:t>
                    </m:r>
                    <m:r>
                      <a:rPr lang="en-US" altLang="zh-CN" sz="1800">
                        <a:latin typeface="Cambria Math" panose="02040503050406030204" pitchFamily="18" charset="0"/>
                      </a:rPr>
                      <m:t>=3×5×7=105</m:t>
                    </m:r>
                  </m:oMath>
                </a14:m>
                <a:r>
                  <a:rPr lang="zh-CN" altLang="zh-CN" sz="1800" dirty="0"/>
                  <a:t>，则有：</a:t>
                </a:r>
              </a:p>
              <a:p>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=35</m:t>
                      </m:r>
                      <m:r>
                        <a:rPr lang="zh-CN"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=21</m:t>
                      </m:r>
                      <m:r>
                        <a:rPr lang="zh-CN"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𝑀</m:t>
                          </m:r>
                        </m:e>
                        <m:sub>
                          <m:r>
                            <a:rPr lang="en-US" altLang="zh-CN" sz="1800" i="1">
                              <a:latin typeface="Cambria Math" panose="02040503050406030204" pitchFamily="18" charset="0"/>
                            </a:rPr>
                            <m:t>3</m:t>
                          </m:r>
                        </m:sub>
                      </m:sSub>
                      <m:r>
                        <a:rPr lang="en-US" altLang="zh-CN" sz="1800" i="1">
                          <a:latin typeface="Cambria Math" panose="02040503050406030204" pitchFamily="18" charset="0"/>
                        </a:rPr>
                        <m:t>=15</m:t>
                      </m:r>
                    </m:oMath>
                  </m:oMathPara>
                </a14:m>
                <a:endParaRPr lang="zh-CN" altLang="zh-CN" sz="1800" dirty="0"/>
              </a:p>
              <a:p>
                <a:r>
                  <a:rPr lang="zh-CN" altLang="zh-CN" sz="1800" dirty="0"/>
                  <a:t>由</a:t>
                </a:r>
                <a14:m>
                  <m:oMath xmlns:m="http://schemas.openxmlformats.org/officeDocument/2006/math">
                    <m:r>
                      <a:rPr lang="en-US" altLang="zh-CN" sz="1800">
                        <a:latin typeface="Cambria Math" panose="02040503050406030204" pitchFamily="18" charset="0"/>
                      </a:rPr>
                      <m:t>35</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≡1</m:t>
                    </m:r>
                    <m:r>
                      <a:rPr lang="en-US" altLang="zh-CN" sz="1800">
                        <a:latin typeface="Cambria Math" panose="02040503050406030204" pitchFamily="18" charset="0"/>
                      </a:rPr>
                      <m:t>(</m:t>
                    </m:r>
                    <m:r>
                      <m:rPr>
                        <m:nor/>
                      </m:rPr>
                      <a:rPr lang="en-US" altLang="zh-CN" sz="1800"/>
                      <m:t>mod</m:t>
                    </m:r>
                    <m:r>
                      <a:rPr lang="en-US" altLang="zh-CN" sz="1800">
                        <a:latin typeface="Cambria Math" panose="02040503050406030204" pitchFamily="18" charset="0"/>
                      </a:rPr>
                      <m:t> 3)</m:t>
                    </m:r>
                  </m:oMath>
                </a14:m>
                <a:r>
                  <a:rPr lang="zh-CN" altLang="zh-CN" sz="1800" dirty="0"/>
                  <a:t>，得：</a:t>
                </a:r>
                <a14:m>
                  <m:oMath xmlns:m="http://schemas.openxmlformats.org/officeDocument/2006/math">
                    <m:r>
                      <a:rPr lang="en-US" altLang="zh-CN" sz="1800">
                        <a:latin typeface="Cambria Math" panose="02040503050406030204" pitchFamily="18" charset="0"/>
                      </a:rPr>
                      <m:t>2</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≡1</m:t>
                    </m:r>
                    <m:d>
                      <m:dPr>
                        <m:begChr m:val="（"/>
                        <m:endChr m:val="）"/>
                        <m:ctrlPr>
                          <a:rPr lang="zh-CN" altLang="zh-CN" sz="1800" i="1">
                            <a:latin typeface="Cambria Math" panose="02040503050406030204" pitchFamily="18" charset="0"/>
                          </a:rPr>
                        </m:ctrlPr>
                      </m:dPr>
                      <m:e>
                        <m:r>
                          <m:rPr>
                            <m:nor/>
                          </m:rPr>
                          <a:rPr lang="en-US" altLang="zh-CN" sz="1800"/>
                          <m:t>mod</m:t>
                        </m:r>
                        <m:r>
                          <a:rPr lang="en-US" altLang="zh-CN" sz="1800">
                            <a:latin typeface="Cambria Math" panose="02040503050406030204" pitchFamily="18" charset="0"/>
                          </a:rPr>
                          <m:t> 3</m:t>
                        </m:r>
                      </m:e>
                    </m:d>
                    <m:r>
                      <a:rPr lang="zh-CN"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≡2</m:t>
                    </m:r>
                    <m:d>
                      <m:dPr>
                        <m:begChr m:val="（"/>
                        <m:endChr m:val="）"/>
                        <m:ctrlPr>
                          <a:rPr lang="zh-CN" altLang="zh-CN" sz="1800" i="1">
                            <a:latin typeface="Cambria Math" panose="02040503050406030204" pitchFamily="18" charset="0"/>
                          </a:rPr>
                        </m:ctrlPr>
                      </m:dPr>
                      <m:e>
                        <m:r>
                          <m:rPr>
                            <m:nor/>
                          </m:rPr>
                          <a:rPr lang="en-US" altLang="zh-CN" sz="1800"/>
                          <m:t>mod</m:t>
                        </m:r>
                        <m:r>
                          <a:rPr lang="en-US" altLang="zh-CN" sz="1800">
                            <a:latin typeface="Cambria Math" panose="02040503050406030204" pitchFamily="18" charset="0"/>
                          </a:rPr>
                          <m:t> 3</m:t>
                        </m:r>
                      </m:e>
                    </m:d>
                    <m:r>
                      <a:rPr lang="zh-CN" altLang="zh-CN" sz="1800">
                        <a:latin typeface="Cambria Math" panose="02040503050406030204" pitchFamily="18" charset="0"/>
                      </a:rPr>
                      <m:t>；</m:t>
                    </m:r>
                  </m:oMath>
                </a14:m>
                <a:endParaRPr lang="zh-CN" altLang="zh-CN" sz="1800" dirty="0"/>
              </a:p>
              <a:p>
                <a:r>
                  <a:rPr lang="zh-CN" altLang="zh-CN" sz="1800" dirty="0"/>
                  <a:t>由</a:t>
                </a:r>
                <a14:m>
                  <m:oMath xmlns:m="http://schemas.openxmlformats.org/officeDocument/2006/math">
                    <m:r>
                      <a:rPr lang="en-US" altLang="zh-CN" sz="1800">
                        <a:latin typeface="Cambria Math" panose="02040503050406030204" pitchFamily="18" charset="0"/>
                      </a:rPr>
                      <m:t>21</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≡1</m:t>
                    </m:r>
                    <m:r>
                      <a:rPr lang="en-US" altLang="zh-CN" sz="1800">
                        <a:latin typeface="Cambria Math" panose="02040503050406030204" pitchFamily="18" charset="0"/>
                      </a:rPr>
                      <m:t>(</m:t>
                    </m:r>
                    <m:r>
                      <m:rPr>
                        <m:nor/>
                      </m:rPr>
                      <a:rPr lang="en-US" altLang="zh-CN" sz="1800"/>
                      <m:t>mod</m:t>
                    </m:r>
                    <m:r>
                      <a:rPr lang="en-US" altLang="zh-CN" sz="1800">
                        <a:latin typeface="Cambria Math" panose="02040503050406030204" pitchFamily="18" charset="0"/>
                      </a:rPr>
                      <m:t> 5)</m:t>
                    </m:r>
                  </m:oMath>
                </a14:m>
                <a:r>
                  <a:rPr lang="zh-CN" altLang="zh-CN" sz="1800" dirty="0"/>
                  <a:t>，得：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≡1</m:t>
                    </m:r>
                    <m:r>
                      <a:rPr lang="en-US" altLang="zh-CN" sz="1800">
                        <a:latin typeface="Cambria Math" panose="02040503050406030204" pitchFamily="18" charset="0"/>
                      </a:rPr>
                      <m:t>(</m:t>
                    </m:r>
                    <m:r>
                      <m:rPr>
                        <m:nor/>
                      </m:rPr>
                      <a:rPr lang="en-US" altLang="zh-CN" sz="1800"/>
                      <m:t>mod</m:t>
                    </m:r>
                    <m:r>
                      <a:rPr lang="en-US" altLang="zh-CN" sz="1800">
                        <a:latin typeface="Cambria Math" panose="02040503050406030204" pitchFamily="18" charset="0"/>
                      </a:rPr>
                      <m:t> 5)</m:t>
                    </m:r>
                  </m:oMath>
                </a14:m>
                <a:r>
                  <a:rPr lang="zh-CN" altLang="zh-CN" sz="1800" dirty="0"/>
                  <a:t>；</a:t>
                </a:r>
              </a:p>
              <a:p>
                <a:r>
                  <a:rPr lang="zh-CN" altLang="zh-CN" sz="1800" dirty="0"/>
                  <a:t>由</a:t>
                </a:r>
                <a14:m>
                  <m:oMath xmlns:m="http://schemas.openxmlformats.org/officeDocument/2006/math">
                    <m:r>
                      <a:rPr lang="en-US" altLang="zh-CN" sz="1800">
                        <a:latin typeface="Cambria Math" panose="02040503050406030204" pitchFamily="18" charset="0"/>
                      </a:rPr>
                      <m:t>15</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3</m:t>
                        </m:r>
                      </m:sub>
                    </m:sSub>
                    <m:r>
                      <a:rPr lang="en-US" altLang="zh-CN" sz="1800" i="1">
                        <a:latin typeface="Cambria Math" panose="02040503050406030204" pitchFamily="18" charset="0"/>
                      </a:rPr>
                      <m:t>≡1</m:t>
                    </m:r>
                    <m:r>
                      <a:rPr lang="en-US" altLang="zh-CN" sz="1800">
                        <a:latin typeface="Cambria Math" panose="02040503050406030204" pitchFamily="18" charset="0"/>
                      </a:rPr>
                      <m:t>(</m:t>
                    </m:r>
                    <m:r>
                      <m:rPr>
                        <m:nor/>
                      </m:rPr>
                      <a:rPr lang="en-US" altLang="zh-CN" sz="1800"/>
                      <m:t>mod</m:t>
                    </m:r>
                    <m:r>
                      <a:rPr lang="en-US" altLang="zh-CN" sz="1800">
                        <a:latin typeface="Cambria Math" panose="02040503050406030204" pitchFamily="18" charset="0"/>
                      </a:rPr>
                      <m:t> 7)</m:t>
                    </m:r>
                  </m:oMath>
                </a14:m>
                <a:r>
                  <a:rPr lang="zh-CN" altLang="zh-CN" sz="1800" dirty="0"/>
                  <a:t>，得：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3</m:t>
                        </m:r>
                      </m:sub>
                    </m:sSub>
                    <m:r>
                      <a:rPr lang="en-US" altLang="zh-CN" sz="1800" i="1">
                        <a:latin typeface="Cambria Math" panose="02040503050406030204" pitchFamily="18" charset="0"/>
                      </a:rPr>
                      <m:t>≡1</m:t>
                    </m:r>
                    <m:r>
                      <a:rPr lang="en-US" altLang="zh-CN" sz="1800">
                        <a:latin typeface="Cambria Math" panose="02040503050406030204" pitchFamily="18" charset="0"/>
                      </a:rPr>
                      <m:t>(</m:t>
                    </m:r>
                    <m:r>
                      <m:rPr>
                        <m:nor/>
                      </m:rPr>
                      <a:rPr lang="en-US" altLang="zh-CN" sz="1800"/>
                      <m:t>mod</m:t>
                    </m:r>
                    <m:r>
                      <a:rPr lang="en-US" altLang="zh-CN" sz="1800">
                        <a:latin typeface="Cambria Math" panose="02040503050406030204" pitchFamily="18" charset="0"/>
                      </a:rPr>
                      <m:t> 7)</m:t>
                    </m:r>
                  </m:oMath>
                </a14:m>
                <a:r>
                  <a:rPr lang="zh-CN" altLang="zh-CN" sz="1800" dirty="0"/>
                  <a:t>。</a:t>
                </a:r>
              </a:p>
              <a:p>
                <a:r>
                  <a:rPr lang="zh-CN" altLang="zh-CN" sz="1800" dirty="0"/>
                  <a:t>故有：</a:t>
                </a:r>
              </a:p>
              <a:p>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rPr>
                        <m:t>𝑛</m:t>
                      </m:r>
                      <m:r>
                        <a:rPr lang="en-US" altLang="zh-CN" sz="1800">
                          <a:latin typeface="Cambria Math" panose="02040503050406030204" pitchFamily="18" charset="0"/>
                        </a:rPr>
                        <m:t>≡1×35×2+2×21×1+3×15×1≡157≡52</m:t>
                      </m:r>
                      <m:d>
                        <m:dPr>
                          <m:ctrlPr>
                            <a:rPr lang="zh-CN" altLang="zh-CN" sz="1800" i="1">
                              <a:latin typeface="Cambria Math" panose="02040503050406030204" pitchFamily="18" charset="0"/>
                            </a:rPr>
                          </m:ctrlPr>
                        </m:dPr>
                        <m:e>
                          <m:r>
                            <m:rPr>
                              <m:nor/>
                            </m:rPr>
                            <a:rPr lang="en-US" altLang="zh-CN" sz="1800"/>
                            <m:t>mod</m:t>
                          </m:r>
                          <m:r>
                            <a:rPr lang="en-US" altLang="zh-CN" sz="1800">
                              <a:latin typeface="Cambria Math" panose="02040503050406030204" pitchFamily="18" charset="0"/>
                            </a:rPr>
                            <m:t> 105</m:t>
                          </m:r>
                        </m:e>
                      </m:d>
                      <m:r>
                        <a:rPr lang="en-US" altLang="zh-CN" sz="1800" i="1">
                          <a:latin typeface="Cambria Math" panose="02040503050406030204" pitchFamily="18" charset="0"/>
                        </a:rPr>
                        <m:t> </m:t>
                      </m:r>
                    </m:oMath>
                  </m:oMathPara>
                </a14:m>
                <a:endParaRPr lang="zh-CN" altLang="zh-CN" sz="1800" dirty="0"/>
              </a:p>
              <a:p>
                <a:r>
                  <a:rPr lang="zh-CN" altLang="zh-CN" sz="1800" dirty="0"/>
                  <a:t>即</a:t>
                </a:r>
                <a14:m>
                  <m:oMath xmlns:m="http://schemas.openxmlformats.org/officeDocument/2006/math">
                    <m:r>
                      <a:rPr lang="en-US" altLang="zh-CN" sz="1800" i="1">
                        <a:latin typeface="Cambria Math" panose="02040503050406030204" pitchFamily="18" charset="0"/>
                      </a:rPr>
                      <m:t>𝑛</m:t>
                    </m:r>
                    <m:r>
                      <a:rPr lang="en-US" altLang="zh-CN" sz="1800">
                        <a:latin typeface="Cambria Math" panose="02040503050406030204" pitchFamily="18" charset="0"/>
                      </a:rPr>
                      <m:t>≡52</m:t>
                    </m:r>
                    <m:d>
                      <m:dPr>
                        <m:ctrlPr>
                          <a:rPr lang="zh-CN" altLang="zh-CN" sz="1800" i="1">
                            <a:latin typeface="Cambria Math" panose="02040503050406030204" pitchFamily="18" charset="0"/>
                          </a:rPr>
                        </m:ctrlPr>
                      </m:dPr>
                      <m:e>
                        <m:r>
                          <m:rPr>
                            <m:nor/>
                          </m:rPr>
                          <a:rPr lang="en-US" altLang="zh-CN" sz="1800"/>
                          <m:t>mod</m:t>
                        </m:r>
                        <m:r>
                          <a:rPr lang="en-US" altLang="zh-CN" sz="1800">
                            <a:latin typeface="Cambria Math" panose="02040503050406030204" pitchFamily="18" charset="0"/>
                          </a:rPr>
                          <m:t> 105</m:t>
                        </m:r>
                      </m:e>
                    </m:d>
                  </m:oMath>
                </a14:m>
                <a:r>
                  <a:rPr lang="zh-CN" altLang="zh-CN" sz="1800" dirty="0"/>
                  <a:t>为同余方程组的联立解。</a:t>
                </a:r>
              </a:p>
              <a:p>
                <a:r>
                  <a:rPr lang="zh-CN" altLang="zh-CN" dirty="0"/>
                  <a:t>因此，所求整数为：</a:t>
                </a:r>
                <a14:m>
                  <m:oMath xmlns:m="http://schemas.openxmlformats.org/officeDocument/2006/math">
                    <m:r>
                      <a:rPr lang="en-US" altLang="zh-CN" i="1">
                        <a:latin typeface="Cambria Math" panose="02040503050406030204" pitchFamily="18" charset="0"/>
                      </a:rPr>
                      <m:t>𝑛</m:t>
                    </m:r>
                    <m:r>
                      <a:rPr lang="en-US" altLang="zh-CN">
                        <a:latin typeface="Cambria Math" panose="02040503050406030204" pitchFamily="18" charset="0"/>
                      </a:rPr>
                      <m:t>≡52+105</m:t>
                    </m:r>
                    <m:r>
                      <a:rPr lang="en-US" altLang="zh-CN" i="1">
                        <a:latin typeface="Cambria Math" panose="02040503050406030204" pitchFamily="18" charset="0"/>
                      </a:rPr>
                      <m:t>𝑡</m:t>
                    </m:r>
                    <m:r>
                      <a:rPr lang="zh-CN" altLang="zh-CN">
                        <a:latin typeface="Cambria Math" panose="02040503050406030204" pitchFamily="18" charset="0"/>
                      </a:rPr>
                      <m:t>，</m:t>
                    </m:r>
                    <m:r>
                      <a:rPr lang="en-US" altLang="zh-CN" i="1">
                        <a:latin typeface="Cambria Math" panose="02040503050406030204" pitchFamily="18" charset="0"/>
                      </a:rPr>
                      <m:t>𝑡</m:t>
                    </m:r>
                    <m:r>
                      <a:rPr lang="en-US" altLang="zh-CN">
                        <a:latin typeface="Cambria Math" panose="02040503050406030204" pitchFamily="18" charset="0"/>
                      </a:rPr>
                      <m:t>∈</m:t>
                    </m:r>
                    <m:r>
                      <a:rPr lang="en-US" altLang="zh-CN" i="1">
                        <a:latin typeface="Cambria Math" panose="02040503050406030204" pitchFamily="18" charset="0"/>
                      </a:rPr>
                      <m:t>𝑍</m:t>
                    </m:r>
                  </m:oMath>
                </a14:m>
                <a:r>
                  <a:rPr lang="zh-CN" altLang="zh-CN" dirty="0"/>
                  <a:t>。</a:t>
                </a:r>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1199183" y="1800225"/>
                <a:ext cx="7056784" cy="4618380"/>
              </a:xfrm>
              <a:prstGeom prst="rect">
                <a:avLst/>
              </a:prstGeom>
              <a:blipFill rotWithShape="0">
                <a:blip r:embed="rId4"/>
                <a:stretch>
                  <a:fillRect l="-1383" t="-660" b="-1715"/>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1331913" y="1001713"/>
            <a:ext cx="6272212"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marL="0" lvl="0" indent="0" algn="ctr" eaLnBrk="1" hangingPunct="1">
              <a:spcBef>
                <a:spcPct val="50000"/>
              </a:spcBef>
              <a:buClr>
                <a:srgbClr val="FFFFFF"/>
              </a:buClr>
              <a:buFont typeface="Wingdings" panose="05000000000000000000" pitchFamily="2" charset="2"/>
              <a:buChar char="&amp;"/>
            </a:pPr>
            <a:r>
              <a:rPr lang="zh-CN" altLang="en-US" sz="4800" b="1" dirty="0">
                <a:solidFill>
                  <a:srgbClr val="FFFFFF"/>
                </a:solidFill>
                <a:latin typeface="宋体" panose="02010600030101010101" pitchFamily="2" charset="-122"/>
                <a:ea typeface="宋体" panose="02010600030101010101" pitchFamily="2" charset="-122"/>
              </a:rPr>
              <a:t>同余算术及其运用</a:t>
            </a:r>
          </a:p>
        </p:txBody>
      </p:sp>
      <p:sp>
        <p:nvSpPr>
          <p:cNvPr id="87043" name="Rectangle 3"/>
          <p:cNvSpPr>
            <a:spLocks noGrp="1" noChangeArrowheads="1"/>
          </p:cNvSpPr>
          <p:nvPr>
            <p:ph type="body" sz="half" idx="1"/>
          </p:nvPr>
        </p:nvSpPr>
        <p:spPr>
          <a:xfrm>
            <a:off x="2266950" y="2420938"/>
            <a:ext cx="5400675" cy="2592238"/>
          </a:xfrm>
          <a:noFill/>
        </p:spPr>
        <p:txBody>
          <a:bodyPr lIns="92075" tIns="46038" rIns="92075" bIns="46038"/>
          <a:lstStyle/>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同余关系及其运算</a:t>
            </a:r>
            <a:endParaRPr lang="en-US" altLang="zh-CN" sz="3600" b="1" dirty="0" smtClean="0">
              <a:effectLst/>
              <a:latin typeface="黑体" panose="02010609060101010101" pitchFamily="49" charset="-122"/>
              <a:ea typeface="黑体" panose="02010609060101010101" pitchFamily="49" charset="-122"/>
            </a:endParaRPr>
          </a:p>
          <a:p>
            <a:pPr>
              <a:lnSpc>
                <a:spcPct val="130000"/>
              </a:lnSpc>
              <a:spcBef>
                <a:spcPct val="30000"/>
              </a:spcBef>
              <a:buFont typeface="Wingdings" panose="05000000000000000000" pitchFamily="2" charset="2"/>
              <a:buChar char="4"/>
            </a:pPr>
            <a:r>
              <a:rPr lang="zh-CN" altLang="en-US" sz="3600" b="1" dirty="0" smtClean="0">
                <a:effectLst/>
                <a:latin typeface="黑体" panose="02010609060101010101" pitchFamily="49" charset="-122"/>
                <a:ea typeface="黑体" panose="02010609060101010101" pitchFamily="49" charset="-122"/>
              </a:rPr>
              <a:t> 同余方程与方程组</a:t>
            </a:r>
          </a:p>
          <a:p>
            <a:pPr>
              <a:lnSpc>
                <a:spcPct val="130000"/>
              </a:lnSpc>
              <a:spcBef>
                <a:spcPct val="30000"/>
              </a:spcBef>
              <a:buFont typeface="Wingdings" panose="05000000000000000000" pitchFamily="2" charset="2"/>
              <a:buChar char="J"/>
            </a:pPr>
            <a:r>
              <a:rPr lang="zh-CN" altLang="en-US" sz="3600" b="1" dirty="0" smtClean="0">
                <a:solidFill>
                  <a:schemeClr val="accent2"/>
                </a:solidFill>
                <a:effectLst/>
                <a:latin typeface="黑体" panose="02010609060101010101" pitchFamily="49" charset="-122"/>
                <a:ea typeface="黑体" panose="02010609060101010101" pitchFamily="49" charset="-122"/>
              </a:rPr>
              <a:t> 整数加密算法</a:t>
            </a:r>
          </a:p>
        </p:txBody>
      </p:sp>
      <p:pic>
        <p:nvPicPr>
          <p:cNvPr id="8704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360D557E-3629-4307-92DD-FC9049672A06}" type="slidenum">
              <a:rPr lang="en-US" altLang="zh-CN"/>
              <a:pPr>
                <a:defRPr/>
              </a:pPr>
              <a:t>97</a:t>
            </a:fld>
            <a:endParaRPr lang="en-US" altLang="zh-CN"/>
          </a:p>
        </p:txBody>
      </p:sp>
      <p:sp>
        <p:nvSpPr>
          <p:cNvPr id="107525" name="Text Box 2"/>
          <p:cNvSpPr txBox="1">
            <a:spLocks noChangeArrowheads="1"/>
          </p:cNvSpPr>
          <p:nvPr/>
        </p:nvSpPr>
        <p:spPr bwMode="auto">
          <a:xfrm>
            <a:off x="6372225" y="6597650"/>
            <a:ext cx="27717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200" b="1">
                <a:solidFill>
                  <a:schemeClr val="bg1"/>
                </a:solidFill>
                <a:latin typeface="Times New Roman" panose="02020603050405020304" pitchFamily="18" charset="0"/>
                <a:ea typeface="方正舒体" panose="02010601030101010101" pitchFamily="2" charset="-122"/>
              </a:rPr>
              <a:t>3.3  </a:t>
            </a:r>
            <a:r>
              <a:rPr kumimoji="0" lang="zh-CN" altLang="en-US" sz="1200" b="1">
                <a:solidFill>
                  <a:schemeClr val="bg1"/>
                </a:solidFill>
                <a:latin typeface="Times New Roman" panose="02020603050405020304" pitchFamily="18" charset="0"/>
                <a:ea typeface="方正舒体" panose="02010601030101010101" pitchFamily="2" charset="-122"/>
              </a:rPr>
              <a:t>集合定义的自然数和归纳法证明</a:t>
            </a:r>
          </a:p>
        </p:txBody>
      </p:sp>
      <p:sp>
        <p:nvSpPr>
          <p:cNvPr id="107528" name="Text Box 2"/>
          <p:cNvSpPr txBox="1">
            <a:spLocks noChangeArrowheads="1"/>
          </p:cNvSpPr>
          <p:nvPr/>
        </p:nvSpPr>
        <p:spPr bwMode="auto">
          <a:xfrm>
            <a:off x="1331913" y="692150"/>
            <a:ext cx="640873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仿射加密算法</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07529"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65710" y="1999657"/>
            <a:ext cx="6984503" cy="3970318"/>
          </a:xfrm>
          <a:prstGeom prst="rect">
            <a:avLst/>
          </a:prstGeom>
          <a:solidFill>
            <a:schemeClr val="bg1"/>
          </a:solidFill>
          <a:ln w="28575">
            <a:solidFill>
              <a:schemeClr val="accent2"/>
            </a:solidFill>
          </a:ln>
        </p:spPr>
        <p:txBody>
          <a:bodyPr wrap="square" rtlCol="0">
            <a:spAutoFit/>
          </a:bodyPr>
          <a:lstStyle/>
          <a:p>
            <a:pPr>
              <a:lnSpc>
                <a:spcPct val="150000"/>
              </a:lnSpc>
            </a:pPr>
            <a:r>
              <a:rPr lang="zh-CN" altLang="zh-CN" dirty="0"/>
              <a:t>为防止机密信息被泄露或破坏，需采用数据加密技术对其进行保护。数据加密的基本思想是对原始数据加以伪装，使非法接入者无法理解信息的真正含义，基本过程就是对原来为明文信息或数据按某种算法进行处理，使其成为不可读的一段代码，称为密文，使其只能在输入相应密钥之后才能显示出本来内容。</a:t>
            </a:r>
            <a:endParaRPr lang="zh-CN" altLang="en-US"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C723BB18-1449-4E4B-A438-80F17E3210C9}" type="slidenum">
              <a:rPr lang="en-US" altLang="zh-CN"/>
              <a:pPr>
                <a:defRPr/>
              </a:pPr>
              <a:t>98</a:t>
            </a:fld>
            <a:endParaRPr lang="en-US" altLang="zh-CN"/>
          </a:p>
        </p:txBody>
      </p:sp>
      <p:sp>
        <p:nvSpPr>
          <p:cNvPr id="109574" name="Text Box 2"/>
          <p:cNvSpPr txBox="1">
            <a:spLocks noChangeArrowheads="1"/>
          </p:cNvSpPr>
          <p:nvPr/>
        </p:nvSpPr>
        <p:spPr bwMode="auto">
          <a:xfrm>
            <a:off x="1331913" y="692150"/>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zh-CN" sz="4800" b="1" dirty="0">
                <a:solidFill>
                  <a:schemeClr val="bg1"/>
                </a:solidFill>
                <a:latin typeface="宋体" panose="02010600030101010101" pitchFamily="2" charset="-122"/>
                <a:ea typeface="宋体" panose="02010600030101010101" pitchFamily="2" charset="-122"/>
              </a:rPr>
              <a:t>仿射加密算法</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09575"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1259632" y="1916832"/>
                <a:ext cx="7416824" cy="4154984"/>
              </a:xfrm>
              <a:prstGeom prst="rect">
                <a:avLst/>
              </a:prstGeom>
              <a:solidFill>
                <a:srgbClr val="92D050"/>
              </a:solidFill>
            </p:spPr>
            <p:txBody>
              <a:bodyPr wrap="square" rtlCol="0">
                <a:spAutoFit/>
              </a:bodyPr>
              <a:lstStyle/>
              <a:p>
                <a:r>
                  <a:rPr lang="zh-CN" altLang="zh-CN" dirty="0"/>
                  <a:t>仿射加密算法又称为凯撒加密算法，是一种简单且广为人知的加密技术。它是一种替换加密技术，基本思想如下</a:t>
                </a:r>
                <a:r>
                  <a:rPr lang="zh-CN" altLang="zh-CN" dirty="0" smtClean="0"/>
                  <a:t>：</a:t>
                </a:r>
                <a:endParaRPr lang="en-US" altLang="zh-CN" dirty="0" smtClean="0"/>
              </a:p>
              <a:p>
                <a:pPr marL="457200" indent="-457200">
                  <a:buFont typeface="+mj-ea"/>
                  <a:buAutoNum type="circleNumDbPlain"/>
                </a:pPr>
                <a:r>
                  <a:rPr lang="zh-CN" altLang="zh-CN" dirty="0" smtClean="0"/>
                  <a:t>首先</a:t>
                </a:r>
                <a:r>
                  <a:rPr lang="zh-CN" altLang="zh-CN" dirty="0"/>
                  <a:t>使用</a:t>
                </a:r>
                <a:r>
                  <a:rPr lang="en-US" altLang="zh-CN" dirty="0"/>
                  <a:t>0</a:t>
                </a:r>
                <a:r>
                  <a:rPr lang="zh-CN" altLang="zh-CN" dirty="0"/>
                  <a:t>到</a:t>
                </a:r>
                <a:r>
                  <a:rPr lang="en-US" altLang="zh-CN" dirty="0"/>
                  <a:t>25</a:t>
                </a:r>
                <a:r>
                  <a:rPr lang="zh-CN" altLang="zh-CN" dirty="0"/>
                  <a:t>之间的数字表示</a:t>
                </a:r>
                <a:r>
                  <a:rPr lang="en-US" altLang="zh-CN" dirty="0"/>
                  <a:t>A</a:t>
                </a:r>
                <a:r>
                  <a:rPr lang="zh-CN" altLang="zh-CN" dirty="0"/>
                  <a:t>到</a:t>
                </a:r>
                <a:r>
                  <a:rPr lang="en-US" altLang="zh-CN" dirty="0"/>
                  <a:t>Z</a:t>
                </a:r>
                <a:r>
                  <a:rPr lang="zh-CN" altLang="zh-CN" dirty="0"/>
                  <a:t>这</a:t>
                </a:r>
                <a:r>
                  <a:rPr lang="en-US" altLang="zh-CN" dirty="0"/>
                  <a:t>26</a:t>
                </a:r>
                <a:r>
                  <a:rPr lang="zh-CN" altLang="zh-CN" dirty="0"/>
                  <a:t>个字母</a:t>
                </a:r>
                <a:r>
                  <a:rPr lang="zh-CN" altLang="zh-CN" dirty="0" smtClean="0"/>
                  <a:t>。</a:t>
                </a:r>
                <a:endParaRPr lang="en-US" altLang="zh-CN" dirty="0" smtClean="0"/>
              </a:p>
              <a:p>
                <a:pPr marL="457200" indent="-457200">
                  <a:buFont typeface="+mj-ea"/>
                  <a:buAutoNum type="circleNumDbPlain"/>
                </a:pPr>
                <a:r>
                  <a:rPr lang="zh-CN" altLang="zh-CN" dirty="0" smtClean="0"/>
                  <a:t>然后</a:t>
                </a:r>
                <a:r>
                  <a:rPr lang="zh-CN" altLang="zh-CN" dirty="0"/>
                  <a:t>，对于每个不大于</a:t>
                </a:r>
                <a:r>
                  <a:rPr lang="en-US" altLang="zh-CN" dirty="0"/>
                  <a:t>25</a:t>
                </a:r>
                <a:r>
                  <a:rPr lang="zh-CN" altLang="zh-CN" dirty="0"/>
                  <a:t>的非负整数</a:t>
                </a:r>
                <a14:m>
                  <m:oMath xmlns:m="http://schemas.openxmlformats.org/officeDocument/2006/math">
                    <m:r>
                      <a:rPr lang="en-US" altLang="zh-CN" i="1">
                        <a:latin typeface="Cambria Math" panose="02040503050406030204" pitchFamily="18" charset="0"/>
                      </a:rPr>
                      <m:t>𝑝</m:t>
                    </m:r>
                  </m:oMath>
                </a14:m>
                <a:r>
                  <a:rPr lang="zh-CN" altLang="zh-CN" dirty="0"/>
                  <a:t>，定义其加密函数值</a:t>
                </a:r>
                <a14:m>
                  <m:oMath xmlns:m="http://schemas.openxmlformats.org/officeDocument/2006/math">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i="1">
                        <a:latin typeface="Cambria Math" panose="02040503050406030204" pitchFamily="18" charset="0"/>
                      </a:rPr>
                      <m:t>𝑝</m:t>
                    </m:r>
                    <m:r>
                      <a:rPr lang="en-US" altLang="zh-CN" i="1">
                        <a:latin typeface="Cambria Math" panose="02040503050406030204" pitchFamily="18" charset="0"/>
                      </a:rPr>
                      <m:t>)</m:t>
                    </m:r>
                  </m:oMath>
                </a14:m>
                <a:r>
                  <a:rPr lang="zh-CN" altLang="zh-CN" dirty="0"/>
                  <a:t>为</a:t>
                </a:r>
                <a14:m>
                  <m:oMath xmlns:m="http://schemas.openxmlformats.org/officeDocument/2006/math">
                    <m:r>
                      <a:rPr lang="en-US" altLang="zh-CN">
                        <a:latin typeface="Cambria Math" panose="02040503050406030204" pitchFamily="18" charset="0"/>
                      </a:rPr>
                      <m:t>{0, 1, 2,  ⋯, 25}</m:t>
                    </m:r>
                  </m:oMath>
                </a14:m>
                <a:r>
                  <a:rPr lang="zh-CN" altLang="zh-CN" dirty="0"/>
                  <a:t>中某个数字</a:t>
                </a:r>
                <a:r>
                  <a:rPr lang="zh-CN" altLang="zh-CN" dirty="0" smtClean="0"/>
                  <a:t>。</a:t>
                </a:r>
                <a:endParaRPr lang="en-US" altLang="zh-CN" dirty="0" smtClean="0"/>
              </a:p>
              <a:p>
                <a:pPr marL="457200" indent="-457200">
                  <a:buFont typeface="+mj-ea"/>
                  <a:buAutoNum type="circleNumDbPlain"/>
                </a:pPr>
                <a:r>
                  <a:rPr lang="zh-CN" altLang="zh-CN" dirty="0" smtClean="0"/>
                  <a:t>加密</a:t>
                </a:r>
                <a:r>
                  <a:rPr lang="zh-CN" altLang="zh-CN" dirty="0"/>
                  <a:t>函数</a:t>
                </a:r>
                <a14:m>
                  <m:oMath xmlns:m="http://schemas.openxmlformats.org/officeDocument/2006/math">
                    <m:r>
                      <a:rPr lang="en-US" altLang="zh-CN" i="1">
                        <a:latin typeface="Cambria Math" panose="02040503050406030204" pitchFamily="18" charset="0"/>
                      </a:rPr>
                      <m:t>𝑓</m:t>
                    </m:r>
                    <m:r>
                      <a:rPr lang="en-US" altLang="zh-CN" i="1">
                        <a:latin typeface="Cambria Math" panose="02040503050406030204" pitchFamily="18" charset="0"/>
                      </a:rPr>
                      <m:t>(</m:t>
                    </m:r>
                    <m:r>
                      <a:rPr lang="en-US" altLang="zh-CN" i="1">
                        <a:latin typeface="Cambria Math" panose="02040503050406030204" pitchFamily="18" charset="0"/>
                      </a:rPr>
                      <m:t>𝑝</m:t>
                    </m:r>
                    <m:r>
                      <a:rPr lang="en-US" altLang="zh-CN" i="1">
                        <a:latin typeface="Cambria Math" panose="02040503050406030204" pitchFamily="18" charset="0"/>
                      </a:rPr>
                      <m:t>)</m:t>
                    </m:r>
                  </m:oMath>
                </a14:m>
                <a:r>
                  <a:rPr lang="zh-CN" altLang="zh-CN" dirty="0"/>
                  <a:t>的有多种定义方法，例如可采用如下加密函数：</a:t>
                </a:r>
              </a:p>
              <a:p>
                <a:pPr algn="ctr"/>
                <a14:m>
                  <m:oMath xmlns:m="http://schemas.openxmlformats.org/officeDocument/2006/math">
                    <m:r>
                      <a:rPr lang="en-US" altLang="zh-CN" i="1">
                        <a:latin typeface="Cambria Math" panose="02040503050406030204" pitchFamily="18" charset="0"/>
                      </a:rPr>
                      <m:t>𝑓</m:t>
                    </m:r>
                    <m:d>
                      <m:dPr>
                        <m:ctrlPr>
                          <a:rPr lang="zh-CN" altLang="zh-CN" i="1">
                            <a:latin typeface="Cambria Math" panose="02040503050406030204" pitchFamily="18" charset="0"/>
                          </a:rPr>
                        </m:ctrlPr>
                      </m:dPr>
                      <m:e>
                        <m:r>
                          <a:rPr lang="en-US" altLang="zh-CN" i="1">
                            <a:latin typeface="Cambria Math" panose="02040503050406030204" pitchFamily="18" charset="0"/>
                          </a:rPr>
                          <m:t>𝑝</m:t>
                        </m:r>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+3</m:t>
                        </m:r>
                      </m:e>
                    </m:d>
                    <m:r>
                      <m:rPr>
                        <m:nor/>
                      </m:rPr>
                      <a:rPr lang="en-US" altLang="zh-CN"/>
                      <m:t> </m:t>
                    </m:r>
                    <m:r>
                      <m:rPr>
                        <m:nor/>
                      </m:rPr>
                      <a:rPr lang="en-US" altLang="zh-CN"/>
                      <m:t>mod</m:t>
                    </m:r>
                    <m:r>
                      <m:rPr>
                        <m:nor/>
                      </m:rPr>
                      <a:rPr lang="en-US" altLang="zh-CN"/>
                      <m:t> </m:t>
                    </m:r>
                    <m:r>
                      <a:rPr lang="en-US" altLang="zh-CN" i="1">
                        <a:latin typeface="Cambria Math" panose="02040503050406030204" pitchFamily="18" charset="0"/>
                      </a:rPr>
                      <m:t>26</m:t>
                    </m:r>
                  </m:oMath>
                </a14:m>
                <a:r>
                  <a:rPr lang="en-US" altLang="zh-CN" dirty="0"/>
                  <a:t>        </a:t>
                </a:r>
                <a:endParaRPr lang="zh-CN" altLang="zh-CN" dirty="0"/>
              </a:p>
              <a:p>
                <a:r>
                  <a:rPr lang="zh-CN" altLang="zh-CN" dirty="0"/>
                  <a:t>对于上述加密函数，此时用整数</a:t>
                </a:r>
                <a14:m>
                  <m:oMath xmlns:m="http://schemas.openxmlformats.org/officeDocument/2006/math">
                    <m:d>
                      <m:dPr>
                        <m:ctrlPr>
                          <a:rPr lang="zh-CN" altLang="zh-CN" i="1">
                            <a:latin typeface="Cambria Math" panose="02040503050406030204" pitchFamily="18" charset="0"/>
                          </a:rPr>
                        </m:ctrlPr>
                      </m:dPr>
                      <m:e>
                        <m:r>
                          <a:rPr lang="en-US" altLang="zh-CN" i="1">
                            <a:latin typeface="Cambria Math" panose="02040503050406030204" pitchFamily="18" charset="0"/>
                          </a:rPr>
                          <m:t>𝑝</m:t>
                        </m:r>
                        <m:r>
                          <a:rPr lang="en-US" altLang="zh-CN" i="1">
                            <a:latin typeface="Cambria Math" panose="02040503050406030204" pitchFamily="18" charset="0"/>
                          </a:rPr>
                          <m:t>+3</m:t>
                        </m:r>
                      </m:e>
                    </m:d>
                    <m:r>
                      <m:rPr>
                        <m:nor/>
                      </m:rPr>
                      <a:rPr lang="en-US" altLang="zh-CN"/>
                      <m:t> </m:t>
                    </m:r>
                    <m:r>
                      <m:rPr>
                        <m:nor/>
                      </m:rPr>
                      <a:rPr lang="en-US" altLang="zh-CN"/>
                      <m:t>mod</m:t>
                    </m:r>
                    <m:r>
                      <m:rPr>
                        <m:nor/>
                      </m:rPr>
                      <a:rPr lang="en-US" altLang="zh-CN"/>
                      <m:t> </m:t>
                    </m:r>
                    <m:r>
                      <a:rPr lang="en-US" altLang="zh-CN" i="1">
                        <a:latin typeface="Cambria Math" panose="02040503050406030204" pitchFamily="18" charset="0"/>
                      </a:rPr>
                      <m:t>26</m:t>
                    </m:r>
                  </m:oMath>
                </a14:m>
                <a:r>
                  <a:rPr lang="zh-CN" altLang="zh-CN" dirty="0"/>
                  <a:t>代表的字母替代由整数</a:t>
                </a:r>
                <a14:m>
                  <m:oMath xmlns:m="http://schemas.openxmlformats.org/officeDocument/2006/math">
                    <m:r>
                      <a:rPr lang="en-US" altLang="zh-CN" i="1">
                        <a:latin typeface="Cambria Math" panose="02040503050406030204" pitchFamily="18" charset="0"/>
                      </a:rPr>
                      <m:t>𝑝</m:t>
                    </m:r>
                  </m:oMath>
                </a14:m>
                <a:r>
                  <a:rPr lang="zh-CN" altLang="zh-CN" dirty="0"/>
                  <a:t>表示的字母实现加密。</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1259632" y="1916832"/>
                <a:ext cx="7416824" cy="4154984"/>
              </a:xfrm>
              <a:prstGeom prst="rect">
                <a:avLst/>
              </a:prstGeom>
              <a:blipFill rotWithShape="0">
                <a:blip r:embed="rId4"/>
                <a:stretch>
                  <a:fillRect l="-1316" t="-1173" r="-82" b="-1906"/>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a:xfrm>
            <a:off x="3132138" y="6400800"/>
            <a:ext cx="2895600" cy="457200"/>
          </a:xfrm>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E8C82198-0BF9-48B7-B873-10082D7E1B2D}" type="slidenum">
              <a:rPr lang="en-US" altLang="zh-CN"/>
              <a:pPr>
                <a:defRPr/>
              </a:pPr>
              <a:t>99</a:t>
            </a:fld>
            <a:endParaRPr lang="en-US" altLang="zh-CN"/>
          </a:p>
        </p:txBody>
      </p:sp>
      <p:sp>
        <p:nvSpPr>
          <p:cNvPr id="106501" name="Text Box 2"/>
          <p:cNvSpPr txBox="1">
            <a:spLocks noChangeArrowheads="1"/>
          </p:cNvSpPr>
          <p:nvPr/>
        </p:nvSpPr>
        <p:spPr bwMode="auto">
          <a:xfrm>
            <a:off x="1403350" y="692150"/>
            <a:ext cx="61198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仿射加密算法</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0650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2099369" y="1773238"/>
            <a:ext cx="5886450" cy="4537263"/>
          </a:xfrm>
          <a:prstGeom prst="rect">
            <a:avLst/>
          </a:prstGeom>
        </p:spPr>
      </p:pic>
      <p:grpSp>
        <p:nvGrpSpPr>
          <p:cNvPr id="8" name="组合 7"/>
          <p:cNvGrpSpPr/>
          <p:nvPr/>
        </p:nvGrpSpPr>
        <p:grpSpPr>
          <a:xfrm>
            <a:off x="539552" y="2996952"/>
            <a:ext cx="1296144" cy="1924084"/>
            <a:chOff x="1043608" y="2924944"/>
            <a:chExt cx="1296144" cy="1924084"/>
          </a:xfrm>
        </p:grpSpPr>
        <p:sp>
          <p:nvSpPr>
            <p:cNvPr id="3" name="圆柱形 2"/>
            <p:cNvSpPr/>
            <p:nvPr/>
          </p:nvSpPr>
          <p:spPr bwMode="auto">
            <a:xfrm>
              <a:off x="1043608" y="2924944"/>
              <a:ext cx="1296144" cy="1872208"/>
            </a:xfrm>
            <a:prstGeom prst="can">
              <a:avLst>
                <a:gd name="adj" fmla="val 11030"/>
              </a:avLst>
            </a:prstGeom>
            <a:solidFill>
              <a:srgbClr val="92D05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1445460" y="3120836"/>
              <a:ext cx="492443" cy="1728192"/>
            </a:xfrm>
            <a:prstGeom prst="rect">
              <a:avLst/>
            </a:prstGeom>
            <a:noFill/>
          </p:spPr>
          <p:txBody>
            <a:bodyPr vert="eaVert" wrap="square" rtlCol="0">
              <a:spAutoFit/>
            </a:bodyPr>
            <a:lstStyle/>
            <a:p>
              <a:r>
                <a:rPr lang="zh-CN" altLang="en-US" sz="2000" dirty="0" smtClean="0"/>
                <a:t>仿射加密算法</a:t>
              </a:r>
              <a:endParaRPr lang="zh-CN" altLang="en-US" sz="2000" dirty="0"/>
            </a:p>
          </p:txBody>
        </p:sp>
      </p:gr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FCDD4079-A2AE-437C-A5A6-09A7855AAA4B}" type="slidenum">
              <a:rPr lang="en-US" altLang="zh-CN"/>
              <a:pPr>
                <a:defRPr/>
              </a:pPr>
              <a:t>100</a:t>
            </a:fld>
            <a:endParaRPr lang="en-US" altLang="zh-CN"/>
          </a:p>
        </p:txBody>
      </p:sp>
      <p:sp>
        <p:nvSpPr>
          <p:cNvPr id="104453" name="Text Box 2"/>
          <p:cNvSpPr txBox="1">
            <a:spLocks noChangeArrowheads="1"/>
          </p:cNvSpPr>
          <p:nvPr/>
        </p:nvSpPr>
        <p:spPr bwMode="auto">
          <a:xfrm>
            <a:off x="1331913" y="1020763"/>
            <a:ext cx="6480175"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例题</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0445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259632" y="2174875"/>
            <a:ext cx="7198568" cy="1938992"/>
          </a:xfrm>
          <a:prstGeom prst="rect">
            <a:avLst/>
          </a:prstGeom>
          <a:noFill/>
        </p:spPr>
        <p:txBody>
          <a:bodyPr wrap="square" rtlCol="0">
            <a:spAutoFit/>
          </a:bodyPr>
          <a:lstStyle/>
          <a:p>
            <a:r>
              <a:rPr lang="en-US" altLang="zh-CN" dirty="0" smtClean="0"/>
              <a:t>【</a:t>
            </a:r>
            <a:r>
              <a:rPr lang="zh-CN" altLang="en-US" dirty="0" smtClean="0"/>
              <a:t>例</a:t>
            </a:r>
            <a:r>
              <a:rPr lang="en-US" altLang="zh-CN" dirty="0" smtClean="0"/>
              <a:t>】</a:t>
            </a:r>
            <a:r>
              <a:rPr lang="zh-CN" altLang="zh-CN" dirty="0" smtClean="0"/>
              <a:t>对</a:t>
            </a:r>
            <a:r>
              <a:rPr lang="zh-CN" altLang="zh-CN" dirty="0"/>
              <a:t>“</a:t>
            </a:r>
            <a:r>
              <a:rPr lang="en-US" altLang="zh-CN" dirty="0"/>
              <a:t>WELCOME TO HEFEI</a:t>
            </a:r>
            <a:r>
              <a:rPr lang="zh-CN" altLang="zh-CN" dirty="0"/>
              <a:t>”进行</a:t>
            </a:r>
            <a:r>
              <a:rPr lang="zh-CN" altLang="zh-CN" dirty="0" smtClean="0"/>
              <a:t>加密</a:t>
            </a:r>
            <a:endParaRPr lang="en-US" altLang="zh-CN" dirty="0" smtClean="0"/>
          </a:p>
          <a:p>
            <a:pPr lvl="0"/>
            <a:r>
              <a:rPr lang="en-US" altLang="zh-CN" dirty="0" smtClean="0"/>
              <a:t> </a:t>
            </a:r>
            <a:r>
              <a:rPr lang="zh-CN" altLang="zh-CN" dirty="0" smtClean="0"/>
              <a:t>首先</a:t>
            </a:r>
            <a:r>
              <a:rPr lang="zh-CN" altLang="zh-CN" dirty="0"/>
              <a:t>用数字代替字母，然后使用加密</a:t>
            </a:r>
            <a:r>
              <a:rPr lang="zh-CN" altLang="zh-CN" dirty="0" smtClean="0"/>
              <a:t>函数</a:t>
            </a:r>
            <a:endParaRPr lang="en-US" altLang="zh-CN" dirty="0" smtClean="0"/>
          </a:p>
          <a:p>
            <a:pPr lvl="0"/>
            <a:r>
              <a:rPr lang="en-US" altLang="zh-CN" dirty="0" smtClean="0"/>
              <a:t>    </a:t>
            </a:r>
            <a:r>
              <a:rPr lang="en-US" altLang="zh-CN" dirty="0" err="1" smtClean="0"/>
              <a:t>fp</a:t>
            </a:r>
            <a:r>
              <a:rPr lang="en-US" altLang="zh-CN" dirty="0" smtClean="0"/>
              <a:t>=</a:t>
            </a:r>
            <a:r>
              <a:rPr lang="zh-CN" altLang="en-US" dirty="0" smtClean="0"/>
              <a:t>（</a:t>
            </a:r>
            <a:r>
              <a:rPr lang="en-US" altLang="zh-CN" dirty="0" smtClean="0"/>
              <a:t>p+3</a:t>
            </a:r>
            <a:r>
              <a:rPr lang="zh-CN" altLang="en-US" dirty="0" smtClean="0"/>
              <a:t>）</a:t>
            </a:r>
            <a:r>
              <a:rPr lang="en-US" altLang="zh-CN" dirty="0" smtClean="0"/>
              <a:t>mod </a:t>
            </a:r>
            <a:r>
              <a:rPr lang="en-US" altLang="zh-CN" dirty="0"/>
              <a:t>26</a:t>
            </a:r>
            <a:r>
              <a:rPr lang="zh-CN" altLang="en-US" dirty="0"/>
              <a:t>代替</a:t>
            </a:r>
            <a:r>
              <a:rPr lang="zh-CN" altLang="zh-CN" dirty="0"/>
              <a:t>翻译成字母后，得到获得到的加密信息为：“</a:t>
            </a:r>
            <a:r>
              <a:rPr lang="en-US" altLang="zh-CN" dirty="0"/>
              <a:t>ZHOFRPH VR KHIHL</a:t>
            </a:r>
            <a:r>
              <a:rPr lang="zh-CN" altLang="zh-CN" dirty="0" smtClean="0"/>
              <a:t>”</a:t>
            </a:r>
            <a:r>
              <a:rPr lang="zh-CN" altLang="en-US" dirty="0" smtClean="0"/>
              <a:t>。</a:t>
            </a:r>
            <a:r>
              <a:rPr lang="zh-CN" altLang="zh-CN" dirty="0"/>
              <a:t>具体过程如下：</a:t>
            </a:r>
            <a:endParaRPr lang="zh-CN" altLang="en-US" dirty="0"/>
          </a:p>
        </p:txBody>
      </p:sp>
      <p:sp>
        <p:nvSpPr>
          <p:cNvPr id="15" name="Rectangle 15"/>
          <p:cNvSpPr>
            <a:spLocks noChangeArrowheads="1"/>
          </p:cNvSpPr>
          <p:nvPr/>
        </p:nvSpPr>
        <p:spPr bwMode="auto">
          <a:xfrm>
            <a:off x="0" y="619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smtClean="0">
                <a:ln>
                  <a:noFill/>
                </a:ln>
                <a:solidFill>
                  <a:schemeClr val="tx1"/>
                </a:solidFill>
                <a:effectLst/>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16" name="图片 15"/>
          <p:cNvPicPr>
            <a:picLocks noChangeAspect="1"/>
          </p:cNvPicPr>
          <p:nvPr/>
        </p:nvPicPr>
        <p:blipFill>
          <a:blip r:embed="rId4"/>
          <a:stretch>
            <a:fillRect/>
          </a:stretch>
        </p:blipFill>
        <p:spPr>
          <a:xfrm>
            <a:off x="1763688" y="4380639"/>
            <a:ext cx="5276190" cy="1285714"/>
          </a:xfrm>
          <a:prstGeom prst="rect">
            <a:avLst/>
          </a:prstGeom>
        </p:spPr>
      </p:pic>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84567710-B5DD-45AE-8C65-9E8088D9F6EB}" type="slidenum">
              <a:rPr lang="en-US" altLang="zh-CN"/>
              <a:pPr>
                <a:defRPr/>
              </a:pPr>
              <a:t>101</a:t>
            </a:fld>
            <a:endParaRPr lang="en-US" altLang="zh-CN"/>
          </a:p>
        </p:txBody>
      </p:sp>
      <p:sp>
        <p:nvSpPr>
          <p:cNvPr id="105477" name="Text Box 2"/>
          <p:cNvSpPr txBox="1">
            <a:spLocks noChangeArrowheads="1"/>
          </p:cNvSpPr>
          <p:nvPr/>
        </p:nvSpPr>
        <p:spPr bwMode="auto">
          <a:xfrm>
            <a:off x="1331913" y="1020763"/>
            <a:ext cx="6480175"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en-US" altLang="zh-CN" sz="4800" b="1" dirty="0">
                <a:solidFill>
                  <a:schemeClr val="bg1"/>
                </a:solidFill>
                <a:latin typeface="宋体" panose="02010600030101010101" pitchFamily="2" charset="-122"/>
                <a:ea typeface="宋体" panose="02010600030101010101" pitchFamily="2" charset="-122"/>
              </a:rPr>
              <a:t>RSA</a:t>
            </a:r>
            <a:r>
              <a:rPr lang="zh-CN" altLang="zh-CN" sz="4800" b="1" dirty="0">
                <a:solidFill>
                  <a:schemeClr val="bg1"/>
                </a:solidFill>
                <a:latin typeface="宋体" panose="02010600030101010101" pitchFamily="2" charset="-122"/>
                <a:ea typeface="宋体" panose="02010600030101010101" pitchFamily="2" charset="-122"/>
              </a:rPr>
              <a:t>算法</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0547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079612" y="2145935"/>
            <a:ext cx="6984776" cy="3883755"/>
          </a:xfrm>
          <a:prstGeom prst="rect">
            <a:avLst/>
          </a:prstGeom>
          <a:solidFill>
            <a:srgbClr val="FFC000"/>
          </a:solidFill>
        </p:spPr>
        <p:txBody>
          <a:bodyPr wrap="square" rtlCol="0">
            <a:spAutoFit/>
          </a:bodyPr>
          <a:lstStyle/>
          <a:p>
            <a:pPr>
              <a:lnSpc>
                <a:spcPct val="150000"/>
              </a:lnSpc>
            </a:pPr>
            <a:r>
              <a:rPr lang="en-US" altLang="zh-CN" dirty="0"/>
              <a:t>RSA</a:t>
            </a:r>
            <a:r>
              <a:rPr lang="zh-CN" altLang="zh-CN" dirty="0"/>
              <a:t>算法由三位数学家</a:t>
            </a:r>
            <a:r>
              <a:rPr lang="en-US" altLang="zh-CN" dirty="0" err="1"/>
              <a:t>Rivest</a:t>
            </a:r>
            <a:r>
              <a:rPr lang="zh-CN" altLang="zh-CN" dirty="0"/>
              <a:t>、</a:t>
            </a:r>
            <a:r>
              <a:rPr lang="en-US" altLang="zh-CN" dirty="0"/>
              <a:t>Shamir</a:t>
            </a:r>
            <a:r>
              <a:rPr lang="zh-CN" altLang="zh-CN" dirty="0"/>
              <a:t>和</a:t>
            </a:r>
            <a:r>
              <a:rPr lang="en-US" altLang="zh-CN" dirty="0" err="1"/>
              <a:t>Adleman</a:t>
            </a:r>
            <a:r>
              <a:rPr lang="zh-CN" altLang="zh-CN" dirty="0"/>
              <a:t>于</a:t>
            </a:r>
            <a:r>
              <a:rPr lang="en-US" altLang="zh-CN" dirty="0"/>
              <a:t>1977</a:t>
            </a:r>
            <a:r>
              <a:rPr lang="zh-CN" altLang="zh-CN" dirty="0"/>
              <a:t>年共同提出，是至今最为广泛使用的非对称加密算法，特别适合于对通过互联网传送的数据进行加密，通常于数字签名等场合。</a:t>
            </a:r>
            <a:r>
              <a:rPr lang="en-US" altLang="zh-CN" dirty="0"/>
              <a:t>RSA</a:t>
            </a:r>
            <a:r>
              <a:rPr lang="zh-CN" altLang="zh-CN" dirty="0"/>
              <a:t>算法使用整数模余运算性质生成公钥和私钥，并进行加密和解密。</a:t>
            </a:r>
            <a:r>
              <a:rPr lang="en-US" altLang="zh-CN" dirty="0"/>
              <a:t>RSA</a:t>
            </a:r>
            <a:r>
              <a:rPr lang="zh-CN" altLang="zh-CN" dirty="0"/>
              <a:t>算法原理基于</a:t>
            </a:r>
            <a:r>
              <a:rPr lang="zh-CN" altLang="zh-CN" dirty="0">
                <a:solidFill>
                  <a:srgbClr val="FF0000"/>
                </a:solidFill>
              </a:rPr>
              <a:t>欧拉定理</a:t>
            </a:r>
            <a:r>
              <a:rPr lang="zh-CN" altLang="zh-CN" dirty="0"/>
              <a:t>和</a:t>
            </a:r>
            <a:r>
              <a:rPr lang="zh-CN" altLang="zh-CN" dirty="0">
                <a:solidFill>
                  <a:srgbClr val="FF0000"/>
                </a:solidFill>
              </a:rPr>
              <a:t>费马小定理</a:t>
            </a:r>
            <a:r>
              <a:rPr lang="zh-CN" altLang="zh-CN" dirty="0"/>
              <a:t>，为此首先介绍这两个定理。</a:t>
            </a:r>
          </a:p>
        </p:txBody>
      </p:sp>
    </p:spTree>
    <p:extLst>
      <p:ext uri="{BB962C8B-B14F-4D97-AF65-F5344CB8AC3E}">
        <p14:creationId xmlns:p14="http://schemas.microsoft.com/office/powerpoint/2010/main" val="3544480365"/>
      </p:ext>
    </p:extLst>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59F490C0-044B-4A9B-81AB-77AB3817CED5}" type="slidenum">
              <a:rPr lang="en-US" altLang="zh-CN"/>
              <a:pPr>
                <a:defRPr/>
              </a:pPr>
              <a:t>102</a:t>
            </a:fld>
            <a:endParaRPr lang="en-US" altLang="zh-CN"/>
          </a:p>
        </p:txBody>
      </p:sp>
      <p:sp>
        <p:nvSpPr>
          <p:cNvPr id="108550" name="Text Box 3"/>
          <p:cNvSpPr txBox="1">
            <a:spLocks noChangeArrowheads="1"/>
          </p:cNvSpPr>
          <p:nvPr/>
        </p:nvSpPr>
        <p:spPr bwMode="auto">
          <a:xfrm>
            <a:off x="6372225" y="6597650"/>
            <a:ext cx="27717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200" b="1">
                <a:solidFill>
                  <a:schemeClr val="bg1"/>
                </a:solidFill>
                <a:latin typeface="Times New Roman" panose="02020603050405020304" pitchFamily="18" charset="0"/>
                <a:ea typeface="方正舒体" panose="02010601030101010101" pitchFamily="2" charset="-122"/>
              </a:rPr>
              <a:t>3.3  </a:t>
            </a:r>
            <a:r>
              <a:rPr kumimoji="0" lang="zh-CN" altLang="en-US" sz="1200" b="1">
                <a:solidFill>
                  <a:schemeClr val="bg1"/>
                </a:solidFill>
                <a:latin typeface="Times New Roman" panose="02020603050405020304" pitchFamily="18" charset="0"/>
                <a:ea typeface="方正舒体" panose="02010601030101010101" pitchFamily="2" charset="-122"/>
              </a:rPr>
              <a:t>集合定义的自然数和归纳法证明</a:t>
            </a:r>
          </a:p>
        </p:txBody>
      </p:sp>
      <p:sp>
        <p:nvSpPr>
          <p:cNvPr id="108551" name="Text Box 2"/>
          <p:cNvSpPr txBox="1">
            <a:spLocks noChangeArrowheads="1"/>
          </p:cNvSpPr>
          <p:nvPr/>
        </p:nvSpPr>
        <p:spPr bwMode="auto">
          <a:xfrm>
            <a:off x="1331913" y="908050"/>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zh-CN" sz="4800" b="1" dirty="0">
                <a:solidFill>
                  <a:schemeClr val="bg1"/>
                </a:solidFill>
                <a:latin typeface="宋体" panose="02010600030101010101" pitchFamily="2" charset="-122"/>
                <a:ea typeface="宋体" panose="02010600030101010101" pitchFamily="2" charset="-122"/>
              </a:rPr>
              <a:t>欧拉定理</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0855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709959" y="2204864"/>
                <a:ext cx="6696744" cy="1584986"/>
              </a:xfrm>
              <a:prstGeom prst="rect">
                <a:avLst/>
              </a:prstGeom>
              <a:solidFill>
                <a:srgbClr val="CC0066"/>
              </a:solidFill>
              <a:ln w="28575">
                <a:solidFill>
                  <a:schemeClr val="accent2"/>
                </a:solidFill>
              </a:ln>
              <a:scene3d>
                <a:camera prst="orthographicFront"/>
                <a:lightRig rig="threePt" dir="t"/>
              </a:scene3d>
              <a:sp3d>
                <a:bevelT prst="slope"/>
              </a:sp3d>
            </p:spPr>
            <p:txBody>
              <a:bodyPr wrap="square" rtlCol="0">
                <a:spAutoFit/>
              </a:bodyPr>
              <a:lstStyle/>
              <a:p>
                <a:r>
                  <a:rPr lang="zh-CN" altLang="zh-CN" dirty="0"/>
                  <a:t>【</a:t>
                </a:r>
                <a:r>
                  <a:rPr lang="zh-CN" altLang="zh-CN" b="1" dirty="0"/>
                  <a:t>定理</a:t>
                </a:r>
                <a:r>
                  <a:rPr lang="en-US" altLang="zh-CN" b="1" dirty="0"/>
                  <a:t>2.29</a:t>
                </a:r>
                <a:r>
                  <a:rPr lang="zh-CN" altLang="zh-CN" dirty="0"/>
                  <a:t>】（欧拉定理）设</a:t>
                </a:r>
                <a:r>
                  <a:rPr lang="en-US" altLang="zh-CN" i="1" dirty="0"/>
                  <a:t>m</a:t>
                </a:r>
                <a:r>
                  <a:rPr lang="zh-CN" altLang="zh-CN" dirty="0"/>
                  <a:t>是任一正整数，</a:t>
                </a:r>
                <a:r>
                  <a:rPr lang="en-US" altLang="zh-CN" i="1" dirty="0"/>
                  <a:t>a</a:t>
                </a:r>
                <a:r>
                  <a:rPr lang="zh-CN" altLang="zh-CN" dirty="0"/>
                  <a:t>是任一与</a:t>
                </a:r>
                <a:r>
                  <a:rPr lang="en-US" altLang="zh-CN" i="1" dirty="0"/>
                  <a:t>m</a:t>
                </a:r>
                <a:r>
                  <a:rPr lang="zh-CN" altLang="zh-CN" dirty="0"/>
                  <a:t>互素的整数，则有：</a:t>
                </a:r>
              </a:p>
              <a:p>
                <a:r>
                  <a:rPr lang="en-US" altLang="zh-CN" dirty="0"/>
                  <a:t>         </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𝜑</m:t>
                        </m:r>
                        <m:r>
                          <a:rPr lang="en-US" altLang="zh-CN" i="1">
                            <a:latin typeface="Cambria Math" panose="02040503050406030204" pitchFamily="18" charset="0"/>
                          </a:rPr>
                          <m:t>(</m:t>
                        </m:r>
                        <m:r>
                          <a:rPr lang="en-US" altLang="zh-CN" i="1">
                            <a:latin typeface="Cambria Math" panose="02040503050406030204" pitchFamily="18" charset="0"/>
                          </a:rPr>
                          <m:t>𝑚</m:t>
                        </m:r>
                        <m:r>
                          <a:rPr lang="en-US" altLang="zh-CN" i="1">
                            <a:latin typeface="Cambria Math" panose="02040503050406030204" pitchFamily="18" charset="0"/>
                          </a:rPr>
                          <m:t>)</m:t>
                        </m:r>
                      </m:sup>
                    </m:sSup>
                    <m:r>
                      <a:rPr lang="en-US" altLang="zh-CN" i="1">
                        <a:latin typeface="Cambria Math" panose="02040503050406030204" pitchFamily="18" charset="0"/>
                      </a:rPr>
                      <m:t>≡1(</m:t>
                    </m:r>
                    <m:r>
                      <m:rPr>
                        <m:nor/>
                      </m:rPr>
                      <a:rPr lang="en-US" altLang="zh-CN"/>
                      <m:t> </m:t>
                    </m:r>
                    <m:r>
                      <m:rPr>
                        <m:nor/>
                      </m:rPr>
                      <a:rPr lang="en-US" altLang="zh-CN"/>
                      <m:t>mod</m:t>
                    </m:r>
                    <m:r>
                      <a:rPr lang="en-US" altLang="zh-CN" i="1">
                        <a:latin typeface="Cambria Math" panose="02040503050406030204" pitchFamily="18" charset="0"/>
                      </a:rPr>
                      <m:t> </m:t>
                    </m:r>
                    <m:r>
                      <a:rPr lang="en-US" altLang="zh-CN" i="1">
                        <a:latin typeface="Cambria Math" panose="02040503050406030204" pitchFamily="18" charset="0"/>
                      </a:rPr>
                      <m:t>𝑚</m:t>
                    </m:r>
                    <m:r>
                      <a:rPr lang="en-US" altLang="zh-CN" i="1">
                        <a:latin typeface="Cambria Math" panose="02040503050406030204" pitchFamily="18" charset="0"/>
                      </a:rPr>
                      <m:t>)</m:t>
                    </m:r>
                  </m:oMath>
                </a14:m>
                <a:r>
                  <a:rPr lang="en-US" altLang="zh-CN" dirty="0"/>
                  <a:t>         (2-15)</a:t>
                </a:r>
                <a:endParaRPr lang="zh-CN" altLang="zh-CN" dirty="0"/>
              </a:p>
              <a:p>
                <a:r>
                  <a:rPr lang="zh-CN" altLang="zh-CN" dirty="0"/>
                  <a:t>其中</a:t>
                </a:r>
                <a14:m>
                  <m:oMath xmlns:m="http://schemas.openxmlformats.org/officeDocument/2006/math">
                    <m:r>
                      <a:rPr lang="en-US" altLang="zh-CN" i="1">
                        <a:latin typeface="Cambria Math" panose="02040503050406030204" pitchFamily="18" charset="0"/>
                      </a:rPr>
                      <m:t>𝜑</m:t>
                    </m:r>
                    <m:r>
                      <a:rPr lang="en-US" altLang="zh-CN" i="1">
                        <a:latin typeface="Cambria Math" panose="02040503050406030204" pitchFamily="18" charset="0"/>
                      </a:rPr>
                      <m:t>(</m:t>
                    </m:r>
                    <m:r>
                      <a:rPr lang="en-US" altLang="zh-CN" i="1">
                        <a:latin typeface="Cambria Math" panose="02040503050406030204" pitchFamily="18" charset="0"/>
                      </a:rPr>
                      <m:t>𝑚</m:t>
                    </m:r>
                    <m:r>
                      <a:rPr lang="en-US" altLang="zh-CN" i="1">
                        <a:latin typeface="Cambria Math" panose="02040503050406030204" pitchFamily="18" charset="0"/>
                      </a:rPr>
                      <m:t>)</m:t>
                    </m:r>
                  </m:oMath>
                </a14:m>
                <a:r>
                  <a:rPr lang="zh-CN" altLang="zh-CN" dirty="0"/>
                  <a:t>是欧拉函数。</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709959" y="2204864"/>
                <a:ext cx="6696744" cy="1584986"/>
              </a:xfrm>
              <a:prstGeom prst="rect">
                <a:avLst/>
              </a:prstGeom>
              <a:blipFill rotWithShape="0">
                <a:blip r:embed="rId4"/>
                <a:stretch>
                  <a:fillRect l="-993" t="-1111" b="-4815"/>
                </a:stretch>
              </a:blipFill>
              <a:ln w="28575">
                <a:solidFill>
                  <a:schemeClr val="accent2"/>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657892" y="3995750"/>
                <a:ext cx="8090572" cy="1852302"/>
              </a:xfrm>
              <a:prstGeom prst="rect">
                <a:avLst/>
              </a:prstGeom>
              <a:noFill/>
            </p:spPr>
            <p:txBody>
              <a:bodyPr wrap="square" rtlCol="0">
                <a:spAutoFit/>
              </a:bodyPr>
              <a:lstStyle/>
              <a:p>
                <a:r>
                  <a:rPr lang="zh-CN" altLang="zh-CN" sz="1800" dirty="0" smtClean="0">
                    <a:latin typeface="华文仿宋" panose="02010600040101010101" pitchFamily="2" charset="-122"/>
                    <a:ea typeface="华文仿宋" panose="02010600040101010101" pitchFamily="2" charset="-122"/>
                  </a:rPr>
                  <a:t>【证明】设</a:t>
                </a:r>
                <a14:m>
                  <m:oMath xmlns:m="http://schemas.openxmlformats.org/officeDocument/2006/math">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 ⋯,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𝜑</m:t>
                        </m:r>
                        <m:r>
                          <a:rPr lang="en-US" altLang="zh-CN" sz="1800" i="1">
                            <a:latin typeface="Cambria Math" panose="02040503050406030204" pitchFamily="18" charset="0"/>
                          </a:rPr>
                          <m:t>(</m:t>
                        </m:r>
                        <m:r>
                          <a:rPr lang="en-US" altLang="zh-CN" sz="1800" i="1">
                            <a:latin typeface="Cambria Math" panose="02040503050406030204" pitchFamily="18" charset="0"/>
                          </a:rPr>
                          <m:t>𝑚</m:t>
                        </m:r>
                        <m:r>
                          <a:rPr lang="en-US" altLang="zh-CN" sz="1800" i="1">
                            <a:latin typeface="Cambria Math" panose="02040503050406030204" pitchFamily="18" charset="0"/>
                          </a:rPr>
                          <m:t>)</m:t>
                        </m:r>
                      </m:sub>
                    </m:sSub>
                    <m:r>
                      <a:rPr lang="en-US" altLang="zh-CN" sz="1800">
                        <a:latin typeface="Cambria Math" panose="02040503050406030204" pitchFamily="18" charset="0"/>
                      </a:rPr>
                      <m:t>}</m:t>
                    </m:r>
                  </m:oMath>
                </a14:m>
                <a:r>
                  <a:rPr lang="zh-CN" altLang="zh-CN" sz="1800" dirty="0">
                    <a:latin typeface="华文仿宋" panose="02010600040101010101" pitchFamily="2" charset="-122"/>
                    <a:ea typeface="华文仿宋" panose="02010600040101010101" pitchFamily="2" charset="-122"/>
                  </a:rPr>
                  <a:t>是模</a:t>
                </a:r>
                <a:r>
                  <a:rPr lang="en-US" altLang="zh-CN" sz="1800" i="1" dirty="0">
                    <a:latin typeface="华文仿宋" panose="02010600040101010101" pitchFamily="2" charset="-122"/>
                    <a:ea typeface="华文仿宋" panose="02010600040101010101" pitchFamily="2" charset="-122"/>
                  </a:rPr>
                  <a:t>m</a:t>
                </a:r>
                <a:r>
                  <a:rPr lang="zh-CN" altLang="zh-CN" sz="1800" dirty="0">
                    <a:latin typeface="华文仿宋" panose="02010600040101010101" pitchFamily="2" charset="-122"/>
                    <a:ea typeface="华文仿宋" panose="02010600040101010101" pitchFamily="2" charset="-122"/>
                  </a:rPr>
                  <a:t>的一个简化剩余系，由于</a:t>
                </a:r>
                <a14:m>
                  <m:oMath xmlns:m="http://schemas.openxmlformats.org/officeDocument/2006/math">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𝑎</m:t>
                        </m:r>
                        <m:r>
                          <a:rPr lang="en-US" altLang="zh-CN" sz="1800" b="0" i="1" smtClean="0">
                            <a:latin typeface="Cambria Math" panose="02040503050406030204" pitchFamily="18" charset="0"/>
                          </a:rPr>
                          <m:t> </m:t>
                        </m:r>
                        <m:r>
                          <a:rPr lang="en-US" altLang="zh-CN" sz="1800">
                            <a:latin typeface="Cambria Math" panose="02040503050406030204" pitchFamily="18" charset="0"/>
                          </a:rPr>
                          <m:t>,  </m:t>
                        </m:r>
                        <m:r>
                          <a:rPr lang="en-US" altLang="zh-CN" sz="1800" i="1">
                            <a:latin typeface="Cambria Math" panose="02040503050406030204" pitchFamily="18" charset="0"/>
                          </a:rPr>
                          <m:t>𝑚</m:t>
                        </m:r>
                      </m:e>
                    </m:d>
                    <m:r>
                      <a:rPr lang="en-US" altLang="zh-CN" sz="1800">
                        <a:latin typeface="Cambria Math" panose="02040503050406030204" pitchFamily="18" charset="0"/>
                      </a:rPr>
                      <m:t>=1</m:t>
                    </m:r>
                  </m:oMath>
                </a14:m>
                <a:r>
                  <a:rPr lang="zh-CN" altLang="zh-CN" sz="1800" dirty="0">
                    <a:latin typeface="华文仿宋" panose="02010600040101010101" pitchFamily="2" charset="-122"/>
                    <a:ea typeface="华文仿宋" panose="02010600040101010101" pitchFamily="2" charset="-122"/>
                  </a:rPr>
                  <a:t>，从而：</a:t>
                </a:r>
              </a:p>
              <a:p>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rPr>
                        <m:t>𝑎</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1</m:t>
                          </m:r>
                        </m:sub>
                      </m:sSub>
                      <m:r>
                        <a:rPr lang="zh-CN" altLang="zh-CN" sz="1800">
                          <a:latin typeface="Cambria Math" panose="02040503050406030204" pitchFamily="18" charset="0"/>
                        </a:rPr>
                        <m:t>，</m:t>
                      </m:r>
                      <m:r>
                        <a:rPr lang="zh-CN" altLang="zh-CN" sz="1800" i="1">
                          <a:latin typeface="Cambria Math" panose="02040503050406030204" pitchFamily="18" charset="0"/>
                        </a:rPr>
                        <m:t> </m:t>
                      </m:r>
                      <m:r>
                        <a:rPr lang="en-US" altLang="zh-CN" sz="1800" i="1">
                          <a:latin typeface="Cambria Math" panose="02040503050406030204" pitchFamily="18" charset="0"/>
                        </a:rPr>
                        <m:t>𝑎</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2</m:t>
                          </m:r>
                        </m:sub>
                      </m:sSub>
                      <m:r>
                        <a:rPr lang="zh-CN" altLang="zh-CN" sz="1800">
                          <a:latin typeface="Cambria Math" panose="02040503050406030204" pitchFamily="18" charset="0"/>
                        </a:rPr>
                        <m:t>，</m:t>
                      </m:r>
                      <m:r>
                        <a:rPr lang="en-US" altLang="zh-CN" sz="1800" i="1">
                          <a:latin typeface="Cambria Math" panose="02040503050406030204" pitchFamily="18" charset="0"/>
                        </a:rPr>
                        <m:t>⋯</m:t>
                      </m:r>
                      <m:r>
                        <a:rPr lang="zh-CN" altLang="zh-CN" sz="1800">
                          <a:latin typeface="Cambria Math" panose="02040503050406030204" pitchFamily="18" charset="0"/>
                        </a:rPr>
                        <m:t>，</m:t>
                      </m:r>
                      <m:r>
                        <a:rPr lang="en-US" altLang="zh-CN" sz="1800" i="1">
                          <a:latin typeface="Cambria Math" panose="02040503050406030204" pitchFamily="18" charset="0"/>
                        </a:rPr>
                        <m:t>𝑎</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𝜑</m:t>
                          </m:r>
                          <m:r>
                            <a:rPr lang="en-US" altLang="zh-CN" sz="1800" i="1">
                              <a:latin typeface="Cambria Math" panose="02040503050406030204" pitchFamily="18" charset="0"/>
                            </a:rPr>
                            <m:t>(</m:t>
                          </m:r>
                          <m:r>
                            <a:rPr lang="en-US" altLang="zh-CN" sz="1800" i="1">
                              <a:latin typeface="Cambria Math" panose="02040503050406030204" pitchFamily="18" charset="0"/>
                            </a:rPr>
                            <m:t>𝑚</m:t>
                          </m:r>
                          <m:r>
                            <a:rPr lang="en-US" altLang="zh-CN" sz="1800" i="1">
                              <a:latin typeface="Cambria Math" panose="02040503050406030204" pitchFamily="18" charset="0"/>
                            </a:rPr>
                            <m:t>)</m:t>
                          </m:r>
                        </m:sub>
                      </m:sSub>
                    </m:oMath>
                  </m:oMathPara>
                </a14:m>
                <a:endParaRPr lang="zh-CN" altLang="zh-CN" sz="1800" dirty="0">
                  <a:latin typeface="华文仿宋" panose="02010600040101010101" pitchFamily="2" charset="-122"/>
                  <a:ea typeface="华文仿宋" panose="02010600040101010101" pitchFamily="2" charset="-122"/>
                </a:endParaRPr>
              </a:p>
              <a:p>
                <a:r>
                  <a:rPr lang="zh-CN" altLang="zh-CN" sz="1800" dirty="0">
                    <a:latin typeface="华文仿宋" panose="02010600040101010101" pitchFamily="2" charset="-122"/>
                    <a:ea typeface="华文仿宋" panose="02010600040101010101" pitchFamily="2" charset="-122"/>
                  </a:rPr>
                  <a:t>也是与</a:t>
                </a:r>
                <a:r>
                  <a:rPr lang="en-US" altLang="zh-CN" sz="1800" i="1" dirty="0">
                    <a:latin typeface="华文仿宋" panose="02010600040101010101" pitchFamily="2" charset="-122"/>
                    <a:ea typeface="华文仿宋" panose="02010600040101010101" pitchFamily="2" charset="-122"/>
                  </a:rPr>
                  <a:t>m</a:t>
                </a:r>
                <a:r>
                  <a:rPr lang="zh-CN" altLang="zh-CN" sz="1800" dirty="0">
                    <a:latin typeface="华文仿宋" panose="02010600040101010101" pitchFamily="2" charset="-122"/>
                    <a:ea typeface="华文仿宋" panose="02010600040101010101" pitchFamily="2" charset="-122"/>
                  </a:rPr>
                  <a:t>互素的</a:t>
                </a:r>
                <a14:m>
                  <m:oMath xmlns:m="http://schemas.openxmlformats.org/officeDocument/2006/math">
                    <m:r>
                      <a:rPr lang="en-US" altLang="zh-CN" sz="1800" i="1">
                        <a:latin typeface="Cambria Math" panose="02040503050406030204" pitchFamily="18" charset="0"/>
                      </a:rPr>
                      <m:t>𝜑</m:t>
                    </m:r>
                    <m:r>
                      <a:rPr lang="en-US" altLang="zh-CN" sz="1800" i="1">
                        <a:latin typeface="Cambria Math" panose="02040503050406030204" pitchFamily="18" charset="0"/>
                      </a:rPr>
                      <m:t>(</m:t>
                    </m:r>
                    <m:r>
                      <a:rPr lang="en-US" altLang="zh-CN" sz="1800" i="1">
                        <a:latin typeface="Cambria Math" panose="02040503050406030204" pitchFamily="18" charset="0"/>
                      </a:rPr>
                      <m:t>𝑚</m:t>
                    </m:r>
                  </m:oMath>
                </a14:m>
                <a:r>
                  <a:rPr lang="en-US" altLang="zh-CN" sz="1800" dirty="0">
                    <a:latin typeface="华文仿宋" panose="02010600040101010101" pitchFamily="2" charset="-122"/>
                    <a:ea typeface="华文仿宋" panose="02010600040101010101" pitchFamily="2" charset="-122"/>
                  </a:rPr>
                  <a:t>)</a:t>
                </a:r>
                <a:r>
                  <a:rPr lang="zh-CN" altLang="zh-CN" sz="1800" dirty="0">
                    <a:latin typeface="华文仿宋" panose="02010600040101010101" pitchFamily="2" charset="-122"/>
                    <a:ea typeface="华文仿宋" panose="02010600040101010101" pitchFamily="2" charset="-122"/>
                  </a:rPr>
                  <a:t>个整数，且当</a:t>
                </a:r>
                <a14:m>
                  <m:oMath xmlns:m="http://schemas.openxmlformats.org/officeDocument/2006/math">
                    <m:r>
                      <a:rPr lang="en-US" altLang="zh-CN" sz="1800">
                        <a:latin typeface="Cambria Math" panose="02040503050406030204" pitchFamily="18" charset="0"/>
                      </a:rPr>
                      <m:t>1≤</m:t>
                    </m:r>
                    <m:r>
                      <a:rPr lang="en-US" altLang="zh-CN" sz="1800" i="1">
                        <a:latin typeface="Cambria Math" panose="02040503050406030204" pitchFamily="18" charset="0"/>
                      </a:rPr>
                      <m:t>𝑖</m:t>
                    </m:r>
                    <m:r>
                      <a:rPr lang="zh-CN" altLang="zh-CN" sz="1800">
                        <a:latin typeface="Cambria Math" panose="02040503050406030204" pitchFamily="18" charset="0"/>
                      </a:rPr>
                      <m:t>，</m:t>
                    </m:r>
                    <m:r>
                      <a:rPr lang="en-US" altLang="zh-CN" sz="1800" i="1">
                        <a:latin typeface="Cambria Math" panose="02040503050406030204" pitchFamily="18" charset="0"/>
                      </a:rPr>
                      <m:t>𝑗</m:t>
                    </m:r>
                    <m:r>
                      <a:rPr lang="en-US" altLang="zh-CN" sz="1800">
                        <a:latin typeface="Cambria Math" panose="02040503050406030204" pitchFamily="18" charset="0"/>
                      </a:rPr>
                      <m:t>≤</m:t>
                    </m:r>
                    <m:r>
                      <a:rPr lang="en-US" altLang="zh-CN" sz="1800" i="1">
                        <a:latin typeface="Cambria Math" panose="02040503050406030204" pitchFamily="18" charset="0"/>
                      </a:rPr>
                      <m:t>𝜑</m:t>
                    </m:r>
                    <m:d>
                      <m:dPr>
                        <m:ctrlPr>
                          <a:rPr lang="zh-CN" altLang="zh-CN" sz="1800" i="1">
                            <a:latin typeface="Cambria Math" panose="02040503050406030204" pitchFamily="18" charset="0"/>
                          </a:rPr>
                        </m:ctrlPr>
                      </m:dPr>
                      <m:e>
                        <m:r>
                          <a:rPr lang="en-US" altLang="zh-CN" sz="1800" i="1">
                            <a:latin typeface="Cambria Math" panose="02040503050406030204" pitchFamily="18" charset="0"/>
                          </a:rPr>
                          <m:t>𝑚</m:t>
                        </m:r>
                      </m:e>
                    </m:d>
                    <m:r>
                      <a:rPr lang="zh-CN" altLang="zh-CN" sz="1800">
                        <a:latin typeface="Cambria Math" panose="02040503050406030204" pitchFamily="18" charset="0"/>
                      </a:rPr>
                      <m:t>，</m:t>
                    </m:r>
                    <m:r>
                      <a:rPr lang="en-US" altLang="zh-CN" sz="1800" i="1">
                        <a:latin typeface="Cambria Math" panose="02040503050406030204" pitchFamily="18" charset="0"/>
                      </a:rPr>
                      <m:t>𝑖</m:t>
                    </m:r>
                    <m:r>
                      <a:rPr lang="en-US" altLang="zh-CN" sz="1800">
                        <a:latin typeface="Cambria Math" panose="02040503050406030204" pitchFamily="18" charset="0"/>
                      </a:rPr>
                      <m:t>≠</m:t>
                    </m:r>
                    <m:r>
                      <a:rPr lang="en-US" altLang="zh-CN" sz="1800" i="1">
                        <a:latin typeface="Cambria Math" panose="02040503050406030204" pitchFamily="18" charset="0"/>
                      </a:rPr>
                      <m:t>𝑗</m:t>
                    </m:r>
                    <m:r>
                      <a:rPr lang="en-US" altLang="zh-CN" sz="1800" i="1">
                        <a:latin typeface="Cambria Math" panose="02040503050406030204" pitchFamily="18" charset="0"/>
                      </a:rPr>
                      <m:t> </m:t>
                    </m:r>
                  </m:oMath>
                </a14:m>
                <a:r>
                  <a:rPr lang="zh-CN" altLang="zh-CN" sz="1800" dirty="0">
                    <a:latin typeface="华文仿宋" panose="02010600040101010101" pitchFamily="2" charset="-122"/>
                    <a:ea typeface="华文仿宋" panose="02010600040101010101" pitchFamily="2" charset="-122"/>
                  </a:rPr>
                  <a:t>时，有：</a:t>
                </a:r>
              </a:p>
              <a:p>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rPr>
                        <m:t>𝑎</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r>
                        <a:rPr lang="en-US" altLang="zh-CN" sz="1800" i="1">
                          <a:latin typeface="Cambria Math" panose="02040503050406030204" pitchFamily="18" charset="0"/>
                        </a:rPr>
                        <m:t>𝑎</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𝑗</m:t>
                          </m:r>
                        </m:sub>
                      </m:sSub>
                      <m:r>
                        <a:rPr lang="zh-CN" altLang="zh-CN" sz="1800">
                          <a:latin typeface="Cambria Math" panose="02040503050406030204" pitchFamily="18" charset="0"/>
                        </a:rPr>
                        <m:t>（</m:t>
                      </m:r>
                      <m:r>
                        <a:rPr lang="en-US" altLang="zh-CN" sz="1800" i="1">
                          <a:latin typeface="Cambria Math" panose="02040503050406030204" pitchFamily="18" charset="0"/>
                        </a:rPr>
                        <m:t>𝑚𝑜𝑑</m:t>
                      </m:r>
                      <m:r>
                        <a:rPr lang="en-US" altLang="zh-CN" sz="1800">
                          <a:latin typeface="Cambria Math" panose="02040503050406030204" pitchFamily="18" charset="0"/>
                        </a:rPr>
                        <m:t> </m:t>
                      </m:r>
                      <m:r>
                        <a:rPr lang="en-US" altLang="zh-CN" sz="1800" i="1">
                          <a:latin typeface="Cambria Math" panose="02040503050406030204" pitchFamily="18" charset="0"/>
                        </a:rPr>
                        <m:t>𝑚</m:t>
                      </m:r>
                      <m:r>
                        <a:rPr lang="zh-CN" altLang="zh-CN" sz="1800">
                          <a:latin typeface="Cambria Math" panose="02040503050406030204" pitchFamily="18" charset="0"/>
                        </a:rPr>
                        <m:t>）</m:t>
                      </m:r>
                    </m:oMath>
                  </m:oMathPara>
                </a14:m>
                <a:endParaRPr lang="zh-CN" altLang="zh-CN" sz="1800" dirty="0">
                  <a:latin typeface="华文仿宋" panose="02010600040101010101" pitchFamily="2" charset="-122"/>
                  <a:ea typeface="华文仿宋" panose="02010600040101010101" pitchFamily="2" charset="-122"/>
                </a:endParaRPr>
              </a:p>
              <a:p>
                <a:r>
                  <a:rPr lang="zh-CN" altLang="zh-CN" sz="1800" dirty="0">
                    <a:latin typeface="华文仿宋" panose="02010600040101010101" pitchFamily="2" charset="-122"/>
                    <a:ea typeface="华文仿宋" panose="02010600040101010101" pitchFamily="2" charset="-122"/>
                  </a:rPr>
                  <a:t>即这</a:t>
                </a:r>
                <a14:m>
                  <m:oMath xmlns:m="http://schemas.openxmlformats.org/officeDocument/2006/math">
                    <m:r>
                      <a:rPr lang="en-US" altLang="zh-CN" sz="1800" i="1">
                        <a:latin typeface="Cambria Math" panose="02040503050406030204" pitchFamily="18" charset="0"/>
                      </a:rPr>
                      <m:t>𝜑</m:t>
                    </m:r>
                    <m:r>
                      <a:rPr lang="en-US" altLang="zh-CN" sz="1800" i="1">
                        <a:latin typeface="Cambria Math" panose="02040503050406030204" pitchFamily="18" charset="0"/>
                      </a:rPr>
                      <m:t>(</m:t>
                    </m:r>
                    <m:r>
                      <a:rPr lang="en-US" altLang="zh-CN" sz="1800" i="1">
                        <a:latin typeface="Cambria Math" panose="02040503050406030204" pitchFamily="18" charset="0"/>
                      </a:rPr>
                      <m:t>𝑚</m:t>
                    </m:r>
                  </m:oMath>
                </a14:m>
                <a:r>
                  <a:rPr lang="en-US" altLang="zh-CN" sz="1800" dirty="0">
                    <a:latin typeface="华文仿宋" panose="02010600040101010101" pitchFamily="2" charset="-122"/>
                    <a:ea typeface="华文仿宋" panose="02010600040101010101" pitchFamily="2" charset="-122"/>
                  </a:rPr>
                  <a:t>)</a:t>
                </a:r>
                <a:r>
                  <a:rPr lang="zh-CN" altLang="zh-CN" sz="1800" dirty="0">
                    <a:latin typeface="华文仿宋" panose="02010600040101010101" pitchFamily="2" charset="-122"/>
                    <a:ea typeface="华文仿宋" panose="02010600040101010101" pitchFamily="2" charset="-122"/>
                  </a:rPr>
                  <a:t>个数两两不同余，否则导致</a:t>
                </a:r>
                <a14:m>
                  <m:oMath xmlns:m="http://schemas.openxmlformats.org/officeDocument/2006/math">
                    <m:r>
                      <a:rPr lang="zh-CN" altLang="zh-CN" sz="1800">
                        <a:latin typeface="Cambria Math" panose="02040503050406030204" pitchFamily="18" charset="0"/>
                      </a:rPr>
                      <m:t> </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𝑥</m:t>
                        </m:r>
                      </m:e>
                      <m:sub>
                        <m:r>
                          <a:rPr lang="en-US" altLang="zh-CN" sz="1800" i="1">
                            <a:latin typeface="Cambria Math" panose="02040503050406030204" pitchFamily="18" charset="0"/>
                          </a:rPr>
                          <m:t>𝑗</m:t>
                        </m:r>
                      </m:sub>
                    </m:sSub>
                    <m:r>
                      <a:rPr lang="en-US" altLang="zh-CN" sz="1800">
                        <a:latin typeface="Cambria Math" panose="02040503050406030204" pitchFamily="18" charset="0"/>
                      </a:rPr>
                      <m:t>(</m:t>
                    </m:r>
                    <m:r>
                      <a:rPr lang="en-US" altLang="zh-CN" sz="1800" i="1">
                        <a:latin typeface="Cambria Math" panose="02040503050406030204" pitchFamily="18" charset="0"/>
                      </a:rPr>
                      <m:t>𝑚𝑜𝑑</m:t>
                    </m:r>
                    <m:r>
                      <a:rPr lang="en-US" altLang="zh-CN" sz="1800">
                        <a:latin typeface="Cambria Math" panose="02040503050406030204" pitchFamily="18" charset="0"/>
                      </a:rPr>
                      <m:t> </m:t>
                    </m:r>
                    <m:r>
                      <a:rPr lang="en-US" altLang="zh-CN" sz="1800" i="1">
                        <a:latin typeface="Cambria Math" panose="02040503050406030204" pitchFamily="18" charset="0"/>
                      </a:rPr>
                      <m:t>𝑚</m:t>
                    </m:r>
                    <m:r>
                      <a:rPr lang="en-US" altLang="zh-CN" sz="1800">
                        <a:latin typeface="Cambria Math" panose="02040503050406030204" pitchFamily="18" charset="0"/>
                      </a:rPr>
                      <m:t>)</m:t>
                    </m:r>
                  </m:oMath>
                </a14:m>
                <a:r>
                  <a:rPr lang="zh-CN" altLang="zh-CN" sz="1800" dirty="0" smtClean="0">
                    <a:latin typeface="华文仿宋" panose="02010600040101010101" pitchFamily="2" charset="-122"/>
                    <a:ea typeface="华文仿宋" panose="02010600040101010101" pitchFamily="2" charset="-122"/>
                  </a:rPr>
                  <a:t>。</a:t>
                </a:r>
                <a:endParaRPr lang="zh-CN" altLang="zh-CN" sz="1800" dirty="0">
                  <a:latin typeface="华文仿宋" panose="02010600040101010101" pitchFamily="2" charset="-122"/>
                  <a:ea typeface="华文仿宋" panose="02010600040101010101" pitchFamily="2"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657892" y="3995750"/>
                <a:ext cx="8090572" cy="1852302"/>
              </a:xfrm>
              <a:prstGeom prst="rect">
                <a:avLst/>
              </a:prstGeom>
              <a:blipFill rotWithShape="0">
                <a:blip r:embed="rId5"/>
                <a:stretch>
                  <a:fillRect l="-678" t="-987" b="-3618"/>
                </a:stretch>
              </a:blipFill>
            </p:spPr>
            <p:txBody>
              <a:bodyPr/>
              <a:lstStyle/>
              <a:p>
                <a:r>
                  <a:rPr lang="zh-CN" altLang="en-US">
                    <a:noFill/>
                  </a:rPr>
                  <a:t> </a:t>
                </a:r>
              </a:p>
            </p:txBody>
          </p:sp>
        </mc:Fallback>
      </mc:AlternateContent>
      <p:pic>
        <p:nvPicPr>
          <p:cNvPr id="5" name="图片 4"/>
          <p:cNvPicPr>
            <a:picLocks noChangeAspect="1"/>
          </p:cNvPicPr>
          <p:nvPr/>
        </p:nvPicPr>
        <p:blipFill>
          <a:blip r:embed="rId6"/>
          <a:stretch>
            <a:fillRect/>
          </a:stretch>
        </p:blipFill>
        <p:spPr>
          <a:xfrm>
            <a:off x="7596336" y="1882775"/>
            <a:ext cx="1385861" cy="2054237"/>
          </a:xfrm>
          <a:prstGeom prst="rect">
            <a:avLst/>
          </a:prstGeom>
        </p:spPr>
      </p:pic>
    </p:spTree>
    <p:extLst>
      <p:ext uri="{BB962C8B-B14F-4D97-AF65-F5344CB8AC3E}">
        <p14:creationId xmlns:p14="http://schemas.microsoft.com/office/powerpoint/2010/main" val="148835925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B46DB2AF-0C9A-4580-A655-4C10068A2611}" type="slidenum">
              <a:rPr lang="en-US" altLang="zh-CN"/>
              <a:pPr>
                <a:defRPr/>
              </a:pPr>
              <a:t>103</a:t>
            </a:fld>
            <a:endParaRPr lang="en-US" altLang="zh-CN"/>
          </a:p>
        </p:txBody>
      </p:sp>
      <p:sp>
        <p:nvSpPr>
          <p:cNvPr id="110597" name="Text Box 2"/>
          <p:cNvSpPr txBox="1">
            <a:spLocks noChangeArrowheads="1"/>
          </p:cNvSpPr>
          <p:nvPr/>
        </p:nvSpPr>
        <p:spPr bwMode="auto">
          <a:xfrm>
            <a:off x="1331913" y="692150"/>
            <a:ext cx="6553200" cy="83026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证明</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1059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115616" y="1988840"/>
                <a:ext cx="7056784" cy="2753382"/>
              </a:xfrm>
              <a:prstGeom prst="rect">
                <a:avLst/>
              </a:prstGeom>
              <a:noFill/>
            </p:spPr>
            <p:txBody>
              <a:bodyPr wrap="square" rtlCol="0">
                <a:spAutoFit/>
              </a:bodyPr>
              <a:lstStyle/>
              <a:p>
                <a:pPr>
                  <a:lnSpc>
                    <a:spcPct val="150000"/>
                  </a:lnSpc>
                </a:pPr>
                <a:r>
                  <a:rPr lang="zh-CN" altLang="zh-CN" sz="1800" dirty="0">
                    <a:latin typeface="华文仿宋" panose="02010600040101010101" pitchFamily="2" charset="-122"/>
                    <a:ea typeface="华文仿宋" panose="02010600040101010101" pitchFamily="2" charset="-122"/>
                  </a:rPr>
                  <a:t>据此及</a:t>
                </a:r>
                <a14:m>
                  <m:oMath xmlns:m="http://schemas.openxmlformats.org/officeDocument/2006/math">
                    <m:d>
                      <m:dPr>
                        <m:begChr m:val="（"/>
                        <m:endChr m:val="）"/>
                        <m:ctrlPr>
                          <a:rPr lang="zh-CN" altLang="zh-CN" sz="1800" i="1">
                            <a:latin typeface="Cambria Math" panose="02040503050406030204" pitchFamily="18" charset="0"/>
                            <a:ea typeface="华文仿宋" panose="02010600040101010101" pitchFamily="2" charset="-122"/>
                          </a:rPr>
                        </m:ctrlPr>
                      </m:dPr>
                      <m:e>
                        <m:r>
                          <a:rPr lang="en-US" altLang="zh-CN" sz="1800">
                            <a:latin typeface="Cambria Math" panose="02040503050406030204" pitchFamily="18" charset="0"/>
                            <a:ea typeface="华文仿宋" panose="02010600040101010101" pitchFamily="2" charset="-122"/>
                          </a:rPr>
                          <m:t>𝑎</m:t>
                        </m:r>
                        <m:r>
                          <a:rPr lang="zh-CN" altLang="zh-CN" sz="1800">
                            <a:latin typeface="Cambria Math" panose="02040503050406030204" pitchFamily="18" charset="0"/>
                            <a:ea typeface="华文仿宋" panose="02010600040101010101" pitchFamily="2" charset="-122"/>
                          </a:rPr>
                          <m:t>，</m:t>
                        </m:r>
                        <m:r>
                          <a:rPr lang="en-US" altLang="zh-CN" sz="1800">
                            <a:latin typeface="Cambria Math" panose="02040503050406030204" pitchFamily="18" charset="0"/>
                            <a:ea typeface="华文仿宋" panose="02010600040101010101" pitchFamily="2" charset="-122"/>
                          </a:rPr>
                          <m:t>𝑚</m:t>
                        </m:r>
                      </m:e>
                    </m:d>
                    <m:r>
                      <a:rPr lang="en-US" altLang="zh-CN" sz="1800">
                        <a:latin typeface="Cambria Math" panose="02040503050406030204" pitchFamily="18" charset="0"/>
                        <a:ea typeface="华文仿宋" panose="02010600040101010101" pitchFamily="2" charset="-122"/>
                      </a:rPr>
                      <m:t>=1</m:t>
                    </m:r>
                  </m:oMath>
                </a14:m>
                <a:r>
                  <a:rPr lang="zh-CN" altLang="zh-CN" sz="1800" dirty="0">
                    <a:latin typeface="华文仿宋" panose="02010600040101010101" pitchFamily="2" charset="-122"/>
                    <a:ea typeface="华文仿宋" panose="02010600040101010101" pitchFamily="2" charset="-122"/>
                  </a:rPr>
                  <a:t>，并根据定理</a:t>
                </a:r>
                <a:r>
                  <a:rPr lang="en-US" altLang="zh-CN" sz="1800" dirty="0">
                    <a:latin typeface="华文仿宋" panose="02010600040101010101" pitchFamily="2" charset="-122"/>
                    <a:ea typeface="华文仿宋" panose="02010600040101010101" pitchFamily="2" charset="-122"/>
                  </a:rPr>
                  <a:t>2.28</a:t>
                </a:r>
                <a:r>
                  <a:rPr lang="zh-CN" altLang="zh-CN" sz="1800" dirty="0">
                    <a:latin typeface="华文仿宋" panose="02010600040101010101" pitchFamily="2" charset="-122"/>
                    <a:ea typeface="华文仿宋" panose="02010600040101010101" pitchFamily="2" charset="-122"/>
                  </a:rPr>
                  <a:t>，知：对每个</a:t>
                </a:r>
                <a14:m>
                  <m:oMath xmlns:m="http://schemas.openxmlformats.org/officeDocument/2006/math">
                    <m:r>
                      <a:rPr lang="en-US" altLang="zh-CN" sz="1800">
                        <a:latin typeface="Cambria Math" panose="02040503050406030204" pitchFamily="18" charset="0"/>
                        <a:ea typeface="华文仿宋" panose="02010600040101010101" pitchFamily="2" charset="-122"/>
                      </a:rPr>
                      <m:t>1≤</m:t>
                    </m:r>
                    <m:r>
                      <a:rPr lang="en-US" altLang="zh-CN" sz="1800">
                        <a:latin typeface="Cambria Math" panose="02040503050406030204" pitchFamily="18" charset="0"/>
                        <a:ea typeface="华文仿宋" panose="02010600040101010101" pitchFamily="2" charset="-122"/>
                      </a:rPr>
                      <m:t>𝑖</m:t>
                    </m:r>
                    <m:r>
                      <a:rPr lang="en-US" altLang="zh-CN" sz="1800">
                        <a:latin typeface="Cambria Math" panose="02040503050406030204" pitchFamily="18" charset="0"/>
                        <a:ea typeface="华文仿宋" panose="02010600040101010101" pitchFamily="2" charset="-122"/>
                      </a:rPr>
                      <m:t>≤</m:t>
                    </m:r>
                    <m:r>
                      <a:rPr lang="en-US" altLang="zh-CN" sz="1800">
                        <a:latin typeface="Cambria Math" panose="02040503050406030204" pitchFamily="18" charset="0"/>
                        <a:ea typeface="华文仿宋" panose="02010600040101010101" pitchFamily="2" charset="-122"/>
                      </a:rPr>
                      <m:t>𝜑</m:t>
                    </m:r>
                    <m:d>
                      <m:dPr>
                        <m:ctrlPr>
                          <a:rPr lang="zh-CN" altLang="zh-CN" sz="1800" i="1">
                            <a:latin typeface="Cambria Math" panose="02040503050406030204" pitchFamily="18" charset="0"/>
                            <a:ea typeface="华文仿宋" panose="02010600040101010101" pitchFamily="2" charset="-122"/>
                          </a:rPr>
                        </m:ctrlPr>
                      </m:dPr>
                      <m:e>
                        <m:r>
                          <a:rPr lang="en-US" altLang="zh-CN" sz="1800">
                            <a:latin typeface="Cambria Math" panose="02040503050406030204" pitchFamily="18" charset="0"/>
                            <a:ea typeface="华文仿宋" panose="02010600040101010101" pitchFamily="2" charset="-122"/>
                          </a:rPr>
                          <m:t>𝑚</m:t>
                        </m:r>
                      </m:e>
                    </m:d>
                  </m:oMath>
                </a14:m>
                <a:r>
                  <a:rPr lang="zh-CN" altLang="zh-CN" sz="1800" dirty="0">
                    <a:latin typeface="华文仿宋" panose="02010600040101010101" pitchFamily="2" charset="-122"/>
                    <a:ea typeface="华文仿宋" panose="02010600040101010101" pitchFamily="2" charset="-122"/>
                  </a:rPr>
                  <a:t>都能找到唯一的一个</a:t>
                </a:r>
                <a14:m>
                  <m:oMath xmlns:m="http://schemas.openxmlformats.org/officeDocument/2006/math">
                    <m:r>
                      <a:rPr lang="en-US" altLang="zh-CN" sz="1800">
                        <a:latin typeface="Cambria Math" panose="02040503050406030204" pitchFamily="18" charset="0"/>
                        <a:ea typeface="华文仿宋" panose="02010600040101010101" pitchFamily="2" charset="-122"/>
                      </a:rPr>
                      <m:t>1≤</m:t>
                    </m:r>
                    <m:r>
                      <a:rPr lang="en-US" altLang="zh-CN" sz="1800">
                        <a:latin typeface="Cambria Math" panose="02040503050406030204" pitchFamily="18" charset="0"/>
                        <a:ea typeface="华文仿宋" panose="02010600040101010101" pitchFamily="2" charset="-122"/>
                      </a:rPr>
                      <m:t>𝑗</m:t>
                    </m:r>
                    <m:r>
                      <a:rPr lang="en-US" altLang="zh-CN" sz="1800">
                        <a:latin typeface="Cambria Math" panose="02040503050406030204" pitchFamily="18" charset="0"/>
                        <a:ea typeface="华文仿宋" panose="02010600040101010101" pitchFamily="2" charset="-122"/>
                      </a:rPr>
                      <m:t>≤</m:t>
                    </m:r>
                    <m:r>
                      <a:rPr lang="en-US" altLang="zh-CN" sz="1800">
                        <a:latin typeface="Cambria Math" panose="02040503050406030204" pitchFamily="18" charset="0"/>
                        <a:ea typeface="华文仿宋" panose="02010600040101010101" pitchFamily="2" charset="-122"/>
                      </a:rPr>
                      <m:t>𝜑</m:t>
                    </m:r>
                    <m:d>
                      <m:dPr>
                        <m:ctrlPr>
                          <a:rPr lang="zh-CN" altLang="zh-CN" sz="1800" i="1">
                            <a:latin typeface="Cambria Math" panose="02040503050406030204" pitchFamily="18" charset="0"/>
                            <a:ea typeface="华文仿宋" panose="02010600040101010101" pitchFamily="2" charset="-122"/>
                          </a:rPr>
                        </m:ctrlPr>
                      </m:dPr>
                      <m:e>
                        <m:r>
                          <a:rPr lang="en-US" altLang="zh-CN" sz="1800">
                            <a:latin typeface="Cambria Math" panose="02040503050406030204" pitchFamily="18" charset="0"/>
                            <a:ea typeface="华文仿宋" panose="02010600040101010101" pitchFamily="2" charset="-122"/>
                          </a:rPr>
                          <m:t>𝑚</m:t>
                        </m:r>
                      </m:e>
                    </m:d>
                  </m:oMath>
                </a14:m>
                <a:r>
                  <a:rPr lang="zh-CN" altLang="zh-CN" sz="1800" dirty="0">
                    <a:latin typeface="华文仿宋" panose="02010600040101010101" pitchFamily="2" charset="-122"/>
                    <a:ea typeface="华文仿宋" panose="02010600040101010101" pitchFamily="2" charset="-122"/>
                  </a:rPr>
                  <a:t>，使得</a:t>
                </a:r>
                <a14:m>
                  <m:oMath xmlns:m="http://schemas.openxmlformats.org/officeDocument/2006/math">
                    <m:r>
                      <a:rPr lang="en-US" altLang="zh-CN" sz="1800">
                        <a:latin typeface="Cambria Math" panose="02040503050406030204" pitchFamily="18" charset="0"/>
                        <a:ea typeface="华文仿宋" panose="02010600040101010101" pitchFamily="2" charset="-122"/>
                      </a:rPr>
                      <m:t>𝑎</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𝑖</m:t>
                        </m:r>
                      </m:sub>
                    </m:sSub>
                    <m:r>
                      <a:rPr lang="en-US" altLang="zh-CN" sz="1800">
                        <a:latin typeface="Cambria Math" panose="02040503050406030204" pitchFamily="18" charset="0"/>
                        <a:ea typeface="华文仿宋" panose="02010600040101010101" pitchFamily="2" charset="-122"/>
                      </a:rPr>
                      <m:t>≡</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𝑗</m:t>
                        </m:r>
                      </m:sub>
                    </m:sSub>
                    <m:r>
                      <a:rPr lang="en-US" altLang="zh-CN" sz="1800">
                        <a:latin typeface="Cambria Math" panose="02040503050406030204" pitchFamily="18" charset="0"/>
                        <a:ea typeface="华文仿宋" panose="02010600040101010101" pitchFamily="2" charset="-122"/>
                      </a:rPr>
                      <m:t>(</m:t>
                    </m:r>
                    <m:r>
                      <a:rPr lang="en-US" altLang="zh-CN" sz="1800">
                        <a:latin typeface="Cambria Math" panose="02040503050406030204" pitchFamily="18" charset="0"/>
                        <a:ea typeface="华文仿宋" panose="02010600040101010101" pitchFamily="2" charset="-122"/>
                      </a:rPr>
                      <m:t>𝑚𝑜𝑑</m:t>
                    </m:r>
                    <m:r>
                      <a:rPr lang="en-US" altLang="zh-CN" sz="1800">
                        <a:latin typeface="Cambria Math" panose="02040503050406030204" pitchFamily="18" charset="0"/>
                        <a:ea typeface="华文仿宋" panose="02010600040101010101" pitchFamily="2" charset="-122"/>
                      </a:rPr>
                      <m:t> </m:t>
                    </m:r>
                    <m:r>
                      <a:rPr lang="en-US" altLang="zh-CN" sz="1800">
                        <a:latin typeface="Cambria Math" panose="02040503050406030204" pitchFamily="18" charset="0"/>
                        <a:ea typeface="华文仿宋" panose="02010600040101010101" pitchFamily="2" charset="-122"/>
                      </a:rPr>
                      <m:t>𝑚</m:t>
                    </m:r>
                    <m:r>
                      <a:rPr lang="en-US" altLang="zh-CN" sz="1800">
                        <a:latin typeface="Cambria Math" panose="02040503050406030204" pitchFamily="18" charset="0"/>
                        <a:ea typeface="华文仿宋" panose="02010600040101010101" pitchFamily="2" charset="-122"/>
                      </a:rPr>
                      <m:t>)</m:t>
                    </m:r>
                  </m:oMath>
                </a14:m>
                <a:r>
                  <a:rPr lang="zh-CN" altLang="zh-CN" sz="1800" dirty="0">
                    <a:latin typeface="华文仿宋" panose="02010600040101010101" pitchFamily="2" charset="-122"/>
                    <a:ea typeface="华文仿宋" panose="02010600040101010101" pitchFamily="2" charset="-122"/>
                  </a:rPr>
                  <a:t>，且这种对应是一对一的，故有：</a:t>
                </a:r>
              </a:p>
              <a:p>
                <a:pPr>
                  <a:lnSpc>
                    <a:spcPct val="150000"/>
                  </a:lnSpc>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ea typeface="华文仿宋" panose="02010600040101010101" pitchFamily="2" charset="-122"/>
                        </a:rPr>
                        <m:t>𝑎</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1</m:t>
                          </m:r>
                        </m:sub>
                      </m:sSub>
                      <m:r>
                        <a:rPr lang="en-US" altLang="zh-CN" sz="1800">
                          <a:latin typeface="Cambria Math" panose="02040503050406030204" pitchFamily="18" charset="0"/>
                          <a:ea typeface="华文仿宋" panose="02010600040101010101" pitchFamily="2" charset="-122"/>
                        </a:rPr>
                        <m:t>𝑎</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2</m:t>
                          </m:r>
                        </m:sub>
                      </m:sSub>
                      <m:r>
                        <a:rPr lang="en-US" altLang="zh-CN" sz="1800">
                          <a:latin typeface="Cambria Math" panose="02040503050406030204" pitchFamily="18" charset="0"/>
                          <a:ea typeface="华文仿宋" panose="02010600040101010101" pitchFamily="2" charset="-122"/>
                        </a:rPr>
                        <m:t>⋯</m:t>
                      </m:r>
                      <m:r>
                        <a:rPr lang="en-US" altLang="zh-CN" sz="1800">
                          <a:latin typeface="Cambria Math" panose="02040503050406030204" pitchFamily="18" charset="0"/>
                          <a:ea typeface="华文仿宋" panose="02010600040101010101" pitchFamily="2" charset="-122"/>
                        </a:rPr>
                        <m:t>𝑎</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𝜑</m:t>
                          </m:r>
                          <m:d>
                            <m:dPr>
                              <m:ctrlPr>
                                <a:rPr lang="zh-CN" altLang="zh-CN" sz="1800" i="1">
                                  <a:latin typeface="Cambria Math" panose="02040503050406030204" pitchFamily="18" charset="0"/>
                                  <a:ea typeface="华文仿宋" panose="02010600040101010101" pitchFamily="2" charset="-122"/>
                                </a:rPr>
                              </m:ctrlPr>
                            </m:dPr>
                            <m:e>
                              <m:r>
                                <a:rPr lang="en-US" altLang="zh-CN" sz="1800">
                                  <a:latin typeface="Cambria Math" panose="02040503050406030204" pitchFamily="18" charset="0"/>
                                  <a:ea typeface="华文仿宋" panose="02010600040101010101" pitchFamily="2" charset="-122"/>
                                </a:rPr>
                                <m:t>𝑚</m:t>
                              </m:r>
                            </m:e>
                          </m:d>
                        </m:sub>
                      </m:sSub>
                      <m:r>
                        <a:rPr lang="en-US" altLang="zh-CN" sz="1800">
                          <a:latin typeface="Cambria Math" panose="02040503050406030204" pitchFamily="18" charset="0"/>
                          <a:ea typeface="华文仿宋" panose="02010600040101010101" pitchFamily="2" charset="-122"/>
                        </a:rPr>
                        <m:t>≡</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1</m:t>
                          </m:r>
                        </m:sub>
                      </m:sSub>
                      <m:r>
                        <a:rPr lang="en-US" altLang="zh-CN" sz="1800">
                          <a:latin typeface="Cambria Math" panose="02040503050406030204" pitchFamily="18" charset="0"/>
                          <a:ea typeface="华文仿宋" panose="02010600040101010101" pitchFamily="2" charset="-122"/>
                        </a:rPr>
                        <m:t> </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2</m:t>
                          </m:r>
                        </m:sub>
                      </m:sSub>
                      <m:r>
                        <a:rPr lang="en-US" altLang="zh-CN" sz="1800">
                          <a:latin typeface="Cambria Math" panose="02040503050406030204" pitchFamily="18" charset="0"/>
                          <a:ea typeface="华文仿宋" panose="02010600040101010101" pitchFamily="2" charset="-122"/>
                        </a:rPr>
                        <m:t> ⋯ </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𝜑</m:t>
                          </m:r>
                          <m:d>
                            <m:dPr>
                              <m:ctrlPr>
                                <a:rPr lang="zh-CN" altLang="zh-CN" sz="1800" i="1">
                                  <a:latin typeface="Cambria Math" panose="02040503050406030204" pitchFamily="18" charset="0"/>
                                  <a:ea typeface="华文仿宋" panose="02010600040101010101" pitchFamily="2" charset="-122"/>
                                </a:rPr>
                              </m:ctrlPr>
                            </m:dPr>
                            <m:e>
                              <m:r>
                                <a:rPr lang="en-US" altLang="zh-CN" sz="1800">
                                  <a:latin typeface="Cambria Math" panose="02040503050406030204" pitchFamily="18" charset="0"/>
                                  <a:ea typeface="华文仿宋" panose="02010600040101010101" pitchFamily="2" charset="-122"/>
                                </a:rPr>
                                <m:t>𝑚</m:t>
                              </m:r>
                            </m:e>
                          </m:d>
                        </m:sub>
                      </m:sSub>
                      <m:r>
                        <a:rPr lang="en-US" altLang="zh-CN" sz="1800">
                          <a:latin typeface="Cambria Math" panose="02040503050406030204" pitchFamily="18" charset="0"/>
                          <a:ea typeface="华文仿宋" panose="02010600040101010101" pitchFamily="2" charset="-122"/>
                        </a:rPr>
                        <m:t>(</m:t>
                      </m:r>
                      <m:r>
                        <m:rPr>
                          <m:nor/>
                        </m:rPr>
                        <a:rPr lang="en-US" altLang="zh-CN" sz="1800">
                          <a:latin typeface="华文仿宋" panose="02010600040101010101" pitchFamily="2" charset="-122"/>
                          <a:ea typeface="华文仿宋" panose="02010600040101010101" pitchFamily="2" charset="-122"/>
                        </a:rPr>
                        <m:t>mod</m:t>
                      </m:r>
                      <m:r>
                        <a:rPr lang="en-US" altLang="zh-CN" sz="1800">
                          <a:latin typeface="Cambria Math" panose="02040503050406030204" pitchFamily="18" charset="0"/>
                          <a:ea typeface="华文仿宋" panose="02010600040101010101" pitchFamily="2" charset="-122"/>
                        </a:rPr>
                        <m:t> </m:t>
                      </m:r>
                      <m:r>
                        <a:rPr lang="en-US" altLang="zh-CN" sz="1800">
                          <a:latin typeface="Cambria Math" panose="02040503050406030204" pitchFamily="18" charset="0"/>
                          <a:ea typeface="华文仿宋" panose="02010600040101010101" pitchFamily="2" charset="-122"/>
                        </a:rPr>
                        <m:t>𝑚</m:t>
                      </m:r>
                      <m:r>
                        <a:rPr lang="en-US" altLang="zh-CN" sz="1800">
                          <a:latin typeface="Cambria Math" panose="02040503050406030204" pitchFamily="18" charset="0"/>
                          <a:ea typeface="华文仿宋" panose="02010600040101010101" pitchFamily="2" charset="-122"/>
                        </a:rPr>
                        <m:t>)</m:t>
                      </m:r>
                    </m:oMath>
                  </m:oMathPara>
                </a14:m>
                <a:endParaRPr lang="zh-CN" altLang="zh-CN" sz="1800" dirty="0">
                  <a:latin typeface="华文仿宋" panose="02010600040101010101" pitchFamily="2" charset="-122"/>
                  <a:ea typeface="华文仿宋" panose="02010600040101010101" pitchFamily="2" charset="-122"/>
                </a:endParaRPr>
              </a:p>
              <a:p>
                <a:pPr>
                  <a:lnSpc>
                    <a:spcPct val="150000"/>
                  </a:lnSpc>
                </a:pPr>
                <a14:m>
                  <m:oMathPara xmlns:m="http://schemas.openxmlformats.org/officeDocument/2006/math">
                    <m:oMathParaPr>
                      <m:jc m:val="centerGroup"/>
                    </m:oMathParaPr>
                    <m:oMath xmlns:m="http://schemas.openxmlformats.org/officeDocument/2006/math">
                      <m:sSup>
                        <m:sSupPr>
                          <m:ctrlPr>
                            <a:rPr lang="zh-CN" altLang="zh-CN" sz="1800" i="1">
                              <a:latin typeface="Cambria Math" panose="02040503050406030204" pitchFamily="18" charset="0"/>
                              <a:ea typeface="华文仿宋" panose="02010600040101010101" pitchFamily="2" charset="-122"/>
                            </a:rPr>
                          </m:ctrlPr>
                        </m:sSupPr>
                        <m:e>
                          <m:r>
                            <a:rPr lang="en-US" altLang="zh-CN" sz="1800">
                              <a:latin typeface="Cambria Math" panose="02040503050406030204" pitchFamily="18" charset="0"/>
                              <a:ea typeface="华文仿宋" panose="02010600040101010101" pitchFamily="2" charset="-122"/>
                            </a:rPr>
                            <m:t>𝑎</m:t>
                          </m:r>
                        </m:e>
                        <m:sup>
                          <m:r>
                            <a:rPr lang="en-US" altLang="zh-CN" sz="1800">
                              <a:latin typeface="Cambria Math" panose="02040503050406030204" pitchFamily="18" charset="0"/>
                              <a:ea typeface="华文仿宋" panose="02010600040101010101" pitchFamily="2" charset="-122"/>
                            </a:rPr>
                            <m:t>𝜑</m:t>
                          </m:r>
                          <m:r>
                            <a:rPr lang="en-US" altLang="zh-CN" sz="1800">
                              <a:latin typeface="Cambria Math" panose="02040503050406030204" pitchFamily="18" charset="0"/>
                              <a:ea typeface="华文仿宋" panose="02010600040101010101" pitchFamily="2" charset="-122"/>
                            </a:rPr>
                            <m:t>(</m:t>
                          </m:r>
                          <m:r>
                            <a:rPr lang="en-US" altLang="zh-CN" sz="1800">
                              <a:latin typeface="Cambria Math" panose="02040503050406030204" pitchFamily="18" charset="0"/>
                              <a:ea typeface="华文仿宋" panose="02010600040101010101" pitchFamily="2" charset="-122"/>
                            </a:rPr>
                            <m:t>𝑚</m:t>
                          </m:r>
                          <m:r>
                            <a:rPr lang="en-US" altLang="zh-CN" sz="1800">
                              <a:latin typeface="Cambria Math" panose="02040503050406030204" pitchFamily="18" charset="0"/>
                              <a:ea typeface="华文仿宋" panose="02010600040101010101" pitchFamily="2" charset="-122"/>
                            </a:rPr>
                            <m:t>)</m:t>
                          </m:r>
                        </m:sup>
                      </m:sSup>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1</m:t>
                          </m:r>
                        </m:sub>
                      </m:sSub>
                      <m:r>
                        <a:rPr lang="en-US" altLang="zh-CN" sz="1800">
                          <a:latin typeface="Cambria Math" panose="02040503050406030204" pitchFamily="18" charset="0"/>
                          <a:ea typeface="华文仿宋" panose="02010600040101010101" pitchFamily="2" charset="-122"/>
                        </a:rPr>
                        <m:t> </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2</m:t>
                          </m:r>
                        </m:sub>
                      </m:sSub>
                      <m:r>
                        <a:rPr lang="en-US" altLang="zh-CN" sz="1800">
                          <a:latin typeface="Cambria Math" panose="02040503050406030204" pitchFamily="18" charset="0"/>
                          <a:ea typeface="华文仿宋" panose="02010600040101010101" pitchFamily="2" charset="-122"/>
                        </a:rPr>
                        <m:t> ⋯ </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𝜑</m:t>
                          </m:r>
                          <m:d>
                            <m:dPr>
                              <m:ctrlPr>
                                <a:rPr lang="zh-CN" altLang="zh-CN" sz="1800" i="1">
                                  <a:latin typeface="Cambria Math" panose="02040503050406030204" pitchFamily="18" charset="0"/>
                                  <a:ea typeface="华文仿宋" panose="02010600040101010101" pitchFamily="2" charset="-122"/>
                                </a:rPr>
                              </m:ctrlPr>
                            </m:dPr>
                            <m:e>
                              <m:r>
                                <a:rPr lang="en-US" altLang="zh-CN" sz="1800">
                                  <a:latin typeface="Cambria Math" panose="02040503050406030204" pitchFamily="18" charset="0"/>
                                  <a:ea typeface="华文仿宋" panose="02010600040101010101" pitchFamily="2" charset="-122"/>
                                </a:rPr>
                                <m:t>𝑚</m:t>
                              </m:r>
                            </m:e>
                          </m:d>
                        </m:sub>
                      </m:sSub>
                      <m:r>
                        <a:rPr lang="en-US" altLang="zh-CN" sz="1800">
                          <a:latin typeface="Cambria Math" panose="02040503050406030204" pitchFamily="18" charset="0"/>
                          <a:ea typeface="华文仿宋" panose="02010600040101010101" pitchFamily="2" charset="-122"/>
                        </a:rPr>
                        <m:t>≡</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1</m:t>
                          </m:r>
                        </m:sub>
                      </m:sSub>
                      <m:r>
                        <a:rPr lang="en-US" altLang="zh-CN" sz="1800">
                          <a:latin typeface="Cambria Math" panose="02040503050406030204" pitchFamily="18" charset="0"/>
                          <a:ea typeface="华文仿宋" panose="02010600040101010101" pitchFamily="2" charset="-122"/>
                        </a:rPr>
                        <m:t> </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2</m:t>
                          </m:r>
                        </m:sub>
                      </m:sSub>
                      <m:r>
                        <a:rPr lang="en-US" altLang="zh-CN" sz="1800">
                          <a:latin typeface="Cambria Math" panose="02040503050406030204" pitchFamily="18" charset="0"/>
                          <a:ea typeface="华文仿宋" panose="02010600040101010101" pitchFamily="2" charset="-122"/>
                        </a:rPr>
                        <m:t> ⋯ </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𝜑</m:t>
                          </m:r>
                          <m:d>
                            <m:dPr>
                              <m:ctrlPr>
                                <a:rPr lang="zh-CN" altLang="zh-CN" sz="1800" i="1">
                                  <a:latin typeface="Cambria Math" panose="02040503050406030204" pitchFamily="18" charset="0"/>
                                  <a:ea typeface="华文仿宋" panose="02010600040101010101" pitchFamily="2" charset="-122"/>
                                </a:rPr>
                              </m:ctrlPr>
                            </m:dPr>
                            <m:e>
                              <m:r>
                                <a:rPr lang="en-US" altLang="zh-CN" sz="1800">
                                  <a:latin typeface="Cambria Math" panose="02040503050406030204" pitchFamily="18" charset="0"/>
                                  <a:ea typeface="华文仿宋" panose="02010600040101010101" pitchFamily="2" charset="-122"/>
                                </a:rPr>
                                <m:t>𝑚</m:t>
                              </m:r>
                            </m:e>
                          </m:d>
                        </m:sub>
                      </m:sSub>
                      <m:r>
                        <a:rPr lang="en-US" altLang="zh-CN" sz="1800">
                          <a:latin typeface="Cambria Math" panose="02040503050406030204" pitchFamily="18" charset="0"/>
                          <a:ea typeface="华文仿宋" panose="02010600040101010101" pitchFamily="2" charset="-122"/>
                        </a:rPr>
                        <m:t>(</m:t>
                      </m:r>
                      <m:r>
                        <m:rPr>
                          <m:nor/>
                        </m:rPr>
                        <a:rPr lang="en-US" altLang="zh-CN" sz="1800">
                          <a:latin typeface="华文仿宋" panose="02010600040101010101" pitchFamily="2" charset="-122"/>
                          <a:ea typeface="华文仿宋" panose="02010600040101010101" pitchFamily="2" charset="-122"/>
                        </a:rPr>
                        <m:t>mod</m:t>
                      </m:r>
                      <m:r>
                        <a:rPr lang="en-US" altLang="zh-CN" sz="1800">
                          <a:latin typeface="Cambria Math" panose="02040503050406030204" pitchFamily="18" charset="0"/>
                          <a:ea typeface="华文仿宋" panose="02010600040101010101" pitchFamily="2" charset="-122"/>
                        </a:rPr>
                        <m:t> </m:t>
                      </m:r>
                      <m:r>
                        <a:rPr lang="en-US" altLang="zh-CN" sz="1800">
                          <a:latin typeface="Cambria Math" panose="02040503050406030204" pitchFamily="18" charset="0"/>
                          <a:ea typeface="华文仿宋" panose="02010600040101010101" pitchFamily="2" charset="-122"/>
                        </a:rPr>
                        <m:t>𝑚</m:t>
                      </m:r>
                      <m:r>
                        <a:rPr lang="en-US" altLang="zh-CN" sz="1800">
                          <a:latin typeface="Cambria Math" panose="02040503050406030204" pitchFamily="18" charset="0"/>
                          <a:ea typeface="华文仿宋" panose="02010600040101010101" pitchFamily="2" charset="-122"/>
                        </a:rPr>
                        <m:t>)</m:t>
                      </m:r>
                    </m:oMath>
                  </m:oMathPara>
                </a14:m>
                <a:endParaRPr lang="zh-CN" altLang="zh-CN" sz="1800" dirty="0">
                  <a:latin typeface="华文仿宋" panose="02010600040101010101" pitchFamily="2" charset="-122"/>
                  <a:ea typeface="华文仿宋" panose="02010600040101010101" pitchFamily="2" charset="-122"/>
                </a:endParaRPr>
              </a:p>
              <a:p>
                <a:pPr>
                  <a:lnSpc>
                    <a:spcPct val="150000"/>
                  </a:lnSpc>
                </a:pPr>
                <a:r>
                  <a:rPr lang="zh-CN" altLang="zh-CN" sz="1800" dirty="0">
                    <a:latin typeface="华文仿宋" panose="02010600040101010101" pitchFamily="2" charset="-122"/>
                    <a:ea typeface="华文仿宋" panose="02010600040101010101" pitchFamily="2" charset="-122"/>
                  </a:rPr>
                  <a:t>由于</a:t>
                </a:r>
                <a14:m>
                  <m:oMath xmlns:m="http://schemas.openxmlformats.org/officeDocument/2006/math">
                    <m:d>
                      <m:dPr>
                        <m:begChr m:val="（"/>
                        <m:endChr m:val="）"/>
                        <m:ctrlPr>
                          <a:rPr lang="zh-CN" altLang="zh-CN" sz="1800" i="1">
                            <a:latin typeface="Cambria Math" panose="02040503050406030204" pitchFamily="18" charset="0"/>
                            <a:ea typeface="华文仿宋" panose="02010600040101010101" pitchFamily="2" charset="-122"/>
                          </a:rPr>
                        </m:ctrlPr>
                      </m:dPr>
                      <m:e>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1</m:t>
                            </m:r>
                          </m:sub>
                        </m:sSub>
                        <m:r>
                          <a:rPr lang="en-US" altLang="zh-CN" sz="1800">
                            <a:latin typeface="Cambria Math" panose="02040503050406030204" pitchFamily="18" charset="0"/>
                            <a:ea typeface="华文仿宋" panose="02010600040101010101" pitchFamily="2" charset="-122"/>
                          </a:rPr>
                          <m:t> </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2</m:t>
                            </m:r>
                          </m:sub>
                        </m:sSub>
                        <m:r>
                          <a:rPr lang="en-US" altLang="zh-CN" sz="1800">
                            <a:latin typeface="Cambria Math" panose="02040503050406030204" pitchFamily="18" charset="0"/>
                            <a:ea typeface="华文仿宋" panose="02010600040101010101" pitchFamily="2" charset="-122"/>
                          </a:rPr>
                          <m:t> ⋯ </m:t>
                        </m:r>
                        <m:sSub>
                          <m:sSubPr>
                            <m:ctrlPr>
                              <a:rPr lang="zh-CN" altLang="zh-CN" sz="1800" i="1">
                                <a:latin typeface="Cambria Math" panose="02040503050406030204" pitchFamily="18" charset="0"/>
                                <a:ea typeface="华文仿宋" panose="02010600040101010101" pitchFamily="2" charset="-122"/>
                              </a:rPr>
                            </m:ctrlPr>
                          </m:sSubPr>
                          <m:e>
                            <m:r>
                              <a:rPr lang="en-US" altLang="zh-CN" sz="1800">
                                <a:latin typeface="Cambria Math" panose="02040503050406030204" pitchFamily="18" charset="0"/>
                                <a:ea typeface="华文仿宋" panose="02010600040101010101" pitchFamily="2" charset="-122"/>
                              </a:rPr>
                              <m:t>𝑥</m:t>
                            </m:r>
                          </m:e>
                          <m:sub>
                            <m:r>
                              <a:rPr lang="en-US" altLang="zh-CN" sz="1800">
                                <a:latin typeface="Cambria Math" panose="02040503050406030204" pitchFamily="18" charset="0"/>
                                <a:ea typeface="华文仿宋" panose="02010600040101010101" pitchFamily="2" charset="-122"/>
                              </a:rPr>
                              <m:t>𝜑</m:t>
                            </m:r>
                            <m:d>
                              <m:dPr>
                                <m:ctrlPr>
                                  <a:rPr lang="zh-CN" altLang="zh-CN" sz="1800" i="1">
                                    <a:latin typeface="Cambria Math" panose="02040503050406030204" pitchFamily="18" charset="0"/>
                                    <a:ea typeface="华文仿宋" panose="02010600040101010101" pitchFamily="2" charset="-122"/>
                                  </a:rPr>
                                </m:ctrlPr>
                              </m:dPr>
                              <m:e>
                                <m:r>
                                  <a:rPr lang="en-US" altLang="zh-CN" sz="1800">
                                    <a:latin typeface="Cambria Math" panose="02040503050406030204" pitchFamily="18" charset="0"/>
                                    <a:ea typeface="华文仿宋" panose="02010600040101010101" pitchFamily="2" charset="-122"/>
                                  </a:rPr>
                                  <m:t>𝑚</m:t>
                                </m:r>
                              </m:e>
                            </m:d>
                          </m:sub>
                        </m:sSub>
                        <m:r>
                          <a:rPr lang="zh-CN" altLang="zh-CN" sz="1800">
                            <a:latin typeface="Cambria Math" panose="02040503050406030204" pitchFamily="18" charset="0"/>
                            <a:ea typeface="华文仿宋" panose="02010600040101010101" pitchFamily="2" charset="-122"/>
                          </a:rPr>
                          <m:t>，</m:t>
                        </m:r>
                        <m:r>
                          <a:rPr lang="en-US" altLang="zh-CN" sz="1800">
                            <a:latin typeface="Cambria Math" panose="02040503050406030204" pitchFamily="18" charset="0"/>
                            <a:ea typeface="华文仿宋" panose="02010600040101010101" pitchFamily="2" charset="-122"/>
                          </a:rPr>
                          <m:t>𝑚</m:t>
                        </m:r>
                      </m:e>
                    </m:d>
                    <m:r>
                      <a:rPr lang="en-US" altLang="zh-CN" sz="1800">
                        <a:latin typeface="Cambria Math" panose="02040503050406030204" pitchFamily="18" charset="0"/>
                        <a:ea typeface="华文仿宋" panose="02010600040101010101" pitchFamily="2" charset="-122"/>
                      </a:rPr>
                      <m:t>=1</m:t>
                    </m:r>
                  </m:oMath>
                </a14:m>
                <a:r>
                  <a:rPr lang="zh-CN" altLang="zh-CN" sz="1800" dirty="0">
                    <a:latin typeface="华文仿宋" panose="02010600040101010101" pitchFamily="2" charset="-122"/>
                    <a:ea typeface="华文仿宋" panose="02010600040101010101" pitchFamily="2" charset="-122"/>
                  </a:rPr>
                  <a:t>，故有：</a:t>
                </a:r>
                <a14:m>
                  <m:oMath xmlns:m="http://schemas.openxmlformats.org/officeDocument/2006/math">
                    <m:sSup>
                      <m:sSupPr>
                        <m:ctrlPr>
                          <a:rPr lang="zh-CN" altLang="zh-CN" sz="1800" i="1">
                            <a:latin typeface="Cambria Math" panose="02040503050406030204" pitchFamily="18" charset="0"/>
                            <a:ea typeface="华文仿宋" panose="02010600040101010101" pitchFamily="2" charset="-122"/>
                          </a:rPr>
                        </m:ctrlPr>
                      </m:sSupPr>
                      <m:e>
                        <m:r>
                          <a:rPr lang="en-US" altLang="zh-CN" sz="1800">
                            <a:latin typeface="Cambria Math" panose="02040503050406030204" pitchFamily="18" charset="0"/>
                            <a:ea typeface="华文仿宋" panose="02010600040101010101" pitchFamily="2" charset="-122"/>
                          </a:rPr>
                          <m:t>𝑎</m:t>
                        </m:r>
                      </m:e>
                      <m:sup>
                        <m:r>
                          <a:rPr lang="en-US" altLang="zh-CN" sz="1800">
                            <a:latin typeface="Cambria Math" panose="02040503050406030204" pitchFamily="18" charset="0"/>
                            <a:ea typeface="华文仿宋" panose="02010600040101010101" pitchFamily="2" charset="-122"/>
                          </a:rPr>
                          <m:t>𝜑</m:t>
                        </m:r>
                        <m:r>
                          <a:rPr lang="en-US" altLang="zh-CN" sz="1800">
                            <a:latin typeface="Cambria Math" panose="02040503050406030204" pitchFamily="18" charset="0"/>
                            <a:ea typeface="华文仿宋" panose="02010600040101010101" pitchFamily="2" charset="-122"/>
                          </a:rPr>
                          <m:t>(</m:t>
                        </m:r>
                        <m:r>
                          <a:rPr lang="en-US" altLang="zh-CN" sz="1800">
                            <a:latin typeface="Cambria Math" panose="02040503050406030204" pitchFamily="18" charset="0"/>
                            <a:ea typeface="华文仿宋" panose="02010600040101010101" pitchFamily="2" charset="-122"/>
                          </a:rPr>
                          <m:t>𝑚</m:t>
                        </m:r>
                        <m:r>
                          <a:rPr lang="en-US" altLang="zh-CN" sz="1800">
                            <a:latin typeface="Cambria Math" panose="02040503050406030204" pitchFamily="18" charset="0"/>
                            <a:ea typeface="华文仿宋" panose="02010600040101010101" pitchFamily="2" charset="-122"/>
                          </a:rPr>
                          <m:t>)</m:t>
                        </m:r>
                      </m:sup>
                    </m:sSup>
                    <m:r>
                      <a:rPr lang="en-US" altLang="zh-CN" sz="1800">
                        <a:latin typeface="Cambria Math" panose="02040503050406030204" pitchFamily="18" charset="0"/>
                        <a:ea typeface="华文仿宋" panose="02010600040101010101" pitchFamily="2" charset="-122"/>
                      </a:rPr>
                      <m:t>≡1(</m:t>
                    </m:r>
                    <m:r>
                      <m:rPr>
                        <m:nor/>
                      </m:rPr>
                      <a:rPr lang="en-US" altLang="zh-CN" sz="1800">
                        <a:latin typeface="华文仿宋" panose="02010600040101010101" pitchFamily="2" charset="-122"/>
                        <a:ea typeface="华文仿宋" panose="02010600040101010101" pitchFamily="2" charset="-122"/>
                      </a:rPr>
                      <m:t> </m:t>
                    </m:r>
                    <m:r>
                      <m:rPr>
                        <m:nor/>
                      </m:rPr>
                      <a:rPr lang="en-US" altLang="zh-CN" sz="1800">
                        <a:latin typeface="华文仿宋" panose="02010600040101010101" pitchFamily="2" charset="-122"/>
                        <a:ea typeface="华文仿宋" panose="02010600040101010101" pitchFamily="2" charset="-122"/>
                      </a:rPr>
                      <m:t>mod</m:t>
                    </m:r>
                    <m:r>
                      <a:rPr lang="en-US" altLang="zh-CN" sz="1800">
                        <a:latin typeface="Cambria Math" panose="02040503050406030204" pitchFamily="18" charset="0"/>
                        <a:ea typeface="华文仿宋" panose="02010600040101010101" pitchFamily="2" charset="-122"/>
                      </a:rPr>
                      <m:t> </m:t>
                    </m:r>
                    <m:r>
                      <a:rPr lang="en-US" altLang="zh-CN" sz="1800">
                        <a:latin typeface="Cambria Math" panose="02040503050406030204" pitchFamily="18" charset="0"/>
                        <a:ea typeface="华文仿宋" panose="02010600040101010101" pitchFamily="2" charset="-122"/>
                      </a:rPr>
                      <m:t>𝑚</m:t>
                    </m:r>
                    <m:r>
                      <a:rPr lang="en-US" altLang="zh-CN" sz="1800">
                        <a:latin typeface="Cambria Math" panose="02040503050406030204" pitchFamily="18" charset="0"/>
                        <a:ea typeface="华文仿宋" panose="02010600040101010101" pitchFamily="2" charset="-122"/>
                      </a:rPr>
                      <m:t>)</m:t>
                    </m:r>
                  </m:oMath>
                </a14:m>
                <a:r>
                  <a:rPr lang="zh-CN" altLang="zh-CN" sz="1800" dirty="0">
                    <a:latin typeface="华文仿宋" panose="02010600040101010101" pitchFamily="2" charset="-122"/>
                    <a:ea typeface="华文仿宋" panose="02010600040101010101" pitchFamily="2" charset="-122"/>
                  </a:rPr>
                  <a:t>。证毕</a:t>
                </a:r>
                <a:r>
                  <a:rPr lang="en-US" altLang="zh-CN" sz="1800" dirty="0">
                    <a:latin typeface="华文仿宋" panose="02010600040101010101" pitchFamily="2" charset="-122"/>
                    <a:ea typeface="华文仿宋" panose="02010600040101010101" pitchFamily="2" charset="-122"/>
                  </a:rPr>
                  <a:t>! </a:t>
                </a:r>
                <a:endParaRPr lang="zh-CN" altLang="en-US" sz="1800" dirty="0">
                  <a:latin typeface="华文仿宋" panose="02010600040101010101" pitchFamily="2" charset="-122"/>
                  <a:ea typeface="华文仿宋" panose="0201060004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115616" y="1988840"/>
                <a:ext cx="7056784" cy="2753382"/>
              </a:xfrm>
              <a:prstGeom prst="rect">
                <a:avLst/>
              </a:prstGeom>
              <a:blipFill rotWithShape="0">
                <a:blip r:embed="rId4"/>
                <a:stretch>
                  <a:fillRect l="-691" b="-17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1614040"/>
      </p:ext>
    </p:extLst>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76B28965-C7A4-40BA-92D6-E3EF11C2370A}" type="slidenum">
              <a:rPr lang="en-US" altLang="zh-CN"/>
              <a:pPr>
                <a:defRPr/>
              </a:pPr>
              <a:t>104</a:t>
            </a:fld>
            <a:endParaRPr lang="en-US" altLang="zh-CN"/>
          </a:p>
        </p:txBody>
      </p:sp>
      <p:sp>
        <p:nvSpPr>
          <p:cNvPr id="111621" name="Text Box 2"/>
          <p:cNvSpPr txBox="1">
            <a:spLocks noChangeArrowheads="1"/>
          </p:cNvSpPr>
          <p:nvPr/>
        </p:nvSpPr>
        <p:spPr bwMode="auto">
          <a:xfrm>
            <a:off x="1331913" y="692150"/>
            <a:ext cx="6553200" cy="83026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费马小定理</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1162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15616" y="1773238"/>
            <a:ext cx="7128792" cy="1938992"/>
          </a:xfrm>
          <a:prstGeom prst="rect">
            <a:avLst/>
          </a:prstGeom>
          <a:solidFill>
            <a:srgbClr val="FF7C80"/>
          </a:solidFill>
          <a:scene3d>
            <a:camera prst="orthographicFront"/>
            <a:lightRig rig="threePt" dir="t"/>
          </a:scene3d>
          <a:sp3d extrusionH="31750" contourW="31750">
            <a:bevelT w="19050" h="63500"/>
            <a:bevelB w="114300" prst="artDeco"/>
            <a:extrusionClr>
              <a:schemeClr val="accent1">
                <a:lumMod val="60000"/>
                <a:lumOff val="40000"/>
              </a:schemeClr>
            </a:extrusionClr>
            <a:contourClr>
              <a:srgbClr val="FFC000"/>
            </a:contourClr>
          </a:sp3d>
        </p:spPr>
        <p:txBody>
          <a:bodyPr wrap="square" rtlCol="0">
            <a:spAutoFit/>
          </a:bodyPr>
          <a:lstStyle/>
          <a:p>
            <a:r>
              <a:rPr lang="zh-CN" altLang="zh-CN" dirty="0"/>
              <a:t>判定整数</a:t>
            </a:r>
            <a:r>
              <a:rPr lang="en-US" altLang="zh-CN" i="1" dirty="0"/>
              <a:t>p</a:t>
            </a:r>
            <a:r>
              <a:rPr lang="zh-CN" altLang="zh-CN" dirty="0"/>
              <a:t>为素数的一个重要方法是证明它不能被任何小于或等于其平方根的素数整除。但是，这种判定方法的效率并不高</a:t>
            </a:r>
            <a:r>
              <a:rPr lang="zh-CN" altLang="zh-CN" dirty="0" smtClean="0"/>
              <a:t>。</a:t>
            </a:r>
            <a:endParaRPr lang="en-US" altLang="zh-CN" dirty="0" smtClean="0"/>
          </a:p>
          <a:p>
            <a:r>
              <a:rPr lang="zh-CN" altLang="zh-CN" dirty="0"/>
              <a:t>法国</a:t>
            </a:r>
            <a:r>
              <a:rPr lang="zh-CN" altLang="zh-CN" dirty="0" smtClean="0"/>
              <a:t>数学家</a:t>
            </a:r>
            <a:r>
              <a:rPr lang="zh-CN" altLang="en-US" dirty="0" smtClean="0"/>
              <a:t>费马</a:t>
            </a:r>
            <a:r>
              <a:rPr lang="zh-CN" altLang="zh-CN" dirty="0" smtClean="0"/>
              <a:t>给出</a:t>
            </a:r>
            <a:r>
              <a:rPr lang="zh-CN" altLang="en-US" dirty="0" smtClean="0"/>
              <a:t>一个更为有效的方法，称之为</a:t>
            </a:r>
            <a:r>
              <a:rPr lang="zh-CN" altLang="en-US" dirty="0" smtClean="0">
                <a:solidFill>
                  <a:srgbClr val="FFFF00"/>
                </a:solidFill>
              </a:rPr>
              <a:t>费马小定理</a:t>
            </a:r>
            <a:r>
              <a:rPr lang="zh-CN" altLang="en-US" dirty="0" smtClean="0"/>
              <a:t>。</a:t>
            </a:r>
            <a:endParaRPr lang="zh-CN" altLang="en-US" dirty="0"/>
          </a:p>
        </p:txBody>
      </p:sp>
      <mc:AlternateContent xmlns:mc="http://schemas.openxmlformats.org/markup-compatibility/2006" xmlns:a14="http://schemas.microsoft.com/office/drawing/2010/main">
        <mc:Choice Requires="a14">
          <p:sp>
            <p:nvSpPr>
              <p:cNvPr id="3" name="文本框 2"/>
              <p:cNvSpPr txBox="1"/>
              <p:nvPr/>
            </p:nvSpPr>
            <p:spPr>
              <a:xfrm>
                <a:off x="179512" y="4064794"/>
                <a:ext cx="6984776" cy="1638205"/>
              </a:xfrm>
              <a:prstGeom prst="rect">
                <a:avLst/>
              </a:prstGeom>
              <a:solidFill>
                <a:srgbClr val="92D050"/>
              </a:solidFill>
              <a:ln w="19050">
                <a:solidFill>
                  <a:schemeClr val="tx1">
                    <a:lumMod val="75000"/>
                    <a:lumOff val="25000"/>
                  </a:schemeClr>
                </a:solidFill>
                <a:prstDash val="dash"/>
              </a:ln>
              <a:effectLst>
                <a:glow rad="101600">
                  <a:schemeClr val="accent6">
                    <a:lumMod val="60000"/>
                    <a:lumOff val="40000"/>
                    <a:alpha val="40000"/>
                  </a:schemeClr>
                </a:glow>
              </a:effectLst>
            </p:spPr>
            <p:txBody>
              <a:bodyPr wrap="square" rtlCol="0">
                <a:spAutoFit/>
              </a:bodyPr>
              <a:lstStyle/>
              <a:p>
                <a:r>
                  <a:rPr lang="zh-CN" altLang="zh-CN" sz="2000" dirty="0"/>
                  <a:t>【</a:t>
                </a:r>
                <a:r>
                  <a:rPr lang="zh-CN" altLang="zh-CN" sz="2000" b="1" dirty="0"/>
                  <a:t>定理</a:t>
                </a:r>
                <a:r>
                  <a:rPr lang="en-US" altLang="zh-CN" sz="2000" b="1" dirty="0"/>
                  <a:t>2.30</a:t>
                </a:r>
                <a:r>
                  <a:rPr lang="zh-CN" altLang="zh-CN" sz="2000" dirty="0"/>
                  <a:t>】（费马小定理）假设</a:t>
                </a:r>
                <a:r>
                  <a:rPr lang="en-US" altLang="zh-CN" sz="2000" i="1" dirty="0"/>
                  <a:t>p</a:t>
                </a:r>
                <a:r>
                  <a:rPr lang="zh-CN" altLang="zh-CN" sz="2000" dirty="0"/>
                  <a:t>是一个任意给定的素数，则对于任意整数</a:t>
                </a:r>
                <a:r>
                  <a:rPr lang="en-US" altLang="zh-CN" sz="2000" i="1" dirty="0"/>
                  <a:t>a</a:t>
                </a:r>
                <a:r>
                  <a:rPr lang="zh-CN" altLang="zh-CN" sz="2000" dirty="0"/>
                  <a:t>，有：</a:t>
                </a:r>
              </a:p>
              <a:p>
                <a:r>
                  <a:rPr lang="en-US" altLang="zh-CN" sz="2000" dirty="0"/>
                  <a:t>                             </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𝑎</m:t>
                        </m:r>
                      </m:e>
                      <m:sup>
                        <m:r>
                          <a:rPr lang="en-US" altLang="zh-CN" sz="2000" i="1">
                            <a:latin typeface="Cambria Math" panose="02040503050406030204" pitchFamily="18" charset="0"/>
                          </a:rPr>
                          <m:t>𝑝</m:t>
                        </m:r>
                      </m:sup>
                    </m:sSup>
                    <m:r>
                      <a:rPr lang="en-US" altLang="zh-CN" sz="2000" i="1">
                        <a:latin typeface="Cambria Math" panose="02040503050406030204" pitchFamily="18" charset="0"/>
                      </a:rPr>
                      <m:t>≡</m:t>
                    </m:r>
                    <m:r>
                      <a:rPr lang="en-US" altLang="zh-CN" sz="2000" i="1">
                        <a:latin typeface="Cambria Math" panose="02040503050406030204" pitchFamily="18" charset="0"/>
                      </a:rPr>
                      <m:t>𝑎</m:t>
                    </m:r>
                    <m:r>
                      <a:rPr lang="en-US" altLang="zh-CN" sz="2000" i="1">
                        <a:latin typeface="Cambria Math" panose="02040503050406030204" pitchFamily="18" charset="0"/>
                      </a:rPr>
                      <m:t>(</m:t>
                    </m:r>
                    <m:r>
                      <m:rPr>
                        <m:nor/>
                      </m:rPr>
                      <a:rPr lang="en-US" altLang="zh-CN" sz="2000"/>
                      <m:t> </m:t>
                    </m:r>
                    <m:r>
                      <m:rPr>
                        <m:nor/>
                      </m:rPr>
                      <a:rPr lang="en-US" altLang="zh-CN" sz="2000"/>
                      <m:t>mod</m:t>
                    </m:r>
                    <m:r>
                      <a:rPr lang="en-US" altLang="zh-CN" sz="2000" i="1">
                        <a:latin typeface="Cambria Math" panose="02040503050406030204" pitchFamily="18" charset="0"/>
                      </a:rPr>
                      <m:t> </m:t>
                    </m:r>
                    <m:r>
                      <a:rPr lang="en-US" altLang="zh-CN" sz="2000" i="1">
                        <a:latin typeface="Cambria Math" panose="02040503050406030204" pitchFamily="18" charset="0"/>
                      </a:rPr>
                      <m:t>𝑝</m:t>
                    </m:r>
                    <m:r>
                      <a:rPr lang="en-US" altLang="zh-CN" sz="2000" i="1">
                        <a:latin typeface="Cambria Math" panose="02040503050406030204" pitchFamily="18" charset="0"/>
                      </a:rPr>
                      <m:t>)</m:t>
                    </m:r>
                  </m:oMath>
                </a14:m>
                <a:r>
                  <a:rPr lang="en-US" altLang="zh-CN" sz="2000" dirty="0"/>
                  <a:t>                           (2-16)</a:t>
                </a:r>
                <a:endParaRPr lang="zh-CN" altLang="zh-CN" sz="2000" dirty="0"/>
              </a:p>
              <a:p>
                <a:r>
                  <a:rPr lang="zh-CN" altLang="zh-CN" sz="2000" dirty="0"/>
                  <a:t>特别地，当</a:t>
                </a:r>
                <a:r>
                  <a:rPr lang="en-US" altLang="zh-CN" sz="2000" i="1" dirty="0"/>
                  <a:t>a</a:t>
                </a:r>
                <a:r>
                  <a:rPr lang="zh-CN" altLang="zh-CN" sz="2000" dirty="0"/>
                  <a:t>与</a:t>
                </a:r>
                <a:r>
                  <a:rPr lang="en-US" altLang="zh-CN" sz="2000" i="1" dirty="0"/>
                  <a:t>p</a:t>
                </a:r>
                <a:r>
                  <a:rPr lang="zh-CN" altLang="zh-CN" sz="2000" dirty="0"/>
                  <a:t>互素时，有：</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𝑎</m:t>
                        </m:r>
                      </m:e>
                      <m:sup>
                        <m:r>
                          <a:rPr lang="en-US" altLang="zh-CN" sz="2000" i="1">
                            <a:latin typeface="Cambria Math" panose="02040503050406030204" pitchFamily="18" charset="0"/>
                          </a:rPr>
                          <m:t>𝑝</m:t>
                        </m:r>
                        <m:r>
                          <a:rPr lang="en-US" altLang="zh-CN" sz="2000" i="1">
                            <a:latin typeface="Cambria Math" panose="02040503050406030204" pitchFamily="18" charset="0"/>
                          </a:rPr>
                          <m:t>−1</m:t>
                        </m:r>
                      </m:sup>
                    </m:sSup>
                    <m:r>
                      <a:rPr lang="en-US" altLang="zh-CN" sz="2000" i="1">
                        <a:latin typeface="Cambria Math" panose="02040503050406030204" pitchFamily="18" charset="0"/>
                      </a:rPr>
                      <m:t>≡1(</m:t>
                    </m:r>
                    <m:r>
                      <m:rPr>
                        <m:nor/>
                      </m:rPr>
                      <a:rPr lang="en-US" altLang="zh-CN" sz="2000"/>
                      <m:t> </m:t>
                    </m:r>
                    <m:r>
                      <m:rPr>
                        <m:nor/>
                      </m:rPr>
                      <a:rPr lang="en-US" altLang="zh-CN" sz="2000"/>
                      <m:t>mod</m:t>
                    </m:r>
                    <m:r>
                      <a:rPr lang="en-US" altLang="zh-CN" sz="2000" i="1">
                        <a:latin typeface="Cambria Math" panose="02040503050406030204" pitchFamily="18" charset="0"/>
                      </a:rPr>
                      <m:t> </m:t>
                    </m:r>
                    <m:r>
                      <a:rPr lang="en-US" altLang="zh-CN" sz="2000" i="1">
                        <a:latin typeface="Cambria Math" panose="02040503050406030204" pitchFamily="18" charset="0"/>
                      </a:rPr>
                      <m:t>𝑝</m:t>
                    </m:r>
                    <m:r>
                      <a:rPr lang="en-US" altLang="zh-CN" sz="2000" i="1">
                        <a:latin typeface="Cambria Math" panose="02040503050406030204" pitchFamily="18" charset="0"/>
                      </a:rPr>
                      <m:t>)</m:t>
                    </m:r>
                  </m:oMath>
                </a14:m>
                <a:r>
                  <a:rPr lang="zh-CN" altLang="zh-CN" sz="2000" dirty="0" smtClean="0"/>
                  <a:t>。</a:t>
                </a:r>
                <a:endParaRPr lang="zh-CN" altLang="zh-CN" sz="2000" dirty="0"/>
              </a:p>
            </p:txBody>
          </p:sp>
        </mc:Choice>
        <mc:Fallback xmlns="">
          <p:sp>
            <p:nvSpPr>
              <p:cNvPr id="3" name="文本框 2"/>
              <p:cNvSpPr txBox="1">
                <a:spLocks noRot="1" noChangeAspect="1" noMove="1" noResize="1" noEditPoints="1" noAdjustHandles="1" noChangeArrowheads="1" noChangeShapeType="1" noTextEdit="1"/>
              </p:cNvSpPr>
              <p:nvPr/>
            </p:nvSpPr>
            <p:spPr>
              <a:xfrm>
                <a:off x="179512" y="4064794"/>
                <a:ext cx="6984776" cy="1638205"/>
              </a:xfrm>
              <a:prstGeom prst="rect">
                <a:avLst/>
              </a:prstGeom>
              <a:blipFill rotWithShape="0">
                <a:blip r:embed="rId4"/>
                <a:stretch>
                  <a:fillRect/>
                </a:stretch>
              </a:blipFill>
              <a:ln w="19050">
                <a:solidFill>
                  <a:schemeClr val="tx1">
                    <a:lumMod val="75000"/>
                    <a:lumOff val="25000"/>
                  </a:schemeClr>
                </a:solidFill>
                <a:prstDash val="dash"/>
              </a:ln>
              <a:effectLst>
                <a:glow rad="101600">
                  <a:schemeClr val="accent6">
                    <a:lumMod val="60000"/>
                    <a:lumOff val="40000"/>
                    <a:alpha val="40000"/>
                  </a:schemeClr>
                </a:glow>
              </a:effectLst>
            </p:spPr>
            <p:txBody>
              <a:bodyPr/>
              <a:lstStyle/>
              <a:p>
                <a:r>
                  <a:rPr lang="zh-CN" altLang="en-US">
                    <a:noFill/>
                  </a:rPr>
                  <a:t> </a:t>
                </a:r>
              </a:p>
            </p:txBody>
          </p:sp>
        </mc:Fallback>
      </mc:AlternateContent>
      <p:pic>
        <p:nvPicPr>
          <p:cNvPr id="4" name="图片 3"/>
          <p:cNvPicPr>
            <a:picLocks noChangeAspect="1"/>
          </p:cNvPicPr>
          <p:nvPr/>
        </p:nvPicPr>
        <p:blipFill>
          <a:blip r:embed="rId5"/>
          <a:stretch>
            <a:fillRect/>
          </a:stretch>
        </p:blipFill>
        <p:spPr>
          <a:xfrm>
            <a:off x="7505700" y="3923137"/>
            <a:ext cx="1386780" cy="1921517"/>
          </a:xfrm>
          <a:prstGeom prst="rect">
            <a:avLst/>
          </a:prstGeom>
        </p:spPr>
      </p:pic>
    </p:spTree>
    <p:extLst>
      <p:ext uri="{BB962C8B-B14F-4D97-AF65-F5344CB8AC3E}">
        <p14:creationId xmlns:p14="http://schemas.microsoft.com/office/powerpoint/2010/main" val="1753172967"/>
      </p:ext>
    </p:extLst>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dirty="0"/>
              <a:t>计算机应用技术研究所</a:t>
            </a:r>
          </a:p>
        </p:txBody>
      </p:sp>
      <p:sp>
        <p:nvSpPr>
          <p:cNvPr id="7" name="灯片编号占位符 5"/>
          <p:cNvSpPr>
            <a:spLocks noGrp="1"/>
          </p:cNvSpPr>
          <p:nvPr>
            <p:ph type="sldNum" sz="quarter" idx="12"/>
          </p:nvPr>
        </p:nvSpPr>
        <p:spPr/>
        <p:txBody>
          <a:bodyPr/>
          <a:lstStyle/>
          <a:p>
            <a:pPr>
              <a:defRPr/>
            </a:pPr>
            <a:fld id="{D497C8D7-4AA2-4DAE-8AB8-DA7C94607538}" type="slidenum">
              <a:rPr lang="en-US" altLang="zh-CN"/>
              <a:pPr>
                <a:defRPr/>
              </a:pPr>
              <a:t>105</a:t>
            </a:fld>
            <a:endParaRPr lang="en-US" altLang="zh-CN"/>
          </a:p>
        </p:txBody>
      </p:sp>
      <p:sp>
        <p:nvSpPr>
          <p:cNvPr id="112645" name="Text Box 2"/>
          <p:cNvSpPr txBox="1">
            <a:spLocks noChangeArrowheads="1"/>
          </p:cNvSpPr>
          <p:nvPr/>
        </p:nvSpPr>
        <p:spPr bwMode="auto">
          <a:xfrm>
            <a:off x="1331913" y="692150"/>
            <a:ext cx="655320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证明</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1264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259632" y="1773238"/>
                <a:ext cx="6720731" cy="2789290"/>
              </a:xfrm>
              <a:prstGeom prst="rect">
                <a:avLst/>
              </a:prstGeom>
              <a:noFill/>
            </p:spPr>
            <p:txBody>
              <a:bodyPr wrap="square" rtlCol="0">
                <a:spAutoFit/>
              </a:bodyPr>
              <a:lstStyle/>
              <a:p>
                <a:pPr>
                  <a:lnSpc>
                    <a:spcPct val="150000"/>
                  </a:lnSpc>
                </a:pPr>
                <a:r>
                  <a:rPr lang="zh-CN" altLang="zh-CN" dirty="0"/>
                  <a:t>【证明】若</a:t>
                </a:r>
                <a14:m>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𝑎</m:t>
                        </m:r>
                        <m:r>
                          <a:rPr lang="zh-CN" altLang="zh-CN">
                            <a:latin typeface="Cambria Math" panose="02040503050406030204" pitchFamily="18" charset="0"/>
                          </a:rPr>
                          <m:t>，</m:t>
                        </m:r>
                        <m:r>
                          <a:rPr lang="en-US" altLang="zh-CN" i="1">
                            <a:latin typeface="Cambria Math" panose="02040503050406030204" pitchFamily="18" charset="0"/>
                          </a:rPr>
                          <m:t>𝑝</m:t>
                        </m:r>
                      </m:e>
                    </m:d>
                    <m:r>
                      <a:rPr lang="en-US" altLang="zh-CN">
                        <a:latin typeface="Cambria Math" panose="02040503050406030204" pitchFamily="18" charset="0"/>
                      </a:rPr>
                      <m:t>=1</m:t>
                    </m:r>
                  </m:oMath>
                </a14:m>
                <a:r>
                  <a:rPr lang="zh-CN" altLang="zh-CN" dirty="0"/>
                  <a:t>，因为与</a:t>
                </a:r>
                <a:r>
                  <a:rPr lang="en-US" altLang="zh-CN" i="1" dirty="0"/>
                  <a:t>p</a:t>
                </a:r>
                <a:r>
                  <a:rPr lang="zh-CN" altLang="zh-CN" dirty="0"/>
                  <a:t>互素的数有</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a:latin typeface="Cambria Math" panose="02040503050406030204" pitchFamily="18" charset="0"/>
                      </a:rPr>
                      <m:t>1</m:t>
                    </m:r>
                  </m:oMath>
                </a14:m>
                <a:r>
                  <a:rPr lang="zh-CN" altLang="zh-CN" dirty="0"/>
                  <a:t>个，即</a:t>
                </a:r>
                <a14:m>
                  <m:oMath xmlns:m="http://schemas.openxmlformats.org/officeDocument/2006/math">
                    <m:r>
                      <a:rPr lang="en-US" altLang="zh-CN" i="1">
                        <a:latin typeface="Cambria Math" panose="02040503050406030204" pitchFamily="18" charset="0"/>
                      </a:rPr>
                      <m:t>𝜑</m:t>
                    </m:r>
                    <m:d>
                      <m:dPr>
                        <m:ctrlPr>
                          <a:rPr lang="zh-CN" altLang="zh-CN" i="1">
                            <a:latin typeface="Cambria Math" panose="02040503050406030204" pitchFamily="18" charset="0"/>
                          </a:rPr>
                        </m:ctrlPr>
                      </m:dPr>
                      <m:e>
                        <m:r>
                          <a:rPr lang="en-US" altLang="zh-CN" i="1">
                            <a:latin typeface="Cambria Math" panose="02040503050406030204" pitchFamily="18" charset="0"/>
                          </a:rPr>
                          <m:t>𝑝</m:t>
                        </m:r>
                      </m:e>
                    </m:d>
                    <m:r>
                      <a:rPr lang="en-US" altLang="zh-CN" i="1">
                        <a:latin typeface="Cambria Math" panose="02040503050406030204" pitchFamily="18" charset="0"/>
                      </a:rPr>
                      <m:t>=</m:t>
                    </m:r>
                    <m:r>
                      <a:rPr lang="en-US" altLang="zh-CN" i="1">
                        <a:latin typeface="Cambria Math" panose="02040503050406030204" pitchFamily="18" charset="0"/>
                      </a:rPr>
                      <m:t>𝑝</m:t>
                    </m:r>
                    <m:r>
                      <a:rPr lang="en-US" altLang="zh-CN" i="1">
                        <a:latin typeface="Cambria Math" panose="02040503050406030204" pitchFamily="18" charset="0"/>
                      </a:rPr>
                      <m:t>−1</m:t>
                    </m:r>
                  </m:oMath>
                </a14:m>
                <a:r>
                  <a:rPr lang="zh-CN" altLang="zh-CN" dirty="0"/>
                  <a:t>，由定理</a:t>
                </a:r>
                <a:r>
                  <a:rPr lang="en-US" altLang="zh-CN" dirty="0"/>
                  <a:t>2.29</a:t>
                </a:r>
                <a:r>
                  <a:rPr lang="zh-CN" altLang="zh-CN" dirty="0"/>
                  <a:t>得到</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𝑝</m:t>
                        </m:r>
                        <m:r>
                          <a:rPr lang="en-US" altLang="zh-CN" i="1">
                            <a:latin typeface="Cambria Math" panose="02040503050406030204" pitchFamily="18" charset="0"/>
                          </a:rPr>
                          <m:t>−1</m:t>
                        </m:r>
                      </m:sup>
                    </m:sSup>
                    <m:r>
                      <a:rPr lang="en-US" altLang="zh-CN" i="1">
                        <a:latin typeface="Cambria Math" panose="02040503050406030204" pitchFamily="18" charset="0"/>
                      </a:rPr>
                      <m:t>≡1(</m:t>
                    </m:r>
                    <m:r>
                      <m:rPr>
                        <m:nor/>
                      </m:rPr>
                      <a:rPr lang="en-US" altLang="zh-CN"/>
                      <m:t> </m:t>
                    </m:r>
                    <m:r>
                      <m:rPr>
                        <m:nor/>
                      </m:rPr>
                      <a:rPr lang="en-US" altLang="zh-CN"/>
                      <m:t>mod</m:t>
                    </m:r>
                    <m:r>
                      <a:rPr lang="en-US" altLang="zh-CN" i="1">
                        <a:latin typeface="Cambria Math" panose="02040503050406030204" pitchFamily="18" charset="0"/>
                      </a:rPr>
                      <m:t>𝑝</m:t>
                    </m:r>
                    <m:r>
                      <a:rPr lang="en-US" altLang="zh-CN" i="1">
                        <a:latin typeface="Cambria Math" panose="02040503050406030204" pitchFamily="18" charset="0"/>
                      </a:rPr>
                      <m:t>)</m:t>
                    </m:r>
                  </m:oMath>
                </a14:m>
                <a:r>
                  <a:rPr lang="zh-CN" altLang="zh-CN" dirty="0"/>
                  <a:t>，进而</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𝑝</m:t>
                        </m:r>
                      </m:sup>
                    </m:sSup>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m:rPr>
                        <m:nor/>
                      </m:rPr>
                      <a:rPr lang="en-US" altLang="zh-CN"/>
                      <m:t> </m:t>
                    </m:r>
                    <m:r>
                      <m:rPr>
                        <m:nor/>
                      </m:rPr>
                      <a:rPr lang="en-US" altLang="zh-CN"/>
                      <m:t>mod</m:t>
                    </m:r>
                    <m:r>
                      <a:rPr lang="en-US" altLang="zh-CN" i="1">
                        <a:latin typeface="Cambria Math" panose="02040503050406030204" pitchFamily="18" charset="0"/>
                      </a:rPr>
                      <m:t> </m:t>
                    </m:r>
                    <m:r>
                      <a:rPr lang="en-US" altLang="zh-CN" i="1">
                        <a:latin typeface="Cambria Math" panose="02040503050406030204" pitchFamily="18" charset="0"/>
                      </a:rPr>
                      <m:t>𝑝</m:t>
                    </m:r>
                    <m:r>
                      <a:rPr lang="en-US" altLang="zh-CN" i="1">
                        <a:latin typeface="Cambria Math" panose="02040503050406030204" pitchFamily="18" charset="0"/>
                      </a:rPr>
                      <m:t>)</m:t>
                    </m:r>
                  </m:oMath>
                </a14:m>
                <a:r>
                  <a:rPr lang="zh-CN" altLang="zh-CN" dirty="0"/>
                  <a:t>。</a:t>
                </a:r>
              </a:p>
              <a:p>
                <a:pPr>
                  <a:lnSpc>
                    <a:spcPct val="150000"/>
                  </a:lnSpc>
                </a:pPr>
                <a:r>
                  <a:rPr lang="zh-CN" altLang="zh-CN" dirty="0"/>
                  <a:t>若</a:t>
                </a:r>
                <a14:m>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𝑎</m:t>
                        </m:r>
                        <m:r>
                          <a:rPr lang="zh-CN" altLang="zh-CN">
                            <a:latin typeface="Cambria Math" panose="02040503050406030204" pitchFamily="18" charset="0"/>
                          </a:rPr>
                          <m:t>，</m:t>
                        </m:r>
                        <m:r>
                          <a:rPr lang="en-US" altLang="zh-CN" i="1">
                            <a:latin typeface="Cambria Math" panose="02040503050406030204" pitchFamily="18" charset="0"/>
                          </a:rPr>
                          <m:t>𝑝</m:t>
                        </m:r>
                      </m:e>
                    </m:d>
                    <m:r>
                      <a:rPr lang="en-US" altLang="zh-CN">
                        <a:latin typeface="Cambria Math" panose="02040503050406030204" pitchFamily="18" charset="0"/>
                      </a:rPr>
                      <m:t>&gt;1</m:t>
                    </m:r>
                  </m:oMath>
                </a14:m>
                <a:r>
                  <a:rPr lang="zh-CN" altLang="zh-CN" dirty="0"/>
                  <a:t>，则</a:t>
                </a:r>
                <a14:m>
                  <m:oMath xmlns:m="http://schemas.openxmlformats.org/officeDocument/2006/math">
                    <m:r>
                      <a:rPr lang="en-US" altLang="zh-CN" i="1">
                        <a:latin typeface="Cambria Math" panose="02040503050406030204" pitchFamily="18" charset="0"/>
                      </a:rPr>
                      <m:t>𝑝</m:t>
                    </m:r>
                    <m:r>
                      <a:rPr lang="en-US" altLang="zh-CN">
                        <a:latin typeface="Cambria Math" panose="02040503050406030204" pitchFamily="18" charset="0"/>
                      </a:rPr>
                      <m:t>|</m:t>
                    </m:r>
                    <m:r>
                      <a:rPr lang="en-US" altLang="zh-CN" i="1">
                        <a:latin typeface="Cambria Math" panose="02040503050406030204" pitchFamily="18" charset="0"/>
                      </a:rPr>
                      <m:t>𝑎</m:t>
                    </m:r>
                  </m:oMath>
                </a14:m>
                <a:r>
                  <a:rPr lang="zh-CN" altLang="zh-CN" dirty="0"/>
                  <a:t>，故有：</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𝑝</m:t>
                        </m:r>
                      </m:sup>
                    </m:sSup>
                    <m:r>
                      <a:rPr lang="en-US" altLang="zh-CN" i="1">
                        <a:latin typeface="Cambria Math" panose="02040503050406030204" pitchFamily="18" charset="0"/>
                      </a:rPr>
                      <m:t>≡0(</m:t>
                    </m:r>
                    <m:r>
                      <m:rPr>
                        <m:nor/>
                      </m:rPr>
                      <a:rPr lang="en-US" altLang="zh-CN"/>
                      <m:t> </m:t>
                    </m:r>
                    <m:r>
                      <m:rPr>
                        <m:nor/>
                      </m:rPr>
                      <a:rPr lang="en-US" altLang="zh-CN"/>
                      <m:t>mod</m:t>
                    </m:r>
                    <m:r>
                      <a:rPr lang="en-US" altLang="zh-CN" i="1">
                        <a:latin typeface="Cambria Math" panose="02040503050406030204" pitchFamily="18" charset="0"/>
                      </a:rPr>
                      <m:t> </m:t>
                    </m:r>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m:rPr>
                        <m:nor/>
                      </m:rPr>
                      <a:rPr lang="en-US" altLang="zh-CN"/>
                      <m:t> </m:t>
                    </m:r>
                    <m:r>
                      <m:rPr>
                        <m:nor/>
                      </m:rPr>
                      <a:rPr lang="en-US" altLang="zh-CN"/>
                      <m:t>mod</m:t>
                    </m:r>
                    <m:r>
                      <a:rPr lang="en-US" altLang="zh-CN" i="1">
                        <a:latin typeface="Cambria Math" panose="02040503050406030204" pitchFamily="18" charset="0"/>
                      </a:rPr>
                      <m:t> </m:t>
                    </m:r>
                    <m:r>
                      <a:rPr lang="en-US" altLang="zh-CN" i="1">
                        <a:latin typeface="Cambria Math" panose="02040503050406030204" pitchFamily="18" charset="0"/>
                      </a:rPr>
                      <m:t>𝑝</m:t>
                    </m:r>
                    <m:r>
                      <a:rPr lang="en-US" altLang="zh-CN" i="1">
                        <a:latin typeface="Cambria Math" panose="02040503050406030204" pitchFamily="18" charset="0"/>
                      </a:rPr>
                      <m:t>)</m:t>
                    </m:r>
                  </m:oMath>
                </a14:m>
                <a:r>
                  <a:rPr lang="zh-CN" altLang="zh-CN" dirty="0"/>
                  <a:t>。证毕。</a:t>
                </a:r>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1259632" y="1773238"/>
                <a:ext cx="6720731" cy="2789290"/>
              </a:xfrm>
              <a:prstGeom prst="rect">
                <a:avLst/>
              </a:prstGeom>
              <a:blipFill rotWithShape="0">
                <a:blip r:embed="rId4"/>
                <a:stretch>
                  <a:fillRect l="-1452" b="-41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67500208"/>
      </p:ext>
    </p:extLst>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dirty="0"/>
              <a:t>计算机应用技术研究所</a:t>
            </a:r>
          </a:p>
        </p:txBody>
      </p:sp>
      <p:sp>
        <p:nvSpPr>
          <p:cNvPr id="7" name="灯片编号占位符 5"/>
          <p:cNvSpPr>
            <a:spLocks noGrp="1"/>
          </p:cNvSpPr>
          <p:nvPr>
            <p:ph type="sldNum" sz="quarter" idx="12"/>
          </p:nvPr>
        </p:nvSpPr>
        <p:spPr/>
        <p:txBody>
          <a:bodyPr/>
          <a:lstStyle/>
          <a:p>
            <a:pPr>
              <a:defRPr/>
            </a:pPr>
            <a:fld id="{9A431F75-8B01-4CB3-8C4C-242035EFFCF0}" type="slidenum">
              <a:rPr lang="en-US" altLang="zh-CN"/>
              <a:pPr>
                <a:defRPr/>
              </a:pPr>
              <a:t>106</a:t>
            </a:fld>
            <a:endParaRPr lang="en-US" altLang="zh-CN"/>
          </a:p>
        </p:txBody>
      </p:sp>
      <p:sp>
        <p:nvSpPr>
          <p:cNvPr id="113669" name="Text Box 2"/>
          <p:cNvSpPr txBox="1">
            <a:spLocks noChangeArrowheads="1"/>
          </p:cNvSpPr>
          <p:nvPr/>
        </p:nvSpPr>
        <p:spPr bwMode="auto">
          <a:xfrm>
            <a:off x="1331913" y="692150"/>
            <a:ext cx="655320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例题</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1367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1187624" y="1988840"/>
                <a:ext cx="7488832" cy="2543966"/>
              </a:xfrm>
              <a:prstGeom prst="rect">
                <a:avLst/>
              </a:prstGeom>
              <a:noFill/>
            </p:spPr>
            <p:txBody>
              <a:bodyPr wrap="square" rtlCol="0">
                <a:spAutoFit/>
              </a:bodyPr>
              <a:lstStyle/>
              <a:p>
                <a:r>
                  <a:rPr lang="zh-CN" altLang="zh-CN" dirty="0"/>
                  <a:t>例题</a:t>
                </a:r>
                <a:r>
                  <a:rPr lang="en-US" altLang="zh-CN" dirty="0"/>
                  <a:t>2.30</a:t>
                </a:r>
                <a:r>
                  <a:rPr lang="zh-CN" altLang="zh-CN" dirty="0"/>
                  <a:t>】利用费马小定理计算</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3</m:t>
                        </m:r>
                      </m:e>
                      <m:sup>
                        <m:r>
                          <a:rPr lang="en-US" altLang="zh-CN" i="1">
                            <a:latin typeface="Cambria Math" panose="02040503050406030204" pitchFamily="18" charset="0"/>
                          </a:rPr>
                          <m:t>201</m:t>
                        </m:r>
                      </m:sup>
                    </m:sSup>
                    <m:d>
                      <m:dPr>
                        <m:begChr m:val="（"/>
                        <m:endChr m:val="）"/>
                        <m:ctrlPr>
                          <a:rPr lang="zh-CN" altLang="zh-CN" i="1">
                            <a:latin typeface="Cambria Math" panose="02040503050406030204" pitchFamily="18" charset="0"/>
                          </a:rPr>
                        </m:ctrlPr>
                      </m:dPr>
                      <m:e>
                        <m:r>
                          <m:rPr>
                            <m:nor/>
                          </m:rPr>
                          <a:rPr lang="en-US" altLang="zh-CN"/>
                          <m:t>mod</m:t>
                        </m:r>
                        <m:r>
                          <a:rPr lang="en-US" altLang="zh-CN">
                            <a:latin typeface="Cambria Math" panose="02040503050406030204" pitchFamily="18" charset="0"/>
                          </a:rPr>
                          <m:t>11</m:t>
                        </m:r>
                      </m:e>
                    </m:d>
                  </m:oMath>
                </a14:m>
                <a:endParaRPr lang="zh-CN" altLang="zh-CN" dirty="0"/>
              </a:p>
              <a:p>
                <a:pPr>
                  <a:lnSpc>
                    <a:spcPct val="150000"/>
                  </a:lnSpc>
                </a:pPr>
                <a:r>
                  <a:rPr lang="zh-CN" altLang="zh-CN" dirty="0"/>
                  <a:t>【解】</a:t>
                </a:r>
                <a:r>
                  <a:rPr lang="en-US" altLang="zh-CN" dirty="0"/>
                  <a:t>11</a:t>
                </a:r>
                <a:r>
                  <a:rPr lang="zh-CN" altLang="zh-CN" dirty="0"/>
                  <a:t>是素数，</a:t>
                </a:r>
                <a:r>
                  <a:rPr lang="en-US" altLang="zh-CN" dirty="0"/>
                  <a:t>3</a:t>
                </a:r>
                <a:r>
                  <a:rPr lang="zh-CN" altLang="zh-CN" dirty="0"/>
                  <a:t>和</a:t>
                </a:r>
                <a:r>
                  <a:rPr lang="en-US" altLang="zh-CN" dirty="0"/>
                  <a:t>11</a:t>
                </a:r>
                <a:r>
                  <a:rPr lang="zh-CN" altLang="zh-CN" dirty="0"/>
                  <a:t>互素，由费马小定理</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3</m:t>
                        </m:r>
                      </m:e>
                      <m:sup>
                        <m:r>
                          <a:rPr lang="en-US" altLang="zh-CN" i="1">
                            <a:latin typeface="Cambria Math" panose="02040503050406030204" pitchFamily="18" charset="0"/>
                          </a:rPr>
                          <m:t>10</m:t>
                        </m:r>
                      </m:sup>
                    </m:sSup>
                    <m:r>
                      <a:rPr lang="en-US" altLang="zh-CN" i="1">
                        <a:latin typeface="Cambria Math" panose="02040503050406030204" pitchFamily="18" charset="0"/>
                      </a:rPr>
                      <m:t>=1</m:t>
                    </m:r>
                    <m:d>
                      <m:dPr>
                        <m:begChr m:val="（"/>
                        <m:endChr m:val="）"/>
                        <m:ctrlPr>
                          <a:rPr lang="zh-CN" altLang="zh-CN" i="1">
                            <a:latin typeface="Cambria Math" panose="02040503050406030204" pitchFamily="18" charset="0"/>
                          </a:rPr>
                        </m:ctrlPr>
                      </m:dPr>
                      <m:e>
                        <m:r>
                          <m:rPr>
                            <m:nor/>
                          </m:rPr>
                          <a:rPr lang="en-US" altLang="zh-CN"/>
                          <m:t>mod</m:t>
                        </m:r>
                        <m:r>
                          <a:rPr lang="en-US" altLang="zh-CN">
                            <a:latin typeface="Cambria Math" panose="02040503050406030204" pitchFamily="18" charset="0"/>
                          </a:rPr>
                          <m:t>11</m:t>
                        </m:r>
                      </m:e>
                    </m:d>
                  </m:oMath>
                </a14:m>
                <a:r>
                  <a:rPr lang="zh-CN" altLang="zh-CN" dirty="0"/>
                  <a:t>，因此</a:t>
                </a:r>
              </a:p>
              <a:p>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3</m:t>
                          </m:r>
                        </m:e>
                        <m:sup>
                          <m:r>
                            <a:rPr lang="en-US" altLang="zh-CN" i="1">
                              <a:latin typeface="Cambria Math" panose="02040503050406030204" pitchFamily="18" charset="0"/>
                            </a:rPr>
                            <m:t>201</m:t>
                          </m:r>
                        </m:sup>
                      </m:sSup>
                      <m:r>
                        <a:rPr lang="en-US" altLang="zh-CN" i="1">
                          <a:latin typeface="Cambria Math" panose="02040503050406030204" pitchFamily="18" charset="0"/>
                        </a:rPr>
                        <m:t>=3</m:t>
                      </m:r>
                      <m:sSup>
                        <m:sSupPr>
                          <m:ctrlPr>
                            <a:rPr lang="zh-CN" altLang="zh-CN" i="1">
                              <a:latin typeface="Cambria Math" panose="02040503050406030204" pitchFamily="18" charset="0"/>
                            </a:rPr>
                          </m:ctrlPr>
                        </m:sSupPr>
                        <m:e>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3</m:t>
                              </m:r>
                            </m:e>
                            <m:sup>
                              <m:r>
                                <a:rPr lang="en-US" altLang="zh-CN" i="1">
                                  <a:latin typeface="Cambria Math" panose="02040503050406030204" pitchFamily="18" charset="0"/>
                                </a:rPr>
                                <m:t>10</m:t>
                              </m:r>
                            </m:sup>
                          </m:sSup>
                          <m:r>
                            <a:rPr lang="en-US" altLang="zh-CN">
                              <a:latin typeface="Cambria Math" panose="02040503050406030204" pitchFamily="18" charset="0"/>
                            </a:rPr>
                            <m:t>)</m:t>
                          </m:r>
                        </m:e>
                        <m:sup>
                          <m:r>
                            <a:rPr lang="en-US" altLang="zh-CN" i="1">
                              <a:latin typeface="Cambria Math" panose="02040503050406030204" pitchFamily="18" charset="0"/>
                            </a:rPr>
                            <m:t>20</m:t>
                          </m:r>
                        </m:sup>
                      </m:sSup>
                      <m:r>
                        <a:rPr lang="en-US" altLang="zh-CN" i="1">
                          <a:latin typeface="Cambria Math" panose="02040503050406030204" pitchFamily="18" charset="0"/>
                        </a:rPr>
                        <m:t>≡</m:t>
                      </m:r>
                      <m:sSup>
                        <m:sSupPr>
                          <m:ctrlPr>
                            <a:rPr lang="zh-CN" altLang="zh-CN" i="1">
                              <a:latin typeface="Cambria Math" panose="02040503050406030204" pitchFamily="18" charset="0"/>
                            </a:rPr>
                          </m:ctrlPr>
                        </m:sSupPr>
                        <m:e>
                          <m:d>
                            <m:dPr>
                              <m:begChr m:val="（"/>
                              <m:endChr m:val="）"/>
                              <m:ctrlPr>
                                <a:rPr lang="zh-CN" altLang="zh-CN" i="1">
                                  <a:latin typeface="Cambria Math" panose="02040503050406030204" pitchFamily="18" charset="0"/>
                                </a:rPr>
                              </m:ctrlPr>
                            </m:dPr>
                            <m:e>
                              <m:r>
                                <a:rPr lang="en-US" altLang="zh-CN">
                                  <a:latin typeface="Cambria Math" panose="02040503050406030204" pitchFamily="18" charset="0"/>
                                </a:rPr>
                                <m:t>1</m:t>
                              </m:r>
                            </m:e>
                          </m:d>
                        </m:e>
                        <m:sup>
                          <m:r>
                            <a:rPr lang="en-US" altLang="zh-CN" i="1">
                              <a:latin typeface="Cambria Math" panose="02040503050406030204" pitchFamily="18" charset="0"/>
                            </a:rPr>
                            <m:t>20</m:t>
                          </m:r>
                        </m:sup>
                      </m:sSup>
                      <m:r>
                        <a:rPr lang="en-US" altLang="zh-CN" i="1">
                          <a:latin typeface="Cambria Math" panose="02040503050406030204" pitchFamily="18" charset="0"/>
                        </a:rPr>
                        <m:t>3≡3</m:t>
                      </m:r>
                      <m:d>
                        <m:dPr>
                          <m:begChr m:val="（"/>
                          <m:endChr m:val="）"/>
                          <m:ctrlPr>
                            <a:rPr lang="zh-CN" altLang="zh-CN" i="1">
                              <a:latin typeface="Cambria Math" panose="02040503050406030204" pitchFamily="18" charset="0"/>
                            </a:rPr>
                          </m:ctrlPr>
                        </m:dPr>
                        <m:e>
                          <m:r>
                            <m:rPr>
                              <m:nor/>
                            </m:rPr>
                            <a:rPr lang="en-US" altLang="zh-CN"/>
                            <m:t>mod</m:t>
                          </m:r>
                          <m:r>
                            <a:rPr lang="en-US" altLang="zh-CN">
                              <a:latin typeface="Cambria Math" panose="02040503050406030204" pitchFamily="18" charset="0"/>
                            </a:rPr>
                            <m:t>11</m:t>
                          </m:r>
                        </m:e>
                      </m:d>
                      <m:r>
                        <a:rPr lang="en-US" altLang="zh-CN" i="1">
                          <a:latin typeface="Cambria Math" panose="02040503050406030204" pitchFamily="18" charset="0"/>
                        </a:rPr>
                        <m:t>    </m:t>
                      </m:r>
                    </m:oMath>
                  </m:oMathPara>
                </a14:m>
                <a:endParaRPr lang="zh-CN" altLang="zh-CN" dirty="0"/>
              </a:p>
              <a:p>
                <a:r>
                  <a:rPr lang="zh-CN" altLang="zh-CN" dirty="0"/>
                  <a:t>故有：</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3</m:t>
                        </m:r>
                      </m:e>
                      <m:sup>
                        <m:r>
                          <a:rPr lang="en-US" altLang="zh-CN" i="1">
                            <a:latin typeface="Cambria Math" panose="02040503050406030204" pitchFamily="18" charset="0"/>
                          </a:rPr>
                          <m:t>201</m:t>
                        </m:r>
                      </m:sup>
                    </m:sSup>
                    <m:d>
                      <m:dPr>
                        <m:begChr m:val="（"/>
                        <m:endChr m:val="）"/>
                        <m:ctrlPr>
                          <a:rPr lang="zh-CN" altLang="zh-CN" i="1">
                            <a:latin typeface="Cambria Math" panose="02040503050406030204" pitchFamily="18" charset="0"/>
                          </a:rPr>
                        </m:ctrlPr>
                      </m:dPr>
                      <m:e>
                        <m:r>
                          <m:rPr>
                            <m:nor/>
                          </m:rPr>
                          <a:rPr lang="en-US" altLang="zh-CN"/>
                          <m:t>mod</m:t>
                        </m:r>
                        <m:r>
                          <a:rPr lang="en-US" altLang="zh-CN">
                            <a:latin typeface="Cambria Math" panose="02040503050406030204" pitchFamily="18" charset="0"/>
                          </a:rPr>
                          <m:t>11</m:t>
                        </m:r>
                      </m:e>
                    </m:d>
                    <m:r>
                      <a:rPr lang="en-US" altLang="zh-CN" i="1">
                        <a:latin typeface="Cambria Math" panose="02040503050406030204" pitchFamily="18" charset="0"/>
                      </a:rPr>
                      <m:t>=</m:t>
                    </m:r>
                  </m:oMath>
                </a14:m>
                <a:r>
                  <a:rPr lang="en-US" altLang="zh-CN" dirty="0"/>
                  <a:t>3.</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1187624" y="1988840"/>
                <a:ext cx="7488832" cy="2543966"/>
              </a:xfrm>
              <a:prstGeom prst="rect">
                <a:avLst/>
              </a:prstGeom>
              <a:blipFill rotWithShape="0">
                <a:blip r:embed="rId4"/>
                <a:stretch>
                  <a:fillRect l="-1303" t="-26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02182193"/>
      </p:ext>
    </p:extLst>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dirty="0"/>
              <a:t>计算机应用技术研究所</a:t>
            </a:r>
          </a:p>
        </p:txBody>
      </p:sp>
      <p:sp>
        <p:nvSpPr>
          <p:cNvPr id="7" name="灯片编号占位符 5"/>
          <p:cNvSpPr>
            <a:spLocks noGrp="1"/>
          </p:cNvSpPr>
          <p:nvPr>
            <p:ph type="sldNum" sz="quarter" idx="12"/>
          </p:nvPr>
        </p:nvSpPr>
        <p:spPr/>
        <p:txBody>
          <a:bodyPr/>
          <a:lstStyle/>
          <a:p>
            <a:pPr>
              <a:defRPr/>
            </a:pPr>
            <a:fld id="{D01E2E9F-5801-42BA-B3D5-1F101DE2009A}" type="slidenum">
              <a:rPr lang="en-US" altLang="zh-CN"/>
              <a:pPr>
                <a:defRPr/>
              </a:pPr>
              <a:t>107</a:t>
            </a:fld>
            <a:endParaRPr lang="en-US" altLang="zh-CN"/>
          </a:p>
        </p:txBody>
      </p:sp>
      <p:sp>
        <p:nvSpPr>
          <p:cNvPr id="114693" name="Text Box 2"/>
          <p:cNvSpPr txBox="1">
            <a:spLocks noChangeArrowheads="1"/>
          </p:cNvSpPr>
          <p:nvPr/>
        </p:nvSpPr>
        <p:spPr bwMode="auto">
          <a:xfrm>
            <a:off x="1331913" y="692150"/>
            <a:ext cx="655320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800" b="1" dirty="0" smtClean="0">
                <a:solidFill>
                  <a:schemeClr val="bg1"/>
                </a:solidFill>
                <a:latin typeface="宋体" panose="02010600030101010101" pitchFamily="2" charset="-122"/>
                <a:ea typeface="宋体" panose="02010600030101010101" pitchFamily="2" charset="-122"/>
              </a:rPr>
              <a:t>RSA</a:t>
            </a:r>
            <a:r>
              <a:rPr lang="zh-CN" altLang="en-US" sz="4800" b="1" dirty="0">
                <a:solidFill>
                  <a:schemeClr val="bg1"/>
                </a:solidFill>
                <a:latin typeface="宋体" panose="02010600030101010101" pitchFamily="2" charset="-122"/>
                <a:ea typeface="宋体" panose="02010600030101010101" pitchFamily="2" charset="-122"/>
              </a:rPr>
              <a:t>加密</a:t>
            </a:r>
            <a:r>
              <a:rPr lang="zh-CN" altLang="en-US" sz="4800" b="1" dirty="0" smtClean="0">
                <a:solidFill>
                  <a:schemeClr val="bg1"/>
                </a:solidFill>
                <a:latin typeface="宋体" panose="02010600030101010101" pitchFamily="2" charset="-122"/>
                <a:ea typeface="宋体" panose="02010600030101010101" pitchFamily="2" charset="-122"/>
              </a:rPr>
              <a:t> </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1469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259632" y="2204864"/>
            <a:ext cx="6984776" cy="2308324"/>
          </a:xfrm>
          <a:prstGeom prst="rect">
            <a:avLst/>
          </a:prstGeom>
          <a:solidFill>
            <a:srgbClr val="FFC000"/>
          </a:solidFill>
          <a:ln w="19050">
            <a:solidFill>
              <a:srgbClr val="00B050"/>
            </a:solidFill>
            <a:prstDash val="dashDot"/>
          </a:ln>
        </p:spPr>
        <p:txBody>
          <a:bodyPr wrap="square" rtlCol="0">
            <a:spAutoFit/>
          </a:bodyPr>
          <a:lstStyle/>
          <a:p>
            <a:pPr>
              <a:lnSpc>
                <a:spcPct val="150000"/>
              </a:lnSpc>
            </a:pPr>
            <a:r>
              <a:rPr lang="zh-CN" altLang="en-US" dirty="0" smtClean="0">
                <a:latin typeface="华文琥珀" panose="02010800040101010101" pitchFamily="2" charset="-122"/>
                <a:ea typeface="华文琥珀" panose="02010800040101010101" pitchFamily="2" charset="-122"/>
              </a:rPr>
              <a:t>前面已经介绍了</a:t>
            </a:r>
            <a:r>
              <a:rPr lang="en-US" altLang="zh-CN" dirty="0" smtClean="0">
                <a:latin typeface="华文琥珀" panose="02010800040101010101" pitchFamily="2" charset="-122"/>
                <a:ea typeface="华文琥珀" panose="02010800040101010101" pitchFamily="2" charset="-122"/>
              </a:rPr>
              <a:t>RSA</a:t>
            </a:r>
            <a:r>
              <a:rPr lang="zh-CN" altLang="en-US" dirty="0" smtClean="0">
                <a:latin typeface="华文琥珀" panose="02010800040101010101" pitchFamily="2" charset="-122"/>
                <a:ea typeface="华文琥珀" panose="02010800040101010101" pitchFamily="2" charset="-122"/>
              </a:rPr>
              <a:t>算法的基本思想，以及实现这个算法的理论基础</a:t>
            </a:r>
            <a:r>
              <a:rPr lang="en-US" altLang="zh-CN" dirty="0" smtClean="0">
                <a:latin typeface="华文琥珀" panose="02010800040101010101" pitchFamily="2" charset="-122"/>
                <a:ea typeface="华文琥珀" panose="02010800040101010101" pitchFamily="2" charset="-122"/>
              </a:rPr>
              <a:t>—</a:t>
            </a:r>
            <a:r>
              <a:rPr lang="zh-CN" altLang="en-US" dirty="0" smtClean="0">
                <a:latin typeface="华文琥珀" panose="02010800040101010101" pitchFamily="2" charset="-122"/>
                <a:ea typeface="华文琥珀" panose="02010800040101010101" pitchFamily="2" charset="-122"/>
              </a:rPr>
              <a:t>欧拉定理和费马小定理，那么如何利用</a:t>
            </a:r>
            <a:r>
              <a:rPr lang="en-US" altLang="zh-CN" dirty="0" smtClean="0">
                <a:latin typeface="华文琥珀" panose="02010800040101010101" pitchFamily="2" charset="-122"/>
                <a:ea typeface="华文琥珀" panose="02010800040101010101" pitchFamily="2" charset="-122"/>
              </a:rPr>
              <a:t>RSA</a:t>
            </a:r>
            <a:r>
              <a:rPr lang="zh-CN" altLang="en-US" dirty="0" smtClean="0">
                <a:latin typeface="华文琥珀" panose="02010800040101010101" pitchFamily="2" charset="-122"/>
                <a:ea typeface="华文琥珀" panose="02010800040101010101" pitchFamily="2" charset="-122"/>
              </a:rPr>
              <a:t>算法生成一个秘钥进行加密过程呢？下面就给出具体的求解过程与实例。</a:t>
            </a:r>
            <a:endParaRPr lang="en-US" altLang="zh-CN" dirty="0" smtClean="0">
              <a:latin typeface="华文琥珀" panose="02010800040101010101" pitchFamily="2" charset="-122"/>
              <a:ea typeface="华文琥珀" panose="02010800040101010101" pitchFamily="2" charset="-122"/>
            </a:endParaRPr>
          </a:p>
        </p:txBody>
      </p:sp>
    </p:spTree>
    <p:extLst>
      <p:ext uri="{BB962C8B-B14F-4D97-AF65-F5344CB8AC3E}">
        <p14:creationId xmlns:p14="http://schemas.microsoft.com/office/powerpoint/2010/main" val="3312381157"/>
      </p:ext>
    </p:extLst>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dirty="0"/>
              <a:t>计算机应用技术研究所</a:t>
            </a:r>
          </a:p>
        </p:txBody>
      </p:sp>
      <p:sp>
        <p:nvSpPr>
          <p:cNvPr id="7" name="灯片编号占位符 5"/>
          <p:cNvSpPr>
            <a:spLocks noGrp="1"/>
          </p:cNvSpPr>
          <p:nvPr>
            <p:ph type="sldNum" sz="quarter" idx="12"/>
          </p:nvPr>
        </p:nvSpPr>
        <p:spPr/>
        <p:txBody>
          <a:bodyPr/>
          <a:lstStyle/>
          <a:p>
            <a:pPr>
              <a:defRPr/>
            </a:pPr>
            <a:fld id="{44A78CE9-F3A6-4BE0-A19F-02956B120881}" type="slidenum">
              <a:rPr lang="en-US" altLang="zh-CN"/>
              <a:pPr>
                <a:defRPr/>
              </a:pPr>
              <a:t>108</a:t>
            </a:fld>
            <a:endParaRPr lang="en-US" altLang="zh-CN"/>
          </a:p>
        </p:txBody>
      </p:sp>
      <p:sp>
        <p:nvSpPr>
          <p:cNvPr id="115717" name="Text Box 2"/>
          <p:cNvSpPr txBox="1">
            <a:spLocks noChangeArrowheads="1"/>
          </p:cNvSpPr>
          <p:nvPr/>
        </p:nvSpPr>
        <p:spPr bwMode="auto">
          <a:xfrm>
            <a:off x="1331913" y="692150"/>
            <a:ext cx="655320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en-US" altLang="zh-CN" sz="4800" b="1" dirty="0" smtClean="0">
                <a:solidFill>
                  <a:schemeClr val="bg1"/>
                </a:solidFill>
                <a:latin typeface="宋体" panose="02010600030101010101" pitchFamily="2" charset="-122"/>
                <a:ea typeface="宋体" panose="02010600030101010101" pitchFamily="2" charset="-122"/>
              </a:rPr>
              <a:t>RSA</a:t>
            </a:r>
            <a:r>
              <a:rPr lang="zh-CN" altLang="en-US" sz="4800" b="1" dirty="0" smtClean="0">
                <a:solidFill>
                  <a:schemeClr val="bg1"/>
                </a:solidFill>
                <a:latin typeface="宋体" panose="02010600030101010101" pitchFamily="2" charset="-122"/>
                <a:ea typeface="宋体" panose="02010600030101010101" pitchFamily="2" charset="-122"/>
              </a:rPr>
              <a:t>加密</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15718"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折角形 1"/>
          <p:cNvSpPr/>
          <p:nvPr/>
        </p:nvSpPr>
        <p:spPr bwMode="auto">
          <a:xfrm>
            <a:off x="685008" y="1789262"/>
            <a:ext cx="1726751" cy="631626"/>
          </a:xfrm>
          <a:prstGeom prst="foldedCorner">
            <a:avLst>
              <a:gd name="adj" fmla="val 26446"/>
            </a:avLst>
          </a:prstGeom>
          <a:solidFill>
            <a:srgbClr val="CD58D6"/>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3" name="文本框 2"/>
          <p:cNvSpPr txBox="1"/>
          <p:nvPr/>
        </p:nvSpPr>
        <p:spPr>
          <a:xfrm>
            <a:off x="615768" y="1920409"/>
            <a:ext cx="1727547" cy="369332"/>
          </a:xfrm>
          <a:prstGeom prst="rect">
            <a:avLst/>
          </a:prstGeom>
          <a:noFill/>
        </p:spPr>
        <p:txBody>
          <a:bodyPr wrap="square" rtlCol="0">
            <a:spAutoFit/>
          </a:bodyPr>
          <a:lstStyle/>
          <a:p>
            <a:r>
              <a:rPr lang="en-US" altLang="zh-CN" sz="1800" b="1" dirty="0" smtClean="0"/>
              <a:t>Ⅰ.</a:t>
            </a:r>
            <a:r>
              <a:rPr lang="zh-CN" altLang="zh-CN" sz="1800" b="1" dirty="0" smtClean="0"/>
              <a:t>密钥</a:t>
            </a:r>
            <a:r>
              <a:rPr lang="zh-CN" altLang="zh-CN" sz="1800" b="1" dirty="0"/>
              <a:t>的生成</a:t>
            </a:r>
            <a:endParaRPr lang="zh-CN" altLang="en-US" sz="1800" dirty="0"/>
          </a:p>
        </p:txBody>
      </p:sp>
      <mc:AlternateContent xmlns:mc="http://schemas.openxmlformats.org/markup-compatibility/2006" xmlns:a14="http://schemas.microsoft.com/office/drawing/2010/main">
        <mc:Choice Requires="a14">
          <p:sp>
            <p:nvSpPr>
              <p:cNvPr id="4" name="文本框 3"/>
              <p:cNvSpPr txBox="1"/>
              <p:nvPr/>
            </p:nvSpPr>
            <p:spPr>
              <a:xfrm>
                <a:off x="1571674" y="2552035"/>
                <a:ext cx="6000651" cy="584775"/>
              </a:xfrm>
              <a:prstGeom prst="rect">
                <a:avLst/>
              </a:prstGeom>
              <a:solidFill>
                <a:schemeClr val="accent1"/>
              </a:solidFill>
            </p:spPr>
            <p:txBody>
              <a:bodyPr wrap="square" rtlCol="0">
                <a:spAutoFit/>
              </a:bodyPr>
              <a:lstStyle/>
              <a:p>
                <a:r>
                  <a:rPr lang="zh-CN" altLang="en-US" sz="1600" dirty="0" smtClean="0"/>
                  <a:t>①</a:t>
                </a:r>
                <a:r>
                  <a:rPr lang="zh-CN" altLang="zh-CN" sz="1600" dirty="0" smtClean="0"/>
                  <a:t>生成</a:t>
                </a:r>
                <a:r>
                  <a:rPr lang="zh-CN" altLang="zh-CN" sz="1600" dirty="0"/>
                  <a:t>两个互不相同的大素数</a:t>
                </a:r>
                <a:r>
                  <a:rPr lang="en-US" altLang="zh-CN" sz="1600" i="1" dirty="0"/>
                  <a:t>p</a:t>
                </a:r>
                <a:r>
                  <a:rPr lang="zh-CN" altLang="zh-CN" sz="1600" dirty="0"/>
                  <a:t>和</a:t>
                </a:r>
                <a:r>
                  <a:rPr lang="en-US" altLang="zh-CN" sz="1600" i="1" dirty="0"/>
                  <a:t>q</a:t>
                </a:r>
                <a:r>
                  <a:rPr lang="zh-CN" altLang="zh-CN" sz="1600" dirty="0"/>
                  <a:t>，并令</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𝑝</m:t>
                    </m:r>
                    <m:r>
                      <a:rPr lang="en-US" altLang="zh-CN" sz="1600" i="1">
                        <a:latin typeface="Cambria Math" panose="02040503050406030204" pitchFamily="18" charset="0"/>
                      </a:rPr>
                      <m:t>∙</m:t>
                    </m:r>
                    <m:r>
                      <a:rPr lang="en-US" altLang="zh-CN" sz="1600" i="1">
                        <a:latin typeface="Cambria Math" panose="02040503050406030204" pitchFamily="18" charset="0"/>
                      </a:rPr>
                      <m:t>𝑞</m:t>
                    </m:r>
                  </m:oMath>
                </a14:m>
                <a:r>
                  <a:rPr lang="zh-CN" altLang="zh-CN" sz="1600" dirty="0"/>
                  <a:t>。其中</a:t>
                </a:r>
                <a:r>
                  <a:rPr lang="en-US" altLang="zh-CN" sz="1600" i="1" dirty="0"/>
                  <a:t>p</a:t>
                </a:r>
                <a:r>
                  <a:rPr lang="zh-CN" altLang="zh-CN" sz="1600" dirty="0"/>
                  <a:t>和</a:t>
                </a:r>
                <a:r>
                  <a:rPr lang="en-US" altLang="zh-CN" sz="1600" i="1" dirty="0"/>
                  <a:t>q</a:t>
                </a:r>
                <a:r>
                  <a:rPr lang="zh-CN" altLang="zh-CN" sz="1600" dirty="0"/>
                  <a:t>是属于解密信息，不可对外公开</a:t>
                </a:r>
                <a:endParaRPr lang="zh-CN" altLang="en-US" sz="1600" dirty="0"/>
              </a:p>
            </p:txBody>
          </p:sp>
        </mc:Choice>
        <mc:Fallback xmlns="">
          <p:sp>
            <p:nvSpPr>
              <p:cNvPr id="4" name="文本框 3"/>
              <p:cNvSpPr txBox="1">
                <a:spLocks noRot="1" noChangeAspect="1" noMove="1" noResize="1" noEditPoints="1" noAdjustHandles="1" noChangeArrowheads="1" noChangeShapeType="1" noTextEdit="1"/>
              </p:cNvSpPr>
              <p:nvPr/>
            </p:nvSpPr>
            <p:spPr>
              <a:xfrm>
                <a:off x="1571674" y="2552035"/>
                <a:ext cx="6000651" cy="584775"/>
              </a:xfrm>
              <a:prstGeom prst="rect">
                <a:avLst/>
              </a:prstGeom>
              <a:blipFill rotWithShape="0">
                <a:blip r:embed="rId4"/>
                <a:stretch>
                  <a:fillRect l="-610" t="-4167"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608913" y="4176228"/>
                <a:ext cx="5999197" cy="584775"/>
              </a:xfrm>
              <a:prstGeom prst="rect">
                <a:avLst/>
              </a:prstGeom>
              <a:solidFill>
                <a:srgbClr val="CD58D6"/>
              </a:solidFill>
            </p:spPr>
            <p:txBody>
              <a:bodyPr wrap="square" rtlCol="0">
                <a:spAutoFit/>
              </a:bodyPr>
              <a:lstStyle/>
              <a:p>
                <a:r>
                  <a:rPr lang="zh-CN" altLang="en-US" sz="1600" dirty="0" smtClean="0"/>
                  <a:t>②</a:t>
                </a:r>
                <a:r>
                  <a:rPr lang="zh-CN" altLang="zh-CN" sz="1600" dirty="0" smtClean="0"/>
                  <a:t>令</a:t>
                </a:r>
                <a14:m>
                  <m:oMath xmlns:m="http://schemas.openxmlformats.org/officeDocument/2006/math">
                    <m:r>
                      <a:rPr lang="en-US" altLang="zh-CN" sz="1600">
                        <a:latin typeface="Cambria Math" panose="02040503050406030204" pitchFamily="18" charset="0"/>
                      </a:rPr>
                      <m:t>𝜑</m:t>
                    </m:r>
                    <m:d>
                      <m:dPr>
                        <m:ctrlPr>
                          <a:rPr lang="zh-CN" altLang="zh-CN" sz="1600" i="1">
                            <a:latin typeface="Cambria Math" panose="02040503050406030204" pitchFamily="18" charset="0"/>
                          </a:rPr>
                        </m:ctrlPr>
                      </m:dPr>
                      <m:e>
                        <m:r>
                          <a:rPr lang="en-US" altLang="zh-CN" sz="1600">
                            <a:latin typeface="Cambria Math" panose="02040503050406030204" pitchFamily="18" charset="0"/>
                          </a:rPr>
                          <m:t>𝑛</m:t>
                        </m:r>
                      </m:e>
                    </m:d>
                    <m:r>
                      <a:rPr lang="en-US" altLang="zh-CN" sz="1600">
                        <a:latin typeface="Cambria Math" panose="02040503050406030204" pitchFamily="18" charset="0"/>
                      </a:rPr>
                      <m:t>=(</m:t>
                    </m:r>
                    <m:r>
                      <a:rPr lang="en-US" altLang="zh-CN" sz="1600">
                        <a:latin typeface="Cambria Math" panose="02040503050406030204" pitchFamily="18" charset="0"/>
                      </a:rPr>
                      <m:t>𝑝</m:t>
                    </m:r>
                    <m:r>
                      <a:rPr lang="en-US" altLang="zh-CN" sz="1600">
                        <a:latin typeface="Cambria Math" panose="02040503050406030204" pitchFamily="18" charset="0"/>
                      </a:rPr>
                      <m:t>−1)(</m:t>
                    </m:r>
                    <m:r>
                      <a:rPr lang="en-US" altLang="zh-CN" sz="1600">
                        <a:latin typeface="Cambria Math" panose="02040503050406030204" pitchFamily="18" charset="0"/>
                      </a:rPr>
                      <m:t>𝑞</m:t>
                    </m:r>
                    <m:r>
                      <a:rPr lang="en-US" altLang="zh-CN" sz="1600">
                        <a:latin typeface="Cambria Math" panose="02040503050406030204" pitchFamily="18" charset="0"/>
                      </a:rPr>
                      <m:t>−1)</m:t>
                    </m:r>
                  </m:oMath>
                </a14:m>
                <a:r>
                  <a:rPr lang="zh-CN" altLang="zh-CN" sz="1600" dirty="0"/>
                  <a:t>，并任意选择一个与</a:t>
                </a:r>
                <a14:m>
                  <m:oMath xmlns:m="http://schemas.openxmlformats.org/officeDocument/2006/math">
                    <m:r>
                      <a:rPr lang="en-US" altLang="zh-CN" sz="1600">
                        <a:latin typeface="Cambria Math" panose="02040503050406030204" pitchFamily="18" charset="0"/>
                      </a:rPr>
                      <m:t>𝜑</m:t>
                    </m:r>
                    <m:d>
                      <m:dPr>
                        <m:ctrlPr>
                          <a:rPr lang="zh-CN" altLang="zh-CN" sz="1600" i="1">
                            <a:latin typeface="Cambria Math" panose="02040503050406030204" pitchFamily="18" charset="0"/>
                          </a:rPr>
                        </m:ctrlPr>
                      </m:dPr>
                      <m:e>
                        <m:r>
                          <a:rPr lang="en-US" altLang="zh-CN" sz="1600">
                            <a:latin typeface="Cambria Math" panose="02040503050406030204" pitchFamily="18" charset="0"/>
                          </a:rPr>
                          <m:t>𝑛</m:t>
                        </m:r>
                      </m:e>
                    </m:d>
                  </m:oMath>
                </a14:m>
                <a:r>
                  <a:rPr lang="zh-CN" altLang="zh-CN" sz="1600" dirty="0"/>
                  <a:t>互素的正整数</a:t>
                </a:r>
                <a:r>
                  <a:rPr lang="en-US" altLang="zh-CN" sz="1600" dirty="0"/>
                  <a:t>e</a:t>
                </a:r>
                <a:r>
                  <a:rPr lang="zh-CN" altLang="zh-CN" sz="1600" dirty="0"/>
                  <a:t>，满足</a:t>
                </a:r>
                <a:r>
                  <a:rPr lang="zh-CN" altLang="zh-CN" sz="1600" dirty="0" smtClean="0"/>
                  <a:t>：</a:t>
                </a:r>
                <a:r>
                  <a:rPr lang="en-US" altLang="zh-CN" sz="1600" dirty="0" smtClean="0"/>
                  <a:t>  </a:t>
                </a:r>
                <a14:m>
                  <m:oMath xmlns:m="http://schemas.openxmlformats.org/officeDocument/2006/math">
                    <m:r>
                      <a:rPr lang="en-US" altLang="zh-CN" sz="1600">
                        <a:latin typeface="Cambria Math" panose="02040503050406030204" pitchFamily="18" charset="0"/>
                      </a:rPr>
                      <m:t>2≤</m:t>
                    </m:r>
                    <m:r>
                      <a:rPr lang="en-US" altLang="zh-CN" sz="1600">
                        <a:latin typeface="Cambria Math" panose="02040503050406030204" pitchFamily="18" charset="0"/>
                      </a:rPr>
                      <m:t>𝑒</m:t>
                    </m:r>
                    <m:r>
                      <a:rPr lang="en-US" altLang="zh-CN" sz="1600">
                        <a:latin typeface="Cambria Math" panose="02040503050406030204" pitchFamily="18" charset="0"/>
                      </a:rPr>
                      <m:t>≤</m:t>
                    </m:r>
                    <m:r>
                      <a:rPr lang="en-US" altLang="zh-CN" sz="1600">
                        <a:latin typeface="Cambria Math" panose="02040503050406030204" pitchFamily="18" charset="0"/>
                      </a:rPr>
                      <m:t>𝜑</m:t>
                    </m:r>
                    <m:d>
                      <m:dPr>
                        <m:ctrlPr>
                          <a:rPr lang="zh-CN" altLang="zh-CN" sz="1600" i="1">
                            <a:latin typeface="Cambria Math" panose="02040503050406030204" pitchFamily="18" charset="0"/>
                          </a:rPr>
                        </m:ctrlPr>
                      </m:dPr>
                      <m:e>
                        <m:r>
                          <a:rPr lang="en-US" altLang="zh-CN" sz="1600">
                            <a:latin typeface="Cambria Math" panose="02040503050406030204" pitchFamily="18" charset="0"/>
                          </a:rPr>
                          <m:t>𝑛</m:t>
                        </m:r>
                      </m:e>
                    </m:d>
                  </m:oMath>
                </a14:m>
                <a:r>
                  <a:rPr lang="en-US" altLang="zh-CN" sz="1600" dirty="0"/>
                  <a:t> </a:t>
                </a:r>
                <a:endParaRPr lang="zh-CN" altLang="en-US" sz="16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1608913" y="4176228"/>
                <a:ext cx="5999197" cy="584775"/>
              </a:xfrm>
              <a:prstGeom prst="rect">
                <a:avLst/>
              </a:prstGeom>
              <a:blipFill rotWithShape="0">
                <a:blip r:embed="rId5"/>
                <a:stretch>
                  <a:fillRect l="-610" t="-4167" b="-114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1608913" y="5743881"/>
                <a:ext cx="5999197" cy="584775"/>
              </a:xfrm>
              <a:prstGeom prst="rect">
                <a:avLst/>
              </a:prstGeom>
              <a:solidFill>
                <a:srgbClr val="0099FF"/>
              </a:solidFill>
            </p:spPr>
            <p:txBody>
              <a:bodyPr wrap="square" rtlCol="0">
                <a:spAutoFit/>
              </a:bodyPr>
              <a:lstStyle/>
              <a:p>
                <a:r>
                  <a:rPr lang="zh-CN" altLang="en-US" sz="1600" dirty="0" smtClean="0"/>
                  <a:t>③</a:t>
                </a:r>
                <a:r>
                  <a:rPr lang="zh-CN" altLang="zh-CN" sz="1600" dirty="0" smtClean="0"/>
                  <a:t>算</a:t>
                </a:r>
                <a:r>
                  <a:rPr lang="zh-CN" altLang="zh-CN" sz="1600" dirty="0"/>
                  <a:t>出</a:t>
                </a:r>
                <a:r>
                  <a:rPr lang="en-US" altLang="zh-CN" sz="1600" i="1" dirty="0"/>
                  <a:t>e</a:t>
                </a:r>
                <a:r>
                  <a:rPr lang="zh-CN" altLang="zh-CN" sz="1600" dirty="0"/>
                  <a:t>的模</a:t>
                </a:r>
                <a14:m>
                  <m:oMath xmlns:m="http://schemas.openxmlformats.org/officeDocument/2006/math">
                    <m:r>
                      <a:rPr lang="en-US" altLang="zh-CN" sz="1600" i="1">
                        <a:latin typeface="Cambria Math" panose="02040503050406030204" pitchFamily="18" charset="0"/>
                      </a:rPr>
                      <m:t>𝜑</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oMath>
                </a14:m>
                <a:r>
                  <a:rPr lang="zh-CN" altLang="zh-CN" sz="1600" dirty="0"/>
                  <a:t>同余逆</a:t>
                </a:r>
                <a:r>
                  <a:rPr lang="en-US" altLang="zh-CN" sz="1600" i="1" dirty="0"/>
                  <a:t>d</a:t>
                </a:r>
                <a:r>
                  <a:rPr lang="zh-CN" altLang="zh-CN" sz="1600" dirty="0"/>
                  <a:t>，使其满足：</a:t>
                </a:r>
              </a:p>
              <a:p>
                <a:r>
                  <a:rPr lang="en-US" altLang="zh-CN" sz="1600" dirty="0"/>
                  <a:t>                        </a:t>
                </a:r>
                <a14:m>
                  <m:oMath xmlns:m="http://schemas.openxmlformats.org/officeDocument/2006/math">
                    <m:r>
                      <a:rPr lang="en-US" altLang="zh-CN" sz="1600" i="1">
                        <a:latin typeface="Cambria Math" panose="02040503050406030204" pitchFamily="18" charset="0"/>
                      </a:rPr>
                      <m:t>𝑒𝑑</m:t>
                    </m:r>
                    <m:r>
                      <a:rPr lang="en-US" altLang="zh-CN" sz="1600" i="1">
                        <a:latin typeface="Cambria Math" panose="02040503050406030204" pitchFamily="18" charset="0"/>
                      </a:rPr>
                      <m:t>≡1(</m:t>
                    </m:r>
                    <m:r>
                      <m:rPr>
                        <m:nor/>
                      </m:rPr>
                      <a:rPr lang="en-US" altLang="zh-CN" sz="1600"/>
                      <m:t> </m:t>
                    </m:r>
                    <m:r>
                      <m:rPr>
                        <m:nor/>
                      </m:rPr>
                      <a:rPr lang="en-US" altLang="zh-CN" sz="1600"/>
                      <m:t>mod</m:t>
                    </m:r>
                    <m:r>
                      <a:rPr lang="en-US" altLang="zh-CN" sz="1600" i="1">
                        <a:latin typeface="Cambria Math" panose="02040503050406030204" pitchFamily="18" charset="0"/>
                      </a:rPr>
                      <m:t> </m:t>
                    </m:r>
                    <m:r>
                      <a:rPr lang="en-US" altLang="zh-CN" sz="1600" i="1">
                        <a:latin typeface="Cambria Math" panose="02040503050406030204" pitchFamily="18" charset="0"/>
                      </a:rPr>
                      <m:t>𝜑</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i="1">
                        <a:latin typeface="Cambria Math" panose="02040503050406030204" pitchFamily="18" charset="0"/>
                      </a:rPr>
                      <m:t>)</m:t>
                    </m:r>
                  </m:oMath>
                </a14:m>
                <a:r>
                  <a:rPr lang="en-US" altLang="zh-CN" sz="1600" dirty="0"/>
                  <a:t> </a:t>
                </a:r>
                <a:endParaRPr lang="zh-CN" altLang="en-US" sz="16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608913" y="5743881"/>
                <a:ext cx="5999197" cy="584775"/>
              </a:xfrm>
              <a:prstGeom prst="rect">
                <a:avLst/>
              </a:prstGeom>
              <a:blipFill rotWithShape="0">
                <a:blip r:embed="rId6"/>
                <a:stretch>
                  <a:fillRect l="-610" t="-4167" b="-7292"/>
                </a:stretch>
              </a:blipFill>
            </p:spPr>
            <p:txBody>
              <a:bodyPr/>
              <a:lstStyle/>
              <a:p>
                <a:r>
                  <a:rPr lang="zh-CN" altLang="en-US">
                    <a:noFill/>
                  </a:rPr>
                  <a:t> </a:t>
                </a:r>
              </a:p>
            </p:txBody>
          </p:sp>
        </mc:Fallback>
      </mc:AlternateContent>
      <p:sp>
        <p:nvSpPr>
          <p:cNvPr id="12" name="左大括号 11"/>
          <p:cNvSpPr/>
          <p:nvPr/>
        </p:nvSpPr>
        <p:spPr bwMode="auto">
          <a:xfrm>
            <a:off x="1095492" y="2629978"/>
            <a:ext cx="384050" cy="3542682"/>
          </a:xfrm>
          <a:prstGeom prst="leftBrace">
            <a:avLst>
              <a:gd name="adj1" fmla="val 44272"/>
              <a:gd name="adj2" fmla="val 50000"/>
            </a:avLst>
          </a:prstGeom>
          <a:noFill/>
          <a:ln w="25400" cap="flat" cmpd="sng" algn="ctr">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3" name="上箭头标注 12"/>
          <p:cNvSpPr/>
          <p:nvPr/>
        </p:nvSpPr>
        <p:spPr bwMode="auto">
          <a:xfrm>
            <a:off x="2699792" y="3136810"/>
            <a:ext cx="3521265" cy="959806"/>
          </a:xfrm>
          <a:prstGeom prst="upArrowCallout">
            <a:avLst>
              <a:gd name="adj1" fmla="val 16012"/>
              <a:gd name="adj2" fmla="val 19607"/>
              <a:gd name="adj3" fmla="val 16012"/>
              <a:gd name="adj4" fmla="val 78459"/>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4" name="文本框 13"/>
          <p:cNvSpPr txBox="1"/>
          <p:nvPr/>
        </p:nvSpPr>
        <p:spPr>
          <a:xfrm>
            <a:off x="2777517" y="3444490"/>
            <a:ext cx="3449257" cy="523220"/>
          </a:xfrm>
          <a:prstGeom prst="rect">
            <a:avLst/>
          </a:prstGeom>
          <a:noFill/>
        </p:spPr>
        <p:txBody>
          <a:bodyPr wrap="square" rtlCol="0">
            <a:spAutoFit/>
          </a:bodyPr>
          <a:lstStyle/>
          <a:p>
            <a:r>
              <a:rPr lang="en-US" altLang="zh-CN" sz="1400" i="1" dirty="0">
                <a:solidFill>
                  <a:srgbClr val="C00000"/>
                </a:solidFill>
                <a:latin typeface="方正舒体" panose="02010601030101010101" pitchFamily="2" charset="-122"/>
                <a:ea typeface="方正舒体" panose="02010601030101010101" pitchFamily="2" charset="-122"/>
              </a:rPr>
              <a:t>p</a:t>
            </a:r>
            <a:r>
              <a:rPr lang="zh-CN" altLang="zh-CN" sz="1400" dirty="0">
                <a:solidFill>
                  <a:srgbClr val="C00000"/>
                </a:solidFill>
                <a:latin typeface="方正舒体" panose="02010601030101010101" pitchFamily="2" charset="-122"/>
                <a:ea typeface="方正舒体" panose="02010601030101010101" pitchFamily="2" charset="-122"/>
              </a:rPr>
              <a:t>和</a:t>
            </a:r>
            <a:r>
              <a:rPr lang="en-US" altLang="zh-CN" sz="1400" i="1" dirty="0">
                <a:solidFill>
                  <a:srgbClr val="C00000"/>
                </a:solidFill>
                <a:latin typeface="方正舒体" panose="02010601030101010101" pitchFamily="2" charset="-122"/>
                <a:ea typeface="方正舒体" panose="02010601030101010101" pitchFamily="2" charset="-122"/>
              </a:rPr>
              <a:t>q</a:t>
            </a:r>
            <a:r>
              <a:rPr lang="zh-CN" altLang="zh-CN" sz="1400" dirty="0">
                <a:solidFill>
                  <a:srgbClr val="C00000"/>
                </a:solidFill>
                <a:latin typeface="方正舒体" panose="02010601030101010101" pitchFamily="2" charset="-122"/>
                <a:ea typeface="方正舒体" panose="02010601030101010101" pitchFamily="2" charset="-122"/>
              </a:rPr>
              <a:t>是属于解密信息，不可对外公开，整数</a:t>
            </a:r>
            <a:r>
              <a:rPr lang="en-US" altLang="zh-CN" sz="1400" i="1" dirty="0">
                <a:solidFill>
                  <a:srgbClr val="C00000"/>
                </a:solidFill>
                <a:latin typeface="方正舒体" panose="02010601030101010101" pitchFamily="2" charset="-122"/>
                <a:ea typeface="方正舒体" panose="02010601030101010101" pitchFamily="2" charset="-122"/>
              </a:rPr>
              <a:t>n</a:t>
            </a:r>
            <a:r>
              <a:rPr lang="zh-CN" altLang="zh-CN" sz="1400" dirty="0">
                <a:solidFill>
                  <a:srgbClr val="C00000"/>
                </a:solidFill>
                <a:latin typeface="方正舒体" panose="02010601030101010101" pitchFamily="2" charset="-122"/>
                <a:ea typeface="方正舒体" panose="02010601030101010101" pitchFamily="2" charset="-122"/>
              </a:rPr>
              <a:t>属于加密信息，需要对外公开。</a:t>
            </a:r>
            <a:endParaRPr lang="zh-CN" altLang="en-US" sz="1400" dirty="0">
              <a:solidFill>
                <a:srgbClr val="C00000"/>
              </a:solidFill>
              <a:latin typeface="方正舒体" panose="02010601030101010101" pitchFamily="2" charset="-122"/>
              <a:ea typeface="方正舒体" panose="02010601030101010101" pitchFamily="2" charset="-122"/>
            </a:endParaRPr>
          </a:p>
        </p:txBody>
      </p:sp>
      <p:sp>
        <p:nvSpPr>
          <p:cNvPr id="17" name="上箭头标注 16"/>
          <p:cNvSpPr/>
          <p:nvPr/>
        </p:nvSpPr>
        <p:spPr bwMode="auto">
          <a:xfrm>
            <a:off x="2497191" y="4756969"/>
            <a:ext cx="3911993" cy="959806"/>
          </a:xfrm>
          <a:prstGeom prst="upArrowCallout">
            <a:avLst>
              <a:gd name="adj1" fmla="val 16012"/>
              <a:gd name="adj2" fmla="val 19607"/>
              <a:gd name="adj3" fmla="val 16012"/>
              <a:gd name="adj4" fmla="val 78459"/>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8" name="文本框 17"/>
              <p:cNvSpPr txBox="1"/>
              <p:nvPr/>
            </p:nvSpPr>
            <p:spPr>
              <a:xfrm>
                <a:off x="2472754" y="4978699"/>
                <a:ext cx="4080446" cy="738664"/>
              </a:xfrm>
              <a:prstGeom prst="rect">
                <a:avLst/>
              </a:prstGeom>
              <a:noFill/>
            </p:spPr>
            <p:txBody>
              <a:bodyPr wrap="square" rtlCol="0">
                <a:spAutoFit/>
              </a:bodyPr>
              <a:lstStyle/>
              <a:p>
                <a:r>
                  <a:rPr lang="zh-CN" altLang="zh-CN" sz="1400" i="1" dirty="0">
                    <a:solidFill>
                      <a:srgbClr val="C00000"/>
                    </a:solidFill>
                    <a:latin typeface="方正舒体" panose="02010601030101010101" pitchFamily="2" charset="-122"/>
                    <a:ea typeface="方正舒体" panose="02010601030101010101" pitchFamily="2" charset="-122"/>
                  </a:rPr>
                  <a:t>由计数的乘法原理及素数的性质可知，小于</a:t>
                </a:r>
                <a14:m>
                  <m:oMath xmlns:m="http://schemas.openxmlformats.org/officeDocument/2006/math">
                    <m:r>
                      <a:rPr lang="en-US" altLang="zh-CN" sz="1400" i="1">
                        <a:solidFill>
                          <a:srgbClr val="C00000"/>
                        </a:solidFill>
                        <a:latin typeface="Cambria Math" panose="02040503050406030204" pitchFamily="18" charset="0"/>
                        <a:ea typeface="方正舒体" panose="02010601030101010101" pitchFamily="2" charset="-122"/>
                      </a:rPr>
                      <m:t>𝑛</m:t>
                    </m:r>
                  </m:oMath>
                </a14:m>
                <a:r>
                  <a:rPr lang="zh-CN" altLang="zh-CN" sz="1400" i="1" dirty="0">
                    <a:solidFill>
                      <a:srgbClr val="C00000"/>
                    </a:solidFill>
                    <a:latin typeface="方正舒体" panose="02010601030101010101" pitchFamily="2" charset="-122"/>
                    <a:ea typeface="方正舒体" panose="02010601030101010101" pitchFamily="2" charset="-122"/>
                  </a:rPr>
                  <a:t>且与</a:t>
                </a:r>
                <a14:m>
                  <m:oMath xmlns:m="http://schemas.openxmlformats.org/officeDocument/2006/math">
                    <m:r>
                      <a:rPr lang="en-US" altLang="zh-CN" sz="1400" i="1">
                        <a:solidFill>
                          <a:srgbClr val="C00000"/>
                        </a:solidFill>
                        <a:latin typeface="Cambria Math" panose="02040503050406030204" pitchFamily="18" charset="0"/>
                        <a:ea typeface="方正舒体" panose="02010601030101010101" pitchFamily="2" charset="-122"/>
                      </a:rPr>
                      <m:t>𝑛</m:t>
                    </m:r>
                  </m:oMath>
                </a14:m>
                <a:r>
                  <a:rPr lang="zh-CN" altLang="zh-CN" sz="1400" i="1" dirty="0">
                    <a:solidFill>
                      <a:srgbClr val="C00000"/>
                    </a:solidFill>
                    <a:latin typeface="方正舒体" panose="02010601030101010101" pitchFamily="2" charset="-122"/>
                    <a:ea typeface="方正舒体" panose="02010601030101010101" pitchFamily="2" charset="-122"/>
                  </a:rPr>
                  <a:t>互素的非负整数的个数为</a:t>
                </a:r>
                <a14:m>
                  <m:oMath xmlns:m="http://schemas.openxmlformats.org/officeDocument/2006/math">
                    <m:r>
                      <a:rPr lang="en-US" altLang="zh-CN" sz="1400" i="1">
                        <a:solidFill>
                          <a:srgbClr val="C00000"/>
                        </a:solidFill>
                        <a:latin typeface="Cambria Math" panose="02040503050406030204" pitchFamily="18" charset="0"/>
                        <a:ea typeface="方正舒体" panose="02010601030101010101" pitchFamily="2" charset="-122"/>
                      </a:rPr>
                      <m:t>(</m:t>
                    </m:r>
                    <m:r>
                      <a:rPr lang="en-US" altLang="zh-CN" sz="1400" i="1">
                        <a:solidFill>
                          <a:srgbClr val="C00000"/>
                        </a:solidFill>
                        <a:latin typeface="Cambria Math" panose="02040503050406030204" pitchFamily="18" charset="0"/>
                        <a:ea typeface="方正舒体" panose="02010601030101010101" pitchFamily="2" charset="-122"/>
                      </a:rPr>
                      <m:t>𝑝</m:t>
                    </m:r>
                    <m:r>
                      <a:rPr lang="en-US" altLang="zh-CN" sz="1400" i="1">
                        <a:solidFill>
                          <a:srgbClr val="C00000"/>
                        </a:solidFill>
                        <a:latin typeface="Cambria Math" panose="02040503050406030204" pitchFamily="18" charset="0"/>
                        <a:ea typeface="方正舒体" panose="02010601030101010101" pitchFamily="2" charset="-122"/>
                      </a:rPr>
                      <m:t>−1) (</m:t>
                    </m:r>
                    <m:r>
                      <a:rPr lang="en-US" altLang="zh-CN" sz="1400" i="1">
                        <a:solidFill>
                          <a:srgbClr val="C00000"/>
                        </a:solidFill>
                        <a:latin typeface="Cambria Math" panose="02040503050406030204" pitchFamily="18" charset="0"/>
                        <a:ea typeface="方正舒体" panose="02010601030101010101" pitchFamily="2" charset="-122"/>
                      </a:rPr>
                      <m:t>𝑞</m:t>
                    </m:r>
                    <m:r>
                      <a:rPr lang="en-US" altLang="zh-CN" sz="1400" i="1">
                        <a:solidFill>
                          <a:srgbClr val="C00000"/>
                        </a:solidFill>
                        <a:latin typeface="Cambria Math" panose="02040503050406030204" pitchFamily="18" charset="0"/>
                        <a:ea typeface="方正舒体" panose="02010601030101010101" pitchFamily="2" charset="-122"/>
                      </a:rPr>
                      <m:t>−1)</m:t>
                    </m:r>
                  </m:oMath>
                </a14:m>
                <a:r>
                  <a:rPr lang="zh-CN" altLang="zh-CN" sz="1400" i="1" dirty="0">
                    <a:solidFill>
                      <a:srgbClr val="C00000"/>
                    </a:solidFill>
                    <a:latin typeface="方正舒体" panose="02010601030101010101" pitchFamily="2" charset="-122"/>
                    <a:ea typeface="方正舒体" panose="02010601030101010101" pitchFamily="2" charset="-122"/>
                  </a:rPr>
                  <a:t>个，因此，</a:t>
                </a:r>
                <a14:m>
                  <m:oMath xmlns:m="http://schemas.openxmlformats.org/officeDocument/2006/math">
                    <m:r>
                      <a:rPr lang="en-US" altLang="zh-CN" sz="1400" i="1">
                        <a:solidFill>
                          <a:srgbClr val="C00000"/>
                        </a:solidFill>
                        <a:latin typeface="Cambria Math" panose="02040503050406030204" pitchFamily="18" charset="0"/>
                        <a:ea typeface="方正舒体" panose="02010601030101010101" pitchFamily="2" charset="-122"/>
                      </a:rPr>
                      <m:t>𝜑</m:t>
                    </m:r>
                    <m:d>
                      <m:dPr>
                        <m:ctrlPr>
                          <a:rPr lang="zh-CN" altLang="zh-CN" sz="1400" i="1">
                            <a:solidFill>
                              <a:srgbClr val="C00000"/>
                            </a:solidFill>
                            <a:latin typeface="Cambria Math" panose="02040503050406030204" pitchFamily="18" charset="0"/>
                            <a:ea typeface="方正舒体" panose="02010601030101010101" pitchFamily="2" charset="-122"/>
                          </a:rPr>
                        </m:ctrlPr>
                      </m:dPr>
                      <m:e>
                        <m:r>
                          <a:rPr lang="en-US" altLang="zh-CN" sz="1400" i="1">
                            <a:solidFill>
                              <a:srgbClr val="C00000"/>
                            </a:solidFill>
                            <a:latin typeface="Cambria Math" panose="02040503050406030204" pitchFamily="18" charset="0"/>
                            <a:ea typeface="方正舒体" panose="02010601030101010101" pitchFamily="2" charset="-122"/>
                          </a:rPr>
                          <m:t>𝑛</m:t>
                        </m:r>
                      </m:e>
                    </m:d>
                    <m:r>
                      <a:rPr lang="en-US" altLang="zh-CN" sz="1400" i="1">
                        <a:solidFill>
                          <a:srgbClr val="C00000"/>
                        </a:solidFill>
                        <a:latin typeface="Cambria Math" panose="02040503050406030204" pitchFamily="18" charset="0"/>
                        <a:ea typeface="方正舒体" panose="02010601030101010101" pitchFamily="2" charset="-122"/>
                      </a:rPr>
                      <m:t>=(</m:t>
                    </m:r>
                    <m:r>
                      <a:rPr lang="en-US" altLang="zh-CN" sz="1400" i="1">
                        <a:solidFill>
                          <a:srgbClr val="C00000"/>
                        </a:solidFill>
                        <a:latin typeface="Cambria Math" panose="02040503050406030204" pitchFamily="18" charset="0"/>
                        <a:ea typeface="方正舒体" panose="02010601030101010101" pitchFamily="2" charset="-122"/>
                      </a:rPr>
                      <m:t>𝑝</m:t>
                    </m:r>
                    <m:r>
                      <a:rPr lang="en-US" altLang="zh-CN" sz="1400" i="1">
                        <a:solidFill>
                          <a:srgbClr val="C00000"/>
                        </a:solidFill>
                        <a:latin typeface="Cambria Math" panose="02040503050406030204" pitchFamily="18" charset="0"/>
                        <a:ea typeface="方正舒体" panose="02010601030101010101" pitchFamily="2" charset="-122"/>
                      </a:rPr>
                      <m:t>−1)(</m:t>
                    </m:r>
                    <m:r>
                      <a:rPr lang="en-US" altLang="zh-CN" sz="1400" i="1">
                        <a:solidFill>
                          <a:srgbClr val="C00000"/>
                        </a:solidFill>
                        <a:latin typeface="Cambria Math" panose="02040503050406030204" pitchFamily="18" charset="0"/>
                        <a:ea typeface="方正舒体" panose="02010601030101010101" pitchFamily="2" charset="-122"/>
                      </a:rPr>
                      <m:t>𝑞</m:t>
                    </m:r>
                    <m:r>
                      <a:rPr lang="en-US" altLang="zh-CN" sz="1400" i="1">
                        <a:solidFill>
                          <a:srgbClr val="C00000"/>
                        </a:solidFill>
                        <a:latin typeface="Cambria Math" panose="02040503050406030204" pitchFamily="18" charset="0"/>
                        <a:ea typeface="方正舒体" panose="02010601030101010101" pitchFamily="2" charset="-122"/>
                      </a:rPr>
                      <m:t>−1)</m:t>
                    </m:r>
                  </m:oMath>
                </a14:m>
                <a:r>
                  <a:rPr lang="zh-CN" altLang="zh-CN" sz="1400" i="1" dirty="0">
                    <a:solidFill>
                      <a:srgbClr val="C00000"/>
                    </a:solidFill>
                    <a:latin typeface="方正舒体" panose="02010601030101010101" pitchFamily="2" charset="-122"/>
                    <a:ea typeface="方正舒体" panose="02010601030101010101" pitchFamily="2" charset="-122"/>
                  </a:rPr>
                  <a:t>其实就是欧拉函数。</a:t>
                </a:r>
                <a:endParaRPr lang="zh-CN" altLang="en-US" sz="1400" i="1" dirty="0">
                  <a:solidFill>
                    <a:srgbClr val="C00000"/>
                  </a:solidFill>
                  <a:latin typeface="方正舒体" panose="02010601030101010101" pitchFamily="2" charset="-122"/>
                  <a:ea typeface="方正舒体" panose="02010601030101010101" pitchFamily="2" charset="-122"/>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2472754" y="4978699"/>
                <a:ext cx="4080446" cy="738664"/>
              </a:xfrm>
              <a:prstGeom prst="rect">
                <a:avLst/>
              </a:prstGeom>
              <a:blipFill rotWithShape="0">
                <a:blip r:embed="rId7"/>
                <a:stretch>
                  <a:fillRect l="-448" t="-2479" b="-66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78018189"/>
      </p:ext>
    </p:extLst>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dirty="0"/>
              <a:t>计算机应用技术研究所</a:t>
            </a:r>
          </a:p>
        </p:txBody>
      </p:sp>
      <p:sp>
        <p:nvSpPr>
          <p:cNvPr id="7" name="灯片编号占位符 5"/>
          <p:cNvSpPr>
            <a:spLocks noGrp="1"/>
          </p:cNvSpPr>
          <p:nvPr>
            <p:ph type="sldNum" sz="quarter" idx="12"/>
          </p:nvPr>
        </p:nvSpPr>
        <p:spPr/>
        <p:txBody>
          <a:bodyPr/>
          <a:lstStyle/>
          <a:p>
            <a:pPr>
              <a:defRPr/>
            </a:pPr>
            <a:fld id="{F96CD3B6-67E9-4DF1-A774-7290A8869461}" type="slidenum">
              <a:rPr lang="en-US" altLang="zh-CN"/>
              <a:pPr>
                <a:defRPr/>
              </a:pPr>
              <a:t>109</a:t>
            </a:fld>
            <a:endParaRPr lang="en-US" altLang="zh-CN"/>
          </a:p>
        </p:txBody>
      </p:sp>
      <p:sp>
        <p:nvSpPr>
          <p:cNvPr id="116741" name="Text Box 2"/>
          <p:cNvSpPr txBox="1">
            <a:spLocks noChangeArrowheads="1"/>
          </p:cNvSpPr>
          <p:nvPr/>
        </p:nvSpPr>
        <p:spPr bwMode="auto">
          <a:xfrm>
            <a:off x="1331913" y="692150"/>
            <a:ext cx="655320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en-US" altLang="zh-CN" sz="4800" b="1" dirty="0" smtClean="0">
                <a:solidFill>
                  <a:schemeClr val="bg1"/>
                </a:solidFill>
                <a:latin typeface="宋体" panose="02010600030101010101" pitchFamily="2" charset="-122"/>
                <a:ea typeface="宋体" panose="02010600030101010101" pitchFamily="2" charset="-122"/>
              </a:rPr>
              <a:t>RSA</a:t>
            </a:r>
            <a:r>
              <a:rPr lang="zh-CN" altLang="en-US" sz="4800" b="1" dirty="0" smtClean="0">
                <a:solidFill>
                  <a:schemeClr val="bg1"/>
                </a:solidFill>
                <a:latin typeface="宋体" panose="02010600030101010101" pitchFamily="2" charset="-122"/>
                <a:ea typeface="宋体" panose="02010600030101010101" pitchFamily="2" charset="-122"/>
              </a:rPr>
              <a:t>加密</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16742"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折角形 7"/>
          <p:cNvSpPr/>
          <p:nvPr/>
        </p:nvSpPr>
        <p:spPr bwMode="auto">
          <a:xfrm>
            <a:off x="685008" y="1789262"/>
            <a:ext cx="1626339" cy="631626"/>
          </a:xfrm>
          <a:prstGeom prst="foldedCorner">
            <a:avLst>
              <a:gd name="adj" fmla="val 26446"/>
            </a:avLst>
          </a:prstGeom>
          <a:solidFill>
            <a:srgbClr val="CD58D6"/>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9" name="文本框 8"/>
          <p:cNvSpPr txBox="1"/>
          <p:nvPr/>
        </p:nvSpPr>
        <p:spPr>
          <a:xfrm>
            <a:off x="684213" y="1920409"/>
            <a:ext cx="1590658" cy="369332"/>
          </a:xfrm>
          <a:prstGeom prst="rect">
            <a:avLst/>
          </a:prstGeom>
          <a:noFill/>
        </p:spPr>
        <p:txBody>
          <a:bodyPr wrap="square" rtlCol="0">
            <a:spAutoFit/>
          </a:bodyPr>
          <a:lstStyle/>
          <a:p>
            <a:r>
              <a:rPr lang="en-US" altLang="zh-CN" sz="1800" b="1" dirty="0" smtClean="0"/>
              <a:t>Ⅱ.</a:t>
            </a:r>
            <a:r>
              <a:rPr lang="zh-CN" altLang="en-US" sz="1800" b="1" dirty="0" smtClean="0"/>
              <a:t>加密过程</a:t>
            </a:r>
            <a:endParaRPr lang="zh-CN" altLang="en-US" sz="1800" b="1" dirty="0"/>
          </a:p>
        </p:txBody>
      </p:sp>
      <p:sp>
        <p:nvSpPr>
          <p:cNvPr id="4" name="文本框 3"/>
          <p:cNvSpPr txBox="1"/>
          <p:nvPr/>
        </p:nvSpPr>
        <p:spPr>
          <a:xfrm>
            <a:off x="1907704" y="2686460"/>
            <a:ext cx="5616624" cy="338554"/>
          </a:xfrm>
          <a:prstGeom prst="rect">
            <a:avLst/>
          </a:prstGeom>
          <a:solidFill>
            <a:srgbClr val="92D050"/>
          </a:solidFill>
        </p:spPr>
        <p:txBody>
          <a:bodyPr wrap="square" rtlCol="0">
            <a:spAutoFit/>
          </a:bodyPr>
          <a:lstStyle/>
          <a:p>
            <a:r>
              <a:rPr lang="zh-CN" altLang="en-US" sz="1600" dirty="0"/>
              <a:t>①</a:t>
            </a:r>
            <a:r>
              <a:rPr lang="zh-CN" altLang="zh-CN" sz="1600" dirty="0"/>
              <a:t>首先将每个字母翻译成相应的整数</a:t>
            </a:r>
            <a:endParaRPr lang="zh-CN" altLang="en-US" sz="1600" dirty="0"/>
          </a:p>
        </p:txBody>
      </p:sp>
      <p:sp>
        <p:nvSpPr>
          <p:cNvPr id="12" name="文本框 11"/>
          <p:cNvSpPr txBox="1"/>
          <p:nvPr/>
        </p:nvSpPr>
        <p:spPr>
          <a:xfrm>
            <a:off x="1716417" y="4251784"/>
            <a:ext cx="5999197" cy="584775"/>
          </a:xfrm>
          <a:prstGeom prst="rect">
            <a:avLst/>
          </a:prstGeom>
          <a:solidFill>
            <a:srgbClr val="CD58D6"/>
          </a:solidFill>
        </p:spPr>
        <p:txBody>
          <a:bodyPr wrap="square" rtlCol="0">
            <a:spAutoFit/>
          </a:bodyPr>
          <a:lstStyle/>
          <a:p>
            <a:r>
              <a:rPr lang="zh-CN" altLang="en-US" sz="1600" dirty="0" smtClean="0"/>
              <a:t>②</a:t>
            </a:r>
            <a:r>
              <a:rPr lang="zh-CN" altLang="zh-CN" sz="1600" dirty="0"/>
              <a:t>将这些由明文字母对应的整数合并成若干组，每个组分别形成一个大整数，代表一个字母段。</a:t>
            </a:r>
            <a:r>
              <a:rPr lang="en-US" altLang="zh-CN" sz="1600" dirty="0" smtClean="0"/>
              <a:t> </a:t>
            </a:r>
            <a:endParaRPr lang="zh-CN" altLang="en-US" sz="1600" dirty="0"/>
          </a:p>
        </p:txBody>
      </p:sp>
      <p:sp>
        <p:nvSpPr>
          <p:cNvPr id="14" name="上箭头标注 13"/>
          <p:cNvSpPr/>
          <p:nvPr/>
        </p:nvSpPr>
        <p:spPr bwMode="auto">
          <a:xfrm>
            <a:off x="2694075" y="3116983"/>
            <a:ext cx="3521265" cy="784463"/>
          </a:xfrm>
          <a:prstGeom prst="upArrowCallout">
            <a:avLst>
              <a:gd name="adj1" fmla="val 16012"/>
              <a:gd name="adj2" fmla="val 19607"/>
              <a:gd name="adj3" fmla="val 16012"/>
              <a:gd name="adj4" fmla="val 78459"/>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5" name="文本框 14"/>
          <p:cNvSpPr txBox="1"/>
          <p:nvPr/>
        </p:nvSpPr>
        <p:spPr>
          <a:xfrm>
            <a:off x="2766083" y="3356089"/>
            <a:ext cx="3449257" cy="523220"/>
          </a:xfrm>
          <a:prstGeom prst="rect">
            <a:avLst/>
          </a:prstGeom>
          <a:noFill/>
        </p:spPr>
        <p:txBody>
          <a:bodyPr wrap="square" rtlCol="0">
            <a:spAutoFit/>
          </a:bodyPr>
          <a:lstStyle/>
          <a:p>
            <a:r>
              <a:rPr lang="zh-CN" altLang="zh-CN" sz="1400" i="1" dirty="0">
                <a:solidFill>
                  <a:srgbClr val="C00000"/>
                </a:solidFill>
                <a:latin typeface="方正舒体" panose="02010601030101010101" pitchFamily="2" charset="-122"/>
                <a:ea typeface="方正舒体" panose="02010601030101010101" pitchFamily="2" charset="-122"/>
              </a:rPr>
              <a:t>可以使用前述的凯撒加密算法完成这项工作</a:t>
            </a:r>
            <a:endParaRPr lang="zh-CN" altLang="en-US" sz="1400" i="1" dirty="0">
              <a:solidFill>
                <a:srgbClr val="C00000"/>
              </a:solidFill>
              <a:latin typeface="方正舒体" panose="02010601030101010101" pitchFamily="2" charset="-122"/>
              <a:ea typeface="方正舒体" panose="02010601030101010101" pitchFamily="2" charset="-122"/>
            </a:endParaRPr>
          </a:p>
        </p:txBody>
      </p:sp>
      <p:sp>
        <p:nvSpPr>
          <p:cNvPr id="16" name="上箭头标注 15"/>
          <p:cNvSpPr/>
          <p:nvPr/>
        </p:nvSpPr>
        <p:spPr bwMode="auto">
          <a:xfrm>
            <a:off x="2498710" y="4904610"/>
            <a:ext cx="3911993" cy="959806"/>
          </a:xfrm>
          <a:prstGeom prst="upArrowCallout">
            <a:avLst>
              <a:gd name="adj1" fmla="val 16012"/>
              <a:gd name="adj2" fmla="val 19607"/>
              <a:gd name="adj3" fmla="val 16012"/>
              <a:gd name="adj4" fmla="val 78459"/>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7" name="文本框 16"/>
              <p:cNvSpPr txBox="1"/>
              <p:nvPr/>
            </p:nvSpPr>
            <p:spPr>
              <a:xfrm>
                <a:off x="2414484" y="5143809"/>
                <a:ext cx="4080446" cy="738664"/>
              </a:xfrm>
              <a:prstGeom prst="rect">
                <a:avLst/>
              </a:prstGeom>
              <a:noFill/>
            </p:spPr>
            <p:txBody>
              <a:bodyPr wrap="square" rtlCol="0">
                <a:spAutoFit/>
              </a:bodyPr>
              <a:lstStyle/>
              <a:p>
                <a:r>
                  <a:rPr lang="zh-CN" altLang="zh-CN" sz="1400" i="1" dirty="0">
                    <a:solidFill>
                      <a:srgbClr val="C00000"/>
                    </a:solidFill>
                    <a:latin typeface="方正舒体" panose="02010601030101010101" pitchFamily="2" charset="-122"/>
                    <a:ea typeface="方正舒体" panose="02010601030101010101" pitchFamily="2" charset="-122"/>
                  </a:rPr>
                  <a:t>每个表示明文字母段的大整数</a:t>
                </a:r>
                <a:r>
                  <a:rPr lang="en-US" altLang="zh-CN" sz="1400" i="1" dirty="0">
                    <a:solidFill>
                      <a:srgbClr val="C00000"/>
                    </a:solidFill>
                    <a:latin typeface="方正舒体" panose="02010601030101010101" pitchFamily="2" charset="-122"/>
                    <a:ea typeface="方正舒体" panose="02010601030101010101" pitchFamily="2" charset="-122"/>
                  </a:rPr>
                  <a:t>M</a:t>
                </a:r>
                <a:r>
                  <a:rPr lang="zh-CN" altLang="zh-CN" sz="1400" i="1" dirty="0">
                    <a:solidFill>
                      <a:srgbClr val="C00000"/>
                    </a:solidFill>
                    <a:latin typeface="方正舒体" panose="02010601030101010101" pitchFamily="2" charset="-122"/>
                    <a:ea typeface="方正舒体" panose="02010601030101010101" pitchFamily="2" charset="-122"/>
                  </a:rPr>
                  <a:t>逐个转化为表示密文字母段的大整数</a:t>
                </a:r>
                <a:r>
                  <a:rPr lang="en-US" altLang="zh-CN" sz="1400" i="1" dirty="0">
                    <a:solidFill>
                      <a:srgbClr val="C00000"/>
                    </a:solidFill>
                    <a:latin typeface="方正舒体" panose="02010601030101010101" pitchFamily="2" charset="-122"/>
                    <a:ea typeface="方正舒体" panose="02010601030101010101" pitchFamily="2" charset="-122"/>
                  </a:rPr>
                  <a:t>C</a:t>
                </a:r>
                <a:r>
                  <a:rPr lang="zh-CN" altLang="zh-CN" sz="1400" i="1" dirty="0">
                    <a:solidFill>
                      <a:srgbClr val="C00000"/>
                    </a:solidFill>
                    <a:latin typeface="方正舒体" panose="02010601030101010101" pitchFamily="2" charset="-122"/>
                    <a:ea typeface="方正舒体" panose="02010601030101010101" pitchFamily="2" charset="-122"/>
                  </a:rPr>
                  <a:t>，具体转化公式如下：</a:t>
                </a:r>
              </a:p>
              <a:p>
                <a:r>
                  <a:rPr lang="en-US" altLang="zh-CN" sz="1400" i="1" dirty="0">
                    <a:solidFill>
                      <a:srgbClr val="C00000"/>
                    </a:solidFill>
                    <a:latin typeface="方正舒体" panose="02010601030101010101" pitchFamily="2" charset="-122"/>
                    <a:ea typeface="方正舒体" panose="02010601030101010101" pitchFamily="2" charset="-122"/>
                  </a:rPr>
                  <a:t>                            </a:t>
                </a:r>
                <a14:m>
                  <m:oMath xmlns:m="http://schemas.openxmlformats.org/officeDocument/2006/math">
                    <m:r>
                      <a:rPr lang="en-US" altLang="zh-CN" sz="1400" i="1">
                        <a:solidFill>
                          <a:srgbClr val="C00000"/>
                        </a:solidFill>
                        <a:latin typeface="Cambria Math" panose="02040503050406030204" pitchFamily="18" charset="0"/>
                        <a:ea typeface="方正舒体" panose="02010601030101010101" pitchFamily="2" charset="-122"/>
                      </a:rPr>
                      <m:t>𝐶</m:t>
                    </m:r>
                    <m:r>
                      <a:rPr lang="en-US" altLang="zh-CN" sz="1400" i="1">
                        <a:solidFill>
                          <a:srgbClr val="C00000"/>
                        </a:solidFill>
                        <a:latin typeface="Cambria Math" panose="02040503050406030204" pitchFamily="18" charset="0"/>
                        <a:ea typeface="方正舒体" panose="02010601030101010101" pitchFamily="2" charset="-122"/>
                      </a:rPr>
                      <m:t>=</m:t>
                    </m:r>
                    <m:sSup>
                      <m:sSupPr>
                        <m:ctrlPr>
                          <a:rPr lang="zh-CN" altLang="zh-CN" sz="1400" i="1">
                            <a:solidFill>
                              <a:srgbClr val="C00000"/>
                            </a:solidFill>
                            <a:latin typeface="Cambria Math" panose="02040503050406030204" pitchFamily="18" charset="0"/>
                            <a:ea typeface="方正舒体" panose="02010601030101010101" pitchFamily="2" charset="-122"/>
                          </a:rPr>
                        </m:ctrlPr>
                      </m:sSupPr>
                      <m:e>
                        <m:r>
                          <a:rPr lang="en-US" altLang="zh-CN" sz="1400" i="1">
                            <a:solidFill>
                              <a:srgbClr val="C00000"/>
                            </a:solidFill>
                            <a:latin typeface="Cambria Math" panose="02040503050406030204" pitchFamily="18" charset="0"/>
                            <a:ea typeface="方正舒体" panose="02010601030101010101" pitchFamily="2" charset="-122"/>
                          </a:rPr>
                          <m:t>𝑀</m:t>
                        </m:r>
                      </m:e>
                      <m:sup>
                        <m:r>
                          <a:rPr lang="en-US" altLang="zh-CN" sz="1400" i="1">
                            <a:solidFill>
                              <a:srgbClr val="C00000"/>
                            </a:solidFill>
                            <a:latin typeface="Cambria Math" panose="02040503050406030204" pitchFamily="18" charset="0"/>
                            <a:ea typeface="方正舒体" panose="02010601030101010101" pitchFamily="2" charset="-122"/>
                          </a:rPr>
                          <m:t>𝑒</m:t>
                        </m:r>
                      </m:sup>
                    </m:sSup>
                    <m:r>
                      <a:rPr lang="en-US" altLang="zh-CN" sz="1400" i="1">
                        <a:solidFill>
                          <a:srgbClr val="C00000"/>
                        </a:solidFill>
                        <a:latin typeface="Cambria Math" panose="02040503050406030204" pitchFamily="18" charset="0"/>
                        <a:ea typeface="方正舒体" panose="02010601030101010101" pitchFamily="2" charset="-122"/>
                      </a:rPr>
                      <m:t> </m:t>
                    </m:r>
                    <m:r>
                      <m:rPr>
                        <m:nor/>
                      </m:rPr>
                      <a:rPr lang="en-US" altLang="zh-CN" sz="1400" i="1">
                        <a:solidFill>
                          <a:srgbClr val="C00000"/>
                        </a:solidFill>
                        <a:latin typeface="方正舒体" panose="02010601030101010101" pitchFamily="2" charset="-122"/>
                        <a:ea typeface="方正舒体" panose="02010601030101010101" pitchFamily="2" charset="-122"/>
                      </a:rPr>
                      <m:t> (</m:t>
                    </m:r>
                    <m:r>
                      <m:rPr>
                        <m:nor/>
                      </m:rPr>
                      <a:rPr lang="en-US" altLang="zh-CN" sz="1400" i="1">
                        <a:solidFill>
                          <a:srgbClr val="C00000"/>
                        </a:solidFill>
                        <a:latin typeface="方正舒体" panose="02010601030101010101" pitchFamily="2" charset="-122"/>
                        <a:ea typeface="方正舒体" panose="02010601030101010101" pitchFamily="2" charset="-122"/>
                      </a:rPr>
                      <m:t>mod</m:t>
                    </m:r>
                    <m:r>
                      <m:rPr>
                        <m:nor/>
                      </m:rPr>
                      <a:rPr lang="en-US" altLang="zh-CN" sz="1400" i="1">
                        <a:solidFill>
                          <a:srgbClr val="C00000"/>
                        </a:solidFill>
                        <a:latin typeface="方正舒体" panose="02010601030101010101" pitchFamily="2" charset="-122"/>
                        <a:ea typeface="方正舒体" panose="02010601030101010101" pitchFamily="2" charset="-122"/>
                      </a:rPr>
                      <m:t> </m:t>
                    </m:r>
                    <m:r>
                      <a:rPr lang="en-US" altLang="zh-CN" sz="1400" i="1">
                        <a:solidFill>
                          <a:srgbClr val="C00000"/>
                        </a:solidFill>
                        <a:latin typeface="Cambria Math" panose="02040503050406030204" pitchFamily="18" charset="0"/>
                        <a:ea typeface="方正舒体" panose="02010601030101010101" pitchFamily="2" charset="-122"/>
                      </a:rPr>
                      <m:t>𝑛</m:t>
                    </m:r>
                    <m:r>
                      <m:rPr>
                        <m:nor/>
                      </m:rPr>
                      <a:rPr lang="en-US" altLang="zh-CN" sz="1400" i="1">
                        <a:solidFill>
                          <a:srgbClr val="C00000"/>
                        </a:solidFill>
                        <a:latin typeface="方正舒体" panose="02010601030101010101" pitchFamily="2" charset="-122"/>
                        <a:ea typeface="方正舒体" panose="02010601030101010101" pitchFamily="2" charset="-122"/>
                      </a:rPr>
                      <m:t>)</m:t>
                    </m:r>
                  </m:oMath>
                </a14:m>
                <a:r>
                  <a:rPr lang="en-US" altLang="zh-CN" sz="1400" i="1" dirty="0">
                    <a:solidFill>
                      <a:srgbClr val="C00000"/>
                    </a:solidFill>
                    <a:latin typeface="方正舒体" panose="02010601030101010101" pitchFamily="2" charset="-122"/>
                    <a:ea typeface="方正舒体" panose="02010601030101010101" pitchFamily="2" charset="-122"/>
                  </a:rPr>
                  <a:t> </a:t>
                </a:r>
                <a:endParaRPr lang="zh-CN" altLang="en-US" sz="1400" i="1" dirty="0">
                  <a:solidFill>
                    <a:srgbClr val="C00000"/>
                  </a:solidFill>
                  <a:latin typeface="方正舒体" panose="02010601030101010101" pitchFamily="2" charset="-122"/>
                  <a:ea typeface="方正舒体" panose="02010601030101010101" pitchFamily="2" charset="-122"/>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2414484" y="5143809"/>
                <a:ext cx="4080446" cy="738664"/>
              </a:xfrm>
              <a:prstGeom prst="rect">
                <a:avLst/>
              </a:prstGeom>
              <a:blipFill rotWithShape="0">
                <a:blip r:embed="rId4"/>
                <a:stretch>
                  <a:fillRect l="-448" t="-1653"/>
                </a:stretch>
              </a:blipFill>
            </p:spPr>
            <p:txBody>
              <a:bodyPr/>
              <a:lstStyle/>
              <a:p>
                <a:r>
                  <a:rPr lang="zh-CN" altLang="en-US">
                    <a:noFill/>
                  </a:rPr>
                  <a:t> </a:t>
                </a:r>
              </a:p>
            </p:txBody>
          </p:sp>
        </mc:Fallback>
      </mc:AlternateContent>
      <p:sp>
        <p:nvSpPr>
          <p:cNvPr id="18" name="左大括号 17"/>
          <p:cNvSpPr/>
          <p:nvPr/>
        </p:nvSpPr>
        <p:spPr bwMode="auto">
          <a:xfrm>
            <a:off x="1095492" y="2629978"/>
            <a:ext cx="384050" cy="3252495"/>
          </a:xfrm>
          <a:prstGeom prst="leftBrace">
            <a:avLst>
              <a:gd name="adj1" fmla="val 44272"/>
              <a:gd name="adj2" fmla="val 50000"/>
            </a:avLst>
          </a:prstGeom>
          <a:noFill/>
          <a:ln w="25400" cap="flat" cmpd="sng" algn="ctr">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429212047"/>
      </p:ext>
    </p:extLst>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dirty="0"/>
              <a:t>计算机应用技术研究所</a:t>
            </a:r>
          </a:p>
        </p:txBody>
      </p:sp>
      <p:sp>
        <p:nvSpPr>
          <p:cNvPr id="7" name="灯片编号占位符 5"/>
          <p:cNvSpPr>
            <a:spLocks noGrp="1"/>
          </p:cNvSpPr>
          <p:nvPr>
            <p:ph type="sldNum" sz="quarter" idx="12"/>
          </p:nvPr>
        </p:nvSpPr>
        <p:spPr/>
        <p:txBody>
          <a:bodyPr/>
          <a:lstStyle/>
          <a:p>
            <a:pPr>
              <a:defRPr/>
            </a:pPr>
            <a:fld id="{686213C3-5CF8-47BF-A7D9-480A07354B91}" type="slidenum">
              <a:rPr lang="en-US" altLang="zh-CN"/>
              <a:pPr>
                <a:defRPr/>
              </a:pPr>
              <a:t>110</a:t>
            </a:fld>
            <a:endParaRPr lang="en-US" altLang="zh-CN"/>
          </a:p>
        </p:txBody>
      </p:sp>
      <p:sp>
        <p:nvSpPr>
          <p:cNvPr id="117765" name="Text Box 2"/>
          <p:cNvSpPr txBox="1">
            <a:spLocks noChangeArrowheads="1"/>
          </p:cNvSpPr>
          <p:nvPr/>
        </p:nvSpPr>
        <p:spPr bwMode="auto">
          <a:xfrm>
            <a:off x="1331913" y="692150"/>
            <a:ext cx="6553200"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en-US" altLang="zh-CN" sz="4800" b="1" dirty="0" smtClean="0">
                <a:solidFill>
                  <a:schemeClr val="bg1"/>
                </a:solidFill>
                <a:latin typeface="宋体" panose="02010600030101010101" pitchFamily="2" charset="-122"/>
                <a:ea typeface="宋体" panose="02010600030101010101" pitchFamily="2" charset="-122"/>
              </a:rPr>
              <a:t>RSA</a:t>
            </a:r>
            <a:r>
              <a:rPr lang="zh-CN" altLang="en-US" sz="4800" b="1" dirty="0" smtClean="0">
                <a:solidFill>
                  <a:schemeClr val="bg1"/>
                </a:solidFill>
                <a:latin typeface="宋体" panose="02010600030101010101" pitchFamily="2" charset="-122"/>
                <a:ea typeface="宋体" panose="02010600030101010101" pitchFamily="2" charset="-122"/>
              </a:rPr>
              <a:t>加密</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1776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8" name="文本框 7"/>
              <p:cNvSpPr txBox="1"/>
              <p:nvPr/>
            </p:nvSpPr>
            <p:spPr>
              <a:xfrm>
                <a:off x="1691680" y="2055823"/>
                <a:ext cx="6000651" cy="597599"/>
              </a:xfrm>
              <a:prstGeom prst="rect">
                <a:avLst/>
              </a:prstGeom>
              <a:solidFill>
                <a:schemeClr val="accent1"/>
              </a:solidFill>
            </p:spPr>
            <p:txBody>
              <a:bodyPr wrap="square" rtlCol="0">
                <a:spAutoFit/>
              </a:bodyPr>
              <a:lstStyle/>
              <a:p>
                <a:r>
                  <a:rPr lang="zh-CN" altLang="en-US" sz="1600" dirty="0" smtClean="0"/>
                  <a:t>①</a:t>
                </a:r>
                <a:r>
                  <a:rPr lang="en-US" altLang="zh-CN" sz="1600" i="1" dirty="0" err="1"/>
                  <a:t>ed</a:t>
                </a:r>
                <a:r>
                  <a:rPr lang="zh-CN" altLang="zh-CN" sz="1600" dirty="0"/>
                  <a:t>除以</a:t>
                </a:r>
                <a14:m>
                  <m:oMath xmlns:m="http://schemas.openxmlformats.org/officeDocument/2006/math">
                    <m:r>
                      <a:rPr lang="en-US" altLang="zh-CN" sz="1600" i="1">
                        <a:latin typeface="Cambria Math" panose="02040503050406030204" pitchFamily="18" charset="0"/>
                      </a:rPr>
                      <m:t>(</m:t>
                    </m:r>
                    <m:r>
                      <a:rPr lang="en-US" altLang="zh-CN" sz="1600" i="1">
                        <a:latin typeface="Cambria Math" panose="02040503050406030204" pitchFamily="18" charset="0"/>
                      </a:rPr>
                      <m:t>𝑝</m:t>
                    </m:r>
                    <m:r>
                      <a:rPr lang="en-US" altLang="zh-CN" sz="1600" i="1">
                        <a:latin typeface="Cambria Math" panose="02040503050406030204" pitchFamily="18" charset="0"/>
                      </a:rPr>
                      <m:t>−1)(</m:t>
                    </m:r>
                    <m:r>
                      <a:rPr lang="en-US" altLang="zh-CN" sz="1600" i="1">
                        <a:latin typeface="Cambria Math" panose="02040503050406030204" pitchFamily="18" charset="0"/>
                      </a:rPr>
                      <m:t>𝑞</m:t>
                    </m:r>
                    <m:r>
                      <a:rPr lang="en-US" altLang="zh-CN" sz="1600" i="1">
                        <a:latin typeface="Cambria Math" panose="02040503050406030204" pitchFamily="18" charset="0"/>
                      </a:rPr>
                      <m:t>−1)</m:t>
                    </m:r>
                  </m:oMath>
                </a14:m>
                <a:r>
                  <a:rPr lang="zh-CN" altLang="zh-CN" sz="1600" dirty="0"/>
                  <a:t>的余数为</a:t>
                </a:r>
                <a:r>
                  <a:rPr lang="en-US" altLang="zh-CN" sz="1600" dirty="0"/>
                  <a:t>1</a:t>
                </a:r>
                <a:r>
                  <a:rPr lang="zh-CN" altLang="zh-CN" sz="1600" dirty="0"/>
                  <a:t>，故存在整数</a:t>
                </a:r>
                <a:r>
                  <a:rPr lang="en-US" altLang="zh-CN" sz="1600" i="1" dirty="0"/>
                  <a:t>k</a:t>
                </a:r>
                <a:r>
                  <a:rPr lang="zh-CN" altLang="zh-CN" sz="1600" dirty="0"/>
                  <a:t>，使得：</a:t>
                </a:r>
              </a:p>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𝑒𝑑</m:t>
                      </m:r>
                      <m:r>
                        <a:rPr lang="en-US" altLang="zh-CN" sz="1600">
                          <a:latin typeface="Cambria Math" panose="02040503050406030204" pitchFamily="18" charset="0"/>
                        </a:rPr>
                        <m:t>=</m:t>
                      </m:r>
                      <m:r>
                        <a:rPr lang="en-US" altLang="zh-CN" sz="1600" i="1">
                          <a:latin typeface="Cambria Math" panose="02040503050406030204" pitchFamily="18" charset="0"/>
                        </a:rPr>
                        <m:t> </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𝑝</m:t>
                          </m:r>
                          <m:r>
                            <a:rPr lang="en-US" altLang="zh-CN" sz="1600" i="1">
                              <a:latin typeface="Cambria Math" panose="02040503050406030204" pitchFamily="18" charset="0"/>
                            </a:rPr>
                            <m:t>−1</m:t>
                          </m:r>
                        </m:e>
                      </m:d>
                      <m:d>
                        <m:dPr>
                          <m:ctrlPr>
                            <a:rPr lang="zh-CN" altLang="zh-CN" sz="1600" i="1">
                              <a:latin typeface="Cambria Math" panose="02040503050406030204" pitchFamily="18" charset="0"/>
                            </a:rPr>
                          </m:ctrlPr>
                        </m:dPr>
                        <m:e>
                          <m:r>
                            <a:rPr lang="en-US" altLang="zh-CN" sz="1600" i="1">
                              <a:latin typeface="Cambria Math" panose="02040503050406030204" pitchFamily="18" charset="0"/>
                            </a:rPr>
                            <m:t>𝑞</m:t>
                          </m:r>
                          <m:r>
                            <a:rPr lang="en-US" altLang="zh-CN" sz="1600" i="1">
                              <a:latin typeface="Cambria Math" panose="02040503050406030204" pitchFamily="18" charset="0"/>
                            </a:rPr>
                            <m:t>−1</m:t>
                          </m:r>
                        </m:e>
                      </m:d>
                      <m:r>
                        <a:rPr lang="en-US" altLang="zh-CN" sz="1600" i="1">
                          <a:latin typeface="Cambria Math" panose="02040503050406030204" pitchFamily="18" charset="0"/>
                        </a:rPr>
                        <m:t>𝑘</m:t>
                      </m:r>
                      <m:r>
                        <a:rPr lang="en-US" altLang="zh-CN" sz="1600" i="1">
                          <a:latin typeface="Cambria Math" panose="02040503050406030204" pitchFamily="18" charset="0"/>
                        </a:rPr>
                        <m:t>+1</m:t>
                      </m:r>
                    </m:oMath>
                  </m:oMathPara>
                </a14:m>
                <a:endParaRPr lang="zh-CN" altLang="zh-CN" sz="1600" dirty="0"/>
              </a:p>
              <a:p>
                <a:pPr>
                  <a:lnSpc>
                    <a:spcPts val="120"/>
                  </a:lnSpc>
                </a:pPr>
                <a:r>
                  <a:rPr lang="zh-CN" altLang="zh-CN" sz="1600" dirty="0"/>
                  <a:t>故有</a:t>
                </a:r>
                <a:r>
                  <a:rPr lang="zh-CN" altLang="zh-CN" sz="1600" dirty="0" smtClean="0"/>
                  <a:t>：</a:t>
                </a:r>
                <a:endParaRPr lang="zh-CN" altLang="zh-CN" sz="1600" dirty="0"/>
              </a:p>
            </p:txBody>
          </p:sp>
        </mc:Choice>
        <mc:Fallback xmlns="">
          <p:sp>
            <p:nvSpPr>
              <p:cNvPr id="8" name="文本框 7"/>
              <p:cNvSpPr txBox="1">
                <a:spLocks noRot="1" noChangeAspect="1" noMove="1" noResize="1" noEditPoints="1" noAdjustHandles="1" noChangeArrowheads="1" noChangeShapeType="1" noTextEdit="1"/>
              </p:cNvSpPr>
              <p:nvPr/>
            </p:nvSpPr>
            <p:spPr>
              <a:xfrm>
                <a:off x="1691680" y="2055823"/>
                <a:ext cx="6000651" cy="597599"/>
              </a:xfrm>
              <a:prstGeom prst="rect">
                <a:avLst/>
              </a:prstGeom>
              <a:blipFill rotWithShape="0">
                <a:blip r:embed="rId4"/>
                <a:stretch>
                  <a:fillRect l="-610" t="-4082" b="-183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1691680" y="4044283"/>
                <a:ext cx="5999197" cy="605871"/>
              </a:xfrm>
              <a:prstGeom prst="rect">
                <a:avLst/>
              </a:prstGeom>
              <a:solidFill>
                <a:srgbClr val="CD58D6"/>
              </a:solidFill>
            </p:spPr>
            <p:txBody>
              <a:bodyPr wrap="square" rtlCol="0">
                <a:spAutoFit/>
              </a:bodyPr>
              <a:lstStyle/>
              <a:p>
                <a:r>
                  <a:rPr lang="zh-CN" altLang="en-US" sz="1600" dirty="0" smtClean="0"/>
                  <a:t>②</a:t>
                </a:r>
                <a:r>
                  <a:rPr lang="zh-CN" altLang="zh-CN" sz="1600" dirty="0"/>
                  <a:t>假定</a:t>
                </a:r>
                <a14:m>
                  <m:oMath xmlns:m="http://schemas.openxmlformats.org/officeDocument/2006/math">
                    <m:r>
                      <a:rPr lang="en-US" altLang="zh-CN" sz="1600" i="1">
                        <a:latin typeface="Cambria Math" panose="02040503050406030204" pitchFamily="18" charset="0"/>
                      </a:rPr>
                      <m:t>𝑀</m:t>
                    </m:r>
                  </m:oMath>
                </a14:m>
                <a:r>
                  <a:rPr lang="zh-CN" altLang="zh-CN" sz="1600" dirty="0"/>
                  <a:t>与</a:t>
                </a:r>
                <a:r>
                  <a:rPr lang="en-US" altLang="zh-CN" sz="1600" i="1" dirty="0"/>
                  <a:t>p</a:t>
                </a:r>
                <a:r>
                  <a:rPr lang="zh-CN" altLang="zh-CN" sz="1600" dirty="0"/>
                  <a:t>和</a:t>
                </a:r>
                <a:r>
                  <a:rPr lang="en-US" altLang="zh-CN" sz="1600" i="1" dirty="0"/>
                  <a:t>q</a:t>
                </a:r>
                <a:r>
                  <a:rPr lang="zh-CN" altLang="zh-CN" sz="1600" dirty="0"/>
                  <a:t>均为互素，则根据费马小定理有：</a:t>
                </a:r>
              </a:p>
              <a:p>
                <a:pPr algn="ct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𝑀</m:t>
                        </m:r>
                      </m:e>
                      <m:sup>
                        <m:r>
                          <a:rPr lang="en-US" altLang="zh-CN" sz="1600" i="1">
                            <a:latin typeface="Cambria Math" panose="02040503050406030204" pitchFamily="18" charset="0"/>
                          </a:rPr>
                          <m:t>𝑝</m:t>
                        </m:r>
                        <m:r>
                          <a:rPr lang="en-US" altLang="zh-CN" sz="1600" i="1">
                            <a:latin typeface="Cambria Math" panose="02040503050406030204" pitchFamily="18" charset="0"/>
                          </a:rPr>
                          <m:t>−1</m:t>
                        </m:r>
                      </m:sup>
                    </m:sSup>
                    <m:r>
                      <a:rPr lang="en-US" altLang="zh-CN" sz="1600" i="1">
                        <a:latin typeface="Cambria Math" panose="02040503050406030204" pitchFamily="18" charset="0"/>
                      </a:rPr>
                      <m:t>≡1(</m:t>
                    </m:r>
                    <m:r>
                      <m:rPr>
                        <m:nor/>
                      </m:rPr>
                      <a:rPr lang="en-US" altLang="zh-CN" sz="1600"/>
                      <m:t> </m:t>
                    </m:r>
                    <m:r>
                      <m:rPr>
                        <m:nor/>
                      </m:rPr>
                      <a:rPr lang="en-US" altLang="zh-CN" sz="1600"/>
                      <m:t>mod</m:t>
                    </m:r>
                    <m:r>
                      <a:rPr lang="en-US" altLang="zh-CN" sz="1600" i="1">
                        <a:latin typeface="Cambria Math" panose="02040503050406030204" pitchFamily="18" charset="0"/>
                      </a:rPr>
                      <m:t> (</m:t>
                    </m:r>
                    <m:r>
                      <a:rPr lang="en-US" altLang="zh-CN" sz="1600" i="1">
                        <a:latin typeface="Cambria Math" panose="02040503050406030204" pitchFamily="18" charset="0"/>
                      </a:rPr>
                      <m:t>𝑝</m:t>
                    </m:r>
                    <m:r>
                      <a:rPr lang="en-US" altLang="zh-CN" sz="1600" i="1">
                        <a:latin typeface="Cambria Math" panose="02040503050406030204" pitchFamily="18" charset="0"/>
                      </a:rPr>
                      <m:t>))</m:t>
                    </m:r>
                  </m:oMath>
                </a14:m>
                <a:r>
                  <a:rPr lang="zh-CN" altLang="zh-CN" sz="1600" dirty="0"/>
                  <a:t>及</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𝑀</m:t>
                        </m:r>
                      </m:e>
                      <m:sup>
                        <m:r>
                          <a:rPr lang="en-US" altLang="zh-CN" sz="1600" i="1">
                            <a:latin typeface="Cambria Math" panose="02040503050406030204" pitchFamily="18" charset="0"/>
                          </a:rPr>
                          <m:t>𝑝</m:t>
                        </m:r>
                        <m:r>
                          <a:rPr lang="en-US" altLang="zh-CN" sz="1600" i="1">
                            <a:latin typeface="Cambria Math" panose="02040503050406030204" pitchFamily="18" charset="0"/>
                          </a:rPr>
                          <m:t>−1</m:t>
                        </m:r>
                      </m:sup>
                    </m:sSup>
                    <m:r>
                      <a:rPr lang="en-US" altLang="zh-CN" sz="1600" i="1">
                        <a:latin typeface="Cambria Math" panose="02040503050406030204" pitchFamily="18" charset="0"/>
                      </a:rPr>
                      <m:t>≡1(</m:t>
                    </m:r>
                    <m:r>
                      <m:rPr>
                        <m:nor/>
                      </m:rPr>
                      <a:rPr lang="en-US" altLang="zh-CN" sz="1600"/>
                      <m:t> </m:t>
                    </m:r>
                    <m:r>
                      <m:rPr>
                        <m:nor/>
                      </m:rPr>
                      <a:rPr lang="en-US" altLang="zh-CN" sz="1600"/>
                      <m:t>mod</m:t>
                    </m:r>
                    <m:r>
                      <a:rPr lang="en-US" altLang="zh-CN" sz="1600" i="1">
                        <a:latin typeface="Cambria Math" panose="02040503050406030204" pitchFamily="18" charset="0"/>
                      </a:rPr>
                      <m:t> </m:t>
                    </m:r>
                    <m:r>
                      <a:rPr lang="en-US" altLang="zh-CN" sz="1600" i="1">
                        <a:latin typeface="Cambria Math" panose="02040503050406030204" pitchFamily="18" charset="0"/>
                      </a:rPr>
                      <m:t>𝑞</m:t>
                    </m:r>
                    <m:r>
                      <a:rPr lang="en-US" altLang="zh-CN" sz="1600" i="1">
                        <a:latin typeface="Cambria Math" panose="02040503050406030204" pitchFamily="18" charset="0"/>
                      </a:rPr>
                      <m:t>)</m:t>
                    </m:r>
                  </m:oMath>
                </a14:m>
                <a:r>
                  <a:rPr lang="en-US" altLang="zh-CN" sz="1600" dirty="0"/>
                  <a:t> </a:t>
                </a:r>
                <a:endParaRPr lang="zh-CN" altLang="en-US" sz="1600" dirty="0"/>
              </a:p>
            </p:txBody>
          </p:sp>
        </mc:Choice>
        <mc:Fallback xmlns="">
          <p:sp>
            <p:nvSpPr>
              <p:cNvPr id="9" name="文本框 8"/>
              <p:cNvSpPr txBox="1">
                <a:spLocks noRot="1" noChangeAspect="1" noMove="1" noResize="1" noEditPoints="1" noAdjustHandles="1" noChangeArrowheads="1" noChangeShapeType="1" noTextEdit="1"/>
              </p:cNvSpPr>
              <p:nvPr/>
            </p:nvSpPr>
            <p:spPr>
              <a:xfrm>
                <a:off x="1691680" y="4044283"/>
                <a:ext cx="5999197" cy="605871"/>
              </a:xfrm>
              <a:prstGeom prst="rect">
                <a:avLst/>
              </a:prstGeom>
              <a:blipFill rotWithShape="0">
                <a:blip r:embed="rId5"/>
                <a:stretch>
                  <a:fillRect l="-610" t="-4000"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691680" y="5729027"/>
                <a:ext cx="5999197" cy="637354"/>
              </a:xfrm>
              <a:prstGeom prst="rect">
                <a:avLst/>
              </a:prstGeom>
              <a:solidFill>
                <a:srgbClr val="0099FF"/>
              </a:solidFill>
            </p:spPr>
            <p:txBody>
              <a:bodyPr wrap="square" rtlCol="0">
                <a:spAutoFit/>
              </a:bodyPr>
              <a:lstStyle/>
              <a:p>
                <a:r>
                  <a:rPr lang="zh-CN" altLang="en-US" sz="1600" dirty="0" smtClean="0"/>
                  <a:t>③</a:t>
                </a:r>
                <a:r>
                  <a:rPr lang="zh-CN" altLang="zh-CN" sz="1600" dirty="0"/>
                  <a:t>由于</a:t>
                </a:r>
                <a:r>
                  <a:rPr lang="en-US" altLang="zh-CN" sz="1600" i="1" dirty="0"/>
                  <a:t>p</a:t>
                </a:r>
                <a:r>
                  <a:rPr lang="zh-CN" altLang="zh-CN" sz="1600" dirty="0"/>
                  <a:t>与</a:t>
                </a:r>
                <a:r>
                  <a:rPr lang="en-US" altLang="zh-CN" sz="1600" i="1" dirty="0"/>
                  <a:t>q</a:t>
                </a:r>
                <a:r>
                  <a:rPr lang="zh-CN" altLang="zh-CN" sz="1600" dirty="0"/>
                  <a:t>互素，则根据中国余数定理，有：</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𝐶</m:t>
                        </m:r>
                      </m:e>
                      <m:sup>
                        <m:r>
                          <a:rPr lang="en-US" altLang="zh-CN" sz="1600" i="1">
                            <a:latin typeface="Cambria Math" panose="02040503050406030204" pitchFamily="18" charset="0"/>
                          </a:rPr>
                          <m:t>𝑑</m:t>
                        </m:r>
                      </m:sup>
                    </m:sSup>
                    <m:r>
                      <a:rPr lang="en-US" altLang="zh-CN" sz="1600" i="1">
                        <a:latin typeface="Cambria Math" panose="02040503050406030204" pitchFamily="18" charset="0"/>
                      </a:rPr>
                      <m:t>≡</m:t>
                    </m:r>
                    <m:r>
                      <m:rPr>
                        <m:nor/>
                      </m:rPr>
                      <a:rPr lang="en-US" altLang="zh-CN" sz="1600" i="1"/>
                      <m:t>M</m:t>
                    </m:r>
                    <m:r>
                      <m:rPr>
                        <m:nor/>
                      </m:rPr>
                      <a:rPr lang="en-US" altLang="zh-CN" sz="1600"/>
                      <m:t> (</m:t>
                    </m:r>
                    <m:r>
                      <m:rPr>
                        <m:nor/>
                      </m:rPr>
                      <a:rPr lang="en-US" altLang="zh-CN" sz="1600"/>
                      <m:t>mod</m:t>
                    </m:r>
                    <m:r>
                      <a:rPr lang="en-US" altLang="zh-CN" sz="1600" i="1">
                        <a:latin typeface="Cambria Math" panose="02040503050406030204" pitchFamily="18" charset="0"/>
                      </a:rPr>
                      <m:t> </m:t>
                    </m:r>
                    <m:r>
                      <a:rPr lang="en-US" altLang="zh-CN" sz="1600" i="1">
                        <a:latin typeface="Cambria Math" panose="02040503050406030204" pitchFamily="18" charset="0"/>
                      </a:rPr>
                      <m:t>𝑝</m:t>
                    </m:r>
                    <m:r>
                      <a:rPr lang="en-US" altLang="zh-CN" sz="1600" i="1">
                        <a:latin typeface="Cambria Math" panose="02040503050406030204" pitchFamily="18" charset="0"/>
                      </a:rPr>
                      <m:t>∙</m:t>
                    </m:r>
                    <m:r>
                      <a:rPr lang="en-US" altLang="zh-CN" sz="1600" i="1">
                        <a:latin typeface="Cambria Math" panose="02040503050406030204" pitchFamily="18" charset="0"/>
                      </a:rPr>
                      <m:t>𝑞</m:t>
                    </m:r>
                    <m:r>
                      <m:rPr>
                        <m:nor/>
                      </m:rPr>
                      <a:rPr lang="en-US" altLang="zh-CN" sz="1600"/>
                      <m:t>)</m:t>
                    </m:r>
                  </m:oMath>
                </a14:m>
                <a:r>
                  <a:rPr lang="zh-CN" altLang="zh-CN" sz="1600" dirty="0"/>
                  <a:t>或</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𝐶</m:t>
                        </m:r>
                      </m:e>
                      <m:sup>
                        <m:r>
                          <a:rPr lang="en-US" altLang="zh-CN" sz="1600" i="1">
                            <a:latin typeface="Cambria Math" panose="02040503050406030204" pitchFamily="18" charset="0"/>
                          </a:rPr>
                          <m:t>𝑑</m:t>
                        </m:r>
                      </m:sup>
                    </m:sSup>
                    <m:r>
                      <a:rPr lang="en-US" altLang="zh-CN" sz="1600" i="1">
                        <a:latin typeface="Cambria Math" panose="02040503050406030204" pitchFamily="18" charset="0"/>
                      </a:rPr>
                      <m:t>≡</m:t>
                    </m:r>
                    <m:r>
                      <m:rPr>
                        <m:nor/>
                      </m:rPr>
                      <a:rPr lang="en-US" altLang="zh-CN" sz="1600" i="1"/>
                      <m:t>M</m:t>
                    </m:r>
                    <m:r>
                      <m:rPr>
                        <m:nor/>
                      </m:rPr>
                      <a:rPr lang="en-US" altLang="zh-CN" sz="1600"/>
                      <m:t> (</m:t>
                    </m:r>
                    <m:r>
                      <m:rPr>
                        <m:nor/>
                      </m:rPr>
                      <a:rPr lang="en-US" altLang="zh-CN" sz="1600"/>
                      <m:t>mod</m:t>
                    </m:r>
                    <m:r>
                      <a:rPr lang="en-US" altLang="zh-CN" sz="1600" i="1">
                        <a:latin typeface="Cambria Math" panose="02040503050406030204" pitchFamily="18" charset="0"/>
                      </a:rPr>
                      <m:t> </m:t>
                    </m:r>
                    <m:r>
                      <a:rPr lang="en-US" altLang="zh-CN" sz="1600" i="1">
                        <a:latin typeface="Cambria Math" panose="02040503050406030204" pitchFamily="18" charset="0"/>
                      </a:rPr>
                      <m:t>𝑛</m:t>
                    </m:r>
                    <m:r>
                      <m:rPr>
                        <m:nor/>
                      </m:rPr>
                      <a:rPr lang="en-US" altLang="zh-CN" sz="1600"/>
                      <m:t>)</m:t>
                    </m:r>
                  </m:oMath>
                </a14:m>
                <a:r>
                  <a:rPr lang="zh-CN" altLang="zh-CN" sz="1600" dirty="0"/>
                  <a:t>由于</a:t>
                </a:r>
                <a14:m>
                  <m:oMath xmlns:m="http://schemas.openxmlformats.org/officeDocument/2006/math">
                    <m:r>
                      <a:rPr lang="en-US" altLang="zh-CN" sz="1600" i="1">
                        <a:latin typeface="Cambria Math" panose="02040503050406030204" pitchFamily="18" charset="0"/>
                      </a:rPr>
                      <m:t>𝑀</m:t>
                    </m:r>
                    <m:r>
                      <a:rPr lang="en-US" altLang="zh-CN" sz="1600">
                        <a:latin typeface="Cambria Math" panose="02040503050406030204" pitchFamily="18" charset="0"/>
                      </a:rPr>
                      <m:t>&lt;</m:t>
                    </m:r>
                    <m:r>
                      <a:rPr lang="en-US" altLang="zh-CN" sz="1600" i="1">
                        <a:latin typeface="Cambria Math" panose="02040503050406030204" pitchFamily="18" charset="0"/>
                      </a:rPr>
                      <m:t>𝑛</m:t>
                    </m:r>
                  </m:oMath>
                </a14:m>
                <a:r>
                  <a:rPr lang="zh-CN" altLang="zh-CN" sz="1600" dirty="0"/>
                  <a:t>，故必有：</a:t>
                </a:r>
                <a14:m>
                  <m:oMath xmlns:m="http://schemas.openxmlformats.org/officeDocument/2006/math">
                    <m:r>
                      <m:rPr>
                        <m:nor/>
                      </m:rPr>
                      <a:rPr lang="en-US" altLang="zh-CN" sz="1600" i="1"/>
                      <m:t>M</m:t>
                    </m:r>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𝐶</m:t>
                        </m:r>
                      </m:e>
                      <m:sup>
                        <m:r>
                          <a:rPr lang="en-US" altLang="zh-CN" sz="1600" i="1">
                            <a:latin typeface="Cambria Math" panose="02040503050406030204" pitchFamily="18" charset="0"/>
                          </a:rPr>
                          <m:t>𝑑</m:t>
                        </m:r>
                      </m:sup>
                    </m:sSup>
                    <m:r>
                      <m:rPr>
                        <m:nor/>
                      </m:rPr>
                      <a:rPr lang="en-US" altLang="zh-CN" sz="1600"/>
                      <m:t> (</m:t>
                    </m:r>
                    <m:r>
                      <m:rPr>
                        <m:nor/>
                      </m:rPr>
                      <a:rPr lang="en-US" altLang="zh-CN" sz="1600"/>
                      <m:t>mod</m:t>
                    </m:r>
                    <m:r>
                      <a:rPr lang="en-US" altLang="zh-CN" sz="1600" i="1">
                        <a:latin typeface="Cambria Math" panose="02040503050406030204" pitchFamily="18" charset="0"/>
                      </a:rPr>
                      <m:t> </m:t>
                    </m:r>
                    <m:r>
                      <a:rPr lang="en-US" altLang="zh-CN" sz="1600" i="1">
                        <a:latin typeface="Cambria Math" panose="02040503050406030204" pitchFamily="18" charset="0"/>
                      </a:rPr>
                      <m:t>𝑛</m:t>
                    </m:r>
                    <m:r>
                      <m:rPr>
                        <m:nor/>
                      </m:rPr>
                      <a:rPr lang="en-US" altLang="zh-CN" sz="1600"/>
                      <m:t>)</m:t>
                    </m:r>
                  </m:oMath>
                </a14:m>
                <a:r>
                  <a:rPr lang="en-US" altLang="zh-CN" sz="1600" dirty="0"/>
                  <a:t> </a:t>
                </a:r>
                <a:endParaRPr lang="zh-CN" altLang="en-US" sz="16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1691680" y="5729027"/>
                <a:ext cx="5999197" cy="637354"/>
              </a:xfrm>
              <a:prstGeom prst="rect">
                <a:avLst/>
              </a:prstGeom>
              <a:blipFill rotWithShape="0">
                <a:blip r:embed="rId6"/>
                <a:stretch>
                  <a:fillRect l="-610" t="-2885" b="-3846"/>
                </a:stretch>
              </a:blipFill>
            </p:spPr>
            <p:txBody>
              <a:bodyPr/>
              <a:lstStyle/>
              <a:p>
                <a:r>
                  <a:rPr lang="zh-CN" altLang="en-US">
                    <a:noFill/>
                  </a:rPr>
                  <a:t> </a:t>
                </a:r>
              </a:p>
            </p:txBody>
          </p:sp>
        </mc:Fallback>
      </mc:AlternateContent>
      <p:sp>
        <p:nvSpPr>
          <p:cNvPr id="11" name="左大括号 10"/>
          <p:cNvSpPr/>
          <p:nvPr/>
        </p:nvSpPr>
        <p:spPr bwMode="auto">
          <a:xfrm>
            <a:off x="1178259" y="2443157"/>
            <a:ext cx="384050" cy="3542682"/>
          </a:xfrm>
          <a:prstGeom prst="leftBrace">
            <a:avLst>
              <a:gd name="adj1" fmla="val 44272"/>
              <a:gd name="adj2" fmla="val 50000"/>
            </a:avLst>
          </a:prstGeom>
          <a:noFill/>
          <a:ln w="25400" cap="flat" cmpd="sng" algn="ctr">
            <a:solidFill>
              <a:srgbClr val="FFCC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2" name="上箭头标注 11"/>
          <p:cNvSpPr/>
          <p:nvPr/>
        </p:nvSpPr>
        <p:spPr bwMode="auto">
          <a:xfrm>
            <a:off x="2155120" y="2710718"/>
            <a:ext cx="5144561" cy="1219640"/>
          </a:xfrm>
          <a:prstGeom prst="upArrowCallout">
            <a:avLst>
              <a:gd name="adj1" fmla="val 16012"/>
              <a:gd name="adj2" fmla="val 19607"/>
              <a:gd name="adj3" fmla="val 16012"/>
              <a:gd name="adj4" fmla="val 78459"/>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3" name="文本框 12"/>
              <p:cNvSpPr txBox="1"/>
              <p:nvPr/>
            </p:nvSpPr>
            <p:spPr>
              <a:xfrm>
                <a:off x="2071372" y="3122573"/>
                <a:ext cx="5239811" cy="807785"/>
              </a:xfrm>
              <a:prstGeom prst="rect">
                <a:avLst/>
              </a:prstGeom>
              <a:noFill/>
            </p:spPr>
            <p:txBody>
              <a:bodyPr wrap="square" rtlCol="0">
                <a:spAutoFit/>
              </a:bodyPr>
              <a:lstStyle/>
              <a:p>
                <a:pPr>
                  <a:lnSpc>
                    <a:spcPts val="120"/>
                  </a:lnSpc>
                </a:pPr>
                <a:r>
                  <a:rPr lang="zh-CN" altLang="zh-CN" sz="1400" i="1" dirty="0">
                    <a:solidFill>
                      <a:srgbClr val="C00000"/>
                    </a:solidFill>
                    <a:latin typeface="方正舒体" panose="02010601030101010101" pitchFamily="2" charset="-122"/>
                    <a:ea typeface="方正舒体" panose="02010601030101010101" pitchFamily="2" charset="-122"/>
                  </a:rPr>
                  <a:t>也就是说，</a:t>
                </a:r>
                <a:r>
                  <a:rPr lang="en-US" altLang="zh-CN" sz="1400" i="1" dirty="0" err="1">
                    <a:solidFill>
                      <a:srgbClr val="C00000"/>
                    </a:solidFill>
                    <a:latin typeface="方正舒体" panose="02010601030101010101" pitchFamily="2" charset="-122"/>
                    <a:ea typeface="方正舒体" panose="02010601030101010101" pitchFamily="2" charset="-122"/>
                  </a:rPr>
                  <a:t>ed</a:t>
                </a:r>
                <a:r>
                  <a:rPr lang="zh-CN" altLang="zh-CN" sz="1400" i="1" dirty="0">
                    <a:solidFill>
                      <a:srgbClr val="C00000"/>
                    </a:solidFill>
                    <a:latin typeface="方正舒体" panose="02010601030101010101" pitchFamily="2" charset="-122"/>
                    <a:ea typeface="方正舒体" panose="02010601030101010101" pitchFamily="2" charset="-122"/>
                  </a:rPr>
                  <a:t>除以</a:t>
                </a:r>
                <a14:m>
                  <m:oMath xmlns:m="http://schemas.openxmlformats.org/officeDocument/2006/math">
                    <m:r>
                      <a:rPr lang="en-US" altLang="zh-CN" sz="1400" i="1">
                        <a:solidFill>
                          <a:srgbClr val="C00000"/>
                        </a:solidFill>
                        <a:latin typeface="Cambria Math" panose="02040503050406030204" pitchFamily="18" charset="0"/>
                        <a:ea typeface="方正舒体" panose="02010601030101010101" pitchFamily="2" charset="-122"/>
                      </a:rPr>
                      <m:t>(</m:t>
                    </m:r>
                    <m:r>
                      <a:rPr lang="en-US" altLang="zh-CN" sz="1400" i="1">
                        <a:solidFill>
                          <a:srgbClr val="C00000"/>
                        </a:solidFill>
                        <a:latin typeface="Cambria Math" panose="02040503050406030204" pitchFamily="18" charset="0"/>
                        <a:ea typeface="方正舒体" panose="02010601030101010101" pitchFamily="2" charset="-122"/>
                      </a:rPr>
                      <m:t>𝑝</m:t>
                    </m:r>
                    <m:r>
                      <a:rPr lang="en-US" altLang="zh-CN" sz="1400" i="1">
                        <a:solidFill>
                          <a:srgbClr val="C00000"/>
                        </a:solidFill>
                        <a:latin typeface="Cambria Math" panose="02040503050406030204" pitchFamily="18" charset="0"/>
                        <a:ea typeface="方正舒体" panose="02010601030101010101" pitchFamily="2" charset="-122"/>
                      </a:rPr>
                      <m:t>−1)(</m:t>
                    </m:r>
                    <m:r>
                      <a:rPr lang="en-US" altLang="zh-CN" sz="1400" i="1">
                        <a:solidFill>
                          <a:srgbClr val="C00000"/>
                        </a:solidFill>
                        <a:latin typeface="Cambria Math" panose="02040503050406030204" pitchFamily="18" charset="0"/>
                        <a:ea typeface="方正舒体" panose="02010601030101010101" pitchFamily="2" charset="-122"/>
                      </a:rPr>
                      <m:t>𝑞</m:t>
                    </m:r>
                    <m:r>
                      <a:rPr lang="en-US" altLang="zh-CN" sz="1400" i="1">
                        <a:solidFill>
                          <a:srgbClr val="C00000"/>
                        </a:solidFill>
                        <a:latin typeface="Cambria Math" panose="02040503050406030204" pitchFamily="18" charset="0"/>
                        <a:ea typeface="方正舒体" panose="02010601030101010101" pitchFamily="2" charset="-122"/>
                      </a:rPr>
                      <m:t>−1)</m:t>
                    </m:r>
                  </m:oMath>
                </a14:m>
                <a:r>
                  <a:rPr lang="zh-CN" altLang="zh-CN" sz="1400" i="1" dirty="0">
                    <a:solidFill>
                      <a:srgbClr val="C00000"/>
                    </a:solidFill>
                    <a:latin typeface="方正舒体" panose="02010601030101010101" pitchFamily="2" charset="-122"/>
                    <a:ea typeface="方正舒体" panose="02010601030101010101" pitchFamily="2" charset="-122"/>
                  </a:rPr>
                  <a:t>的余数为</a:t>
                </a:r>
                <a:r>
                  <a:rPr lang="en-US" altLang="zh-CN" sz="1400" i="1" dirty="0">
                    <a:solidFill>
                      <a:srgbClr val="C00000"/>
                    </a:solidFill>
                    <a:latin typeface="方正舒体" panose="02010601030101010101" pitchFamily="2" charset="-122"/>
                    <a:ea typeface="方正舒体" panose="02010601030101010101" pitchFamily="2" charset="-122"/>
                  </a:rPr>
                  <a:t>1</a:t>
                </a:r>
                <a:r>
                  <a:rPr lang="zh-CN" altLang="zh-CN" sz="1400" i="1" dirty="0">
                    <a:solidFill>
                      <a:srgbClr val="C00000"/>
                    </a:solidFill>
                    <a:latin typeface="方正舒体" panose="02010601030101010101" pitchFamily="2" charset="-122"/>
                    <a:ea typeface="方正舒体" panose="02010601030101010101" pitchFamily="2" charset="-122"/>
                  </a:rPr>
                  <a:t>，故存在整数</a:t>
                </a:r>
                <a:r>
                  <a:rPr lang="en-US" altLang="zh-CN" sz="1400" i="1" dirty="0">
                    <a:solidFill>
                      <a:srgbClr val="C00000"/>
                    </a:solidFill>
                    <a:latin typeface="方正舒体" panose="02010601030101010101" pitchFamily="2" charset="-122"/>
                    <a:ea typeface="方正舒体" panose="02010601030101010101" pitchFamily="2" charset="-122"/>
                  </a:rPr>
                  <a:t>k</a:t>
                </a:r>
                <a:r>
                  <a:rPr lang="zh-CN" altLang="zh-CN" sz="1400" i="1" dirty="0">
                    <a:solidFill>
                      <a:srgbClr val="C00000"/>
                    </a:solidFill>
                    <a:latin typeface="方正舒体" panose="02010601030101010101" pitchFamily="2" charset="-122"/>
                    <a:ea typeface="方正舒体" panose="02010601030101010101" pitchFamily="2" charset="-122"/>
                  </a:rPr>
                  <a:t>，使得：</a:t>
                </a:r>
              </a:p>
              <a:p>
                <a:pPr/>
                <a14:m>
                  <m:oMathPara xmlns:m="http://schemas.openxmlformats.org/officeDocument/2006/math">
                    <m:oMathParaPr>
                      <m:jc m:val="centerGroup"/>
                    </m:oMathParaPr>
                    <m:oMath xmlns:m="http://schemas.openxmlformats.org/officeDocument/2006/math">
                      <m:r>
                        <a:rPr lang="en-US" altLang="zh-CN" sz="1400" i="1">
                          <a:solidFill>
                            <a:srgbClr val="C00000"/>
                          </a:solidFill>
                          <a:latin typeface="Cambria Math" panose="02040503050406030204" pitchFamily="18" charset="0"/>
                          <a:ea typeface="方正舒体" panose="02010601030101010101" pitchFamily="2" charset="-122"/>
                        </a:rPr>
                        <m:t>𝑒𝑑</m:t>
                      </m:r>
                      <m:r>
                        <a:rPr lang="en-US" altLang="zh-CN" sz="1400" i="1">
                          <a:solidFill>
                            <a:srgbClr val="C00000"/>
                          </a:solidFill>
                          <a:latin typeface="Cambria Math" panose="02040503050406030204" pitchFamily="18" charset="0"/>
                          <a:ea typeface="方正舒体" panose="02010601030101010101" pitchFamily="2" charset="-122"/>
                        </a:rPr>
                        <m:t>= </m:t>
                      </m:r>
                      <m:d>
                        <m:dPr>
                          <m:ctrlPr>
                            <a:rPr lang="zh-CN" altLang="zh-CN" sz="1400" i="1">
                              <a:solidFill>
                                <a:srgbClr val="C00000"/>
                              </a:solidFill>
                              <a:latin typeface="Cambria Math" panose="02040503050406030204" pitchFamily="18" charset="0"/>
                              <a:ea typeface="方正舒体" panose="02010601030101010101" pitchFamily="2" charset="-122"/>
                            </a:rPr>
                          </m:ctrlPr>
                        </m:dPr>
                        <m:e>
                          <m:r>
                            <a:rPr lang="en-US" altLang="zh-CN" sz="1400" i="1">
                              <a:solidFill>
                                <a:srgbClr val="C00000"/>
                              </a:solidFill>
                              <a:latin typeface="Cambria Math" panose="02040503050406030204" pitchFamily="18" charset="0"/>
                              <a:ea typeface="方正舒体" panose="02010601030101010101" pitchFamily="2" charset="-122"/>
                            </a:rPr>
                            <m:t>𝑝</m:t>
                          </m:r>
                          <m:r>
                            <a:rPr lang="en-US" altLang="zh-CN" sz="1400" i="1">
                              <a:solidFill>
                                <a:srgbClr val="C00000"/>
                              </a:solidFill>
                              <a:latin typeface="Cambria Math" panose="02040503050406030204" pitchFamily="18" charset="0"/>
                              <a:ea typeface="方正舒体" panose="02010601030101010101" pitchFamily="2" charset="-122"/>
                            </a:rPr>
                            <m:t>−1</m:t>
                          </m:r>
                        </m:e>
                      </m:d>
                      <m:d>
                        <m:dPr>
                          <m:ctrlPr>
                            <a:rPr lang="zh-CN" altLang="zh-CN" sz="1400" i="1">
                              <a:solidFill>
                                <a:srgbClr val="C00000"/>
                              </a:solidFill>
                              <a:latin typeface="Cambria Math" panose="02040503050406030204" pitchFamily="18" charset="0"/>
                              <a:ea typeface="方正舒体" panose="02010601030101010101" pitchFamily="2" charset="-122"/>
                            </a:rPr>
                          </m:ctrlPr>
                        </m:dPr>
                        <m:e>
                          <m:r>
                            <a:rPr lang="en-US" altLang="zh-CN" sz="1400" i="1">
                              <a:solidFill>
                                <a:srgbClr val="C00000"/>
                              </a:solidFill>
                              <a:latin typeface="Cambria Math" panose="02040503050406030204" pitchFamily="18" charset="0"/>
                              <a:ea typeface="方正舒体" panose="02010601030101010101" pitchFamily="2" charset="-122"/>
                            </a:rPr>
                            <m:t>𝑞</m:t>
                          </m:r>
                          <m:r>
                            <a:rPr lang="en-US" altLang="zh-CN" sz="1400" i="1">
                              <a:solidFill>
                                <a:srgbClr val="C00000"/>
                              </a:solidFill>
                              <a:latin typeface="Cambria Math" panose="02040503050406030204" pitchFamily="18" charset="0"/>
                              <a:ea typeface="方正舒体" panose="02010601030101010101" pitchFamily="2" charset="-122"/>
                            </a:rPr>
                            <m:t>−1</m:t>
                          </m:r>
                        </m:e>
                      </m:d>
                      <m:r>
                        <a:rPr lang="en-US" altLang="zh-CN" sz="1400" i="1">
                          <a:solidFill>
                            <a:srgbClr val="C00000"/>
                          </a:solidFill>
                          <a:latin typeface="Cambria Math" panose="02040503050406030204" pitchFamily="18" charset="0"/>
                          <a:ea typeface="方正舒体" panose="02010601030101010101" pitchFamily="2" charset="-122"/>
                        </a:rPr>
                        <m:t>𝑘</m:t>
                      </m:r>
                      <m:r>
                        <a:rPr lang="en-US" altLang="zh-CN" sz="1400" i="1">
                          <a:solidFill>
                            <a:srgbClr val="C00000"/>
                          </a:solidFill>
                          <a:latin typeface="Cambria Math" panose="02040503050406030204" pitchFamily="18" charset="0"/>
                          <a:ea typeface="方正舒体" panose="02010601030101010101" pitchFamily="2" charset="-122"/>
                        </a:rPr>
                        <m:t>+1</m:t>
                      </m:r>
                    </m:oMath>
                  </m:oMathPara>
                </a14:m>
                <a:endParaRPr lang="zh-CN" altLang="zh-CN" sz="1400" i="1" dirty="0">
                  <a:solidFill>
                    <a:srgbClr val="C00000"/>
                  </a:solidFill>
                  <a:latin typeface="方正舒体" panose="02010601030101010101" pitchFamily="2" charset="-122"/>
                  <a:ea typeface="方正舒体" panose="02010601030101010101" pitchFamily="2" charset="-122"/>
                </a:endParaRPr>
              </a:p>
              <a:p>
                <a:r>
                  <a:rPr lang="zh-CN" altLang="zh-CN" sz="1400" i="1" dirty="0">
                    <a:solidFill>
                      <a:srgbClr val="C00000"/>
                    </a:solidFill>
                    <a:latin typeface="方正舒体" panose="02010601030101010101" pitchFamily="2" charset="-122"/>
                    <a:ea typeface="方正舒体" panose="02010601030101010101" pitchFamily="2" charset="-122"/>
                  </a:rPr>
                  <a:t>故有：</a:t>
                </a:r>
              </a:p>
              <a:p>
                <a:pPr/>
                <a14:m>
                  <m:oMathPara xmlns:m="http://schemas.openxmlformats.org/officeDocument/2006/math">
                    <m:oMathParaPr>
                      <m:jc m:val="centerGroup"/>
                    </m:oMathParaPr>
                    <m:oMath xmlns:m="http://schemas.openxmlformats.org/officeDocument/2006/math">
                      <m:sSup>
                        <m:sSupPr>
                          <m:ctrlPr>
                            <a:rPr lang="zh-CN" altLang="zh-CN" sz="1400" i="1">
                              <a:solidFill>
                                <a:srgbClr val="C00000"/>
                              </a:solidFill>
                              <a:latin typeface="Cambria Math" panose="02040503050406030204" pitchFamily="18" charset="0"/>
                              <a:ea typeface="方正舒体" panose="02010601030101010101" pitchFamily="2" charset="-122"/>
                            </a:rPr>
                          </m:ctrlPr>
                        </m:sSupPr>
                        <m:e>
                          <m:r>
                            <a:rPr lang="en-US" altLang="zh-CN" sz="1400" i="1">
                              <a:solidFill>
                                <a:srgbClr val="C00000"/>
                              </a:solidFill>
                              <a:latin typeface="Cambria Math" panose="02040503050406030204" pitchFamily="18" charset="0"/>
                              <a:ea typeface="方正舒体" panose="02010601030101010101" pitchFamily="2" charset="-122"/>
                            </a:rPr>
                            <m:t>𝐶</m:t>
                          </m:r>
                        </m:e>
                        <m:sup>
                          <m:r>
                            <a:rPr lang="en-US" altLang="zh-CN" sz="1400" i="1">
                              <a:solidFill>
                                <a:srgbClr val="C00000"/>
                              </a:solidFill>
                              <a:latin typeface="Cambria Math" panose="02040503050406030204" pitchFamily="18" charset="0"/>
                              <a:ea typeface="方正舒体" panose="02010601030101010101" pitchFamily="2" charset="-122"/>
                            </a:rPr>
                            <m:t>𝑑</m:t>
                          </m:r>
                        </m:sup>
                      </m:sSup>
                      <m:r>
                        <a:rPr lang="en-US" altLang="zh-CN" sz="1400" i="1">
                          <a:solidFill>
                            <a:srgbClr val="C00000"/>
                          </a:solidFill>
                          <a:latin typeface="Cambria Math" panose="02040503050406030204" pitchFamily="18" charset="0"/>
                          <a:ea typeface="方正舒体" panose="02010601030101010101" pitchFamily="2" charset="-122"/>
                        </a:rPr>
                        <m:t>≡</m:t>
                      </m:r>
                      <m:sSup>
                        <m:sSupPr>
                          <m:ctrlPr>
                            <a:rPr lang="zh-CN" altLang="zh-CN" sz="1400" i="1">
                              <a:solidFill>
                                <a:srgbClr val="C00000"/>
                              </a:solidFill>
                              <a:latin typeface="Cambria Math" panose="02040503050406030204" pitchFamily="18" charset="0"/>
                              <a:ea typeface="方正舒体" panose="02010601030101010101" pitchFamily="2" charset="-122"/>
                            </a:rPr>
                          </m:ctrlPr>
                        </m:sSupPr>
                        <m:e>
                          <m:r>
                            <a:rPr lang="en-US" altLang="zh-CN" sz="1400" i="1">
                              <a:solidFill>
                                <a:srgbClr val="C00000"/>
                              </a:solidFill>
                              <a:latin typeface="Cambria Math" panose="02040503050406030204" pitchFamily="18" charset="0"/>
                              <a:ea typeface="方正舒体" panose="02010601030101010101" pitchFamily="2" charset="-122"/>
                            </a:rPr>
                            <m:t>(</m:t>
                          </m:r>
                          <m:sSup>
                            <m:sSupPr>
                              <m:ctrlPr>
                                <a:rPr lang="zh-CN" altLang="zh-CN" sz="1400" i="1">
                                  <a:solidFill>
                                    <a:srgbClr val="C00000"/>
                                  </a:solidFill>
                                  <a:latin typeface="Cambria Math" panose="02040503050406030204" pitchFamily="18" charset="0"/>
                                  <a:ea typeface="方正舒体" panose="02010601030101010101" pitchFamily="2" charset="-122"/>
                                </a:rPr>
                              </m:ctrlPr>
                            </m:sSupPr>
                            <m:e>
                              <m:r>
                                <a:rPr lang="en-US" altLang="zh-CN" sz="1400" i="1">
                                  <a:solidFill>
                                    <a:srgbClr val="C00000"/>
                                  </a:solidFill>
                                  <a:latin typeface="Cambria Math" panose="02040503050406030204" pitchFamily="18" charset="0"/>
                                  <a:ea typeface="方正舒体" panose="02010601030101010101" pitchFamily="2" charset="-122"/>
                                </a:rPr>
                                <m:t>𝑀</m:t>
                              </m:r>
                            </m:e>
                            <m:sup>
                              <m:r>
                                <a:rPr lang="en-US" altLang="zh-CN" sz="1400" i="1">
                                  <a:solidFill>
                                    <a:srgbClr val="C00000"/>
                                  </a:solidFill>
                                  <a:latin typeface="Cambria Math" panose="02040503050406030204" pitchFamily="18" charset="0"/>
                                  <a:ea typeface="方正舒体" panose="02010601030101010101" pitchFamily="2" charset="-122"/>
                                </a:rPr>
                                <m:t>𝑒</m:t>
                              </m:r>
                            </m:sup>
                          </m:sSup>
                          <m:r>
                            <a:rPr lang="en-US" altLang="zh-CN" sz="1400" i="1">
                              <a:solidFill>
                                <a:srgbClr val="C00000"/>
                              </a:solidFill>
                              <a:latin typeface="Cambria Math" panose="02040503050406030204" pitchFamily="18" charset="0"/>
                              <a:ea typeface="方正舒体" panose="02010601030101010101" pitchFamily="2" charset="-122"/>
                            </a:rPr>
                            <m:t>)</m:t>
                          </m:r>
                        </m:e>
                        <m:sup>
                          <m:r>
                            <a:rPr lang="en-US" altLang="zh-CN" sz="1400" i="1">
                              <a:solidFill>
                                <a:srgbClr val="C00000"/>
                              </a:solidFill>
                              <a:latin typeface="Cambria Math" panose="02040503050406030204" pitchFamily="18" charset="0"/>
                              <a:ea typeface="方正舒体" panose="02010601030101010101" pitchFamily="2" charset="-122"/>
                            </a:rPr>
                            <m:t>𝑑</m:t>
                          </m:r>
                        </m:sup>
                      </m:sSup>
                      <m:r>
                        <a:rPr lang="en-US" altLang="zh-CN" sz="1400" i="1">
                          <a:solidFill>
                            <a:srgbClr val="C00000"/>
                          </a:solidFill>
                          <a:latin typeface="Cambria Math" panose="02040503050406030204" pitchFamily="18" charset="0"/>
                          <a:ea typeface="方正舒体" panose="02010601030101010101" pitchFamily="2" charset="-122"/>
                        </a:rPr>
                        <m:t>≡</m:t>
                      </m:r>
                      <m:sSup>
                        <m:sSupPr>
                          <m:ctrlPr>
                            <a:rPr lang="zh-CN" altLang="zh-CN" sz="1400" i="1">
                              <a:solidFill>
                                <a:srgbClr val="C00000"/>
                              </a:solidFill>
                              <a:latin typeface="Cambria Math" panose="02040503050406030204" pitchFamily="18" charset="0"/>
                              <a:ea typeface="方正舒体" panose="02010601030101010101" pitchFamily="2" charset="-122"/>
                            </a:rPr>
                          </m:ctrlPr>
                        </m:sSupPr>
                        <m:e>
                          <m:r>
                            <a:rPr lang="en-US" altLang="zh-CN" sz="1400" i="1">
                              <a:solidFill>
                                <a:srgbClr val="C00000"/>
                              </a:solidFill>
                              <a:latin typeface="Cambria Math" panose="02040503050406030204" pitchFamily="18" charset="0"/>
                              <a:ea typeface="方正舒体" panose="02010601030101010101" pitchFamily="2" charset="-122"/>
                            </a:rPr>
                            <m:t>𝑀</m:t>
                          </m:r>
                        </m:e>
                        <m:sup>
                          <m:r>
                            <a:rPr lang="en-US" altLang="zh-CN" sz="1400" i="1">
                              <a:solidFill>
                                <a:srgbClr val="C00000"/>
                              </a:solidFill>
                              <a:latin typeface="Cambria Math" panose="02040503050406030204" pitchFamily="18" charset="0"/>
                              <a:ea typeface="方正舒体" panose="02010601030101010101" pitchFamily="2" charset="-122"/>
                            </a:rPr>
                            <m:t>𝑒𝑑</m:t>
                          </m:r>
                        </m:sup>
                      </m:sSup>
                      <m:r>
                        <a:rPr lang="en-US" altLang="zh-CN" sz="1400" i="1">
                          <a:solidFill>
                            <a:srgbClr val="C00000"/>
                          </a:solidFill>
                          <a:latin typeface="Cambria Math" panose="02040503050406030204" pitchFamily="18" charset="0"/>
                          <a:ea typeface="方正舒体" panose="02010601030101010101" pitchFamily="2" charset="-122"/>
                        </a:rPr>
                        <m:t>≡</m:t>
                      </m:r>
                      <m:sSup>
                        <m:sSupPr>
                          <m:ctrlPr>
                            <a:rPr lang="zh-CN" altLang="zh-CN" sz="1400" i="1">
                              <a:solidFill>
                                <a:srgbClr val="C00000"/>
                              </a:solidFill>
                              <a:latin typeface="Cambria Math" panose="02040503050406030204" pitchFamily="18" charset="0"/>
                              <a:ea typeface="方正舒体" panose="02010601030101010101" pitchFamily="2" charset="-122"/>
                            </a:rPr>
                          </m:ctrlPr>
                        </m:sSupPr>
                        <m:e>
                          <m:r>
                            <a:rPr lang="en-US" altLang="zh-CN" sz="1400" i="1">
                              <a:solidFill>
                                <a:srgbClr val="C00000"/>
                              </a:solidFill>
                              <a:latin typeface="Cambria Math" panose="02040503050406030204" pitchFamily="18" charset="0"/>
                              <a:ea typeface="方正舒体" panose="02010601030101010101" pitchFamily="2" charset="-122"/>
                            </a:rPr>
                            <m:t>𝑀</m:t>
                          </m:r>
                        </m:e>
                        <m:sup>
                          <m:d>
                            <m:dPr>
                              <m:ctrlPr>
                                <a:rPr lang="zh-CN" altLang="zh-CN" sz="1400" i="1">
                                  <a:solidFill>
                                    <a:srgbClr val="C00000"/>
                                  </a:solidFill>
                                  <a:latin typeface="Cambria Math" panose="02040503050406030204" pitchFamily="18" charset="0"/>
                                  <a:ea typeface="方正舒体" panose="02010601030101010101" pitchFamily="2" charset="-122"/>
                                </a:rPr>
                              </m:ctrlPr>
                            </m:dPr>
                            <m:e>
                              <m:r>
                                <a:rPr lang="en-US" altLang="zh-CN" sz="1400" i="1">
                                  <a:solidFill>
                                    <a:srgbClr val="C00000"/>
                                  </a:solidFill>
                                  <a:latin typeface="Cambria Math" panose="02040503050406030204" pitchFamily="18" charset="0"/>
                                  <a:ea typeface="方正舒体" panose="02010601030101010101" pitchFamily="2" charset="-122"/>
                                </a:rPr>
                                <m:t>𝑝</m:t>
                              </m:r>
                              <m:r>
                                <a:rPr lang="en-US" altLang="zh-CN" sz="1400" i="1">
                                  <a:solidFill>
                                    <a:srgbClr val="C00000"/>
                                  </a:solidFill>
                                  <a:latin typeface="Cambria Math" panose="02040503050406030204" pitchFamily="18" charset="0"/>
                                  <a:ea typeface="方正舒体" panose="02010601030101010101" pitchFamily="2" charset="-122"/>
                                </a:rPr>
                                <m:t>−1</m:t>
                              </m:r>
                            </m:e>
                          </m:d>
                          <m:d>
                            <m:dPr>
                              <m:ctrlPr>
                                <a:rPr lang="zh-CN" altLang="zh-CN" sz="1400" i="1">
                                  <a:solidFill>
                                    <a:srgbClr val="C00000"/>
                                  </a:solidFill>
                                  <a:latin typeface="Cambria Math" panose="02040503050406030204" pitchFamily="18" charset="0"/>
                                  <a:ea typeface="方正舒体" panose="02010601030101010101" pitchFamily="2" charset="-122"/>
                                </a:rPr>
                              </m:ctrlPr>
                            </m:dPr>
                            <m:e>
                              <m:r>
                                <a:rPr lang="en-US" altLang="zh-CN" sz="1400" i="1">
                                  <a:solidFill>
                                    <a:srgbClr val="C00000"/>
                                  </a:solidFill>
                                  <a:latin typeface="Cambria Math" panose="02040503050406030204" pitchFamily="18" charset="0"/>
                                  <a:ea typeface="方正舒体" panose="02010601030101010101" pitchFamily="2" charset="-122"/>
                                </a:rPr>
                                <m:t>𝑞</m:t>
                              </m:r>
                              <m:r>
                                <a:rPr lang="en-US" altLang="zh-CN" sz="1400" i="1">
                                  <a:solidFill>
                                    <a:srgbClr val="C00000"/>
                                  </a:solidFill>
                                  <a:latin typeface="Cambria Math" panose="02040503050406030204" pitchFamily="18" charset="0"/>
                                  <a:ea typeface="方正舒体" panose="02010601030101010101" pitchFamily="2" charset="-122"/>
                                </a:rPr>
                                <m:t>−1</m:t>
                              </m:r>
                            </m:e>
                          </m:d>
                          <m:r>
                            <a:rPr lang="en-US" altLang="zh-CN" sz="1400" i="1">
                              <a:solidFill>
                                <a:srgbClr val="C00000"/>
                              </a:solidFill>
                              <a:latin typeface="Cambria Math" panose="02040503050406030204" pitchFamily="18" charset="0"/>
                              <a:ea typeface="方正舒体" panose="02010601030101010101" pitchFamily="2" charset="-122"/>
                            </a:rPr>
                            <m:t>𝑘</m:t>
                          </m:r>
                          <m:r>
                            <a:rPr lang="en-US" altLang="zh-CN" sz="1400" i="1">
                              <a:solidFill>
                                <a:srgbClr val="C00000"/>
                              </a:solidFill>
                              <a:latin typeface="Cambria Math" panose="02040503050406030204" pitchFamily="18" charset="0"/>
                              <a:ea typeface="方正舒体" panose="02010601030101010101" pitchFamily="2" charset="-122"/>
                            </a:rPr>
                            <m:t>+1</m:t>
                          </m:r>
                        </m:sup>
                      </m:sSup>
                      <m:r>
                        <m:rPr>
                          <m:nor/>
                        </m:rPr>
                        <a:rPr lang="en-US" altLang="zh-CN" sz="1400" i="1">
                          <a:solidFill>
                            <a:srgbClr val="C00000"/>
                          </a:solidFill>
                          <a:latin typeface="方正舒体" panose="02010601030101010101" pitchFamily="2" charset="-122"/>
                          <a:ea typeface="方正舒体" panose="02010601030101010101" pitchFamily="2" charset="-122"/>
                        </a:rPr>
                        <m:t> (</m:t>
                      </m:r>
                      <m:r>
                        <m:rPr>
                          <m:nor/>
                        </m:rPr>
                        <a:rPr lang="en-US" altLang="zh-CN" sz="1400" i="1">
                          <a:solidFill>
                            <a:srgbClr val="C00000"/>
                          </a:solidFill>
                          <a:latin typeface="方正舒体" panose="02010601030101010101" pitchFamily="2" charset="-122"/>
                          <a:ea typeface="方正舒体" panose="02010601030101010101" pitchFamily="2" charset="-122"/>
                        </a:rPr>
                        <m:t>mod</m:t>
                      </m:r>
                      <m:r>
                        <m:rPr>
                          <m:nor/>
                        </m:rPr>
                        <a:rPr lang="en-US" altLang="zh-CN" sz="1400" i="1">
                          <a:solidFill>
                            <a:srgbClr val="C00000"/>
                          </a:solidFill>
                          <a:latin typeface="方正舒体" panose="02010601030101010101" pitchFamily="2" charset="-122"/>
                          <a:ea typeface="方正舒体" panose="02010601030101010101" pitchFamily="2" charset="-122"/>
                        </a:rPr>
                        <m:t> </m:t>
                      </m:r>
                      <m:r>
                        <a:rPr lang="en-US" altLang="zh-CN" sz="1400" i="1">
                          <a:solidFill>
                            <a:srgbClr val="C00000"/>
                          </a:solidFill>
                          <a:latin typeface="Cambria Math" panose="02040503050406030204" pitchFamily="18" charset="0"/>
                          <a:ea typeface="方正舒体" panose="02010601030101010101" pitchFamily="2" charset="-122"/>
                        </a:rPr>
                        <m:t>𝑛</m:t>
                      </m:r>
                      <m:r>
                        <m:rPr>
                          <m:nor/>
                        </m:rPr>
                        <a:rPr lang="en-US" altLang="zh-CN" sz="1400" i="1">
                          <a:solidFill>
                            <a:srgbClr val="C00000"/>
                          </a:solidFill>
                          <a:latin typeface="方正舒体" panose="02010601030101010101" pitchFamily="2" charset="-122"/>
                          <a:ea typeface="方正舒体" panose="02010601030101010101" pitchFamily="2" charset="-122"/>
                        </a:rPr>
                        <m:t>)</m:t>
                      </m:r>
                    </m:oMath>
                  </m:oMathPara>
                </a14:m>
                <a:endParaRPr lang="zh-CN" altLang="en-US" sz="1400" i="1" dirty="0">
                  <a:solidFill>
                    <a:srgbClr val="C00000"/>
                  </a:solidFill>
                  <a:latin typeface="方正舒体" panose="02010601030101010101" pitchFamily="2" charset="-122"/>
                  <a:ea typeface="方正舒体" panose="02010601030101010101" pitchFamily="2"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2071372" y="3122573"/>
                <a:ext cx="5239811" cy="807785"/>
              </a:xfrm>
              <a:prstGeom prst="rect">
                <a:avLst/>
              </a:prstGeom>
              <a:blipFill rotWithShape="0">
                <a:blip r:embed="rId7"/>
                <a:stretch>
                  <a:fillRect l="-349" t="-22556"/>
                </a:stretch>
              </a:blipFill>
            </p:spPr>
            <p:txBody>
              <a:bodyPr/>
              <a:lstStyle/>
              <a:p>
                <a:r>
                  <a:rPr lang="zh-CN" altLang="en-US">
                    <a:noFill/>
                  </a:rPr>
                  <a:t> </a:t>
                </a:r>
              </a:p>
            </p:txBody>
          </p:sp>
        </mc:Fallback>
      </mc:AlternateContent>
      <p:sp>
        <p:nvSpPr>
          <p:cNvPr id="14" name="上箭头标注 13"/>
          <p:cNvSpPr/>
          <p:nvPr/>
        </p:nvSpPr>
        <p:spPr bwMode="auto">
          <a:xfrm>
            <a:off x="2470966" y="4683255"/>
            <a:ext cx="4475083" cy="959806"/>
          </a:xfrm>
          <a:prstGeom prst="upArrowCallout">
            <a:avLst>
              <a:gd name="adj1" fmla="val 16012"/>
              <a:gd name="adj2" fmla="val 19607"/>
              <a:gd name="adj3" fmla="val 16012"/>
              <a:gd name="adj4" fmla="val 78459"/>
            </a:avLst>
          </a:prstGeom>
          <a:solidFill>
            <a:srgbClr val="FFC000"/>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5" name="文本框 14"/>
              <p:cNvSpPr txBox="1"/>
              <p:nvPr/>
            </p:nvSpPr>
            <p:spPr>
              <a:xfrm>
                <a:off x="2446529" y="4904985"/>
                <a:ext cx="4643536" cy="6642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𝐶</m:t>
                          </m:r>
                        </m:e>
                        <m:sup>
                          <m:r>
                            <a:rPr lang="en-US" altLang="zh-CN" sz="1400" i="1">
                              <a:latin typeface="Cambria Math" panose="02040503050406030204" pitchFamily="18" charset="0"/>
                            </a:rPr>
                            <m:t>𝑑</m:t>
                          </m:r>
                        </m:sup>
                      </m:sSup>
                      <m:r>
                        <a:rPr lang="en-US" altLang="zh-CN" sz="1400" i="1">
                          <a:latin typeface="Cambria Math" panose="02040503050406030204" pitchFamily="18" charset="0"/>
                        </a:rPr>
                        <m:t>≡</m:t>
                      </m:r>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𝑀</m:t>
                          </m:r>
                        </m:e>
                        <m:sup>
                          <m:d>
                            <m:dPr>
                              <m:ctrlPr>
                                <a:rPr lang="zh-CN" altLang="zh-CN" sz="1400" i="1">
                                  <a:latin typeface="Cambria Math" panose="02040503050406030204" pitchFamily="18" charset="0"/>
                                </a:rPr>
                              </m:ctrlPr>
                            </m:dPr>
                            <m:e>
                              <m:r>
                                <a:rPr lang="en-US" altLang="zh-CN" sz="1400" i="1">
                                  <a:latin typeface="Cambria Math" panose="02040503050406030204" pitchFamily="18" charset="0"/>
                                </a:rPr>
                                <m:t>𝑝</m:t>
                              </m:r>
                              <m:r>
                                <a:rPr lang="en-US" altLang="zh-CN" sz="1400" i="1">
                                  <a:latin typeface="Cambria Math" panose="02040503050406030204" pitchFamily="18" charset="0"/>
                                </a:rPr>
                                <m:t>−1</m:t>
                              </m:r>
                            </m:e>
                          </m:d>
                          <m:d>
                            <m:dPr>
                              <m:ctrlPr>
                                <a:rPr lang="zh-CN" altLang="zh-CN" sz="1400" i="1">
                                  <a:latin typeface="Cambria Math" panose="02040503050406030204" pitchFamily="18" charset="0"/>
                                </a:rPr>
                              </m:ctrlPr>
                            </m:dPr>
                            <m:e>
                              <m:r>
                                <a:rPr lang="en-US" altLang="zh-CN" sz="1400" i="1">
                                  <a:latin typeface="Cambria Math" panose="02040503050406030204" pitchFamily="18" charset="0"/>
                                </a:rPr>
                                <m:t>𝑞</m:t>
                              </m:r>
                              <m:r>
                                <a:rPr lang="en-US" altLang="zh-CN" sz="1400" i="1">
                                  <a:latin typeface="Cambria Math" panose="02040503050406030204" pitchFamily="18" charset="0"/>
                                </a:rPr>
                                <m:t>−1</m:t>
                              </m:r>
                            </m:e>
                          </m:d>
                          <m:r>
                            <a:rPr lang="en-US" altLang="zh-CN" sz="1400" i="1">
                              <a:latin typeface="Cambria Math" panose="02040503050406030204" pitchFamily="18" charset="0"/>
                            </a:rPr>
                            <m:t>𝑘</m:t>
                          </m:r>
                          <m:r>
                            <a:rPr lang="en-US" altLang="zh-CN" sz="1400" i="1">
                              <a:latin typeface="Cambria Math" panose="02040503050406030204" pitchFamily="18" charset="0"/>
                            </a:rPr>
                            <m:t>+1</m:t>
                          </m:r>
                        </m:sup>
                      </m:sSup>
                      <m:r>
                        <m:rPr>
                          <m:nor/>
                        </m:rPr>
                        <a:rPr lang="en-US" altLang="zh-CN" sz="1400"/>
                        <m:t> ≡</m:t>
                      </m:r>
                      <m:r>
                        <m:rPr>
                          <m:nor/>
                        </m:rPr>
                        <a:rPr lang="en-US" altLang="zh-CN" sz="1400" i="1"/>
                        <m:t>M</m:t>
                      </m:r>
                      <m:r>
                        <m:rPr>
                          <m:nor/>
                        </m:rPr>
                        <a:rPr lang="en-US" altLang="zh-CN" sz="1400"/>
                        <m:t>∙</m:t>
                      </m:r>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m:t>
                          </m:r>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𝑀</m:t>
                              </m:r>
                            </m:e>
                            <m:sup>
                              <m:r>
                                <a:rPr lang="en-US" altLang="zh-CN" sz="1400" i="1">
                                  <a:latin typeface="Cambria Math" panose="02040503050406030204" pitchFamily="18" charset="0"/>
                                </a:rPr>
                                <m:t>𝑝</m:t>
                              </m:r>
                              <m:r>
                                <a:rPr lang="en-US" altLang="zh-CN" sz="1400" i="1">
                                  <a:latin typeface="Cambria Math" panose="02040503050406030204" pitchFamily="18" charset="0"/>
                                </a:rPr>
                                <m:t>−1</m:t>
                              </m:r>
                            </m:sup>
                          </m:sSup>
                          <m:r>
                            <a:rPr lang="en-US" altLang="zh-CN" sz="1400" i="1">
                              <a:latin typeface="Cambria Math" panose="02040503050406030204" pitchFamily="18" charset="0"/>
                            </a:rPr>
                            <m:t>)</m:t>
                          </m:r>
                        </m:e>
                        <m:sup>
                          <m:r>
                            <a:rPr lang="en-US" altLang="zh-CN" sz="1400" i="1">
                              <a:latin typeface="Cambria Math" panose="02040503050406030204" pitchFamily="18" charset="0"/>
                            </a:rPr>
                            <m:t>𝑘</m:t>
                          </m:r>
                          <m:r>
                            <a:rPr lang="en-US" altLang="zh-CN" sz="1400" i="1">
                              <a:latin typeface="Cambria Math" panose="02040503050406030204" pitchFamily="18" charset="0"/>
                            </a:rPr>
                            <m:t>(</m:t>
                          </m:r>
                          <m:r>
                            <a:rPr lang="en-US" altLang="zh-CN" sz="1400" i="1">
                              <a:latin typeface="Cambria Math" panose="02040503050406030204" pitchFamily="18" charset="0"/>
                            </a:rPr>
                            <m:t>𝑞</m:t>
                          </m:r>
                          <m:r>
                            <a:rPr lang="en-US" altLang="zh-CN" sz="1400" i="1">
                              <a:latin typeface="Cambria Math" panose="02040503050406030204" pitchFamily="18" charset="0"/>
                            </a:rPr>
                            <m:t>−1)</m:t>
                          </m:r>
                        </m:sup>
                      </m:sSup>
                      <m:r>
                        <m:rPr>
                          <m:nor/>
                        </m:rPr>
                        <a:rPr lang="en-US" altLang="zh-CN" sz="1400"/>
                        <m:t>≡</m:t>
                      </m:r>
                      <m:r>
                        <m:rPr>
                          <m:nor/>
                        </m:rPr>
                        <a:rPr lang="en-US" altLang="zh-CN" sz="1400" i="1"/>
                        <m:t>M</m:t>
                      </m:r>
                      <m:r>
                        <m:rPr>
                          <m:nor/>
                        </m:rPr>
                        <a:rPr lang="en-US" altLang="zh-CN" sz="1400"/>
                        <m:t>∙1≡</m:t>
                      </m:r>
                      <m:r>
                        <m:rPr>
                          <m:nor/>
                        </m:rPr>
                        <a:rPr lang="en-US" altLang="zh-CN" sz="1400" i="1"/>
                        <m:t>M</m:t>
                      </m:r>
                      <m:r>
                        <m:rPr>
                          <m:nor/>
                        </m:rPr>
                        <a:rPr lang="en-US" altLang="zh-CN" sz="1400"/>
                        <m:t> (</m:t>
                      </m:r>
                      <m:r>
                        <m:rPr>
                          <m:nor/>
                        </m:rPr>
                        <a:rPr lang="en-US" altLang="zh-CN" sz="1400"/>
                        <m:t>mod</m:t>
                      </m:r>
                      <m:r>
                        <m:rPr>
                          <m:nor/>
                        </m:rPr>
                        <a:rPr lang="en-US" altLang="zh-CN" sz="1400"/>
                        <m:t> </m:t>
                      </m:r>
                      <m:r>
                        <a:rPr lang="en-US" altLang="zh-CN" sz="1400" i="1">
                          <a:latin typeface="Cambria Math" panose="02040503050406030204" pitchFamily="18" charset="0"/>
                        </a:rPr>
                        <m:t>𝑝</m:t>
                      </m:r>
                      <m:r>
                        <m:rPr>
                          <m:nor/>
                        </m:rPr>
                        <a:rPr lang="en-US" altLang="zh-CN" sz="1400"/>
                        <m:t>)</m:t>
                      </m:r>
                    </m:oMath>
                  </m:oMathPara>
                </a14:m>
                <a:endParaRPr lang="zh-CN" altLang="zh-CN" sz="1400" dirty="0"/>
              </a:p>
              <a:p>
                <a:pPr/>
                <a14:m>
                  <m:oMathPara xmlns:m="http://schemas.openxmlformats.org/officeDocument/2006/math">
                    <m:oMathParaPr>
                      <m:jc m:val="centerGroup"/>
                    </m:oMathParaPr>
                    <m:oMath xmlns:m="http://schemas.openxmlformats.org/officeDocument/2006/math">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𝐶</m:t>
                          </m:r>
                        </m:e>
                        <m:sup>
                          <m:r>
                            <a:rPr lang="en-US" altLang="zh-CN" sz="1400" i="1">
                              <a:latin typeface="Cambria Math" panose="02040503050406030204" pitchFamily="18" charset="0"/>
                            </a:rPr>
                            <m:t>𝑑</m:t>
                          </m:r>
                        </m:sup>
                      </m:sSup>
                      <m:r>
                        <a:rPr lang="en-US" altLang="zh-CN" sz="1400" i="1">
                          <a:latin typeface="Cambria Math" panose="02040503050406030204" pitchFamily="18" charset="0"/>
                        </a:rPr>
                        <m:t>≡</m:t>
                      </m:r>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𝑀</m:t>
                          </m:r>
                        </m:e>
                        <m:sup>
                          <m:d>
                            <m:dPr>
                              <m:ctrlPr>
                                <a:rPr lang="zh-CN" altLang="zh-CN" sz="1400" i="1">
                                  <a:latin typeface="Cambria Math" panose="02040503050406030204" pitchFamily="18" charset="0"/>
                                </a:rPr>
                              </m:ctrlPr>
                            </m:dPr>
                            <m:e>
                              <m:r>
                                <a:rPr lang="en-US" altLang="zh-CN" sz="1400" i="1">
                                  <a:latin typeface="Cambria Math" panose="02040503050406030204" pitchFamily="18" charset="0"/>
                                </a:rPr>
                                <m:t>𝑝</m:t>
                              </m:r>
                              <m:r>
                                <a:rPr lang="en-US" altLang="zh-CN" sz="1400" i="1">
                                  <a:latin typeface="Cambria Math" panose="02040503050406030204" pitchFamily="18" charset="0"/>
                                </a:rPr>
                                <m:t>−1</m:t>
                              </m:r>
                            </m:e>
                          </m:d>
                          <m:d>
                            <m:dPr>
                              <m:ctrlPr>
                                <a:rPr lang="zh-CN" altLang="zh-CN" sz="1400" i="1">
                                  <a:latin typeface="Cambria Math" panose="02040503050406030204" pitchFamily="18" charset="0"/>
                                </a:rPr>
                              </m:ctrlPr>
                            </m:dPr>
                            <m:e>
                              <m:r>
                                <a:rPr lang="en-US" altLang="zh-CN" sz="1400" i="1">
                                  <a:latin typeface="Cambria Math" panose="02040503050406030204" pitchFamily="18" charset="0"/>
                                </a:rPr>
                                <m:t>𝑞</m:t>
                              </m:r>
                              <m:r>
                                <a:rPr lang="en-US" altLang="zh-CN" sz="1400" i="1">
                                  <a:latin typeface="Cambria Math" panose="02040503050406030204" pitchFamily="18" charset="0"/>
                                </a:rPr>
                                <m:t>−1</m:t>
                              </m:r>
                            </m:e>
                          </m:d>
                          <m:r>
                            <a:rPr lang="en-US" altLang="zh-CN" sz="1400" i="1">
                              <a:latin typeface="Cambria Math" panose="02040503050406030204" pitchFamily="18" charset="0"/>
                            </a:rPr>
                            <m:t>𝑘</m:t>
                          </m:r>
                          <m:r>
                            <a:rPr lang="en-US" altLang="zh-CN" sz="1400" i="1">
                              <a:latin typeface="Cambria Math" panose="02040503050406030204" pitchFamily="18" charset="0"/>
                            </a:rPr>
                            <m:t>+1</m:t>
                          </m:r>
                        </m:sup>
                      </m:sSup>
                      <m:r>
                        <m:rPr>
                          <m:nor/>
                        </m:rPr>
                        <a:rPr lang="en-US" altLang="zh-CN" sz="1400"/>
                        <m:t> ≡</m:t>
                      </m:r>
                      <m:r>
                        <m:rPr>
                          <m:nor/>
                        </m:rPr>
                        <a:rPr lang="en-US" altLang="zh-CN" sz="1400" i="1"/>
                        <m:t>M</m:t>
                      </m:r>
                      <m:r>
                        <m:rPr>
                          <m:nor/>
                        </m:rPr>
                        <a:rPr lang="en-US" altLang="zh-CN" sz="1400"/>
                        <m:t>∙</m:t>
                      </m:r>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m:t>
                          </m:r>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𝑀</m:t>
                              </m:r>
                            </m:e>
                            <m:sup>
                              <m:r>
                                <a:rPr lang="en-US" altLang="zh-CN" sz="1400" i="1">
                                  <a:latin typeface="Cambria Math" panose="02040503050406030204" pitchFamily="18" charset="0"/>
                                </a:rPr>
                                <m:t>𝑞</m:t>
                              </m:r>
                              <m:r>
                                <a:rPr lang="en-US" altLang="zh-CN" sz="1400" i="1">
                                  <a:latin typeface="Cambria Math" panose="02040503050406030204" pitchFamily="18" charset="0"/>
                                </a:rPr>
                                <m:t>−1</m:t>
                              </m:r>
                            </m:sup>
                          </m:sSup>
                          <m:r>
                            <a:rPr lang="en-US" altLang="zh-CN" sz="1400" i="1">
                              <a:latin typeface="Cambria Math" panose="02040503050406030204" pitchFamily="18" charset="0"/>
                            </a:rPr>
                            <m:t>)</m:t>
                          </m:r>
                        </m:e>
                        <m:sup>
                          <m:r>
                            <a:rPr lang="en-US" altLang="zh-CN" sz="1400" i="1">
                              <a:latin typeface="Cambria Math" panose="02040503050406030204" pitchFamily="18" charset="0"/>
                            </a:rPr>
                            <m:t>𝑘</m:t>
                          </m:r>
                          <m:r>
                            <a:rPr lang="en-US" altLang="zh-CN" sz="1400" i="1">
                              <a:latin typeface="Cambria Math" panose="02040503050406030204" pitchFamily="18" charset="0"/>
                            </a:rPr>
                            <m:t>(</m:t>
                          </m:r>
                          <m:r>
                            <a:rPr lang="en-US" altLang="zh-CN" sz="1400" i="1">
                              <a:latin typeface="Cambria Math" panose="02040503050406030204" pitchFamily="18" charset="0"/>
                            </a:rPr>
                            <m:t>𝑝</m:t>
                          </m:r>
                          <m:r>
                            <a:rPr lang="en-US" altLang="zh-CN" sz="1400" i="1">
                              <a:latin typeface="Cambria Math" panose="02040503050406030204" pitchFamily="18" charset="0"/>
                            </a:rPr>
                            <m:t>−1)</m:t>
                          </m:r>
                        </m:sup>
                      </m:sSup>
                      <m:r>
                        <m:rPr>
                          <m:nor/>
                        </m:rPr>
                        <a:rPr lang="en-US" altLang="zh-CN" sz="1400"/>
                        <m:t>≡</m:t>
                      </m:r>
                      <m:r>
                        <m:rPr>
                          <m:nor/>
                        </m:rPr>
                        <a:rPr lang="en-US" altLang="zh-CN" sz="1400" i="1"/>
                        <m:t>M</m:t>
                      </m:r>
                      <m:r>
                        <m:rPr>
                          <m:nor/>
                        </m:rPr>
                        <a:rPr lang="en-US" altLang="zh-CN" sz="1400"/>
                        <m:t>∙1≡</m:t>
                      </m:r>
                      <m:r>
                        <m:rPr>
                          <m:nor/>
                        </m:rPr>
                        <a:rPr lang="en-US" altLang="zh-CN" sz="1400" i="1"/>
                        <m:t>M</m:t>
                      </m:r>
                      <m:r>
                        <m:rPr>
                          <m:nor/>
                        </m:rPr>
                        <a:rPr lang="en-US" altLang="zh-CN" sz="1400"/>
                        <m:t> (</m:t>
                      </m:r>
                      <m:r>
                        <m:rPr>
                          <m:nor/>
                        </m:rPr>
                        <a:rPr lang="en-US" altLang="zh-CN" sz="1400"/>
                        <m:t>mod</m:t>
                      </m:r>
                      <m:r>
                        <m:rPr>
                          <m:nor/>
                        </m:rPr>
                        <a:rPr lang="en-US" altLang="zh-CN" sz="1400"/>
                        <m:t> </m:t>
                      </m:r>
                      <m:r>
                        <a:rPr lang="en-US" altLang="zh-CN" sz="1400" i="1">
                          <a:latin typeface="Cambria Math" panose="02040503050406030204" pitchFamily="18" charset="0"/>
                        </a:rPr>
                        <m:t>𝑞</m:t>
                      </m:r>
                      <m:r>
                        <m:rPr>
                          <m:nor/>
                        </m:rPr>
                        <a:rPr lang="en-US" altLang="zh-CN" sz="1400"/>
                        <m:t>)</m:t>
                      </m:r>
                    </m:oMath>
                  </m:oMathPara>
                </a14:m>
                <a:endParaRPr lang="zh-CN" altLang="zh-CN" sz="1400" dirty="0"/>
              </a:p>
            </p:txBody>
          </p:sp>
        </mc:Choice>
        <mc:Fallback xmlns="">
          <p:sp>
            <p:nvSpPr>
              <p:cNvPr id="15" name="文本框 14"/>
              <p:cNvSpPr txBox="1">
                <a:spLocks noRot="1" noChangeAspect="1" noMove="1" noResize="1" noEditPoints="1" noAdjustHandles="1" noChangeArrowheads="1" noChangeShapeType="1" noTextEdit="1"/>
              </p:cNvSpPr>
              <p:nvPr/>
            </p:nvSpPr>
            <p:spPr>
              <a:xfrm>
                <a:off x="2446529" y="4904985"/>
                <a:ext cx="4643536" cy="664284"/>
              </a:xfrm>
              <a:prstGeom prst="rect">
                <a:avLst/>
              </a:prstGeom>
              <a:blipFill rotWithShape="0">
                <a:blip r:embed="rId8"/>
                <a:stretch>
                  <a:fillRect b="-3670"/>
                </a:stretch>
              </a:blipFill>
            </p:spPr>
            <p:txBody>
              <a:bodyPr/>
              <a:lstStyle/>
              <a:p>
                <a:r>
                  <a:rPr lang="zh-CN" altLang="en-US">
                    <a:noFill/>
                  </a:rPr>
                  <a:t> </a:t>
                </a:r>
              </a:p>
            </p:txBody>
          </p:sp>
        </mc:Fallback>
      </mc:AlternateContent>
      <p:sp>
        <p:nvSpPr>
          <p:cNvPr id="16" name="折角形 15"/>
          <p:cNvSpPr/>
          <p:nvPr/>
        </p:nvSpPr>
        <p:spPr bwMode="auto">
          <a:xfrm>
            <a:off x="179512" y="1541651"/>
            <a:ext cx="1626339" cy="631626"/>
          </a:xfrm>
          <a:prstGeom prst="foldedCorner">
            <a:avLst>
              <a:gd name="adj" fmla="val 26446"/>
            </a:avLst>
          </a:prstGeom>
          <a:solidFill>
            <a:srgbClr val="CD58D6"/>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7" name="文本框 16"/>
          <p:cNvSpPr txBox="1"/>
          <p:nvPr/>
        </p:nvSpPr>
        <p:spPr>
          <a:xfrm>
            <a:off x="178717" y="1672798"/>
            <a:ext cx="1590658" cy="369332"/>
          </a:xfrm>
          <a:prstGeom prst="rect">
            <a:avLst/>
          </a:prstGeom>
          <a:noFill/>
        </p:spPr>
        <p:txBody>
          <a:bodyPr wrap="square" rtlCol="0">
            <a:spAutoFit/>
          </a:bodyPr>
          <a:lstStyle/>
          <a:p>
            <a:r>
              <a:rPr lang="en-US" altLang="zh-CN" sz="1800" b="1" dirty="0"/>
              <a:t>Ⅲ</a:t>
            </a:r>
            <a:r>
              <a:rPr lang="en-US" altLang="zh-CN" sz="1800" b="1" dirty="0" smtClean="0"/>
              <a:t>.</a:t>
            </a:r>
            <a:r>
              <a:rPr lang="zh-CN" altLang="en-US" sz="1800" b="1" dirty="0" smtClean="0"/>
              <a:t>解密过程</a:t>
            </a:r>
            <a:endParaRPr lang="zh-CN" altLang="en-US" sz="1800" b="1" dirty="0"/>
          </a:p>
        </p:txBody>
      </p:sp>
    </p:spTree>
    <p:extLst>
      <p:ext uri="{BB962C8B-B14F-4D97-AF65-F5344CB8AC3E}">
        <p14:creationId xmlns:p14="http://schemas.microsoft.com/office/powerpoint/2010/main" val="4214779963"/>
      </p:ext>
    </p:extLst>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dirty="0"/>
              <a:t>计算机应用技术研究所</a:t>
            </a:r>
          </a:p>
        </p:txBody>
      </p:sp>
      <p:sp>
        <p:nvSpPr>
          <p:cNvPr id="7" name="灯片编号占位符 5"/>
          <p:cNvSpPr>
            <a:spLocks noGrp="1"/>
          </p:cNvSpPr>
          <p:nvPr>
            <p:ph type="sldNum" sz="quarter" idx="12"/>
          </p:nvPr>
        </p:nvSpPr>
        <p:spPr/>
        <p:txBody>
          <a:bodyPr/>
          <a:lstStyle/>
          <a:p>
            <a:pPr>
              <a:defRPr/>
            </a:pPr>
            <a:fld id="{F6FEE572-258B-49DF-9188-85B5DBF07CD1}" type="slidenum">
              <a:rPr lang="en-US" altLang="zh-CN"/>
              <a:pPr>
                <a:defRPr/>
              </a:pPr>
              <a:t>111</a:t>
            </a:fld>
            <a:endParaRPr lang="en-US" altLang="zh-CN"/>
          </a:p>
        </p:txBody>
      </p:sp>
      <p:sp>
        <p:nvSpPr>
          <p:cNvPr id="118789" name="Text Box 2"/>
          <p:cNvSpPr txBox="1">
            <a:spLocks noChangeArrowheads="1"/>
          </p:cNvSpPr>
          <p:nvPr/>
        </p:nvSpPr>
        <p:spPr bwMode="auto">
          <a:xfrm>
            <a:off x="1331913" y="620713"/>
            <a:ext cx="6553200"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a:solidFill>
                  <a:schemeClr val="bg1"/>
                </a:solidFill>
                <a:latin typeface="宋体" panose="02010600030101010101" pitchFamily="2" charset="-122"/>
                <a:ea typeface="宋体" panose="02010600030101010101" pitchFamily="2" charset="-122"/>
              </a:rPr>
              <a:t> </a:t>
            </a:r>
            <a:r>
              <a:rPr lang="en-US" altLang="zh-CN" sz="4800" b="1" dirty="0" smtClean="0">
                <a:solidFill>
                  <a:schemeClr val="bg1"/>
                </a:solidFill>
                <a:latin typeface="宋体" panose="02010600030101010101" pitchFamily="2" charset="-122"/>
                <a:ea typeface="宋体" panose="02010600030101010101" pitchFamily="2" charset="-122"/>
              </a:rPr>
              <a:t>RSA</a:t>
            </a:r>
            <a:r>
              <a:rPr lang="zh-CN" altLang="en-US" sz="4800" b="1" dirty="0" smtClean="0">
                <a:solidFill>
                  <a:schemeClr val="bg1"/>
                </a:solidFill>
                <a:latin typeface="宋体" panose="02010600030101010101" pitchFamily="2" charset="-122"/>
                <a:ea typeface="宋体" panose="02010600030101010101" pitchFamily="2" charset="-122"/>
              </a:rPr>
              <a:t>加密</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1879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文本框 1"/>
              <p:cNvSpPr txBox="1"/>
              <p:nvPr/>
            </p:nvSpPr>
            <p:spPr>
              <a:xfrm>
                <a:off x="1043608" y="1926609"/>
                <a:ext cx="7056511" cy="1938992"/>
              </a:xfrm>
              <a:prstGeom prst="rect">
                <a:avLst/>
              </a:prstGeom>
              <a:solidFill>
                <a:srgbClr val="FF7C80"/>
              </a:solidFill>
              <a:ln w="25400">
                <a:solidFill>
                  <a:schemeClr val="accent2"/>
                </a:solidFill>
              </a:ln>
            </p:spPr>
            <p:txBody>
              <a:bodyPr wrap="square" rtlCol="0">
                <a:spAutoFit/>
              </a:bodyPr>
              <a:lstStyle/>
              <a:p>
                <a:r>
                  <a:rPr lang="zh-CN" altLang="zh-CN" dirty="0"/>
                  <a:t>在</a:t>
                </a:r>
                <a:r>
                  <a:rPr lang="en-US" altLang="zh-CN" dirty="0"/>
                  <a:t>RSA</a:t>
                </a:r>
                <a:r>
                  <a:rPr lang="zh-CN" altLang="zh-CN" dirty="0"/>
                  <a:t>加密和解密算法中，如果</a:t>
                </a:r>
                <a:r>
                  <a:rPr lang="en-US" altLang="zh-CN" i="1" dirty="0"/>
                  <a:t>p</a:t>
                </a:r>
                <a:r>
                  <a:rPr lang="zh-CN" altLang="zh-CN" dirty="0"/>
                  <a:t>，</a:t>
                </a:r>
                <a:r>
                  <a:rPr lang="en-US" altLang="zh-CN" i="1" dirty="0"/>
                  <a:t>q</a:t>
                </a:r>
                <a:r>
                  <a:rPr lang="zh-CN" altLang="zh-CN" dirty="0"/>
                  <a:t>被信息窃取者获得，则可算出</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𝑝</m:t>
                    </m:r>
                    <m:r>
                      <a:rPr lang="en-US" altLang="zh-CN" i="1">
                        <a:latin typeface="Cambria Math" panose="02040503050406030204" pitchFamily="18" charset="0"/>
                      </a:rPr>
                      <m:t>−1)(</m:t>
                    </m:r>
                    <m:r>
                      <a:rPr lang="en-US" altLang="zh-CN" i="1">
                        <a:latin typeface="Cambria Math" panose="02040503050406030204" pitchFamily="18" charset="0"/>
                      </a:rPr>
                      <m:t>𝑞</m:t>
                    </m:r>
                    <m:r>
                      <a:rPr lang="en-US" altLang="zh-CN" i="1">
                        <a:latin typeface="Cambria Math" panose="02040503050406030204" pitchFamily="18" charset="0"/>
                      </a:rPr>
                      <m:t>−1)</m:t>
                    </m:r>
                  </m:oMath>
                </a14:m>
                <a:r>
                  <a:rPr lang="zh-CN" altLang="zh-CN" dirty="0"/>
                  <a:t>。由于</a:t>
                </a:r>
                <a:r>
                  <a:rPr lang="en-US" altLang="zh-CN" i="1" dirty="0"/>
                  <a:t>e</a:t>
                </a:r>
                <a:r>
                  <a:rPr lang="zh-CN" altLang="zh-CN" dirty="0"/>
                  <a:t>是公开密钥，且</a:t>
                </a:r>
                <a:r>
                  <a:rPr lang="en-US" altLang="zh-CN" i="1" dirty="0"/>
                  <a:t>d</a:t>
                </a:r>
                <a:r>
                  <a:rPr lang="zh-CN" altLang="zh-CN" dirty="0"/>
                  <a:t>是</a:t>
                </a:r>
                <a:r>
                  <a:rPr lang="en-US" altLang="zh-CN" i="1" dirty="0"/>
                  <a:t>e</a:t>
                </a:r>
                <a:r>
                  <a:rPr lang="zh-CN" altLang="zh-CN" dirty="0"/>
                  <a:t>关于关于模</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𝑝</m:t>
                    </m:r>
                    <m:r>
                      <a:rPr lang="en-US" altLang="zh-CN" i="1">
                        <a:latin typeface="Cambria Math" panose="02040503050406030204" pitchFamily="18" charset="0"/>
                      </a:rPr>
                      <m:t>−1)(</m:t>
                    </m:r>
                    <m:r>
                      <a:rPr lang="en-US" altLang="zh-CN" i="1">
                        <a:latin typeface="Cambria Math" panose="02040503050406030204" pitchFamily="18" charset="0"/>
                      </a:rPr>
                      <m:t>𝑞</m:t>
                    </m:r>
                    <m:r>
                      <a:rPr lang="en-US" altLang="zh-CN" i="1">
                        <a:latin typeface="Cambria Math" panose="02040503050406030204" pitchFamily="18" charset="0"/>
                      </a:rPr>
                      <m:t>−1)</m:t>
                    </m:r>
                  </m:oMath>
                </a14:m>
                <a:r>
                  <a:rPr lang="zh-CN" altLang="zh-CN" dirty="0"/>
                  <a:t>的逆，则不难求出</a:t>
                </a:r>
                <a:r>
                  <a:rPr lang="en-US" altLang="zh-CN" i="1" dirty="0"/>
                  <a:t>d</a:t>
                </a:r>
                <a:r>
                  <a:rPr lang="zh-CN" altLang="zh-CN" dirty="0"/>
                  <a:t>，如此</a:t>
                </a:r>
                <a:r>
                  <a:rPr lang="en-US" altLang="zh-CN" dirty="0"/>
                  <a:t>RSA</a:t>
                </a:r>
                <a:r>
                  <a:rPr lang="zh-CN" altLang="zh-CN" dirty="0"/>
                  <a:t>系统便被完全攻破，信息窃取者就会很容易获得加密的信息</a:t>
                </a:r>
                <a:r>
                  <a:rPr lang="zh-CN" altLang="zh-CN" dirty="0" smtClean="0"/>
                  <a:t>。</a:t>
                </a:r>
                <a:endParaRPr lang="zh-CN" altLang="zh-CN" dirty="0"/>
              </a:p>
            </p:txBody>
          </p:sp>
        </mc:Choice>
        <mc:Fallback xmlns="">
          <p:sp>
            <p:nvSpPr>
              <p:cNvPr id="2" name="文本框 1"/>
              <p:cNvSpPr txBox="1">
                <a:spLocks noRot="1" noChangeAspect="1" noMove="1" noResize="1" noEditPoints="1" noAdjustHandles="1" noChangeArrowheads="1" noChangeShapeType="1" noTextEdit="1"/>
              </p:cNvSpPr>
              <p:nvPr/>
            </p:nvSpPr>
            <p:spPr>
              <a:xfrm>
                <a:off x="1043608" y="1926609"/>
                <a:ext cx="7056511" cy="1938992"/>
              </a:xfrm>
              <a:prstGeom prst="rect">
                <a:avLst/>
              </a:prstGeom>
              <a:blipFill rotWithShape="0">
                <a:blip r:embed="rId4"/>
                <a:stretch>
                  <a:fillRect l="-1119" t="-1863" r="-947" b="-5590"/>
                </a:stretch>
              </a:blipFill>
              <a:ln w="25400">
                <a:solidFill>
                  <a:schemeClr val="accent2"/>
                </a:solidFill>
              </a:ln>
            </p:spPr>
            <p:txBody>
              <a:bodyPr/>
              <a:lstStyle/>
              <a:p>
                <a:r>
                  <a:rPr lang="zh-CN" altLang="en-US">
                    <a:noFill/>
                  </a:rPr>
                  <a:t> </a:t>
                </a:r>
              </a:p>
            </p:txBody>
          </p:sp>
        </mc:Fallback>
      </mc:AlternateContent>
      <p:sp>
        <p:nvSpPr>
          <p:cNvPr id="3" name="云形标注 2"/>
          <p:cNvSpPr/>
          <p:nvPr/>
        </p:nvSpPr>
        <p:spPr bwMode="auto">
          <a:xfrm flipV="1">
            <a:off x="2195600" y="4279361"/>
            <a:ext cx="2952328" cy="1620405"/>
          </a:xfrm>
          <a:prstGeom prst="cloudCallout">
            <a:avLst>
              <a:gd name="adj1" fmla="val -40212"/>
              <a:gd name="adj2" fmla="val 69547"/>
            </a:avLst>
          </a:prstGeom>
          <a:solidFill>
            <a:schemeClr val="bg2">
              <a:lumMod val="60000"/>
              <a:lumOff val="4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2518607" y="4627898"/>
            <a:ext cx="2306314" cy="923330"/>
          </a:xfrm>
          <a:prstGeom prst="rect">
            <a:avLst/>
          </a:prstGeom>
          <a:noFill/>
        </p:spPr>
        <p:txBody>
          <a:bodyPr wrap="square" rtlCol="0">
            <a:spAutoFit/>
          </a:bodyPr>
          <a:lstStyle/>
          <a:p>
            <a:r>
              <a:rPr lang="zh-CN" altLang="en-US" sz="1800" dirty="0" smtClean="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如何选取</a:t>
            </a:r>
            <a:r>
              <a:rPr lang="en-US" altLang="zh-CN" sz="1800" dirty="0" smtClean="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p</a:t>
            </a:r>
            <a:r>
              <a:rPr lang="zh-CN" altLang="en-US" sz="1800" dirty="0" smtClean="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和</a:t>
            </a:r>
            <a:r>
              <a:rPr lang="en-US" altLang="zh-CN" sz="1800" dirty="0" smtClean="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q</a:t>
            </a:r>
            <a:r>
              <a:rPr lang="zh-CN" altLang="en-US" sz="1800" dirty="0" smtClean="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？这是</a:t>
            </a:r>
            <a:r>
              <a:rPr lang="en-US" altLang="zh-CN" sz="1800" dirty="0" smtClean="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RSA</a:t>
            </a:r>
            <a:r>
              <a:rPr lang="zh-CN" altLang="en-US" sz="1800" dirty="0" smtClean="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加密算法的核心问题</a:t>
            </a:r>
            <a:endParaRPr lang="zh-CN" altLang="en-US" sz="1800" dirty="0">
              <a:solidFill>
                <a:srgbClr val="FFFF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endParaRPr>
          </a:p>
        </p:txBody>
      </p:sp>
    </p:spTree>
    <p:extLst>
      <p:ext uri="{BB962C8B-B14F-4D97-AF65-F5344CB8AC3E}">
        <p14:creationId xmlns:p14="http://schemas.microsoft.com/office/powerpoint/2010/main" val="2314873396"/>
      </p:ext>
    </p:extLst>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CB4D256B-3A1D-4CD7-9AAD-507413D4438C}" type="slidenum">
              <a:rPr lang="en-US" altLang="zh-CN"/>
              <a:pPr>
                <a:defRPr/>
              </a:pPr>
              <a:t>112</a:t>
            </a:fld>
            <a:endParaRPr lang="en-US" altLang="zh-CN"/>
          </a:p>
        </p:txBody>
      </p:sp>
      <p:sp>
        <p:nvSpPr>
          <p:cNvPr id="122885" name="Text Box 2"/>
          <p:cNvSpPr txBox="1">
            <a:spLocks noChangeArrowheads="1"/>
          </p:cNvSpPr>
          <p:nvPr/>
        </p:nvSpPr>
        <p:spPr bwMode="auto">
          <a:xfrm>
            <a:off x="1331913" y="876300"/>
            <a:ext cx="6119812"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800" b="1" dirty="0" smtClean="0">
                <a:solidFill>
                  <a:schemeClr val="bg1"/>
                </a:solidFill>
                <a:latin typeface="宋体" panose="02010600030101010101" pitchFamily="2" charset="-122"/>
                <a:ea typeface="宋体" panose="02010600030101010101" pitchFamily="2" charset="-122"/>
              </a:rPr>
              <a:t>素数</a:t>
            </a:r>
            <a:r>
              <a:rPr lang="en-US" altLang="zh-CN" sz="4800" b="1" dirty="0" smtClean="0">
                <a:solidFill>
                  <a:schemeClr val="bg1"/>
                </a:solidFill>
                <a:latin typeface="宋体" panose="02010600030101010101" pitchFamily="2" charset="-122"/>
                <a:ea typeface="宋体" panose="02010600030101010101" pitchFamily="2" charset="-122"/>
              </a:rPr>
              <a:t>p</a:t>
            </a:r>
            <a:r>
              <a:rPr lang="zh-CN" altLang="en-US" sz="4800" b="1" dirty="0" smtClean="0">
                <a:solidFill>
                  <a:schemeClr val="bg1"/>
                </a:solidFill>
                <a:latin typeface="宋体" panose="02010600030101010101" pitchFamily="2" charset="-122"/>
                <a:ea typeface="宋体" panose="02010600030101010101" pitchFamily="2" charset="-122"/>
              </a:rPr>
              <a:t>和</a:t>
            </a:r>
            <a:r>
              <a:rPr lang="en-US" altLang="zh-CN" sz="4800" b="1" dirty="0" smtClean="0">
                <a:solidFill>
                  <a:schemeClr val="bg1"/>
                </a:solidFill>
                <a:latin typeface="宋体" panose="02010600030101010101" pitchFamily="2" charset="-122"/>
                <a:ea typeface="宋体" panose="02010600030101010101" pitchFamily="2" charset="-122"/>
              </a:rPr>
              <a:t>q</a:t>
            </a:r>
            <a:r>
              <a:rPr lang="zh-CN" altLang="en-US" sz="4800" b="1" dirty="0" smtClean="0">
                <a:solidFill>
                  <a:schemeClr val="bg1"/>
                </a:solidFill>
                <a:latin typeface="宋体" panose="02010600030101010101" pitchFamily="2" charset="-122"/>
                <a:ea typeface="宋体" panose="02010600030101010101" pitchFamily="2" charset="-122"/>
              </a:rPr>
              <a:t>的选择</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22886"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2100" y="549275"/>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流程图: 文档 2"/>
          <p:cNvSpPr/>
          <p:nvPr/>
        </p:nvSpPr>
        <p:spPr bwMode="auto">
          <a:xfrm>
            <a:off x="1619672" y="2204864"/>
            <a:ext cx="5184576" cy="1080120"/>
          </a:xfrm>
          <a:prstGeom prst="flowChartDocument">
            <a:avLst/>
          </a:prstGeom>
          <a:solidFill>
            <a:schemeClr val="accent1">
              <a:lumMod val="40000"/>
              <a:lumOff val="6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4" name="文本框 3"/>
          <p:cNvSpPr txBox="1"/>
          <p:nvPr/>
        </p:nvSpPr>
        <p:spPr>
          <a:xfrm>
            <a:off x="1702508" y="2276872"/>
            <a:ext cx="5029731" cy="1015663"/>
          </a:xfrm>
          <a:prstGeom prst="rect">
            <a:avLst/>
          </a:prstGeom>
          <a:noFill/>
        </p:spPr>
        <p:txBody>
          <a:bodyPr wrap="square" rtlCol="0">
            <a:spAutoFit/>
          </a:bodyPr>
          <a:lstStyle/>
          <a:p>
            <a:r>
              <a:rPr lang="en-US" altLang="zh-CN" sz="2000" dirty="0"/>
              <a:t>1978</a:t>
            </a:r>
            <a:r>
              <a:rPr lang="zh-CN" altLang="zh-CN" sz="2000" dirty="0"/>
              <a:t>年</a:t>
            </a:r>
            <a:r>
              <a:rPr lang="en-US" altLang="zh-CN" sz="2000" dirty="0" err="1"/>
              <a:t>Rivest</a:t>
            </a:r>
            <a:r>
              <a:rPr lang="zh-CN" altLang="zh-CN" sz="2000" dirty="0"/>
              <a:t>等人在关于</a:t>
            </a:r>
            <a:r>
              <a:rPr lang="en-US" altLang="zh-CN" sz="2000" dirty="0"/>
              <a:t>RSA</a:t>
            </a:r>
            <a:r>
              <a:rPr lang="zh-CN" altLang="zh-CN" sz="2000" dirty="0"/>
              <a:t>公开密钥的论文中</a:t>
            </a:r>
            <a:r>
              <a:rPr lang="zh-CN" altLang="zh-CN" sz="2000" dirty="0" smtClean="0"/>
              <a:t>，</a:t>
            </a:r>
            <a:r>
              <a:rPr lang="zh-CN" altLang="en-US" sz="2000" dirty="0" smtClean="0"/>
              <a:t>对</a:t>
            </a:r>
            <a:r>
              <a:rPr lang="en-US" altLang="zh-CN" sz="2000" dirty="0" smtClean="0"/>
              <a:t>p</a:t>
            </a:r>
            <a:r>
              <a:rPr lang="zh-CN" altLang="en-US" sz="2000" dirty="0" smtClean="0"/>
              <a:t>和</a:t>
            </a:r>
            <a:r>
              <a:rPr lang="en-US" altLang="zh-CN" sz="2000" dirty="0" smtClean="0"/>
              <a:t>q</a:t>
            </a:r>
            <a:r>
              <a:rPr lang="zh-CN" altLang="en-US" sz="2000" dirty="0" smtClean="0"/>
              <a:t>如何选择给出了如下的约束条件：</a:t>
            </a:r>
            <a:endParaRPr lang="zh-CN" altLang="en-US" sz="2000" dirty="0"/>
          </a:p>
        </p:txBody>
      </p:sp>
      <p:sp>
        <p:nvSpPr>
          <p:cNvPr id="8" name="文本框 7"/>
          <p:cNvSpPr txBox="1"/>
          <p:nvPr/>
        </p:nvSpPr>
        <p:spPr>
          <a:xfrm>
            <a:off x="1359372" y="3364543"/>
            <a:ext cx="6552728" cy="2677656"/>
          </a:xfrm>
          <a:prstGeom prst="rect">
            <a:avLst/>
          </a:prstGeom>
          <a:noFill/>
        </p:spPr>
        <p:txBody>
          <a:bodyPr wrap="square" rtlCol="0">
            <a:spAutoFit/>
          </a:bodyPr>
          <a:lstStyle/>
          <a:p>
            <a:pPr marL="342900" indent="-342900">
              <a:buFont typeface="Wingdings" panose="05000000000000000000" pitchFamily="2" charset="2"/>
              <a:buChar char="Ø"/>
            </a:pPr>
            <a:r>
              <a:rPr lang="en-US" altLang="zh-CN" i="1" dirty="0" smtClean="0"/>
              <a:t>p</a:t>
            </a:r>
            <a:r>
              <a:rPr lang="zh-CN" altLang="zh-CN" dirty="0"/>
              <a:t>和</a:t>
            </a:r>
            <a:r>
              <a:rPr lang="en-US" altLang="zh-CN" i="1" dirty="0"/>
              <a:t>q</a:t>
            </a:r>
            <a:r>
              <a:rPr lang="zh-CN" altLang="zh-CN" dirty="0"/>
              <a:t>要足够长，在长度上应相差几位，且二者之差与</a:t>
            </a:r>
            <a:r>
              <a:rPr lang="en-US" altLang="zh-CN" i="1" dirty="0"/>
              <a:t>p</a:t>
            </a:r>
            <a:r>
              <a:rPr lang="zh-CN" altLang="zh-CN" dirty="0"/>
              <a:t>和</a:t>
            </a:r>
            <a:r>
              <a:rPr lang="en-US" altLang="zh-CN" i="1" dirty="0"/>
              <a:t>q</a:t>
            </a:r>
            <a:r>
              <a:rPr lang="zh-CN" altLang="zh-CN" dirty="0"/>
              <a:t>位数相近；</a:t>
            </a:r>
          </a:p>
          <a:p>
            <a:pPr marL="342900" indent="-342900">
              <a:buFont typeface="Wingdings" panose="05000000000000000000" pitchFamily="2" charset="2"/>
              <a:buChar char="Ø"/>
            </a:pPr>
            <a:r>
              <a:rPr lang="en-US" altLang="zh-CN" i="1" dirty="0" smtClean="0"/>
              <a:t>p</a:t>
            </a:r>
            <a:r>
              <a:rPr lang="en-US" altLang="zh-CN" dirty="0" smtClean="0"/>
              <a:t>-1</a:t>
            </a:r>
            <a:r>
              <a:rPr lang="zh-CN" altLang="zh-CN" dirty="0"/>
              <a:t>和</a:t>
            </a:r>
            <a:r>
              <a:rPr lang="en-US" altLang="zh-CN" i="1" dirty="0"/>
              <a:t>q</a:t>
            </a:r>
            <a:r>
              <a:rPr lang="en-US" altLang="zh-CN" dirty="0"/>
              <a:t>-1</a:t>
            </a:r>
            <a:r>
              <a:rPr lang="zh-CN" altLang="zh-CN" dirty="0"/>
              <a:t>的最大公约数</a:t>
            </a:r>
            <a:r>
              <a:rPr lang="en-US" altLang="zh-CN" dirty="0" err="1"/>
              <a:t>gcd</a:t>
            </a:r>
            <a:r>
              <a:rPr lang="en-US" altLang="zh-CN" dirty="0"/>
              <a:t>(</a:t>
            </a:r>
            <a:r>
              <a:rPr lang="en-US" altLang="zh-CN" i="1" dirty="0"/>
              <a:t>p</a:t>
            </a:r>
            <a:r>
              <a:rPr lang="en-US" altLang="zh-CN" dirty="0"/>
              <a:t>-1</a:t>
            </a:r>
            <a:r>
              <a:rPr lang="zh-CN" altLang="zh-CN" dirty="0"/>
              <a:t>，</a:t>
            </a:r>
            <a:r>
              <a:rPr lang="en-US" altLang="zh-CN" i="1" dirty="0"/>
              <a:t>q</a:t>
            </a:r>
            <a:r>
              <a:rPr lang="en-US" altLang="zh-CN" dirty="0"/>
              <a:t>-1)</a:t>
            </a:r>
            <a:r>
              <a:rPr lang="zh-CN" altLang="zh-CN" dirty="0"/>
              <a:t>要尽量小；</a:t>
            </a:r>
          </a:p>
          <a:p>
            <a:pPr marL="342900" indent="-342900">
              <a:buFont typeface="Wingdings" panose="05000000000000000000" pitchFamily="2" charset="2"/>
              <a:buChar char="Ø"/>
            </a:pPr>
            <a:r>
              <a:rPr lang="en-US" altLang="zh-CN" i="1" dirty="0" smtClean="0"/>
              <a:t>p</a:t>
            </a:r>
            <a:r>
              <a:rPr lang="en-US" altLang="zh-CN" dirty="0" smtClean="0"/>
              <a:t>-1</a:t>
            </a:r>
            <a:r>
              <a:rPr lang="zh-CN" altLang="zh-CN" dirty="0"/>
              <a:t>和</a:t>
            </a:r>
            <a:r>
              <a:rPr lang="en-US" altLang="zh-CN" i="1" dirty="0"/>
              <a:t>q</a:t>
            </a:r>
            <a:r>
              <a:rPr lang="en-US" altLang="zh-CN" dirty="0"/>
              <a:t>-1</a:t>
            </a:r>
            <a:r>
              <a:rPr lang="zh-CN" altLang="zh-CN" dirty="0"/>
              <a:t>均应至少含有一个大的素数因子</a:t>
            </a:r>
            <a:r>
              <a:rPr lang="zh-CN" altLang="zh-CN" dirty="0" smtClean="0"/>
              <a:t>。</a:t>
            </a:r>
            <a:endParaRPr lang="en-US" altLang="zh-CN" dirty="0" smtClean="0"/>
          </a:p>
          <a:p>
            <a:endParaRPr lang="zh-CN" altLang="zh-CN" dirty="0"/>
          </a:p>
          <a:p>
            <a:r>
              <a:rPr lang="zh-CN" altLang="zh-CN" dirty="0"/>
              <a:t>并把满足这些条件的素数称为</a:t>
            </a:r>
            <a:r>
              <a:rPr lang="zh-CN" altLang="zh-CN" b="1" dirty="0">
                <a:solidFill>
                  <a:srgbClr val="FF0000"/>
                </a:solidFill>
                <a:effectLst>
                  <a:outerShdw blurRad="38100" dist="38100" dir="2700000" algn="tl">
                    <a:srgbClr val="000000">
                      <a:alpha val="43137"/>
                    </a:srgbClr>
                  </a:outerShdw>
                </a:effectLst>
              </a:rPr>
              <a:t>安全素数</a:t>
            </a:r>
            <a:r>
              <a:rPr lang="zh-CN" altLang="zh-CN" dirty="0"/>
              <a:t>。</a:t>
            </a:r>
            <a:endParaRPr lang="zh-CN" altLang="en-US" dirty="0"/>
          </a:p>
        </p:txBody>
      </p:sp>
    </p:spTree>
    <p:extLst>
      <p:ext uri="{BB962C8B-B14F-4D97-AF65-F5344CB8AC3E}">
        <p14:creationId xmlns:p14="http://schemas.microsoft.com/office/powerpoint/2010/main" val="1787410651"/>
      </p:ext>
    </p:extLst>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CDCAB296-A4BF-4B8D-8C82-79BA31069691}" type="slidenum">
              <a:rPr lang="en-US" altLang="zh-CN"/>
              <a:pPr>
                <a:defRPr/>
              </a:pPr>
              <a:t>113</a:t>
            </a:fld>
            <a:endParaRPr lang="en-US" altLang="zh-CN"/>
          </a:p>
        </p:txBody>
      </p:sp>
      <p:sp>
        <p:nvSpPr>
          <p:cNvPr id="123909" name="Text Box 2"/>
          <p:cNvSpPr txBox="1">
            <a:spLocks noChangeArrowheads="1"/>
          </p:cNvSpPr>
          <p:nvPr/>
        </p:nvSpPr>
        <p:spPr bwMode="auto">
          <a:xfrm>
            <a:off x="1331913" y="692150"/>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例题</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23910"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81950" y="549275"/>
            <a:ext cx="116205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1187624" y="1844824"/>
                <a:ext cx="6408712" cy="830997"/>
              </a:xfrm>
              <a:prstGeom prst="rect">
                <a:avLst/>
              </a:prstGeom>
              <a:noFill/>
            </p:spPr>
            <p:txBody>
              <a:bodyPr wrap="square" rtlCol="0">
                <a:spAutoFit/>
              </a:bodyPr>
              <a:lstStyle/>
              <a:p>
                <a:r>
                  <a:rPr lang="zh-CN" altLang="zh-CN" dirty="0"/>
                  <a:t>【例题</a:t>
                </a:r>
                <a:r>
                  <a:rPr lang="en-US" altLang="zh-CN" dirty="0"/>
                  <a:t>2.31</a:t>
                </a:r>
                <a:r>
                  <a:rPr lang="zh-CN" altLang="zh-CN" dirty="0"/>
                  <a:t>】使用</a:t>
                </a:r>
                <a:r>
                  <a:rPr lang="en-US" altLang="zh-CN" dirty="0"/>
                  <a:t>RSA</a:t>
                </a:r>
                <a:r>
                  <a:rPr lang="zh-CN" altLang="zh-CN" dirty="0"/>
                  <a:t>算法为信息“</a:t>
                </a:r>
                <a:r>
                  <a:rPr lang="en-US" altLang="zh-CN" dirty="0"/>
                  <a:t>GOOD</a:t>
                </a:r>
                <a:r>
                  <a:rPr lang="zh-CN" altLang="zh-CN" dirty="0"/>
                  <a:t>”加密，已知</a:t>
                </a:r>
                <a14:m>
                  <m:oMath xmlns:m="http://schemas.openxmlformats.org/officeDocument/2006/math">
                    <m:r>
                      <a:rPr lang="en-US" altLang="zh-CN" i="1">
                        <a:latin typeface="Cambria Math" panose="02040503050406030204" pitchFamily="18" charset="0"/>
                      </a:rPr>
                      <m:t>𝑝</m:t>
                    </m:r>
                    <m:r>
                      <a:rPr lang="en-US" altLang="zh-CN">
                        <a:latin typeface="Cambria Math" panose="02040503050406030204" pitchFamily="18" charset="0"/>
                      </a:rPr>
                      <m:t>=43</m:t>
                    </m:r>
                  </m:oMath>
                </a14:m>
                <a:r>
                  <a:rPr lang="zh-CN" altLang="zh-CN" dirty="0"/>
                  <a:t>，</a:t>
                </a:r>
                <a14:m>
                  <m:oMath xmlns:m="http://schemas.openxmlformats.org/officeDocument/2006/math">
                    <m:r>
                      <a:rPr lang="en-US" altLang="zh-CN" i="1">
                        <a:latin typeface="Cambria Math" panose="02040503050406030204" pitchFamily="18" charset="0"/>
                      </a:rPr>
                      <m:t>𝑞</m:t>
                    </m:r>
                    <m:r>
                      <a:rPr lang="en-US" altLang="zh-CN">
                        <a:latin typeface="Cambria Math" panose="02040503050406030204" pitchFamily="18" charset="0"/>
                      </a:rPr>
                      <m:t>=59</m:t>
                    </m:r>
                  </m:oMath>
                </a14:m>
                <a:r>
                  <a:rPr lang="zh-CN" altLang="zh-CN" dirty="0"/>
                  <a:t>，</a:t>
                </a:r>
                <a14:m>
                  <m:oMath xmlns:m="http://schemas.openxmlformats.org/officeDocument/2006/math">
                    <m:r>
                      <a:rPr lang="en-US" altLang="zh-CN" i="1">
                        <a:latin typeface="Cambria Math" panose="02040503050406030204" pitchFamily="18" charset="0"/>
                      </a:rPr>
                      <m:t>𝑒</m:t>
                    </m:r>
                    <m:r>
                      <a:rPr lang="en-US" altLang="zh-CN">
                        <a:latin typeface="Cambria Math" panose="02040503050406030204" pitchFamily="18" charset="0"/>
                      </a:rPr>
                      <m:t>=13</m:t>
                    </m:r>
                  </m:oMath>
                </a14:m>
                <a:r>
                  <a:rPr lang="zh-CN" altLang="zh-CN" dirty="0"/>
                  <a:t>。</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1187624" y="1844824"/>
                <a:ext cx="6408712" cy="830997"/>
              </a:xfrm>
              <a:prstGeom prst="rect">
                <a:avLst/>
              </a:prstGeom>
              <a:blipFill rotWithShape="0">
                <a:blip r:embed="rId4"/>
                <a:stretch>
                  <a:fillRect l="-1522" t="-5882" b="-139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791580" y="2719835"/>
                <a:ext cx="7560840" cy="3484101"/>
              </a:xfrm>
              <a:prstGeom prst="rect">
                <a:avLst/>
              </a:prstGeom>
              <a:noFill/>
            </p:spPr>
            <p:txBody>
              <a:bodyPr wrap="square" rtlCol="0">
                <a:noAutofit/>
              </a:bodyPr>
              <a:lstStyle/>
              <a:p>
                <a:pPr>
                  <a:lnSpc>
                    <a:spcPts val="3000"/>
                  </a:lnSpc>
                </a:pPr>
                <a14:m>
                  <m:oMath xmlns:m="http://schemas.openxmlformats.org/officeDocument/2006/math">
                    <m:r>
                      <a:rPr lang="en-US" altLang="zh-CN" sz="1600" b="0" i="1" smtClean="0">
                        <a:latin typeface="Cambria Math" panose="02040503050406030204" pitchFamily="18" charset="0"/>
                      </a:rPr>
                      <m:t>1</m:t>
                    </m:r>
                    <m:r>
                      <a:rPr lang="zh-CN" altLang="en-US" sz="1600" b="0" i="1" smtClean="0">
                        <a:latin typeface="Cambria Math" panose="02040503050406030204" pitchFamily="18" charset="0"/>
                      </a:rPr>
                      <m:t>）</m:t>
                    </m:r>
                    <m:r>
                      <a:rPr lang="en-US" altLang="zh-CN" sz="1600" i="1">
                        <a:latin typeface="Cambria Math" panose="02040503050406030204" pitchFamily="18" charset="0"/>
                      </a:rPr>
                      <m:t>𝑛</m:t>
                    </m:r>
                    <m:r>
                      <a:rPr lang="en-US" altLang="zh-CN" sz="1600">
                        <a:latin typeface="Cambria Math" panose="02040503050406030204" pitchFamily="18" charset="0"/>
                      </a:rPr>
                      <m:t>=</m:t>
                    </m:r>
                    <m:r>
                      <a:rPr lang="en-US" altLang="zh-CN" sz="1600" i="1">
                        <a:latin typeface="Cambria Math" panose="02040503050406030204" pitchFamily="18" charset="0"/>
                      </a:rPr>
                      <m:t>𝑝</m:t>
                    </m:r>
                    <m:r>
                      <a:rPr lang="en-US" altLang="zh-CN" sz="1600">
                        <a:latin typeface="Cambria Math" panose="02040503050406030204" pitchFamily="18" charset="0"/>
                      </a:rPr>
                      <m:t>∙</m:t>
                    </m:r>
                    <m:r>
                      <a:rPr lang="en-US" altLang="zh-CN" sz="1600" i="1">
                        <a:latin typeface="Cambria Math" panose="02040503050406030204" pitchFamily="18" charset="0"/>
                      </a:rPr>
                      <m:t>𝑞</m:t>
                    </m:r>
                    <m:r>
                      <a:rPr lang="en-US" altLang="zh-CN" sz="1600">
                        <a:latin typeface="Cambria Math" panose="02040503050406030204" pitchFamily="18" charset="0"/>
                      </a:rPr>
                      <m:t>=43∙59=2537</m:t>
                    </m:r>
                  </m:oMath>
                </a14:m>
                <a:r>
                  <a:rPr lang="zh-CN" altLang="zh-CN" sz="1600" dirty="0">
                    <a:latin typeface="仿宋" panose="02010609060101010101" pitchFamily="49" charset="-122"/>
                    <a:ea typeface="仿宋" panose="02010609060101010101" pitchFamily="49" charset="-122"/>
                  </a:rPr>
                  <a:t>。又因为：</a:t>
                </a:r>
                <a14:m>
                  <m:oMath xmlns:m="http://schemas.openxmlformats.org/officeDocument/2006/math">
                    <m:func>
                      <m:funcPr>
                        <m:ctrlPr>
                          <a:rPr lang="zh-CN" altLang="zh-CN" sz="1600" i="1" smtClean="0">
                            <a:latin typeface="Cambria Math" panose="02040503050406030204" pitchFamily="18" charset="0"/>
                          </a:rPr>
                        </m:ctrlPr>
                      </m:funcPr>
                      <m:fName>
                        <m:r>
                          <m:rPr>
                            <m:sty m:val="p"/>
                          </m:rPr>
                          <a:rPr lang="en-US" altLang="zh-CN" sz="1600">
                            <a:latin typeface="Cambria Math" panose="02040503050406030204" pitchFamily="18" charset="0"/>
                          </a:rPr>
                          <m:t>gcd</m:t>
                        </m:r>
                      </m:fName>
                      <m:e>
                        <m:d>
                          <m:dPr>
                            <m:ctrlPr>
                              <a:rPr lang="zh-CN" altLang="zh-CN" sz="1600" i="1">
                                <a:latin typeface="Cambria Math" panose="02040503050406030204" pitchFamily="18" charset="0"/>
                              </a:rPr>
                            </m:ctrlPr>
                          </m:dPr>
                          <m:e>
                            <m:r>
                              <a:rPr lang="en-US" altLang="zh-CN" sz="1600" i="1">
                                <a:latin typeface="Cambria Math" panose="02040503050406030204" pitchFamily="18" charset="0"/>
                              </a:rPr>
                              <m:t>𝑒</m:t>
                            </m:r>
                            <m:r>
                              <a:rPr lang="en-US" altLang="zh-CN" sz="1600" i="1">
                                <a:latin typeface="Cambria Math" panose="02040503050406030204" pitchFamily="18" charset="0"/>
                              </a:rPr>
                              <m:t>,  </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𝑝</m:t>
                                </m:r>
                                <m:r>
                                  <a:rPr lang="en-US" altLang="zh-CN" sz="1600" i="1">
                                    <a:latin typeface="Cambria Math" panose="02040503050406030204" pitchFamily="18" charset="0"/>
                                  </a:rPr>
                                  <m:t>−1</m:t>
                                </m:r>
                              </m:e>
                            </m:d>
                            <m:d>
                              <m:dPr>
                                <m:ctrlPr>
                                  <a:rPr lang="zh-CN" altLang="zh-CN" sz="1600" i="1">
                                    <a:latin typeface="Cambria Math" panose="02040503050406030204" pitchFamily="18" charset="0"/>
                                  </a:rPr>
                                </m:ctrlPr>
                              </m:dPr>
                              <m:e>
                                <m:r>
                                  <a:rPr lang="en-US" altLang="zh-CN" sz="1600" i="1">
                                    <a:latin typeface="Cambria Math" panose="02040503050406030204" pitchFamily="18" charset="0"/>
                                  </a:rPr>
                                  <m:t>𝑞</m:t>
                                </m:r>
                                <m:r>
                                  <a:rPr lang="en-US" altLang="zh-CN" sz="1600" i="1">
                                    <a:latin typeface="Cambria Math" panose="02040503050406030204" pitchFamily="18" charset="0"/>
                                  </a:rPr>
                                  <m:t>−1</m:t>
                                </m:r>
                              </m:e>
                            </m:d>
                          </m:e>
                        </m:d>
                      </m:e>
                    </m:func>
                    <m:r>
                      <a:rPr lang="en-US" altLang="zh-CN" sz="1600" i="1">
                        <a:latin typeface="Cambria Math" panose="02040503050406030204" pitchFamily="18" charset="0"/>
                      </a:rPr>
                      <m:t>=</m:t>
                    </m:r>
                    <m:func>
                      <m:funcPr>
                        <m:ctrlPr>
                          <a:rPr lang="zh-CN" altLang="zh-CN" sz="1600" i="1">
                            <a:latin typeface="Cambria Math" panose="02040503050406030204" pitchFamily="18" charset="0"/>
                          </a:rPr>
                        </m:ctrlPr>
                      </m:funcPr>
                      <m:fName>
                        <m:r>
                          <m:rPr>
                            <m:sty m:val="p"/>
                          </m:rPr>
                          <a:rPr lang="en-US" altLang="zh-CN" sz="1600">
                            <a:latin typeface="Cambria Math" panose="02040503050406030204" pitchFamily="18" charset="0"/>
                          </a:rPr>
                          <m:t>gcd</m:t>
                        </m:r>
                      </m:fName>
                      <m:e>
                        <m:d>
                          <m:dPr>
                            <m:ctrlPr>
                              <a:rPr lang="zh-CN" altLang="zh-CN" sz="1600" i="1">
                                <a:latin typeface="Cambria Math" panose="02040503050406030204" pitchFamily="18" charset="0"/>
                              </a:rPr>
                            </m:ctrlPr>
                          </m:dPr>
                          <m:e>
                            <m:r>
                              <a:rPr lang="en-US" altLang="zh-CN" sz="1600" i="1">
                                <a:latin typeface="Cambria Math" panose="02040503050406030204" pitchFamily="18" charset="0"/>
                              </a:rPr>
                              <m:t>13,  42</m:t>
                            </m:r>
                            <m:r>
                              <a:rPr lang="en-US" altLang="zh-CN" sz="1600">
                                <a:latin typeface="Cambria Math" panose="02040503050406030204" pitchFamily="18" charset="0"/>
                              </a:rPr>
                              <m:t>∙58</m:t>
                            </m:r>
                          </m:e>
                        </m:d>
                      </m:e>
                    </m:func>
                  </m:oMath>
                </a14:m>
                <a:r>
                  <a:rPr lang="en-US" altLang="zh-CN" sz="1600" dirty="0">
                    <a:latin typeface="仿宋" panose="02010609060101010101" pitchFamily="49" charset="-122"/>
                    <a:ea typeface="仿宋" panose="02010609060101010101" pitchFamily="49" charset="-122"/>
                  </a:rPr>
                  <a:t> </a:t>
                </a:r>
                <a:endParaRPr lang="zh-CN" altLang="zh-CN" sz="1600" dirty="0">
                  <a:latin typeface="仿宋" panose="02010609060101010101" pitchFamily="49" charset="-122"/>
                  <a:ea typeface="仿宋" panose="02010609060101010101" pitchFamily="49" charset="-122"/>
                </a:endParaRPr>
              </a:p>
              <a:p>
                <a:pPr>
                  <a:lnSpc>
                    <a:spcPts val="3000"/>
                  </a:lnSpc>
                </a:pPr>
                <a:r>
                  <a:rPr lang="zh-CN" altLang="zh-CN" sz="1600" dirty="0">
                    <a:latin typeface="仿宋" panose="02010609060101010101" pitchFamily="49" charset="-122"/>
                    <a:ea typeface="仿宋" panose="02010609060101010101" pitchFamily="49" charset="-122"/>
                  </a:rPr>
                  <a:t>因此，整数</a:t>
                </a:r>
                <a14:m>
                  <m:oMath xmlns:m="http://schemas.openxmlformats.org/officeDocument/2006/math">
                    <m:r>
                      <a:rPr lang="en-US" altLang="zh-CN" sz="1600" i="1">
                        <a:latin typeface="Cambria Math" panose="02040503050406030204" pitchFamily="18" charset="0"/>
                      </a:rPr>
                      <m:t>𝑝</m:t>
                    </m:r>
                    <m:r>
                      <a:rPr lang="en-US" altLang="zh-CN" sz="1600" i="1">
                        <a:latin typeface="Cambria Math" panose="02040503050406030204" pitchFamily="18" charset="0"/>
                      </a:rPr>
                      <m:t>,</m:t>
                    </m:r>
                    <m:r>
                      <a:rPr lang="en-US" altLang="zh-CN" sz="1600" i="1">
                        <a:latin typeface="Cambria Math" panose="02040503050406030204" pitchFamily="18" charset="0"/>
                      </a:rPr>
                      <m:t>𝑞</m:t>
                    </m:r>
                    <m:r>
                      <a:rPr lang="en-US" altLang="zh-CN" sz="1600" i="1">
                        <a:latin typeface="Cambria Math" panose="02040503050406030204" pitchFamily="18" charset="0"/>
                      </a:rPr>
                      <m:t>,</m:t>
                    </m:r>
                    <m:r>
                      <a:rPr lang="en-US" altLang="zh-CN" sz="1600" i="1">
                        <a:latin typeface="Cambria Math" panose="02040503050406030204" pitchFamily="18" charset="0"/>
                      </a:rPr>
                      <m:t>𝑒</m:t>
                    </m:r>
                  </m:oMath>
                </a14:m>
                <a:r>
                  <a:rPr lang="zh-CN" altLang="zh-CN" sz="1600" dirty="0">
                    <a:latin typeface="仿宋" panose="02010609060101010101" pitchFamily="49" charset="-122"/>
                    <a:ea typeface="仿宋" panose="02010609060101010101" pitchFamily="49" charset="-122"/>
                  </a:rPr>
                  <a:t>满足</a:t>
                </a:r>
                <a:r>
                  <a:rPr lang="en-US" altLang="zh-CN" sz="1600" dirty="0">
                    <a:latin typeface="仿宋" panose="02010609060101010101" pitchFamily="49" charset="-122"/>
                    <a:ea typeface="仿宋" panose="02010609060101010101" pitchFamily="49" charset="-122"/>
                  </a:rPr>
                  <a:t>RSA</a:t>
                </a:r>
                <a:r>
                  <a:rPr lang="zh-CN" altLang="zh-CN" sz="1600" dirty="0">
                    <a:latin typeface="仿宋" panose="02010609060101010101" pitchFamily="49" charset="-122"/>
                    <a:ea typeface="仿宋" panose="02010609060101010101" pitchFamily="49" charset="-122"/>
                  </a:rPr>
                  <a:t>加密算法的约束条件</a:t>
                </a:r>
                <a:r>
                  <a:rPr lang="zh-CN" altLang="zh-CN" sz="1600" dirty="0" smtClean="0">
                    <a:latin typeface="仿宋" panose="02010609060101010101" pitchFamily="49" charset="-122"/>
                    <a:ea typeface="仿宋" panose="02010609060101010101" pitchFamily="49" charset="-122"/>
                  </a:rPr>
                  <a:t>。</a:t>
                </a:r>
                <a:endParaRPr lang="en-US" altLang="zh-CN" sz="1600" dirty="0" smtClean="0">
                  <a:latin typeface="仿宋" panose="02010609060101010101" pitchFamily="49" charset="-122"/>
                  <a:ea typeface="仿宋" panose="02010609060101010101" pitchFamily="49" charset="-122"/>
                </a:endParaRPr>
              </a:p>
              <a:p>
                <a:pPr>
                  <a:lnSpc>
                    <a:spcPts val="3000"/>
                  </a:lnSpc>
                </a:pPr>
                <a:r>
                  <a:rPr lang="en-US" altLang="zh-CN" sz="1600" dirty="0" smtClean="0">
                    <a:latin typeface="仿宋" panose="02010609060101010101" pitchFamily="49" charset="-122"/>
                    <a:ea typeface="仿宋" panose="02010609060101010101" pitchFamily="49" charset="-122"/>
                  </a:rPr>
                  <a:t>2</a:t>
                </a:r>
                <a:r>
                  <a:rPr lang="zh-CN" altLang="en-US" sz="1600" dirty="0" smtClean="0">
                    <a:latin typeface="仿宋" panose="02010609060101010101" pitchFamily="49" charset="-122"/>
                    <a:ea typeface="仿宋" panose="02010609060101010101" pitchFamily="49" charset="-122"/>
                  </a:rPr>
                  <a:t>）</a:t>
                </a:r>
                <a:r>
                  <a:rPr lang="zh-CN" altLang="zh-CN" sz="1600" dirty="0" smtClean="0">
                    <a:latin typeface="仿宋" panose="02010609060101010101" pitchFamily="49" charset="-122"/>
                    <a:ea typeface="仿宋" panose="02010609060101010101" pitchFamily="49" charset="-122"/>
                  </a:rPr>
                  <a:t>将</a:t>
                </a:r>
                <a:r>
                  <a:rPr lang="zh-CN" altLang="zh-CN" sz="1600" dirty="0">
                    <a:latin typeface="仿宋" panose="02010609060101010101" pitchFamily="49" charset="-122"/>
                    <a:ea typeface="仿宋" panose="02010609060101010101" pitchFamily="49" charset="-122"/>
                  </a:rPr>
                  <a:t>“</a:t>
                </a:r>
                <a:r>
                  <a:rPr lang="en-US" altLang="zh-CN" sz="1600" dirty="0">
                    <a:latin typeface="仿宋" panose="02010609060101010101" pitchFamily="49" charset="-122"/>
                    <a:ea typeface="仿宋" panose="02010609060101010101" pitchFamily="49" charset="-122"/>
                  </a:rPr>
                  <a:t>GOOD</a:t>
                </a:r>
                <a:r>
                  <a:rPr lang="zh-CN" altLang="zh-CN" sz="1600" dirty="0">
                    <a:latin typeface="仿宋" panose="02010609060101010101" pitchFamily="49" charset="-122"/>
                    <a:ea typeface="仿宋" panose="02010609060101010101" pitchFamily="49" charset="-122"/>
                  </a:rPr>
                  <a:t>”字母转换成相应的数字。具体做法与凯撒密码算法相同，采用</a:t>
                </a:r>
                <a:r>
                  <a:rPr lang="en-US" altLang="zh-CN" sz="1600" dirty="0">
                    <a:latin typeface="仿宋" panose="02010609060101010101" pitchFamily="49" charset="-122"/>
                    <a:ea typeface="仿宋" panose="02010609060101010101" pitchFamily="49" charset="-122"/>
                  </a:rPr>
                  <a:t>0</a:t>
                </a:r>
                <a:r>
                  <a:rPr lang="zh-CN" altLang="zh-CN" sz="1600" dirty="0">
                    <a:latin typeface="仿宋" panose="02010609060101010101" pitchFamily="49" charset="-122"/>
                    <a:ea typeface="仿宋" panose="02010609060101010101" pitchFamily="49" charset="-122"/>
                  </a:rPr>
                  <a:t>到</a:t>
                </a:r>
                <a:r>
                  <a:rPr lang="en-US" altLang="zh-CN" sz="1600" dirty="0">
                    <a:latin typeface="仿宋" panose="02010609060101010101" pitchFamily="49" charset="-122"/>
                    <a:ea typeface="仿宋" panose="02010609060101010101" pitchFamily="49" charset="-122"/>
                  </a:rPr>
                  <a:t>25</a:t>
                </a:r>
                <a:r>
                  <a:rPr lang="zh-CN" altLang="zh-CN" sz="1600" dirty="0">
                    <a:latin typeface="仿宋" panose="02010609060101010101" pitchFamily="49" charset="-122"/>
                    <a:ea typeface="仿宋" panose="02010609060101010101" pitchFamily="49" charset="-122"/>
                  </a:rPr>
                  <a:t>这</a:t>
                </a:r>
                <a:r>
                  <a:rPr lang="en-US" altLang="zh-CN" sz="1600" dirty="0">
                    <a:latin typeface="仿宋" panose="02010609060101010101" pitchFamily="49" charset="-122"/>
                    <a:ea typeface="仿宋" panose="02010609060101010101" pitchFamily="49" charset="-122"/>
                  </a:rPr>
                  <a:t>26</a:t>
                </a:r>
                <a:r>
                  <a:rPr lang="zh-CN" altLang="zh-CN" sz="1600" dirty="0">
                    <a:latin typeface="仿宋" panose="02010609060101010101" pitchFamily="49" charset="-122"/>
                    <a:ea typeface="仿宋" panose="02010609060101010101" pitchFamily="49" charset="-122"/>
                  </a:rPr>
                  <a:t>个正整数代表</a:t>
                </a:r>
                <a:r>
                  <a:rPr lang="en-US" altLang="zh-CN" sz="1600" dirty="0">
                    <a:latin typeface="仿宋" panose="02010609060101010101" pitchFamily="49" charset="-122"/>
                    <a:ea typeface="仿宋" panose="02010609060101010101" pitchFamily="49" charset="-122"/>
                  </a:rPr>
                  <a:t>A</a:t>
                </a:r>
                <a:r>
                  <a:rPr lang="zh-CN" altLang="zh-CN" sz="1600" dirty="0">
                    <a:latin typeface="仿宋" panose="02010609060101010101" pitchFamily="49" charset="-122"/>
                    <a:ea typeface="仿宋" panose="02010609060101010101" pitchFamily="49" charset="-122"/>
                  </a:rPr>
                  <a:t>到</a:t>
                </a:r>
                <a:r>
                  <a:rPr lang="en-US" altLang="zh-CN" sz="1600" dirty="0">
                    <a:latin typeface="仿宋" panose="02010609060101010101" pitchFamily="49" charset="-122"/>
                    <a:ea typeface="仿宋" panose="02010609060101010101" pitchFamily="49" charset="-122"/>
                  </a:rPr>
                  <a:t>Z</a:t>
                </a:r>
                <a:r>
                  <a:rPr lang="zh-CN" altLang="zh-CN" sz="1600" dirty="0">
                    <a:latin typeface="仿宋" panose="02010609060101010101" pitchFamily="49" charset="-122"/>
                    <a:ea typeface="仿宋" panose="02010609060101010101" pitchFamily="49" charset="-122"/>
                  </a:rPr>
                  <a:t>这</a:t>
                </a:r>
                <a:r>
                  <a:rPr lang="en-US" altLang="zh-CN" sz="1600" dirty="0">
                    <a:latin typeface="仿宋" panose="02010609060101010101" pitchFamily="49" charset="-122"/>
                    <a:ea typeface="仿宋" panose="02010609060101010101" pitchFamily="49" charset="-122"/>
                  </a:rPr>
                  <a:t>26</a:t>
                </a:r>
                <a:r>
                  <a:rPr lang="zh-CN" altLang="zh-CN" sz="1600" dirty="0">
                    <a:latin typeface="仿宋" panose="02010609060101010101" pitchFamily="49" charset="-122"/>
                    <a:ea typeface="仿宋" panose="02010609060101010101" pitchFamily="49" charset="-122"/>
                  </a:rPr>
                  <a:t>个大写字母。</a:t>
                </a:r>
                <a:r>
                  <a:rPr lang="en-US" altLang="zh-CN" sz="1600" dirty="0">
                    <a:latin typeface="仿宋" panose="02010609060101010101" pitchFamily="49" charset="-122"/>
                    <a:ea typeface="仿宋" panose="02010609060101010101" pitchFamily="49" charset="-122"/>
                  </a:rPr>
                  <a:t>G</a:t>
                </a:r>
                <a:r>
                  <a:rPr lang="zh-CN" altLang="zh-CN" sz="1600" dirty="0">
                    <a:latin typeface="仿宋" panose="02010609060101010101" pitchFamily="49" charset="-122"/>
                    <a:ea typeface="仿宋" panose="02010609060101010101" pitchFamily="49" charset="-122"/>
                  </a:rPr>
                  <a:t>对应的正整数为</a:t>
                </a:r>
                <a:r>
                  <a:rPr lang="en-US" altLang="zh-CN" sz="1600" dirty="0">
                    <a:latin typeface="仿宋" panose="02010609060101010101" pitchFamily="49" charset="-122"/>
                    <a:ea typeface="仿宋" panose="02010609060101010101" pitchFamily="49" charset="-122"/>
                  </a:rPr>
                  <a:t>06</a:t>
                </a:r>
                <a:r>
                  <a:rPr lang="zh-CN" altLang="zh-CN" sz="1600" dirty="0">
                    <a:latin typeface="仿宋" panose="02010609060101010101" pitchFamily="49" charset="-122"/>
                    <a:ea typeface="仿宋" panose="02010609060101010101" pitchFamily="49" charset="-122"/>
                  </a:rPr>
                  <a:t>，</a:t>
                </a:r>
                <a:r>
                  <a:rPr lang="en-US" altLang="zh-CN" sz="1600" dirty="0">
                    <a:latin typeface="仿宋" panose="02010609060101010101" pitchFamily="49" charset="-122"/>
                    <a:ea typeface="仿宋" panose="02010609060101010101" pitchFamily="49" charset="-122"/>
                  </a:rPr>
                  <a:t>O</a:t>
                </a:r>
                <a:r>
                  <a:rPr lang="zh-CN" altLang="zh-CN" sz="1600" dirty="0">
                    <a:latin typeface="仿宋" panose="02010609060101010101" pitchFamily="49" charset="-122"/>
                    <a:ea typeface="仿宋" panose="02010609060101010101" pitchFamily="49" charset="-122"/>
                  </a:rPr>
                  <a:t>对应的正整数为</a:t>
                </a:r>
                <a:r>
                  <a:rPr lang="en-US" altLang="zh-CN" sz="1600" dirty="0">
                    <a:latin typeface="仿宋" panose="02010609060101010101" pitchFamily="49" charset="-122"/>
                    <a:ea typeface="仿宋" panose="02010609060101010101" pitchFamily="49" charset="-122"/>
                  </a:rPr>
                  <a:t>14</a:t>
                </a:r>
                <a:r>
                  <a:rPr lang="zh-CN" altLang="zh-CN" sz="1600" dirty="0">
                    <a:latin typeface="仿宋" panose="02010609060101010101" pitchFamily="49" charset="-122"/>
                    <a:ea typeface="仿宋" panose="02010609060101010101" pitchFamily="49" charset="-122"/>
                  </a:rPr>
                  <a:t>，</a:t>
                </a:r>
                <a:r>
                  <a:rPr lang="en-US" altLang="zh-CN" sz="1600" dirty="0">
                    <a:latin typeface="仿宋" panose="02010609060101010101" pitchFamily="49" charset="-122"/>
                    <a:ea typeface="仿宋" panose="02010609060101010101" pitchFamily="49" charset="-122"/>
                  </a:rPr>
                  <a:t>D</a:t>
                </a:r>
                <a:r>
                  <a:rPr lang="zh-CN" altLang="zh-CN" sz="1600" dirty="0">
                    <a:latin typeface="仿宋" panose="02010609060101010101" pitchFamily="49" charset="-122"/>
                    <a:ea typeface="仿宋" panose="02010609060101010101" pitchFamily="49" charset="-122"/>
                  </a:rPr>
                  <a:t>对应的正整数为</a:t>
                </a:r>
                <a:r>
                  <a:rPr lang="en-US" altLang="zh-CN" sz="1600" dirty="0">
                    <a:latin typeface="仿宋" panose="02010609060101010101" pitchFamily="49" charset="-122"/>
                    <a:ea typeface="仿宋" panose="02010609060101010101" pitchFamily="49" charset="-122"/>
                  </a:rPr>
                  <a:t>03</a:t>
                </a:r>
                <a:r>
                  <a:rPr lang="zh-CN" altLang="zh-CN" sz="1600" dirty="0">
                    <a:latin typeface="仿宋" panose="02010609060101010101" pitchFamily="49" charset="-122"/>
                    <a:ea typeface="仿宋" panose="02010609060101010101" pitchFamily="49" charset="-122"/>
                  </a:rPr>
                  <a:t>，所以</a:t>
                </a:r>
                <a:r>
                  <a:rPr lang="en-US" altLang="zh-CN" sz="1600" dirty="0">
                    <a:latin typeface="仿宋" panose="02010609060101010101" pitchFamily="49" charset="-122"/>
                    <a:ea typeface="仿宋" panose="02010609060101010101" pitchFamily="49" charset="-122"/>
                  </a:rPr>
                  <a:t>GOOD</a:t>
                </a:r>
                <a:r>
                  <a:rPr lang="zh-CN" altLang="zh-CN" sz="1600" dirty="0">
                    <a:latin typeface="仿宋" panose="02010609060101010101" pitchFamily="49" charset="-122"/>
                    <a:ea typeface="仿宋" panose="02010609060101010101" pitchFamily="49" charset="-122"/>
                  </a:rPr>
                  <a:t>对应的数字码为</a:t>
                </a:r>
                <a:r>
                  <a:rPr lang="en-US" altLang="zh-CN" sz="1600" dirty="0">
                    <a:latin typeface="仿宋" panose="02010609060101010101" pitchFamily="49" charset="-122"/>
                    <a:ea typeface="仿宋" panose="02010609060101010101" pitchFamily="49" charset="-122"/>
                  </a:rPr>
                  <a:t>06141403</a:t>
                </a:r>
                <a:r>
                  <a:rPr lang="zh-CN" altLang="zh-CN" sz="1600" dirty="0" smtClean="0">
                    <a:latin typeface="仿宋" panose="02010609060101010101" pitchFamily="49" charset="-122"/>
                    <a:ea typeface="仿宋" panose="02010609060101010101" pitchFamily="49" charset="-122"/>
                  </a:rPr>
                  <a:t>。</a:t>
                </a:r>
                <a:endParaRPr lang="en-US" altLang="zh-CN" sz="1600" dirty="0" smtClean="0">
                  <a:latin typeface="仿宋" panose="02010609060101010101" pitchFamily="49" charset="-122"/>
                  <a:ea typeface="仿宋" panose="02010609060101010101" pitchFamily="49" charset="-122"/>
                </a:endParaRPr>
              </a:p>
              <a:p>
                <a:pPr>
                  <a:lnSpc>
                    <a:spcPts val="3000"/>
                  </a:lnSpc>
                </a:pPr>
                <a:r>
                  <a:rPr lang="en-US" altLang="zh-CN" sz="1600" dirty="0" smtClean="0">
                    <a:latin typeface="仿宋" panose="02010609060101010101" pitchFamily="49" charset="-122"/>
                    <a:ea typeface="仿宋" panose="02010609060101010101" pitchFamily="49" charset="-122"/>
                  </a:rPr>
                  <a:t>3</a:t>
                </a:r>
                <a:r>
                  <a:rPr lang="zh-CN" altLang="en-US" sz="1600" dirty="0" smtClean="0">
                    <a:latin typeface="仿宋" panose="02010609060101010101" pitchFamily="49" charset="-122"/>
                    <a:ea typeface="仿宋" panose="02010609060101010101" pitchFamily="49" charset="-122"/>
                  </a:rPr>
                  <a:t>）</a:t>
                </a:r>
                <a:r>
                  <a:rPr lang="zh-CN" altLang="zh-CN" sz="1600" dirty="0">
                    <a:latin typeface="仿宋" panose="02010609060101010101" pitchFamily="49" charset="-122"/>
                    <a:ea typeface="仿宋" panose="02010609060101010101" pitchFamily="49" charset="-122"/>
                  </a:rPr>
                  <a:t>然后，将上面数字码按</a:t>
                </a:r>
                <a:r>
                  <a:rPr lang="en-US" altLang="zh-CN" sz="1600" dirty="0">
                    <a:latin typeface="仿宋" panose="02010609060101010101" pitchFamily="49" charset="-122"/>
                    <a:ea typeface="仿宋" panose="02010609060101010101" pitchFamily="49" charset="-122"/>
                  </a:rPr>
                  <a:t>4</a:t>
                </a:r>
                <a:r>
                  <a:rPr lang="zh-CN" altLang="zh-CN" sz="1600" dirty="0">
                    <a:latin typeface="仿宋" panose="02010609060101010101" pitchFamily="49" charset="-122"/>
                    <a:ea typeface="仿宋" panose="02010609060101010101" pitchFamily="49" charset="-122"/>
                  </a:rPr>
                  <a:t>个数字一组分段为：</a:t>
                </a:r>
                <a:r>
                  <a:rPr lang="en-US" altLang="zh-CN" sz="1600" dirty="0">
                    <a:latin typeface="仿宋" panose="02010609060101010101" pitchFamily="49" charset="-122"/>
                    <a:ea typeface="仿宋" panose="02010609060101010101" pitchFamily="49" charset="-122"/>
                  </a:rPr>
                  <a:t>0614   ‖   1403</a:t>
                </a:r>
                <a:endParaRPr lang="zh-CN" altLang="zh-CN" sz="1600" dirty="0">
                  <a:latin typeface="仿宋" panose="02010609060101010101" pitchFamily="49" charset="-122"/>
                  <a:ea typeface="仿宋" panose="02010609060101010101" pitchFamily="49" charset="-122"/>
                </a:endParaRPr>
              </a:p>
              <a:p>
                <a:pPr>
                  <a:lnSpc>
                    <a:spcPts val="3000"/>
                  </a:lnSpc>
                </a:pPr>
                <a:r>
                  <a:rPr lang="zh-CN" altLang="zh-CN" sz="1600" dirty="0">
                    <a:latin typeface="仿宋" panose="02010609060101010101" pitchFamily="49" charset="-122"/>
                    <a:ea typeface="仿宋" panose="02010609060101010101" pitchFamily="49" charset="-122"/>
                  </a:rPr>
                  <a:t>使用映射</a:t>
                </a:r>
                <a14:m>
                  <m:oMath xmlns:m="http://schemas.openxmlformats.org/officeDocument/2006/math">
                    <m:r>
                      <a:rPr lang="en-US" altLang="zh-CN" sz="1600" i="1">
                        <a:latin typeface="Cambria Math" panose="02040503050406030204" pitchFamily="18" charset="0"/>
                        <a:ea typeface="+mj-ea"/>
                      </a:rPr>
                      <m:t>𝐶</m:t>
                    </m:r>
                    <m:r>
                      <a:rPr lang="en-US" altLang="zh-CN" sz="1600">
                        <a:latin typeface="Cambria Math" panose="02040503050406030204" pitchFamily="18" charset="0"/>
                        <a:ea typeface="+mj-ea"/>
                      </a:rPr>
                      <m:t>=</m:t>
                    </m:r>
                    <m:sSup>
                      <m:sSupPr>
                        <m:ctrlPr>
                          <a:rPr lang="zh-CN" altLang="zh-CN" sz="1600" i="1">
                            <a:latin typeface="Cambria Math" panose="02040503050406030204" pitchFamily="18" charset="0"/>
                            <a:ea typeface="+mj-ea"/>
                          </a:rPr>
                        </m:ctrlPr>
                      </m:sSupPr>
                      <m:e>
                        <m:r>
                          <a:rPr lang="en-US" altLang="zh-CN" sz="1600" i="1">
                            <a:latin typeface="Cambria Math" panose="02040503050406030204" pitchFamily="18" charset="0"/>
                            <a:ea typeface="+mj-ea"/>
                          </a:rPr>
                          <m:t>𝑀</m:t>
                        </m:r>
                      </m:e>
                      <m:sup>
                        <m:r>
                          <a:rPr lang="en-US" altLang="zh-CN" sz="1600" i="1">
                            <a:latin typeface="Cambria Math" panose="02040503050406030204" pitchFamily="18" charset="0"/>
                            <a:ea typeface="+mj-ea"/>
                          </a:rPr>
                          <m:t>𝑒</m:t>
                        </m:r>
                      </m:sup>
                    </m:sSup>
                    <m:r>
                      <a:rPr lang="en-US" altLang="zh-CN" sz="1600" i="1">
                        <a:latin typeface="Cambria Math" panose="02040503050406030204" pitchFamily="18" charset="0"/>
                        <a:ea typeface="+mj-ea"/>
                      </a:rPr>
                      <m:t> </m:t>
                    </m:r>
                    <m:r>
                      <m:rPr>
                        <m:nor/>
                      </m:rPr>
                      <a:rPr lang="en-US" altLang="zh-CN" sz="1600">
                        <a:latin typeface="仿宋" panose="02010609060101010101" pitchFamily="49" charset="-122"/>
                        <a:ea typeface="仿宋" panose="02010609060101010101" pitchFamily="49" charset="-122"/>
                      </a:rPr>
                      <m:t> (</m:t>
                    </m:r>
                    <m:r>
                      <m:rPr>
                        <m:nor/>
                      </m:rPr>
                      <a:rPr lang="en-US" altLang="zh-CN" sz="1600">
                        <a:latin typeface="仿宋" panose="02010609060101010101" pitchFamily="49" charset="-122"/>
                        <a:ea typeface="仿宋" panose="02010609060101010101" pitchFamily="49" charset="-122"/>
                      </a:rPr>
                      <m:t>mod</m:t>
                    </m:r>
                    <m:r>
                      <m:rPr>
                        <m:nor/>
                      </m:rPr>
                      <a:rPr lang="en-US" altLang="zh-CN" sz="1600">
                        <a:latin typeface="仿宋" panose="02010609060101010101" pitchFamily="49" charset="-122"/>
                        <a:ea typeface="仿宋" panose="02010609060101010101" pitchFamily="49" charset="-122"/>
                      </a:rPr>
                      <m:t> </m:t>
                    </m:r>
                    <m:r>
                      <a:rPr lang="en-US" altLang="zh-CN" sz="1600" i="1">
                        <a:latin typeface="Cambria Math" panose="02040503050406030204" pitchFamily="18" charset="0"/>
                        <a:ea typeface="+mj-ea"/>
                      </a:rPr>
                      <m:t>𝑛</m:t>
                    </m:r>
                    <m:r>
                      <m:rPr>
                        <m:nor/>
                      </m:rPr>
                      <a:rPr lang="en-US" altLang="zh-CN" sz="1600">
                        <a:latin typeface="仿宋" panose="02010609060101010101" pitchFamily="49" charset="-122"/>
                        <a:ea typeface="仿宋" panose="02010609060101010101" pitchFamily="49" charset="-122"/>
                      </a:rPr>
                      <m:t>)</m:t>
                    </m:r>
                  </m:oMath>
                </a14:m>
                <a:r>
                  <a:rPr lang="zh-CN" altLang="zh-CN" sz="1600" dirty="0">
                    <a:latin typeface="仿宋" panose="02010609060101010101" pitchFamily="49" charset="-122"/>
                    <a:ea typeface="仿宋" panose="02010609060101010101" pitchFamily="49" charset="-122"/>
                  </a:rPr>
                  <a:t>得到：</a:t>
                </a:r>
              </a:p>
              <a:p>
                <a:pPr algn="ctr">
                  <a:lnSpc>
                    <a:spcPts val="3000"/>
                  </a:lnSpc>
                </a:pPr>
                <a14:m>
                  <m:oMath xmlns:m="http://schemas.openxmlformats.org/officeDocument/2006/math">
                    <m:r>
                      <a:rPr lang="en-US" altLang="zh-CN" sz="1600" i="1">
                        <a:latin typeface="Cambria Math" panose="02040503050406030204" pitchFamily="18" charset="0"/>
                        <a:ea typeface="+mj-ea"/>
                      </a:rPr>
                      <m:t>𝐶</m:t>
                    </m:r>
                    <m:r>
                      <a:rPr lang="en-US" altLang="zh-CN" sz="1600">
                        <a:latin typeface="Cambria Math" panose="02040503050406030204" pitchFamily="18" charset="0"/>
                        <a:ea typeface="+mj-ea"/>
                      </a:rPr>
                      <m:t>=</m:t>
                    </m:r>
                    <m:sSup>
                      <m:sSupPr>
                        <m:ctrlPr>
                          <a:rPr lang="zh-CN" altLang="zh-CN" sz="1600" i="1">
                            <a:latin typeface="Cambria Math" panose="02040503050406030204" pitchFamily="18" charset="0"/>
                            <a:ea typeface="+mj-ea"/>
                          </a:rPr>
                        </m:ctrlPr>
                      </m:sSupPr>
                      <m:e>
                        <m:r>
                          <a:rPr lang="en-US" altLang="zh-CN" sz="1600" i="1">
                            <a:latin typeface="Cambria Math" panose="02040503050406030204" pitchFamily="18" charset="0"/>
                            <a:ea typeface="+mj-ea"/>
                          </a:rPr>
                          <m:t>𝑀</m:t>
                        </m:r>
                      </m:e>
                      <m:sup>
                        <m:r>
                          <a:rPr lang="en-US" altLang="zh-CN" sz="1600" i="1">
                            <a:latin typeface="Cambria Math" panose="02040503050406030204" pitchFamily="18" charset="0"/>
                            <a:ea typeface="+mj-ea"/>
                          </a:rPr>
                          <m:t>13</m:t>
                        </m:r>
                      </m:sup>
                    </m:sSup>
                    <m:r>
                      <a:rPr lang="en-US" altLang="zh-CN" sz="1600" i="1">
                        <a:latin typeface="Cambria Math" panose="02040503050406030204" pitchFamily="18" charset="0"/>
                        <a:ea typeface="+mj-ea"/>
                      </a:rPr>
                      <m:t> </m:t>
                    </m:r>
                    <m:r>
                      <m:rPr>
                        <m:nor/>
                      </m:rPr>
                      <a:rPr lang="en-US" altLang="zh-CN" sz="1600">
                        <a:latin typeface="仿宋" panose="02010609060101010101" pitchFamily="49" charset="-122"/>
                        <a:ea typeface="仿宋" panose="02010609060101010101" pitchFamily="49" charset="-122"/>
                      </a:rPr>
                      <m:t> (</m:t>
                    </m:r>
                    <m:r>
                      <m:rPr>
                        <m:nor/>
                      </m:rPr>
                      <a:rPr lang="en-US" altLang="zh-CN" sz="1600">
                        <a:latin typeface="仿宋" panose="02010609060101010101" pitchFamily="49" charset="-122"/>
                        <a:ea typeface="仿宋" panose="02010609060101010101" pitchFamily="49" charset="-122"/>
                      </a:rPr>
                      <m:t>mod</m:t>
                    </m:r>
                    <m:r>
                      <m:rPr>
                        <m:nor/>
                      </m:rPr>
                      <a:rPr lang="en-US" altLang="zh-CN" sz="1600">
                        <a:latin typeface="仿宋" panose="02010609060101010101" pitchFamily="49" charset="-122"/>
                        <a:ea typeface="仿宋" panose="02010609060101010101" pitchFamily="49" charset="-122"/>
                      </a:rPr>
                      <m:t> </m:t>
                    </m:r>
                    <m:r>
                      <a:rPr lang="en-US" altLang="zh-CN" sz="1600" i="1">
                        <a:latin typeface="Cambria Math" panose="02040503050406030204" pitchFamily="18" charset="0"/>
                        <a:ea typeface="+mj-ea"/>
                      </a:rPr>
                      <m:t>2537</m:t>
                    </m:r>
                    <m:r>
                      <m:rPr>
                        <m:nor/>
                      </m:rPr>
                      <a:rPr lang="en-US" altLang="zh-CN" sz="1600">
                        <a:latin typeface="仿宋" panose="02010609060101010101" pitchFamily="49" charset="-122"/>
                        <a:ea typeface="仿宋" panose="02010609060101010101" pitchFamily="49" charset="-122"/>
                      </a:rPr>
                      <m:t>)</m:t>
                    </m:r>
                  </m:oMath>
                </a14:m>
                <a:r>
                  <a:rPr lang="en-US" altLang="zh-CN" sz="2000" dirty="0">
                    <a:latin typeface="仿宋" panose="02010609060101010101" pitchFamily="49" charset="-122"/>
                    <a:ea typeface="仿宋" panose="02010609060101010101" pitchFamily="49" charset="-122"/>
                  </a:rPr>
                  <a:t> </a:t>
                </a:r>
                <a:endParaRPr lang="zh-CN" altLang="zh-CN" sz="2000" dirty="0">
                  <a:latin typeface="仿宋" panose="02010609060101010101" pitchFamily="49" charset="-122"/>
                  <a:ea typeface="仿宋" panose="02010609060101010101" pitchFamily="49" charset="-122"/>
                </a:endParaRPr>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791580" y="2719835"/>
                <a:ext cx="7560840" cy="3484101"/>
              </a:xfrm>
              <a:prstGeom prst="rect">
                <a:avLst/>
              </a:prstGeom>
              <a:blipFill rotWithShape="0">
                <a:blip r:embed="rId5"/>
                <a:stretch>
                  <a:fillRect l="-806" t="-7867" b="-3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76148135"/>
      </p:ext>
    </p:extLst>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6" name="页脚占位符 4"/>
          <p:cNvSpPr>
            <a:spLocks noGrp="1"/>
          </p:cNvSpPr>
          <p:nvPr>
            <p:ph type="ftr" sz="quarter" idx="11"/>
          </p:nvPr>
        </p:nvSpPr>
        <p:spPr/>
        <p:txBody>
          <a:bodyPr/>
          <a:lstStyle/>
          <a:p>
            <a:pPr>
              <a:defRPr/>
            </a:pPr>
            <a:r>
              <a:rPr lang="zh-CN" altLang="en-US"/>
              <a:t>计算机应用技术研究所</a:t>
            </a:r>
          </a:p>
        </p:txBody>
      </p:sp>
      <p:sp>
        <p:nvSpPr>
          <p:cNvPr id="7" name="灯片编号占位符 5"/>
          <p:cNvSpPr>
            <a:spLocks noGrp="1"/>
          </p:cNvSpPr>
          <p:nvPr>
            <p:ph type="sldNum" sz="quarter" idx="12"/>
          </p:nvPr>
        </p:nvSpPr>
        <p:spPr/>
        <p:txBody>
          <a:bodyPr/>
          <a:lstStyle/>
          <a:p>
            <a:pPr>
              <a:defRPr/>
            </a:pPr>
            <a:fld id="{91668F6A-C60A-4C85-9A37-6725AFDBEEED}" type="slidenum">
              <a:rPr lang="en-US" altLang="zh-CN"/>
              <a:pPr>
                <a:defRPr/>
              </a:pPr>
              <a:t>114</a:t>
            </a:fld>
            <a:endParaRPr lang="en-US" altLang="zh-CN"/>
          </a:p>
        </p:txBody>
      </p:sp>
      <p:sp>
        <p:nvSpPr>
          <p:cNvPr id="121862" name="Text Box 2"/>
          <p:cNvSpPr txBox="1">
            <a:spLocks noChangeArrowheads="1"/>
          </p:cNvSpPr>
          <p:nvPr/>
        </p:nvSpPr>
        <p:spPr bwMode="auto">
          <a:xfrm>
            <a:off x="1331913" y="692150"/>
            <a:ext cx="6119812"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dirty="0">
                <a:solidFill>
                  <a:schemeClr val="bg1"/>
                </a:solidFill>
                <a:latin typeface="宋体" panose="02010600030101010101" pitchFamily="2" charset="-122"/>
                <a:ea typeface="宋体" panose="02010600030101010101" pitchFamily="2" charset="-122"/>
              </a:rPr>
              <a:t> </a:t>
            </a:r>
            <a:r>
              <a:rPr lang="zh-CN" altLang="en-US" sz="4400" b="1" dirty="0" smtClean="0">
                <a:solidFill>
                  <a:schemeClr val="bg1"/>
                </a:solidFill>
                <a:latin typeface="宋体" panose="02010600030101010101" pitchFamily="2" charset="-122"/>
                <a:ea typeface="宋体" panose="02010600030101010101" pitchFamily="2" charset="-122"/>
              </a:rPr>
              <a:t>例题的进一步探讨</a:t>
            </a:r>
            <a:endParaRPr lang="zh-CN" altLang="en-US" sz="4400" b="1" dirty="0">
              <a:solidFill>
                <a:schemeClr val="bg1"/>
              </a:solidFill>
              <a:latin typeface="宋体" panose="02010600030101010101" pitchFamily="2" charset="-122"/>
              <a:ea typeface="宋体" panose="02010600030101010101" pitchFamily="2" charset="-122"/>
            </a:endParaRPr>
          </a:p>
        </p:txBody>
      </p:sp>
      <p:pic>
        <p:nvPicPr>
          <p:cNvPr id="121863"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1115616" y="1844824"/>
                <a:ext cx="6696744" cy="1214050"/>
              </a:xfrm>
              <a:prstGeom prst="rect">
                <a:avLst/>
              </a:prstGeom>
              <a:solidFill>
                <a:srgbClr val="FFC000"/>
              </a:solidFill>
              <a:ln w="25400">
                <a:solidFill>
                  <a:srgbClr val="00B050"/>
                </a:solidFill>
                <a:prstDash val="sysDash"/>
              </a:ln>
            </p:spPr>
            <p:txBody>
              <a:bodyPr wrap="square" rtlCol="0">
                <a:spAutoFit/>
              </a:bodyPr>
              <a:lstStyle/>
              <a:p>
                <a:r>
                  <a:rPr lang="zh-CN" altLang="zh-CN" dirty="0" smtClean="0"/>
                  <a:t>映射</a:t>
                </a:r>
                <a14:m>
                  <m:oMath xmlns:m="http://schemas.openxmlformats.org/officeDocument/2006/math">
                    <m:r>
                      <a:rPr lang="en-US" altLang="zh-CN" i="1">
                        <a:latin typeface="Cambria Math" panose="02040503050406030204" pitchFamily="18" charset="0"/>
                      </a:rPr>
                      <m:t>𝐶</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𝑒</m:t>
                        </m:r>
                      </m:sup>
                    </m:sSup>
                    <m:r>
                      <a:rPr lang="en-US" altLang="zh-CN" i="1">
                        <a:latin typeface="Cambria Math" panose="02040503050406030204" pitchFamily="18" charset="0"/>
                      </a:rPr>
                      <m:t> </m:t>
                    </m:r>
                    <m:r>
                      <m:rPr>
                        <m:nor/>
                      </m:rPr>
                      <a:rPr lang="en-US" altLang="zh-CN"/>
                      <m:t> (</m:t>
                    </m:r>
                    <m:r>
                      <m:rPr>
                        <m:nor/>
                      </m:rPr>
                      <a:rPr lang="en-US" altLang="zh-CN"/>
                      <m:t>mod</m:t>
                    </m:r>
                    <m:r>
                      <m:rPr>
                        <m:nor/>
                      </m:rPr>
                      <a:rPr lang="en-US" altLang="zh-CN"/>
                      <m:t> </m:t>
                    </m:r>
                    <m:r>
                      <a:rPr lang="en-US" altLang="zh-CN" i="1">
                        <a:latin typeface="Cambria Math" panose="02040503050406030204" pitchFamily="18" charset="0"/>
                      </a:rPr>
                      <m:t>𝑛</m:t>
                    </m:r>
                    <m:r>
                      <m:rPr>
                        <m:nor/>
                      </m:rPr>
                      <a:rPr lang="en-US" altLang="zh-CN"/>
                      <m:t>)</m:t>
                    </m:r>
                    <m:r>
                      <a:rPr lang="zh-CN" altLang="en-US" b="0" i="1" smtClean="0">
                        <a:latin typeface="Cambria Math" panose="02040503050406030204" pitchFamily="18" charset="0"/>
                      </a:rPr>
                      <m:t>，</m:t>
                    </m:r>
                  </m:oMath>
                </a14:m>
                <a:r>
                  <a:rPr lang="zh-CN" altLang="zh-CN" dirty="0"/>
                  <a:t>计算并不是一件简单的事情。下面针对其一般情形</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𝑏</m:t>
                        </m:r>
                      </m:sup>
                    </m:sSup>
                    <m:r>
                      <a:rPr lang="en-US" altLang="zh-CN" i="1">
                        <a:latin typeface="Cambria Math" panose="02040503050406030204" pitchFamily="18" charset="0"/>
                      </a:rPr>
                      <m:t>𝑚𝑜𝑑</m:t>
                    </m:r>
                    <m:r>
                      <a:rPr lang="en-US" altLang="zh-CN" i="1">
                        <a:latin typeface="Cambria Math" panose="02040503050406030204" pitchFamily="18" charset="0"/>
                      </a:rPr>
                      <m:t> </m:t>
                    </m:r>
                    <m:r>
                      <a:rPr lang="en-US" altLang="zh-CN" i="1">
                        <a:latin typeface="Cambria Math" panose="02040503050406030204" pitchFamily="18" charset="0"/>
                      </a:rPr>
                      <m:t>𝑐</m:t>
                    </m:r>
                  </m:oMath>
                </a14:m>
                <a:r>
                  <a:rPr lang="zh-CN" altLang="zh-CN" dirty="0"/>
                  <a:t>给出一种快速计算方法：</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1115616" y="1844824"/>
                <a:ext cx="6696744" cy="1214050"/>
              </a:xfrm>
              <a:prstGeom prst="rect">
                <a:avLst/>
              </a:prstGeom>
              <a:blipFill rotWithShape="0">
                <a:blip r:embed="rId4"/>
                <a:stretch>
                  <a:fillRect l="-1179" t="-4433" b="-9360"/>
                </a:stretch>
              </a:blipFill>
              <a:ln w="25400">
                <a:solidFill>
                  <a:srgbClr val="00B050"/>
                </a:solidFill>
                <a:prstDash val="sysDash"/>
              </a:ln>
            </p:spPr>
            <p:txBody>
              <a:bodyPr/>
              <a:lstStyle/>
              <a:p>
                <a:r>
                  <a:rPr lang="zh-CN" altLang="en-US">
                    <a:noFill/>
                  </a:rPr>
                  <a:t> </a:t>
                </a:r>
              </a:p>
            </p:txBody>
          </p:sp>
        </mc:Fallback>
      </mc:AlternateContent>
      <p:sp>
        <p:nvSpPr>
          <p:cNvPr id="4" name="波形 3"/>
          <p:cNvSpPr/>
          <p:nvPr/>
        </p:nvSpPr>
        <p:spPr bwMode="auto">
          <a:xfrm>
            <a:off x="665054" y="3140968"/>
            <a:ext cx="7841530" cy="3024336"/>
          </a:xfrm>
          <a:prstGeom prst="wave">
            <a:avLst>
              <a:gd name="adj1" fmla="val 5568"/>
              <a:gd name="adj2" fmla="val -550"/>
            </a:avLst>
          </a:prstGeom>
          <a:solidFill>
            <a:schemeClr val="bg2">
              <a:lumMod val="60000"/>
              <a:lumOff val="40000"/>
            </a:schemeClr>
          </a:solidFill>
          <a:ln>
            <a:noFill/>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20000"/>
              </a:spcBef>
              <a:spcAft>
                <a:spcPct val="0"/>
              </a:spcAft>
              <a:buClrTx/>
              <a:buSzTx/>
              <a:buFontTx/>
              <a:buNone/>
              <a:tabLst/>
            </a:pPr>
            <a:endPara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8" name="文本框 7"/>
              <p:cNvSpPr txBox="1"/>
              <p:nvPr/>
            </p:nvSpPr>
            <p:spPr>
              <a:xfrm>
                <a:off x="827584" y="3501008"/>
                <a:ext cx="7488832" cy="2269724"/>
              </a:xfrm>
              <a:prstGeom prst="rect">
                <a:avLst/>
              </a:prstGeom>
              <a:noFill/>
            </p:spPr>
            <p:txBody>
              <a:bodyPr wrap="square" rtlCol="0">
                <a:spAutoFit/>
              </a:bodyPr>
              <a:lstStyle/>
              <a:p>
                <a:r>
                  <a:rPr lang="zh-CN" altLang="zh-CN" sz="2000" dirty="0"/>
                  <a:t>在计算</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𝑎</m:t>
                        </m:r>
                      </m:e>
                      <m:sup>
                        <m:r>
                          <a:rPr lang="en-US" altLang="zh-CN" sz="2000" i="1">
                            <a:latin typeface="Cambria Math" panose="02040503050406030204" pitchFamily="18" charset="0"/>
                          </a:rPr>
                          <m:t>𝑏</m:t>
                        </m:r>
                      </m:sup>
                    </m:sSup>
                    <m:r>
                      <a:rPr lang="en-US" altLang="zh-CN" sz="2000" i="1">
                        <a:latin typeface="Cambria Math" panose="02040503050406030204" pitchFamily="18" charset="0"/>
                      </a:rPr>
                      <m:t>𝑚𝑜𝑑</m:t>
                    </m:r>
                    <m:r>
                      <a:rPr lang="en-US" altLang="zh-CN" sz="2000" i="1">
                        <a:latin typeface="Cambria Math" panose="02040503050406030204" pitchFamily="18" charset="0"/>
                      </a:rPr>
                      <m:t> </m:t>
                    </m:r>
                    <m:r>
                      <a:rPr lang="en-US" altLang="zh-CN" sz="2000" i="1">
                        <a:latin typeface="Cambria Math" panose="02040503050406030204" pitchFamily="18" charset="0"/>
                      </a:rPr>
                      <m:t>𝑐</m:t>
                    </m:r>
                  </m:oMath>
                </a14:m>
                <a:r>
                  <a:rPr lang="zh-CN" altLang="zh-CN" sz="2000" dirty="0"/>
                  <a:t>时，需要更新一个三维数组</a:t>
                </a:r>
                <a14:m>
                  <m:oMath xmlns:m="http://schemas.openxmlformats.org/officeDocument/2006/math">
                    <m:r>
                      <a:rPr lang="en-US" altLang="zh-CN" sz="2000" i="1">
                        <a:latin typeface="Cambria Math" panose="02040503050406030204" pitchFamily="18" charset="0"/>
                      </a:rPr>
                      <m:t>(</m:t>
                    </m:r>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𝑀</m:t>
                    </m:r>
                    <m:r>
                      <a:rPr lang="en-US" altLang="zh-CN" sz="2000" i="1">
                        <a:latin typeface="Cambria Math" panose="02040503050406030204" pitchFamily="18" charset="0"/>
                      </a:rPr>
                      <m:t>,</m:t>
                    </m:r>
                    <m:r>
                      <a:rPr lang="en-US" altLang="zh-CN" sz="2000" i="1">
                        <a:latin typeface="Cambria Math" panose="02040503050406030204" pitchFamily="18" charset="0"/>
                      </a:rPr>
                      <m:t>𝑌</m:t>
                    </m:r>
                    <m:r>
                      <a:rPr lang="en-US" altLang="zh-CN" sz="2000" i="1">
                        <a:latin typeface="Cambria Math" panose="02040503050406030204" pitchFamily="18" charset="0"/>
                      </a:rPr>
                      <m:t>)</m:t>
                    </m:r>
                  </m:oMath>
                </a14:m>
                <a:r>
                  <a:rPr lang="zh-CN" altLang="zh-CN" sz="2000" dirty="0"/>
                  <a:t>，其初始值为</a:t>
                </a:r>
                <a14:m>
                  <m:oMath xmlns:m="http://schemas.openxmlformats.org/officeDocument/2006/math">
                    <m:r>
                      <a:rPr lang="en-US" altLang="zh-CN" sz="2000" i="1">
                        <a:latin typeface="Cambria Math" panose="02040503050406030204" pitchFamily="18" charset="0"/>
                      </a:rPr>
                      <m:t>(</m:t>
                    </m:r>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r>
                      <a:rPr lang="en-US" altLang="zh-CN" sz="2000" i="1">
                        <a:latin typeface="Cambria Math" panose="02040503050406030204" pitchFamily="18" charset="0"/>
                      </a:rPr>
                      <m:t>,1)</m:t>
                    </m:r>
                  </m:oMath>
                </a14:m>
                <a:r>
                  <a:rPr lang="zh-CN" altLang="zh-CN" sz="2000" dirty="0"/>
                  <a:t>，每一步的运算过程如下：</a:t>
                </a:r>
              </a:p>
              <a:p>
                <a:pPr marL="342900" indent="-342900">
                  <a:buFont typeface="Wingdings" panose="05000000000000000000" pitchFamily="2" charset="2"/>
                  <a:buChar char="u"/>
                </a:pPr>
                <a:r>
                  <a:rPr lang="zh-CN" altLang="zh-CN" sz="2000" dirty="0"/>
                  <a:t>如果</a:t>
                </a:r>
                <a14:m>
                  <m:oMath xmlns:m="http://schemas.openxmlformats.org/officeDocument/2006/math">
                    <m:r>
                      <a:rPr lang="en-US" altLang="zh-CN" sz="2000" i="1">
                        <a:latin typeface="Cambria Math" panose="02040503050406030204" pitchFamily="18" charset="0"/>
                      </a:rPr>
                      <m:t>𝑀</m:t>
                    </m:r>
                  </m:oMath>
                </a14:m>
                <a:r>
                  <a:rPr lang="zh-CN" altLang="zh-CN" sz="2000" dirty="0"/>
                  <a:t>是奇数，则使用</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𝑌𝑚𝑜𝑑</m:t>
                    </m:r>
                    <m:r>
                      <a:rPr lang="en-US" altLang="zh-CN" sz="2000" i="1">
                        <a:latin typeface="Cambria Math" panose="02040503050406030204" pitchFamily="18" charset="0"/>
                      </a:rPr>
                      <m:t> </m:t>
                    </m:r>
                    <m:r>
                      <a:rPr lang="en-US" altLang="zh-CN" sz="2000" i="1">
                        <a:latin typeface="Cambria Math" panose="02040503050406030204" pitchFamily="18" charset="0"/>
                      </a:rPr>
                      <m:t>𝑐</m:t>
                    </m:r>
                  </m:oMath>
                </a14:m>
                <a:r>
                  <a:rPr lang="zh-CN" altLang="zh-CN" sz="2000" dirty="0"/>
                  <a:t>取代</a:t>
                </a:r>
                <a14:m>
                  <m:oMath xmlns:m="http://schemas.openxmlformats.org/officeDocument/2006/math">
                    <m:r>
                      <a:rPr lang="en-US" altLang="zh-CN" sz="2000" i="1">
                        <a:latin typeface="Cambria Math" panose="02040503050406030204" pitchFamily="18" charset="0"/>
                      </a:rPr>
                      <m:t>𝑌</m:t>
                    </m:r>
                  </m:oMath>
                </a14:m>
                <a:r>
                  <a:rPr lang="zh-CN" altLang="zh-CN" sz="2000" dirty="0"/>
                  <a:t>，用</a:t>
                </a:r>
                <a14:m>
                  <m:oMath xmlns:m="http://schemas.openxmlformats.org/officeDocument/2006/math">
                    <m:r>
                      <a:rPr lang="en-US" altLang="zh-CN" sz="2000" i="1">
                        <a:latin typeface="Cambria Math" panose="02040503050406030204" pitchFamily="18" charset="0"/>
                      </a:rPr>
                      <m:t>𝑀</m:t>
                    </m:r>
                    <m:r>
                      <a:rPr lang="en-US" altLang="zh-CN" sz="2000" i="1">
                        <a:latin typeface="Cambria Math" panose="02040503050406030204" pitchFamily="18" charset="0"/>
                      </a:rPr>
                      <m:t>−1</m:t>
                    </m:r>
                  </m:oMath>
                </a14:m>
                <a:r>
                  <a:rPr lang="zh-CN" altLang="zh-CN" sz="2000" dirty="0"/>
                  <a:t>取代</a:t>
                </a:r>
                <a14:m>
                  <m:oMath xmlns:m="http://schemas.openxmlformats.org/officeDocument/2006/math">
                    <m:r>
                      <a:rPr lang="en-US" altLang="zh-CN" sz="2000" i="1">
                        <a:latin typeface="Cambria Math" panose="02040503050406030204" pitchFamily="18" charset="0"/>
                      </a:rPr>
                      <m:t>𝑀</m:t>
                    </m:r>
                  </m:oMath>
                </a14:m>
                <a:r>
                  <a:rPr lang="zh-CN" altLang="zh-CN" sz="2000" dirty="0"/>
                  <a:t>，</a:t>
                </a:r>
                <a14:m>
                  <m:oMath xmlns:m="http://schemas.openxmlformats.org/officeDocument/2006/math">
                    <m:r>
                      <a:rPr lang="en-US" altLang="zh-CN" sz="2000" i="1">
                        <a:latin typeface="Cambria Math" panose="02040503050406030204" pitchFamily="18" charset="0"/>
                      </a:rPr>
                      <m:t>𝑋</m:t>
                    </m:r>
                  </m:oMath>
                </a14:m>
                <a:r>
                  <a:rPr lang="zh-CN" altLang="zh-CN" sz="2000" dirty="0"/>
                  <a:t>的值保持不变；</a:t>
                </a:r>
              </a:p>
              <a:p>
                <a:pPr marL="342900" indent="-342900">
                  <a:buFont typeface="Wingdings" panose="05000000000000000000" pitchFamily="2" charset="2"/>
                  <a:buChar char="u"/>
                </a:pPr>
                <a:r>
                  <a:rPr lang="zh-CN" altLang="zh-CN" sz="2000" dirty="0"/>
                  <a:t>如果</a:t>
                </a:r>
                <a14:m>
                  <m:oMath xmlns:m="http://schemas.openxmlformats.org/officeDocument/2006/math">
                    <m:r>
                      <a:rPr lang="en-US" altLang="zh-CN" sz="2000" i="1">
                        <a:latin typeface="Cambria Math" panose="02040503050406030204" pitchFamily="18" charset="0"/>
                      </a:rPr>
                      <m:t>𝑀</m:t>
                    </m:r>
                  </m:oMath>
                </a14:m>
                <a:r>
                  <a:rPr lang="zh-CN" altLang="zh-CN" sz="2000" dirty="0"/>
                  <a:t>是偶数，则使用</a:t>
                </a:r>
                <a14:m>
                  <m:oMath xmlns:m="http://schemas.openxmlformats.org/officeDocument/2006/math">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𝑋𝑚𝑜𝑑</m:t>
                    </m:r>
                    <m:r>
                      <a:rPr lang="en-US" altLang="zh-CN" sz="2000" i="1">
                        <a:latin typeface="Cambria Math" panose="02040503050406030204" pitchFamily="18" charset="0"/>
                      </a:rPr>
                      <m:t> </m:t>
                    </m:r>
                    <m:r>
                      <a:rPr lang="en-US" altLang="zh-CN" sz="2000" i="1">
                        <a:latin typeface="Cambria Math" panose="02040503050406030204" pitchFamily="18" charset="0"/>
                      </a:rPr>
                      <m:t>𝑐</m:t>
                    </m:r>
                  </m:oMath>
                </a14:m>
                <a:r>
                  <a:rPr lang="zh-CN" altLang="zh-CN" sz="2000" dirty="0"/>
                  <a:t>取代</a:t>
                </a:r>
                <a14:m>
                  <m:oMath xmlns:m="http://schemas.openxmlformats.org/officeDocument/2006/math">
                    <m:r>
                      <a:rPr lang="en-US" altLang="zh-CN" sz="2000" i="1">
                        <a:latin typeface="Cambria Math" panose="02040503050406030204" pitchFamily="18" charset="0"/>
                      </a:rPr>
                      <m:t>𝑋</m:t>
                    </m:r>
                  </m:oMath>
                </a14:m>
                <a:r>
                  <a:rPr lang="zh-CN" altLang="zh-CN" sz="2000" dirty="0"/>
                  <a:t>，用</a:t>
                </a:r>
                <a14:m>
                  <m:oMath xmlns:m="http://schemas.openxmlformats.org/officeDocument/2006/math">
                    <m:r>
                      <a:rPr lang="en-US" altLang="zh-CN" sz="2000" i="1">
                        <a:latin typeface="Cambria Math" panose="02040503050406030204" pitchFamily="18" charset="0"/>
                      </a:rPr>
                      <m:t>𝑀</m:t>
                    </m:r>
                    <m:r>
                      <a:rPr lang="en-US" altLang="zh-CN" sz="2000" i="1">
                        <a:latin typeface="Cambria Math" panose="02040503050406030204" pitchFamily="18" charset="0"/>
                      </a:rPr>
                      <m:t>/2</m:t>
                    </m:r>
                  </m:oMath>
                </a14:m>
                <a:r>
                  <a:rPr lang="zh-CN" altLang="zh-CN" sz="2000" dirty="0"/>
                  <a:t>取代</a:t>
                </a:r>
                <a14:m>
                  <m:oMath xmlns:m="http://schemas.openxmlformats.org/officeDocument/2006/math">
                    <m:r>
                      <a:rPr lang="en-US" altLang="zh-CN" sz="2000" i="1">
                        <a:latin typeface="Cambria Math" panose="02040503050406030204" pitchFamily="18" charset="0"/>
                      </a:rPr>
                      <m:t>𝑀</m:t>
                    </m:r>
                  </m:oMath>
                </a14:m>
                <a:r>
                  <a:rPr lang="zh-CN" altLang="zh-CN" sz="2000" dirty="0"/>
                  <a:t>，</a:t>
                </a:r>
                <a14:m>
                  <m:oMath xmlns:m="http://schemas.openxmlformats.org/officeDocument/2006/math">
                    <m:r>
                      <a:rPr lang="en-US" altLang="zh-CN" sz="2000" i="1">
                        <a:latin typeface="Cambria Math" panose="02040503050406030204" pitchFamily="18" charset="0"/>
                      </a:rPr>
                      <m:t>𝑌</m:t>
                    </m:r>
                  </m:oMath>
                </a14:m>
                <a:r>
                  <a:rPr lang="zh-CN" altLang="zh-CN" sz="2000" dirty="0"/>
                  <a:t>的值保持不变；</a:t>
                </a:r>
              </a:p>
              <a:p>
                <a:pPr marL="342900" indent="-342900">
                  <a:buFont typeface="Wingdings" panose="05000000000000000000" pitchFamily="2" charset="2"/>
                  <a:buChar char="u"/>
                </a:pPr>
                <a:r>
                  <a:rPr lang="zh-CN" altLang="zh-CN" sz="2000" dirty="0"/>
                  <a:t>如果</a:t>
                </a:r>
                <a14:m>
                  <m:oMath xmlns:m="http://schemas.openxmlformats.org/officeDocument/2006/math">
                    <m:r>
                      <a:rPr lang="en-US" altLang="zh-CN" sz="2000" i="1">
                        <a:latin typeface="Cambria Math" panose="02040503050406030204" pitchFamily="18" charset="0"/>
                      </a:rPr>
                      <m:t>𝑀</m:t>
                    </m:r>
                    <m:r>
                      <a:rPr lang="en-US" altLang="zh-CN" sz="2000" i="1">
                        <a:latin typeface="Cambria Math" panose="02040503050406030204" pitchFamily="18" charset="0"/>
                      </a:rPr>
                      <m:t>=0</m:t>
                    </m:r>
                  </m:oMath>
                </a14:m>
                <a:r>
                  <a:rPr lang="zh-CN" altLang="zh-CN" sz="2000" dirty="0"/>
                  <a:t>时，则对应于</a:t>
                </a:r>
                <a14:m>
                  <m:oMath xmlns:m="http://schemas.openxmlformats.org/officeDocument/2006/math">
                    <m:r>
                      <a:rPr lang="en-US" altLang="zh-CN" sz="2000" i="1">
                        <a:latin typeface="Cambria Math" panose="02040503050406030204" pitchFamily="18" charset="0"/>
                      </a:rPr>
                      <m:t>𝑌</m:t>
                    </m:r>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𝑎</m:t>
                        </m:r>
                      </m:e>
                      <m:sup>
                        <m:r>
                          <a:rPr lang="en-US" altLang="zh-CN" sz="2000" i="1">
                            <a:latin typeface="Cambria Math" panose="02040503050406030204" pitchFamily="18" charset="0"/>
                          </a:rPr>
                          <m:t>𝑏</m:t>
                        </m:r>
                      </m:sup>
                    </m:sSup>
                    <m:r>
                      <a:rPr lang="en-US" altLang="zh-CN" sz="2000" i="1">
                        <a:latin typeface="Cambria Math" panose="02040503050406030204" pitchFamily="18" charset="0"/>
                      </a:rPr>
                      <m:t>𝑚𝑜𝑑</m:t>
                    </m:r>
                    <m:r>
                      <a:rPr lang="en-US" altLang="zh-CN" sz="2000" i="1">
                        <a:latin typeface="Cambria Math" panose="02040503050406030204" pitchFamily="18" charset="0"/>
                      </a:rPr>
                      <m:t> </m:t>
                    </m:r>
                    <m:r>
                      <a:rPr lang="en-US" altLang="zh-CN" sz="2000" i="1">
                        <a:latin typeface="Cambria Math" panose="02040503050406030204" pitchFamily="18" charset="0"/>
                      </a:rPr>
                      <m:t>𝑐</m:t>
                    </m:r>
                  </m:oMath>
                </a14:m>
                <a:r>
                  <a:rPr lang="zh-CN" altLang="zh-CN" sz="2000" dirty="0"/>
                  <a:t>。</a:t>
                </a:r>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827584" y="3501008"/>
                <a:ext cx="7488832" cy="2269724"/>
              </a:xfrm>
              <a:prstGeom prst="rect">
                <a:avLst/>
              </a:prstGeom>
              <a:blipFill rotWithShape="0">
                <a:blip r:embed="rId5"/>
                <a:stretch>
                  <a:fillRect l="-896" t="-1340" b="-34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07711492"/>
      </p:ext>
    </p:extLst>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7" name="页脚占位符 4"/>
          <p:cNvSpPr>
            <a:spLocks noGrp="1"/>
          </p:cNvSpPr>
          <p:nvPr>
            <p:ph type="ftr" sz="quarter" idx="11"/>
          </p:nvPr>
        </p:nvSpPr>
        <p:spPr/>
        <p:txBody>
          <a:bodyPr/>
          <a:lstStyle/>
          <a:p>
            <a:pPr>
              <a:defRPr/>
            </a:pPr>
            <a:r>
              <a:rPr lang="zh-CN" altLang="en-US"/>
              <a:t>计算机应用技术研究所</a:t>
            </a:r>
          </a:p>
        </p:txBody>
      </p:sp>
      <p:sp>
        <p:nvSpPr>
          <p:cNvPr id="8" name="灯片编号占位符 5"/>
          <p:cNvSpPr>
            <a:spLocks noGrp="1"/>
          </p:cNvSpPr>
          <p:nvPr>
            <p:ph type="sldNum" sz="quarter" idx="12"/>
          </p:nvPr>
        </p:nvSpPr>
        <p:spPr/>
        <p:txBody>
          <a:bodyPr/>
          <a:lstStyle/>
          <a:p>
            <a:pPr>
              <a:defRPr/>
            </a:pPr>
            <a:fld id="{E1473BE3-E2AE-455C-869C-1DCF60C01545}" type="slidenum">
              <a:rPr lang="en-US" altLang="zh-CN"/>
              <a:pPr>
                <a:defRPr/>
              </a:pPr>
              <a:t>115</a:t>
            </a:fld>
            <a:endParaRPr lang="en-US" altLang="zh-CN"/>
          </a:p>
        </p:txBody>
      </p:sp>
      <p:sp>
        <p:nvSpPr>
          <p:cNvPr id="124933" name="Text Box 2"/>
          <p:cNvSpPr txBox="1">
            <a:spLocks noChangeArrowheads="1"/>
          </p:cNvSpPr>
          <p:nvPr/>
        </p:nvSpPr>
        <p:spPr bwMode="auto">
          <a:xfrm>
            <a:off x="1331913" y="692150"/>
            <a:ext cx="61198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dirty="0">
                <a:solidFill>
                  <a:schemeClr val="bg1"/>
                </a:solidFill>
                <a:latin typeface="宋体" panose="02010600030101010101" pitchFamily="2" charset="-122"/>
                <a:ea typeface="宋体" panose="02010600030101010101" pitchFamily="2" charset="-122"/>
              </a:rPr>
              <a:t> </a:t>
            </a:r>
            <a:r>
              <a:rPr lang="zh-CN" altLang="en-US" sz="5400" b="1" dirty="0" smtClean="0">
                <a:solidFill>
                  <a:schemeClr val="bg1"/>
                </a:solidFill>
                <a:latin typeface="宋体" panose="02010600030101010101" pitchFamily="2" charset="-122"/>
                <a:ea typeface="宋体" panose="02010600030101010101" pitchFamily="2" charset="-122"/>
              </a:rPr>
              <a:t>例题</a:t>
            </a:r>
            <a:endParaRPr lang="zh-CN" altLang="en-US" sz="5400" b="1" dirty="0">
              <a:solidFill>
                <a:schemeClr val="bg1"/>
              </a:solidFill>
              <a:latin typeface="宋体" panose="02010600030101010101" pitchFamily="2" charset="-122"/>
              <a:ea typeface="宋体" panose="02010600030101010101" pitchFamily="2" charset="-122"/>
            </a:endParaRPr>
          </a:p>
        </p:txBody>
      </p:sp>
      <p:pic>
        <p:nvPicPr>
          <p:cNvPr id="124934"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文本框 2"/>
              <p:cNvSpPr txBox="1"/>
              <p:nvPr/>
            </p:nvSpPr>
            <p:spPr>
              <a:xfrm>
                <a:off x="1063651" y="2024063"/>
                <a:ext cx="7344543" cy="2408032"/>
              </a:xfrm>
              <a:prstGeom prst="rect">
                <a:avLst/>
              </a:prstGeom>
              <a:noFill/>
            </p:spPr>
            <p:txBody>
              <a:bodyPr wrap="square" rtlCol="0">
                <a:spAutoFit/>
              </a:bodyPr>
              <a:lstStyle/>
              <a:p>
                <a:r>
                  <a:rPr lang="zh-CN" altLang="en-US" dirty="0" smtClean="0"/>
                  <a:t>根据前述结论</a:t>
                </a:r>
                <a:r>
                  <a:rPr lang="zh-CN" altLang="zh-CN" dirty="0" smtClean="0"/>
                  <a:t>，</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7</m:t>
                        </m:r>
                      </m:e>
                      <m:sup>
                        <m:r>
                          <a:rPr lang="en-US" altLang="zh-CN" i="1">
                            <a:latin typeface="Cambria Math" panose="02040503050406030204" pitchFamily="18" charset="0"/>
                          </a:rPr>
                          <m:t>20</m:t>
                        </m:r>
                      </m:sup>
                    </m:sSup>
                    <m:r>
                      <a:rPr lang="en-US" altLang="zh-CN" i="1">
                        <a:latin typeface="Cambria Math" panose="02040503050406030204" pitchFamily="18" charset="0"/>
                      </a:rPr>
                      <m:t>𝑚𝑜𝑑</m:t>
                    </m:r>
                    <m:r>
                      <a:rPr lang="en-US" altLang="zh-CN" i="1">
                        <a:latin typeface="Cambria Math" panose="02040503050406030204" pitchFamily="18" charset="0"/>
                      </a:rPr>
                      <m:t> 561=463</m:t>
                    </m:r>
                  </m:oMath>
                </a14:m>
                <a:r>
                  <a:rPr lang="zh-CN" altLang="zh-CN" dirty="0"/>
                  <a:t>。</a:t>
                </a:r>
              </a:p>
              <a:p>
                <a:r>
                  <a:rPr lang="zh-CN" altLang="zh-CN" dirty="0"/>
                  <a:t>使用上述快速计算方法，计算出</a:t>
                </a:r>
                <a:r>
                  <a:rPr lang="en-US" altLang="zh-CN" i="1" dirty="0"/>
                  <a:t>C</a:t>
                </a:r>
                <a:r>
                  <a:rPr lang="zh-CN" altLang="zh-CN" dirty="0"/>
                  <a:t>的取值实现为每一段数字加密，即有：</a:t>
                </a:r>
              </a:p>
              <a:p>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0614</m:t>
                          </m:r>
                        </m:e>
                        <m:sup>
                          <m:r>
                            <a:rPr lang="en-US" altLang="zh-CN" i="1">
                              <a:latin typeface="Cambria Math" panose="02040503050406030204" pitchFamily="18" charset="0"/>
                            </a:rPr>
                            <m:t>13</m:t>
                          </m:r>
                        </m:sup>
                      </m:sSup>
                      <m:r>
                        <a:rPr lang="en-US" altLang="zh-CN" i="1">
                          <a:latin typeface="Cambria Math" panose="02040503050406030204" pitchFamily="18" charset="0"/>
                        </a:rPr>
                        <m:t> </m:t>
                      </m:r>
                      <m:r>
                        <m:rPr>
                          <m:nor/>
                        </m:rPr>
                        <a:rPr lang="en-US" altLang="zh-CN"/>
                        <m:t> (</m:t>
                      </m:r>
                      <m:r>
                        <m:rPr>
                          <m:nor/>
                        </m:rPr>
                        <a:rPr lang="en-US" altLang="zh-CN"/>
                        <m:t>mod</m:t>
                      </m:r>
                      <m:r>
                        <m:rPr>
                          <m:nor/>
                        </m:rPr>
                        <a:rPr lang="en-US" altLang="zh-CN"/>
                        <m:t> </m:t>
                      </m:r>
                      <m:r>
                        <a:rPr lang="en-US" altLang="zh-CN" i="1">
                          <a:latin typeface="Cambria Math" panose="02040503050406030204" pitchFamily="18" charset="0"/>
                        </a:rPr>
                        <m:t>2537</m:t>
                      </m:r>
                      <m:r>
                        <m:rPr>
                          <m:nor/>
                        </m:rPr>
                        <a:rPr lang="en-US" altLang="zh-CN"/>
                        <m:t>)=1422</m:t>
                      </m:r>
                    </m:oMath>
                  </m:oMathPara>
                </a14:m>
                <a:endParaRPr lang="zh-CN" altLang="zh-CN" dirty="0"/>
              </a:p>
              <a:p>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1403</m:t>
                          </m:r>
                        </m:e>
                        <m:sup>
                          <m:r>
                            <a:rPr lang="en-US" altLang="zh-CN" i="1">
                              <a:latin typeface="Cambria Math" panose="02040503050406030204" pitchFamily="18" charset="0"/>
                            </a:rPr>
                            <m:t>13</m:t>
                          </m:r>
                        </m:sup>
                      </m:sSup>
                      <m:r>
                        <a:rPr lang="en-US" altLang="zh-CN" i="1">
                          <a:latin typeface="Cambria Math" panose="02040503050406030204" pitchFamily="18" charset="0"/>
                        </a:rPr>
                        <m:t> </m:t>
                      </m:r>
                      <m:r>
                        <m:rPr>
                          <m:nor/>
                        </m:rPr>
                        <a:rPr lang="en-US" altLang="zh-CN"/>
                        <m:t> (</m:t>
                      </m:r>
                      <m:r>
                        <m:rPr>
                          <m:nor/>
                        </m:rPr>
                        <a:rPr lang="en-US" altLang="zh-CN"/>
                        <m:t>mod</m:t>
                      </m:r>
                      <m:r>
                        <m:rPr>
                          <m:nor/>
                        </m:rPr>
                        <a:rPr lang="en-US" altLang="zh-CN"/>
                        <m:t> </m:t>
                      </m:r>
                      <m:r>
                        <a:rPr lang="en-US" altLang="zh-CN" i="1">
                          <a:latin typeface="Cambria Math" panose="02040503050406030204" pitchFamily="18" charset="0"/>
                        </a:rPr>
                        <m:t>2537</m:t>
                      </m:r>
                      <m:r>
                        <m:rPr>
                          <m:nor/>
                        </m:rPr>
                        <a:rPr lang="en-US" altLang="zh-CN"/>
                        <m:t>)=1384</m:t>
                      </m:r>
                    </m:oMath>
                  </m:oMathPara>
                </a14:m>
                <a:endParaRPr lang="zh-CN" altLang="zh-CN" dirty="0"/>
              </a:p>
              <a:p>
                <a:r>
                  <a:rPr lang="zh-CN" altLang="zh-CN" dirty="0"/>
                  <a:t>得到密文为</a:t>
                </a:r>
                <a:r>
                  <a:rPr lang="en-US" altLang="zh-CN" dirty="0"/>
                  <a:t>14221384</a:t>
                </a:r>
                <a:r>
                  <a:rPr lang="zh-CN" altLang="zh-CN" dirty="0"/>
                  <a:t>。</a:t>
                </a:r>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1063651" y="2024063"/>
                <a:ext cx="7344543" cy="2408032"/>
              </a:xfrm>
              <a:prstGeom prst="rect">
                <a:avLst/>
              </a:prstGeom>
              <a:blipFill rotWithShape="0">
                <a:blip r:embed="rId4"/>
                <a:stretch>
                  <a:fillRect l="-1245" t="-2785" b="-7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6631333"/>
      </p:ext>
    </p:extLst>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F629C76-EA6E-4280-AA98-6DA8B1385DB1}" type="datetime1">
              <a:rPr lang="zh-CN" altLang="en-US"/>
              <a:pPr>
                <a:defRPr/>
              </a:pPr>
              <a:t>2020/9/7</a:t>
            </a:fld>
            <a:endParaRPr lang="en-US" altLang="zh-CN"/>
          </a:p>
        </p:txBody>
      </p:sp>
      <p:sp>
        <p:nvSpPr>
          <p:cNvPr id="8" name="页脚占位符 4"/>
          <p:cNvSpPr>
            <a:spLocks noGrp="1"/>
          </p:cNvSpPr>
          <p:nvPr>
            <p:ph type="ftr" sz="quarter" idx="11"/>
          </p:nvPr>
        </p:nvSpPr>
        <p:spPr/>
        <p:txBody>
          <a:bodyPr/>
          <a:lstStyle/>
          <a:p>
            <a:pPr>
              <a:defRPr/>
            </a:pPr>
            <a:r>
              <a:rPr lang="zh-CN" altLang="en-US"/>
              <a:t>计算机应用技术研究所</a:t>
            </a:r>
          </a:p>
        </p:txBody>
      </p:sp>
      <p:sp>
        <p:nvSpPr>
          <p:cNvPr id="9" name="灯片编号占位符 5"/>
          <p:cNvSpPr>
            <a:spLocks noGrp="1"/>
          </p:cNvSpPr>
          <p:nvPr>
            <p:ph type="sldNum" sz="quarter" idx="12"/>
          </p:nvPr>
        </p:nvSpPr>
        <p:spPr/>
        <p:txBody>
          <a:bodyPr/>
          <a:lstStyle/>
          <a:p>
            <a:pPr>
              <a:defRPr/>
            </a:pPr>
            <a:fld id="{BCC9A188-D21F-4DF3-BF3B-259C498DFE23}" type="slidenum">
              <a:rPr lang="en-US" altLang="zh-CN"/>
              <a:pPr>
                <a:defRPr/>
              </a:pPr>
              <a:t>116</a:t>
            </a:fld>
            <a:endParaRPr lang="en-US" altLang="zh-CN"/>
          </a:p>
        </p:txBody>
      </p:sp>
      <p:sp>
        <p:nvSpPr>
          <p:cNvPr id="125958"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en-US" sz="3200">
              <a:latin typeface="宋体" panose="02010600030101010101" pitchFamily="2" charset="-122"/>
              <a:ea typeface="宋体" panose="02010600030101010101" pitchFamily="2" charset="-122"/>
            </a:endParaRPr>
          </a:p>
        </p:txBody>
      </p:sp>
      <p:sp>
        <p:nvSpPr>
          <p:cNvPr id="125960" name="Text Box 2"/>
          <p:cNvSpPr txBox="1">
            <a:spLocks noChangeArrowheads="1"/>
          </p:cNvSpPr>
          <p:nvPr/>
        </p:nvSpPr>
        <p:spPr bwMode="auto">
          <a:xfrm>
            <a:off x="1331913" y="692150"/>
            <a:ext cx="62642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dirty="0" smtClean="0">
                <a:solidFill>
                  <a:schemeClr val="bg1"/>
                </a:solidFill>
                <a:latin typeface="宋体" panose="02010600030101010101" pitchFamily="2" charset="-122"/>
                <a:ea typeface="宋体" panose="02010600030101010101" pitchFamily="2" charset="-122"/>
              </a:rPr>
              <a:t>结论</a:t>
            </a:r>
            <a:endParaRPr lang="zh-CN" altLang="en-US" sz="4800" b="1" dirty="0">
              <a:solidFill>
                <a:schemeClr val="bg1"/>
              </a:solidFill>
              <a:latin typeface="宋体" panose="02010600030101010101" pitchFamily="2" charset="-122"/>
              <a:ea typeface="宋体" panose="02010600030101010101" pitchFamily="2" charset="-122"/>
            </a:endParaRPr>
          </a:p>
        </p:txBody>
      </p:sp>
      <p:pic>
        <p:nvPicPr>
          <p:cNvPr id="125961" name="Picture 6" descr="C:\Program Files\Microsoft Office\MEDIA\CAGCAT10\j0293844.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7313"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863588" y="2132856"/>
            <a:ext cx="7416824" cy="3785652"/>
          </a:xfrm>
          <a:prstGeom prst="rect">
            <a:avLst/>
          </a:prstGeom>
          <a:solidFill>
            <a:srgbClr val="FFC000"/>
          </a:solidFill>
        </p:spPr>
        <p:txBody>
          <a:bodyPr wrap="square" rtlCol="0">
            <a:spAutoFit/>
          </a:bodyPr>
          <a:lstStyle/>
          <a:p>
            <a:r>
              <a:rPr lang="en-US" altLang="zh-CN" dirty="0">
                <a:solidFill>
                  <a:srgbClr val="0070C0"/>
                </a:solidFill>
                <a:latin typeface="华文新魏" panose="02010800040101010101" pitchFamily="2" charset="-122"/>
                <a:ea typeface="华文新魏" panose="02010800040101010101" pitchFamily="2" charset="-122"/>
              </a:rPr>
              <a:t>"</a:t>
            </a:r>
            <a:r>
              <a:rPr lang="zh-CN" altLang="en-US" dirty="0">
                <a:solidFill>
                  <a:srgbClr val="0070C0"/>
                </a:solidFill>
                <a:latin typeface="华文新魏" panose="02010800040101010101" pitchFamily="2" charset="-122"/>
                <a:ea typeface="华文新魏" panose="02010800040101010101" pitchFamily="2" charset="-122"/>
              </a:rPr>
              <a:t>对极大整数做因数分解的难度决定了</a:t>
            </a:r>
            <a:r>
              <a:rPr lang="en-US" altLang="zh-CN" dirty="0">
                <a:solidFill>
                  <a:srgbClr val="0070C0"/>
                </a:solidFill>
                <a:latin typeface="华文新魏" panose="02010800040101010101" pitchFamily="2" charset="-122"/>
                <a:ea typeface="华文新魏" panose="02010800040101010101" pitchFamily="2" charset="-122"/>
              </a:rPr>
              <a:t>RSA</a:t>
            </a:r>
            <a:r>
              <a:rPr lang="zh-CN" altLang="en-US" dirty="0">
                <a:solidFill>
                  <a:srgbClr val="0070C0"/>
                </a:solidFill>
                <a:latin typeface="华文新魏" panose="02010800040101010101" pitchFamily="2" charset="-122"/>
                <a:ea typeface="华文新魏" panose="02010800040101010101" pitchFamily="2" charset="-122"/>
              </a:rPr>
              <a:t>算法的可靠性。换言之，对一极大整数做因数分解愈困难，</a:t>
            </a:r>
            <a:r>
              <a:rPr lang="en-US" altLang="zh-CN" dirty="0">
                <a:solidFill>
                  <a:srgbClr val="0070C0"/>
                </a:solidFill>
                <a:latin typeface="华文新魏" panose="02010800040101010101" pitchFamily="2" charset="-122"/>
                <a:ea typeface="华文新魏" panose="02010800040101010101" pitchFamily="2" charset="-122"/>
              </a:rPr>
              <a:t>RSA</a:t>
            </a:r>
            <a:r>
              <a:rPr lang="zh-CN" altLang="en-US" dirty="0">
                <a:solidFill>
                  <a:srgbClr val="0070C0"/>
                </a:solidFill>
                <a:latin typeface="华文新魏" panose="02010800040101010101" pitchFamily="2" charset="-122"/>
                <a:ea typeface="华文新魏" panose="02010800040101010101" pitchFamily="2" charset="-122"/>
              </a:rPr>
              <a:t>算法愈可靠。</a:t>
            </a:r>
          </a:p>
          <a:p>
            <a:r>
              <a:rPr lang="zh-CN" altLang="en-US" dirty="0">
                <a:solidFill>
                  <a:srgbClr val="0070C0"/>
                </a:solidFill>
                <a:latin typeface="华文新魏" panose="02010800040101010101" pitchFamily="2" charset="-122"/>
                <a:ea typeface="华文新魏" panose="02010800040101010101" pitchFamily="2" charset="-122"/>
              </a:rPr>
              <a:t>　　假如有人找到一种快速因数分解的算法，那么</a:t>
            </a:r>
            <a:r>
              <a:rPr lang="en-US" altLang="zh-CN" dirty="0">
                <a:solidFill>
                  <a:srgbClr val="0070C0"/>
                </a:solidFill>
                <a:latin typeface="华文新魏" panose="02010800040101010101" pitchFamily="2" charset="-122"/>
                <a:ea typeface="华文新魏" panose="02010800040101010101" pitchFamily="2" charset="-122"/>
              </a:rPr>
              <a:t>RSA</a:t>
            </a:r>
            <a:r>
              <a:rPr lang="zh-CN" altLang="en-US" dirty="0">
                <a:solidFill>
                  <a:srgbClr val="0070C0"/>
                </a:solidFill>
                <a:latin typeface="华文新魏" panose="02010800040101010101" pitchFamily="2" charset="-122"/>
                <a:ea typeface="华文新魏" panose="02010800040101010101" pitchFamily="2" charset="-122"/>
              </a:rPr>
              <a:t>的可靠性就会极度下降。但找到这样的算法的可能性是非常小的。今天只有短的</a:t>
            </a:r>
            <a:r>
              <a:rPr lang="en-US" altLang="zh-CN" dirty="0">
                <a:solidFill>
                  <a:srgbClr val="0070C0"/>
                </a:solidFill>
                <a:latin typeface="华文新魏" panose="02010800040101010101" pitchFamily="2" charset="-122"/>
                <a:ea typeface="华文新魏" panose="02010800040101010101" pitchFamily="2" charset="-122"/>
              </a:rPr>
              <a:t>RSA</a:t>
            </a:r>
            <a:r>
              <a:rPr lang="zh-CN" altLang="en-US" dirty="0">
                <a:solidFill>
                  <a:srgbClr val="0070C0"/>
                </a:solidFill>
                <a:latin typeface="华文新魏" panose="02010800040101010101" pitchFamily="2" charset="-122"/>
                <a:ea typeface="华文新魏" panose="02010800040101010101" pitchFamily="2" charset="-122"/>
              </a:rPr>
              <a:t>密钥才可能被暴力破解。到</a:t>
            </a:r>
            <a:r>
              <a:rPr lang="en-US" altLang="zh-CN" dirty="0">
                <a:solidFill>
                  <a:srgbClr val="0070C0"/>
                </a:solidFill>
                <a:latin typeface="华文新魏" panose="02010800040101010101" pitchFamily="2" charset="-122"/>
                <a:ea typeface="华文新魏" panose="02010800040101010101" pitchFamily="2" charset="-122"/>
              </a:rPr>
              <a:t>2008</a:t>
            </a:r>
            <a:r>
              <a:rPr lang="zh-CN" altLang="en-US" dirty="0">
                <a:solidFill>
                  <a:srgbClr val="0070C0"/>
                </a:solidFill>
                <a:latin typeface="华文新魏" panose="02010800040101010101" pitchFamily="2" charset="-122"/>
                <a:ea typeface="华文新魏" panose="02010800040101010101" pitchFamily="2" charset="-122"/>
              </a:rPr>
              <a:t>年为止，世界上还没有任何可靠的攻击</a:t>
            </a:r>
            <a:r>
              <a:rPr lang="en-US" altLang="zh-CN" dirty="0">
                <a:solidFill>
                  <a:srgbClr val="0070C0"/>
                </a:solidFill>
                <a:latin typeface="华文新魏" panose="02010800040101010101" pitchFamily="2" charset="-122"/>
                <a:ea typeface="华文新魏" panose="02010800040101010101" pitchFamily="2" charset="-122"/>
              </a:rPr>
              <a:t>RSA</a:t>
            </a:r>
            <a:r>
              <a:rPr lang="zh-CN" altLang="en-US" dirty="0">
                <a:solidFill>
                  <a:srgbClr val="0070C0"/>
                </a:solidFill>
                <a:latin typeface="华文新魏" panose="02010800040101010101" pitchFamily="2" charset="-122"/>
                <a:ea typeface="华文新魏" panose="02010800040101010101" pitchFamily="2" charset="-122"/>
              </a:rPr>
              <a:t>算法的方式。</a:t>
            </a:r>
          </a:p>
          <a:p>
            <a:r>
              <a:rPr lang="zh-CN" altLang="en-US" dirty="0">
                <a:solidFill>
                  <a:srgbClr val="0070C0"/>
                </a:solidFill>
                <a:latin typeface="华文新魏" panose="02010800040101010101" pitchFamily="2" charset="-122"/>
                <a:ea typeface="华文新魏" panose="02010800040101010101" pitchFamily="2" charset="-122"/>
              </a:rPr>
              <a:t>　　只要密钥长度足够长，用</a:t>
            </a:r>
            <a:r>
              <a:rPr lang="en-US" altLang="zh-CN" dirty="0">
                <a:solidFill>
                  <a:srgbClr val="0070C0"/>
                </a:solidFill>
                <a:latin typeface="华文新魏" panose="02010800040101010101" pitchFamily="2" charset="-122"/>
                <a:ea typeface="华文新魏" panose="02010800040101010101" pitchFamily="2" charset="-122"/>
              </a:rPr>
              <a:t>RSA</a:t>
            </a:r>
            <a:r>
              <a:rPr lang="zh-CN" altLang="en-US" dirty="0">
                <a:solidFill>
                  <a:srgbClr val="0070C0"/>
                </a:solidFill>
                <a:latin typeface="华文新魏" panose="02010800040101010101" pitchFamily="2" charset="-122"/>
                <a:ea typeface="华文新魏" panose="02010800040101010101" pitchFamily="2" charset="-122"/>
              </a:rPr>
              <a:t>加密的信息实际上是不能被解破的。</a:t>
            </a:r>
            <a:r>
              <a:rPr lang="en-US" altLang="zh-CN" dirty="0" smtClean="0">
                <a:solidFill>
                  <a:srgbClr val="0070C0"/>
                </a:solidFill>
                <a:latin typeface="华文新魏" panose="02010800040101010101" pitchFamily="2" charset="-122"/>
                <a:ea typeface="华文新魏" panose="02010800040101010101" pitchFamily="2" charset="-122"/>
              </a:rPr>
              <a:t>"</a:t>
            </a:r>
            <a:endParaRPr lang="en-US" altLang="zh-CN"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025154830"/>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0EFA123-C579-47DA-B3E1-4B438B61F34D}" type="datetime1">
              <a:rPr lang="zh-CN" altLang="en-US" smtClean="0"/>
              <a:pPr>
                <a:defRPr/>
              </a:pPr>
              <a:t>2020/9/7</a:t>
            </a:fld>
            <a:endParaRPr lang="en-US" altLang="zh-CN" dirty="0"/>
          </a:p>
        </p:txBody>
      </p:sp>
      <p:sp>
        <p:nvSpPr>
          <p:cNvPr id="5" name="页脚占位符 4"/>
          <p:cNvSpPr>
            <a:spLocks noGrp="1"/>
          </p:cNvSpPr>
          <p:nvPr>
            <p:ph type="ftr" sz="quarter" idx="11"/>
          </p:nvPr>
        </p:nvSpPr>
        <p:spPr/>
        <p:txBody>
          <a:bodyPr/>
          <a:lstStyle/>
          <a:p>
            <a:pPr>
              <a:defRPr/>
            </a:pPr>
            <a:r>
              <a:rPr lang="zh-CN" altLang="en-US" dirty="0" smtClean="0"/>
              <a:t>计算机应用技术研究所</a:t>
            </a:r>
            <a:endParaRPr lang="zh-CN" altLang="en-US" dirty="0"/>
          </a:p>
        </p:txBody>
      </p:sp>
      <p:sp>
        <p:nvSpPr>
          <p:cNvPr id="6" name="灯片编号占位符 5"/>
          <p:cNvSpPr>
            <a:spLocks noGrp="1"/>
          </p:cNvSpPr>
          <p:nvPr>
            <p:ph type="sldNum" sz="quarter" idx="12"/>
          </p:nvPr>
        </p:nvSpPr>
        <p:spPr/>
        <p:txBody>
          <a:bodyPr/>
          <a:lstStyle/>
          <a:p>
            <a:pPr>
              <a:defRPr/>
            </a:pPr>
            <a:fld id="{0CC4D2A5-90E9-48E2-937F-06962EEB11A7}" type="slidenum">
              <a:rPr lang="en-US" altLang="zh-CN" smtClean="0"/>
              <a:pPr>
                <a:defRPr/>
              </a:pPr>
              <a:t>117</a:t>
            </a:fld>
            <a:endParaRPr lang="en-US" altLang="zh-CN" dirty="0"/>
          </a:p>
        </p:txBody>
      </p:sp>
      <p:sp>
        <p:nvSpPr>
          <p:cNvPr id="54277" name="WordArt 3"/>
          <p:cNvSpPr>
            <a:spLocks noChangeArrowheads="1" noChangeShapeType="1" noTextEdit="1"/>
          </p:cNvSpPr>
          <p:nvPr/>
        </p:nvSpPr>
        <p:spPr bwMode="auto">
          <a:xfrm>
            <a:off x="2744788" y="2205038"/>
            <a:ext cx="4419600" cy="2514600"/>
          </a:xfrm>
          <a:prstGeom prst="rect">
            <a:avLst/>
          </a:prstGeom>
        </p:spPr>
        <p:txBody>
          <a:bodyPr wrap="none" fromWordArt="1">
            <a:prstTxWarp prst="textCascadeUp">
              <a:avLst>
                <a:gd name="adj" fmla="val 44444"/>
              </a:avLst>
            </a:prstTxWarp>
            <a:scene3d>
              <a:camera prst="legacyPerspectiveFront">
                <a:rot lat="20519964"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a:round/>
                  <a:headEnd/>
                  <a:tailEnd/>
                </a:ln>
                <a:gradFill rotWithShape="1">
                  <a:gsLst>
                    <a:gs pos="0">
                      <a:srgbClr val="FFE701"/>
                    </a:gs>
                    <a:gs pos="100000">
                      <a:srgbClr val="FE3E02"/>
                    </a:gs>
                  </a:gsLst>
                  <a:lin ang="5400000" scaled="1"/>
                </a:gradFill>
              </a:rPr>
              <a:t>本节结束！</a:t>
            </a:r>
          </a:p>
        </p:txBody>
      </p:sp>
    </p:spTree>
    <p:extLst>
      <p:ext uri="{BB962C8B-B14F-4D97-AF65-F5344CB8AC3E}">
        <p14:creationId xmlns:p14="http://schemas.microsoft.com/office/powerpoint/2010/main" val="2542136053"/>
      </p:ext>
    </p:extLst>
  </p:cSld>
  <p:clrMapOvr>
    <a:masterClrMapping/>
  </p:clrMapOvr>
  <p:transition/>
</p:sld>
</file>

<file path=ppt/theme/theme1.xml><?xml version="1.0" encoding="utf-8"?>
<a:theme xmlns:a="http://schemas.openxmlformats.org/drawingml/2006/main" name="张勇-硕士答辩">
  <a:themeElements>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张勇-硕士答辩">
      <a:majorFont>
        <a:latin typeface="Times New Roman"/>
        <a:ea typeface="宋体"/>
        <a:cs typeface=""/>
      </a:majorFont>
      <a:minorFont>
        <a:latin typeface="楷体_GB2312"/>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2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2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张勇-硕士答辩</Template>
  <TotalTime>9027</TotalTime>
  <Words>7793</Words>
  <Application>Microsoft Office PowerPoint</Application>
  <PresentationFormat>全屏显示(4:3)</PresentationFormat>
  <Paragraphs>774</Paragraphs>
  <Slides>117</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117</vt:i4>
      </vt:variant>
    </vt:vector>
  </HeadingPairs>
  <TitlesOfParts>
    <vt:vector size="136" baseType="lpstr">
      <vt:lpstr>方正舒体</vt:lpstr>
      <vt:lpstr>方正姚体</vt:lpstr>
      <vt:lpstr>仿宋</vt:lpstr>
      <vt:lpstr>黑体</vt:lpstr>
      <vt:lpstr>华文仿宋</vt:lpstr>
      <vt:lpstr>华文行楷</vt:lpstr>
      <vt:lpstr>华文琥珀</vt:lpstr>
      <vt:lpstr>华文楷体</vt:lpstr>
      <vt:lpstr>华文新魏</vt:lpstr>
      <vt:lpstr>楷体_GB2312</vt:lpstr>
      <vt:lpstr>隶书</vt:lpstr>
      <vt:lpstr>宋体</vt:lpstr>
      <vt:lpstr>Arial</vt:lpstr>
      <vt:lpstr>Cambria Math</vt:lpstr>
      <vt:lpstr>Symbol</vt:lpstr>
      <vt:lpstr>Times New Roman</vt:lpstr>
      <vt:lpstr>Wingdings</vt:lpstr>
      <vt:lpstr>Wingdings 2</vt:lpstr>
      <vt:lpstr>张勇-硕士答辩</vt:lpstr>
      <vt:lpstr>PowerPoint 演示文稿</vt:lpstr>
      <vt:lpstr>第2章 整数与算法设计基础 （上）</vt:lpstr>
      <vt:lpstr>PowerPoint 演示文稿</vt:lpstr>
      <vt:lpstr>整数的基本知识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同余算术及其运用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WWW.YlmF.CoM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图像中模糊边界目标的阈值分割方法研究</dc:title>
  <dc:creator>汪荣贵</dc:creator>
  <cp:lastModifiedBy>Windows 用户</cp:lastModifiedBy>
  <cp:revision>485</cp:revision>
  <dcterms:created xsi:type="dcterms:W3CDTF">2011-04-21T02:25:16Z</dcterms:created>
  <dcterms:modified xsi:type="dcterms:W3CDTF">2020-09-07T02:11:05Z</dcterms:modified>
</cp:coreProperties>
</file>