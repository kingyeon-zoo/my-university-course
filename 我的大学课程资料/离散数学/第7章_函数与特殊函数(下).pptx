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680" r:id="rId2"/>
  </p:sldMasterIdLst>
  <p:notesMasterIdLst>
    <p:notesMasterId r:id="rId60"/>
  </p:notesMasterIdLst>
  <p:sldIdLst>
    <p:sldId id="1123" r:id="rId3"/>
    <p:sldId id="1124" r:id="rId4"/>
    <p:sldId id="1617" r:id="rId5"/>
    <p:sldId id="1340" r:id="rId6"/>
    <p:sldId id="1341" r:id="rId7"/>
    <p:sldId id="1342" r:id="rId8"/>
    <p:sldId id="1388" r:id="rId9"/>
    <p:sldId id="1564" r:id="rId10"/>
    <p:sldId id="1389" r:id="rId11"/>
    <p:sldId id="1565" r:id="rId12"/>
    <p:sldId id="1566" r:id="rId13"/>
    <p:sldId id="1567" r:id="rId14"/>
    <p:sldId id="1568" r:id="rId15"/>
    <p:sldId id="1569" r:id="rId16"/>
    <p:sldId id="1570" r:id="rId17"/>
    <p:sldId id="1571" r:id="rId18"/>
    <p:sldId id="1572" r:id="rId19"/>
    <p:sldId id="1573" r:id="rId20"/>
    <p:sldId id="1574" r:id="rId21"/>
    <p:sldId id="1575" r:id="rId22"/>
    <p:sldId id="1576" r:id="rId23"/>
    <p:sldId id="1619" r:id="rId24"/>
    <p:sldId id="1620" r:id="rId25"/>
    <p:sldId id="1621" r:id="rId26"/>
    <p:sldId id="1622" r:id="rId27"/>
    <p:sldId id="1580" r:id="rId28"/>
    <p:sldId id="1581" r:id="rId29"/>
    <p:sldId id="1582" r:id="rId30"/>
    <p:sldId id="1618" r:id="rId31"/>
    <p:sldId id="1589" r:id="rId32"/>
    <p:sldId id="1591" r:id="rId33"/>
    <p:sldId id="1590" r:id="rId34"/>
    <p:sldId id="1592" r:id="rId35"/>
    <p:sldId id="1593" r:id="rId36"/>
    <p:sldId id="1594" r:id="rId37"/>
    <p:sldId id="1595" r:id="rId38"/>
    <p:sldId id="1608" r:id="rId39"/>
    <p:sldId id="1609" r:id="rId40"/>
    <p:sldId id="1596" r:id="rId41"/>
    <p:sldId id="1607" r:id="rId42"/>
    <p:sldId id="1597" r:id="rId43"/>
    <p:sldId id="1598" r:id="rId44"/>
    <p:sldId id="1599" r:id="rId45"/>
    <p:sldId id="1606" r:id="rId46"/>
    <p:sldId id="1600" r:id="rId47"/>
    <p:sldId id="1601" r:id="rId48"/>
    <p:sldId id="1602" r:id="rId49"/>
    <p:sldId id="1603" r:id="rId50"/>
    <p:sldId id="1604" r:id="rId51"/>
    <p:sldId id="1605" r:id="rId52"/>
    <p:sldId id="1610" r:id="rId53"/>
    <p:sldId id="1611" r:id="rId54"/>
    <p:sldId id="1612" r:id="rId55"/>
    <p:sldId id="1613" r:id="rId56"/>
    <p:sldId id="1614" r:id="rId57"/>
    <p:sldId id="1615" r:id="rId58"/>
    <p:sldId id="1339" r:id="rId59"/>
  </p:sldIdLst>
  <p:sldSz cx="9144000" cy="6858000" type="screen4x3"/>
  <p:notesSz cx="6858000" cy="9144000"/>
  <p:defaultTextStyle>
    <a:defPPr>
      <a:defRPr lang="en-US"/>
    </a:defPPr>
    <a:lvl1pPr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1pPr>
    <a:lvl2pPr marL="4572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2pPr>
    <a:lvl3pPr marL="9144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3pPr>
    <a:lvl4pPr marL="13716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4pPr>
    <a:lvl5pPr marL="18288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5pPr>
    <a:lvl6pPr marL="2286000" algn="l" defTabSz="914400" rtl="0" eaLnBrk="1" latinLnBrk="0" hangingPunct="1">
      <a:defRPr sz="3200" kern="1200">
        <a:solidFill>
          <a:srgbClr val="FF0000"/>
        </a:solidFill>
        <a:latin typeface="黑体" pitchFamily="49" charset="-122"/>
        <a:ea typeface="黑体" pitchFamily="49" charset="-122"/>
        <a:cs typeface="+mn-cs"/>
      </a:defRPr>
    </a:lvl6pPr>
    <a:lvl7pPr marL="2743200" algn="l" defTabSz="914400" rtl="0" eaLnBrk="1" latinLnBrk="0" hangingPunct="1">
      <a:defRPr sz="3200" kern="1200">
        <a:solidFill>
          <a:srgbClr val="FF0000"/>
        </a:solidFill>
        <a:latin typeface="黑体" pitchFamily="49" charset="-122"/>
        <a:ea typeface="黑体" pitchFamily="49" charset="-122"/>
        <a:cs typeface="+mn-cs"/>
      </a:defRPr>
    </a:lvl7pPr>
    <a:lvl8pPr marL="3200400" algn="l" defTabSz="914400" rtl="0" eaLnBrk="1" latinLnBrk="0" hangingPunct="1">
      <a:defRPr sz="3200" kern="1200">
        <a:solidFill>
          <a:srgbClr val="FF0000"/>
        </a:solidFill>
        <a:latin typeface="黑体" pitchFamily="49" charset="-122"/>
        <a:ea typeface="黑体" pitchFamily="49" charset="-122"/>
        <a:cs typeface="+mn-cs"/>
      </a:defRPr>
    </a:lvl8pPr>
    <a:lvl9pPr marL="3657600" algn="l" defTabSz="914400" rtl="0" eaLnBrk="1" latinLnBrk="0" hangingPunct="1">
      <a:defRPr sz="3200" kern="1200">
        <a:solidFill>
          <a:srgbClr val="FF0000"/>
        </a:solidFill>
        <a:latin typeface="黑体" pitchFamily="49" charset="-122"/>
        <a:ea typeface="黑体"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0000"/>
    <a:srgbClr val="9328A8"/>
    <a:srgbClr val="800080"/>
    <a:srgbClr val="CCFFCC"/>
    <a:srgbClr val="CC99FF"/>
    <a:srgbClr val="CCFF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37" autoAdjust="0"/>
    <p:restoredTop sz="94683" autoAdjust="0"/>
  </p:normalViewPr>
  <p:slideViewPr>
    <p:cSldViewPr>
      <p:cViewPr varScale="1">
        <p:scale>
          <a:sx n="87" d="100"/>
          <a:sy n="87" d="100"/>
        </p:scale>
        <p:origin x="1219"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Arial" charset="0"/>
                <a:ea typeface="宋体" pitchFamily="2" charset="-122"/>
              </a:defRPr>
            </a:lvl1pPr>
          </a:lstStyle>
          <a:p>
            <a:pPr>
              <a:defRPr/>
            </a:pPr>
            <a:endParaRPr lang="zh-CN" altLang="en-US"/>
          </a:p>
        </p:txBody>
      </p:sp>
      <p:sp>
        <p:nvSpPr>
          <p:cNvPr id="1536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ea typeface="宋体" pitchFamily="2" charset="-122"/>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Arial" charset="0"/>
                <a:ea typeface="宋体" pitchFamily="2" charset="-122"/>
              </a:defRPr>
            </a:lvl1pPr>
          </a:lstStyle>
          <a:p>
            <a:pPr>
              <a:defRPr/>
            </a:pPr>
            <a:endParaRPr lang="en-US" altLang="zh-CN"/>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Arial" pitchFamily="34" charset="0"/>
                <a:ea typeface="宋体" pitchFamily="2" charset="-122"/>
              </a:defRPr>
            </a:lvl1pPr>
          </a:lstStyle>
          <a:p>
            <a:fld id="{61A8E153-4952-4B2D-853B-8406AA78E4F4}" type="slidenum">
              <a:rPr lang="zh-CN" altLang="en-US"/>
              <a:pPr/>
              <a:t>‹#›</a:t>
            </a:fld>
            <a:endParaRPr lang="en-US" altLang="zh-CN"/>
          </a:p>
        </p:txBody>
      </p:sp>
    </p:spTree>
    <p:extLst>
      <p:ext uri="{BB962C8B-B14F-4D97-AF65-F5344CB8AC3E}">
        <p14:creationId xmlns:p14="http://schemas.microsoft.com/office/powerpoint/2010/main" val="11446281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5"/>
          <p:cNvSpPr>
            <a:spLocks noGrp="1" noChangeArrowheads="1"/>
          </p:cNvSpPr>
          <p:nvPr>
            <p:ph type="dt" sz="half" idx="10"/>
          </p:nvPr>
        </p:nvSpPr>
        <p:spPr>
          <a:ln/>
        </p:spPr>
        <p:txBody>
          <a:bodyPr/>
          <a:lstStyle>
            <a:lvl1pPr>
              <a:defRPr/>
            </a:lvl1pPr>
          </a:lstStyle>
          <a:p>
            <a:pPr>
              <a:defRPr/>
            </a:pPr>
            <a:fld id="{33C663CE-E212-434E-BDB9-C3155ADF98EE}"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r>
              <a:rPr lang="en-US" altLang="zh-CN"/>
              <a:t>50</a:t>
            </a:r>
            <a:r>
              <a:rPr lang="zh-CN" altLang="en-US"/>
              <a:t>－</a:t>
            </a:r>
            <a:fld id="{D03E447D-188E-4453-AC74-93B74039F2A9}" type="slidenum">
              <a:rPr lang="en-US" altLang="zh-CN"/>
              <a:pPr/>
              <a:t>‹#›</a:t>
            </a:fld>
            <a:endParaRPr lang="en-US" altLang="zh-CN"/>
          </a:p>
        </p:txBody>
      </p:sp>
    </p:spTree>
    <p:extLst>
      <p:ext uri="{BB962C8B-B14F-4D97-AF65-F5344CB8AC3E}">
        <p14:creationId xmlns:p14="http://schemas.microsoft.com/office/powerpoint/2010/main" val="1691577311"/>
      </p:ext>
    </p:extLst>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D1A4D711-B80B-4FF1-8DD6-C5056A5D4AE6}"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a:lvl1pPr>
          </a:lstStyle>
          <a:p>
            <a:r>
              <a:rPr lang="en-US" altLang="zh-CN"/>
              <a:t>50</a:t>
            </a:r>
            <a:r>
              <a:rPr lang="zh-CN" altLang="en-US"/>
              <a:t>－</a:t>
            </a:r>
            <a:fld id="{B6360180-7F87-43F7-9555-5228C7B14DCF}" type="slidenum">
              <a:rPr lang="en-US" altLang="zh-CN"/>
              <a:pPr/>
              <a:t>‹#›</a:t>
            </a:fld>
            <a:endParaRPr lang="en-US" altLang="zh-CN"/>
          </a:p>
        </p:txBody>
      </p:sp>
    </p:spTree>
    <p:extLst>
      <p:ext uri="{BB962C8B-B14F-4D97-AF65-F5344CB8AC3E}">
        <p14:creationId xmlns:p14="http://schemas.microsoft.com/office/powerpoint/2010/main" val="3940425298"/>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fld id="{1F08B9F0-A786-4398-B826-60A73FB916DC}"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a:lvl1pPr>
          </a:lstStyle>
          <a:p>
            <a:r>
              <a:rPr lang="en-US" altLang="zh-CN"/>
              <a:t>50</a:t>
            </a:r>
            <a:r>
              <a:rPr lang="zh-CN" altLang="en-US"/>
              <a:t>－</a:t>
            </a:r>
            <a:fld id="{A3D94269-39C3-4D8D-96AA-5418E6D3FCA2}" type="slidenum">
              <a:rPr lang="en-US" altLang="zh-CN"/>
              <a:pPr/>
              <a:t>‹#›</a:t>
            </a:fld>
            <a:endParaRPr lang="en-US" altLang="zh-CN"/>
          </a:p>
        </p:txBody>
      </p:sp>
    </p:spTree>
    <p:extLst>
      <p:ext uri="{BB962C8B-B14F-4D97-AF65-F5344CB8AC3E}">
        <p14:creationId xmlns:p14="http://schemas.microsoft.com/office/powerpoint/2010/main" val="3622171881"/>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fld id="{973A573B-3AB1-474C-8347-9700EE48E54D}"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a:lvl1pPr>
          </a:lstStyle>
          <a:p>
            <a:r>
              <a:rPr lang="en-US" altLang="zh-CN"/>
              <a:t>50</a:t>
            </a:r>
            <a:r>
              <a:rPr lang="zh-CN" altLang="en-US"/>
              <a:t>－</a:t>
            </a:r>
            <a:fld id="{46DFEAB3-2075-427C-84F8-B697A5F3A241}" type="slidenum">
              <a:rPr lang="en-US" altLang="zh-CN"/>
              <a:pPr/>
              <a:t>‹#›</a:t>
            </a:fld>
            <a:endParaRPr lang="en-US" altLang="zh-CN"/>
          </a:p>
        </p:txBody>
      </p:sp>
    </p:spTree>
    <p:extLst>
      <p:ext uri="{BB962C8B-B14F-4D97-AF65-F5344CB8AC3E}">
        <p14:creationId xmlns:p14="http://schemas.microsoft.com/office/powerpoint/2010/main" val="330485017"/>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fld id="{5FD06C36-A012-4355-8735-D9DA26A99263}" type="datetime1">
              <a:rPr lang="zh-CN" altLang="en-US"/>
              <a:pPr>
                <a:defRPr/>
              </a:pPr>
              <a:t>2020/9/7</a:t>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9" name="Rectangle 7"/>
          <p:cNvSpPr>
            <a:spLocks noGrp="1" noChangeArrowheads="1"/>
          </p:cNvSpPr>
          <p:nvPr>
            <p:ph type="sldNum" sz="quarter" idx="12"/>
          </p:nvPr>
        </p:nvSpPr>
        <p:spPr/>
        <p:txBody>
          <a:bodyPr/>
          <a:lstStyle>
            <a:lvl1pPr>
              <a:defRPr/>
            </a:lvl1pPr>
          </a:lstStyle>
          <a:p>
            <a:r>
              <a:rPr lang="en-US" altLang="zh-CN"/>
              <a:t>50</a:t>
            </a:r>
            <a:r>
              <a:rPr lang="zh-CN" altLang="en-US"/>
              <a:t>－</a:t>
            </a:r>
            <a:fld id="{59B9B7A8-2999-486B-8155-B0F556C7B340}" type="slidenum">
              <a:rPr lang="en-US" altLang="zh-CN"/>
              <a:pPr/>
              <a:t>‹#›</a:t>
            </a:fld>
            <a:endParaRPr lang="en-US" altLang="zh-CN"/>
          </a:p>
        </p:txBody>
      </p:sp>
    </p:spTree>
    <p:extLst>
      <p:ext uri="{BB962C8B-B14F-4D97-AF65-F5344CB8AC3E}">
        <p14:creationId xmlns:p14="http://schemas.microsoft.com/office/powerpoint/2010/main" val="859389572"/>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fld id="{FA925292-E4E8-4BFE-A72B-BB989681CBAD}" type="datetime1">
              <a:rPr lang="zh-CN" altLang="en-US"/>
              <a:pPr>
                <a:defRPr/>
              </a:pPr>
              <a:t>2020/9/7</a:t>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p:txBody>
          <a:bodyPr/>
          <a:lstStyle>
            <a:lvl1pPr>
              <a:defRPr/>
            </a:lvl1pPr>
          </a:lstStyle>
          <a:p>
            <a:r>
              <a:rPr lang="en-US" altLang="zh-CN"/>
              <a:t>50</a:t>
            </a:r>
            <a:r>
              <a:rPr lang="zh-CN" altLang="en-US"/>
              <a:t>－</a:t>
            </a:r>
            <a:fld id="{57F32E61-690E-4589-A79A-AD06021E77EB}" type="slidenum">
              <a:rPr lang="en-US" altLang="zh-CN"/>
              <a:pPr/>
              <a:t>‹#›</a:t>
            </a:fld>
            <a:endParaRPr lang="en-US" altLang="zh-CN"/>
          </a:p>
        </p:txBody>
      </p:sp>
    </p:spTree>
    <p:extLst>
      <p:ext uri="{BB962C8B-B14F-4D97-AF65-F5344CB8AC3E}">
        <p14:creationId xmlns:p14="http://schemas.microsoft.com/office/powerpoint/2010/main" val="2363386740"/>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B86E8247-5795-4639-A899-D0B8730B112A}" type="datetime1">
              <a:rPr lang="zh-CN" altLang="en-US"/>
              <a:pPr>
                <a:defRPr/>
              </a:pPr>
              <a:t>2020/9/7</a:t>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4" name="Rectangle 7"/>
          <p:cNvSpPr>
            <a:spLocks noGrp="1" noChangeArrowheads="1"/>
          </p:cNvSpPr>
          <p:nvPr>
            <p:ph type="sldNum" sz="quarter" idx="12"/>
          </p:nvPr>
        </p:nvSpPr>
        <p:spPr/>
        <p:txBody>
          <a:bodyPr/>
          <a:lstStyle>
            <a:lvl1pPr>
              <a:defRPr/>
            </a:lvl1pPr>
          </a:lstStyle>
          <a:p>
            <a:r>
              <a:rPr lang="en-US" altLang="zh-CN"/>
              <a:t>50</a:t>
            </a:r>
            <a:r>
              <a:rPr lang="zh-CN" altLang="en-US"/>
              <a:t>－</a:t>
            </a:r>
            <a:fld id="{F551E52D-048D-4144-8231-5BD3007C49DB}" type="slidenum">
              <a:rPr lang="en-US" altLang="zh-CN"/>
              <a:pPr/>
              <a:t>‹#›</a:t>
            </a:fld>
            <a:endParaRPr lang="en-US" altLang="zh-CN"/>
          </a:p>
        </p:txBody>
      </p:sp>
    </p:spTree>
    <p:extLst>
      <p:ext uri="{BB962C8B-B14F-4D97-AF65-F5344CB8AC3E}">
        <p14:creationId xmlns:p14="http://schemas.microsoft.com/office/powerpoint/2010/main" val="345187101"/>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B5906597-E1A7-4B60-83EF-0ADAB58BFFFA}"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a:lvl1pPr>
          </a:lstStyle>
          <a:p>
            <a:r>
              <a:rPr lang="en-US" altLang="zh-CN"/>
              <a:t>50</a:t>
            </a:r>
            <a:r>
              <a:rPr lang="zh-CN" altLang="en-US"/>
              <a:t>－</a:t>
            </a:r>
            <a:fld id="{4EB1B03D-BD0A-45E6-B58D-E0D63AF5E1AC}" type="slidenum">
              <a:rPr lang="en-US" altLang="zh-CN"/>
              <a:pPr/>
              <a:t>‹#›</a:t>
            </a:fld>
            <a:endParaRPr lang="en-US" altLang="zh-CN"/>
          </a:p>
        </p:txBody>
      </p:sp>
    </p:spTree>
    <p:extLst>
      <p:ext uri="{BB962C8B-B14F-4D97-AF65-F5344CB8AC3E}">
        <p14:creationId xmlns:p14="http://schemas.microsoft.com/office/powerpoint/2010/main" val="2883993127"/>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E76BCD18-6ECE-4877-939E-8F0B0D282E8D}"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a:lvl1pPr>
          </a:lstStyle>
          <a:p>
            <a:r>
              <a:rPr lang="en-US" altLang="zh-CN"/>
              <a:t>50</a:t>
            </a:r>
            <a:r>
              <a:rPr lang="zh-CN" altLang="en-US"/>
              <a:t>－</a:t>
            </a:r>
            <a:fld id="{08797472-450C-4066-BA56-7CC24778817F}" type="slidenum">
              <a:rPr lang="en-US" altLang="zh-CN"/>
              <a:pPr/>
              <a:t>‹#›</a:t>
            </a:fld>
            <a:endParaRPr lang="en-US" altLang="zh-CN"/>
          </a:p>
        </p:txBody>
      </p:sp>
    </p:spTree>
    <p:extLst>
      <p:ext uri="{BB962C8B-B14F-4D97-AF65-F5344CB8AC3E}">
        <p14:creationId xmlns:p14="http://schemas.microsoft.com/office/powerpoint/2010/main" val="2854454500"/>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B2F5C45F-5AEB-4244-9D06-90B8A9090959}"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a:lvl1pPr>
          </a:lstStyle>
          <a:p>
            <a:r>
              <a:rPr lang="en-US" altLang="zh-CN"/>
              <a:t>50</a:t>
            </a:r>
            <a:r>
              <a:rPr lang="zh-CN" altLang="en-US"/>
              <a:t>－</a:t>
            </a:r>
            <a:fld id="{89273EB0-BA85-45EB-A0B2-665DE866CC7F}" type="slidenum">
              <a:rPr lang="en-US" altLang="zh-CN"/>
              <a:pPr/>
              <a:t>‹#›</a:t>
            </a:fld>
            <a:endParaRPr lang="en-US" altLang="zh-CN"/>
          </a:p>
        </p:txBody>
      </p:sp>
    </p:spTree>
    <p:extLst>
      <p:ext uri="{BB962C8B-B14F-4D97-AF65-F5344CB8AC3E}">
        <p14:creationId xmlns:p14="http://schemas.microsoft.com/office/powerpoint/2010/main" val="917162778"/>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fld id="{EB7B68F5-488C-485F-8994-038541712831}"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r>
              <a:rPr lang="en-US" altLang="zh-CN"/>
              <a:t>50</a:t>
            </a:r>
            <a:r>
              <a:rPr lang="zh-CN" altLang="en-US"/>
              <a:t>－</a:t>
            </a:r>
            <a:fld id="{C3E6B363-76DC-49E2-9D34-9997633CD779}" type="slidenum">
              <a:rPr lang="en-US" altLang="zh-CN"/>
              <a:pPr/>
              <a:t>‹#›</a:t>
            </a:fld>
            <a:endParaRPr lang="en-US" altLang="zh-CN"/>
          </a:p>
        </p:txBody>
      </p:sp>
    </p:spTree>
    <p:extLst>
      <p:ext uri="{BB962C8B-B14F-4D97-AF65-F5344CB8AC3E}">
        <p14:creationId xmlns:p14="http://schemas.microsoft.com/office/powerpoint/2010/main" val="354249835"/>
      </p:ext>
    </p:extLst>
  </p:cSld>
  <p:clrMapOvr>
    <a:masterClrMapping/>
  </p:clrMapOvr>
  <p:transition/>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4213" y="609600"/>
            <a:ext cx="7773987" cy="5494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p:txBody>
          <a:bodyPr/>
          <a:lstStyle>
            <a:lvl1pPr>
              <a:defRPr/>
            </a:lvl1pPr>
          </a:lstStyle>
          <a:p>
            <a:pPr>
              <a:defRPr/>
            </a:pPr>
            <a:fld id="{776BC14C-9994-4903-B59E-2ED93391CE86}" type="datetime1">
              <a:rPr lang="zh-CN" altLang="en-US"/>
              <a:pPr>
                <a:defRPr/>
              </a:pPr>
              <a:t>2020/9/7</a:t>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p:txBody>
          <a:bodyPr/>
          <a:lstStyle>
            <a:lvl1pPr>
              <a:defRPr/>
            </a:lvl1pPr>
          </a:lstStyle>
          <a:p>
            <a:r>
              <a:rPr lang="en-US" altLang="zh-CN"/>
              <a:t>50</a:t>
            </a:r>
            <a:r>
              <a:rPr lang="zh-CN" altLang="en-US"/>
              <a:t>－</a:t>
            </a:r>
            <a:fld id="{876B1CC1-8688-4AF8-B725-5F3A124B3954}" type="slidenum">
              <a:rPr lang="en-US" altLang="zh-CN"/>
              <a:pPr/>
              <a:t>‹#›</a:t>
            </a:fld>
            <a:endParaRPr lang="en-US" altLang="zh-CN"/>
          </a:p>
        </p:txBody>
      </p:sp>
    </p:spTree>
    <p:extLst>
      <p:ext uri="{BB962C8B-B14F-4D97-AF65-F5344CB8AC3E}">
        <p14:creationId xmlns:p14="http://schemas.microsoft.com/office/powerpoint/2010/main" val="2082248777"/>
      </p:ext>
    </p:extLst>
  </p:cSld>
  <p:clrMapOvr>
    <a:masterClrMapping/>
  </p:clrMapOvr>
  <p:transition spd="med">
    <p:wipe dir="r"/>
  </p:transition>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title">
  <p:cSld name="1_标题幻灯片">
    <p:spTree>
      <p:nvGrpSpPr>
        <p:cNvPr id="1" name=""/>
        <p:cNvGrpSpPr/>
        <p:nvPr/>
      </p:nvGrpSpPr>
      <p:grpSpPr>
        <a:xfrm>
          <a:off x="0" y="0"/>
          <a:ext cx="0" cy="0"/>
          <a:chOff x="0" y="0"/>
          <a:chExt cx="0" cy="0"/>
        </a:xfrm>
      </p:grpSpPr>
      <p:sp>
        <p:nvSpPr>
          <p:cNvPr id="293892" name="Rectangle 4"/>
          <p:cNvSpPr>
            <a:spLocks noGrp="1" noChangeArrowheads="1"/>
          </p:cNvSpPr>
          <p:nvPr>
            <p:ph type="ctrTitle"/>
          </p:nvPr>
        </p:nvSpPr>
        <p:spPr>
          <a:xfrm>
            <a:off x="1066800" y="692150"/>
            <a:ext cx="7696200" cy="1524000"/>
          </a:xfrm>
        </p:spPr>
        <p:txBody>
          <a:bodyPr tIns="0" bIns="0" anchor="b"/>
          <a:lstStyle>
            <a:lvl1pPr>
              <a:lnSpc>
                <a:spcPct val="85000"/>
              </a:lnSpc>
              <a:defRPr sz="5800">
                <a:solidFill>
                  <a:schemeClr val="tx2"/>
                </a:solidFill>
              </a:defRPr>
            </a:lvl1pPr>
          </a:lstStyle>
          <a:p>
            <a:pPr lvl="0"/>
            <a:r>
              <a:rPr lang="zh-CN" altLang="en-US" noProof="0"/>
              <a:t>单击此处编辑母版标题样式</a:t>
            </a:r>
            <a:endParaRPr lang="en-US" altLang="en-US" noProof="0"/>
          </a:p>
        </p:txBody>
      </p:sp>
    </p:spTree>
    <p:extLst>
      <p:ext uri="{BB962C8B-B14F-4D97-AF65-F5344CB8AC3E}">
        <p14:creationId xmlns:p14="http://schemas.microsoft.com/office/powerpoint/2010/main" val="2109215538"/>
      </p:ext>
    </p:extLst>
  </p:cSld>
  <p:clrMapOvr>
    <a:masterClrMapping/>
  </p:clrMapOvr>
  <p:transition spd="med">
    <p:wipe dir="r"/>
  </p:transition>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696913"/>
            <a:ext cx="8064500" cy="923925"/>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795463"/>
            <a:ext cx="3956050" cy="4586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795463"/>
            <a:ext cx="3956050" cy="2216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4164013"/>
            <a:ext cx="3956050" cy="22177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250825" y="6405563"/>
            <a:ext cx="1512888" cy="336550"/>
          </a:xfrm>
        </p:spPr>
        <p:txBody>
          <a:bodyPr/>
          <a:lstStyle>
            <a:lvl1pPr>
              <a:defRPr/>
            </a:lvl1pPr>
          </a:lstStyle>
          <a:p>
            <a:pPr>
              <a:defRPr/>
            </a:pPr>
            <a:fld id="{7562092B-6F1B-489D-9549-8808154E3709}" type="datetime1">
              <a:rPr lang="zh-CN" altLang="en-US"/>
              <a:pPr>
                <a:defRPr/>
              </a:pPr>
              <a:t>2020/9/7</a:t>
            </a:fld>
            <a:endParaRPr lang="en-US" altLang="zh-CN"/>
          </a:p>
        </p:txBody>
      </p:sp>
      <p:sp>
        <p:nvSpPr>
          <p:cNvPr id="7" name="灯片编号占位符 6"/>
          <p:cNvSpPr>
            <a:spLocks noGrp="1"/>
          </p:cNvSpPr>
          <p:nvPr>
            <p:ph type="sldNum" sz="quarter" idx="11"/>
          </p:nvPr>
        </p:nvSpPr>
        <p:spPr>
          <a:xfrm>
            <a:off x="7947025" y="6405563"/>
            <a:ext cx="1162050" cy="336550"/>
          </a:xfrm>
        </p:spPr>
        <p:txBody>
          <a:bodyPr/>
          <a:lstStyle>
            <a:lvl1pPr>
              <a:defRPr/>
            </a:lvl1pPr>
          </a:lstStyle>
          <a:p>
            <a:r>
              <a:rPr lang="en-US" altLang="zh-CN"/>
              <a:t>50</a:t>
            </a:r>
            <a:r>
              <a:rPr lang="zh-CN" altLang="en-US"/>
              <a:t>－</a:t>
            </a:r>
            <a:fld id="{6BC74908-DC73-4C2E-B2FC-C3DD3874C49F}" type="slidenum">
              <a:rPr lang="en-US" altLang="zh-CN"/>
              <a:pPr/>
              <a:t>‹#›</a:t>
            </a:fld>
            <a:endParaRPr lang="en-US" altLang="zh-CN"/>
          </a:p>
        </p:txBody>
      </p:sp>
    </p:spTree>
    <p:extLst>
      <p:ext uri="{BB962C8B-B14F-4D97-AF65-F5344CB8AC3E}">
        <p14:creationId xmlns:p14="http://schemas.microsoft.com/office/powerpoint/2010/main" val="2355842009"/>
      </p:ext>
    </p:extLst>
  </p:cSld>
  <p:clrMapOvr>
    <a:masterClrMapping/>
  </p:clrMapOvr>
  <p:transition spd="med">
    <p:wipe dir="r"/>
  </p:transition>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663A6F8C-C723-46EA-BA21-FAF3307C2D87}"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DDA7EF8C-7F6E-4EEA-BB7E-6DCE67D41191}" type="slidenum">
              <a:rPr lang="en-US" altLang="zh-CN"/>
              <a:pPr/>
              <a:t>‹#›</a:t>
            </a:fld>
            <a:endParaRPr lang="en-US" altLang="zh-CN"/>
          </a:p>
        </p:txBody>
      </p:sp>
    </p:spTree>
    <p:extLst>
      <p:ext uri="{BB962C8B-B14F-4D97-AF65-F5344CB8AC3E}">
        <p14:creationId xmlns:p14="http://schemas.microsoft.com/office/powerpoint/2010/main" val="376634716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7210DE92-D901-4D74-B44B-127F64E8005B}"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71551CA0-DC47-4E36-94E3-E0A7CBC77629}" type="slidenum">
              <a:rPr lang="en-US" altLang="zh-CN"/>
              <a:pPr/>
              <a:t>‹#›</a:t>
            </a:fld>
            <a:endParaRPr lang="en-US" altLang="zh-CN"/>
          </a:p>
        </p:txBody>
      </p:sp>
    </p:spTree>
    <p:extLst>
      <p:ext uri="{BB962C8B-B14F-4D97-AF65-F5344CB8AC3E}">
        <p14:creationId xmlns:p14="http://schemas.microsoft.com/office/powerpoint/2010/main" val="228931988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5457703E-CFA3-4435-B5FA-8328FF6AB971}"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4990583B-C087-4CF1-BE5A-91A896E08621}" type="slidenum">
              <a:rPr lang="en-US" altLang="zh-CN"/>
              <a:pPr/>
              <a:t>‹#›</a:t>
            </a:fld>
            <a:endParaRPr lang="en-US" altLang="zh-CN"/>
          </a:p>
        </p:txBody>
      </p:sp>
    </p:spTree>
    <p:extLst>
      <p:ext uri="{BB962C8B-B14F-4D97-AF65-F5344CB8AC3E}">
        <p14:creationId xmlns:p14="http://schemas.microsoft.com/office/powerpoint/2010/main" val="2557467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42072501-9240-4112-BE6C-BA5C3B53F328}" type="datetime1">
              <a:rPr lang="zh-CN" altLang="en-US"/>
              <a:pPr>
                <a:defRPr/>
              </a:pPr>
              <a:t>2020/9/7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a:ln/>
        </p:spPr>
        <p:txBody>
          <a:bodyPr/>
          <a:lstStyle>
            <a:lvl1pPr>
              <a:defRPr/>
            </a:lvl1pPr>
          </a:lstStyle>
          <a:p>
            <a:fld id="{D446604A-1AD2-4027-8A82-D91E1880E997}" type="slidenum">
              <a:rPr lang="en-US" altLang="zh-CN"/>
              <a:pPr/>
              <a:t>‹#›</a:t>
            </a:fld>
            <a:endParaRPr lang="en-US" altLang="zh-CN"/>
          </a:p>
        </p:txBody>
      </p:sp>
    </p:spTree>
    <p:extLst>
      <p:ext uri="{BB962C8B-B14F-4D97-AF65-F5344CB8AC3E}">
        <p14:creationId xmlns:p14="http://schemas.microsoft.com/office/powerpoint/2010/main" val="328505610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530D6741-D997-4A7C-A2A4-48C53782395B}" type="datetime1">
              <a:rPr lang="zh-CN" altLang="en-US"/>
              <a:pPr>
                <a:defRPr/>
              </a:pPr>
              <a:t>2020/9/7</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6"/>
          <p:cNvSpPr>
            <a:spLocks noGrp="1" noChangeArrowheads="1"/>
          </p:cNvSpPr>
          <p:nvPr>
            <p:ph type="sldNum" sz="quarter" idx="12"/>
          </p:nvPr>
        </p:nvSpPr>
        <p:spPr>
          <a:ln/>
        </p:spPr>
        <p:txBody>
          <a:bodyPr/>
          <a:lstStyle>
            <a:lvl1pPr>
              <a:defRPr/>
            </a:lvl1pPr>
          </a:lstStyle>
          <a:p>
            <a:fld id="{4D6D0E72-2663-4AC9-B495-84232F80D6CC}" type="slidenum">
              <a:rPr lang="en-US" altLang="zh-CN"/>
              <a:pPr/>
              <a:t>‹#›</a:t>
            </a:fld>
            <a:endParaRPr lang="en-US" altLang="zh-CN"/>
          </a:p>
        </p:txBody>
      </p:sp>
    </p:spTree>
    <p:extLst>
      <p:ext uri="{BB962C8B-B14F-4D97-AF65-F5344CB8AC3E}">
        <p14:creationId xmlns:p14="http://schemas.microsoft.com/office/powerpoint/2010/main" val="1925392252"/>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9AD44ACB-56B3-43FB-9E18-F2B461957258}" type="datetime1">
              <a:rPr lang="zh-CN" altLang="en-US"/>
              <a:pPr>
                <a:defRPr/>
              </a:pPr>
              <a:t>2020/9/7</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6"/>
          <p:cNvSpPr>
            <a:spLocks noGrp="1" noChangeArrowheads="1"/>
          </p:cNvSpPr>
          <p:nvPr>
            <p:ph type="sldNum" sz="quarter" idx="12"/>
          </p:nvPr>
        </p:nvSpPr>
        <p:spPr>
          <a:ln/>
        </p:spPr>
        <p:txBody>
          <a:bodyPr/>
          <a:lstStyle>
            <a:lvl1pPr>
              <a:defRPr/>
            </a:lvl1pPr>
          </a:lstStyle>
          <a:p>
            <a:fld id="{57EDC486-E464-4A64-BA6F-C41F2D0EC015}" type="slidenum">
              <a:rPr lang="en-US" altLang="zh-CN"/>
              <a:pPr/>
              <a:t>‹#›</a:t>
            </a:fld>
            <a:endParaRPr lang="en-US" altLang="zh-CN"/>
          </a:p>
        </p:txBody>
      </p:sp>
    </p:spTree>
    <p:extLst>
      <p:ext uri="{BB962C8B-B14F-4D97-AF65-F5344CB8AC3E}">
        <p14:creationId xmlns:p14="http://schemas.microsoft.com/office/powerpoint/2010/main" val="160856277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2770D8D-345B-450D-99F3-F596EF60EA02}" type="datetime1">
              <a:rPr lang="zh-CN" altLang="en-US"/>
              <a:pPr>
                <a:defRPr/>
              </a:pPr>
              <a:t>2020/9/7</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6"/>
          <p:cNvSpPr>
            <a:spLocks noGrp="1" noChangeArrowheads="1"/>
          </p:cNvSpPr>
          <p:nvPr>
            <p:ph type="sldNum" sz="quarter" idx="12"/>
          </p:nvPr>
        </p:nvSpPr>
        <p:spPr>
          <a:ln/>
        </p:spPr>
        <p:txBody>
          <a:bodyPr/>
          <a:lstStyle>
            <a:lvl1pPr>
              <a:defRPr/>
            </a:lvl1pPr>
          </a:lstStyle>
          <a:p>
            <a:fld id="{C74E6B01-5C26-4404-AFFF-E69F5BD93095}" type="slidenum">
              <a:rPr lang="en-US" altLang="zh-CN"/>
              <a:pPr/>
              <a:t>‹#›</a:t>
            </a:fld>
            <a:endParaRPr lang="en-US" altLang="zh-CN"/>
          </a:p>
        </p:txBody>
      </p:sp>
    </p:spTree>
    <p:extLst>
      <p:ext uri="{BB962C8B-B14F-4D97-AF65-F5344CB8AC3E}">
        <p14:creationId xmlns:p14="http://schemas.microsoft.com/office/powerpoint/2010/main" val="375328283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61994607-F975-4D1A-BBFB-EBF15A1C6FF6}" type="datetime1">
              <a:rPr lang="zh-CN" altLang="en-US"/>
              <a:pPr>
                <a:defRPr/>
              </a:pPr>
              <a:t>2020/9/7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a:ln/>
        </p:spPr>
        <p:txBody>
          <a:bodyPr/>
          <a:lstStyle>
            <a:lvl1pPr>
              <a:defRPr/>
            </a:lvl1pPr>
          </a:lstStyle>
          <a:p>
            <a:fld id="{6FDDB905-C64E-4838-A9EF-8F709D3468C6}" type="slidenum">
              <a:rPr lang="en-US" altLang="zh-CN"/>
              <a:pPr/>
              <a:t>‹#›</a:t>
            </a:fld>
            <a:endParaRPr lang="en-US" altLang="zh-CN"/>
          </a:p>
        </p:txBody>
      </p:sp>
    </p:spTree>
    <p:extLst>
      <p:ext uri="{BB962C8B-B14F-4D97-AF65-F5344CB8AC3E}">
        <p14:creationId xmlns:p14="http://schemas.microsoft.com/office/powerpoint/2010/main" val="9898115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551D27E9-ED17-4FB4-B5A5-FB02E39648BE}" type="datetime1">
              <a:rPr lang="zh-CN" altLang="en-US"/>
              <a:pPr>
                <a:defRPr/>
              </a:pPr>
              <a:t>2020/9/7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a:ln/>
        </p:spPr>
        <p:txBody>
          <a:bodyPr/>
          <a:lstStyle>
            <a:lvl1pPr>
              <a:defRPr/>
            </a:lvl1pPr>
          </a:lstStyle>
          <a:p>
            <a:fld id="{76E7CA58-FB90-4047-B901-9A65A25E4A98}" type="slidenum">
              <a:rPr lang="en-US" altLang="zh-CN"/>
              <a:pPr/>
              <a:t>‹#›</a:t>
            </a:fld>
            <a:endParaRPr lang="en-US" altLang="zh-CN"/>
          </a:p>
        </p:txBody>
      </p:sp>
    </p:spTree>
    <p:extLst>
      <p:ext uri="{BB962C8B-B14F-4D97-AF65-F5344CB8AC3E}">
        <p14:creationId xmlns:p14="http://schemas.microsoft.com/office/powerpoint/2010/main" val="232603316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3D163D14-B076-42C2-9766-8E34C628B2BD}"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21C7A4CF-E2E9-47C9-AC5E-9F28C505F392}" type="slidenum">
              <a:rPr lang="en-US" altLang="zh-CN"/>
              <a:pPr/>
              <a:t>‹#›</a:t>
            </a:fld>
            <a:endParaRPr lang="en-US" altLang="zh-CN"/>
          </a:p>
        </p:txBody>
      </p:sp>
    </p:spTree>
    <p:extLst>
      <p:ext uri="{BB962C8B-B14F-4D97-AF65-F5344CB8AC3E}">
        <p14:creationId xmlns:p14="http://schemas.microsoft.com/office/powerpoint/2010/main" val="58448437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4E74129E-29F2-40BE-BC47-C49EAE172A4E}"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4C612ED1-D790-4434-828A-F04C0DECEF4A}" type="slidenum">
              <a:rPr lang="en-US" altLang="zh-CN"/>
              <a:pPr/>
              <a:t>‹#›</a:t>
            </a:fld>
            <a:endParaRPr lang="en-US" altLang="zh-CN"/>
          </a:p>
        </p:txBody>
      </p:sp>
    </p:spTree>
    <p:extLst>
      <p:ext uri="{BB962C8B-B14F-4D97-AF65-F5344CB8AC3E}">
        <p14:creationId xmlns:p14="http://schemas.microsoft.com/office/powerpoint/2010/main" val="289361551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3.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100" name="Rectangle 4"/>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b="1">
                <a:ea typeface="黑体" pitchFamily="49" charset="-122"/>
              </a:defRPr>
            </a:lvl1pPr>
          </a:lstStyle>
          <a:p>
            <a:pPr>
              <a:defRPr/>
            </a:pPr>
            <a:fld id="{D269FCD4-9A2D-4CAB-9E85-3E401AEEDD40}" type="datetime1">
              <a:rPr lang="zh-CN" altLang="en-US"/>
              <a:pPr>
                <a:defRPr/>
              </a:pPr>
              <a:t>2020/9/7</a:t>
            </a:fld>
            <a:endParaRPr lang="en-US" altLang="zh-CN"/>
          </a:p>
        </p:txBody>
      </p:sp>
      <p:sp>
        <p:nvSpPr>
          <p:cNvPr id="4102" name="Rectangle 6"/>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ea typeface="黑体" pitchFamily="49" charset="-122"/>
              </a:defRPr>
            </a:lvl1pPr>
          </a:lstStyle>
          <a:p>
            <a:pPr>
              <a:defRPr/>
            </a:pPr>
            <a:r>
              <a:rPr lang="zh-CN" altLang="en-US"/>
              <a:t>计算机应用技术研究所</a:t>
            </a:r>
          </a:p>
        </p:txBody>
      </p:sp>
      <p:sp>
        <p:nvSpPr>
          <p:cNvPr id="4103" name="Rectangle 7"/>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1"/>
            </a:lvl1pPr>
          </a:lstStyle>
          <a:p>
            <a:r>
              <a:rPr lang="en-US" altLang="zh-CN"/>
              <a:t>50</a:t>
            </a:r>
            <a:r>
              <a:rPr lang="zh-CN" altLang="en-US"/>
              <a:t>－</a:t>
            </a:r>
            <a:fld id="{22B7422D-6B2D-4CD7-B429-FA977A5A9AAB}" type="slidenum">
              <a:rPr lang="en-US" altLang="zh-CN"/>
              <a:pPr/>
              <a:t>‹#›</a:t>
            </a:fld>
            <a:endParaRPr lang="en-US" altLang="zh-CN"/>
          </a:p>
        </p:txBody>
      </p:sp>
      <p:pic>
        <p:nvPicPr>
          <p:cNvPr id="1031" name="Picture 10" descr="12副本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09"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10" r:id="rId11"/>
    <p:sldLayoutId id="2147484031" r:id="rId12"/>
    <p:sldLayoutId id="2147484032" r:id="rId13"/>
    <p:sldLayoutId id="2147484033" r:id="rId14"/>
  </p:sldLayoutIdLst>
  <p:transition/>
  <p:hf sldNum="0" hdr="0" ftr="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8"/>
        </a:buBlip>
        <a:defRPr kumimoji="1" sz="2400" kern="120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Blip>
          <a:blip r:embed="rId18"/>
        </a:buBlip>
        <a:defRPr kumimoji="1" sz="2000" kern="1200">
          <a:solidFill>
            <a:schemeClr val="tx1"/>
          </a:solidFill>
          <a:latin typeface="+mj-lt"/>
          <a:ea typeface="+mj-ea"/>
          <a:cs typeface="楷体_GB2312"/>
        </a:defRPr>
      </a:lvl2pPr>
      <a:lvl3pPr marL="1143000" indent="-228600" algn="l" rtl="0" eaLnBrk="0" fontAlgn="base" hangingPunct="0">
        <a:spcBef>
          <a:spcPct val="20000"/>
        </a:spcBef>
        <a:spcAft>
          <a:spcPct val="0"/>
        </a:spcAft>
        <a:buChar char="•"/>
        <a:defRPr kumimoji="1" kern="1200">
          <a:solidFill>
            <a:schemeClr val="tx1"/>
          </a:solidFill>
          <a:latin typeface="+mj-lt"/>
          <a:ea typeface="+mj-ea"/>
          <a:cs typeface="楷体_GB2312"/>
        </a:defRPr>
      </a:lvl3pPr>
      <a:lvl4pPr marL="1600200" indent="-228600" algn="l" rtl="0" eaLnBrk="0" fontAlgn="base" hangingPunct="0">
        <a:spcBef>
          <a:spcPct val="20000"/>
        </a:spcBef>
        <a:spcAft>
          <a:spcPct val="0"/>
        </a:spcAft>
        <a:buChar char="–"/>
        <a:defRPr kumimoji="1" sz="1600" kern="1200">
          <a:solidFill>
            <a:schemeClr val="tx1"/>
          </a:solidFill>
          <a:latin typeface="+mj-lt"/>
          <a:ea typeface="+mj-ea"/>
          <a:cs typeface="楷体_GB2312"/>
        </a:defRPr>
      </a:lvl4pPr>
      <a:lvl5pPr marL="2057400" indent="-228600" algn="l" rtl="0" eaLnBrk="0" fontAlgn="base" hangingPunct="0">
        <a:spcBef>
          <a:spcPct val="20000"/>
        </a:spcBef>
        <a:spcAft>
          <a:spcPct val="0"/>
        </a:spcAft>
        <a:buChar char="»"/>
        <a:defRPr kumimoji="1" sz="1600" kern="1200">
          <a:solidFill>
            <a:schemeClr val="tx1"/>
          </a:solidFill>
          <a:latin typeface="+mj-lt"/>
          <a:ea typeface="+mj-ea"/>
          <a:cs typeface="楷体_GB231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4995" name="Rectangle 3"/>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4996" name="Rectangle 4"/>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b="1">
                <a:ea typeface="黑体" pitchFamily="49" charset="-122"/>
              </a:defRPr>
            </a:lvl1pPr>
          </a:lstStyle>
          <a:p>
            <a:pPr>
              <a:defRPr/>
            </a:pPr>
            <a:fld id="{F957792C-2EDB-46A4-9215-85AF0894D084}" type="datetime1">
              <a:rPr lang="zh-CN" altLang="en-US"/>
              <a:pPr>
                <a:defRPr/>
              </a:pPr>
              <a:t>2020/9/7</a:t>
            </a:fld>
            <a:endParaRPr lang="en-US" altLang="zh-CN"/>
          </a:p>
        </p:txBody>
      </p:sp>
      <p:sp>
        <p:nvSpPr>
          <p:cNvPr id="724997" name="Rectangle 5"/>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ea typeface="黑体" pitchFamily="49" charset="-122"/>
              </a:defRPr>
            </a:lvl1pPr>
          </a:lstStyle>
          <a:p>
            <a:pPr>
              <a:defRPr/>
            </a:pPr>
            <a:r>
              <a:rPr lang="zh-CN" altLang="en-US"/>
              <a:t>计算机应用技术研究所</a:t>
            </a:r>
          </a:p>
        </p:txBody>
      </p:sp>
      <p:sp>
        <p:nvSpPr>
          <p:cNvPr id="724998" name="Rectangle 6"/>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1"/>
            </a:lvl1pPr>
          </a:lstStyle>
          <a:p>
            <a:fld id="{59ECCB9A-32C9-4C6E-8884-BA04A929B95E}" type="slidenum">
              <a:rPr lang="en-US" altLang="zh-CN"/>
              <a:pPr/>
              <a:t>‹#›</a:t>
            </a:fld>
            <a:endParaRPr lang="en-US" altLang="zh-CN"/>
          </a:p>
        </p:txBody>
      </p:sp>
      <p:pic>
        <p:nvPicPr>
          <p:cNvPr id="2055" name="Picture 7" descr="12副本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Lst>
  <p:transition/>
  <p:hf hd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5"/>
        </a:buBlip>
        <a:defRPr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5"/>
        </a:buBlip>
        <a:defRPr sz="2000" kern="1200">
          <a:solidFill>
            <a:schemeClr val="tx1"/>
          </a:solidFill>
          <a:latin typeface="+mj-lt"/>
          <a:ea typeface="+mn-ea"/>
          <a:cs typeface="+mn-cs"/>
        </a:defRPr>
      </a:lvl2pPr>
      <a:lvl3pPr marL="1143000" indent="-228600" algn="l" rtl="0" eaLnBrk="0" fontAlgn="base" hangingPunct="0">
        <a:spcBef>
          <a:spcPct val="20000"/>
        </a:spcBef>
        <a:spcAft>
          <a:spcPct val="0"/>
        </a:spcAft>
        <a:buChar char="•"/>
        <a:defRPr kern="1200">
          <a:solidFill>
            <a:schemeClr val="tx1"/>
          </a:solidFill>
          <a:latin typeface="+mj-lt"/>
          <a:ea typeface="+mn-ea"/>
          <a:cs typeface="+mn-cs"/>
        </a:defRPr>
      </a:lvl3pPr>
      <a:lvl4pPr marL="1600200" indent="-228600" algn="l" rtl="0" eaLnBrk="0" fontAlgn="base" hangingPunct="0">
        <a:spcBef>
          <a:spcPct val="20000"/>
        </a:spcBef>
        <a:spcAft>
          <a:spcPct val="0"/>
        </a:spcAft>
        <a:buChar char="–"/>
        <a:defRPr sz="1600" kern="1200">
          <a:solidFill>
            <a:schemeClr val="tx1"/>
          </a:solidFill>
          <a:latin typeface="+mj-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wmf"/><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1"/>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1066C7B-1C04-4B00-AFE2-2C76AC2588B8}"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6387" name="页脚占位符 2"/>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6388" name="灯片编号占位符 3"/>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643524BA-5A52-4675-93D4-680396E2BA17}" type="slidenum">
              <a:rPr lang="en-US" altLang="zh-CN" sz="1400" b="1">
                <a:latin typeface="Times New Roman" pitchFamily="18" charset="0"/>
                <a:ea typeface="宋体" pitchFamily="2" charset="-122"/>
              </a:rPr>
              <a:pPr algn="r" eaLnBrk="1" hangingPunct="1"/>
              <a:t>1</a:t>
            </a:fld>
            <a:endParaRPr lang="en-US" altLang="zh-CN" sz="1400" b="1">
              <a:latin typeface="Times New Roman" pitchFamily="18" charset="0"/>
              <a:ea typeface="宋体" pitchFamily="2" charset="-122"/>
            </a:endParaRPr>
          </a:p>
        </p:txBody>
      </p:sp>
      <p:sp>
        <p:nvSpPr>
          <p:cNvPr id="16389" name="页脚占位符 3"/>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a:fld id="{8A8FC100-2D61-4410-A24C-40469207A49A}" type="slidenum">
              <a:rPr kumimoji="0" lang="en-US" altLang="zh-CN" sz="1000">
                <a:solidFill>
                  <a:schemeClr val="bg1"/>
                </a:solidFill>
                <a:latin typeface="Arial" pitchFamily="34" charset="0"/>
                <a:ea typeface="宋体" pitchFamily="2" charset="-122"/>
              </a:rPr>
              <a:pPr algn="r"/>
              <a:t>1</a:t>
            </a:fld>
            <a:endParaRPr kumimoji="0" lang="en-US" altLang="zh-CN" sz="1000">
              <a:solidFill>
                <a:schemeClr val="bg1"/>
              </a:solidFill>
              <a:latin typeface="Arial" pitchFamily="34" charset="0"/>
              <a:ea typeface="宋体" pitchFamily="2" charset="-122"/>
            </a:endParaRPr>
          </a:p>
        </p:txBody>
      </p:sp>
      <p:sp>
        <p:nvSpPr>
          <p:cNvPr id="423939" name="Rectangle 3"/>
          <p:cNvSpPr>
            <a:spLocks noGrp="1" noChangeArrowheads="1"/>
          </p:cNvSpPr>
          <p:nvPr>
            <p:ph type="body" idx="4294967295"/>
          </p:nvPr>
        </p:nvSpPr>
        <p:spPr>
          <a:xfrm>
            <a:off x="684213" y="1412875"/>
            <a:ext cx="7826375" cy="2514600"/>
          </a:xfrm>
        </p:spPr>
        <p:txBody>
          <a:bodyPr/>
          <a:lstStyle/>
          <a:p>
            <a:pPr marL="400050" indent="-400050" algn="ctr" eaLnBrk="1" hangingPunct="1">
              <a:buFontTx/>
              <a:buNone/>
              <a:defRPr/>
            </a:pPr>
            <a:r>
              <a:rPr lang="zh-CN" altLang="en-US" sz="8000" b="1">
                <a:solidFill>
                  <a:schemeClr val="accent2"/>
                </a:solidFill>
                <a:effectLst/>
                <a:ea typeface="隶书" panose="02010509060101010101" pitchFamily="49" charset="-122"/>
                <a:cs typeface="楷体_GB2312" pitchFamily="49" charset="-122"/>
              </a:rPr>
              <a:t>离散数学</a:t>
            </a:r>
            <a:endParaRPr lang="zh-CN" altLang="en-US" sz="6600" b="1">
              <a:solidFill>
                <a:schemeClr val="accent2"/>
              </a:solidFill>
              <a:effectLst/>
              <a:ea typeface="隶书" panose="02010509060101010101" pitchFamily="49" charset="-122"/>
              <a:cs typeface="楷体_GB2312" pitchFamily="49" charset="-122"/>
            </a:endParaRPr>
          </a:p>
          <a:p>
            <a:pPr marL="400050" indent="-400050" algn="ctr" eaLnBrk="1" hangingPunct="1">
              <a:buFontTx/>
              <a:buNone/>
              <a:defRPr/>
            </a:pPr>
            <a:r>
              <a:rPr lang="en-US" altLang="zh-CN" sz="6600">
                <a:solidFill>
                  <a:schemeClr val="accent2"/>
                </a:solidFill>
                <a:effectLst/>
                <a:latin typeface="Times New Roman" panose="02020603050405020304" pitchFamily="18" charset="0"/>
                <a:ea typeface="华文行楷" panose="02010800040101010101" pitchFamily="2" charset="-122"/>
                <a:cs typeface="楷体_GB2312" pitchFamily="49" charset="-122"/>
              </a:rPr>
              <a:t>Discrete Mathematics</a:t>
            </a:r>
            <a:r>
              <a:rPr lang="en-US" altLang="zh-CN" sz="3600" b="1">
                <a:solidFill>
                  <a:schemeClr val="accent2"/>
                </a:solidFill>
                <a:ea typeface="宋体" panose="02010600030101010101" pitchFamily="2" charset="-122"/>
                <a:cs typeface="楷体_GB2312" pitchFamily="49" charset="-122"/>
              </a:rPr>
              <a:t> </a:t>
            </a:r>
          </a:p>
        </p:txBody>
      </p:sp>
      <p:sp>
        <p:nvSpPr>
          <p:cNvPr id="16391" name="Text Box 4"/>
          <p:cNvSpPr txBox="1">
            <a:spLocks noChangeArrowheads="1"/>
          </p:cNvSpPr>
          <p:nvPr/>
        </p:nvSpPr>
        <p:spPr bwMode="auto">
          <a:xfrm>
            <a:off x="1187450" y="4365625"/>
            <a:ext cx="6858000" cy="13176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spcAft>
                <a:spcPct val="20000"/>
              </a:spcAft>
              <a:buClr>
                <a:srgbClr val="228A88"/>
              </a:buClr>
              <a:buFont typeface="Wingdings 2" pitchFamily="18" charset="2"/>
              <a:buNone/>
            </a:pPr>
            <a:r>
              <a:rPr kumimoji="0" lang="zh-CN" altLang="en-US" sz="3200" b="1" dirty="0">
                <a:latin typeface="黑体" pitchFamily="49" charset="-122"/>
                <a:ea typeface="黑体" pitchFamily="49" charset="-122"/>
                <a:cs typeface="Arial" pitchFamily="34" charset="0"/>
              </a:rPr>
              <a:t>杨娟</a:t>
            </a:r>
            <a:r>
              <a:rPr kumimoji="0" lang="zh-CN" altLang="en-US" sz="3200" b="1" dirty="0" smtClean="0">
                <a:latin typeface="黑体" pitchFamily="49" charset="-122"/>
                <a:ea typeface="黑体" pitchFamily="49" charset="-122"/>
                <a:cs typeface="Arial" pitchFamily="34" charset="0"/>
              </a:rPr>
              <a:t> 博士</a:t>
            </a:r>
            <a:endParaRPr kumimoji="0" lang="zh-CN" altLang="en-US" sz="3200" b="1" dirty="0">
              <a:latin typeface="黑体" pitchFamily="49" charset="-122"/>
              <a:ea typeface="黑体" pitchFamily="49" charset="-122"/>
              <a:cs typeface="Arial" pitchFamily="34" charset="0"/>
            </a:endParaRPr>
          </a:p>
          <a:p>
            <a:pPr algn="ctr" eaLnBrk="1" hangingPunct="1">
              <a:spcBef>
                <a:spcPct val="50000"/>
              </a:spcBef>
              <a:spcAft>
                <a:spcPct val="20000"/>
              </a:spcAft>
              <a:buClr>
                <a:srgbClr val="228A88"/>
              </a:buClr>
              <a:buFont typeface="Wingdings 2" pitchFamily="18" charset="2"/>
              <a:buNone/>
            </a:pPr>
            <a:r>
              <a:rPr kumimoji="0" lang="zh-CN" altLang="en-US" sz="2800" b="1" dirty="0">
                <a:latin typeface="黑体" pitchFamily="49" charset="-122"/>
                <a:ea typeface="黑体" pitchFamily="49" charset="-122"/>
                <a:cs typeface="Arial" pitchFamily="34" charset="0"/>
              </a:rPr>
              <a:t>合肥工业大学计算机与信息学院</a:t>
            </a:r>
          </a:p>
        </p:txBody>
      </p:sp>
      <p:pic>
        <p:nvPicPr>
          <p:cNvPr id="1639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188"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688EEB4E-6AC4-4AE7-A176-AD753AC11CD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741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741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A34AA33C-F514-4979-9672-E0D4ED13CF07}" type="slidenum">
              <a:rPr lang="en-US" altLang="zh-CN" sz="1400" b="1">
                <a:latin typeface="Times New Roman" pitchFamily="18" charset="0"/>
                <a:ea typeface="宋体" pitchFamily="2" charset="-122"/>
              </a:rPr>
              <a:pPr algn="r" eaLnBrk="1" hangingPunct="1"/>
              <a:t>2</a:t>
            </a:fld>
            <a:endParaRPr lang="en-US" altLang="zh-CN" sz="1400" b="1">
              <a:latin typeface="Times New Roman" pitchFamily="18" charset="0"/>
              <a:ea typeface="宋体" pitchFamily="2" charset="-122"/>
            </a:endParaRPr>
          </a:p>
        </p:txBody>
      </p:sp>
      <p:sp>
        <p:nvSpPr>
          <p:cNvPr id="17413" name="Rectangle 2"/>
          <p:cNvSpPr>
            <a:spLocks noGrp="1" noChangeArrowheads="1"/>
          </p:cNvSpPr>
          <p:nvPr>
            <p:ph type="ctrTitle" idx="4294967295"/>
          </p:nvPr>
        </p:nvSpPr>
        <p:spPr>
          <a:xfrm>
            <a:off x="0" y="2492375"/>
            <a:ext cx="9144000" cy="2159000"/>
          </a:xfrm>
        </p:spPr>
        <p:txBody>
          <a:bodyPr/>
          <a:lstStyle/>
          <a:p>
            <a:pPr eaLnBrk="1" hangingPunct="1"/>
            <a:r>
              <a:rPr lang="zh-CN" altLang="en-US" sz="6600" b="1" dirty="0">
                <a:solidFill>
                  <a:schemeClr val="accent2"/>
                </a:solidFill>
                <a:latin typeface="黑体" pitchFamily="49" charset="-122"/>
                <a:ea typeface="黑体" pitchFamily="49" charset="-122"/>
              </a:rPr>
              <a:t>第七章 函数与特殊函数</a:t>
            </a:r>
            <a:r>
              <a:rPr lang="en-US" altLang="zh-CN" sz="6600" b="1" dirty="0">
                <a:solidFill>
                  <a:schemeClr val="accent2"/>
                </a:solidFill>
              </a:rPr>
              <a:t/>
            </a:r>
            <a:br>
              <a:rPr lang="en-US" altLang="zh-CN" sz="6600" b="1" dirty="0">
                <a:solidFill>
                  <a:schemeClr val="accent2"/>
                </a:solidFill>
              </a:rPr>
            </a:br>
            <a:r>
              <a:rPr lang="zh-CN" altLang="en-US" sz="6600" b="1" dirty="0">
                <a:solidFill>
                  <a:schemeClr val="accent2"/>
                </a:solidFill>
              </a:rPr>
              <a:t>（下）</a:t>
            </a:r>
            <a:endParaRPr lang="en-US" altLang="zh-CN" sz="5400" b="1" dirty="0">
              <a:solidFill>
                <a:schemeClr val="accent2"/>
              </a:solidFill>
            </a:endParaRPr>
          </a:p>
        </p:txBody>
      </p:sp>
      <p:pic>
        <p:nvPicPr>
          <p:cNvPr id="17414"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D9F674B-4102-46FB-A901-E29A94E3BB83}" type="datetime1">
              <a:rPr kumimoji="0" lang="zh-CN" altLang="en-US" sz="1400" b="1">
                <a:solidFill>
                  <a:srgbClr val="FF0000"/>
                </a:solidFill>
                <a:latin typeface="黑体" pitchFamily="49" charset="-122"/>
              </a:rPr>
              <a:pPr eaLnBrk="1" hangingPunct="1"/>
              <a:t>2020/9/7</a:t>
            </a:fld>
            <a:endParaRPr kumimoji="0" lang="en-US" altLang="zh-CN" sz="1400" b="1">
              <a:solidFill>
                <a:srgbClr val="FF0000"/>
              </a:solidFill>
              <a:latin typeface="黑体" pitchFamily="49" charset="-122"/>
            </a:endParaRPr>
          </a:p>
        </p:txBody>
      </p:sp>
      <p:sp>
        <p:nvSpPr>
          <p:cNvPr id="18435" name="Text Box 2"/>
          <p:cNvSpPr txBox="1">
            <a:spLocks noChangeArrowheads="1"/>
          </p:cNvSpPr>
          <p:nvPr/>
        </p:nvSpPr>
        <p:spPr bwMode="auto">
          <a:xfrm>
            <a:off x="1403350" y="85883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本章学习内容</a:t>
            </a:r>
            <a:endParaRPr lang="zh-CN" altLang="en-US" sz="4800" b="1">
              <a:ea typeface="宋体" pitchFamily="2" charset="-122"/>
            </a:endParaRPr>
          </a:p>
        </p:txBody>
      </p:sp>
      <p:grpSp>
        <p:nvGrpSpPr>
          <p:cNvPr id="3" name="组合 2">
            <a:extLst>
              <a:ext uri="{FF2B5EF4-FFF2-40B4-BE49-F238E27FC236}">
                <a16:creationId xmlns:a16="http://schemas.microsoft.com/office/drawing/2014/main" id="{F568684F-46C6-42EE-A778-E2DA3E4B6BFA}"/>
              </a:ext>
            </a:extLst>
          </p:cNvPr>
          <p:cNvGrpSpPr/>
          <p:nvPr/>
        </p:nvGrpSpPr>
        <p:grpSpPr>
          <a:xfrm>
            <a:off x="2389038" y="2815479"/>
            <a:ext cx="4726162" cy="2053681"/>
            <a:chOff x="2389038" y="2815479"/>
            <a:chExt cx="4726162" cy="2053681"/>
          </a:xfrm>
        </p:grpSpPr>
        <p:sp>
          <p:nvSpPr>
            <p:cNvPr id="1170441" name="AutoShape 9"/>
            <p:cNvSpPr>
              <a:spLocks noChangeArrowheads="1"/>
            </p:cNvSpPr>
            <p:nvPr/>
          </p:nvSpPr>
          <p:spPr bwMode="gray">
            <a:xfrm>
              <a:off x="2771800" y="4178598"/>
              <a:ext cx="4343400" cy="55721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18437" name="AutoShape 10"/>
            <p:cNvSpPr>
              <a:spLocks noChangeArrowheads="1"/>
            </p:cNvSpPr>
            <p:nvPr/>
          </p:nvSpPr>
          <p:spPr bwMode="gray">
            <a:xfrm>
              <a:off x="2390800" y="4034135"/>
              <a:ext cx="685800" cy="835025"/>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38" name="Text Box 11"/>
            <p:cNvSpPr txBox="1">
              <a:spLocks noChangeArrowheads="1"/>
            </p:cNvSpPr>
            <p:nvPr/>
          </p:nvSpPr>
          <p:spPr bwMode="gray">
            <a:xfrm>
              <a:off x="3000400" y="4175423"/>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rPr>
                <a:t>  </a:t>
              </a:r>
              <a:r>
                <a:rPr kumimoji="0" lang="zh-CN" altLang="en-US" sz="2800" b="1" dirty="0">
                  <a:latin typeface="黑体" pitchFamily="49" charset="-122"/>
                  <a:ea typeface="黑体" pitchFamily="49" charset="-122"/>
                </a:rPr>
                <a:t>函数关系的应用</a:t>
              </a:r>
            </a:p>
          </p:txBody>
        </p:sp>
        <p:sp>
          <p:nvSpPr>
            <p:cNvPr id="18439" name="Text Box 12"/>
            <p:cNvSpPr txBox="1">
              <a:spLocks noChangeArrowheads="1"/>
            </p:cNvSpPr>
            <p:nvPr/>
          </p:nvSpPr>
          <p:spPr bwMode="gray">
            <a:xfrm>
              <a:off x="2538097" y="4153198"/>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5</a:t>
              </a:r>
            </a:p>
          </p:txBody>
        </p:sp>
        <p:sp>
          <p:nvSpPr>
            <p:cNvPr id="18444" name="AutoShape 19"/>
            <p:cNvSpPr>
              <a:spLocks noChangeArrowheads="1"/>
            </p:cNvSpPr>
            <p:nvPr/>
          </p:nvSpPr>
          <p:spPr bwMode="gray">
            <a:xfrm>
              <a:off x="2770038" y="2956766"/>
              <a:ext cx="4343400" cy="546100"/>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45" name="AutoShape 20"/>
            <p:cNvSpPr>
              <a:spLocks noChangeArrowheads="1"/>
            </p:cNvSpPr>
            <p:nvPr/>
          </p:nvSpPr>
          <p:spPr bwMode="gray">
            <a:xfrm>
              <a:off x="2389038" y="2815479"/>
              <a:ext cx="685800" cy="817562"/>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46" name="Text Box 21"/>
            <p:cNvSpPr txBox="1">
              <a:spLocks noChangeArrowheads="1"/>
            </p:cNvSpPr>
            <p:nvPr/>
          </p:nvSpPr>
          <p:spPr bwMode="gray">
            <a:xfrm>
              <a:off x="2998638" y="2957288"/>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ea typeface="黑体" pitchFamily="49" charset="-122"/>
                </a:rPr>
                <a:t>  有限集的置换函数</a:t>
              </a:r>
            </a:p>
          </p:txBody>
        </p:sp>
        <p:sp>
          <p:nvSpPr>
            <p:cNvPr id="18447" name="Text Box 22"/>
            <p:cNvSpPr txBox="1">
              <a:spLocks noChangeArrowheads="1"/>
            </p:cNvSpPr>
            <p:nvPr/>
          </p:nvSpPr>
          <p:spPr bwMode="gray">
            <a:xfrm>
              <a:off x="2536335" y="2907554"/>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4</a:t>
              </a:r>
            </a:p>
          </p:txBody>
        </p:sp>
      </p:gr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51EC6E7-2DD6-40AD-8A82-5D4A48C24B6D}"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945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946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8FC539CA-7E0D-47EF-8910-141DD30E8C7C}" type="slidenum">
              <a:rPr lang="en-US" altLang="zh-CN" sz="1400" b="1">
                <a:latin typeface="Times New Roman" pitchFamily="18" charset="0"/>
                <a:ea typeface="宋体" pitchFamily="2" charset="-122"/>
              </a:rPr>
              <a:pPr algn="r" eaLnBrk="1" hangingPunct="1"/>
              <a:t>4</a:t>
            </a:fld>
            <a:endParaRPr lang="en-US" altLang="zh-CN" sz="1400" b="1">
              <a:latin typeface="Times New Roman" pitchFamily="18" charset="0"/>
              <a:ea typeface="宋体" pitchFamily="2" charset="-122"/>
            </a:endParaRPr>
          </a:p>
        </p:txBody>
      </p:sp>
      <p:sp>
        <p:nvSpPr>
          <p:cNvPr id="19461" name="Rectangle 4"/>
          <p:cNvSpPr>
            <a:spLocks noGrp="1" noChangeArrowheads="1"/>
          </p:cNvSpPr>
          <p:nvPr>
            <p:ph type="ctrTitle" idx="4294967295"/>
          </p:nvPr>
        </p:nvSpPr>
        <p:spPr>
          <a:xfrm>
            <a:off x="1190625" y="2565400"/>
            <a:ext cx="7197725" cy="1439863"/>
          </a:xfrm>
          <a:solidFill>
            <a:srgbClr val="0000FF"/>
          </a:solidFill>
        </p:spPr>
        <p:txBody>
          <a:bodyPr/>
          <a:lstStyle/>
          <a:p>
            <a:pPr eaLnBrk="1" hangingPunct="1"/>
            <a:r>
              <a:rPr lang="zh-CN" altLang="en-US" sz="6600" b="1">
                <a:solidFill>
                  <a:schemeClr val="bg1"/>
                </a:solidFill>
              </a:rPr>
              <a:t>有限集的置换函数</a:t>
            </a:r>
          </a:p>
        </p:txBody>
      </p:sp>
      <p:pic>
        <p:nvPicPr>
          <p:cNvPr id="19462"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3073A22-E773-4C6F-8770-155A09D8921D}"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2048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2048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3D08BF27-E8D7-474B-A00D-48743A358DDE}" type="slidenum">
              <a:rPr lang="en-US" altLang="zh-CN" sz="1400" b="1">
                <a:latin typeface="Times New Roman" pitchFamily="18" charset="0"/>
                <a:ea typeface="宋体" pitchFamily="2" charset="-122"/>
              </a:rPr>
              <a:pPr algn="r" eaLnBrk="1" hangingPunct="1"/>
              <a:t>5</a:t>
            </a:fld>
            <a:endParaRPr lang="en-US" altLang="zh-CN" sz="1400" b="1">
              <a:latin typeface="Times New Roman" pitchFamily="18" charset="0"/>
              <a:ea typeface="宋体" pitchFamily="2" charset="-122"/>
            </a:endParaRPr>
          </a:p>
        </p:txBody>
      </p:sp>
      <p:sp>
        <p:nvSpPr>
          <p:cNvPr id="20485" name="Text Box 2"/>
          <p:cNvSpPr txBox="1">
            <a:spLocks noChangeArrowheads="1"/>
          </p:cNvSpPr>
          <p:nvPr/>
        </p:nvSpPr>
        <p:spPr bwMode="auto">
          <a:xfrm>
            <a:off x="1371600" y="908720"/>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48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有限集的置换函数</a:t>
            </a:r>
          </a:p>
        </p:txBody>
      </p:sp>
      <p:sp>
        <p:nvSpPr>
          <p:cNvPr id="20486" name="Rectangle 3"/>
          <p:cNvSpPr>
            <a:spLocks noGrp="1" noChangeArrowheads="1"/>
          </p:cNvSpPr>
          <p:nvPr>
            <p:ph type="body" idx="4294967295"/>
          </p:nvPr>
        </p:nvSpPr>
        <p:spPr>
          <a:xfrm>
            <a:off x="2627784" y="2535823"/>
            <a:ext cx="4106721" cy="2592388"/>
          </a:xfrm>
          <a:noFill/>
        </p:spPr>
        <p:txBody>
          <a:bodyPr lIns="92075" tIns="46038" rIns="92075" bIns="46038"/>
          <a:lstStyle/>
          <a:p>
            <a:pPr eaLnBrk="1" hangingPunct="1">
              <a:lnSpc>
                <a:spcPct val="155000"/>
              </a:lnSpc>
              <a:buFont typeface="Wingdings" pitchFamily="2" charset="2"/>
              <a:buChar char="J"/>
            </a:pPr>
            <a:r>
              <a:rPr lang="en-US" altLang="zh-CN" sz="3200" b="1" dirty="0">
                <a:solidFill>
                  <a:srgbClr val="0000FF"/>
                </a:solidFill>
                <a:effectLst/>
                <a:latin typeface="黑体" pitchFamily="49" charset="-122"/>
                <a:ea typeface="黑体" pitchFamily="49" charset="-122"/>
              </a:rPr>
              <a:t> </a:t>
            </a:r>
            <a:r>
              <a:rPr lang="zh-CN" altLang="en-US" sz="3200" b="1" dirty="0">
                <a:solidFill>
                  <a:srgbClr val="0000FF"/>
                </a:solidFill>
                <a:effectLst/>
                <a:latin typeface="黑体" pitchFamily="49" charset="-122"/>
                <a:ea typeface="黑体" pitchFamily="49" charset="-122"/>
              </a:rPr>
              <a:t>置换函数的概念</a:t>
            </a:r>
            <a:endParaRPr lang="zh-CN" altLang="en-US" sz="900" b="1" dirty="0">
              <a:solidFill>
                <a:srgbClr val="0000FF"/>
              </a:solidFill>
              <a:effectLst/>
              <a:latin typeface="黑体" pitchFamily="49" charset="-122"/>
              <a:ea typeface="黑体" pitchFamily="49" charset="-122"/>
            </a:endParaRPr>
          </a:p>
          <a:p>
            <a:pPr eaLnBrk="1" hangingPunct="1">
              <a:lnSpc>
                <a:spcPct val="155000"/>
              </a:lnSpc>
              <a:buFont typeface="Wingdings" pitchFamily="2" charset="2"/>
              <a:buChar char="4"/>
            </a:pPr>
            <a:r>
              <a:rPr lang="zh-CN" altLang="en-US" sz="3200" b="1" dirty="0">
                <a:effectLst/>
                <a:latin typeface="黑体" pitchFamily="49" charset="-122"/>
                <a:ea typeface="黑体" pitchFamily="49" charset="-122"/>
              </a:rPr>
              <a:t> 置换函数的运算</a:t>
            </a:r>
            <a:endParaRPr lang="en-US" altLang="zh-CN" sz="3200" b="1" dirty="0">
              <a:effectLst/>
              <a:latin typeface="黑体" pitchFamily="49" charset="-122"/>
              <a:ea typeface="黑体" pitchFamily="49" charset="-122"/>
            </a:endParaRPr>
          </a:p>
          <a:p>
            <a:pPr eaLnBrk="1" hangingPunct="1">
              <a:lnSpc>
                <a:spcPct val="155000"/>
              </a:lnSpc>
              <a:buFont typeface="Wingdings" pitchFamily="2" charset="2"/>
              <a:buChar char="4"/>
            </a:pPr>
            <a:r>
              <a:rPr lang="zh-CN" altLang="en-US" sz="3200" b="1" dirty="0">
                <a:effectLst/>
                <a:latin typeface="黑体" pitchFamily="49" charset="-122"/>
                <a:ea typeface="黑体" pitchFamily="49" charset="-122"/>
              </a:rPr>
              <a:t> 置换的轮换分解</a:t>
            </a:r>
          </a:p>
        </p:txBody>
      </p:sp>
      <p:pic>
        <p:nvPicPr>
          <p:cNvPr id="20487"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41DB2E5-1888-4531-B924-B4F939ACBC51}"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1507"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21508" name="Text Box 2"/>
          <p:cNvSpPr txBox="1">
            <a:spLocks noChangeArrowheads="1"/>
          </p:cNvSpPr>
          <p:nvPr/>
        </p:nvSpPr>
        <p:spPr bwMode="auto">
          <a:xfrm>
            <a:off x="1258888" y="642938"/>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dirty="0">
                <a:solidFill>
                  <a:schemeClr val="bg1"/>
                </a:solidFill>
                <a:latin typeface="宋体" pitchFamily="2" charset="-122"/>
                <a:ea typeface="宋体" pitchFamily="2" charset="-122"/>
              </a:rPr>
              <a:t> 置换函数的概念</a:t>
            </a:r>
            <a:endParaRPr lang="en-US" altLang="zh-CN" sz="5400" b="1" dirty="0">
              <a:solidFill>
                <a:schemeClr val="bg1"/>
              </a:solidFill>
              <a:latin typeface="宋体" pitchFamily="2" charset="-122"/>
              <a:ea typeface="宋体" pitchFamily="2" charset="-122"/>
            </a:endParaRPr>
          </a:p>
        </p:txBody>
      </p:sp>
      <p:pic>
        <p:nvPicPr>
          <p:cNvPr id="21509"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862992" y="1865998"/>
                <a:ext cx="7489453" cy="1681294"/>
              </a:xfrm>
              <a:prstGeom prst="rect">
                <a:avLst/>
              </a:prstGeom>
              <a:solidFill>
                <a:schemeClr val="accent3">
                  <a:lumMod val="95000"/>
                </a:schemeClr>
              </a:solidFill>
              <a:ln w="28575">
                <a:solidFill>
                  <a:schemeClr val="accent2"/>
                </a:solidFill>
              </a:ln>
            </p:spPr>
            <p:txBody>
              <a:bodyPr wrap="square" rtlCol="0">
                <a:spAutoFit/>
              </a:bodyPr>
              <a:lstStyle/>
              <a:p>
                <a:pPr>
                  <a:lnSpc>
                    <a:spcPct val="150000"/>
                  </a:lnSpc>
                  <a:spcBef>
                    <a:spcPts val="0"/>
                  </a:spcBef>
                </a:pPr>
                <a:r>
                  <a:rPr lang="en-US" altLang="zh-CN" sz="2400" b="1" dirty="0"/>
                  <a:t>   </a:t>
                </a:r>
                <a:r>
                  <a:rPr lang="zh-CN" altLang="zh-CN" sz="2400" b="1" dirty="0"/>
                  <a:t>【定义】</a:t>
                </a:r>
                <a:r>
                  <a:rPr lang="zh-CN" altLang="zh-CN" sz="2400" b="1" dirty="0">
                    <a:solidFill>
                      <a:schemeClr val="tx1"/>
                    </a:solidFill>
                  </a:rPr>
                  <a:t>设</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𝟏</m:t>
                        </m:r>
                      </m:sub>
                    </m:sSub>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𝟐</m:t>
                        </m:r>
                      </m:sub>
                    </m:sSub>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𝒏</m:t>
                        </m:r>
                      </m:sub>
                    </m:sSub>
                    <m:r>
                      <a:rPr lang="en-US" altLang="zh-CN" sz="2400" b="1" i="1">
                        <a:solidFill>
                          <a:schemeClr val="tx1"/>
                        </a:solidFill>
                        <a:latin typeface="Cambria Math"/>
                      </a:rPr>
                      <m:t>}</m:t>
                    </m:r>
                  </m:oMath>
                </a14:m>
                <a:r>
                  <a:rPr lang="zh-CN" altLang="zh-CN" sz="2400" b="1" dirty="0">
                    <a:solidFill>
                      <a:schemeClr val="tx1"/>
                    </a:solidFill>
                  </a:rPr>
                  <a:t>是一个有穷集合，</a:t>
                </a:r>
                <a14:m>
                  <m:oMath xmlns:m="http://schemas.openxmlformats.org/officeDocument/2006/math">
                    <m:r>
                      <a:rPr lang="zh-CN" altLang="zh-CN" sz="2400" b="1" i="1">
                        <a:solidFill>
                          <a:schemeClr val="tx1"/>
                        </a:solidFill>
                        <a:latin typeface="Cambria Math"/>
                      </a:rPr>
                      <m:t> </m:t>
                    </m:r>
                    <m:r>
                      <a:rPr lang="en-US" altLang="zh-CN" sz="2400" b="1" i="1">
                        <a:solidFill>
                          <a:schemeClr val="tx1"/>
                        </a:solidFill>
                        <a:latin typeface="Cambria Math"/>
                      </a:rPr>
                      <m:t>𝑨</m:t>
                    </m:r>
                  </m:oMath>
                </a14:m>
                <a:r>
                  <a:rPr lang="zh-CN" altLang="zh-CN" sz="2400" b="1" dirty="0">
                    <a:solidFill>
                      <a:schemeClr val="tx1"/>
                    </a:solidFill>
                  </a:rPr>
                  <a:t>上所有的双射函数构成的集合称为</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上的</a:t>
                </a:r>
                <a:r>
                  <a:rPr lang="zh-CN" altLang="zh-CN" sz="2400" b="1" dirty="0">
                    <a:solidFill>
                      <a:schemeClr val="accent2"/>
                    </a:solidFill>
                  </a:rPr>
                  <a:t>双射函数集</a:t>
                </a:r>
                <a:r>
                  <a:rPr lang="zh-CN" altLang="zh-CN" sz="2400" b="1" dirty="0">
                    <a:solidFill>
                      <a:schemeClr val="tx1"/>
                    </a:solidFill>
                  </a:rPr>
                  <a:t>或</a:t>
                </a:r>
                <a:r>
                  <a:rPr lang="zh-CN" altLang="zh-CN" sz="2400" b="1" dirty="0">
                    <a:solidFill>
                      <a:schemeClr val="accent2"/>
                    </a:solidFill>
                  </a:rPr>
                  <a:t>可逆函数集</a:t>
                </a:r>
                <a:r>
                  <a:rPr lang="zh-CN" altLang="en-US" sz="2400" b="1" dirty="0">
                    <a:solidFill>
                      <a:schemeClr val="tx1"/>
                    </a:solidFill>
                  </a:rPr>
                  <a:t>，</a:t>
                </a:r>
                <a:r>
                  <a:rPr lang="zh-CN" altLang="zh-CN" sz="2400" b="1" dirty="0">
                    <a:solidFill>
                      <a:schemeClr val="tx1"/>
                    </a:solidFill>
                  </a:rPr>
                  <a:t>记为</a:t>
                </a:r>
                <a14:m>
                  <m:oMath xmlns:m="http://schemas.openxmlformats.org/officeDocument/2006/math">
                    <m:sSub>
                      <m:sSubPr>
                        <m:ctrlPr>
                          <a:rPr lang="zh-CN" altLang="zh-CN" sz="2400" b="1" i="1" smtClean="0">
                            <a:solidFill>
                              <a:schemeClr val="accent2"/>
                            </a:solidFill>
                            <a:latin typeface="Cambria Math" panose="02040503050406030204" pitchFamily="18" charset="0"/>
                          </a:rPr>
                        </m:ctrlPr>
                      </m:sSubPr>
                      <m:e>
                        <m:r>
                          <a:rPr lang="en-US" altLang="zh-CN" sz="2400" b="1" i="1">
                            <a:solidFill>
                              <a:schemeClr val="accent2"/>
                            </a:solidFill>
                            <a:latin typeface="Cambria Math"/>
                          </a:rPr>
                          <m:t>𝑭</m:t>
                        </m:r>
                      </m:e>
                      <m:sub>
                        <m:r>
                          <a:rPr lang="en-US" altLang="zh-CN" sz="2400" b="1" i="1">
                            <a:solidFill>
                              <a:schemeClr val="accent2"/>
                            </a:solidFill>
                            <a:latin typeface="Cambria Math"/>
                          </a:rPr>
                          <m:t>𝑨</m:t>
                        </m:r>
                      </m:sub>
                    </m:sSub>
                  </m:oMath>
                </a14:m>
                <a:r>
                  <a:rPr lang="zh-CN" altLang="zh-CN" sz="2400" b="1" dirty="0">
                    <a:solidFill>
                      <a:schemeClr val="tx1"/>
                    </a:solidFill>
                  </a:rPr>
                  <a:t>。</a:t>
                </a:r>
                <a:endParaRPr lang="zh-CN" altLang="en-US" sz="24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62992" y="1865998"/>
                <a:ext cx="7489453" cy="1681294"/>
              </a:xfrm>
              <a:prstGeom prst="rect">
                <a:avLst/>
              </a:prstGeom>
              <a:blipFill>
                <a:blip r:embed="rId3"/>
                <a:stretch>
                  <a:fillRect l="-1135" r="-243" b="-5338"/>
                </a:stretch>
              </a:blipFill>
              <a:ln w="28575">
                <a:solidFill>
                  <a:schemeClr val="accent2"/>
                </a:solidFill>
              </a:ln>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400C6A22-E5F2-45BE-AE6F-3BCEE43A926D}"/>
              </a:ext>
            </a:extLst>
          </p:cNvPr>
          <p:cNvPicPr>
            <a:picLocks noChangeAspect="1"/>
          </p:cNvPicPr>
          <p:nvPr/>
        </p:nvPicPr>
        <p:blipFill>
          <a:blip r:embed="rId4"/>
          <a:stretch>
            <a:fillRect/>
          </a:stretch>
        </p:blipFill>
        <p:spPr>
          <a:xfrm>
            <a:off x="715442" y="3719032"/>
            <a:ext cx="8109577" cy="2516459"/>
          </a:xfrm>
          <a:prstGeom prst="rect">
            <a:avLst/>
          </a:prstGeom>
        </p:spPr>
      </p:pic>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F4A16D-8D67-47EA-94F2-C5F543F4F9BF}"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2531" name="Text Box 2"/>
          <p:cNvSpPr txBox="1">
            <a:spLocks noChangeArrowheads="1"/>
          </p:cNvSpPr>
          <p:nvPr/>
        </p:nvSpPr>
        <p:spPr bwMode="auto">
          <a:xfrm>
            <a:off x="1258888" y="7858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endParaRPr lang="en-US" altLang="zh-CN" sz="5400" b="1">
              <a:solidFill>
                <a:schemeClr val="bg1"/>
              </a:solidFill>
              <a:latin typeface="宋体" pitchFamily="2" charset="-122"/>
              <a:ea typeface="宋体" pitchFamily="2" charset="-122"/>
            </a:endParaRPr>
          </a:p>
        </p:txBody>
      </p:sp>
      <p:pic>
        <p:nvPicPr>
          <p:cNvPr id="2253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971600" y="3180642"/>
                <a:ext cx="6912768" cy="2806602"/>
              </a:xfrm>
              <a:prstGeom prst="rect">
                <a:avLst/>
              </a:prstGeom>
              <a:solidFill>
                <a:schemeClr val="accent3">
                  <a:lumMod val="95000"/>
                </a:schemeClr>
              </a:solidFill>
            </p:spPr>
            <p:txBody>
              <a:bodyPr wrap="square" rtlCol="0">
                <a:spAutoFit/>
              </a:bodyPr>
              <a:lstStyle/>
              <a:p>
                <a:r>
                  <a:rPr lang="zh-CN" altLang="zh-CN" sz="2400" b="1" dirty="0"/>
                  <a:t>【解】</a:t>
                </a:r>
                <a:r>
                  <a:rPr lang="zh-CN" altLang="zh-CN" sz="2400" b="1" dirty="0">
                    <a:solidFill>
                      <a:schemeClr val="tx1"/>
                    </a:solidFill>
                  </a:rPr>
                  <a:t>由定义有：</a:t>
                </a:r>
              </a:p>
              <a:p>
                <a:pPr algn="ct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a:rPr>
                          <m:t>            </m:t>
                        </m:r>
                        <m:r>
                          <a:rPr lang="en-US" altLang="zh-CN" sz="2400" b="1" i="1">
                            <a:solidFill>
                              <a:schemeClr val="tx1"/>
                            </a:solidFill>
                            <a:latin typeface="Cambria Math"/>
                          </a:rPr>
                          <m:t>𝒇</m:t>
                        </m:r>
                      </m:e>
                      <m:sub>
                        <m:r>
                          <a:rPr lang="en-US" altLang="zh-CN" sz="2400" b="1" i="1">
                            <a:solidFill>
                              <a:schemeClr val="tx1"/>
                            </a:solidFill>
                            <a:latin typeface="Cambria Math"/>
                          </a:rPr>
                          <m:t>𝟏</m:t>
                        </m:r>
                      </m:sub>
                    </m:sSub>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𝟐</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𝟑</m:t>
                            </m:r>
                          </m:e>
                        </m:d>
                      </m:e>
                    </m:d>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𝑰</m:t>
                        </m:r>
                      </m:e>
                      <m:sub>
                        <m:r>
                          <a:rPr lang="en-US" altLang="zh-CN" sz="2400" b="1" i="1">
                            <a:solidFill>
                              <a:schemeClr val="tx1"/>
                            </a:solidFill>
                            <a:latin typeface="Cambria Math"/>
                          </a:rPr>
                          <m:t>𝑨</m:t>
                        </m:r>
                      </m:sub>
                    </m:sSub>
                  </m:oMath>
                </a14:m>
                <a:r>
                  <a:rPr lang="zh-CN" altLang="zh-CN" sz="2400" b="1" dirty="0">
                    <a:solidFill>
                      <a:schemeClr val="tx1"/>
                    </a:solidFill>
                  </a:rPr>
                  <a:t>；</a:t>
                </a:r>
                <a:endParaRPr lang="en-US" altLang="zh-CN" sz="2400" b="1" dirty="0">
                  <a:solidFill>
                    <a:schemeClr val="tx1"/>
                  </a:solidFill>
                </a:endParaRPr>
              </a:p>
              <a:p>
                <a:pPr algn="ct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a:rPr>
                          <m:t>            </m:t>
                        </m:r>
                        <m:r>
                          <a:rPr lang="en-US" altLang="zh-CN" sz="2400" b="1" i="1">
                            <a:solidFill>
                              <a:schemeClr val="tx1"/>
                            </a:solidFill>
                            <a:latin typeface="Cambria Math"/>
                          </a:rPr>
                          <m:t>𝒇</m:t>
                        </m:r>
                      </m:e>
                      <m:sub>
                        <m:r>
                          <a:rPr lang="en-US" altLang="zh-CN" sz="2400" b="1" i="1">
                            <a:solidFill>
                              <a:schemeClr val="tx1"/>
                            </a:solidFill>
                            <a:latin typeface="Cambria Math"/>
                          </a:rPr>
                          <m:t>𝟐</m:t>
                        </m:r>
                      </m:sub>
                    </m:sSub>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𝟑</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𝟐</m:t>
                            </m:r>
                          </m:e>
                        </m:d>
                      </m:e>
                    </m:d>
                    <m:r>
                      <a:rPr lang="en-US" altLang="zh-CN" sz="2400" b="1" i="1">
                        <a:solidFill>
                          <a:schemeClr val="tx1"/>
                        </a:solidFill>
                        <a:latin typeface="Cambria Math"/>
                      </a:rPr>
                      <m:t>=</m:t>
                    </m:r>
                    <m:sSubSup>
                      <m:sSubSupPr>
                        <m:ctrlPr>
                          <a:rPr lang="zh-CN" altLang="zh-CN" sz="2400" b="1" i="1">
                            <a:solidFill>
                              <a:schemeClr val="tx1"/>
                            </a:solidFill>
                            <a:latin typeface="Cambria Math" panose="02040503050406030204" pitchFamily="18" charset="0"/>
                          </a:rPr>
                        </m:ctrlPr>
                      </m:sSubSupPr>
                      <m:e>
                        <m:r>
                          <a:rPr lang="en-US" altLang="zh-CN" sz="2400" b="1" i="1">
                            <a:solidFill>
                              <a:schemeClr val="tx1"/>
                            </a:solidFill>
                            <a:latin typeface="Cambria Math"/>
                          </a:rPr>
                          <m:t>𝒇</m:t>
                        </m:r>
                      </m:e>
                      <m:sub>
                        <m:r>
                          <a:rPr lang="en-US" altLang="zh-CN" sz="2400" b="1" i="1">
                            <a:solidFill>
                              <a:schemeClr val="tx1"/>
                            </a:solidFill>
                            <a:latin typeface="Cambria Math"/>
                          </a:rPr>
                          <m:t>𝟐</m:t>
                        </m:r>
                      </m:sub>
                      <m:sup>
                        <m:r>
                          <a:rPr lang="en-US" altLang="zh-CN" sz="2400" b="1" i="1">
                            <a:solidFill>
                              <a:schemeClr val="tx1"/>
                            </a:solidFill>
                            <a:latin typeface="Cambria Math"/>
                          </a:rPr>
                          <m:t>−</m:t>
                        </m:r>
                        <m:r>
                          <a:rPr lang="en-US" altLang="zh-CN" sz="2400" b="1" i="1">
                            <a:solidFill>
                              <a:schemeClr val="tx1"/>
                            </a:solidFill>
                            <a:latin typeface="Cambria Math"/>
                          </a:rPr>
                          <m:t>𝟏</m:t>
                        </m:r>
                      </m:sup>
                    </m:sSubSup>
                  </m:oMath>
                </a14:m>
                <a:r>
                  <a:rPr lang="zh-CN" altLang="en-US" sz="2400" b="1" dirty="0">
                    <a:solidFill>
                      <a:schemeClr val="tx1"/>
                    </a:solidFill>
                  </a:rPr>
                  <a:t>；</a:t>
                </a:r>
                <a:endParaRPr lang="zh-CN" altLang="zh-CN" sz="2400" b="1" dirty="0">
                  <a:solidFill>
                    <a:schemeClr val="tx1"/>
                  </a:solidFill>
                </a:endParaRPr>
              </a:p>
              <a:p>
                <a:pPr algn="ct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a:rPr>
                          <m:t>            </m:t>
                        </m:r>
                        <m:r>
                          <a:rPr lang="en-US" altLang="zh-CN" sz="2400" b="1" i="1">
                            <a:solidFill>
                              <a:schemeClr val="tx1"/>
                            </a:solidFill>
                            <a:latin typeface="Cambria Math"/>
                          </a:rPr>
                          <m:t>𝒇</m:t>
                        </m:r>
                      </m:e>
                      <m:sub>
                        <m:r>
                          <a:rPr lang="en-US" altLang="zh-CN" sz="2400" b="1" i="1">
                            <a:solidFill>
                              <a:schemeClr val="tx1"/>
                            </a:solidFill>
                            <a:latin typeface="Cambria Math"/>
                          </a:rPr>
                          <m:t>𝟑</m:t>
                        </m:r>
                      </m:sub>
                    </m:sSub>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𝟐</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𝟑</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𝟏</m:t>
                            </m:r>
                          </m:e>
                        </m:d>
                      </m:e>
                    </m:d>
                    <m:r>
                      <a:rPr lang="en-US" altLang="zh-CN" sz="2400" b="1" i="1">
                        <a:solidFill>
                          <a:schemeClr val="tx1"/>
                        </a:solidFill>
                        <a:latin typeface="Cambria Math"/>
                      </a:rPr>
                      <m:t>=</m:t>
                    </m:r>
                    <m:sSubSup>
                      <m:sSubSupPr>
                        <m:ctrlPr>
                          <a:rPr lang="zh-CN" altLang="zh-CN" sz="2400" b="1" i="1">
                            <a:solidFill>
                              <a:schemeClr val="tx1"/>
                            </a:solidFill>
                            <a:latin typeface="Cambria Math" panose="02040503050406030204" pitchFamily="18" charset="0"/>
                          </a:rPr>
                        </m:ctrlPr>
                      </m:sSubSupPr>
                      <m:e>
                        <m:r>
                          <a:rPr lang="en-US" altLang="zh-CN" sz="2400" b="1" i="1">
                            <a:solidFill>
                              <a:schemeClr val="tx1"/>
                            </a:solidFill>
                            <a:latin typeface="Cambria Math"/>
                          </a:rPr>
                          <m:t>𝒇</m:t>
                        </m:r>
                      </m:e>
                      <m:sub>
                        <m:r>
                          <a:rPr lang="en-US" altLang="zh-CN" sz="2400" b="1" i="1">
                            <a:solidFill>
                              <a:schemeClr val="tx1"/>
                            </a:solidFill>
                            <a:latin typeface="Cambria Math"/>
                          </a:rPr>
                          <m:t>𝟔</m:t>
                        </m:r>
                      </m:sub>
                      <m:sup>
                        <m:r>
                          <a:rPr lang="en-US" altLang="zh-CN" sz="2400" b="1" i="1">
                            <a:solidFill>
                              <a:schemeClr val="tx1"/>
                            </a:solidFill>
                            <a:latin typeface="Cambria Math"/>
                          </a:rPr>
                          <m:t>−</m:t>
                        </m:r>
                        <m:r>
                          <a:rPr lang="en-US" altLang="zh-CN" sz="2400" b="1" i="1">
                            <a:solidFill>
                              <a:schemeClr val="tx1"/>
                            </a:solidFill>
                            <a:latin typeface="Cambria Math"/>
                          </a:rPr>
                          <m:t>𝟏</m:t>
                        </m:r>
                      </m:sup>
                    </m:sSubSup>
                  </m:oMath>
                </a14:m>
                <a:r>
                  <a:rPr lang="zh-CN" altLang="zh-CN" sz="2400" b="1" dirty="0">
                    <a:solidFill>
                      <a:schemeClr val="tx1"/>
                    </a:solidFill>
                  </a:rPr>
                  <a:t>；</a:t>
                </a:r>
                <a:endParaRPr lang="en-US" altLang="zh-CN" sz="2400" b="1" dirty="0">
                  <a:solidFill>
                    <a:schemeClr val="tx1"/>
                  </a:solidFill>
                </a:endParaRPr>
              </a:p>
              <a:p>
                <a:pPr algn="ct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a:rPr>
                          <m:t>            </m:t>
                        </m:r>
                        <m:r>
                          <a:rPr lang="en-US" altLang="zh-CN" sz="2400" b="1" i="1">
                            <a:solidFill>
                              <a:schemeClr val="tx1"/>
                            </a:solidFill>
                            <a:latin typeface="Cambria Math"/>
                          </a:rPr>
                          <m:t>𝒇</m:t>
                        </m:r>
                      </m:e>
                      <m:sub>
                        <m:r>
                          <a:rPr lang="en-US" altLang="zh-CN" sz="2400" b="1" i="1">
                            <a:solidFill>
                              <a:schemeClr val="tx1"/>
                            </a:solidFill>
                            <a:latin typeface="Cambria Math"/>
                          </a:rPr>
                          <m:t>𝟒</m:t>
                        </m:r>
                      </m:sub>
                    </m:sSub>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𝟐</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𝟑</m:t>
                            </m:r>
                          </m:e>
                        </m:d>
                      </m:e>
                    </m:d>
                    <m:r>
                      <a:rPr lang="en-US" altLang="zh-CN" sz="2400" b="1" i="1">
                        <a:solidFill>
                          <a:schemeClr val="tx1"/>
                        </a:solidFill>
                        <a:latin typeface="Cambria Math"/>
                      </a:rPr>
                      <m:t>=</m:t>
                    </m:r>
                    <m:sSubSup>
                      <m:sSubSupPr>
                        <m:ctrlPr>
                          <a:rPr lang="zh-CN" altLang="zh-CN" sz="2400" b="1" i="1">
                            <a:solidFill>
                              <a:schemeClr val="tx1"/>
                            </a:solidFill>
                            <a:latin typeface="Cambria Math" panose="02040503050406030204" pitchFamily="18" charset="0"/>
                          </a:rPr>
                        </m:ctrlPr>
                      </m:sSubSupPr>
                      <m:e>
                        <m:r>
                          <a:rPr lang="en-US" altLang="zh-CN" sz="2400" b="1" i="1">
                            <a:solidFill>
                              <a:schemeClr val="tx1"/>
                            </a:solidFill>
                            <a:latin typeface="Cambria Math"/>
                          </a:rPr>
                          <m:t>𝒇</m:t>
                        </m:r>
                      </m:e>
                      <m:sub>
                        <m:r>
                          <a:rPr lang="en-US" altLang="zh-CN" sz="2400" b="1" i="1">
                            <a:solidFill>
                              <a:schemeClr val="tx1"/>
                            </a:solidFill>
                            <a:latin typeface="Cambria Math"/>
                          </a:rPr>
                          <m:t>𝟒</m:t>
                        </m:r>
                      </m:sub>
                      <m:sup>
                        <m:r>
                          <a:rPr lang="en-US" altLang="zh-CN" sz="2400" b="1" i="1">
                            <a:solidFill>
                              <a:schemeClr val="tx1"/>
                            </a:solidFill>
                            <a:latin typeface="Cambria Math"/>
                          </a:rPr>
                          <m:t>−</m:t>
                        </m:r>
                        <m:r>
                          <a:rPr lang="en-US" altLang="zh-CN" sz="2400" b="1" i="1">
                            <a:solidFill>
                              <a:schemeClr val="tx1"/>
                            </a:solidFill>
                            <a:latin typeface="Cambria Math"/>
                          </a:rPr>
                          <m:t>𝟏</m:t>
                        </m:r>
                      </m:sup>
                    </m:sSubSup>
                  </m:oMath>
                </a14:m>
                <a:r>
                  <a:rPr lang="zh-CN" altLang="en-US" sz="2400" b="1" dirty="0">
                    <a:solidFill>
                      <a:schemeClr val="tx1"/>
                    </a:solidFill>
                  </a:rPr>
                  <a:t>；</a:t>
                </a:r>
                <a:endParaRPr lang="zh-CN" altLang="zh-CN" sz="2400" b="1" dirty="0">
                  <a:solidFill>
                    <a:schemeClr val="tx1"/>
                  </a:solidFill>
                </a:endParaRPr>
              </a:p>
              <a:p>
                <a:pPr algn="ct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a:rPr>
                          <m:t>            </m:t>
                        </m:r>
                        <m:r>
                          <a:rPr lang="en-US" altLang="zh-CN" sz="2400" b="1" i="1">
                            <a:solidFill>
                              <a:schemeClr val="tx1"/>
                            </a:solidFill>
                            <a:latin typeface="Cambria Math"/>
                          </a:rPr>
                          <m:t>𝒇</m:t>
                        </m:r>
                      </m:e>
                      <m:sub>
                        <m:r>
                          <a:rPr lang="en-US" altLang="zh-CN" sz="2400" b="1" i="1">
                            <a:solidFill>
                              <a:schemeClr val="tx1"/>
                            </a:solidFill>
                            <a:latin typeface="Cambria Math"/>
                          </a:rPr>
                          <m:t>𝟓</m:t>
                        </m:r>
                      </m:sub>
                    </m:sSub>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𝟑</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𝟐</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𝟏</m:t>
                            </m:r>
                          </m:e>
                        </m:d>
                      </m:e>
                    </m:d>
                    <m:r>
                      <a:rPr lang="en-US" altLang="zh-CN" sz="2400" b="1" i="1">
                        <a:solidFill>
                          <a:schemeClr val="tx1"/>
                        </a:solidFill>
                        <a:latin typeface="Cambria Math"/>
                      </a:rPr>
                      <m:t>=</m:t>
                    </m:r>
                    <m:sSubSup>
                      <m:sSubSupPr>
                        <m:ctrlPr>
                          <a:rPr lang="zh-CN" altLang="zh-CN" sz="2400" b="1" i="1">
                            <a:solidFill>
                              <a:schemeClr val="tx1"/>
                            </a:solidFill>
                            <a:latin typeface="Cambria Math" panose="02040503050406030204" pitchFamily="18" charset="0"/>
                          </a:rPr>
                        </m:ctrlPr>
                      </m:sSubSupPr>
                      <m:e>
                        <m:r>
                          <a:rPr lang="en-US" altLang="zh-CN" sz="2400" b="1" i="1">
                            <a:solidFill>
                              <a:schemeClr val="tx1"/>
                            </a:solidFill>
                            <a:latin typeface="Cambria Math"/>
                          </a:rPr>
                          <m:t>𝒇</m:t>
                        </m:r>
                      </m:e>
                      <m:sub>
                        <m:r>
                          <a:rPr lang="en-US" altLang="zh-CN" sz="2400" b="1" i="1">
                            <a:solidFill>
                              <a:schemeClr val="tx1"/>
                            </a:solidFill>
                            <a:latin typeface="Cambria Math"/>
                          </a:rPr>
                          <m:t>𝟓</m:t>
                        </m:r>
                      </m:sub>
                      <m:sup>
                        <m:r>
                          <a:rPr lang="en-US" altLang="zh-CN" sz="2400" b="1" i="1">
                            <a:solidFill>
                              <a:schemeClr val="tx1"/>
                            </a:solidFill>
                            <a:latin typeface="Cambria Math"/>
                          </a:rPr>
                          <m:t>−</m:t>
                        </m:r>
                        <m:r>
                          <a:rPr lang="en-US" altLang="zh-CN" sz="2400" b="1" i="1">
                            <a:solidFill>
                              <a:schemeClr val="tx1"/>
                            </a:solidFill>
                            <a:latin typeface="Cambria Math"/>
                          </a:rPr>
                          <m:t>𝟏</m:t>
                        </m:r>
                      </m:sup>
                    </m:sSubSup>
                  </m:oMath>
                </a14:m>
                <a:r>
                  <a:rPr lang="zh-CN" altLang="zh-CN" sz="2400" b="1" dirty="0">
                    <a:solidFill>
                      <a:schemeClr val="tx1"/>
                    </a:solidFill>
                  </a:rPr>
                  <a:t>；</a:t>
                </a:r>
                <a:endParaRPr lang="en-US" altLang="zh-CN" sz="2400" b="1" dirty="0">
                  <a:solidFill>
                    <a:schemeClr val="tx1"/>
                  </a:solidFill>
                </a:endParaRPr>
              </a:p>
              <a:p>
                <a:pPr algn="ctr"/>
                <a:r>
                  <a:rPr lang="en-US" altLang="zh-CN" sz="2400" b="1" dirty="0">
                    <a:solidFill>
                      <a:schemeClr val="tx1"/>
                    </a:solidFill>
                  </a:rPr>
                  <a:t>    </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a:rPr>
                          <m:t>  </m:t>
                        </m:r>
                        <m:r>
                          <a:rPr lang="en-US" altLang="zh-CN" sz="2400" b="1" i="1">
                            <a:solidFill>
                              <a:schemeClr val="tx1"/>
                            </a:solidFill>
                            <a:latin typeface="Cambria Math"/>
                          </a:rPr>
                          <m:t>𝒇</m:t>
                        </m:r>
                      </m:e>
                      <m:sub>
                        <m:r>
                          <a:rPr lang="en-US" altLang="zh-CN" sz="2400" b="1" i="1">
                            <a:solidFill>
                              <a:schemeClr val="tx1"/>
                            </a:solidFill>
                            <a:latin typeface="Cambria Math"/>
                          </a:rPr>
                          <m:t>𝟔</m:t>
                        </m:r>
                      </m:sub>
                    </m:sSub>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𝟑</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𝟐</m:t>
                            </m:r>
                          </m:e>
                        </m:d>
                      </m:e>
                    </m:d>
                    <m:r>
                      <a:rPr lang="en-US" altLang="zh-CN" sz="2400" b="1" i="1">
                        <a:solidFill>
                          <a:schemeClr val="tx1"/>
                        </a:solidFill>
                        <a:latin typeface="Cambria Math"/>
                      </a:rPr>
                      <m:t>=</m:t>
                    </m:r>
                    <m:sSubSup>
                      <m:sSubSupPr>
                        <m:ctrlPr>
                          <a:rPr lang="zh-CN" altLang="zh-CN" sz="2400" b="1" i="1">
                            <a:solidFill>
                              <a:schemeClr val="tx1"/>
                            </a:solidFill>
                            <a:latin typeface="Cambria Math" panose="02040503050406030204" pitchFamily="18" charset="0"/>
                          </a:rPr>
                        </m:ctrlPr>
                      </m:sSubSupPr>
                      <m:e>
                        <m:r>
                          <a:rPr lang="en-US" altLang="zh-CN" sz="2400" b="1" i="1">
                            <a:solidFill>
                              <a:schemeClr val="tx1"/>
                            </a:solidFill>
                            <a:latin typeface="Cambria Math"/>
                          </a:rPr>
                          <m:t>𝒇</m:t>
                        </m:r>
                      </m:e>
                      <m:sub>
                        <m:r>
                          <a:rPr lang="en-US" altLang="zh-CN" sz="2400" b="1" i="1">
                            <a:solidFill>
                              <a:schemeClr val="tx1"/>
                            </a:solidFill>
                            <a:latin typeface="Cambria Math"/>
                          </a:rPr>
                          <m:t>𝟑</m:t>
                        </m:r>
                      </m:sub>
                      <m:sup>
                        <m:r>
                          <a:rPr lang="en-US" altLang="zh-CN" sz="2400" b="1" i="1">
                            <a:solidFill>
                              <a:schemeClr val="tx1"/>
                            </a:solidFill>
                            <a:latin typeface="Cambria Math"/>
                          </a:rPr>
                          <m:t>−</m:t>
                        </m:r>
                        <m:r>
                          <a:rPr lang="en-US" altLang="zh-CN" sz="2400" b="1" i="1">
                            <a:solidFill>
                              <a:schemeClr val="tx1"/>
                            </a:solidFill>
                            <a:latin typeface="Cambria Math"/>
                          </a:rPr>
                          <m:t>𝟏</m:t>
                        </m:r>
                      </m:sup>
                    </m:sSubSup>
                    <m:r>
                      <a:rPr lang="zh-CN" altLang="en-US" sz="2400" b="1" i="1" smtClean="0">
                        <a:solidFill>
                          <a:schemeClr val="tx1"/>
                        </a:solidFill>
                        <a:latin typeface="Cambria Math"/>
                      </a:rPr>
                      <m:t>。</m:t>
                    </m:r>
                  </m:oMath>
                </a14:m>
                <a:endParaRPr lang="zh-CN" altLang="zh-CN" sz="2400" b="1" dirty="0">
                  <a:solidFill>
                    <a:schemeClr val="tx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971600" y="3180642"/>
                <a:ext cx="6912768" cy="2806602"/>
              </a:xfrm>
              <a:prstGeom prst="rect">
                <a:avLst/>
              </a:prstGeom>
              <a:blipFill>
                <a:blip r:embed="rId3"/>
                <a:stretch>
                  <a:fillRect l="-1323" t="-17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431255" y="1856962"/>
                <a:ext cx="8352928" cy="1095493"/>
              </a:xfrm>
              <a:prstGeom prst="rect">
                <a:avLst/>
              </a:prstGeom>
              <a:solidFill>
                <a:schemeClr val="accent3">
                  <a:lumMod val="95000"/>
                </a:schemeClr>
              </a:solidFill>
            </p:spPr>
            <p:txBody>
              <a:bodyPr wrap="square" rtlCol="0">
                <a:spAutoFit/>
              </a:bodyPr>
              <a:lstStyle/>
              <a:p>
                <a:pPr>
                  <a:lnSpc>
                    <a:spcPts val="4200"/>
                  </a:lnSpc>
                </a:pPr>
                <a:r>
                  <a:rPr lang="en-US" altLang="zh-CN" sz="2800" b="1" dirty="0"/>
                  <a:t>   </a:t>
                </a:r>
                <a:r>
                  <a:rPr lang="zh-CN" altLang="zh-CN" sz="2800" b="1" dirty="0"/>
                  <a:t>【例】</a:t>
                </a:r>
                <a:r>
                  <a:rPr lang="zh-CN" altLang="zh-CN" sz="2800" b="1" dirty="0">
                    <a:solidFill>
                      <a:schemeClr val="tx1"/>
                    </a:solidFill>
                  </a:rPr>
                  <a:t>设</a:t>
                </a:r>
                <a14:m>
                  <m:oMath xmlns:m="http://schemas.openxmlformats.org/officeDocument/2006/math">
                    <m:r>
                      <a:rPr lang="en-US" altLang="zh-CN" sz="2800" b="1" i="1">
                        <a:solidFill>
                          <a:schemeClr val="tx1"/>
                        </a:solidFill>
                        <a:latin typeface="Cambria Math"/>
                      </a:rPr>
                      <m:t>𝑨</m:t>
                    </m:r>
                    <m:r>
                      <a:rPr lang="en-US" altLang="zh-CN" sz="2800" b="1" i="1">
                        <a:solidFill>
                          <a:schemeClr val="tx1"/>
                        </a:solidFill>
                        <a:latin typeface="Cambria Math"/>
                      </a:rPr>
                      <m:t>={</m:t>
                    </m:r>
                    <m:r>
                      <a:rPr lang="en-US" altLang="zh-CN" sz="2800" b="1" i="1">
                        <a:solidFill>
                          <a:schemeClr val="tx1"/>
                        </a:solidFill>
                        <a:latin typeface="Cambria Math"/>
                      </a:rPr>
                      <m:t>𝟏</m:t>
                    </m:r>
                    <m:r>
                      <a:rPr lang="en-US" altLang="zh-CN" sz="2800" b="1">
                        <a:solidFill>
                          <a:schemeClr val="tx1"/>
                        </a:solidFill>
                        <a:latin typeface="Cambria Math"/>
                      </a:rPr>
                      <m:t>,</m:t>
                    </m:r>
                    <m:r>
                      <a:rPr lang="en-US" altLang="zh-CN" sz="2800" b="1" i="1">
                        <a:solidFill>
                          <a:schemeClr val="tx1"/>
                        </a:solidFill>
                        <a:latin typeface="Cambria Math"/>
                      </a:rPr>
                      <m:t>𝟐</m:t>
                    </m:r>
                    <m:r>
                      <a:rPr lang="en-US" altLang="zh-CN" sz="2800" b="1">
                        <a:solidFill>
                          <a:schemeClr val="tx1"/>
                        </a:solidFill>
                        <a:latin typeface="Cambria Math"/>
                      </a:rPr>
                      <m:t>,</m:t>
                    </m:r>
                    <m:r>
                      <a:rPr lang="en-US" altLang="zh-CN" sz="2800" b="1" i="1">
                        <a:solidFill>
                          <a:schemeClr val="tx1"/>
                        </a:solidFill>
                        <a:latin typeface="Cambria Math"/>
                      </a:rPr>
                      <m:t>𝟑</m:t>
                    </m:r>
                    <m:r>
                      <a:rPr lang="en-US" altLang="zh-CN" sz="2800" b="1" i="1">
                        <a:solidFill>
                          <a:schemeClr val="tx1"/>
                        </a:solidFill>
                        <a:latin typeface="Cambria Math"/>
                      </a:rPr>
                      <m:t>}</m:t>
                    </m:r>
                  </m:oMath>
                </a14:m>
                <a:r>
                  <a:rPr lang="zh-CN" altLang="zh-CN" sz="2800" b="1" dirty="0">
                    <a:solidFill>
                      <a:schemeClr val="tx1"/>
                    </a:solidFill>
                  </a:rPr>
                  <a:t>，求</a:t>
                </a:r>
                <a14:m>
                  <m:oMath xmlns:m="http://schemas.openxmlformats.org/officeDocument/2006/math">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a:rPr>
                          <m:t>𝑭</m:t>
                        </m:r>
                      </m:e>
                      <m:sub>
                        <m:r>
                          <a:rPr lang="en-US" altLang="zh-CN" sz="2800" b="1" i="1">
                            <a:solidFill>
                              <a:schemeClr val="tx1"/>
                            </a:solidFill>
                            <a:latin typeface="Cambria Math"/>
                          </a:rPr>
                          <m:t>𝑨</m:t>
                        </m:r>
                      </m:sub>
                    </m:sSub>
                  </m:oMath>
                </a14:m>
                <a:r>
                  <a:rPr lang="zh-CN" altLang="zh-CN" sz="2800" b="1" dirty="0">
                    <a:solidFill>
                      <a:schemeClr val="tx1"/>
                    </a:solidFill>
                  </a:rPr>
                  <a:t>，并考察</a:t>
                </a:r>
                <a14:m>
                  <m:oMath xmlns:m="http://schemas.openxmlformats.org/officeDocument/2006/math">
                    <m:sSub>
                      <m:sSubPr>
                        <m:ctrlPr>
                          <a:rPr lang="zh-CN" altLang="zh-CN" sz="2800" b="1" i="1">
                            <a:solidFill>
                              <a:schemeClr val="tx1"/>
                            </a:solidFill>
                            <a:latin typeface="Cambria Math" panose="02040503050406030204" pitchFamily="18" charset="0"/>
                          </a:rPr>
                        </m:ctrlPr>
                      </m:sSubPr>
                      <m:e>
                        <m:r>
                          <a:rPr lang="en-US" altLang="zh-CN" sz="2800" b="1" i="1">
                            <a:solidFill>
                              <a:schemeClr val="tx1"/>
                            </a:solidFill>
                            <a:latin typeface="Cambria Math"/>
                          </a:rPr>
                          <m:t>𝑭</m:t>
                        </m:r>
                      </m:e>
                      <m:sub>
                        <m:r>
                          <a:rPr lang="en-US" altLang="zh-CN" sz="2800" b="1" i="1">
                            <a:solidFill>
                              <a:schemeClr val="tx1"/>
                            </a:solidFill>
                            <a:latin typeface="Cambria Math"/>
                          </a:rPr>
                          <m:t>𝑨</m:t>
                        </m:r>
                      </m:sub>
                    </m:sSub>
                  </m:oMath>
                </a14:m>
                <a:r>
                  <a:rPr lang="zh-CN" altLang="zh-CN" sz="2800" b="1" dirty="0">
                    <a:solidFill>
                      <a:schemeClr val="tx1"/>
                    </a:solidFill>
                  </a:rPr>
                  <a:t>中元素之间的关系。</a:t>
                </a:r>
              </a:p>
            </p:txBody>
          </p:sp>
        </mc:Choice>
        <mc:Fallback xmlns="">
          <p:sp>
            <p:nvSpPr>
              <p:cNvPr id="3" name="TextBox 2"/>
              <p:cNvSpPr txBox="1">
                <a:spLocks noRot="1" noChangeAspect="1" noMove="1" noResize="1" noEditPoints="1" noAdjustHandles="1" noChangeArrowheads="1" noChangeShapeType="1" noTextEdit="1"/>
              </p:cNvSpPr>
              <p:nvPr/>
            </p:nvSpPr>
            <p:spPr>
              <a:xfrm>
                <a:off x="431255" y="1856962"/>
                <a:ext cx="8352928" cy="1095493"/>
              </a:xfrm>
              <a:prstGeom prst="rect">
                <a:avLst/>
              </a:prstGeom>
              <a:blipFill>
                <a:blip r:embed="rId4"/>
                <a:stretch>
                  <a:fillRect l="-1533" t="-2793" b="-15084"/>
                </a:stretch>
              </a:blipFill>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1FDCA25-4FD2-4AEE-9E9E-EA00334A603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35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23556" name="Text Box 2"/>
          <p:cNvSpPr txBox="1">
            <a:spLocks noChangeArrowheads="1"/>
          </p:cNvSpPr>
          <p:nvPr/>
        </p:nvSpPr>
        <p:spPr bwMode="auto">
          <a:xfrm>
            <a:off x="1258888" y="642938"/>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置换函数的概念</a:t>
            </a:r>
            <a:endParaRPr lang="en-US" altLang="zh-CN" sz="5400" b="1">
              <a:solidFill>
                <a:schemeClr val="bg1"/>
              </a:solidFill>
              <a:latin typeface="宋体" pitchFamily="2" charset="-122"/>
              <a:ea typeface="宋体" pitchFamily="2" charset="-122"/>
            </a:endParaRPr>
          </a:p>
        </p:txBody>
      </p:sp>
      <p:pic>
        <p:nvPicPr>
          <p:cNvPr id="235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460265" y="1787803"/>
                <a:ext cx="8557392" cy="1696683"/>
              </a:xfrm>
              <a:prstGeom prst="rect">
                <a:avLst/>
              </a:prstGeom>
              <a:solidFill>
                <a:schemeClr val="accent6">
                  <a:lumMod val="75000"/>
                </a:schemeClr>
              </a:solidFill>
            </p:spPr>
            <p:txBody>
              <a:bodyPr wrap="square" rtlCol="0">
                <a:spAutoFit/>
              </a:bodyPr>
              <a:lstStyle/>
              <a:p>
                <a:pPr>
                  <a:lnSpc>
                    <a:spcPts val="3200"/>
                  </a:lnSpc>
                </a:pPr>
                <a:r>
                  <a:rPr lang="en-US" altLang="zh-CN" sz="2400" b="1" dirty="0">
                    <a:solidFill>
                      <a:schemeClr val="bg1"/>
                    </a:solidFill>
                  </a:rPr>
                  <a:t>   </a:t>
                </a:r>
                <a:r>
                  <a:rPr lang="zh-CN" altLang="zh-CN" sz="2400" b="1" dirty="0">
                    <a:solidFill>
                      <a:schemeClr val="bg1"/>
                    </a:solidFill>
                  </a:rPr>
                  <a:t>【定义】设</a:t>
                </a:r>
                <a14:m>
                  <m:oMath xmlns:m="http://schemas.openxmlformats.org/officeDocument/2006/math">
                    <m:r>
                      <a:rPr lang="en-US" altLang="zh-CN" sz="2400" b="1" i="1">
                        <a:solidFill>
                          <a:schemeClr val="bg1"/>
                        </a:solidFill>
                        <a:latin typeface="Cambria Math"/>
                      </a:rPr>
                      <m:t>𝑨</m:t>
                    </m:r>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𝟏</m:t>
                        </m:r>
                      </m:sub>
                    </m:sSub>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𝟐</m:t>
                        </m:r>
                      </m:sub>
                    </m:sSub>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𝒏</m:t>
                        </m:r>
                      </m:sub>
                    </m:sSub>
                    <m:r>
                      <a:rPr lang="en-US" altLang="zh-CN" sz="2400" b="1" i="1">
                        <a:solidFill>
                          <a:schemeClr val="bg1"/>
                        </a:solidFill>
                        <a:latin typeface="Cambria Math"/>
                      </a:rPr>
                      <m:t>}</m:t>
                    </m:r>
                  </m:oMath>
                </a14:m>
                <a:r>
                  <a:rPr lang="zh-CN" altLang="zh-CN" sz="2400" b="1" dirty="0">
                    <a:solidFill>
                      <a:schemeClr val="bg1"/>
                    </a:solidFill>
                  </a:rPr>
                  <a:t>是一个</a:t>
                </a:r>
                <a:r>
                  <a:rPr lang="zh-CN" altLang="zh-CN" sz="2400" b="1" dirty="0">
                    <a:solidFill>
                      <a:srgbClr val="FFFF00"/>
                    </a:solidFill>
                  </a:rPr>
                  <a:t>有限集合</a:t>
                </a:r>
                <a:r>
                  <a:rPr lang="zh-CN" altLang="zh-CN" sz="2400" b="1" dirty="0">
                    <a:solidFill>
                      <a:schemeClr val="bg1"/>
                    </a:solidFill>
                  </a:rPr>
                  <a:t>，从</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到</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的</a:t>
                </a:r>
                <a:r>
                  <a:rPr lang="zh-CN" altLang="zh-CN" sz="2400" b="1" dirty="0">
                    <a:solidFill>
                      <a:srgbClr val="FFFF00"/>
                    </a:solidFill>
                  </a:rPr>
                  <a:t>双射函数</a:t>
                </a:r>
                <a:r>
                  <a:rPr lang="zh-CN" altLang="zh-CN" sz="2400" b="1" dirty="0">
                    <a:solidFill>
                      <a:schemeClr val="bg1"/>
                    </a:solidFill>
                  </a:rPr>
                  <a:t>称为</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上的一个</a:t>
                </a:r>
                <a:r>
                  <a:rPr lang="zh-CN" altLang="zh-CN" sz="2400" b="1" dirty="0">
                    <a:solidFill>
                      <a:srgbClr val="FFFF00"/>
                    </a:solidFill>
                  </a:rPr>
                  <a:t>置换函数</a:t>
                </a:r>
                <a:r>
                  <a:rPr lang="zh-CN" altLang="zh-CN" sz="2400" b="1" dirty="0">
                    <a:solidFill>
                      <a:schemeClr val="bg1"/>
                    </a:solidFill>
                  </a:rPr>
                  <a:t>，简称为</a:t>
                </a:r>
                <a:r>
                  <a:rPr lang="zh-CN" altLang="zh-CN" sz="2400" b="1" dirty="0">
                    <a:solidFill>
                      <a:srgbClr val="FFFF00"/>
                    </a:solidFill>
                  </a:rPr>
                  <a:t>置换</a:t>
                </a:r>
                <a:r>
                  <a:rPr lang="zh-CN" altLang="zh-CN" sz="2400" b="1" dirty="0">
                    <a:solidFill>
                      <a:schemeClr val="bg1"/>
                    </a:solidFill>
                  </a:rPr>
                  <a:t>或</a:t>
                </a:r>
                <a:r>
                  <a:rPr lang="zh-CN" altLang="zh-CN" sz="2400" b="1" dirty="0">
                    <a:solidFill>
                      <a:srgbClr val="FFFF00"/>
                    </a:solidFill>
                  </a:rPr>
                  <a:t>排列</a:t>
                </a:r>
                <a:r>
                  <a:rPr lang="zh-CN" altLang="en-US" sz="2400" b="1" dirty="0">
                    <a:solidFill>
                      <a:schemeClr val="bg1"/>
                    </a:solidFill>
                  </a:rPr>
                  <a:t>。</a:t>
                </a:r>
                <a:endParaRPr lang="en-US" altLang="zh-CN" sz="2400" b="1" dirty="0">
                  <a:solidFill>
                    <a:schemeClr val="bg1"/>
                  </a:solidFill>
                </a:endParaRPr>
              </a:p>
              <a:p>
                <a:pPr>
                  <a:lnSpc>
                    <a:spcPts val="3200"/>
                  </a:lnSpc>
                </a:pPr>
                <a:r>
                  <a:rPr lang="en-US" altLang="zh-CN" sz="2400" b="1" dirty="0">
                    <a:solidFill>
                      <a:schemeClr val="bg1"/>
                    </a:solidFill>
                  </a:rPr>
                  <a:t>    </a:t>
                </a:r>
                <a:r>
                  <a:rPr lang="zh-CN" altLang="zh-CN" sz="2400" b="1" dirty="0">
                    <a:solidFill>
                      <a:schemeClr val="bg1"/>
                    </a:solidFill>
                  </a:rPr>
                  <a:t>记为</a:t>
                </a:r>
                <a:r>
                  <a:rPr lang="zh-CN" altLang="en-US" sz="2400" b="1" dirty="0">
                    <a:solidFill>
                      <a:schemeClr val="bg1"/>
                    </a:solidFill>
                  </a:rPr>
                  <a:t>：</a:t>
                </a:r>
                <a14:m>
                  <m:oMath xmlns:m="http://schemas.openxmlformats.org/officeDocument/2006/math">
                    <m:r>
                      <a:rPr lang="en-US" altLang="zh-CN" sz="2400" b="1" i="1" smtClean="0">
                        <a:solidFill>
                          <a:srgbClr val="FFFF00"/>
                        </a:solidFill>
                        <a:latin typeface="Cambria Math"/>
                      </a:rPr>
                      <m:t>𝑷</m:t>
                    </m:r>
                    <m:r>
                      <a:rPr lang="en-US" altLang="zh-CN" sz="2400" b="1" i="1" smtClean="0">
                        <a:solidFill>
                          <a:srgbClr val="FFFF00"/>
                        </a:solidFill>
                        <a:latin typeface="Cambria Math"/>
                      </a:rPr>
                      <m:t>:</m:t>
                    </m:r>
                    <m:r>
                      <a:rPr lang="en-US" altLang="zh-CN" sz="2400" b="1" i="1" smtClean="0">
                        <a:solidFill>
                          <a:srgbClr val="FFFF00"/>
                        </a:solidFill>
                        <a:latin typeface="Cambria Math"/>
                      </a:rPr>
                      <m:t>𝑨</m:t>
                    </m:r>
                    <m:r>
                      <a:rPr lang="en-US" altLang="zh-CN" sz="2400" b="1" i="1" smtClean="0">
                        <a:solidFill>
                          <a:srgbClr val="FFFF00"/>
                        </a:solidFill>
                        <a:latin typeface="Cambria Math"/>
                      </a:rPr>
                      <m:t>→</m:t>
                    </m:r>
                    <m:r>
                      <a:rPr lang="en-US" altLang="zh-CN" sz="2400" b="1" i="1" smtClean="0">
                        <a:solidFill>
                          <a:srgbClr val="FFFF00"/>
                        </a:solidFill>
                        <a:latin typeface="Cambria Math"/>
                      </a:rPr>
                      <m:t>𝑨</m:t>
                    </m:r>
                  </m:oMath>
                </a14:m>
                <a:endParaRPr lang="en-US" altLang="zh-CN" sz="2400" b="1" dirty="0">
                  <a:solidFill>
                    <a:schemeClr val="bg1"/>
                  </a:solidFill>
                </a:endParaRPr>
              </a:p>
              <a:p>
                <a:pPr>
                  <a:lnSpc>
                    <a:spcPts val="3200"/>
                  </a:lnSpc>
                </a:pPr>
                <a:r>
                  <a:rPr lang="en-US" altLang="zh-CN" sz="2400" b="1" dirty="0">
                    <a:solidFill>
                      <a:schemeClr val="bg1"/>
                    </a:solidFill>
                  </a:rPr>
                  <a:t>    </a:t>
                </a:r>
                <a14:m>
                  <m:oMath xmlns:m="http://schemas.openxmlformats.org/officeDocument/2006/math">
                    <m:r>
                      <a:rPr lang="en-US" altLang="zh-CN" sz="2400" b="1" i="1">
                        <a:solidFill>
                          <a:schemeClr val="bg1"/>
                        </a:solidFill>
                        <a:latin typeface="Cambria Math"/>
                      </a:rPr>
                      <m:t>𝑨</m:t>
                    </m:r>
                    <m:r>
                      <a:rPr lang="zh-CN" altLang="zh-CN" sz="2400" b="1">
                        <a:solidFill>
                          <a:schemeClr val="bg1"/>
                        </a:solidFill>
                        <a:latin typeface="Cambria Math"/>
                      </a:rPr>
                      <m:t>的基数</m:t>
                    </m:r>
                    <m:r>
                      <a:rPr lang="en-US" altLang="zh-CN" sz="2400" b="1" i="1">
                        <a:solidFill>
                          <a:schemeClr val="bg1"/>
                        </a:solidFill>
                        <a:latin typeface="Cambria Math"/>
                      </a:rPr>
                      <m:t>𝒏</m:t>
                    </m:r>
                  </m:oMath>
                </a14:m>
                <a:r>
                  <a:rPr lang="zh-CN" altLang="zh-CN" sz="2400" b="1" dirty="0">
                    <a:solidFill>
                      <a:schemeClr val="bg1"/>
                    </a:solidFill>
                  </a:rPr>
                  <a:t>称为</a:t>
                </a:r>
                <a:r>
                  <a:rPr lang="zh-CN" altLang="zh-CN" sz="2400" b="1" dirty="0">
                    <a:solidFill>
                      <a:srgbClr val="FFFF00"/>
                    </a:solidFill>
                  </a:rPr>
                  <a:t>置换的阶</a:t>
                </a:r>
                <a:r>
                  <a:rPr lang="zh-CN" altLang="zh-CN" sz="2400" b="1" dirty="0">
                    <a:solidFill>
                      <a:schemeClr val="bg1"/>
                    </a:solidFill>
                  </a:rPr>
                  <a:t>。</a:t>
                </a:r>
              </a:p>
            </p:txBody>
          </p:sp>
        </mc:Choice>
        <mc:Fallback xmlns="">
          <p:sp>
            <p:nvSpPr>
              <p:cNvPr id="4" name="TextBox 3"/>
              <p:cNvSpPr txBox="1">
                <a:spLocks noRot="1" noChangeAspect="1" noMove="1" noResize="1" noEditPoints="1" noAdjustHandles="1" noChangeArrowheads="1" noChangeShapeType="1" noTextEdit="1"/>
              </p:cNvSpPr>
              <p:nvPr/>
            </p:nvSpPr>
            <p:spPr>
              <a:xfrm>
                <a:off x="460265" y="1787803"/>
                <a:ext cx="8557392" cy="1696683"/>
              </a:xfrm>
              <a:prstGeom prst="rect">
                <a:avLst/>
              </a:prstGeom>
              <a:blipFill>
                <a:blip r:embed="rId3"/>
                <a:stretch>
                  <a:fillRect l="-1140" t="-3584" b="-60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1190409" y="3643514"/>
                <a:ext cx="7097103" cy="745460"/>
              </a:xfrm>
              <a:prstGeom prst="rect">
                <a:avLst/>
              </a:prstGeom>
              <a:solidFill>
                <a:schemeClr val="accent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b="1" i="1" smtClean="0">
                          <a:solidFill>
                            <a:schemeClr val="tx1"/>
                          </a:solidFill>
                          <a:latin typeface="Cambria Math"/>
                        </a:rPr>
                        <m:t>𝑷</m:t>
                      </m:r>
                      <m:r>
                        <a:rPr lang="en-US" altLang="zh-CN" sz="2400" b="1" i="1" smtClean="0">
                          <a:solidFill>
                            <a:schemeClr val="tx1"/>
                          </a:solidFill>
                          <a:latin typeface="Cambria Math"/>
                        </a:rPr>
                        <m:t>=</m:t>
                      </m:r>
                      <m:d>
                        <m:dPr>
                          <m:ctrlPr>
                            <a:rPr lang="zh-CN" altLang="zh-CN" sz="2400" b="1" i="1">
                              <a:solidFill>
                                <a:schemeClr val="tx1"/>
                              </a:solidFill>
                              <a:latin typeface="Cambria Math" panose="02040503050406030204" pitchFamily="18" charset="0"/>
                            </a:rPr>
                          </m:ctrlPr>
                        </m:dPr>
                        <m:e>
                          <m:m>
                            <m:mPr>
                              <m:mcs>
                                <m:mc>
                                  <m:mcPr>
                                    <m:count m:val="3"/>
                                    <m:mcJc m:val="center"/>
                                  </m:mcPr>
                                </m:mc>
                              </m:mcs>
                              <m:ctrlPr>
                                <a:rPr lang="zh-CN" altLang="zh-CN" sz="2400" b="1" i="1">
                                  <a:solidFill>
                                    <a:schemeClr val="tx1"/>
                                  </a:solidFill>
                                  <a:latin typeface="Cambria Math" panose="02040503050406030204" pitchFamily="18" charset="0"/>
                                </a:rPr>
                              </m:ctrlPr>
                            </m:mPr>
                            <m:m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𝟏</m:t>
                                    </m:r>
                                  </m:sub>
                                </m:sSub>
                              </m:e>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𝟐</m:t>
                                    </m:r>
                                  </m:sub>
                                </m:sSub>
                              </m:e>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𝟑</m:t>
                                    </m:r>
                                  </m:sub>
                                </m:sSub>
                              </m:e>
                            </m:mr>
                            <m:mr>
                              <m:e>
                                <m:r>
                                  <a:rPr lang="en-US" altLang="zh-CN" sz="2400" b="1" i="1">
                                    <a:solidFill>
                                      <a:schemeClr val="tx1"/>
                                    </a:solidFill>
                                    <a:latin typeface="Cambria Math"/>
                                  </a:rPr>
                                  <m:t>𝑷</m:t>
                                </m:r>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𝟏</m:t>
                                    </m:r>
                                  </m:sub>
                                </m:sSub>
                                <m:r>
                                  <a:rPr lang="en-US" altLang="zh-CN" sz="2400" b="1" i="1">
                                    <a:solidFill>
                                      <a:schemeClr val="tx1"/>
                                    </a:solidFill>
                                    <a:latin typeface="Cambria Math"/>
                                  </a:rPr>
                                  <m:t>)</m:t>
                                </m:r>
                              </m:e>
                              <m:e>
                                <m:r>
                                  <a:rPr lang="en-US" altLang="zh-CN" sz="2400" b="1" i="1">
                                    <a:solidFill>
                                      <a:schemeClr val="tx1"/>
                                    </a:solidFill>
                                    <a:latin typeface="Cambria Math"/>
                                  </a:rPr>
                                  <m:t>𝑷</m:t>
                                </m:r>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𝟐</m:t>
                                    </m:r>
                                  </m:sub>
                                </m:sSub>
                                <m:r>
                                  <a:rPr lang="en-US" altLang="zh-CN" sz="2400" b="1" i="1">
                                    <a:solidFill>
                                      <a:schemeClr val="tx1"/>
                                    </a:solidFill>
                                    <a:latin typeface="Cambria Math"/>
                                  </a:rPr>
                                  <m:t>)</m:t>
                                </m:r>
                              </m:e>
                              <m:e>
                                <m:r>
                                  <a:rPr lang="en-US" altLang="zh-CN" sz="2400" b="1" i="1">
                                    <a:solidFill>
                                      <a:schemeClr val="tx1"/>
                                    </a:solidFill>
                                    <a:latin typeface="Cambria Math"/>
                                  </a:rPr>
                                  <m:t>𝑷</m:t>
                                </m:r>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𝟑</m:t>
                                    </m:r>
                                  </m:sub>
                                </m:sSub>
                                <m:r>
                                  <a:rPr lang="en-US" altLang="zh-CN" sz="2400" b="1" i="1">
                                    <a:solidFill>
                                      <a:schemeClr val="tx1"/>
                                    </a:solidFill>
                                    <a:latin typeface="Cambria Math"/>
                                  </a:rPr>
                                  <m:t>)</m:t>
                                </m:r>
                              </m:e>
                            </m:mr>
                          </m:m>
                          <m:r>
                            <a:rPr lang="en-US" altLang="zh-CN" sz="2400" b="1" i="1">
                              <a:solidFill>
                                <a:schemeClr val="tx1"/>
                              </a:solidFill>
                              <a:latin typeface="Cambria Math"/>
                            </a:rPr>
                            <m:t>     </m:t>
                          </m:r>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m:t>
                                </m:r>
                              </m:e>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𝒏</m:t>
                                    </m:r>
                                  </m:sub>
                                </m:sSub>
                              </m:e>
                            </m:mr>
                            <m:mr>
                              <m:e>
                                <m:r>
                                  <a:rPr lang="en-US" altLang="zh-CN" sz="2400" b="1" i="1">
                                    <a:solidFill>
                                      <a:schemeClr val="tx1"/>
                                    </a:solidFill>
                                    <a:latin typeface="Cambria Math"/>
                                  </a:rPr>
                                  <m:t>⋯</m:t>
                                </m:r>
                              </m:e>
                              <m:e>
                                <m:r>
                                  <a:rPr lang="en-US" altLang="zh-CN" sz="2400" b="1" i="1">
                                    <a:solidFill>
                                      <a:schemeClr val="tx1"/>
                                    </a:solidFill>
                                    <a:latin typeface="Cambria Math"/>
                                  </a:rPr>
                                  <m:t>𝑷</m:t>
                                </m:r>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𝒙</m:t>
                                    </m:r>
                                  </m:e>
                                  <m:sub>
                                    <m:r>
                                      <a:rPr lang="en-US" altLang="zh-CN" sz="2400" b="1" i="1">
                                        <a:solidFill>
                                          <a:schemeClr val="tx1"/>
                                        </a:solidFill>
                                        <a:latin typeface="Cambria Math"/>
                                      </a:rPr>
                                      <m:t>𝒏</m:t>
                                    </m:r>
                                  </m:sub>
                                </m:sSub>
                                <m:r>
                                  <a:rPr lang="en-US" altLang="zh-CN" sz="2400" b="1" i="1">
                                    <a:solidFill>
                                      <a:schemeClr val="tx1"/>
                                    </a:solidFill>
                                    <a:latin typeface="Cambria Math"/>
                                  </a:rPr>
                                  <m:t>)</m:t>
                                </m:r>
                              </m:e>
                            </m:mr>
                          </m:m>
                        </m:e>
                      </m:d>
                    </m:oMath>
                  </m:oMathPara>
                </a14:m>
                <a:endParaRPr lang="zh-CN" altLang="en-US" sz="2400" b="1" dirty="0">
                  <a:solidFill>
                    <a:schemeClr val="tx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190409" y="3643514"/>
                <a:ext cx="7097103" cy="74546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84150" y="4551523"/>
                <a:ext cx="8856983" cy="1617174"/>
              </a:xfrm>
              <a:prstGeom prst="rect">
                <a:avLst/>
              </a:prstGeom>
              <a:solidFill>
                <a:schemeClr val="accent3"/>
              </a:solidFill>
            </p:spPr>
            <p:txBody>
              <a:bodyPr wrap="square" rtlCol="0">
                <a:spAutoFit/>
              </a:bodyPr>
              <a:lstStyle/>
              <a:p>
                <a:r>
                  <a:rPr lang="en-US" altLang="zh-CN" sz="2400" b="1" dirty="0">
                    <a:solidFill>
                      <a:schemeClr val="tx1"/>
                    </a:solidFill>
                  </a:rPr>
                  <a:t>   </a:t>
                </a:r>
                <a:r>
                  <a:rPr lang="zh-CN" altLang="zh-CN" sz="2400" b="1" dirty="0">
                    <a:solidFill>
                      <a:schemeClr val="tx1"/>
                    </a:solidFill>
                  </a:rPr>
                  <a:t>显然有</a:t>
                </a:r>
                <a:r>
                  <a:rPr lang="zh-CN" altLang="en-US" sz="2400" b="1" dirty="0">
                    <a:solidFill>
                      <a:schemeClr val="tx1"/>
                    </a:solidFill>
                  </a:rPr>
                  <a:t>：</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𝑭</m:t>
                        </m:r>
                      </m:e>
                      <m:sub>
                        <m:r>
                          <a:rPr lang="en-US" altLang="zh-CN" sz="2400" b="1" i="1">
                            <a:solidFill>
                              <a:schemeClr val="tx1"/>
                            </a:solidFill>
                            <a:latin typeface="Cambria Math"/>
                          </a:rPr>
                          <m:t>𝑨</m:t>
                        </m:r>
                      </m:sub>
                    </m:sSub>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𝒇</m:t>
                        </m:r>
                      </m:e>
                      <m:e>
                        <m:r>
                          <a:rPr lang="en-US" altLang="zh-CN" sz="2400" b="1" i="1">
                            <a:solidFill>
                              <a:schemeClr val="tx1"/>
                            </a:solidFill>
                            <a:latin typeface="Cambria Math"/>
                          </a:rPr>
                          <m:t>𝒇</m:t>
                        </m:r>
                        <m:r>
                          <a:rPr lang="zh-CN" altLang="zh-CN" sz="2400" b="1">
                            <a:solidFill>
                              <a:schemeClr val="tx1"/>
                            </a:solidFill>
                            <a:latin typeface="Cambria Math"/>
                          </a:rPr>
                          <m:t>是</m:t>
                        </m:r>
                        <m:r>
                          <a:rPr lang="en-US" altLang="zh-CN" sz="2400" b="1" i="1">
                            <a:solidFill>
                              <a:schemeClr val="tx1"/>
                            </a:solidFill>
                            <a:latin typeface="Cambria Math"/>
                          </a:rPr>
                          <m:t>𝑨</m:t>
                        </m:r>
                        <m:r>
                          <a:rPr lang="zh-CN" altLang="zh-CN" sz="2400" b="1">
                            <a:solidFill>
                              <a:schemeClr val="tx1"/>
                            </a:solidFill>
                            <a:latin typeface="Cambria Math"/>
                          </a:rPr>
                          <m:t>中的置换</m:t>
                        </m:r>
                      </m:e>
                    </m:d>
                  </m:oMath>
                </a14:m>
                <a:r>
                  <a:rPr lang="zh-CN" altLang="zh-CN" sz="2400" b="1" dirty="0">
                    <a:solidFill>
                      <a:schemeClr val="tx1"/>
                    </a:solidFill>
                  </a:rPr>
                  <a:t>，即</a:t>
                </a:r>
                <a:r>
                  <a:rPr lang="zh-CN" altLang="zh-CN" sz="2400" b="1" dirty="0">
                    <a:solidFill>
                      <a:schemeClr val="accent2"/>
                    </a:solidFill>
                  </a:rPr>
                  <a:t>可逆函数集</a:t>
                </a:r>
                <a:r>
                  <a:rPr lang="zh-CN" altLang="zh-CN" sz="2400" b="1" dirty="0">
                    <a:solidFill>
                      <a:schemeClr val="tx1"/>
                    </a:solidFill>
                  </a:rPr>
                  <a:t>是</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中所有置换的集合。</a:t>
                </a:r>
                <a:endParaRPr lang="en-US" altLang="zh-CN" sz="2400" b="1" dirty="0">
                  <a:solidFill>
                    <a:schemeClr val="tx1"/>
                  </a:solidFill>
                </a:endParaRPr>
              </a:p>
              <a:p>
                <a:r>
                  <a:rPr lang="zh-CN" altLang="en-US" sz="2400" b="1" dirty="0">
                    <a:solidFill>
                      <a:schemeClr val="tx1"/>
                    </a:solidFill>
                  </a:rPr>
                  <a:t>   </a:t>
                </a:r>
                <a14:m>
                  <m:oMath xmlns:m="http://schemas.openxmlformats.org/officeDocument/2006/math">
                    <m:r>
                      <m:rPr>
                        <m:nor/>
                      </m:rPr>
                      <a:rPr lang="zh-CN" altLang="en-US" sz="2400" b="1" dirty="0">
                        <a:solidFill>
                          <a:schemeClr val="tx1"/>
                        </a:solidFill>
                      </a:rPr>
                      <m:t>由于</m:t>
                    </m:r>
                    <m:r>
                      <a:rPr lang="en-US" altLang="zh-CN" sz="2400" b="1" i="1">
                        <a:solidFill>
                          <a:schemeClr val="tx1"/>
                        </a:solidFill>
                        <a:latin typeface="Cambria Math"/>
                      </a:rPr>
                      <m:t>𝒏</m:t>
                    </m:r>
                  </m:oMath>
                </a14:m>
                <a:r>
                  <a:rPr lang="zh-CN" altLang="zh-CN" sz="2400" b="1" dirty="0">
                    <a:solidFill>
                      <a:schemeClr val="tx1"/>
                    </a:solidFill>
                  </a:rPr>
                  <a:t>元有限集中</a:t>
                </a:r>
                <a:r>
                  <a:rPr lang="zh-CN" altLang="zh-CN" sz="2400" b="1" dirty="0">
                    <a:solidFill>
                      <a:srgbClr val="FF0000"/>
                    </a:solidFill>
                  </a:rPr>
                  <a:t>共有</a:t>
                </a:r>
                <a14:m>
                  <m:oMath xmlns:m="http://schemas.openxmlformats.org/officeDocument/2006/math">
                    <m:r>
                      <a:rPr lang="en-US" altLang="zh-CN" sz="2400" b="1" i="1">
                        <a:solidFill>
                          <a:srgbClr val="FF0000"/>
                        </a:solidFill>
                        <a:latin typeface="Cambria Math"/>
                      </a:rPr>
                      <m:t>𝒏</m:t>
                    </m:r>
                    <m:r>
                      <a:rPr lang="zh-CN" altLang="zh-CN" sz="2400" b="1">
                        <a:solidFill>
                          <a:srgbClr val="FF0000"/>
                        </a:solidFill>
                        <a:latin typeface="Cambria Math"/>
                      </a:rPr>
                      <m:t>个</m:t>
                    </m:r>
                    <m:r>
                      <m:rPr>
                        <m:nor/>
                      </m:rPr>
                      <a:rPr lang="zh-CN" altLang="en-US" sz="2400" b="1" dirty="0" smtClean="0">
                        <a:solidFill>
                          <a:schemeClr val="tx1"/>
                        </a:solidFill>
                      </a:rPr>
                      <m:t>不同的</m:t>
                    </m:r>
                  </m:oMath>
                </a14:m>
                <a:r>
                  <a:rPr lang="zh-CN" altLang="zh-CN" sz="2400" b="1" dirty="0">
                    <a:solidFill>
                      <a:schemeClr val="tx1"/>
                    </a:solidFill>
                  </a:rPr>
                  <a:t>置换函数，故有</a:t>
                </a:r>
                <a14:m>
                  <m:oMath xmlns:m="http://schemas.openxmlformats.org/officeDocument/2006/math">
                    <m:sSub>
                      <m:sSubPr>
                        <m:ctrlPr>
                          <a:rPr lang="zh-CN" altLang="zh-CN" sz="2400" b="1" i="1" smtClean="0">
                            <a:solidFill>
                              <a:srgbClr val="FF0000"/>
                            </a:solidFill>
                            <a:latin typeface="Cambria Math" panose="02040503050406030204" pitchFamily="18" charset="0"/>
                          </a:rPr>
                        </m:ctrlPr>
                      </m:sSubPr>
                      <m:e>
                        <m:r>
                          <a:rPr lang="en-US" altLang="zh-CN" sz="2400" b="1" i="1">
                            <a:solidFill>
                              <a:srgbClr val="FF0000"/>
                            </a:solidFill>
                            <a:latin typeface="Cambria Math"/>
                          </a:rPr>
                          <m:t>|</m:t>
                        </m:r>
                        <m:r>
                          <a:rPr lang="en-US" altLang="zh-CN" sz="2400" b="1" i="1">
                            <a:solidFill>
                              <a:srgbClr val="FF0000"/>
                            </a:solidFill>
                            <a:latin typeface="Cambria Math"/>
                          </a:rPr>
                          <m:t>𝑭</m:t>
                        </m:r>
                      </m:e>
                      <m:sub>
                        <m:r>
                          <a:rPr lang="en-US" altLang="zh-CN" sz="2400" b="1" i="1">
                            <a:solidFill>
                              <a:srgbClr val="FF0000"/>
                            </a:solidFill>
                            <a:latin typeface="Cambria Math"/>
                          </a:rPr>
                          <m:t>𝑨</m:t>
                        </m:r>
                      </m:sub>
                    </m:sSub>
                    <m:r>
                      <a:rPr lang="en-US" altLang="zh-CN" sz="2400" b="1" i="1">
                        <a:solidFill>
                          <a:srgbClr val="FF0000"/>
                        </a:solidFill>
                        <a:latin typeface="Cambria Math"/>
                      </a:rPr>
                      <m:t>|=</m:t>
                    </m:r>
                    <m:r>
                      <a:rPr lang="en-US" altLang="zh-CN" sz="2400" b="1" i="1">
                        <a:solidFill>
                          <a:srgbClr val="FF0000"/>
                        </a:solidFill>
                        <a:latin typeface="Cambria Math"/>
                      </a:rPr>
                      <m:t>𝒏</m:t>
                    </m:r>
                    <m:r>
                      <a:rPr lang="en-US" altLang="zh-CN" sz="2400" b="1" i="1">
                        <a:solidFill>
                          <a:srgbClr val="FF0000"/>
                        </a:solidFill>
                        <a:latin typeface="Cambria Math"/>
                      </a:rPr>
                      <m:t>!</m:t>
                    </m:r>
                  </m:oMath>
                </a14:m>
                <a:r>
                  <a:rPr lang="zh-CN" altLang="zh-CN" sz="2400" b="1" dirty="0">
                    <a:solidFill>
                      <a:schemeClr val="tx1"/>
                    </a:solidFill>
                  </a:rPr>
                  <a:t>，</a:t>
                </a:r>
                <a:r>
                  <a:rPr lang="zh-CN" altLang="en-US" sz="2400" b="1" dirty="0">
                    <a:solidFill>
                      <a:schemeClr val="tx1"/>
                    </a:solidFill>
                  </a:rPr>
                  <a:t>故</a:t>
                </a:r>
                <a:r>
                  <a:rPr lang="zh-CN" altLang="zh-CN" sz="2400" b="1" dirty="0">
                    <a:solidFill>
                      <a:schemeClr val="tx1"/>
                    </a:solidFill>
                  </a:rPr>
                  <a:t>亦</a:t>
                </a:r>
                <a:r>
                  <a:rPr lang="zh-CN" altLang="zh-CN" sz="2400" b="1" dirty="0">
                    <a:solidFill>
                      <a:srgbClr val="FF0000"/>
                    </a:solidFill>
                  </a:rPr>
                  <a:t>将</a:t>
                </a:r>
                <a14:m>
                  <m:oMath xmlns:m="http://schemas.openxmlformats.org/officeDocument/2006/math">
                    <m:r>
                      <a:rPr lang="en-US" altLang="zh-CN" sz="2400" b="1" i="1">
                        <a:solidFill>
                          <a:srgbClr val="FF0000"/>
                        </a:solidFill>
                        <a:latin typeface="Cambria Math"/>
                      </a:rPr>
                      <m:t>𝑨</m:t>
                    </m:r>
                  </m:oMath>
                </a14:m>
                <a:r>
                  <a:rPr lang="zh-CN" altLang="zh-CN" sz="2400" b="1" dirty="0">
                    <a:solidFill>
                      <a:srgbClr val="FF0000"/>
                    </a:solidFill>
                  </a:rPr>
                  <a:t>的可逆函数集记为</a:t>
                </a:r>
                <a14:m>
                  <m:oMath xmlns:m="http://schemas.openxmlformats.org/officeDocument/2006/math">
                    <m:r>
                      <a:rPr lang="en-US" altLang="zh-CN" sz="2400" b="1" i="1">
                        <a:solidFill>
                          <a:srgbClr val="FF0000"/>
                        </a:solidFill>
                        <a:latin typeface="Cambria Math"/>
                      </a:rPr>
                      <m:t>𝑨</m:t>
                    </m:r>
                    <m:r>
                      <a:rPr lang="zh-CN" altLang="zh-CN" sz="2400" b="1">
                        <a:solidFill>
                          <a:srgbClr val="FF0000"/>
                        </a:solidFill>
                        <a:latin typeface="Cambria Math"/>
                      </a:rPr>
                      <m:t>！</m:t>
                    </m:r>
                  </m:oMath>
                </a14:m>
                <a:r>
                  <a:rPr lang="zh-CN" altLang="zh-CN" sz="2400" b="1" dirty="0">
                    <a:solidFill>
                      <a:schemeClr val="tx1"/>
                    </a:solidFill>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184150" y="4551523"/>
                <a:ext cx="8856983" cy="1617174"/>
              </a:xfrm>
              <a:prstGeom prst="rect">
                <a:avLst/>
              </a:prstGeom>
              <a:blipFill>
                <a:blip r:embed="rId5"/>
                <a:stretch>
                  <a:fillRect l="-1032" t="-3019" b="-6792"/>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73A0CBB-30F4-42F1-AD63-E45188A1B7EA}"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4579" name="Text Box 2"/>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endParaRPr lang="en-US" altLang="zh-CN" sz="5400" b="1">
              <a:solidFill>
                <a:schemeClr val="bg1"/>
              </a:solidFill>
              <a:latin typeface="宋体" pitchFamily="2" charset="-122"/>
              <a:ea typeface="宋体" pitchFamily="2" charset="-122"/>
            </a:endParaRPr>
          </a:p>
        </p:txBody>
      </p:sp>
      <p:pic>
        <p:nvPicPr>
          <p:cNvPr id="2458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431539" y="2076430"/>
                <a:ext cx="8280920" cy="523220"/>
              </a:xfrm>
              <a:prstGeom prst="rect">
                <a:avLst/>
              </a:prstGeom>
              <a:noFill/>
            </p:spPr>
            <p:txBody>
              <a:bodyPr wrap="square" rtlCol="0">
                <a:spAutoFit/>
              </a:bodyPr>
              <a:lstStyle/>
              <a:p>
                <a:r>
                  <a:rPr lang="zh-CN" altLang="zh-CN" sz="2800" b="1" dirty="0"/>
                  <a:t>【例题】</a:t>
                </a:r>
                <a:r>
                  <a:rPr lang="zh-CN" altLang="zh-CN" sz="2800" b="1" dirty="0">
                    <a:solidFill>
                      <a:schemeClr val="tx1"/>
                    </a:solidFill>
                  </a:rPr>
                  <a:t>设</a:t>
                </a:r>
                <a14:m>
                  <m:oMath xmlns:m="http://schemas.openxmlformats.org/officeDocument/2006/math">
                    <m:r>
                      <a:rPr lang="en-US" altLang="zh-CN" sz="2800" b="1" i="1">
                        <a:solidFill>
                          <a:schemeClr val="tx1"/>
                        </a:solidFill>
                        <a:latin typeface="Cambria Math"/>
                      </a:rPr>
                      <m:t>𝑨</m:t>
                    </m:r>
                    <m:r>
                      <a:rPr lang="en-US" altLang="zh-CN" sz="2800" b="1" i="1">
                        <a:solidFill>
                          <a:schemeClr val="tx1"/>
                        </a:solidFill>
                        <a:latin typeface="Cambria Math"/>
                      </a:rPr>
                      <m:t>={</m:t>
                    </m:r>
                    <m:r>
                      <a:rPr lang="en-US" altLang="zh-CN" sz="2800" b="1" i="1">
                        <a:solidFill>
                          <a:schemeClr val="tx1"/>
                        </a:solidFill>
                        <a:latin typeface="Cambria Math"/>
                      </a:rPr>
                      <m:t>𝟏</m:t>
                    </m:r>
                    <m:r>
                      <a:rPr lang="en-US" altLang="zh-CN" sz="2800" b="1">
                        <a:solidFill>
                          <a:schemeClr val="tx1"/>
                        </a:solidFill>
                        <a:latin typeface="Cambria Math"/>
                      </a:rPr>
                      <m:t>,</m:t>
                    </m:r>
                    <m:r>
                      <a:rPr lang="en-US" altLang="zh-CN" sz="2800" b="1" i="1">
                        <a:solidFill>
                          <a:schemeClr val="tx1"/>
                        </a:solidFill>
                        <a:latin typeface="Cambria Math"/>
                      </a:rPr>
                      <m:t>𝟐</m:t>
                    </m:r>
                    <m:r>
                      <a:rPr lang="en-US" altLang="zh-CN" sz="2800" b="1">
                        <a:solidFill>
                          <a:schemeClr val="tx1"/>
                        </a:solidFill>
                        <a:latin typeface="Cambria Math"/>
                      </a:rPr>
                      <m:t>,</m:t>
                    </m:r>
                    <m:r>
                      <a:rPr lang="en-US" altLang="zh-CN" sz="2800" b="1" i="1">
                        <a:solidFill>
                          <a:schemeClr val="tx1"/>
                        </a:solidFill>
                        <a:latin typeface="Cambria Math"/>
                      </a:rPr>
                      <m:t>𝟑</m:t>
                    </m:r>
                    <m:r>
                      <a:rPr lang="en-US" altLang="zh-CN" sz="2800" b="1" i="1">
                        <a:solidFill>
                          <a:schemeClr val="tx1"/>
                        </a:solidFill>
                        <a:latin typeface="Cambria Math"/>
                      </a:rPr>
                      <m:t>}</m:t>
                    </m:r>
                  </m:oMath>
                </a14:m>
                <a:r>
                  <a:rPr lang="zh-CN" altLang="zh-CN" sz="2800" b="1" dirty="0">
                    <a:solidFill>
                      <a:schemeClr val="tx1"/>
                    </a:solidFill>
                  </a:rPr>
                  <a:t>，试写出</a:t>
                </a:r>
                <a14:m>
                  <m:oMath xmlns:m="http://schemas.openxmlformats.org/officeDocument/2006/math">
                    <m:r>
                      <a:rPr lang="en-US" altLang="zh-CN" sz="2800" b="1" i="1">
                        <a:solidFill>
                          <a:schemeClr val="tx1"/>
                        </a:solidFill>
                        <a:latin typeface="Cambria Math"/>
                      </a:rPr>
                      <m:t>𝑨</m:t>
                    </m:r>
                  </m:oMath>
                </a14:m>
                <a:r>
                  <a:rPr lang="zh-CN" altLang="zh-CN" sz="2800" b="1" dirty="0">
                    <a:solidFill>
                      <a:schemeClr val="tx1"/>
                    </a:solidFill>
                  </a:rPr>
                  <a:t>上的所有置换</a:t>
                </a:r>
                <a14:m>
                  <m:oMath xmlns:m="http://schemas.openxmlformats.org/officeDocument/2006/math">
                    <m:r>
                      <a:rPr lang="en-US" altLang="zh-CN" sz="2800" b="1" i="1">
                        <a:solidFill>
                          <a:schemeClr val="tx1"/>
                        </a:solidFill>
                        <a:latin typeface="Cambria Math"/>
                      </a:rPr>
                      <m:t>𝑷</m:t>
                    </m:r>
                  </m:oMath>
                </a14:m>
                <a:r>
                  <a:rPr lang="zh-CN" altLang="zh-CN" sz="2800" b="1" dirty="0">
                    <a:solidFill>
                      <a:schemeClr val="tx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431539" y="2076430"/>
                <a:ext cx="8280920" cy="523220"/>
              </a:xfrm>
              <a:prstGeom prst="rect">
                <a:avLst/>
              </a:prstGeom>
              <a:blipFill>
                <a:blip r:embed="rId3"/>
                <a:stretch>
                  <a:fillRect l="-1546" t="-15294" r="-1178" b="-305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552135" y="3140968"/>
                <a:ext cx="8039729" cy="2048766"/>
              </a:xfrm>
              <a:prstGeom prst="rect">
                <a:avLst/>
              </a:prstGeom>
              <a:noFill/>
            </p:spPr>
            <p:txBody>
              <a:bodyPr wrap="square" rtlCol="0">
                <a:spAutoFit/>
              </a:bodyPr>
              <a:lstStyle/>
              <a:p>
                <a:pPr>
                  <a:lnSpc>
                    <a:spcPct val="120000"/>
                  </a:lnSpc>
                  <a:spcBef>
                    <a:spcPts val="600"/>
                  </a:spcBef>
                </a:pPr>
                <a:r>
                  <a:rPr lang="zh-CN" altLang="zh-CN" sz="2400" b="1" dirty="0"/>
                  <a:t>【解】</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上的所有置换</a:t>
                </a:r>
                <a14:m>
                  <m:oMath xmlns:m="http://schemas.openxmlformats.org/officeDocument/2006/math">
                    <m:r>
                      <a:rPr lang="en-US" altLang="zh-CN" sz="2400" b="1" i="1">
                        <a:solidFill>
                          <a:schemeClr val="tx1"/>
                        </a:solidFill>
                        <a:latin typeface="Cambria Math"/>
                      </a:rPr>
                      <m:t>𝑷</m:t>
                    </m:r>
                  </m:oMath>
                </a14:m>
                <a:r>
                  <a:rPr lang="zh-CN" altLang="zh-CN" sz="2400" b="1" dirty="0">
                    <a:solidFill>
                      <a:schemeClr val="tx1"/>
                    </a:solidFill>
                  </a:rPr>
                  <a:t>如下：</a:t>
                </a:r>
              </a:p>
              <a:p>
                <a:pPr>
                  <a:lnSpc>
                    <a:spcPct val="120000"/>
                  </a:lnSpc>
                  <a:spcBef>
                    <a:spcPts val="600"/>
                  </a:spcBef>
                </a:pPr>
                <a14:m>
                  <m:oMathPara xmlns:m="http://schemas.openxmlformats.org/officeDocument/2006/math">
                    <m:oMathParaPr>
                      <m:jc m:val="centerGroup"/>
                    </m:oMathParaPr>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𝟏</m:t>
                          </m:r>
                        </m:sub>
                      </m:sSub>
                      <m:r>
                        <a:rPr lang="en-US" altLang="zh-CN" sz="2400" b="1" i="1">
                          <a:solidFill>
                            <a:schemeClr val="tx1"/>
                          </a:solidFill>
                          <a:latin typeface="Cambria Math"/>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𝟑</m:t>
                                      </m:r>
                                    </m:e>
                                  </m:mr>
                                </m:m>
                              </m:e>
                            </m:m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𝟑</m:t>
                                      </m:r>
                                    </m:e>
                                  </m:mr>
                                </m:m>
                              </m:e>
                            </m:mr>
                          </m:m>
                        </m:e>
                      </m:d>
                      <m:r>
                        <a:rPr lang="en-US" altLang="zh-CN" sz="2400" b="1" i="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𝟐</m:t>
                          </m:r>
                        </m:sub>
                      </m:sSub>
                      <m:r>
                        <a:rPr lang="en-US" altLang="zh-CN" sz="2400" b="1" i="1">
                          <a:solidFill>
                            <a:schemeClr val="tx1"/>
                          </a:solidFill>
                          <a:latin typeface="Cambria Math"/>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𝟑</m:t>
                                      </m:r>
                                    </m:e>
                                  </m:mr>
                                </m:m>
                              </m:e>
                            </m:m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𝟑</m:t>
                                      </m:r>
                                    </m:e>
                                    <m:e>
                                      <m:r>
                                        <a:rPr lang="en-US" altLang="zh-CN" sz="2400" b="1" i="1">
                                          <a:solidFill>
                                            <a:schemeClr val="tx1"/>
                                          </a:solidFill>
                                          <a:latin typeface="Cambria Math"/>
                                        </a:rPr>
                                        <m:t>𝟐</m:t>
                                      </m:r>
                                    </m:e>
                                  </m:mr>
                                </m:m>
                              </m:e>
                            </m:mr>
                          </m:m>
                        </m:e>
                      </m:d>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   </m:t>
                          </m:r>
                          <m:r>
                            <a:rPr lang="en-US" altLang="zh-CN" sz="2400" b="1" i="1">
                              <a:solidFill>
                                <a:schemeClr val="tx1"/>
                              </a:solidFill>
                              <a:latin typeface="Cambria Math"/>
                            </a:rPr>
                            <m:t>𝑷</m:t>
                          </m:r>
                        </m:e>
                        <m:sub>
                          <m:r>
                            <a:rPr lang="en-US" altLang="zh-CN" sz="2400" b="1" i="1">
                              <a:solidFill>
                                <a:schemeClr val="tx1"/>
                              </a:solidFill>
                              <a:latin typeface="Cambria Math"/>
                            </a:rPr>
                            <m:t>𝟑</m:t>
                          </m:r>
                        </m:sub>
                      </m:sSub>
                      <m:r>
                        <a:rPr lang="en-US" altLang="zh-CN" sz="2400" b="1" i="1">
                          <a:solidFill>
                            <a:schemeClr val="tx1"/>
                          </a:solidFill>
                          <a:latin typeface="Cambria Math"/>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𝟑</m:t>
                                      </m:r>
                                    </m:e>
                                  </m:mr>
                                </m:m>
                              </m:e>
                            </m:mr>
                            <m:mr>
                              <m:e>
                                <m:r>
                                  <a:rPr lang="en-US" altLang="zh-CN" sz="2400" b="1" i="1">
                                    <a:solidFill>
                                      <a:schemeClr val="tx1"/>
                                    </a:solidFill>
                                    <a:latin typeface="Cambria Math"/>
                                  </a:rPr>
                                  <m:t>𝟐</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r>
                                        <a:rPr lang="en-US" altLang="zh-CN" sz="2400" b="1" i="1">
                                          <a:solidFill>
                                            <a:schemeClr val="tx1"/>
                                          </a:solidFill>
                                          <a:latin typeface="Cambria Math"/>
                                        </a:rPr>
                                        <m:t>𝟑</m:t>
                                      </m:r>
                                    </m:e>
                                  </m:mr>
                                </m:m>
                              </m:e>
                            </m:mr>
                          </m:m>
                        </m:e>
                      </m:d>
                    </m:oMath>
                  </m:oMathPara>
                </a14:m>
                <a:endParaRPr lang="zh-CN" altLang="zh-CN" sz="2400" b="1" dirty="0">
                  <a:solidFill>
                    <a:schemeClr val="tx1"/>
                  </a:solidFill>
                </a:endParaRPr>
              </a:p>
              <a:p>
                <a:pPr>
                  <a:lnSpc>
                    <a:spcPct val="120000"/>
                  </a:lnSpc>
                  <a:spcBef>
                    <a:spcPts val="600"/>
                  </a:spcBef>
                </a:pPr>
                <a14:m>
                  <m:oMathPara xmlns:m="http://schemas.openxmlformats.org/officeDocument/2006/math">
                    <m:oMathParaPr>
                      <m:jc m:val="centerGroup"/>
                    </m:oMathParaPr>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𝟒</m:t>
                          </m:r>
                        </m:sub>
                      </m:sSub>
                      <m:r>
                        <a:rPr lang="en-US" altLang="zh-CN" sz="2400" b="1" i="1">
                          <a:solidFill>
                            <a:schemeClr val="tx1"/>
                          </a:solidFill>
                          <a:latin typeface="Cambria Math"/>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𝟑</m:t>
                                      </m:r>
                                    </m:e>
                                  </m:mr>
                                </m:m>
                              </m:e>
                            </m:mr>
                            <m:mr>
                              <m:e>
                                <m:r>
                                  <a:rPr lang="en-US" altLang="zh-CN" sz="2400" b="1" i="1">
                                    <a:solidFill>
                                      <a:schemeClr val="tx1"/>
                                    </a:solidFill>
                                    <a:latin typeface="Cambria Math"/>
                                  </a:rPr>
                                  <m:t>𝟐</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𝟑</m:t>
                                      </m:r>
                                    </m:e>
                                    <m:e>
                                      <m:r>
                                        <a:rPr lang="en-US" altLang="zh-CN" sz="2400" b="1" i="1">
                                          <a:solidFill>
                                            <a:schemeClr val="tx1"/>
                                          </a:solidFill>
                                          <a:latin typeface="Cambria Math"/>
                                        </a:rPr>
                                        <m:t>𝟏</m:t>
                                      </m:r>
                                    </m:e>
                                  </m:mr>
                                </m:m>
                              </m:e>
                            </m:mr>
                          </m:m>
                        </m:e>
                      </m:d>
                      <m:r>
                        <a:rPr lang="en-US" altLang="zh-CN" sz="2400" b="1" i="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𝟓</m:t>
                          </m:r>
                        </m:sub>
                      </m:sSub>
                      <m:r>
                        <a:rPr lang="en-US" altLang="zh-CN" sz="2400" b="1" i="1">
                          <a:solidFill>
                            <a:schemeClr val="tx1"/>
                          </a:solidFill>
                          <a:latin typeface="Cambria Math"/>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𝟑</m:t>
                                      </m:r>
                                    </m:e>
                                  </m:mr>
                                </m:m>
                              </m:e>
                            </m:mr>
                            <m:mr>
                              <m:e>
                                <m:r>
                                  <a:rPr lang="en-US" altLang="zh-CN" sz="2400" b="1" i="1">
                                    <a:solidFill>
                                      <a:schemeClr val="tx1"/>
                                    </a:solidFill>
                                    <a:latin typeface="Cambria Math"/>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r>
                                        <a:rPr lang="en-US" altLang="zh-CN" sz="2400" b="1" i="1">
                                          <a:solidFill>
                                            <a:schemeClr val="tx1"/>
                                          </a:solidFill>
                                          <a:latin typeface="Cambria Math"/>
                                        </a:rPr>
                                        <m:t>𝟐</m:t>
                                      </m:r>
                                    </m:e>
                                  </m:mr>
                                </m:m>
                              </m:e>
                            </m:mr>
                          </m:m>
                        </m:e>
                      </m:d>
                      <m:r>
                        <a:rPr lang="en-US" altLang="zh-CN" sz="2400" b="1" i="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𝟔</m:t>
                          </m:r>
                        </m:sub>
                      </m:sSub>
                      <m:r>
                        <a:rPr lang="en-US" altLang="zh-CN" sz="2400" b="1" i="1">
                          <a:solidFill>
                            <a:schemeClr val="tx1"/>
                          </a:solidFill>
                          <a:latin typeface="Cambria Math"/>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𝟑</m:t>
                                      </m:r>
                                    </m:e>
                                  </m:mr>
                                </m:m>
                              </m:e>
                            </m:mr>
                            <m:mr>
                              <m:e>
                                <m:r>
                                  <a:rPr lang="en-US" altLang="zh-CN" sz="2400" b="1" i="1">
                                    <a:solidFill>
                                      <a:schemeClr val="tx1"/>
                                    </a:solidFill>
                                    <a:latin typeface="Cambria Math"/>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a:rPr>
                                        <m:t>𝟐</m:t>
                                      </m:r>
                                    </m:e>
                                    <m:e>
                                      <m:r>
                                        <a:rPr lang="en-US" altLang="zh-CN" sz="2400" b="1" i="1">
                                          <a:solidFill>
                                            <a:schemeClr val="tx1"/>
                                          </a:solidFill>
                                          <a:latin typeface="Cambria Math"/>
                                        </a:rPr>
                                        <m:t>𝟏</m:t>
                                      </m:r>
                                    </m:e>
                                  </m:mr>
                                </m:m>
                              </m:e>
                            </m:mr>
                          </m:m>
                        </m:e>
                      </m:d>
                    </m:oMath>
                  </m:oMathPara>
                </a14:m>
                <a:endParaRPr lang="zh-CN" altLang="zh-CN" sz="2400" b="1" dirty="0">
                  <a:solidFill>
                    <a:schemeClr val="tx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552135" y="3140968"/>
                <a:ext cx="8039729" cy="2048766"/>
              </a:xfrm>
              <a:prstGeom prst="rect">
                <a:avLst/>
              </a:prstGeom>
              <a:blipFill>
                <a:blip r:embed="rId4"/>
                <a:stretch>
                  <a:fillRect l="-1214" t="-1786"/>
                </a:stretch>
              </a:blipFill>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571D28D-0DFF-4649-B844-8AD92FC2988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5603" name="Text Box 2"/>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endParaRPr lang="en-US" altLang="zh-CN" sz="5400" b="1">
              <a:solidFill>
                <a:schemeClr val="bg1"/>
              </a:solidFill>
              <a:latin typeface="宋体" pitchFamily="2" charset="-122"/>
              <a:ea typeface="宋体" pitchFamily="2" charset="-122"/>
            </a:endParaRPr>
          </a:p>
        </p:txBody>
      </p:sp>
      <p:pic>
        <p:nvPicPr>
          <p:cNvPr id="2560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47700" y="1844824"/>
            <a:ext cx="7920038" cy="1284006"/>
          </a:xfrm>
          <a:prstGeom prst="rect">
            <a:avLst/>
          </a:prstGeom>
          <a:solidFill>
            <a:schemeClr val="bg1"/>
          </a:solidFill>
        </p:spPr>
        <p:txBody>
          <a:bodyPr>
            <a:spAutoFit/>
          </a:bodyPr>
          <a:lstStyle/>
          <a:p>
            <a:pPr>
              <a:lnSpc>
                <a:spcPct val="150000"/>
              </a:lnSpc>
              <a:defRPr/>
            </a:pPr>
            <a:r>
              <a:rPr lang="en-US" altLang="zh-CN" sz="2800" b="1" dirty="0"/>
              <a:t>   </a:t>
            </a:r>
            <a:r>
              <a:rPr lang="zh-CN" altLang="zh-CN" sz="2800" b="1" dirty="0"/>
              <a:t>【例</a:t>
            </a:r>
            <a:r>
              <a:rPr lang="zh-CN" altLang="en-US" sz="2800" b="1" dirty="0"/>
              <a:t>题</a:t>
            </a:r>
            <a:r>
              <a:rPr lang="zh-CN" altLang="zh-CN" sz="2800" b="1" dirty="0"/>
              <a:t>】</a:t>
            </a:r>
            <a:r>
              <a:rPr lang="zh-CN" altLang="zh-CN" sz="2800" b="1" dirty="0">
                <a:solidFill>
                  <a:schemeClr val="tx1"/>
                </a:solidFill>
              </a:rPr>
              <a:t>等边三角形如</a:t>
            </a:r>
            <a:r>
              <a:rPr lang="zh-CN" altLang="en-US" sz="2800" b="1" dirty="0">
                <a:solidFill>
                  <a:schemeClr val="tx1"/>
                </a:solidFill>
              </a:rPr>
              <a:t>下</a:t>
            </a:r>
            <a:r>
              <a:rPr lang="zh-CN" altLang="zh-CN" sz="2800" b="1" dirty="0">
                <a:solidFill>
                  <a:schemeClr val="tx1"/>
                </a:solidFill>
              </a:rPr>
              <a:t>图所示，求经过旋转和翻转能使之重合的所有置换函数</a:t>
            </a:r>
            <a:r>
              <a:rPr lang="zh-CN" altLang="en-US" sz="2800" b="1" dirty="0">
                <a:solidFill>
                  <a:schemeClr val="tx1"/>
                </a:solidFill>
              </a:rPr>
              <a:t>。</a:t>
            </a:r>
            <a:endParaRPr lang="zh-CN" altLang="zh-CN" sz="2400" b="1" dirty="0">
              <a:solidFill>
                <a:schemeClr val="tx1"/>
              </a:solidFill>
            </a:endParaRPr>
          </a:p>
        </p:txBody>
      </p:sp>
      <p:pic>
        <p:nvPicPr>
          <p:cNvPr id="3" name="图片 2">
            <a:extLst>
              <a:ext uri="{FF2B5EF4-FFF2-40B4-BE49-F238E27FC236}">
                <a16:creationId xmlns:a16="http://schemas.microsoft.com/office/drawing/2014/main" id="{1FD0C1C7-8270-46C9-8E3B-BA884D312505}"/>
              </a:ext>
            </a:extLst>
          </p:cNvPr>
          <p:cNvPicPr>
            <a:picLocks noChangeAspect="1"/>
          </p:cNvPicPr>
          <p:nvPr/>
        </p:nvPicPr>
        <p:blipFill>
          <a:blip r:embed="rId3"/>
          <a:stretch>
            <a:fillRect/>
          </a:stretch>
        </p:blipFill>
        <p:spPr>
          <a:xfrm>
            <a:off x="2699792" y="3352951"/>
            <a:ext cx="3384376" cy="2848517"/>
          </a:xfrm>
          <a:prstGeom prst="rect">
            <a:avLst/>
          </a:prstGeom>
        </p:spPr>
      </p:pic>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E1D4119-074A-45D7-98C2-F8C5901317E1}"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6627" name="Text Box 2"/>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endParaRPr lang="en-US" altLang="zh-CN" sz="5400" b="1">
              <a:solidFill>
                <a:schemeClr val="bg1"/>
              </a:solidFill>
              <a:latin typeface="宋体" pitchFamily="2" charset="-122"/>
              <a:ea typeface="宋体" pitchFamily="2" charset="-122"/>
            </a:endParaRPr>
          </a:p>
        </p:txBody>
      </p:sp>
      <p:pic>
        <p:nvPicPr>
          <p:cNvPr id="26628"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TextBox 1"/>
              <p:cNvSpPr txBox="1"/>
              <p:nvPr/>
            </p:nvSpPr>
            <p:spPr>
              <a:xfrm>
                <a:off x="611560" y="2053576"/>
                <a:ext cx="7848226" cy="3791807"/>
              </a:xfrm>
              <a:prstGeom prst="rect">
                <a:avLst/>
              </a:prstGeom>
              <a:solidFill>
                <a:schemeClr val="bg1"/>
              </a:solidFill>
            </p:spPr>
            <p:txBody>
              <a:bodyPr wrap="square" rtlCol="0">
                <a:spAutoFit/>
              </a:bodyPr>
              <a:lstStyle/>
              <a:p>
                <a:pPr>
                  <a:lnSpc>
                    <a:spcPct val="120000"/>
                  </a:lnSpc>
                  <a:spcBef>
                    <a:spcPts val="600"/>
                  </a:spcBef>
                </a:pPr>
                <a:r>
                  <a:rPr lang="en-US" altLang="zh-CN" sz="2400" b="1" dirty="0"/>
                  <a:t>   </a:t>
                </a:r>
                <a:r>
                  <a:rPr lang="zh-CN" altLang="zh-CN" sz="2400" b="1" dirty="0"/>
                  <a:t>【分析】</a:t>
                </a:r>
                <a:r>
                  <a:rPr lang="zh-CN" altLang="zh-CN" sz="2400" b="1" dirty="0">
                    <a:solidFill>
                      <a:schemeClr val="tx1"/>
                    </a:solidFill>
                  </a:rPr>
                  <a:t>从图可以看出</a:t>
                </a:r>
                <a:r>
                  <a:rPr lang="en-US" altLang="zh-CN" sz="2400" b="1" dirty="0">
                    <a:solidFill>
                      <a:schemeClr val="tx1"/>
                    </a:solidFill>
                  </a:rPr>
                  <a:t>,</a:t>
                </a:r>
                <a:r>
                  <a:rPr lang="zh-CN" altLang="zh-CN" sz="2400" b="1" dirty="0">
                    <a:solidFill>
                      <a:schemeClr val="tx1"/>
                    </a:solidFill>
                  </a:rPr>
                  <a:t>当三角形绕中心</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反时针旋转</a:t>
                </a:r>
                <a14:m>
                  <m:oMath xmlns:m="http://schemas.openxmlformats.org/officeDocument/2006/math">
                    <m:sSup>
                      <m:sSupPr>
                        <m:ctrlPr>
                          <a:rPr lang="zh-CN" altLang="zh-CN" sz="2400" b="1" i="1" smtClean="0">
                            <a:solidFill>
                              <a:srgbClr val="0000FF"/>
                            </a:solidFill>
                            <a:latin typeface="Cambria Math" panose="02040503050406030204" pitchFamily="18" charset="0"/>
                          </a:rPr>
                        </m:ctrlPr>
                      </m:sSupPr>
                      <m:e>
                        <m:r>
                          <a:rPr lang="en-US" altLang="zh-CN" sz="2400" b="1" i="1">
                            <a:solidFill>
                              <a:srgbClr val="0000FF"/>
                            </a:solidFill>
                            <a:latin typeface="Cambria Math"/>
                          </a:rPr>
                          <m:t>𝟏𝟐𝟎</m:t>
                        </m:r>
                      </m:e>
                      <m:sup>
                        <m:r>
                          <a:rPr lang="en-US" altLang="zh-CN" sz="2400" b="1">
                            <a:solidFill>
                              <a:srgbClr val="0000FF"/>
                            </a:solidFill>
                            <a:latin typeface="Cambria Math"/>
                          </a:rPr>
                          <m:t>∘</m:t>
                        </m:r>
                      </m:sup>
                    </m:sSup>
                  </m:oMath>
                </a14:m>
                <a:r>
                  <a:rPr lang="en-US" altLang="zh-CN" sz="2400" b="1" dirty="0">
                    <a:solidFill>
                      <a:schemeClr val="tx1"/>
                    </a:solidFill>
                  </a:rPr>
                  <a:t>,</a:t>
                </a:r>
                <a14:m>
                  <m:oMath xmlns:m="http://schemas.openxmlformats.org/officeDocument/2006/math">
                    <m:r>
                      <a:rPr lang="en-US" altLang="zh-CN" sz="2400" b="1">
                        <a:solidFill>
                          <a:schemeClr val="tx1"/>
                        </a:solidFill>
                        <a:latin typeface="Cambria Math"/>
                      </a:rPr>
                      <m:t> </m:t>
                    </m:r>
                    <m:sSup>
                      <m:sSupPr>
                        <m:ctrlPr>
                          <a:rPr lang="zh-CN" altLang="zh-CN" sz="2400" b="1" i="1" smtClean="0">
                            <a:solidFill>
                              <a:srgbClr val="0000FF"/>
                            </a:solidFill>
                            <a:latin typeface="Cambria Math" panose="02040503050406030204" pitchFamily="18" charset="0"/>
                          </a:rPr>
                        </m:ctrlPr>
                      </m:sSupPr>
                      <m:e>
                        <m:r>
                          <a:rPr lang="en-US" altLang="zh-CN" sz="2400" b="1" i="1">
                            <a:solidFill>
                              <a:srgbClr val="0000FF"/>
                            </a:solidFill>
                            <a:latin typeface="Cambria Math"/>
                          </a:rPr>
                          <m:t>𝟐𝟒𝟎</m:t>
                        </m:r>
                      </m:e>
                      <m:sup>
                        <m:r>
                          <a:rPr lang="en-US" altLang="zh-CN" sz="2400" b="1">
                            <a:solidFill>
                              <a:srgbClr val="0000FF"/>
                            </a:solidFill>
                            <a:latin typeface="Cambria Math"/>
                          </a:rPr>
                          <m:t>∘</m:t>
                        </m:r>
                      </m:sup>
                    </m:sSup>
                  </m:oMath>
                </a14:m>
                <a:r>
                  <a:rPr lang="zh-CN" altLang="zh-CN" sz="2400" b="1" dirty="0">
                    <a:solidFill>
                      <a:schemeClr val="tx1"/>
                    </a:solidFill>
                  </a:rPr>
                  <a:t>和</a:t>
                </a:r>
                <a14:m>
                  <m:oMath xmlns:m="http://schemas.openxmlformats.org/officeDocument/2006/math">
                    <m:sSup>
                      <m:sSupPr>
                        <m:ctrlPr>
                          <a:rPr lang="zh-CN" altLang="zh-CN" sz="2400" b="1" i="1" smtClean="0">
                            <a:solidFill>
                              <a:srgbClr val="0000FF"/>
                            </a:solidFill>
                            <a:latin typeface="Cambria Math" panose="02040503050406030204" pitchFamily="18" charset="0"/>
                          </a:rPr>
                        </m:ctrlPr>
                      </m:sSupPr>
                      <m:e>
                        <m:r>
                          <a:rPr lang="en-US" altLang="zh-CN" sz="2400" b="1" i="1">
                            <a:solidFill>
                              <a:srgbClr val="0000FF"/>
                            </a:solidFill>
                            <a:latin typeface="Cambria Math"/>
                          </a:rPr>
                          <m:t>𝟑𝟔𝟎</m:t>
                        </m:r>
                      </m:e>
                      <m:sup>
                        <m:r>
                          <a:rPr lang="en-US" altLang="zh-CN" sz="2400" b="1">
                            <a:solidFill>
                              <a:srgbClr val="0000FF"/>
                            </a:solidFill>
                            <a:latin typeface="Cambria Math"/>
                          </a:rPr>
                          <m:t>∘</m:t>
                        </m:r>
                      </m:sup>
                    </m:sSup>
                  </m:oMath>
                </a14:m>
                <a:r>
                  <a:rPr lang="zh-CN" altLang="zh-CN" sz="2400" b="1" dirty="0">
                    <a:solidFill>
                      <a:schemeClr val="tx1"/>
                    </a:solidFill>
                  </a:rPr>
                  <a:t>后</a:t>
                </a:r>
                <a:r>
                  <a:rPr lang="en-US" altLang="zh-CN" sz="2400" b="1" dirty="0">
                    <a:solidFill>
                      <a:schemeClr val="tx1"/>
                    </a:solidFill>
                  </a:rPr>
                  <a:t>,</a:t>
                </a:r>
                <a:r>
                  <a:rPr lang="zh-CN" altLang="zh-CN" sz="2400" b="1" dirty="0">
                    <a:solidFill>
                      <a:schemeClr val="tx1"/>
                    </a:solidFill>
                  </a:rPr>
                  <a:t>所得到的</a:t>
                </a:r>
                <a:r>
                  <a:rPr lang="zh-CN" altLang="zh-CN" sz="2400" b="1" dirty="0">
                    <a:solidFill>
                      <a:srgbClr val="0000FF"/>
                    </a:solidFill>
                  </a:rPr>
                  <a:t>三角形与原三角形重合</a:t>
                </a:r>
                <a:r>
                  <a:rPr lang="en-US" altLang="zh-CN" sz="2400" b="1" dirty="0">
                    <a:solidFill>
                      <a:schemeClr val="tx1"/>
                    </a:solidFill>
                  </a:rPr>
                  <a:t>,</a:t>
                </a:r>
                <a:r>
                  <a:rPr lang="zh-CN" altLang="zh-CN" sz="2400" b="1" dirty="0">
                    <a:solidFill>
                      <a:schemeClr val="tx1"/>
                    </a:solidFill>
                  </a:rPr>
                  <a:t>三角形绕中心</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的旋转可以用置换函数表示</a:t>
                </a:r>
                <a:r>
                  <a:rPr lang="en-US" altLang="zh-CN" sz="2400" b="1" dirty="0">
                    <a:solidFill>
                      <a:schemeClr val="tx1"/>
                    </a:solidFill>
                  </a:rPr>
                  <a:t>,</a:t>
                </a:r>
              </a:p>
              <a:p>
                <a:pPr>
                  <a:lnSpc>
                    <a:spcPct val="120000"/>
                  </a:lnSpc>
                  <a:spcBef>
                    <a:spcPts val="600"/>
                  </a:spcBef>
                </a:pPr>
                <a:r>
                  <a:rPr lang="en-US" altLang="zh-CN" sz="2400" b="1" dirty="0">
                    <a:solidFill>
                      <a:schemeClr val="tx1"/>
                    </a:solidFill>
                  </a:rPr>
                  <a:t>   </a:t>
                </a:r>
                <a:r>
                  <a:rPr lang="zh-CN" altLang="zh-CN" sz="2400" b="1" dirty="0">
                    <a:solidFill>
                      <a:schemeClr val="tx1"/>
                    </a:solidFill>
                  </a:rPr>
                  <a:t>例如三角形绕中心</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反时针旋转</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𝟏𝟐𝟎</m:t>
                        </m:r>
                      </m:e>
                      <m:sup>
                        <m:r>
                          <a:rPr lang="en-US" altLang="zh-CN" sz="2400" b="1">
                            <a:solidFill>
                              <a:schemeClr val="tx1"/>
                            </a:solidFill>
                            <a:latin typeface="Cambria Math"/>
                          </a:rPr>
                          <m:t>∘</m:t>
                        </m:r>
                      </m:sup>
                    </m:sSup>
                  </m:oMath>
                </a14:m>
                <a:r>
                  <a:rPr lang="zh-CN" altLang="zh-CN" sz="2400" b="1" dirty="0">
                    <a:solidFill>
                      <a:schemeClr val="tx1"/>
                    </a:solidFill>
                  </a:rPr>
                  <a:t>对应的置换函数</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𝟏</m:t>
                        </m:r>
                      </m:sub>
                    </m:sSub>
                  </m:oMath>
                </a14:m>
                <a:r>
                  <a:rPr lang="zh-CN" altLang="zh-CN" sz="2400" b="1" dirty="0">
                    <a:solidFill>
                      <a:schemeClr val="tx1"/>
                    </a:solidFill>
                  </a:rPr>
                  <a:t>为</a:t>
                </a:r>
                <a:r>
                  <a:rPr lang="en-US" altLang="zh-CN" sz="2400" b="1" dirty="0">
                    <a:solidFill>
                      <a:schemeClr val="tx1"/>
                    </a:solidFill>
                  </a:rPr>
                  <a:t>:</a:t>
                </a:r>
                <a14:m>
                  <m:oMath xmlns:m="http://schemas.openxmlformats.org/officeDocument/2006/math">
                    <m:r>
                      <a:rPr lang="en-US" altLang="zh-CN" sz="2400" b="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𝟏</m:t>
                        </m:r>
                      </m:sub>
                    </m:sSub>
                    <m:r>
                      <a:rPr lang="en-US" altLang="zh-CN" sz="2400" b="1">
                        <a:solidFill>
                          <a:schemeClr val="tx1"/>
                        </a:solidFill>
                        <a:latin typeface="Cambria Math"/>
                      </a:rPr>
                      <m:t>(</m:t>
                    </m:r>
                    <m:r>
                      <a:rPr lang="en-US" altLang="zh-CN" sz="2400" b="1" i="1">
                        <a:solidFill>
                          <a:schemeClr val="tx1"/>
                        </a:solidFill>
                        <a:latin typeface="Cambria Math"/>
                      </a:rPr>
                      <m:t>𝟏</m:t>
                    </m:r>
                    <m:r>
                      <a:rPr lang="en-US" altLang="zh-CN" sz="2400" b="1">
                        <a:solidFill>
                          <a:schemeClr val="tx1"/>
                        </a:solidFill>
                        <a:latin typeface="Cambria Math"/>
                      </a:rPr>
                      <m:t>)=</m:t>
                    </m:r>
                  </m:oMath>
                </a14:m>
                <a:r>
                  <a:rPr lang="en-US" altLang="zh-CN" sz="2400" b="1" dirty="0">
                    <a:solidFill>
                      <a:schemeClr val="tx1"/>
                    </a:solidFill>
                  </a:rPr>
                  <a:t>2,</a:t>
                </a:r>
                <a14:m>
                  <m:oMath xmlns:m="http://schemas.openxmlformats.org/officeDocument/2006/math">
                    <m:r>
                      <a:rPr lang="en-US" altLang="zh-CN" sz="2400" b="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𝟏</m:t>
                        </m:r>
                      </m:sub>
                    </m:sSub>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oMath>
                </a14:m>
                <a:r>
                  <a:rPr lang="en-US" altLang="zh-CN" sz="2400" b="1" dirty="0">
                    <a:solidFill>
                      <a:schemeClr val="tx1"/>
                    </a:solidFill>
                  </a:rPr>
                  <a:t>3,</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𝑷</m:t>
                        </m:r>
                      </m:e>
                      <m:sub>
                        <m:r>
                          <a:rPr lang="en-US" altLang="zh-CN" sz="2400" b="1" i="1">
                            <a:solidFill>
                              <a:schemeClr val="tx1"/>
                            </a:solidFill>
                            <a:latin typeface="Cambria Math"/>
                          </a:rPr>
                          <m:t>𝟏</m:t>
                        </m:r>
                      </m:sub>
                    </m:sSub>
                    <m:r>
                      <a:rPr lang="en-US" altLang="zh-CN" sz="2400" b="1">
                        <a:solidFill>
                          <a:schemeClr val="tx1"/>
                        </a:solidFill>
                        <a:latin typeface="Cambria Math"/>
                      </a:rPr>
                      <m:t>(</m:t>
                    </m:r>
                    <m:r>
                      <a:rPr lang="en-US" altLang="zh-CN" sz="2400" b="1" i="1">
                        <a:solidFill>
                          <a:schemeClr val="tx1"/>
                        </a:solidFill>
                        <a:latin typeface="Cambria Math"/>
                      </a:rPr>
                      <m:t>𝟑</m:t>
                    </m:r>
                    <m:r>
                      <a:rPr lang="en-US" altLang="zh-CN" sz="2400" b="1">
                        <a:solidFill>
                          <a:schemeClr val="tx1"/>
                        </a:solidFill>
                        <a:latin typeface="Cambria Math"/>
                      </a:rPr>
                      <m:t>)=</m:t>
                    </m:r>
                  </m:oMath>
                </a14:m>
                <a:r>
                  <a:rPr lang="en-US" altLang="zh-CN" sz="2400" b="1" dirty="0">
                    <a:solidFill>
                      <a:schemeClr val="tx1"/>
                    </a:solidFill>
                  </a:rPr>
                  <a:t>1</a:t>
                </a:r>
                <a:r>
                  <a:rPr lang="zh-CN" altLang="zh-CN" sz="2400" b="1" dirty="0">
                    <a:solidFill>
                      <a:schemeClr val="tx1"/>
                    </a:solidFill>
                  </a:rPr>
                  <a:t>。同理可以得到其他旋转情况的置换函数。</a:t>
                </a:r>
              </a:p>
              <a:p>
                <a:pPr>
                  <a:lnSpc>
                    <a:spcPct val="120000"/>
                  </a:lnSpc>
                  <a:spcBef>
                    <a:spcPts val="600"/>
                  </a:spcBef>
                </a:pPr>
                <a:r>
                  <a:rPr lang="en-US" altLang="zh-CN" sz="2400" b="1" dirty="0">
                    <a:solidFill>
                      <a:schemeClr val="tx1"/>
                    </a:solidFill>
                  </a:rPr>
                  <a:t>   </a:t>
                </a:r>
                <a:r>
                  <a:rPr lang="zh-CN" altLang="zh-CN" sz="2400" b="1" dirty="0">
                    <a:solidFill>
                      <a:srgbClr val="0000FF"/>
                    </a:solidFill>
                  </a:rPr>
                  <a:t>另外</a:t>
                </a:r>
                <a:r>
                  <a:rPr lang="en-US" altLang="zh-CN" sz="2400" b="1" dirty="0">
                    <a:solidFill>
                      <a:srgbClr val="0000FF"/>
                    </a:solidFill>
                    <a:effectLst/>
                  </a:rPr>
                  <a:t>,</a:t>
                </a:r>
                <a:r>
                  <a:rPr lang="zh-CN" altLang="zh-CN" sz="2400" b="1" dirty="0">
                    <a:solidFill>
                      <a:srgbClr val="0000FF"/>
                    </a:solidFill>
                  </a:rPr>
                  <a:t>当三角形分别绕中线</a:t>
                </a:r>
                <a:r>
                  <a:rPr lang="en-US" altLang="zh-CN" sz="2400" b="1" dirty="0">
                    <a:solidFill>
                      <a:srgbClr val="0000FF"/>
                    </a:solidFill>
                    <a:effectLst/>
                  </a:rPr>
                  <a:t>1</a:t>
                </a:r>
                <a14:m>
                  <m:oMath xmlns:m="http://schemas.openxmlformats.org/officeDocument/2006/math">
                    <m:r>
                      <a:rPr lang="en-US" altLang="zh-CN" sz="2400" b="1" i="1">
                        <a:solidFill>
                          <a:srgbClr val="0000FF"/>
                        </a:solidFill>
                        <a:latin typeface="Cambria Math"/>
                      </a:rPr>
                      <m:t>𝑨</m:t>
                    </m:r>
                  </m:oMath>
                </a14:m>
                <a:r>
                  <a:rPr lang="en-US" altLang="zh-CN" sz="2400" b="1" dirty="0">
                    <a:solidFill>
                      <a:srgbClr val="0000FF"/>
                    </a:solidFill>
                    <a:effectLst/>
                  </a:rPr>
                  <a:t>,2</a:t>
                </a:r>
                <a14:m>
                  <m:oMath xmlns:m="http://schemas.openxmlformats.org/officeDocument/2006/math">
                    <m:r>
                      <a:rPr lang="en-US" altLang="zh-CN" sz="2400" b="1" i="1">
                        <a:solidFill>
                          <a:srgbClr val="0000FF"/>
                        </a:solidFill>
                        <a:latin typeface="Cambria Math"/>
                      </a:rPr>
                      <m:t>𝑨</m:t>
                    </m:r>
                  </m:oMath>
                </a14:m>
                <a:r>
                  <a:rPr lang="en-US" altLang="zh-CN" sz="2400" b="1" dirty="0">
                    <a:solidFill>
                      <a:srgbClr val="0000FF"/>
                    </a:solidFill>
                    <a:effectLst/>
                  </a:rPr>
                  <a:t>,3</a:t>
                </a:r>
                <a14:m>
                  <m:oMath xmlns:m="http://schemas.openxmlformats.org/officeDocument/2006/math">
                    <m:r>
                      <a:rPr lang="en-US" altLang="zh-CN" sz="2400" b="1" i="1">
                        <a:solidFill>
                          <a:srgbClr val="0000FF"/>
                        </a:solidFill>
                        <a:latin typeface="Cambria Math"/>
                      </a:rPr>
                      <m:t>𝑨</m:t>
                    </m:r>
                  </m:oMath>
                </a14:m>
                <a:r>
                  <a:rPr lang="zh-CN" altLang="zh-CN" sz="2400" b="1" dirty="0">
                    <a:solidFill>
                      <a:srgbClr val="0000FF"/>
                    </a:solidFill>
                  </a:rPr>
                  <a:t>翻转时，所得到的三角形仍然与原三角形重合</a:t>
                </a:r>
                <a:r>
                  <a:rPr lang="zh-CN" altLang="zh-CN" sz="2400" b="1" dirty="0">
                    <a:solidFill>
                      <a:schemeClr val="tx1"/>
                    </a:solidFill>
                  </a:rPr>
                  <a:t>。</a:t>
                </a:r>
                <a:r>
                  <a:rPr lang="zh-CN" altLang="zh-CN" sz="2400" b="1" dirty="0">
                    <a:solidFill>
                      <a:schemeClr val="tx1"/>
                    </a:solidFill>
                    <a:effectLst/>
                  </a:rPr>
                  <a:t> </a:t>
                </a:r>
                <a:endParaRPr lang="zh-CN" altLang="en-US" sz="2400" b="1" dirty="0">
                  <a:solidFill>
                    <a:schemeClr val="tx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11560" y="2053576"/>
                <a:ext cx="7848226" cy="3791807"/>
              </a:xfrm>
              <a:prstGeom prst="rect">
                <a:avLst/>
              </a:prstGeom>
              <a:blipFill>
                <a:blip r:embed="rId3"/>
                <a:stretch>
                  <a:fillRect l="-1165" t="-965" r="-932" b="-1125"/>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290B989-28F3-4945-A51D-72F323420BB6}"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7651" name="Text Box 2"/>
          <p:cNvSpPr txBox="1">
            <a:spLocks noChangeArrowheads="1"/>
          </p:cNvSpPr>
          <p:nvPr/>
        </p:nvSpPr>
        <p:spPr bwMode="auto">
          <a:xfrm>
            <a:off x="1258888" y="620713"/>
            <a:ext cx="669766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endParaRPr lang="en-US" altLang="zh-CN" sz="5400" b="1">
              <a:solidFill>
                <a:schemeClr val="bg1"/>
              </a:solidFill>
              <a:latin typeface="宋体" pitchFamily="2" charset="-122"/>
              <a:ea typeface="宋体" pitchFamily="2" charset="-122"/>
            </a:endParaRPr>
          </a:p>
        </p:txBody>
      </p:sp>
      <p:pic>
        <p:nvPicPr>
          <p:cNvPr id="2765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101013" y="547688"/>
            <a:ext cx="1028700" cy="1081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TextBox 1"/>
              <p:cNvSpPr txBox="1"/>
              <p:nvPr/>
            </p:nvSpPr>
            <p:spPr>
              <a:xfrm>
                <a:off x="827584" y="1916832"/>
                <a:ext cx="7787779" cy="3909275"/>
              </a:xfrm>
              <a:prstGeom prst="rect">
                <a:avLst/>
              </a:prstGeom>
              <a:solidFill>
                <a:schemeClr val="bg1"/>
              </a:solidFill>
            </p:spPr>
            <p:txBody>
              <a:bodyPr wrap="square" rtlCol="0">
                <a:spAutoFit/>
              </a:bodyPr>
              <a:lstStyle/>
              <a:p>
                <a:r>
                  <a:rPr lang="en-US" altLang="zh-CN" sz="2400" b="1" dirty="0"/>
                  <a:t>  </a:t>
                </a:r>
                <a:r>
                  <a:rPr lang="zh-CN" altLang="zh-CN" sz="2400" b="1" dirty="0"/>
                  <a:t>【解】</a:t>
                </a:r>
                <a:r>
                  <a:rPr lang="zh-CN" altLang="zh-CN" sz="2400" b="1" dirty="0">
                    <a:solidFill>
                      <a:schemeClr val="tx1"/>
                    </a:solidFill>
                  </a:rPr>
                  <a:t>能使重合的置换分为旋转和翻转两种情形，具体如下： </a:t>
                </a:r>
              </a:p>
              <a:p>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）三角形绕中心</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反时针旋转</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𝟏𝟐𝟎</m:t>
                        </m:r>
                      </m:e>
                      <m:sup>
                        <m:r>
                          <a:rPr lang="en-US" altLang="zh-CN" sz="2400" b="1">
                            <a:solidFill>
                              <a:schemeClr val="tx1"/>
                            </a:solidFill>
                            <a:latin typeface="Cambria Math"/>
                          </a:rPr>
                          <m:t>∘</m:t>
                        </m:r>
                      </m:sup>
                    </m:sSup>
                  </m:oMath>
                </a14:m>
                <a:r>
                  <a:rPr lang="en-US" altLang="zh-CN" sz="2400" b="1" dirty="0">
                    <a:solidFill>
                      <a:schemeClr val="tx1"/>
                    </a:solidFill>
                  </a:rPr>
                  <a:t>,</a:t>
                </a:r>
                <a14:m>
                  <m:oMath xmlns:m="http://schemas.openxmlformats.org/officeDocument/2006/math">
                    <m:r>
                      <a:rPr lang="en-US" altLang="zh-CN" sz="2400" b="1">
                        <a:solidFill>
                          <a:schemeClr val="tx1"/>
                        </a:solidFill>
                        <a:latin typeface="Cambria Math"/>
                      </a:rPr>
                      <m:t> </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𝟐𝟒𝟎</m:t>
                        </m:r>
                      </m:e>
                      <m:sup>
                        <m:r>
                          <a:rPr lang="en-US" altLang="zh-CN" sz="2400" b="1">
                            <a:solidFill>
                              <a:schemeClr val="tx1"/>
                            </a:solidFill>
                            <a:latin typeface="Cambria Math"/>
                          </a:rPr>
                          <m:t>∘</m:t>
                        </m:r>
                      </m:sup>
                    </m:sSup>
                  </m:oMath>
                </a14:m>
                <a:r>
                  <a:rPr lang="zh-CN" altLang="zh-CN" sz="2400" b="1" dirty="0">
                    <a:solidFill>
                      <a:schemeClr val="tx1"/>
                    </a:solidFill>
                  </a:rPr>
                  <a:t>和</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𝟑𝟔𝟎</m:t>
                        </m:r>
                      </m:e>
                      <m:sup>
                        <m:r>
                          <a:rPr lang="en-US" altLang="zh-CN" sz="2400" b="1">
                            <a:solidFill>
                              <a:schemeClr val="tx1"/>
                            </a:solidFill>
                            <a:latin typeface="Cambria Math"/>
                          </a:rPr>
                          <m:t>∘</m:t>
                        </m:r>
                      </m:sup>
                    </m:sSup>
                  </m:oMath>
                </a14:m>
                <a:r>
                  <a:rPr lang="zh-CN" altLang="zh-CN" sz="2400" b="1" dirty="0">
                    <a:solidFill>
                      <a:schemeClr val="tx1"/>
                    </a:solidFill>
                  </a:rPr>
                  <a:t>对应的</a:t>
                </a:r>
                <a:r>
                  <a:rPr lang="en-US" altLang="zh-CN" sz="2400" b="1" dirty="0">
                    <a:solidFill>
                      <a:schemeClr val="tx1"/>
                    </a:solidFill>
                  </a:rPr>
                  <a:t>3</a:t>
                </a:r>
                <a:r>
                  <a:rPr lang="zh-CN" altLang="zh-CN" sz="2400" b="1" dirty="0">
                    <a:solidFill>
                      <a:schemeClr val="tx1"/>
                    </a:solidFill>
                  </a:rPr>
                  <a:t>个置换：</a:t>
                </a:r>
              </a:p>
              <a:p>
                <a14:m>
                  <m:oMath xmlns:m="http://schemas.openxmlformats.org/officeDocument/2006/math">
                    <m:sSub>
                      <m:sSubPr>
                        <m:ctrlPr>
                          <a:rPr lang="zh-CN" altLang="zh-CN" sz="2400" b="1" i="1" smtClean="0">
                            <a:solidFill>
                              <a:srgbClr val="0000FF"/>
                            </a:solidFill>
                            <a:latin typeface="Cambria Math" panose="02040503050406030204" pitchFamily="18" charset="0"/>
                          </a:rPr>
                        </m:ctrlPr>
                      </m:sSubPr>
                      <m:e>
                        <m:r>
                          <a:rPr lang="en-US" altLang="zh-CN" sz="2400" b="1" i="1">
                            <a:solidFill>
                              <a:srgbClr val="0000FF"/>
                            </a:solidFill>
                            <a:latin typeface="Cambria Math"/>
                          </a:rPr>
                          <m:t>𝑷</m:t>
                        </m:r>
                      </m:e>
                      <m:sub>
                        <m:r>
                          <a:rPr lang="en-US" altLang="zh-CN" sz="2400" b="1" i="1">
                            <a:solidFill>
                              <a:srgbClr val="0000FF"/>
                            </a:solidFill>
                            <a:latin typeface="Cambria Math"/>
                          </a:rPr>
                          <m:t>𝟏</m:t>
                        </m:r>
                      </m:sub>
                    </m:sSub>
                    <m:r>
                      <a:rPr lang="en-US" altLang="zh-CN" sz="2400" b="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3"/>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r>
                                <a:rPr lang="en-US" altLang="zh-CN" sz="2400" b="1" i="1">
                                  <a:solidFill>
                                    <a:srgbClr val="0000FF"/>
                                  </a:solidFill>
                                  <a:latin typeface="Cambria Math"/>
                                </a:rPr>
                                <m:t>𝟐</m:t>
                              </m:r>
                            </m:e>
                            <m:e>
                              <m:r>
                                <a:rPr lang="en-US" altLang="zh-CN" sz="2400" b="1" i="1">
                                  <a:solidFill>
                                    <a:srgbClr val="0000FF"/>
                                  </a:solidFill>
                                  <a:latin typeface="Cambria Math"/>
                                </a:rPr>
                                <m:t>𝟑</m:t>
                              </m:r>
                            </m:e>
                          </m:mr>
                          <m:mr>
                            <m:e>
                              <m:r>
                                <a:rPr lang="en-US" altLang="zh-CN" sz="2400" b="1" i="1">
                                  <a:solidFill>
                                    <a:srgbClr val="0000FF"/>
                                  </a:solidFill>
                                  <a:latin typeface="Cambria Math"/>
                                </a:rPr>
                                <m:t>𝟐</m:t>
                              </m:r>
                            </m:e>
                            <m:e>
                              <m:r>
                                <a:rPr lang="en-US" altLang="zh-CN" sz="2400" b="1" i="1">
                                  <a:solidFill>
                                    <a:srgbClr val="0000FF"/>
                                  </a:solidFill>
                                  <a:latin typeface="Cambria Math"/>
                                </a:rPr>
                                <m:t>𝟑</m:t>
                              </m:r>
                            </m:e>
                            <m:e>
                              <m:r>
                                <a:rPr lang="en-US" altLang="zh-CN" sz="2400" b="1" i="1">
                                  <a:solidFill>
                                    <a:srgbClr val="0000FF"/>
                                  </a:solidFill>
                                  <a:latin typeface="Cambria Math"/>
                                </a:rPr>
                                <m:t>𝟏</m:t>
                              </m:r>
                            </m:e>
                          </m:mr>
                        </m:m>
                      </m:e>
                    </m:d>
                  </m:oMath>
                </a14:m>
                <a:r>
                  <a:rPr lang="en-US" altLang="zh-CN" sz="2400" b="1" dirty="0">
                    <a:solidFill>
                      <a:srgbClr val="0000FF"/>
                    </a:solidFill>
                  </a:rPr>
                  <a:t>, </a:t>
                </a:r>
                <a14:m>
                  <m:oMath xmlns:m="http://schemas.openxmlformats.org/officeDocument/2006/math">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𝑷</m:t>
                        </m:r>
                      </m:e>
                      <m:sub>
                        <m:r>
                          <a:rPr lang="en-US" altLang="zh-CN" sz="2400" b="1" i="1">
                            <a:solidFill>
                              <a:srgbClr val="0000FF"/>
                            </a:solidFill>
                            <a:latin typeface="Cambria Math"/>
                          </a:rPr>
                          <m:t>𝟐</m:t>
                        </m:r>
                      </m:sub>
                    </m:sSub>
                    <m:r>
                      <a:rPr lang="en-US" altLang="zh-CN" sz="2400" b="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3"/>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r>
                                <a:rPr lang="en-US" altLang="zh-CN" sz="2400" b="1" i="1">
                                  <a:solidFill>
                                    <a:srgbClr val="0000FF"/>
                                  </a:solidFill>
                                  <a:latin typeface="Cambria Math"/>
                                </a:rPr>
                                <m:t>𝟐</m:t>
                              </m:r>
                            </m:e>
                            <m:e>
                              <m:r>
                                <a:rPr lang="en-US" altLang="zh-CN" sz="2400" b="1" i="1">
                                  <a:solidFill>
                                    <a:srgbClr val="0000FF"/>
                                  </a:solidFill>
                                  <a:latin typeface="Cambria Math"/>
                                </a:rPr>
                                <m:t>𝟑</m:t>
                              </m:r>
                            </m:e>
                          </m:mr>
                          <m:mr>
                            <m:e>
                              <m:r>
                                <a:rPr lang="en-US" altLang="zh-CN" sz="2400" b="1" i="1">
                                  <a:solidFill>
                                    <a:srgbClr val="0000FF"/>
                                  </a:solidFill>
                                  <a:latin typeface="Cambria Math"/>
                                </a:rPr>
                                <m:t>𝟑</m:t>
                              </m:r>
                            </m:e>
                            <m:e>
                              <m:r>
                                <a:rPr lang="en-US" altLang="zh-CN" sz="2400" b="1" i="1">
                                  <a:solidFill>
                                    <a:srgbClr val="0000FF"/>
                                  </a:solidFill>
                                  <a:latin typeface="Cambria Math"/>
                                </a:rPr>
                                <m:t>𝟏</m:t>
                              </m:r>
                            </m:e>
                            <m:e>
                              <m:r>
                                <a:rPr lang="en-US" altLang="zh-CN" sz="2400" b="1" i="1">
                                  <a:solidFill>
                                    <a:srgbClr val="0000FF"/>
                                  </a:solidFill>
                                  <a:latin typeface="Cambria Math"/>
                                </a:rPr>
                                <m:t>𝟐</m:t>
                              </m:r>
                            </m:e>
                          </m:mr>
                        </m:m>
                      </m:e>
                    </m:d>
                  </m:oMath>
                </a14:m>
                <a:r>
                  <a:rPr lang="en-US" altLang="zh-CN" sz="2400" b="1" dirty="0">
                    <a:solidFill>
                      <a:srgbClr val="0000FF"/>
                    </a:solidFill>
                  </a:rPr>
                  <a:t>, </a:t>
                </a:r>
                <a14:m>
                  <m:oMath xmlns:m="http://schemas.openxmlformats.org/officeDocument/2006/math">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𝑷</m:t>
                        </m:r>
                      </m:e>
                      <m:sub>
                        <m:r>
                          <a:rPr lang="en-US" altLang="zh-CN" sz="2400" b="1" i="1">
                            <a:solidFill>
                              <a:srgbClr val="0000FF"/>
                            </a:solidFill>
                            <a:latin typeface="Cambria Math"/>
                          </a:rPr>
                          <m:t>𝟑</m:t>
                        </m:r>
                      </m:sub>
                    </m:sSub>
                    <m:r>
                      <a:rPr lang="en-US" altLang="zh-CN" sz="2400" b="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3"/>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r>
                                <a:rPr lang="en-US" altLang="zh-CN" sz="2400" b="1" i="1">
                                  <a:solidFill>
                                    <a:srgbClr val="0000FF"/>
                                  </a:solidFill>
                                  <a:latin typeface="Cambria Math"/>
                                </a:rPr>
                                <m:t>𝟐</m:t>
                              </m:r>
                            </m:e>
                            <m:e>
                              <m:r>
                                <a:rPr lang="en-US" altLang="zh-CN" sz="2400" b="1" i="1">
                                  <a:solidFill>
                                    <a:srgbClr val="0000FF"/>
                                  </a:solidFill>
                                  <a:latin typeface="Cambria Math"/>
                                </a:rPr>
                                <m:t>𝟑</m:t>
                              </m:r>
                            </m:e>
                          </m:mr>
                          <m:mr>
                            <m:e>
                              <m:r>
                                <a:rPr lang="en-US" altLang="zh-CN" sz="2400" b="1" i="1">
                                  <a:solidFill>
                                    <a:srgbClr val="0000FF"/>
                                  </a:solidFill>
                                  <a:latin typeface="Cambria Math"/>
                                </a:rPr>
                                <m:t>𝟏</m:t>
                              </m:r>
                            </m:e>
                            <m:e>
                              <m:r>
                                <a:rPr lang="en-US" altLang="zh-CN" sz="2400" b="1" i="1">
                                  <a:solidFill>
                                    <a:srgbClr val="0000FF"/>
                                  </a:solidFill>
                                  <a:latin typeface="Cambria Math"/>
                                </a:rPr>
                                <m:t>𝟐</m:t>
                              </m:r>
                            </m:e>
                            <m:e>
                              <m:r>
                                <a:rPr lang="en-US" altLang="zh-CN" sz="2400" b="1" i="1">
                                  <a:solidFill>
                                    <a:srgbClr val="0000FF"/>
                                  </a:solidFill>
                                  <a:latin typeface="Cambria Math"/>
                                </a:rPr>
                                <m:t>𝟑</m:t>
                              </m:r>
                            </m:e>
                          </m:mr>
                        </m:m>
                      </m:e>
                    </m:d>
                  </m:oMath>
                </a14:m>
                <a:endParaRPr lang="zh-CN" altLang="zh-CN" sz="2400" b="1" dirty="0">
                  <a:solidFill>
                    <a:schemeClr val="tx1"/>
                  </a:solidFill>
                </a:endParaRPr>
              </a:p>
              <a:p>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）三角形分别绕中线</a:t>
                </a:r>
                <a:r>
                  <a:rPr lang="en-US" altLang="zh-CN" sz="2400" b="1" dirty="0">
                    <a:solidFill>
                      <a:schemeClr val="tx1"/>
                    </a:solidFill>
                  </a:rPr>
                  <a:t>1</a:t>
                </a:r>
                <a14:m>
                  <m:oMath xmlns:m="http://schemas.openxmlformats.org/officeDocument/2006/math">
                    <m:r>
                      <a:rPr lang="en-US" altLang="zh-CN" sz="2400" b="1" i="1">
                        <a:solidFill>
                          <a:schemeClr val="tx1"/>
                        </a:solidFill>
                        <a:latin typeface="Cambria Math"/>
                      </a:rPr>
                      <m:t>𝑨</m:t>
                    </m:r>
                  </m:oMath>
                </a14:m>
                <a:r>
                  <a:rPr lang="en-US" altLang="zh-CN" sz="2400" b="1" dirty="0">
                    <a:solidFill>
                      <a:schemeClr val="tx1"/>
                    </a:solidFill>
                  </a:rPr>
                  <a:t>,2</a:t>
                </a:r>
                <a14:m>
                  <m:oMath xmlns:m="http://schemas.openxmlformats.org/officeDocument/2006/math">
                    <m:r>
                      <a:rPr lang="en-US" altLang="zh-CN" sz="2400" b="1" i="1">
                        <a:solidFill>
                          <a:schemeClr val="tx1"/>
                        </a:solidFill>
                        <a:latin typeface="Cambria Math"/>
                      </a:rPr>
                      <m:t>𝑨</m:t>
                    </m:r>
                  </m:oMath>
                </a14:m>
                <a:r>
                  <a:rPr lang="en-US" altLang="zh-CN" sz="2400" b="1" dirty="0">
                    <a:solidFill>
                      <a:schemeClr val="tx1"/>
                    </a:solidFill>
                  </a:rPr>
                  <a:t>,3</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翻转时得到的三个置换：</a:t>
                </a:r>
              </a:p>
              <a:p>
                <a14:m>
                  <m:oMath xmlns:m="http://schemas.openxmlformats.org/officeDocument/2006/math">
                    <m:sSub>
                      <m:sSubPr>
                        <m:ctrlPr>
                          <a:rPr lang="zh-CN" altLang="zh-CN" sz="2400" b="1" i="1" smtClean="0">
                            <a:solidFill>
                              <a:srgbClr val="0000FF"/>
                            </a:solidFill>
                            <a:latin typeface="Cambria Math" panose="02040503050406030204" pitchFamily="18" charset="0"/>
                          </a:rPr>
                        </m:ctrlPr>
                      </m:sSubPr>
                      <m:e>
                        <m:r>
                          <a:rPr lang="en-US" altLang="zh-CN" sz="2400" b="1" i="1">
                            <a:solidFill>
                              <a:srgbClr val="0000FF"/>
                            </a:solidFill>
                            <a:latin typeface="Cambria Math"/>
                          </a:rPr>
                          <m:t>𝑷</m:t>
                        </m:r>
                      </m:e>
                      <m:sub>
                        <m:r>
                          <a:rPr lang="en-US" altLang="zh-CN" sz="2400" b="1" i="1">
                            <a:solidFill>
                              <a:srgbClr val="0000FF"/>
                            </a:solidFill>
                            <a:latin typeface="Cambria Math"/>
                          </a:rPr>
                          <m:t>𝟒</m:t>
                        </m:r>
                      </m:sub>
                    </m:sSub>
                    <m:r>
                      <a:rPr lang="en-US" altLang="zh-CN" sz="2400" b="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3"/>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r>
                                <a:rPr lang="en-US" altLang="zh-CN" sz="2400" b="1" i="1">
                                  <a:solidFill>
                                    <a:srgbClr val="0000FF"/>
                                  </a:solidFill>
                                  <a:latin typeface="Cambria Math"/>
                                </a:rPr>
                                <m:t>𝟐</m:t>
                              </m:r>
                            </m:e>
                            <m:e>
                              <m:r>
                                <a:rPr lang="en-US" altLang="zh-CN" sz="2400" b="1" i="1">
                                  <a:solidFill>
                                    <a:srgbClr val="0000FF"/>
                                  </a:solidFill>
                                  <a:latin typeface="Cambria Math"/>
                                </a:rPr>
                                <m:t>𝟑</m:t>
                              </m:r>
                            </m:e>
                          </m:mr>
                          <m:mr>
                            <m:e>
                              <m:r>
                                <a:rPr lang="en-US" altLang="zh-CN" sz="2400" b="1" i="1">
                                  <a:solidFill>
                                    <a:srgbClr val="0000FF"/>
                                  </a:solidFill>
                                  <a:latin typeface="Cambria Math"/>
                                </a:rPr>
                                <m:t>𝟏</m:t>
                              </m:r>
                            </m:e>
                            <m:e>
                              <m:r>
                                <a:rPr lang="en-US" altLang="zh-CN" sz="2400" b="1" i="1">
                                  <a:solidFill>
                                    <a:srgbClr val="0000FF"/>
                                  </a:solidFill>
                                  <a:latin typeface="Cambria Math"/>
                                </a:rPr>
                                <m:t>𝟑</m:t>
                              </m:r>
                            </m:e>
                            <m:e>
                              <m:r>
                                <a:rPr lang="en-US" altLang="zh-CN" sz="2400" b="1" i="1">
                                  <a:solidFill>
                                    <a:srgbClr val="0000FF"/>
                                  </a:solidFill>
                                  <a:latin typeface="Cambria Math"/>
                                </a:rPr>
                                <m:t>𝟐</m:t>
                              </m:r>
                            </m:e>
                          </m:mr>
                        </m:m>
                      </m:e>
                    </m:d>
                  </m:oMath>
                </a14:m>
                <a:r>
                  <a:rPr lang="en-US" altLang="zh-CN" sz="2400" b="1" dirty="0">
                    <a:solidFill>
                      <a:srgbClr val="0000FF"/>
                    </a:solidFill>
                  </a:rPr>
                  <a:t>, </a:t>
                </a:r>
                <a14:m>
                  <m:oMath xmlns:m="http://schemas.openxmlformats.org/officeDocument/2006/math">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𝑷</m:t>
                        </m:r>
                      </m:e>
                      <m:sub>
                        <m:r>
                          <a:rPr lang="en-US" altLang="zh-CN" sz="2400" b="1" i="1">
                            <a:solidFill>
                              <a:srgbClr val="0000FF"/>
                            </a:solidFill>
                            <a:latin typeface="Cambria Math"/>
                          </a:rPr>
                          <m:t>𝟓</m:t>
                        </m:r>
                      </m:sub>
                    </m:sSub>
                    <m:r>
                      <a:rPr lang="en-US" altLang="zh-CN" sz="2400" b="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3"/>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r>
                                <a:rPr lang="en-US" altLang="zh-CN" sz="2400" b="1" i="1">
                                  <a:solidFill>
                                    <a:srgbClr val="0000FF"/>
                                  </a:solidFill>
                                  <a:latin typeface="Cambria Math"/>
                                </a:rPr>
                                <m:t>𝟐</m:t>
                              </m:r>
                            </m:e>
                            <m:e>
                              <m:r>
                                <a:rPr lang="en-US" altLang="zh-CN" sz="2400" b="1" i="1">
                                  <a:solidFill>
                                    <a:srgbClr val="0000FF"/>
                                  </a:solidFill>
                                  <a:latin typeface="Cambria Math"/>
                                </a:rPr>
                                <m:t>𝟑</m:t>
                              </m:r>
                            </m:e>
                          </m:mr>
                          <m:mr>
                            <m:e>
                              <m:r>
                                <a:rPr lang="en-US" altLang="zh-CN" sz="2400" b="1" i="1">
                                  <a:solidFill>
                                    <a:srgbClr val="0000FF"/>
                                  </a:solidFill>
                                  <a:latin typeface="Cambria Math"/>
                                </a:rPr>
                                <m:t>𝟑</m:t>
                              </m:r>
                            </m:e>
                            <m:e>
                              <m:r>
                                <a:rPr lang="en-US" altLang="zh-CN" sz="2400" b="1" i="1">
                                  <a:solidFill>
                                    <a:srgbClr val="0000FF"/>
                                  </a:solidFill>
                                  <a:latin typeface="Cambria Math"/>
                                </a:rPr>
                                <m:t>𝟐</m:t>
                              </m:r>
                            </m:e>
                            <m:e>
                              <m:r>
                                <a:rPr lang="en-US" altLang="zh-CN" sz="2400" b="1" i="1">
                                  <a:solidFill>
                                    <a:srgbClr val="0000FF"/>
                                  </a:solidFill>
                                  <a:latin typeface="Cambria Math"/>
                                </a:rPr>
                                <m:t>𝟏</m:t>
                              </m:r>
                            </m:e>
                          </m:mr>
                        </m:m>
                      </m:e>
                    </m:d>
                  </m:oMath>
                </a14:m>
                <a:r>
                  <a:rPr lang="en-US" altLang="zh-CN" sz="2400" b="1" dirty="0">
                    <a:solidFill>
                      <a:srgbClr val="0000FF"/>
                    </a:solidFill>
                  </a:rPr>
                  <a:t>, </a:t>
                </a:r>
                <a14:m>
                  <m:oMath xmlns:m="http://schemas.openxmlformats.org/officeDocument/2006/math">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𝑷</m:t>
                        </m:r>
                      </m:e>
                      <m:sub>
                        <m:r>
                          <a:rPr lang="en-US" altLang="zh-CN" sz="2400" b="1" i="1">
                            <a:solidFill>
                              <a:srgbClr val="0000FF"/>
                            </a:solidFill>
                            <a:latin typeface="Cambria Math"/>
                          </a:rPr>
                          <m:t>𝟔</m:t>
                        </m:r>
                      </m:sub>
                    </m:sSub>
                    <m:r>
                      <a:rPr lang="en-US" altLang="zh-CN" sz="2400" b="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3"/>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r>
                                <a:rPr lang="en-US" altLang="zh-CN" sz="2400" b="1" i="1">
                                  <a:solidFill>
                                    <a:srgbClr val="0000FF"/>
                                  </a:solidFill>
                                  <a:latin typeface="Cambria Math"/>
                                </a:rPr>
                                <m:t>𝟐</m:t>
                              </m:r>
                            </m:e>
                            <m:e>
                              <m:r>
                                <a:rPr lang="en-US" altLang="zh-CN" sz="2400" b="1" i="1">
                                  <a:solidFill>
                                    <a:srgbClr val="0000FF"/>
                                  </a:solidFill>
                                  <a:latin typeface="Cambria Math"/>
                                </a:rPr>
                                <m:t>𝟑</m:t>
                              </m:r>
                            </m:e>
                          </m:mr>
                          <m:mr>
                            <m:e>
                              <m:r>
                                <a:rPr lang="en-US" altLang="zh-CN" sz="2400" b="1" i="1">
                                  <a:solidFill>
                                    <a:srgbClr val="0000FF"/>
                                  </a:solidFill>
                                  <a:latin typeface="Cambria Math"/>
                                </a:rPr>
                                <m:t>𝟐</m:t>
                              </m:r>
                            </m:e>
                            <m:e>
                              <m:r>
                                <a:rPr lang="en-US" altLang="zh-CN" sz="2400" b="1" i="1">
                                  <a:solidFill>
                                    <a:srgbClr val="0000FF"/>
                                  </a:solidFill>
                                  <a:latin typeface="Cambria Math"/>
                                </a:rPr>
                                <m:t>𝟏</m:t>
                              </m:r>
                            </m:e>
                            <m:e>
                              <m:r>
                                <a:rPr lang="en-US" altLang="zh-CN" sz="2400" b="1" i="1">
                                  <a:solidFill>
                                    <a:srgbClr val="0000FF"/>
                                  </a:solidFill>
                                  <a:latin typeface="Cambria Math"/>
                                </a:rPr>
                                <m:t>𝟑</m:t>
                              </m:r>
                            </m:e>
                          </m:mr>
                        </m:m>
                      </m:e>
                    </m:d>
                  </m:oMath>
                </a14:m>
                <a:endParaRPr lang="zh-CN" altLang="zh-CN" sz="2400" b="1" dirty="0">
                  <a:solidFill>
                    <a:schemeClr val="tx1"/>
                  </a:solidFill>
                </a:endParaRPr>
              </a:p>
              <a:p>
                <a:r>
                  <a:rPr lang="zh-CN" altLang="zh-CN" sz="2400" b="1" dirty="0">
                    <a:solidFill>
                      <a:schemeClr val="tx1"/>
                    </a:solidFill>
                  </a:rPr>
                  <a:t>以上得到的</a:t>
                </a:r>
                <a:r>
                  <a:rPr lang="en-US" altLang="zh-CN" sz="2400" b="1" dirty="0">
                    <a:solidFill>
                      <a:schemeClr val="tx1"/>
                    </a:solidFill>
                  </a:rPr>
                  <a:t>6</a:t>
                </a:r>
                <a:r>
                  <a:rPr lang="zh-CN" altLang="zh-CN" sz="2400" b="1" dirty="0">
                    <a:solidFill>
                      <a:schemeClr val="tx1"/>
                    </a:solidFill>
                  </a:rPr>
                  <a:t>个置换函数即为所求。</a:t>
                </a:r>
                <a:endParaRPr lang="zh-CN" altLang="en-US" sz="2400" b="1" dirty="0">
                  <a:solidFill>
                    <a:schemeClr val="tx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827584" y="1916832"/>
                <a:ext cx="7787779" cy="3909275"/>
              </a:xfrm>
              <a:prstGeom prst="rect">
                <a:avLst/>
              </a:prstGeom>
              <a:blipFill>
                <a:blip r:embed="rId3"/>
                <a:stretch>
                  <a:fillRect l="-1253" t="-1246" b="-2492"/>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CD8AC4DF-1724-4BF6-A25A-DF96F88AF5AC}"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2867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2867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2BA11A5E-1424-48C8-B434-E3B41341A9D4}" type="slidenum">
              <a:rPr lang="en-US" altLang="zh-CN" sz="1400" b="1">
                <a:latin typeface="Times New Roman" pitchFamily="18" charset="0"/>
                <a:ea typeface="宋体" pitchFamily="2" charset="-122"/>
              </a:rPr>
              <a:pPr algn="r" eaLnBrk="1" hangingPunct="1"/>
              <a:t>13</a:t>
            </a:fld>
            <a:endParaRPr lang="en-US" altLang="zh-CN" sz="1400" b="1">
              <a:latin typeface="Times New Roman" pitchFamily="18" charset="0"/>
              <a:ea typeface="宋体" pitchFamily="2" charset="-122"/>
            </a:endParaRPr>
          </a:p>
        </p:txBody>
      </p:sp>
      <p:sp>
        <p:nvSpPr>
          <p:cNvPr id="28678" name="Rectangle 3"/>
          <p:cNvSpPr>
            <a:spLocks noGrp="1" noChangeArrowheads="1"/>
          </p:cNvSpPr>
          <p:nvPr>
            <p:ph type="body" idx="4294967295"/>
          </p:nvPr>
        </p:nvSpPr>
        <p:spPr>
          <a:xfrm>
            <a:off x="2619113" y="2764539"/>
            <a:ext cx="5545137" cy="2592388"/>
          </a:xfrm>
          <a:noFill/>
        </p:spPr>
        <p:txBody>
          <a:bodyPr lIns="92075" tIns="46038" rIns="92075" bIns="46038"/>
          <a:lstStyle/>
          <a:p>
            <a:pPr eaLnBrk="1" hangingPunct="1">
              <a:lnSpc>
                <a:spcPct val="155000"/>
              </a:lnSpc>
              <a:buFont typeface="Wingdings" pitchFamily="2" charset="2"/>
              <a:buChar char=""/>
            </a:pPr>
            <a:r>
              <a:rPr lang="zh-CN" altLang="en-US" sz="3200" b="1">
                <a:effectLst/>
                <a:latin typeface="黑体" pitchFamily="49" charset="-122"/>
                <a:ea typeface="黑体" pitchFamily="49" charset="-122"/>
              </a:rPr>
              <a:t> 置换函数的概念</a:t>
            </a:r>
            <a:endParaRPr lang="zh-CN" altLang="en-US" sz="900" b="1">
              <a:effectLst/>
              <a:latin typeface="黑体" pitchFamily="49" charset="-122"/>
              <a:ea typeface="黑体" pitchFamily="49" charset="-122"/>
            </a:endParaRPr>
          </a:p>
          <a:p>
            <a:pPr eaLnBrk="1" hangingPunct="1">
              <a:lnSpc>
                <a:spcPct val="155000"/>
              </a:lnSpc>
              <a:buFont typeface="Wingdings" pitchFamily="2" charset="2"/>
              <a:buChar char=""/>
            </a:pPr>
            <a:r>
              <a:rPr lang="zh-CN" altLang="en-US" sz="3200" b="1">
                <a:solidFill>
                  <a:srgbClr val="0000FF"/>
                </a:solidFill>
                <a:effectLst/>
                <a:latin typeface="黑体" pitchFamily="49" charset="-122"/>
                <a:ea typeface="黑体" pitchFamily="49" charset="-122"/>
              </a:rPr>
              <a:t> 置换函数的运算</a:t>
            </a:r>
            <a:endParaRPr lang="en-US" altLang="zh-CN" sz="3200" b="1">
              <a:solidFill>
                <a:srgbClr val="0000FF"/>
              </a:solidFill>
              <a:effectLst/>
              <a:latin typeface="黑体" pitchFamily="49" charset="-122"/>
              <a:ea typeface="黑体" pitchFamily="49" charset="-122"/>
            </a:endParaRPr>
          </a:p>
          <a:p>
            <a:pPr eaLnBrk="1" hangingPunct="1">
              <a:lnSpc>
                <a:spcPct val="155000"/>
              </a:lnSpc>
              <a:buFont typeface="Wingdings" pitchFamily="2" charset="2"/>
              <a:buChar char="4"/>
            </a:pPr>
            <a:r>
              <a:rPr lang="zh-CN" altLang="en-US" sz="3200" b="1">
                <a:effectLst/>
                <a:latin typeface="黑体" pitchFamily="49" charset="-122"/>
                <a:ea typeface="黑体" pitchFamily="49" charset="-122"/>
              </a:rPr>
              <a:t> 置换的轮换分解</a:t>
            </a:r>
          </a:p>
        </p:txBody>
      </p:sp>
      <p:pic>
        <p:nvPicPr>
          <p:cNvPr id="28679"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
            <a:extLst>
              <a:ext uri="{FF2B5EF4-FFF2-40B4-BE49-F238E27FC236}">
                <a16:creationId xmlns:a16="http://schemas.microsoft.com/office/drawing/2014/main" id="{321BD1A3-589E-4FB1-9BAE-81DBBED33047}"/>
              </a:ext>
            </a:extLst>
          </p:cNvPr>
          <p:cNvSpPr txBox="1">
            <a:spLocks noChangeArrowheads="1"/>
          </p:cNvSpPr>
          <p:nvPr/>
        </p:nvSpPr>
        <p:spPr bwMode="auto">
          <a:xfrm>
            <a:off x="1371600" y="908720"/>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48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有限集的置换函数</a:t>
            </a:r>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E36C302-7D8C-4DAC-AE17-93C905F5AF0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2969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2970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83ADE2EE-3682-49A1-B3D3-CAB4F6F09405}" type="slidenum">
              <a:rPr lang="en-US" altLang="zh-CN" sz="1400" b="1">
                <a:latin typeface="Times New Roman" pitchFamily="18" charset="0"/>
                <a:ea typeface="宋体" pitchFamily="2" charset="-122"/>
              </a:rPr>
              <a:pPr algn="r" eaLnBrk="1" hangingPunct="1"/>
              <a:t>14</a:t>
            </a:fld>
            <a:endParaRPr lang="en-US" altLang="zh-CN" sz="1400" b="1">
              <a:latin typeface="Times New Roman" pitchFamily="18" charset="0"/>
              <a:ea typeface="宋体" pitchFamily="2" charset="-122"/>
            </a:endParaRPr>
          </a:p>
        </p:txBody>
      </p:sp>
      <p:sp>
        <p:nvSpPr>
          <p:cNvPr id="2970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置换函数的运算</a:t>
            </a:r>
          </a:p>
        </p:txBody>
      </p:sp>
      <p:sp>
        <p:nvSpPr>
          <p:cNvPr id="79878" name="Rectangle 3"/>
          <p:cNvSpPr>
            <a:spLocks noGrp="1" noChangeArrowheads="1"/>
          </p:cNvSpPr>
          <p:nvPr>
            <p:ph type="body" idx="4294967295"/>
          </p:nvPr>
        </p:nvSpPr>
        <p:spPr>
          <a:xfrm>
            <a:off x="251520" y="2420888"/>
            <a:ext cx="8712968" cy="3168650"/>
          </a:xfrm>
          <a:solidFill>
            <a:schemeClr val="accent6">
              <a:lumMod val="75000"/>
            </a:schemeClr>
          </a:solidFill>
        </p:spPr>
        <p:txBody>
          <a:bodyPr lIns="92075" tIns="46038" rIns="92075" bIns="46038"/>
          <a:lstStyle/>
          <a:p>
            <a:pPr marL="0" indent="0" eaLnBrk="1" hangingPunct="1">
              <a:lnSpc>
                <a:spcPct val="155000"/>
              </a:lnSpc>
              <a:buFontTx/>
              <a:buNone/>
              <a:defRPr/>
            </a:pPr>
            <a:r>
              <a:rPr lang="en-US" altLang="zh-CN" sz="3200" b="1" dirty="0">
                <a:solidFill>
                  <a:schemeClr val="bg1"/>
                </a:solidFill>
                <a:effectLst/>
                <a:latin typeface="+mj-ea"/>
                <a:ea typeface="+mj-ea"/>
              </a:rPr>
              <a:t>    </a:t>
            </a:r>
            <a:r>
              <a:rPr lang="zh-CN" altLang="zh-CN" sz="3200" b="1" dirty="0">
                <a:solidFill>
                  <a:schemeClr val="bg1"/>
                </a:solidFill>
                <a:effectLst/>
                <a:latin typeface="+mj-ea"/>
                <a:ea typeface="+mj-ea"/>
              </a:rPr>
              <a:t>置换是一种</a:t>
            </a:r>
            <a:r>
              <a:rPr lang="zh-CN" altLang="zh-CN" sz="3200" b="1" dirty="0">
                <a:solidFill>
                  <a:srgbClr val="FFFF00"/>
                </a:solidFill>
                <a:effectLst/>
                <a:latin typeface="+mj-ea"/>
                <a:ea typeface="+mj-ea"/>
              </a:rPr>
              <a:t>特殊的双射函数</a:t>
            </a:r>
            <a:r>
              <a:rPr lang="zh-CN" altLang="zh-CN" sz="3200" b="1" dirty="0">
                <a:solidFill>
                  <a:schemeClr val="bg1"/>
                </a:solidFill>
                <a:effectLst/>
                <a:latin typeface="+mj-ea"/>
                <a:ea typeface="+mj-ea"/>
              </a:rPr>
              <a:t>，关于函数的</a:t>
            </a:r>
            <a:r>
              <a:rPr lang="zh-CN" altLang="zh-CN" sz="3200" b="1" dirty="0">
                <a:solidFill>
                  <a:srgbClr val="FFFF00"/>
                </a:solidFill>
                <a:effectLst/>
                <a:latin typeface="+mj-ea"/>
                <a:ea typeface="+mj-ea"/>
              </a:rPr>
              <a:t>求逆运算</a:t>
            </a:r>
            <a:r>
              <a:rPr lang="zh-CN" altLang="zh-CN" sz="3200" b="1" dirty="0">
                <a:solidFill>
                  <a:schemeClr val="bg1"/>
                </a:solidFill>
                <a:effectLst/>
                <a:latin typeface="+mj-ea"/>
                <a:ea typeface="+mj-ea"/>
              </a:rPr>
              <a:t>和</a:t>
            </a:r>
            <a:r>
              <a:rPr lang="zh-CN" altLang="zh-CN" sz="3200" b="1" dirty="0">
                <a:solidFill>
                  <a:srgbClr val="FFFF00"/>
                </a:solidFill>
                <a:effectLst/>
                <a:latin typeface="+mj-ea"/>
                <a:ea typeface="+mj-ea"/>
              </a:rPr>
              <a:t>复合运算</a:t>
            </a:r>
            <a:r>
              <a:rPr lang="zh-CN" altLang="zh-CN" sz="3200" b="1" dirty="0">
                <a:solidFill>
                  <a:schemeClr val="bg1"/>
                </a:solidFill>
                <a:effectLst/>
                <a:latin typeface="+mj-ea"/>
                <a:ea typeface="+mj-ea"/>
              </a:rPr>
              <a:t>在置换中完全适用</a:t>
            </a:r>
            <a:r>
              <a:rPr lang="zh-CN" altLang="en-US" sz="3200" b="1" dirty="0">
                <a:solidFill>
                  <a:schemeClr val="bg1"/>
                </a:solidFill>
                <a:effectLst/>
                <a:latin typeface="+mj-ea"/>
                <a:ea typeface="+mj-ea"/>
              </a:rPr>
              <a:t>。</a:t>
            </a:r>
            <a:endParaRPr lang="en-US" altLang="zh-CN" sz="3200" b="1" dirty="0">
              <a:solidFill>
                <a:schemeClr val="bg1"/>
              </a:solidFill>
              <a:effectLst/>
              <a:latin typeface="+mj-ea"/>
              <a:ea typeface="+mj-ea"/>
            </a:endParaRPr>
          </a:p>
          <a:p>
            <a:pPr marL="0" indent="0" eaLnBrk="1" hangingPunct="1">
              <a:lnSpc>
                <a:spcPct val="155000"/>
              </a:lnSpc>
              <a:buFontTx/>
              <a:buNone/>
              <a:defRPr/>
            </a:pPr>
            <a:r>
              <a:rPr lang="en-US" altLang="zh-CN" sz="3200" b="1" dirty="0">
                <a:solidFill>
                  <a:schemeClr val="bg1"/>
                </a:solidFill>
                <a:effectLst/>
                <a:latin typeface="+mj-ea"/>
                <a:ea typeface="+mj-ea"/>
              </a:rPr>
              <a:t>    </a:t>
            </a:r>
            <a:r>
              <a:rPr lang="zh-CN" altLang="zh-CN" sz="3200" b="1" dirty="0">
                <a:solidFill>
                  <a:schemeClr val="bg1"/>
                </a:solidFill>
                <a:effectLst/>
                <a:latin typeface="+mj-ea"/>
                <a:ea typeface="+mj-ea"/>
              </a:rPr>
              <a:t>因此，可直接</a:t>
            </a:r>
            <a:r>
              <a:rPr lang="zh-CN" altLang="zh-CN" sz="3200" b="1" dirty="0">
                <a:solidFill>
                  <a:srgbClr val="FFFF00"/>
                </a:solidFill>
                <a:effectLst/>
                <a:latin typeface="+mj-ea"/>
                <a:ea typeface="+mj-ea"/>
              </a:rPr>
              <a:t>将一般函数的逆运算和复合运算作为置换函数的逆运算和复合运算</a:t>
            </a:r>
            <a:r>
              <a:rPr lang="zh-CN" altLang="en-US" sz="3200" b="1" dirty="0">
                <a:solidFill>
                  <a:schemeClr val="bg1"/>
                </a:solidFill>
                <a:effectLst/>
                <a:latin typeface="+mj-ea"/>
                <a:ea typeface="+mj-ea"/>
              </a:rPr>
              <a:t>。</a:t>
            </a:r>
            <a:endParaRPr lang="zh-CN" altLang="en-US" sz="3200" b="1" dirty="0">
              <a:solidFill>
                <a:schemeClr val="bg1"/>
              </a:solidFill>
              <a:effectLst/>
              <a:latin typeface="+mj-ea"/>
              <a:ea typeface="+mj-ea"/>
              <a:cs typeface="楷体_GB2312" pitchFamily="49" charset="-122"/>
            </a:endParaRP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3501008"/>
            <a:ext cx="7920880" cy="584775"/>
          </a:xfrm>
          <a:prstGeom prst="rect">
            <a:avLst/>
          </a:prstGeom>
          <a:solidFill>
            <a:schemeClr val="bg1"/>
          </a:solidFill>
        </p:spPr>
        <p:txBody>
          <a:bodyPr wrap="square" rtlCol="0">
            <a:spAutoFit/>
          </a:bodyPr>
          <a:lstStyle/>
          <a:p>
            <a:endParaRPr lang="zh-CN" altLang="en-US" dirty="0"/>
          </a:p>
        </p:txBody>
      </p:sp>
      <p:sp>
        <p:nvSpPr>
          <p:cNvPr id="307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7FDB7DD-7DC5-4B3C-9A21-1D6D92D4B8A2}"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072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072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7A8C9886-2C1D-4081-98B3-1D8DFA69B585}" type="slidenum">
              <a:rPr lang="en-US" altLang="zh-CN" sz="1400" b="1">
                <a:latin typeface="Times New Roman" pitchFamily="18" charset="0"/>
                <a:ea typeface="宋体" pitchFamily="2" charset="-122"/>
              </a:rPr>
              <a:pPr algn="r" eaLnBrk="1" hangingPunct="1"/>
              <a:t>15</a:t>
            </a:fld>
            <a:endParaRPr lang="en-US" altLang="zh-CN" sz="1400" b="1">
              <a:latin typeface="Times New Roman" pitchFamily="18" charset="0"/>
              <a:ea typeface="宋体" pitchFamily="2" charset="-122"/>
            </a:endParaRPr>
          </a:p>
        </p:txBody>
      </p:sp>
      <p:sp>
        <p:nvSpPr>
          <p:cNvPr id="30725" name="Text Box 2"/>
          <p:cNvSpPr txBox="1">
            <a:spLocks noChangeArrowheads="1"/>
          </p:cNvSpPr>
          <p:nvPr/>
        </p:nvSpPr>
        <p:spPr bwMode="auto">
          <a:xfrm>
            <a:off x="1403648" y="692696"/>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2" name="TextBox 1"/>
              <p:cNvSpPr txBox="1"/>
              <p:nvPr/>
            </p:nvSpPr>
            <p:spPr>
              <a:xfrm>
                <a:off x="755576" y="1916832"/>
                <a:ext cx="7920880" cy="1772473"/>
              </a:xfrm>
              <a:prstGeom prst="rect">
                <a:avLst/>
              </a:prstGeom>
              <a:solidFill>
                <a:schemeClr val="accent1"/>
              </a:solidFill>
            </p:spPr>
            <p:txBody>
              <a:bodyPr wrap="square" rtlCol="0">
                <a:spAutoFit/>
              </a:bodyPr>
              <a:lstStyle/>
              <a:p>
                <a:pPr>
                  <a:lnSpc>
                    <a:spcPct val="120000"/>
                  </a:lnSpc>
                </a:pPr>
                <a:r>
                  <a:rPr lang="en-US" altLang="zh-CN" sz="2400" b="1" dirty="0"/>
                  <a:t>  </a:t>
                </a:r>
                <a:r>
                  <a:rPr lang="zh-CN" altLang="zh-CN" sz="2400" b="1" dirty="0"/>
                  <a:t>【例题】</a:t>
                </a:r>
                <a:r>
                  <a:rPr lang="zh-CN" altLang="zh-CN" sz="2400" b="1" dirty="0">
                    <a:solidFill>
                      <a:schemeClr val="tx1"/>
                    </a:solidFill>
                  </a:rPr>
                  <a:t>求下列两个置换</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𝟏</m:t>
                        </m:r>
                      </m:sub>
                    </m:sSub>
                  </m:oMath>
                </a14:m>
                <a:r>
                  <a:rPr lang="en-US" altLang="zh-CN" sz="2400" b="1" dirty="0">
                    <a:solidFill>
                      <a:schemeClr val="tx1"/>
                    </a:solidFill>
                  </a:rPr>
                  <a:t>,</a:t>
                </a:r>
                <a14:m>
                  <m:oMath xmlns:m="http://schemas.openxmlformats.org/officeDocument/2006/math">
                    <m:r>
                      <a:rPr lang="en-US" altLang="zh-CN" sz="2400" b="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𝟐</m:t>
                        </m:r>
                      </m:sub>
                    </m:sSub>
                  </m:oMath>
                </a14:m>
                <a:r>
                  <a:rPr lang="zh-CN" altLang="zh-CN" sz="2400" b="1" dirty="0">
                    <a:solidFill>
                      <a:schemeClr val="tx1"/>
                    </a:solidFill>
                  </a:rPr>
                  <a:t>的</a:t>
                </a:r>
                <a:r>
                  <a:rPr lang="zh-CN" altLang="zh-CN" sz="2400" b="1" dirty="0">
                    <a:solidFill>
                      <a:srgbClr val="0000FF"/>
                    </a:solidFill>
                  </a:rPr>
                  <a:t>逆置换</a:t>
                </a:r>
                <a14:m>
                  <m:oMath xmlns:m="http://schemas.openxmlformats.org/officeDocument/2006/math">
                    <m:r>
                      <a:rPr lang="zh-CN" altLang="zh-CN" sz="2400" b="1">
                        <a:solidFill>
                          <a:schemeClr val="tx1"/>
                        </a:solidFill>
                        <a:latin typeface="Cambria Math"/>
                      </a:rPr>
                      <m:t>及</m:t>
                    </m:r>
                    <m:r>
                      <m:rPr>
                        <m:nor/>
                      </m:rPr>
                      <a:rPr lang="zh-CN" altLang="en-US" sz="2400" b="1" dirty="0" smtClean="0">
                        <a:solidFill>
                          <a:srgbClr val="0000FF"/>
                        </a:solidFill>
                      </a:rPr>
                      <m:t>复合置换</m:t>
                    </m:r>
                  </m:oMath>
                </a14:m>
                <a:r>
                  <a:rPr lang="zh-CN" altLang="zh-CN" sz="2400" b="1" dirty="0">
                    <a:solidFill>
                      <a:schemeClr val="tx1"/>
                    </a:solidFill>
                  </a:rPr>
                  <a:t>，并计算</a:t>
                </a:r>
                <a14:m>
                  <m:oMath xmlns:m="http://schemas.openxmlformats.org/officeDocument/2006/math">
                    <m:sSup>
                      <m:sSupPr>
                        <m:ctrlPr>
                          <a:rPr lang="zh-CN" altLang="zh-CN" sz="2400" b="1" i="1" smtClean="0">
                            <a:solidFill>
                              <a:srgbClr val="FF0000"/>
                            </a:solidFill>
                            <a:latin typeface="Cambria Math" panose="02040503050406030204" pitchFamily="18" charset="0"/>
                          </a:rPr>
                        </m:ctrlPr>
                      </m:sSupPr>
                      <m:e>
                        <m:sSub>
                          <m:sSubPr>
                            <m:ctrlPr>
                              <a:rPr lang="zh-CN"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a:rPr>
                              <m:t>𝝅</m:t>
                            </m:r>
                          </m:e>
                          <m:sub>
                            <m:r>
                              <a:rPr lang="en-US" altLang="zh-CN" sz="2400" b="1" i="1">
                                <a:solidFill>
                                  <a:srgbClr val="FF0000"/>
                                </a:solidFill>
                                <a:latin typeface="Cambria Math"/>
                              </a:rPr>
                              <m:t>𝟏</m:t>
                            </m:r>
                          </m:sub>
                        </m:sSub>
                      </m:e>
                      <m:sup>
                        <m:r>
                          <a:rPr lang="en-US" altLang="zh-CN" sz="2400" b="1" i="1">
                            <a:solidFill>
                              <a:srgbClr val="FF0000"/>
                            </a:solidFill>
                            <a:latin typeface="Cambria Math"/>
                          </a:rPr>
                          <m:t>−</m:t>
                        </m:r>
                        <m:r>
                          <a:rPr lang="en-US" altLang="zh-CN" sz="2400" b="1" i="1">
                            <a:solidFill>
                              <a:srgbClr val="FF0000"/>
                            </a:solidFill>
                            <a:latin typeface="Cambria Math"/>
                          </a:rPr>
                          <m:t>𝟏</m:t>
                        </m:r>
                      </m:sup>
                    </m:sSup>
                    <m:r>
                      <a:rPr lang="en-US" altLang="zh-CN" sz="2400" b="1">
                        <a:solidFill>
                          <a:srgbClr val="FF0000"/>
                        </a:solidFill>
                        <a:latin typeface="Cambria Math"/>
                      </a:rPr>
                      <m:t>∘ </m:t>
                    </m:r>
                    <m:sSup>
                      <m:sSupPr>
                        <m:ctrlPr>
                          <a:rPr lang="zh-CN" altLang="zh-CN" sz="2400" b="1" i="1">
                            <a:solidFill>
                              <a:srgbClr val="FF0000"/>
                            </a:solidFill>
                            <a:latin typeface="Cambria Math" panose="02040503050406030204" pitchFamily="18" charset="0"/>
                          </a:rPr>
                        </m:ctrlPr>
                      </m:sSupPr>
                      <m:e>
                        <m:sSub>
                          <m:sSubPr>
                            <m:ctrlPr>
                              <a:rPr lang="zh-CN"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a:rPr>
                              <m:t>𝝅</m:t>
                            </m:r>
                          </m:e>
                          <m:sub>
                            <m:r>
                              <a:rPr lang="en-US" altLang="zh-CN" sz="2400" b="1" i="1">
                                <a:solidFill>
                                  <a:srgbClr val="FF0000"/>
                                </a:solidFill>
                                <a:latin typeface="Cambria Math"/>
                              </a:rPr>
                              <m:t>𝟐</m:t>
                            </m:r>
                          </m:sub>
                        </m:sSub>
                      </m:e>
                      <m:sup>
                        <m:r>
                          <a:rPr lang="en-US" altLang="zh-CN" sz="2400" b="1" i="1">
                            <a:solidFill>
                              <a:srgbClr val="FF0000"/>
                            </a:solidFill>
                            <a:latin typeface="Cambria Math"/>
                          </a:rPr>
                          <m:t>−</m:t>
                        </m:r>
                        <m:r>
                          <a:rPr lang="en-US" altLang="zh-CN" sz="2400" b="1" i="1">
                            <a:solidFill>
                              <a:srgbClr val="FF0000"/>
                            </a:solidFill>
                            <a:latin typeface="Cambria Math"/>
                          </a:rPr>
                          <m:t>𝟏</m:t>
                        </m:r>
                      </m:sup>
                    </m:sSup>
                  </m:oMath>
                </a14:m>
                <a:r>
                  <a:rPr lang="zh-CN" altLang="zh-CN" sz="2400" b="1" dirty="0">
                    <a:solidFill>
                      <a:schemeClr val="tx1"/>
                    </a:solidFill>
                  </a:rPr>
                  <a:t>。</a:t>
                </a:r>
              </a:p>
              <a:p>
                <a:pPr>
                  <a:lnSpc>
                    <a:spcPct val="120000"/>
                  </a:lnSpc>
                </a:pPr>
                <a:r>
                  <a:rPr lang="en-US" altLang="zh-CN" sz="2400" b="1" dirty="0">
                    <a:solidFill>
                      <a:srgbClr val="0000FF"/>
                    </a:solidFill>
                  </a:rPr>
                  <a:t>       </a:t>
                </a:r>
                <a14:m>
                  <m:oMath xmlns:m="http://schemas.openxmlformats.org/officeDocument/2006/math">
                    <m:sSub>
                      <m:sSubPr>
                        <m:ctrlPr>
                          <a:rPr lang="zh-CN" altLang="zh-CN" sz="2400" b="1" i="1" smtClean="0">
                            <a:solidFill>
                              <a:srgbClr val="0000FF"/>
                            </a:solidFill>
                            <a:latin typeface="Cambria Math" panose="02040503050406030204" pitchFamily="18" charset="0"/>
                          </a:rPr>
                        </m:ctrlPr>
                      </m:sSubPr>
                      <m:e>
                        <m:r>
                          <a:rPr lang="en-US" altLang="zh-CN" sz="2400" b="1" i="1">
                            <a:solidFill>
                              <a:srgbClr val="0000FF"/>
                            </a:solidFill>
                            <a:latin typeface="Cambria Math"/>
                          </a:rPr>
                          <m:t>𝝅</m:t>
                        </m:r>
                      </m:e>
                      <m:sub>
                        <m:r>
                          <a:rPr lang="en-US" altLang="zh-CN" sz="2400" b="1" i="1">
                            <a:solidFill>
                              <a:srgbClr val="0000FF"/>
                            </a:solidFill>
                            <a:latin typeface="Cambria Math"/>
                          </a:rPr>
                          <m:t>𝟏</m:t>
                        </m:r>
                      </m:sub>
                    </m:sSub>
                    <m:r>
                      <a:rPr lang="en-US" altLang="zh-CN" sz="2400" b="1" i="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2"/>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m>
                                <m:mPr>
                                  <m:mcs>
                                    <m:mc>
                                      <m:mcPr>
                                        <m:count m:val="2"/>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𝟐</m:t>
                                    </m:r>
                                  </m:e>
                                  <m:e>
                                    <m:r>
                                      <a:rPr lang="en-US" altLang="zh-CN" sz="2400" b="1" i="1">
                                        <a:solidFill>
                                          <a:srgbClr val="0000FF"/>
                                        </a:solidFill>
                                        <a:latin typeface="Cambria Math"/>
                                      </a:rPr>
                                      <m:t>𝟑</m:t>
                                    </m:r>
                                  </m:e>
                                </m:mr>
                              </m:m>
                            </m:e>
                          </m:mr>
                          <m:mr>
                            <m:e>
                              <m:r>
                                <a:rPr lang="en-US" altLang="zh-CN" sz="2400" b="1" i="1">
                                  <a:solidFill>
                                    <a:srgbClr val="0000FF"/>
                                  </a:solidFill>
                                  <a:latin typeface="Cambria Math"/>
                                </a:rPr>
                                <m:t>𝟏</m:t>
                              </m:r>
                            </m:e>
                            <m:e>
                              <m:m>
                                <m:mPr>
                                  <m:mcs>
                                    <m:mc>
                                      <m:mcPr>
                                        <m:count m:val="2"/>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𝟑</m:t>
                                    </m:r>
                                  </m:e>
                                  <m:e>
                                    <m:r>
                                      <a:rPr lang="en-US" altLang="zh-CN" sz="2400" b="1" i="1">
                                        <a:solidFill>
                                          <a:srgbClr val="0000FF"/>
                                        </a:solidFill>
                                        <a:latin typeface="Cambria Math"/>
                                      </a:rPr>
                                      <m:t>𝟐</m:t>
                                    </m:r>
                                  </m:e>
                                </m:mr>
                              </m:m>
                            </m:e>
                          </m:mr>
                        </m:m>
                      </m:e>
                    </m:d>
                  </m:oMath>
                </a14:m>
                <a:r>
                  <a:rPr lang="zh-CN" altLang="zh-CN" sz="2400" b="1" dirty="0">
                    <a:solidFill>
                      <a:srgbClr val="0000FF"/>
                    </a:solidFill>
                  </a:rPr>
                  <a:t>；</a:t>
                </a:r>
                <a14:m>
                  <m:oMath xmlns:m="http://schemas.openxmlformats.org/officeDocument/2006/math">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𝝅</m:t>
                        </m:r>
                      </m:e>
                      <m:sub>
                        <m:r>
                          <a:rPr lang="en-US" altLang="zh-CN" sz="2400" b="1" i="1">
                            <a:solidFill>
                              <a:srgbClr val="0000FF"/>
                            </a:solidFill>
                            <a:latin typeface="Cambria Math"/>
                          </a:rPr>
                          <m:t>𝟐</m:t>
                        </m:r>
                      </m:sub>
                    </m:sSub>
                    <m:r>
                      <a:rPr lang="en-US" altLang="zh-CN" sz="2400" b="1" i="1">
                        <a:solidFill>
                          <a:srgbClr val="0000FF"/>
                        </a:solidFill>
                        <a:latin typeface="Cambria Math"/>
                      </a:rPr>
                      <m:t>=</m:t>
                    </m:r>
                    <m:d>
                      <m:dPr>
                        <m:ctrlPr>
                          <a:rPr lang="zh-CN" altLang="zh-CN" sz="2400" b="1" i="1">
                            <a:solidFill>
                              <a:srgbClr val="0000FF"/>
                            </a:solidFill>
                            <a:latin typeface="Cambria Math" panose="02040503050406030204" pitchFamily="18" charset="0"/>
                          </a:rPr>
                        </m:ctrlPr>
                      </m:dPr>
                      <m:e>
                        <m:m>
                          <m:mPr>
                            <m:mcs>
                              <m:mc>
                                <m:mcPr>
                                  <m:count m:val="2"/>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𝟏</m:t>
                              </m:r>
                            </m:e>
                            <m:e>
                              <m:m>
                                <m:mPr>
                                  <m:mcs>
                                    <m:mc>
                                      <m:mcPr>
                                        <m:count m:val="2"/>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𝟐</m:t>
                                    </m:r>
                                  </m:e>
                                  <m:e>
                                    <m:r>
                                      <a:rPr lang="en-US" altLang="zh-CN" sz="2400" b="1" i="1">
                                        <a:solidFill>
                                          <a:srgbClr val="0000FF"/>
                                        </a:solidFill>
                                        <a:latin typeface="Cambria Math"/>
                                      </a:rPr>
                                      <m:t>𝟑</m:t>
                                    </m:r>
                                  </m:e>
                                </m:mr>
                              </m:m>
                            </m:e>
                          </m:mr>
                          <m:mr>
                            <m:e>
                              <m:r>
                                <a:rPr lang="en-US" altLang="zh-CN" sz="2400" b="1" i="1">
                                  <a:solidFill>
                                    <a:srgbClr val="0000FF"/>
                                  </a:solidFill>
                                  <a:latin typeface="Cambria Math"/>
                                </a:rPr>
                                <m:t>𝟐</m:t>
                              </m:r>
                            </m:e>
                            <m:e>
                              <m:m>
                                <m:mPr>
                                  <m:mcs>
                                    <m:mc>
                                      <m:mcPr>
                                        <m:count m:val="2"/>
                                        <m:mcJc m:val="center"/>
                                      </m:mcPr>
                                    </m:mc>
                                  </m:mcs>
                                  <m:ctrlPr>
                                    <a:rPr lang="zh-CN" altLang="zh-CN" sz="2400" b="1" i="1">
                                      <a:solidFill>
                                        <a:srgbClr val="0000FF"/>
                                      </a:solidFill>
                                      <a:latin typeface="Cambria Math" panose="02040503050406030204" pitchFamily="18" charset="0"/>
                                    </a:rPr>
                                  </m:ctrlPr>
                                </m:mPr>
                                <m:mr>
                                  <m:e>
                                    <m:r>
                                      <a:rPr lang="en-US" altLang="zh-CN" sz="2400" b="1" i="1">
                                        <a:solidFill>
                                          <a:srgbClr val="0000FF"/>
                                        </a:solidFill>
                                        <a:latin typeface="Cambria Math"/>
                                      </a:rPr>
                                      <m:t>𝟑</m:t>
                                    </m:r>
                                  </m:e>
                                  <m:e>
                                    <m:r>
                                      <a:rPr lang="en-US" altLang="zh-CN" sz="2400" b="1" i="1">
                                        <a:solidFill>
                                          <a:srgbClr val="0000FF"/>
                                        </a:solidFill>
                                        <a:latin typeface="Cambria Math"/>
                                      </a:rPr>
                                      <m:t>𝟏</m:t>
                                    </m:r>
                                  </m:e>
                                </m:mr>
                              </m:m>
                            </m:e>
                          </m:mr>
                        </m:m>
                      </m:e>
                    </m:d>
                  </m:oMath>
                </a14:m>
                <a:endParaRPr lang="zh-CN" altLang="zh-CN" sz="2400" b="1" dirty="0">
                  <a:solidFill>
                    <a:schemeClr val="tx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755576" y="1916832"/>
                <a:ext cx="7920880" cy="1772473"/>
              </a:xfrm>
              <a:prstGeom prst="rect">
                <a:avLst/>
              </a:prstGeom>
              <a:blipFill>
                <a:blip r:embed="rId2"/>
                <a:stretch>
                  <a:fillRect l="-1232" t="-20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755576" y="3999041"/>
                <a:ext cx="7920880" cy="2221762"/>
              </a:xfrm>
              <a:prstGeom prst="rect">
                <a:avLst/>
              </a:prstGeom>
              <a:solidFill>
                <a:schemeClr val="accent3">
                  <a:lumMod val="95000"/>
                </a:schemeClr>
              </a:solidFill>
            </p:spPr>
            <p:txBody>
              <a:bodyPr wrap="square" rtlCol="0">
                <a:spAutoFit/>
              </a:bodyPr>
              <a:lstStyle/>
              <a:p>
                <a:pPr>
                  <a:lnSpc>
                    <a:spcPct val="150000"/>
                  </a:lnSpc>
                </a:pPr>
                <a:r>
                  <a:rPr lang="en-US" altLang="zh-CN" sz="2400" b="1" dirty="0"/>
                  <a:t>   </a:t>
                </a:r>
                <a:r>
                  <a:rPr lang="zh-CN" altLang="zh-CN" sz="2400" b="1" dirty="0"/>
                  <a:t>【分析】</a:t>
                </a:r>
                <a:r>
                  <a:rPr lang="zh-CN" altLang="zh-CN" sz="2400" b="1" dirty="0">
                    <a:solidFill>
                      <a:schemeClr val="tx1"/>
                    </a:solidFill>
                  </a:rPr>
                  <a:t>可将置换写成函数形式：</a:t>
                </a:r>
                <a:endParaRPr lang="en-US" altLang="zh-CN" sz="2400" b="1"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zh-CN" altLang="zh-CN" sz="2400" b="1" i="1" smtClean="0">
                              <a:solidFill>
                                <a:srgbClr val="0000FF"/>
                              </a:solidFill>
                              <a:latin typeface="Cambria Math" panose="02040503050406030204" pitchFamily="18" charset="0"/>
                            </a:rPr>
                          </m:ctrlPr>
                        </m:sSubPr>
                        <m:e>
                          <m:r>
                            <a:rPr lang="en-US" altLang="zh-CN" sz="2400" b="1" i="1">
                              <a:solidFill>
                                <a:srgbClr val="0000FF"/>
                              </a:solidFill>
                              <a:latin typeface="Cambria Math"/>
                            </a:rPr>
                            <m:t>𝝅</m:t>
                          </m:r>
                        </m:e>
                        <m:sub>
                          <m:r>
                            <a:rPr lang="en-US" altLang="zh-CN" sz="2400" b="1" i="1">
                              <a:solidFill>
                                <a:srgbClr val="0000FF"/>
                              </a:solidFill>
                              <a:latin typeface="Cambria Math"/>
                            </a:rPr>
                            <m:t>𝟏</m:t>
                          </m:r>
                        </m:sub>
                      </m:sSub>
                      <m:r>
                        <a:rPr lang="en-US" altLang="zh-CN" sz="2400" b="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𝟏</m:t>
                              </m:r>
                              <m:r>
                                <a:rPr lang="en-US" altLang="zh-CN" sz="2400" b="1" i="1">
                                  <a:solidFill>
                                    <a:srgbClr val="0000FF"/>
                                  </a:solidFill>
                                  <a:latin typeface="Cambria Math"/>
                                </a:rPr>
                                <m:t>,</m:t>
                              </m:r>
                              <m:r>
                                <a:rPr lang="en-US" altLang="zh-CN" sz="2400" b="1" i="1">
                                  <a:solidFill>
                                    <a:srgbClr val="0000FF"/>
                                  </a:solidFill>
                                  <a:latin typeface="Cambria Math"/>
                                </a:rPr>
                                <m:t>𝟏</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𝟐</m:t>
                              </m:r>
                              <m:r>
                                <a:rPr lang="en-US" altLang="zh-CN" sz="2400" b="1" i="1">
                                  <a:solidFill>
                                    <a:srgbClr val="0000FF"/>
                                  </a:solidFill>
                                  <a:latin typeface="Cambria Math"/>
                                </a:rPr>
                                <m:t>,</m:t>
                              </m:r>
                              <m:r>
                                <a:rPr lang="en-US" altLang="zh-CN" sz="2400" b="1" i="1">
                                  <a:solidFill>
                                    <a:srgbClr val="0000FF"/>
                                  </a:solidFill>
                                  <a:latin typeface="Cambria Math"/>
                                </a:rPr>
                                <m:t>𝟑</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𝟑</m:t>
                              </m:r>
                              <m:r>
                                <a:rPr lang="en-US" altLang="zh-CN" sz="2400" b="1" i="1">
                                  <a:solidFill>
                                    <a:srgbClr val="0000FF"/>
                                  </a:solidFill>
                                  <a:latin typeface="Cambria Math"/>
                                </a:rPr>
                                <m:t>,</m:t>
                              </m:r>
                              <m:r>
                                <a:rPr lang="en-US" altLang="zh-CN" sz="2400" b="1" i="1">
                                  <a:solidFill>
                                    <a:srgbClr val="0000FF"/>
                                  </a:solidFill>
                                  <a:latin typeface="Cambria Math"/>
                                </a:rPr>
                                <m:t>𝟐</m:t>
                              </m:r>
                            </m:e>
                          </m:d>
                        </m:e>
                      </m:d>
                    </m:oMath>
                  </m:oMathPara>
                </a14:m>
                <a:endParaRPr lang="en-US" altLang="zh-CN" sz="2400" b="1" dirty="0">
                  <a:solidFill>
                    <a:srgbClr val="0000FF"/>
                  </a:solidFill>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2400" b="1">
                          <a:solidFill>
                            <a:srgbClr val="0000FF"/>
                          </a:solidFill>
                          <a:latin typeface="Cambria Math"/>
                        </a:rPr>
                        <m:t> </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𝝅</m:t>
                          </m:r>
                        </m:e>
                        <m:sub>
                          <m:r>
                            <a:rPr lang="en-US" altLang="zh-CN" sz="2400" b="1" i="1">
                              <a:solidFill>
                                <a:srgbClr val="0000FF"/>
                              </a:solidFill>
                              <a:latin typeface="Cambria Math"/>
                            </a:rPr>
                            <m:t>𝟐</m:t>
                          </m:r>
                        </m:sub>
                      </m:sSub>
                      <m:r>
                        <a:rPr lang="en-US" altLang="zh-CN" sz="2400" b="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𝟏</m:t>
                              </m:r>
                              <m:r>
                                <a:rPr lang="en-US" altLang="zh-CN" sz="2400" b="1" i="1">
                                  <a:solidFill>
                                    <a:srgbClr val="0000FF"/>
                                  </a:solidFill>
                                  <a:latin typeface="Cambria Math"/>
                                </a:rPr>
                                <m:t>,</m:t>
                              </m:r>
                              <m:r>
                                <a:rPr lang="en-US" altLang="zh-CN" sz="2400" b="1" i="1">
                                  <a:solidFill>
                                    <a:srgbClr val="0000FF"/>
                                  </a:solidFill>
                                  <a:latin typeface="Cambria Math"/>
                                </a:rPr>
                                <m:t>𝟐</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𝟐</m:t>
                              </m:r>
                              <m:r>
                                <a:rPr lang="en-US" altLang="zh-CN" sz="2400" b="1" i="1">
                                  <a:solidFill>
                                    <a:srgbClr val="0000FF"/>
                                  </a:solidFill>
                                  <a:latin typeface="Cambria Math"/>
                                </a:rPr>
                                <m:t>,</m:t>
                              </m:r>
                              <m:r>
                                <a:rPr lang="en-US" altLang="zh-CN" sz="2400" b="1" i="1">
                                  <a:solidFill>
                                    <a:srgbClr val="0000FF"/>
                                  </a:solidFill>
                                  <a:latin typeface="Cambria Math"/>
                                </a:rPr>
                                <m:t>𝟑</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𝟑</m:t>
                              </m:r>
                              <m:r>
                                <a:rPr lang="en-US" altLang="zh-CN" sz="2400" b="1" i="1">
                                  <a:solidFill>
                                    <a:srgbClr val="0000FF"/>
                                  </a:solidFill>
                                  <a:latin typeface="Cambria Math"/>
                                </a:rPr>
                                <m:t>,</m:t>
                              </m:r>
                              <m:r>
                                <a:rPr lang="en-US" altLang="zh-CN" sz="2400" b="1" i="1">
                                  <a:solidFill>
                                    <a:srgbClr val="0000FF"/>
                                  </a:solidFill>
                                  <a:latin typeface="Cambria Math"/>
                                </a:rPr>
                                <m:t>𝟏</m:t>
                              </m:r>
                            </m:e>
                          </m:d>
                        </m:e>
                      </m:d>
                    </m:oMath>
                  </m:oMathPara>
                </a14:m>
                <a:endParaRPr lang="en-US" altLang="zh-CN" sz="2400" b="1" dirty="0">
                  <a:solidFill>
                    <a:schemeClr val="tx1"/>
                  </a:solidFill>
                </a:endParaRPr>
              </a:p>
              <a:p>
                <a:pPr>
                  <a:lnSpc>
                    <a:spcPct val="150000"/>
                  </a:lnSpc>
                </a:pPr>
                <a:r>
                  <a:rPr lang="zh-CN" altLang="zh-CN" sz="2400" b="1" dirty="0">
                    <a:solidFill>
                      <a:schemeClr val="tx1"/>
                    </a:solidFill>
                  </a:rPr>
                  <a:t>然后，根据函数逆运算和复合运算定义进行运算。</a:t>
                </a:r>
              </a:p>
            </p:txBody>
          </p:sp>
        </mc:Choice>
        <mc:Fallback xmlns="">
          <p:sp>
            <p:nvSpPr>
              <p:cNvPr id="3" name="TextBox 2"/>
              <p:cNvSpPr txBox="1">
                <a:spLocks noRot="1" noChangeAspect="1" noMove="1" noResize="1" noEditPoints="1" noAdjustHandles="1" noChangeArrowheads="1" noChangeShapeType="1" noTextEdit="1"/>
              </p:cNvSpPr>
              <p:nvPr/>
            </p:nvSpPr>
            <p:spPr>
              <a:xfrm>
                <a:off x="755576" y="3999041"/>
                <a:ext cx="7920880" cy="2221762"/>
              </a:xfrm>
              <a:prstGeom prst="rect">
                <a:avLst/>
              </a:prstGeom>
              <a:blipFill>
                <a:blip r:embed="rId3"/>
                <a:stretch>
                  <a:fillRect l="-1232" b="-5495"/>
                </a:stretch>
              </a:blipFill>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A26D1A0-60EC-45EC-9E8C-B24E1BF74F57}"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174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174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8D1722D7-3F32-412A-810B-8D15F667DA6D}" type="slidenum">
              <a:rPr lang="en-US" altLang="zh-CN" sz="1400" b="1">
                <a:latin typeface="Times New Roman" pitchFamily="18" charset="0"/>
                <a:ea typeface="宋体" pitchFamily="2" charset="-122"/>
              </a:rPr>
              <a:pPr algn="r" eaLnBrk="1" hangingPunct="1"/>
              <a:t>16</a:t>
            </a:fld>
            <a:endParaRPr lang="en-US" altLang="zh-CN" sz="1400" b="1">
              <a:latin typeface="Times New Roman" pitchFamily="18" charset="0"/>
              <a:ea typeface="宋体" pitchFamily="2" charset="-122"/>
            </a:endParaRPr>
          </a:p>
        </p:txBody>
      </p:sp>
      <p:sp>
        <p:nvSpPr>
          <p:cNvPr id="3174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2" name="TextBox 1"/>
              <p:cNvSpPr txBox="1"/>
              <p:nvPr/>
            </p:nvSpPr>
            <p:spPr>
              <a:xfrm>
                <a:off x="715810" y="2082312"/>
                <a:ext cx="8064251" cy="3968138"/>
              </a:xfrm>
              <a:prstGeom prst="rect">
                <a:avLst/>
              </a:prstGeom>
              <a:solidFill>
                <a:schemeClr val="accent3">
                  <a:lumMod val="95000"/>
                </a:schemeClr>
              </a:solidFill>
            </p:spPr>
            <p:txBody>
              <a:bodyPr wrap="square" rtlCol="0">
                <a:spAutoFit/>
              </a:bodyPr>
              <a:lstStyle/>
              <a:p>
                <a:pPr>
                  <a:lnSpc>
                    <a:spcPct val="150000"/>
                  </a:lnSpc>
                  <a:spcBef>
                    <a:spcPts val="0"/>
                  </a:spcBef>
                </a:pPr>
                <a:r>
                  <a:rPr lang="en-US" altLang="zh-CN" sz="2400" b="1" dirty="0"/>
                  <a:t>   </a:t>
                </a:r>
                <a:r>
                  <a:rPr lang="zh-CN" altLang="zh-CN" sz="2400" b="1" dirty="0"/>
                  <a:t>【解】</a:t>
                </a:r>
                <a:r>
                  <a:rPr lang="zh-CN" altLang="zh-CN" sz="2400" b="1" dirty="0">
                    <a:solidFill>
                      <a:schemeClr val="tx1"/>
                    </a:solidFill>
                  </a:rPr>
                  <a:t>将</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𝟏</m:t>
                        </m:r>
                      </m:sub>
                    </m:sSub>
                  </m:oMath>
                </a14:m>
                <a:r>
                  <a:rPr lang="en-US" altLang="zh-CN" sz="2400" b="1" dirty="0">
                    <a:solidFill>
                      <a:schemeClr val="tx1"/>
                    </a:solidFill>
                  </a:rPr>
                  <a:t>,</a:t>
                </a:r>
                <a14:m>
                  <m:oMath xmlns:m="http://schemas.openxmlformats.org/officeDocument/2006/math">
                    <m:r>
                      <a:rPr lang="en-US" altLang="zh-CN" sz="2400" b="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𝟐</m:t>
                        </m:r>
                      </m:sub>
                    </m:sSub>
                  </m:oMath>
                </a14:m>
                <a:r>
                  <a:rPr lang="zh-CN" altLang="zh-CN" sz="2400" b="1" dirty="0">
                    <a:solidFill>
                      <a:schemeClr val="tx1"/>
                    </a:solidFill>
                  </a:rPr>
                  <a:t>写成函数关系的形式：</a:t>
                </a:r>
                <a:endParaRPr lang="en-US" altLang="zh-CN" sz="2400" b="1" dirty="0">
                  <a:solidFill>
                    <a:schemeClr val="tx1"/>
                  </a:solidFill>
                </a:endParaRPr>
              </a:p>
              <a:p>
                <a:pPr>
                  <a:lnSpc>
                    <a:spcPct val="150000"/>
                  </a:lnSpc>
                  <a:spcBef>
                    <a:spcPts val="0"/>
                  </a:spcBef>
                </a:pPr>
                <a14:m>
                  <m:oMathPara xmlns:m="http://schemas.openxmlformats.org/officeDocument/2006/math">
                    <m:oMathParaPr>
                      <m:jc m:val="centerGroup"/>
                    </m:oMathParaPr>
                    <m:oMath xmlns:m="http://schemas.openxmlformats.org/officeDocument/2006/math">
                      <m:sSub>
                        <m:sSubPr>
                          <m:ctrlPr>
                            <a:rPr lang="zh-CN" altLang="zh-CN" sz="2400" b="1" i="1" smtClean="0">
                              <a:solidFill>
                                <a:srgbClr val="0000FF"/>
                              </a:solidFill>
                              <a:latin typeface="Cambria Math" panose="02040503050406030204" pitchFamily="18" charset="0"/>
                            </a:rPr>
                          </m:ctrlPr>
                        </m:sSubPr>
                        <m:e>
                          <m:r>
                            <a:rPr lang="en-US" altLang="zh-CN" sz="2400" b="1" i="1">
                              <a:solidFill>
                                <a:srgbClr val="0000FF"/>
                              </a:solidFill>
                              <a:latin typeface="Cambria Math"/>
                            </a:rPr>
                            <m:t>𝝅</m:t>
                          </m:r>
                        </m:e>
                        <m:sub>
                          <m:r>
                            <a:rPr lang="en-US" altLang="zh-CN" sz="2400" b="1" i="1">
                              <a:solidFill>
                                <a:srgbClr val="0000FF"/>
                              </a:solidFill>
                              <a:latin typeface="Cambria Math"/>
                            </a:rPr>
                            <m:t>𝟏</m:t>
                          </m:r>
                        </m:sub>
                      </m:sSub>
                      <m:r>
                        <a:rPr lang="en-US" altLang="zh-CN" sz="2400" b="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𝟏</m:t>
                              </m:r>
                              <m:r>
                                <a:rPr lang="en-US" altLang="zh-CN" sz="2400" b="1" i="1">
                                  <a:solidFill>
                                    <a:srgbClr val="0000FF"/>
                                  </a:solidFill>
                                  <a:latin typeface="Cambria Math"/>
                                </a:rPr>
                                <m:t>,</m:t>
                              </m:r>
                              <m:r>
                                <a:rPr lang="en-US" altLang="zh-CN" sz="2400" b="1" i="1">
                                  <a:solidFill>
                                    <a:srgbClr val="0000FF"/>
                                  </a:solidFill>
                                  <a:latin typeface="Cambria Math"/>
                                </a:rPr>
                                <m:t>𝟏</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𝟐</m:t>
                              </m:r>
                              <m:r>
                                <a:rPr lang="en-US" altLang="zh-CN" sz="2400" b="1" i="1">
                                  <a:solidFill>
                                    <a:srgbClr val="0000FF"/>
                                  </a:solidFill>
                                  <a:latin typeface="Cambria Math"/>
                                </a:rPr>
                                <m:t>,</m:t>
                              </m:r>
                              <m:r>
                                <a:rPr lang="en-US" altLang="zh-CN" sz="2400" b="1" i="1">
                                  <a:solidFill>
                                    <a:srgbClr val="0000FF"/>
                                  </a:solidFill>
                                  <a:latin typeface="Cambria Math"/>
                                </a:rPr>
                                <m:t>𝟑</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𝟑</m:t>
                              </m:r>
                              <m:r>
                                <a:rPr lang="en-US" altLang="zh-CN" sz="2400" b="1" i="1">
                                  <a:solidFill>
                                    <a:srgbClr val="0000FF"/>
                                  </a:solidFill>
                                  <a:latin typeface="Cambria Math"/>
                                </a:rPr>
                                <m:t>,</m:t>
                              </m:r>
                              <m:r>
                                <a:rPr lang="en-US" altLang="zh-CN" sz="2400" b="1" i="1">
                                  <a:solidFill>
                                    <a:srgbClr val="0000FF"/>
                                  </a:solidFill>
                                  <a:latin typeface="Cambria Math"/>
                                </a:rPr>
                                <m:t>𝟐</m:t>
                              </m:r>
                            </m:e>
                          </m:d>
                        </m:e>
                      </m:d>
                      <m:r>
                        <a:rPr lang="zh-CN" altLang="en-US" sz="2400" b="1" i="1" smtClean="0">
                          <a:solidFill>
                            <a:srgbClr val="0000FF"/>
                          </a:solidFill>
                          <a:latin typeface="Cambria Math"/>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𝝅</m:t>
                          </m:r>
                        </m:e>
                        <m:sub>
                          <m:r>
                            <a:rPr lang="en-US" altLang="zh-CN" sz="2400" b="1" i="1">
                              <a:solidFill>
                                <a:srgbClr val="0000FF"/>
                              </a:solidFill>
                              <a:latin typeface="Cambria Math"/>
                            </a:rPr>
                            <m:t>𝟐</m:t>
                          </m:r>
                        </m:sub>
                      </m:sSub>
                      <m:r>
                        <a:rPr lang="en-US" altLang="zh-CN" sz="2400" b="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𝟏</m:t>
                              </m:r>
                              <m:r>
                                <a:rPr lang="en-US" altLang="zh-CN" sz="2400" b="1" i="1">
                                  <a:solidFill>
                                    <a:srgbClr val="0000FF"/>
                                  </a:solidFill>
                                  <a:latin typeface="Cambria Math"/>
                                </a:rPr>
                                <m:t>,</m:t>
                              </m:r>
                              <m:r>
                                <a:rPr lang="en-US" altLang="zh-CN" sz="2400" b="1" i="1">
                                  <a:solidFill>
                                    <a:srgbClr val="0000FF"/>
                                  </a:solidFill>
                                  <a:latin typeface="Cambria Math"/>
                                </a:rPr>
                                <m:t>𝟐</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𝟐</m:t>
                              </m:r>
                              <m:r>
                                <a:rPr lang="en-US" altLang="zh-CN" sz="2400" b="1" i="1">
                                  <a:solidFill>
                                    <a:srgbClr val="0000FF"/>
                                  </a:solidFill>
                                  <a:latin typeface="Cambria Math"/>
                                </a:rPr>
                                <m:t>,</m:t>
                              </m:r>
                              <m:r>
                                <a:rPr lang="en-US" altLang="zh-CN" sz="2400" b="1" i="1">
                                  <a:solidFill>
                                    <a:srgbClr val="0000FF"/>
                                  </a:solidFill>
                                  <a:latin typeface="Cambria Math"/>
                                </a:rPr>
                                <m:t>𝟑</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𝟑</m:t>
                              </m:r>
                              <m:r>
                                <a:rPr lang="en-US" altLang="zh-CN" sz="2400" b="1" i="1">
                                  <a:solidFill>
                                    <a:srgbClr val="0000FF"/>
                                  </a:solidFill>
                                  <a:latin typeface="Cambria Math"/>
                                </a:rPr>
                                <m:t>,</m:t>
                              </m:r>
                              <m:r>
                                <a:rPr lang="en-US" altLang="zh-CN" sz="2400" b="1" i="1">
                                  <a:solidFill>
                                    <a:srgbClr val="0000FF"/>
                                  </a:solidFill>
                                  <a:latin typeface="Cambria Math"/>
                                </a:rPr>
                                <m:t>𝟏</m:t>
                              </m:r>
                            </m:e>
                          </m:d>
                        </m:e>
                      </m:d>
                    </m:oMath>
                  </m:oMathPara>
                </a14:m>
                <a:endParaRPr lang="zh-CN" altLang="zh-CN" sz="2400" b="1" dirty="0">
                  <a:solidFill>
                    <a:schemeClr val="tx1"/>
                  </a:solidFill>
                </a:endParaRPr>
              </a:p>
              <a:p>
                <a:pPr>
                  <a:lnSpc>
                    <a:spcPct val="150000"/>
                  </a:lnSpc>
                  <a:spcBef>
                    <a:spcPts val="0"/>
                  </a:spcBef>
                </a:pPr>
                <a:r>
                  <a:rPr lang="zh-CN" altLang="zh-CN" sz="2400" b="1" dirty="0"/>
                  <a:t>从而有</a:t>
                </a:r>
                <a:r>
                  <a:rPr lang="zh-CN" altLang="zh-CN" sz="2400" b="1" dirty="0">
                    <a:solidFill>
                      <a:schemeClr val="tx1"/>
                    </a:solidFill>
                  </a:rPr>
                  <a:t>：</a:t>
                </a:r>
              </a:p>
              <a:p>
                <a:pPr>
                  <a:lnSpc>
                    <a:spcPct val="150000"/>
                  </a:lnSpc>
                  <a:spcBef>
                    <a:spcPts val="0"/>
                  </a:spcBef>
                </a:pPr>
                <a:r>
                  <a:rPr lang="en-US" altLang="zh-CN" sz="2400" b="1" dirty="0">
                    <a:solidFill>
                      <a:schemeClr val="tx1"/>
                    </a:solidFill>
                  </a:rPr>
                  <a:t>       </a:t>
                </a:r>
                <a14:m>
                  <m:oMath xmlns:m="http://schemas.openxmlformats.org/officeDocument/2006/math">
                    <m:sSup>
                      <m:sSupPr>
                        <m:ctrlPr>
                          <a:rPr lang="zh-CN" altLang="zh-CN" sz="2400" b="1" i="1">
                            <a:solidFill>
                              <a:schemeClr val="tx1"/>
                            </a:solidFill>
                            <a:latin typeface="Cambria Math" panose="02040503050406030204" pitchFamily="18" charset="0"/>
                          </a:rPr>
                        </m:ctrlPr>
                      </m:sSupPr>
                      <m:e>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panose="02040503050406030204" pitchFamily="18" charset="0"/>
                              </a:rPr>
                              <m:t> </m:t>
                            </m:r>
                            <m:r>
                              <a:rPr lang="en-US" altLang="zh-CN" sz="2400" b="1" i="1" smtClean="0">
                                <a:solidFill>
                                  <a:schemeClr val="tx1"/>
                                </a:solidFill>
                                <a:latin typeface="Cambria Math"/>
                              </a:rPr>
                              <m:t>𝝅</m:t>
                            </m:r>
                          </m:e>
                          <m:sub>
                            <m:r>
                              <a:rPr lang="en-US" altLang="zh-CN" sz="2400" b="1" i="1">
                                <a:solidFill>
                                  <a:schemeClr val="tx1"/>
                                </a:solidFill>
                                <a:latin typeface="Cambria Math"/>
                              </a:rPr>
                              <m:t>𝟏</m:t>
                            </m:r>
                          </m:sub>
                        </m:sSub>
                      </m:e>
                      <m:sup>
                        <m:r>
                          <a:rPr lang="en-US" altLang="zh-CN" sz="2400" b="1" i="1">
                            <a:solidFill>
                              <a:schemeClr val="tx1"/>
                            </a:solidFill>
                            <a:latin typeface="Cambria Math"/>
                          </a:rPr>
                          <m:t>−</m:t>
                        </m:r>
                        <m:r>
                          <a:rPr lang="en-US" altLang="zh-CN" sz="2400" b="1" i="1">
                            <a:solidFill>
                              <a:schemeClr val="tx1"/>
                            </a:solidFill>
                            <a:latin typeface="Cambria Math"/>
                          </a:rPr>
                          <m:t>𝟏</m:t>
                        </m:r>
                      </m:sup>
                    </m:sSup>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𝟑</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𝟐</m:t>
                            </m:r>
                          </m:e>
                        </m:d>
                      </m:e>
                    </m:d>
                  </m:oMath>
                </a14:m>
                <a:r>
                  <a:rPr lang="zh-CN" altLang="zh-CN" sz="2400" b="1" dirty="0">
                    <a:solidFill>
                      <a:schemeClr val="tx1"/>
                    </a:solidFill>
                  </a:rPr>
                  <a:t>；</a:t>
                </a:r>
                <a:endParaRPr lang="en-US" altLang="zh-CN" sz="2400" b="1" dirty="0">
                  <a:solidFill>
                    <a:schemeClr val="tx1"/>
                  </a:solidFill>
                </a:endParaRPr>
              </a:p>
              <a:p>
                <a:pPr>
                  <a:lnSpc>
                    <a:spcPct val="150000"/>
                  </a:lnSpc>
                  <a:spcBef>
                    <a:spcPts val="0"/>
                  </a:spcBef>
                </a:pPr>
                <a:r>
                  <a:rPr lang="en-US" altLang="zh-CN" sz="2400" b="1" dirty="0">
                    <a:solidFill>
                      <a:schemeClr val="tx1"/>
                    </a:solidFill>
                  </a:rPr>
                  <a:t>      </a:t>
                </a:r>
                <a14:m>
                  <m:oMath xmlns:m="http://schemas.openxmlformats.org/officeDocument/2006/math">
                    <m:r>
                      <a:rPr lang="en-US" altLang="zh-CN" sz="2400" b="1">
                        <a:solidFill>
                          <a:schemeClr val="tx1"/>
                        </a:solidFill>
                        <a:latin typeface="Cambria Math"/>
                      </a:rPr>
                      <m:t>  </m:t>
                    </m:r>
                    <m:sSup>
                      <m:sSupPr>
                        <m:ctrlPr>
                          <a:rPr lang="zh-CN" altLang="zh-CN" sz="2400" b="1" i="1">
                            <a:solidFill>
                              <a:schemeClr val="tx1"/>
                            </a:solidFill>
                            <a:latin typeface="Cambria Math" panose="02040503050406030204" pitchFamily="18" charset="0"/>
                          </a:rPr>
                        </m:ctrlPr>
                      </m:sSupP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𝟐</m:t>
                            </m:r>
                          </m:sub>
                        </m:sSub>
                      </m:e>
                      <m:sup>
                        <m:r>
                          <a:rPr lang="en-US" altLang="zh-CN" sz="2400" b="1" i="1">
                            <a:solidFill>
                              <a:schemeClr val="tx1"/>
                            </a:solidFill>
                            <a:latin typeface="Cambria Math"/>
                          </a:rPr>
                          <m:t>−</m:t>
                        </m:r>
                        <m:r>
                          <a:rPr lang="en-US" altLang="zh-CN" sz="2400" b="1" i="1">
                            <a:solidFill>
                              <a:schemeClr val="tx1"/>
                            </a:solidFill>
                            <a:latin typeface="Cambria Math"/>
                          </a:rPr>
                          <m:t>𝟏</m:t>
                        </m:r>
                      </m:sup>
                    </m:sSup>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smtClean="0">
                                <a:solidFill>
                                  <a:schemeClr val="tx1"/>
                                </a:solidFill>
                                <a:latin typeface="Cambria Math" panose="02040503050406030204" pitchFamily="18" charset="0"/>
                              </a:rPr>
                              <m:t>𝟑</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smtClean="0">
                                <a:solidFill>
                                  <a:schemeClr val="tx1"/>
                                </a:solidFill>
                                <a:latin typeface="Cambria Math" panose="02040503050406030204" pitchFamily="18" charset="0"/>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smtClean="0">
                                <a:solidFill>
                                  <a:schemeClr val="tx1"/>
                                </a:solidFill>
                                <a:latin typeface="Cambria Math" panose="02040503050406030204" pitchFamily="18" charset="0"/>
                              </a:rPr>
                              <m:t>𝟐</m:t>
                            </m:r>
                          </m:e>
                        </m:d>
                      </m:e>
                    </m:d>
                  </m:oMath>
                </a14:m>
                <a:r>
                  <a:rPr lang="zh-CN" altLang="zh-CN" sz="2400" b="1" dirty="0">
                    <a:solidFill>
                      <a:schemeClr val="tx1"/>
                    </a:solidFill>
                  </a:rPr>
                  <a:t>；</a:t>
                </a:r>
              </a:p>
              <a:p>
                <a:pPr>
                  <a:lnSpc>
                    <a:spcPct val="150000"/>
                  </a:lnSpc>
                  <a:spcBef>
                    <a:spcPts val="0"/>
                  </a:spcBef>
                </a:pPr>
                <a:r>
                  <a:rPr lang="en-US" altLang="zh-CN" sz="2400" b="1" dirty="0">
                    <a:solidFill>
                      <a:schemeClr val="tx1"/>
                    </a:solidFill>
                  </a:rPr>
                  <a:t>      </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smtClean="0">
                            <a:solidFill>
                              <a:schemeClr val="tx1"/>
                            </a:solidFill>
                            <a:latin typeface="Cambria Math"/>
                          </a:rPr>
                          <m:t>  </m:t>
                        </m:r>
                        <m:r>
                          <a:rPr lang="en-US" altLang="zh-CN" sz="2400" b="1" i="1">
                            <a:solidFill>
                              <a:schemeClr val="tx1"/>
                            </a:solidFill>
                            <a:latin typeface="Cambria Math"/>
                          </a:rPr>
                          <m:t>𝝅</m:t>
                        </m:r>
                      </m:e>
                      <m:sub>
                        <m:r>
                          <a:rPr lang="en-US" altLang="zh-CN" sz="2400" b="1" i="1">
                            <a:solidFill>
                              <a:schemeClr val="tx1"/>
                            </a:solidFill>
                            <a:latin typeface="Cambria Math"/>
                          </a:rPr>
                          <m:t>𝟏</m:t>
                        </m:r>
                      </m:sub>
                    </m:sSub>
                    <m:r>
                      <a:rPr lang="en-US" altLang="zh-CN" sz="2400" b="1">
                        <a:solidFill>
                          <a:schemeClr val="tx1"/>
                        </a:solidFill>
                        <a:latin typeface="Cambria Math"/>
                      </a:rPr>
                      <m:t>∘ </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𝟐</m:t>
                        </m:r>
                      </m:sub>
                    </m:sSub>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𝟐</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𝟑</m:t>
                            </m:r>
                          </m:e>
                        </m:d>
                      </m:e>
                    </m:d>
                  </m:oMath>
                </a14:m>
                <a:r>
                  <a:rPr lang="zh-CN" altLang="zh-CN" sz="2400" b="1" dirty="0">
                    <a:solidFill>
                      <a:schemeClr val="tx1"/>
                    </a:solidFill>
                  </a:rPr>
                  <a:t>； </a:t>
                </a:r>
                <a:endParaRPr lang="en-US" altLang="zh-CN" sz="2400" b="1" dirty="0">
                  <a:solidFill>
                    <a:schemeClr val="tx1"/>
                  </a:solidFill>
                </a:endParaRPr>
              </a:p>
              <a:p>
                <a:pPr>
                  <a:lnSpc>
                    <a:spcPct val="150000"/>
                  </a:lnSpc>
                  <a:spcBef>
                    <a:spcPts val="0"/>
                  </a:spcBef>
                </a:pPr>
                <a:r>
                  <a:rPr lang="en-US" altLang="zh-CN" sz="2400" b="1" dirty="0">
                    <a:solidFill>
                      <a:schemeClr val="tx1"/>
                    </a:solidFill>
                  </a:rPr>
                  <a:t>       </a:t>
                </a:r>
                <a14:m>
                  <m:oMath xmlns:m="http://schemas.openxmlformats.org/officeDocument/2006/math">
                    <m:sSup>
                      <m:sSupPr>
                        <m:ctrlPr>
                          <a:rPr lang="zh-CN" altLang="zh-CN" sz="2400" b="1" i="1">
                            <a:solidFill>
                              <a:schemeClr val="tx1"/>
                            </a:solidFill>
                            <a:latin typeface="Cambria Math" panose="02040503050406030204" pitchFamily="18" charset="0"/>
                          </a:rPr>
                        </m:ctrlPr>
                      </m:sSupP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𝟏</m:t>
                            </m:r>
                          </m:sub>
                        </m:sSub>
                      </m:e>
                      <m:sup>
                        <m:r>
                          <a:rPr lang="en-US" altLang="zh-CN" sz="2400" b="1" i="1">
                            <a:solidFill>
                              <a:schemeClr val="tx1"/>
                            </a:solidFill>
                            <a:latin typeface="Cambria Math"/>
                          </a:rPr>
                          <m:t>−</m:t>
                        </m:r>
                        <m:r>
                          <a:rPr lang="en-US" altLang="zh-CN" sz="2400" b="1" i="1">
                            <a:solidFill>
                              <a:schemeClr val="tx1"/>
                            </a:solidFill>
                            <a:latin typeface="Cambria Math"/>
                          </a:rPr>
                          <m:t>𝟏</m:t>
                        </m:r>
                      </m:sup>
                    </m:sSup>
                    <m:r>
                      <a:rPr lang="en-US" altLang="zh-CN" sz="2400" b="1">
                        <a:solidFill>
                          <a:schemeClr val="tx1"/>
                        </a:solidFill>
                        <a:latin typeface="Cambria Math"/>
                      </a:rPr>
                      <m:t>∘ </m:t>
                    </m:r>
                    <m:sSup>
                      <m:sSupPr>
                        <m:ctrlPr>
                          <a:rPr lang="zh-CN" altLang="zh-CN" sz="2400" b="1" i="1">
                            <a:solidFill>
                              <a:schemeClr val="tx1"/>
                            </a:solidFill>
                            <a:latin typeface="Cambria Math" panose="02040503050406030204" pitchFamily="18" charset="0"/>
                          </a:rPr>
                        </m:ctrlPr>
                      </m:sSupPr>
                      <m:e>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𝝅</m:t>
                            </m:r>
                          </m:e>
                          <m:sub>
                            <m:r>
                              <a:rPr lang="en-US" altLang="zh-CN" sz="2400" b="1" i="1">
                                <a:solidFill>
                                  <a:schemeClr val="tx1"/>
                                </a:solidFill>
                                <a:latin typeface="Cambria Math"/>
                              </a:rPr>
                              <m:t>𝟐</m:t>
                            </m:r>
                          </m:sub>
                        </m:sSub>
                      </m:e>
                      <m:sup>
                        <m:r>
                          <a:rPr lang="en-US" altLang="zh-CN" sz="2400" b="1" i="1">
                            <a:solidFill>
                              <a:schemeClr val="tx1"/>
                            </a:solidFill>
                            <a:latin typeface="Cambria Math"/>
                          </a:rPr>
                          <m:t>−</m:t>
                        </m:r>
                        <m:r>
                          <a:rPr lang="en-US" altLang="zh-CN" sz="2400" b="1" i="1">
                            <a:solidFill>
                              <a:schemeClr val="tx1"/>
                            </a:solidFill>
                            <a:latin typeface="Cambria Math"/>
                          </a:rPr>
                          <m:t>𝟏</m:t>
                        </m:r>
                      </m:sup>
                    </m:sSup>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𝟑</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𝟐</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𝟏</m:t>
                            </m:r>
                          </m:e>
                        </m:d>
                      </m:e>
                    </m:d>
                  </m:oMath>
                </a14:m>
                <a:r>
                  <a:rPr lang="zh-CN" altLang="zh-CN" sz="2400" b="1" dirty="0">
                    <a:solidFill>
                      <a:schemeClr val="tx1"/>
                    </a:solidFill>
                  </a:rPr>
                  <a:t>。</a:t>
                </a:r>
              </a:p>
            </p:txBody>
          </p:sp>
        </mc:Choice>
        <mc:Fallback xmlns="">
          <p:sp>
            <p:nvSpPr>
              <p:cNvPr id="2" name="TextBox 1"/>
              <p:cNvSpPr txBox="1">
                <a:spLocks noRot="1" noChangeAspect="1" noMove="1" noResize="1" noEditPoints="1" noAdjustHandles="1" noChangeArrowheads="1" noChangeShapeType="1" noTextEdit="1"/>
              </p:cNvSpPr>
              <p:nvPr/>
            </p:nvSpPr>
            <p:spPr>
              <a:xfrm>
                <a:off x="715810" y="2082312"/>
                <a:ext cx="8064251" cy="3968138"/>
              </a:xfrm>
              <a:prstGeom prst="rect">
                <a:avLst/>
              </a:prstGeom>
              <a:blipFill>
                <a:blip r:embed="rId2"/>
                <a:stretch>
                  <a:fillRect l="-1134" b="-1229"/>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4A998AB-7539-4708-8190-85C8E759B8E5}"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277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277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A54898F8-112B-4723-9A54-2C217C47EE4B}" type="slidenum">
              <a:rPr lang="en-US" altLang="zh-CN" sz="1400" b="1">
                <a:latin typeface="Times New Roman" pitchFamily="18" charset="0"/>
                <a:ea typeface="宋体" pitchFamily="2" charset="-122"/>
              </a:rPr>
              <a:pPr algn="r" eaLnBrk="1" hangingPunct="1"/>
              <a:t>17</a:t>
            </a:fld>
            <a:endParaRPr lang="en-US" altLang="zh-CN" sz="1400" b="1">
              <a:latin typeface="Times New Roman" pitchFamily="18" charset="0"/>
              <a:ea typeface="宋体" pitchFamily="2" charset="-122"/>
            </a:endParaRPr>
          </a:p>
        </p:txBody>
      </p:sp>
      <p:sp>
        <p:nvSpPr>
          <p:cNvPr id="32773" name="Text Box 2"/>
          <p:cNvSpPr txBox="1">
            <a:spLocks noChangeArrowheads="1"/>
          </p:cNvSpPr>
          <p:nvPr/>
        </p:nvSpPr>
        <p:spPr bwMode="auto">
          <a:xfrm>
            <a:off x="1403350" y="62068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置换函数的运算</a:t>
            </a:r>
          </a:p>
        </p:txBody>
      </p:sp>
      <mc:AlternateContent xmlns:mc="http://schemas.openxmlformats.org/markup-compatibility/2006" xmlns:a14="http://schemas.microsoft.com/office/drawing/2010/main">
        <mc:Choice Requires="a14">
          <p:sp>
            <p:nvSpPr>
              <p:cNvPr id="3" name="TextBox 2"/>
              <p:cNvSpPr txBox="1"/>
              <p:nvPr/>
            </p:nvSpPr>
            <p:spPr>
              <a:xfrm>
                <a:off x="251520" y="1700808"/>
                <a:ext cx="8820472" cy="4398961"/>
              </a:xfrm>
              <a:prstGeom prst="rect">
                <a:avLst/>
              </a:prstGeom>
              <a:solidFill>
                <a:schemeClr val="accent3">
                  <a:lumMod val="95000"/>
                </a:schemeClr>
              </a:solidFill>
            </p:spPr>
            <p:txBody>
              <a:bodyPr wrap="square" rtlCol="0">
                <a:spAutoFit/>
              </a:bodyPr>
              <a:lstStyle/>
              <a:p>
                <a:pPr>
                  <a:lnSpc>
                    <a:spcPct val="150000"/>
                  </a:lnSpc>
                  <a:spcBef>
                    <a:spcPts val="1200"/>
                  </a:spcBef>
                  <a:spcAft>
                    <a:spcPts val="1200"/>
                  </a:spcAft>
                </a:pPr>
                <a:r>
                  <a:rPr lang="zh-CN" altLang="zh-CN" sz="2400" b="1" dirty="0"/>
                  <a:t>【定义】</a:t>
                </a:r>
                <a:r>
                  <a:rPr lang="zh-CN" altLang="zh-CN" sz="2400" b="1" dirty="0">
                    <a:solidFill>
                      <a:srgbClr val="0000FF"/>
                    </a:solidFill>
                  </a:rPr>
                  <a:t>设</a:t>
                </a:r>
                <a14:m>
                  <m:oMath xmlns:m="http://schemas.openxmlformats.org/officeDocument/2006/math">
                    <m:r>
                      <a:rPr lang="en-US" altLang="zh-CN" sz="2400" b="1" i="1">
                        <a:solidFill>
                          <a:srgbClr val="0000FF"/>
                        </a:solidFill>
                        <a:latin typeface="Cambria Math" panose="02040503050406030204" pitchFamily="18" charset="0"/>
                      </a:rPr>
                      <m:t>𝑨</m:t>
                    </m:r>
                    <m:r>
                      <a:rPr lang="en-US" altLang="zh-CN" sz="2400" b="1" i="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𝟏</m:t>
                        </m:r>
                      </m:sub>
                    </m:sSub>
                    <m:r>
                      <a:rPr lang="en-US" altLang="zh-CN" sz="2400" b="1" i="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𝟐</m:t>
                        </m:r>
                      </m:sub>
                    </m:sSub>
                    <m:r>
                      <a:rPr lang="en-US" altLang="zh-CN" sz="2400" b="1" i="1">
                        <a:solidFill>
                          <a:srgbClr val="0000FF"/>
                        </a:solidFill>
                        <a:latin typeface="Cambria Math" panose="02040503050406030204" pitchFamily="18" charset="0"/>
                      </a:rPr>
                      <m:t>,⋯,</m:t>
                    </m:r>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panose="02040503050406030204" pitchFamily="18" charset="0"/>
                          </a:rPr>
                          <m:t>𝒂</m:t>
                        </m:r>
                      </m:e>
                      <m:sub>
                        <m:r>
                          <a:rPr lang="en-US" altLang="zh-CN" sz="2400" b="1" i="1">
                            <a:solidFill>
                              <a:srgbClr val="0000FF"/>
                            </a:solidFill>
                            <a:latin typeface="Cambria Math" panose="02040503050406030204" pitchFamily="18" charset="0"/>
                          </a:rPr>
                          <m:t>𝒏</m:t>
                        </m:r>
                      </m:sub>
                    </m:sSub>
                    <m:r>
                      <a:rPr lang="en-US" altLang="zh-CN" sz="2400" b="1" i="1">
                        <a:solidFill>
                          <a:srgbClr val="0000FF"/>
                        </a:solidFill>
                        <a:latin typeface="Cambria Math" panose="02040503050406030204" pitchFamily="18" charset="0"/>
                      </a:rPr>
                      <m:t>}</m:t>
                    </m:r>
                  </m:oMath>
                </a14:m>
                <a:r>
                  <a:rPr lang="zh-CN" altLang="zh-CN" sz="2400" b="1" dirty="0">
                    <a:solidFill>
                      <a:srgbClr val="0000FF"/>
                    </a:solidFill>
                  </a:rPr>
                  <a:t>的任意两个</a:t>
                </a:r>
                <a14:m>
                  <m:oMath xmlns:m="http://schemas.openxmlformats.org/officeDocument/2006/math">
                    <m:r>
                      <a:rPr lang="en-US" altLang="zh-CN" sz="2400" b="1" i="1">
                        <a:solidFill>
                          <a:srgbClr val="0000FF"/>
                        </a:solidFill>
                        <a:latin typeface="Cambria Math" panose="02040503050406030204" pitchFamily="18" charset="0"/>
                      </a:rPr>
                      <m:t>𝒏</m:t>
                    </m:r>
                  </m:oMath>
                </a14:m>
                <a:r>
                  <a:rPr lang="zh-CN" altLang="zh-CN" sz="2400" b="1" dirty="0">
                    <a:solidFill>
                      <a:srgbClr val="0000FF"/>
                    </a:solidFill>
                  </a:rPr>
                  <a:t>阶置换函数</a:t>
                </a:r>
                <a14:m>
                  <m:oMath xmlns:m="http://schemas.openxmlformats.org/officeDocument/2006/math">
                    <m:r>
                      <a:rPr lang="en-US" altLang="zh-CN" sz="2400" b="1" i="1">
                        <a:solidFill>
                          <a:srgbClr val="0000FF"/>
                        </a:solidFill>
                        <a:latin typeface="Cambria Math" panose="02040503050406030204" pitchFamily="18" charset="0"/>
                      </a:rPr>
                      <m:t>𝝅</m:t>
                    </m:r>
                  </m:oMath>
                </a14:m>
                <a:r>
                  <a:rPr lang="zh-CN" altLang="zh-CN" sz="2400" b="1" dirty="0">
                    <a:solidFill>
                      <a:srgbClr val="0000FF"/>
                    </a:solidFill>
                  </a:rPr>
                  <a:t>和</a:t>
                </a:r>
                <a14:m>
                  <m:oMath xmlns:m="http://schemas.openxmlformats.org/officeDocument/2006/math">
                    <m:r>
                      <a:rPr lang="en-US" altLang="zh-CN" sz="2400" b="1" i="1">
                        <a:solidFill>
                          <a:srgbClr val="0000FF"/>
                        </a:solidFill>
                        <a:latin typeface="Cambria Math" panose="02040503050406030204" pitchFamily="18" charset="0"/>
                      </a:rPr>
                      <m:t>𝝉</m:t>
                    </m:r>
                  </m:oMath>
                </a14:m>
                <a:r>
                  <a:rPr lang="zh-CN" altLang="zh-CN" sz="2400" b="1" dirty="0">
                    <a:solidFill>
                      <a:srgbClr val="0000FF"/>
                    </a:solidFill>
                  </a:rPr>
                  <a:t>：</a:t>
                </a:r>
              </a:p>
              <a:p>
                <a:pPr>
                  <a:lnSpc>
                    <a:spcPct val="150000"/>
                  </a:lnSpc>
                  <a:spcBef>
                    <a:spcPts val="1200"/>
                  </a:spcBef>
                </a:pPr>
                <a14:m>
                  <m:oMathPara xmlns:m="http://schemas.openxmlformats.org/officeDocument/2006/math">
                    <m:oMathParaPr>
                      <m:jc m:val="centerGroup"/>
                    </m:oMathParaPr>
                    <m:oMath xmlns:m="http://schemas.openxmlformats.org/officeDocument/2006/math">
                      <m:r>
                        <a:rPr lang="en-US" altLang="zh-CN" sz="2000" b="1" i="1">
                          <a:solidFill>
                            <a:srgbClr val="0000FF"/>
                          </a:solidFill>
                          <a:latin typeface="Cambria Math" panose="02040503050406030204" pitchFamily="18" charset="0"/>
                        </a:rPr>
                        <m:t>𝝅</m:t>
                      </m:r>
                      <m:r>
                        <a:rPr lang="en-US" altLang="zh-CN" sz="2000" b="1" i="1">
                          <a:solidFill>
                            <a:srgbClr val="0000FF"/>
                          </a:solidFill>
                          <a:latin typeface="Cambria Math" panose="02040503050406030204" pitchFamily="18" charset="0"/>
                        </a:rPr>
                        <m:t>=</m:t>
                      </m:r>
                      <m:d>
                        <m:dPr>
                          <m:ctrlPr>
                            <a:rPr lang="zh-CN" altLang="zh-CN" sz="2000" b="1" i="1">
                              <a:solidFill>
                                <a:srgbClr val="0000FF"/>
                              </a:solidFill>
                              <a:latin typeface="Cambria Math" panose="02040503050406030204" pitchFamily="18" charset="0"/>
                            </a:rPr>
                          </m:ctrlPr>
                        </m:dPr>
                        <m:e>
                          <m:m>
                            <m:mPr>
                              <m:mcs>
                                <m:mc>
                                  <m:mcPr>
                                    <m:count m:val="3"/>
                                    <m:mcJc m:val="center"/>
                                  </m:mcPr>
                                </m:mc>
                              </m:mcs>
                              <m:ctrlPr>
                                <a:rPr lang="zh-CN" altLang="zh-CN" sz="2000" b="1" i="1">
                                  <a:solidFill>
                                    <a:srgbClr val="0000FF"/>
                                  </a:solidFill>
                                  <a:latin typeface="Cambria Math" panose="02040503050406030204" pitchFamily="18" charset="0"/>
                                </a:rPr>
                              </m:ctrlPr>
                            </m:mPr>
                            <m:m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𝟏</m:t>
                                    </m:r>
                                  </m:sub>
                                </m:sSub>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𝟐</m:t>
                                    </m:r>
                                  </m:sub>
                                </m:sSub>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𝟑</m:t>
                                    </m:r>
                                  </m:sub>
                                </m:sSub>
                              </m:e>
                            </m:mr>
                            <m:mr>
                              <m:e>
                                <m:r>
                                  <a:rPr lang="en-US" altLang="zh-CN" sz="2000" b="1" i="1">
                                    <a:solidFill>
                                      <a:srgbClr val="0000FF"/>
                                    </a:solidFill>
                                    <a:latin typeface="Cambria Math" panose="02040503050406030204" pitchFamily="18" charset="0"/>
                                  </a:rPr>
                                  <m:t>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𝟏</m:t>
                                        </m:r>
                                      </m:sub>
                                    </m:sSub>
                                  </m:e>
                                </m:d>
                              </m:e>
                              <m:e>
                                <m:r>
                                  <a:rPr lang="en-US" altLang="zh-CN" sz="2000" b="1" i="1">
                                    <a:solidFill>
                                      <a:srgbClr val="0000FF"/>
                                    </a:solidFill>
                                    <a:latin typeface="Cambria Math" panose="02040503050406030204" pitchFamily="18" charset="0"/>
                                  </a:rPr>
                                  <m:t>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𝟐</m:t>
                                        </m:r>
                                      </m:sub>
                                    </m:sSub>
                                  </m:e>
                                </m:d>
                              </m:e>
                              <m:e>
                                <m:r>
                                  <a:rPr lang="en-US" altLang="zh-CN" sz="2000" b="1" i="1">
                                    <a:solidFill>
                                      <a:srgbClr val="0000FF"/>
                                    </a:solidFill>
                                    <a:latin typeface="Cambria Math" panose="02040503050406030204" pitchFamily="18" charset="0"/>
                                  </a:rPr>
                                  <m:t>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𝟑</m:t>
                                        </m:r>
                                      </m:sub>
                                    </m:sSub>
                                  </m:e>
                                </m:d>
                              </m:e>
                            </m:mr>
                          </m:m>
                          <m:r>
                            <a:rPr lang="en-US" altLang="zh-CN" sz="2000" b="1" i="1">
                              <a:solidFill>
                                <a:srgbClr val="0000FF"/>
                              </a:solidFill>
                              <a:latin typeface="Cambria Math" panose="02040503050406030204" pitchFamily="18" charset="0"/>
                            </a:rPr>
                            <m:t>     </m:t>
                          </m:r>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m:t>
                                </m:r>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𝒏</m:t>
                                    </m:r>
                                  </m:sub>
                                </m:sSub>
                              </m:e>
                            </m:mr>
                            <m:mr>
                              <m:e>
                                <m:r>
                                  <a:rPr lang="en-US" altLang="zh-CN" sz="2000" b="1" i="1">
                                    <a:solidFill>
                                      <a:srgbClr val="0000FF"/>
                                    </a:solidFill>
                                    <a:latin typeface="Cambria Math" panose="02040503050406030204" pitchFamily="18" charset="0"/>
                                  </a:rPr>
                                  <m:t>⋯</m:t>
                                </m:r>
                              </m:e>
                              <m:e>
                                <m:r>
                                  <a:rPr lang="en-US" altLang="zh-CN" sz="2000" b="1" i="1">
                                    <a:solidFill>
                                      <a:srgbClr val="0000FF"/>
                                    </a:solidFill>
                                    <a:latin typeface="Cambria Math" panose="02040503050406030204" pitchFamily="18" charset="0"/>
                                  </a:rPr>
                                  <m:t>𝝅</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𝒏</m:t>
                                        </m:r>
                                      </m:sub>
                                    </m:sSub>
                                  </m:e>
                                </m:d>
                              </m:e>
                            </m:mr>
                          </m:m>
                        </m:e>
                      </m:d>
                    </m:oMath>
                  </m:oMathPara>
                </a14:m>
                <a:endParaRPr lang="zh-CN" altLang="zh-CN" sz="2000" b="1" dirty="0">
                  <a:solidFill>
                    <a:srgbClr val="0000FF"/>
                  </a:solidFill>
                </a:endParaRPr>
              </a:p>
              <a:p>
                <a:pPr>
                  <a:lnSpc>
                    <a:spcPct val="150000"/>
                  </a:lnSpc>
                  <a:spcBef>
                    <a:spcPts val="1200"/>
                  </a:spcBef>
                </a:pPr>
                <a14:m>
                  <m:oMathPara xmlns:m="http://schemas.openxmlformats.org/officeDocument/2006/math">
                    <m:oMathParaPr>
                      <m:jc m:val="centerGroup"/>
                    </m:oMathParaPr>
                    <m:oMath xmlns:m="http://schemas.openxmlformats.org/officeDocument/2006/math">
                      <m:r>
                        <a:rPr lang="en-US" altLang="zh-CN" sz="2000" b="1" i="1">
                          <a:solidFill>
                            <a:srgbClr val="0000FF"/>
                          </a:solidFill>
                          <a:latin typeface="Cambria Math" panose="02040503050406030204" pitchFamily="18" charset="0"/>
                        </a:rPr>
                        <m:t>𝝉</m:t>
                      </m:r>
                      <m:r>
                        <a:rPr lang="en-US" altLang="zh-CN" sz="2000" b="1" i="1">
                          <a:solidFill>
                            <a:srgbClr val="0000FF"/>
                          </a:solidFill>
                          <a:latin typeface="Cambria Math" panose="02040503050406030204" pitchFamily="18" charset="0"/>
                        </a:rPr>
                        <m:t>=</m:t>
                      </m:r>
                      <m:d>
                        <m:dPr>
                          <m:ctrlPr>
                            <a:rPr lang="zh-CN" altLang="zh-CN" sz="2000" b="1" i="1">
                              <a:solidFill>
                                <a:srgbClr val="0000FF"/>
                              </a:solidFill>
                              <a:latin typeface="Cambria Math" panose="02040503050406030204" pitchFamily="18" charset="0"/>
                            </a:rPr>
                          </m:ctrlPr>
                        </m:dPr>
                        <m:e>
                          <m:m>
                            <m:mPr>
                              <m:mcs>
                                <m:mc>
                                  <m:mcPr>
                                    <m:count m:val="3"/>
                                    <m:mcJc m:val="center"/>
                                  </m:mcPr>
                                </m:mc>
                              </m:mcs>
                              <m:ctrlPr>
                                <a:rPr lang="zh-CN" altLang="zh-CN" sz="2000" b="1" i="1">
                                  <a:solidFill>
                                    <a:srgbClr val="0000FF"/>
                                  </a:solidFill>
                                  <a:latin typeface="Cambria Math" panose="02040503050406030204" pitchFamily="18" charset="0"/>
                                </a:rPr>
                              </m:ctrlPr>
                            </m:mPr>
                            <m:m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𝟏</m:t>
                                    </m:r>
                                  </m:sub>
                                </m:sSub>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𝟐</m:t>
                                    </m:r>
                                  </m:sub>
                                </m:sSub>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𝟑</m:t>
                                    </m:r>
                                  </m:sub>
                                </m:sSub>
                              </m:e>
                            </m:mr>
                            <m:mr>
                              <m:e>
                                <m:r>
                                  <a:rPr lang="en-US" altLang="zh-CN" sz="2000" b="1" i="1">
                                    <a:solidFill>
                                      <a:srgbClr val="0000FF"/>
                                    </a:solidFill>
                                    <a:latin typeface="Cambria Math" panose="02040503050406030204" pitchFamily="18" charset="0"/>
                                  </a:rPr>
                                  <m:t>𝝉</m:t>
                                </m:r>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𝟏</m:t>
                                    </m:r>
                                  </m:sub>
                                </m:sSub>
                                <m:r>
                                  <a:rPr lang="en-US" altLang="zh-CN" sz="2000" b="1" i="1">
                                    <a:solidFill>
                                      <a:srgbClr val="0000FF"/>
                                    </a:solidFill>
                                    <a:latin typeface="Cambria Math" panose="02040503050406030204" pitchFamily="18" charset="0"/>
                                  </a:rPr>
                                  <m:t>)</m:t>
                                </m:r>
                              </m:e>
                              <m:e>
                                <m:r>
                                  <a:rPr lang="en-US" altLang="zh-CN" sz="2000" b="1" i="1">
                                    <a:solidFill>
                                      <a:srgbClr val="0000FF"/>
                                    </a:solidFill>
                                    <a:latin typeface="Cambria Math" panose="02040503050406030204" pitchFamily="18" charset="0"/>
                                  </a:rPr>
                                  <m:t>𝝉</m:t>
                                </m:r>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𝟐</m:t>
                                    </m:r>
                                  </m:sub>
                                </m:sSub>
                                <m:r>
                                  <a:rPr lang="en-US" altLang="zh-CN" sz="2000" b="1" i="1">
                                    <a:solidFill>
                                      <a:srgbClr val="0000FF"/>
                                    </a:solidFill>
                                    <a:latin typeface="Cambria Math" panose="02040503050406030204" pitchFamily="18" charset="0"/>
                                  </a:rPr>
                                  <m:t>)</m:t>
                                </m:r>
                              </m:e>
                              <m:e>
                                <m:r>
                                  <a:rPr lang="en-US" altLang="zh-CN" sz="2000" b="1" i="1">
                                    <a:solidFill>
                                      <a:srgbClr val="0000FF"/>
                                    </a:solidFill>
                                    <a:latin typeface="Cambria Math" panose="02040503050406030204" pitchFamily="18" charset="0"/>
                                  </a:rPr>
                                  <m:t>𝝉</m:t>
                                </m:r>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𝟑</m:t>
                                    </m:r>
                                  </m:sub>
                                </m:sSub>
                                <m:r>
                                  <a:rPr lang="en-US" altLang="zh-CN" sz="2000" b="1" i="1">
                                    <a:solidFill>
                                      <a:srgbClr val="0000FF"/>
                                    </a:solidFill>
                                    <a:latin typeface="Cambria Math" panose="02040503050406030204" pitchFamily="18" charset="0"/>
                                  </a:rPr>
                                  <m:t>)</m:t>
                                </m:r>
                              </m:e>
                            </m:mr>
                          </m:m>
                          <m:r>
                            <a:rPr lang="en-US" altLang="zh-CN" sz="2000" b="1" i="1">
                              <a:solidFill>
                                <a:srgbClr val="0000FF"/>
                              </a:solidFill>
                              <a:latin typeface="Cambria Math" panose="02040503050406030204" pitchFamily="18" charset="0"/>
                            </a:rPr>
                            <m:t>     </m:t>
                          </m:r>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m:t>
                                </m:r>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𝒏</m:t>
                                    </m:r>
                                  </m:sub>
                                </m:sSub>
                              </m:e>
                            </m:mr>
                            <m:mr>
                              <m:e>
                                <m:r>
                                  <a:rPr lang="en-US" altLang="zh-CN" sz="2000" b="1" i="1">
                                    <a:solidFill>
                                      <a:srgbClr val="0000FF"/>
                                    </a:solidFill>
                                    <a:latin typeface="Cambria Math" panose="02040503050406030204" pitchFamily="18" charset="0"/>
                                  </a:rPr>
                                  <m:t>⋯</m:t>
                                </m:r>
                              </m:e>
                              <m:e>
                                <m:r>
                                  <a:rPr lang="en-US" altLang="zh-CN" sz="2000" b="1" i="1">
                                    <a:solidFill>
                                      <a:srgbClr val="0000FF"/>
                                    </a:solidFill>
                                    <a:latin typeface="Cambria Math" panose="02040503050406030204" pitchFamily="18" charset="0"/>
                                  </a:rPr>
                                  <m:t>𝝉</m:t>
                                </m:r>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𝒏</m:t>
                                    </m:r>
                                  </m:sub>
                                </m:sSub>
                                <m:r>
                                  <a:rPr lang="en-US" altLang="zh-CN" sz="2000" b="1" i="1">
                                    <a:solidFill>
                                      <a:srgbClr val="0000FF"/>
                                    </a:solidFill>
                                    <a:latin typeface="Cambria Math" panose="02040503050406030204" pitchFamily="18" charset="0"/>
                                  </a:rPr>
                                  <m:t>)</m:t>
                                </m:r>
                              </m:e>
                            </m:mr>
                          </m:m>
                        </m:e>
                      </m:d>
                    </m:oMath>
                  </m:oMathPara>
                </a14:m>
                <a:endParaRPr lang="zh-CN" altLang="zh-CN" sz="2000" b="1" dirty="0">
                  <a:solidFill>
                    <a:srgbClr val="0000FF"/>
                  </a:solidFill>
                </a:endParaRPr>
              </a:p>
              <a:p>
                <a:pPr>
                  <a:lnSpc>
                    <a:spcPct val="150000"/>
                  </a:lnSpc>
                  <a:spcBef>
                    <a:spcPts val="1200"/>
                  </a:spcBef>
                </a:pPr>
                <a:r>
                  <a:rPr lang="zh-CN" altLang="zh-CN" sz="2400" b="1" dirty="0">
                    <a:solidFill>
                      <a:srgbClr val="FF0000"/>
                    </a:solidFill>
                  </a:rPr>
                  <a:t>则</a:t>
                </a:r>
                <a14:m>
                  <m:oMath xmlns:m="http://schemas.openxmlformats.org/officeDocument/2006/math">
                    <m:r>
                      <a:rPr lang="en-US" altLang="zh-CN" sz="2400" b="1" i="1">
                        <a:solidFill>
                          <a:srgbClr val="FF0000"/>
                        </a:solidFill>
                        <a:latin typeface="Cambria Math" panose="02040503050406030204" pitchFamily="18" charset="0"/>
                      </a:rPr>
                      <m:t>𝝅</m:t>
                    </m:r>
                  </m:oMath>
                </a14:m>
                <a:r>
                  <a:rPr lang="zh-CN" altLang="zh-CN" sz="2400" b="1" dirty="0">
                    <a:solidFill>
                      <a:srgbClr val="FF0000"/>
                    </a:solidFill>
                  </a:rPr>
                  <a:t>和</a:t>
                </a:r>
                <a14:m>
                  <m:oMath xmlns:m="http://schemas.openxmlformats.org/officeDocument/2006/math">
                    <m:r>
                      <a:rPr lang="en-US" altLang="zh-CN" sz="2400" b="1" i="1">
                        <a:solidFill>
                          <a:srgbClr val="FF0000"/>
                        </a:solidFill>
                        <a:latin typeface="Cambria Math" panose="02040503050406030204" pitchFamily="18" charset="0"/>
                      </a:rPr>
                      <m:t>𝝉</m:t>
                    </m:r>
                  </m:oMath>
                </a14:m>
                <a:r>
                  <a:rPr lang="zh-CN" altLang="zh-CN" sz="2400" b="1" dirty="0">
                    <a:solidFill>
                      <a:srgbClr val="FF0000"/>
                    </a:solidFill>
                  </a:rPr>
                  <a:t>的乘积</a:t>
                </a:r>
                <a14:m>
                  <m:oMath xmlns:m="http://schemas.openxmlformats.org/officeDocument/2006/math">
                    <m:r>
                      <a:rPr lang="en-US" altLang="zh-CN" sz="2400" b="1" i="1">
                        <a:solidFill>
                          <a:srgbClr val="FF0000"/>
                        </a:solidFill>
                        <a:latin typeface="Cambria Math" panose="02040503050406030204" pitchFamily="18" charset="0"/>
                      </a:rPr>
                      <m:t>𝝅</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𝝉</m:t>
                    </m:r>
                  </m:oMath>
                </a14:m>
                <a:r>
                  <a:rPr lang="zh-CN" altLang="zh-CN" sz="2400" b="1" dirty="0">
                    <a:solidFill>
                      <a:srgbClr val="FF0000"/>
                    </a:solidFill>
                  </a:rPr>
                  <a:t>定义为：</a:t>
                </a:r>
              </a:p>
              <a:p>
                <a:pPr algn="ctr">
                  <a:spcBef>
                    <a:spcPts val="1200"/>
                  </a:spcBef>
                </a:pPr>
                <a14:m>
                  <m:oMath xmlns:m="http://schemas.openxmlformats.org/officeDocument/2006/math">
                    <m:r>
                      <a:rPr lang="en-US" altLang="zh-CN" sz="2000" b="1" i="1" smtClean="0">
                        <a:solidFill>
                          <a:srgbClr val="0000FF"/>
                        </a:solidFill>
                        <a:latin typeface="Cambria Math" panose="02040503050406030204" pitchFamily="18" charset="0"/>
                      </a:rPr>
                      <m:t>𝝅</m:t>
                    </m:r>
                    <m:r>
                      <a:rPr lang="en-US" altLang="zh-CN" sz="2000" b="1" i="1" smtClean="0">
                        <a:solidFill>
                          <a:srgbClr val="0000FF"/>
                        </a:solidFill>
                        <a:latin typeface="Cambria Math" panose="02040503050406030204" pitchFamily="18" charset="0"/>
                      </a:rPr>
                      <m:t>⋅</m:t>
                    </m:r>
                    <m:r>
                      <a:rPr lang="en-US" altLang="zh-CN" sz="2000" b="1" i="1" smtClean="0">
                        <a:solidFill>
                          <a:srgbClr val="0000FF"/>
                        </a:solidFill>
                        <a:latin typeface="Cambria Math" panose="02040503050406030204" pitchFamily="18" charset="0"/>
                      </a:rPr>
                      <m:t>𝝉</m:t>
                    </m:r>
                    <m:r>
                      <a:rPr lang="en-US" altLang="zh-CN" sz="2000" b="1" i="1" smtClean="0">
                        <a:solidFill>
                          <a:srgbClr val="0000FF"/>
                        </a:solidFill>
                        <a:latin typeface="Cambria Math" panose="02040503050406030204" pitchFamily="18" charset="0"/>
                      </a:rPr>
                      <m:t>=</m:t>
                    </m:r>
                    <m:d>
                      <m:dPr>
                        <m:ctrlPr>
                          <a:rPr lang="zh-CN" altLang="zh-CN" sz="2000" b="1" i="1">
                            <a:solidFill>
                              <a:srgbClr val="0000FF"/>
                            </a:solidFill>
                            <a:latin typeface="Cambria Math" panose="02040503050406030204" pitchFamily="18" charset="0"/>
                          </a:rPr>
                        </m:ctrlPr>
                      </m:dPr>
                      <m:e>
                        <m:m>
                          <m:mPr>
                            <m:mcs>
                              <m:mc>
                                <m:mcPr>
                                  <m:count m:val="3"/>
                                  <m:mcJc m:val="center"/>
                                </m:mcPr>
                              </m:mc>
                            </m:mcs>
                            <m:ctrlPr>
                              <a:rPr lang="zh-CN" altLang="zh-CN" sz="2000" b="1" i="1">
                                <a:solidFill>
                                  <a:srgbClr val="0000FF"/>
                                </a:solidFill>
                                <a:latin typeface="Cambria Math" panose="02040503050406030204" pitchFamily="18" charset="0"/>
                              </a:rPr>
                            </m:ctrlPr>
                          </m:mPr>
                          <m:m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𝟏</m:t>
                                  </m:r>
                                </m:sub>
                              </m:sSub>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𝟐</m:t>
                                  </m:r>
                                </m:sub>
                              </m:sSub>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𝟑</m:t>
                                  </m:r>
                                </m:sub>
                              </m:sSub>
                            </m:e>
                          </m:mr>
                          <m:mr>
                            <m:e>
                              <m:r>
                                <a:rPr lang="en-US" altLang="zh-CN" sz="2000" b="1" i="1">
                                  <a:solidFill>
                                    <a:srgbClr val="0000FF"/>
                                  </a:solidFill>
                                  <a:latin typeface="Cambria Math" panose="02040503050406030204" pitchFamily="18" charset="0"/>
                                </a:rPr>
                                <m:t>𝝅</m:t>
                              </m:r>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𝝉</m:t>
                              </m:r>
                              <m:r>
                                <a:rPr lang="en-US" altLang="zh-CN" sz="2000" b="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𝟏</m:t>
                                  </m:r>
                                </m:sub>
                              </m:sSub>
                              <m:r>
                                <a:rPr lang="en-US" altLang="zh-CN" sz="2000" b="1" i="1">
                                  <a:solidFill>
                                    <a:srgbClr val="0000FF"/>
                                  </a:solidFill>
                                  <a:latin typeface="Cambria Math" panose="02040503050406030204" pitchFamily="18" charset="0"/>
                                </a:rPr>
                                <m:t>))</m:t>
                              </m:r>
                            </m:e>
                            <m:e>
                              <m:r>
                                <a:rPr lang="en-US" altLang="zh-CN" sz="2000" b="1" i="1">
                                  <a:solidFill>
                                    <a:srgbClr val="0000FF"/>
                                  </a:solidFill>
                                  <a:latin typeface="Cambria Math" panose="02040503050406030204" pitchFamily="18" charset="0"/>
                                </a:rPr>
                                <m:t>𝝅</m:t>
                              </m:r>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𝝉</m:t>
                              </m:r>
                              <m:d>
                                <m:dPr>
                                  <m:ctrlPr>
                                    <a:rPr lang="zh-CN" altLang="zh-CN" sz="2000" b="1" i="1">
                                      <a:solidFill>
                                        <a:srgbClr val="0000FF"/>
                                      </a:solidFill>
                                      <a:latin typeface="Cambria Math" panose="02040503050406030204" pitchFamily="18" charset="0"/>
                                    </a:rPr>
                                  </m:ctrlPr>
                                </m:dPr>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𝟐</m:t>
                                      </m:r>
                                    </m:sub>
                                  </m:sSub>
                                </m:e>
                              </m:d>
                              <m:r>
                                <a:rPr lang="en-US" altLang="zh-CN" sz="2000" b="1" i="1">
                                  <a:solidFill>
                                    <a:srgbClr val="0000FF"/>
                                  </a:solidFill>
                                  <a:latin typeface="Cambria Math" panose="02040503050406030204" pitchFamily="18" charset="0"/>
                                </a:rPr>
                                <m:t>)</m:t>
                              </m:r>
                            </m:e>
                            <m:e>
                              <m:r>
                                <a:rPr lang="en-US" altLang="zh-CN" sz="2000" b="1" i="1">
                                  <a:solidFill>
                                    <a:srgbClr val="0000FF"/>
                                  </a:solidFill>
                                  <a:latin typeface="Cambria Math" panose="02040503050406030204" pitchFamily="18" charset="0"/>
                                </a:rPr>
                                <m:t>𝝅</m:t>
                              </m:r>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𝝉</m:t>
                                  </m:r>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𝟑</m:t>
                                  </m:r>
                                </m:sub>
                              </m:sSub>
                              <m:r>
                                <a:rPr lang="en-US" altLang="zh-CN" sz="2000" b="1" i="1">
                                  <a:solidFill>
                                    <a:srgbClr val="0000FF"/>
                                  </a:solidFill>
                                  <a:latin typeface="Cambria Math" panose="02040503050406030204" pitchFamily="18" charset="0"/>
                                </a:rPr>
                                <m:t>))</m:t>
                              </m:r>
                            </m:e>
                          </m:mr>
                        </m:m>
                        <m:r>
                          <a:rPr lang="en-US" altLang="zh-CN" sz="2000" b="1" i="1">
                            <a:solidFill>
                              <a:srgbClr val="0000FF"/>
                            </a:solidFill>
                            <a:latin typeface="Cambria Math" panose="02040503050406030204" pitchFamily="18" charset="0"/>
                          </a:rPr>
                          <m:t>     </m:t>
                        </m:r>
                        <m:m>
                          <m:mPr>
                            <m:mcs>
                              <m:mc>
                                <m:mcPr>
                                  <m:count m:val="2"/>
                                  <m:mcJc m:val="center"/>
                                </m:mcPr>
                              </m:mc>
                            </m:mcs>
                            <m:ctrlPr>
                              <a:rPr lang="zh-CN" altLang="zh-CN" sz="2000" b="1" i="1">
                                <a:solidFill>
                                  <a:srgbClr val="0000FF"/>
                                </a:solidFill>
                                <a:latin typeface="Cambria Math" panose="02040503050406030204" pitchFamily="18" charset="0"/>
                              </a:rPr>
                            </m:ctrlPr>
                          </m:mPr>
                          <m:mr>
                            <m:e>
                              <m:r>
                                <a:rPr lang="en-US" altLang="zh-CN" sz="2000" b="1" i="1">
                                  <a:solidFill>
                                    <a:srgbClr val="0000FF"/>
                                  </a:solidFill>
                                  <a:latin typeface="Cambria Math" panose="02040503050406030204" pitchFamily="18" charset="0"/>
                                </a:rPr>
                                <m:t>⋯</m:t>
                              </m:r>
                            </m:e>
                            <m:e>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𝒏</m:t>
                                  </m:r>
                                </m:sub>
                              </m:sSub>
                            </m:e>
                          </m:mr>
                          <m:mr>
                            <m:e>
                              <m:r>
                                <a:rPr lang="en-US" altLang="zh-CN" sz="2000" b="1" i="1">
                                  <a:solidFill>
                                    <a:srgbClr val="0000FF"/>
                                  </a:solidFill>
                                  <a:latin typeface="Cambria Math" panose="02040503050406030204" pitchFamily="18" charset="0"/>
                                </a:rPr>
                                <m:t>⋯</m:t>
                              </m:r>
                            </m:e>
                            <m:e>
                              <m:r>
                                <a:rPr lang="en-US" altLang="zh-CN" sz="2000" b="1" i="1">
                                  <a:solidFill>
                                    <a:srgbClr val="0000FF"/>
                                  </a:solidFill>
                                  <a:latin typeface="Cambria Math" panose="02040503050406030204" pitchFamily="18" charset="0"/>
                                </a:rPr>
                                <m:t>𝝅</m:t>
                              </m:r>
                              <m:r>
                                <a:rPr lang="en-US" altLang="zh-CN" sz="2000" b="1" i="1">
                                  <a:solidFill>
                                    <a:srgbClr val="0000FF"/>
                                  </a:solidFill>
                                  <a:latin typeface="Cambria Math" panose="02040503050406030204" pitchFamily="18" charset="0"/>
                                </a:rPr>
                                <m:t>(</m:t>
                              </m:r>
                              <m:sSub>
                                <m:sSubPr>
                                  <m:ctrlPr>
                                    <a:rPr lang="zh-CN" altLang="zh-CN" sz="2000" b="1" i="1">
                                      <a:solidFill>
                                        <a:srgbClr val="0000FF"/>
                                      </a:solidFill>
                                      <a:latin typeface="Cambria Math" panose="02040503050406030204" pitchFamily="18" charset="0"/>
                                    </a:rPr>
                                  </m:ctrlPr>
                                </m:sSubPr>
                                <m:e>
                                  <m:r>
                                    <a:rPr lang="en-US" altLang="zh-CN" sz="2000" b="1" i="1">
                                      <a:solidFill>
                                        <a:srgbClr val="0000FF"/>
                                      </a:solidFill>
                                      <a:latin typeface="Cambria Math" panose="02040503050406030204" pitchFamily="18" charset="0"/>
                                    </a:rPr>
                                    <m:t>𝝉</m:t>
                                  </m:r>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𝒂</m:t>
                                  </m:r>
                                </m:e>
                                <m:sub>
                                  <m:r>
                                    <a:rPr lang="en-US" altLang="zh-CN" sz="2000" b="1" i="1">
                                      <a:solidFill>
                                        <a:srgbClr val="0000FF"/>
                                      </a:solidFill>
                                      <a:latin typeface="Cambria Math" panose="02040503050406030204" pitchFamily="18" charset="0"/>
                                    </a:rPr>
                                    <m:t>𝒏</m:t>
                                  </m:r>
                                </m:sub>
                              </m:sSub>
                              <m:r>
                                <a:rPr lang="en-US" altLang="zh-CN" sz="2000" b="1" i="1">
                                  <a:solidFill>
                                    <a:srgbClr val="0000FF"/>
                                  </a:solidFill>
                                  <a:latin typeface="Cambria Math" panose="02040503050406030204" pitchFamily="18" charset="0"/>
                                </a:rPr>
                                <m:t>))</m:t>
                              </m:r>
                            </m:e>
                          </m:mr>
                        </m:m>
                      </m:e>
                    </m:d>
                  </m:oMath>
                </a14:m>
                <a:r>
                  <a:rPr lang="en-US" altLang="zh-CN" sz="2000" b="1" dirty="0">
                    <a:solidFill>
                      <a:schemeClr val="tx1"/>
                    </a:solidFill>
                  </a:rPr>
                  <a:t> </a:t>
                </a:r>
              </a:p>
              <a:p>
                <a:pPr>
                  <a:lnSpc>
                    <a:spcPct val="150000"/>
                  </a:lnSpc>
                  <a:spcBef>
                    <a:spcPts val="1200"/>
                  </a:spcBef>
                </a:pPr>
                <a:r>
                  <a:rPr lang="zh-CN" altLang="zh-CN" sz="2000" b="1" dirty="0">
                    <a:solidFill>
                      <a:schemeClr val="tx1"/>
                    </a:solidFill>
                  </a:rPr>
                  <a:t>在不引起混淆的情况下通常省略乘法符号，</a:t>
                </a:r>
                <a:r>
                  <a:rPr lang="zh-CN" altLang="zh-CN" sz="2000" b="1" dirty="0">
                    <a:solidFill>
                      <a:srgbClr val="0000FF"/>
                    </a:solidFill>
                  </a:rPr>
                  <a:t>即将</a:t>
                </a:r>
                <a14:m>
                  <m:oMath xmlns:m="http://schemas.openxmlformats.org/officeDocument/2006/math">
                    <m:r>
                      <a:rPr lang="en-US" altLang="zh-CN" sz="2000" b="1" i="1">
                        <a:solidFill>
                          <a:srgbClr val="0000FF"/>
                        </a:solidFill>
                        <a:latin typeface="Cambria Math" panose="02040503050406030204" pitchFamily="18" charset="0"/>
                      </a:rPr>
                      <m:t>𝝅</m:t>
                    </m:r>
                    <m:r>
                      <a:rPr lang="en-US" altLang="zh-CN" sz="2000" b="1" i="1">
                        <a:solidFill>
                          <a:srgbClr val="0000FF"/>
                        </a:solidFill>
                        <a:latin typeface="Cambria Math" panose="02040503050406030204" pitchFamily="18" charset="0"/>
                      </a:rPr>
                      <m:t>⋅</m:t>
                    </m:r>
                    <m:r>
                      <a:rPr lang="en-US" altLang="zh-CN" sz="2000" b="1" i="1">
                        <a:solidFill>
                          <a:srgbClr val="0000FF"/>
                        </a:solidFill>
                        <a:latin typeface="Cambria Math" panose="02040503050406030204" pitchFamily="18" charset="0"/>
                      </a:rPr>
                      <m:t>𝝉</m:t>
                    </m:r>
                  </m:oMath>
                </a14:m>
                <a:r>
                  <a:rPr lang="zh-CN" altLang="zh-CN" sz="2000" b="1" dirty="0">
                    <a:solidFill>
                      <a:srgbClr val="0000FF"/>
                    </a:solidFill>
                  </a:rPr>
                  <a:t>简写为</a:t>
                </a:r>
                <a14:m>
                  <m:oMath xmlns:m="http://schemas.openxmlformats.org/officeDocument/2006/math">
                    <m:r>
                      <a:rPr lang="en-US" altLang="zh-CN" sz="2000" b="1" i="1">
                        <a:solidFill>
                          <a:srgbClr val="0000FF"/>
                        </a:solidFill>
                        <a:latin typeface="Cambria Math" panose="02040503050406030204" pitchFamily="18" charset="0"/>
                      </a:rPr>
                      <m:t>𝝅𝝉</m:t>
                    </m:r>
                  </m:oMath>
                </a14:m>
                <a:r>
                  <a:rPr lang="zh-CN" altLang="zh-CN" sz="2000" b="1" dirty="0">
                    <a:solidFill>
                      <a:schemeClr val="tx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251520" y="1700808"/>
                <a:ext cx="8820472" cy="4398961"/>
              </a:xfrm>
              <a:prstGeom prst="rect">
                <a:avLst/>
              </a:prstGeom>
              <a:blipFill>
                <a:blip r:embed="rId2"/>
                <a:stretch>
                  <a:fillRect l="-1037" b="-1247"/>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B7771A7-E199-4DAF-8E94-4068DBC28D5B}"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379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379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5C4ED20B-0612-449B-A737-1C17582E8FF7}" type="slidenum">
              <a:rPr lang="en-US" altLang="zh-CN" sz="1400" b="1">
                <a:latin typeface="Times New Roman" pitchFamily="18" charset="0"/>
                <a:ea typeface="宋体" pitchFamily="2" charset="-122"/>
              </a:rPr>
              <a:pPr algn="r" eaLnBrk="1" hangingPunct="1"/>
              <a:t>18</a:t>
            </a:fld>
            <a:endParaRPr lang="en-US" altLang="zh-CN" sz="1400" b="1">
              <a:latin typeface="Times New Roman" pitchFamily="18" charset="0"/>
              <a:ea typeface="宋体" pitchFamily="2" charset="-122"/>
            </a:endParaRPr>
          </a:p>
        </p:txBody>
      </p:sp>
      <p:sp>
        <p:nvSpPr>
          <p:cNvPr id="33797"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3" name="TextBox 2"/>
              <p:cNvSpPr txBox="1"/>
              <p:nvPr/>
            </p:nvSpPr>
            <p:spPr>
              <a:xfrm>
                <a:off x="755576" y="1853777"/>
                <a:ext cx="7920880" cy="1606658"/>
              </a:xfrm>
              <a:prstGeom prst="rect">
                <a:avLst/>
              </a:prstGeom>
              <a:solidFill>
                <a:schemeClr val="accent6">
                  <a:lumMod val="75000"/>
                </a:schemeClr>
              </a:solidFill>
            </p:spPr>
            <p:txBody>
              <a:bodyPr wrap="square" rtlCol="0">
                <a:spAutoFit/>
              </a:bodyPr>
              <a:lstStyle/>
              <a:p>
                <a:r>
                  <a:rPr lang="zh-CN" altLang="zh-CN" sz="2400" b="1" dirty="0">
                    <a:solidFill>
                      <a:schemeClr val="bg1"/>
                    </a:solidFill>
                  </a:rPr>
                  <a:t>【例题】已知：</a:t>
                </a:r>
              </a:p>
              <a:p>
                <a:pPr algn="ctr"/>
                <a14:m>
                  <m:oMath xmlns:m="http://schemas.openxmlformats.org/officeDocument/2006/math">
                    <m:r>
                      <a:rPr lang="en-US" altLang="zh-CN" sz="2400" b="1" i="1">
                        <a:solidFill>
                          <a:schemeClr val="bg1"/>
                        </a:solidFill>
                        <a:latin typeface="Cambria Math" panose="02040503050406030204" pitchFamily="18" charset="0"/>
                      </a:rPr>
                      <m:t>𝝅</m:t>
                    </m:r>
                    <m:r>
                      <a:rPr lang="en-US" altLang="zh-CN" sz="2400" b="1" i="1">
                        <a:solidFill>
                          <a:schemeClr val="bg1"/>
                        </a:solidFill>
                        <a:latin typeface="Cambria Math" panose="02040503050406030204" pitchFamily="18" charset="0"/>
                      </a:rPr>
                      <m:t>=</m:t>
                    </m:r>
                    <m:d>
                      <m:dPr>
                        <m:ctrlPr>
                          <a:rPr lang="zh-CN" altLang="zh-CN" sz="2400" b="1" i="1">
                            <a:solidFill>
                              <a:schemeClr val="bg1"/>
                            </a:solidFill>
                            <a:latin typeface="Cambria Math" panose="02040503050406030204" pitchFamily="18" charset="0"/>
                          </a:rPr>
                        </m:ctrlPr>
                      </m:dPr>
                      <m:e>
                        <m:m>
                          <m:mPr>
                            <m:mcs>
                              <m:mc>
                                <m:mcPr>
                                  <m:count m:val="2"/>
                                  <m:mcJc m:val="center"/>
                                </m:mcPr>
                              </m:mc>
                            </m:mcs>
                            <m:ctrlPr>
                              <a:rPr lang="zh-CN" altLang="zh-CN" sz="2400" b="1" i="1">
                                <a:solidFill>
                                  <a:schemeClr val="bg1"/>
                                </a:solidFill>
                                <a:latin typeface="Cambria Math" panose="02040503050406030204" pitchFamily="18" charset="0"/>
                              </a:rPr>
                            </m:ctrlPr>
                          </m:mPr>
                          <m:mr>
                            <m:e>
                              <m:r>
                                <a:rPr lang="en-US" altLang="zh-CN" sz="2400" b="1" i="1">
                                  <a:solidFill>
                                    <a:schemeClr val="bg1"/>
                                  </a:solidFill>
                                  <a:latin typeface="Cambria Math" panose="02040503050406030204" pitchFamily="18" charset="0"/>
                                </a:rPr>
                                <m:t>𝟏</m:t>
                              </m:r>
                            </m:e>
                            <m:e>
                              <m:m>
                                <m:mPr>
                                  <m:mcs>
                                    <m:mc>
                                      <m:mcPr>
                                        <m:count m:val="2"/>
                                        <m:mcJc m:val="center"/>
                                      </m:mcPr>
                                    </m:mc>
                                  </m:mcs>
                                  <m:ctrlPr>
                                    <a:rPr lang="zh-CN" altLang="zh-CN" sz="2400" b="1" i="1">
                                      <a:solidFill>
                                        <a:schemeClr val="bg1"/>
                                      </a:solidFill>
                                      <a:latin typeface="Cambria Math" panose="02040503050406030204" pitchFamily="18" charset="0"/>
                                    </a:rPr>
                                  </m:ctrlPr>
                                </m:mPr>
                                <m:mr>
                                  <m:e>
                                    <m:r>
                                      <a:rPr lang="en-US" altLang="zh-CN" sz="2400" b="1" i="1">
                                        <a:solidFill>
                                          <a:schemeClr val="bg1"/>
                                        </a:solidFill>
                                        <a:latin typeface="Cambria Math" panose="02040503050406030204" pitchFamily="18" charset="0"/>
                                      </a:rPr>
                                      <m:t>𝟐</m:t>
                                    </m:r>
                                  </m:e>
                                  <m:e>
                                    <m:r>
                                      <a:rPr lang="en-US" altLang="zh-CN" sz="2400" b="1" i="1">
                                        <a:solidFill>
                                          <a:schemeClr val="bg1"/>
                                        </a:solidFill>
                                        <a:latin typeface="Cambria Math" panose="02040503050406030204" pitchFamily="18" charset="0"/>
                                      </a:rPr>
                                      <m:t>𝟑</m:t>
                                    </m:r>
                                  </m:e>
                                </m:mr>
                              </m:m>
                            </m:e>
                          </m:mr>
                          <m:mr>
                            <m:e>
                              <m:r>
                                <a:rPr lang="en-US" altLang="zh-CN" sz="2400" b="1" i="1">
                                  <a:solidFill>
                                    <a:schemeClr val="bg1"/>
                                  </a:solidFill>
                                  <a:latin typeface="Cambria Math" panose="02040503050406030204" pitchFamily="18" charset="0"/>
                                </a:rPr>
                                <m:t>𝟐</m:t>
                              </m:r>
                            </m:e>
                            <m:e>
                              <m:m>
                                <m:mPr>
                                  <m:mcs>
                                    <m:mc>
                                      <m:mcPr>
                                        <m:count m:val="2"/>
                                        <m:mcJc m:val="center"/>
                                      </m:mcPr>
                                    </m:mc>
                                  </m:mcs>
                                  <m:ctrlPr>
                                    <a:rPr lang="zh-CN" altLang="zh-CN" sz="2400" b="1" i="1">
                                      <a:solidFill>
                                        <a:schemeClr val="bg1"/>
                                      </a:solidFill>
                                      <a:latin typeface="Cambria Math" panose="02040503050406030204" pitchFamily="18" charset="0"/>
                                    </a:rPr>
                                  </m:ctrlPr>
                                </m:mPr>
                                <m:mr>
                                  <m:e>
                                    <m:r>
                                      <a:rPr lang="en-US" altLang="zh-CN" sz="2400" b="1" i="1">
                                        <a:solidFill>
                                          <a:schemeClr val="bg1"/>
                                        </a:solidFill>
                                        <a:latin typeface="Cambria Math" panose="02040503050406030204" pitchFamily="18" charset="0"/>
                                      </a:rPr>
                                      <m:t>𝟑</m:t>
                                    </m:r>
                                  </m:e>
                                  <m:e>
                                    <m:r>
                                      <a:rPr lang="en-US" altLang="zh-CN" sz="2400" b="1" i="1">
                                        <a:solidFill>
                                          <a:schemeClr val="bg1"/>
                                        </a:solidFill>
                                        <a:latin typeface="Cambria Math" panose="02040503050406030204" pitchFamily="18" charset="0"/>
                                      </a:rPr>
                                      <m:t>𝟏</m:t>
                                    </m:r>
                                  </m:e>
                                </m:mr>
                              </m:m>
                            </m:e>
                          </m:mr>
                        </m:m>
                      </m:e>
                    </m:d>
                  </m:oMath>
                </a14:m>
                <a:r>
                  <a:rPr lang="zh-CN" altLang="zh-CN" sz="2400" b="1" dirty="0">
                    <a:solidFill>
                      <a:schemeClr val="bg1"/>
                    </a:solidFill>
                  </a:rPr>
                  <a:t>和</a:t>
                </a:r>
                <a14:m>
                  <m:oMath xmlns:m="http://schemas.openxmlformats.org/officeDocument/2006/math">
                    <m:r>
                      <a:rPr lang="en-US" altLang="zh-CN" sz="2400" b="1" i="1">
                        <a:solidFill>
                          <a:schemeClr val="bg1"/>
                        </a:solidFill>
                        <a:latin typeface="Cambria Math" panose="02040503050406030204" pitchFamily="18" charset="0"/>
                      </a:rPr>
                      <m:t>𝝉</m:t>
                    </m:r>
                    <m:r>
                      <a:rPr lang="en-US" altLang="zh-CN" sz="2400" b="1" i="1">
                        <a:solidFill>
                          <a:schemeClr val="bg1"/>
                        </a:solidFill>
                        <a:latin typeface="Cambria Math" panose="02040503050406030204" pitchFamily="18" charset="0"/>
                      </a:rPr>
                      <m:t>=</m:t>
                    </m:r>
                    <m:d>
                      <m:dPr>
                        <m:ctrlPr>
                          <a:rPr lang="zh-CN" altLang="zh-CN" sz="2400" b="1" i="1">
                            <a:solidFill>
                              <a:schemeClr val="bg1"/>
                            </a:solidFill>
                            <a:latin typeface="Cambria Math" panose="02040503050406030204" pitchFamily="18" charset="0"/>
                          </a:rPr>
                        </m:ctrlPr>
                      </m:dPr>
                      <m:e>
                        <m:m>
                          <m:mPr>
                            <m:mcs>
                              <m:mc>
                                <m:mcPr>
                                  <m:count m:val="2"/>
                                  <m:mcJc m:val="center"/>
                                </m:mcPr>
                              </m:mc>
                            </m:mcs>
                            <m:ctrlPr>
                              <a:rPr lang="zh-CN" altLang="zh-CN" sz="2400" b="1" i="1">
                                <a:solidFill>
                                  <a:schemeClr val="bg1"/>
                                </a:solidFill>
                                <a:latin typeface="Cambria Math" panose="02040503050406030204" pitchFamily="18" charset="0"/>
                              </a:rPr>
                            </m:ctrlPr>
                          </m:mPr>
                          <m:mr>
                            <m:e>
                              <m:r>
                                <a:rPr lang="en-US" altLang="zh-CN" sz="2400" b="1" i="1">
                                  <a:solidFill>
                                    <a:schemeClr val="bg1"/>
                                  </a:solidFill>
                                  <a:latin typeface="Cambria Math" panose="02040503050406030204" pitchFamily="18" charset="0"/>
                                </a:rPr>
                                <m:t>𝟏</m:t>
                              </m:r>
                            </m:e>
                            <m:e>
                              <m:m>
                                <m:mPr>
                                  <m:mcs>
                                    <m:mc>
                                      <m:mcPr>
                                        <m:count m:val="2"/>
                                        <m:mcJc m:val="center"/>
                                      </m:mcPr>
                                    </m:mc>
                                  </m:mcs>
                                  <m:ctrlPr>
                                    <a:rPr lang="zh-CN" altLang="zh-CN" sz="2400" b="1" i="1">
                                      <a:solidFill>
                                        <a:schemeClr val="bg1"/>
                                      </a:solidFill>
                                      <a:latin typeface="Cambria Math" panose="02040503050406030204" pitchFamily="18" charset="0"/>
                                    </a:rPr>
                                  </m:ctrlPr>
                                </m:mPr>
                                <m:mr>
                                  <m:e>
                                    <m:r>
                                      <a:rPr lang="en-US" altLang="zh-CN" sz="2400" b="1" i="1">
                                        <a:solidFill>
                                          <a:schemeClr val="bg1"/>
                                        </a:solidFill>
                                        <a:latin typeface="Cambria Math" panose="02040503050406030204" pitchFamily="18" charset="0"/>
                                      </a:rPr>
                                      <m:t>𝟐</m:t>
                                    </m:r>
                                  </m:e>
                                  <m:e>
                                    <m:r>
                                      <a:rPr lang="en-US" altLang="zh-CN" sz="2400" b="1" i="1">
                                        <a:solidFill>
                                          <a:schemeClr val="bg1"/>
                                        </a:solidFill>
                                        <a:latin typeface="Cambria Math" panose="02040503050406030204" pitchFamily="18" charset="0"/>
                                      </a:rPr>
                                      <m:t>𝟑</m:t>
                                    </m:r>
                                  </m:e>
                                </m:mr>
                              </m:m>
                            </m:e>
                          </m:mr>
                          <m:mr>
                            <m:e>
                              <m:r>
                                <a:rPr lang="en-US" altLang="zh-CN" sz="2400" b="1" i="1">
                                  <a:solidFill>
                                    <a:schemeClr val="bg1"/>
                                  </a:solidFill>
                                  <a:latin typeface="Cambria Math" panose="02040503050406030204" pitchFamily="18" charset="0"/>
                                </a:rPr>
                                <m:t>𝟑</m:t>
                              </m:r>
                            </m:e>
                            <m:e>
                              <m:m>
                                <m:mPr>
                                  <m:mcs>
                                    <m:mc>
                                      <m:mcPr>
                                        <m:count m:val="2"/>
                                        <m:mcJc m:val="center"/>
                                      </m:mcPr>
                                    </m:mc>
                                  </m:mcs>
                                  <m:ctrlPr>
                                    <a:rPr lang="zh-CN" altLang="zh-CN" sz="2400" b="1" i="1">
                                      <a:solidFill>
                                        <a:schemeClr val="bg1"/>
                                      </a:solidFill>
                                      <a:latin typeface="Cambria Math" panose="02040503050406030204" pitchFamily="18" charset="0"/>
                                    </a:rPr>
                                  </m:ctrlPr>
                                </m:mPr>
                                <m:mr>
                                  <m:e>
                                    <m:r>
                                      <a:rPr lang="en-US" altLang="zh-CN" sz="2400" b="1" i="1">
                                        <a:solidFill>
                                          <a:schemeClr val="bg1"/>
                                        </a:solidFill>
                                        <a:latin typeface="Cambria Math" panose="02040503050406030204" pitchFamily="18" charset="0"/>
                                      </a:rPr>
                                      <m:t>𝟏</m:t>
                                    </m:r>
                                  </m:e>
                                  <m:e>
                                    <m:r>
                                      <a:rPr lang="en-US" altLang="zh-CN" sz="2400" b="1" i="1">
                                        <a:solidFill>
                                          <a:schemeClr val="bg1"/>
                                        </a:solidFill>
                                        <a:latin typeface="Cambria Math" panose="02040503050406030204" pitchFamily="18" charset="0"/>
                                      </a:rPr>
                                      <m:t>𝟐</m:t>
                                    </m:r>
                                  </m:e>
                                </m:mr>
                              </m:m>
                            </m:e>
                          </m:mr>
                        </m:m>
                      </m:e>
                    </m:d>
                  </m:oMath>
                </a14:m>
                <a:endParaRPr lang="zh-CN" altLang="zh-CN" sz="2400" b="1" dirty="0">
                  <a:solidFill>
                    <a:schemeClr val="bg1"/>
                  </a:solidFill>
                </a:endParaRPr>
              </a:p>
              <a:p>
                <a:pPr>
                  <a:lnSpc>
                    <a:spcPct val="150000"/>
                  </a:lnSpc>
                </a:pPr>
                <a:r>
                  <a:rPr lang="zh-CN" altLang="zh-CN" sz="2400" b="1" dirty="0">
                    <a:solidFill>
                      <a:schemeClr val="bg1"/>
                    </a:solidFill>
                  </a:rPr>
                  <a:t>计算下列置换的乘积：</a:t>
                </a:r>
                <a:r>
                  <a:rPr lang="zh-CN" altLang="zh-CN" sz="2400" b="1" dirty="0">
                    <a:solidFill>
                      <a:srgbClr val="FFFF00"/>
                    </a:solidFill>
                  </a:rPr>
                  <a:t>（</a:t>
                </a:r>
                <a:r>
                  <a:rPr lang="en-US" altLang="zh-CN" sz="2400" b="1" dirty="0">
                    <a:solidFill>
                      <a:srgbClr val="FFFF00"/>
                    </a:solidFill>
                  </a:rPr>
                  <a:t>1</a:t>
                </a:r>
                <a:r>
                  <a:rPr lang="zh-CN" altLang="zh-CN" sz="2400" b="1" dirty="0">
                    <a:solidFill>
                      <a:srgbClr val="FFFF00"/>
                    </a:solidFill>
                  </a:rPr>
                  <a:t>）</a:t>
                </a:r>
                <a14:m>
                  <m:oMath xmlns:m="http://schemas.openxmlformats.org/officeDocument/2006/math">
                    <m:r>
                      <a:rPr lang="en-US" altLang="zh-CN" sz="2400" b="1" i="1">
                        <a:solidFill>
                          <a:srgbClr val="FFFF00"/>
                        </a:solidFill>
                        <a:latin typeface="Cambria Math" panose="02040503050406030204" pitchFamily="18" charset="0"/>
                      </a:rPr>
                      <m:t>𝝅𝝉</m:t>
                    </m:r>
                  </m:oMath>
                </a14:m>
                <a:r>
                  <a:rPr lang="zh-CN" altLang="zh-CN" sz="2400" b="1" dirty="0">
                    <a:solidFill>
                      <a:srgbClr val="FFFF00"/>
                    </a:solidFill>
                  </a:rPr>
                  <a:t>；（</a:t>
                </a:r>
                <a:r>
                  <a:rPr lang="en-US" altLang="zh-CN" sz="2400" b="1" dirty="0">
                    <a:solidFill>
                      <a:srgbClr val="FFFF00"/>
                    </a:solidFill>
                  </a:rPr>
                  <a:t>2</a:t>
                </a:r>
                <a:r>
                  <a:rPr lang="zh-CN" altLang="zh-CN" sz="2400" b="1" dirty="0">
                    <a:solidFill>
                      <a:srgbClr val="FFFF00"/>
                    </a:solidFill>
                  </a:rPr>
                  <a:t>）</a:t>
                </a:r>
                <a14:m>
                  <m:oMath xmlns:m="http://schemas.openxmlformats.org/officeDocument/2006/math">
                    <m:sSup>
                      <m:sSupPr>
                        <m:ctrlPr>
                          <a:rPr lang="zh-CN" altLang="zh-CN" sz="2400" b="1" i="1">
                            <a:solidFill>
                              <a:srgbClr val="FFFF00"/>
                            </a:solidFill>
                            <a:latin typeface="Cambria Math" panose="02040503050406030204" pitchFamily="18" charset="0"/>
                          </a:rPr>
                        </m:ctrlPr>
                      </m:sSupPr>
                      <m:e>
                        <m:r>
                          <a:rPr lang="en-US" altLang="zh-CN" sz="2400" b="1" i="1">
                            <a:solidFill>
                              <a:srgbClr val="FFFF00"/>
                            </a:solidFill>
                            <a:latin typeface="Cambria Math" panose="02040503050406030204" pitchFamily="18" charset="0"/>
                          </a:rPr>
                          <m:t>𝝅</m:t>
                        </m:r>
                      </m:e>
                      <m:sup>
                        <m:r>
                          <a:rPr lang="en-US" altLang="zh-CN" sz="2400" b="1" i="1">
                            <a:solidFill>
                              <a:srgbClr val="FFFF00"/>
                            </a:solidFill>
                            <a:latin typeface="Cambria Math" panose="02040503050406030204" pitchFamily="18" charset="0"/>
                          </a:rPr>
                          <m:t>𝟐</m:t>
                        </m:r>
                      </m:sup>
                    </m:sSup>
                  </m:oMath>
                </a14:m>
                <a:r>
                  <a:rPr lang="zh-CN" altLang="zh-CN" sz="2400" b="1" dirty="0">
                    <a:solidFill>
                      <a:srgbClr val="FFFF00"/>
                    </a:solidFill>
                  </a:rPr>
                  <a:t>；（</a:t>
                </a:r>
                <a:r>
                  <a:rPr lang="en-US" altLang="zh-CN" sz="2400" b="1" dirty="0">
                    <a:solidFill>
                      <a:srgbClr val="FFFF00"/>
                    </a:solidFill>
                  </a:rPr>
                  <a:t>3</a:t>
                </a:r>
                <a:r>
                  <a:rPr lang="zh-CN" altLang="zh-CN" sz="2400" b="1" dirty="0">
                    <a:solidFill>
                      <a:srgbClr val="FFFF00"/>
                    </a:solidFill>
                  </a:rPr>
                  <a:t>）</a:t>
                </a:r>
                <a14:m>
                  <m:oMath xmlns:m="http://schemas.openxmlformats.org/officeDocument/2006/math">
                    <m:r>
                      <a:rPr lang="en-US" altLang="zh-CN" sz="2400" b="1" i="1">
                        <a:solidFill>
                          <a:srgbClr val="FFFF00"/>
                        </a:solidFill>
                        <a:latin typeface="Cambria Math" panose="02040503050406030204" pitchFamily="18" charset="0"/>
                      </a:rPr>
                      <m:t>𝝅</m:t>
                    </m:r>
                    <m:sSup>
                      <m:sSupPr>
                        <m:ctrlPr>
                          <a:rPr lang="zh-CN" altLang="zh-CN" sz="2400" b="1" i="1">
                            <a:solidFill>
                              <a:srgbClr val="FFFF00"/>
                            </a:solidFill>
                            <a:latin typeface="Cambria Math" panose="02040503050406030204" pitchFamily="18" charset="0"/>
                          </a:rPr>
                        </m:ctrlPr>
                      </m:sSupPr>
                      <m:e>
                        <m:r>
                          <a:rPr lang="en-US" altLang="zh-CN" sz="2400" b="1" i="1">
                            <a:solidFill>
                              <a:srgbClr val="FFFF00"/>
                            </a:solidFill>
                            <a:latin typeface="Cambria Math" panose="02040503050406030204" pitchFamily="18" charset="0"/>
                          </a:rPr>
                          <m:t>𝝉</m:t>
                        </m:r>
                      </m:e>
                      <m:sup>
                        <m:r>
                          <a:rPr lang="en-US" altLang="zh-CN" sz="2400" b="1" i="1">
                            <a:solidFill>
                              <a:srgbClr val="FFFF00"/>
                            </a:solidFill>
                            <a:latin typeface="Cambria Math" panose="02040503050406030204" pitchFamily="18" charset="0"/>
                          </a:rPr>
                          <m:t>𝟐</m:t>
                        </m:r>
                      </m:sup>
                    </m:sSup>
                  </m:oMath>
                </a14:m>
                <a:r>
                  <a:rPr lang="zh-CN" altLang="zh-CN" sz="2400" b="1" dirty="0">
                    <a:solidFill>
                      <a:srgbClr val="FFFF00"/>
                    </a:solidFill>
                  </a:rPr>
                  <a:t>。</a:t>
                </a:r>
                <a:endParaRPr lang="zh-CN" altLang="zh-CN" sz="2400" b="1"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755576" y="1853777"/>
                <a:ext cx="7920880" cy="1606658"/>
              </a:xfrm>
              <a:prstGeom prst="rect">
                <a:avLst/>
              </a:prstGeom>
              <a:blipFill>
                <a:blip r:embed="rId2"/>
                <a:stretch>
                  <a:fillRect l="-1232" t="-3030" b="-643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1099761" y="3605536"/>
                <a:ext cx="6944478" cy="2605713"/>
              </a:xfrm>
              <a:prstGeom prst="rect">
                <a:avLst/>
              </a:prstGeom>
              <a:solidFill>
                <a:schemeClr val="accent3">
                  <a:lumMod val="95000"/>
                </a:schemeClr>
              </a:solidFill>
            </p:spPr>
            <p:txBody>
              <a:bodyPr wrap="square" rtlCol="0">
                <a:spAutoFit/>
              </a:bodyPr>
              <a:lstStyle/>
              <a:p>
                <a:pPr>
                  <a:lnSpc>
                    <a:spcPct val="150000"/>
                  </a:lnSpc>
                </a:pPr>
                <a:r>
                  <a:rPr lang="zh-CN" altLang="zh-CN" sz="2400" b="1" dirty="0"/>
                  <a:t>【解】</a:t>
                </a:r>
                <a:r>
                  <a:rPr lang="zh-CN" altLang="zh-CN" sz="2400" b="1" dirty="0">
                    <a:solidFill>
                      <a:schemeClr val="tx1"/>
                    </a:solidFill>
                  </a:rPr>
                  <a:t>根据置换乘积运算的定义，得到：</a:t>
                </a:r>
              </a:p>
              <a:p>
                <a:r>
                  <a:rPr lang="en-US" altLang="zh-CN" sz="2400" b="1" dirty="0">
                    <a:solidFill>
                      <a:schemeClr val="tx1"/>
                    </a:solidFill>
                  </a:rPr>
                  <a:t>   </a:t>
                </a:r>
                <a14:m>
                  <m:oMath xmlns:m="http://schemas.openxmlformats.org/officeDocument/2006/math">
                    <m:r>
                      <a:rPr lang="en-US" altLang="zh-CN" sz="2400" b="1" i="1">
                        <a:solidFill>
                          <a:schemeClr val="tx1"/>
                        </a:solidFill>
                        <a:latin typeface="Cambria Math" panose="02040503050406030204" pitchFamily="18" charset="0"/>
                      </a:rPr>
                      <m:t>𝝅𝝉</m:t>
                    </m:r>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𝟐</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𝟑</m:t>
                                    </m:r>
                                  </m:e>
                                  <m:e>
                                    <m:r>
                                      <a:rPr lang="en-US" altLang="zh-CN" sz="2400" b="1" i="1">
                                        <a:solidFill>
                                          <a:schemeClr val="tx1"/>
                                        </a:solidFill>
                                        <a:latin typeface="Cambria Math" panose="02040503050406030204" pitchFamily="18" charset="0"/>
                                      </a:rPr>
                                      <m:t>𝟏</m:t>
                                    </m:r>
                                  </m:e>
                                </m:mr>
                              </m:m>
                            </m:e>
                          </m:mr>
                        </m:m>
                      </m:e>
                    </m:d>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𝟐</m:t>
                                    </m:r>
                                  </m:e>
                                </m:mr>
                              </m:m>
                            </m:e>
                          </m:mr>
                        </m:m>
                      </m:e>
                    </m:d>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
                      </m:e>
                    </m:d>
                  </m:oMath>
                </a14:m>
                <a:endParaRPr lang="zh-CN" altLang="zh-CN" sz="2400" b="1" dirty="0">
                  <a:solidFill>
                    <a:schemeClr val="tx1"/>
                  </a:solidFill>
                </a:endParaRPr>
              </a:p>
              <a:p>
                <a14:m>
                  <m:oMath xmlns:m="http://schemas.openxmlformats.org/officeDocument/2006/math">
                    <m:r>
                      <a:rPr lang="en-US" altLang="zh-CN" sz="2400" b="1" i="1" smtClean="0">
                        <a:solidFill>
                          <a:schemeClr val="tx1"/>
                        </a:solidFill>
                        <a:latin typeface="Cambria Math" panose="02040503050406030204" pitchFamily="18" charset="0"/>
                      </a:rPr>
                      <m:t>      </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𝝅</m:t>
                        </m:r>
                      </m:e>
                      <m:sup>
                        <m:r>
                          <a:rPr lang="en-US" altLang="zh-CN" sz="2400" b="1" i="1">
                            <a:solidFill>
                              <a:schemeClr val="tx1"/>
                            </a:solidFill>
                            <a:latin typeface="Cambria Math" panose="02040503050406030204" pitchFamily="18" charset="0"/>
                          </a:rPr>
                          <m:t>𝟐</m:t>
                        </m:r>
                      </m:sup>
                    </m:sSup>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𝟐</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𝟑</m:t>
                                    </m:r>
                                  </m:e>
                                  <m:e>
                                    <m:r>
                                      <a:rPr lang="en-US" altLang="zh-CN" sz="2400" b="1" i="1">
                                        <a:solidFill>
                                          <a:schemeClr val="tx1"/>
                                        </a:solidFill>
                                        <a:latin typeface="Cambria Math" panose="02040503050406030204" pitchFamily="18" charset="0"/>
                                      </a:rPr>
                                      <m:t>𝟏</m:t>
                                    </m:r>
                                  </m:e>
                                </m:mr>
                              </m:m>
                            </m:e>
                          </m:mr>
                        </m:m>
                      </m:e>
                    </m:d>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𝟐</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𝟑</m:t>
                                    </m:r>
                                  </m:e>
                                  <m:e>
                                    <m:r>
                                      <a:rPr lang="en-US" altLang="zh-CN" sz="2400" b="1" i="1">
                                        <a:solidFill>
                                          <a:schemeClr val="tx1"/>
                                        </a:solidFill>
                                        <a:latin typeface="Cambria Math" panose="02040503050406030204" pitchFamily="18" charset="0"/>
                                      </a:rPr>
                                      <m:t>𝟏</m:t>
                                    </m:r>
                                  </m:e>
                                </m:mr>
                              </m:m>
                            </m:e>
                          </m:mr>
                        </m:m>
                      </m:e>
                    </m:d>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𝟐</m:t>
                                    </m:r>
                                  </m:e>
                                </m:mr>
                              </m:m>
                            </m:e>
                          </m:mr>
                        </m:m>
                      </m:e>
                    </m:d>
                  </m:oMath>
                </a14:m>
                <a:r>
                  <a:rPr lang="en-US" altLang="zh-CN" sz="2400" b="1" dirty="0">
                    <a:solidFill>
                      <a:schemeClr val="tx1"/>
                    </a:solidFill>
                  </a:rPr>
                  <a:t>  </a:t>
                </a:r>
                <a:endParaRPr lang="zh-CN" altLang="zh-CN" sz="2400" b="1" dirty="0">
                  <a:solidFill>
                    <a:schemeClr val="tx1"/>
                  </a:solidFill>
                </a:endParaRPr>
              </a:p>
              <a:p>
                <a:r>
                  <a:rPr lang="en-US" altLang="zh-CN" sz="2400" b="1" dirty="0">
                    <a:solidFill>
                      <a:schemeClr val="tx1"/>
                    </a:solidFill>
                  </a:rPr>
                  <a:t>   </a:t>
                </a:r>
                <a14:m>
                  <m:oMath xmlns:m="http://schemas.openxmlformats.org/officeDocument/2006/math">
                    <m:r>
                      <a:rPr lang="en-US" altLang="zh-CN" sz="2400" b="1" i="1">
                        <a:solidFill>
                          <a:schemeClr val="tx1"/>
                        </a:solidFill>
                        <a:latin typeface="Cambria Math" panose="02040503050406030204" pitchFamily="18" charset="0"/>
                      </a:rPr>
                      <m:t>𝝅</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panose="02040503050406030204" pitchFamily="18" charset="0"/>
                          </a:rPr>
                          <m:t>𝝉</m:t>
                        </m:r>
                      </m:e>
                      <m:sup>
                        <m:r>
                          <a:rPr lang="en-US" altLang="zh-CN" sz="2400" b="1" i="1">
                            <a:solidFill>
                              <a:schemeClr val="tx1"/>
                            </a:solidFill>
                            <a:latin typeface="Cambria Math" panose="02040503050406030204" pitchFamily="18" charset="0"/>
                          </a:rPr>
                          <m:t>𝟐</m:t>
                        </m:r>
                      </m:sup>
                    </m:sSup>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𝝅𝝉</m:t>
                        </m:r>
                      </m:e>
                    </m:d>
                    <m:r>
                      <a:rPr lang="en-US" altLang="zh-CN" sz="2400" b="1" i="1">
                        <a:solidFill>
                          <a:schemeClr val="tx1"/>
                        </a:solidFill>
                        <a:latin typeface="Cambria Math" panose="02040503050406030204" pitchFamily="18" charset="0"/>
                      </a:rPr>
                      <m:t>𝝉</m:t>
                    </m:r>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
                      </m:e>
                    </m:d>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mr>
                              </m:m>
                            </m:e>
                          </m:mr>
                          <m:mr>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r>
                                      <a:rPr lang="en-US" altLang="zh-CN" sz="2400" b="1" i="1">
                                        <a:solidFill>
                                          <a:schemeClr val="tx1"/>
                                        </a:solidFill>
                                        <a:latin typeface="Cambria Math" panose="02040503050406030204" pitchFamily="18" charset="0"/>
                                      </a:rPr>
                                      <m:t>𝟐</m:t>
                                    </m:r>
                                  </m:e>
                                </m:mr>
                              </m:m>
                            </m:e>
                          </m:mr>
                        </m:m>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𝝉</m:t>
                    </m:r>
                  </m:oMath>
                </a14:m>
                <a:endParaRPr lang="zh-CN" altLang="en-US" sz="2400" b="1" dirty="0">
                  <a:solidFill>
                    <a:schemeClr val="tx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099761" y="3605536"/>
                <a:ext cx="6944478" cy="2605713"/>
              </a:xfrm>
              <a:prstGeom prst="rect">
                <a:avLst/>
              </a:prstGeom>
              <a:blipFill>
                <a:blip r:embed="rId3"/>
                <a:stretch>
                  <a:fillRect l="-1316"/>
                </a:stretch>
              </a:blipFill>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E8C7EDAE-CFE5-4142-98EA-C0FDFF44CDF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48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48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D7C88C26-F77B-4B2E-9A6F-DDCAE1D9192A}" type="slidenum">
              <a:rPr lang="en-US" altLang="zh-CN" sz="1400" b="1">
                <a:latin typeface="Times New Roman" pitchFamily="18" charset="0"/>
                <a:ea typeface="宋体" pitchFamily="2" charset="-122"/>
              </a:rPr>
              <a:pPr algn="r" eaLnBrk="1" hangingPunct="1"/>
              <a:t>19</a:t>
            </a:fld>
            <a:endParaRPr lang="en-US" altLang="zh-CN" sz="1400" b="1">
              <a:latin typeface="Times New Roman" pitchFamily="18" charset="0"/>
              <a:ea typeface="宋体" pitchFamily="2" charset="-122"/>
            </a:endParaRPr>
          </a:p>
        </p:txBody>
      </p:sp>
      <p:sp>
        <p:nvSpPr>
          <p:cNvPr id="34822" name="Rectangle 3"/>
          <p:cNvSpPr>
            <a:spLocks noGrp="1" noChangeArrowheads="1"/>
          </p:cNvSpPr>
          <p:nvPr>
            <p:ph type="body" idx="4294967295"/>
          </p:nvPr>
        </p:nvSpPr>
        <p:spPr>
          <a:xfrm>
            <a:off x="2627785" y="2525896"/>
            <a:ext cx="3925416" cy="2592388"/>
          </a:xfrm>
          <a:noFill/>
        </p:spPr>
        <p:txBody>
          <a:bodyPr lIns="92075" tIns="46038" rIns="92075" bIns="46038"/>
          <a:lstStyle/>
          <a:p>
            <a:pPr eaLnBrk="1" hangingPunct="1">
              <a:lnSpc>
                <a:spcPct val="155000"/>
              </a:lnSpc>
              <a:buFont typeface="Wingdings" pitchFamily="2" charset="2"/>
              <a:buChar char=""/>
            </a:pPr>
            <a:r>
              <a:rPr lang="zh-CN" altLang="en-US" sz="3200" b="1" dirty="0">
                <a:effectLst/>
                <a:latin typeface="黑体" pitchFamily="49" charset="-122"/>
                <a:ea typeface="黑体" pitchFamily="49" charset="-122"/>
              </a:rPr>
              <a:t> 置换函数的概念</a:t>
            </a:r>
            <a:endParaRPr lang="zh-CN" altLang="en-US" sz="900" b="1" dirty="0">
              <a:effectLst/>
              <a:latin typeface="黑体" pitchFamily="49" charset="-122"/>
              <a:ea typeface="黑体" pitchFamily="49" charset="-122"/>
            </a:endParaRPr>
          </a:p>
          <a:p>
            <a:pPr eaLnBrk="1" hangingPunct="1">
              <a:lnSpc>
                <a:spcPct val="155000"/>
              </a:lnSpc>
              <a:buFont typeface="Wingdings" pitchFamily="2" charset="2"/>
              <a:buChar char=""/>
            </a:pPr>
            <a:r>
              <a:rPr lang="zh-CN" altLang="en-US" sz="3200" b="1" dirty="0">
                <a:effectLst/>
                <a:latin typeface="黑体" pitchFamily="49" charset="-122"/>
                <a:ea typeface="黑体" pitchFamily="49" charset="-122"/>
              </a:rPr>
              <a:t> 置换函数的运算</a:t>
            </a:r>
            <a:endParaRPr lang="en-US" altLang="zh-CN" sz="3200" b="1" dirty="0">
              <a:effectLst/>
              <a:latin typeface="黑体" pitchFamily="49" charset="-122"/>
              <a:ea typeface="黑体" pitchFamily="49" charset="-122"/>
            </a:endParaRPr>
          </a:p>
          <a:p>
            <a:pPr eaLnBrk="1" hangingPunct="1">
              <a:lnSpc>
                <a:spcPct val="155000"/>
              </a:lnSpc>
              <a:buFont typeface="Wingdings" pitchFamily="2" charset="2"/>
              <a:buChar char=""/>
            </a:pPr>
            <a:r>
              <a:rPr lang="zh-CN" altLang="en-US" sz="3200" b="1" dirty="0">
                <a:solidFill>
                  <a:srgbClr val="0000FF"/>
                </a:solidFill>
                <a:effectLst/>
                <a:latin typeface="黑体" pitchFamily="49" charset="-122"/>
                <a:ea typeface="黑体" pitchFamily="49" charset="-122"/>
              </a:rPr>
              <a:t> 置换的轮换分解</a:t>
            </a:r>
          </a:p>
        </p:txBody>
      </p:sp>
      <p:pic>
        <p:nvPicPr>
          <p:cNvPr id="34823"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2">
            <a:extLst>
              <a:ext uri="{FF2B5EF4-FFF2-40B4-BE49-F238E27FC236}">
                <a16:creationId xmlns:a16="http://schemas.microsoft.com/office/drawing/2014/main" id="{8E293A0F-AF14-41DF-8EFB-27528B7EAC88}"/>
              </a:ext>
            </a:extLst>
          </p:cNvPr>
          <p:cNvSpPr txBox="1">
            <a:spLocks noChangeArrowheads="1"/>
          </p:cNvSpPr>
          <p:nvPr/>
        </p:nvSpPr>
        <p:spPr bwMode="auto">
          <a:xfrm>
            <a:off x="1371600" y="908720"/>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48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有限集的置换函数</a:t>
            </a:r>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50A5797-8BD0-4C96-80BD-FB10A0B4DCEB}"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584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584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DA70F8A6-BEA1-4401-860D-DB3BE79F6CFF}" type="slidenum">
              <a:rPr lang="en-US" altLang="zh-CN" sz="1400" b="1">
                <a:latin typeface="Times New Roman" pitchFamily="18" charset="0"/>
                <a:ea typeface="宋体" pitchFamily="2" charset="-122"/>
              </a:rPr>
              <a:pPr algn="r" eaLnBrk="1" hangingPunct="1"/>
              <a:t>20</a:t>
            </a:fld>
            <a:endParaRPr lang="en-US" altLang="zh-CN" sz="1400" b="1">
              <a:latin typeface="Times New Roman" pitchFamily="18" charset="0"/>
              <a:ea typeface="宋体" pitchFamily="2" charset="-122"/>
            </a:endParaRPr>
          </a:p>
        </p:txBody>
      </p:sp>
      <p:sp>
        <p:nvSpPr>
          <p:cNvPr id="3584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置换的轮换</a:t>
            </a:r>
          </a:p>
        </p:txBody>
      </p:sp>
      <mc:AlternateContent xmlns:mc="http://schemas.openxmlformats.org/markup-compatibility/2006" xmlns:a14="http://schemas.microsoft.com/office/drawing/2010/main">
        <mc:Choice Requires="a14">
          <p:sp>
            <p:nvSpPr>
              <p:cNvPr id="2" name="TextBox 1"/>
              <p:cNvSpPr txBox="1"/>
              <p:nvPr/>
            </p:nvSpPr>
            <p:spPr>
              <a:xfrm>
                <a:off x="539552" y="2154934"/>
                <a:ext cx="8280276" cy="3883755"/>
              </a:xfrm>
              <a:prstGeom prst="rect">
                <a:avLst/>
              </a:prstGeom>
              <a:solidFill>
                <a:schemeClr val="accent6">
                  <a:lumMod val="75000"/>
                </a:schemeClr>
              </a:solidFill>
            </p:spPr>
            <p:txBody>
              <a:bodyPr wrap="square" rtlCol="0">
                <a:spAutoFit/>
              </a:bodyPr>
              <a:lstStyle/>
              <a:p>
                <a:pPr>
                  <a:lnSpc>
                    <a:spcPct val="150000"/>
                  </a:lnSpc>
                </a:pPr>
                <a:r>
                  <a:rPr lang="en-US" altLang="zh-CN" sz="2400" b="1" dirty="0"/>
                  <a:t>    </a:t>
                </a:r>
                <a:r>
                  <a:rPr lang="zh-CN" altLang="zh-CN" sz="2400" b="1" dirty="0">
                    <a:solidFill>
                      <a:schemeClr val="bg1"/>
                    </a:solidFill>
                  </a:rPr>
                  <a:t>【定义】设</a:t>
                </a:r>
                <a14:m>
                  <m:oMath xmlns:m="http://schemas.openxmlformats.org/officeDocument/2006/math">
                    <m:r>
                      <a:rPr lang="en-US" altLang="zh-CN" sz="2400" b="1" i="1">
                        <a:solidFill>
                          <a:schemeClr val="bg1"/>
                        </a:solidFill>
                        <a:latin typeface="Cambria Math" panose="02040503050406030204" pitchFamily="18" charset="0"/>
                      </a:rPr>
                      <m:t>𝑨</m:t>
                    </m:r>
                    <m:r>
                      <a:rPr lang="en-US" altLang="zh-CN" sz="2400" b="1" i="1">
                        <a:solidFill>
                          <a:schemeClr val="bg1"/>
                        </a:solidFill>
                        <a:latin typeface="Cambria Math" panose="02040503050406030204" pitchFamily="18" charset="0"/>
                      </a:rPr>
                      <m:t>=</m:t>
                    </m:r>
                    <m:d>
                      <m:dPr>
                        <m:begChr m:val="{"/>
                        <m:endChr m:val="}"/>
                        <m:ctrlPr>
                          <a:rPr lang="zh-CN" altLang="zh-CN" sz="2400" b="1" i="1">
                            <a:solidFill>
                              <a:schemeClr val="bg1"/>
                            </a:solidFill>
                            <a:latin typeface="Cambria Math" panose="02040503050406030204" pitchFamily="18" charset="0"/>
                          </a:rPr>
                        </m:ctrlPr>
                      </m:dPr>
                      <m:e>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𝟏</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𝟐</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𝒏</m:t>
                            </m:r>
                          </m:sub>
                        </m:sSub>
                      </m:e>
                    </m:d>
                  </m:oMath>
                </a14:m>
                <a:r>
                  <a:rPr lang="zh-CN" altLang="zh-CN" sz="2400" b="1" dirty="0">
                    <a:solidFill>
                      <a:schemeClr val="bg1"/>
                    </a:solidFill>
                  </a:rPr>
                  <a:t>是任一非空有限集，</a:t>
                </a:r>
                <a:r>
                  <a:rPr lang="zh-CN" altLang="en-US" sz="2400" b="1" dirty="0">
                    <a:solidFill>
                      <a:schemeClr val="bg1"/>
                    </a:solidFill>
                  </a:rPr>
                  <a:t>对于自然数</a:t>
                </a:r>
                <a14:m>
                  <m:oMath xmlns:m="http://schemas.openxmlformats.org/officeDocument/2006/math">
                    <m:r>
                      <a:rPr lang="en-US" altLang="zh-CN" sz="2400" b="1" i="1">
                        <a:solidFill>
                          <a:schemeClr val="bg1"/>
                        </a:solidFill>
                        <a:latin typeface="Cambria Math" panose="02040503050406030204" pitchFamily="18" charset="0"/>
                      </a:rPr>
                      <m:t>𝒌</m:t>
                    </m:r>
                    <m:r>
                      <a:rPr lang="en-US" altLang="zh-CN" sz="2400" b="1" i="1">
                        <a:solidFill>
                          <a:schemeClr val="bg1"/>
                        </a:solidFill>
                        <a:latin typeface="Cambria Math" panose="02040503050406030204" pitchFamily="18" charset="0"/>
                      </a:rPr>
                      <m:t>≤</m:t>
                    </m:r>
                    <m:r>
                      <a:rPr lang="en-US" altLang="zh-CN" sz="2400" b="1" i="1">
                        <a:solidFill>
                          <a:schemeClr val="bg1"/>
                        </a:solidFill>
                        <a:latin typeface="Cambria Math" panose="02040503050406030204" pitchFamily="18" charset="0"/>
                      </a:rPr>
                      <m:t>𝒏</m:t>
                    </m:r>
                  </m:oMath>
                </a14:m>
                <a:r>
                  <a:rPr lang="zh-CN" altLang="en-US" sz="2400" b="1" dirty="0">
                    <a:solidFill>
                      <a:schemeClr val="bg1"/>
                    </a:solidFill>
                  </a:rPr>
                  <a:t>，如果</a:t>
                </a:r>
                <a14:m>
                  <m:oMath xmlns:m="http://schemas.openxmlformats.org/officeDocument/2006/math">
                    <m:r>
                      <a:rPr lang="en-US" altLang="zh-CN" sz="2400" b="1" i="1">
                        <a:solidFill>
                          <a:schemeClr val="bg1"/>
                        </a:solidFill>
                        <a:latin typeface="Cambria Math" panose="02040503050406030204" pitchFamily="18" charset="0"/>
                      </a:rPr>
                      <m:t>𝑨</m:t>
                    </m:r>
                  </m:oMath>
                </a14:m>
                <a:r>
                  <a:rPr lang="zh-CN" altLang="zh-CN" sz="2400" b="1" dirty="0">
                    <a:solidFill>
                      <a:schemeClr val="bg1"/>
                    </a:solidFill>
                  </a:rPr>
                  <a:t>上某个置换</a:t>
                </a:r>
                <a14:m>
                  <m:oMath xmlns:m="http://schemas.openxmlformats.org/officeDocument/2006/math">
                    <m:r>
                      <a:rPr lang="en-US" altLang="zh-CN" sz="2400" b="1" i="1">
                        <a:solidFill>
                          <a:schemeClr val="bg1"/>
                        </a:solidFill>
                        <a:latin typeface="Cambria Math" panose="02040503050406030204" pitchFamily="18" charset="0"/>
                      </a:rPr>
                      <m:t>𝑷</m:t>
                    </m:r>
                    <m:r>
                      <m:rPr>
                        <m:nor/>
                      </m:rPr>
                      <a:rPr lang="zh-CN" altLang="en-US" sz="2400" b="1" dirty="0">
                        <a:solidFill>
                          <a:schemeClr val="bg1"/>
                        </a:solidFill>
                      </a:rPr>
                      <m:t>把</m:t>
                    </m:r>
                    <m:r>
                      <a:rPr lang="zh-CN" altLang="en-US" sz="2400" b="1" i="1">
                        <a:solidFill>
                          <a:schemeClr val="bg1"/>
                        </a:solidFill>
                        <a:latin typeface="Cambria Math" panose="02040503050406030204" pitchFamily="18" charset="0"/>
                      </a:rPr>
                      <m:t>：</m:t>
                    </m:r>
                  </m:oMath>
                </a14:m>
                <a:endParaRPr lang="en-US" altLang="zh-CN" sz="2400" b="1" i="1" dirty="0">
                  <a:solidFill>
                    <a:schemeClr val="bg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zh-CN" altLang="zh-CN" sz="2400" b="1" i="1" smtClean="0">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𝟏</m:t>
                          </m:r>
                        </m:sub>
                      </m:sSub>
                      <m:r>
                        <a:rPr lang="zh-CN" altLang="zh-CN" sz="2400" b="1">
                          <a:solidFill>
                            <a:srgbClr val="FFFF00"/>
                          </a:solidFill>
                          <a:latin typeface="Cambria Math" panose="02040503050406030204" pitchFamily="18" charset="0"/>
                        </a:rPr>
                        <m:t>变成</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𝟐</m:t>
                          </m:r>
                        </m:sub>
                      </m:sSub>
                      <m:r>
                        <a:rPr lang="en-US" altLang="zh-CN" sz="2400" b="1">
                          <a:solidFill>
                            <a:srgbClr val="FFFF00"/>
                          </a:solidFill>
                          <a:latin typeface="Cambria Math" panose="02040503050406030204" pitchFamily="18" charset="0"/>
                        </a:rPr>
                        <m:t>,</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𝟐</m:t>
                          </m:r>
                        </m:sub>
                      </m:sSub>
                      <m:r>
                        <a:rPr lang="zh-CN" altLang="zh-CN" sz="2400" b="1">
                          <a:solidFill>
                            <a:srgbClr val="FFFF00"/>
                          </a:solidFill>
                          <a:latin typeface="Cambria Math" panose="02040503050406030204" pitchFamily="18" charset="0"/>
                        </a:rPr>
                        <m:t>变成</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𝟑</m:t>
                          </m:r>
                        </m:sub>
                      </m:sSub>
                      <m:r>
                        <a:rPr lang="en-US" altLang="zh-CN" sz="2400" b="1">
                          <a:solidFill>
                            <a:srgbClr val="FFFF00"/>
                          </a:solidFill>
                          <a:latin typeface="Cambria Math" panose="02040503050406030204" pitchFamily="18" charset="0"/>
                        </a:rPr>
                        <m:t>,</m:t>
                      </m:r>
                      <m:r>
                        <a:rPr lang="en-US" altLang="zh-CN" sz="2400" b="1" i="1" smtClean="0">
                          <a:solidFill>
                            <a:srgbClr val="FFFF00"/>
                          </a:solidFill>
                          <a:latin typeface="Cambria Math" panose="02040503050406030204" pitchFamily="18" charset="0"/>
                        </a:rPr>
                        <m:t> </m:t>
                      </m:r>
                      <m:r>
                        <a:rPr lang="en-US" altLang="zh-CN" sz="2400" b="1" i="1">
                          <a:solidFill>
                            <a:srgbClr val="FFFF00"/>
                          </a:solidFill>
                          <a:latin typeface="Cambria Math" panose="02040503050406030204" pitchFamily="18" charset="0"/>
                        </a:rPr>
                        <m:t>⋯</m:t>
                      </m:r>
                      <m:r>
                        <a:rPr lang="en-US" altLang="zh-CN" sz="2400" b="1">
                          <a:solidFill>
                            <a:srgbClr val="FFFF00"/>
                          </a:solidFill>
                          <a:latin typeface="Cambria Math" panose="02040503050406030204" pitchFamily="18" charset="0"/>
                        </a:rPr>
                        <m:t>, </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𝒌</m:t>
                          </m:r>
                          <m:r>
                            <a:rPr lang="en-US" altLang="zh-CN" sz="2400" b="1" i="1">
                              <a:solidFill>
                                <a:srgbClr val="FFFF00"/>
                              </a:solidFill>
                              <a:latin typeface="Cambria Math" panose="02040503050406030204" pitchFamily="18" charset="0"/>
                            </a:rPr>
                            <m:t>−</m:t>
                          </m:r>
                          <m:r>
                            <a:rPr lang="en-US" altLang="zh-CN" sz="2400" b="1" i="1">
                              <a:solidFill>
                                <a:srgbClr val="FFFF00"/>
                              </a:solidFill>
                              <a:latin typeface="Cambria Math" panose="02040503050406030204" pitchFamily="18" charset="0"/>
                            </a:rPr>
                            <m:t>𝟏</m:t>
                          </m:r>
                        </m:sub>
                      </m:sSub>
                      <m:r>
                        <a:rPr lang="zh-CN" altLang="zh-CN" sz="2400" b="1">
                          <a:solidFill>
                            <a:srgbClr val="FFFF00"/>
                          </a:solidFill>
                          <a:latin typeface="Cambria Math" panose="02040503050406030204" pitchFamily="18" charset="0"/>
                        </a:rPr>
                        <m:t>变成</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𝒌</m:t>
                          </m:r>
                        </m:sub>
                      </m:sSub>
                      <m:r>
                        <a:rPr lang="zh-CN" altLang="zh-CN" sz="2400" b="1">
                          <a:solidFill>
                            <a:srgbClr val="FFFF00"/>
                          </a:solidFill>
                          <a:latin typeface="Cambria Math" panose="02040503050406030204" pitchFamily="18" charset="0"/>
                        </a:rPr>
                        <m:t>，</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𝒌</m:t>
                          </m:r>
                        </m:sub>
                      </m:sSub>
                      <m:r>
                        <a:rPr lang="zh-CN" altLang="zh-CN" sz="2400" b="1">
                          <a:solidFill>
                            <a:srgbClr val="FFFF00"/>
                          </a:solidFill>
                          <a:latin typeface="Cambria Math" panose="02040503050406030204" pitchFamily="18" charset="0"/>
                        </a:rPr>
                        <m:t>变成</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panose="02040503050406030204" pitchFamily="18" charset="0"/>
                            </a:rPr>
                            <m:t>𝒂</m:t>
                          </m:r>
                        </m:e>
                        <m:sub>
                          <m:r>
                            <a:rPr lang="en-US" altLang="zh-CN" sz="2400" b="1" i="1">
                              <a:solidFill>
                                <a:srgbClr val="FFFF00"/>
                              </a:solidFill>
                              <a:latin typeface="Cambria Math" panose="02040503050406030204" pitchFamily="18" charset="0"/>
                            </a:rPr>
                            <m:t>𝟏</m:t>
                          </m:r>
                        </m:sub>
                      </m:sSub>
                    </m:oMath>
                  </m:oMathPara>
                </a14:m>
                <a:endParaRPr lang="en-US" altLang="zh-CN" sz="2400" b="1" i="1" dirty="0">
                  <a:solidFill>
                    <a:srgbClr val="FFFF00"/>
                  </a:solidFill>
                  <a:latin typeface="Cambria Math" panose="02040503050406030204" pitchFamily="18" charset="0"/>
                </a:endParaRPr>
              </a:p>
              <a:p>
                <a:pPr>
                  <a:lnSpc>
                    <a:spcPct val="150000"/>
                  </a:lnSpc>
                </a:pPr>
                <a:r>
                  <a:rPr lang="zh-CN" altLang="en-US" sz="2400" b="1" dirty="0">
                    <a:solidFill>
                      <a:schemeClr val="bg1"/>
                    </a:solidFill>
                  </a:rPr>
                  <a:t>且其余</a:t>
                </a:r>
                <a:r>
                  <a:rPr lang="zh-CN" altLang="zh-CN" sz="2400" b="1" dirty="0">
                    <a:solidFill>
                      <a:schemeClr val="bg1"/>
                    </a:solidFill>
                  </a:rPr>
                  <a:t>元素不变，</a:t>
                </a:r>
                <a:endParaRPr lang="en-US" altLang="zh-CN" sz="2400" b="1" dirty="0">
                  <a:solidFill>
                    <a:schemeClr val="bg1"/>
                  </a:solidFill>
                </a:endParaRPr>
              </a:p>
              <a:p>
                <a:pPr>
                  <a:lnSpc>
                    <a:spcPct val="150000"/>
                  </a:lnSpc>
                </a:pPr>
                <a:r>
                  <a:rPr lang="en-US" altLang="zh-CN" sz="2400" b="1" dirty="0">
                    <a:solidFill>
                      <a:schemeClr val="bg1"/>
                    </a:solidFill>
                  </a:rPr>
                  <a:t>    </a:t>
                </a:r>
                <a:r>
                  <a:rPr lang="zh-CN" altLang="zh-CN" sz="2400" b="1" dirty="0">
                    <a:solidFill>
                      <a:schemeClr val="bg1"/>
                    </a:solidFill>
                  </a:rPr>
                  <a:t>则称</a:t>
                </a:r>
                <a14:m>
                  <m:oMath xmlns:m="http://schemas.openxmlformats.org/officeDocument/2006/math">
                    <m:r>
                      <a:rPr lang="en-US" altLang="zh-CN" sz="2400" b="1" i="1">
                        <a:solidFill>
                          <a:schemeClr val="bg1"/>
                        </a:solidFill>
                        <a:latin typeface="Cambria Math" panose="02040503050406030204" pitchFamily="18" charset="0"/>
                      </a:rPr>
                      <m:t>𝑷</m:t>
                    </m:r>
                  </m:oMath>
                </a14:m>
                <a:r>
                  <a:rPr lang="zh-CN" altLang="zh-CN" sz="2400" b="1" dirty="0">
                    <a:solidFill>
                      <a:schemeClr val="bg1"/>
                    </a:solidFill>
                  </a:rPr>
                  <a:t>是</a:t>
                </a:r>
                <a:r>
                  <a:rPr lang="zh-CN" altLang="zh-CN" sz="2400" b="1" dirty="0">
                    <a:solidFill>
                      <a:srgbClr val="FFFF00"/>
                    </a:solidFill>
                  </a:rPr>
                  <a:t>一个长度为</a:t>
                </a:r>
                <a14:m>
                  <m:oMath xmlns:m="http://schemas.openxmlformats.org/officeDocument/2006/math">
                    <m:r>
                      <a:rPr lang="en-US" altLang="zh-CN" sz="2400" b="1" i="1">
                        <a:solidFill>
                          <a:srgbClr val="FFFF00"/>
                        </a:solidFill>
                        <a:latin typeface="Cambria Math" panose="02040503050406030204" pitchFamily="18" charset="0"/>
                      </a:rPr>
                      <m:t>𝒌</m:t>
                    </m:r>
                  </m:oMath>
                </a14:m>
                <a:r>
                  <a:rPr lang="zh-CN" altLang="zh-CN" sz="2400" b="1" dirty="0">
                    <a:solidFill>
                      <a:srgbClr val="FFFF00"/>
                    </a:solidFill>
                  </a:rPr>
                  <a:t>的轮换</a:t>
                </a:r>
                <a:r>
                  <a:rPr lang="zh-CN" altLang="zh-CN" sz="2400" b="1" dirty="0">
                    <a:solidFill>
                      <a:schemeClr val="bg1"/>
                    </a:solidFill>
                  </a:rPr>
                  <a:t>，简称</a:t>
                </a:r>
                <a14:m>
                  <m:oMath xmlns:m="http://schemas.openxmlformats.org/officeDocument/2006/math">
                    <m:r>
                      <a:rPr lang="en-US" altLang="zh-CN" sz="2400" b="1" i="1" smtClean="0">
                        <a:solidFill>
                          <a:srgbClr val="FFFF00"/>
                        </a:solidFill>
                        <a:latin typeface="Cambria Math" panose="02040503050406030204" pitchFamily="18" charset="0"/>
                      </a:rPr>
                      <m:t>𝒌</m:t>
                    </m:r>
                  </m:oMath>
                </a14:m>
                <a:r>
                  <a:rPr lang="en-US" altLang="zh-CN" sz="2400" b="1" dirty="0">
                    <a:solidFill>
                      <a:srgbClr val="FFFF00"/>
                    </a:solidFill>
                  </a:rPr>
                  <a:t>-</a:t>
                </a:r>
                <a:r>
                  <a:rPr lang="zh-CN" altLang="zh-CN" sz="2400" b="1" dirty="0">
                    <a:solidFill>
                      <a:srgbClr val="FFFF00"/>
                    </a:solidFill>
                  </a:rPr>
                  <a:t>轮换</a:t>
                </a:r>
                <a:r>
                  <a:rPr lang="zh-CN" altLang="zh-CN" sz="2400" b="1" dirty="0">
                    <a:solidFill>
                      <a:schemeClr val="bg1"/>
                    </a:solidFill>
                  </a:rPr>
                  <a:t>，记为</a:t>
                </a:r>
                <a:r>
                  <a:rPr lang="zh-CN" altLang="en-US" sz="2400" b="1" dirty="0">
                    <a:solidFill>
                      <a:schemeClr val="bg1"/>
                    </a:solidFill>
                  </a:rPr>
                  <a:t>：</a:t>
                </a:r>
                <a:endParaRPr lang="en-US" altLang="zh-CN" sz="2400" b="1"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d>
                        <m:dPr>
                          <m:ctrlPr>
                            <a:rPr lang="zh-CN" altLang="zh-CN" sz="2400" b="1" i="1">
                              <a:solidFill>
                                <a:schemeClr val="bg1"/>
                              </a:solidFill>
                              <a:latin typeface="Cambria Math" panose="02040503050406030204" pitchFamily="18" charset="0"/>
                            </a:rPr>
                          </m:ctrlPr>
                        </m:dPr>
                        <m:e>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𝟏</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𝟐</m:t>
                              </m:r>
                            </m:sub>
                          </m:sSub>
                          <m:r>
                            <a:rPr lang="en-US" altLang="zh-CN" sz="2400" b="1" i="1">
                              <a:solidFill>
                                <a:schemeClr val="bg1"/>
                              </a:solidFill>
                              <a:latin typeface="Cambria Math" panose="02040503050406030204" pitchFamily="18" charset="0"/>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panose="02040503050406030204" pitchFamily="18" charset="0"/>
                                </a:rPr>
                                <m:t>𝒂</m:t>
                              </m:r>
                            </m:e>
                            <m:sub>
                              <m:r>
                                <a:rPr lang="en-US" altLang="zh-CN" sz="2400" b="1" i="1">
                                  <a:solidFill>
                                    <a:schemeClr val="bg1"/>
                                  </a:solidFill>
                                  <a:latin typeface="Cambria Math" panose="02040503050406030204" pitchFamily="18" charset="0"/>
                                </a:rPr>
                                <m:t>𝒌</m:t>
                              </m:r>
                            </m:sub>
                          </m:sSub>
                        </m:e>
                      </m:d>
                    </m:oMath>
                  </m:oMathPara>
                </a14:m>
                <a:endParaRPr lang="en-US" altLang="zh-CN" sz="2400" b="1" dirty="0">
                  <a:solidFill>
                    <a:schemeClr val="bg1"/>
                  </a:solidFill>
                </a:endParaRPr>
              </a:p>
              <a:p>
                <a:pPr>
                  <a:lnSpc>
                    <a:spcPct val="150000"/>
                  </a:lnSpc>
                </a:pPr>
                <a:r>
                  <a:rPr lang="zh-CN" altLang="zh-CN" sz="2400" b="1" dirty="0">
                    <a:solidFill>
                      <a:schemeClr val="bg1"/>
                    </a:solidFill>
                  </a:rPr>
                  <a:t>其中</a:t>
                </a:r>
                <a:r>
                  <a:rPr lang="zh-CN" altLang="zh-CN" sz="2400" b="1" dirty="0">
                    <a:solidFill>
                      <a:srgbClr val="FFFF00"/>
                    </a:solidFill>
                  </a:rPr>
                  <a:t>长度为</a:t>
                </a:r>
                <a:r>
                  <a:rPr lang="en-US" altLang="zh-CN" sz="2400" b="1" dirty="0">
                    <a:solidFill>
                      <a:srgbClr val="FFFF00"/>
                    </a:solidFill>
                  </a:rPr>
                  <a:t>2</a:t>
                </a:r>
                <a:r>
                  <a:rPr lang="zh-CN" altLang="zh-CN" sz="2400" b="1" dirty="0">
                    <a:solidFill>
                      <a:srgbClr val="FFFF00"/>
                    </a:solidFill>
                  </a:rPr>
                  <a:t>的轮换称为对换</a:t>
                </a:r>
                <a:r>
                  <a:rPr lang="zh-CN" altLang="zh-CN" sz="2400" b="1" dirty="0">
                    <a:solidFill>
                      <a:schemeClr val="bg1"/>
                    </a:solidFill>
                  </a:rPr>
                  <a:t>。</a:t>
                </a:r>
              </a:p>
            </p:txBody>
          </p:sp>
        </mc:Choice>
        <mc:Fallback xmlns="">
          <p:sp>
            <p:nvSpPr>
              <p:cNvPr id="2" name="TextBox 1"/>
              <p:cNvSpPr txBox="1">
                <a:spLocks noRot="1" noChangeAspect="1" noMove="1" noResize="1" noEditPoints="1" noAdjustHandles="1" noChangeArrowheads="1" noChangeShapeType="1" noTextEdit="1"/>
              </p:cNvSpPr>
              <p:nvPr/>
            </p:nvSpPr>
            <p:spPr>
              <a:xfrm>
                <a:off x="539552" y="2154934"/>
                <a:ext cx="8280276" cy="3883755"/>
              </a:xfrm>
              <a:prstGeom prst="rect">
                <a:avLst/>
              </a:prstGeom>
              <a:blipFill>
                <a:blip r:embed="rId2"/>
                <a:stretch>
                  <a:fillRect l="-1178" r="-147" b="-2508"/>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4AF8D16-9F7F-4AE4-B58E-ABA0A43DF27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686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686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03610F3-E583-4CCF-B42B-EF2DF5C2F438}" type="slidenum">
              <a:rPr lang="en-US" altLang="zh-CN" sz="1400" b="1">
                <a:latin typeface="Times New Roman" pitchFamily="18" charset="0"/>
                <a:ea typeface="宋体" pitchFamily="2" charset="-122"/>
              </a:rPr>
              <a:pPr algn="r" eaLnBrk="1" hangingPunct="1"/>
              <a:t>21</a:t>
            </a:fld>
            <a:endParaRPr lang="en-US" altLang="zh-CN" sz="1400" b="1">
              <a:latin typeface="Times New Roman" pitchFamily="18" charset="0"/>
              <a:ea typeface="宋体" pitchFamily="2" charset="-122"/>
            </a:endParaRPr>
          </a:p>
        </p:txBody>
      </p:sp>
      <p:sp>
        <p:nvSpPr>
          <p:cNvPr id="3686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2" name="TextBox 1"/>
              <p:cNvSpPr txBox="1"/>
              <p:nvPr/>
            </p:nvSpPr>
            <p:spPr>
              <a:xfrm>
                <a:off x="859334" y="1935171"/>
                <a:ext cx="7630616" cy="1767920"/>
              </a:xfrm>
              <a:prstGeom prst="rect">
                <a:avLst/>
              </a:prstGeom>
              <a:solidFill>
                <a:schemeClr val="accent3">
                  <a:lumMod val="95000"/>
                </a:schemeClr>
              </a:solidFill>
            </p:spPr>
            <p:txBody>
              <a:bodyPr wrap="square" rtlCol="0">
                <a:spAutoFit/>
              </a:bodyPr>
              <a:lstStyle/>
              <a:p>
                <a:r>
                  <a:rPr lang="en-US" altLang="zh-CN" sz="2400" b="1" dirty="0"/>
                  <a:t> </a:t>
                </a:r>
                <a:r>
                  <a:rPr lang="zh-CN" altLang="zh-CN" sz="2400" b="1" dirty="0"/>
                  <a:t>【例题】</a:t>
                </a:r>
                <a:r>
                  <a:rPr lang="zh-CN" altLang="zh-CN" sz="2400" b="1" dirty="0">
                    <a:solidFill>
                      <a:schemeClr val="tx1"/>
                    </a:solidFill>
                  </a:rPr>
                  <a:t>将下列置换写成轮换表达的形式。</a:t>
                </a:r>
              </a:p>
              <a:p>
                <a:r>
                  <a:rPr lang="en-US" altLang="zh-CN" sz="2400" b="1" dirty="0">
                    <a:solidFill>
                      <a:schemeClr val="tx1"/>
                    </a:solidFill>
                  </a:rPr>
                  <a:t>     (1)</a:t>
                </a:r>
                <a14:m>
                  <m:oMath xmlns:m="http://schemas.openxmlformats.org/officeDocument/2006/math">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
                      </m:e>
                    </m:d>
                  </m:oMath>
                </a14:m>
                <a:r>
                  <a:rPr lang="zh-CN" altLang="zh-CN" sz="2400" b="1" dirty="0">
                    <a:solidFill>
                      <a:schemeClr val="tx1"/>
                    </a:solidFill>
                  </a:rPr>
                  <a:t>；</a:t>
                </a:r>
                <a:r>
                  <a:rPr lang="en-US" altLang="zh-CN" sz="2400" b="1" dirty="0">
                    <a:solidFill>
                      <a:schemeClr val="tx1"/>
                    </a:solidFill>
                  </a:rPr>
                  <a:t>(2)</a:t>
                </a:r>
                <a14:m>
                  <m:oMath xmlns:m="http://schemas.openxmlformats.org/officeDocument/2006/math">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r>
                            <m:e>
                              <m:r>
                                <a:rPr lang="en-US" altLang="zh-CN" sz="2400" b="1" i="1">
                                  <a:solidFill>
                                    <a:schemeClr val="tx1"/>
                                  </a:solidFill>
                                  <a:latin typeface="Cambria Math" panose="02040503050406030204" pitchFamily="18" charset="0"/>
                                </a:rPr>
                                <m:t>𝟐</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𝟑</m:t>
                                    </m:r>
                                  </m:e>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
                      </m:e>
                    </m:d>
                  </m:oMath>
                </a14:m>
                <a:r>
                  <a:rPr lang="zh-CN" altLang="zh-CN" sz="2400" b="1" dirty="0">
                    <a:solidFill>
                      <a:schemeClr val="tx1"/>
                    </a:solidFill>
                  </a:rPr>
                  <a:t>；</a:t>
                </a:r>
                <a:endParaRPr lang="en-US" altLang="zh-CN" sz="2400" b="1" dirty="0">
                  <a:solidFill>
                    <a:schemeClr val="tx1"/>
                  </a:solidFill>
                </a:endParaRPr>
              </a:p>
              <a:p>
                <a:r>
                  <a:rPr lang="en-US" altLang="zh-CN" sz="2400" b="1" dirty="0">
                    <a:solidFill>
                      <a:schemeClr val="tx1"/>
                    </a:solidFill>
                  </a:rPr>
                  <a:t>     (3)</a:t>
                </a:r>
                <a14:m>
                  <m:oMath xmlns:m="http://schemas.openxmlformats.org/officeDocument/2006/math">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r>
                            <m:e>
                              <m:r>
                                <a:rPr lang="en-US" altLang="zh-CN" sz="2400" b="1" i="1">
                                  <a:solidFill>
                                    <a:schemeClr val="tx1"/>
                                  </a:solidFill>
                                  <a:latin typeface="Cambria Math" panose="02040503050406030204" pitchFamily="18" charset="0"/>
                                </a:rPr>
                                <m:t>𝟐</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𝟑</m:t>
                                    </m:r>
                                  </m:e>
                                  <m:e>
                                    <m:r>
                                      <a:rPr lang="en-US" altLang="zh-CN" sz="2400" b="1" i="1">
                                        <a:solidFill>
                                          <a:schemeClr val="tx1"/>
                                        </a:solidFill>
                                        <a:latin typeface="Cambria Math" panose="02040503050406030204" pitchFamily="18" charset="0"/>
                                      </a:rPr>
                                      <m:t>𝟒</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𝟓</m:t>
                                          </m:r>
                                        </m:e>
                                        <m:e>
                                          <m:r>
                                            <a:rPr lang="en-US" altLang="zh-CN" sz="2400" b="1" i="1">
                                              <a:solidFill>
                                                <a:schemeClr val="tx1"/>
                                              </a:solidFill>
                                              <a:latin typeface="Cambria Math" panose="02040503050406030204" pitchFamily="18" charset="0"/>
                                            </a:rPr>
                                            <m:t>𝟏</m:t>
                                          </m:r>
                                        </m:e>
                                      </m:mr>
                                    </m:m>
                                  </m:e>
                                </m:mr>
                              </m:m>
                            </m:e>
                          </m:mr>
                        </m:m>
                      </m:e>
                    </m:d>
                  </m:oMath>
                </a14:m>
                <a:r>
                  <a:rPr lang="zh-CN" altLang="zh-CN" sz="2400" b="1" dirty="0">
                    <a:solidFill>
                      <a:schemeClr val="tx1"/>
                    </a:solidFill>
                  </a:rPr>
                  <a:t>。</a:t>
                </a:r>
              </a:p>
            </p:txBody>
          </p:sp>
        </mc:Choice>
        <mc:Fallback xmlns="">
          <p:sp>
            <p:nvSpPr>
              <p:cNvPr id="2" name="TextBox 1"/>
              <p:cNvSpPr txBox="1">
                <a:spLocks noRot="1" noChangeAspect="1" noMove="1" noResize="1" noEditPoints="1" noAdjustHandles="1" noChangeArrowheads="1" noChangeShapeType="1" noTextEdit="1"/>
              </p:cNvSpPr>
              <p:nvPr/>
            </p:nvSpPr>
            <p:spPr>
              <a:xfrm>
                <a:off x="859334" y="1935171"/>
                <a:ext cx="7630616" cy="1767920"/>
              </a:xfrm>
              <a:prstGeom prst="rect">
                <a:avLst/>
              </a:prstGeom>
              <a:blipFill>
                <a:blip r:embed="rId2"/>
                <a:stretch>
                  <a:fillRect t="-27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838125" y="3819197"/>
                <a:ext cx="7662366" cy="2421047"/>
              </a:xfrm>
              <a:prstGeom prst="rect">
                <a:avLst/>
              </a:prstGeom>
              <a:solidFill>
                <a:schemeClr val="accent3"/>
              </a:solidFill>
            </p:spPr>
            <p:txBody>
              <a:bodyPr wrap="square" rtlCol="0">
                <a:spAutoFit/>
              </a:bodyPr>
              <a:lstStyle/>
              <a:p>
                <a:r>
                  <a:rPr lang="en-US" altLang="zh-CN" sz="2400" b="1" dirty="0"/>
                  <a:t> </a:t>
                </a:r>
                <a:r>
                  <a:rPr lang="zh-CN" altLang="zh-CN" sz="2400" b="1" dirty="0"/>
                  <a:t>【解】</a:t>
                </a:r>
                <a:endParaRPr lang="en-US" altLang="zh-CN" sz="2400" b="1" dirty="0"/>
              </a:p>
              <a:p>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a:t>
                </a:r>
                <a14:m>
                  <m:oMath xmlns:m="http://schemas.openxmlformats.org/officeDocument/2006/math">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
                      </m:e>
                    </m:d>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𝟏</m:t>
                        </m:r>
                      </m:e>
                    </m:d>
                    <m:r>
                      <a:rPr lang="en-US" altLang="zh-CN" sz="2400" b="1" i="1">
                        <a:solidFill>
                          <a:schemeClr val="tx1"/>
                        </a:solidFill>
                        <a:latin typeface="Cambria Math" panose="02040503050406030204" pitchFamily="18" charset="0"/>
                      </a:rPr>
                      <m:t>=</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𝟐</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𝟓</m:t>
                    </m:r>
                    <m:r>
                      <a:rPr lang="en-US" altLang="zh-CN" sz="2400" b="1" i="1" smtClean="0">
                        <a:solidFill>
                          <a:schemeClr val="tx1"/>
                        </a:solidFill>
                        <a:latin typeface="Cambria Math" panose="02040503050406030204" pitchFamily="18" charset="0"/>
                      </a:rPr>
                      <m:t>)</m:t>
                    </m:r>
                  </m:oMath>
                </a14:m>
                <a:endParaRPr lang="zh-CN" altLang="zh-CN" sz="2400" b="1" dirty="0">
                  <a:solidFill>
                    <a:schemeClr val="tx1"/>
                  </a:solidFill>
                </a:endParaRPr>
              </a:p>
              <a:p>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a:t>
                </a:r>
                <a14:m>
                  <m:oMath xmlns:m="http://schemas.openxmlformats.org/officeDocument/2006/math">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r>
                            <m:e>
                              <m:r>
                                <a:rPr lang="en-US" altLang="zh-CN" sz="2400" b="1" i="1">
                                  <a:solidFill>
                                    <a:schemeClr val="tx1"/>
                                  </a:solidFill>
                                  <a:latin typeface="Cambria Math" panose="02040503050406030204" pitchFamily="18" charset="0"/>
                                </a:rPr>
                                <m:t>𝟐</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𝟑</m:t>
                                    </m:r>
                                  </m:e>
                                  <m:e>
                                    <m:r>
                                      <a:rPr lang="en-US" altLang="zh-CN" sz="2400" b="1" i="1">
                                        <a:solidFill>
                                          <a:schemeClr val="tx1"/>
                                        </a:solidFill>
                                        <a:latin typeface="Cambria Math" panose="02040503050406030204" pitchFamily="18" charset="0"/>
                                      </a:rPr>
                                      <m:t>𝟏</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𝟐</m:t>
                    </m:r>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𝟑</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a:t>
                </a:r>
              </a:p>
              <a:p>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3</a:t>
                </a:r>
                <a:r>
                  <a:rPr lang="zh-CN" altLang="zh-CN" sz="2400" b="1" dirty="0">
                    <a:solidFill>
                      <a:schemeClr val="tx1"/>
                    </a:solidFill>
                  </a:rPr>
                  <a:t>）</a:t>
                </a:r>
                <a14:m>
                  <m:oMath xmlns:m="http://schemas.openxmlformats.org/officeDocument/2006/math">
                    <m:d>
                      <m:dPr>
                        <m:ctrlPr>
                          <a:rPr lang="zh-CN" altLang="zh-CN" sz="2400" b="1" i="1">
                            <a:solidFill>
                              <a:schemeClr val="tx1"/>
                            </a:solidFill>
                            <a:latin typeface="Cambria Math" panose="02040503050406030204" pitchFamily="18" charset="0"/>
                          </a:rPr>
                        </m:ctrlPr>
                      </m:dPr>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𝟏</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𝟐</m:t>
                                    </m:r>
                                  </m:e>
                                  <m:e>
                                    <m:r>
                                      <a:rPr lang="en-US" altLang="zh-CN" sz="2400" b="1" i="1">
                                        <a:solidFill>
                                          <a:schemeClr val="tx1"/>
                                        </a:solidFill>
                                        <a:latin typeface="Cambria Math" panose="02040503050406030204" pitchFamily="18" charset="0"/>
                                      </a:rPr>
                                      <m:t>𝟑</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𝟒</m:t>
                                          </m:r>
                                        </m:e>
                                        <m:e>
                                          <m:r>
                                            <a:rPr lang="en-US" altLang="zh-CN" sz="2400" b="1" i="1">
                                              <a:solidFill>
                                                <a:schemeClr val="tx1"/>
                                              </a:solidFill>
                                              <a:latin typeface="Cambria Math" panose="02040503050406030204" pitchFamily="18" charset="0"/>
                                            </a:rPr>
                                            <m:t>𝟓</m:t>
                                          </m:r>
                                        </m:e>
                                      </m:mr>
                                    </m:m>
                                  </m:e>
                                </m:mr>
                              </m:m>
                            </m:e>
                          </m:mr>
                          <m:mr>
                            <m:e>
                              <m:r>
                                <a:rPr lang="en-US" altLang="zh-CN" sz="2400" b="1" i="1">
                                  <a:solidFill>
                                    <a:schemeClr val="tx1"/>
                                  </a:solidFill>
                                  <a:latin typeface="Cambria Math" panose="02040503050406030204" pitchFamily="18" charset="0"/>
                                </a:rPr>
                                <m:t>𝟐</m:t>
                              </m:r>
                            </m:e>
                            <m:e>
                              <m:m>
                                <m:mPr>
                                  <m:mcs>
                                    <m:mc>
                                      <m:mcPr>
                                        <m:count m:val="3"/>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𝟑</m:t>
                                    </m:r>
                                  </m:e>
                                  <m:e>
                                    <m:r>
                                      <a:rPr lang="en-US" altLang="zh-CN" sz="2400" b="1" i="1">
                                        <a:solidFill>
                                          <a:schemeClr val="tx1"/>
                                        </a:solidFill>
                                        <a:latin typeface="Cambria Math" panose="02040503050406030204" pitchFamily="18" charset="0"/>
                                      </a:rPr>
                                      <m:t>𝟒</m:t>
                                    </m:r>
                                  </m:e>
                                  <m:e>
                                    <m:m>
                                      <m:mPr>
                                        <m:mcs>
                                          <m:mc>
                                            <m:mcPr>
                                              <m:count m:val="2"/>
                                              <m:mcJc m:val="center"/>
                                            </m:mcPr>
                                          </m:mc>
                                        </m:mcs>
                                        <m:ctrlPr>
                                          <a:rPr lang="zh-CN" altLang="zh-CN" sz="2400" b="1" i="1">
                                            <a:solidFill>
                                              <a:schemeClr val="tx1"/>
                                            </a:solidFill>
                                            <a:latin typeface="Cambria Math" panose="02040503050406030204" pitchFamily="18" charset="0"/>
                                          </a:rPr>
                                        </m:ctrlPr>
                                      </m:mPr>
                                      <m:mr>
                                        <m:e>
                                          <m:r>
                                            <a:rPr lang="en-US" altLang="zh-CN" sz="2400" b="1" i="1">
                                              <a:solidFill>
                                                <a:schemeClr val="tx1"/>
                                              </a:solidFill>
                                              <a:latin typeface="Cambria Math" panose="02040503050406030204" pitchFamily="18" charset="0"/>
                                            </a:rPr>
                                            <m:t>𝟓</m:t>
                                          </m:r>
                                        </m:e>
                                        <m:e>
                                          <m:r>
                                            <a:rPr lang="en-US" altLang="zh-CN" sz="2400" b="1" i="1">
                                              <a:solidFill>
                                                <a:schemeClr val="tx1"/>
                                              </a:solidFill>
                                              <a:latin typeface="Cambria Math" panose="02040503050406030204" pitchFamily="18" charset="0"/>
                                            </a:rPr>
                                            <m:t>𝟏</m:t>
                                          </m:r>
                                        </m:e>
                                      </m:mr>
                                    </m:m>
                                  </m:e>
                                </m:mr>
                              </m:m>
                            </m:e>
                          </m:mr>
                        </m:m>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𝟐</m:t>
                    </m:r>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𝟑</m:t>
                    </m:r>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𝟒</m:t>
                    </m:r>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panose="02040503050406030204" pitchFamily="18" charset="0"/>
                      </a:rPr>
                      <m:t>𝟓</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a:t>
                </a:r>
              </a:p>
            </p:txBody>
          </p:sp>
        </mc:Choice>
        <mc:Fallback xmlns="">
          <p:sp>
            <p:nvSpPr>
              <p:cNvPr id="4" name="TextBox 3"/>
              <p:cNvSpPr txBox="1">
                <a:spLocks noRot="1" noChangeAspect="1" noMove="1" noResize="1" noEditPoints="1" noAdjustHandles="1" noChangeArrowheads="1" noChangeShapeType="1" noTextEdit="1"/>
              </p:cNvSpPr>
              <p:nvPr/>
            </p:nvSpPr>
            <p:spPr>
              <a:xfrm>
                <a:off x="838125" y="3819197"/>
                <a:ext cx="7662366" cy="2421047"/>
              </a:xfrm>
              <a:prstGeom prst="rect">
                <a:avLst/>
              </a:prstGeom>
              <a:blipFill>
                <a:blip r:embed="rId3"/>
                <a:stretch>
                  <a:fillRect t="-2015"/>
                </a:stretch>
              </a:blipFill>
            </p:spPr>
            <p:txBody>
              <a:bodyPr/>
              <a:lstStyle/>
              <a:p>
                <a:r>
                  <a:rPr lang="zh-CN" altLang="en-US">
                    <a:noFill/>
                  </a:rPr>
                  <a:t> </a:t>
                </a:r>
              </a:p>
            </p:txBody>
          </p:sp>
        </mc:Fallback>
      </mc:AlternateContent>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4AF8D16-9F7F-4AE4-B58E-ABA0A43DF27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686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686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03610F3-E583-4CCF-B42B-EF2DF5C2F438}" type="slidenum">
              <a:rPr lang="en-US" altLang="zh-CN" sz="1400" b="1">
                <a:latin typeface="Times New Roman" pitchFamily="18" charset="0"/>
                <a:ea typeface="宋体" pitchFamily="2" charset="-122"/>
              </a:rPr>
              <a:pPr algn="r" eaLnBrk="1" hangingPunct="1"/>
              <a:t>22</a:t>
            </a:fld>
            <a:endParaRPr lang="en-US" altLang="zh-CN" sz="1400" b="1">
              <a:latin typeface="Times New Roman" pitchFamily="18" charset="0"/>
              <a:ea typeface="宋体" pitchFamily="2" charset="-122"/>
            </a:endParaRPr>
          </a:p>
        </p:txBody>
      </p:sp>
      <p:sp>
        <p:nvSpPr>
          <p:cNvPr id="3686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3" name="图片 2">
            <a:extLst>
              <a:ext uri="{FF2B5EF4-FFF2-40B4-BE49-F238E27FC236}">
                <a16:creationId xmlns:a16="http://schemas.microsoft.com/office/drawing/2014/main" id="{05DFFACF-523A-4410-9705-BBD17E606061}"/>
              </a:ext>
            </a:extLst>
          </p:cNvPr>
          <p:cNvPicPr>
            <a:picLocks noChangeAspect="1"/>
          </p:cNvPicPr>
          <p:nvPr/>
        </p:nvPicPr>
        <p:blipFill>
          <a:blip r:embed="rId2"/>
          <a:stretch>
            <a:fillRect/>
          </a:stretch>
        </p:blipFill>
        <p:spPr>
          <a:xfrm>
            <a:off x="125760" y="2060848"/>
            <a:ext cx="8892480" cy="4088659"/>
          </a:xfrm>
          <a:prstGeom prst="rect">
            <a:avLst/>
          </a:prstGeom>
        </p:spPr>
      </p:pic>
    </p:spTree>
    <p:extLst>
      <p:ext uri="{BB962C8B-B14F-4D97-AF65-F5344CB8AC3E}">
        <p14:creationId xmlns:p14="http://schemas.microsoft.com/office/powerpoint/2010/main" val="1415639880"/>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4AF8D16-9F7F-4AE4-B58E-ABA0A43DF27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686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686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03610F3-E583-4CCF-B42B-EF2DF5C2F438}" type="slidenum">
              <a:rPr lang="en-US" altLang="zh-CN" sz="1400" b="1">
                <a:latin typeface="Times New Roman" pitchFamily="18" charset="0"/>
                <a:ea typeface="宋体" pitchFamily="2" charset="-122"/>
              </a:rPr>
              <a:pPr algn="r" eaLnBrk="1" hangingPunct="1"/>
              <a:t>23</a:t>
            </a:fld>
            <a:endParaRPr lang="en-US" altLang="zh-CN" sz="1400" b="1">
              <a:latin typeface="Times New Roman" pitchFamily="18" charset="0"/>
              <a:ea typeface="宋体" pitchFamily="2" charset="-122"/>
            </a:endParaRPr>
          </a:p>
        </p:txBody>
      </p:sp>
      <p:sp>
        <p:nvSpPr>
          <p:cNvPr id="3686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69527D6-8023-4A7F-BDDB-63B023E53EE9}"/>
                  </a:ext>
                </a:extLst>
              </p:cNvPr>
              <p:cNvSpPr/>
              <p:nvPr/>
            </p:nvSpPr>
            <p:spPr>
              <a:xfrm>
                <a:off x="650203" y="2132856"/>
                <a:ext cx="7848872" cy="1130246"/>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400" b="1" kern="100" dirty="0">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𝝅</m:t>
                    </m:r>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𝒊</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𝒊</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𝒊</m:t>
                        </m:r>
                      </m:e>
                      <m:sub>
                        <m:r>
                          <a:rPr lang="en-US" altLang="zh-CN" sz="2400" b="1" i="1" kern="100">
                            <a:solidFill>
                              <a:schemeClr val="bg1"/>
                            </a:solidFill>
                            <a:latin typeface="Cambria Math" panose="02040503050406030204" pitchFamily="18" charset="0"/>
                            <a:ea typeface="宋体" panose="02010600030101010101" pitchFamily="2" charset="-122"/>
                          </a:rPr>
                          <m:t>𝒕</m:t>
                        </m:r>
                      </m:sub>
                    </m:sSub>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𝝉</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𝒋</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𝒔</m:t>
                        </m:r>
                      </m:sub>
                    </m:s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都是轮换，如果</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𝝅</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𝝉</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不含相同的元素</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𝝅</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𝝉</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不相交的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F69527D6-8023-4A7F-BDDB-63B023E53EE9}"/>
                  </a:ext>
                </a:extLst>
              </p:cNvPr>
              <p:cNvSpPr>
                <a:spLocks noRot="1" noChangeAspect="1" noMove="1" noResize="1" noEditPoints="1" noAdjustHandles="1" noChangeArrowheads="1" noChangeShapeType="1" noTextEdit="1"/>
              </p:cNvSpPr>
              <p:nvPr/>
            </p:nvSpPr>
            <p:spPr>
              <a:xfrm>
                <a:off x="650203" y="2132856"/>
                <a:ext cx="7848872" cy="1130246"/>
              </a:xfrm>
              <a:prstGeom prst="rect">
                <a:avLst/>
              </a:prstGeom>
              <a:blipFill>
                <a:blip r:embed="rId2"/>
                <a:stretch>
                  <a:fillRect l="-1243" r="-1166" b="-102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ABE9C99-4957-4600-B19B-01F9B5FAF801}"/>
                  </a:ext>
                </a:extLst>
              </p:cNvPr>
              <p:cNvSpPr/>
              <p:nvPr/>
            </p:nvSpPr>
            <p:spPr>
              <a:xfrm>
                <a:off x="1115616" y="3835446"/>
                <a:ext cx="7128792" cy="2238241"/>
              </a:xfrm>
              <a:prstGeom prst="rect">
                <a:avLst/>
              </a:prstGeom>
              <a:solidFill>
                <a:schemeClr val="accent3"/>
              </a:solidFill>
            </p:spPr>
            <p:txBody>
              <a:bodyPr wrap="square">
                <a:spAutoFit/>
              </a:bodyPr>
              <a:lstStyle/>
              <a:p>
                <a:pPr indent="266700" algn="just">
                  <a:lnSpc>
                    <a:spcPct val="150000"/>
                  </a:lnSpc>
                  <a:spcAft>
                    <a:spcPts val="0"/>
                  </a:spcAft>
                </a:pP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例如</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集合</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𝑨</m:t>
                    </m:r>
                    <m:r>
                      <a:rPr lang="en-US" altLang="zh-CN" sz="24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𝟏</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𝟐</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𝟑</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𝟒</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𝟓</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𝟔</m:t>
                        </m:r>
                      </m:e>
                    </m:d>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上的两个轮换</a:t>
                </a:r>
                <a14:m>
                  <m:oMath xmlns:m="http://schemas.openxmlformats.org/officeDocument/2006/math">
                    <m:d>
                      <m:dPr>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𝟐</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𝟓</m:t>
                        </m:r>
                      </m:e>
                    </m:d>
                    <m:r>
                      <a:rPr lang="zh-CN"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和</m:t>
                    </m:r>
                    <m:d>
                      <m:dPr>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𝟑</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𝟒</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𝟔</m:t>
                        </m:r>
                      </m:e>
                    </m:d>
                  </m:oMath>
                </a14:m>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之间是</a:t>
                </a:r>
                <a:r>
                  <a:rPr lang="zh-CN" altLang="zh-CN" sz="2400" b="1" kern="0" dirty="0">
                    <a:solidFill>
                      <a:srgbClr val="0000FF"/>
                    </a:solidFill>
                    <a:latin typeface="Times New Roman" panose="02020603050405020304" pitchFamily="18" charset="0"/>
                    <a:ea typeface="宋体" panose="02010600030101010101" pitchFamily="2" charset="-122"/>
                    <a:cs typeface="宋体" panose="02010600030101010101" pitchFamily="2" charset="-122"/>
                  </a:rPr>
                  <a:t>不相交的</a:t>
                </a:r>
                <a:r>
                  <a:rPr lang="zh-CN" altLang="en-US"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轮换</a:t>
                </a:r>
                <a14:m>
                  <m:oMath xmlns:m="http://schemas.openxmlformats.org/officeDocument/2006/math">
                    <m:d>
                      <m:dPr>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𝟐</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𝟓</m:t>
                        </m:r>
                      </m:e>
                    </m:d>
                    <m:r>
                      <a:rPr lang="zh-CN"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和</m:t>
                    </m:r>
                    <m:d>
                      <m:dPr>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𝟐</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𝟒</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𝟔</m:t>
                        </m:r>
                      </m:e>
                    </m:d>
                  </m:oMath>
                </a14:m>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之间则是</a:t>
                </a:r>
                <a:r>
                  <a:rPr lang="zh-CN" altLang="zh-CN" sz="2400" b="1" kern="0" dirty="0">
                    <a:solidFill>
                      <a:srgbClr val="0000FF"/>
                    </a:solidFill>
                    <a:latin typeface="Times New Roman" panose="02020603050405020304" pitchFamily="18" charset="0"/>
                    <a:ea typeface="宋体" panose="02010600030101010101" pitchFamily="2" charset="-122"/>
                    <a:cs typeface="宋体" panose="02010600030101010101" pitchFamily="2" charset="-122"/>
                  </a:rPr>
                  <a:t>相交的</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kern="100" dirty="0">
                    <a:solidFill>
                      <a:schemeClr val="tx1"/>
                    </a:solidFill>
                    <a:latin typeface="宋体" panose="02010600030101010101" pitchFamily="2" charset="-122"/>
                    <a:ea typeface="宋体" panose="02010600030101010101" pitchFamily="2" charset="-122"/>
                    <a:cs typeface="宋体" panose="02010600030101010101" pitchFamily="2" charset="-122"/>
                  </a:rPr>
                  <a:t> </a:t>
                </a:r>
                <a:endParaRPr lang="zh-CN" altLang="zh-CN" sz="2400"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4" name="矩形 3">
                <a:extLst>
                  <a:ext uri="{FF2B5EF4-FFF2-40B4-BE49-F238E27FC236}">
                    <a16:creationId xmlns:a16="http://schemas.microsoft.com/office/drawing/2014/main" id="{2ABE9C99-4957-4600-B19B-01F9B5FAF801}"/>
                  </a:ext>
                </a:extLst>
              </p:cNvPr>
              <p:cNvSpPr>
                <a:spLocks noRot="1" noChangeAspect="1" noMove="1" noResize="1" noEditPoints="1" noAdjustHandles="1" noChangeArrowheads="1" noChangeShapeType="1" noTextEdit="1"/>
              </p:cNvSpPr>
              <p:nvPr/>
            </p:nvSpPr>
            <p:spPr>
              <a:xfrm>
                <a:off x="1115616" y="3835446"/>
                <a:ext cx="7128792" cy="2238241"/>
              </a:xfrm>
              <a:prstGeom prst="rect">
                <a:avLst/>
              </a:prstGeom>
              <a:blipFill>
                <a:blip r:embed="rId3"/>
                <a:stretch>
                  <a:fillRect r="-770" b="-46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6404995"/>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4AF8D16-9F7F-4AE4-B58E-ABA0A43DF27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686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686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03610F3-E583-4CCF-B42B-EF2DF5C2F438}" type="slidenum">
              <a:rPr lang="en-US" altLang="zh-CN" sz="1400" b="1">
                <a:latin typeface="Times New Roman" pitchFamily="18" charset="0"/>
                <a:ea typeface="宋体" pitchFamily="2" charset="-122"/>
              </a:rPr>
              <a:pPr algn="r" eaLnBrk="1" hangingPunct="1"/>
              <a:t>24</a:t>
            </a:fld>
            <a:endParaRPr lang="en-US" altLang="zh-CN" sz="1400" b="1">
              <a:latin typeface="Times New Roman" pitchFamily="18" charset="0"/>
              <a:ea typeface="宋体" pitchFamily="2" charset="-122"/>
            </a:endParaRPr>
          </a:p>
        </p:txBody>
      </p:sp>
      <p:sp>
        <p:nvSpPr>
          <p:cNvPr id="3686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F555660B-7AE7-4084-8F5C-3E4BA143F83A}"/>
                  </a:ext>
                </a:extLst>
              </p:cNvPr>
              <p:cNvSpPr/>
              <p:nvPr/>
            </p:nvSpPr>
            <p:spPr>
              <a:xfrm>
                <a:off x="539552" y="1988840"/>
                <a:ext cx="8064896" cy="1684244"/>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400" b="1" kern="100" dirty="0">
                    <a:cs typeface="宋体" panose="02010600030101010101" pitchFamily="2" charset="-122"/>
                  </a:rPr>
                  <a:t>   </a:t>
                </a:r>
                <a:r>
                  <a:rPr lang="zh-CN" altLang="zh-CN" sz="2400" b="1" kern="100" dirty="0">
                    <a:solidFill>
                      <a:schemeClr val="bg1"/>
                    </a:solidFill>
                    <a:cs typeface="宋体" panose="02010600030101010101" pitchFamily="2" charset="-122"/>
                  </a:rPr>
                  <a:t>【定理】（轮换分解定理）任一</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𝒏</m:t>
                    </m:r>
                  </m:oMath>
                </a14:m>
                <a:r>
                  <a:rPr lang="zh-CN" altLang="zh-CN" sz="2400" b="1" kern="100" dirty="0">
                    <a:solidFill>
                      <a:schemeClr val="bg1"/>
                    </a:solidFill>
                    <a:cs typeface="宋体" panose="02010600030101010101" pitchFamily="2" charset="-122"/>
                  </a:rPr>
                  <a:t>元置换都可写成</a:t>
                </a:r>
                <a:r>
                  <a:rPr lang="zh-CN" altLang="zh-CN" sz="2400" b="1" kern="100" dirty="0">
                    <a:solidFill>
                      <a:srgbClr val="FFFF00"/>
                    </a:solidFill>
                    <a:cs typeface="宋体" panose="02010600030101010101" pitchFamily="2" charset="-122"/>
                  </a:rPr>
                  <a:t>若干个不相交轮换的乘积</a:t>
                </a:r>
                <a:r>
                  <a:rPr lang="zh-CN" altLang="zh-CN" sz="2400" b="1" kern="100" dirty="0">
                    <a:solidFill>
                      <a:schemeClr val="bg1"/>
                    </a:solidFill>
                    <a:cs typeface="宋体" panose="02010600030101010101" pitchFamily="2" charset="-122"/>
                  </a:rPr>
                  <a:t>。</a:t>
                </a:r>
                <a:endParaRPr lang="en-US" altLang="zh-CN" sz="2400" b="1" kern="100" dirty="0">
                  <a:solidFill>
                    <a:schemeClr val="bg1"/>
                  </a:solidFill>
                  <a:cs typeface="宋体" panose="02010600030101010101" pitchFamily="2" charset="-122"/>
                </a:endParaRPr>
              </a:p>
              <a:p>
                <a:pPr indent="266700" algn="just">
                  <a:lnSpc>
                    <a:spcPct val="150000"/>
                  </a:lnSpc>
                  <a:spcAft>
                    <a:spcPts val="0"/>
                  </a:spcAft>
                </a:pPr>
                <a:r>
                  <a:rPr lang="en-US" altLang="zh-CN" sz="2400" b="1" kern="100" dirty="0">
                    <a:solidFill>
                      <a:schemeClr val="bg1"/>
                    </a:solidFill>
                  </a:rPr>
                  <a:t>   </a:t>
                </a:r>
                <a:r>
                  <a:rPr lang="zh-CN" altLang="zh-CN" sz="2400" b="1" kern="100" dirty="0">
                    <a:solidFill>
                      <a:schemeClr val="bg1"/>
                    </a:solidFill>
                  </a:rPr>
                  <a:t>【证明】该定理的证明比较复杂，在此从略。</a:t>
                </a:r>
                <a:endParaRPr lang="zh-CN" altLang="zh-CN" sz="2400" b="1" kern="100" dirty="0"/>
              </a:p>
            </p:txBody>
          </p:sp>
        </mc:Choice>
        <mc:Fallback xmlns="">
          <p:sp>
            <p:nvSpPr>
              <p:cNvPr id="3" name="矩形 2">
                <a:extLst>
                  <a:ext uri="{FF2B5EF4-FFF2-40B4-BE49-F238E27FC236}">
                    <a16:creationId xmlns:a16="http://schemas.microsoft.com/office/drawing/2014/main" id="{F555660B-7AE7-4084-8F5C-3E4BA143F83A}"/>
                  </a:ext>
                </a:extLst>
              </p:cNvPr>
              <p:cNvSpPr>
                <a:spLocks noRot="1" noChangeAspect="1" noMove="1" noResize="1" noEditPoints="1" noAdjustHandles="1" noChangeArrowheads="1" noChangeShapeType="1" noTextEdit="1"/>
              </p:cNvSpPr>
              <p:nvPr/>
            </p:nvSpPr>
            <p:spPr>
              <a:xfrm>
                <a:off x="539552" y="1988840"/>
                <a:ext cx="8064896" cy="1684244"/>
              </a:xfrm>
              <a:prstGeom prst="rect">
                <a:avLst/>
              </a:prstGeom>
              <a:blipFill>
                <a:blip r:embed="rId2"/>
                <a:stretch>
                  <a:fillRect l="-1210" r="-1210" b="-61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B3B5F828-592D-4776-97FC-CB329DF5487F}"/>
                  </a:ext>
                </a:extLst>
              </p:cNvPr>
              <p:cNvSpPr/>
              <p:nvPr/>
            </p:nvSpPr>
            <p:spPr>
              <a:xfrm>
                <a:off x="827584" y="3990349"/>
                <a:ext cx="7347971" cy="2098395"/>
              </a:xfrm>
              <a:prstGeom prst="rect">
                <a:avLst/>
              </a:prstGeom>
              <a:solidFill>
                <a:schemeClr val="accent5">
                  <a:lumMod val="20000"/>
                  <a:lumOff val="80000"/>
                </a:schemeClr>
              </a:solidFill>
            </p:spPr>
            <p:txBody>
              <a:bodyPr wrap="square">
                <a:spAutoFit/>
              </a:bodyPr>
              <a:lstStyle/>
              <a:p>
                <a:pPr indent="266700" algn="just">
                  <a:lnSpc>
                    <a:spcPct val="150000"/>
                  </a:lnSpc>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【例题】将</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下列</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集合</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𝑨</m:t>
                    </m:r>
                    <m:r>
                      <a:rPr lang="en-US" altLang="zh-CN" sz="24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𝟏</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𝟐</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𝟑</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𝟒</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𝟓</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𝟔</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𝟕</m:t>
                        </m:r>
                        <m:r>
                          <a:rPr lang="en-US" altLang="zh-CN" sz="2400" b="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𝟖</m:t>
                        </m:r>
                      </m:e>
                    </m:d>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上的置换分解成不相交轮换的乘积：</a:t>
                </a:r>
                <a:endParaRPr lang="zh-CN" altLang="zh-CN" sz="2400" b="1" kern="100" dirty="0">
                  <a:solidFill>
                    <a:schemeClr val="tx1"/>
                  </a:solidFill>
                  <a:latin typeface="Times New Roman" panose="02020603050405020304" pitchFamily="18" charset="0"/>
                  <a:ea typeface="宋体" panose="02010600030101010101" pitchFamily="2" charset="-122"/>
                </a:endParaRPr>
              </a:p>
              <a:p>
                <a:pPr algn="ctr">
                  <a:lnSpc>
                    <a:spcPct val="150000"/>
                  </a:lnSpc>
                  <a:spcAft>
                    <a:spcPts val="0"/>
                  </a:spcAft>
                </a:pP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𝑷</m:t>
                    </m:r>
                    <m:r>
                      <a:rPr lang="en-US" altLang="zh-CN" sz="2400" b="1" i="1" kern="100">
                        <a:solidFill>
                          <a:schemeClr val="tx1"/>
                        </a:solidFill>
                        <a:latin typeface="Cambria Math" panose="02040503050406030204" pitchFamily="18" charset="0"/>
                        <a:ea typeface="宋体" panose="02010600030101010101" pitchFamily="2" charset="-122"/>
                      </a:rPr>
                      <m:t>=</m:t>
                    </m:r>
                    <m:d>
                      <m:dPr>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dPr>
                      <m:e>
                        <m:m>
                          <m:mPr>
                            <m:mcs>
                              <m:mc>
                                <m:mcPr>
                                  <m:count m:val="2"/>
                                  <m:mcJc m:val="center"/>
                                </m:mcPr>
                              </m:mc>
                            </m:mcs>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𝟏</m:t>
                              </m:r>
                            </m:e>
                            <m:e>
                              <m:m>
                                <m:mPr>
                                  <m:mcs>
                                    <m:mc>
                                      <m:mcPr>
                                        <m:count m:val="3"/>
                                        <m:mcJc m:val="center"/>
                                      </m:mcPr>
                                    </m:mc>
                                  </m:mcs>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𝟐</m:t>
                                    </m:r>
                                  </m:e>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𝟑</m:t>
                                    </m:r>
                                  </m:e>
                                  <m:e>
                                    <m:m>
                                      <m:mPr>
                                        <m:mcs>
                                          <m:mc>
                                            <m:mcPr>
                                              <m:count m:val="3"/>
                                              <m:mcJc m:val="center"/>
                                            </m:mcPr>
                                          </m:mc>
                                        </m:mcs>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𝟒</m:t>
                                          </m:r>
                                        </m:e>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𝟓</m:t>
                                          </m:r>
                                        </m:e>
                                        <m:e>
                                          <m:m>
                                            <m:mPr>
                                              <m:mcs>
                                                <m:mc>
                                                  <m:mcPr>
                                                    <m:count m:val="2"/>
                                                    <m:mcJc m:val="center"/>
                                                  </m:mcPr>
                                                </m:mc>
                                              </m:mcs>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𝟔</m:t>
                                                </m:r>
                                              </m:e>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𝟕</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     </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𝟖</m:t>
                                                </m:r>
                                              </m:e>
                                            </m:mr>
                                          </m:m>
                                        </m:e>
                                      </m:mr>
                                    </m:m>
                                  </m:e>
                                </m:mr>
                              </m:m>
                            </m:e>
                          </m:m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𝟑</m:t>
                              </m:r>
                            </m:e>
                            <m:e>
                              <m:m>
                                <m:mPr>
                                  <m:mcs>
                                    <m:mc>
                                      <m:mcPr>
                                        <m:count m:val="3"/>
                                        <m:mcJc m:val="center"/>
                                      </m:mcPr>
                                    </m:mc>
                                  </m:mcs>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𝟒</m:t>
                                    </m:r>
                                  </m:e>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𝟔</m:t>
                                    </m:r>
                                  </m:e>
                                  <m:e>
                                    <m:m>
                                      <m:mPr>
                                        <m:mcs>
                                          <m:mc>
                                            <m:mcPr>
                                              <m:count m:val="3"/>
                                              <m:mcJc m:val="center"/>
                                            </m:mcPr>
                                          </m:mc>
                                        </m:mcs>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𝟓</m:t>
                                          </m:r>
                                        </m:e>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𝟐</m:t>
                                          </m:r>
                                        </m:e>
                                        <m:e>
                                          <m:m>
                                            <m:mPr>
                                              <m:mcs>
                                                <m:mc>
                                                  <m:mcPr>
                                                    <m:count m:val="2"/>
                                                    <m:mcJc m:val="center"/>
                                                  </m:mcPr>
                                                </m:mc>
                                              </m:mcs>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mPr>
                                            <m:m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𝟏</m:t>
                                                </m:r>
                                              </m:e>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𝟖</m:t>
                                                </m:r>
                                              </m:e>
                                            </m:mr>
                                          </m:m>
                                        </m:e>
                                      </m:mr>
                                    </m:m>
                                  </m:e>
                                </m:mr>
                              </m:m>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     </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𝟕</m:t>
                              </m:r>
                            </m:e>
                          </m:mr>
                        </m:m>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 </m:t>
                        </m:r>
                      </m:e>
                    </m:d>
                  </m:oMath>
                </a14:m>
                <a:r>
                  <a:rPr lang="en-US" altLang="zh-CN" sz="2400" b="1" kern="100" dirty="0">
                    <a:solidFill>
                      <a:schemeClr val="tx1"/>
                    </a:solidFill>
                    <a:latin typeface="Times New Roman" panose="02020603050405020304" pitchFamily="18" charset="0"/>
                    <a:ea typeface="宋体" panose="02010600030101010101" pitchFamily="2" charset="-122"/>
                  </a:rPr>
                  <a:t> </a:t>
                </a:r>
                <a:endPar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p:txBody>
          </p:sp>
        </mc:Choice>
        <mc:Fallback xmlns="">
          <p:sp>
            <p:nvSpPr>
              <p:cNvPr id="5" name="矩形 4">
                <a:extLst>
                  <a:ext uri="{FF2B5EF4-FFF2-40B4-BE49-F238E27FC236}">
                    <a16:creationId xmlns:a16="http://schemas.microsoft.com/office/drawing/2014/main" id="{B3B5F828-592D-4776-97FC-CB329DF5487F}"/>
                  </a:ext>
                </a:extLst>
              </p:cNvPr>
              <p:cNvSpPr>
                <a:spLocks noRot="1" noChangeAspect="1" noMove="1" noResize="1" noEditPoints="1" noAdjustHandles="1" noChangeArrowheads="1" noChangeShapeType="1" noTextEdit="1"/>
              </p:cNvSpPr>
              <p:nvPr/>
            </p:nvSpPr>
            <p:spPr>
              <a:xfrm>
                <a:off x="827584" y="3990349"/>
                <a:ext cx="7347971" cy="2098395"/>
              </a:xfrm>
              <a:prstGeom prst="rect">
                <a:avLst/>
              </a:prstGeom>
              <a:blipFill>
                <a:blip r:embed="rId3"/>
                <a:stretch>
                  <a:fillRect l="-1328" r="-12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0401747"/>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4AF8D16-9F7F-4AE4-B58E-ABA0A43DF27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3686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3686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03610F3-E583-4CCF-B42B-EF2DF5C2F438}" type="slidenum">
              <a:rPr lang="en-US" altLang="zh-CN" sz="1400" b="1">
                <a:latin typeface="Times New Roman" pitchFamily="18" charset="0"/>
                <a:ea typeface="宋体" pitchFamily="2" charset="-122"/>
              </a:rPr>
              <a:pPr algn="r" eaLnBrk="1" hangingPunct="1"/>
              <a:t>25</a:t>
            </a:fld>
            <a:endParaRPr lang="en-US" altLang="zh-CN" sz="1400" b="1">
              <a:latin typeface="Times New Roman" pitchFamily="18" charset="0"/>
              <a:ea typeface="宋体" pitchFamily="2" charset="-122"/>
            </a:endParaRPr>
          </a:p>
        </p:txBody>
      </p:sp>
      <p:sp>
        <p:nvSpPr>
          <p:cNvPr id="3686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A3B337F-D740-4511-80F4-4594C3537294}"/>
                  </a:ext>
                </a:extLst>
              </p:cNvPr>
              <p:cNvSpPr/>
              <p:nvPr/>
            </p:nvSpPr>
            <p:spPr>
              <a:xfrm>
                <a:off x="251520" y="1897420"/>
                <a:ext cx="8458200" cy="4200317"/>
              </a:xfrm>
              <a:prstGeom prst="rect">
                <a:avLst/>
              </a:prstGeom>
              <a:solidFill>
                <a:schemeClr val="accent3">
                  <a:lumMod val="95000"/>
                </a:schemeClr>
              </a:solidFill>
            </p:spPr>
            <p:txBody>
              <a:bodyPr wrap="square">
                <a:spAutoFit/>
              </a:bodyPr>
              <a:lstStyle/>
              <a:p>
                <a:pPr indent="266700" algn="just">
                  <a:lnSpc>
                    <a:spcPts val="3600"/>
                  </a:lnSpc>
                  <a:spcAft>
                    <a:spcPts val="0"/>
                  </a:spcAft>
                </a:pPr>
                <a:r>
                  <a:rPr lang="en-US" altLang="zh-CN" sz="2400" b="1" kern="0" dirty="0">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【解】首先，</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从元素</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开始，发现</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i="1" kern="100" dirty="0">
                  <a:solidFill>
                    <a:schemeClr val="tx1"/>
                  </a:solidFill>
                  <a:latin typeface="Cambria Math" panose="02040503050406030204" pitchFamily="18" charset="0"/>
                  <a:ea typeface="宋体" panose="02010600030101010101" pitchFamily="2" charset="-122"/>
                </a:endParaRPr>
              </a:p>
              <a:p>
                <a:pPr indent="266700" algn="ctr">
                  <a:lnSpc>
                    <a:spcPts val="3600"/>
                  </a:lnSpc>
                  <a:spcAft>
                    <a:spcPts val="0"/>
                  </a:spcAft>
                </a:pP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𝟏</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𝟑</m:t>
                    </m:r>
                  </m:oMath>
                </a14:m>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 </m:t>
                    </m:r>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𝟑</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𝟔</m:t>
                    </m:r>
                  </m:oMath>
                </a14:m>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 </m:t>
                    </m:r>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𝟔</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𝟏</m:t>
                    </m:r>
                  </m:oMath>
                </a14:m>
                <a:endPar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266700" algn="just">
                  <a:lnSpc>
                    <a:spcPts val="3600"/>
                  </a:lnSpc>
                  <a:spcAft>
                    <a:spcPts val="0"/>
                  </a:spcAft>
                </a:pP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故得到一个轮换</a:t>
                </a:r>
                <a14:m>
                  <m:oMath xmlns:m="http://schemas.openxmlformats.org/officeDocument/2006/math">
                    <m:d>
                      <m:dPr>
                        <m:ctrlPr>
                          <a:rPr lang="zh-CN"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𝟑</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𝟔</m:t>
                        </m:r>
                      </m:e>
                    </m:d>
                  </m:oMath>
                </a14:m>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然后，从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中</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不出现在前面轮换中的第一个元素开始，这里是元素</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，发现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𝟐</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𝟒</m:t>
                    </m:r>
                  </m:oMath>
                </a14:m>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 </m:t>
                    </m:r>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𝟒</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𝟓</m:t>
                    </m:r>
                  </m:oMath>
                </a14:m>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 </m:t>
                    </m:r>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𝟓</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𝟐</m:t>
                    </m:r>
                  </m:oMath>
                </a14:m>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又得到一个轮换</a:t>
                </a:r>
                <a14:m>
                  <m:oMath xmlns:m="http://schemas.openxmlformats.org/officeDocument/2006/math">
                    <m:d>
                      <m:dPr>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𝟐</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𝟒</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𝟓</m:t>
                        </m:r>
                      </m:e>
                    </m:d>
                  </m:oMath>
                </a14:m>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继续上述过程，此时选元素</a:t>
                </a:r>
                <a:r>
                  <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7</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，则有</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𝟕</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𝟖</m:t>
                    </m:r>
                  </m:oMath>
                </a14:m>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 </m:t>
                    </m:r>
                    <m:r>
                      <a:rPr lang="en-US" altLang="zh-CN" sz="2400" b="1" i="1" kern="100">
                        <a:solidFill>
                          <a:schemeClr val="tx1"/>
                        </a:solidFill>
                        <a:latin typeface="Cambria Math" panose="02040503050406030204" pitchFamily="18" charset="0"/>
                        <a:ea typeface="宋体" panose="02010600030101010101" pitchFamily="2" charset="-122"/>
                      </a:rPr>
                      <m:t>𝑷</m:t>
                    </m:r>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𝟖</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𝟕</m:t>
                    </m:r>
                  </m:oMath>
                </a14:m>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得到一个轮换</a:t>
                </a:r>
                <a14:m>
                  <m:oMath xmlns:m="http://schemas.openxmlformats.org/officeDocument/2006/math">
                    <m:d>
                      <m:dPr>
                        <m:ctrlPr>
                          <a:rPr lang="zh-CN" altLang="zh-CN" sz="2400" b="1" i="1" kern="0">
                            <a:solidFill>
                              <a:schemeClr val="tx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𝟕</m:t>
                        </m:r>
                        <m:r>
                          <a:rPr lang="en-US"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chemeClr val="tx1"/>
                            </a:solidFill>
                            <a:latin typeface="Cambria Math" panose="02040503050406030204" pitchFamily="18" charset="0"/>
                            <a:ea typeface="宋体" panose="02010600030101010101" pitchFamily="2" charset="-122"/>
                            <a:cs typeface="宋体" panose="02010600030101010101" pitchFamily="2" charset="-122"/>
                          </a:rPr>
                          <m:t>𝟖</m:t>
                        </m:r>
                      </m:e>
                    </m:d>
                  </m:oMath>
                </a14:m>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r>
                      <a:rPr lang="en-US" altLang="zh-CN" sz="2400" b="1" i="1" kern="100" smtClean="0">
                        <a:solidFill>
                          <a:srgbClr val="0000FF"/>
                        </a:solidFill>
                        <a:latin typeface="Cambria Math" panose="02040503050406030204" pitchFamily="18" charset="0"/>
                        <a:ea typeface="宋体" panose="02010600030101010101" pitchFamily="2" charset="-122"/>
                      </a:rPr>
                      <m:t>𝑷</m:t>
                    </m:r>
                    <m:r>
                      <a:rPr lang="en-US" altLang="zh-CN" sz="2400" b="1" i="1" kern="100" smtClean="0">
                        <a:solidFill>
                          <a:srgbClr val="0000FF"/>
                        </a:solidFill>
                        <a:latin typeface="Cambria Math" panose="02040503050406030204" pitchFamily="18" charset="0"/>
                        <a:ea typeface="宋体" panose="02010600030101010101" pitchFamily="2" charset="-122"/>
                      </a:rPr>
                      <m:t>=</m:t>
                    </m:r>
                    <m:d>
                      <m:dPr>
                        <m:ctrlPr>
                          <a:rPr lang="zh-CN" altLang="zh-CN" sz="2400" b="1" i="1" kern="0">
                            <a:solidFill>
                              <a:srgbClr val="0000FF"/>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𝟕</m:t>
                        </m:r>
                        <m:r>
                          <a:rPr lang="en-US" altLang="zh-CN" sz="2400" b="1" kern="0">
                            <a:solidFill>
                              <a:srgbClr val="0000FF"/>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𝟖</m:t>
                        </m:r>
                      </m:e>
                    </m:d>
                    <m:r>
                      <a:rPr lang="en-US" altLang="zh-CN" sz="2400" b="1" i="1" kern="100">
                        <a:solidFill>
                          <a:srgbClr val="0000FF"/>
                        </a:solidFill>
                        <a:latin typeface="Cambria Math" panose="02040503050406030204" pitchFamily="18" charset="0"/>
                        <a:ea typeface="宋体" panose="02010600030101010101" pitchFamily="2" charset="-122"/>
                      </a:rPr>
                      <m:t>⋅</m:t>
                    </m:r>
                    <m:d>
                      <m:dPr>
                        <m:ctrlPr>
                          <a:rPr lang="zh-CN" altLang="zh-CN" sz="2400" b="1" i="1" kern="0">
                            <a:solidFill>
                              <a:srgbClr val="0000FF"/>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𝟐</m:t>
                        </m:r>
                        <m:r>
                          <a:rPr lang="en-US" altLang="zh-CN" sz="2400" b="1" kern="0">
                            <a:solidFill>
                              <a:srgbClr val="0000FF"/>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𝟒</m:t>
                        </m:r>
                        <m:r>
                          <a:rPr lang="en-US" altLang="zh-CN" sz="2400" b="1" kern="0">
                            <a:solidFill>
                              <a:srgbClr val="0000FF"/>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𝟓</m:t>
                        </m:r>
                      </m:e>
                    </m:d>
                    <m:r>
                      <a:rPr lang="en-US" altLang="zh-CN" sz="2400" b="1" i="1" kern="100">
                        <a:solidFill>
                          <a:srgbClr val="0000FF"/>
                        </a:solidFill>
                        <a:latin typeface="Cambria Math" panose="02040503050406030204" pitchFamily="18" charset="0"/>
                        <a:ea typeface="宋体" panose="02010600030101010101" pitchFamily="2" charset="-122"/>
                      </a:rPr>
                      <m:t>⋅</m:t>
                    </m:r>
                    <m:d>
                      <m:dPr>
                        <m:ctrlPr>
                          <a:rPr lang="zh-CN" altLang="zh-CN" sz="2400" b="1" i="1" kern="0">
                            <a:solidFill>
                              <a:srgbClr val="0000FF"/>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kern="0">
                            <a:solidFill>
                              <a:srgbClr val="0000FF"/>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𝟑</m:t>
                        </m:r>
                        <m:r>
                          <a:rPr lang="en-US" altLang="zh-CN" sz="2400" b="1" kern="0">
                            <a:solidFill>
                              <a:srgbClr val="0000FF"/>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0">
                            <a:solidFill>
                              <a:srgbClr val="0000FF"/>
                            </a:solidFill>
                            <a:latin typeface="Cambria Math" panose="02040503050406030204" pitchFamily="18" charset="0"/>
                            <a:ea typeface="宋体" panose="02010600030101010101" pitchFamily="2" charset="-122"/>
                            <a:cs typeface="宋体" panose="02010600030101010101" pitchFamily="2" charset="-122"/>
                          </a:rPr>
                          <m:t>𝟔</m:t>
                        </m:r>
                      </m:e>
                    </m:d>
                    <m:r>
                      <a:rPr lang="zh-CN" altLang="zh-CN" sz="2400" b="1" kern="0">
                        <a:solidFill>
                          <a:schemeClr val="tx1"/>
                        </a:solidFill>
                        <a:latin typeface="Cambria Math" panose="02040503050406030204" pitchFamily="18" charset="0"/>
                        <a:ea typeface="宋体" panose="02010600030101010101" pitchFamily="2" charset="-122"/>
                        <a:cs typeface="宋体" panose="02010600030101010101" pitchFamily="2" charset="-122"/>
                      </a:rPr>
                      <m:t>。</m:t>
                    </m:r>
                  </m:oMath>
                </a14:m>
                <a:endParaRPr lang="zh-CN" altLang="zh-CN" sz="2400" b="1" kern="100" dirty="0">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2A3B337F-D740-4511-80F4-4594C3537294}"/>
                  </a:ext>
                </a:extLst>
              </p:cNvPr>
              <p:cNvSpPr>
                <a:spLocks noRot="1" noChangeAspect="1" noMove="1" noResize="1" noEditPoints="1" noAdjustHandles="1" noChangeArrowheads="1" noChangeShapeType="1" noTextEdit="1"/>
              </p:cNvSpPr>
              <p:nvPr/>
            </p:nvSpPr>
            <p:spPr>
              <a:xfrm>
                <a:off x="251520" y="1897420"/>
                <a:ext cx="8458200" cy="4200317"/>
              </a:xfrm>
              <a:prstGeom prst="rect">
                <a:avLst/>
              </a:prstGeom>
              <a:blipFill>
                <a:blip r:embed="rId2"/>
                <a:stretch>
                  <a:fillRect l="-1081" t="-581" r="-1081" b="-18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4563828"/>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F8CD294-DD15-443B-86EC-7FB26FB6D0B9}"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096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096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32AED065-4E34-49E6-B191-DBF43FF55C5C}" type="slidenum">
              <a:rPr lang="en-US" altLang="zh-CN" sz="1400" b="1">
                <a:latin typeface="Times New Roman" pitchFamily="18" charset="0"/>
                <a:ea typeface="宋体" pitchFamily="2" charset="-122"/>
              </a:rPr>
              <a:pPr algn="r" eaLnBrk="1" hangingPunct="1"/>
              <a:t>26</a:t>
            </a:fld>
            <a:endParaRPr lang="en-US" altLang="zh-CN" sz="1400" b="1">
              <a:latin typeface="Times New Roman" pitchFamily="18" charset="0"/>
              <a:ea typeface="宋体" pitchFamily="2" charset="-122"/>
            </a:endParaRPr>
          </a:p>
        </p:txBody>
      </p:sp>
      <p:sp>
        <p:nvSpPr>
          <p:cNvPr id="4096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2" name="图片 1">
            <a:extLst>
              <a:ext uri="{FF2B5EF4-FFF2-40B4-BE49-F238E27FC236}">
                <a16:creationId xmlns:a16="http://schemas.microsoft.com/office/drawing/2014/main" id="{DE116C37-C6FB-4662-91AC-D362031845ED}"/>
              </a:ext>
            </a:extLst>
          </p:cNvPr>
          <p:cNvPicPr>
            <a:picLocks noChangeAspect="1"/>
          </p:cNvPicPr>
          <p:nvPr/>
        </p:nvPicPr>
        <p:blipFill>
          <a:blip r:embed="rId2"/>
          <a:stretch>
            <a:fillRect/>
          </a:stretch>
        </p:blipFill>
        <p:spPr>
          <a:xfrm>
            <a:off x="609328" y="2057745"/>
            <a:ext cx="7995120" cy="4106167"/>
          </a:xfrm>
          <a:prstGeom prst="rect">
            <a:avLst/>
          </a:prstGeom>
        </p:spPr>
      </p:pic>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2C4DC13-4537-4C44-A585-27D3BC986341}"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198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198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D8904063-6235-4837-B291-D1477D23EF27}" type="slidenum">
              <a:rPr lang="en-US" altLang="zh-CN" sz="1400" b="1">
                <a:latin typeface="Times New Roman" pitchFamily="18" charset="0"/>
                <a:ea typeface="宋体" pitchFamily="2" charset="-122"/>
              </a:rPr>
              <a:pPr algn="r" eaLnBrk="1" hangingPunct="1"/>
              <a:t>27</a:t>
            </a:fld>
            <a:endParaRPr lang="en-US" altLang="zh-CN" sz="1400" b="1">
              <a:latin typeface="Times New Roman" pitchFamily="18" charset="0"/>
              <a:ea typeface="宋体" pitchFamily="2" charset="-122"/>
            </a:endParaRPr>
          </a:p>
        </p:txBody>
      </p:sp>
      <p:sp>
        <p:nvSpPr>
          <p:cNvPr id="4198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sp>
        <p:nvSpPr>
          <p:cNvPr id="41992" name="文本框 9"/>
          <p:cNvSpPr txBox="1">
            <a:spLocks noChangeArrowheads="1"/>
          </p:cNvSpPr>
          <p:nvPr/>
        </p:nvSpPr>
        <p:spPr bwMode="auto">
          <a:xfrm>
            <a:off x="466146" y="4869160"/>
            <a:ext cx="8473871" cy="1095493"/>
          </a:xfrm>
          <a:prstGeom prst="rect">
            <a:avLst/>
          </a:prstGeom>
          <a:solidFill>
            <a:schemeClr val="accent5"/>
          </a:solidFill>
          <a:ln>
            <a:noFill/>
          </a:ln>
        </p:spPr>
        <p:txBody>
          <a:bodyPr wrap="squar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nSpc>
                <a:spcPts val="4200"/>
              </a:lnSpc>
            </a:pPr>
            <a:r>
              <a:rPr kumimoji="0" lang="en-US" altLang="zh-CN" sz="2800" b="1" dirty="0">
                <a:latin typeface="黑体" pitchFamily="49" charset="-122"/>
                <a:ea typeface="黑体" pitchFamily="49" charset="-122"/>
              </a:rPr>
              <a:t>   </a:t>
            </a:r>
            <a:r>
              <a:rPr kumimoji="0" lang="zh-CN" altLang="zh-CN" sz="2800" b="1" dirty="0">
                <a:latin typeface="黑体" pitchFamily="49" charset="-122"/>
                <a:ea typeface="黑体" pitchFamily="49" charset="-122"/>
              </a:rPr>
              <a:t>按照同样的洗牌方式，</a:t>
            </a:r>
            <a:r>
              <a:rPr kumimoji="0" lang="zh-CN" altLang="zh-CN" sz="2800" b="1" dirty="0">
                <a:solidFill>
                  <a:srgbClr val="0000FF"/>
                </a:solidFill>
                <a:latin typeface="黑体" pitchFamily="49" charset="-122"/>
                <a:ea typeface="黑体" pitchFamily="49" charset="-122"/>
              </a:rPr>
              <a:t>经过几次洗牌</a:t>
            </a:r>
            <a:r>
              <a:rPr kumimoji="0" lang="zh-CN" altLang="zh-CN" sz="2800" b="1" dirty="0">
                <a:latin typeface="黑体" pitchFamily="49" charset="-122"/>
                <a:ea typeface="黑体" pitchFamily="49" charset="-122"/>
              </a:rPr>
              <a:t>可以将牌的顺序恢复到原来的顺序</a:t>
            </a:r>
            <a:r>
              <a:rPr kumimoji="0" lang="zh-CN" altLang="en-US" sz="2800" b="1" dirty="0">
                <a:latin typeface="黑体" pitchFamily="49" charset="-122"/>
                <a:ea typeface="黑体" pitchFamily="49" charset="-122"/>
              </a:rPr>
              <a:t>。</a:t>
            </a:r>
            <a:endParaRPr kumimoji="0" lang="en-US" altLang="zh-CN" sz="2800" b="1" dirty="0">
              <a:latin typeface="黑体" pitchFamily="49" charset="-122"/>
              <a:ea typeface="黑体" pitchFamily="49" charset="-122"/>
            </a:endParaRPr>
          </a:p>
        </p:txBody>
      </p:sp>
      <mc:AlternateContent xmlns:mc="http://schemas.openxmlformats.org/markup-compatibility/2006" xmlns:a14="http://schemas.microsoft.com/office/drawing/2010/main">
        <mc:Choice Requires="a14">
          <p:sp>
            <p:nvSpPr>
              <p:cNvPr id="3" name="TextBox 2"/>
              <p:cNvSpPr txBox="1"/>
              <p:nvPr/>
            </p:nvSpPr>
            <p:spPr>
              <a:xfrm>
                <a:off x="395536" y="1947536"/>
                <a:ext cx="8473870" cy="1095493"/>
              </a:xfrm>
              <a:prstGeom prst="rect">
                <a:avLst/>
              </a:prstGeom>
              <a:solidFill>
                <a:schemeClr val="accent5"/>
              </a:solidFill>
            </p:spPr>
            <p:txBody>
              <a:bodyPr wrap="square" rtlCol="0">
                <a:spAutoFit/>
              </a:bodyPr>
              <a:lstStyle/>
              <a:p>
                <a:pPr>
                  <a:lnSpc>
                    <a:spcPts val="4200"/>
                  </a:lnSpc>
                </a:pPr>
                <a:r>
                  <a:rPr lang="en-US" altLang="zh-CN" sz="2800" b="1" dirty="0"/>
                  <a:t> </a:t>
                </a:r>
                <a:r>
                  <a:rPr lang="zh-CN" altLang="zh-CN" sz="2800" b="1" dirty="0"/>
                  <a:t>【例题】</a:t>
                </a:r>
                <a:r>
                  <a:rPr lang="en-US" altLang="zh-CN" sz="2800" b="1" dirty="0">
                    <a:solidFill>
                      <a:schemeClr val="tx1"/>
                    </a:solidFill>
                  </a:rPr>
                  <a:t>12</a:t>
                </a:r>
                <a:r>
                  <a:rPr lang="zh-CN" altLang="zh-CN" sz="2800" b="1" dirty="0">
                    <a:solidFill>
                      <a:schemeClr val="tx1"/>
                    </a:solidFill>
                  </a:rPr>
                  <a:t>张扑克牌的集合</a:t>
                </a:r>
                <a14:m>
                  <m:oMath xmlns:m="http://schemas.openxmlformats.org/officeDocument/2006/math">
                    <m:r>
                      <a:rPr lang="en-US" altLang="zh-CN" sz="2800" b="1" i="1">
                        <a:solidFill>
                          <a:schemeClr val="tx1"/>
                        </a:solidFill>
                        <a:latin typeface="Cambria Math" panose="02040503050406030204" pitchFamily="18" charset="0"/>
                      </a:rPr>
                      <m:t>𝑨</m:t>
                    </m:r>
                  </m:oMath>
                </a14:m>
                <a:r>
                  <a:rPr lang="en-US" altLang="zh-CN" sz="2800" b="1" dirty="0">
                    <a:solidFill>
                      <a:schemeClr val="tx1"/>
                    </a:solidFill>
                  </a:rPr>
                  <a:t>={1,2,3,4</a:t>
                </a:r>
                <a:r>
                  <a:rPr lang="zh-CN" altLang="zh-CN" sz="2800" b="1" dirty="0">
                    <a:solidFill>
                      <a:schemeClr val="tx1"/>
                    </a:solidFill>
                  </a:rPr>
                  <a:t>，…，</a:t>
                </a:r>
                <a:r>
                  <a:rPr lang="en-US" altLang="zh-CN" sz="2800" b="1" dirty="0">
                    <a:solidFill>
                      <a:schemeClr val="tx1"/>
                    </a:solidFill>
                  </a:rPr>
                  <a:t>12}</a:t>
                </a:r>
                <a:r>
                  <a:rPr lang="zh-CN" altLang="zh-CN" sz="2800" b="1" dirty="0">
                    <a:solidFill>
                      <a:schemeClr val="tx1"/>
                    </a:solidFill>
                  </a:rPr>
                  <a:t>经过一次洗牌后得到如下对应关系，如</a:t>
                </a:r>
                <a:r>
                  <a:rPr lang="zh-CN" altLang="en-US" sz="2800" b="1" dirty="0">
                    <a:solidFill>
                      <a:schemeClr val="tx1"/>
                    </a:solidFill>
                  </a:rPr>
                  <a:t>下</a:t>
                </a:r>
                <a:r>
                  <a:rPr lang="zh-CN" altLang="zh-CN" sz="2800" b="1" dirty="0">
                    <a:solidFill>
                      <a:schemeClr val="tx1"/>
                    </a:solidFill>
                  </a:rPr>
                  <a:t>表所示</a:t>
                </a:r>
                <a:r>
                  <a:rPr lang="zh-CN" altLang="en-US" sz="2800" b="1" dirty="0">
                    <a:solidFill>
                      <a:schemeClr val="tx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395536" y="1947536"/>
                <a:ext cx="8473870" cy="1095493"/>
              </a:xfrm>
              <a:prstGeom prst="rect">
                <a:avLst/>
              </a:prstGeom>
              <a:blipFill>
                <a:blip r:embed="rId2"/>
                <a:stretch>
                  <a:fillRect l="-1511" t="-2222" r="-1439" b="-14444"/>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7F6E0AA-28AA-4502-B289-95856B2DBAA7}"/>
              </a:ext>
            </a:extLst>
          </p:cNvPr>
          <p:cNvPicPr>
            <a:picLocks noChangeAspect="1"/>
          </p:cNvPicPr>
          <p:nvPr/>
        </p:nvPicPr>
        <p:blipFill>
          <a:blip r:embed="rId3"/>
          <a:stretch>
            <a:fillRect/>
          </a:stretch>
        </p:blipFill>
        <p:spPr>
          <a:xfrm>
            <a:off x="467544" y="3245879"/>
            <a:ext cx="8473871" cy="1378813"/>
          </a:xfrm>
          <a:prstGeom prst="rect">
            <a:avLst/>
          </a:prstGeom>
        </p:spPr>
      </p:pic>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D32F473-17EE-4610-8F7A-FA7CD2B5E9DE}"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301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301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3710FF93-82D9-429E-B0B7-DF8BB5BA82F2}" type="slidenum">
              <a:rPr lang="en-US" altLang="zh-CN" sz="1400" b="1">
                <a:latin typeface="Times New Roman" pitchFamily="18" charset="0"/>
                <a:ea typeface="宋体" pitchFamily="2" charset="-122"/>
              </a:rPr>
              <a:pPr algn="r" eaLnBrk="1" hangingPunct="1"/>
              <a:t>28</a:t>
            </a:fld>
            <a:endParaRPr lang="en-US" altLang="zh-CN" sz="1400" b="1">
              <a:latin typeface="Times New Roman" pitchFamily="18" charset="0"/>
              <a:ea typeface="宋体" pitchFamily="2" charset="-122"/>
            </a:endParaRPr>
          </a:p>
        </p:txBody>
      </p:sp>
      <p:sp>
        <p:nvSpPr>
          <p:cNvPr id="43013" name="Text Box 2"/>
          <p:cNvSpPr txBox="1">
            <a:spLocks noChangeArrowheads="1"/>
          </p:cNvSpPr>
          <p:nvPr/>
        </p:nvSpPr>
        <p:spPr bwMode="auto">
          <a:xfrm>
            <a:off x="1371600" y="81388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sp>
        <p:nvSpPr>
          <p:cNvPr id="2" name="文本框 1"/>
          <p:cNvSpPr txBox="1"/>
          <p:nvPr/>
        </p:nvSpPr>
        <p:spPr>
          <a:xfrm>
            <a:off x="827584" y="2113141"/>
            <a:ext cx="7920880" cy="3883755"/>
          </a:xfrm>
          <a:prstGeom prst="rect">
            <a:avLst/>
          </a:prstGeom>
          <a:solidFill>
            <a:schemeClr val="accent5"/>
          </a:solidFill>
        </p:spPr>
        <p:txBody>
          <a:bodyPr wrap="square">
            <a:spAutoFit/>
          </a:bodyPr>
          <a:lstStyle/>
          <a:p>
            <a:pPr>
              <a:lnSpc>
                <a:spcPct val="150000"/>
              </a:lnSpc>
              <a:defRPr/>
            </a:pPr>
            <a:r>
              <a:rPr lang="en-US" altLang="zh-CN" sz="2400" b="1" dirty="0"/>
              <a:t>   </a:t>
            </a:r>
            <a:r>
              <a:rPr lang="zh-CN" altLang="zh-CN" sz="2400" b="1" dirty="0"/>
              <a:t>【分析】</a:t>
            </a:r>
            <a:r>
              <a:rPr lang="zh-CN" altLang="zh-CN" sz="2400" dirty="0">
                <a:solidFill>
                  <a:srgbClr val="0000FF"/>
                </a:solidFill>
              </a:rPr>
              <a:t>从已知可以发现，不管怎么洗牌，</a:t>
            </a:r>
            <a:r>
              <a:rPr lang="en-US" altLang="zh-CN" sz="2400" dirty="0">
                <a:solidFill>
                  <a:schemeClr val="tx1"/>
                </a:solidFill>
              </a:rPr>
              <a:t>1</a:t>
            </a:r>
            <a:r>
              <a:rPr lang="zh-CN" altLang="zh-CN" sz="2400" dirty="0">
                <a:solidFill>
                  <a:schemeClr val="tx1"/>
                </a:solidFill>
              </a:rPr>
              <a:t>和</a:t>
            </a:r>
            <a:r>
              <a:rPr lang="en-US" altLang="zh-CN" sz="2400" dirty="0">
                <a:solidFill>
                  <a:schemeClr val="tx1"/>
                </a:solidFill>
              </a:rPr>
              <a:t>12</a:t>
            </a:r>
            <a:r>
              <a:rPr lang="zh-CN" altLang="zh-CN" sz="2400" dirty="0">
                <a:solidFill>
                  <a:schemeClr val="tx1"/>
                </a:solidFill>
              </a:rPr>
              <a:t>的位置始终不改变</a:t>
            </a:r>
            <a:r>
              <a:rPr lang="zh-CN" altLang="zh-CN" sz="2400" dirty="0">
                <a:solidFill>
                  <a:srgbClr val="0000FF"/>
                </a:solidFill>
              </a:rPr>
              <a:t>，但其</a:t>
            </a:r>
            <a:r>
              <a:rPr lang="zh-CN" altLang="en-US" sz="2400" dirty="0">
                <a:solidFill>
                  <a:srgbClr val="0000FF"/>
                </a:solidFill>
              </a:rPr>
              <a:t>它</a:t>
            </a:r>
            <a:r>
              <a:rPr lang="zh-CN" altLang="zh-CN" sz="2400" dirty="0">
                <a:solidFill>
                  <a:srgbClr val="0000FF"/>
                </a:solidFill>
              </a:rPr>
              <a:t>牌的位置在每次洗牌之后都会发生变化，其变化规律</a:t>
            </a:r>
            <a:r>
              <a:rPr lang="zh-CN" altLang="en-US" sz="2400" dirty="0">
                <a:solidFill>
                  <a:srgbClr val="0000FF"/>
                </a:solidFill>
              </a:rPr>
              <a:t>如下</a:t>
            </a:r>
            <a:r>
              <a:rPr lang="zh-CN" altLang="zh-CN" sz="2400" dirty="0">
                <a:solidFill>
                  <a:srgbClr val="0000FF"/>
                </a:solidFill>
              </a:rPr>
              <a:t>：</a:t>
            </a:r>
          </a:p>
          <a:p>
            <a:pPr algn="ctr">
              <a:lnSpc>
                <a:spcPct val="150000"/>
              </a:lnSpc>
              <a:defRPr/>
            </a:pPr>
            <a:r>
              <a:rPr lang="en-US" altLang="zh-CN" sz="2400" dirty="0">
                <a:solidFill>
                  <a:schemeClr val="tx1"/>
                </a:solidFill>
              </a:rPr>
              <a:t>2→5→6→10→4→2</a:t>
            </a:r>
          </a:p>
          <a:p>
            <a:pPr algn="ctr">
              <a:lnSpc>
                <a:spcPct val="150000"/>
              </a:lnSpc>
              <a:defRPr/>
            </a:pPr>
            <a:r>
              <a:rPr lang="en-US" altLang="zh-CN" sz="2400" dirty="0">
                <a:solidFill>
                  <a:schemeClr val="tx1"/>
                </a:solidFill>
              </a:rPr>
              <a:t>3→9→11→8→7→3</a:t>
            </a:r>
            <a:endParaRPr lang="zh-CN" altLang="zh-CN" sz="2400" dirty="0">
              <a:solidFill>
                <a:schemeClr val="tx1"/>
              </a:solidFill>
            </a:endParaRPr>
          </a:p>
          <a:p>
            <a:pPr>
              <a:lnSpc>
                <a:spcPct val="150000"/>
              </a:lnSpc>
              <a:defRPr/>
            </a:pPr>
            <a:r>
              <a:rPr lang="en-US" altLang="zh-CN" sz="2400" dirty="0">
                <a:solidFill>
                  <a:srgbClr val="0000FF"/>
                </a:solidFill>
              </a:rPr>
              <a:t>    </a:t>
            </a:r>
            <a:r>
              <a:rPr lang="zh-CN" altLang="zh-CN" sz="2400" dirty="0">
                <a:solidFill>
                  <a:srgbClr val="0000FF"/>
                </a:solidFill>
              </a:rPr>
              <a:t>由上面的规律可以知道，经过</a:t>
            </a:r>
            <a:r>
              <a:rPr lang="en-US" altLang="zh-CN" sz="2400" dirty="0">
                <a:solidFill>
                  <a:srgbClr val="0000FF"/>
                </a:solidFill>
              </a:rPr>
              <a:t>5</a:t>
            </a:r>
            <a:r>
              <a:rPr lang="zh-CN" altLang="zh-CN" sz="2400" dirty="0">
                <a:solidFill>
                  <a:srgbClr val="0000FF"/>
                </a:solidFill>
              </a:rPr>
              <a:t>轮的洗牌后，每张牌都将回到原来的位置。</a:t>
            </a:r>
            <a:r>
              <a:rPr lang="en-US" altLang="zh-CN" sz="2400" dirty="0">
                <a:solidFill>
                  <a:srgbClr val="0000FF"/>
                </a:solidFill>
              </a:rPr>
              <a:t>    </a:t>
            </a:r>
            <a:endParaRPr lang="zh-CN" altLang="zh-CN" sz="2400" dirty="0">
              <a:solidFill>
                <a:schemeClr val="accent1">
                  <a:lumMod val="50000"/>
                </a:schemeClr>
              </a:solidFill>
            </a:endParaRPr>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D9F674B-4102-46FB-A901-E29A94E3BB83}" type="datetime1">
              <a:rPr kumimoji="0" lang="zh-CN" altLang="en-US" sz="1400" b="1">
                <a:solidFill>
                  <a:srgbClr val="FF0000"/>
                </a:solidFill>
                <a:latin typeface="黑体" pitchFamily="49" charset="-122"/>
              </a:rPr>
              <a:pPr eaLnBrk="1" hangingPunct="1"/>
              <a:t>2020/9/7</a:t>
            </a:fld>
            <a:endParaRPr kumimoji="0" lang="en-US" altLang="zh-CN" sz="1400" b="1">
              <a:solidFill>
                <a:srgbClr val="FF0000"/>
              </a:solidFill>
              <a:latin typeface="黑体" pitchFamily="49" charset="-122"/>
            </a:endParaRPr>
          </a:p>
        </p:txBody>
      </p:sp>
      <p:sp>
        <p:nvSpPr>
          <p:cNvPr id="18435" name="Text Box 2"/>
          <p:cNvSpPr txBox="1">
            <a:spLocks noChangeArrowheads="1"/>
          </p:cNvSpPr>
          <p:nvPr/>
        </p:nvSpPr>
        <p:spPr bwMode="auto">
          <a:xfrm>
            <a:off x="1403350" y="85883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本章学习内容</a:t>
            </a:r>
            <a:endParaRPr lang="zh-CN" altLang="en-US" sz="4800" b="1">
              <a:ea typeface="宋体" pitchFamily="2" charset="-122"/>
            </a:endParaRPr>
          </a:p>
        </p:txBody>
      </p:sp>
      <p:grpSp>
        <p:nvGrpSpPr>
          <p:cNvPr id="2" name="组合 1">
            <a:extLst>
              <a:ext uri="{FF2B5EF4-FFF2-40B4-BE49-F238E27FC236}">
                <a16:creationId xmlns:a16="http://schemas.microsoft.com/office/drawing/2014/main" id="{760390E6-EE2D-4B2D-A766-8F607A07EEF8}"/>
              </a:ext>
            </a:extLst>
          </p:cNvPr>
          <p:cNvGrpSpPr/>
          <p:nvPr/>
        </p:nvGrpSpPr>
        <p:grpSpPr>
          <a:xfrm>
            <a:off x="2267744" y="2996321"/>
            <a:ext cx="4733602" cy="2067165"/>
            <a:chOff x="2238698" y="3117708"/>
            <a:chExt cx="4733602" cy="2067165"/>
          </a:xfrm>
        </p:grpSpPr>
        <p:sp>
          <p:nvSpPr>
            <p:cNvPr id="1170441" name="AutoShape 9"/>
            <p:cNvSpPr>
              <a:spLocks noChangeArrowheads="1"/>
            </p:cNvSpPr>
            <p:nvPr/>
          </p:nvSpPr>
          <p:spPr bwMode="gray">
            <a:xfrm>
              <a:off x="2619698" y="3262171"/>
              <a:ext cx="4343400" cy="55721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18437" name="AutoShape 10"/>
            <p:cNvSpPr>
              <a:spLocks noChangeArrowheads="1"/>
            </p:cNvSpPr>
            <p:nvPr/>
          </p:nvSpPr>
          <p:spPr bwMode="gray">
            <a:xfrm>
              <a:off x="2238698" y="3117708"/>
              <a:ext cx="685800" cy="835025"/>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38" name="Text Box 11"/>
            <p:cNvSpPr txBox="1">
              <a:spLocks noChangeArrowheads="1"/>
            </p:cNvSpPr>
            <p:nvPr/>
          </p:nvSpPr>
          <p:spPr bwMode="gray">
            <a:xfrm>
              <a:off x="2848298" y="3258996"/>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rPr>
                <a:t>  </a:t>
              </a:r>
              <a:r>
                <a:rPr kumimoji="0" lang="zh-CN" altLang="en-US" sz="2800" b="1" dirty="0">
                  <a:latin typeface="黑体" pitchFamily="49" charset="-122"/>
                  <a:ea typeface="黑体" pitchFamily="49" charset="-122"/>
                </a:rPr>
                <a:t>有限集的置换函数</a:t>
              </a:r>
            </a:p>
          </p:txBody>
        </p:sp>
        <p:sp>
          <p:nvSpPr>
            <p:cNvPr id="18439" name="Text Box 12"/>
            <p:cNvSpPr txBox="1">
              <a:spLocks noChangeArrowheads="1"/>
            </p:cNvSpPr>
            <p:nvPr/>
          </p:nvSpPr>
          <p:spPr bwMode="gray">
            <a:xfrm>
              <a:off x="2385995" y="3236771"/>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4</a:t>
              </a:r>
            </a:p>
          </p:txBody>
        </p:sp>
        <p:sp>
          <p:nvSpPr>
            <p:cNvPr id="18444" name="AutoShape 19"/>
            <p:cNvSpPr>
              <a:spLocks noChangeArrowheads="1"/>
            </p:cNvSpPr>
            <p:nvPr/>
          </p:nvSpPr>
          <p:spPr bwMode="gray">
            <a:xfrm>
              <a:off x="2628900" y="4508598"/>
              <a:ext cx="4343400" cy="546100"/>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45" name="AutoShape 20"/>
            <p:cNvSpPr>
              <a:spLocks noChangeArrowheads="1"/>
            </p:cNvSpPr>
            <p:nvPr/>
          </p:nvSpPr>
          <p:spPr bwMode="gray">
            <a:xfrm>
              <a:off x="2247900" y="4367311"/>
              <a:ext cx="685800" cy="817562"/>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46" name="Text Box 21"/>
            <p:cNvSpPr txBox="1">
              <a:spLocks noChangeArrowheads="1"/>
            </p:cNvSpPr>
            <p:nvPr/>
          </p:nvSpPr>
          <p:spPr bwMode="gray">
            <a:xfrm>
              <a:off x="2857500" y="4509120"/>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ea typeface="黑体" pitchFamily="49" charset="-122"/>
                </a:rPr>
                <a:t>  函数关系的应用</a:t>
              </a:r>
            </a:p>
          </p:txBody>
        </p:sp>
        <p:sp>
          <p:nvSpPr>
            <p:cNvPr id="18447" name="Text Box 22"/>
            <p:cNvSpPr txBox="1">
              <a:spLocks noChangeArrowheads="1"/>
            </p:cNvSpPr>
            <p:nvPr/>
          </p:nvSpPr>
          <p:spPr bwMode="gray">
            <a:xfrm>
              <a:off x="2395197" y="4459386"/>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5</a:t>
              </a:r>
            </a:p>
          </p:txBody>
        </p:sp>
      </p:grpSp>
    </p:spTree>
    <p:extLst>
      <p:ext uri="{BB962C8B-B14F-4D97-AF65-F5344CB8AC3E}">
        <p14:creationId xmlns:p14="http://schemas.microsoft.com/office/powerpoint/2010/main" val="3041096991"/>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6157E2A2-B3EB-46C1-9309-BDA493B77639}"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505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506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0528723-A577-4DC0-AE78-CFE184E6360B}" type="slidenum">
              <a:rPr lang="en-US" altLang="zh-CN" sz="1400" b="1">
                <a:latin typeface="Times New Roman" pitchFamily="18" charset="0"/>
                <a:ea typeface="宋体" pitchFamily="2" charset="-122"/>
              </a:rPr>
              <a:pPr algn="r" eaLnBrk="1" hangingPunct="1"/>
              <a:t>30</a:t>
            </a:fld>
            <a:endParaRPr lang="en-US" altLang="zh-CN" sz="1400" b="1">
              <a:latin typeface="Times New Roman" pitchFamily="18" charset="0"/>
              <a:ea typeface="宋体" pitchFamily="2" charset="-122"/>
            </a:endParaRPr>
          </a:p>
        </p:txBody>
      </p:sp>
      <p:sp>
        <p:nvSpPr>
          <p:cNvPr id="45061" name="Rectangle 4"/>
          <p:cNvSpPr>
            <a:spLocks noGrp="1" noChangeArrowheads="1"/>
          </p:cNvSpPr>
          <p:nvPr>
            <p:ph type="ctrTitle" idx="4294967295"/>
          </p:nvPr>
        </p:nvSpPr>
        <p:spPr>
          <a:xfrm>
            <a:off x="1190625" y="2565400"/>
            <a:ext cx="7197725" cy="1439863"/>
          </a:xfrm>
          <a:solidFill>
            <a:srgbClr val="0000FF"/>
          </a:solidFill>
        </p:spPr>
        <p:txBody>
          <a:bodyPr/>
          <a:lstStyle/>
          <a:p>
            <a:pPr eaLnBrk="1" hangingPunct="1"/>
            <a:r>
              <a:rPr lang="zh-CN" altLang="en-US" sz="6600" b="1">
                <a:solidFill>
                  <a:schemeClr val="bg1"/>
                </a:solidFill>
              </a:rPr>
              <a:t>函数关系的应用</a:t>
            </a:r>
          </a:p>
        </p:txBody>
      </p:sp>
      <p:pic>
        <p:nvPicPr>
          <p:cNvPr id="45062"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F4C931D-3868-40D3-89E6-8EC37DF5F392}"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608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608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45D80A6F-3424-4017-ACF2-73A1066FF86C}" type="slidenum">
              <a:rPr lang="en-US" altLang="zh-CN" sz="1400" b="1">
                <a:latin typeface="Times New Roman" pitchFamily="18" charset="0"/>
                <a:ea typeface="宋体" pitchFamily="2" charset="-122"/>
              </a:rPr>
              <a:pPr algn="r" eaLnBrk="1" hangingPunct="1"/>
              <a:t>31</a:t>
            </a:fld>
            <a:endParaRPr lang="en-US" altLang="zh-CN" sz="1400" b="1">
              <a:latin typeface="Times New Roman" pitchFamily="18" charset="0"/>
              <a:ea typeface="宋体" pitchFamily="2" charset="-122"/>
            </a:endParaRPr>
          </a:p>
        </p:txBody>
      </p:sp>
      <p:sp>
        <p:nvSpPr>
          <p:cNvPr id="4608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函数关系的应用</a:t>
            </a:r>
          </a:p>
        </p:txBody>
      </p:sp>
      <p:sp>
        <p:nvSpPr>
          <p:cNvPr id="46086" name="Rectangle 3"/>
          <p:cNvSpPr>
            <a:spLocks noGrp="1" noChangeArrowheads="1"/>
          </p:cNvSpPr>
          <p:nvPr>
            <p:ph type="body" idx="4294967295"/>
          </p:nvPr>
        </p:nvSpPr>
        <p:spPr>
          <a:xfrm>
            <a:off x="2627313" y="2781300"/>
            <a:ext cx="4608983" cy="1799828"/>
          </a:xfrm>
          <a:noFill/>
        </p:spPr>
        <p:txBody>
          <a:bodyPr lIns="92075" tIns="46038" rIns="92075" bIns="46038"/>
          <a:lstStyle/>
          <a:p>
            <a:pPr eaLnBrk="1" hangingPunct="1">
              <a:lnSpc>
                <a:spcPct val="155000"/>
              </a:lnSpc>
              <a:buFont typeface="Wingdings" pitchFamily="2" charset="2"/>
              <a:buChar char="J"/>
            </a:pPr>
            <a:r>
              <a:rPr lang="zh-CN" altLang="en-US" sz="3200" b="1" dirty="0">
                <a:solidFill>
                  <a:schemeClr val="accent2"/>
                </a:solidFill>
                <a:effectLst/>
                <a:latin typeface="黑体" pitchFamily="49" charset="-122"/>
                <a:ea typeface="黑体" pitchFamily="49" charset="-122"/>
              </a:rPr>
              <a:t> 哈希查找问题 </a:t>
            </a:r>
            <a:endParaRPr lang="en-US" altLang="zh-CN" sz="3200" b="1" dirty="0">
              <a:solidFill>
                <a:schemeClr val="accent2"/>
              </a:solidFill>
              <a:effectLst/>
              <a:latin typeface="黑体" pitchFamily="49" charset="-122"/>
              <a:ea typeface="黑体" pitchFamily="49" charset="-122"/>
            </a:endParaRPr>
          </a:p>
          <a:p>
            <a:pPr eaLnBrk="1" hangingPunct="1">
              <a:lnSpc>
                <a:spcPct val="155000"/>
              </a:lnSpc>
              <a:buFont typeface="Wingdings" pitchFamily="2" charset="2"/>
              <a:buChar char=""/>
            </a:pPr>
            <a:r>
              <a:rPr lang="en-US" altLang="zh-CN" sz="3200" b="1" dirty="0">
                <a:effectLst/>
                <a:latin typeface="黑体" pitchFamily="49" charset="-122"/>
                <a:ea typeface="黑体" pitchFamily="49" charset="-122"/>
              </a:rPr>
              <a:t> </a:t>
            </a:r>
            <a:r>
              <a:rPr lang="zh-CN" altLang="en-US" sz="3200" b="1" dirty="0">
                <a:effectLst/>
                <a:latin typeface="黑体" pitchFamily="49" charset="-122"/>
                <a:ea typeface="黑体" pitchFamily="49" charset="-122"/>
              </a:rPr>
              <a:t>网络宽带分配问题</a:t>
            </a:r>
          </a:p>
        </p:txBody>
      </p:sp>
      <p:pic>
        <p:nvPicPr>
          <p:cNvPr id="46087"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3F2E8A9-E57F-4AC9-B847-3D9B01F38E1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710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710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0F711EB9-59F5-4B07-A493-CE22B9F777B1}" type="slidenum">
              <a:rPr lang="en-US" altLang="zh-CN" sz="1400" b="1">
                <a:latin typeface="Times New Roman" pitchFamily="18" charset="0"/>
                <a:ea typeface="宋体" pitchFamily="2" charset="-122"/>
              </a:rPr>
              <a:pPr algn="r" eaLnBrk="1" hangingPunct="1"/>
              <a:t>32</a:t>
            </a:fld>
            <a:endParaRPr lang="en-US" altLang="zh-CN" sz="1400" b="1">
              <a:latin typeface="Times New Roman" pitchFamily="18" charset="0"/>
              <a:ea typeface="宋体" pitchFamily="2" charset="-122"/>
            </a:endParaRPr>
          </a:p>
        </p:txBody>
      </p:sp>
      <p:sp>
        <p:nvSpPr>
          <p:cNvPr id="4710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47110" name="文本框 1"/>
          <p:cNvSpPr txBox="1">
            <a:spLocks noChangeArrowheads="1"/>
          </p:cNvSpPr>
          <p:nvPr/>
        </p:nvSpPr>
        <p:spPr bwMode="auto">
          <a:xfrm>
            <a:off x="323850" y="2055823"/>
            <a:ext cx="8820150" cy="3970318"/>
          </a:xfrm>
          <a:prstGeom prst="rect">
            <a:avLst/>
          </a:prstGeom>
          <a:solidFill>
            <a:schemeClr val="bg1"/>
          </a:solidFill>
          <a:ln>
            <a:noFill/>
          </a:ln>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nSpc>
                <a:spcPct val="150000"/>
              </a:lnSpc>
            </a:pPr>
            <a:r>
              <a:rPr kumimoji="0" lang="en-US" altLang="zh-CN" sz="2800" b="1" dirty="0">
                <a:solidFill>
                  <a:srgbClr val="FF0000"/>
                </a:solidFill>
                <a:latin typeface="黑体" pitchFamily="49" charset="-122"/>
                <a:ea typeface="黑体" pitchFamily="49" charset="-122"/>
              </a:rPr>
              <a:t>    </a:t>
            </a:r>
            <a:r>
              <a:rPr kumimoji="0" lang="zh-CN" altLang="zh-CN" sz="2800" b="1" dirty="0">
                <a:solidFill>
                  <a:srgbClr val="FF0000"/>
                </a:solidFill>
                <a:latin typeface="黑体" pitchFamily="49" charset="-122"/>
                <a:ea typeface="黑体" pitchFamily="49" charset="-122"/>
              </a:rPr>
              <a:t>【</a:t>
            </a:r>
            <a:r>
              <a:rPr kumimoji="0" lang="zh-CN" altLang="en-US" sz="2800" b="1" dirty="0">
                <a:solidFill>
                  <a:srgbClr val="FF0000"/>
                </a:solidFill>
                <a:latin typeface="黑体" pitchFamily="49" charset="-122"/>
                <a:ea typeface="黑体" pitchFamily="49" charset="-122"/>
              </a:rPr>
              <a:t>定义</a:t>
            </a:r>
            <a:r>
              <a:rPr kumimoji="0" lang="zh-CN" altLang="zh-CN" sz="2800" b="1" dirty="0">
                <a:solidFill>
                  <a:srgbClr val="FF0000"/>
                </a:solidFill>
                <a:latin typeface="黑体" pitchFamily="49" charset="-122"/>
                <a:ea typeface="黑体" pitchFamily="49" charset="-122"/>
              </a:rPr>
              <a:t>】</a:t>
            </a:r>
            <a:r>
              <a:rPr kumimoji="0" lang="zh-CN" altLang="zh-CN" sz="2800" dirty="0">
                <a:solidFill>
                  <a:srgbClr val="FF0000"/>
                </a:solidFill>
                <a:latin typeface="黑体" pitchFamily="49" charset="-122"/>
                <a:ea typeface="黑体" pitchFamily="49" charset="-122"/>
              </a:rPr>
              <a:t>哈希函数（</a:t>
            </a:r>
            <a:r>
              <a:rPr kumimoji="0" lang="en-US" altLang="zh-CN" sz="2800" dirty="0">
                <a:solidFill>
                  <a:srgbClr val="FF0000"/>
                </a:solidFill>
                <a:latin typeface="黑体" pitchFamily="49" charset="-122"/>
                <a:ea typeface="黑体" pitchFamily="49" charset="-122"/>
              </a:rPr>
              <a:t>Hash function</a:t>
            </a:r>
            <a:r>
              <a:rPr kumimoji="0" lang="zh-CN" altLang="zh-CN" sz="2800" dirty="0">
                <a:solidFill>
                  <a:srgbClr val="FF0000"/>
                </a:solidFill>
                <a:latin typeface="黑体" pitchFamily="49" charset="-122"/>
                <a:ea typeface="黑体" pitchFamily="49" charset="-122"/>
              </a:rPr>
              <a:t>）</a:t>
            </a:r>
            <a:r>
              <a:rPr kumimoji="0" lang="zh-CN" altLang="zh-CN" sz="2800" dirty="0">
                <a:latin typeface="黑体" pitchFamily="49" charset="-122"/>
                <a:ea typeface="黑体" pitchFamily="49" charset="-122"/>
              </a:rPr>
              <a:t>也称为</a:t>
            </a:r>
            <a:r>
              <a:rPr kumimoji="0" lang="zh-CN" altLang="zh-CN" sz="2800" dirty="0">
                <a:solidFill>
                  <a:srgbClr val="0000FF"/>
                </a:solidFill>
                <a:latin typeface="黑体" pitchFamily="49" charset="-122"/>
                <a:ea typeface="黑体" pitchFamily="49" charset="-122"/>
              </a:rPr>
              <a:t>散列函数</a:t>
            </a:r>
            <a:r>
              <a:rPr kumimoji="0" lang="zh-CN" altLang="zh-CN" sz="2800" dirty="0">
                <a:latin typeface="黑体" pitchFamily="49" charset="-122"/>
                <a:ea typeface="黑体" pitchFamily="49" charset="-122"/>
              </a:rPr>
              <a:t>或</a:t>
            </a:r>
            <a:r>
              <a:rPr kumimoji="0" lang="en-US" altLang="zh-CN" sz="2800" dirty="0">
                <a:latin typeface="黑体" pitchFamily="49" charset="-122"/>
                <a:ea typeface="黑体" pitchFamily="49" charset="-122"/>
              </a:rPr>
              <a:t> </a:t>
            </a:r>
            <a:r>
              <a:rPr kumimoji="0" lang="en-US" altLang="zh-CN" sz="2800" dirty="0">
                <a:solidFill>
                  <a:srgbClr val="0000FF"/>
                </a:solidFill>
                <a:latin typeface="黑体" pitchFamily="49" charset="-122"/>
                <a:ea typeface="黑体" pitchFamily="49" charset="-122"/>
              </a:rPr>
              <a:t>Hash</a:t>
            </a:r>
            <a:r>
              <a:rPr kumimoji="0" lang="zh-CN" altLang="zh-CN" sz="2800" dirty="0">
                <a:solidFill>
                  <a:srgbClr val="0000FF"/>
                </a:solidFill>
                <a:latin typeface="黑体" pitchFamily="49" charset="-122"/>
                <a:ea typeface="黑体" pitchFamily="49" charset="-122"/>
              </a:rPr>
              <a:t>函数</a:t>
            </a:r>
            <a:r>
              <a:rPr kumimoji="0" lang="zh-CN" altLang="zh-CN" sz="2800" dirty="0">
                <a:latin typeface="黑体" pitchFamily="49" charset="-122"/>
                <a:ea typeface="黑体" pitchFamily="49" charset="-122"/>
              </a:rPr>
              <a:t>，是一种将任意长度的输入字符串变化为固定长的输出字符串的函数。在数据结构中，通常借助哈希函数来</a:t>
            </a:r>
            <a:r>
              <a:rPr kumimoji="0" lang="zh-CN" altLang="zh-CN" sz="2800" dirty="0">
                <a:solidFill>
                  <a:srgbClr val="0000FF"/>
                </a:solidFill>
                <a:latin typeface="黑体" pitchFamily="49" charset="-122"/>
                <a:ea typeface="黑体" pitchFamily="49" charset="-122"/>
              </a:rPr>
              <a:t>加速对数据项的查找过程</a:t>
            </a:r>
            <a:r>
              <a:rPr kumimoji="0" lang="zh-CN" altLang="zh-CN" sz="2800" dirty="0">
                <a:latin typeface="黑体" pitchFamily="49" charset="-122"/>
                <a:ea typeface="黑体" pitchFamily="49" charset="-122"/>
              </a:rPr>
              <a:t>。根据应用情况的不同，通常也将哈希函数的输出称为哈希值或哈希码或散列值等。</a:t>
            </a:r>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C32325-1091-43E3-96CF-25C1756DCFC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813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813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5417BFD1-85AB-4E64-9DE7-B20968E81BAF}" type="slidenum">
              <a:rPr lang="en-US" altLang="zh-CN" sz="1400" b="1">
                <a:latin typeface="Times New Roman" pitchFamily="18" charset="0"/>
                <a:ea typeface="宋体" pitchFamily="2" charset="-122"/>
              </a:rPr>
              <a:pPr algn="r" eaLnBrk="1" hangingPunct="1"/>
              <a:t>33</a:t>
            </a:fld>
            <a:endParaRPr lang="en-US" altLang="zh-CN" sz="1400" b="1">
              <a:latin typeface="Times New Roman" pitchFamily="18" charset="0"/>
              <a:ea typeface="宋体" pitchFamily="2" charset="-122"/>
            </a:endParaRPr>
          </a:p>
        </p:txBody>
      </p:sp>
      <p:sp>
        <p:nvSpPr>
          <p:cNvPr id="48133"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423862" y="2204864"/>
            <a:ext cx="8296275" cy="3416320"/>
          </a:xfrm>
          <a:prstGeom prst="rect">
            <a:avLst/>
          </a:prstGeom>
          <a:blipFill rotWithShape="0">
            <a:blip r:embed="rId2"/>
            <a:stretch>
              <a:fillRect l="-1176" t="-1429" r="-1029" b="-3214"/>
            </a:stretch>
          </a:blipFill>
        </p:spPr>
        <p:txBody>
          <a:bodyPr/>
          <a:lstStyle/>
          <a:p>
            <a:pPr>
              <a:defRPr/>
            </a:pPr>
            <a:r>
              <a:rPr lang="zh-CN" altLang="en-US">
                <a:noFill/>
              </a:rPr>
              <a:t> </a:t>
            </a:r>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B970E3DE-F044-4AA2-8055-D115470B5B5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915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915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8A445D68-4643-4D4F-A264-071FC268842A}" type="slidenum">
              <a:rPr lang="en-US" altLang="zh-CN" sz="1400" b="1">
                <a:latin typeface="Times New Roman" pitchFamily="18" charset="0"/>
                <a:ea typeface="宋体" pitchFamily="2" charset="-122"/>
              </a:rPr>
              <a:pPr algn="r" eaLnBrk="1" hangingPunct="1"/>
              <a:t>34</a:t>
            </a:fld>
            <a:endParaRPr lang="en-US" altLang="zh-CN" sz="1400" b="1">
              <a:latin typeface="Times New Roman" pitchFamily="18" charset="0"/>
              <a:ea typeface="宋体" pitchFamily="2" charset="-122"/>
            </a:endParaRPr>
          </a:p>
        </p:txBody>
      </p:sp>
      <p:sp>
        <p:nvSpPr>
          <p:cNvPr id="49157"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423862" y="2204864"/>
            <a:ext cx="8296275" cy="3354765"/>
          </a:xfrm>
          <a:prstGeom prst="rect">
            <a:avLst/>
          </a:prstGeom>
          <a:blipFill rotWithShape="0">
            <a:blip r:embed="rId2"/>
            <a:stretch>
              <a:fillRect l="-1176" t="-1455" r="-147" b="-3273"/>
            </a:stretch>
          </a:blipFill>
        </p:spPr>
        <p:txBody>
          <a:bodyPr/>
          <a:lstStyle/>
          <a:p>
            <a:pPr>
              <a:defRPr/>
            </a:pPr>
            <a:r>
              <a:rPr lang="zh-CN" altLang="en-US">
                <a:noFill/>
              </a:rPr>
              <a:t> </a:t>
            </a:r>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A5FF13D-6150-4553-97EC-08D00FA377F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017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018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0841BDDA-3FAB-4870-A7D7-001B5758C2DE}" type="slidenum">
              <a:rPr lang="en-US" altLang="zh-CN" sz="1400" b="1">
                <a:latin typeface="Times New Roman" pitchFamily="18" charset="0"/>
                <a:ea typeface="宋体" pitchFamily="2" charset="-122"/>
              </a:rPr>
              <a:pPr algn="r" eaLnBrk="1" hangingPunct="1"/>
              <a:t>35</a:t>
            </a:fld>
            <a:endParaRPr lang="en-US" altLang="zh-CN" sz="1400" b="1">
              <a:latin typeface="Times New Roman" pitchFamily="18" charset="0"/>
              <a:ea typeface="宋体" pitchFamily="2" charset="-122"/>
            </a:endParaRPr>
          </a:p>
        </p:txBody>
      </p:sp>
      <p:sp>
        <p:nvSpPr>
          <p:cNvPr id="5018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pic>
        <p:nvPicPr>
          <p:cNvPr id="50182" name="图片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775" y="2205038"/>
            <a:ext cx="8934450" cy="208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a:spLocks noRot="1" noChangeAspect="1" noMove="1" noResize="1" noEditPoints="1" noAdjustHandles="1" noChangeArrowheads="1" noChangeShapeType="1" noTextEdit="1"/>
          </p:cNvSpPr>
          <p:nvPr/>
        </p:nvSpPr>
        <p:spPr>
          <a:xfrm>
            <a:off x="467544" y="4509120"/>
            <a:ext cx="7990656" cy="1606402"/>
          </a:xfrm>
          <a:prstGeom prst="rect">
            <a:avLst/>
          </a:prstGeom>
          <a:blipFill rotWithShape="0">
            <a:blip r:embed="rId3"/>
            <a:stretch>
              <a:fillRect l="-1220" t="-3042" b="-7985"/>
            </a:stretch>
          </a:blipFill>
        </p:spPr>
        <p:txBody>
          <a:bodyPr/>
          <a:lstStyle/>
          <a:p>
            <a:pPr>
              <a:defRPr/>
            </a:pPr>
            <a:r>
              <a:rPr lang="zh-CN" altLang="en-US">
                <a:noFill/>
              </a:rPr>
              <a:t> </a:t>
            </a:r>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728477A-2B25-4233-B38A-18BBE3259761}"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120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120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EEB2FBF8-9140-4D51-B420-8449167991F6}" type="slidenum">
              <a:rPr lang="en-US" altLang="zh-CN" sz="1400" b="1">
                <a:latin typeface="Times New Roman" pitchFamily="18" charset="0"/>
                <a:ea typeface="宋体" pitchFamily="2" charset="-122"/>
              </a:rPr>
              <a:pPr algn="r" eaLnBrk="1" hangingPunct="1"/>
              <a:t>36</a:t>
            </a:fld>
            <a:endParaRPr lang="en-US" altLang="zh-CN" sz="1400" b="1">
              <a:latin typeface="Times New Roman" pitchFamily="18" charset="0"/>
              <a:ea typeface="宋体" pitchFamily="2" charset="-122"/>
            </a:endParaRPr>
          </a:p>
        </p:txBody>
      </p:sp>
      <p:sp>
        <p:nvSpPr>
          <p:cNvPr id="5120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323528" y="2096611"/>
            <a:ext cx="8296275" cy="3939540"/>
          </a:xfrm>
          <a:prstGeom prst="rect">
            <a:avLst/>
          </a:prstGeom>
          <a:blipFill rotWithShape="0">
            <a:blip r:embed="rId2"/>
            <a:stretch>
              <a:fillRect l="-1102" t="-1238" r="-1102" b="-2632"/>
            </a:stretch>
          </a:blipFill>
        </p:spPr>
        <p:txBody>
          <a:bodyPr/>
          <a:lstStyle/>
          <a:p>
            <a:pPr>
              <a:defRPr/>
            </a:pPr>
            <a:r>
              <a:rPr lang="zh-CN" altLang="en-US">
                <a:noFill/>
              </a:rPr>
              <a:t> </a:t>
            </a:r>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550430E-4287-42E2-9588-B33E578E2C7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222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222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37EC2117-0DFB-42B4-AC54-DBDE071EF8DA}" type="slidenum">
              <a:rPr lang="en-US" altLang="zh-CN" sz="1400" b="1">
                <a:latin typeface="Times New Roman" pitchFamily="18" charset="0"/>
                <a:ea typeface="宋体" pitchFamily="2" charset="-122"/>
              </a:rPr>
              <a:pPr algn="r" eaLnBrk="1" hangingPunct="1"/>
              <a:t>37</a:t>
            </a:fld>
            <a:endParaRPr lang="en-US" altLang="zh-CN" sz="1400" b="1">
              <a:latin typeface="Times New Roman" pitchFamily="18" charset="0"/>
              <a:ea typeface="宋体" pitchFamily="2" charset="-122"/>
            </a:endParaRPr>
          </a:p>
        </p:txBody>
      </p:sp>
      <p:sp>
        <p:nvSpPr>
          <p:cNvPr id="5222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323528" y="2096611"/>
            <a:ext cx="8296275" cy="3937938"/>
          </a:xfrm>
          <a:prstGeom prst="rect">
            <a:avLst/>
          </a:prstGeom>
          <a:blipFill rotWithShape="0">
            <a:blip r:embed="rId2"/>
            <a:stretch>
              <a:fillRect l="-1102" t="-1238" r="-735" b="-2477"/>
            </a:stretch>
          </a:blipFill>
        </p:spPr>
        <p:txBody>
          <a:bodyPr/>
          <a:lstStyle/>
          <a:p>
            <a:pPr>
              <a:defRPr/>
            </a:pPr>
            <a:r>
              <a:rPr lang="zh-CN" altLang="en-US">
                <a:noFill/>
              </a:rPr>
              <a:t> </a:t>
            </a:r>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E7108A8-8AFD-4508-A7E1-B0021E07CEB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325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325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F400FBF8-85DC-439C-9B20-B490E66CD952}" type="slidenum">
              <a:rPr lang="en-US" altLang="zh-CN" sz="1400" b="1">
                <a:latin typeface="Times New Roman" pitchFamily="18" charset="0"/>
                <a:ea typeface="宋体" pitchFamily="2" charset="-122"/>
              </a:rPr>
              <a:pPr algn="r" eaLnBrk="1" hangingPunct="1"/>
              <a:t>38</a:t>
            </a:fld>
            <a:endParaRPr lang="en-US" altLang="zh-CN" sz="1400" b="1">
              <a:latin typeface="Times New Roman" pitchFamily="18" charset="0"/>
              <a:ea typeface="宋体" pitchFamily="2" charset="-122"/>
            </a:endParaRPr>
          </a:p>
        </p:txBody>
      </p:sp>
      <p:sp>
        <p:nvSpPr>
          <p:cNvPr id="53253"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323528" y="2420888"/>
            <a:ext cx="8296275" cy="2961388"/>
          </a:xfrm>
          <a:prstGeom prst="rect">
            <a:avLst/>
          </a:prstGeom>
          <a:blipFill rotWithShape="0">
            <a:blip r:embed="rId2"/>
            <a:stretch>
              <a:fillRect l="-1102" t="-1646" r="-735"/>
            </a:stretch>
          </a:blipFill>
        </p:spPr>
        <p:txBody>
          <a:bodyPr/>
          <a:lstStyle/>
          <a:p>
            <a:pPr>
              <a:defRPr/>
            </a:pPr>
            <a:r>
              <a:rPr lang="zh-CN" altLang="en-US">
                <a:noFill/>
              </a:rPr>
              <a:t> </a:t>
            </a:r>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230F834-31CD-4904-A9A6-B52418ACAD3B}"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427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427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4B9CCA56-516C-4998-B63D-24389F973102}" type="slidenum">
              <a:rPr lang="en-US" altLang="zh-CN" sz="1400" b="1">
                <a:latin typeface="Times New Roman" pitchFamily="18" charset="0"/>
                <a:ea typeface="宋体" pitchFamily="2" charset="-122"/>
              </a:rPr>
              <a:pPr algn="r" eaLnBrk="1" hangingPunct="1"/>
              <a:t>39</a:t>
            </a:fld>
            <a:endParaRPr lang="en-US" altLang="zh-CN" sz="1400" b="1">
              <a:latin typeface="Times New Roman" pitchFamily="18" charset="0"/>
              <a:ea typeface="宋体" pitchFamily="2" charset="-122"/>
            </a:endParaRPr>
          </a:p>
        </p:txBody>
      </p:sp>
      <p:sp>
        <p:nvSpPr>
          <p:cNvPr id="54277"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54278" name="文本框 1"/>
          <p:cNvSpPr txBox="1">
            <a:spLocks noChangeArrowheads="1"/>
          </p:cNvSpPr>
          <p:nvPr/>
        </p:nvSpPr>
        <p:spPr bwMode="auto">
          <a:xfrm>
            <a:off x="423863" y="2492375"/>
            <a:ext cx="8396609" cy="2692660"/>
          </a:xfrm>
          <a:prstGeom prst="rect">
            <a:avLst/>
          </a:prstGeom>
          <a:solidFill>
            <a:schemeClr val="bg1"/>
          </a:solidFill>
          <a:ln>
            <a:noFill/>
          </a:ln>
        </p:spPr>
        <p:txBody>
          <a:bodyPr wrap="squar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nSpc>
                <a:spcPct val="120000"/>
              </a:lnSpc>
            </a:pPr>
            <a:r>
              <a:rPr kumimoji="0" lang="en-US" altLang="zh-CN" b="1" dirty="0">
                <a:solidFill>
                  <a:srgbClr val="FF0000"/>
                </a:solidFill>
                <a:latin typeface="黑体" pitchFamily="49" charset="-122"/>
                <a:ea typeface="黑体" pitchFamily="49" charset="-122"/>
              </a:rPr>
              <a:t>3</a:t>
            </a:r>
            <a:r>
              <a:rPr kumimoji="0" lang="zh-CN" altLang="en-US" b="1" dirty="0">
                <a:solidFill>
                  <a:srgbClr val="FF0000"/>
                </a:solidFill>
                <a:latin typeface="黑体" pitchFamily="49" charset="-122"/>
                <a:ea typeface="黑体" pitchFamily="49" charset="-122"/>
              </a:rPr>
              <a:t>）</a:t>
            </a:r>
            <a:r>
              <a:rPr kumimoji="0" lang="zh-CN" altLang="zh-CN" b="1" dirty="0">
                <a:solidFill>
                  <a:srgbClr val="FF0000"/>
                </a:solidFill>
                <a:latin typeface="黑体" pitchFamily="49" charset="-122"/>
                <a:ea typeface="黑体" pitchFamily="49" charset="-122"/>
              </a:rPr>
              <a:t>平方取中法</a:t>
            </a:r>
            <a:endParaRPr kumimoji="0" lang="en-US" altLang="zh-CN" b="1" dirty="0">
              <a:solidFill>
                <a:srgbClr val="FF0000"/>
              </a:solidFill>
              <a:latin typeface="黑体" pitchFamily="49" charset="-122"/>
              <a:ea typeface="黑体" pitchFamily="49" charset="-122"/>
            </a:endParaRPr>
          </a:p>
          <a:p>
            <a:pPr>
              <a:lnSpc>
                <a:spcPct val="120000"/>
              </a:lnSpc>
            </a:pPr>
            <a:r>
              <a:rPr kumimoji="0" lang="en-US" altLang="zh-CN" b="1" dirty="0">
                <a:solidFill>
                  <a:srgbClr val="FF0000"/>
                </a:solidFill>
                <a:latin typeface="黑体" pitchFamily="49" charset="-122"/>
                <a:ea typeface="黑体" pitchFamily="49" charset="-122"/>
              </a:rPr>
              <a:t>   </a:t>
            </a:r>
            <a:r>
              <a:rPr kumimoji="0" lang="zh-CN" altLang="zh-CN" b="1" dirty="0">
                <a:latin typeface="黑体" pitchFamily="49" charset="-122"/>
                <a:ea typeface="黑体" pitchFamily="49" charset="-122"/>
              </a:rPr>
              <a:t>平方取中法是一种比较常用的构造哈希函数的方法，具体是：将关键字求平方后，取其中间的几位数字作为散列地址。由于关键字平方后的中间几位数字和组成关键字的每一位数字都有关，因此产生冲突的可能性较小，最后究竟取几位数字作为散列地址需要由散列表的长度决定。</a:t>
            </a:r>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CE8E421-CAF2-4697-BF1B-15BE12B8196E}"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529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530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D231F5A6-0368-4223-B356-BF1591526A33}" type="slidenum">
              <a:rPr lang="en-US" altLang="zh-CN" sz="1400" b="1">
                <a:latin typeface="Times New Roman" pitchFamily="18" charset="0"/>
                <a:ea typeface="宋体" pitchFamily="2" charset="-122"/>
              </a:rPr>
              <a:pPr algn="r" eaLnBrk="1" hangingPunct="1"/>
              <a:t>40</a:t>
            </a:fld>
            <a:endParaRPr lang="en-US" altLang="zh-CN" sz="1400" b="1">
              <a:latin typeface="Times New Roman" pitchFamily="18" charset="0"/>
              <a:ea typeface="宋体" pitchFamily="2" charset="-122"/>
            </a:endParaRPr>
          </a:p>
        </p:txBody>
      </p:sp>
      <p:sp>
        <p:nvSpPr>
          <p:cNvPr id="5530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55302" name="文本框 1"/>
          <p:cNvSpPr txBox="1">
            <a:spLocks noChangeArrowheads="1"/>
          </p:cNvSpPr>
          <p:nvPr/>
        </p:nvSpPr>
        <p:spPr bwMode="auto">
          <a:xfrm>
            <a:off x="423863" y="2492375"/>
            <a:ext cx="8296275" cy="29241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spcAft>
                <a:spcPts val="1200"/>
              </a:spcAft>
            </a:pPr>
            <a:r>
              <a:rPr kumimoji="0" lang="zh-CN" altLang="zh-CN" dirty="0">
                <a:solidFill>
                  <a:srgbClr val="FF0000"/>
                </a:solidFill>
                <a:latin typeface="黑体" pitchFamily="49" charset="-122"/>
                <a:ea typeface="黑体" pitchFamily="49" charset="-122"/>
              </a:rPr>
              <a:t>例如，若结构的存储地址范围是</a:t>
            </a:r>
            <a:r>
              <a:rPr kumimoji="0" lang="en-US" altLang="zh-CN" dirty="0">
                <a:solidFill>
                  <a:srgbClr val="FF0000"/>
                </a:solidFill>
                <a:latin typeface="黑体" pitchFamily="49" charset="-122"/>
                <a:ea typeface="黑体" pitchFamily="49" charset="-122"/>
              </a:rPr>
              <a:t>1~999</a:t>
            </a:r>
            <a:r>
              <a:rPr kumimoji="0" lang="zh-CN" altLang="zh-CN" dirty="0">
                <a:solidFill>
                  <a:srgbClr val="FF0000"/>
                </a:solidFill>
                <a:latin typeface="黑体" pitchFamily="49" charset="-122"/>
                <a:ea typeface="黑体" pitchFamily="49" charset="-122"/>
              </a:rPr>
              <a:t>，则取平方值的中间三位，如表所示。</a:t>
            </a:r>
            <a:endParaRPr kumimoji="0" lang="en-US" altLang="zh-CN" dirty="0">
              <a:solidFill>
                <a:srgbClr val="FF0000"/>
              </a:solidFill>
              <a:latin typeface="黑体" pitchFamily="49" charset="-122"/>
              <a:ea typeface="黑体" pitchFamily="49" charset="-122"/>
            </a:endParaRPr>
          </a:p>
          <a:p>
            <a:pPr>
              <a:spcAft>
                <a:spcPts val="1200"/>
              </a:spcAft>
            </a:pPr>
            <a:endParaRPr kumimoji="0" lang="en-US" altLang="zh-CN" dirty="0">
              <a:solidFill>
                <a:srgbClr val="0000FF"/>
              </a:solidFill>
              <a:latin typeface="黑体" pitchFamily="49" charset="-122"/>
              <a:ea typeface="黑体" pitchFamily="49" charset="-122"/>
            </a:endParaRPr>
          </a:p>
          <a:p>
            <a:pPr>
              <a:spcAft>
                <a:spcPts val="1200"/>
              </a:spcAft>
            </a:pPr>
            <a:endParaRPr kumimoji="0" lang="en-US" altLang="zh-CN" dirty="0">
              <a:solidFill>
                <a:srgbClr val="0000FF"/>
              </a:solidFill>
              <a:latin typeface="黑体" pitchFamily="49" charset="-122"/>
              <a:ea typeface="黑体" pitchFamily="49" charset="-122"/>
            </a:endParaRPr>
          </a:p>
          <a:p>
            <a:pPr>
              <a:spcAft>
                <a:spcPts val="1200"/>
              </a:spcAft>
            </a:pPr>
            <a:endParaRPr kumimoji="0" lang="en-US" altLang="zh-CN" dirty="0">
              <a:solidFill>
                <a:srgbClr val="0000FF"/>
              </a:solidFill>
              <a:latin typeface="黑体" pitchFamily="49" charset="-122"/>
              <a:ea typeface="黑体" pitchFamily="49" charset="-122"/>
            </a:endParaRPr>
          </a:p>
          <a:p>
            <a:pPr>
              <a:spcAft>
                <a:spcPts val="1200"/>
              </a:spcAft>
            </a:pPr>
            <a:endParaRPr kumimoji="0" lang="en-US" altLang="zh-CN" dirty="0">
              <a:solidFill>
                <a:srgbClr val="0000FF"/>
              </a:solidFill>
              <a:latin typeface="黑体" pitchFamily="49" charset="-122"/>
              <a:ea typeface="黑体" pitchFamily="49" charset="-122"/>
            </a:endParaRPr>
          </a:p>
        </p:txBody>
      </p:sp>
      <p:pic>
        <p:nvPicPr>
          <p:cNvPr id="55303"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500438"/>
            <a:ext cx="7885112"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A3F03FB-57A7-49DA-92CE-484FB8D3B152}"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632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632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7DEB52B0-AC2E-4763-91E3-1BF6691DB2F2}" type="slidenum">
              <a:rPr lang="en-US" altLang="zh-CN" sz="1400" b="1">
                <a:latin typeface="Times New Roman" pitchFamily="18" charset="0"/>
                <a:ea typeface="宋体" pitchFamily="2" charset="-122"/>
              </a:rPr>
              <a:pPr algn="r" eaLnBrk="1" hangingPunct="1"/>
              <a:t>41</a:t>
            </a:fld>
            <a:endParaRPr lang="en-US" altLang="zh-CN" sz="1400" b="1">
              <a:latin typeface="Times New Roman" pitchFamily="18" charset="0"/>
              <a:ea typeface="宋体" pitchFamily="2" charset="-122"/>
            </a:endParaRPr>
          </a:p>
        </p:txBody>
      </p:sp>
      <p:sp>
        <p:nvSpPr>
          <p:cNvPr id="5632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56326" name="文本框 1"/>
          <p:cNvSpPr txBox="1">
            <a:spLocks noChangeArrowheads="1"/>
          </p:cNvSpPr>
          <p:nvPr/>
        </p:nvSpPr>
        <p:spPr bwMode="auto">
          <a:xfrm>
            <a:off x="423863" y="2133600"/>
            <a:ext cx="8296275" cy="3292824"/>
          </a:xfrm>
          <a:prstGeom prst="rect">
            <a:avLst/>
          </a:prstGeom>
          <a:solidFill>
            <a:schemeClr val="bg1"/>
          </a:solidFill>
          <a:ln>
            <a:noFill/>
          </a:ln>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nSpc>
                <a:spcPct val="110000"/>
              </a:lnSpc>
            </a:pPr>
            <a:r>
              <a:rPr kumimoji="0" lang="en-US" altLang="zh-CN" b="1" dirty="0">
                <a:solidFill>
                  <a:srgbClr val="FF0000"/>
                </a:solidFill>
                <a:latin typeface="黑体" pitchFamily="49" charset="-122"/>
                <a:ea typeface="黑体" pitchFamily="49" charset="-122"/>
              </a:rPr>
              <a:t>4</a:t>
            </a:r>
            <a:r>
              <a:rPr kumimoji="0" lang="zh-CN" altLang="en-US" b="1" dirty="0">
                <a:solidFill>
                  <a:srgbClr val="FF0000"/>
                </a:solidFill>
                <a:latin typeface="黑体" pitchFamily="49" charset="-122"/>
                <a:ea typeface="黑体" pitchFamily="49" charset="-122"/>
              </a:rPr>
              <a:t>）</a:t>
            </a:r>
            <a:r>
              <a:rPr kumimoji="0" lang="zh-CN" altLang="zh-CN" b="1" dirty="0">
                <a:solidFill>
                  <a:srgbClr val="FF0000"/>
                </a:solidFill>
                <a:latin typeface="黑体" pitchFamily="49" charset="-122"/>
                <a:ea typeface="黑体" pitchFamily="49" charset="-122"/>
              </a:rPr>
              <a:t>折叠法</a:t>
            </a:r>
            <a:endParaRPr kumimoji="0" lang="en-US" altLang="zh-CN" b="1" dirty="0">
              <a:solidFill>
                <a:srgbClr val="FF0000"/>
              </a:solidFill>
              <a:latin typeface="黑体" pitchFamily="49" charset="-122"/>
              <a:ea typeface="黑体" pitchFamily="49" charset="-122"/>
            </a:endParaRPr>
          </a:p>
          <a:p>
            <a:pPr>
              <a:lnSpc>
                <a:spcPct val="110000"/>
              </a:lnSpc>
            </a:pPr>
            <a:r>
              <a:rPr kumimoji="0" lang="en-US" altLang="zh-CN" b="1" dirty="0">
                <a:solidFill>
                  <a:srgbClr val="FF0000"/>
                </a:solidFill>
                <a:latin typeface="黑体" pitchFamily="49" charset="-122"/>
                <a:ea typeface="黑体" pitchFamily="49" charset="-122"/>
              </a:rPr>
              <a:t>   </a:t>
            </a:r>
            <a:r>
              <a:rPr kumimoji="0" lang="zh-CN" altLang="zh-CN" b="1" dirty="0">
                <a:latin typeface="黑体" pitchFamily="49" charset="-122"/>
                <a:ea typeface="黑体" pitchFamily="49" charset="-122"/>
              </a:rPr>
              <a:t>折叠法适用于关键字位数很多且关键字中每一位上数字分布大致均匀的情况。具体方法是：将关键字分割成位数相同的几部分（最后一部分的位数可以不同），然后取这几部分的叠加和（舍去进位）作为哈希地址。叠加又可分为</a:t>
            </a:r>
            <a:r>
              <a:rPr kumimoji="0" lang="zh-CN" altLang="zh-CN" b="1" dirty="0">
                <a:solidFill>
                  <a:srgbClr val="FF0000"/>
                </a:solidFill>
                <a:latin typeface="黑体" pitchFamily="49" charset="-122"/>
                <a:ea typeface="黑体" pitchFamily="49" charset="-122"/>
              </a:rPr>
              <a:t>移位叠加和间界叠加</a:t>
            </a:r>
            <a:r>
              <a:rPr kumimoji="0" lang="zh-CN" altLang="zh-CN" b="1" dirty="0">
                <a:latin typeface="黑体" pitchFamily="49" charset="-122"/>
                <a:ea typeface="黑体" pitchFamily="49" charset="-122"/>
              </a:rPr>
              <a:t>。其中，移位叠加是将分组后的每位数字的最低位对齐，然后相加；间界叠加是将分组后的每组数字从一端向另一端沿分界线进行来回折叠，然后对齐相加。</a:t>
            </a:r>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11010988-B610-4A06-A5C4-17D7FFBBAEAE}"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734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734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54E980D3-8ED0-4CA5-BF1C-D4EA4539654D}" type="slidenum">
              <a:rPr lang="en-US" altLang="zh-CN" sz="1400" b="1">
                <a:latin typeface="Times New Roman" pitchFamily="18" charset="0"/>
                <a:ea typeface="宋体" pitchFamily="2" charset="-122"/>
              </a:rPr>
              <a:pPr algn="r" eaLnBrk="1" hangingPunct="1"/>
              <a:t>42</a:t>
            </a:fld>
            <a:endParaRPr lang="en-US" altLang="zh-CN" sz="1400" b="1">
              <a:latin typeface="Times New Roman" pitchFamily="18" charset="0"/>
              <a:ea typeface="宋体" pitchFamily="2" charset="-122"/>
            </a:endParaRPr>
          </a:p>
        </p:txBody>
      </p:sp>
      <p:sp>
        <p:nvSpPr>
          <p:cNvPr id="5734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423862" y="2132856"/>
            <a:ext cx="8296275" cy="3636380"/>
          </a:xfrm>
          <a:prstGeom prst="rect">
            <a:avLst/>
          </a:prstGeom>
          <a:blipFill rotWithShape="0">
            <a:blip r:embed="rId2"/>
            <a:stretch>
              <a:fillRect l="-1176" t="-1342" r="-735" b="-1846"/>
            </a:stretch>
          </a:blipFill>
        </p:spPr>
        <p:txBody>
          <a:bodyPr/>
          <a:lstStyle/>
          <a:p>
            <a:pPr>
              <a:defRPr/>
            </a:pPr>
            <a:r>
              <a:rPr lang="zh-CN" altLang="en-US">
                <a:noFill/>
              </a:rPr>
              <a:t> </a:t>
            </a:r>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EEFD75B5-71CA-4D26-B668-1BC93488DBFD}"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837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837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D8CBE6C6-183D-4A7A-95CD-A32D4FDE4ECA}" type="slidenum">
              <a:rPr lang="en-US" altLang="zh-CN" sz="1400" b="1">
                <a:latin typeface="Times New Roman" pitchFamily="18" charset="0"/>
                <a:ea typeface="宋体" pitchFamily="2" charset="-122"/>
              </a:rPr>
              <a:pPr algn="r" eaLnBrk="1" hangingPunct="1"/>
              <a:t>43</a:t>
            </a:fld>
            <a:endParaRPr lang="en-US" altLang="zh-CN" sz="1400" b="1">
              <a:latin typeface="Times New Roman" pitchFamily="18" charset="0"/>
              <a:ea typeface="宋体" pitchFamily="2" charset="-122"/>
            </a:endParaRPr>
          </a:p>
        </p:txBody>
      </p:sp>
      <p:sp>
        <p:nvSpPr>
          <p:cNvPr id="58373"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mc:AlternateContent xmlns:mc="http://schemas.openxmlformats.org/markup-compatibility/2006" xmlns:a14="http://schemas.microsoft.com/office/drawing/2010/main">
        <mc:Choice Requires="a14">
          <p:sp>
            <p:nvSpPr>
              <p:cNvPr id="3" name="TextBox 2"/>
              <p:cNvSpPr txBox="1"/>
              <p:nvPr/>
            </p:nvSpPr>
            <p:spPr>
              <a:xfrm>
                <a:off x="755576" y="1937752"/>
                <a:ext cx="7992888" cy="4170372"/>
              </a:xfrm>
              <a:prstGeom prst="rect">
                <a:avLst/>
              </a:prstGeom>
              <a:solidFill>
                <a:schemeClr val="bg1"/>
              </a:solidFill>
            </p:spPr>
            <p:txBody>
              <a:bodyPr wrap="square" rtlCol="0">
                <a:spAutoFit/>
              </a:bodyPr>
              <a:lstStyle/>
              <a:p>
                <a:pPr>
                  <a:spcBef>
                    <a:spcPts val="600"/>
                  </a:spcBef>
                </a:pPr>
                <a:r>
                  <a:rPr lang="zh-CN" altLang="en-US" sz="2400" b="1" dirty="0"/>
                  <a:t>常见的构造哈希函数的方法有以下几种：</a:t>
                </a:r>
                <a:endParaRPr lang="en-US" altLang="zh-CN" sz="2400" b="1" dirty="0"/>
              </a:p>
              <a:p>
                <a:pPr>
                  <a:spcBef>
                    <a:spcPts val="600"/>
                  </a:spcBef>
                </a:pPr>
                <a:r>
                  <a:rPr lang="en-US" altLang="zh-CN" sz="2400" b="1" dirty="0"/>
                  <a:t>5</a:t>
                </a:r>
                <a:r>
                  <a:rPr lang="zh-CN" altLang="en-US" sz="2400" b="1" dirty="0"/>
                  <a:t>）</a:t>
                </a:r>
                <a:r>
                  <a:rPr lang="zh-CN" altLang="zh-CN" sz="2400" b="1" dirty="0"/>
                  <a:t>除留余数法。</a:t>
                </a:r>
                <a:r>
                  <a:rPr lang="zh-CN" altLang="zh-CN" sz="2400" b="1" dirty="0">
                    <a:solidFill>
                      <a:schemeClr val="tx1"/>
                    </a:solidFill>
                  </a:rPr>
                  <a:t>除留余数法取关键字被某个不大于哈希表表长</a:t>
                </a:r>
                <a14:m>
                  <m:oMath xmlns:m="http://schemas.openxmlformats.org/officeDocument/2006/math">
                    <m:r>
                      <a:rPr lang="en-US" altLang="zh-CN" sz="2400" b="1" i="1">
                        <a:solidFill>
                          <a:schemeClr val="tx1"/>
                        </a:solidFill>
                        <a:latin typeface="Cambria Math" panose="02040503050406030204" pitchFamily="18" charset="0"/>
                      </a:rPr>
                      <m:t>𝒎</m:t>
                    </m:r>
                  </m:oMath>
                </a14:m>
                <a:r>
                  <a:rPr lang="zh-CN" altLang="zh-CN" sz="2400" b="1" dirty="0">
                    <a:solidFill>
                      <a:schemeClr val="tx1"/>
                    </a:solidFill>
                  </a:rPr>
                  <a:t>的数</a:t>
                </a:r>
                <a14:m>
                  <m:oMath xmlns:m="http://schemas.openxmlformats.org/officeDocument/2006/math">
                    <m:r>
                      <a:rPr lang="en-US" altLang="zh-CN" sz="2400" b="1" i="1">
                        <a:solidFill>
                          <a:schemeClr val="tx1"/>
                        </a:solidFill>
                        <a:latin typeface="Cambria Math" panose="02040503050406030204" pitchFamily="18" charset="0"/>
                      </a:rPr>
                      <m:t>𝒑</m:t>
                    </m:r>
                  </m:oMath>
                </a14:m>
                <a:r>
                  <a:rPr lang="zh-CN" altLang="zh-CN" sz="2400" b="1" dirty="0">
                    <a:solidFill>
                      <a:schemeClr val="tx1"/>
                    </a:solidFill>
                  </a:rPr>
                  <a:t>除后所得余数为哈希地址，即</a:t>
                </a:r>
                <a:endParaRPr lang="en-US" altLang="zh-CN" sz="2400" b="1" i="1" dirty="0">
                  <a:solidFill>
                    <a:schemeClr val="tx1"/>
                  </a:solidFill>
                </a:endParaRPr>
              </a:p>
              <a:p>
                <a:pPr algn="ctr">
                  <a:spcBef>
                    <a:spcPts val="600"/>
                  </a:spcBef>
                </a:pPr>
                <a14:m>
                  <m:oMath xmlns:m="http://schemas.openxmlformats.org/officeDocument/2006/math">
                    <m:r>
                      <a:rPr lang="en-US" altLang="zh-CN" sz="2400" b="1" i="1" smtClean="0">
                        <a:solidFill>
                          <a:srgbClr val="0000FF"/>
                        </a:solidFill>
                        <a:latin typeface="Cambria Math" panose="02040503050406030204" pitchFamily="18" charset="0"/>
                      </a:rPr>
                      <m:t>𝒇</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𝒌𝒆𝒚</m:t>
                        </m:r>
                      </m:e>
                    </m:d>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𝒌𝒆𝒚</m:t>
                    </m:r>
                    <m:r>
                      <a:rPr lang="en-US" altLang="zh-CN" sz="2400" b="1" i="1">
                        <a:solidFill>
                          <a:srgbClr val="0000FF"/>
                        </a:solidFill>
                        <a:latin typeface="Cambria Math" panose="02040503050406030204" pitchFamily="18" charset="0"/>
                      </a:rPr>
                      <m:t>(</m:t>
                    </m:r>
                    <m:r>
                      <m:rPr>
                        <m:nor/>
                      </m:rPr>
                      <a:rPr lang="en-US" altLang="zh-CN" sz="2400" b="1">
                        <a:solidFill>
                          <a:srgbClr val="0000FF"/>
                        </a:solidFill>
                      </a:rPr>
                      <m:t>mod</m:t>
                    </m:r>
                    <m:r>
                      <a:rPr lang="en-US" altLang="zh-CN" sz="2400" b="1" i="1">
                        <a:solidFill>
                          <a:srgbClr val="0000FF"/>
                        </a:solidFill>
                        <a:latin typeface="Cambria Math" panose="02040503050406030204" pitchFamily="18" charset="0"/>
                      </a:rPr>
                      <m:t> </m:t>
                    </m:r>
                    <m:r>
                      <a:rPr lang="en-US" altLang="zh-CN" sz="2400" b="1" i="1">
                        <a:solidFill>
                          <a:srgbClr val="0000FF"/>
                        </a:solidFill>
                        <a:latin typeface="Cambria Math" panose="02040503050406030204" pitchFamily="18" charset="0"/>
                      </a:rPr>
                      <m:t>𝒑</m:t>
                    </m:r>
                    <m:r>
                      <a:rPr lang="en-US" altLang="zh-CN" sz="2400" b="1" i="1">
                        <a:solidFill>
                          <a:srgbClr val="0000FF"/>
                        </a:solidFill>
                        <a:latin typeface="Cambria Math" panose="02040503050406030204" pitchFamily="18" charset="0"/>
                      </a:rPr>
                      <m:t>)</m:t>
                    </m:r>
                  </m:oMath>
                </a14:m>
                <a:r>
                  <a:rPr lang="zh-CN" altLang="zh-CN" sz="2400" b="1" dirty="0">
                    <a:solidFill>
                      <a:srgbClr val="0000FF"/>
                    </a:solidFill>
                  </a:rPr>
                  <a:t>，其中</a:t>
                </a:r>
                <a14:m>
                  <m:oMath xmlns:m="http://schemas.openxmlformats.org/officeDocument/2006/math">
                    <m:r>
                      <a:rPr lang="en-US" altLang="zh-CN" sz="2400" b="1" i="1">
                        <a:solidFill>
                          <a:srgbClr val="0000FF"/>
                        </a:solidFill>
                        <a:latin typeface="Cambria Math" panose="02040503050406030204" pitchFamily="18" charset="0"/>
                      </a:rPr>
                      <m:t>𝒑</m:t>
                    </m:r>
                    <m:r>
                      <a:rPr lang="en-US" altLang="zh-CN" sz="2400" b="1" i="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𝒎</m:t>
                    </m:r>
                  </m:oMath>
                </a14:m>
                <a:r>
                  <a:rPr lang="zh-CN" altLang="zh-CN" sz="2400" b="1" dirty="0">
                    <a:solidFill>
                      <a:srgbClr val="0000FF"/>
                    </a:solidFill>
                  </a:rPr>
                  <a:t>。</a:t>
                </a:r>
                <a:endParaRPr lang="en-US" altLang="zh-CN" sz="2400" b="1" dirty="0">
                  <a:solidFill>
                    <a:srgbClr val="0000FF"/>
                  </a:solidFill>
                </a:endParaRPr>
              </a:p>
              <a:p>
                <a:pPr>
                  <a:spcBef>
                    <a:spcPts val="600"/>
                  </a:spcBef>
                </a:pPr>
                <a:r>
                  <a:rPr lang="zh-CN" altLang="zh-CN" sz="2400" b="1" dirty="0">
                    <a:solidFill>
                      <a:schemeClr val="tx1"/>
                    </a:solidFill>
                  </a:rPr>
                  <a:t>这是一种最简单也是最常用的构造哈希函数的方法。它不仅可以对</a:t>
                </a:r>
                <a:r>
                  <a:rPr lang="zh-CN" altLang="zh-CN" sz="2400" b="1" dirty="0">
                    <a:solidFill>
                      <a:srgbClr val="0000FF"/>
                    </a:solidFill>
                  </a:rPr>
                  <a:t>关键字直接取模（</a:t>
                </a:r>
                <a14:m>
                  <m:oMath xmlns:m="http://schemas.openxmlformats.org/officeDocument/2006/math">
                    <m:r>
                      <m:rPr>
                        <m:nor/>
                      </m:rPr>
                      <a:rPr lang="en-US" altLang="zh-CN" sz="2400" b="1">
                        <a:solidFill>
                          <a:srgbClr val="0000FF"/>
                        </a:solidFill>
                      </a:rPr>
                      <m:t>mod</m:t>
                    </m:r>
                  </m:oMath>
                </a14:m>
                <a:r>
                  <a:rPr lang="zh-CN" altLang="zh-CN" sz="2400" b="1" dirty="0">
                    <a:solidFill>
                      <a:srgbClr val="0000FF"/>
                    </a:solidFill>
                  </a:rPr>
                  <a:t>）</a:t>
                </a:r>
                <a:r>
                  <a:rPr lang="zh-CN" altLang="zh-CN" sz="2400" b="1" dirty="0">
                    <a:solidFill>
                      <a:schemeClr val="tx1"/>
                    </a:solidFill>
                  </a:rPr>
                  <a:t>，也可在</a:t>
                </a:r>
                <a:r>
                  <a:rPr lang="zh-CN" altLang="en-US" sz="2400" b="1" dirty="0">
                    <a:solidFill>
                      <a:srgbClr val="0000FF"/>
                    </a:solidFill>
                  </a:rPr>
                  <a:t>折叠、</a:t>
                </a:r>
                <a:r>
                  <a:rPr lang="zh-CN" altLang="zh-CN" sz="2400" b="1" dirty="0">
                    <a:solidFill>
                      <a:srgbClr val="0000FF"/>
                    </a:solidFill>
                  </a:rPr>
                  <a:t>平方取中等运算之后取模</a:t>
                </a:r>
                <a:r>
                  <a:rPr lang="zh-CN" altLang="zh-CN" sz="2400" b="1" dirty="0">
                    <a:solidFill>
                      <a:schemeClr val="tx1"/>
                    </a:solidFill>
                  </a:rPr>
                  <a:t>。</a:t>
                </a:r>
                <a:endParaRPr lang="en-US" altLang="zh-CN" sz="2400" b="1" dirty="0">
                  <a:solidFill>
                    <a:schemeClr val="tx1"/>
                  </a:solidFill>
                </a:endParaRPr>
              </a:p>
              <a:p>
                <a:pPr>
                  <a:spcBef>
                    <a:spcPts val="600"/>
                  </a:spcBef>
                </a:pPr>
                <a:r>
                  <a:rPr lang="zh-CN" altLang="zh-CN" sz="2400" b="1" dirty="0">
                    <a:solidFill>
                      <a:srgbClr val="0000FF"/>
                    </a:solidFill>
                  </a:rPr>
                  <a:t>对</a:t>
                </a:r>
                <a14:m>
                  <m:oMath xmlns:m="http://schemas.openxmlformats.org/officeDocument/2006/math">
                    <m:r>
                      <a:rPr lang="en-US" altLang="zh-CN" sz="2400" b="1" i="1">
                        <a:solidFill>
                          <a:srgbClr val="0000FF"/>
                        </a:solidFill>
                        <a:latin typeface="Cambria Math" panose="02040503050406030204" pitchFamily="18" charset="0"/>
                      </a:rPr>
                      <m:t>𝒑</m:t>
                    </m:r>
                  </m:oMath>
                </a14:m>
                <a:r>
                  <a:rPr lang="zh-CN" altLang="zh-CN" sz="2400" b="1" dirty="0">
                    <a:solidFill>
                      <a:srgbClr val="0000FF"/>
                    </a:solidFill>
                  </a:rPr>
                  <a:t>的选择重要</a:t>
                </a:r>
                <a:r>
                  <a:rPr lang="zh-CN" altLang="en-US" sz="2400" b="1" dirty="0">
                    <a:solidFill>
                      <a:srgbClr val="0000FF"/>
                    </a:solidFill>
                  </a:rPr>
                  <a:t>性</a:t>
                </a:r>
                <a:r>
                  <a:rPr lang="zh-CN" altLang="en-US" sz="2400" b="1" dirty="0">
                    <a:solidFill>
                      <a:schemeClr val="tx1"/>
                    </a:solidFill>
                  </a:rPr>
                  <a:t>：</a:t>
                </a:r>
                <a:r>
                  <a:rPr lang="zh-CN" altLang="zh-CN" sz="2400" b="1" dirty="0">
                    <a:solidFill>
                      <a:schemeClr val="tx1"/>
                    </a:solidFill>
                  </a:rPr>
                  <a:t>若</a:t>
                </a:r>
                <a14:m>
                  <m:oMath xmlns:m="http://schemas.openxmlformats.org/officeDocument/2006/math">
                    <m:r>
                      <a:rPr lang="en-US" altLang="zh-CN" sz="2400" b="1" i="1">
                        <a:solidFill>
                          <a:schemeClr val="tx1"/>
                        </a:solidFill>
                        <a:latin typeface="Cambria Math" panose="02040503050406030204" pitchFamily="18" charset="0"/>
                      </a:rPr>
                      <m:t>𝒑</m:t>
                    </m:r>
                  </m:oMath>
                </a14:m>
                <a:r>
                  <a:rPr lang="zh-CN" altLang="zh-CN" sz="2400" b="1" dirty="0">
                    <a:solidFill>
                      <a:schemeClr val="tx1"/>
                    </a:solidFill>
                  </a:rPr>
                  <a:t>选的不好，容易产生同义词。</a:t>
                </a:r>
                <a:endParaRPr lang="en-US" altLang="zh-CN" sz="2400" b="1" dirty="0">
                  <a:solidFill>
                    <a:schemeClr val="tx1"/>
                  </a:solidFill>
                </a:endParaRPr>
              </a:p>
              <a:p>
                <a:pPr>
                  <a:spcBef>
                    <a:spcPts val="600"/>
                  </a:spcBef>
                </a:pPr>
                <a:r>
                  <a:rPr lang="zh-CN" altLang="zh-CN" sz="2400" b="1" dirty="0">
                    <a:solidFill>
                      <a:srgbClr val="0000FF"/>
                    </a:solidFill>
                  </a:rPr>
                  <a:t>由经验得知</a:t>
                </a:r>
                <a:r>
                  <a:rPr lang="zh-CN" altLang="zh-CN" sz="2400" b="1" dirty="0">
                    <a:solidFill>
                      <a:schemeClr val="tx1"/>
                    </a:solidFill>
                  </a:rPr>
                  <a:t>：一般情况下可以选</a:t>
                </a:r>
                <a14:m>
                  <m:oMath xmlns:m="http://schemas.openxmlformats.org/officeDocument/2006/math">
                    <m:r>
                      <a:rPr lang="en-US" altLang="zh-CN" sz="2400" b="1" i="1">
                        <a:solidFill>
                          <a:schemeClr val="tx1"/>
                        </a:solidFill>
                        <a:latin typeface="Cambria Math" panose="02040503050406030204" pitchFamily="18" charset="0"/>
                      </a:rPr>
                      <m:t>𝒑</m:t>
                    </m:r>
                  </m:oMath>
                </a14:m>
                <a:r>
                  <a:rPr lang="zh-CN" altLang="zh-CN" sz="2400" b="1" dirty="0">
                    <a:solidFill>
                      <a:schemeClr val="tx1"/>
                    </a:solidFill>
                  </a:rPr>
                  <a:t>为质数或不包含小于</a:t>
                </a:r>
                <a:r>
                  <a:rPr lang="en-US" altLang="zh-CN" sz="2400" b="1" dirty="0">
                    <a:solidFill>
                      <a:schemeClr val="tx1"/>
                    </a:solidFill>
                  </a:rPr>
                  <a:t>20</a:t>
                </a:r>
                <a:r>
                  <a:rPr lang="zh-CN" altLang="zh-CN" sz="2400" b="1" dirty="0">
                    <a:solidFill>
                      <a:schemeClr val="tx1"/>
                    </a:solidFill>
                  </a:rPr>
                  <a:t>的质因素的合数</a:t>
                </a:r>
                <a:r>
                  <a:rPr lang="zh-CN" altLang="en-US" sz="2400" b="1" dirty="0">
                    <a:solidFill>
                      <a:schemeClr val="tx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755576" y="1937752"/>
                <a:ext cx="7992888" cy="4170372"/>
              </a:xfrm>
              <a:prstGeom prst="rect">
                <a:avLst/>
              </a:prstGeom>
              <a:blipFill rotWithShape="1">
                <a:blip r:embed="rId2"/>
                <a:stretch>
                  <a:fillRect l="-1220" t="-1170" b="-2339"/>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62BDBB3C-3AC8-4B5C-A775-252FA2E8A2E8}"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5939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5939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5FCD28D2-29CC-4210-8B21-6989567D48CE}" type="slidenum">
              <a:rPr lang="en-US" altLang="zh-CN" sz="1400" b="1">
                <a:latin typeface="Times New Roman" pitchFamily="18" charset="0"/>
                <a:ea typeface="宋体" pitchFamily="2" charset="-122"/>
              </a:rPr>
              <a:pPr algn="r" eaLnBrk="1" hangingPunct="1"/>
              <a:t>44</a:t>
            </a:fld>
            <a:endParaRPr lang="en-US" altLang="zh-CN" sz="1400" b="1">
              <a:latin typeface="Times New Roman" pitchFamily="18" charset="0"/>
              <a:ea typeface="宋体" pitchFamily="2" charset="-122"/>
            </a:endParaRPr>
          </a:p>
        </p:txBody>
      </p:sp>
      <p:sp>
        <p:nvSpPr>
          <p:cNvPr id="59397"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539552" y="2636912"/>
            <a:ext cx="8296275" cy="2092881"/>
          </a:xfrm>
          <a:prstGeom prst="rect">
            <a:avLst/>
          </a:prstGeom>
          <a:blipFill rotWithShape="0">
            <a:blip r:embed="rId2"/>
            <a:stretch>
              <a:fillRect l="-1176" t="-2332" r="-956" b="-5831"/>
            </a:stretch>
          </a:blipFill>
        </p:spPr>
        <p:txBody>
          <a:bodyPr/>
          <a:lstStyle/>
          <a:p>
            <a:pPr>
              <a:defRPr/>
            </a:pPr>
            <a:r>
              <a:rPr lang="zh-CN" altLang="en-US">
                <a:noFill/>
              </a:rPr>
              <a:t> </a:t>
            </a:r>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D4E6F53-C7A0-44ED-BD29-3326B052685B}"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041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042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9AEA5EC-8A34-4BCA-8043-A2683EE64E01}" type="slidenum">
              <a:rPr lang="en-US" altLang="zh-CN" sz="1400" b="1">
                <a:latin typeface="Times New Roman" pitchFamily="18" charset="0"/>
                <a:ea typeface="宋体" pitchFamily="2" charset="-122"/>
              </a:rPr>
              <a:pPr algn="r" eaLnBrk="1" hangingPunct="1"/>
              <a:t>45</a:t>
            </a:fld>
            <a:endParaRPr lang="en-US" altLang="zh-CN" sz="1400" b="1">
              <a:latin typeface="Times New Roman" pitchFamily="18" charset="0"/>
              <a:ea typeface="宋体" pitchFamily="2" charset="-122"/>
            </a:endParaRPr>
          </a:p>
        </p:txBody>
      </p:sp>
      <p:sp>
        <p:nvSpPr>
          <p:cNvPr id="6042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539552" y="2636912"/>
            <a:ext cx="8296275" cy="3186834"/>
          </a:xfrm>
          <a:prstGeom prst="rect">
            <a:avLst/>
          </a:prstGeom>
          <a:blipFill rotWithShape="0">
            <a:blip r:embed="rId2"/>
            <a:stretch>
              <a:fillRect l="-1176" t="-1533" r="-882" b="-3448"/>
            </a:stretch>
          </a:blipFill>
        </p:spPr>
        <p:txBody>
          <a:bodyPr/>
          <a:lstStyle/>
          <a:p>
            <a:pPr>
              <a:defRPr/>
            </a:pPr>
            <a:r>
              <a:rPr lang="zh-CN" altLang="en-US">
                <a:noFill/>
              </a:rPr>
              <a:t> </a:t>
            </a:r>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DF90D07-1B57-48BC-ADE1-76DE63716971}"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144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144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BE8C43EB-581E-4772-8682-04E7FB72F415}" type="slidenum">
              <a:rPr lang="en-US" altLang="zh-CN" sz="1400" b="1">
                <a:latin typeface="Times New Roman" pitchFamily="18" charset="0"/>
                <a:ea typeface="宋体" pitchFamily="2" charset="-122"/>
              </a:rPr>
              <a:pPr algn="r" eaLnBrk="1" hangingPunct="1"/>
              <a:t>46</a:t>
            </a:fld>
            <a:endParaRPr lang="en-US" altLang="zh-CN" sz="1400" b="1">
              <a:latin typeface="Times New Roman" pitchFamily="18" charset="0"/>
              <a:ea typeface="宋体" pitchFamily="2" charset="-122"/>
            </a:endParaRPr>
          </a:p>
        </p:txBody>
      </p:sp>
      <p:sp>
        <p:nvSpPr>
          <p:cNvPr id="6144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539552" y="2636912"/>
            <a:ext cx="8296275" cy="3026854"/>
          </a:xfrm>
          <a:prstGeom prst="rect">
            <a:avLst/>
          </a:prstGeom>
          <a:blipFill rotWithShape="0">
            <a:blip r:embed="rId2"/>
            <a:stretch>
              <a:fillRect l="-1176" t="-1613"/>
            </a:stretch>
          </a:blipFill>
        </p:spPr>
        <p:txBody>
          <a:bodyPr/>
          <a:lstStyle/>
          <a:p>
            <a:pPr>
              <a:defRPr/>
            </a:pPr>
            <a:r>
              <a:rPr lang="zh-CN" altLang="en-US">
                <a:noFill/>
              </a:rPr>
              <a:t> </a:t>
            </a:r>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BBEE9A5-78CA-410D-ADA7-C7778BF86117}"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246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246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B642A35-AAAB-4FE1-9EE2-D11DB371E2A3}" type="slidenum">
              <a:rPr lang="en-US" altLang="zh-CN" sz="1400" b="1">
                <a:latin typeface="Times New Roman" pitchFamily="18" charset="0"/>
                <a:ea typeface="宋体" pitchFamily="2" charset="-122"/>
              </a:rPr>
              <a:pPr algn="r" eaLnBrk="1" hangingPunct="1"/>
              <a:t>47</a:t>
            </a:fld>
            <a:endParaRPr lang="en-US" altLang="zh-CN" sz="1400" b="1">
              <a:latin typeface="Times New Roman" pitchFamily="18" charset="0"/>
              <a:ea typeface="宋体" pitchFamily="2" charset="-122"/>
            </a:endParaRPr>
          </a:p>
        </p:txBody>
      </p:sp>
      <p:sp>
        <p:nvSpPr>
          <p:cNvPr id="6246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p:nvPr/>
        </p:nvSpPr>
        <p:spPr>
          <a:xfrm>
            <a:off x="539750" y="2781300"/>
            <a:ext cx="8296275" cy="1722438"/>
          </a:xfrm>
          <a:prstGeom prst="rect">
            <a:avLst/>
          </a:prstGeom>
          <a:solidFill>
            <a:srgbClr val="CCFFCC"/>
          </a:solidFill>
        </p:spPr>
        <p:txBody>
          <a:bodyPr>
            <a:spAutoFit/>
          </a:bodyPr>
          <a:lstStyle/>
          <a:p>
            <a:pPr>
              <a:spcAft>
                <a:spcPts val="1200"/>
              </a:spcAft>
              <a:defRPr/>
            </a:pPr>
            <a:r>
              <a:rPr lang="zh-CN" altLang="zh-CN" sz="2400" dirty="0"/>
              <a:t>常见的</a:t>
            </a:r>
            <a:r>
              <a:rPr lang="zh-CN" altLang="en-US" sz="2400" dirty="0"/>
              <a:t>解决冲突的方法有下面几种</a:t>
            </a:r>
            <a:r>
              <a:rPr lang="zh-CN" altLang="zh-CN" sz="2400" dirty="0"/>
              <a:t>：</a:t>
            </a:r>
          </a:p>
          <a:p>
            <a:pPr>
              <a:defRPr/>
            </a:pPr>
            <a:r>
              <a:rPr lang="en-US" altLang="zh-CN" sz="2400" b="1" dirty="0">
                <a:solidFill>
                  <a:srgbClr val="0000FF"/>
                </a:solidFill>
              </a:rPr>
              <a:t>2</a:t>
            </a:r>
            <a:r>
              <a:rPr lang="zh-CN" altLang="en-US" sz="2400" b="1" dirty="0">
                <a:solidFill>
                  <a:srgbClr val="0000FF"/>
                </a:solidFill>
              </a:rPr>
              <a:t>）</a:t>
            </a:r>
            <a:r>
              <a:rPr lang="zh-CN" altLang="zh-CN" sz="2400" b="1" dirty="0">
                <a:solidFill>
                  <a:srgbClr val="800080"/>
                </a:solidFill>
              </a:rPr>
              <a:t>再哈希法。</a:t>
            </a:r>
            <a:r>
              <a:rPr lang="zh-CN" altLang="zh-CN" sz="2400" dirty="0">
                <a:solidFill>
                  <a:schemeClr val="accent6">
                    <a:lumMod val="50000"/>
                  </a:schemeClr>
                </a:solidFill>
              </a:rPr>
              <a:t>再哈希法是当同义词产生地址冲突时计算另一个哈希函数地址，直到冲突不再发生。这种方法不易产生“聚集”，但增加了计算的时间。</a:t>
            </a:r>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B7CFC24-195A-44D1-83B2-45D03F981AB3}"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349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349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756BF396-E0C3-437A-B2EB-D4F898191C16}" type="slidenum">
              <a:rPr lang="en-US" altLang="zh-CN" sz="1400" b="1">
                <a:latin typeface="Times New Roman" pitchFamily="18" charset="0"/>
                <a:ea typeface="宋体" pitchFamily="2" charset="-122"/>
              </a:rPr>
              <a:pPr algn="r" eaLnBrk="1" hangingPunct="1"/>
              <a:t>48</a:t>
            </a:fld>
            <a:endParaRPr lang="en-US" altLang="zh-CN" sz="1400" b="1">
              <a:latin typeface="Times New Roman" pitchFamily="18" charset="0"/>
              <a:ea typeface="宋体" pitchFamily="2" charset="-122"/>
            </a:endParaRPr>
          </a:p>
        </p:txBody>
      </p:sp>
      <p:sp>
        <p:nvSpPr>
          <p:cNvPr id="63493"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539552" y="2780928"/>
            <a:ext cx="8296275" cy="2462213"/>
          </a:xfrm>
          <a:prstGeom prst="rect">
            <a:avLst/>
          </a:prstGeom>
          <a:blipFill rotWithShape="0">
            <a:blip r:embed="rId2"/>
            <a:stretch>
              <a:fillRect l="-1176" t="-1980" r="-882" b="-4703"/>
            </a:stretch>
          </a:blipFill>
        </p:spPr>
        <p:txBody>
          <a:bodyPr/>
          <a:lstStyle/>
          <a:p>
            <a:pPr>
              <a:defRPr/>
            </a:pPr>
            <a:r>
              <a:rPr lang="zh-CN" altLang="en-US">
                <a:noFill/>
              </a:rPr>
              <a:t> </a:t>
            </a:r>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6068204-98BB-42D7-8FFA-E4657F32C655}"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451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451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0AC3CA04-23D7-46AF-B82A-1F4DCD167D74}" type="slidenum">
              <a:rPr lang="en-US" altLang="zh-CN" sz="1400" b="1">
                <a:latin typeface="Times New Roman" pitchFamily="18" charset="0"/>
                <a:ea typeface="宋体" pitchFamily="2" charset="-122"/>
              </a:rPr>
              <a:pPr algn="r" eaLnBrk="1" hangingPunct="1"/>
              <a:t>49</a:t>
            </a:fld>
            <a:endParaRPr lang="en-US" altLang="zh-CN" sz="1400" b="1">
              <a:latin typeface="Times New Roman" pitchFamily="18" charset="0"/>
              <a:ea typeface="宋体" pitchFamily="2" charset="-122"/>
            </a:endParaRPr>
          </a:p>
        </p:txBody>
      </p:sp>
      <p:sp>
        <p:nvSpPr>
          <p:cNvPr id="64517" name="Text Box 2"/>
          <p:cNvSpPr txBox="1">
            <a:spLocks noChangeArrowheads="1"/>
          </p:cNvSpPr>
          <p:nvPr/>
        </p:nvSpPr>
        <p:spPr bwMode="auto">
          <a:xfrm>
            <a:off x="1403350" y="836613"/>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48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哈希查找问题</a:t>
            </a:r>
          </a:p>
        </p:txBody>
      </p:sp>
      <p:sp>
        <p:nvSpPr>
          <p:cNvPr id="2" name="文本框 1"/>
          <p:cNvSpPr txBox="1">
            <a:spLocks noRot="1" noChangeAspect="1" noMove="1" noResize="1" noEditPoints="1" noAdjustHandles="1" noChangeArrowheads="1" noChangeShapeType="1" noTextEdit="1"/>
          </p:cNvSpPr>
          <p:nvPr/>
        </p:nvSpPr>
        <p:spPr>
          <a:xfrm>
            <a:off x="211931" y="2132856"/>
            <a:ext cx="8720138" cy="4154984"/>
          </a:xfrm>
          <a:prstGeom prst="rect">
            <a:avLst/>
          </a:prstGeom>
          <a:blipFill rotWithShape="0">
            <a:blip r:embed="rId2"/>
            <a:stretch>
              <a:fillRect l="-1119" t="-1175" r="-70"/>
            </a:stretch>
          </a:blipFill>
        </p:spPr>
        <p:txBody>
          <a:bodyPr/>
          <a:lstStyle/>
          <a:p>
            <a:pPr>
              <a:defRPr/>
            </a:pPr>
            <a:r>
              <a:rPr lang="zh-CN" altLang="en-US">
                <a:noFill/>
              </a:rPr>
              <a:t> </a:t>
            </a:r>
          </a:p>
        </p:txBody>
      </p:sp>
      <p:pic>
        <p:nvPicPr>
          <p:cNvPr id="6451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76463" y="3357563"/>
            <a:ext cx="4791075" cy="293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A8A446A-9E2B-4B9B-A1AE-7F76C5883F3B}"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553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554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62CD82BE-560C-4451-9307-AC0BF97D65E8}" type="slidenum">
              <a:rPr lang="en-US" altLang="zh-CN" sz="1400" b="1">
                <a:latin typeface="Times New Roman" pitchFamily="18" charset="0"/>
                <a:ea typeface="宋体" pitchFamily="2" charset="-122"/>
              </a:rPr>
              <a:pPr algn="r" eaLnBrk="1" hangingPunct="1"/>
              <a:t>50</a:t>
            </a:fld>
            <a:endParaRPr lang="en-US" altLang="zh-CN" sz="1400" b="1">
              <a:latin typeface="Times New Roman" pitchFamily="18" charset="0"/>
              <a:ea typeface="宋体" pitchFamily="2" charset="-122"/>
            </a:endParaRPr>
          </a:p>
        </p:txBody>
      </p:sp>
      <p:sp>
        <p:nvSpPr>
          <p:cNvPr id="65541" name="Text Box 2"/>
          <p:cNvSpPr txBox="1">
            <a:spLocks noChangeArrowheads="1"/>
          </p:cNvSpPr>
          <p:nvPr/>
        </p:nvSpPr>
        <p:spPr bwMode="auto">
          <a:xfrm>
            <a:off x="1403350" y="836613"/>
            <a:ext cx="70866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48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网络带宽分配问题</a:t>
            </a:r>
          </a:p>
        </p:txBody>
      </p:sp>
      <p:sp>
        <p:nvSpPr>
          <p:cNvPr id="65542" name="文本框 1"/>
          <p:cNvSpPr txBox="1">
            <a:spLocks noChangeArrowheads="1"/>
          </p:cNvSpPr>
          <p:nvPr/>
        </p:nvSpPr>
        <p:spPr bwMode="auto">
          <a:xfrm>
            <a:off x="395536" y="1976438"/>
            <a:ext cx="8569200" cy="4154487"/>
          </a:xfrm>
          <a:prstGeom prst="rect">
            <a:avLst/>
          </a:prstGeom>
          <a:solidFill>
            <a:schemeClr val="bg1"/>
          </a:solidFill>
          <a:ln w="9525">
            <a:noFill/>
            <a:miter lim="800000"/>
            <a:headEnd/>
            <a:tailEnd/>
          </a:ln>
        </p:spPr>
        <p:txBody>
          <a:bodyPr wrap="squar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r>
              <a:rPr kumimoji="0" lang="en-US" altLang="zh-CN" b="1" dirty="0">
                <a:solidFill>
                  <a:srgbClr val="FF0000"/>
                </a:solidFill>
                <a:latin typeface="黑体" pitchFamily="49" charset="-122"/>
                <a:ea typeface="黑体" pitchFamily="49" charset="-122"/>
              </a:rPr>
              <a:t>【</a:t>
            </a:r>
            <a:r>
              <a:rPr kumimoji="0" lang="zh-CN" altLang="en-US" b="1" dirty="0">
                <a:solidFill>
                  <a:srgbClr val="FF0000"/>
                </a:solidFill>
                <a:latin typeface="黑体" pitchFamily="49" charset="-122"/>
                <a:ea typeface="黑体" pitchFamily="49" charset="-122"/>
              </a:rPr>
              <a:t>问题前沿</a:t>
            </a:r>
            <a:r>
              <a:rPr kumimoji="0" lang="en-US" altLang="zh-CN" b="1" dirty="0">
                <a:solidFill>
                  <a:srgbClr val="FF0000"/>
                </a:solidFill>
                <a:latin typeface="黑体" pitchFamily="49" charset="-122"/>
                <a:ea typeface="黑体" pitchFamily="49" charset="-122"/>
              </a:rPr>
              <a:t>】   </a:t>
            </a:r>
          </a:p>
          <a:p>
            <a:r>
              <a:rPr kumimoji="0" lang="en-US" altLang="zh-CN" b="1" dirty="0">
                <a:solidFill>
                  <a:srgbClr val="FF0000"/>
                </a:solidFill>
                <a:latin typeface="黑体" pitchFamily="49" charset="-122"/>
                <a:ea typeface="黑体" pitchFamily="49" charset="-122"/>
              </a:rPr>
              <a:t>    </a:t>
            </a:r>
            <a:r>
              <a:rPr kumimoji="0" lang="zh-CN" altLang="zh-CN" b="1" dirty="0">
                <a:latin typeface="黑体" pitchFamily="49" charset="-122"/>
                <a:ea typeface="黑体" pitchFamily="49" charset="-122"/>
              </a:rPr>
              <a:t>一般来说，用户使用的宽带分成两部分：</a:t>
            </a:r>
            <a:r>
              <a:rPr kumimoji="0" lang="zh-CN" altLang="zh-CN" b="1" dirty="0">
                <a:solidFill>
                  <a:srgbClr val="FF0000"/>
                </a:solidFill>
                <a:latin typeface="黑体" pitchFamily="49" charset="-122"/>
                <a:ea typeface="黑体" pitchFamily="49" charset="-122"/>
              </a:rPr>
              <a:t>静态宽带</a:t>
            </a:r>
            <a:r>
              <a:rPr kumimoji="0" lang="zh-CN" altLang="zh-CN" b="1" dirty="0">
                <a:latin typeface="黑体" pitchFamily="49" charset="-122"/>
                <a:ea typeface="黑体" pitchFamily="49" charset="-122"/>
              </a:rPr>
              <a:t>和</a:t>
            </a:r>
            <a:r>
              <a:rPr kumimoji="0" lang="zh-CN" altLang="zh-CN" b="1" dirty="0">
                <a:solidFill>
                  <a:srgbClr val="FF0000"/>
                </a:solidFill>
                <a:latin typeface="黑体" pitchFamily="49" charset="-122"/>
                <a:ea typeface="黑体" pitchFamily="49" charset="-122"/>
              </a:rPr>
              <a:t>动态宽带</a:t>
            </a:r>
            <a:r>
              <a:rPr kumimoji="0" lang="zh-CN" altLang="zh-CN" b="1" dirty="0">
                <a:latin typeface="黑体" pitchFamily="49" charset="-122"/>
                <a:ea typeface="黑体" pitchFamily="49" charset="-122"/>
              </a:rPr>
              <a:t>。静态宽带是运营商承诺的最小宽带，已经预留给每个用户；动态宽带被所有的用户共享，根据需求进行分配。</a:t>
            </a:r>
            <a:endParaRPr kumimoji="0" lang="en-US" altLang="zh-CN" b="1" dirty="0">
              <a:latin typeface="黑体" pitchFamily="49" charset="-122"/>
              <a:ea typeface="黑体" pitchFamily="49" charset="-122"/>
            </a:endParaRPr>
          </a:p>
          <a:p>
            <a:r>
              <a:rPr kumimoji="0" lang="en-US" altLang="zh-CN" b="1" dirty="0">
                <a:latin typeface="黑体" pitchFamily="49" charset="-122"/>
                <a:ea typeface="黑体" pitchFamily="49" charset="-122"/>
              </a:rPr>
              <a:t>    </a:t>
            </a:r>
            <a:r>
              <a:rPr kumimoji="0" lang="zh-CN" altLang="zh-CN" b="1" dirty="0">
                <a:latin typeface="黑体" pitchFamily="49" charset="-122"/>
                <a:ea typeface="黑体" pitchFamily="49" charset="-122"/>
              </a:rPr>
              <a:t>语音视频业务服务过程一般分成三步：</a:t>
            </a:r>
            <a:r>
              <a:rPr kumimoji="0" lang="zh-CN" altLang="zh-CN" b="1" dirty="0">
                <a:solidFill>
                  <a:srgbClr val="FF0000"/>
                </a:solidFill>
                <a:latin typeface="黑体" pitchFamily="49" charset="-122"/>
                <a:ea typeface="黑体" pitchFamily="49" charset="-122"/>
              </a:rPr>
              <a:t>建立连接、进行语音视频传输、结束服务</a:t>
            </a:r>
            <a:r>
              <a:rPr kumimoji="0" lang="zh-CN" altLang="zh-CN" b="1" dirty="0">
                <a:latin typeface="黑体" pitchFamily="49" charset="-122"/>
                <a:ea typeface="黑体" pitchFamily="49" charset="-122"/>
              </a:rPr>
              <a:t>。对于已经建立连接并正在进行传输的服务，运营商应该保证其所需要的宽带。而在连接阶段，如果所有客户申请的宽带总量超过运营商所提供的宽带时，则进行宽带分配。</a:t>
            </a:r>
            <a:endParaRPr kumimoji="0" lang="en-US" altLang="zh-CN" b="1" dirty="0">
              <a:latin typeface="黑体" pitchFamily="49" charset="-122"/>
              <a:ea typeface="黑体" pitchFamily="49" charset="-122"/>
            </a:endParaRPr>
          </a:p>
          <a:p>
            <a:r>
              <a:rPr kumimoji="0" lang="en-US" altLang="zh-CN" b="1" dirty="0">
                <a:solidFill>
                  <a:srgbClr val="FF0000"/>
                </a:solidFill>
                <a:latin typeface="黑体" pitchFamily="49" charset="-122"/>
                <a:ea typeface="黑体" pitchFamily="49" charset="-122"/>
              </a:rPr>
              <a:t>    </a:t>
            </a:r>
            <a:r>
              <a:rPr kumimoji="0" lang="zh-CN" altLang="zh-CN" b="1" dirty="0">
                <a:solidFill>
                  <a:srgbClr val="FF0000"/>
                </a:solidFill>
                <a:latin typeface="黑体" pitchFamily="49" charset="-122"/>
                <a:ea typeface="黑体" pitchFamily="49" charset="-122"/>
              </a:rPr>
              <a:t>用户的优先级</a:t>
            </a:r>
            <a:r>
              <a:rPr kumimoji="0" lang="en-US" altLang="zh-CN" b="1" dirty="0">
                <a:solidFill>
                  <a:srgbClr val="FF0000"/>
                </a:solidFill>
                <a:latin typeface="黑体" pitchFamily="49" charset="-122"/>
                <a:ea typeface="黑体" pitchFamily="49" charset="-122"/>
              </a:rPr>
              <a:t>=</a:t>
            </a:r>
            <a:r>
              <a:rPr kumimoji="0" lang="zh-CN" altLang="zh-CN" b="1" dirty="0">
                <a:latin typeface="黑体" pitchFamily="49" charset="-122"/>
                <a:ea typeface="黑体" pitchFamily="49" charset="-122"/>
              </a:rPr>
              <a:t>他可使用的最大宽带与已占有的宽带之比，需求量越大，被满足的宽带越小，则优先级越高。</a:t>
            </a:r>
            <a:endParaRPr kumimoji="0" lang="en-US" altLang="zh-CN" b="1" dirty="0">
              <a:latin typeface="黑体" pitchFamily="49" charset="-122"/>
              <a:ea typeface="黑体" pitchFamily="49" charset="-122"/>
            </a:endParaRPr>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E128442-EF4C-4E4E-804C-EF696FDA4D56}"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656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656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BE0E3B32-665A-4598-AD6D-B965D2431384}" type="slidenum">
              <a:rPr lang="en-US" altLang="zh-CN" sz="1400" b="1">
                <a:latin typeface="Times New Roman" pitchFamily="18" charset="0"/>
                <a:ea typeface="宋体" pitchFamily="2" charset="-122"/>
              </a:rPr>
              <a:pPr algn="r" eaLnBrk="1" hangingPunct="1"/>
              <a:t>51</a:t>
            </a:fld>
            <a:endParaRPr lang="en-US" altLang="zh-CN" sz="1400" b="1">
              <a:latin typeface="Times New Roman" pitchFamily="18" charset="0"/>
              <a:ea typeface="宋体" pitchFamily="2" charset="-122"/>
            </a:endParaRPr>
          </a:p>
        </p:txBody>
      </p:sp>
      <p:sp>
        <p:nvSpPr>
          <p:cNvPr id="6656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网络带宽分配问题</a:t>
            </a:r>
          </a:p>
        </p:txBody>
      </p:sp>
      <p:sp>
        <p:nvSpPr>
          <p:cNvPr id="2" name="文本框 1"/>
          <p:cNvSpPr txBox="1"/>
          <p:nvPr/>
        </p:nvSpPr>
        <p:spPr>
          <a:xfrm>
            <a:off x="467544" y="2204864"/>
            <a:ext cx="8245475" cy="3222998"/>
          </a:xfrm>
          <a:prstGeom prst="rect">
            <a:avLst/>
          </a:prstGeom>
          <a:solidFill>
            <a:schemeClr val="bg1"/>
          </a:solidFill>
        </p:spPr>
        <p:txBody>
          <a:bodyPr>
            <a:spAutoFit/>
          </a:bodyPr>
          <a:lstStyle/>
          <a:p>
            <a:pPr>
              <a:lnSpc>
                <a:spcPct val="150000"/>
              </a:lnSpc>
              <a:defRPr/>
            </a:pPr>
            <a:r>
              <a:rPr lang="en-US" altLang="zh-CN" sz="2800" b="1" dirty="0"/>
              <a:t>【</a:t>
            </a:r>
            <a:r>
              <a:rPr lang="zh-CN" altLang="en-US" sz="2800" b="1" dirty="0"/>
              <a:t>问题描述</a:t>
            </a:r>
            <a:r>
              <a:rPr lang="en-US" altLang="zh-CN" sz="2800" b="1" dirty="0"/>
              <a:t>】   </a:t>
            </a:r>
          </a:p>
          <a:p>
            <a:pPr>
              <a:lnSpc>
                <a:spcPct val="150000"/>
              </a:lnSpc>
              <a:defRPr/>
            </a:pPr>
            <a:r>
              <a:rPr lang="en-US" altLang="zh-CN" sz="2800" b="1" dirty="0"/>
              <a:t>    </a:t>
            </a:r>
            <a:r>
              <a:rPr lang="zh-CN" altLang="zh-CN" sz="2800" b="1" dirty="0">
                <a:solidFill>
                  <a:schemeClr val="tx1"/>
                </a:solidFill>
              </a:rPr>
              <a:t>假设已知每一项业务所申请的宽带大小，在保证分配的宽带之和不超过网络总宽带的条件下</a:t>
            </a:r>
            <a:r>
              <a:rPr lang="zh-CN" altLang="zh-CN" sz="2800" b="1" dirty="0">
                <a:solidFill>
                  <a:schemeClr val="accent1">
                    <a:lumMod val="50000"/>
                  </a:schemeClr>
                </a:solidFill>
              </a:rPr>
              <a:t>，</a:t>
            </a:r>
            <a:r>
              <a:rPr lang="zh-CN" altLang="zh-CN" sz="2800" b="1" dirty="0">
                <a:solidFill>
                  <a:schemeClr val="accent6"/>
                </a:solidFill>
              </a:rPr>
              <a:t>如何选择一部分业务，以使得这些业务的优先级收益（即所有业务的优先级之和）达到最大？</a:t>
            </a:r>
            <a:endParaRPr lang="en-US" altLang="zh-CN" sz="2800" b="1" dirty="0">
              <a:solidFill>
                <a:schemeClr val="accent6"/>
              </a:solidFill>
            </a:endParaRPr>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397B1F6-DAC6-457F-8061-21AF615C32F4}"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7587"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758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0A9E3D58-7093-492D-B70A-F78F34495801}" type="slidenum">
              <a:rPr lang="en-US" altLang="zh-CN" sz="1400" b="1">
                <a:latin typeface="Times New Roman" pitchFamily="18" charset="0"/>
                <a:ea typeface="宋体" pitchFamily="2" charset="-122"/>
              </a:rPr>
              <a:pPr algn="r" eaLnBrk="1" hangingPunct="1"/>
              <a:t>52</a:t>
            </a:fld>
            <a:endParaRPr lang="en-US" altLang="zh-CN" sz="1400" b="1">
              <a:latin typeface="Times New Roman" pitchFamily="18" charset="0"/>
              <a:ea typeface="宋体" pitchFamily="2" charset="-122"/>
            </a:endParaRPr>
          </a:p>
        </p:txBody>
      </p:sp>
      <p:sp>
        <p:nvSpPr>
          <p:cNvPr id="6758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网络带宽分配问题</a:t>
            </a:r>
          </a:p>
        </p:txBody>
      </p:sp>
      <mc:AlternateContent xmlns:mc="http://schemas.openxmlformats.org/markup-compatibility/2006" xmlns:a14="http://schemas.microsoft.com/office/drawing/2010/main">
        <mc:Choice Requires="a14">
          <p:sp>
            <p:nvSpPr>
              <p:cNvPr id="3" name="TextBox 2"/>
              <p:cNvSpPr txBox="1"/>
              <p:nvPr/>
            </p:nvSpPr>
            <p:spPr>
              <a:xfrm>
                <a:off x="714914" y="1773437"/>
                <a:ext cx="8064896" cy="4608313"/>
              </a:xfrm>
              <a:prstGeom prst="rect">
                <a:avLst/>
              </a:prstGeom>
              <a:solidFill>
                <a:schemeClr val="bg1"/>
              </a:solidFill>
            </p:spPr>
            <p:txBody>
              <a:bodyPr wrap="square" rtlCol="0">
                <a:spAutoFit/>
              </a:bodyPr>
              <a:lstStyle/>
              <a:p>
                <a:pPr>
                  <a:lnSpc>
                    <a:spcPct val="120000"/>
                  </a:lnSpc>
                </a:pPr>
                <a:r>
                  <a:rPr lang="en-US" altLang="zh-CN" sz="2400" b="1" dirty="0"/>
                  <a:t>   【</a:t>
                </a:r>
                <a:r>
                  <a:rPr lang="zh-CN" altLang="en-US" sz="2400" b="1" dirty="0"/>
                  <a:t>问题分析</a:t>
                </a:r>
                <a:r>
                  <a:rPr lang="en-US" altLang="zh-CN" sz="2400" b="1" dirty="0"/>
                  <a:t>】</a:t>
                </a:r>
                <a:r>
                  <a:rPr lang="zh-CN" altLang="zh-CN" sz="2400" b="1" dirty="0">
                    <a:solidFill>
                      <a:schemeClr val="tx1"/>
                    </a:solidFill>
                  </a:rPr>
                  <a:t>用集合与函数对这个问题进行建模。设用户集合是</a:t>
                </a:r>
                <a14:m>
                  <m:oMath xmlns:m="http://schemas.openxmlformats.org/officeDocument/2006/math">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𝒏</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，用户</a:t>
                </a:r>
                <a14:m>
                  <m:oMath xmlns:m="http://schemas.openxmlformats.org/officeDocument/2006/math">
                    <m:r>
                      <a:rPr lang="en-US" altLang="zh-CN" sz="2400" b="1" i="1">
                        <a:solidFill>
                          <a:schemeClr val="tx1"/>
                        </a:solidFill>
                        <a:latin typeface="Cambria Math" panose="02040503050406030204" pitchFamily="18" charset="0"/>
                      </a:rPr>
                      <m:t>𝒊</m:t>
                    </m:r>
                  </m:oMath>
                </a14:m>
                <a:r>
                  <a:rPr lang="zh-CN" altLang="zh-CN" sz="2400" b="1" dirty="0">
                    <a:solidFill>
                      <a:schemeClr val="tx1"/>
                    </a:solidFill>
                  </a:rPr>
                  <a:t>提出了</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𝒕</m:t>
                        </m:r>
                      </m:e>
                      <m:sub>
                        <m:r>
                          <a:rPr lang="en-US" altLang="zh-CN" sz="2400" b="1" i="1">
                            <a:solidFill>
                              <a:schemeClr val="tx1"/>
                            </a:solidFill>
                            <a:latin typeface="Cambria Math" panose="02040503050406030204" pitchFamily="18" charset="0"/>
                          </a:rPr>
                          <m:t>𝒊</m:t>
                        </m:r>
                      </m:sub>
                    </m:sSub>
                  </m:oMath>
                </a14:m>
                <a:r>
                  <a:rPr lang="zh-CN" altLang="zh-CN" sz="2400" b="1" dirty="0">
                    <a:solidFill>
                      <a:schemeClr val="tx1"/>
                    </a:solidFill>
                  </a:rPr>
                  <a:t>个宽带申请，其第</a:t>
                </a:r>
                <a14:m>
                  <m:oMath xmlns:m="http://schemas.openxmlformats.org/officeDocument/2006/math">
                    <m:r>
                      <a:rPr lang="en-US" altLang="zh-CN" sz="2400" b="1" i="1">
                        <a:solidFill>
                          <a:schemeClr val="tx1"/>
                        </a:solidFill>
                        <a:latin typeface="Cambria Math" panose="02040503050406030204" pitchFamily="18" charset="0"/>
                      </a:rPr>
                      <m:t>𝒋</m:t>
                    </m:r>
                  </m:oMath>
                </a14:m>
                <a:r>
                  <a:rPr lang="zh-CN" altLang="zh-CN" sz="2400" b="1" dirty="0">
                    <a:solidFill>
                      <a:schemeClr val="tx1"/>
                    </a:solidFill>
                  </a:rPr>
                  <a:t>个申请的宽带是</a:t>
                </a:r>
                <a14:m>
                  <m:oMath xmlns:m="http://schemas.openxmlformats.org/officeDocument/2006/math">
                    <m:r>
                      <a:rPr lang="en-US" altLang="zh-CN" sz="2400" b="1" i="1">
                        <a:solidFill>
                          <a:schemeClr val="tx1"/>
                        </a:solidFill>
                        <a:latin typeface="Cambria Math" panose="02040503050406030204" pitchFamily="18" charset="0"/>
                      </a:rPr>
                      <m:t>𝒓</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𝒊</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𝒋</m:t>
                        </m:r>
                      </m:e>
                    </m:d>
                  </m:oMath>
                </a14:m>
                <a:r>
                  <a:rPr lang="zh-CN" altLang="zh-CN" sz="2400" b="1" dirty="0">
                    <a:solidFill>
                      <a:schemeClr val="tx1"/>
                    </a:solidFill>
                  </a:rPr>
                  <a:t>，这里</a:t>
                </a:r>
                <a14:m>
                  <m:oMath xmlns:m="http://schemas.openxmlformats.org/officeDocument/2006/math">
                    <m:r>
                      <a:rPr lang="en-US" altLang="zh-CN" sz="2400" b="1" i="1">
                        <a:solidFill>
                          <a:schemeClr val="tx1"/>
                        </a:solidFill>
                        <a:latin typeface="Cambria Math" panose="02040503050406030204" pitchFamily="18" charset="0"/>
                      </a:rPr>
                      <m:t>𝒊</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𝒏</m:t>
                    </m:r>
                    <m:r>
                      <a:rPr lang="zh-CN"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𝐣</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𝒕</m:t>
                        </m:r>
                      </m:e>
                      <m:sub>
                        <m:r>
                          <a:rPr lang="en-US" altLang="zh-CN" sz="2400" b="1" i="1">
                            <a:solidFill>
                              <a:schemeClr val="tx1"/>
                            </a:solidFill>
                            <a:latin typeface="Cambria Math" panose="02040503050406030204" pitchFamily="18" charset="0"/>
                          </a:rPr>
                          <m:t>𝒊</m:t>
                        </m:r>
                      </m:sub>
                    </m:sSub>
                  </m:oMath>
                </a14:m>
                <a:r>
                  <a:rPr lang="zh-CN" altLang="en-US" sz="2400" b="1" dirty="0">
                    <a:solidFill>
                      <a:schemeClr val="tx1"/>
                    </a:solidFill>
                  </a:rPr>
                  <a:t>。</a:t>
                </a:r>
                <a:endParaRPr lang="en-US" altLang="zh-CN" sz="2400" b="1" dirty="0">
                  <a:solidFill>
                    <a:schemeClr val="tx1"/>
                  </a:solidFill>
                </a:endParaRPr>
              </a:p>
              <a:p>
                <a:pPr>
                  <a:lnSpc>
                    <a:spcPct val="120000"/>
                  </a:lnSpc>
                </a:pPr>
                <a:r>
                  <a:rPr lang="en-US" altLang="zh-CN" sz="2400" b="1" dirty="0">
                    <a:solidFill>
                      <a:schemeClr val="tx1"/>
                    </a:solidFill>
                  </a:rPr>
                  <a:t>    </a:t>
                </a:r>
                <a:r>
                  <a:rPr lang="zh-CN" altLang="zh-CN" sz="2400" b="1" dirty="0">
                    <a:solidFill>
                      <a:schemeClr val="tx1"/>
                    </a:solidFill>
                  </a:rPr>
                  <a:t>假设此刻运营商能提供的动态宽带总量是</a:t>
                </a:r>
                <a14:m>
                  <m:oMath xmlns:m="http://schemas.openxmlformats.org/officeDocument/2006/math">
                    <m:r>
                      <a:rPr lang="en-US" altLang="zh-CN" sz="2400" b="1" i="1">
                        <a:solidFill>
                          <a:schemeClr val="tx1"/>
                        </a:solidFill>
                        <a:latin typeface="Cambria Math" panose="02040503050406030204" pitchFamily="18" charset="0"/>
                      </a:rPr>
                      <m:t>𝑩</m:t>
                    </m:r>
                  </m:oMath>
                </a14:m>
                <a:r>
                  <a:rPr lang="zh-CN" altLang="zh-CN" sz="2400" b="1" dirty="0">
                    <a:solidFill>
                      <a:schemeClr val="tx1"/>
                    </a:solidFill>
                  </a:rPr>
                  <a:t>用户</a:t>
                </a:r>
                <a14:m>
                  <m:oMath xmlns:m="http://schemas.openxmlformats.org/officeDocument/2006/math">
                    <m:r>
                      <a:rPr lang="en-US" altLang="zh-CN" sz="2400" b="1" i="1">
                        <a:solidFill>
                          <a:schemeClr val="tx1"/>
                        </a:solidFill>
                        <a:latin typeface="Cambria Math" panose="02040503050406030204" pitchFamily="18" charset="0"/>
                      </a:rPr>
                      <m:t>𝒊</m:t>
                    </m:r>
                  </m:oMath>
                </a14:m>
                <a:r>
                  <a:rPr lang="zh-CN" altLang="zh-CN" sz="2400" b="1" dirty="0">
                    <a:solidFill>
                      <a:schemeClr val="tx1"/>
                    </a:solidFill>
                  </a:rPr>
                  <a:t>已使用的宽带为</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panose="02040503050406030204" pitchFamily="18" charset="0"/>
                          </a:rPr>
                          <m:t>𝑪</m:t>
                        </m:r>
                      </m:e>
                      <m:sub>
                        <m:r>
                          <a:rPr lang="en-US" altLang="zh-CN" sz="2400" b="1" i="1">
                            <a:solidFill>
                              <a:schemeClr val="tx1"/>
                            </a:solidFill>
                            <a:latin typeface="Cambria Math" panose="02040503050406030204" pitchFamily="18" charset="0"/>
                          </a:rPr>
                          <m:t>𝒊𝒋</m:t>
                        </m:r>
                      </m:sub>
                    </m:sSub>
                  </m:oMath>
                </a14:m>
                <a:r>
                  <a:rPr lang="zh-CN" altLang="zh-CN" sz="2400" b="1" dirty="0">
                    <a:solidFill>
                      <a:schemeClr val="tx1"/>
                    </a:solidFill>
                  </a:rPr>
                  <a:t>，可使用的最大宽带为，那么</a:t>
                </a:r>
                <a14:m>
                  <m:oMath xmlns:m="http://schemas.openxmlformats.org/officeDocument/2006/math">
                    <m:sSub>
                      <m:sSubPr>
                        <m:ctrlPr>
                          <a:rPr lang="zh-CN" altLang="zh-CN" sz="2400" b="1" i="1" smtClean="0">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𝑪</m:t>
                        </m:r>
                      </m:e>
                      <m:sub>
                        <m:r>
                          <a:rPr lang="en-US" altLang="zh-CN" sz="2400" b="1" i="1">
                            <a:solidFill>
                              <a:srgbClr val="FF0000"/>
                            </a:solidFill>
                            <a:latin typeface="Cambria Math" panose="02040503050406030204" pitchFamily="18" charset="0"/>
                          </a:rPr>
                          <m:t>𝒊𝒋</m:t>
                        </m:r>
                      </m:sub>
                    </m:sSub>
                    <m:r>
                      <a:rPr lang="en-US" altLang="zh-CN" sz="2400" b="1" i="1">
                        <a:solidFill>
                          <a:srgbClr val="FF0000"/>
                        </a:solidFill>
                        <a:latin typeface="Cambria Math" panose="02040503050406030204" pitchFamily="18" charset="0"/>
                      </a:rPr>
                      <m:t>≤</m:t>
                    </m:r>
                    <m:sSub>
                      <m:sSubPr>
                        <m:ctrlPr>
                          <a:rPr lang="zh-CN"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𝑴</m:t>
                        </m:r>
                      </m:e>
                      <m:sub>
                        <m:r>
                          <a:rPr lang="en-US" altLang="zh-CN" sz="2400" b="1" i="1">
                            <a:solidFill>
                              <a:srgbClr val="FF0000"/>
                            </a:solidFill>
                            <a:latin typeface="Cambria Math" panose="02040503050406030204" pitchFamily="18" charset="0"/>
                          </a:rPr>
                          <m:t>𝒊𝒋</m:t>
                        </m:r>
                      </m:sub>
                    </m:sSub>
                  </m:oMath>
                </a14:m>
                <a:r>
                  <a:rPr lang="zh-CN" altLang="zh-CN" sz="2400" b="1" dirty="0">
                    <a:solidFill>
                      <a:schemeClr val="tx1"/>
                    </a:solidFill>
                  </a:rPr>
                  <a:t>。用户</a:t>
                </a:r>
                <a14:m>
                  <m:oMath xmlns:m="http://schemas.openxmlformats.org/officeDocument/2006/math">
                    <m:r>
                      <a:rPr lang="en-US" altLang="zh-CN" sz="2400" b="1" i="1">
                        <a:solidFill>
                          <a:schemeClr val="tx1"/>
                        </a:solidFill>
                        <a:latin typeface="Cambria Math" panose="02040503050406030204" pitchFamily="18" charset="0"/>
                      </a:rPr>
                      <m:t>𝒊</m:t>
                    </m:r>
                  </m:oMath>
                </a14:m>
                <a:r>
                  <a:rPr lang="zh-CN" altLang="zh-CN" sz="2400" b="1" dirty="0">
                    <a:solidFill>
                      <a:schemeClr val="tx1"/>
                    </a:solidFill>
                  </a:rPr>
                  <a:t>的优先级函数记作</a:t>
                </a:r>
                <a14:m>
                  <m:oMath xmlns:m="http://schemas.openxmlformats.org/officeDocument/2006/math">
                    <m:r>
                      <a:rPr lang="en-US" altLang="zh-CN" sz="2400" b="1" i="1">
                        <a:solidFill>
                          <a:schemeClr val="tx1"/>
                        </a:solidFill>
                        <a:latin typeface="Cambria Math" panose="02040503050406030204" pitchFamily="18" charset="0"/>
                      </a:rPr>
                      <m:t>𝑷</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𝒊</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𝒋</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，其中：</a:t>
                </a:r>
                <a:endParaRPr lang="en-US" altLang="zh-CN" sz="2400" b="1" dirty="0">
                  <a:solidFill>
                    <a:schemeClr val="tx1"/>
                  </a:solidFill>
                </a:endParaRPr>
              </a:p>
              <a:p>
                <a:pPr algn="ctr">
                  <a:lnSpc>
                    <a:spcPct val="120000"/>
                  </a:lnSpc>
                </a:pPr>
                <a14:m>
                  <m:oMath xmlns:m="http://schemas.openxmlformats.org/officeDocument/2006/math">
                    <m:r>
                      <a:rPr lang="en-US" altLang="zh-CN" sz="2400" b="1" i="1" smtClean="0">
                        <a:solidFill>
                          <a:srgbClr val="FF0000"/>
                        </a:solidFill>
                        <a:latin typeface="Cambria Math" panose="02040503050406030204" pitchFamily="18" charset="0"/>
                      </a:rPr>
                      <m:t>𝑷</m:t>
                    </m:r>
                    <m:d>
                      <m:dPr>
                        <m:ctrlPr>
                          <a:rPr lang="zh-CN" altLang="zh-CN" sz="2400" b="1" i="1">
                            <a:solidFill>
                              <a:srgbClr val="FF0000"/>
                            </a:solidFill>
                            <a:latin typeface="Cambria Math" panose="02040503050406030204" pitchFamily="18" charset="0"/>
                          </a:rPr>
                        </m:ctrlPr>
                      </m:dPr>
                      <m:e>
                        <m:r>
                          <a:rPr lang="en-US" altLang="zh-CN" sz="2400" b="1" i="1">
                            <a:solidFill>
                              <a:srgbClr val="FF0000"/>
                            </a:solidFill>
                            <a:latin typeface="Cambria Math" panose="02040503050406030204" pitchFamily="18" charset="0"/>
                          </a:rPr>
                          <m:t>𝒊</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𝒋</m:t>
                        </m:r>
                      </m:e>
                    </m:d>
                    <m:r>
                      <a:rPr lang="en-US" altLang="zh-CN" sz="2400" b="1" i="1">
                        <a:solidFill>
                          <a:srgbClr val="FF0000"/>
                        </a:solidFill>
                        <a:latin typeface="Cambria Math" panose="02040503050406030204" pitchFamily="18" charset="0"/>
                      </a:rPr>
                      <m:t>=</m:t>
                    </m:r>
                    <m:sSub>
                      <m:sSubPr>
                        <m:ctrlPr>
                          <a:rPr lang="zh-CN"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𝑪</m:t>
                        </m:r>
                      </m:e>
                      <m:sub>
                        <m:r>
                          <a:rPr lang="en-US" altLang="zh-CN" sz="2400" b="1" i="1">
                            <a:solidFill>
                              <a:srgbClr val="FF0000"/>
                            </a:solidFill>
                            <a:latin typeface="Cambria Math" panose="02040503050406030204" pitchFamily="18" charset="0"/>
                          </a:rPr>
                          <m:t>𝒊𝒋</m:t>
                        </m:r>
                      </m:sub>
                    </m:sSub>
                    <m:r>
                      <a:rPr lang="en-US" altLang="zh-CN" sz="2400" b="1" i="1">
                        <a:solidFill>
                          <a:srgbClr val="FF0000"/>
                        </a:solidFill>
                        <a:latin typeface="Cambria Math" panose="02040503050406030204" pitchFamily="18" charset="0"/>
                      </a:rPr>
                      <m:t>/</m:t>
                    </m:r>
                    <m:sSub>
                      <m:sSubPr>
                        <m:ctrlPr>
                          <a:rPr lang="zh-CN" altLang="zh-CN" sz="2400" b="1" i="1">
                            <a:solidFill>
                              <a:srgbClr val="FF0000"/>
                            </a:solidFill>
                            <a:latin typeface="Cambria Math" panose="02040503050406030204" pitchFamily="18" charset="0"/>
                          </a:rPr>
                        </m:ctrlPr>
                      </m:sSubPr>
                      <m:e>
                        <m:r>
                          <a:rPr lang="en-US" altLang="zh-CN" sz="2400" b="1" i="1">
                            <a:solidFill>
                              <a:srgbClr val="FF0000"/>
                            </a:solidFill>
                            <a:latin typeface="Cambria Math" panose="02040503050406030204" pitchFamily="18" charset="0"/>
                          </a:rPr>
                          <m:t>𝑴</m:t>
                        </m:r>
                      </m:e>
                      <m:sub>
                        <m:r>
                          <a:rPr lang="en-US" altLang="zh-CN" sz="2400" b="1" i="1">
                            <a:solidFill>
                              <a:srgbClr val="FF0000"/>
                            </a:solidFill>
                            <a:latin typeface="Cambria Math" panose="02040503050406030204" pitchFamily="18" charset="0"/>
                          </a:rPr>
                          <m:t>𝒊𝒋</m:t>
                        </m:r>
                      </m:sub>
                    </m:sSub>
                  </m:oMath>
                </a14:m>
                <a:r>
                  <a:rPr lang="zh-CN" altLang="zh-CN" sz="2400" b="1" dirty="0">
                    <a:solidFill>
                      <a:schemeClr val="tx1"/>
                    </a:solidFill>
                  </a:rPr>
                  <a:t>。</a:t>
                </a:r>
              </a:p>
              <a:p>
                <a:pPr>
                  <a:lnSpc>
                    <a:spcPct val="120000"/>
                  </a:lnSpc>
                </a:pPr>
                <a:r>
                  <a:rPr lang="zh-CN" altLang="zh-CN" sz="2400" b="1" dirty="0">
                    <a:solidFill>
                      <a:schemeClr val="tx1"/>
                    </a:solidFill>
                  </a:rPr>
                  <a:t>用函数</a:t>
                </a:r>
                <a14:m>
                  <m:oMath xmlns:m="http://schemas.openxmlformats.org/officeDocument/2006/math">
                    <m:r>
                      <a:rPr lang="en-US" altLang="zh-CN" sz="2400" b="1" i="1">
                        <a:solidFill>
                          <a:schemeClr val="tx1"/>
                        </a:solidFill>
                        <a:latin typeface="Cambria Math" panose="02040503050406030204" pitchFamily="18" charset="0"/>
                      </a:rPr>
                      <m:t>𝑿</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𝒊</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𝒋</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表示对用户</a:t>
                </a:r>
                <a14:m>
                  <m:oMath xmlns:m="http://schemas.openxmlformats.org/officeDocument/2006/math">
                    <m:r>
                      <a:rPr lang="en-US" altLang="zh-CN" sz="2400" b="1" i="1">
                        <a:solidFill>
                          <a:schemeClr val="tx1"/>
                        </a:solidFill>
                        <a:latin typeface="Cambria Math" panose="02040503050406030204" pitchFamily="18" charset="0"/>
                      </a:rPr>
                      <m:t>𝒊</m:t>
                    </m:r>
                  </m:oMath>
                </a14:m>
                <a:r>
                  <a:rPr lang="zh-CN" altLang="zh-CN" sz="2400" b="1" dirty="0">
                    <a:solidFill>
                      <a:schemeClr val="tx1"/>
                    </a:solidFill>
                  </a:rPr>
                  <a:t>的第</a:t>
                </a:r>
                <a14:m>
                  <m:oMath xmlns:m="http://schemas.openxmlformats.org/officeDocument/2006/math">
                    <m:r>
                      <a:rPr lang="en-US" altLang="zh-CN" sz="2400" b="1" i="1">
                        <a:solidFill>
                          <a:schemeClr val="tx1"/>
                        </a:solidFill>
                        <a:latin typeface="Cambria Math" panose="02040503050406030204" pitchFamily="18" charset="0"/>
                      </a:rPr>
                      <m:t>𝒋</m:t>
                    </m:r>
                  </m:oMath>
                </a14:m>
                <a:r>
                  <a:rPr lang="zh-CN" altLang="zh-CN" sz="2400" b="1" dirty="0">
                    <a:solidFill>
                      <a:schemeClr val="tx1"/>
                    </a:solidFill>
                  </a:rPr>
                  <a:t>个申请的分配结果：</a:t>
                </a:r>
                <a:endParaRPr lang="en-US" altLang="zh-CN" sz="2400" b="1" dirty="0">
                  <a:solidFill>
                    <a:schemeClr val="tx1"/>
                  </a:solidFill>
                </a:endParaRPr>
              </a:p>
              <a:p>
                <a:pPr algn="ctr">
                  <a:lnSpc>
                    <a:spcPct val="120000"/>
                  </a:lnSpc>
                </a:pPr>
                <a14:m>
                  <m:oMath xmlns:m="http://schemas.openxmlformats.org/officeDocument/2006/math">
                    <m:r>
                      <a:rPr lang="en-US" altLang="zh-CN" sz="2400" b="1" i="1" smtClean="0">
                        <a:solidFill>
                          <a:srgbClr val="FF0000"/>
                        </a:solidFill>
                        <a:latin typeface="Cambria Math" panose="02040503050406030204" pitchFamily="18" charset="0"/>
                      </a:rPr>
                      <m:t>𝑿</m:t>
                    </m:r>
                    <m:d>
                      <m:dPr>
                        <m:ctrlPr>
                          <a:rPr lang="zh-CN" altLang="zh-CN" sz="2400" b="1" i="1">
                            <a:solidFill>
                              <a:srgbClr val="FF0000"/>
                            </a:solidFill>
                            <a:latin typeface="Cambria Math" panose="02040503050406030204" pitchFamily="18" charset="0"/>
                          </a:rPr>
                        </m:ctrlPr>
                      </m:dPr>
                      <m:e>
                        <m:r>
                          <a:rPr lang="en-US" altLang="zh-CN" sz="2400" b="1" i="1">
                            <a:solidFill>
                              <a:srgbClr val="FF0000"/>
                            </a:solidFill>
                            <a:latin typeface="Cambria Math" panose="02040503050406030204" pitchFamily="18" charset="0"/>
                          </a:rPr>
                          <m:t>𝒊</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𝒋</m:t>
                        </m:r>
                      </m:e>
                    </m:d>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𝟏</m:t>
                    </m:r>
                  </m:oMath>
                </a14:m>
                <a:r>
                  <a:rPr lang="zh-CN" altLang="zh-CN" sz="2400" b="1" dirty="0">
                    <a:solidFill>
                      <a:srgbClr val="FF0000"/>
                    </a:solidFill>
                  </a:rPr>
                  <a:t>表示分配</a:t>
                </a:r>
                <a:endParaRPr lang="en-US" altLang="zh-CN" sz="2400" b="1" dirty="0">
                  <a:solidFill>
                    <a:srgbClr val="FF0000"/>
                  </a:solidFill>
                </a:endParaRPr>
              </a:p>
              <a:p>
                <a:pPr algn="ctr">
                  <a:lnSpc>
                    <a:spcPct val="120000"/>
                  </a:lnSpc>
                </a:pPr>
                <a14:m>
                  <m:oMath xmlns:m="http://schemas.openxmlformats.org/officeDocument/2006/math">
                    <m:r>
                      <a:rPr lang="en-US" altLang="zh-CN" sz="2400" b="1" i="1">
                        <a:solidFill>
                          <a:srgbClr val="FF0000"/>
                        </a:solidFill>
                        <a:latin typeface="Cambria Math" panose="02040503050406030204" pitchFamily="18" charset="0"/>
                      </a:rPr>
                      <m:t>𝑿</m:t>
                    </m:r>
                    <m:d>
                      <m:dPr>
                        <m:ctrlPr>
                          <a:rPr lang="zh-CN" altLang="zh-CN" sz="2400" b="1" i="1">
                            <a:solidFill>
                              <a:srgbClr val="FF0000"/>
                            </a:solidFill>
                            <a:latin typeface="Cambria Math" panose="02040503050406030204" pitchFamily="18" charset="0"/>
                          </a:rPr>
                        </m:ctrlPr>
                      </m:dPr>
                      <m:e>
                        <m:r>
                          <a:rPr lang="en-US" altLang="zh-CN" sz="2400" b="1" i="1">
                            <a:solidFill>
                              <a:srgbClr val="FF0000"/>
                            </a:solidFill>
                            <a:latin typeface="Cambria Math" panose="02040503050406030204" pitchFamily="18" charset="0"/>
                          </a:rPr>
                          <m:t>𝒊</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𝒋</m:t>
                        </m:r>
                      </m:e>
                    </m:d>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𝟎</m:t>
                    </m:r>
                  </m:oMath>
                </a14:m>
                <a:r>
                  <a:rPr lang="zh-CN" altLang="zh-CN" sz="2400" b="1" dirty="0">
                    <a:solidFill>
                      <a:srgbClr val="FF0000"/>
                    </a:solidFill>
                  </a:rPr>
                  <a:t>表示不分配</a:t>
                </a:r>
                <a:endParaRPr lang="zh-CN" altLang="en-US" sz="2400" b="1" dirty="0">
                  <a:solidFill>
                    <a:srgbClr val="FF0000"/>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714914" y="1773437"/>
                <a:ext cx="8064896" cy="4608313"/>
              </a:xfrm>
              <a:prstGeom prst="rect">
                <a:avLst/>
              </a:prstGeom>
              <a:blipFill>
                <a:blip r:embed="rId2"/>
                <a:stretch>
                  <a:fillRect l="-1134" t="-794" r="-378" b="-794"/>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574326B-1FA7-4615-A521-B6AC99A31CF2}"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861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861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3867BC30-0CB7-4F45-896A-EFE522AF7E2D}" type="slidenum">
              <a:rPr lang="en-US" altLang="zh-CN" sz="1400" b="1">
                <a:latin typeface="Times New Roman" pitchFamily="18" charset="0"/>
                <a:ea typeface="宋体" pitchFamily="2" charset="-122"/>
              </a:rPr>
              <a:pPr algn="r" eaLnBrk="1" hangingPunct="1"/>
              <a:t>53</a:t>
            </a:fld>
            <a:endParaRPr lang="en-US" altLang="zh-CN" sz="1400" b="1">
              <a:latin typeface="Times New Roman" pitchFamily="18" charset="0"/>
              <a:ea typeface="宋体" pitchFamily="2" charset="-122"/>
            </a:endParaRPr>
          </a:p>
        </p:txBody>
      </p:sp>
      <p:sp>
        <p:nvSpPr>
          <p:cNvPr id="68613"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网络带宽分配问题</a:t>
            </a:r>
          </a:p>
        </p:txBody>
      </p:sp>
      <mc:AlternateContent xmlns:mc="http://schemas.openxmlformats.org/markup-compatibility/2006" xmlns:a14="http://schemas.microsoft.com/office/drawing/2010/main">
        <mc:Choice Requires="a14">
          <p:sp>
            <p:nvSpPr>
              <p:cNvPr id="3" name="TextBox 2"/>
              <p:cNvSpPr txBox="1"/>
              <p:nvPr/>
            </p:nvSpPr>
            <p:spPr>
              <a:xfrm>
                <a:off x="755576" y="2060848"/>
                <a:ext cx="8064896" cy="4005135"/>
              </a:xfrm>
              <a:prstGeom prst="rect">
                <a:avLst/>
              </a:prstGeom>
              <a:solidFill>
                <a:schemeClr val="bg1"/>
              </a:solidFill>
              <a:ln>
                <a:noFill/>
              </a:ln>
            </p:spPr>
            <p:txBody>
              <a:bodyPr wrap="square" rtlCol="0">
                <a:spAutoFit/>
              </a:bodyPr>
              <a:lstStyle/>
              <a:p>
                <a:pPr>
                  <a:lnSpc>
                    <a:spcPct val="120000"/>
                  </a:lnSpc>
                  <a:spcBef>
                    <a:spcPts val="600"/>
                  </a:spcBef>
                </a:pPr>
                <a:r>
                  <a:rPr lang="en-US" altLang="zh-CN" sz="2000" b="1" dirty="0"/>
                  <a:t>    【</a:t>
                </a:r>
                <a:r>
                  <a:rPr lang="zh-CN" altLang="en-US" sz="2000" b="1" dirty="0"/>
                  <a:t>问题分析</a:t>
                </a:r>
                <a:r>
                  <a:rPr lang="en-US" altLang="zh-CN" sz="2000" b="1" dirty="0"/>
                  <a:t>】</a:t>
                </a:r>
                <a:r>
                  <a:rPr lang="zh-CN" altLang="en-US" sz="2000" b="1" dirty="0"/>
                  <a:t>续</a:t>
                </a:r>
                <a:endParaRPr lang="en-US" altLang="zh-CN" sz="2000" b="1" dirty="0"/>
              </a:p>
              <a:p>
                <a:pPr>
                  <a:lnSpc>
                    <a:spcPct val="120000"/>
                  </a:lnSpc>
                  <a:spcBef>
                    <a:spcPts val="600"/>
                  </a:spcBef>
                </a:pPr>
                <a:r>
                  <a:rPr lang="en-US" altLang="zh-CN" sz="2000" b="1" dirty="0">
                    <a:solidFill>
                      <a:schemeClr val="tx1"/>
                    </a:solidFill>
                  </a:rPr>
                  <a:t>     </a:t>
                </a:r>
                <a:r>
                  <a:rPr lang="zh-CN" altLang="zh-CN" sz="2000" b="1" dirty="0">
                    <a:solidFill>
                      <a:schemeClr val="tx1"/>
                    </a:solidFill>
                  </a:rPr>
                  <a:t>那么问题的优化目标是使得下述函数，即优先级利益：</a:t>
                </a:r>
                <a:r>
                  <a:rPr lang="en-US" altLang="zh-CN" sz="2000" b="1" dirty="0">
                    <a:solidFill>
                      <a:schemeClr val="tx1"/>
                    </a:solidFill>
                  </a:rPr>
                  <a:t> </a:t>
                </a:r>
              </a:p>
              <a:p>
                <a:pPr algn="ctr">
                  <a:lnSpc>
                    <a:spcPct val="120000"/>
                  </a:lnSpc>
                  <a:spcBef>
                    <a:spcPts val="600"/>
                  </a:spcBef>
                </a:pPr>
                <a:r>
                  <a:rPr lang="en-US" altLang="zh-CN" sz="2000" b="1" dirty="0">
                    <a:solidFill>
                      <a:schemeClr val="tx1"/>
                    </a:solidFill>
                  </a:rPr>
                  <a:t>  </a:t>
                </a:r>
                <a14:m>
                  <m:oMath xmlns:m="http://schemas.openxmlformats.org/officeDocument/2006/math">
                    <m:nary>
                      <m:naryPr>
                        <m:chr m:val="∑"/>
                        <m:limLoc m:val="undOvr"/>
                        <m:ctrlPr>
                          <a:rPr lang="zh-CN" altLang="zh-CN" sz="2000" b="1" i="1">
                            <a:latin typeface="Cambria Math" panose="02040503050406030204" pitchFamily="18" charset="0"/>
                          </a:rPr>
                        </m:ctrlPr>
                      </m:naryPr>
                      <m:sub>
                        <m:r>
                          <a:rPr lang="en-US" altLang="zh-CN" sz="2000" b="1" i="1">
                            <a:latin typeface="Cambria Math" panose="02040503050406030204" pitchFamily="18" charset="0"/>
                          </a:rPr>
                          <m:t>𝒊</m:t>
                        </m:r>
                        <m:r>
                          <a:rPr lang="en-US" altLang="zh-CN" sz="2000" b="1" i="1">
                            <a:latin typeface="Cambria Math" panose="02040503050406030204" pitchFamily="18" charset="0"/>
                          </a:rPr>
                          <m:t>=</m:t>
                        </m:r>
                        <m:r>
                          <a:rPr lang="en-US" altLang="zh-CN" sz="2000" b="1" i="1">
                            <a:latin typeface="Cambria Math" panose="02040503050406030204" pitchFamily="18" charset="0"/>
                          </a:rPr>
                          <m:t>𝟏</m:t>
                        </m:r>
                      </m:sub>
                      <m:sup>
                        <m:r>
                          <a:rPr lang="en-US" altLang="zh-CN" sz="2000" b="1" i="1">
                            <a:latin typeface="Cambria Math" panose="02040503050406030204" pitchFamily="18" charset="0"/>
                          </a:rPr>
                          <m:t>𝒏</m:t>
                        </m:r>
                      </m:sup>
                      <m:e>
                        <m:nary>
                          <m:naryPr>
                            <m:chr m:val="∑"/>
                            <m:limLoc m:val="undOvr"/>
                            <m:ctrlPr>
                              <a:rPr lang="zh-CN" altLang="zh-CN" sz="2000" b="1" i="1">
                                <a:latin typeface="Cambria Math" panose="02040503050406030204" pitchFamily="18" charset="0"/>
                              </a:rPr>
                            </m:ctrlPr>
                          </m:naryPr>
                          <m:sub>
                            <m:r>
                              <a:rPr lang="en-US" altLang="zh-CN" sz="2000" b="1" i="1">
                                <a:latin typeface="Cambria Math" panose="02040503050406030204" pitchFamily="18" charset="0"/>
                              </a:rPr>
                              <m:t>𝒋</m:t>
                            </m:r>
                            <m:r>
                              <a:rPr lang="en-US" altLang="zh-CN" sz="2000" b="1" i="1">
                                <a:latin typeface="Cambria Math" panose="02040503050406030204" pitchFamily="18" charset="0"/>
                              </a:rPr>
                              <m:t>=</m:t>
                            </m:r>
                            <m:r>
                              <a:rPr lang="en-US" altLang="zh-CN" sz="2000" b="1" i="1">
                                <a:latin typeface="Cambria Math" panose="02040503050406030204" pitchFamily="18" charset="0"/>
                              </a:rPr>
                              <m:t>𝟏</m:t>
                            </m:r>
                          </m:sub>
                          <m:sup>
                            <m:sSub>
                              <m:sSubPr>
                                <m:ctrlPr>
                                  <a:rPr lang="zh-CN" altLang="zh-CN" sz="2000" b="1" i="1">
                                    <a:latin typeface="Cambria Math" panose="02040503050406030204" pitchFamily="18" charset="0"/>
                                  </a:rPr>
                                </m:ctrlPr>
                              </m:sSubPr>
                              <m:e>
                                <m:r>
                                  <a:rPr lang="en-US" altLang="zh-CN" sz="2000" b="1" i="1">
                                    <a:latin typeface="Cambria Math" panose="02040503050406030204" pitchFamily="18" charset="0"/>
                                  </a:rPr>
                                  <m:t>𝒕</m:t>
                                </m:r>
                              </m:e>
                              <m:sub>
                                <m:r>
                                  <a:rPr lang="en-US" altLang="zh-CN" sz="2000" b="1" i="1">
                                    <a:latin typeface="Cambria Math" panose="02040503050406030204" pitchFamily="18" charset="0"/>
                                  </a:rPr>
                                  <m:t>𝒊</m:t>
                                </m:r>
                              </m:sub>
                            </m:sSub>
                          </m:sup>
                          <m:e>
                            <m:r>
                              <a:rPr lang="en-US" altLang="zh-CN" sz="2000" b="1" i="1">
                                <a:latin typeface="Cambria Math" panose="02040503050406030204" pitchFamily="18" charset="0"/>
                              </a:rPr>
                              <m:t>𝑿</m:t>
                            </m:r>
                            <m:d>
                              <m:dPr>
                                <m:ctrlPr>
                                  <a:rPr lang="zh-CN" altLang="zh-CN" sz="2000" b="1" i="1">
                                    <a:latin typeface="Cambria Math" panose="02040503050406030204" pitchFamily="18" charset="0"/>
                                  </a:rPr>
                                </m:ctrlPr>
                              </m:dPr>
                              <m:e>
                                <m:r>
                                  <a:rPr lang="en-US" altLang="zh-CN" sz="2000" b="1" i="1">
                                    <a:latin typeface="Cambria Math" panose="02040503050406030204" pitchFamily="18" charset="0"/>
                                  </a:rPr>
                                  <m:t>𝒊</m:t>
                                </m:r>
                                <m:r>
                                  <a:rPr lang="en-US" altLang="zh-CN" sz="2000" b="1" i="1">
                                    <a:latin typeface="Cambria Math" panose="02040503050406030204" pitchFamily="18" charset="0"/>
                                  </a:rPr>
                                  <m:t>,</m:t>
                                </m:r>
                                <m:r>
                                  <a:rPr lang="en-US" altLang="zh-CN" sz="2000" b="1" i="1">
                                    <a:latin typeface="Cambria Math" panose="02040503050406030204" pitchFamily="18" charset="0"/>
                                  </a:rPr>
                                  <m:t>𝒋</m:t>
                                </m:r>
                              </m:e>
                            </m:d>
                            <m:r>
                              <a:rPr lang="en-US" altLang="zh-CN" sz="2000" b="1" i="1">
                                <a:latin typeface="Cambria Math" panose="02040503050406030204" pitchFamily="18" charset="0"/>
                              </a:rPr>
                              <m:t>∙</m:t>
                            </m:r>
                            <m:r>
                              <a:rPr lang="en-US" altLang="zh-CN" sz="2000" b="1" i="1">
                                <a:latin typeface="Cambria Math" panose="02040503050406030204" pitchFamily="18" charset="0"/>
                              </a:rPr>
                              <m:t>𝑷</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r>
                              <a:rPr lang="en-US" altLang="zh-CN" sz="2000" b="1" i="1">
                                <a:latin typeface="Cambria Math" panose="02040503050406030204" pitchFamily="18" charset="0"/>
                              </a:rPr>
                              <m:t>𝒋</m:t>
                            </m:r>
                            <m:r>
                              <a:rPr lang="en-US" altLang="zh-CN" sz="2000" b="1" i="1">
                                <a:latin typeface="Cambria Math" panose="02040503050406030204" pitchFamily="18" charset="0"/>
                              </a:rPr>
                              <m:t>)</m:t>
                            </m:r>
                          </m:e>
                        </m:nary>
                      </m:e>
                    </m:nary>
                  </m:oMath>
                </a14:m>
                <a:endParaRPr lang="en-US" altLang="zh-CN" sz="2000" b="1" i="1" dirty="0"/>
              </a:p>
              <a:p>
                <a:pPr>
                  <a:lnSpc>
                    <a:spcPct val="120000"/>
                  </a:lnSpc>
                  <a:spcBef>
                    <a:spcPts val="600"/>
                  </a:spcBef>
                </a:pPr>
                <a:r>
                  <a:rPr lang="zh-CN" altLang="zh-CN" sz="2000" b="1" dirty="0">
                    <a:solidFill>
                      <a:schemeClr val="tx1"/>
                    </a:solidFill>
                  </a:rPr>
                  <a:t>达到最大，同时满足不超过总宽带的约束条件，即：</a:t>
                </a:r>
                <a:endParaRPr lang="en-US" altLang="zh-CN" sz="2000" b="1" dirty="0">
                  <a:solidFill>
                    <a:schemeClr val="tx1"/>
                  </a:solidFill>
                </a:endParaRPr>
              </a:p>
              <a:p>
                <a:pPr algn="ctr">
                  <a:lnSpc>
                    <a:spcPct val="120000"/>
                  </a:lnSpc>
                  <a:spcBef>
                    <a:spcPts val="600"/>
                  </a:spcBef>
                </a:pPr>
                <a:r>
                  <a:rPr lang="en-US" altLang="zh-CN" sz="2000" b="1" dirty="0">
                    <a:solidFill>
                      <a:srgbClr val="FF0000"/>
                    </a:solidFill>
                  </a:rPr>
                  <a:t> </a:t>
                </a:r>
                <a14:m>
                  <m:oMath xmlns:m="http://schemas.openxmlformats.org/officeDocument/2006/math">
                    <m:nary>
                      <m:naryPr>
                        <m:chr m:val="∑"/>
                        <m:limLoc m:val="undOvr"/>
                        <m:ctrlPr>
                          <a:rPr lang="zh-CN" altLang="zh-CN" sz="2000" b="1" i="1" smtClean="0">
                            <a:solidFill>
                              <a:srgbClr val="FF0000"/>
                            </a:solidFill>
                            <a:latin typeface="Cambria Math" panose="02040503050406030204" pitchFamily="18" charset="0"/>
                          </a:rPr>
                        </m:ctrlPr>
                      </m:naryPr>
                      <m:sub>
                        <m:r>
                          <a:rPr lang="en-US" altLang="zh-CN" sz="2000" b="1" i="1">
                            <a:solidFill>
                              <a:srgbClr val="FF0000"/>
                            </a:solidFill>
                            <a:latin typeface="Cambria Math" panose="02040503050406030204" pitchFamily="18" charset="0"/>
                          </a:rPr>
                          <m:t>𝒊</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sub>
                      <m:sup>
                        <m:r>
                          <a:rPr lang="en-US" altLang="zh-CN" sz="2000" b="1" i="1">
                            <a:solidFill>
                              <a:srgbClr val="FF0000"/>
                            </a:solidFill>
                            <a:latin typeface="Cambria Math" panose="02040503050406030204" pitchFamily="18" charset="0"/>
                          </a:rPr>
                          <m:t>𝒏</m:t>
                        </m:r>
                      </m:sup>
                      <m:e>
                        <m:nary>
                          <m:naryPr>
                            <m:chr m:val="∑"/>
                            <m:limLoc m:val="undOvr"/>
                            <m:ctrlPr>
                              <a:rPr lang="zh-CN" altLang="zh-CN" sz="2000" b="1" i="1">
                                <a:solidFill>
                                  <a:srgbClr val="FF0000"/>
                                </a:solidFill>
                                <a:latin typeface="Cambria Math" panose="02040503050406030204" pitchFamily="18" charset="0"/>
                              </a:rPr>
                            </m:ctrlPr>
                          </m:naryPr>
                          <m:sub>
                            <m:r>
                              <a:rPr lang="en-US" altLang="zh-CN" sz="2000" b="1" i="1">
                                <a:solidFill>
                                  <a:srgbClr val="FF0000"/>
                                </a:solidFill>
                                <a:latin typeface="Cambria Math" panose="02040503050406030204" pitchFamily="18" charset="0"/>
                              </a:rPr>
                              <m:t>𝒋</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sub>
                          <m:sup>
                            <m:sSub>
                              <m:sSubPr>
                                <m:ctrlPr>
                                  <a:rPr lang="zh-CN" altLang="zh-CN" sz="2000" b="1" i="1">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𝒕</m:t>
                                </m:r>
                              </m:e>
                              <m:sub>
                                <m:r>
                                  <a:rPr lang="en-US" altLang="zh-CN" sz="2000" b="1" i="1">
                                    <a:solidFill>
                                      <a:srgbClr val="FF0000"/>
                                    </a:solidFill>
                                    <a:latin typeface="Cambria Math" panose="02040503050406030204" pitchFamily="18" charset="0"/>
                                  </a:rPr>
                                  <m:t>𝒊</m:t>
                                </m:r>
                              </m:sub>
                            </m:sSub>
                          </m:sup>
                          <m:e>
                            <m:r>
                              <a:rPr lang="en-US" altLang="zh-CN" sz="2000" b="1" i="1">
                                <a:solidFill>
                                  <a:srgbClr val="FF0000"/>
                                </a:solidFill>
                                <a:latin typeface="Cambria Math" panose="02040503050406030204" pitchFamily="18" charset="0"/>
                              </a:rPr>
                              <m:t>𝑿</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𝒊</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𝒋</m:t>
                                </m:r>
                              </m:e>
                            </m:d>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𝒓</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𝒊</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𝒋</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𝑩</m:t>
                            </m:r>
                          </m:e>
                        </m:nary>
                      </m:e>
                    </m:nary>
                    <m:r>
                      <a:rPr lang="en-US" altLang="zh-CN" sz="2000" b="1" i="1">
                        <a:solidFill>
                          <a:srgbClr val="FF0000"/>
                        </a:solidFill>
                        <a:latin typeface="Cambria Math" panose="02040503050406030204" pitchFamily="18" charset="0"/>
                      </a:rPr>
                      <m:t>      </m:t>
                    </m:r>
                  </m:oMath>
                </a14:m>
                <a:endParaRPr lang="en-US" altLang="zh-CN" sz="2000" b="1" dirty="0">
                  <a:solidFill>
                    <a:srgbClr val="FF0000"/>
                  </a:solidFill>
                </a:endParaRPr>
              </a:p>
              <a:p>
                <a:pPr>
                  <a:lnSpc>
                    <a:spcPct val="120000"/>
                  </a:lnSpc>
                  <a:spcBef>
                    <a:spcPts val="600"/>
                  </a:spcBef>
                </a:pPr>
                <a:r>
                  <a:rPr lang="en-US" altLang="zh-CN" sz="2000" b="1" dirty="0">
                    <a:solidFill>
                      <a:schemeClr val="tx1"/>
                    </a:solidFill>
                  </a:rPr>
                  <a:t>    </a:t>
                </a:r>
                <a:r>
                  <a:rPr lang="zh-CN" altLang="zh-CN" sz="2000" b="1" dirty="0">
                    <a:solidFill>
                      <a:schemeClr val="tx1"/>
                    </a:solidFill>
                  </a:rPr>
                  <a:t>这是个典型的组合优化问题，</a:t>
                </a:r>
                <a14:m>
                  <m:oMath xmlns:m="http://schemas.openxmlformats.org/officeDocument/2006/math">
                    <m:r>
                      <a:rPr lang="en-US" altLang="zh-CN" sz="2000" b="1" i="1">
                        <a:solidFill>
                          <a:schemeClr val="tx1"/>
                        </a:solidFill>
                        <a:latin typeface="Cambria Math" panose="02040503050406030204" pitchFamily="18" charset="0"/>
                      </a:rPr>
                      <m:t>𝒏</m:t>
                    </m:r>
                  </m:oMath>
                </a14:m>
                <a:r>
                  <a:rPr lang="zh-CN" altLang="zh-CN" sz="2000" b="1" dirty="0">
                    <a:solidFill>
                      <a:schemeClr val="tx1"/>
                    </a:solidFill>
                  </a:rPr>
                  <a:t>个用户总计有</a:t>
                </a: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𝒕</m:t>
                        </m:r>
                      </m:e>
                      <m:sub>
                        <m:r>
                          <a:rPr lang="en-US" altLang="zh-CN" sz="2000" b="1" i="1">
                            <a:solidFill>
                              <a:schemeClr val="tx1"/>
                            </a:solidFill>
                            <a:latin typeface="Cambria Math" panose="02040503050406030204" pitchFamily="18" charset="0"/>
                          </a:rPr>
                          <m:t>𝟏</m:t>
                        </m:r>
                      </m:sub>
                    </m:sSub>
                    <m:r>
                      <a:rPr lang="en-US" altLang="zh-CN" sz="2000" b="1" i="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𝒕</m:t>
                        </m:r>
                      </m:e>
                      <m:sub>
                        <m:r>
                          <a:rPr lang="en-US" altLang="zh-CN" sz="2000" b="1" i="1">
                            <a:solidFill>
                              <a:schemeClr val="tx1"/>
                            </a:solidFill>
                            <a:latin typeface="Cambria Math" panose="02040503050406030204" pitchFamily="18" charset="0"/>
                          </a:rPr>
                          <m:t>𝟐</m:t>
                        </m:r>
                      </m:sub>
                    </m:sSub>
                    <m:r>
                      <a:rPr lang="en-US" altLang="zh-CN" sz="2000" b="1" i="1">
                        <a:solidFill>
                          <a:schemeClr val="tx1"/>
                        </a:solidFill>
                        <a:latin typeface="Cambria Math" panose="02040503050406030204" pitchFamily="18" charset="0"/>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panose="02040503050406030204" pitchFamily="18" charset="0"/>
                          </a:rPr>
                          <m:t>𝒕</m:t>
                        </m:r>
                      </m:e>
                      <m:sub>
                        <m:r>
                          <a:rPr lang="en-US" altLang="zh-CN" sz="2000" b="1" i="1">
                            <a:solidFill>
                              <a:schemeClr val="tx1"/>
                            </a:solidFill>
                            <a:latin typeface="Cambria Math" panose="02040503050406030204" pitchFamily="18" charset="0"/>
                          </a:rPr>
                          <m:t>𝒏</m:t>
                        </m:r>
                      </m:sub>
                    </m:sSub>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𝒎</m:t>
                    </m:r>
                  </m:oMath>
                </a14:m>
                <a:r>
                  <a:rPr lang="zh-CN" altLang="zh-CN" sz="2000" b="1" dirty="0">
                    <a:solidFill>
                      <a:schemeClr val="tx1"/>
                    </a:solidFill>
                  </a:rPr>
                  <a:t>个宽带请求，分别标号为</a:t>
                </a:r>
                <a14:m>
                  <m:oMath xmlns:m="http://schemas.openxmlformats.org/officeDocument/2006/math">
                    <m:r>
                      <a:rPr lang="en-US" altLang="zh-CN" sz="2000" b="1" i="1">
                        <a:solidFill>
                          <a:schemeClr val="tx1"/>
                        </a:solidFill>
                        <a:latin typeface="Cambria Math" panose="02040503050406030204" pitchFamily="18" charset="0"/>
                      </a:rPr>
                      <m:t>𝟏</m:t>
                    </m:r>
                    <m:r>
                      <a:rPr lang="en-US" altLang="zh-CN" sz="2000" b="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𝟐</m:t>
                    </m:r>
                    <m:r>
                      <a:rPr lang="en-US" altLang="zh-CN" sz="2000" b="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𝒎</m:t>
                    </m:r>
                  </m:oMath>
                </a14:m>
                <a:r>
                  <a:rPr lang="zh-CN" altLang="zh-CN" sz="2000" b="1" dirty="0">
                    <a:solidFill>
                      <a:schemeClr val="tx1"/>
                    </a:solidFill>
                  </a:rPr>
                  <a:t>。在考虑前</a:t>
                </a:r>
                <a14:m>
                  <m:oMath xmlns:m="http://schemas.openxmlformats.org/officeDocument/2006/math">
                    <m:r>
                      <a:rPr lang="en-US" altLang="zh-CN" sz="2000" b="1" i="1">
                        <a:solidFill>
                          <a:schemeClr val="tx1"/>
                        </a:solidFill>
                        <a:latin typeface="Cambria Math" panose="02040503050406030204" pitchFamily="18" charset="0"/>
                      </a:rPr>
                      <m:t>𝒏</m:t>
                    </m:r>
                  </m:oMath>
                </a14:m>
                <a:r>
                  <a:rPr lang="zh-CN" altLang="zh-CN" sz="2000" b="1" dirty="0">
                    <a:solidFill>
                      <a:schemeClr val="tx1"/>
                    </a:solidFill>
                  </a:rPr>
                  <a:t>项宽带请求</a:t>
                </a:r>
                <a14:m>
                  <m:oMath xmlns:m="http://schemas.openxmlformats.org/officeDocument/2006/math">
                    <m:r>
                      <a:rPr lang="en-US" altLang="zh-CN" sz="2000" b="1" i="1">
                        <a:solidFill>
                          <a:schemeClr val="tx1"/>
                        </a:solidFill>
                        <a:latin typeface="Cambria Math" panose="02040503050406030204" pitchFamily="18" charset="0"/>
                      </a:rPr>
                      <m:t>𝒌</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𝟏</m:t>
                    </m:r>
                    <m:r>
                      <a:rPr lang="en-US" altLang="zh-CN" sz="2000" b="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𝟐</m:t>
                    </m:r>
                    <m:r>
                      <a:rPr lang="en-US" altLang="zh-CN" sz="2000" b="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𝒎</m:t>
                    </m:r>
                    <m:r>
                      <a:rPr lang="en-US" altLang="zh-CN" sz="2000" b="1" i="1">
                        <a:solidFill>
                          <a:schemeClr val="tx1"/>
                        </a:solidFill>
                        <a:latin typeface="Cambria Math" panose="02040503050406030204" pitchFamily="18" charset="0"/>
                      </a:rPr>
                      <m:t>)</m:t>
                    </m:r>
                  </m:oMath>
                </a14:m>
                <a:r>
                  <a:rPr lang="zh-CN" altLang="zh-CN" sz="2000" b="1" dirty="0">
                    <a:solidFill>
                      <a:schemeClr val="tx1"/>
                    </a:solidFill>
                  </a:rPr>
                  <a:t>，总宽带限制为</a:t>
                </a:r>
                <a14:m>
                  <m:oMath xmlns:m="http://schemas.openxmlformats.org/officeDocument/2006/math">
                    <m:r>
                      <a:rPr lang="en-US" altLang="zh-CN" sz="2000" b="1" i="1">
                        <a:solidFill>
                          <a:schemeClr val="tx1"/>
                        </a:solidFill>
                        <a:latin typeface="Cambria Math" panose="02040503050406030204" pitchFamily="18" charset="0"/>
                      </a:rPr>
                      <m:t>𝒍</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𝒍</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𝟏</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𝟐</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𝑩</m:t>
                    </m:r>
                    <m:r>
                      <a:rPr lang="en-US" altLang="zh-CN" sz="2000" b="1" i="1">
                        <a:solidFill>
                          <a:schemeClr val="tx1"/>
                        </a:solidFill>
                        <a:latin typeface="Cambria Math" panose="02040503050406030204" pitchFamily="18" charset="0"/>
                      </a:rPr>
                      <m:t>)</m:t>
                    </m:r>
                  </m:oMath>
                </a14:m>
                <a:r>
                  <a:rPr lang="zh-CN" altLang="zh-CN" sz="2000" b="1" dirty="0">
                    <a:solidFill>
                      <a:schemeClr val="tx1"/>
                    </a:solidFill>
                  </a:rPr>
                  <a:t>的情况下，设最佳分配的优先级收益为</a:t>
                </a:r>
                <a14:m>
                  <m:oMath xmlns:m="http://schemas.openxmlformats.org/officeDocument/2006/math">
                    <m:r>
                      <a:rPr lang="en-US" altLang="zh-CN" sz="2000" b="1" i="1">
                        <a:solidFill>
                          <a:schemeClr val="tx1"/>
                        </a:solidFill>
                        <a:latin typeface="Cambria Math" panose="02040503050406030204" pitchFamily="18" charset="0"/>
                      </a:rPr>
                      <m:t>𝒗</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𝒌</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𝒍</m:t>
                    </m:r>
                    <m:r>
                      <a:rPr lang="en-US" altLang="zh-CN" sz="2000" b="1" i="1">
                        <a:solidFill>
                          <a:schemeClr val="tx1"/>
                        </a:solidFill>
                        <a:latin typeface="Cambria Math" panose="02040503050406030204" pitchFamily="18" charset="0"/>
                      </a:rPr>
                      <m:t>)</m:t>
                    </m:r>
                  </m:oMath>
                </a14:m>
                <a:r>
                  <a:rPr lang="zh-CN" altLang="zh-CN" sz="2000" b="1" dirty="0">
                    <a:solidFill>
                      <a:schemeClr val="tx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755576" y="2060848"/>
                <a:ext cx="8064896" cy="4005135"/>
              </a:xfrm>
              <a:prstGeom prst="rect">
                <a:avLst/>
              </a:prstGeom>
              <a:blipFill>
                <a:blip r:embed="rId2"/>
                <a:stretch>
                  <a:fillRect l="-831" t="-457" b="-1522"/>
                </a:stretch>
              </a:blipFill>
              <a:ln>
                <a:noFill/>
              </a:ln>
            </p:spPr>
            <p:txBody>
              <a:bodyPr/>
              <a:lstStyle/>
              <a:p>
                <a:r>
                  <a:rPr lang="zh-CN" altLang="en-US">
                    <a:noFill/>
                  </a:rPr>
                  <a:t> </a:t>
                </a:r>
              </a:p>
            </p:txBody>
          </p:sp>
        </mc:Fallback>
      </mc:AlternateContent>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C982DD2-9331-427F-B268-BEE8B610E88B}"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963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963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36DC4504-E79E-4C4E-998C-F5DE99D3EFA1}" type="slidenum">
              <a:rPr lang="en-US" altLang="zh-CN" sz="1400" b="1">
                <a:latin typeface="Times New Roman" pitchFamily="18" charset="0"/>
                <a:ea typeface="宋体" pitchFamily="2" charset="-122"/>
              </a:rPr>
              <a:pPr algn="r" eaLnBrk="1" hangingPunct="1"/>
              <a:t>54</a:t>
            </a:fld>
            <a:endParaRPr lang="en-US" altLang="zh-CN" sz="1400" b="1">
              <a:latin typeface="Times New Roman" pitchFamily="18" charset="0"/>
              <a:ea typeface="宋体" pitchFamily="2" charset="-122"/>
            </a:endParaRPr>
          </a:p>
        </p:txBody>
      </p:sp>
      <p:sp>
        <p:nvSpPr>
          <p:cNvPr id="69637"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网络带宽分配问题</a:t>
            </a:r>
          </a:p>
        </p:txBody>
      </p:sp>
      <mc:AlternateContent xmlns:mc="http://schemas.openxmlformats.org/markup-compatibility/2006" xmlns:a14="http://schemas.microsoft.com/office/drawing/2010/main">
        <mc:Choice Requires="a14">
          <p:sp>
            <p:nvSpPr>
              <p:cNvPr id="3" name="TextBox 2"/>
              <p:cNvSpPr txBox="1"/>
              <p:nvPr/>
            </p:nvSpPr>
            <p:spPr>
              <a:xfrm>
                <a:off x="827584" y="2255161"/>
                <a:ext cx="7848872" cy="3592587"/>
              </a:xfrm>
              <a:prstGeom prst="rect">
                <a:avLst/>
              </a:prstGeom>
              <a:solidFill>
                <a:schemeClr val="bg1"/>
              </a:solidFill>
            </p:spPr>
            <p:txBody>
              <a:bodyPr wrap="square" rtlCol="0">
                <a:spAutoFit/>
              </a:bodyPr>
              <a:lstStyle/>
              <a:p>
                <a:pPr>
                  <a:lnSpc>
                    <a:spcPct val="120000"/>
                  </a:lnSpc>
                </a:pPr>
                <a:r>
                  <a:rPr lang="en-US" altLang="zh-CN" sz="2400" b="1" dirty="0"/>
                  <a:t>   【</a:t>
                </a:r>
                <a:r>
                  <a:rPr lang="zh-CN" altLang="en-US" sz="2400" b="1" dirty="0"/>
                  <a:t>问题分析</a:t>
                </a:r>
                <a:r>
                  <a:rPr lang="en-US" altLang="zh-CN" sz="2400" b="1" dirty="0"/>
                  <a:t>】</a:t>
                </a:r>
                <a:r>
                  <a:rPr lang="zh-CN" altLang="en-US" sz="2400" b="1" dirty="0"/>
                  <a:t>续</a:t>
                </a:r>
                <a:endParaRPr lang="en-US" altLang="zh-CN" sz="2400" b="1" dirty="0"/>
              </a:p>
              <a:p>
                <a:pPr>
                  <a:lnSpc>
                    <a:spcPct val="120000"/>
                  </a:lnSpc>
                </a:pPr>
                <a:r>
                  <a:rPr lang="en-US" altLang="zh-CN" sz="2400" b="1" dirty="0">
                    <a:solidFill>
                      <a:schemeClr val="tx1"/>
                    </a:solidFill>
                  </a:rPr>
                  <a:t>   </a:t>
                </a:r>
                <a:r>
                  <a:rPr lang="zh-CN" altLang="zh-CN" sz="2400" b="1" dirty="0">
                    <a:solidFill>
                      <a:schemeClr val="tx1"/>
                    </a:solidFill>
                  </a:rPr>
                  <a:t>如果此时把宽带分配给第</a:t>
                </a:r>
                <a14:m>
                  <m:oMath xmlns:m="http://schemas.openxmlformats.org/officeDocument/2006/math">
                    <m:r>
                      <a:rPr lang="en-US" altLang="zh-CN" sz="2400" b="1" i="1">
                        <a:solidFill>
                          <a:schemeClr val="tx1"/>
                        </a:solidFill>
                        <a:latin typeface="Cambria Math" panose="02040503050406030204" pitchFamily="18" charset="0"/>
                      </a:rPr>
                      <m:t>𝒌</m:t>
                    </m:r>
                  </m:oMath>
                </a14:m>
                <a:r>
                  <a:rPr lang="zh-CN" altLang="zh-CN" sz="2400" b="1" dirty="0">
                    <a:solidFill>
                      <a:schemeClr val="tx1"/>
                    </a:solidFill>
                  </a:rPr>
                  <a:t>项业务该业务所需宽带是</a:t>
                </a:r>
                <a14:m>
                  <m:oMath xmlns:m="http://schemas.openxmlformats.org/officeDocument/2006/math">
                    <m:r>
                      <a:rPr lang="en-US" altLang="zh-CN" sz="2400" b="1" i="1">
                        <a:solidFill>
                          <a:schemeClr val="tx1"/>
                        </a:solidFill>
                        <a:latin typeface="Cambria Math" panose="02040503050406030204" pitchFamily="18" charset="0"/>
                      </a:rPr>
                      <m:t>𝒓</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oMath>
                </a14:m>
                <a:r>
                  <a:rPr lang="zh-CN" altLang="zh-CN" sz="2400" b="1" dirty="0">
                    <a:solidFill>
                      <a:schemeClr val="tx1"/>
                    </a:solidFill>
                  </a:rPr>
                  <a:t>（在</a:t>
                </a:r>
                <a14:m>
                  <m:oMath xmlns:m="http://schemas.openxmlformats.org/officeDocument/2006/math">
                    <m:r>
                      <a:rPr lang="en-US" altLang="zh-CN" sz="2400" b="1" i="1">
                        <a:solidFill>
                          <a:schemeClr val="tx1"/>
                        </a:solidFill>
                        <a:latin typeface="Cambria Math" panose="02040503050406030204" pitchFamily="18" charset="0"/>
                      </a:rPr>
                      <m:t>𝒓</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𝒓</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𝒊</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𝒋</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𝒍</m:t>
                    </m:r>
                  </m:oMath>
                </a14:m>
                <a:r>
                  <a:rPr lang="zh-CN" altLang="zh-CN" sz="2400" b="1" dirty="0">
                    <a:solidFill>
                      <a:schemeClr val="tx1"/>
                    </a:solidFill>
                  </a:rPr>
                  <a:t>的情况下），优先级收益是</a:t>
                </a:r>
                <a:r>
                  <a:rPr lang="zh-CN" altLang="en-US" sz="2400" b="1" dirty="0">
                    <a:solidFill>
                      <a:schemeClr val="tx1"/>
                    </a:solidFill>
                  </a:rPr>
                  <a:t>：</a:t>
                </a:r>
                <a:endParaRPr lang="en-US" altLang="zh-CN" sz="2400" b="1" i="1"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panose="02040503050406030204" pitchFamily="18" charset="0"/>
                        </a:rPr>
                        <m:t>𝑷</m:t>
                      </m:r>
                      <m:d>
                        <m:dPr>
                          <m:ctrlPr>
                            <a:rPr lang="zh-CN" altLang="zh-CN" sz="2400" b="1" i="1">
                              <a:solidFill>
                                <a:srgbClr val="FF0000"/>
                              </a:solidFill>
                              <a:latin typeface="Cambria Math" panose="02040503050406030204" pitchFamily="18" charset="0"/>
                            </a:rPr>
                          </m:ctrlPr>
                        </m:dPr>
                        <m:e>
                          <m:r>
                            <a:rPr lang="en-US" altLang="zh-CN" sz="2400" b="1" i="1">
                              <a:solidFill>
                                <a:srgbClr val="FF0000"/>
                              </a:solidFill>
                              <a:latin typeface="Cambria Math" panose="02040503050406030204" pitchFamily="18" charset="0"/>
                            </a:rPr>
                            <m:t>𝒌</m:t>
                          </m:r>
                        </m:e>
                      </m:d>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𝑷</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𝒊</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𝒋</m:t>
                      </m:r>
                      <m:r>
                        <a:rPr lang="en-US" altLang="zh-CN" sz="2400" b="1" i="1">
                          <a:solidFill>
                            <a:srgbClr val="FF0000"/>
                          </a:solidFill>
                          <a:latin typeface="Cambria Math" panose="02040503050406030204" pitchFamily="18" charset="0"/>
                        </a:rPr>
                        <m:t>)</m:t>
                      </m:r>
                    </m:oMath>
                  </m:oMathPara>
                </a14:m>
                <a:endParaRPr lang="en-US" altLang="zh-CN" sz="2400" b="1" dirty="0">
                  <a:solidFill>
                    <a:srgbClr val="FF0000"/>
                  </a:solidFill>
                </a:endParaRPr>
              </a:p>
              <a:p>
                <a:pPr>
                  <a:lnSpc>
                    <a:spcPct val="120000"/>
                  </a:lnSpc>
                </a:pPr>
                <a:r>
                  <a:rPr lang="en-US" altLang="zh-CN" sz="2400" b="1" dirty="0">
                    <a:solidFill>
                      <a:schemeClr val="tx1"/>
                    </a:solidFill>
                  </a:rPr>
                  <a:t>    </a:t>
                </a:r>
                <a:r>
                  <a:rPr lang="zh-CN" altLang="zh-CN" sz="2400" b="1" dirty="0">
                    <a:solidFill>
                      <a:schemeClr val="tx1"/>
                    </a:solidFill>
                  </a:rPr>
                  <a:t>那么，剩下的宽带是</a:t>
                </a:r>
                <a14:m>
                  <m:oMath xmlns:m="http://schemas.openxmlformats.org/officeDocument/2006/math">
                    <m:r>
                      <a:rPr lang="en-US" altLang="zh-CN" sz="2400" b="1" i="1">
                        <a:solidFill>
                          <a:schemeClr val="tx1"/>
                        </a:solidFill>
                        <a:latin typeface="Cambria Math" panose="02040503050406030204" pitchFamily="18" charset="0"/>
                      </a:rPr>
                      <m:t>𝒍</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𝒓</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oMath>
                </a14:m>
                <a:r>
                  <a:rPr lang="zh-CN" altLang="zh-CN" sz="2400" b="1" dirty="0">
                    <a:solidFill>
                      <a:schemeClr val="tx1"/>
                    </a:solidFill>
                  </a:rPr>
                  <a:t>。这些宽带将在</a:t>
                </a:r>
                <a14:m>
                  <m:oMath xmlns:m="http://schemas.openxmlformats.org/officeDocument/2006/math">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𝒌</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oMath>
                </a14:m>
                <a:r>
                  <a:rPr lang="zh-CN" altLang="zh-CN" sz="2400" b="1" dirty="0">
                    <a:solidFill>
                      <a:schemeClr val="tx1"/>
                    </a:solidFill>
                  </a:rPr>
                  <a:t>项业务中分配，所得到的优先级收益将是</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𝒌</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𝒍</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𝒓</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𝒌</m:t>
                        </m:r>
                      </m:e>
                    </m:d>
                    <m:r>
                      <a:rPr lang="en-US" altLang="zh-CN" sz="2400" b="1" i="1">
                        <a:solidFill>
                          <a:schemeClr val="tx1"/>
                        </a:solidFill>
                        <a:latin typeface="Cambria Math" panose="02040503050406030204" pitchFamily="18" charset="0"/>
                      </a:rPr>
                      <m:t>)</m:t>
                    </m:r>
                  </m:oMath>
                </a14:m>
                <a:r>
                  <a:rPr lang="zh-CN" altLang="zh-CN" sz="2400" b="1" dirty="0">
                    <a:solidFill>
                      <a:schemeClr val="tx1"/>
                    </a:solidFill>
                  </a:rPr>
                  <a:t>，因此总的优先级收益是</a:t>
                </a:r>
                <a:r>
                  <a:rPr lang="zh-CN" altLang="en-US" sz="2400" b="1" dirty="0">
                    <a:solidFill>
                      <a:schemeClr val="tx1"/>
                    </a:solidFill>
                  </a:rPr>
                  <a:t>：</a:t>
                </a:r>
                <a:endParaRPr lang="en-US" altLang="zh-CN" sz="2400" b="1" i="1" dirty="0">
                  <a:solidFill>
                    <a:schemeClr val="tx1"/>
                  </a:solidFill>
                </a:endParaRPr>
              </a:p>
              <a:p>
                <a:pPr algn="ctr">
                  <a:lnSpc>
                    <a:spcPct val="120000"/>
                  </a:lnSpc>
                </a:pPr>
                <a14:m>
                  <m:oMath xmlns:m="http://schemas.openxmlformats.org/officeDocument/2006/math">
                    <m:r>
                      <a:rPr lang="en-US" altLang="zh-CN" sz="2400" b="1" i="1" smtClean="0">
                        <a:solidFill>
                          <a:srgbClr val="FF0000"/>
                        </a:solidFill>
                        <a:latin typeface="Cambria Math" panose="02040503050406030204" pitchFamily="18" charset="0"/>
                      </a:rPr>
                      <m:t>𝒗</m:t>
                    </m:r>
                    <m:r>
                      <a:rPr lang="en-US" altLang="zh-CN" sz="2400" b="1" i="1" smtClean="0">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𝒌</m:t>
                    </m:r>
                    <m:r>
                      <a:rPr lang="en-US" altLang="zh-CN" sz="2400" b="1" i="1" smtClean="0">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𝟏</m:t>
                    </m:r>
                    <m:r>
                      <a:rPr lang="en-US" altLang="zh-CN" sz="2400" b="1" i="1" smtClean="0">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𝒍</m:t>
                    </m:r>
                    <m:r>
                      <a:rPr lang="en-US" altLang="zh-CN" sz="2400" b="1" i="1" smtClean="0">
                        <a:solidFill>
                          <a:srgbClr val="FF0000"/>
                        </a:solidFill>
                        <a:latin typeface="Cambria Math" panose="02040503050406030204" pitchFamily="18" charset="0"/>
                      </a:rPr>
                      <m:t>−</m:t>
                    </m:r>
                    <m:r>
                      <a:rPr lang="en-US" altLang="zh-CN" sz="2400" b="1" i="1" smtClean="0">
                        <a:solidFill>
                          <a:srgbClr val="FF0000"/>
                        </a:solidFill>
                        <a:latin typeface="Cambria Math" panose="02040503050406030204" pitchFamily="18" charset="0"/>
                      </a:rPr>
                      <m:t>𝒓</m:t>
                    </m:r>
                    <m:d>
                      <m:dPr>
                        <m:ctrlPr>
                          <a:rPr lang="zh-CN" altLang="zh-CN" sz="2400" b="1" i="1">
                            <a:solidFill>
                              <a:srgbClr val="FF0000"/>
                            </a:solidFill>
                            <a:latin typeface="Cambria Math" panose="02040503050406030204" pitchFamily="18" charset="0"/>
                          </a:rPr>
                        </m:ctrlPr>
                      </m:dPr>
                      <m:e>
                        <m:r>
                          <a:rPr lang="en-US" altLang="zh-CN" sz="2400" b="1" i="1">
                            <a:solidFill>
                              <a:srgbClr val="FF0000"/>
                            </a:solidFill>
                            <a:latin typeface="Cambria Math" panose="02040503050406030204" pitchFamily="18" charset="0"/>
                          </a:rPr>
                          <m:t>𝒌</m:t>
                        </m:r>
                      </m:e>
                    </m:d>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𝑷</m:t>
                    </m:r>
                    <m:r>
                      <a:rPr lang="en-US" altLang="zh-CN" sz="2400" b="1" i="1">
                        <a:solidFill>
                          <a:srgbClr val="FF0000"/>
                        </a:solidFill>
                        <a:latin typeface="Cambria Math" panose="02040503050406030204" pitchFamily="18" charset="0"/>
                      </a:rPr>
                      <m:t>(</m:t>
                    </m:r>
                    <m:r>
                      <a:rPr lang="en-US" altLang="zh-CN" sz="2400" b="1" i="1">
                        <a:solidFill>
                          <a:srgbClr val="FF0000"/>
                        </a:solidFill>
                        <a:latin typeface="Cambria Math" panose="02040503050406030204" pitchFamily="18" charset="0"/>
                      </a:rPr>
                      <m:t>𝒌</m:t>
                    </m:r>
                    <m:r>
                      <a:rPr lang="en-US" altLang="zh-CN" sz="2400" b="1" i="1">
                        <a:solidFill>
                          <a:srgbClr val="FF0000"/>
                        </a:solidFill>
                        <a:latin typeface="Cambria Math" panose="02040503050406030204" pitchFamily="18" charset="0"/>
                      </a:rPr>
                      <m:t>))</m:t>
                    </m:r>
                  </m:oMath>
                </a14:m>
                <a:r>
                  <a:rPr lang="en-US" altLang="zh-CN" sz="2400" b="1" dirty="0">
                    <a:solidFill>
                      <a:srgbClr val="FF0000"/>
                    </a:solidFill>
                  </a:rPr>
                  <a:t>v</a:t>
                </a:r>
                <a:endParaRPr lang="zh-CN" altLang="en-US" sz="2400" b="1" dirty="0">
                  <a:solidFill>
                    <a:srgbClr val="FF0000"/>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27584" y="2255161"/>
                <a:ext cx="7848872" cy="3592587"/>
              </a:xfrm>
              <a:prstGeom prst="rect">
                <a:avLst/>
              </a:prstGeom>
              <a:blipFill>
                <a:blip r:embed="rId2"/>
                <a:stretch>
                  <a:fillRect l="-233" t="-1019" b="-2547"/>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25EB2A7-EC4A-4860-88D0-B2E31DD523F3}"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7065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7066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E3D6D363-7C84-455D-A3C7-C21FC28DFD52}" type="slidenum">
              <a:rPr lang="en-US" altLang="zh-CN" sz="1400" b="1">
                <a:latin typeface="Times New Roman" pitchFamily="18" charset="0"/>
                <a:ea typeface="宋体" pitchFamily="2" charset="-122"/>
              </a:rPr>
              <a:pPr algn="r" eaLnBrk="1" hangingPunct="1"/>
              <a:t>55</a:t>
            </a:fld>
            <a:endParaRPr lang="en-US" altLang="zh-CN" sz="1400" b="1">
              <a:latin typeface="Times New Roman" pitchFamily="18" charset="0"/>
              <a:ea typeface="宋体" pitchFamily="2" charset="-122"/>
            </a:endParaRPr>
          </a:p>
        </p:txBody>
      </p:sp>
      <p:sp>
        <p:nvSpPr>
          <p:cNvPr id="70661"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网络带宽分配问题</a:t>
            </a:r>
          </a:p>
        </p:txBody>
      </p:sp>
      <mc:AlternateContent xmlns:mc="http://schemas.openxmlformats.org/markup-compatibility/2006" xmlns:a14="http://schemas.microsoft.com/office/drawing/2010/main">
        <mc:Choice Requires="a14">
          <p:sp>
            <p:nvSpPr>
              <p:cNvPr id="3" name="TextBox 2"/>
              <p:cNvSpPr txBox="1"/>
              <p:nvPr/>
            </p:nvSpPr>
            <p:spPr>
              <a:xfrm>
                <a:off x="395536" y="2132856"/>
                <a:ext cx="8604448" cy="3715825"/>
              </a:xfrm>
              <a:prstGeom prst="rect">
                <a:avLst/>
              </a:prstGeom>
              <a:solidFill>
                <a:schemeClr val="bg1"/>
              </a:solidFill>
            </p:spPr>
            <p:txBody>
              <a:bodyPr wrap="square" rtlCol="0">
                <a:spAutoFit/>
              </a:bodyPr>
              <a:lstStyle/>
              <a:p>
                <a:pPr>
                  <a:lnSpc>
                    <a:spcPct val="110000"/>
                  </a:lnSpc>
                </a:pPr>
                <a:r>
                  <a:rPr lang="en-US" altLang="zh-CN" sz="2000" b="1" dirty="0"/>
                  <a:t>   【</a:t>
                </a:r>
                <a:r>
                  <a:rPr lang="zh-CN" altLang="en-US" sz="2000" b="1" dirty="0"/>
                  <a:t>问题分析</a:t>
                </a:r>
                <a:r>
                  <a:rPr lang="en-US" altLang="zh-CN" sz="2000" b="1" dirty="0"/>
                  <a:t>】</a:t>
                </a:r>
                <a:r>
                  <a:rPr lang="zh-CN" altLang="en-US" sz="2000" b="1" dirty="0"/>
                  <a:t>续</a:t>
                </a:r>
                <a:endParaRPr lang="en-US" altLang="zh-CN" sz="2000" b="1" dirty="0"/>
              </a:p>
              <a:p>
                <a:pPr>
                  <a:lnSpc>
                    <a:spcPct val="110000"/>
                  </a:lnSpc>
                </a:pPr>
                <a:r>
                  <a:rPr lang="en-US" altLang="zh-CN" sz="2000" b="1" dirty="0">
                    <a:solidFill>
                      <a:schemeClr val="tx1"/>
                    </a:solidFill>
                  </a:rPr>
                  <a:t>    </a:t>
                </a:r>
                <a:r>
                  <a:rPr lang="zh-CN" altLang="zh-CN" sz="2000" b="1" dirty="0">
                    <a:solidFill>
                      <a:schemeClr val="tx1"/>
                    </a:solidFill>
                  </a:rPr>
                  <a:t>相反，如果不把宽带分配给第</a:t>
                </a:r>
                <a14:m>
                  <m:oMath xmlns:m="http://schemas.openxmlformats.org/officeDocument/2006/math">
                    <m:r>
                      <a:rPr lang="en-US" altLang="zh-CN" sz="2000" b="1" i="1">
                        <a:solidFill>
                          <a:schemeClr val="tx1"/>
                        </a:solidFill>
                        <a:latin typeface="Cambria Math" panose="02040503050406030204" pitchFamily="18" charset="0"/>
                      </a:rPr>
                      <m:t>𝒌</m:t>
                    </m:r>
                  </m:oMath>
                </a14:m>
                <a:r>
                  <a:rPr lang="zh-CN" altLang="zh-CN" sz="2000" b="1" dirty="0">
                    <a:solidFill>
                      <a:schemeClr val="tx1"/>
                    </a:solidFill>
                  </a:rPr>
                  <a:t>项业务，那么全部宽带</a:t>
                </a:r>
                <a14:m>
                  <m:oMath xmlns:m="http://schemas.openxmlformats.org/officeDocument/2006/math">
                    <m:r>
                      <a:rPr lang="en-US" altLang="zh-CN" sz="2000" b="1" i="1">
                        <a:solidFill>
                          <a:schemeClr val="tx1"/>
                        </a:solidFill>
                        <a:latin typeface="Cambria Math" panose="02040503050406030204" pitchFamily="18" charset="0"/>
                      </a:rPr>
                      <m:t>𝒍</m:t>
                    </m:r>
                  </m:oMath>
                </a14:m>
                <a:r>
                  <a:rPr lang="zh-CN" altLang="zh-CN" sz="2000" b="1" dirty="0">
                    <a:solidFill>
                      <a:schemeClr val="tx1"/>
                    </a:solidFill>
                  </a:rPr>
                  <a:t>将在</a:t>
                </a:r>
                <a14:m>
                  <m:oMath xmlns:m="http://schemas.openxmlformats.org/officeDocument/2006/math">
                    <m:r>
                      <a:rPr lang="en-US" altLang="zh-CN" sz="2000" b="1" i="1">
                        <a:solidFill>
                          <a:schemeClr val="tx1"/>
                        </a:solidFill>
                        <a:latin typeface="Cambria Math" panose="02040503050406030204" pitchFamily="18" charset="0"/>
                      </a:rPr>
                      <m:t>𝟏</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𝟐</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𝒌</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𝟏</m:t>
                    </m:r>
                  </m:oMath>
                </a14:m>
                <a:r>
                  <a:rPr lang="zh-CN" altLang="zh-CN" sz="2000" b="1" dirty="0">
                    <a:solidFill>
                      <a:schemeClr val="tx1"/>
                    </a:solidFill>
                  </a:rPr>
                  <a:t>项业务中分配，总收益为</a:t>
                </a:r>
                <a14:m>
                  <m:oMath xmlns:m="http://schemas.openxmlformats.org/officeDocument/2006/math">
                    <m:r>
                      <a:rPr lang="en-US" altLang="zh-CN" sz="2000" b="1" i="1">
                        <a:solidFill>
                          <a:schemeClr val="tx1"/>
                        </a:solidFill>
                        <a:latin typeface="Cambria Math" panose="02040503050406030204" pitchFamily="18" charset="0"/>
                      </a:rPr>
                      <m:t>𝒗</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𝒌</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𝟏</m:t>
                    </m:r>
                    <m:r>
                      <a:rPr lang="en-US" altLang="zh-CN" sz="2000" b="1" i="1">
                        <a:solidFill>
                          <a:schemeClr val="tx1"/>
                        </a:solidFill>
                        <a:latin typeface="Cambria Math" panose="02040503050406030204" pitchFamily="18" charset="0"/>
                      </a:rPr>
                      <m:t>,</m:t>
                    </m:r>
                    <m:r>
                      <a:rPr lang="en-US" altLang="zh-CN" sz="2000" b="1" i="1">
                        <a:solidFill>
                          <a:schemeClr val="tx1"/>
                        </a:solidFill>
                        <a:latin typeface="Cambria Math" panose="02040503050406030204" pitchFamily="18" charset="0"/>
                      </a:rPr>
                      <m:t>𝒍</m:t>
                    </m:r>
                    <m:r>
                      <a:rPr lang="en-US" altLang="zh-CN" sz="2000" b="1" i="1">
                        <a:solidFill>
                          <a:schemeClr val="tx1"/>
                        </a:solidFill>
                        <a:latin typeface="Cambria Math" panose="02040503050406030204" pitchFamily="18" charset="0"/>
                      </a:rPr>
                      <m:t>)</m:t>
                    </m:r>
                  </m:oMath>
                </a14:m>
                <a:r>
                  <a:rPr lang="en-US" altLang="zh-CN" sz="2000" b="1" dirty="0">
                    <a:solidFill>
                      <a:schemeClr val="tx1"/>
                    </a:solidFill>
                  </a:rPr>
                  <a:t>.</a:t>
                </a:r>
                <a:r>
                  <a:rPr lang="zh-CN" altLang="zh-CN" sz="2000" b="1" dirty="0">
                    <a:solidFill>
                      <a:schemeClr val="tx1"/>
                    </a:solidFill>
                  </a:rPr>
                  <a:t>为了使得优先级的总收益最大，只要在上述两个收益中选择最大的即可。</a:t>
                </a:r>
              </a:p>
              <a:p>
                <a:pPr>
                  <a:lnSpc>
                    <a:spcPct val="110000"/>
                  </a:lnSpc>
                </a:pPr>
                <a:r>
                  <a:rPr lang="zh-CN" altLang="zh-CN" sz="2000" b="1" dirty="0">
                    <a:solidFill>
                      <a:schemeClr val="tx1"/>
                    </a:solidFill>
                  </a:rPr>
                  <a:t>上述分析可以总结成下面的递推公式，即</a:t>
                </a:r>
                <a:endParaRPr lang="en-US" altLang="zh-CN" sz="2000" b="1" dirty="0">
                  <a:solidFill>
                    <a:schemeClr val="tx1"/>
                  </a:solidFill>
                </a:endParaRPr>
              </a:p>
              <a:p>
                <a:pPr algn="ctr">
                  <a:lnSpc>
                    <a:spcPct val="110000"/>
                  </a:lnSpc>
                </a:pPr>
                <a14:m>
                  <m:oMath xmlns:m="http://schemas.openxmlformats.org/officeDocument/2006/math">
                    <m:r>
                      <a:rPr lang="en-US" altLang="zh-CN" sz="2000" b="1" smtClean="0">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𝒌</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𝒎</m:t>
                        </m:r>
                      </m:e>
                    </m:d>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𝑩</m:t>
                    </m:r>
                    <m:r>
                      <a:rPr lang="en-US" altLang="zh-CN" sz="2000" b="1" i="1">
                        <a:solidFill>
                          <a:srgbClr val="FF0000"/>
                        </a:solidFill>
                        <a:latin typeface="Cambria Math" panose="02040503050406030204" pitchFamily="18" charset="0"/>
                      </a:rPr>
                      <m:t>)</m:t>
                    </m:r>
                  </m:oMath>
                </a14:m>
                <a:r>
                  <a:rPr lang="zh-CN" altLang="zh-CN" sz="2000" b="1" dirty="0">
                    <a:solidFill>
                      <a:srgbClr val="FF0000"/>
                    </a:solidFill>
                  </a:rPr>
                  <a:t>，</a:t>
                </a:r>
                <a:endParaRPr lang="en-US" altLang="zh-CN" sz="2000" b="1" dirty="0">
                  <a:solidFill>
                    <a:srgbClr val="FF0000"/>
                  </a:solidFill>
                </a:endParaRPr>
              </a:p>
              <a:p>
                <a:pPr>
                  <a:lnSpc>
                    <a:spcPct val="110000"/>
                  </a:lnSpc>
                </a:pPr>
                <a:r>
                  <a:rPr lang="zh-CN" altLang="zh-CN" sz="2000" b="1" dirty="0">
                    <a:solidFill>
                      <a:schemeClr val="tx1"/>
                    </a:solidFill>
                  </a:rPr>
                  <a:t>有</a:t>
                </a:r>
              </a:p>
              <a:p>
                <a:pPr>
                  <a:lnSpc>
                    <a:spcPct val="110000"/>
                  </a:lnSpc>
                </a:pPr>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𝒗</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e>
                      </m:d>
                      <m:r>
                        <a:rPr lang="en-US" altLang="zh-CN" sz="2000" b="1" i="1">
                          <a:solidFill>
                            <a:srgbClr val="FF0000"/>
                          </a:solidFill>
                          <a:latin typeface="Cambria Math" panose="02040503050406030204" pitchFamily="18" charset="0"/>
                        </a:rPr>
                        <m:t>=</m:t>
                      </m:r>
                      <m:d>
                        <m:dPr>
                          <m:begChr m:val="{"/>
                          <m:endChr m:val=""/>
                          <m:ctrlPr>
                            <a:rPr lang="zh-CN" altLang="zh-CN" sz="2000" b="1" i="1">
                              <a:solidFill>
                                <a:srgbClr val="FF0000"/>
                              </a:solidFill>
                              <a:latin typeface="Cambria Math" panose="02040503050406030204" pitchFamily="18" charset="0"/>
                            </a:rPr>
                          </m:ctrlPr>
                        </m:dPr>
                        <m:e>
                          <m:eqArr>
                            <m:eqArrPr>
                              <m:ctrlPr>
                                <a:rPr lang="zh-CN" altLang="zh-CN" sz="2000" b="1" i="1">
                                  <a:solidFill>
                                    <a:srgbClr val="FF0000"/>
                                  </a:solidFill>
                                  <a:latin typeface="Cambria Math" panose="02040503050406030204" pitchFamily="18" charset="0"/>
                                </a:rPr>
                              </m:ctrlPr>
                            </m:eqArrPr>
                            <m:e>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                                                                                      </m:t>
                              </m:r>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r>
                                <a:rPr lang="zh-CN" altLang="zh-CN" sz="2000" b="1">
                                  <a:solidFill>
                                    <a:srgbClr val="FF0000"/>
                                  </a:solidFill>
                                  <a:latin typeface="Cambria Math" panose="02040503050406030204" pitchFamily="18" charset="0"/>
                                </a:rPr>
                                <m:t>或</m:t>
                              </m:r>
                              <m:r>
                                <a:rPr lang="en-US" altLang="zh-CN" sz="2000" b="1" i="1">
                                  <a:solidFill>
                                    <a:srgbClr val="FF0000"/>
                                  </a:solidFill>
                                  <a:latin typeface="Cambria Math" panose="02040503050406030204" pitchFamily="18" charset="0"/>
                                </a:rPr>
                                <m:t>𝒍</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𝟎</m:t>
                              </m:r>
                            </m:e>
                            <m:e>
                              <m:r>
                                <a:rPr lang="en-US" altLang="zh-CN" sz="2000" b="1" i="1">
                                  <a:solidFill>
                                    <a:srgbClr val="FF0000"/>
                                  </a:solidFill>
                                  <a:latin typeface="Cambria Math" panose="02040503050406030204" pitchFamily="18" charset="0"/>
                                </a:rPr>
                                <m:t>𝒗</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e>
                              </m:d>
                              <m:r>
                                <a:rPr lang="en-US" altLang="zh-CN" sz="2000" b="1" i="1">
                                  <a:solidFill>
                                    <a:srgbClr val="FF0000"/>
                                  </a:solidFill>
                                  <a:latin typeface="Cambria Math" panose="02040503050406030204" pitchFamily="18" charset="0"/>
                                </a:rPr>
                                <m:t>,                                                       </m:t>
                              </m:r>
                              <m:r>
                                <a:rPr lang="en-US" altLang="zh-CN" sz="2000" b="1" i="1">
                                  <a:solidFill>
                                    <a:srgbClr val="FF0000"/>
                                  </a:solidFill>
                                  <a:latin typeface="Cambria Math" panose="02040503050406030204" pitchFamily="18" charset="0"/>
                                </a:rPr>
                                <m:t>𝒓</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e>
                              </m:d>
                              <m:r>
                                <a:rPr lang="en-US" altLang="zh-CN" sz="2000" b="1" i="1">
                                  <a:solidFill>
                                    <a:srgbClr val="FF0000"/>
                                  </a:solidFill>
                                  <a:latin typeface="Cambria Math" panose="02040503050406030204" pitchFamily="18" charset="0"/>
                                </a:rPr>
                                <m:t>&gt;</m:t>
                              </m:r>
                              <m:r>
                                <a:rPr lang="en-US" altLang="zh-CN" sz="2000" b="1" i="1">
                                  <a:solidFill>
                                    <a:srgbClr val="FF0000"/>
                                  </a:solidFill>
                                  <a:latin typeface="Cambria Math" panose="02040503050406030204" pitchFamily="18" charset="0"/>
                                </a:rPr>
                                <m:t>𝒍</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&gt;</m:t>
                              </m:r>
                              <m:r>
                                <a:rPr lang="en-US" altLang="zh-CN" sz="2000" b="1" i="1">
                                  <a:solidFill>
                                    <a:srgbClr val="FF0000"/>
                                  </a:solidFill>
                                  <a:latin typeface="Cambria Math" panose="02040503050406030204" pitchFamily="18" charset="0"/>
                                </a:rPr>
                                <m:t>𝟎</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r>
                                <a:rPr lang="en-US" altLang="zh-CN" sz="2000" b="1" i="1">
                                  <a:solidFill>
                                    <a:srgbClr val="FF0000"/>
                                  </a:solidFill>
                                  <a:latin typeface="Cambria Math" panose="02040503050406030204" pitchFamily="18" charset="0"/>
                                </a:rPr>
                                <m:t>&gt;</m:t>
                              </m:r>
                              <m:r>
                                <a:rPr lang="en-US" altLang="zh-CN" sz="2000" b="1" i="1">
                                  <a:solidFill>
                                    <a:srgbClr val="FF0000"/>
                                  </a:solidFill>
                                  <a:latin typeface="Cambria Math" panose="02040503050406030204" pitchFamily="18" charset="0"/>
                                </a:rPr>
                                <m:t>𝟎</m:t>
                              </m:r>
                            </m:e>
                            <m:e>
                              <m:func>
                                <m:funcPr>
                                  <m:ctrlPr>
                                    <a:rPr lang="zh-CN" altLang="zh-CN" sz="2000" b="1" i="1">
                                      <a:solidFill>
                                        <a:srgbClr val="FF0000"/>
                                      </a:solidFill>
                                      <a:latin typeface="Cambria Math" panose="02040503050406030204" pitchFamily="18" charset="0"/>
                                    </a:rPr>
                                  </m:ctrlPr>
                                </m:funcPr>
                                <m:fName>
                                  <m:r>
                                    <a:rPr lang="en-US" altLang="zh-CN" sz="2000" b="1" i="1">
                                      <a:solidFill>
                                        <a:srgbClr val="FF0000"/>
                                      </a:solidFill>
                                      <a:latin typeface="Cambria Math" panose="02040503050406030204" pitchFamily="18" charset="0"/>
                                    </a:rPr>
                                    <m:t>𝒎𝒂𝒙</m:t>
                                  </m:r>
                                </m:fName>
                                <m:e>
                                  <m:d>
                                    <m:dPr>
                                      <m:begChr m:val="{"/>
                                      <m:endChr m:val="}"/>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𝒗</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e>
                                      </m:d>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𝒗</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𝟏</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𝒓</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e>
                                          </m:d>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𝑷</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e>
                                          </m:d>
                                        </m:e>
                                      </m:d>
                                    </m:e>
                                  </m:d>
                                </m:e>
                              </m:func>
                              <m:r>
                                <a:rPr lang="en-US" altLang="zh-CN" sz="2000" b="1" i="1">
                                  <a:solidFill>
                                    <a:srgbClr val="FF0000"/>
                                  </a:solidFill>
                                  <a:latin typeface="Cambria Math" panose="02040503050406030204" pitchFamily="18" charset="0"/>
                                </a:rPr>
                                <m:t>,   </m:t>
                              </m:r>
                              <m:r>
                                <a:rPr lang="en-US" altLang="zh-CN" sz="2000" b="1" i="1">
                                  <a:solidFill>
                                    <a:srgbClr val="FF0000"/>
                                  </a:solidFill>
                                  <a:latin typeface="Cambria Math" panose="02040503050406030204" pitchFamily="18" charset="0"/>
                                </a:rPr>
                                <m:t>𝒓</m:t>
                              </m:r>
                              <m:d>
                                <m:dPr>
                                  <m:ctrlPr>
                                    <a:rPr lang="zh-CN" altLang="zh-CN" sz="2000" b="1" i="1">
                                      <a:solidFill>
                                        <a:srgbClr val="FF0000"/>
                                      </a:solidFill>
                                      <a:latin typeface="Cambria Math" panose="02040503050406030204" pitchFamily="18" charset="0"/>
                                    </a:rPr>
                                  </m:ctrlPr>
                                </m:dPr>
                                <m:e>
                                  <m:r>
                                    <a:rPr lang="en-US" altLang="zh-CN" sz="2000" b="1" i="1">
                                      <a:solidFill>
                                        <a:srgbClr val="FF0000"/>
                                      </a:solidFill>
                                      <a:latin typeface="Cambria Math" panose="02040503050406030204" pitchFamily="18" charset="0"/>
                                    </a:rPr>
                                    <m:t>𝒌</m:t>
                                  </m:r>
                                </m:e>
                              </m:d>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𝒍</m:t>
                              </m:r>
                              <m:r>
                                <a:rPr lang="en-US" altLang="zh-CN" sz="2000" b="1" i="1">
                                  <a:solidFill>
                                    <a:srgbClr val="FF0000"/>
                                  </a:solidFill>
                                  <a:latin typeface="Cambria Math" panose="02040503050406030204" pitchFamily="18" charset="0"/>
                                </a:rPr>
                                <m:t>,</m:t>
                              </m:r>
                              <m:r>
                                <a:rPr lang="en-US" altLang="zh-CN" sz="2000" b="1" i="1">
                                  <a:solidFill>
                                    <a:srgbClr val="FF0000"/>
                                  </a:solidFill>
                                  <a:latin typeface="Cambria Math" panose="02040503050406030204" pitchFamily="18" charset="0"/>
                                </a:rPr>
                                <m:t>𝒌</m:t>
                              </m:r>
                              <m:r>
                                <a:rPr lang="en-US" altLang="zh-CN" sz="2000" b="1" i="1">
                                  <a:solidFill>
                                    <a:srgbClr val="FF0000"/>
                                  </a:solidFill>
                                  <a:latin typeface="Cambria Math" panose="02040503050406030204" pitchFamily="18" charset="0"/>
                                </a:rPr>
                                <m:t>&gt;</m:t>
                              </m:r>
                              <m:r>
                                <a:rPr lang="en-US" altLang="zh-CN" sz="2000" b="1" i="1">
                                  <a:solidFill>
                                    <a:srgbClr val="FF0000"/>
                                  </a:solidFill>
                                  <a:latin typeface="Cambria Math" panose="02040503050406030204" pitchFamily="18" charset="0"/>
                                </a:rPr>
                                <m:t>𝟎</m:t>
                              </m:r>
                            </m:e>
                          </m:eqArr>
                        </m:e>
                      </m:d>
                      <m:r>
                        <a:rPr lang="en-US" altLang="zh-CN" sz="2000" b="1" i="1">
                          <a:solidFill>
                            <a:schemeClr val="tx1"/>
                          </a:solidFill>
                          <a:latin typeface="Cambria Math" panose="02040503050406030204" pitchFamily="18" charset="0"/>
                        </a:rPr>
                        <m:t> </m:t>
                      </m:r>
                    </m:oMath>
                  </m:oMathPara>
                </a14:m>
                <a:endParaRPr lang="zh-CN" altLang="en-US" sz="20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95536" y="2132856"/>
                <a:ext cx="8604448" cy="3715825"/>
              </a:xfrm>
              <a:prstGeom prst="rect">
                <a:avLst/>
              </a:prstGeom>
              <a:blipFill>
                <a:blip r:embed="rId2"/>
                <a:stretch>
                  <a:fillRect l="-780" t="-1314"/>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BEBA381-5164-486E-AC6A-9F5C02E277D6}"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71683"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7168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4AC7D0D-B0D0-4960-978B-AD0BD2775294}" type="slidenum">
              <a:rPr lang="en-US" altLang="zh-CN" sz="1400" b="1">
                <a:latin typeface="Times New Roman" pitchFamily="18" charset="0"/>
                <a:ea typeface="宋体" pitchFamily="2" charset="-122"/>
              </a:rPr>
              <a:pPr algn="r" eaLnBrk="1" hangingPunct="1"/>
              <a:t>56</a:t>
            </a:fld>
            <a:endParaRPr lang="en-US" altLang="zh-CN" sz="1400" b="1">
              <a:latin typeface="Times New Roman" pitchFamily="18" charset="0"/>
              <a:ea typeface="宋体" pitchFamily="2" charset="-122"/>
            </a:endParaRPr>
          </a:p>
        </p:txBody>
      </p:sp>
      <p:sp>
        <p:nvSpPr>
          <p:cNvPr id="7168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网络带宽分配问题</a:t>
            </a:r>
          </a:p>
        </p:txBody>
      </p:sp>
      <mc:AlternateContent xmlns:mc="http://schemas.openxmlformats.org/markup-compatibility/2006" xmlns:a14="http://schemas.microsoft.com/office/drawing/2010/main">
        <mc:Choice Requires="a14">
          <p:sp>
            <p:nvSpPr>
              <p:cNvPr id="3" name="TextBox 2"/>
              <p:cNvSpPr txBox="1"/>
              <p:nvPr/>
            </p:nvSpPr>
            <p:spPr>
              <a:xfrm>
                <a:off x="467544" y="1844824"/>
                <a:ext cx="8352928" cy="4462760"/>
              </a:xfrm>
              <a:prstGeom prst="rect">
                <a:avLst/>
              </a:prstGeom>
              <a:solidFill>
                <a:schemeClr val="bg1"/>
              </a:solidFill>
            </p:spPr>
            <p:txBody>
              <a:bodyPr wrap="square" rtlCol="0">
                <a:spAutoFit/>
              </a:bodyPr>
              <a:lstStyle/>
              <a:p>
                <a:pPr>
                  <a:lnSpc>
                    <a:spcPct val="110000"/>
                  </a:lnSpc>
                  <a:spcBef>
                    <a:spcPts val="600"/>
                  </a:spcBef>
                </a:pPr>
                <a:r>
                  <a:rPr lang="en-US" altLang="zh-CN" sz="2400" b="1" dirty="0"/>
                  <a:t>【</a:t>
                </a:r>
                <a:r>
                  <a:rPr lang="zh-CN" altLang="en-US" sz="2400" b="1" dirty="0"/>
                  <a:t>问题分析</a:t>
                </a:r>
                <a:r>
                  <a:rPr lang="en-US" altLang="zh-CN" sz="2400" b="1" dirty="0"/>
                  <a:t>】</a:t>
                </a:r>
                <a:r>
                  <a:rPr lang="zh-CN" altLang="en-US" sz="2400" b="1" dirty="0"/>
                  <a:t>续</a:t>
                </a:r>
                <a:endParaRPr lang="en-US" altLang="zh-CN" sz="2400" b="1" dirty="0"/>
              </a:p>
              <a:p>
                <a:pPr>
                  <a:lnSpc>
                    <a:spcPct val="110000"/>
                  </a:lnSpc>
                  <a:spcBef>
                    <a:spcPts val="600"/>
                  </a:spcBef>
                </a:pPr>
                <a:r>
                  <a:rPr lang="zh-CN" altLang="zh-CN" sz="2400" b="1" dirty="0">
                    <a:solidFill>
                      <a:schemeClr val="tx1"/>
                    </a:solidFill>
                  </a:rPr>
                  <a:t>根据这个公式：</a:t>
                </a:r>
              </a:p>
              <a:p>
                <a:pPr>
                  <a:lnSpc>
                    <a:spcPct val="110000"/>
                  </a:lnSpc>
                  <a:spcBef>
                    <a:spcPts val="600"/>
                  </a:spcBef>
                </a:pPr>
                <a:r>
                  <a:rPr lang="zh-CN" altLang="zh-CN" sz="2400" b="1" dirty="0">
                    <a:solidFill>
                      <a:srgbClr val="0000FF"/>
                    </a:solidFill>
                  </a:rPr>
                  <a:t>第一步</a:t>
                </a:r>
                <a:r>
                  <a:rPr lang="zh-CN" altLang="zh-CN" sz="2400" b="1" dirty="0">
                    <a:solidFill>
                      <a:schemeClr val="tx1"/>
                    </a:solidFill>
                  </a:rPr>
                  <a:t>先计算</a:t>
                </a:r>
                <a14:m>
                  <m:oMath xmlns:m="http://schemas.openxmlformats.org/officeDocument/2006/math">
                    <m:r>
                      <a:rPr lang="en-US" altLang="zh-CN" sz="2400" b="1" i="1">
                        <a:solidFill>
                          <a:schemeClr val="tx1"/>
                        </a:solidFill>
                        <a:latin typeface="Cambria Math" panose="02040503050406030204" pitchFamily="18" charset="0"/>
                      </a:rPr>
                      <m:t>𝒌</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𝐥</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𝑩</m:t>
                    </m:r>
                  </m:oMath>
                </a14:m>
                <a:r>
                  <a:rPr lang="zh-CN" altLang="zh-CN" sz="2400" b="1" dirty="0">
                    <a:solidFill>
                      <a:schemeClr val="tx1"/>
                    </a:solidFill>
                  </a:rPr>
                  <a:t>的</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𝒍</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值，并把它们存到一个表中；</a:t>
                </a:r>
              </a:p>
              <a:p>
                <a:pPr>
                  <a:lnSpc>
                    <a:spcPct val="110000"/>
                  </a:lnSpc>
                  <a:spcBef>
                    <a:spcPts val="600"/>
                  </a:spcBef>
                </a:pPr>
                <a:r>
                  <a:rPr lang="zh-CN" altLang="zh-CN" sz="2400" b="1" dirty="0">
                    <a:solidFill>
                      <a:srgbClr val="0000FF"/>
                    </a:solidFill>
                  </a:rPr>
                  <a:t>第二步</a:t>
                </a:r>
                <a:r>
                  <a:rPr lang="zh-CN" altLang="zh-CN" sz="2400" b="1" dirty="0">
                    <a:solidFill>
                      <a:schemeClr val="tx1"/>
                    </a:solidFill>
                  </a:rPr>
                  <a:t>计算</a:t>
                </a:r>
                <a14:m>
                  <m:oMath xmlns:m="http://schemas.openxmlformats.org/officeDocument/2006/math">
                    <m:r>
                      <a:rPr lang="en-US" altLang="zh-CN" sz="2400" b="1" i="1">
                        <a:solidFill>
                          <a:schemeClr val="tx1"/>
                        </a:solidFill>
                        <a:latin typeface="Cambria Math" panose="02040503050406030204" pitchFamily="18" charset="0"/>
                      </a:rPr>
                      <m:t>𝒌</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𝐥</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𝑩</m:t>
                    </m:r>
                  </m:oMath>
                </a14:m>
                <a:r>
                  <a:rPr lang="zh-CN" altLang="zh-CN" sz="2400" b="1" dirty="0">
                    <a:solidFill>
                      <a:schemeClr val="tx1"/>
                    </a:solidFill>
                  </a:rPr>
                  <a:t>的</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𝒍</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值，再把得到的值存到这个表中。每步计算若用到的较小的</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𝒌</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𝒍</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值，就到表中去取。</a:t>
                </a:r>
                <a:endParaRPr lang="en-US" altLang="zh-CN" sz="2400" b="1" dirty="0">
                  <a:solidFill>
                    <a:schemeClr val="tx1"/>
                  </a:solidFill>
                </a:endParaRPr>
              </a:p>
              <a:p>
                <a:pPr>
                  <a:lnSpc>
                    <a:spcPct val="110000"/>
                  </a:lnSpc>
                  <a:spcBef>
                    <a:spcPts val="600"/>
                  </a:spcBef>
                </a:pPr>
                <a:r>
                  <a:rPr lang="zh-CN" altLang="zh-CN" sz="2400" b="1" dirty="0">
                    <a:solidFill>
                      <a:schemeClr val="tx1"/>
                    </a:solidFill>
                  </a:rPr>
                  <a:t>照此做下去，直到计算出</a:t>
                </a:r>
                <a14:m>
                  <m:oMath xmlns:m="http://schemas.openxmlformats.org/officeDocument/2006/math">
                    <m:r>
                      <a:rPr lang="en-US" altLang="zh-CN" sz="2400" b="1" i="1">
                        <a:solidFill>
                          <a:schemeClr val="tx1"/>
                        </a:solidFill>
                        <a:latin typeface="Cambria Math" panose="02040503050406030204" pitchFamily="18" charset="0"/>
                      </a:rPr>
                      <m:t>𝒌</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𝒍</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𝑩</m:t>
                    </m:r>
                  </m:oMath>
                </a14:m>
                <a:r>
                  <a:rPr lang="zh-CN" altLang="zh-CN" sz="2400" b="1" dirty="0">
                    <a:solidFill>
                      <a:schemeClr val="tx1"/>
                    </a:solidFill>
                  </a:rPr>
                  <a:t>的</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𝒍</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值为止，其中的</a:t>
                </a:r>
                <a14:m>
                  <m:oMath xmlns:m="http://schemas.openxmlformats.org/officeDocument/2006/math">
                    <m:r>
                      <a:rPr lang="en-US" altLang="zh-CN" sz="2400" b="1" i="1">
                        <a:solidFill>
                          <a:schemeClr val="tx1"/>
                        </a:solidFill>
                        <a:latin typeface="Cambria Math" panose="02040503050406030204" pitchFamily="18" charset="0"/>
                      </a:rPr>
                      <m:t>𝒗</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𝒎</m:t>
                    </m:r>
                    <m:r>
                      <a:rPr lang="en-US" altLang="zh-CN" sz="2400" b="1" i="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𝑩</m:t>
                    </m:r>
                    <m:r>
                      <a:rPr lang="en-US" altLang="zh-CN" sz="2400" b="1" i="1">
                        <a:solidFill>
                          <a:schemeClr val="tx1"/>
                        </a:solidFill>
                        <a:latin typeface="Cambria Math" panose="02040503050406030204" pitchFamily="18" charset="0"/>
                      </a:rPr>
                      <m:t>)</m:t>
                    </m:r>
                  </m:oMath>
                </a14:m>
                <a:r>
                  <a:rPr lang="zh-CN" altLang="zh-CN" sz="2400" b="1" dirty="0">
                    <a:solidFill>
                      <a:schemeClr val="tx1"/>
                    </a:solidFill>
                  </a:rPr>
                  <a:t>就是最佳分配的优化函数值，即最大优先级收益。</a:t>
                </a:r>
              </a:p>
            </p:txBody>
          </p:sp>
        </mc:Choice>
        <mc:Fallback xmlns="">
          <p:sp>
            <p:nvSpPr>
              <p:cNvPr id="3" name="TextBox 2"/>
              <p:cNvSpPr txBox="1">
                <a:spLocks noRot="1" noChangeAspect="1" noMove="1" noResize="1" noEditPoints="1" noAdjustHandles="1" noChangeArrowheads="1" noChangeShapeType="1" noTextEdit="1"/>
              </p:cNvSpPr>
              <p:nvPr/>
            </p:nvSpPr>
            <p:spPr>
              <a:xfrm>
                <a:off x="467544" y="1844824"/>
                <a:ext cx="8352928" cy="4462760"/>
              </a:xfrm>
              <a:prstGeom prst="rect">
                <a:avLst/>
              </a:prstGeom>
              <a:blipFill rotWithShape="1">
                <a:blip r:embed="rId2"/>
                <a:stretch>
                  <a:fillRect l="-1168" t="-1366" r="-292" b="-1093"/>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D1EDD74-0E9F-4A28-8D56-AA89379FE30E}"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72707" name="Text Box 2"/>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None/>
            </a:pPr>
            <a:r>
              <a:rPr lang="zh-CN" altLang="en-US" sz="5400">
                <a:solidFill>
                  <a:schemeClr val="bg1"/>
                </a:solidFill>
                <a:latin typeface="宋体" pitchFamily="2" charset="-122"/>
                <a:ea typeface="宋体" pitchFamily="2" charset="-122"/>
              </a:rPr>
              <a:t>本章内容到此结束</a:t>
            </a:r>
            <a:endParaRPr lang="en-US" altLang="zh-CN" sz="5400">
              <a:solidFill>
                <a:schemeClr val="bg1"/>
              </a:solidFill>
              <a:latin typeface="宋体" pitchFamily="2" charset="-122"/>
              <a:ea typeface="宋体" pitchFamily="2" charset="-122"/>
            </a:endParaRPr>
          </a:p>
        </p:txBody>
      </p:sp>
      <p:sp>
        <p:nvSpPr>
          <p:cNvPr id="72708" name="WordArt 6"/>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59" lon="1080000" rev="0"/>
              </a:camera>
              <a:lightRig rig="legacyHarsh2" dir="b"/>
            </a:scene3d>
            <a:sp3d extrusionH="430200" prstMaterial="legacyMatte">
              <a:extrusionClr>
                <a:srgbClr val="FF6600"/>
              </a:extrusionClr>
            </a:sp3d>
          </a:bodyPr>
          <a:lstStyle/>
          <a:p>
            <a:r>
              <a:rPr lang="zh-CN" altLang="en-US" sz="3600" kern="10">
                <a:ln w="9525">
                  <a:round/>
                  <a:headEnd/>
                  <a:tailEnd/>
                </a:ln>
                <a:gradFill rotWithShape="1">
                  <a:gsLst>
                    <a:gs pos="0">
                      <a:srgbClr val="FFE701"/>
                    </a:gs>
                    <a:gs pos="100000">
                      <a:srgbClr val="FE3E02"/>
                    </a:gs>
                  </a:gsLst>
                  <a:lin ang="5400000" scaled="1"/>
                </a:gradFill>
                <a:latin typeface="宋体"/>
                <a:ea typeface="宋体"/>
              </a:rPr>
              <a:t>谢谢大家！</a:t>
            </a:r>
          </a:p>
        </p:txBody>
      </p:sp>
    </p:spTree>
  </p:cSld>
  <p:clrMapOvr>
    <a:masterClrMapping/>
  </p:clrMapOvr>
  <p:transition spd="med">
    <p:wipe dir="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张勇-硕士答辩">
  <a:themeElements>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1_张勇-硕士答辩">
      <a:majorFont>
        <a:latin typeface="Times New Roman"/>
        <a:ea typeface="宋体"/>
        <a:cs typeface=""/>
      </a:majorFont>
      <a:minorFont>
        <a:latin typeface="楷体_GB2312"/>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第6章_二元关系</Template>
  <TotalTime>7448</TotalTime>
  <Words>5226</Words>
  <Application>Microsoft Office PowerPoint</Application>
  <PresentationFormat>全屏显示(4:3)</PresentationFormat>
  <Paragraphs>384</Paragraphs>
  <Slides>57</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57</vt:i4>
      </vt:variant>
    </vt:vector>
  </HeadingPairs>
  <TitlesOfParts>
    <vt:vector size="69" baseType="lpstr">
      <vt:lpstr>黑体</vt:lpstr>
      <vt:lpstr>华文行楷</vt:lpstr>
      <vt:lpstr>楷体_GB2312</vt:lpstr>
      <vt:lpstr>隶书</vt:lpstr>
      <vt:lpstr>宋体</vt:lpstr>
      <vt:lpstr>Arial</vt:lpstr>
      <vt:lpstr>Cambria Math</vt:lpstr>
      <vt:lpstr>Times New Roman</vt:lpstr>
      <vt:lpstr>Wingdings</vt:lpstr>
      <vt:lpstr>Wingdings 2</vt:lpstr>
      <vt:lpstr>张勇-硕士答辩</vt:lpstr>
      <vt:lpstr>1_张勇-硕士答辩</vt:lpstr>
      <vt:lpstr>PowerPoint 演示文稿</vt:lpstr>
      <vt:lpstr>第七章 函数与特殊函数 （下）</vt:lpstr>
      <vt:lpstr>PowerPoint 演示文稿</vt:lpstr>
      <vt:lpstr>有限集的置换函数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函数关系的应用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汪荣贵</dc:creator>
  <cp:lastModifiedBy>Windows 用户</cp:lastModifiedBy>
  <cp:revision>272</cp:revision>
  <dcterms:created xsi:type="dcterms:W3CDTF">2008-02-21T03:51:14Z</dcterms:created>
  <dcterms:modified xsi:type="dcterms:W3CDTF">2020-09-07T02:19:04Z</dcterms:modified>
</cp:coreProperties>
</file>