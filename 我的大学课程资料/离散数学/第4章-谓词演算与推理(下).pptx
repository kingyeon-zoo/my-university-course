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73"/>
  </p:notesMasterIdLst>
  <p:sldIdLst>
    <p:sldId id="1401" r:id="rId3"/>
    <p:sldId id="636" r:id="rId4"/>
    <p:sldId id="1281" r:id="rId5"/>
    <p:sldId id="1042" r:id="rId6"/>
    <p:sldId id="1283" r:id="rId7"/>
    <p:sldId id="1402" r:id="rId8"/>
    <p:sldId id="1346" r:id="rId9"/>
    <p:sldId id="1347" r:id="rId10"/>
    <p:sldId id="1403" r:id="rId11"/>
    <p:sldId id="1348" r:id="rId12"/>
    <p:sldId id="1349" r:id="rId13"/>
    <p:sldId id="1350" r:id="rId14"/>
    <p:sldId id="1351" r:id="rId15"/>
    <p:sldId id="1352" r:id="rId16"/>
    <p:sldId id="1353" r:id="rId17"/>
    <p:sldId id="1354" r:id="rId18"/>
    <p:sldId id="1355" r:id="rId19"/>
    <p:sldId id="1356" r:id="rId20"/>
    <p:sldId id="1357" r:id="rId21"/>
    <p:sldId id="1358" r:id="rId22"/>
    <p:sldId id="1359" r:id="rId23"/>
    <p:sldId id="1360" r:id="rId24"/>
    <p:sldId id="1361" r:id="rId25"/>
    <p:sldId id="1362" r:id="rId26"/>
    <p:sldId id="1363" r:id="rId27"/>
    <p:sldId id="1289" r:id="rId28"/>
    <p:sldId id="1364" r:id="rId29"/>
    <p:sldId id="1383" r:id="rId30"/>
    <p:sldId id="1384" r:id="rId31"/>
    <p:sldId id="1367" r:id="rId32"/>
    <p:sldId id="1368" r:id="rId33"/>
    <p:sldId id="1369" r:id="rId34"/>
    <p:sldId id="1373" r:id="rId35"/>
    <p:sldId id="1374" r:id="rId36"/>
    <p:sldId id="1375" r:id="rId37"/>
    <p:sldId id="1376" r:id="rId38"/>
    <p:sldId id="1377" r:id="rId39"/>
    <p:sldId id="1380" r:id="rId40"/>
    <p:sldId id="1290" r:id="rId41"/>
    <p:sldId id="1404" r:id="rId42"/>
    <p:sldId id="1385" r:id="rId43"/>
    <p:sldId id="1386" r:id="rId44"/>
    <p:sldId id="1387" r:id="rId45"/>
    <p:sldId id="1388" r:id="rId46"/>
    <p:sldId id="1389" r:id="rId47"/>
    <p:sldId id="1391" r:id="rId48"/>
    <p:sldId id="1392" r:id="rId49"/>
    <p:sldId id="1212" r:id="rId50"/>
    <p:sldId id="1288" r:id="rId51"/>
    <p:sldId id="1215" r:id="rId52"/>
    <p:sldId id="1285" r:id="rId53"/>
    <p:sldId id="1325" r:id="rId54"/>
    <p:sldId id="1341" r:id="rId55"/>
    <p:sldId id="1406" r:id="rId56"/>
    <p:sldId id="1342" r:id="rId57"/>
    <p:sldId id="1338" r:id="rId58"/>
    <p:sldId id="1337" r:id="rId59"/>
    <p:sldId id="1336" r:id="rId60"/>
    <p:sldId id="1399" r:id="rId61"/>
    <p:sldId id="1405" r:id="rId62"/>
    <p:sldId id="1313" r:id="rId63"/>
    <p:sldId id="1329" r:id="rId64"/>
    <p:sldId id="1328" r:id="rId65"/>
    <p:sldId id="1327" r:id="rId66"/>
    <p:sldId id="1331" r:id="rId67"/>
    <p:sldId id="1330" r:id="rId68"/>
    <p:sldId id="1332" r:id="rId69"/>
    <p:sldId id="1326" r:id="rId70"/>
    <p:sldId id="1407" r:id="rId71"/>
    <p:sldId id="1216" r:id="rId7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66FF"/>
    <a:srgbClr val="006600"/>
    <a:srgbClr val="003300"/>
    <a:srgbClr val="800000"/>
    <a:srgbClr val="0033CC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479" autoAdjust="0"/>
  </p:normalViewPr>
  <p:slideViewPr>
    <p:cSldViewPr>
      <p:cViewPr varScale="1">
        <p:scale>
          <a:sx n="87" d="100"/>
          <a:sy n="87" d="100"/>
        </p:scale>
        <p:origin x="13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36343A1-1717-4084-9E97-E9163D2811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801DA4-900D-4BF4-8726-1687585724F5}" type="slidenum">
              <a:rPr kumimoji="0" lang="en-US" altLang="zh-CN" sz="1200" smtClean="0">
                <a:latin typeface="Arial" panose="020B0604020202020204" pitchFamily="34" charset="0"/>
              </a:rPr>
              <a:pPr/>
              <a:t>52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15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801DA4-900D-4BF4-8726-1687585724F5}" type="slidenum">
              <a:rPr kumimoji="0" lang="en-US" altLang="zh-CN" sz="1200" smtClean="0">
                <a:latin typeface="Arial" panose="020B0604020202020204" pitchFamily="34" charset="0"/>
              </a:rPr>
              <a:pPr/>
              <a:t>54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13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2DDBCE-4A36-4F85-9AC9-F3788F1282DE}" type="slidenum">
              <a:rPr kumimoji="0" lang="en-US" altLang="zh-CN" sz="1200" smtClean="0">
                <a:latin typeface="Arial" panose="020B0604020202020204" pitchFamily="34" charset="0"/>
              </a:rPr>
              <a:pPr/>
              <a:t>61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CAC18A6-4022-4F31-8B25-666C7020E1CA}" type="slidenum">
              <a:rPr kumimoji="0" lang="en-US" altLang="zh-CN" sz="1200" smtClean="0">
                <a:latin typeface="Arial" panose="020B0604020202020204" pitchFamily="34" charset="0"/>
              </a:rPr>
              <a:pPr/>
              <a:t>65</a:t>
            </a:fld>
            <a:endParaRPr kumimoji="0"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F493D-4548-4013-9AEB-8F8A51566FC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E7784-32F5-43B6-9AED-FD393FA0E8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4184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76B54-2DC0-474F-8EBD-076F546D44A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404E4-C6C5-4BC9-B5C7-6589E4BE21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09364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0AA7C-1FE8-43E2-8EE8-064328C3ECC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96354-8BF7-4401-9B21-844B38F7EC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552796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F12CD-42D1-4107-8057-EF5EC67DA1B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2A96E-677C-4A27-87A2-98254298B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759361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AF516-469A-4CCE-8339-406BF2D7DA1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FD925-9608-4B9B-B9D7-0796854F64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02776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8CE00-4372-4D70-9BF6-B2E60E90B1E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ECE8D-375C-4B94-A5F1-1746130247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0485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2B38F2-75C8-463B-8968-CE198193311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052EA-3E04-4BC3-BB30-89D3682B4E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4691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25F9C-DB31-40D3-967E-8980A5DF6996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89D71-A451-445C-BABB-EBC0EF356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19732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51E8C-9DC7-4619-956F-92EA27D64F5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80DA0-AA57-47F5-B580-49731FED2C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57108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4C41E-D88E-46A4-B735-59220A312D7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73F5B-68AD-49FF-BBF4-8EA20786B4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9046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7A303-0F5B-4CA5-8B66-1F22BFFA01E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1A575-512B-401E-B60B-D8A8DA332A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89912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4213" y="609600"/>
            <a:ext cx="7773987" cy="5494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26273-A78B-41FD-97F2-659D3BA3951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3536A-0C07-498C-AE65-3603E5A42F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22060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48543-FE0C-458A-9D85-9EC00524DCE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5B406-72BE-4B34-9B47-83D40AEFC1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76878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71B9D-AD30-4B4C-8E3A-335491E5A73D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1B5B5-9B30-489C-B6BD-D30905039F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30231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F66C8-10BC-4928-B20A-4B483D4BE07C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CA351-1D12-437D-83E5-7872765C7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61978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553AF-31D5-460C-ABA8-F9790B91940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13330-0FDD-4848-80F5-50C9B391A0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29855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3BC97-9D00-4560-BB63-4C9E2203883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C28CB-4949-47B7-9F23-5ABA24624A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44530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0D7-A0C8-4978-92DB-69A8FF12A35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6FD6D-2D45-4D62-9DC9-4CA3C54BE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642982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61853-F638-4330-B0BA-795C1ACAD53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EDEBD-3689-4AC6-BECE-3BFA82B755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77309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37DB1-E40F-4AF4-B5F1-1947DCDBC0D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9EC44-F26C-417C-B296-4CC65F5396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078535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7E859-8010-4750-8CAE-0530E4DCC252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0A8AB-4E64-43B1-9D9C-32D32048EB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17880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6C75D-8670-4C3D-B0EA-FB486381E49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622EC-23F2-4A7C-ADDE-52530356AE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64013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49696-2197-43AD-8AC6-B05284D0ACA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8B008-2447-461E-BB94-1ADFF6FFD2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0430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5FE810-E5A4-4848-BD42-9630FA8DD01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26986-CDC3-4F36-B9FD-7487507989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89455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fld id="{ECC961F4-35C8-42AE-B349-5A151483EEB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fld id="{664EF5A8-DA6B-493A-A138-521062FFB5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0" descr="12副本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7"/>
        </a:buBlip>
        <a:defRPr kumimoji="1" sz="2000" kern="1200">
          <a:solidFill>
            <a:schemeClr val="tx1"/>
          </a:solidFill>
          <a:latin typeface="+mj-lt"/>
          <a:ea typeface="+mj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4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fld id="{923AB602-4A45-45BB-ACC9-5EE66692C1C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249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49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400" b="1"/>
            </a:lvl1pPr>
          </a:lstStyle>
          <a:p>
            <a:pPr>
              <a:defRPr/>
            </a:pPr>
            <a:fld id="{1E26AF89-BD46-4348-9137-9C4BE52EE7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055" name="Picture 7" descr="12副本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5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5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31356D-D0DE-40DC-AFDF-AD46DFB9AD64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55A8CB-2FDD-4E74-9CDA-4E7F502DEE26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077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D67E171-4FF2-449D-9B65-4692C8480EA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06438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 dirty="0">
                <a:solidFill>
                  <a:schemeClr val="accent2"/>
                </a:solidFill>
                <a:effectLst/>
                <a:ea typeface="隶书" panose="02010509060101010101" pitchFamily="49" charset="-122"/>
              </a:rPr>
              <a:t>离散数学</a:t>
            </a:r>
            <a:endParaRPr lang="zh-CN" altLang="en-US" sz="6600" b="1" dirty="0">
              <a:solidFill>
                <a:schemeClr val="accent2"/>
              </a:solidFill>
              <a:effectLst/>
              <a:ea typeface="隶书" panose="02010509060101010101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</a:rPr>
              <a:t>Discrete Mathematics</a:t>
            </a:r>
            <a:r>
              <a:rPr lang="en-US" altLang="zh-CN" sz="3600" b="1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9" name="Text Box 4"/>
          <p:cNvSpPr txBox="1">
            <a:spLocks noChangeArrowheads="1"/>
          </p:cNvSpPr>
          <p:nvPr/>
        </p:nvSpPr>
        <p:spPr bwMode="auto">
          <a:xfrm>
            <a:off x="1169988" y="4343400"/>
            <a:ext cx="6858000" cy="132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 博士</a:t>
            </a:r>
            <a:endParaRPr kumimoji="0"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</a:t>
            </a: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计算机与信息学院</a:t>
            </a:r>
          </a:p>
        </p:txBody>
      </p:sp>
      <p:pic>
        <p:nvPicPr>
          <p:cNvPr id="308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034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0644EC-511A-467B-A41B-E13361E0AD90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455EFC-7C76-465F-A59D-EB6356EA3A97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3237" y="2636912"/>
            <a:ext cx="8137525" cy="2159000"/>
          </a:xfrm>
        </p:spPr>
        <p:txBody>
          <a:bodyPr anchor="ctr"/>
          <a:lstStyle/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谓词演算与推理</a:t>
            </a:r>
            <a:b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（下）</a:t>
            </a:r>
            <a:endParaRPr lang="zh-CN" altLang="en-US" sz="48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26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A0041D-99B4-4E66-822E-34DA41E6D63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6147" name="Group 17"/>
          <p:cNvGrpSpPr>
            <a:grpSpLocks/>
          </p:cNvGrpSpPr>
          <p:nvPr/>
        </p:nvGrpSpPr>
        <p:grpSpPr bwMode="auto">
          <a:xfrm>
            <a:off x="2411413" y="2708275"/>
            <a:ext cx="4724400" cy="2449513"/>
            <a:chOff x="1480" y="1570"/>
            <a:chExt cx="2976" cy="1543"/>
          </a:xfrm>
        </p:grpSpPr>
        <p:sp>
          <p:nvSpPr>
            <p:cNvPr id="1170441" name="AutoShape 9"/>
            <p:cNvSpPr>
              <a:spLocks noChangeArrowheads="1"/>
            </p:cNvSpPr>
            <p:nvPr/>
          </p:nvSpPr>
          <p:spPr bwMode="gray">
            <a:xfrm>
              <a:off x="1720" y="2643"/>
              <a:ext cx="2736" cy="37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150" name="AutoShape 10"/>
            <p:cNvSpPr>
              <a:spLocks noChangeArrowheads="1"/>
            </p:cNvSpPr>
            <p:nvPr/>
          </p:nvSpPr>
          <p:spPr bwMode="gray">
            <a:xfrm>
              <a:off x="1480" y="2545"/>
              <a:ext cx="432" cy="568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151" name="Text Box 11"/>
            <p:cNvSpPr txBox="1">
              <a:spLocks noChangeArrowheads="1"/>
            </p:cNvSpPr>
            <p:nvPr/>
          </p:nvSpPr>
          <p:spPr bwMode="gray">
            <a:xfrm>
              <a:off x="1864" y="2690"/>
              <a:ext cx="22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</a:rPr>
                <a:t>  </a:t>
              </a: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谓词逻辑的应用</a:t>
              </a:r>
            </a:p>
          </p:txBody>
        </p:sp>
        <p:sp>
          <p:nvSpPr>
            <p:cNvPr id="6152" name="Text Box 12"/>
            <p:cNvSpPr txBox="1">
              <a:spLocks noChangeArrowheads="1"/>
            </p:cNvSpPr>
            <p:nvPr/>
          </p:nvSpPr>
          <p:spPr bwMode="gray">
            <a:xfrm>
              <a:off x="1573" y="2626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5</a:t>
              </a:r>
            </a:p>
          </p:txBody>
        </p:sp>
        <p:sp>
          <p:nvSpPr>
            <p:cNvPr id="6153" name="AutoShape 19"/>
            <p:cNvSpPr>
              <a:spLocks noChangeArrowheads="1"/>
            </p:cNvSpPr>
            <p:nvPr/>
          </p:nvSpPr>
          <p:spPr bwMode="gray">
            <a:xfrm>
              <a:off x="1720" y="1666"/>
              <a:ext cx="2736" cy="37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154" name="AutoShape 20"/>
            <p:cNvSpPr>
              <a:spLocks noChangeArrowheads="1"/>
            </p:cNvSpPr>
            <p:nvPr/>
          </p:nvSpPr>
          <p:spPr bwMode="gray">
            <a:xfrm>
              <a:off x="1480" y="1570"/>
              <a:ext cx="432" cy="556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155" name="Text Box 21"/>
            <p:cNvSpPr txBox="1">
              <a:spLocks noChangeArrowheads="1"/>
            </p:cNvSpPr>
            <p:nvPr/>
          </p:nvSpPr>
          <p:spPr bwMode="gray">
            <a:xfrm>
              <a:off x="2035" y="1712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谓词逻辑的推理</a:t>
              </a:r>
            </a:p>
          </p:txBody>
        </p:sp>
        <p:sp>
          <p:nvSpPr>
            <p:cNvPr id="6156" name="Text Box 22"/>
            <p:cNvSpPr txBox="1">
              <a:spLocks noChangeArrowheads="1"/>
            </p:cNvSpPr>
            <p:nvPr/>
          </p:nvSpPr>
          <p:spPr bwMode="gray">
            <a:xfrm>
              <a:off x="1573" y="1682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6148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DCA378-B065-483B-9F63-823A49331074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899AFC-1015-46D6-860C-31B99C9DED96}" type="slidenum">
              <a:rPr lang="en-US" altLang="zh-CN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 anchor="ctr"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谓词逻辑的推理</a:t>
            </a:r>
          </a:p>
        </p:txBody>
      </p:sp>
      <p:pic>
        <p:nvPicPr>
          <p:cNvPr id="7174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913" y="930275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谓词逻辑的推理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7550" y="2492375"/>
            <a:ext cx="5616575" cy="3313113"/>
          </a:xfrm>
          <a:noFill/>
        </p:spPr>
        <p:txBody>
          <a:bodyPr lIns="92075" tIns="46038" rIns="92075" bIns="46038"/>
          <a:lstStyle/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谓词公式推理系统</a:t>
            </a:r>
            <a:endParaRPr lang="zh-CN" altLang="en-US" sz="1400" b="1" dirty="0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谓词推理基本方法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谓词推理实例选讲</a:t>
            </a:r>
          </a:p>
        </p:txBody>
      </p:sp>
      <p:pic>
        <p:nvPicPr>
          <p:cNvPr id="819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14A1B2C-CD34-45FC-A610-94D60D072444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6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3B5C74-6471-49E2-98AB-FBE360B4269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谓词推理的构成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22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605" y="476250"/>
            <a:ext cx="1300808" cy="1368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40BA11D-4F28-48F6-84D8-DECB161C2D27}"/>
              </a:ext>
            </a:extLst>
          </p:cNvPr>
          <p:cNvSpPr/>
          <p:nvPr/>
        </p:nvSpPr>
        <p:spPr>
          <a:xfrm>
            <a:off x="359532" y="2204864"/>
            <a:ext cx="8424936" cy="31450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谓词公式的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推理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系统与命题公式的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推理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系统非常类似，主要由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如下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几部分组成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有效推理概念、事实库、公理库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推理规则</a:t>
            </a:r>
            <a:endParaRPr lang="en-US" altLang="zh-CN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事实库和公理库构成谓词公式推理的</a:t>
            </a:r>
            <a:r>
              <a:rPr lang="zh-CN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基本依据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推理规则是谓词公式推理的</a:t>
            </a:r>
            <a:r>
              <a:rPr lang="zh-CN" altLang="zh-CN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核心机制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376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14A1B2C-CD34-45FC-A610-94D60D072444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3B5C74-6471-49E2-98AB-FBE360B4269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Text Box 2"/>
          <p:cNvSpPr txBox="1">
            <a:spLocks noChangeArrowheads="1"/>
          </p:cNvSpPr>
          <p:nvPr/>
        </p:nvSpPr>
        <p:spPr bwMode="auto">
          <a:xfrm>
            <a:off x="1403648" y="692696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谓词推理的概念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22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932" y="476250"/>
            <a:ext cx="1095481" cy="11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24D0C1-67CA-4681-976A-9AE89A299F23}"/>
                  </a:ext>
                </a:extLst>
              </p:cNvPr>
              <p:cNvSpPr/>
              <p:nvPr/>
            </p:nvSpPr>
            <p:spPr>
              <a:xfrm>
                <a:off x="431540" y="1844824"/>
                <a:ext cx="8280920" cy="394428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【定义】设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i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是一些谓词公式，如果它们满足下列性质：</a:t>
                </a:r>
                <a:endParaRPr lang="en-US" altLang="zh-CN" sz="2400" b="1" kern="1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对于这些公式的任意一个解释</a:t>
                </a:r>
                <a:r>
                  <a:rPr lang="en-US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在该解释</a:t>
                </a:r>
                <a:r>
                  <a:rPr lang="zh-CN" altLang="zh-CN" sz="2400" b="1" kern="1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下同时为真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的情况下</a:t>
                </a:r>
                <a:r>
                  <a:rPr lang="en-US" altLang="zh-CN" sz="2400" b="1" i="1" kern="1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b="1" kern="1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在该解释下也为真</a:t>
                </a:r>
                <a:r>
                  <a:rPr lang="zh-CN" altLang="en-US" sz="2400" b="1" kern="1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400" b="1" kern="1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可有效推出公式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，或称由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得到</a:t>
                </a:r>
                <a:r>
                  <a:rPr lang="en-US" altLang="zh-CN" sz="2400" b="1" i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的逻辑推理为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有效推理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记为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：</a:t>
                </a:r>
                <a:endParaRPr lang="en-US" altLang="zh-CN" sz="2400" b="1" kern="1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𝑯</m:t>
                      </m:r>
                    </m:oMath>
                  </m:oMathPara>
                </a14:m>
                <a:endParaRPr lang="en-US" altLang="zh-CN" sz="2400" b="1" kern="1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8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推理前提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i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逻辑结论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。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324D0C1-67CA-4681-976A-9AE89A299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1844824"/>
                <a:ext cx="8280920" cy="3944285"/>
              </a:xfrm>
              <a:prstGeom prst="rect">
                <a:avLst/>
              </a:prstGeom>
              <a:blipFill>
                <a:blip r:embed="rId4"/>
                <a:stretch>
                  <a:fillRect l="-1178" t="-155" r="-1105" b="-2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68095C67-E3C7-446C-8A34-4C4AC9AFA391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8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4CAAA4-2AF1-41E5-9C83-4DC397D30D5F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谓词推理的概念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4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269" y="476250"/>
            <a:ext cx="1127144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7" descr="QQ截图2015022410463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205038"/>
            <a:ext cx="74168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5A8BCF6-1297-4546-A7C1-371548C8584E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9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214939-A9B2-41ED-B12C-699E999D59C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事实库和公理库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126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86" y="476250"/>
            <a:ext cx="1124127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A0ED7C5-8A3A-415B-B11E-912F88B83FC1}"/>
              </a:ext>
            </a:extLst>
          </p:cNvPr>
          <p:cNvSpPr/>
          <p:nvPr/>
        </p:nvSpPr>
        <p:spPr>
          <a:xfrm>
            <a:off x="683568" y="2219762"/>
            <a:ext cx="7920880" cy="369165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事实库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所有前提条件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推理过程中产生的有效中间结论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公理库</a:t>
            </a:r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（基本定律库）</a:t>
            </a:r>
            <a:r>
              <a:rPr lang="en-US" altLang="zh-CN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命题逻辑推演系统的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基本定律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，即关于</a:t>
            </a:r>
            <a:r>
              <a:rPr lang="zh-CN" altLang="zh-CN" sz="2400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命题公式的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24</a:t>
            </a:r>
            <a:r>
              <a:rPr lang="zh-CN" altLang="zh-CN" sz="2400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个基本等值式和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zh-CN" sz="2400" b="1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个基本永真蕴含式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谓词公式的所有基本等值式和基本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永真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蕴含式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2007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5A8BCF6-1297-4546-A7C1-371548C8584E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10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214939-A9B2-41ED-B12C-699E999D59C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26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932" y="476250"/>
            <a:ext cx="1095481" cy="11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7" descr="QQ截图201502241051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24944"/>
            <a:ext cx="7561262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 Box 8"/>
          <p:cNvSpPr txBox="1">
            <a:spLocks noChangeArrowheads="1"/>
          </p:cNvSpPr>
          <p:nvPr/>
        </p:nvSpPr>
        <p:spPr bwMode="auto">
          <a:xfrm>
            <a:off x="878681" y="2094732"/>
            <a:ext cx="2829223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单量词蕴含式：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1362B025-1F2E-4A29-90E2-1BD638A6E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853281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谓词基本蕴含式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B4A6262-8442-4035-BA4A-86F0798CB87A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0AD483-40D6-486B-8952-594946A8FAFE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谓词基本蕴含式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229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269" y="476250"/>
            <a:ext cx="1127144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900113" y="2205038"/>
            <a:ext cx="2807791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多量词蕴含式：</a:t>
            </a:r>
          </a:p>
        </p:txBody>
      </p:sp>
      <p:pic>
        <p:nvPicPr>
          <p:cNvPr id="12295" name="Picture 8" descr="QQ截图201502241053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924175"/>
            <a:ext cx="7056438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4BD3FB4-61CC-47E4-BE5F-775CCCF51678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69640E-4132-48C3-9923-A8DB9A179966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谓词推理规则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331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269" y="476250"/>
            <a:ext cx="1127144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9" descr="QQ截图201502241101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276475"/>
            <a:ext cx="8066087" cy="351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760ACB4-9C4F-4F00-B8F1-B4A5B2F9E057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096A171-C125-48DB-A69A-2925C058786C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全称特指规则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434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490" y="476250"/>
            <a:ext cx="1163923" cy="1224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8" descr="QQ截图201502241438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44675"/>
            <a:ext cx="7056437" cy="437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41C762E-F73D-411D-990A-E663A48BD3A1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14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E5272A7-2C0C-41CE-9B59-782665BF6A84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Text Box 2"/>
          <p:cNvSpPr txBox="1">
            <a:spLocks noChangeArrowheads="1"/>
          </p:cNvSpPr>
          <p:nvPr/>
        </p:nvSpPr>
        <p:spPr bwMode="auto">
          <a:xfrm>
            <a:off x="1371600" y="83820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全称推广规则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536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269" y="476250"/>
            <a:ext cx="1127144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7" descr="QQ截图201502241108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73238"/>
            <a:ext cx="7272337" cy="444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8515112-1884-4828-B3FB-67C3918C6E30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15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5DB45A-134A-41A8-AA92-75306D50E2BE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Text Box 2"/>
          <p:cNvSpPr txBox="1">
            <a:spLocks noChangeArrowheads="1"/>
          </p:cNvSpPr>
          <p:nvPr/>
        </p:nvSpPr>
        <p:spPr bwMode="auto">
          <a:xfrm>
            <a:off x="1371600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存在指定规则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638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75" y="476250"/>
            <a:ext cx="1027038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7" descr="QQ截图201502241442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7" y="1450521"/>
            <a:ext cx="70580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E9091BE-B4F5-49F9-940B-ADDD3F2CAC9A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16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C73F46E-F45E-4443-AFCB-EE4927ACDDD1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Text Box 2"/>
          <p:cNvSpPr txBox="1">
            <a:spLocks noChangeArrowheads="1"/>
          </p:cNvSpPr>
          <p:nvPr/>
        </p:nvSpPr>
        <p:spPr bwMode="auto">
          <a:xfrm>
            <a:off x="1371600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存在推广规则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741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37" y="441325"/>
            <a:ext cx="1128676" cy="11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7" descr="QQ截图201502241444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682750"/>
            <a:ext cx="727392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D18263C-F628-419B-9274-61185E09EDA6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22F0124-4A9C-4546-AC87-1D80485B0C1E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1444625" y="765175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推理规则使用要点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84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482" y="441325"/>
            <a:ext cx="1090931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8" descr="QQ截图201502241530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49463"/>
            <a:ext cx="792003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ABE2E72-8CBE-460A-B6CF-F625D8413ED3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18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2BB689-68F0-43C7-8115-F007B57F9DED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Text Box 2"/>
          <p:cNvSpPr txBox="1">
            <a:spLocks noChangeArrowheads="1"/>
          </p:cNvSpPr>
          <p:nvPr/>
        </p:nvSpPr>
        <p:spPr bwMode="auto">
          <a:xfrm>
            <a:off x="1444625" y="765175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正确使用推理规则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946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482" y="441325"/>
            <a:ext cx="1090931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7" descr="QQ截图2015022414575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700213"/>
            <a:ext cx="6985000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C4E0AFD-09EE-4C8D-AF69-C08108DE7276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31A032-6AD7-4766-8F5A-1F3FAB55E56C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048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60" y="441325"/>
            <a:ext cx="112865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AutoShape 7"/>
          <p:cNvSpPr>
            <a:spLocks noChangeArrowheads="1"/>
          </p:cNvSpPr>
          <p:nvPr/>
        </p:nvSpPr>
        <p:spPr bwMode="auto">
          <a:xfrm>
            <a:off x="1133475" y="2492375"/>
            <a:ext cx="7704138" cy="273685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1703388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82775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62163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4155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987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559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131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703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注意：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kumimoji="0" lang="fr-FR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US</a:t>
            </a:r>
            <a:r>
              <a:rPr kumimoji="0" lang="zh-CN" altLang="fr-FR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</a:t>
            </a:r>
            <a:r>
              <a:rPr kumimoji="0" lang="zh-CN" altLang="fr-FR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消去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量词时，所选用取代</a:t>
            </a:r>
            <a:r>
              <a:rPr kumimoji="0" lang="fr-FR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的变元</a:t>
            </a:r>
            <a:r>
              <a:rPr kumimoji="0" lang="fr-FR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在公式中必须是</a:t>
            </a:r>
            <a:r>
              <a:rPr kumimoji="0" lang="zh-CN" altLang="fr-FR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自由的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0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2D88843-37A2-41F6-AD0F-A399C212161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DC0D0A4-B9F0-4EAF-8F4E-BA5329442480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50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60" y="441325"/>
            <a:ext cx="112865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7" descr="QQ截图201511041338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628775"/>
            <a:ext cx="73628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2734AE06-CC31-4EE4-898B-246C92C7D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E746EE9-2708-4034-A485-2C9FB73A520C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A30593-4534-42CD-A6F6-3A41577877E6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37" y="441325"/>
            <a:ext cx="1128676" cy="11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5447" name="AutoShape 7"/>
          <p:cNvSpPr>
            <a:spLocks noChangeArrowheads="1"/>
          </p:cNvSpPr>
          <p:nvPr/>
        </p:nvSpPr>
        <p:spPr bwMode="auto">
          <a:xfrm>
            <a:off x="1116013" y="2205038"/>
            <a:ext cx="7272337" cy="295275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1703388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82775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62163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4155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987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559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131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703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kumimoji="0" lang="fr-FR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ES</a:t>
            </a:r>
            <a:r>
              <a:rPr kumimoji="0" lang="zh-CN" altLang="fr-FR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</a:t>
            </a:r>
            <a:r>
              <a:rPr kumimoji="0" lang="zh-CN" altLang="fr-FR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消去</a:t>
            </a:r>
            <a:r>
              <a:rPr kumimoji="0" lang="zh-CN" altLang="fr-FR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量词时， </a:t>
            </a:r>
            <a:r>
              <a:rPr lang="zh-CN" altLang="en-US" sz="2800" b="1" noProof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若还有其它</a:t>
            </a:r>
            <a:r>
              <a:rPr kumimoji="0" lang="zh-CN" altLang="en-US" sz="2800" b="1" noProof="1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自由变</a:t>
            </a:r>
            <a:r>
              <a:rPr kumimoji="0"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</a:t>
            </a: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zh-CN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则必须用关于自由变元的</a:t>
            </a:r>
            <a:r>
              <a:rPr kumimoji="0" lang="zh-CN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函数符号</a:t>
            </a:r>
            <a:r>
              <a:rPr lang="zh-CN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来取代常量符号</a:t>
            </a: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1D794291-3BFD-44A7-BC0C-B2FCBC147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F5673A4-DD2C-40A1-BB27-4BDD2844AD41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9C7294-454E-4D43-90D8-8A7DC7282F3D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55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37" y="441325"/>
            <a:ext cx="1128676" cy="11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7" descr="QQ截图201502241503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852613"/>
            <a:ext cx="7200900" cy="418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8B65F7C5-4F0D-440A-ACF0-E3C272BB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25A3EE7-FE3A-400C-AA5B-EB835EB038EB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3D76F38-1464-454E-A6E5-4EC1545BA55B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5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37" y="441325"/>
            <a:ext cx="1128676" cy="11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67" name="AutoShape 7"/>
          <p:cNvSpPr>
            <a:spLocks noChangeArrowheads="1"/>
          </p:cNvSpPr>
          <p:nvPr/>
        </p:nvSpPr>
        <p:spPr bwMode="auto">
          <a:xfrm>
            <a:off x="1042988" y="2565400"/>
            <a:ext cx="7561262" cy="2879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>
                  <a:alpha val="89999"/>
                </a:srgbClr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03388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82775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62163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41550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987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559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131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703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defRPr/>
            </a:pPr>
            <a:r>
              <a:rPr kumimoji="0"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注意：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defRPr/>
            </a:pPr>
            <a:r>
              <a:rPr kumimoji="0"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kumimoji="0" lang="zh-CN" altLang="fr-FR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kumimoji="0" lang="fr-FR" altLang="zh-CN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UG</a:t>
            </a:r>
            <a:r>
              <a:rPr kumimoji="0" lang="zh-CN" altLang="fr-FR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kumimoji="0" lang="zh-CN" altLang="fr-FR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</a:t>
            </a:r>
            <a:r>
              <a:rPr kumimoji="0" lang="zh-CN" altLang="fr-FR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</a:t>
            </a:r>
            <a:r>
              <a:rPr kumimoji="0" lang="zh-CN" altLang="fr-FR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量词时， </a:t>
            </a:r>
            <a:r>
              <a:rPr kumimoji="0" lang="zh-CN" altLang="zh-CN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所使用的变元符号不能与辖域内的变元符号相同</a:t>
            </a:r>
            <a:r>
              <a:rPr lang="en-US" altLang="zh-CN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5FC4FBA-40F1-4328-9C2A-5DF59A8C6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1A2B92D5-EA6B-4123-A659-B2ABDE857238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C6BC2F7-B905-4B6E-829E-23221B06D629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56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639" y="441325"/>
            <a:ext cx="1028774" cy="108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 descr="QQ截图201502241505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989138"/>
            <a:ext cx="7129462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280B9526-6C40-4101-8CA5-D92A6D8F2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7E14D57-07E5-48DC-B9C3-21B289CD0618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DB66D9-32B4-4626-9550-E7721F45961F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62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37" y="441325"/>
            <a:ext cx="1128676" cy="11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1415" name="AutoShape 7"/>
          <p:cNvSpPr>
            <a:spLocks noChangeArrowheads="1"/>
          </p:cNvSpPr>
          <p:nvPr/>
        </p:nvSpPr>
        <p:spPr bwMode="auto">
          <a:xfrm>
            <a:off x="1116013" y="2708275"/>
            <a:ext cx="7632700" cy="252095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>
                  <a:alpha val="89999"/>
                </a:srgbClr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00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03388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882775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062163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41550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987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559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131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7035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0" lang="zh-CN" altLang="en-US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注意：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kumimoji="0"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kumimoji="0" lang="zh-CN" altLang="fr-FR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kumimoji="0" lang="fr-FR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EG</a:t>
            </a:r>
            <a:r>
              <a:rPr kumimoji="0" lang="zh-CN" altLang="fr-FR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kumimoji="0" lang="zh-CN" altLang="fr-FR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</a:t>
            </a:r>
            <a:r>
              <a:rPr kumimoji="0" lang="zh-CN" altLang="fr-FR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</a:t>
            </a:r>
            <a:r>
              <a:rPr kumimoji="0" lang="zh-CN" altLang="fr-FR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量词时， </a:t>
            </a:r>
            <a:r>
              <a:rPr kumimoji="0" lang="zh-CN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所使用的变元符号不能与辖域内的变元符号相同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A2137B92-0168-4BB6-950D-68E86514B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692696"/>
            <a:ext cx="632474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推理规则使用要点 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58888" y="847725"/>
            <a:ext cx="6481762" cy="769938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谓词逻辑的推理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68538" y="2565400"/>
            <a:ext cx="5688012" cy="3527425"/>
          </a:xfrm>
          <a:noFill/>
        </p:spPr>
        <p:txBody>
          <a:bodyPr lIns="92075" tIns="46038" rIns="92075" bIns="46038"/>
          <a:lstStyle/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谓词公式推演系统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谓词推理基本方法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谓词推理实例选讲</a:t>
            </a:r>
          </a:p>
        </p:txBody>
      </p:sp>
      <p:pic>
        <p:nvPicPr>
          <p:cNvPr id="276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3599B72-8DF4-4904-8FC5-2041E0F235A4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740FE6C-8C0B-4A09-B549-4AAB9D63DD6D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Text Box 2"/>
          <p:cNvSpPr txBox="1">
            <a:spLocks noChangeArrowheads="1"/>
          </p:cNvSpPr>
          <p:nvPr/>
        </p:nvSpPr>
        <p:spPr bwMode="auto">
          <a:xfrm>
            <a:off x="1444625" y="102076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谓词推理方法</a:t>
            </a:r>
          </a:p>
        </p:txBody>
      </p:sp>
      <p:pic>
        <p:nvPicPr>
          <p:cNvPr id="286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7" descr="QQ截图201502241544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76872"/>
            <a:ext cx="7993062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F917864-7019-4AA3-B978-D6C90399D00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28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425A57-CCF4-4CAD-999F-21112EF495DA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Text Box 2"/>
          <p:cNvSpPr txBox="1">
            <a:spLocks noChangeArrowheads="1"/>
          </p:cNvSpPr>
          <p:nvPr/>
        </p:nvSpPr>
        <p:spPr bwMode="auto">
          <a:xfrm>
            <a:off x="1444625" y="8366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谓词推理方法</a:t>
            </a:r>
          </a:p>
        </p:txBody>
      </p:sp>
      <p:pic>
        <p:nvPicPr>
          <p:cNvPr id="2970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2204864"/>
            <a:ext cx="8087494" cy="343857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）默认所有谓词公式的个体域为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全总个体域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）可以引用</a:t>
            </a:r>
            <a:r>
              <a:rPr lang="en-US" altLang="zh-CN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US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规则和</a:t>
            </a:r>
            <a:r>
              <a:rPr lang="en-US" altLang="zh-CN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ES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消除量词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）可以引用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黑体" panose="02010609060101010101" pitchFamily="49" charset="-122"/>
              </a:rPr>
              <a:t>UG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规则和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黑体" panose="02010609060101010101" pitchFamily="49" charset="-122"/>
              </a:rPr>
              <a:t>EG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添加量词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）可以引用命题演算中的</a:t>
            </a:r>
            <a:r>
              <a:rPr lang="en-US" altLang="zh-CN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规则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T</a:t>
            </a:r>
            <a:r>
              <a:rPr lang="zh-CN" altLang="en-US" sz="2400" b="1" dirty="0">
                <a:solidFill>
                  <a:srgbClr val="FFFF00"/>
                </a:solidFill>
                <a:latin typeface="+mj-lt"/>
                <a:ea typeface="黑体" panose="02010609060101010101" pitchFamily="49" charset="-122"/>
              </a:rPr>
              <a:t>规则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）如果结论是以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蕴含运算式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（或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析取式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）给出，可以使用</a:t>
            </a:r>
            <a:r>
              <a:rPr lang="en-US" altLang="zh-CN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黑体" panose="02010609060101010101" pitchFamily="49" charset="-122"/>
              </a:rPr>
              <a:t>CP</a:t>
            </a:r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AFA1B682-53FB-4785-AA9B-AB77CA1A54F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29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A68C3F-E2E7-4FFD-A586-85850D294074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Text Box 2"/>
          <p:cNvSpPr txBox="1">
            <a:spLocks noChangeArrowheads="1"/>
          </p:cNvSpPr>
          <p:nvPr/>
        </p:nvSpPr>
        <p:spPr bwMode="auto">
          <a:xfrm>
            <a:off x="1444625" y="8366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谓词推理方法</a:t>
            </a:r>
          </a:p>
        </p:txBody>
      </p:sp>
      <p:pic>
        <p:nvPicPr>
          <p:cNvPr id="3072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78681" y="2276872"/>
            <a:ext cx="7653759" cy="33297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）证明时可采用如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命题演算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直接证明方法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间接证明方法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）对已消去量词的公式或不含量词的子公式，可以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</a:t>
            </a:r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命题演算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中的基本等值式和基本蕴含式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）对含有量词的公式可以</a:t>
            </a:r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引用谓词中基本等值式和基本蕴含公式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426ABEE4-D163-4B84-ACF9-1CC5EBBC642A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30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B557BA8-AF03-45E2-A241-09B2ACEB3696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1531937" y="620688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277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179" y="441325"/>
            <a:ext cx="1060234" cy="111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F3D8C-BE2E-4CB5-8D05-344D2C633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628800"/>
            <a:ext cx="8496944" cy="46494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C03347D-E41E-4DFC-8BC6-B61BCD61CD52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5F4B5D-4EA3-443E-9D59-312A9150014C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Text Box 2"/>
          <p:cNvSpPr txBox="1">
            <a:spLocks noChangeArrowheads="1"/>
          </p:cNvSpPr>
          <p:nvPr/>
        </p:nvSpPr>
        <p:spPr bwMode="auto">
          <a:xfrm>
            <a:off x="1444625" y="765175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379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7" descr="QQ截图201502251130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58" y="1772816"/>
            <a:ext cx="6697662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FCE6450A-2A98-4365-BD56-8A50E4140823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32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DC4C04F-5777-4561-933B-14B96EC117F4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Text Box 2"/>
          <p:cNvSpPr txBox="1">
            <a:spLocks noChangeArrowheads="1"/>
          </p:cNvSpPr>
          <p:nvPr/>
        </p:nvSpPr>
        <p:spPr bwMode="auto">
          <a:xfrm>
            <a:off x="1444625" y="765175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482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7" descr="QQ截图201502251132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54175"/>
            <a:ext cx="6624638" cy="458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1A7E892-926F-4672-B3BE-20DD367BC96C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33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E8729CA-E4CF-4BFB-9DAF-A20B930EC409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Text Box 2"/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891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7" descr="QQ截图201502251139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28763"/>
            <a:ext cx="6769100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C4602CA5-7908-4C9A-96E9-9F814A82AD27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34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38ECE5-EDC5-40E9-9DD8-0F19101A262D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Text Box 2"/>
          <p:cNvSpPr txBox="1">
            <a:spLocks noChangeArrowheads="1"/>
          </p:cNvSpPr>
          <p:nvPr/>
        </p:nvSpPr>
        <p:spPr bwMode="auto">
          <a:xfrm>
            <a:off x="1403648" y="555155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994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9F6AA2C-90D4-4921-A42E-880D03829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184" y="1560213"/>
            <a:ext cx="6501631" cy="473087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DD06E38-4EDC-49FB-80CF-C49C89F9D734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35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D18A57-5AC3-4B7C-8AFC-6C924DBF63C2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Text Box 2"/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096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7" descr="QQ截图201502251142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700213"/>
            <a:ext cx="6481763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89C141C-5BBF-4F15-934E-0FA52C2BD6CF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36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912BD01-ECCE-4FAF-BF4C-E30CDCCD47F5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Text Box 2"/>
          <p:cNvSpPr txBox="1">
            <a:spLocks noChangeArrowheads="1"/>
          </p:cNvSpPr>
          <p:nvPr/>
        </p:nvSpPr>
        <p:spPr bwMode="auto">
          <a:xfrm>
            <a:off x="1475656" y="561964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198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60" y="441325"/>
            <a:ext cx="112865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7EC69BC-97A7-423B-AB88-7BCEA6144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556792"/>
            <a:ext cx="7776864" cy="46873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761623A-50C8-4E83-9110-A43DFEF47A43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8119535-59B2-4F36-AA52-513A95CAF3A3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Text Box 2"/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301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179" y="441325"/>
            <a:ext cx="1060234" cy="111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7" descr="QQ截图201502251147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24055"/>
            <a:ext cx="7777162" cy="443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DF2ECD5-8171-40FB-9C44-56C28F7D0FFF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38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359C3F5-298E-4090-B667-3A2285E7FCD9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Text Box 2"/>
          <p:cNvSpPr txBox="1">
            <a:spLocks noChangeArrowheads="1"/>
          </p:cNvSpPr>
          <p:nvPr/>
        </p:nvSpPr>
        <p:spPr bwMode="auto">
          <a:xfrm>
            <a:off x="1444625" y="692150"/>
            <a:ext cx="6080125" cy="82391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谓词推理例题</a:t>
            </a:r>
            <a:endParaRPr lang="en-US" altLang="zh-CN" sz="4800" b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608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7" descr="QQ截图201502251221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06550"/>
            <a:ext cx="7056437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331913" y="765175"/>
            <a:ext cx="6513512" cy="830263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谓词逻辑的推理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68538" y="2565400"/>
            <a:ext cx="5576887" cy="3527425"/>
          </a:xfrm>
          <a:noFill/>
        </p:spPr>
        <p:txBody>
          <a:bodyPr lIns="92075" tIns="46038" rIns="92075" bIns="46038"/>
          <a:lstStyle/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谓词公式推演系统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谓词推理基本方法</a:t>
            </a: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谓词推理实例选讲</a:t>
            </a:r>
          </a:p>
        </p:txBody>
      </p:sp>
      <p:pic>
        <p:nvPicPr>
          <p:cNvPr id="4915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10C10636-837C-4729-A045-B9822B4FFC3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40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5341FE-ED4D-459E-8669-11A6CFAAAC6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Text Box 2"/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01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179" y="441325"/>
            <a:ext cx="1060234" cy="111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596353-4314-4AB5-A024-CA7FDDF0B52E}"/>
              </a:ext>
            </a:extLst>
          </p:cNvPr>
          <p:cNvSpPr/>
          <p:nvPr/>
        </p:nvSpPr>
        <p:spPr>
          <a:xfrm>
            <a:off x="1043608" y="2420888"/>
            <a:ext cx="7272808" cy="2962734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3200" kern="100" dirty="0">
                <a:cs typeface="Times New Roman" panose="02020603050405020304" pitchFamily="18" charset="0"/>
              </a:rPr>
              <a:t>     </a:t>
            </a:r>
            <a:r>
              <a:rPr lang="zh-CN" altLang="zh-CN" sz="32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谓词逻辑提供了在</a:t>
            </a:r>
            <a:r>
              <a:rPr lang="zh-CN" altLang="zh-CN" sz="3200" kern="100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概念层次</a:t>
            </a:r>
            <a:r>
              <a:rPr lang="zh-CN" altLang="zh-CN" sz="32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上的信息或知识的表达方式，可以实现比命题逻辑</a:t>
            </a:r>
            <a:r>
              <a:rPr lang="zh-CN" altLang="zh-CN" sz="3200" kern="100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更加精细、更加深刻、更加复杂</a:t>
            </a:r>
            <a:r>
              <a:rPr lang="zh-CN" altLang="zh-CN" sz="32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的逻辑推理。</a:t>
            </a:r>
          </a:p>
        </p:txBody>
      </p:sp>
    </p:spTree>
    <p:extLst>
      <p:ext uri="{BB962C8B-B14F-4D97-AF65-F5344CB8AC3E}">
        <p14:creationId xmlns:p14="http://schemas.microsoft.com/office/powerpoint/2010/main" val="3963894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10C10636-837C-4729-A045-B9822B4FFC3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5341FE-ED4D-459E-8669-11A6CFAAAC67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Text Box 2"/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01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179" y="441325"/>
            <a:ext cx="1060234" cy="111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9F68569-4AD3-4265-A724-08946D9C3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43" y="1844824"/>
            <a:ext cx="8690514" cy="432045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CE58E690-E5AA-489C-8F44-2C72E5D2C3C9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42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D05B8C-1A80-4716-991F-FCD3C612276A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A0289B8-ACCE-4D1A-8253-78378DA7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1772816"/>
            <a:ext cx="6983435" cy="4301796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3639BE14-7E01-4135-A56C-3B28E739B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32C0A48-4F15-46BF-850D-D0B69D14F80A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43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DC358E-6CD5-4247-B7E8-006FDE7C4A1B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222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194E53D-93BB-4ED2-863C-141495FE7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1868989"/>
            <a:ext cx="7631213" cy="4366522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682F8AE7-DFBA-44E7-A9F3-76CACB04C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31F7B4C3-1811-459E-A28C-4107D9D863ED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44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11AF5CC-2234-4EF4-A112-D1E76288E849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325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621" y="441325"/>
            <a:ext cx="991791" cy="1043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E8861F-4886-41E1-AE31-01E610493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657998"/>
            <a:ext cx="8856984" cy="4628051"/>
          </a:xfrm>
          <a:prstGeom prst="rect">
            <a:avLst/>
          </a:prstGeom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623F4549-1886-4244-A878-186839AAA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B4532E1-CF48-4664-90B5-12A1FFDD314C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45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60D7AE-62ED-45ED-8855-92BEBB5E4C43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4B95275-407C-41D4-ADEB-248433F7D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371" y="1428723"/>
            <a:ext cx="5688632" cy="4911752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2702E98C-26CD-449F-9760-1CC7044D8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2162A11E-0842-4C61-B2AB-6F6928D09238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46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3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4CC217-3848-4481-88D5-D71DEDA090C9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632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087" y="441325"/>
            <a:ext cx="1089326" cy="11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3B6A93C-5361-4395-8D20-B786CA9F2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1587400"/>
            <a:ext cx="8216631" cy="4699422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11502B19-2C27-467A-8814-2EF1D65A9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620713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DCD163D-1CB9-4196-A01C-A23DFAAA9F5C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47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日期占位符 4"/>
          <p:cNvSpPr txBox="1">
            <a:spLocks noGrp="1"/>
          </p:cNvSpPr>
          <p:nvPr/>
        </p:nvSpPr>
        <p:spPr bwMode="auto">
          <a:xfrm>
            <a:off x="1271588" y="6472238"/>
            <a:ext cx="9461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E3DF46-502A-4B70-A851-BE159D8A8CF2}" type="datetime1">
              <a:rPr kumimoji="0" lang="zh-CN" altLang="en-US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734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441325"/>
            <a:ext cx="1401763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1984697-668F-4497-BDB2-8C1FCC45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484784"/>
            <a:ext cx="6360665" cy="5248607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9BC6012F-EB39-4208-9A58-BF9EA65D6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548680"/>
            <a:ext cx="6080125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谓词推理实例</a:t>
            </a:r>
            <a:endParaRPr lang="en-US" altLang="zh-CN" sz="48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E87EB-340C-483D-A1C5-1A9E2BAEB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420888"/>
            <a:ext cx="2410173" cy="276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7BA58A6-9352-406E-BA0C-AEFDABF2197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5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4516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8724867-1F87-495A-89FB-052E3AEDFEC1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17" name="Text Box 2"/>
          <p:cNvSpPr txBox="1">
            <a:spLocks noChangeArrowheads="1"/>
          </p:cNvSpPr>
          <p:nvPr/>
        </p:nvSpPr>
        <p:spPr bwMode="auto">
          <a:xfrm>
            <a:off x="1676400" y="152400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本节内容到此结束</a:t>
            </a:r>
          </a:p>
        </p:txBody>
      </p:sp>
      <p:sp>
        <p:nvSpPr>
          <p:cNvPr id="64518" name="WordArt 3"/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4828B6-3CCD-49BF-8B2E-A86392BEB54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65539" name="Group 17"/>
          <p:cNvGrpSpPr>
            <a:grpSpLocks/>
          </p:cNvGrpSpPr>
          <p:nvPr/>
        </p:nvGrpSpPr>
        <p:grpSpPr bwMode="auto">
          <a:xfrm>
            <a:off x="2411413" y="2852738"/>
            <a:ext cx="4779962" cy="2081212"/>
            <a:chOff x="1487" y="1648"/>
            <a:chExt cx="3011" cy="1311"/>
          </a:xfrm>
        </p:grpSpPr>
        <p:sp>
          <p:nvSpPr>
            <p:cNvPr id="65541" name="AutoShape 19"/>
            <p:cNvSpPr>
              <a:spLocks noChangeArrowheads="1"/>
            </p:cNvSpPr>
            <p:nvPr/>
          </p:nvSpPr>
          <p:spPr bwMode="gray">
            <a:xfrm>
              <a:off x="1762" y="2506"/>
              <a:ext cx="2736" cy="37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5542" name="AutoShape 20"/>
            <p:cNvSpPr>
              <a:spLocks noChangeArrowheads="1"/>
            </p:cNvSpPr>
            <p:nvPr/>
          </p:nvSpPr>
          <p:spPr bwMode="gray">
            <a:xfrm>
              <a:off x="1530" y="2403"/>
              <a:ext cx="432" cy="556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70441" name="AutoShape 9"/>
            <p:cNvSpPr>
              <a:spLocks noChangeArrowheads="1"/>
            </p:cNvSpPr>
            <p:nvPr/>
          </p:nvSpPr>
          <p:spPr bwMode="gray">
            <a:xfrm>
              <a:off x="1747" y="1732"/>
              <a:ext cx="2736" cy="37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kumimoji="0" lang="zh-CN" altLang="en-US"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65544" name="AutoShape 10"/>
            <p:cNvSpPr>
              <a:spLocks noChangeArrowheads="1"/>
            </p:cNvSpPr>
            <p:nvPr/>
          </p:nvSpPr>
          <p:spPr bwMode="gray">
            <a:xfrm>
              <a:off x="1487" y="1648"/>
              <a:ext cx="432" cy="568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65545" name="Text Box 11"/>
            <p:cNvSpPr txBox="1">
              <a:spLocks noChangeArrowheads="1"/>
            </p:cNvSpPr>
            <p:nvPr/>
          </p:nvSpPr>
          <p:spPr bwMode="gray">
            <a:xfrm>
              <a:off x="1962" y="2528"/>
              <a:ext cx="22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谓词逻辑的应用</a:t>
              </a:r>
            </a:p>
          </p:txBody>
        </p:sp>
        <p:sp>
          <p:nvSpPr>
            <p:cNvPr id="65546" name="Text Box 12"/>
            <p:cNvSpPr txBox="1">
              <a:spLocks noChangeArrowheads="1"/>
            </p:cNvSpPr>
            <p:nvPr/>
          </p:nvSpPr>
          <p:spPr bwMode="gray">
            <a:xfrm>
              <a:off x="1631" y="2490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5</a:t>
              </a:r>
            </a:p>
          </p:txBody>
        </p:sp>
        <p:sp>
          <p:nvSpPr>
            <p:cNvPr id="65547" name="Text Box 21"/>
            <p:cNvSpPr txBox="1">
              <a:spLocks noChangeArrowheads="1"/>
            </p:cNvSpPr>
            <p:nvPr/>
          </p:nvSpPr>
          <p:spPr bwMode="gray">
            <a:xfrm>
              <a:off x="2035" y="1712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谓词逻辑的推理</a:t>
              </a:r>
            </a:p>
          </p:txBody>
        </p:sp>
        <p:sp>
          <p:nvSpPr>
            <p:cNvPr id="65548" name="Text Box 22"/>
            <p:cNvSpPr txBox="1">
              <a:spLocks noChangeArrowheads="1"/>
            </p:cNvSpPr>
            <p:nvPr/>
          </p:nvSpPr>
          <p:spPr bwMode="gray">
            <a:xfrm>
              <a:off x="1588" y="1712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</p:grpSp>
      <p:sp>
        <p:nvSpPr>
          <p:cNvPr id="65540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本章学习内容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927ED3-A21F-458E-B78A-DAC2D8EDEBDC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3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66564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CC76E3C-444B-43C8-87AC-7D3DC4C4ADAB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谓词逻辑的应用</a:t>
            </a:r>
          </a:p>
        </p:txBody>
      </p:sp>
      <p:pic>
        <p:nvPicPr>
          <p:cNvPr id="66566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331913" y="765175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谓词逻辑的应用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27784" y="2780928"/>
            <a:ext cx="4679950" cy="2160240"/>
          </a:xfrm>
          <a:noFill/>
        </p:spPr>
        <p:txBody>
          <a:bodyPr lIns="92075" tIns="46038" rIns="92075" bIns="46038"/>
          <a:lstStyle/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水容器问题</a:t>
            </a:r>
            <a:endParaRPr lang="en-US" altLang="zh-CN" sz="3600" b="1" dirty="0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摘香蕉问题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758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1363662" y="620688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089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49275"/>
            <a:ext cx="971600" cy="10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200D91-3BC0-460F-8C56-482ADD20676B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1590378"/>
            <a:ext cx="6878216" cy="4524375"/>
          </a:xfrm>
          <a:prstGeom prst="rect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indent="26733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设有两个分别能盛</a:t>
            </a:r>
            <a:r>
              <a:rPr lang="en-US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升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升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水容器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初始均为空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，允许对容器做以下三种操作：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向容器倒满水；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（</a:t>
            </a:r>
            <a:r>
              <a:rPr lang="en-US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将容器中的水倒光；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（</a:t>
            </a:r>
            <a:r>
              <a:rPr lang="en-US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从一个容器倒水至另一个容器，使一个容器倒光或另一容器倒满</a:t>
            </a:r>
            <a:r>
              <a:rPr lang="zh-CN" altLang="zh-CN" sz="2400" b="1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733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最后要求能使</a:t>
            </a:r>
            <a:r>
              <a:rPr lang="zh-CN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大容器（能盛</a:t>
            </a:r>
            <a:r>
              <a:rPr lang="en-US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升的容器）中有</a:t>
            </a:r>
            <a:r>
              <a:rPr lang="en-US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升水</a:t>
            </a:r>
            <a:r>
              <a:rPr lang="zh-CN" altLang="zh-CN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，并求其操作过程</a:t>
            </a:r>
            <a:r>
              <a:rPr lang="zh-CN" altLang="zh-CN" sz="2400" b="1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5482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1547664" y="637531"/>
            <a:ext cx="5544616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294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49275"/>
            <a:ext cx="1043608" cy="1098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8F53C0-790C-4B32-9B65-6777037BF888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15616" y="1998768"/>
            <a:ext cx="7180846" cy="3970318"/>
          </a:xfrm>
          <a:prstGeom prst="rect">
            <a:avLst/>
          </a:prstGeom>
          <a:blipFill>
            <a:blip r:embed="rId4"/>
            <a:stretch>
              <a:fillRect l="-170" r="-85" b="-461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71749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549275"/>
            <a:ext cx="971600" cy="10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200D91-3BC0-460F-8C56-482ADD20676B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46F54575-C041-4647-B22A-522296632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794624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问题求解过程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B2D67C-23F3-4F8B-924C-DB88903E8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2492896"/>
            <a:ext cx="8640960" cy="26617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21489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1203325" y="801688"/>
            <a:ext cx="6416675" cy="76835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397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1D548A-9AC9-4938-9193-19104F926BFE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544" y="1863795"/>
            <a:ext cx="7612844" cy="4154984"/>
          </a:xfrm>
          <a:prstGeom prst="rect">
            <a:avLst/>
          </a:prstGeom>
          <a:blipFill>
            <a:blip r:embed="rId4"/>
            <a:stretch>
              <a:fillRect t="-1615" b="-205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859548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1331640" y="620688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499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977" y="549275"/>
            <a:ext cx="1094023" cy="115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CAAFA3-1F79-44A6-AB68-0F151E07BB47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7589" y="1584380"/>
            <a:ext cx="6840760" cy="4708981"/>
          </a:xfrm>
          <a:prstGeom prst="rect">
            <a:avLst/>
          </a:prstGeom>
          <a:blipFill>
            <a:blip r:embed="rId4"/>
            <a:stretch>
              <a:fillRect t="-77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390121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601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599D09-A85F-4E61-B44F-9EA71329ECDF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6021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73238"/>
            <a:ext cx="7561262" cy="4503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099605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704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2E0CFC-C65B-41FB-9AE7-EDE29C856B30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7045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73238"/>
            <a:ext cx="76327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46131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水容器问题</a:t>
            </a:r>
          </a:p>
        </p:txBody>
      </p:sp>
      <p:pic>
        <p:nvPicPr>
          <p:cNvPr id="8806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977" y="549275"/>
            <a:ext cx="1094023" cy="115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8A98FC-E164-4870-A239-56306F6A927A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8069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69281"/>
            <a:ext cx="781685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49525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331913" y="765175"/>
            <a:ext cx="62722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谓词逻辑的应用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43808" y="2636912"/>
            <a:ext cx="4679950" cy="2160240"/>
          </a:xfrm>
          <a:noFill/>
        </p:spPr>
        <p:txBody>
          <a:bodyPr lIns="92075" tIns="46038" rIns="92075" bIns="46038"/>
          <a:lstStyle/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水容器问题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摘香蕉问题</a:t>
            </a:r>
            <a:endParaRPr lang="en-US" altLang="zh-CN" sz="3600" b="1" dirty="0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None/>
            </a:pP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758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95047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684838" y="2708275"/>
            <a:ext cx="3279775" cy="2747963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68611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6861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F0E536-9C4E-4D86-885A-96C3E5CFC943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0825" y="2005013"/>
            <a:ext cx="5184775" cy="4156075"/>
          </a:xfrm>
          <a:prstGeom prst="rect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假设某房间里有一只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（不妨设想其为机器人），位于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sz="24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；另有一只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箱子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，位于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4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；而在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sz="24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的顶棚上吊着一把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香蕉</a:t>
            </a:r>
            <a:r>
              <a:rPr lang="zh-CN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i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猴子自然希望能得到这把香蕉，但它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因身材矮小够不到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，当然，如果它站在箱子上便可如愿</a:t>
            </a:r>
            <a:r>
              <a:rPr lang="zh-CN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猴子的智慧尚不能像人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那样，对将箱子推到香蕉下，踩在箱子上就可摘到香蕉的解决方案一目了然</a:t>
            </a:r>
            <a:r>
              <a:rPr lang="zh-CN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试</a:t>
            </a:r>
            <a:r>
              <a:rPr lang="zh-CN" altLang="zh-CN" sz="24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为猴子规划一个能摘到香蕉的行动计划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176" y="2815590"/>
            <a:ext cx="3384376" cy="2649199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065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A6CC8-A723-40FC-9042-8C4A02432877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2749550"/>
            <a:ext cx="7377113" cy="3108325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定义以下几个谓词：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AT</a:t>
            </a:r>
            <a:r>
              <a:rPr lang="zh-CN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b="1" i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On</a:t>
            </a:r>
            <a:r>
              <a:rPr lang="en-US" altLang="zh-CN" b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en-US" altLang="zh-CN" b="1" i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Box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猴子在箱子上面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”；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b="1" i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Hold</a:t>
            </a:r>
            <a:r>
              <a:rPr lang="en-US" altLang="zh-CN" b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_</a:t>
            </a:r>
            <a:r>
              <a:rPr lang="en-US" altLang="zh-CN" b="1" i="1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猴子已经摘到香蕉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i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并规定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的个体域</a:t>
            </a:r>
            <a:r>
              <a:rPr lang="en-US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｛猴子、箱子、香蕉｝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；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i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zh-CN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的个体域</a:t>
            </a:r>
            <a:r>
              <a:rPr lang="en-US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｛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｝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4213" y="2035175"/>
            <a:ext cx="5915025" cy="522288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可用谓词逻辑进行问题表示和求解。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168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CCC263-E6FD-4DDE-A945-CDCE01B3A839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28386" y="1871403"/>
            <a:ext cx="5484582" cy="1938992"/>
          </a:xfrm>
          <a:prstGeom prst="rect">
            <a:avLst/>
          </a:prstGeom>
          <a:blipFill>
            <a:blip r:embed="rId4"/>
            <a:stretch>
              <a:fillRect l="-1667" t="-2516" b="-534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/>
          <p:cNvSpPr/>
          <p:nvPr/>
        </p:nvSpPr>
        <p:spPr>
          <a:xfrm>
            <a:off x="1187450" y="4043363"/>
            <a:ext cx="5426075" cy="1939925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目标状态：</a:t>
            </a:r>
          </a:p>
          <a:p>
            <a:pPr marL="267335" algn="just">
              <a:spcAft>
                <a:spcPts val="0"/>
              </a:spcAft>
              <a:defRPr/>
            </a:pPr>
            <a:r>
              <a:rPr lang="en-US" altLang="zh-CN" sz="2400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AT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zh-CN" sz="2400" b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猴子在</a:t>
            </a:r>
            <a:r>
              <a:rPr lang="en-US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7335" algn="just">
              <a:spcAft>
                <a:spcPts val="0"/>
              </a:spcAft>
              <a:defRPr/>
            </a:pPr>
            <a:r>
              <a:rPr lang="en-US" altLang="zh-CN" sz="2400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AT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zh-CN" sz="2400" b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箱子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箱子在</a:t>
            </a:r>
            <a:r>
              <a:rPr lang="en-US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marL="267335" algn="just">
              <a:spcAft>
                <a:spcPts val="0"/>
              </a:spcAft>
              <a:defRPr/>
            </a:pP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kern="100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On_Box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猴子在箱子上面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7335" algn="just">
              <a:spcAft>
                <a:spcPts val="0"/>
              </a:spcAft>
              <a:defRPr/>
            </a:pPr>
            <a:r>
              <a:rPr lang="en-US" altLang="zh-CN" sz="2400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i="1" kern="100" dirty="0" err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Hold_B</a:t>
            </a:r>
            <a:r>
              <a:rPr lang="en-US" altLang="zh-CN" sz="2400" b="1" i="1" kern="100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猴子已经摘到香蕉</a:t>
            </a:r>
            <a:r>
              <a:rPr lang="zh-CN" altLang="zh-CN" sz="2400" i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291654" y="677608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270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4D9A90-FCB0-427B-9F31-DC6FFC78FF7E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3085025"/>
            <a:ext cx="7344816" cy="2677656"/>
          </a:xfrm>
          <a:prstGeom prst="rect">
            <a:avLst/>
          </a:prstGeom>
          <a:blipFill>
            <a:blip r:embed="rId4"/>
            <a:stretch>
              <a:fillRect t="-1822" r="-1245" b="-4328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/>
          <p:cNvSpPr/>
          <p:nvPr/>
        </p:nvSpPr>
        <p:spPr>
          <a:xfrm>
            <a:off x="797679" y="1916113"/>
            <a:ext cx="7356475" cy="954087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indent="229235" algn="just">
              <a:spcAft>
                <a:spcPts val="0"/>
              </a:spcAft>
              <a:defRPr/>
            </a:pPr>
            <a:r>
              <a:rPr lang="zh-CN" altLang="zh-CN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上述谓词只能描述</a:t>
            </a:r>
            <a:r>
              <a:rPr lang="zh-CN" altLang="zh-CN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事实性知识</a:t>
            </a:r>
            <a:r>
              <a:rPr lang="zh-CN" altLang="zh-CN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我们还需要</a:t>
            </a:r>
            <a:r>
              <a:rPr lang="zh-CN" altLang="zh-CN" b="1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定义几个谓词表示</a:t>
            </a:r>
            <a:r>
              <a:rPr lang="zh-CN" altLang="zh-CN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过程性知识</a:t>
            </a:r>
            <a:r>
              <a:rPr lang="zh-CN" altLang="zh-CN" kern="100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1259632" y="755021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373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663C87-AFCA-4F9E-A513-4345E95A60CF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17389" y="1916113"/>
            <a:ext cx="7651488" cy="4154984"/>
          </a:xfrm>
          <a:prstGeom prst="rect">
            <a:avLst/>
          </a:prstGeom>
          <a:blipFill>
            <a:blip r:embed="rId5"/>
            <a:stretch>
              <a:fillRect l="-1275" t="-1173" b="-2346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577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EC621D-34A0-4840-9351-FBE37E5C6D94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1761352"/>
            <a:ext cx="7344816" cy="4524315"/>
          </a:xfrm>
          <a:prstGeom prst="rect">
            <a:avLst/>
          </a:prstGeom>
          <a:blipFill>
            <a:blip r:embed="rId4"/>
            <a:stretch>
              <a:fillRect l="-1328" b="-270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1187450" y="836613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680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25" y="549275"/>
            <a:ext cx="12985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7234D5-D111-4C6B-9D26-09E56418B1DC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0498" y="2132856"/>
            <a:ext cx="7515918" cy="3785652"/>
          </a:xfrm>
          <a:prstGeom prst="rect">
            <a:avLst/>
          </a:prstGeom>
          <a:blipFill>
            <a:blip r:embed="rId4"/>
            <a:stretch>
              <a:fillRect l="-1217" t="-1288" b="-2738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282733" y="723900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摘香蕉问题</a:t>
            </a:r>
          </a:p>
        </p:txBody>
      </p:sp>
      <p:pic>
        <p:nvPicPr>
          <p:cNvPr id="7782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49275"/>
            <a:ext cx="1115616" cy="117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8E2F7C-03D5-40C5-80C2-BCB88302A941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188" y="1947863"/>
            <a:ext cx="8042275" cy="3416300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可将该问题的状态描述成</a:t>
            </a:r>
            <a:r>
              <a:rPr lang="zh-CN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有序四元组（</a:t>
            </a:r>
            <a:r>
              <a:rPr lang="en-US" altLang="zh-CN" sz="2400" b="1" i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zh-CN" sz="2400" b="1" dirty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猴子的水平位置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”；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猴子是否在箱顶（在则取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，否则为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”；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箱子的水平位置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”；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i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猴子是否摘到香蕉（摘到取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，否则为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3338" y="5543550"/>
            <a:ext cx="6657975" cy="522288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显然，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</a:rPr>
              <a:t>W 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只能取</a:t>
            </a:r>
            <a:r>
              <a:rPr lang="en-US" altLang="zh-CN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三个值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282733" y="723900"/>
            <a:ext cx="6416675" cy="76993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问题求解过程</a:t>
            </a:r>
          </a:p>
        </p:txBody>
      </p:sp>
      <p:pic>
        <p:nvPicPr>
          <p:cNvPr id="7782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549275"/>
            <a:ext cx="1115616" cy="117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8E2F7C-03D5-40C5-80C2-BCB88302A941}" type="datetime1">
              <a:rPr lang="zh-CN" altLang="en-US" sz="1400" smtClean="0"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45E6A5-8953-45A1-A629-06AD4F62E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592501"/>
            <a:ext cx="6200651" cy="46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938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AFEF139-3593-47B7-B897-177C5C5BDE90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5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90116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2C47EF-9A85-4DFC-A872-05BCCFFE290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7" name="Text Box 2"/>
          <p:cNvSpPr txBox="1">
            <a:spLocks noChangeArrowheads="1"/>
          </p:cNvSpPr>
          <p:nvPr/>
        </p:nvSpPr>
        <p:spPr bwMode="auto">
          <a:xfrm>
            <a:off x="1676400" y="152400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838200" indent="-3810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95400" indent="-3810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本章内容到此结束</a:t>
            </a:r>
          </a:p>
        </p:txBody>
      </p:sp>
      <p:sp>
        <p:nvSpPr>
          <p:cNvPr id="90118" name="WordArt 3"/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张勇-硕士答辩">
  <a:themeElements>
    <a:clrScheme name="1_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1_张勇-硕士答辩">
      <a:majorFont>
        <a:latin typeface="Times New Roman"/>
        <a:ea typeface="宋体"/>
        <a:cs typeface=""/>
      </a:majorFont>
      <a:minorFont>
        <a:latin typeface="楷体_GB2312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张勇-硕士答辩</Template>
  <TotalTime>8160</TotalTime>
  <Words>1610</Words>
  <Application>Microsoft Office PowerPoint</Application>
  <PresentationFormat>全屏显示(4:3)</PresentationFormat>
  <Paragraphs>287</Paragraphs>
  <Slides>70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3" baseType="lpstr">
      <vt:lpstr>黑体</vt:lpstr>
      <vt:lpstr>华文行楷</vt:lpstr>
      <vt:lpstr>楷体_GB2312</vt:lpstr>
      <vt:lpstr>隶书</vt:lpstr>
      <vt:lpstr>宋体</vt:lpstr>
      <vt:lpstr>Arial</vt:lpstr>
      <vt:lpstr>Calibri</vt:lpstr>
      <vt:lpstr>Cambria Math</vt:lpstr>
      <vt:lpstr>Times New Roman</vt:lpstr>
      <vt:lpstr>Wingdings</vt:lpstr>
      <vt:lpstr>Wingdings 2</vt:lpstr>
      <vt:lpstr>张勇-硕士答辩</vt:lpstr>
      <vt:lpstr>1_张勇-硕士答辩</vt:lpstr>
      <vt:lpstr>PowerPoint 演示文稿</vt:lpstr>
      <vt:lpstr>第4章 谓词演算与推理 （下）</vt:lpstr>
      <vt:lpstr>PowerPoint 演示文稿</vt:lpstr>
      <vt:lpstr>谓词逻辑的推理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谓词逻辑的应用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WWW.YlmF.CoM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图像中模糊边界目标的阈值分割方法研究</dc:title>
  <dc:creator>汪荣贵</dc:creator>
  <cp:lastModifiedBy>Windows 用户</cp:lastModifiedBy>
  <cp:revision>561</cp:revision>
  <dcterms:created xsi:type="dcterms:W3CDTF">2011-04-21T02:25:16Z</dcterms:created>
  <dcterms:modified xsi:type="dcterms:W3CDTF">2020-09-07T02:14:25Z</dcterms:modified>
</cp:coreProperties>
</file>