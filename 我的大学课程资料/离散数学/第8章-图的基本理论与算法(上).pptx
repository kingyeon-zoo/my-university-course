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681" r:id="rId2"/>
  </p:sldMasterIdLst>
  <p:notesMasterIdLst>
    <p:notesMasterId r:id="rId138"/>
  </p:notesMasterIdLst>
  <p:sldIdLst>
    <p:sldId id="1280" r:id="rId3"/>
    <p:sldId id="1281" r:id="rId4"/>
    <p:sldId id="1231" r:id="rId5"/>
    <p:sldId id="1318" r:id="rId6"/>
    <p:sldId id="1319" r:id="rId7"/>
    <p:sldId id="1311" r:id="rId8"/>
    <p:sldId id="1312" r:id="rId9"/>
    <p:sldId id="1313" r:id="rId10"/>
    <p:sldId id="1310" r:id="rId11"/>
    <p:sldId id="1316" r:id="rId12"/>
    <p:sldId id="1320" r:id="rId13"/>
    <p:sldId id="1418" r:id="rId14"/>
    <p:sldId id="1420" r:id="rId15"/>
    <p:sldId id="1419" r:id="rId16"/>
    <p:sldId id="1028" r:id="rId17"/>
    <p:sldId id="1322" r:id="rId18"/>
    <p:sldId id="1323" r:id="rId19"/>
    <p:sldId id="1029" r:id="rId20"/>
    <p:sldId id="1324" r:id="rId21"/>
    <p:sldId id="1325" r:id="rId22"/>
    <p:sldId id="1337" r:id="rId23"/>
    <p:sldId id="1422" r:id="rId24"/>
    <p:sldId id="1421" r:id="rId25"/>
    <p:sldId id="1338" r:id="rId26"/>
    <p:sldId id="1326" r:id="rId27"/>
    <p:sldId id="1339" r:id="rId28"/>
    <p:sldId id="1340" r:id="rId29"/>
    <p:sldId id="1345" r:id="rId30"/>
    <p:sldId id="1327" r:id="rId31"/>
    <p:sldId id="1341" r:id="rId32"/>
    <p:sldId id="1329" r:id="rId33"/>
    <p:sldId id="1330" r:id="rId34"/>
    <p:sldId id="1343" r:id="rId35"/>
    <p:sldId id="1331" r:id="rId36"/>
    <p:sldId id="1423" r:id="rId37"/>
    <p:sldId id="1424" r:id="rId38"/>
    <p:sldId id="1361" r:id="rId39"/>
    <p:sldId id="1030" r:id="rId40"/>
    <p:sldId id="1184" r:id="rId41"/>
    <p:sldId id="1031" r:id="rId42"/>
    <p:sldId id="1032" r:id="rId43"/>
    <p:sldId id="1033" r:id="rId44"/>
    <p:sldId id="1034" r:id="rId45"/>
    <p:sldId id="1035" r:id="rId46"/>
    <p:sldId id="1289" r:id="rId47"/>
    <p:sldId id="1346" r:id="rId48"/>
    <p:sldId id="1036" r:id="rId49"/>
    <p:sldId id="1037" r:id="rId50"/>
    <p:sldId id="1039" r:id="rId51"/>
    <p:sldId id="1347" r:id="rId52"/>
    <p:sldId id="1425" r:id="rId53"/>
    <p:sldId id="1348" r:id="rId54"/>
    <p:sldId id="1351" r:id="rId55"/>
    <p:sldId id="1352" r:id="rId56"/>
    <p:sldId id="1354" r:id="rId57"/>
    <p:sldId id="1357" r:id="rId58"/>
    <p:sldId id="1355" r:id="rId59"/>
    <p:sldId id="1356" r:id="rId60"/>
    <p:sldId id="1358" r:id="rId61"/>
    <p:sldId id="1444" r:id="rId62"/>
    <p:sldId id="1413" r:id="rId63"/>
    <p:sldId id="1359" r:id="rId64"/>
    <p:sldId id="1360" r:id="rId65"/>
    <p:sldId id="1362" r:id="rId66"/>
    <p:sldId id="1365" r:id="rId67"/>
    <p:sldId id="1363" r:id="rId68"/>
    <p:sldId id="1364" r:id="rId69"/>
    <p:sldId id="1366" r:id="rId70"/>
    <p:sldId id="1367" r:id="rId71"/>
    <p:sldId id="1368" r:id="rId72"/>
    <p:sldId id="1370" r:id="rId73"/>
    <p:sldId id="1371" r:id="rId74"/>
    <p:sldId id="1369" r:id="rId75"/>
    <p:sldId id="1219" r:id="rId76"/>
    <p:sldId id="1372" r:id="rId77"/>
    <p:sldId id="1426" r:id="rId78"/>
    <p:sldId id="1427" r:id="rId79"/>
    <p:sldId id="1428" r:id="rId80"/>
    <p:sldId id="1190" r:id="rId81"/>
    <p:sldId id="1374" r:id="rId82"/>
    <p:sldId id="1375" r:id="rId83"/>
    <p:sldId id="1376" r:id="rId84"/>
    <p:sldId id="1385" r:id="rId85"/>
    <p:sldId id="1429" r:id="rId86"/>
    <p:sldId id="1431" r:id="rId87"/>
    <p:sldId id="1430" r:id="rId88"/>
    <p:sldId id="1378" r:id="rId89"/>
    <p:sldId id="1379" r:id="rId90"/>
    <p:sldId id="1381" r:id="rId91"/>
    <p:sldId id="1387" r:id="rId92"/>
    <p:sldId id="1382" r:id="rId93"/>
    <p:sldId id="1388" r:id="rId94"/>
    <p:sldId id="1389" r:id="rId95"/>
    <p:sldId id="1390" r:id="rId96"/>
    <p:sldId id="1384" r:id="rId97"/>
    <p:sldId id="1432" r:id="rId98"/>
    <p:sldId id="1398" r:id="rId99"/>
    <p:sldId id="1433" r:id="rId100"/>
    <p:sldId id="1399" r:id="rId101"/>
    <p:sldId id="1400" r:id="rId102"/>
    <p:sldId id="1401" r:id="rId103"/>
    <p:sldId id="1402" r:id="rId104"/>
    <p:sldId id="1064" r:id="rId105"/>
    <p:sldId id="1434" r:id="rId106"/>
    <p:sldId id="1437" r:id="rId107"/>
    <p:sldId id="1435" r:id="rId108"/>
    <p:sldId id="1438" r:id="rId109"/>
    <p:sldId id="1436" r:id="rId110"/>
    <p:sldId id="1403" r:id="rId111"/>
    <p:sldId id="1404" r:id="rId112"/>
    <p:sldId id="1405" r:id="rId113"/>
    <p:sldId id="1066" r:id="rId114"/>
    <p:sldId id="1193" r:id="rId115"/>
    <p:sldId id="1309" r:id="rId116"/>
    <p:sldId id="1067" r:id="rId117"/>
    <p:sldId id="1068" r:id="rId118"/>
    <p:sldId id="1406" r:id="rId119"/>
    <p:sldId id="1070" r:id="rId120"/>
    <p:sldId id="1439" r:id="rId121"/>
    <p:sldId id="1081" r:id="rId122"/>
    <p:sldId id="1440" r:id="rId123"/>
    <p:sldId id="1407" r:id="rId124"/>
    <p:sldId id="1408" r:id="rId125"/>
    <p:sldId id="1410" r:id="rId126"/>
    <p:sldId id="1239" r:id="rId127"/>
    <p:sldId id="1240" r:id="rId128"/>
    <p:sldId id="1442" r:id="rId129"/>
    <p:sldId id="1074" r:id="rId130"/>
    <p:sldId id="1411" r:id="rId131"/>
    <p:sldId id="1412" r:id="rId132"/>
    <p:sldId id="1291" r:id="rId133"/>
    <p:sldId id="1292" r:id="rId134"/>
    <p:sldId id="1075" r:id="rId135"/>
    <p:sldId id="1445" r:id="rId136"/>
    <p:sldId id="1443" r:id="rId13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1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1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1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1200" kern="1200">
        <a:solidFill>
          <a:srgbClr val="FF0000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00FF"/>
    <a:srgbClr val="0000FF"/>
    <a:srgbClr val="FFFF66"/>
    <a:srgbClr val="FF00FF"/>
    <a:srgbClr val="993366"/>
    <a:srgbClr val="FF0000"/>
    <a:srgbClr val="800080"/>
    <a:srgbClr val="660033"/>
    <a:srgbClr val="33CCFF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00" autoAdjust="0"/>
    <p:restoredTop sz="95479" autoAdjust="0"/>
  </p:normalViewPr>
  <p:slideViewPr>
    <p:cSldViewPr>
      <p:cViewPr varScale="1">
        <p:scale>
          <a:sx n="87" d="100"/>
          <a:sy n="87" d="100"/>
        </p:scale>
        <p:origin x="128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  <p:sld r:id="rId50" collapse="1"/>
      <p:sld r:id="rId51" collapse="1"/>
      <p:sld r:id="rId52" collapse="1"/>
      <p:sld r:id="rId53" collapse="1"/>
      <p:sld r:id="rId54" collapse="1"/>
      <p:sld r:id="rId55" collapse="1"/>
      <p:sld r:id="rId56" collapse="1"/>
      <p:sld r:id="rId57" collapse="1"/>
      <p:sld r:id="rId58" collapse="1"/>
      <p:sld r:id="rId59" collapse="1"/>
      <p:sld r:id="rId60" collapse="1"/>
      <p:sld r:id="rId61" collapse="1"/>
      <p:sld r:id="rId62" collapse="1"/>
      <p:sld r:id="rId63" collapse="1"/>
      <p:sld r:id="rId64" collapse="1"/>
      <p:sld r:id="rId65" collapse="1"/>
      <p:sld r:id="rId66" collapse="1"/>
      <p:sld r:id="rId67" collapse="1"/>
      <p:sld r:id="rId68" collapse="1"/>
      <p:sld r:id="rId69" collapse="1"/>
      <p:sld r:id="rId70" collapse="1"/>
      <p:sld r:id="rId71" collapse="1"/>
      <p:sld r:id="rId72" collapse="1"/>
      <p:sld r:id="rId73" collapse="1"/>
      <p:sld r:id="rId74" collapse="1"/>
      <p:sld r:id="rId75" collapse="1"/>
      <p:sld r:id="rId76" collapse="1"/>
      <p:sld r:id="rId77" collapse="1"/>
      <p:sld r:id="rId78" collapse="1"/>
      <p:sld r:id="rId79" collapse="1"/>
      <p:sld r:id="rId80" collapse="1"/>
      <p:sld r:id="rId81" collapse="1"/>
      <p:sld r:id="rId82" collapse="1"/>
      <p:sld r:id="rId83" collapse="1"/>
      <p:sld r:id="rId84" collapse="1"/>
      <p:sld r:id="rId85" collapse="1"/>
      <p:sld r:id="rId86" collapse="1"/>
      <p:sld r:id="rId87" collapse="1"/>
      <p:sld r:id="rId88" collapse="1"/>
      <p:sld r:id="rId89" collapse="1"/>
      <p:sld r:id="rId90" collapse="1"/>
      <p:sld r:id="rId91" collapse="1"/>
      <p:sld r:id="rId92" collapse="1"/>
      <p:sld r:id="rId93" collapse="1"/>
      <p:sld r:id="rId94" collapse="1"/>
      <p:sld r:id="rId95" collapse="1"/>
      <p:sld r:id="rId96" collapse="1"/>
      <p:sld r:id="rId97" collapse="1"/>
      <p:sld r:id="rId98" collapse="1"/>
      <p:sld r:id="rId99" collapse="1"/>
      <p:sld r:id="rId100" collapse="1"/>
      <p:sld r:id="rId101" collapse="1"/>
      <p:sld r:id="rId102" collapse="1"/>
      <p:sld r:id="rId103" collapse="1"/>
      <p:sld r:id="rId104" collapse="1"/>
      <p:sld r:id="rId105" collapse="1"/>
      <p:sld r:id="rId106" collapse="1"/>
      <p:sld r:id="rId10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notesMaster" Target="notesMasters/notesMaster1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presProps" Target="presProp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tableStyles" Target="tableStyles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6" Type="http://schemas.openxmlformats.org/officeDocument/2006/relationships/slide" Target="slides/slide14.xml"/></Relationships>
</file>

<file path=ppt/_rels/viewProps.xml.rels><?xml version="1.0" encoding="UTF-8" standalone="yes"?>
<Relationships xmlns="http://schemas.openxmlformats.org/package/2006/relationships"><Relationship Id="rId26" Type="http://schemas.openxmlformats.org/officeDocument/2006/relationships/slide" Target="slides/slide38.xml"/><Relationship Id="rId21" Type="http://schemas.openxmlformats.org/officeDocument/2006/relationships/slide" Target="slides/slide32.xml"/><Relationship Id="rId42" Type="http://schemas.openxmlformats.org/officeDocument/2006/relationships/slide" Target="slides/slide54.xml"/><Relationship Id="rId47" Type="http://schemas.openxmlformats.org/officeDocument/2006/relationships/slide" Target="slides/slide59.xml"/><Relationship Id="rId63" Type="http://schemas.openxmlformats.org/officeDocument/2006/relationships/slide" Target="slides/slide86.xml"/><Relationship Id="rId68" Type="http://schemas.openxmlformats.org/officeDocument/2006/relationships/slide" Target="slides/slide93.xml"/><Relationship Id="rId84" Type="http://schemas.openxmlformats.org/officeDocument/2006/relationships/slide" Target="slides/slide110.xml"/><Relationship Id="rId89" Type="http://schemas.openxmlformats.org/officeDocument/2006/relationships/slide" Target="slides/slide115.xml"/><Relationship Id="rId16" Type="http://schemas.openxmlformats.org/officeDocument/2006/relationships/slide" Target="slides/slide27.xml"/><Relationship Id="rId107" Type="http://schemas.openxmlformats.org/officeDocument/2006/relationships/slide" Target="slides/slide134.xml"/><Relationship Id="rId11" Type="http://schemas.openxmlformats.org/officeDocument/2006/relationships/slide" Target="slides/slide22.xml"/><Relationship Id="rId32" Type="http://schemas.openxmlformats.org/officeDocument/2006/relationships/slide" Target="slides/slide44.xml"/><Relationship Id="rId37" Type="http://schemas.openxmlformats.org/officeDocument/2006/relationships/slide" Target="slides/slide49.xml"/><Relationship Id="rId53" Type="http://schemas.openxmlformats.org/officeDocument/2006/relationships/slide" Target="slides/slide76.xml"/><Relationship Id="rId58" Type="http://schemas.openxmlformats.org/officeDocument/2006/relationships/slide" Target="slides/slide81.xml"/><Relationship Id="rId74" Type="http://schemas.openxmlformats.org/officeDocument/2006/relationships/slide" Target="slides/slide100.xml"/><Relationship Id="rId79" Type="http://schemas.openxmlformats.org/officeDocument/2006/relationships/slide" Target="slides/slide105.xml"/><Relationship Id="rId102" Type="http://schemas.openxmlformats.org/officeDocument/2006/relationships/slide" Target="slides/slide129.xml"/><Relationship Id="rId5" Type="http://schemas.openxmlformats.org/officeDocument/2006/relationships/slide" Target="slides/slide16.xml"/><Relationship Id="rId90" Type="http://schemas.openxmlformats.org/officeDocument/2006/relationships/slide" Target="slides/slide116.xml"/><Relationship Id="rId95" Type="http://schemas.openxmlformats.org/officeDocument/2006/relationships/slide" Target="slides/slide121.xml"/><Relationship Id="rId22" Type="http://schemas.openxmlformats.org/officeDocument/2006/relationships/slide" Target="slides/slide33.xml"/><Relationship Id="rId27" Type="http://schemas.openxmlformats.org/officeDocument/2006/relationships/slide" Target="slides/slide39.xml"/><Relationship Id="rId43" Type="http://schemas.openxmlformats.org/officeDocument/2006/relationships/slide" Target="slides/slide55.xml"/><Relationship Id="rId48" Type="http://schemas.openxmlformats.org/officeDocument/2006/relationships/slide" Target="slides/slide65.xml"/><Relationship Id="rId64" Type="http://schemas.openxmlformats.org/officeDocument/2006/relationships/slide" Target="slides/slide87.xml"/><Relationship Id="rId69" Type="http://schemas.openxmlformats.org/officeDocument/2006/relationships/slide" Target="slides/slide94.xml"/><Relationship Id="rId80" Type="http://schemas.openxmlformats.org/officeDocument/2006/relationships/slide" Target="slides/slide106.xml"/><Relationship Id="rId85" Type="http://schemas.openxmlformats.org/officeDocument/2006/relationships/slide" Target="slides/slide111.xml"/><Relationship Id="rId12" Type="http://schemas.openxmlformats.org/officeDocument/2006/relationships/slide" Target="slides/slide23.xml"/><Relationship Id="rId17" Type="http://schemas.openxmlformats.org/officeDocument/2006/relationships/slide" Target="slides/slide28.xml"/><Relationship Id="rId33" Type="http://schemas.openxmlformats.org/officeDocument/2006/relationships/slide" Target="slides/slide45.xml"/><Relationship Id="rId38" Type="http://schemas.openxmlformats.org/officeDocument/2006/relationships/slide" Target="slides/slide50.xml"/><Relationship Id="rId59" Type="http://schemas.openxmlformats.org/officeDocument/2006/relationships/slide" Target="slides/slide82.xml"/><Relationship Id="rId103" Type="http://schemas.openxmlformats.org/officeDocument/2006/relationships/slide" Target="slides/slide130.xml"/><Relationship Id="rId20" Type="http://schemas.openxmlformats.org/officeDocument/2006/relationships/slide" Target="slides/slide31.xml"/><Relationship Id="rId41" Type="http://schemas.openxmlformats.org/officeDocument/2006/relationships/slide" Target="slides/slide53.xml"/><Relationship Id="rId54" Type="http://schemas.openxmlformats.org/officeDocument/2006/relationships/slide" Target="slides/slide77.xml"/><Relationship Id="rId62" Type="http://schemas.openxmlformats.org/officeDocument/2006/relationships/slide" Target="slides/slide85.xml"/><Relationship Id="rId70" Type="http://schemas.openxmlformats.org/officeDocument/2006/relationships/slide" Target="slides/slide96.xml"/><Relationship Id="rId75" Type="http://schemas.openxmlformats.org/officeDocument/2006/relationships/slide" Target="slides/slide101.xml"/><Relationship Id="rId83" Type="http://schemas.openxmlformats.org/officeDocument/2006/relationships/slide" Target="slides/slide109.xml"/><Relationship Id="rId88" Type="http://schemas.openxmlformats.org/officeDocument/2006/relationships/slide" Target="slides/slide114.xml"/><Relationship Id="rId91" Type="http://schemas.openxmlformats.org/officeDocument/2006/relationships/slide" Target="slides/slide117.xml"/><Relationship Id="rId96" Type="http://schemas.openxmlformats.org/officeDocument/2006/relationships/slide" Target="slides/slide122.xml"/><Relationship Id="rId1" Type="http://schemas.openxmlformats.org/officeDocument/2006/relationships/slide" Target="slides/slide12.xml"/><Relationship Id="rId6" Type="http://schemas.openxmlformats.org/officeDocument/2006/relationships/slide" Target="slides/slide17.xml"/><Relationship Id="rId15" Type="http://schemas.openxmlformats.org/officeDocument/2006/relationships/slide" Target="slides/slide26.xml"/><Relationship Id="rId23" Type="http://schemas.openxmlformats.org/officeDocument/2006/relationships/slide" Target="slides/slide34.xml"/><Relationship Id="rId28" Type="http://schemas.openxmlformats.org/officeDocument/2006/relationships/slide" Target="slides/slide40.xml"/><Relationship Id="rId36" Type="http://schemas.openxmlformats.org/officeDocument/2006/relationships/slide" Target="slides/slide48.xml"/><Relationship Id="rId49" Type="http://schemas.openxmlformats.org/officeDocument/2006/relationships/slide" Target="slides/slide71.xml"/><Relationship Id="rId57" Type="http://schemas.openxmlformats.org/officeDocument/2006/relationships/slide" Target="slides/slide80.xml"/><Relationship Id="rId106" Type="http://schemas.openxmlformats.org/officeDocument/2006/relationships/slide" Target="slides/slide133.xml"/><Relationship Id="rId10" Type="http://schemas.openxmlformats.org/officeDocument/2006/relationships/slide" Target="slides/slide21.xml"/><Relationship Id="rId31" Type="http://schemas.openxmlformats.org/officeDocument/2006/relationships/slide" Target="slides/slide43.xml"/><Relationship Id="rId44" Type="http://schemas.openxmlformats.org/officeDocument/2006/relationships/slide" Target="slides/slide56.xml"/><Relationship Id="rId52" Type="http://schemas.openxmlformats.org/officeDocument/2006/relationships/slide" Target="slides/slide75.xml"/><Relationship Id="rId60" Type="http://schemas.openxmlformats.org/officeDocument/2006/relationships/slide" Target="slides/slide83.xml"/><Relationship Id="rId65" Type="http://schemas.openxmlformats.org/officeDocument/2006/relationships/slide" Target="slides/slide88.xml"/><Relationship Id="rId73" Type="http://schemas.openxmlformats.org/officeDocument/2006/relationships/slide" Target="slides/slide99.xml"/><Relationship Id="rId78" Type="http://schemas.openxmlformats.org/officeDocument/2006/relationships/slide" Target="slides/slide104.xml"/><Relationship Id="rId81" Type="http://schemas.openxmlformats.org/officeDocument/2006/relationships/slide" Target="slides/slide107.xml"/><Relationship Id="rId86" Type="http://schemas.openxmlformats.org/officeDocument/2006/relationships/slide" Target="slides/slide112.xml"/><Relationship Id="rId94" Type="http://schemas.openxmlformats.org/officeDocument/2006/relationships/slide" Target="slides/slide120.xml"/><Relationship Id="rId99" Type="http://schemas.openxmlformats.org/officeDocument/2006/relationships/slide" Target="slides/slide126.xml"/><Relationship Id="rId101" Type="http://schemas.openxmlformats.org/officeDocument/2006/relationships/slide" Target="slides/slide128.xml"/><Relationship Id="rId4" Type="http://schemas.openxmlformats.org/officeDocument/2006/relationships/slide" Target="slides/slide15.xml"/><Relationship Id="rId9" Type="http://schemas.openxmlformats.org/officeDocument/2006/relationships/slide" Target="slides/slide20.xml"/><Relationship Id="rId13" Type="http://schemas.openxmlformats.org/officeDocument/2006/relationships/slide" Target="slides/slide24.xml"/><Relationship Id="rId18" Type="http://schemas.openxmlformats.org/officeDocument/2006/relationships/slide" Target="slides/slide29.xml"/><Relationship Id="rId39" Type="http://schemas.openxmlformats.org/officeDocument/2006/relationships/slide" Target="slides/slide51.xml"/><Relationship Id="rId34" Type="http://schemas.openxmlformats.org/officeDocument/2006/relationships/slide" Target="slides/slide46.xml"/><Relationship Id="rId50" Type="http://schemas.openxmlformats.org/officeDocument/2006/relationships/slide" Target="slides/slide72.xml"/><Relationship Id="rId55" Type="http://schemas.openxmlformats.org/officeDocument/2006/relationships/slide" Target="slides/slide78.xml"/><Relationship Id="rId76" Type="http://schemas.openxmlformats.org/officeDocument/2006/relationships/slide" Target="slides/slide102.xml"/><Relationship Id="rId97" Type="http://schemas.openxmlformats.org/officeDocument/2006/relationships/slide" Target="slides/slide123.xml"/><Relationship Id="rId104" Type="http://schemas.openxmlformats.org/officeDocument/2006/relationships/slide" Target="slides/slide131.xml"/><Relationship Id="rId7" Type="http://schemas.openxmlformats.org/officeDocument/2006/relationships/slide" Target="slides/slide18.xml"/><Relationship Id="rId71" Type="http://schemas.openxmlformats.org/officeDocument/2006/relationships/slide" Target="slides/slide97.xml"/><Relationship Id="rId92" Type="http://schemas.openxmlformats.org/officeDocument/2006/relationships/slide" Target="slides/slide118.xml"/><Relationship Id="rId2" Type="http://schemas.openxmlformats.org/officeDocument/2006/relationships/slide" Target="slides/slide13.xml"/><Relationship Id="rId29" Type="http://schemas.openxmlformats.org/officeDocument/2006/relationships/slide" Target="slides/slide41.xml"/><Relationship Id="rId24" Type="http://schemas.openxmlformats.org/officeDocument/2006/relationships/slide" Target="slides/slide35.xml"/><Relationship Id="rId40" Type="http://schemas.openxmlformats.org/officeDocument/2006/relationships/slide" Target="slides/slide52.xml"/><Relationship Id="rId45" Type="http://schemas.openxmlformats.org/officeDocument/2006/relationships/slide" Target="slides/slide57.xml"/><Relationship Id="rId66" Type="http://schemas.openxmlformats.org/officeDocument/2006/relationships/slide" Target="slides/slide89.xml"/><Relationship Id="rId87" Type="http://schemas.openxmlformats.org/officeDocument/2006/relationships/slide" Target="slides/slide113.xml"/><Relationship Id="rId61" Type="http://schemas.openxmlformats.org/officeDocument/2006/relationships/slide" Target="slides/slide84.xml"/><Relationship Id="rId82" Type="http://schemas.openxmlformats.org/officeDocument/2006/relationships/slide" Target="slides/slide108.xml"/><Relationship Id="rId19" Type="http://schemas.openxmlformats.org/officeDocument/2006/relationships/slide" Target="slides/slide30.xml"/><Relationship Id="rId14" Type="http://schemas.openxmlformats.org/officeDocument/2006/relationships/slide" Target="slides/slide25.xml"/><Relationship Id="rId30" Type="http://schemas.openxmlformats.org/officeDocument/2006/relationships/slide" Target="slides/slide42.xml"/><Relationship Id="rId35" Type="http://schemas.openxmlformats.org/officeDocument/2006/relationships/slide" Target="slides/slide47.xml"/><Relationship Id="rId56" Type="http://schemas.openxmlformats.org/officeDocument/2006/relationships/slide" Target="slides/slide79.xml"/><Relationship Id="rId77" Type="http://schemas.openxmlformats.org/officeDocument/2006/relationships/slide" Target="slides/slide103.xml"/><Relationship Id="rId100" Type="http://schemas.openxmlformats.org/officeDocument/2006/relationships/slide" Target="slides/slide127.xml"/><Relationship Id="rId105" Type="http://schemas.openxmlformats.org/officeDocument/2006/relationships/slide" Target="slides/slide132.xml"/><Relationship Id="rId8" Type="http://schemas.openxmlformats.org/officeDocument/2006/relationships/slide" Target="slides/slide19.xml"/><Relationship Id="rId51" Type="http://schemas.openxmlformats.org/officeDocument/2006/relationships/slide" Target="slides/slide74.xml"/><Relationship Id="rId72" Type="http://schemas.openxmlformats.org/officeDocument/2006/relationships/slide" Target="slides/slide98.xml"/><Relationship Id="rId93" Type="http://schemas.openxmlformats.org/officeDocument/2006/relationships/slide" Target="slides/slide119.xml"/><Relationship Id="rId98" Type="http://schemas.openxmlformats.org/officeDocument/2006/relationships/slide" Target="slides/slide125.xml"/><Relationship Id="rId3" Type="http://schemas.openxmlformats.org/officeDocument/2006/relationships/slide" Target="slides/slide14.xml"/><Relationship Id="rId25" Type="http://schemas.openxmlformats.org/officeDocument/2006/relationships/slide" Target="slides/slide36.xml"/><Relationship Id="rId46" Type="http://schemas.openxmlformats.org/officeDocument/2006/relationships/slide" Target="slides/slide58.xml"/><Relationship Id="rId67" Type="http://schemas.openxmlformats.org/officeDocument/2006/relationships/slide" Target="slides/slide9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mtClean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ED0EF68-7DB4-4971-AFD2-F904790F93B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92990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75D3A0-317D-4AE8-B63E-1E4F9E7063D0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50</a:t>
            </a:r>
            <a:r>
              <a:rPr lang="zh-CN" altLang="en-US"/>
              <a:t>－</a:t>
            </a:r>
            <a:fld id="{D91892E3-237F-4D84-98FF-7FF3841D59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1343080"/>
      </p:ext>
    </p:extLst>
  </p:cSld>
  <p:clrMapOvr>
    <a:masterClrMapping/>
  </p:clrMapOvr>
  <p:transition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1F13D5-E72A-4E9D-B296-5496261E3489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50</a:t>
            </a:r>
            <a:r>
              <a:rPr lang="zh-CN" altLang="en-US"/>
              <a:t>－</a:t>
            </a:r>
            <a:fld id="{D96AE822-FC28-42A0-BF87-6DB11A6156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6666578"/>
      </p:ext>
    </p:extLst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831F7-9C48-4194-A7E6-9D4CB5D3BADD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50</a:t>
            </a:r>
            <a:r>
              <a:rPr lang="zh-CN" altLang="en-US"/>
              <a:t>－</a:t>
            </a:r>
            <a:fld id="{8D2BB7E0-D204-4D2F-BC00-E89910A3EE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5904358"/>
      </p:ext>
    </p:extLst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AC43B1-C6EC-4EA0-AD03-E325CE4479C5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50</a:t>
            </a:r>
            <a:r>
              <a:rPr lang="zh-CN" altLang="en-US"/>
              <a:t>－</a:t>
            </a:r>
            <a:fld id="{BA105CDC-8D0F-43BA-BAA7-1D50940A5C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7521555"/>
      </p:ext>
    </p:extLst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51A4F-402A-472B-9302-440B6A90B0E9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50</a:t>
            </a:r>
            <a:r>
              <a:rPr lang="zh-CN" altLang="en-US"/>
              <a:t>－</a:t>
            </a:r>
            <a:fld id="{60B8EE83-3D97-439C-944A-69D26307FD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7692031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4FC388-EA3B-4D97-9490-20CD2E380913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50</a:t>
            </a:r>
            <a:r>
              <a:rPr lang="zh-CN" altLang="en-US"/>
              <a:t>－</a:t>
            </a:r>
            <a:fld id="{EAF41D4B-4F8B-4B38-8E17-C5BAEA9396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4141643"/>
      </p:ext>
    </p:extLst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B27939-787C-4D0C-9300-4207BB958AF5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50</a:t>
            </a:r>
            <a:r>
              <a:rPr lang="zh-CN" altLang="en-US"/>
              <a:t>－</a:t>
            </a:r>
            <a:fld id="{12D118CA-60BC-4080-ABF7-E459249BA3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7157212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14012F-CAD5-47FB-979F-0AAE6C1F9E3A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50</a:t>
            </a:r>
            <a:r>
              <a:rPr lang="zh-CN" altLang="en-US"/>
              <a:t>－</a:t>
            </a:r>
            <a:fld id="{3CDDC47B-526B-4862-9F96-9AF218B66C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7976766"/>
      </p:ext>
    </p:extLst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F05285-A547-4FBC-8535-34D61F09B175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50</a:t>
            </a:r>
            <a:r>
              <a:rPr lang="zh-CN" altLang="en-US"/>
              <a:t>－</a:t>
            </a:r>
            <a:fld id="{D4616F03-8E22-470E-B067-F08EF1A3B2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2457997"/>
      </p:ext>
    </p:extLst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D2DB27-2D91-49BC-9676-ACF9EEC7D60F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50</a:t>
            </a:r>
            <a:r>
              <a:rPr lang="zh-CN" altLang="en-US"/>
              <a:t>－</a:t>
            </a:r>
            <a:fld id="{265C6299-A3E9-498A-B993-FACB8933B7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6204452"/>
      </p:ext>
    </p:extLst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943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609600"/>
            <a:ext cx="5678487" cy="54943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503CE3-0651-4CCB-B0CD-8A02B8605CF8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50</a:t>
            </a:r>
            <a:r>
              <a:rPr lang="zh-CN" altLang="en-US"/>
              <a:t>－</a:t>
            </a:r>
            <a:fld id="{FD6C23A3-2FA3-4CC7-B21B-7A8E05A15D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1285213"/>
      </p:ext>
    </p:extLst>
  </p:cSld>
  <p:clrMapOvr>
    <a:masterClrMapping/>
  </p:clrMapOvr>
  <p:transition/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4213" y="609600"/>
            <a:ext cx="7773987" cy="5494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DB9400-0EFB-4C3A-B81F-93CF95182FDB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50</a:t>
            </a:r>
            <a:r>
              <a:rPr lang="zh-CN" altLang="en-US"/>
              <a:t>－</a:t>
            </a:r>
            <a:fld id="{B75740D0-B9DD-4E94-A4A2-A86C1020B7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0123903"/>
      </p:ext>
    </p:extLst>
  </p:cSld>
  <p:clrMapOvr>
    <a:masterClrMapping/>
  </p:clrMapOvr>
  <p:transition spd="med">
    <p:wipe dir="r"/>
  </p:transition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F71436-8496-46A7-B23F-9FDB14E08E2A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AF2E45-ABF3-4C56-94DF-A8E1F9E000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815542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CA990E-99FC-4AFC-AC7A-F0338E62E548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1B5FEBF-756D-4CFB-AC18-977E34A291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586218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90912-BCFD-4345-B295-7D7B89D0DD13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1B6B468-995B-4F0E-88A9-A3D3576EC4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0536936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18EAB-7DF2-49E9-9747-7BF278F1218E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AD66635-353C-467C-B83B-340CE1B725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5862881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E78BD8-4404-4E8A-8A7C-19FD03AB69DF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A7BB2BD-1DFB-4DAD-A15B-550261F8C5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871089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50C57A-5EE3-4184-884B-3982EA357A82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1C40696-AEC9-4B0F-A761-22CE4AD343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0441337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A43C38-2873-48C4-BA33-6F7A2798CDB2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C680925-390D-443E-8E75-EA96CD7BB1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621717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8EDB4-62F4-497B-9733-BB1D7CCB2BE1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F95F854-F211-469F-BE4B-B193393A79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82517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5A241-D709-4096-94B7-474DF8163E07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1F6A6F6-5CF7-499A-99B4-9C38F610B2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9615209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201F22-40C1-48EC-A6DE-95A35C2AC12B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C4C8574-38E8-42DB-81C3-A101DC38A0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512369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943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4213" y="609600"/>
            <a:ext cx="5678487" cy="54943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A920C3-E410-4419-A172-CA38E9BED2D3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1FE52D3-0F2A-45CE-A323-03D0E884D79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605324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400" b="1">
                <a:effectLst/>
                <a:latin typeface="黑体" pitchFamily="49" charset="-122"/>
                <a:ea typeface="黑体" pitchFamily="49" charset="-122"/>
              </a:defRPr>
            </a:lvl1pPr>
          </a:lstStyle>
          <a:p>
            <a:pPr>
              <a:defRPr/>
            </a:pPr>
            <a:fld id="{AA297CBA-501B-46BE-B318-9657F5034845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b="1">
                <a:effectLst/>
                <a:latin typeface="黑体" pitchFamily="49" charset="-122"/>
                <a:ea typeface="黑体" pitchFamily="49" charset="-122"/>
              </a:defRPr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 smtClean="0">
                <a:effectLst/>
              </a:defRPr>
            </a:lvl1pPr>
          </a:lstStyle>
          <a:p>
            <a:pPr>
              <a:defRPr/>
            </a:pPr>
            <a:r>
              <a:rPr lang="en-US" altLang="zh-CN"/>
              <a:t>50</a:t>
            </a:r>
            <a:r>
              <a:rPr lang="zh-CN" altLang="en-US"/>
              <a:t>－</a:t>
            </a:r>
            <a:fld id="{53488F3B-6776-46DC-B96E-6ABC09B49C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1031" name="Picture 10" descr="12副本1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8" y="658813"/>
            <a:ext cx="996950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  <p:sldLayoutId id="2147483916" r:id="rId12"/>
  </p:sldLayoutIdLst>
  <p:transition advClick="0"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6"/>
        </a:buBlip>
        <a:defRPr kumimoji="1"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6"/>
        </a:buBlip>
        <a:defRPr kumimoji="1" sz="2000" kern="1200">
          <a:solidFill>
            <a:schemeClr val="tx1"/>
          </a:solidFill>
          <a:latin typeface="+mj-lt"/>
          <a:ea typeface="+mj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kern="1200">
          <a:solidFill>
            <a:schemeClr val="tx1"/>
          </a:solidFill>
          <a:latin typeface="+mj-lt"/>
          <a:ea typeface="+mj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 kern="1200">
          <a:solidFill>
            <a:schemeClr val="tx1"/>
          </a:solidFill>
          <a:latin typeface="+mj-lt"/>
          <a:ea typeface="+mj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1600" kern="1200">
          <a:solidFill>
            <a:schemeClr val="tx1"/>
          </a:solidFill>
          <a:latin typeface="+mj-lt"/>
          <a:ea typeface="+mj-ea"/>
          <a:cs typeface="楷体_GB231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249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249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400" b="1">
                <a:effectLst/>
                <a:latin typeface="黑体" pitchFamily="49" charset="-122"/>
                <a:ea typeface="黑体" pitchFamily="49" charset="-122"/>
              </a:defRPr>
            </a:lvl1pPr>
          </a:lstStyle>
          <a:p>
            <a:pPr>
              <a:defRPr/>
            </a:pPr>
            <a:fld id="{0954C306-80F9-41EE-952C-1439B3CD7BA7}" type="datetime1">
              <a:rPr lang="zh-CN" altLang="en-US"/>
              <a:pPr>
                <a:defRPr/>
              </a:pPr>
              <a:t>2020/9/7</a:t>
            </a:fld>
            <a:endParaRPr lang="en-US" altLang="zh-CN"/>
          </a:p>
        </p:txBody>
      </p:sp>
      <p:sp>
        <p:nvSpPr>
          <p:cNvPr id="7249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400" b="1">
                <a:effectLst/>
                <a:latin typeface="黑体" pitchFamily="49" charset="-122"/>
                <a:ea typeface="黑体" pitchFamily="49" charset="-122"/>
              </a:defRPr>
            </a:lvl1pPr>
          </a:lstStyle>
          <a:p>
            <a:pPr>
              <a:defRPr/>
            </a:pPr>
            <a:r>
              <a:rPr lang="zh-CN" altLang="en-US"/>
              <a:t>计算机应用技术研究所</a:t>
            </a:r>
          </a:p>
        </p:txBody>
      </p:sp>
      <p:sp>
        <p:nvSpPr>
          <p:cNvPr id="7249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 smtClean="0">
                <a:effectLst/>
              </a:defRPr>
            </a:lvl1pPr>
          </a:lstStyle>
          <a:p>
            <a:pPr>
              <a:defRPr/>
            </a:pPr>
            <a:fld id="{2E3AAAA6-FEE5-40C4-B42C-0755189409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2055" name="Picture 7" descr="12副本1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8" y="658813"/>
            <a:ext cx="996950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</p:sldLayoutIdLst>
  <p:transition advClick="0"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5"/>
        </a:buBlip>
        <a:defRPr sz="2400" kern="12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5"/>
        </a:buBlip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4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4.wmf"/><Relationship Id="rId4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0.png"/><Relationship Id="rId4" Type="http://schemas.openxmlformats.org/officeDocument/2006/relationships/image" Target="../media/image6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4.w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4" Type="http://schemas.openxmlformats.org/officeDocument/2006/relationships/image" Target="../media/image4.w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0.png"/><Relationship Id="rId4" Type="http://schemas.openxmlformats.org/officeDocument/2006/relationships/image" Target="../media/image4.wm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4.wmf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4.wm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85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9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1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image" Target="../media/image4.wmf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3.png"/><Relationship Id="rId4" Type="http://schemas.openxmlformats.org/officeDocument/2006/relationships/image" Target="../media/image48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4.wmf"/><Relationship Id="rId7" Type="http://schemas.openxmlformats.org/officeDocument/2006/relationships/image" Target="../media/image9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3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0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1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2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image" Target="../media/image114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6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8.png"/><Relationship Id="rId4" Type="http://schemas.openxmlformats.org/officeDocument/2006/relationships/image" Target="../media/image4.wmf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4.wmf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5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5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6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7.png"/><Relationship Id="rId4" Type="http://schemas.openxmlformats.org/officeDocument/2006/relationships/image" Target="../media/image1360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8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9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1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wmf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2.png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占位符 1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AAE12F0-D7BF-4E02-ACB0-666C08785BCA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页脚占位符 2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0724" name="灯片编号占位符 3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70D45005-2D24-4C3E-A16D-143D8B927AFB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5" name="页脚占位符 3"/>
          <p:cNvSpPr txBox="1">
            <a:spLocks noGrp="1"/>
          </p:cNvSpPr>
          <p:nvPr/>
        </p:nvSpPr>
        <p:spPr bwMode="black">
          <a:xfrm>
            <a:off x="609600" y="6470650"/>
            <a:ext cx="5381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96E58E5F-3263-4296-ABC8-2073B779E6E6}" type="slidenum">
              <a:rPr kumimoji="0" lang="en-US" altLang="zh-CN" sz="1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algn="r">
                <a:spcBef>
                  <a:spcPct val="0"/>
                </a:spcBef>
                <a:buFontTx/>
                <a:buNone/>
              </a:pPr>
              <a:t>1</a:t>
            </a:fld>
            <a:endParaRPr kumimoji="0" lang="en-US" altLang="zh-CN" sz="100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239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4213" y="1412875"/>
            <a:ext cx="7826375" cy="2514600"/>
          </a:xfrm>
        </p:spPr>
        <p:txBody>
          <a:bodyPr/>
          <a:lstStyle/>
          <a:p>
            <a:pPr marL="400050" indent="-400050" algn="ctr" eaLnBrk="1" hangingPunct="1">
              <a:buFontTx/>
              <a:buNone/>
              <a:defRPr/>
            </a:pPr>
            <a:r>
              <a:rPr lang="zh-CN" altLang="en-US" sz="8000" b="1">
                <a:solidFill>
                  <a:schemeClr val="accent2"/>
                </a:solidFill>
                <a:effectLst/>
                <a:ea typeface="隶书" panose="02010509060101010101" pitchFamily="49" charset="-122"/>
                <a:cs typeface="楷体_GB2312" pitchFamily="49" charset="-122"/>
              </a:rPr>
              <a:t>离散数学</a:t>
            </a:r>
            <a:endParaRPr lang="zh-CN" altLang="en-US" sz="6600" b="1">
              <a:solidFill>
                <a:schemeClr val="accent2"/>
              </a:solidFill>
              <a:effectLst/>
              <a:ea typeface="隶书" panose="02010509060101010101" pitchFamily="49" charset="-122"/>
              <a:cs typeface="楷体_GB2312" pitchFamily="49" charset="-122"/>
            </a:endParaRPr>
          </a:p>
          <a:p>
            <a:pPr marL="400050" indent="-400050" algn="ctr" eaLnBrk="1" hangingPunct="1">
              <a:buFontTx/>
              <a:buNone/>
              <a:defRPr/>
            </a:pPr>
            <a:r>
              <a:rPr lang="en-US" altLang="zh-CN" sz="660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华文行楷" panose="02010800040101010101" pitchFamily="2" charset="-122"/>
                <a:cs typeface="楷体_GB2312" pitchFamily="49" charset="-122"/>
              </a:rPr>
              <a:t>Discrete Mathematics</a:t>
            </a:r>
            <a:r>
              <a:rPr lang="en-US" altLang="zh-CN" sz="3600" b="1">
                <a:solidFill>
                  <a:schemeClr val="accent2"/>
                </a:solidFill>
                <a:ea typeface="宋体" panose="02010600030101010101" pitchFamily="2" charset="-122"/>
                <a:cs typeface="楷体_GB2312" pitchFamily="49" charset="-122"/>
              </a:rPr>
              <a:t> </a:t>
            </a:r>
          </a:p>
        </p:txBody>
      </p:sp>
      <p:sp>
        <p:nvSpPr>
          <p:cNvPr id="30727" name="Text Box 4"/>
          <p:cNvSpPr txBox="1">
            <a:spLocks noChangeArrowheads="1"/>
          </p:cNvSpPr>
          <p:nvPr/>
        </p:nvSpPr>
        <p:spPr bwMode="auto">
          <a:xfrm>
            <a:off x="1169988" y="4343400"/>
            <a:ext cx="6858000" cy="131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BCBCB"/>
                    </a:gs>
                    <a:gs pos="13000">
                      <a:srgbClr val="5F5F5F"/>
                    </a:gs>
                    <a:gs pos="21001">
                      <a:srgbClr val="5F5F5F"/>
                    </a:gs>
                    <a:gs pos="63000">
                      <a:srgbClr val="FFFFFF"/>
                    </a:gs>
                    <a:gs pos="67000">
                      <a:srgbClr val="B2B2B2"/>
                    </a:gs>
                    <a:gs pos="69000">
                      <a:srgbClr val="292929"/>
                    </a:gs>
                    <a:gs pos="82001">
                      <a:srgbClr val="777777"/>
                    </a:gs>
                    <a:gs pos="100000">
                      <a:srgbClr val="EAEAEA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0050" indent="-4000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buNone/>
            </a:pPr>
            <a:r>
              <a:rPr kumimoji="0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杨娟</a:t>
            </a:r>
            <a:r>
              <a:rPr kumimoji="0"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 博士</a:t>
            </a:r>
            <a:endParaRPr kumimoji="0" lang="zh-CN" altLang="en-US" sz="3200" b="1" dirty="0">
              <a:latin typeface="黑体" panose="02010609060101010101" pitchFamily="49" charset="-122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ctr" eaLnBrk="1" hangingPunct="1">
              <a:spcBef>
                <a:spcPct val="5000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buNone/>
            </a:pPr>
            <a:r>
              <a:rPr kumimoji="0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合肥工业大学计算机与信息学院</a:t>
            </a:r>
          </a:p>
        </p:txBody>
      </p:sp>
      <p:pic>
        <p:nvPicPr>
          <p:cNvPr id="30728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2238" y="549275"/>
            <a:ext cx="1401762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F833220-D2B1-4720-9C04-D929C4DC0C3B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7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1748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3C35079-C861-4D1B-8772-53943FEEE953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11560" y="1906749"/>
            <a:ext cx="8137525" cy="2878559"/>
          </a:xfrm>
        </p:spPr>
        <p:txBody>
          <a:bodyPr/>
          <a:lstStyle/>
          <a:p>
            <a:pPr eaLnBrk="1" hangingPunct="1"/>
            <a:r>
              <a:rPr lang="zh-CN" altLang="en-US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 图基本理论</a:t>
            </a:r>
            <a:r>
              <a:rPr lang="en-US" altLang="zh-CN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br>
              <a:rPr lang="en-US" altLang="zh-CN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与算法</a:t>
            </a:r>
            <a:r>
              <a:rPr lang="en-US" altLang="zh-CN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</a:t>
            </a:r>
            <a:r>
              <a:rPr lang="en-US" altLang="zh-CN" sz="6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5400" b="1" dirty="0">
              <a:solidFill>
                <a:schemeClr val="accent2"/>
              </a:solidFill>
            </a:endParaRPr>
          </a:p>
        </p:txBody>
      </p:sp>
      <p:pic>
        <p:nvPicPr>
          <p:cNvPr id="31750" name="Picture 7" descr="C:\Program Files\Microsoft Office\MEDIA\CAGCAT10\j0292982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08FDE9C-A9CF-42A4-B74B-1D7EF2057DFA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26A808A-98E8-435D-A05C-876F74A92A2F}"/>
              </a:ext>
            </a:extLst>
          </p:cNvPr>
          <p:cNvGrpSpPr/>
          <p:nvPr/>
        </p:nvGrpSpPr>
        <p:grpSpPr>
          <a:xfrm>
            <a:off x="2267744" y="2780928"/>
            <a:ext cx="4724400" cy="2644188"/>
            <a:chOff x="2195736" y="2801144"/>
            <a:chExt cx="4724400" cy="2644188"/>
          </a:xfrm>
        </p:grpSpPr>
        <p:sp>
          <p:nvSpPr>
            <p:cNvPr id="1170441" name="AutoShape 9"/>
            <p:cNvSpPr>
              <a:spLocks noChangeArrowheads="1"/>
            </p:cNvSpPr>
            <p:nvPr/>
          </p:nvSpPr>
          <p:spPr bwMode="gray">
            <a:xfrm>
              <a:off x="2576736" y="4260868"/>
              <a:ext cx="4343400" cy="606291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32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2774" name="AutoShape 10"/>
            <p:cNvSpPr>
              <a:spLocks noChangeArrowheads="1"/>
            </p:cNvSpPr>
            <p:nvPr/>
          </p:nvSpPr>
          <p:spPr bwMode="gray">
            <a:xfrm>
              <a:off x="2195736" y="4103740"/>
              <a:ext cx="685800" cy="909436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32775" name="Text Box 11"/>
            <p:cNvSpPr txBox="1">
              <a:spLocks noChangeArrowheads="1"/>
            </p:cNvSpPr>
            <p:nvPr/>
          </p:nvSpPr>
          <p:spPr bwMode="gray">
            <a:xfrm>
              <a:off x="2805336" y="4313312"/>
              <a:ext cx="3429000" cy="520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 dirty="0">
                  <a:latin typeface="黑体" panose="02010609060101010101" pitchFamily="49" charset="-122"/>
                </a:rPr>
                <a:t>   </a:t>
              </a:r>
              <a:r>
                <a:rPr kumimoji="0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图的运算与结构</a:t>
              </a:r>
            </a:p>
          </p:txBody>
        </p:sp>
        <p:sp>
          <p:nvSpPr>
            <p:cNvPr id="32776" name="Text Box 12"/>
            <p:cNvSpPr txBox="1">
              <a:spLocks noChangeArrowheads="1"/>
            </p:cNvSpPr>
            <p:nvPr/>
          </p:nvSpPr>
          <p:spPr bwMode="gray">
            <a:xfrm>
              <a:off x="2344961" y="4233886"/>
              <a:ext cx="363538" cy="5174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2</a:t>
              </a:r>
            </a:p>
          </p:txBody>
        </p:sp>
        <p:sp>
          <p:nvSpPr>
            <p:cNvPr id="32780" name="Text Box 17"/>
            <p:cNvSpPr txBox="1">
              <a:spLocks noChangeArrowheads="1"/>
            </p:cNvSpPr>
            <p:nvPr/>
          </p:nvSpPr>
          <p:spPr bwMode="gray">
            <a:xfrm>
              <a:off x="2335436" y="4926335"/>
              <a:ext cx="363538" cy="518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dirty="0">
                  <a:solidFill>
                    <a:schemeClr val="bg1"/>
                  </a:solidFill>
                  <a:latin typeface="黑体" panose="02010609060101010101" pitchFamily="49" charset="-122"/>
                </a:rPr>
                <a:t>3</a:t>
              </a:r>
            </a:p>
          </p:txBody>
        </p:sp>
        <p:sp>
          <p:nvSpPr>
            <p:cNvPr id="32781" name="AutoShape 19"/>
            <p:cNvSpPr>
              <a:spLocks noChangeArrowheads="1"/>
            </p:cNvSpPr>
            <p:nvPr/>
          </p:nvSpPr>
          <p:spPr bwMode="gray">
            <a:xfrm>
              <a:off x="2576736" y="2955097"/>
              <a:ext cx="4343400" cy="593593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32782" name="AutoShape 20"/>
            <p:cNvSpPr>
              <a:spLocks noChangeArrowheads="1"/>
            </p:cNvSpPr>
            <p:nvPr/>
          </p:nvSpPr>
          <p:spPr bwMode="gray">
            <a:xfrm>
              <a:off x="2195736" y="2801144"/>
              <a:ext cx="685800" cy="890390"/>
            </a:xfrm>
            <a:prstGeom prst="diamond">
              <a:avLst/>
            </a:prstGeom>
            <a:solidFill>
              <a:srgbClr val="CC9900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32783" name="Text Box 21"/>
            <p:cNvSpPr txBox="1">
              <a:spLocks noChangeArrowheads="1"/>
            </p:cNvSpPr>
            <p:nvPr/>
          </p:nvSpPr>
          <p:spPr bwMode="gray">
            <a:xfrm>
              <a:off x="2805336" y="3002227"/>
              <a:ext cx="3429000" cy="518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 dirty="0">
                  <a:latin typeface="黑体" panose="02010609060101010101" pitchFamily="49" charset="-122"/>
                </a:rPr>
                <a:t>   </a:t>
              </a:r>
              <a:r>
                <a:rPr kumimoji="0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图的概念与表示</a:t>
              </a:r>
            </a:p>
          </p:txBody>
        </p:sp>
        <p:sp>
          <p:nvSpPr>
            <p:cNvPr id="32784" name="Text Box 22"/>
            <p:cNvSpPr txBox="1">
              <a:spLocks noChangeArrowheads="1"/>
            </p:cNvSpPr>
            <p:nvPr/>
          </p:nvSpPr>
          <p:spPr bwMode="gray">
            <a:xfrm>
              <a:off x="2344961" y="2980492"/>
              <a:ext cx="361950" cy="520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  <a:latin typeface="黑体" panose="02010609060101010101" pitchFamily="49" charset="-122"/>
                </a:rPr>
                <a:t>1</a:t>
              </a:r>
            </a:p>
          </p:txBody>
        </p:sp>
      </p:grpSp>
      <p:sp>
        <p:nvSpPr>
          <p:cNvPr id="32788" name="Text Box 32"/>
          <p:cNvSpPr txBox="1">
            <a:spLocks noChangeArrowheads="1"/>
          </p:cNvSpPr>
          <p:nvPr/>
        </p:nvSpPr>
        <p:spPr bwMode="gray">
          <a:xfrm>
            <a:off x="2335436" y="5862753"/>
            <a:ext cx="363538" cy="518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92457" dir="9843276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solidFill>
                  <a:schemeClr val="bg1"/>
                </a:solidFill>
                <a:latin typeface="黑体" panose="02010609060101010101" pitchFamily="49" charset="-122"/>
              </a:rPr>
              <a:t>4</a:t>
            </a:r>
          </a:p>
        </p:txBody>
      </p:sp>
      <p:sp>
        <p:nvSpPr>
          <p:cNvPr id="16410" name="Text Box 2"/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buClr>
                <a:schemeClr val="bg1"/>
              </a:buClr>
              <a:buSzPts val="5400"/>
              <a:buFont typeface="Wingdings" panose="05000000000000000000" pitchFamily="2" charset="2"/>
              <a:buChar char="&amp;"/>
              <a:defRPr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本章内容（上）</a:t>
            </a:r>
            <a:endParaRPr lang="zh-CN" alt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EF63B95-CEEE-452F-A1BF-6F35335C22F2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5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3796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87295F5-B732-4FA7-8470-0A815CEF7876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7" name="Rectangle 4"/>
          <p:cNvSpPr>
            <a:spLocks noGrp="1" noChangeArrowheads="1"/>
          </p:cNvSpPr>
          <p:nvPr>
            <p:ph type="ctrTitle" idx="4294967295"/>
          </p:nvPr>
        </p:nvSpPr>
        <p:spPr>
          <a:xfrm>
            <a:off x="1190625" y="2565400"/>
            <a:ext cx="7197725" cy="1439863"/>
          </a:xfrm>
          <a:solidFill>
            <a:srgbClr val="0000FF"/>
          </a:solidFill>
        </p:spPr>
        <p:txBody>
          <a:bodyPr/>
          <a:lstStyle/>
          <a:p>
            <a:pPr eaLnBrk="1" hangingPunct="1"/>
            <a:r>
              <a:rPr lang="zh-CN" altLang="en-US" sz="6600" b="1">
                <a:solidFill>
                  <a:schemeClr val="bg1"/>
                </a:solidFill>
              </a:rPr>
              <a:t>图的概念与表示</a:t>
            </a:r>
          </a:p>
        </p:txBody>
      </p:sp>
      <p:pic>
        <p:nvPicPr>
          <p:cNvPr id="33798" name="Picture 7" descr="C:\Program Files\Microsoft Office\MEDIA\CAGCAT10\j0292982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E4466D0-807A-4BE1-802C-407627961677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4820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6A502F4-5142-4EA4-B936-3FE286B537F5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1" name="Text Box 2"/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图的概念与表示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67744" y="2615963"/>
            <a:ext cx="4537075" cy="280928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J"/>
            </a:pPr>
            <a:r>
              <a:rPr lang="en-US" altLang="zh-CN" sz="36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zh-CN" altLang="en-US" sz="36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图模型的由来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图的定义与分类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图的表示方法</a:t>
            </a:r>
          </a:p>
        </p:txBody>
      </p:sp>
      <p:pic>
        <p:nvPicPr>
          <p:cNvPr id="34823" name="Picture 7" descr="C:\Program Files\Microsoft Office\MEDIA\CAGCAT10\j0292982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2F99513-B4E9-4E40-AD61-BD7119AB08F5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6868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F39F019-2C3D-4A99-8A29-922E80CE6FAE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9" name="Text Box 2"/>
          <p:cNvSpPr txBox="1">
            <a:spLocks noChangeArrowheads="1"/>
          </p:cNvSpPr>
          <p:nvPr/>
        </p:nvSpPr>
        <p:spPr bwMode="auto">
          <a:xfrm>
            <a:off x="1403648" y="620688"/>
            <a:ext cx="7416800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4800" b="1" dirty="0" err="1">
                <a:solidFill>
                  <a:schemeClr val="bg1"/>
                </a:solidFill>
                <a:ea typeface="宋体" panose="02010600030101010101" pitchFamily="2" charset="-122"/>
              </a:rPr>
              <a:t>Konisberg</a:t>
            </a:r>
            <a:r>
              <a:rPr lang="zh-CN" altLang="en-US" sz="4800" b="1" dirty="0">
                <a:solidFill>
                  <a:schemeClr val="bg1"/>
                </a:solidFill>
                <a:ea typeface="宋体" panose="02010600030101010101" pitchFamily="2" charset="-122"/>
              </a:rPr>
              <a:t>七桥问题</a:t>
            </a:r>
          </a:p>
        </p:txBody>
      </p:sp>
      <p:pic>
        <p:nvPicPr>
          <p:cNvPr id="36870" name="Picture 9" descr="无标题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478" y="1674179"/>
            <a:ext cx="7148619" cy="4485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047EF95-A85A-4A02-94D6-2063897D849A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1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7892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1F9CAF5-1185-4233-9866-E46A7A8E5860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7894" name="Picture 10" descr="无标题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772816"/>
            <a:ext cx="7416056" cy="4402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7FFD3DE9-B8E6-41C0-9F42-648A5B365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620688"/>
            <a:ext cx="7416800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4800" b="1" dirty="0" err="1">
                <a:solidFill>
                  <a:schemeClr val="bg1"/>
                </a:solidFill>
                <a:ea typeface="宋体" panose="02010600030101010101" pitchFamily="2" charset="-122"/>
              </a:rPr>
              <a:t>Konisberg</a:t>
            </a:r>
            <a:r>
              <a:rPr lang="zh-CN" altLang="en-US" sz="4800" b="1" dirty="0">
                <a:solidFill>
                  <a:schemeClr val="bg1"/>
                </a:solidFill>
                <a:ea typeface="宋体" panose="02010600030101010101" pitchFamily="2" charset="-122"/>
              </a:rPr>
              <a:t>七桥问题</a:t>
            </a: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012F9BD-B6E0-4D92-A826-7D9CB58789D0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5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8916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23B008E-E449-47D5-B769-37C0F01D9C70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7" name="Text Box 2"/>
          <p:cNvSpPr txBox="1">
            <a:spLocks noChangeArrowheads="1"/>
          </p:cNvSpPr>
          <p:nvPr/>
        </p:nvSpPr>
        <p:spPr bwMode="auto">
          <a:xfrm>
            <a:off x="1475656" y="806996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4800" b="1">
                <a:solidFill>
                  <a:schemeClr val="bg1"/>
                </a:solidFill>
                <a:ea typeface="宋体" panose="02010600030101010101" pitchFamily="2" charset="-122"/>
              </a:rPr>
              <a:t>Konisberg</a:t>
            </a:r>
            <a:r>
              <a:rPr lang="zh-CN" altLang="en-US" sz="4800" b="1">
                <a:solidFill>
                  <a:schemeClr val="bg1"/>
                </a:solidFill>
                <a:ea typeface="宋体" panose="02010600030101010101" pitchFamily="2" charset="-122"/>
              </a:rPr>
              <a:t>七桥问题</a:t>
            </a:r>
          </a:p>
        </p:txBody>
      </p:sp>
      <p:pic>
        <p:nvPicPr>
          <p:cNvPr id="38918" name="Picture 7" descr="QQ截图201509191205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069554"/>
            <a:ext cx="7934325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D5D9AA8-75D1-445B-89F9-FDAFF3D75DF2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3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5844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15C753D7-7EC4-4316-8A31-32B04A91F306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5" name="Text Box 2"/>
          <p:cNvSpPr txBox="1">
            <a:spLocks noChangeArrowheads="1"/>
          </p:cNvSpPr>
          <p:nvPr/>
        </p:nvSpPr>
        <p:spPr bwMode="auto">
          <a:xfrm>
            <a:off x="1403350" y="549275"/>
            <a:ext cx="61928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图模型的由来</a:t>
            </a:r>
          </a:p>
        </p:txBody>
      </p:sp>
      <p:sp>
        <p:nvSpPr>
          <p:cNvPr id="35846" name="Rectangle 3"/>
          <p:cNvSpPr>
            <a:spLocks noChangeArrowheads="1"/>
          </p:cNvSpPr>
          <p:nvPr/>
        </p:nvSpPr>
        <p:spPr bwMode="auto">
          <a:xfrm>
            <a:off x="611560" y="1916832"/>
            <a:ext cx="8027987" cy="42481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lnSpc>
                <a:spcPct val="150000"/>
              </a:lnSpc>
              <a:buFontTx/>
              <a:buNone/>
            </a:pPr>
            <a:r>
              <a:rPr lang="zh-CN" altLang="en-US" sz="3600" b="1" dirty="0">
                <a:ea typeface="宋体" panose="02010600030101010101" pitchFamily="2" charset="-122"/>
              </a:rPr>
              <a:t>     图论诞生和孕育于民间游戏。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创立：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b="1" dirty="0">
                <a:solidFill>
                  <a:schemeClr val="bg1"/>
                </a:solidFill>
                <a:highlight>
                  <a:srgbClr val="FF00FF"/>
                </a:highlight>
                <a:ea typeface="宋体" panose="02010600030101010101" pitchFamily="2" charset="-122"/>
              </a:rPr>
              <a:t>         </a:t>
            </a:r>
            <a:r>
              <a:rPr lang="en-US" altLang="zh-CN" sz="2800" b="1" dirty="0">
                <a:solidFill>
                  <a:schemeClr val="bg1"/>
                </a:solidFill>
                <a:highlight>
                  <a:srgbClr val="FF00FF"/>
                </a:highlight>
                <a:ea typeface="宋体" panose="02010600030101010101" pitchFamily="2" charset="-122"/>
              </a:rPr>
              <a:t>1736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FF"/>
                </a:highlight>
                <a:ea typeface="宋体" panose="02010600030101010101" pitchFamily="2" charset="-122"/>
              </a:rPr>
              <a:t>年 瑞士数学家欧拉</a:t>
            </a:r>
            <a:r>
              <a:rPr lang="en-US" altLang="zh-CN" sz="2800" b="1" dirty="0">
                <a:solidFill>
                  <a:schemeClr val="bg1"/>
                </a:solidFill>
                <a:highlight>
                  <a:srgbClr val="FF00FF"/>
                </a:highlight>
                <a:ea typeface="宋体" panose="02010600030101010101" pitchFamily="2" charset="-122"/>
              </a:rPr>
              <a:t>——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FF"/>
                </a:highlight>
                <a:ea typeface="宋体" panose="02010600030101010101" pitchFamily="2" charset="-122"/>
              </a:rPr>
              <a:t>图论之父；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进展</a:t>
            </a:r>
            <a:r>
              <a:rPr lang="zh-CN" altLang="en-US" sz="2800" b="1" dirty="0">
                <a:ea typeface="宋体" panose="02010600030101010101" pitchFamily="2" charset="-122"/>
              </a:rPr>
              <a:t>：</a:t>
            </a:r>
            <a:endParaRPr lang="en-US" altLang="zh-CN" sz="2800" b="1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b="1" dirty="0">
                <a:solidFill>
                  <a:schemeClr val="tx2"/>
                </a:solidFill>
                <a:ea typeface="宋体" panose="02010600030101010101" pitchFamily="2" charset="-122"/>
              </a:rPr>
              <a:t>         </a:t>
            </a:r>
            <a:r>
              <a:rPr lang="en-US" altLang="zh-CN" sz="2000" b="1" dirty="0">
                <a:solidFill>
                  <a:schemeClr val="tx2"/>
                </a:solidFill>
                <a:ea typeface="宋体" panose="02010600030101010101" pitchFamily="2" charset="-122"/>
              </a:rPr>
              <a:t>1936</a:t>
            </a:r>
            <a:r>
              <a:rPr lang="zh-CN" altLang="en-US" sz="2000" b="1" dirty="0">
                <a:solidFill>
                  <a:schemeClr val="tx2"/>
                </a:solidFill>
                <a:ea typeface="宋体" panose="02010600030101010101" pitchFamily="2" charset="-122"/>
              </a:rPr>
              <a:t>年，</a:t>
            </a:r>
            <a:r>
              <a:rPr lang="zh-CN" altLang="en-US" sz="2000" b="1" dirty="0">
                <a:ea typeface="宋体" panose="02010600030101010101" pitchFamily="2" charset="-122"/>
              </a:rPr>
              <a:t>匈牙利数学家寇尼希</a:t>
            </a:r>
            <a:r>
              <a:rPr lang="en-US" altLang="zh-CN" sz="2000" b="1" dirty="0">
                <a:ea typeface="宋体" panose="02010600030101010101" pitchFamily="2" charset="-122"/>
              </a:rPr>
              <a:t>(</a:t>
            </a:r>
            <a:r>
              <a:rPr lang="en-US" altLang="zh-CN" sz="2000" b="1" dirty="0" err="1">
                <a:ea typeface="宋体" panose="02010600030101010101" pitchFamily="2" charset="-122"/>
              </a:rPr>
              <a:t>Konig</a:t>
            </a:r>
            <a:r>
              <a:rPr lang="en-US" altLang="zh-CN" sz="2000" b="1" dirty="0">
                <a:ea typeface="宋体" panose="02010600030101010101" pitchFamily="2" charset="-122"/>
              </a:rPr>
              <a:t>)</a:t>
            </a:r>
            <a:r>
              <a:rPr lang="zh-CN" altLang="en-US" sz="2000" b="1" dirty="0">
                <a:ea typeface="宋体" panose="02010600030101010101" pitchFamily="2" charset="-122"/>
              </a:rPr>
              <a:t>发表名著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ea typeface="宋体" panose="02010600030101010101" pitchFamily="2" charset="-122"/>
              </a:rPr>
              <a:t>                    《</a:t>
            </a:r>
            <a:r>
              <a:rPr lang="zh-CN" altLang="en-US" sz="2000" b="1" dirty="0">
                <a:ea typeface="宋体" panose="02010600030101010101" pitchFamily="2" charset="-122"/>
              </a:rPr>
              <a:t>有限图和无限图理论</a:t>
            </a:r>
            <a:r>
              <a:rPr lang="en-US" altLang="zh-CN" sz="2000" b="1" dirty="0">
                <a:ea typeface="宋体" panose="02010600030101010101" pitchFamily="2" charset="-122"/>
              </a:rPr>
              <a:t>》</a:t>
            </a:r>
            <a:r>
              <a:rPr lang="zh-CN" altLang="en-US" sz="2000" b="1" dirty="0">
                <a:ea typeface="宋体" panose="02010600030101010101" pitchFamily="2" charset="-122"/>
              </a:rPr>
              <a:t>；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ea typeface="宋体" panose="02010600030101010101" pitchFamily="2" charset="-122"/>
              </a:rPr>
              <a:t>           1930</a:t>
            </a:r>
            <a:r>
              <a:rPr lang="zh-CN" altLang="en-US" sz="2000" b="1" dirty="0">
                <a:ea typeface="宋体" panose="02010600030101010101" pitchFamily="2" charset="-122"/>
              </a:rPr>
              <a:t>年，波兰数学家库拉托父斯基</a:t>
            </a:r>
            <a:r>
              <a:rPr lang="en-US" altLang="zh-CN" sz="2000" b="1" dirty="0">
                <a:ea typeface="宋体" panose="02010600030101010101" pitchFamily="2" charset="-122"/>
              </a:rPr>
              <a:t>(</a:t>
            </a:r>
            <a:r>
              <a:rPr lang="en-US" altLang="zh-CN" sz="2000" b="1" dirty="0" err="1">
                <a:ea typeface="宋体" panose="02010600030101010101" pitchFamily="2" charset="-122"/>
              </a:rPr>
              <a:t>Kulatowsky</a:t>
            </a:r>
            <a:r>
              <a:rPr lang="en-US" altLang="zh-CN" sz="2000" b="1" dirty="0">
                <a:ea typeface="宋体" panose="02010600030101010101" pitchFamily="2" charset="-122"/>
              </a:rPr>
              <a:t>)</a:t>
            </a:r>
            <a:r>
              <a:rPr lang="zh-CN" altLang="en-US" sz="2000" b="1" dirty="0">
                <a:ea typeface="宋体" panose="02010600030101010101" pitchFamily="2" charset="-122"/>
              </a:rPr>
              <a:t>证明了平面图可以画在平面上；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000" b="1" dirty="0">
                <a:ea typeface="宋体" panose="02010600030101010101" pitchFamily="2" charset="-122"/>
              </a:rPr>
              <a:t>            其后，图论在现代数学、计算机科学、工程技术、优化管理等领域有大用而得以大力发展。</a:t>
            </a:r>
            <a:endParaRPr lang="en-US" altLang="zh-CN" sz="2000" b="1" dirty="0">
              <a:ea typeface="宋体" panose="02010600030101010101" pitchFamily="2" charset="-122"/>
            </a:endParaRPr>
          </a:p>
        </p:txBody>
      </p:sp>
      <p:pic>
        <p:nvPicPr>
          <p:cNvPr id="3584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4881178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812E8DA-F800-43C8-96D0-457DD0E24A35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7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41988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D74550B-CCF1-424E-9037-745F33C18EA0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9" name="Text Box 2"/>
          <p:cNvSpPr txBox="1">
            <a:spLocks noChangeArrowheads="1"/>
          </p:cNvSpPr>
          <p:nvPr/>
        </p:nvSpPr>
        <p:spPr bwMode="auto">
          <a:xfrm>
            <a:off x="1403648" y="764704"/>
            <a:ext cx="61928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学习图论的目的</a:t>
            </a:r>
          </a:p>
        </p:txBody>
      </p:sp>
      <p:pic>
        <p:nvPicPr>
          <p:cNvPr id="41990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549275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1" name="Picture 8" descr="无标题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988406"/>
            <a:ext cx="7993062" cy="412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D75A2CD-5664-4F0D-A7AA-2FC2A2F99BD4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1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43012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563C36F-84D2-4A40-8A0F-92662B3F64D8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3" name="Text Box 2"/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图的概念与表示</a:t>
            </a:r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11760" y="2492896"/>
            <a:ext cx="4537075" cy="3024188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4"/>
            </a:pPr>
            <a:r>
              <a:rPr lang="en-US" altLang="zh-CN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图模型的由来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J"/>
            </a:pPr>
            <a:r>
              <a:rPr lang="zh-CN" altLang="en-US" sz="36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图的定义与分类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图的表示方法</a:t>
            </a:r>
          </a:p>
        </p:txBody>
      </p:sp>
      <p:pic>
        <p:nvPicPr>
          <p:cNvPr id="43015" name="Picture 7" descr="C:\Program Files\Microsoft Office\MEDIA\CAGCAT10\j0292982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555" name="Rectangle 3"/>
          <p:cNvSpPr>
            <a:spLocks noGrp="1" noChangeArrowheads="1"/>
          </p:cNvSpPr>
          <p:nvPr>
            <p:ph idx="1"/>
          </p:nvPr>
        </p:nvSpPr>
        <p:spPr>
          <a:xfrm>
            <a:off x="323403" y="1889965"/>
            <a:ext cx="8641085" cy="4316569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Tx/>
              <a:buNone/>
            </a:pPr>
            <a:r>
              <a:rPr lang="zh-CN" altLang="en-US" b="1" dirty="0">
                <a:effectLst/>
                <a:cs typeface="楷体_GB2312" pitchFamily="49" charset="-122"/>
              </a:rPr>
              <a:t>      </a:t>
            </a: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用</a:t>
            </a:r>
            <a:r>
              <a:rPr lang="zh-CN" altLang="en-US" b="1" dirty="0">
                <a:solidFill>
                  <a:schemeClr val="accent1"/>
                </a:solidFill>
                <a:effectLst/>
                <a:cs typeface="楷体_GB2312" pitchFamily="49" charset="-122"/>
              </a:rPr>
              <a:t>某种图形</a:t>
            </a: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表示一组对象，其中有些对象之间存在着联系。</a:t>
            </a:r>
            <a:endParaRPr lang="en-US" altLang="zh-CN" b="1" dirty="0">
              <a:solidFill>
                <a:schemeClr val="bg1"/>
              </a:solidFill>
              <a:effectLst/>
              <a:cs typeface="楷体_GB2312" pitchFamily="49" charset="-122"/>
            </a:endParaRPr>
          </a:p>
          <a:p>
            <a:pPr marL="0" indent="0" eaLnBrk="1" hangingPunct="1">
              <a:lnSpc>
                <a:spcPct val="150000"/>
              </a:lnSpc>
              <a:buFontTx/>
              <a:buNone/>
            </a:pPr>
            <a:r>
              <a:rPr lang="en-US" altLang="zh-CN" sz="2000" b="1" dirty="0">
                <a:solidFill>
                  <a:schemeClr val="bg1"/>
                </a:solidFill>
                <a:effectLst/>
                <a:cs typeface="楷体_GB2312" pitchFamily="49" charset="-122"/>
              </a:rPr>
              <a:t>       </a:t>
            </a: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对于这种图形，</a:t>
            </a:r>
            <a:r>
              <a:rPr lang="zh-CN" altLang="en-US" b="1" dirty="0">
                <a:solidFill>
                  <a:srgbClr val="FFFF00"/>
                </a:solidFill>
                <a:effectLst/>
                <a:cs typeface="楷体_GB2312" pitchFamily="49" charset="-122"/>
              </a:rPr>
              <a:t>感兴趣的只是</a:t>
            </a: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：</a:t>
            </a:r>
          </a:p>
          <a:p>
            <a:pPr marL="0" indent="0" eaLnBrk="1" hangingPunct="1">
              <a:lnSpc>
                <a:spcPct val="150000"/>
              </a:lnSpc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effectLst/>
                <a:cs typeface="楷体_GB2312" pitchFamily="49" charset="-122"/>
              </a:rPr>
              <a:t>       </a:t>
            </a:r>
            <a:r>
              <a:rPr lang="zh-CN" altLang="en-US" sz="2000" b="1" dirty="0">
                <a:solidFill>
                  <a:schemeClr val="accent1"/>
                </a:solidFill>
                <a:effectLst/>
                <a:cs typeface="楷体_GB2312" pitchFamily="49" charset="-122"/>
              </a:rPr>
              <a:t>有多少个结点</a:t>
            </a:r>
            <a:r>
              <a:rPr lang="zh-CN" altLang="en-US" sz="2000" b="1" dirty="0">
                <a:solidFill>
                  <a:srgbClr val="FFFF00"/>
                </a:solidFill>
                <a:effectLst/>
                <a:cs typeface="楷体_GB2312" pitchFamily="49" charset="-122"/>
              </a:rPr>
              <a:t>以及</a:t>
            </a:r>
            <a:r>
              <a:rPr lang="zh-CN" altLang="en-US" sz="2000" b="1" dirty="0">
                <a:solidFill>
                  <a:schemeClr val="accent1"/>
                </a:solidFill>
                <a:effectLst/>
                <a:cs typeface="楷体_GB2312" pitchFamily="49" charset="-122"/>
              </a:rPr>
              <a:t>哪些结点之间有线连接</a:t>
            </a:r>
            <a:r>
              <a:rPr lang="zh-CN" altLang="en-US" sz="2000" b="1" dirty="0">
                <a:solidFill>
                  <a:schemeClr val="bg1"/>
                </a:solidFill>
                <a:effectLst/>
                <a:cs typeface="楷体_GB2312" pitchFamily="49" charset="-122"/>
              </a:rPr>
              <a:t>，至于连线的长短曲直和结点的位置却无关紧要，只要求每条线都</a:t>
            </a:r>
            <a:r>
              <a:rPr lang="zh-CN" altLang="en-US" sz="2000" b="1" dirty="0">
                <a:solidFill>
                  <a:srgbClr val="FFFF00"/>
                </a:solidFill>
                <a:effectLst/>
                <a:cs typeface="楷体_GB2312" pitchFamily="49" charset="-122"/>
              </a:rPr>
              <a:t>起始于一个点</a:t>
            </a:r>
            <a:r>
              <a:rPr lang="zh-CN" altLang="en-US" sz="2000" b="1" dirty="0">
                <a:solidFill>
                  <a:schemeClr val="bg1"/>
                </a:solidFill>
                <a:effectLst/>
                <a:cs typeface="楷体_GB2312" pitchFamily="49" charset="-122"/>
              </a:rPr>
              <a:t>且</a:t>
            </a:r>
            <a:r>
              <a:rPr lang="zh-CN" altLang="en-US" sz="2000" b="1" dirty="0">
                <a:solidFill>
                  <a:srgbClr val="FFFF00"/>
                </a:solidFill>
                <a:effectLst/>
                <a:cs typeface="楷体_GB2312" pitchFamily="49" charset="-122"/>
              </a:rPr>
              <a:t>终止于一个点</a:t>
            </a:r>
            <a:r>
              <a:rPr lang="zh-CN" altLang="en-US" sz="2000" b="1" dirty="0">
                <a:solidFill>
                  <a:schemeClr val="bg1"/>
                </a:solidFill>
                <a:effectLst/>
                <a:cs typeface="楷体_GB2312" pitchFamily="49" charset="-122"/>
              </a:rPr>
              <a:t>。</a:t>
            </a:r>
          </a:p>
          <a:p>
            <a:pPr marL="0" indent="0" eaLnBrk="1" hangingPunct="1">
              <a:lnSpc>
                <a:spcPct val="150000"/>
              </a:lnSpc>
              <a:buFontTx/>
              <a:buNone/>
            </a:pPr>
            <a:r>
              <a:rPr lang="zh-CN" altLang="en-US" b="1" dirty="0">
                <a:solidFill>
                  <a:schemeClr val="bg1"/>
                </a:solidFill>
                <a:effectLst/>
                <a:cs typeface="楷体_GB2312" pitchFamily="49" charset="-122"/>
              </a:rPr>
              <a:t>      </a:t>
            </a:r>
            <a:r>
              <a:rPr lang="zh-CN" altLang="en-US" sz="3200" b="1" dirty="0">
                <a:solidFill>
                  <a:schemeClr val="bg1"/>
                </a:solidFill>
                <a:effectLst/>
                <a:ea typeface="黑体" panose="02010609060101010101" pitchFamily="49" charset="-122"/>
                <a:cs typeface="楷体_GB2312" pitchFamily="49" charset="-122"/>
              </a:rPr>
              <a:t>可抽象出</a:t>
            </a:r>
            <a:r>
              <a:rPr lang="zh-CN" altLang="en-US" sz="32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两个要素：  </a:t>
            </a:r>
            <a:endParaRPr lang="en-US" altLang="zh-CN" sz="3200" b="1" dirty="0">
              <a:solidFill>
                <a:schemeClr val="bg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  <a:p>
            <a:pPr marL="0" indent="0" eaLnBrk="1" hangingPunct="1">
              <a:buFontTx/>
              <a:buNone/>
            </a:pPr>
            <a:r>
              <a:rPr lang="zh-CN" altLang="en-US" sz="32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           </a:t>
            </a:r>
            <a:r>
              <a:rPr lang="zh-CN" altLang="en-US" sz="3200" b="1" dirty="0">
                <a:solidFill>
                  <a:srgbClr val="FFFF66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对象（结点）  </a:t>
            </a:r>
            <a:endParaRPr lang="en-US" altLang="zh-CN" sz="3200" b="1" dirty="0">
              <a:solidFill>
                <a:srgbClr val="FFFF66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  <a:p>
            <a:pPr marL="0" indent="0" eaLnBrk="1" hangingPunct="1">
              <a:buFontTx/>
              <a:buNone/>
            </a:pPr>
            <a:r>
              <a:rPr lang="zh-CN" altLang="en-US" sz="3200" b="1" dirty="0">
                <a:solidFill>
                  <a:srgbClr val="FFFF66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           对象间的联系（边）</a:t>
            </a:r>
            <a:r>
              <a:rPr lang="zh-CN" altLang="en-US" sz="3200" b="1" dirty="0">
                <a:solidFill>
                  <a:srgbClr val="FFFF66"/>
                </a:solidFill>
                <a:effectLst/>
                <a:cs typeface="楷体_GB2312" pitchFamily="49" charset="-122"/>
              </a:rPr>
              <a:t>  </a:t>
            </a:r>
          </a:p>
        </p:txBody>
      </p:sp>
      <p:sp>
        <p:nvSpPr>
          <p:cNvPr id="22531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fld id="{A5C6B80F-473F-48DA-96A2-B0FA21B5E526}" type="datetime1">
              <a:rPr lang="zh-CN" altLang="en-US" sz="1400" smtClean="0">
                <a:ea typeface="楷体_GB2312" pitchFamily="49" charset="-122"/>
              </a:rPr>
              <a:pPr eaLnBrk="1" hangingPunct="1"/>
              <a:t>2020/9/7</a:t>
            </a:fld>
            <a:endParaRPr lang="en-US" altLang="zh-CN" sz="1400">
              <a:ea typeface="楷体_GB2312" pitchFamily="49" charset="-122"/>
            </a:endParaRPr>
          </a:p>
        </p:txBody>
      </p:sp>
      <p:sp>
        <p:nvSpPr>
          <p:cNvPr id="22532" name="Text Box 2"/>
          <p:cNvSpPr txBox="1">
            <a:spLocks noChangeArrowheads="1"/>
          </p:cNvSpPr>
          <p:nvPr/>
        </p:nvSpPr>
        <p:spPr bwMode="auto">
          <a:xfrm>
            <a:off x="1259632" y="651465"/>
            <a:ext cx="6553026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 eaLnBrk="0" hangingPunct="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kumimoji="1" lang="en-US" altLang="zh-CN" sz="5400" b="1" dirty="0"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楷体_GB2312" pitchFamily="49" charset="-122"/>
              </a:rPr>
              <a:t> </a:t>
            </a:r>
            <a:r>
              <a:rPr kumimoji="1" lang="zh-CN" altLang="en-US" sz="5400" b="1" dirty="0">
                <a:solidFill>
                  <a:schemeClr val="bg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楷体_GB2312" pitchFamily="49" charset="-122"/>
              </a:rPr>
              <a:t>图模型的两要素</a:t>
            </a:r>
          </a:p>
        </p:txBody>
      </p:sp>
      <p:pic>
        <p:nvPicPr>
          <p:cNvPr id="22533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548680"/>
            <a:ext cx="1026318" cy="107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0336408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FFAD12-66EF-409E-8FE6-52075F7F5882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44036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5976938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图模型的定义</a:t>
            </a:r>
          </a:p>
        </p:txBody>
      </p:sp>
      <p:pic>
        <p:nvPicPr>
          <p:cNvPr id="4403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113" y="476673"/>
            <a:ext cx="1026884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6FC90BF-011D-4754-83D8-93D6EE003588}"/>
                  </a:ext>
                </a:extLst>
              </p:cNvPr>
              <p:cNvSpPr/>
              <p:nvPr/>
            </p:nvSpPr>
            <p:spPr>
              <a:xfrm>
                <a:off x="467544" y="1700808"/>
                <a:ext cx="8287646" cy="189199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7970" algn="just">
                  <a:lnSpc>
                    <a:spcPts val="3600"/>
                  </a:lnSpc>
                  <a:spcAft>
                    <a:spcPts val="60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【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定义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】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是由一个</a:t>
                </a:r>
                <a:r>
                  <a:rPr lang="zh-CN" altLang="en-US" sz="2400" b="1" kern="100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非空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有限</a:t>
                </a:r>
                <a:r>
                  <a:rPr lang="zh-CN" altLang="en-US" sz="2400" b="1" kern="100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结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点集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、一个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有限边集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和一个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组成的三元组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sz="2400" b="1" i="1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cs typeface="楷体_GB2312" pitchFamily="49" charset="-122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  <m:r>
                          <a:rPr lang="en-US" altLang="zh-CN" sz="2400" b="1" i="1" kern="100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altLang="zh-CN" sz="2400" b="1" i="1" dirty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cs typeface="楷体_GB2312" pitchFamily="49" charset="-122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),</m:t>
                        </m:r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rgbClr val="FFFF6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rgbClr val="FFFF66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𝒉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rgbClr val="FFFF66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𝑮</m:t>
                            </m:r>
                          </m:sub>
                        </m:sSub>
                      </m:e>
                    </m:d>
                    <m:r>
                      <a:rPr lang="en-US" altLang="zh-CN" sz="2400" b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楷体_GB2312" pitchFamily="49" charset="-122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其中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每条边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𝒆</m:t>
                    </m:r>
                    <m:r>
                      <a:rPr lang="en-US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分配一个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结点对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zh-CN" altLang="en-US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，即对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∀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𝒆</m:t>
                    </m:r>
                    <m:r>
                      <a:rPr lang="en-US" altLang="zh-CN" sz="2400" b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400" b="1" kern="100" dirty="0">
                    <a:solidFill>
                      <a:srgbClr val="FFFF66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𝒆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)={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zh-CN" altLang="en-US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400" b="1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6FC90BF-011D-4754-83D8-93D6EE0035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700808"/>
                <a:ext cx="8287646" cy="1891993"/>
              </a:xfrm>
              <a:prstGeom prst="rect">
                <a:avLst/>
              </a:prstGeom>
              <a:blipFill>
                <a:blip r:embed="rId4"/>
                <a:stretch>
                  <a:fillRect l="-1177" t="-1290" r="-1104" b="-54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6E0D38EA-097C-4259-9703-EE9D1E9758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608" y="3763329"/>
            <a:ext cx="7272808" cy="242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51137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FFAD12-66EF-409E-8FE6-52075F7F5882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44036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5976938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图模型的定义</a:t>
            </a:r>
          </a:p>
        </p:txBody>
      </p:sp>
      <p:pic>
        <p:nvPicPr>
          <p:cNvPr id="4403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113" y="476673"/>
            <a:ext cx="1026884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E0D38EA-097C-4259-9703-EE9D1E975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656" y="3960179"/>
            <a:ext cx="6621432" cy="22056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C3ED7E3-5D35-4B62-ACAE-B58798C6DDC9}"/>
                  </a:ext>
                </a:extLst>
              </p:cNvPr>
              <p:cNvSpPr/>
              <p:nvPr/>
            </p:nvSpPr>
            <p:spPr>
              <a:xfrm>
                <a:off x="541675" y="1629282"/>
                <a:ext cx="7920880" cy="2246769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spcAft>
                    <a:spcPts val="600"/>
                  </a:spcAft>
                </a:pPr>
                <a:r>
                  <a:rPr lang="zh-CN" altLang="zh-CN" sz="2400" b="1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en-US" sz="2400" b="1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b="1" kern="100" dirty="0">
                    <a:solidFill>
                      <a:srgbClr val="CC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顶点集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altLang="zh-CN" sz="24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400" b="1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b="1" kern="100" dirty="0" smtClean="0">
                        <a:solidFill>
                          <a:srgbClr val="CC00FF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边集</m:t>
                    </m:r>
                    <m:r>
                      <a:rPr lang="en-US" altLang="zh-CN" sz="24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4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b="1" kern="1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分别为</m:t>
                    </m:r>
                    <m:r>
                      <a:rPr lang="zh-CN" altLang="en-US" sz="2400" b="1" i="1" kern="1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：</m:t>
                    </m:r>
                  </m:oMath>
                </a14:m>
                <a:endParaRPr lang="en-US" altLang="zh-CN" sz="2400" b="1" i="1" kern="100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ctr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altLang="zh-CN" sz="2400" b="1" i="1" kern="100" smtClean="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kern="100" smtClean="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 smtClean="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)={</m:t>
                    </m:r>
                    <m:r>
                      <a:rPr lang="en-US" altLang="zh-CN" sz="2400" b="1" i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𝒘</m:t>
                    </m:r>
                    <m:r>
                      <a:rPr lang="en-US" altLang="zh-CN" sz="2400" b="1" i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400" b="1" i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altLang="zh-CN" sz="2400" b="1" i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400" b="1" i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altLang="zh-CN" sz="2400" b="1" i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400" b="1" i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𝒛</m:t>
                    </m:r>
                    <m:r>
                      <a:rPr lang="en-US" altLang="zh-CN" sz="2400" b="1" i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zh-CN" altLang="en-US" sz="2400" b="1" kern="100" dirty="0">
                    <a:solidFill>
                      <a:srgbClr val="CC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r>
                  <a:rPr lang="en-US" altLang="zh-CN" sz="2400" b="1" kern="100" dirty="0">
                    <a:solidFill>
                      <a:srgbClr val="CC00FF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400" b="1" i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400" b="1" kern="100" dirty="0">
                    <a:solidFill>
                      <a:srgbClr val="CC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zh-CN" altLang="zh-CN" sz="2400" b="1" kern="100" dirty="0">
                    <a:solidFill>
                      <a:srgbClr val="CC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altLang="zh-CN" sz="2400" b="1" i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2400" b="1" i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2400" b="1" i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altLang="zh-CN" sz="2400" b="1" i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2400" b="1" i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𝟕</m:t>
                    </m:r>
                    <m:r>
                      <a:rPr lang="en-US" altLang="zh-CN" sz="2400" b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en-US" altLang="zh-CN" sz="2400" b="1" kern="100" dirty="0">
                  <a:solidFill>
                    <a:srgbClr val="CC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400" b="1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对应的结点对</a:t>
                </a:r>
                <a:r>
                  <a:rPr lang="zh-CN" altLang="zh-CN" sz="2400" b="1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分别</a:t>
                </a:r>
                <a:r>
                  <a:rPr lang="zh-CN" altLang="en-US" sz="2400" b="1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为：</a:t>
                </a:r>
                <a:endParaRPr lang="en-US" altLang="zh-CN" sz="2400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600"/>
                  </a:spcAft>
                </a:pPr>
                <a:r>
                  <a:rPr lang="en-US" altLang="zh-CN" sz="2400" b="1" kern="1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𝒘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},{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𝒘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},{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𝒛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𝒘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},{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𝒘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𝒛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},{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𝒘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},{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},{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𝒛</m:t>
                    </m:r>
                    <m:r>
                      <a:rPr lang="en-US" altLang="zh-CN" sz="2400" b="1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en-US" altLang="zh-CN" sz="2400" b="1" i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600"/>
                  </a:spcAft>
                </a:pPr>
                <a:r>
                  <a:rPr lang="zh-CN" altLang="en-US" sz="2400" b="1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 smtClean="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sub>
                    </m:sSub>
                    <m:d>
                      <m:dPr>
                        <m:ctrlPr>
                          <a:rPr lang="zh-CN" altLang="zh-CN" sz="2400" b="1" i="1" kern="10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2400" b="1" i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sub>
                    </m:sSub>
                    <m:d>
                      <m:dPr>
                        <m:ctrlPr>
                          <a:rPr lang="zh-CN" altLang="zh-CN" sz="2400" b="1" i="1" kern="10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b="1" kern="100" dirty="0">
                    <a:solidFill>
                      <a:srgbClr val="CC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sub>
                    </m:sSub>
                    <m:d>
                      <m:dPr>
                        <m:ctrlPr>
                          <a:rPr lang="zh-CN" altLang="zh-CN" sz="2400" b="1" i="1" kern="10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altLang="zh-CN" sz="2400" b="1" i="1" kern="100">
                        <a:solidFill>
                          <a:srgbClr val="CC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sub>
                    </m:sSub>
                    <m:d>
                      <m:dPr>
                        <m:ctrlPr>
                          <a:rPr lang="zh-CN" altLang="zh-CN" sz="2400" b="1" i="1" kern="100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rgbClr val="CC00FF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𝟒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sz="2400" b="1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C3ED7E3-5D35-4B62-ACAE-B58798C6DD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75" y="1629282"/>
                <a:ext cx="7920880" cy="2246769"/>
              </a:xfrm>
              <a:prstGeom prst="rect">
                <a:avLst/>
              </a:prstGeom>
              <a:blipFill>
                <a:blip r:embed="rId5"/>
                <a:stretch>
                  <a:fillRect t="-2981" b="-4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587504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7657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107504" y="1748263"/>
                <a:ext cx="8962688" cy="4433312"/>
              </a:xfrm>
              <a:solidFill>
                <a:schemeClr val="bg1"/>
              </a:solidFill>
            </p:spPr>
            <p:txBody>
              <a:bodyPr/>
              <a:lstStyle/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en-US" altLang="zh-CN" b="1" dirty="0">
                    <a:solidFill>
                      <a:srgbClr val="FF0000"/>
                    </a:solidFill>
                    <a:effectLst/>
                    <a:cs typeface="楷体_GB2312" pitchFamily="49" charset="-122"/>
                  </a:rPr>
                  <a:t>   【</a:t>
                </a:r>
                <a:r>
                  <a:rPr lang="zh-CN" altLang="en-US" b="1" dirty="0">
                    <a:solidFill>
                      <a:srgbClr val="FF0000"/>
                    </a:solidFill>
                    <a:effectLst/>
                    <a:cs typeface="楷体_GB2312" pitchFamily="49" charset="-122"/>
                  </a:rPr>
                  <a:t>定义</a:t>
                </a:r>
                <a:r>
                  <a:rPr lang="en-US" altLang="zh-CN" b="1" dirty="0">
                    <a:solidFill>
                      <a:srgbClr val="FF0000"/>
                    </a:solidFill>
                    <a:effectLst/>
                    <a:cs typeface="楷体_GB2312" pitchFamily="49" charset="-122"/>
                  </a:rPr>
                  <a:t>】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由非空有限集合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V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和有限多重集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E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组成的二元组：</a:t>
                </a:r>
                <a:endParaRPr lang="en-US" altLang="zh-CN" b="1" dirty="0">
                  <a:effectLst/>
                  <a:cs typeface="楷体_GB2312" pitchFamily="49" charset="-122"/>
                </a:endParaRPr>
              </a:p>
              <a:p>
                <a:pPr marL="0" indent="0" algn="ctr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en-US" altLang="zh-CN" b="1" dirty="0">
                    <a:effectLst/>
                    <a:cs typeface="楷体_GB2312" pitchFamily="49" charset="-122"/>
                  </a:rPr>
                  <a:t>G =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effectLst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effectLst/>
                            <a:cs typeface="楷体_GB2312" pitchFamily="49" charset="-122"/>
                          </a:rPr>
                          <m:t>E</m:t>
                        </m:r>
                      </m:e>
                    </m:d>
                  </m:oMath>
                </a14:m>
                <a:endParaRPr lang="en-US" altLang="zh-CN" b="1" dirty="0"/>
              </a:p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zh-CN" altLang="en-US" b="1" dirty="0">
                    <a:effectLst/>
                    <a:cs typeface="楷体_GB2312" pitchFamily="49" charset="-122"/>
                  </a:rPr>
                  <a:t>称为</a:t>
                </a:r>
                <a:r>
                  <a:rPr lang="zh-CN" altLang="en-US" b="1" dirty="0">
                    <a:solidFill>
                      <a:srgbClr val="FF000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图模型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，简称为</a:t>
                </a:r>
                <a:r>
                  <a:rPr lang="zh-CN" altLang="en-US" b="1" dirty="0">
                    <a:solidFill>
                      <a:srgbClr val="FF000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图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，其中：</a:t>
                </a:r>
              </a:p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zh-CN" altLang="en-US" b="1" dirty="0">
                    <a:solidFill>
                      <a:srgbClr val="008000"/>
                    </a:solidFill>
                    <a:effectLst/>
                    <a:cs typeface="楷体_GB2312" pitchFamily="49" charset="-122"/>
                  </a:rPr>
                  <a:t>   （</a:t>
                </a:r>
                <a:r>
                  <a:rPr lang="en-US" altLang="zh-CN" b="1" dirty="0">
                    <a:solidFill>
                      <a:srgbClr val="008000"/>
                    </a:solidFill>
                    <a:effectLst/>
                    <a:cs typeface="楷体_GB2312" pitchFamily="49" charset="-122"/>
                  </a:rPr>
                  <a:t>1</a:t>
                </a:r>
                <a:r>
                  <a:rPr lang="zh-CN" altLang="en-US" b="1" dirty="0">
                    <a:solidFill>
                      <a:srgbClr val="008000"/>
                    </a:solidFill>
                    <a:effectLst/>
                    <a:cs typeface="楷体_GB2312" pitchFamily="49" charset="-122"/>
                  </a:rPr>
                  <a:t>）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V = {v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1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, v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2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, </a:t>
                </a:r>
                <a:r>
                  <a:rPr lang="en-US" altLang="zh-CN" b="1" dirty="0">
                    <a:effectLst/>
                    <a:latin typeface="宋体" pitchFamily="2" charset="-122"/>
                    <a:cs typeface="楷体_GB2312" pitchFamily="49" charset="-122"/>
                  </a:rPr>
                  <a:t>…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, </a:t>
                </a:r>
                <a:r>
                  <a:rPr lang="en-US" altLang="zh-CN" b="1" dirty="0" err="1">
                    <a:effectLst/>
                    <a:cs typeface="楷体_GB2312" pitchFamily="49" charset="-122"/>
                  </a:rPr>
                  <a:t>v</a:t>
                </a:r>
                <a:r>
                  <a:rPr lang="en-US" altLang="zh-CN" b="1" baseline="-25000" dirty="0" err="1">
                    <a:effectLst/>
                    <a:cs typeface="楷体_GB2312" pitchFamily="49" charset="-122"/>
                  </a:rPr>
                  <a:t>n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}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是</a:t>
                </a:r>
                <a:r>
                  <a:rPr lang="zh-CN" altLang="en-US" b="1" dirty="0">
                    <a:solidFill>
                      <a:srgbClr val="0000FF"/>
                    </a:solidFill>
                    <a:effectLst/>
                    <a:cs typeface="楷体_GB2312" pitchFamily="49" charset="-122"/>
                  </a:rPr>
                  <a:t>有限非空集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，称为</a:t>
                </a:r>
                <a:r>
                  <a:rPr lang="zh-CN" altLang="en-US" b="1" dirty="0">
                    <a:solidFill>
                      <a:srgbClr val="0000FF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结点集</a:t>
                </a:r>
                <a:r>
                  <a:rPr lang="zh-CN" altLang="en-US" b="1" dirty="0">
                    <a:solidFill>
                      <a:srgbClr val="CC00FF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，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 V 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中的每个元素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v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i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称为图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G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的一个</a:t>
                </a:r>
                <a:r>
                  <a:rPr lang="zh-CN" altLang="en-US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结点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，简称为</a:t>
                </a:r>
                <a:r>
                  <a:rPr lang="zh-CN" altLang="en-US" b="1" dirty="0">
                    <a:solidFill>
                      <a:srgbClr val="CC00FF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点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。</a:t>
                </a:r>
              </a:p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zh-CN" altLang="en-US" b="1" dirty="0">
                    <a:solidFill>
                      <a:srgbClr val="008000"/>
                    </a:solidFill>
                    <a:effectLst/>
                    <a:cs typeface="楷体_GB2312" pitchFamily="49" charset="-122"/>
                  </a:rPr>
                  <a:t>   （</a:t>
                </a:r>
                <a:r>
                  <a:rPr lang="en-US" altLang="zh-CN" b="1" dirty="0">
                    <a:solidFill>
                      <a:srgbClr val="008000"/>
                    </a:solidFill>
                    <a:effectLst/>
                    <a:cs typeface="楷体_GB2312" pitchFamily="49" charset="-122"/>
                  </a:rPr>
                  <a:t>2</a:t>
                </a:r>
                <a:r>
                  <a:rPr lang="zh-CN" altLang="en-US" b="1" dirty="0">
                    <a:solidFill>
                      <a:srgbClr val="008000"/>
                    </a:solidFill>
                    <a:effectLst/>
                    <a:cs typeface="楷体_GB2312" pitchFamily="49" charset="-122"/>
                  </a:rPr>
                  <a:t>）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E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是由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V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中的结点对为元素组成的</a:t>
                </a:r>
                <a:r>
                  <a:rPr lang="zh-CN" altLang="en-US" b="1" dirty="0">
                    <a:solidFill>
                      <a:srgbClr val="0000FF"/>
                    </a:solidFill>
                    <a:effectLst/>
                    <a:cs typeface="楷体_GB2312" pitchFamily="49" charset="-122"/>
                  </a:rPr>
                  <a:t>有限集</a:t>
                </a:r>
                <a:r>
                  <a:rPr lang="zh-CN" altLang="en-US" b="1" dirty="0">
                    <a:solidFill>
                      <a:schemeClr val="accent2">
                        <a:lumMod val="75000"/>
                      </a:schemeClr>
                    </a:solidFill>
                    <a:effectLst/>
                    <a:cs typeface="楷体_GB2312" pitchFamily="49" charset="-122"/>
                  </a:rPr>
                  <a:t>（可重集）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，称为</a:t>
                </a:r>
                <a:r>
                  <a:rPr lang="zh-CN" altLang="en-US" b="1" dirty="0">
                    <a:solidFill>
                      <a:srgbClr val="CC00FF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边集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，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E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中的每个元素称为图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G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的</a:t>
                </a:r>
                <a:r>
                  <a:rPr lang="zh-CN" altLang="en-US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一条边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11765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748263"/>
                <a:ext cx="8962688" cy="4433312"/>
              </a:xfrm>
              <a:blipFill>
                <a:blip r:embed="rId2"/>
                <a:stretch>
                  <a:fillRect l="-1088" r="-1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35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FFAD12-66EF-409E-8FE6-52075F7F5882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dirty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44036" name="Text Box 2"/>
          <p:cNvSpPr txBox="1">
            <a:spLocks noChangeArrowheads="1"/>
          </p:cNvSpPr>
          <p:nvPr/>
        </p:nvSpPr>
        <p:spPr bwMode="auto">
          <a:xfrm>
            <a:off x="1403349" y="692150"/>
            <a:ext cx="6522999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图模型的简化定义</a:t>
            </a:r>
          </a:p>
        </p:txBody>
      </p:sp>
      <p:pic>
        <p:nvPicPr>
          <p:cNvPr id="4403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6349" y="549276"/>
            <a:ext cx="1049376" cy="1103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7657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11560" y="1988840"/>
                <a:ext cx="7992888" cy="3863131"/>
              </a:xfrm>
              <a:solidFill>
                <a:schemeClr val="accent5"/>
              </a:solidFill>
            </p:spPr>
            <p:txBody>
              <a:bodyPr/>
              <a:lstStyle/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en-US" altLang="zh-CN" b="1" dirty="0">
                    <a:solidFill>
                      <a:schemeClr val="accent2"/>
                    </a:solidFill>
                    <a:effectLst/>
                    <a:cs typeface="楷体_GB2312" pitchFamily="49" charset="-122"/>
                  </a:rPr>
                  <a:t>【</a:t>
                </a:r>
                <a:r>
                  <a:rPr lang="zh-CN" altLang="en-US" b="1" dirty="0">
                    <a:solidFill>
                      <a:schemeClr val="accent2"/>
                    </a:solidFill>
                    <a:effectLst/>
                    <a:cs typeface="楷体_GB2312" pitchFamily="49" charset="-122"/>
                  </a:rPr>
                  <a:t>例题</a:t>
                </a:r>
                <a:r>
                  <a:rPr lang="en-US" altLang="zh-CN" b="1" dirty="0">
                    <a:solidFill>
                      <a:schemeClr val="accent2"/>
                    </a:solidFill>
                    <a:effectLst/>
                    <a:cs typeface="楷体_GB2312" pitchFamily="49" charset="-122"/>
                  </a:rPr>
                  <a:t>】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设图模型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G=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effectLst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effectLst/>
                            <a:cs typeface="楷体_GB2312" pitchFamily="49" charset="-122"/>
                          </a:rPr>
                          <m:t>E</m:t>
                        </m:r>
                      </m:e>
                    </m:d>
                  </m:oMath>
                </a14:m>
                <a:r>
                  <a:rPr lang="zh-CN" altLang="en-US" b="1" dirty="0">
                    <a:effectLst/>
                    <a:cs typeface="楷体_GB2312" pitchFamily="49" charset="-122"/>
                  </a:rPr>
                  <a:t>如下：</a:t>
                </a:r>
                <a:endParaRPr lang="en-US" altLang="zh-CN" b="1" dirty="0">
                  <a:effectLst/>
                  <a:cs typeface="楷体_GB2312" pitchFamily="49" charset="-122"/>
                </a:endParaRPr>
              </a:p>
              <a:p>
                <a:pPr marL="0" indent="0" algn="ctr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en-US" altLang="zh-CN" b="1" dirty="0">
                    <a:effectLst/>
                    <a:cs typeface="楷体_GB2312" pitchFamily="49" charset="-122"/>
                  </a:rPr>
                  <a:t>      V={v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1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2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3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4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}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；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E={e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1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,e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2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,e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3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,e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4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,e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5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,e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6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}</a:t>
                </a:r>
              </a:p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en-US" altLang="zh-CN" b="1" dirty="0">
                    <a:effectLst/>
                    <a:cs typeface="楷体_GB2312" pitchFamily="49" charset="-122"/>
                  </a:rPr>
                  <a:t>    e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1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是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v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1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和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v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2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组成的结点对，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e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2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是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v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1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和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v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3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组成的结点对，</a:t>
                </a:r>
                <a:endParaRPr lang="en-US" altLang="zh-CN" b="1" dirty="0">
                  <a:effectLst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en-US" altLang="zh-CN" b="1" dirty="0">
                    <a:effectLst/>
                    <a:cs typeface="楷体_GB2312" pitchFamily="49" charset="-122"/>
                  </a:rPr>
                  <a:t>    e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3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是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v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2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和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v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4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组成的结点对，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e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4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是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v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3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和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v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4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组成的结点对，</a:t>
                </a:r>
                <a:endParaRPr lang="en-US" altLang="zh-CN" b="1" dirty="0">
                  <a:effectLst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en-US" altLang="zh-CN" b="1" dirty="0">
                    <a:effectLst/>
                    <a:cs typeface="楷体_GB2312" pitchFamily="49" charset="-122"/>
                  </a:rPr>
                  <a:t>    e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5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是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v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4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和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v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5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组成的结点对，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e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6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是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v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3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和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v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5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组成的结点对，</a:t>
                </a:r>
                <a:endParaRPr lang="en-US" altLang="zh-CN" b="1" dirty="0">
                  <a:effectLst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zh-CN" altLang="en-US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每条边都没有方向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，根据二元组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G=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effectLst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effectLst/>
                            <a:cs typeface="楷体_GB2312" pitchFamily="49" charset="-122"/>
                          </a:rPr>
                          <m:t>E</m:t>
                        </m:r>
                      </m:e>
                    </m:d>
                  </m:oMath>
                </a14:m>
                <a:r>
                  <a:rPr lang="zh-CN" altLang="en-US" b="1" dirty="0">
                    <a:effectLst/>
                    <a:cs typeface="楷体_GB2312" pitchFamily="49" charset="-122"/>
                  </a:rPr>
                  <a:t>画出图模型 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G.</a:t>
                </a:r>
                <a:endParaRPr lang="zh-CN" altLang="en-US" b="1" dirty="0">
                  <a:effectLst/>
                  <a:cs typeface="楷体_GB2312" pitchFamily="49" charset="-122"/>
                </a:endParaRPr>
              </a:p>
            </p:txBody>
          </p:sp>
        </mc:Choice>
        <mc:Fallback xmlns="">
          <p:sp>
            <p:nvSpPr>
              <p:cNvPr id="11765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560" y="1988840"/>
                <a:ext cx="7992888" cy="3863131"/>
              </a:xfrm>
              <a:blipFill>
                <a:blip r:embed="rId2"/>
                <a:stretch>
                  <a:fillRect l="-11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35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FFAD12-66EF-409E-8FE6-52075F7F5882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44036" name="Text Box 2"/>
          <p:cNvSpPr txBox="1">
            <a:spLocks noChangeArrowheads="1"/>
          </p:cNvSpPr>
          <p:nvPr/>
        </p:nvSpPr>
        <p:spPr bwMode="auto">
          <a:xfrm>
            <a:off x="1403648" y="692696"/>
            <a:ext cx="5976938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 题</a:t>
            </a:r>
          </a:p>
        </p:txBody>
      </p:sp>
      <p:pic>
        <p:nvPicPr>
          <p:cNvPr id="4403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2814544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579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949222"/>
            <a:ext cx="8280400" cy="720080"/>
          </a:xfrm>
          <a:noFill/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zh-CN" sz="2800" b="1" dirty="0">
                <a:solidFill>
                  <a:srgbClr val="FF0000"/>
                </a:solidFill>
                <a:effectLst/>
                <a:cs typeface="楷体_GB2312" pitchFamily="49" charset="-122"/>
              </a:rPr>
              <a:t>【</a:t>
            </a:r>
            <a:r>
              <a:rPr lang="zh-CN" altLang="en-US" sz="2800" b="1" dirty="0">
                <a:solidFill>
                  <a:srgbClr val="FF0000"/>
                </a:solidFill>
                <a:effectLst/>
                <a:cs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ffectLst/>
                <a:cs typeface="楷体_GB2312" pitchFamily="49" charset="-122"/>
              </a:rPr>
              <a:t>】</a:t>
            </a:r>
            <a:r>
              <a:rPr lang="zh-CN" altLang="en-US" sz="2800" b="1" dirty="0">
                <a:effectLst/>
                <a:cs typeface="楷体_GB2312" pitchFamily="49" charset="-122"/>
              </a:rPr>
              <a:t>根据给定二元组画出图如下图所示：</a:t>
            </a:r>
            <a:r>
              <a:rPr lang="zh-CN" altLang="en-US" sz="2800" dirty="0"/>
              <a:t/>
            </a:r>
            <a:br>
              <a:rPr lang="zh-CN" altLang="en-US" sz="2800" dirty="0"/>
            </a:br>
            <a:r>
              <a:rPr lang="zh-CN" altLang="en-US" sz="2800" dirty="0"/>
              <a:t/>
            </a:r>
            <a:br>
              <a:rPr lang="zh-CN" altLang="en-US" sz="2800" dirty="0"/>
            </a:br>
            <a:endParaRPr lang="zh-CN" altLang="en-US" sz="2800" b="1" dirty="0">
              <a:cs typeface="楷体_GB2312" pitchFamily="49" charset="-122"/>
            </a:endParaRPr>
          </a:p>
        </p:txBody>
      </p:sp>
      <p:sp>
        <p:nvSpPr>
          <p:cNvPr id="44035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FFAD12-66EF-409E-8FE6-52075F7F5882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pic>
        <p:nvPicPr>
          <p:cNvPr id="4403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0FED961-5028-4FE8-89C9-6EA6984A4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1311" y="2924944"/>
            <a:ext cx="5400898" cy="3064255"/>
          </a:xfrm>
          <a:prstGeom prst="rect">
            <a:avLst/>
          </a:prstGeom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4C936AF1-6373-4E32-B220-272981B27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692696"/>
            <a:ext cx="5976938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 题</a:t>
            </a:r>
          </a:p>
        </p:txBody>
      </p:sp>
    </p:spTree>
    <p:extLst>
      <p:ext uri="{BB962C8B-B14F-4D97-AF65-F5344CB8AC3E}">
        <p14:creationId xmlns:p14="http://schemas.microsoft.com/office/powerpoint/2010/main" val="2501518947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03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1772061"/>
            <a:ext cx="6264696" cy="574675"/>
          </a:xfrm>
        </p:spPr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zh-CN" altLang="en-US" sz="2800" b="1" dirty="0">
                <a:effectLst/>
                <a:cs typeface="楷体_GB2312" pitchFamily="49" charset="-122"/>
              </a:rPr>
              <a:t>图模型中结点对既可</a:t>
            </a:r>
            <a:r>
              <a:rPr lang="zh-CN" altLang="en-US" sz="2800" b="1" dirty="0">
                <a:solidFill>
                  <a:srgbClr val="0000FF"/>
                </a:solidFill>
                <a:effectLst/>
                <a:cs typeface="楷体_GB2312" pitchFamily="49" charset="-122"/>
              </a:rPr>
              <a:t>无序</a:t>
            </a:r>
            <a:r>
              <a:rPr lang="zh-CN" altLang="en-US" sz="2800" b="1" dirty="0">
                <a:effectLst/>
                <a:cs typeface="楷体_GB2312" pitchFamily="49" charset="-122"/>
              </a:rPr>
              <a:t>，也可</a:t>
            </a:r>
            <a:r>
              <a:rPr lang="zh-CN" altLang="en-US" sz="2800" b="1" dirty="0">
                <a:solidFill>
                  <a:srgbClr val="0000FF"/>
                </a:solidFill>
                <a:effectLst/>
                <a:cs typeface="楷体_GB2312" pitchFamily="49" charset="-122"/>
              </a:rPr>
              <a:t>有序</a:t>
            </a:r>
            <a:r>
              <a:rPr lang="zh-CN" altLang="en-US" sz="2800" b="1" dirty="0">
                <a:effectLst/>
                <a:cs typeface="楷体_GB2312" pitchFamily="49" charset="-122"/>
              </a:rPr>
              <a:t>。</a:t>
            </a:r>
          </a:p>
        </p:txBody>
      </p:sp>
      <p:sp>
        <p:nvSpPr>
          <p:cNvPr id="45059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C77E5A-272F-4496-BD45-EE3412869D41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7640" name="Rectangle 40"/>
              <p:cNvSpPr>
                <a:spLocks noChangeArrowheads="1"/>
              </p:cNvSpPr>
              <p:nvPr/>
            </p:nvSpPr>
            <p:spPr bwMode="auto">
              <a:xfrm>
                <a:off x="539552" y="2492896"/>
                <a:ext cx="8352284" cy="35686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algn="just" eaLnBrk="1" hangingPunct="1">
                  <a:lnSpc>
                    <a:spcPct val="15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itchFamily="2" charset="2"/>
                  <a:buNone/>
                  <a:defRPr/>
                </a:pPr>
                <a:r>
                  <a:rPr lang="en-US" altLang="zh-CN" sz="2400" b="1" dirty="0"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      【</a:t>
                </a:r>
                <a:r>
                  <a:rPr lang="zh-CN" altLang="en-US" sz="2400" b="1" dirty="0"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定义</a:t>
                </a:r>
                <a:r>
                  <a:rPr lang="en-US" altLang="zh-CN" sz="2400" b="1" dirty="0"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】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若边</a:t>
                </a:r>
                <a:r>
                  <a:rPr lang="en-US" altLang="zh-CN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e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与</a:t>
                </a:r>
                <a:r>
                  <a:rPr lang="zh-CN" altLang="en-US" sz="2400" b="1" dirty="0">
                    <a:solidFill>
                      <a:srgbClr val="0000FF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有序结点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对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sz="24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400" b="1" dirty="0"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楷体_GB2312" pitchFamily="49" charset="-122"/>
                            <a:cs typeface="楷体_GB2312" pitchFamily="49" charset="-122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altLang="zh-CN" sz="2400" b="1" dirty="0"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楷体_GB2312" pitchFamily="49" charset="-122"/>
                            <a:cs typeface="楷体_GB2312" pitchFamily="49" charset="-122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altLang="zh-CN" sz="2400" b="1" dirty="0"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楷体_GB2312" pitchFamily="49" charset="-122"/>
                            <a:cs typeface="楷体_GB2312" pitchFamily="49" charset="-122"/>
                          </a:rPr>
                          <m:t>v</m:t>
                        </m:r>
                      </m:e>
                    </m:d>
                  </m:oMath>
                </a14:m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相对应，则称</a:t>
                </a:r>
                <a:r>
                  <a:rPr lang="en-US" altLang="zh-CN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e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为</a:t>
                </a:r>
                <a:r>
                  <a:rPr kumimoji="1" lang="zh-CN" altLang="en-US" sz="2400" b="1" dirty="0">
                    <a:effectLst/>
                    <a:cs typeface="楷体_GB2312" pitchFamily="49" charset="-122"/>
                  </a:rPr>
                  <a:t>有向边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，用序偶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sz="24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400" b="1" dirty="0"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楷体_GB2312" pitchFamily="49" charset="-122"/>
                            <a:cs typeface="楷体_GB2312" pitchFamily="49" charset="-122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altLang="zh-CN" sz="2400" b="1" dirty="0"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楷体_GB2312" pitchFamily="49" charset="-122"/>
                            <a:cs typeface="楷体_GB2312" pitchFamily="49" charset="-122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altLang="zh-CN" sz="2400" b="1" dirty="0">
                            <a:solidFill>
                              <a:schemeClr val="tx1"/>
                            </a:solidFill>
                            <a:effectLst/>
                            <a:latin typeface="Times New Roman" pitchFamily="18" charset="0"/>
                            <a:ea typeface="楷体_GB2312" pitchFamily="49" charset="-122"/>
                            <a:cs typeface="楷体_GB2312" pitchFamily="49" charset="-122"/>
                          </a:rPr>
                          <m:t>v</m:t>
                        </m:r>
                      </m:e>
                    </m:d>
                  </m:oMath>
                </a14:m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表示，这时称</a:t>
                </a:r>
                <a:r>
                  <a:rPr lang="en-US" altLang="zh-CN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u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为</a:t>
                </a:r>
                <a:r>
                  <a:rPr lang="en-US" altLang="zh-CN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e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的</a:t>
                </a:r>
                <a:r>
                  <a:rPr kumimoji="1" lang="zh-CN" altLang="en-US" sz="2400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起点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，</a:t>
                </a:r>
                <a:r>
                  <a:rPr lang="en-US" altLang="zh-CN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v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为</a:t>
                </a:r>
                <a:r>
                  <a:rPr lang="en-US" altLang="zh-CN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e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的</a:t>
                </a:r>
                <a:r>
                  <a:rPr kumimoji="1" lang="zh-CN" altLang="en-US" sz="2400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终点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，</a:t>
                </a:r>
                <a:r>
                  <a:rPr lang="en-US" altLang="zh-CN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u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和</a:t>
                </a:r>
                <a:r>
                  <a:rPr lang="en-US" altLang="zh-CN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v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统称为有向边</a:t>
                </a:r>
                <a:r>
                  <a:rPr lang="en-US" altLang="zh-CN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e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的</a:t>
                </a:r>
                <a:r>
                  <a:rPr kumimoji="1" lang="zh-CN" altLang="en-US" sz="2400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端点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。 </a:t>
                </a:r>
                <a:endParaRPr lang="en-US" altLang="zh-CN" sz="2400" b="1" dirty="0">
                  <a:solidFill>
                    <a:srgbClr val="000000"/>
                  </a:solidFill>
                  <a:effectLst/>
                  <a:latin typeface="Times New Roman" pitchFamily="18" charset="0"/>
                  <a:ea typeface="楷体_GB2312" pitchFamily="49" charset="-122"/>
                  <a:cs typeface="楷体_GB2312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itchFamily="2" charset="2"/>
                  <a:buNone/>
                  <a:defRPr/>
                </a:pP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 </a:t>
                </a:r>
                <a:r>
                  <a:rPr lang="en-US" altLang="zh-CN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      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若边</a:t>
                </a:r>
                <a:r>
                  <a:rPr lang="en-US" altLang="zh-CN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e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与</a:t>
                </a:r>
                <a:r>
                  <a:rPr lang="zh-CN" altLang="en-US" sz="2400" b="1" dirty="0">
                    <a:solidFill>
                      <a:srgbClr val="0000FF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无序结点对</a:t>
                </a:r>
                <a:r>
                  <a:rPr lang="en-US" altLang="zh-CN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(</a:t>
                </a:r>
                <a:r>
                  <a:rPr lang="en-US" altLang="zh-CN" sz="2400" b="1" dirty="0" err="1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u,v</a:t>
                </a:r>
                <a:r>
                  <a:rPr lang="en-US" altLang="zh-CN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)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相对应，则称</a:t>
                </a:r>
                <a:r>
                  <a:rPr lang="en-US" altLang="zh-CN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e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为</a:t>
                </a:r>
                <a:r>
                  <a:rPr kumimoji="1" lang="zh-CN" altLang="en-US" sz="2400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无向边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，记为：</a:t>
                </a:r>
                <a:endParaRPr lang="en-US" altLang="zh-CN" sz="2400" b="1" dirty="0">
                  <a:solidFill>
                    <a:srgbClr val="000000"/>
                  </a:solidFill>
                  <a:effectLst/>
                  <a:latin typeface="Times New Roman" pitchFamily="18" charset="0"/>
                  <a:ea typeface="楷体_GB2312" pitchFamily="49" charset="-122"/>
                  <a:cs typeface="楷体_GB2312" pitchFamily="49" charset="-122"/>
                </a:endParaRPr>
              </a:p>
              <a:p>
                <a:pPr algn="ctr" eaLnBrk="1" hangingPunct="1">
                  <a:lnSpc>
                    <a:spcPct val="15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itchFamily="2" charset="2"/>
                  <a:buNone/>
                  <a:defRPr/>
                </a:pPr>
                <a:r>
                  <a:rPr lang="en-US" altLang="zh-CN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e = (u, v) = (v, u)</a:t>
                </a:r>
              </a:p>
              <a:p>
                <a:pPr algn="just" eaLnBrk="1" hangingPunct="1">
                  <a:lnSpc>
                    <a:spcPct val="15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itchFamily="2" charset="2"/>
                  <a:buNone/>
                  <a:defRPr/>
                </a:pP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此时称</a:t>
                </a:r>
                <a:r>
                  <a:rPr lang="en-US" altLang="zh-CN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u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、</a:t>
                </a:r>
                <a:r>
                  <a:rPr lang="en-US" altLang="zh-CN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v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是无向边</a:t>
                </a:r>
                <a:r>
                  <a:rPr lang="en-US" altLang="zh-CN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e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的两个</a:t>
                </a:r>
                <a:r>
                  <a:rPr kumimoji="1" lang="zh-CN" altLang="en-US" sz="2400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端点</a:t>
                </a:r>
                <a:r>
                  <a:rPr lang="zh-CN" altLang="en-US" sz="2400" b="1" dirty="0">
                    <a:solidFill>
                      <a:srgbClr val="000000"/>
                    </a:solidFill>
                    <a:effectLst/>
                    <a:latin typeface="Times New Roman" pitchFamily="18" charset="0"/>
                    <a:ea typeface="楷体_GB2312" pitchFamily="49" charset="-122"/>
                    <a:cs typeface="楷体_GB2312" pitchFamily="49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1177640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552" y="2492896"/>
                <a:ext cx="8352284" cy="3568669"/>
              </a:xfrm>
              <a:prstGeom prst="rect">
                <a:avLst/>
              </a:prstGeom>
              <a:blipFill>
                <a:blip r:embed="rId3"/>
                <a:stretch>
                  <a:fillRect l="-1168" r="-4672" b="-32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061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5976938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无向边与有向边</a:t>
            </a:r>
          </a:p>
        </p:txBody>
      </p:sp>
      <p:pic>
        <p:nvPicPr>
          <p:cNvPr id="4506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7657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11188" y="1919388"/>
                <a:ext cx="8280400" cy="789532"/>
              </a:xfrm>
              <a:noFill/>
            </p:spPr>
            <p:txBody>
              <a:bodyPr/>
              <a:lstStyle/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en-US" altLang="zh-CN" b="1" dirty="0">
                    <a:solidFill>
                      <a:schemeClr val="accent2"/>
                    </a:solidFill>
                    <a:effectLst/>
                    <a:cs typeface="楷体_GB2312" pitchFamily="49" charset="-122"/>
                  </a:rPr>
                  <a:t>【</a:t>
                </a:r>
                <a:r>
                  <a:rPr lang="zh-CN" altLang="en-US" b="1" dirty="0">
                    <a:solidFill>
                      <a:schemeClr val="accent2"/>
                    </a:solidFill>
                    <a:effectLst/>
                    <a:cs typeface="楷体_GB2312" pitchFamily="49" charset="-122"/>
                  </a:rPr>
                  <a:t>例题</a:t>
                </a:r>
                <a:r>
                  <a:rPr lang="en-US" altLang="zh-CN" b="1" dirty="0">
                    <a:solidFill>
                      <a:schemeClr val="accent2"/>
                    </a:solidFill>
                    <a:effectLst/>
                    <a:cs typeface="楷体_GB2312" pitchFamily="49" charset="-122"/>
                  </a:rPr>
                  <a:t>】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将下图 所示的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G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1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和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G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2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表示成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G</a:t>
                </a:r>
                <a:r>
                  <a:rPr lang="zh-CN" altLang="zh-CN" b="1" dirty="0">
                    <a:effectLst/>
                  </a:rPr>
                  <a:t> </a:t>
                </a:r>
                <a:r>
                  <a:rPr lang="en-US" altLang="zh-CN" b="1" dirty="0">
                    <a:effectLst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effectLst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effectLst/>
                            <a:cs typeface="楷体_GB2312" pitchFamily="49" charset="-122"/>
                          </a:rPr>
                          <m:t>E</m:t>
                        </m:r>
                      </m:e>
                    </m:d>
                  </m:oMath>
                </a14:m>
                <a:r>
                  <a:rPr lang="zh-CN" altLang="en-US" b="1" dirty="0">
                    <a:effectLst/>
                    <a:cs typeface="楷体_GB2312" pitchFamily="49" charset="-122"/>
                  </a:rPr>
                  <a:t>的形式</a:t>
                </a:r>
                <a:r>
                  <a:rPr lang="zh-CN" altLang="en-US" dirty="0">
                    <a:effectLst/>
                    <a:cs typeface="楷体_GB2312" pitchFamily="49" charset="-122"/>
                  </a:rPr>
                  <a:t>。</a:t>
                </a:r>
                <a:r>
                  <a:rPr lang="zh-CN" altLang="en-US" dirty="0">
                    <a:effectLst/>
                  </a:rPr>
                  <a:t/>
                </a:r>
                <a:br>
                  <a:rPr lang="zh-CN" altLang="en-US" dirty="0">
                    <a:effectLst/>
                  </a:rPr>
                </a:br>
                <a:endParaRPr lang="zh-CN" altLang="en-US" b="1" dirty="0">
                  <a:effectLst/>
                  <a:cs typeface="楷体_GB2312" pitchFamily="49" charset="-122"/>
                </a:endParaRPr>
              </a:p>
            </p:txBody>
          </p:sp>
        </mc:Choice>
        <mc:Fallback xmlns="">
          <p:sp>
            <p:nvSpPr>
              <p:cNvPr id="11765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188" y="1919388"/>
                <a:ext cx="8280400" cy="789532"/>
              </a:xfrm>
              <a:blipFill>
                <a:blip r:embed="rId2"/>
                <a:stretch>
                  <a:fillRect l="-1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35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FFAD12-66EF-409E-8FE6-52075F7F5882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44036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5976938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 题</a:t>
            </a:r>
          </a:p>
        </p:txBody>
      </p:sp>
      <p:pic>
        <p:nvPicPr>
          <p:cNvPr id="4403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E8C18C-6138-40D5-8FB4-DEFB2437E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6713" y="2636912"/>
            <a:ext cx="6336704" cy="348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878260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7657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684213" y="2132856"/>
                <a:ext cx="7848872" cy="3836321"/>
              </a:xfrm>
              <a:solidFill>
                <a:schemeClr val="bg1"/>
              </a:solidFill>
            </p:spPr>
            <p:txBody>
              <a:bodyPr/>
              <a:lstStyle/>
              <a:p>
                <a:pPr marL="0" indent="0" eaLnBrk="1" hangingPunct="1">
                  <a:lnSpc>
                    <a:spcPts val="3600"/>
                  </a:lnSpc>
                  <a:buFontTx/>
                  <a:buNone/>
                  <a:defRPr/>
                </a:pPr>
                <a:r>
                  <a:rPr lang="en-US" altLang="zh-CN" b="1" dirty="0">
                    <a:effectLst/>
                    <a:cs typeface="楷体_GB2312" pitchFamily="49" charset="-122"/>
                  </a:rPr>
                  <a:t>【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解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】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对于图模型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G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1</a:t>
                </a:r>
                <a:r>
                  <a:rPr lang="zh-CN" altLang="en-US" b="1" baseline="-25000" dirty="0">
                    <a:effectLst/>
                    <a:cs typeface="楷体_GB2312" pitchFamily="49" charset="-122"/>
                  </a:rPr>
                  <a:t>，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有：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 </a:t>
                </a:r>
              </a:p>
              <a:p>
                <a:pPr marL="0" indent="0" eaLnBrk="1" hangingPunct="1">
                  <a:lnSpc>
                    <a:spcPts val="3600"/>
                  </a:lnSpc>
                  <a:buFontTx/>
                  <a:buNone/>
                  <a:defRPr/>
                </a:pP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             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1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 = {v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1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2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3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4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5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}, </a:t>
                </a:r>
              </a:p>
              <a:p>
                <a:pPr marL="0" indent="0" eaLnBrk="1" hangingPunct="1">
                  <a:lnSpc>
                    <a:spcPts val="3600"/>
                  </a:lnSpc>
                  <a:buFontTx/>
                  <a:buNone/>
                  <a:defRPr/>
                </a:pPr>
                <a:r>
                  <a:rPr lang="en-US" altLang="zh-CN" b="1" dirty="0">
                    <a:effectLst/>
                    <a:cs typeface="楷体_GB2312" pitchFamily="49" charset="-122"/>
                  </a:rPr>
                  <a:t>             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E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1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={(v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1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2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), (v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1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4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), (v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1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5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), (v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2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3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), (v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2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5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),</a:t>
                </a:r>
              </a:p>
              <a:p>
                <a:pPr marL="0" indent="0" eaLnBrk="1" hangingPunct="1">
                  <a:lnSpc>
                    <a:spcPts val="3600"/>
                  </a:lnSpc>
                  <a:buFontTx/>
                  <a:buNone/>
                  <a:defRPr/>
                </a:pP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                            (v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3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4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),(v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3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5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),(v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4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5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)}</a:t>
                </a:r>
              </a:p>
              <a:p>
                <a:pPr marL="0" indent="0" eaLnBrk="1" hangingPunct="1">
                  <a:lnSpc>
                    <a:spcPts val="3600"/>
                  </a:lnSpc>
                  <a:buFontTx/>
                  <a:buNone/>
                  <a:defRPr/>
                </a:pPr>
                <a:r>
                  <a:rPr lang="zh-CN" altLang="en-US" b="1" dirty="0">
                    <a:effectLst/>
                    <a:cs typeface="楷体_GB2312" pitchFamily="49" charset="-122"/>
                  </a:rPr>
                  <a:t>  对于图模型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G</a:t>
                </a:r>
                <a:r>
                  <a:rPr lang="en-US" altLang="zh-CN" b="1" baseline="-25000" dirty="0">
                    <a:effectLst/>
                    <a:cs typeface="楷体_GB2312" pitchFamily="49" charset="-122"/>
                  </a:rPr>
                  <a:t>2 </a:t>
                </a:r>
                <a:r>
                  <a:rPr lang="zh-CN" altLang="en-US" b="1" baseline="-25000" dirty="0">
                    <a:effectLst/>
                    <a:cs typeface="楷体_GB2312" pitchFamily="49" charset="-122"/>
                  </a:rPr>
                  <a:t>，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有：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 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2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 = {v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1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2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3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4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},</a:t>
                </a:r>
              </a:p>
              <a:p>
                <a:pPr marL="0" indent="0" eaLnBrk="1" hangingPunct="1">
                  <a:lnSpc>
                    <a:spcPts val="3600"/>
                  </a:lnSpc>
                  <a:buFontTx/>
                  <a:buNone/>
                  <a:defRPr/>
                </a:pP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             E</a:t>
                </a:r>
                <a:r>
                  <a:rPr lang="en-US" altLang="zh-CN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2</a:t>
                </a:r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={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solidFill>
                              <a:srgbClr val="CC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2</m:t>
                        </m:r>
                      </m:e>
                    </m:d>
                    <m:r>
                      <a:rPr lang="en-US" altLang="zh-CN" b="1" i="1" dirty="0" smtClean="0">
                        <a:solidFill>
                          <a:srgbClr val="CC00FF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  <a:cs typeface="楷体_GB2312" pitchFamily="49" charset="-122"/>
                      </a:rPr>
                      <m:t>,</m:t>
                    </m:r>
                  </m:oMath>
                </a14:m>
                <a:r>
                  <a:rPr lang="zh-CN" altLang="zh-CN" b="1" dirty="0">
                    <a:solidFill>
                      <a:srgbClr val="CC00FF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solidFill>
                              <a:srgbClr val="CC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3</m:t>
                        </m:r>
                      </m:e>
                    </m:d>
                    <m:r>
                      <a:rPr lang="en-US" altLang="zh-CN" b="1" i="1" dirty="0">
                        <a:solidFill>
                          <a:srgbClr val="CC00FF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  <a:cs typeface="楷体_GB2312" pitchFamily="49" charset="-122"/>
                      </a:rPr>
                      <m:t>,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solidFill>
                              <a:srgbClr val="CC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4</m:t>
                        </m:r>
                      </m:e>
                    </m:d>
                    <m:r>
                      <a:rPr lang="en-US" altLang="zh-CN" b="1" i="1" dirty="0">
                        <a:solidFill>
                          <a:srgbClr val="CC00FF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  <a:cs typeface="楷体_GB2312" pitchFamily="49" charset="-122"/>
                      </a:rPr>
                      <m:t>,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solidFill>
                              <a:srgbClr val="CC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1</m:t>
                        </m:r>
                      </m:e>
                    </m:d>
                    <m:r>
                      <a:rPr lang="en-US" altLang="zh-CN" b="1" i="1" dirty="0">
                        <a:solidFill>
                          <a:srgbClr val="CC00FF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  <a:cs typeface="楷体_GB2312" pitchFamily="49" charset="-122"/>
                      </a:rPr>
                      <m:t>,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solidFill>
                              <a:srgbClr val="CC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i="0" baseline="-25000" dirty="0" smtClean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1</m:t>
                        </m:r>
                      </m:e>
                    </m:d>
                    <m:r>
                      <a:rPr lang="en-US" altLang="zh-CN" b="1" i="1" dirty="0">
                        <a:solidFill>
                          <a:srgbClr val="CC00FF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  <a:cs typeface="楷体_GB2312" pitchFamily="49" charset="-122"/>
                      </a:rPr>
                      <m:t>,</m:t>
                    </m:r>
                  </m:oMath>
                </a14:m>
                <a:endParaRPr lang="en-US" altLang="zh-CN" b="1" i="1" baseline="-25000" dirty="0">
                  <a:solidFill>
                    <a:srgbClr val="CC00FF"/>
                  </a:solidFill>
                  <a:effectLst/>
                  <a:latin typeface="Cambria Math" panose="02040503050406030204" pitchFamily="18" charset="0"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ts val="3600"/>
                  </a:lnSpc>
                  <a:buFontTx/>
                  <a:buNone/>
                  <a:defRPr/>
                </a:pPr>
                <a:r>
                  <a:rPr lang="zh-CN" altLang="en-US" b="1" baseline="-25000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zh-CN" altLang="en-US" b="1" i="1" baseline="-25000" dirty="0">
                        <a:solidFill>
                          <a:srgbClr val="CC00FF"/>
                        </a:solidFill>
                        <a:effectLst/>
                        <a:latin typeface="Cambria Math" panose="02040503050406030204" pitchFamily="18" charset="0"/>
                        <a:cs typeface="楷体_GB2312" pitchFamily="49" charset="-122"/>
                      </a:rPr>
                      <m:t> </m:t>
                    </m:r>
                    <m:r>
                      <a:rPr lang="en-US" altLang="zh-CN" b="1" i="1" baseline="-25000" dirty="0" smtClean="0">
                        <a:solidFill>
                          <a:srgbClr val="CC00FF"/>
                        </a:solidFill>
                        <a:effectLst/>
                        <a:latin typeface="Cambria Math" panose="02040503050406030204" pitchFamily="18" charset="0"/>
                        <a:cs typeface="楷体_GB2312" pitchFamily="49" charset="-122"/>
                      </a:rPr>
                      <m:t>                              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solidFill>
                              <a:srgbClr val="CC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2</m:t>
                        </m:r>
                      </m:e>
                    </m:d>
                    <m:r>
                      <a:rPr lang="en-US" altLang="zh-CN" b="1" i="1" dirty="0">
                        <a:solidFill>
                          <a:srgbClr val="CC00FF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  <a:cs typeface="楷体_GB2312" pitchFamily="49" charset="-122"/>
                      </a:rPr>
                      <m:t>,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solidFill>
                              <a:srgbClr val="CC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i="0" baseline="-25000" dirty="0" smtClean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4</m:t>
                        </m:r>
                      </m:e>
                    </m:d>
                    <m:r>
                      <a:rPr lang="en-US" altLang="zh-CN" b="1" i="1" dirty="0">
                        <a:solidFill>
                          <a:srgbClr val="CC00FF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  <a:cs typeface="楷体_GB2312" pitchFamily="49" charset="-122"/>
                      </a:rPr>
                      <m:t>,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solidFill>
                              <a:srgbClr val="CC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i="0" baseline="-25000" dirty="0" smtClean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i="0" baseline="-25000" dirty="0" smtClean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1</m:t>
                        </m:r>
                      </m:e>
                    </m:d>
                    <m:r>
                      <a:rPr lang="en-US" altLang="zh-CN" b="1" i="1" dirty="0">
                        <a:solidFill>
                          <a:srgbClr val="CC00FF"/>
                        </a:solidFill>
                        <a:effectLst/>
                        <a:latin typeface="Cambria Math" panose="02040503050406030204" pitchFamily="18" charset="0"/>
                        <a:ea typeface="楷体_GB2312" pitchFamily="49" charset="-122"/>
                        <a:cs typeface="楷体_GB2312" pitchFamily="49" charset="-122"/>
                      </a:rPr>
                      <m:t>,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solidFill>
                              <a:srgbClr val="CC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i="0" baseline="-25000" dirty="0" smtClean="0">
                            <a:solidFill>
                              <a:srgbClr val="CC00FF"/>
                            </a:solidFill>
                            <a:effectLst/>
                            <a:cs typeface="楷体_GB2312" pitchFamily="49" charset="-122"/>
                          </a:rPr>
                          <m:t>3</m:t>
                        </m:r>
                      </m:e>
                    </m:d>
                  </m:oMath>
                </a14:m>
                <a:r>
                  <a:rPr lang="en-US" altLang="zh-CN" b="1" dirty="0">
                    <a:solidFill>
                      <a:srgbClr val="CC00FF"/>
                    </a:solidFill>
                    <a:effectLst/>
                    <a:cs typeface="楷体_GB2312" pitchFamily="49" charset="-122"/>
                  </a:rPr>
                  <a:t>}</a:t>
                </a:r>
                <a:endParaRPr lang="zh-CN" altLang="en-US" b="1" dirty="0">
                  <a:effectLst/>
                  <a:cs typeface="楷体_GB2312" pitchFamily="49" charset="-122"/>
                </a:endParaRPr>
              </a:p>
            </p:txBody>
          </p:sp>
        </mc:Choice>
        <mc:Fallback xmlns="">
          <p:sp>
            <p:nvSpPr>
              <p:cNvPr id="11765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4213" y="2132856"/>
                <a:ext cx="7848872" cy="3836321"/>
              </a:xfrm>
              <a:blipFill>
                <a:blip r:embed="rId2"/>
                <a:stretch>
                  <a:fillRect l="-11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35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FFAD12-66EF-409E-8FE6-52075F7F5882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44036" name="Text Box 2"/>
          <p:cNvSpPr txBox="1">
            <a:spLocks noChangeArrowheads="1"/>
          </p:cNvSpPr>
          <p:nvPr/>
        </p:nvSpPr>
        <p:spPr bwMode="auto">
          <a:xfrm>
            <a:off x="1403648" y="560007"/>
            <a:ext cx="59769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题</a:t>
            </a:r>
          </a:p>
        </p:txBody>
      </p:sp>
      <p:pic>
        <p:nvPicPr>
          <p:cNvPr id="4403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2242857"/>
      </p:ext>
    </p:extLst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A1C620-FBAC-4891-9D4E-55ED6EEA501D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9396" name="Rectangle 7"/>
          <p:cNvSpPr>
            <a:spLocks noChangeArrowheads="1"/>
          </p:cNvSpPr>
          <p:nvPr/>
        </p:nvSpPr>
        <p:spPr bwMode="auto">
          <a:xfrm>
            <a:off x="611188" y="4403725"/>
            <a:ext cx="8064500" cy="54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kumimoji="0" lang="zh-CN" altLang="en-US" sz="2800" b="1">
                <a:solidFill>
                  <a:srgbClr val="000000"/>
                </a:solidFill>
                <a:latin typeface="黑体" panose="02010609060101010101" pitchFamily="49" charset="-122"/>
              </a:rPr>
              <a:t>                  </a:t>
            </a:r>
          </a:p>
        </p:txBody>
      </p:sp>
      <p:sp>
        <p:nvSpPr>
          <p:cNvPr id="59398" name="Rectangle 9"/>
          <p:cNvSpPr>
            <a:spLocks noChangeArrowheads="1"/>
          </p:cNvSpPr>
          <p:nvPr/>
        </p:nvSpPr>
        <p:spPr bwMode="auto">
          <a:xfrm>
            <a:off x="611188" y="5419725"/>
            <a:ext cx="8064500" cy="54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kumimoji="0" lang="zh-CN" altLang="en-US" sz="2800" b="1">
                <a:solidFill>
                  <a:srgbClr val="000000"/>
                </a:solidFill>
                <a:latin typeface="黑体" panose="02010609060101010101" pitchFamily="49" charset="-122"/>
              </a:rPr>
              <a:t>                  </a:t>
            </a:r>
          </a:p>
        </p:txBody>
      </p:sp>
      <p:sp>
        <p:nvSpPr>
          <p:cNvPr id="59399" name="Text Box 2"/>
          <p:cNvSpPr txBox="1">
            <a:spLocks noChangeArrowheads="1"/>
          </p:cNvSpPr>
          <p:nvPr/>
        </p:nvSpPr>
        <p:spPr bwMode="auto">
          <a:xfrm>
            <a:off x="1258888" y="642938"/>
            <a:ext cx="640873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邻接点与邻接边</a:t>
            </a:r>
          </a:p>
        </p:txBody>
      </p:sp>
      <p:pic>
        <p:nvPicPr>
          <p:cNvPr id="59400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482570" y="2060848"/>
            <a:ext cx="8493155" cy="396166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无向边情形：</a:t>
            </a:r>
            <a:endParaRPr lang="en-US" altLang="zh-CN" sz="3200" b="1" dirty="0">
              <a:solidFill>
                <a:srgbClr val="0000FF"/>
              </a:solidFill>
              <a:latin typeface="Times New Roman" pitchFamily="18" charset="0"/>
              <a:ea typeface="楷体_GB2312" pitchFamily="49" charset="-122"/>
              <a:cs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        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若结点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u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和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v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是无向边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e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的端点，则称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u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和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v</a:t>
            </a:r>
            <a:r>
              <a:rPr kumimoji="1" lang="zh-CN" altLang="en-US" sz="2800" b="1" dirty="0">
                <a:solidFill>
                  <a:srgbClr val="0000FF"/>
                </a:solidFill>
              </a:rPr>
              <a:t>互为邻接点，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否则称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u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和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v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为</a:t>
            </a:r>
            <a:r>
              <a:rPr kumimoji="1" lang="zh-CN" altLang="en-US" sz="2800" b="1" dirty="0">
                <a:solidFill>
                  <a:srgbClr val="0000FF"/>
                </a:solidFill>
              </a:rPr>
              <a:t>不邻接；</a:t>
            </a:r>
            <a:endParaRPr kumimoji="1" lang="en-US" altLang="zh-CN" sz="2800" b="1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800" b="1" dirty="0">
                <a:solidFill>
                  <a:srgbClr val="0000FF"/>
                </a:solidFill>
              </a:rPr>
              <a:t>    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以结点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u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为端点的无向边</a:t>
            </a:r>
            <a:r>
              <a:rPr kumimoji="1" lang="zh-CN" altLang="en-US" sz="2800" b="1" dirty="0">
                <a:solidFill>
                  <a:srgbClr val="0000FF"/>
                </a:solidFill>
              </a:rPr>
              <a:t>，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称为结点</a:t>
            </a:r>
            <a:r>
              <a:rPr kumimoji="1" lang="en-US" altLang="zh-CN" sz="2800" b="1" dirty="0">
                <a:solidFill>
                  <a:schemeClr val="tx1"/>
                </a:solidFill>
              </a:rPr>
              <a:t>u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的</a:t>
            </a:r>
            <a:r>
              <a:rPr kumimoji="1" lang="zh-CN" altLang="en-US" sz="2800" b="1" dirty="0">
                <a:solidFill>
                  <a:srgbClr val="0000FF"/>
                </a:solidFill>
              </a:rPr>
              <a:t>关联边；</a:t>
            </a:r>
            <a:endParaRPr kumimoji="1" lang="en-US" altLang="zh-CN" sz="2800" b="1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800" b="1" dirty="0">
                <a:solidFill>
                  <a:srgbClr val="0000FF"/>
                </a:solidFill>
              </a:rPr>
              <a:t>    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具有公共结点的</a:t>
            </a:r>
            <a:r>
              <a:rPr kumimoji="1" lang="zh-CN" altLang="en-US" sz="2800" b="1" dirty="0">
                <a:solidFill>
                  <a:srgbClr val="0000FF"/>
                </a:solidFill>
              </a:rPr>
              <a:t>两条无向边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或</a:t>
            </a:r>
            <a:r>
              <a:rPr kumimoji="1" lang="zh-CN" altLang="en-US" sz="2800" b="1" dirty="0">
                <a:solidFill>
                  <a:srgbClr val="0000FF"/>
                </a:solidFill>
              </a:rPr>
              <a:t>一条有向边与一条无向边</a:t>
            </a:r>
            <a:r>
              <a:rPr kumimoji="1" lang="zh-CN" altLang="en-US" sz="2800" b="1" dirty="0">
                <a:solidFill>
                  <a:schemeClr val="tx1"/>
                </a:solidFill>
              </a:rPr>
              <a:t>称为</a:t>
            </a:r>
            <a:r>
              <a:rPr kumimoji="1" lang="zh-CN" altLang="en-US" sz="2800" b="1" dirty="0">
                <a:solidFill>
                  <a:srgbClr val="0000FF"/>
                </a:solidFill>
              </a:rPr>
              <a:t>邻接边。</a:t>
            </a:r>
          </a:p>
        </p:txBody>
      </p:sp>
    </p:spTree>
    <p:extLst>
      <p:ext uri="{BB962C8B-B14F-4D97-AF65-F5344CB8AC3E}">
        <p14:creationId xmlns:p14="http://schemas.microsoft.com/office/powerpoint/2010/main" val="1315321877"/>
      </p:ext>
    </p:extLst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FFAD12-66EF-409E-8FE6-52075F7F5882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pic>
        <p:nvPicPr>
          <p:cNvPr id="4403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CA39D407-1261-44E3-A2BC-162DEA357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642938"/>
            <a:ext cx="640873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邻接点与邻接边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7F3028-1CFE-49A0-BB2E-BBD1BCA86F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2276872"/>
            <a:ext cx="7475656" cy="338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26977"/>
      </p:ext>
    </p:extLst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A1C620-FBAC-4891-9D4E-55ED6EEA501D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9396" name="Rectangle 7"/>
          <p:cNvSpPr>
            <a:spLocks noChangeArrowheads="1"/>
          </p:cNvSpPr>
          <p:nvPr/>
        </p:nvSpPr>
        <p:spPr bwMode="auto">
          <a:xfrm>
            <a:off x="611188" y="4403725"/>
            <a:ext cx="8064500" cy="54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kumimoji="0" lang="zh-CN" altLang="en-US" sz="2800" b="1">
                <a:solidFill>
                  <a:srgbClr val="000000"/>
                </a:solidFill>
                <a:latin typeface="黑体" panose="02010609060101010101" pitchFamily="49" charset="-122"/>
              </a:rPr>
              <a:t>                  </a:t>
            </a:r>
          </a:p>
        </p:txBody>
      </p:sp>
      <p:sp>
        <p:nvSpPr>
          <p:cNvPr id="59398" name="Rectangle 9"/>
          <p:cNvSpPr>
            <a:spLocks noChangeArrowheads="1"/>
          </p:cNvSpPr>
          <p:nvPr/>
        </p:nvSpPr>
        <p:spPr bwMode="auto">
          <a:xfrm>
            <a:off x="611188" y="5419725"/>
            <a:ext cx="8064500" cy="54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kumimoji="0" lang="zh-CN" altLang="en-US" sz="2800" b="1">
                <a:solidFill>
                  <a:srgbClr val="000000"/>
                </a:solidFill>
                <a:latin typeface="黑体" panose="02010609060101010101" pitchFamily="49" charset="-122"/>
              </a:rPr>
              <a:t>                  </a:t>
            </a:r>
          </a:p>
        </p:txBody>
      </p:sp>
      <p:sp>
        <p:nvSpPr>
          <p:cNvPr id="59399" name="Text Box 2"/>
          <p:cNvSpPr txBox="1">
            <a:spLocks noChangeArrowheads="1"/>
          </p:cNvSpPr>
          <p:nvPr/>
        </p:nvSpPr>
        <p:spPr bwMode="auto">
          <a:xfrm>
            <a:off x="1258888" y="642938"/>
            <a:ext cx="640873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邻接点与邻接边</a:t>
            </a:r>
          </a:p>
        </p:txBody>
      </p:sp>
      <p:pic>
        <p:nvPicPr>
          <p:cNvPr id="59400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84916" y="1891254"/>
            <a:ext cx="8974167" cy="4318490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ts val="42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 有向边情形：</a:t>
            </a:r>
            <a:endParaRPr lang="en-US" altLang="zh-CN" sz="3200" b="1" dirty="0">
              <a:solidFill>
                <a:srgbClr val="0000FF"/>
              </a:solidFill>
              <a:latin typeface="Times New Roman" pitchFamily="18" charset="0"/>
              <a:ea typeface="楷体_GB2312" pitchFamily="49" charset="-122"/>
              <a:cs typeface="楷体_GB2312" pitchFamily="49" charset="-122"/>
            </a:endParaRPr>
          </a:p>
          <a:p>
            <a:pPr>
              <a:lnSpc>
                <a:spcPts val="42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        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若两个结点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u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和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v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分别是有向边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e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的</a:t>
            </a:r>
            <a:r>
              <a:rPr kumimoji="1" lang="zh-CN" altLang="en-US" sz="2400" b="1" dirty="0">
                <a:solidFill>
                  <a:schemeClr val="accent2"/>
                </a:solidFill>
              </a:rPr>
              <a:t>起点和终点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，则称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v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是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u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的</a:t>
            </a:r>
            <a:r>
              <a:rPr kumimoji="1" lang="zh-CN" altLang="en-US" sz="2400" b="1" dirty="0">
                <a:solidFill>
                  <a:schemeClr val="accent2"/>
                </a:solidFill>
              </a:rPr>
              <a:t>邻接点，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u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是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v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的</a:t>
            </a:r>
            <a:r>
              <a:rPr kumimoji="1" lang="zh-CN" altLang="en-US" sz="2400" b="1" dirty="0">
                <a:solidFill>
                  <a:schemeClr val="accent2"/>
                </a:solidFill>
              </a:rPr>
              <a:t>半邻接点。</a:t>
            </a:r>
            <a:r>
              <a:rPr kumimoji="1" lang="zh-CN" altLang="en-US" sz="2400" b="1" dirty="0"/>
              <a:t>通常亦将半邻接点称为邻接点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。</a:t>
            </a:r>
            <a:endParaRPr kumimoji="1" lang="en-US" altLang="zh-CN" sz="2400" b="1" dirty="0">
              <a:solidFill>
                <a:schemeClr val="tx1"/>
              </a:solidFill>
            </a:endParaRPr>
          </a:p>
          <a:p>
            <a:pPr>
              <a:lnSpc>
                <a:spcPts val="4200"/>
              </a:lnSpc>
            </a:pPr>
            <a:r>
              <a:rPr kumimoji="1" lang="en-US" altLang="zh-CN" sz="2400" b="1" dirty="0">
                <a:solidFill>
                  <a:schemeClr val="tx1"/>
                </a:solidFill>
              </a:rPr>
              <a:t>    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以结点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u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为起点的有向边，称为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u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的</a:t>
            </a:r>
            <a:r>
              <a:rPr kumimoji="1" lang="zh-CN" altLang="en-US" sz="2400" b="1" dirty="0">
                <a:solidFill>
                  <a:schemeClr val="accent2"/>
                </a:solidFill>
              </a:rPr>
              <a:t>关联边；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以结点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v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为终点的边，称为</a:t>
            </a:r>
            <a:r>
              <a:rPr kumimoji="1" lang="en-US" altLang="zh-CN" sz="2400" b="1" dirty="0">
                <a:solidFill>
                  <a:schemeClr val="tx1"/>
                </a:solidFill>
              </a:rPr>
              <a:t>v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的</a:t>
            </a:r>
            <a:r>
              <a:rPr kumimoji="1" lang="zh-CN" altLang="en-US" sz="2400" b="1" dirty="0">
                <a:solidFill>
                  <a:srgbClr val="0000FF"/>
                </a:solidFill>
              </a:rPr>
              <a:t>半</a:t>
            </a:r>
            <a:r>
              <a:rPr kumimoji="1" lang="zh-CN" altLang="en-US" sz="2400" b="1" dirty="0">
                <a:solidFill>
                  <a:schemeClr val="accent2"/>
                </a:solidFill>
              </a:rPr>
              <a:t>关联边。</a:t>
            </a:r>
            <a:r>
              <a:rPr kumimoji="1" lang="zh-CN" altLang="en-US" sz="2400" b="1" dirty="0"/>
              <a:t>通常亦将半关联边称为关联边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。</a:t>
            </a:r>
            <a:endParaRPr kumimoji="1" lang="en-US" altLang="zh-CN" sz="2400" b="1" dirty="0">
              <a:solidFill>
                <a:schemeClr val="tx1"/>
              </a:solidFill>
            </a:endParaRPr>
          </a:p>
          <a:p>
            <a:pPr>
              <a:lnSpc>
                <a:spcPts val="4200"/>
              </a:lnSpc>
            </a:pPr>
            <a:r>
              <a:rPr kumimoji="1" lang="zh-CN" altLang="en-US" sz="2400" b="1" dirty="0">
                <a:solidFill>
                  <a:schemeClr val="tx1"/>
                </a:solidFill>
              </a:rPr>
              <a:t>    对于具有公共结点的两条有向边，若它们是</a:t>
            </a:r>
            <a:r>
              <a:rPr kumimoji="1" lang="zh-CN" altLang="en-US" sz="2400" b="1" dirty="0">
                <a:solidFill>
                  <a:schemeClr val="accent2"/>
                </a:solidFill>
              </a:rPr>
              <a:t>头对尾的联结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，则它们称为</a:t>
            </a:r>
            <a:r>
              <a:rPr kumimoji="1" lang="zh-CN" altLang="en-US" sz="2400" b="1" dirty="0">
                <a:solidFill>
                  <a:schemeClr val="accent2"/>
                </a:solidFill>
              </a:rPr>
              <a:t>邻接边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，否则称它们为</a:t>
            </a:r>
            <a:r>
              <a:rPr kumimoji="1" lang="zh-CN" altLang="en-US" sz="2400" b="1" dirty="0">
                <a:solidFill>
                  <a:schemeClr val="accent2"/>
                </a:solidFill>
              </a:rPr>
              <a:t>半邻接边</a:t>
            </a:r>
            <a:r>
              <a:rPr kumimoji="1" lang="zh-CN" altLang="en-US" sz="2400" b="1" dirty="0">
                <a:solidFill>
                  <a:schemeClr val="tx1"/>
                </a:solidFill>
              </a:rPr>
              <a:t>。</a:t>
            </a:r>
            <a:r>
              <a:rPr kumimoji="1" lang="zh-CN" altLang="en-US" sz="2400" b="1" dirty="0"/>
              <a:t>通常亦将半邻接边称为邻接边。</a:t>
            </a:r>
          </a:p>
        </p:txBody>
      </p:sp>
    </p:spTree>
    <p:extLst>
      <p:ext uri="{BB962C8B-B14F-4D97-AF65-F5344CB8AC3E}">
        <p14:creationId xmlns:p14="http://schemas.microsoft.com/office/powerpoint/2010/main" val="4277987491"/>
      </p:ext>
    </p:extLst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206D7F0-3025-4CC3-91DC-3461438B8EAD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60419" name="Rectangle 4"/>
          <p:cNvSpPr>
            <a:spLocks noChangeArrowheads="1"/>
          </p:cNvSpPr>
          <p:nvPr/>
        </p:nvSpPr>
        <p:spPr bwMode="auto">
          <a:xfrm>
            <a:off x="611188" y="2352675"/>
            <a:ext cx="8064500" cy="54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kumimoji="0" lang="zh-CN" altLang="en-US" sz="2800" b="1">
                <a:solidFill>
                  <a:schemeClr val="accent1"/>
                </a:solidFill>
                <a:latin typeface="黑体" panose="02010609060101010101" pitchFamily="49" charset="-122"/>
              </a:rPr>
              <a:t>                                </a:t>
            </a:r>
            <a:endParaRPr kumimoji="0" lang="zh-CN" altLang="en-US" sz="2800" b="1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sp>
        <p:nvSpPr>
          <p:cNvPr id="60420" name="Rectangle 7"/>
          <p:cNvSpPr>
            <a:spLocks noChangeArrowheads="1"/>
          </p:cNvSpPr>
          <p:nvPr/>
        </p:nvSpPr>
        <p:spPr bwMode="auto">
          <a:xfrm>
            <a:off x="611188" y="4403725"/>
            <a:ext cx="8064500" cy="54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kumimoji="0" lang="zh-CN" altLang="en-US" sz="2800" b="1">
                <a:solidFill>
                  <a:srgbClr val="000000"/>
                </a:solidFill>
                <a:latin typeface="黑体" panose="02010609060101010101" pitchFamily="49" charset="-122"/>
              </a:rPr>
              <a:t>                  </a:t>
            </a:r>
          </a:p>
        </p:txBody>
      </p:sp>
      <p:sp>
        <p:nvSpPr>
          <p:cNvPr id="60421" name="Rectangle 8"/>
          <p:cNvSpPr>
            <a:spLocks noChangeArrowheads="1"/>
          </p:cNvSpPr>
          <p:nvPr/>
        </p:nvSpPr>
        <p:spPr bwMode="auto">
          <a:xfrm>
            <a:off x="611188" y="4906963"/>
            <a:ext cx="8064500" cy="54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kumimoji="0" lang="zh-CN" altLang="en-US" sz="2800" b="1">
                <a:solidFill>
                  <a:srgbClr val="000000"/>
                </a:solidFill>
                <a:latin typeface="黑体" panose="02010609060101010101" pitchFamily="49" charset="-122"/>
              </a:rPr>
              <a:t>                </a:t>
            </a:r>
          </a:p>
        </p:txBody>
      </p:sp>
      <p:sp>
        <p:nvSpPr>
          <p:cNvPr id="60422" name="Rectangle 9"/>
          <p:cNvSpPr>
            <a:spLocks noChangeArrowheads="1"/>
          </p:cNvSpPr>
          <p:nvPr/>
        </p:nvSpPr>
        <p:spPr bwMode="auto">
          <a:xfrm>
            <a:off x="611188" y="5419725"/>
            <a:ext cx="8064500" cy="54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Clr>
                <a:srgbClr val="FF3300"/>
              </a:buClr>
              <a:buFont typeface="Wingdings" panose="05000000000000000000" pitchFamily="2" charset="2"/>
              <a:buNone/>
            </a:pPr>
            <a:r>
              <a:rPr kumimoji="0" lang="zh-CN" altLang="en-US" sz="2800" b="1">
                <a:solidFill>
                  <a:srgbClr val="000000"/>
                </a:solidFill>
                <a:latin typeface="黑体" panose="02010609060101010101" pitchFamily="49" charset="-122"/>
              </a:rPr>
              <a:t>                  </a:t>
            </a:r>
          </a:p>
        </p:txBody>
      </p:sp>
      <p:sp>
        <p:nvSpPr>
          <p:cNvPr id="60423" name="Text Box 2"/>
          <p:cNvSpPr txBox="1">
            <a:spLocks noChangeArrowheads="1"/>
          </p:cNvSpPr>
          <p:nvPr/>
        </p:nvSpPr>
        <p:spPr bwMode="auto">
          <a:xfrm>
            <a:off x="1258888" y="692150"/>
            <a:ext cx="640873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若干基本术语</a:t>
            </a:r>
          </a:p>
        </p:txBody>
      </p:sp>
      <p:pic>
        <p:nvPicPr>
          <p:cNvPr id="60424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971600" y="2457179"/>
            <a:ext cx="7920235" cy="324319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  两个端点相同的边称为</a:t>
            </a:r>
            <a:r>
              <a:rPr kumimoji="1" lang="zh-CN" altLang="en-US" sz="2800" b="1" dirty="0">
                <a:solidFill>
                  <a:srgbClr val="FFFF00"/>
                </a:solidFill>
                <a:cs typeface="楷体_GB2312" pitchFamily="49" charset="-122"/>
              </a:rPr>
              <a:t>自环</a:t>
            </a:r>
            <a:r>
              <a:rPr lang="zh-CN" altLang="en-US" sz="2800" b="1" dirty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或</a:t>
            </a:r>
            <a:r>
              <a:rPr lang="zh-CN" altLang="en-US" sz="2800" b="1" dirty="0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自</a:t>
            </a:r>
            <a:r>
              <a:rPr kumimoji="1" lang="zh-CN" altLang="en-US" sz="2800" b="1" dirty="0">
                <a:solidFill>
                  <a:srgbClr val="FFFF00"/>
                </a:solidFill>
                <a:cs typeface="楷体_GB2312" pitchFamily="49" charset="-122"/>
              </a:rPr>
              <a:t>回路</a:t>
            </a:r>
            <a:r>
              <a:rPr lang="zh-CN" altLang="en-US" sz="2800" b="1" dirty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；</a:t>
            </a:r>
            <a:endParaRPr lang="en-US" altLang="zh-CN" sz="2800" b="1" dirty="0">
              <a:solidFill>
                <a:schemeClr val="bg1"/>
              </a:solidFill>
              <a:latin typeface="Times New Roman" pitchFamily="18" charset="0"/>
              <a:ea typeface="楷体_GB2312" pitchFamily="49" charset="-122"/>
              <a:cs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  不与任何结点相邻接的结点称为</a:t>
            </a:r>
            <a:r>
              <a:rPr kumimoji="1" lang="zh-CN" altLang="en-US" sz="2800" b="1" dirty="0">
                <a:solidFill>
                  <a:srgbClr val="FFFF00"/>
                </a:solidFill>
                <a:cs typeface="楷体_GB2312" pitchFamily="49" charset="-122"/>
              </a:rPr>
              <a:t>孤立结点</a:t>
            </a:r>
            <a:r>
              <a:rPr lang="zh-CN" altLang="en-US" sz="2800" b="1" dirty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；</a:t>
            </a:r>
            <a:endParaRPr lang="en-US" altLang="zh-CN" sz="2800" b="1" dirty="0">
              <a:solidFill>
                <a:schemeClr val="bg1"/>
              </a:solidFill>
              <a:latin typeface="Times New Roman" pitchFamily="18" charset="0"/>
              <a:ea typeface="楷体_GB2312" pitchFamily="49" charset="-122"/>
              <a:cs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  由孤立结点组成而没有边的图称为</a:t>
            </a:r>
            <a:r>
              <a:rPr kumimoji="1" lang="zh-CN" altLang="en-US" sz="2800" b="1" dirty="0">
                <a:solidFill>
                  <a:srgbClr val="FFFF00"/>
                </a:solidFill>
                <a:cs typeface="楷体_GB2312" pitchFamily="49" charset="-122"/>
              </a:rPr>
              <a:t>零图</a:t>
            </a:r>
            <a:r>
              <a:rPr lang="zh-CN" altLang="en-US" sz="2800" b="1" dirty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； </a:t>
            </a:r>
            <a:endParaRPr lang="en-US" altLang="zh-CN" sz="2800" b="1" dirty="0">
              <a:solidFill>
                <a:schemeClr val="bg1"/>
              </a:solidFill>
              <a:latin typeface="Times New Roman" pitchFamily="18" charset="0"/>
              <a:ea typeface="楷体_GB2312" pitchFamily="49" charset="-122"/>
              <a:cs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  仅含一个孤立结点而没有边的图，称为</a:t>
            </a:r>
            <a:r>
              <a:rPr kumimoji="1" lang="zh-CN" altLang="en-US" sz="2800" b="1" dirty="0">
                <a:solidFill>
                  <a:srgbClr val="FFFF00"/>
                </a:solidFill>
                <a:cs typeface="楷体_GB2312" pitchFamily="49" charset="-122"/>
              </a:rPr>
              <a:t>平凡图</a:t>
            </a:r>
            <a:r>
              <a:rPr lang="zh-CN" altLang="en-US" sz="2800" b="1" dirty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；</a:t>
            </a:r>
            <a:endParaRPr lang="en-US" altLang="zh-CN" sz="2800" b="1" dirty="0">
              <a:solidFill>
                <a:schemeClr val="bg1"/>
              </a:solidFill>
              <a:latin typeface="Times New Roman" pitchFamily="18" charset="0"/>
              <a:ea typeface="楷体_GB2312" pitchFamily="49" charset="-122"/>
              <a:cs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  含有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n</a:t>
            </a:r>
            <a:r>
              <a:rPr lang="zh-CN" altLang="en-US" sz="2800" b="1" dirty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个结点，</a:t>
            </a:r>
            <a:r>
              <a:rPr lang="en-US" altLang="zh-CN" sz="2800" b="1" i="1" dirty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m</a:t>
            </a:r>
            <a:r>
              <a:rPr lang="zh-CN" altLang="en-US" sz="2800" b="1" dirty="0">
                <a:solidFill>
                  <a:schemeClr val="bg1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条边的图称为</a:t>
            </a:r>
            <a:r>
              <a:rPr lang="en-US" altLang="zh-CN" sz="2800" b="1" dirty="0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(</a:t>
            </a:r>
            <a:r>
              <a:rPr lang="en-US" altLang="zh-CN" sz="2800" b="1" i="1" dirty="0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n, m </a:t>
            </a:r>
            <a:r>
              <a:rPr lang="en-US" altLang="zh-CN" sz="2800" b="1" dirty="0">
                <a:solidFill>
                  <a:srgbClr val="FFFF00"/>
                </a:solidFill>
                <a:latin typeface="Times New Roman" pitchFamily="18" charset="0"/>
                <a:ea typeface="楷体_GB2312" pitchFamily="49" charset="-122"/>
                <a:cs typeface="楷体_GB2312" pitchFamily="49" charset="-122"/>
              </a:rPr>
              <a:t>) </a:t>
            </a:r>
            <a:r>
              <a:rPr kumimoji="1" lang="zh-CN" altLang="en-US" sz="2800" b="1" dirty="0">
                <a:solidFill>
                  <a:srgbClr val="FFFF00"/>
                </a:solidFill>
                <a:cs typeface="楷体_GB2312" pitchFamily="49" charset="-122"/>
              </a:rPr>
              <a:t>图</a:t>
            </a:r>
            <a:r>
              <a:rPr kumimoji="1" lang="zh-CN" altLang="en-US" sz="2800" b="1" dirty="0">
                <a:solidFill>
                  <a:schemeClr val="bg1"/>
                </a:solidFill>
                <a:cs typeface="楷体_GB2312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26849021"/>
      </p:ext>
    </p:extLst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FFAD12-66EF-409E-8FE6-52075F7F5882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44036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59769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题</a:t>
            </a:r>
          </a:p>
        </p:txBody>
      </p:sp>
      <p:pic>
        <p:nvPicPr>
          <p:cNvPr id="4403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491803" y="2037828"/>
            <a:ext cx="865219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2"/>
                </a:solidFill>
              </a:rPr>
              <a:t>【</a:t>
            </a:r>
            <a:r>
              <a:rPr lang="zh-CN" altLang="en-US" sz="3200" dirty="0">
                <a:solidFill>
                  <a:schemeClr val="accent2"/>
                </a:solidFill>
              </a:rPr>
              <a:t>例</a:t>
            </a:r>
            <a:r>
              <a:rPr lang="en-US" altLang="zh-CN" sz="3200" dirty="0">
                <a:solidFill>
                  <a:schemeClr val="accent2"/>
                </a:solidFill>
              </a:rPr>
              <a:t>】</a:t>
            </a:r>
            <a:r>
              <a:rPr lang="zh-CN" altLang="en-US" sz="3200" dirty="0">
                <a:solidFill>
                  <a:schemeClr val="tx1"/>
                </a:solidFill>
              </a:rPr>
              <a:t>图</a:t>
            </a:r>
            <a:r>
              <a:rPr lang="en-US" altLang="zh-CN" sz="3200" i="1" dirty="0">
                <a:solidFill>
                  <a:schemeClr val="tx1"/>
                </a:solidFill>
                <a:latin typeface="+mj-lt"/>
              </a:rPr>
              <a:t>G</a:t>
            </a:r>
            <a:r>
              <a:rPr lang="en-US" altLang="zh-CN" sz="2000" dirty="0">
                <a:solidFill>
                  <a:schemeClr val="tx1"/>
                </a:solidFill>
                <a:latin typeface="+mj-lt"/>
              </a:rPr>
              <a:t>1</a:t>
            </a:r>
            <a:r>
              <a:rPr lang="zh-CN" altLang="en-US" sz="3200" dirty="0">
                <a:solidFill>
                  <a:schemeClr val="tx1"/>
                </a:solidFill>
              </a:rPr>
              <a:t>是一个</a:t>
            </a:r>
            <a:r>
              <a:rPr lang="en-US" altLang="zh-CN" sz="3200" dirty="0">
                <a:solidFill>
                  <a:schemeClr val="tx1"/>
                </a:solidFill>
              </a:rPr>
              <a:t>(6,7)</a:t>
            </a:r>
            <a:r>
              <a:rPr lang="zh-CN" altLang="en-US" sz="3200" dirty="0">
                <a:solidFill>
                  <a:schemeClr val="tx1"/>
                </a:solidFill>
              </a:rPr>
              <a:t>图，图</a:t>
            </a:r>
            <a:r>
              <a:rPr lang="en-US" altLang="zh-CN" sz="3200" i="1" dirty="0">
                <a:solidFill>
                  <a:schemeClr val="tx1"/>
                </a:solidFill>
                <a:latin typeface="+mj-lt"/>
              </a:rPr>
              <a:t>G</a:t>
            </a:r>
            <a:r>
              <a:rPr lang="en-US" altLang="zh-CN" sz="2000" dirty="0">
                <a:solidFill>
                  <a:schemeClr val="tx1"/>
                </a:solidFill>
                <a:latin typeface="+mj-lt"/>
              </a:rPr>
              <a:t>2</a:t>
            </a:r>
            <a:r>
              <a:rPr lang="zh-CN" altLang="en-US" sz="3200" dirty="0">
                <a:solidFill>
                  <a:schemeClr val="tx1"/>
                </a:solidFill>
              </a:rPr>
              <a:t>是一个零图</a:t>
            </a:r>
            <a:r>
              <a:rPr lang="zh-CN" altLang="en-US" sz="3200" dirty="0">
                <a:solidFill>
                  <a:schemeClr val="tx1"/>
                </a:solidFill>
                <a:latin typeface="+mn-ea"/>
                <a:ea typeface="+mn-ea"/>
              </a:rPr>
              <a:t>。</a:t>
            </a:r>
            <a:endParaRPr lang="en-US" altLang="zh-CN" sz="3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13" y="3074097"/>
            <a:ext cx="4415004" cy="242892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176" y="3322929"/>
            <a:ext cx="2031800" cy="19108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423663" y="5634676"/>
            <a:ext cx="93610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</a:rPr>
              <a:t>图</a:t>
            </a:r>
            <a:r>
              <a:rPr lang="en-US" altLang="zh-CN" sz="2800" i="1" dirty="0">
                <a:solidFill>
                  <a:schemeClr val="tx1"/>
                </a:solidFill>
                <a:latin typeface="+mj-lt"/>
              </a:rPr>
              <a:t>G</a:t>
            </a:r>
            <a:r>
              <a:rPr lang="en-US" altLang="zh-CN" sz="1800" dirty="0">
                <a:solidFill>
                  <a:schemeClr val="tx1"/>
                </a:solidFill>
              </a:rPr>
              <a:t>1</a:t>
            </a:r>
            <a:endParaRPr lang="zh-CN" altLang="en-US" sz="2800" dirty="0"/>
          </a:p>
        </p:txBody>
      </p:sp>
      <p:sp>
        <p:nvSpPr>
          <p:cNvPr id="15" name="文本框 14"/>
          <p:cNvSpPr txBox="1"/>
          <p:nvPr/>
        </p:nvSpPr>
        <p:spPr>
          <a:xfrm>
            <a:off x="6660232" y="5642630"/>
            <a:ext cx="93610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</a:rPr>
              <a:t>图</a:t>
            </a:r>
            <a:r>
              <a:rPr lang="en-US" altLang="zh-CN" sz="2800" i="1" dirty="0">
                <a:solidFill>
                  <a:schemeClr val="tx1"/>
                </a:solidFill>
                <a:latin typeface="+mj-lt"/>
              </a:rPr>
              <a:t>G</a:t>
            </a:r>
            <a:r>
              <a:rPr lang="en-US" altLang="zh-CN" sz="1800" dirty="0">
                <a:solidFill>
                  <a:schemeClr val="tx1"/>
                </a:solidFill>
              </a:rPr>
              <a:t>2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55648965"/>
      </p:ext>
    </p:extLst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67244C-8064-48D7-B717-8E2F45711DCE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61443" name="Text Box 2"/>
          <p:cNvSpPr txBox="1">
            <a:spLocks noChangeArrowheads="1"/>
          </p:cNvSpPr>
          <p:nvPr/>
        </p:nvSpPr>
        <p:spPr bwMode="auto">
          <a:xfrm>
            <a:off x="1258888" y="692150"/>
            <a:ext cx="640873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题</a:t>
            </a:r>
          </a:p>
        </p:txBody>
      </p:sp>
      <p:pic>
        <p:nvPicPr>
          <p:cNvPr id="61444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5" name="Picture 35" descr="QQ截图2015091913155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2" y="1844824"/>
            <a:ext cx="7775575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2281195"/>
      </p:ext>
    </p:extLst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6D8F488-3D95-486D-84F7-F49128FC07FA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62467" name="Text Box 2"/>
          <p:cNvSpPr txBox="1">
            <a:spLocks noChangeArrowheads="1"/>
          </p:cNvSpPr>
          <p:nvPr/>
        </p:nvSpPr>
        <p:spPr bwMode="auto">
          <a:xfrm>
            <a:off x="1258888" y="692150"/>
            <a:ext cx="640873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题</a:t>
            </a:r>
          </a:p>
        </p:txBody>
      </p:sp>
      <p:pic>
        <p:nvPicPr>
          <p:cNvPr id="62468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9" name="Picture 6" descr="QQ截图2015091913182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08812"/>
            <a:ext cx="7993062" cy="423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D168634-8021-4B65-ADF8-0555159A4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640" y="3466098"/>
            <a:ext cx="267565" cy="3434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815D791-1440-4CA9-9258-323F45F672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4959" y="3004875"/>
            <a:ext cx="270929" cy="36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870962"/>
      </p:ext>
    </p:extLst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0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331640" y="1773238"/>
            <a:ext cx="6840760" cy="4392612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CN" sz="28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1.</a:t>
            </a:r>
            <a:r>
              <a:rPr lang="zh-CN" altLang="en-US" sz="28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按边有无方向分类</a:t>
            </a:r>
          </a:p>
          <a:p>
            <a:pPr marL="457200" indent="-457200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800" b="1" dirty="0">
                <a:solidFill>
                  <a:srgbClr val="FFFF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          有向图、无向图、混合图</a:t>
            </a:r>
          </a:p>
          <a:p>
            <a:pPr marL="457200" indent="-457200"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zh-CN" sz="28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2.</a:t>
            </a:r>
            <a:r>
              <a:rPr lang="zh-CN" altLang="en-US" sz="28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按有无重复边（平行边）分类</a:t>
            </a:r>
          </a:p>
          <a:p>
            <a:pPr marL="457200" indent="-457200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8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          </a:t>
            </a:r>
            <a:r>
              <a:rPr lang="zh-CN" altLang="en-US" sz="2800" b="1" dirty="0">
                <a:solidFill>
                  <a:srgbClr val="FFFF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多重图、线图、简单图 </a:t>
            </a:r>
          </a:p>
          <a:p>
            <a:pPr marL="457200" indent="-457200"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zh-CN" sz="28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3.</a:t>
            </a:r>
            <a:r>
              <a:rPr lang="zh-CN" altLang="en-US" sz="28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按有无权重分类</a:t>
            </a:r>
          </a:p>
          <a:p>
            <a:pPr marL="457200" indent="-457200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800" b="1" dirty="0">
                <a:solidFill>
                  <a:srgbClr val="FFFF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           赋权图、无权图</a:t>
            </a:r>
            <a:r>
              <a:rPr lang="zh-CN" altLang="en-US" b="1" dirty="0">
                <a:solidFill>
                  <a:srgbClr val="FFFF00"/>
                </a:solidFill>
                <a:effectLst/>
                <a:cs typeface="楷体_GB2312" pitchFamily="49" charset="-122"/>
              </a:rPr>
              <a:t>   </a:t>
            </a:r>
          </a:p>
        </p:txBody>
      </p:sp>
      <p:sp>
        <p:nvSpPr>
          <p:cNvPr id="64515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5B6C2D8-E80B-41FC-B108-7D46A9601271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64516" name="Text Box 2"/>
          <p:cNvSpPr txBox="1">
            <a:spLocks noChangeArrowheads="1"/>
          </p:cNvSpPr>
          <p:nvPr/>
        </p:nvSpPr>
        <p:spPr bwMode="auto">
          <a:xfrm>
            <a:off x="1475656" y="549275"/>
            <a:ext cx="5761038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图的基本类型</a:t>
            </a:r>
          </a:p>
        </p:txBody>
      </p:sp>
      <p:pic>
        <p:nvPicPr>
          <p:cNvPr id="6451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5897084"/>
      </p:ext>
    </p:extLst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579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2132856"/>
            <a:ext cx="8508181" cy="3544139"/>
          </a:xfrm>
          <a:solidFill>
            <a:schemeClr val="accent3">
              <a:lumMod val="95000"/>
            </a:schemeClr>
          </a:solidFill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对于任意一个给定的图模型： </a:t>
            </a:r>
            <a:endParaRPr lang="en-US" altLang="zh-CN" sz="2800" b="1" dirty="0">
              <a:effectLst/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  <a:p>
            <a:pPr marL="0" indent="0"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zh-CN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  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若其</a:t>
            </a:r>
            <a:r>
              <a:rPr lang="zh-CN" altLang="en-US" sz="2800" b="1" dirty="0"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每条边都是无向边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， 则称该图为</a:t>
            </a:r>
            <a:r>
              <a:rPr lang="zh-CN" altLang="en-US" sz="2800" b="1" dirty="0"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无向图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； </a:t>
            </a:r>
            <a:endParaRPr lang="en-US" altLang="zh-CN" sz="2800" b="1" dirty="0">
              <a:effectLst/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  <a:p>
            <a:pPr marL="0" indent="0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  若其</a:t>
            </a:r>
            <a:r>
              <a:rPr lang="zh-CN" altLang="en-US" sz="2800" b="1" dirty="0"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每条边都是有向边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， 则称该图为</a:t>
            </a:r>
            <a:r>
              <a:rPr lang="zh-CN" altLang="en-US" sz="2800" b="1" dirty="0"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有向图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； </a:t>
            </a:r>
            <a:endParaRPr lang="en-US" altLang="zh-CN" sz="2800" b="1" dirty="0">
              <a:effectLst/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  <a:p>
            <a:pPr marL="0" indent="0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  若其中</a:t>
            </a:r>
            <a:r>
              <a:rPr lang="zh-CN" altLang="en-US" sz="2800" b="1" dirty="0"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有些边是无向边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，</a:t>
            </a:r>
            <a:r>
              <a:rPr lang="zh-CN" altLang="en-US" sz="2800" b="1" dirty="0"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有些边是有向边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， 则称该图为</a:t>
            </a:r>
            <a:r>
              <a:rPr lang="zh-CN" altLang="en-US" sz="2800" b="1" dirty="0">
                <a:solidFill>
                  <a:srgbClr val="FF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混合图</a:t>
            </a: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。 </a:t>
            </a:r>
          </a:p>
        </p:txBody>
      </p:sp>
      <p:sp>
        <p:nvSpPr>
          <p:cNvPr id="44035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FFAD12-66EF-409E-8FE6-52075F7F5882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44036" name="Text Box 2"/>
          <p:cNvSpPr txBox="1">
            <a:spLocks noChangeArrowheads="1"/>
          </p:cNvSpPr>
          <p:nvPr/>
        </p:nvSpPr>
        <p:spPr bwMode="auto">
          <a:xfrm>
            <a:off x="1547664" y="764704"/>
            <a:ext cx="6336704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按边方向性分类</a:t>
            </a:r>
          </a:p>
        </p:txBody>
      </p:sp>
      <p:pic>
        <p:nvPicPr>
          <p:cNvPr id="4403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3176482"/>
      </p:ext>
    </p:extLst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059" name="Rectangle 3"/>
          <p:cNvSpPr>
            <a:spLocks noGrp="1" noChangeArrowheads="1"/>
          </p:cNvSpPr>
          <p:nvPr>
            <p:ph idx="1"/>
          </p:nvPr>
        </p:nvSpPr>
        <p:spPr>
          <a:xfrm>
            <a:off x="611262" y="1657497"/>
            <a:ext cx="7920484" cy="1152525"/>
          </a:xfrm>
          <a:solidFill>
            <a:schemeClr val="accent3">
              <a:lumMod val="95000"/>
            </a:schemeClr>
          </a:solidFill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cs typeface="楷体_GB2312" pitchFamily="49" charset="-122"/>
              </a:rPr>
              <a:t>    </a:t>
            </a:r>
            <a:r>
              <a:rPr lang="en-US" altLang="zh-CN" b="1" dirty="0">
                <a:solidFill>
                  <a:srgbClr val="FF0000"/>
                </a:solidFill>
                <a:effectLst/>
                <a:cs typeface="楷体_GB2312" pitchFamily="49" charset="-122"/>
              </a:rPr>
              <a:t>【</a:t>
            </a:r>
            <a:r>
              <a:rPr lang="zh-CN" altLang="en-US" b="1" dirty="0">
                <a:solidFill>
                  <a:srgbClr val="FF0000"/>
                </a:solidFill>
                <a:effectLst/>
                <a:cs typeface="楷体_GB2312" pitchFamily="49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ffectLst/>
                <a:cs typeface="楷体_GB2312" pitchFamily="49" charset="-122"/>
              </a:rPr>
              <a:t>】</a:t>
            </a:r>
            <a:r>
              <a:rPr lang="zh-CN" altLang="en-US" b="1" dirty="0">
                <a:effectLst/>
                <a:cs typeface="楷体_GB2312" pitchFamily="49" charset="-122"/>
              </a:rPr>
              <a:t>试判断下图所示的三个图是无向图、有向图，还是混合图？</a:t>
            </a:r>
          </a:p>
        </p:txBody>
      </p:sp>
      <p:sp>
        <p:nvSpPr>
          <p:cNvPr id="66563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6DF2E9-B376-4473-96C6-3CD2C7F70E44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197155" name="Rectangle 99"/>
          <p:cNvSpPr>
            <a:spLocks noChangeArrowheads="1"/>
          </p:cNvSpPr>
          <p:nvPr/>
        </p:nvSpPr>
        <p:spPr bwMode="auto">
          <a:xfrm>
            <a:off x="611262" y="5747933"/>
            <a:ext cx="7993186" cy="40562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lIns="36000" tIns="0" rIns="36000" bIns="0" anchor="ctr">
            <a:spAutoFit/>
          </a:bodyPr>
          <a:lstStyle>
            <a:lvl1pPr eaLnBrk="0" hangingPunct="0">
              <a:defRPr sz="3200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1pPr>
            <a:lvl2pPr marL="742950" indent="-285750" eaLnBrk="0" hangingPunct="0">
              <a:defRPr sz="3200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2pPr>
            <a:lvl3pPr marL="1143000" indent="-228600" eaLnBrk="0" hangingPunct="0">
              <a:defRPr sz="3200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3pPr>
            <a:lvl4pPr marL="1600200" indent="-228600" eaLnBrk="0" hangingPunct="0">
              <a:defRPr sz="3200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4pPr>
            <a:lvl5pPr marL="2057400" indent="-228600" eaLnBrk="0" hangingPunct="0">
              <a:defRPr sz="3200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0000"/>
                </a:solidFill>
                <a:latin typeface="黑体" pitchFamily="2" charset="-122"/>
                <a:ea typeface="黑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kumimoji="1" lang="zh-CN" altLang="en-US" sz="2400" b="1" dirty="0">
                <a:latin typeface="+mn-ea"/>
                <a:ea typeface="+mn-ea"/>
              </a:rPr>
              <a:t>解  </a:t>
            </a:r>
            <a:r>
              <a:rPr kumimoji="1" lang="en-US" altLang="zh-CN" sz="2400" b="1" dirty="0">
                <a:solidFill>
                  <a:srgbClr val="000000"/>
                </a:solidFill>
                <a:latin typeface="+mn-ea"/>
                <a:ea typeface="+mn-ea"/>
              </a:rPr>
              <a:t>G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kumimoji="1"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为无向图，</a:t>
            </a:r>
            <a:r>
              <a:rPr kumimoji="1" lang="en-US" altLang="zh-CN" sz="2400" b="1" dirty="0">
                <a:solidFill>
                  <a:srgbClr val="000000"/>
                </a:solidFill>
                <a:latin typeface="+mn-ea"/>
                <a:ea typeface="+mn-ea"/>
              </a:rPr>
              <a:t>G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+mn-ea"/>
                <a:ea typeface="+mn-ea"/>
              </a:rPr>
              <a:t>2</a:t>
            </a:r>
            <a:r>
              <a:rPr kumimoji="1"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为有向图，</a:t>
            </a:r>
            <a:r>
              <a:rPr kumimoji="1" lang="en-US" altLang="zh-CN" sz="2400" b="1" dirty="0">
                <a:solidFill>
                  <a:srgbClr val="000000"/>
                </a:solidFill>
                <a:latin typeface="+mn-ea"/>
                <a:ea typeface="+mn-ea"/>
              </a:rPr>
              <a:t>G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+mn-ea"/>
                <a:ea typeface="+mn-ea"/>
              </a:rPr>
              <a:t>3</a:t>
            </a:r>
            <a:r>
              <a:rPr kumimoji="1"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为混合图。</a:t>
            </a:r>
          </a:p>
        </p:txBody>
      </p:sp>
      <p:pic>
        <p:nvPicPr>
          <p:cNvPr id="66566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0602" y="549276"/>
            <a:ext cx="985123" cy="1036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7" name="Picture 45" descr="QQ截图2015091913565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758" y="2900875"/>
            <a:ext cx="7920484" cy="2634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2">
            <a:extLst>
              <a:ext uri="{FF2B5EF4-FFF2-40B4-BE49-F238E27FC236}">
                <a16:creationId xmlns:a16="http://schemas.microsoft.com/office/drawing/2014/main" id="{C7C31A48-638C-44B9-9A21-B69A4F4CD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152" y="662139"/>
            <a:ext cx="6336704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按边方向性分类</a:t>
            </a:r>
          </a:p>
        </p:txBody>
      </p:sp>
    </p:spTree>
    <p:extLst>
      <p:ext uri="{BB962C8B-B14F-4D97-AF65-F5344CB8AC3E}">
        <p14:creationId xmlns:p14="http://schemas.microsoft.com/office/powerpoint/2010/main" val="4065583490"/>
      </p:ext>
    </p:extLst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579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915759"/>
            <a:ext cx="8208912" cy="4321553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8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  </a:t>
            </a:r>
            <a:r>
              <a:rPr lang="zh-CN" altLang="en-US" sz="28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对于任一图模型，如果两结点间</a:t>
            </a:r>
            <a:r>
              <a:rPr lang="en-US" altLang="zh-CN" sz="28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(</a:t>
            </a:r>
            <a:r>
              <a:rPr lang="zh-CN" altLang="en-US" sz="28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包括结点自身间</a:t>
            </a:r>
            <a:r>
              <a:rPr lang="en-US" altLang="zh-CN" sz="28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)</a:t>
            </a:r>
            <a:r>
              <a:rPr lang="zh-CN" altLang="en-US" sz="28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存在</a:t>
            </a:r>
            <a:r>
              <a:rPr lang="zh-CN" altLang="en-US" sz="2800" b="1" dirty="0">
                <a:solidFill>
                  <a:srgbClr val="FFFF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多条无向边或者同始点且同终点的有向边</a:t>
            </a:r>
            <a:r>
              <a:rPr lang="zh-CN" altLang="en-US" sz="28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，则称这些边为</a:t>
            </a:r>
            <a:r>
              <a:rPr lang="zh-CN" altLang="en-US" sz="2800" b="1" dirty="0">
                <a:solidFill>
                  <a:srgbClr val="FFFF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平行边</a:t>
            </a:r>
            <a:r>
              <a:rPr lang="zh-CN" altLang="en-US" sz="28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； </a:t>
            </a:r>
            <a:endParaRPr lang="en-US" altLang="zh-CN" sz="2800" b="1" dirty="0">
              <a:solidFill>
                <a:schemeClr val="bg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  <a:p>
            <a:pPr marL="0" indent="0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8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  两结点间平行边的个数称为</a:t>
            </a:r>
            <a:r>
              <a:rPr lang="zh-CN" altLang="en-US" sz="2800" b="1" dirty="0">
                <a:solidFill>
                  <a:srgbClr val="FFFF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边的重数</a:t>
            </a:r>
            <a:r>
              <a:rPr lang="zh-CN" altLang="en-US" sz="28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；含有平行边的图称为</a:t>
            </a:r>
            <a:r>
              <a:rPr lang="zh-CN" altLang="en-US" sz="2800" b="1" dirty="0">
                <a:solidFill>
                  <a:srgbClr val="FFFF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多重图</a:t>
            </a:r>
            <a:r>
              <a:rPr lang="zh-CN" altLang="en-US" sz="28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；非多重图称为</a:t>
            </a:r>
            <a:r>
              <a:rPr lang="zh-CN" altLang="en-US" sz="2800" b="1" dirty="0">
                <a:solidFill>
                  <a:srgbClr val="FFFF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线图</a:t>
            </a:r>
            <a:r>
              <a:rPr lang="zh-CN" altLang="en-US" sz="28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。</a:t>
            </a:r>
            <a:endParaRPr lang="en-US" altLang="zh-CN" sz="2800" b="1" dirty="0">
              <a:solidFill>
                <a:schemeClr val="bg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  <a:p>
            <a:pPr marL="0" indent="0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8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  无环的线图称为</a:t>
            </a:r>
            <a:r>
              <a:rPr lang="zh-CN" altLang="en-US" sz="2800" b="1" dirty="0">
                <a:solidFill>
                  <a:srgbClr val="FFFF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简单图</a:t>
            </a:r>
            <a:r>
              <a:rPr lang="zh-CN" altLang="en-US" sz="2800" b="1" dirty="0"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。</a:t>
            </a:r>
            <a:endParaRPr lang="zh-CN" altLang="en-US" b="1" dirty="0">
              <a:solidFill>
                <a:schemeClr val="bg1"/>
              </a:solidFill>
              <a:effectLst/>
              <a:cs typeface="楷体_GB2312" pitchFamily="49" charset="-122"/>
            </a:endParaRPr>
          </a:p>
        </p:txBody>
      </p:sp>
      <p:sp>
        <p:nvSpPr>
          <p:cNvPr id="44035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FFAD12-66EF-409E-8FE6-52075F7F5882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pic>
        <p:nvPicPr>
          <p:cNvPr id="4403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259632" y="699591"/>
            <a:ext cx="6408738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按边重复性分类</a:t>
            </a:r>
          </a:p>
        </p:txBody>
      </p:sp>
    </p:spTree>
    <p:extLst>
      <p:ext uri="{BB962C8B-B14F-4D97-AF65-F5344CB8AC3E}">
        <p14:creationId xmlns:p14="http://schemas.microsoft.com/office/powerpoint/2010/main" val="2840934228"/>
      </p:ext>
    </p:extLst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FFAD12-66EF-409E-8FE6-52075F7F5882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pic>
        <p:nvPicPr>
          <p:cNvPr id="4403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858" y="521472"/>
            <a:ext cx="1094777" cy="115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367631" y="702770"/>
            <a:ext cx="6408738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按边重复性分类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9A7C857-665A-412C-AC92-881E8B999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2391020"/>
            <a:ext cx="8851714" cy="324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587987"/>
      </p:ext>
    </p:extLst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日期占位符 3"/>
          <p:cNvSpPr>
            <a:spLocks noGrp="1"/>
          </p:cNvSpPr>
          <p:nvPr>
            <p:ph type="dt" sz="quarter" idx="10"/>
          </p:nvPr>
        </p:nvSpPr>
        <p:spPr>
          <a:xfrm>
            <a:off x="684213" y="6400800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39D4AD-60EC-4A54-9B55-5E3A30D45A3E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86"/>
              <p:cNvSpPr>
                <a:spLocks noChangeArrowheads="1"/>
              </p:cNvSpPr>
              <p:nvPr/>
            </p:nvSpPr>
            <p:spPr bwMode="auto">
              <a:xfrm>
                <a:off x="790711" y="4710641"/>
                <a:ext cx="7704856" cy="1546064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ffectLst/>
              <a:extLs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 dirty="0">
                    <a:effectLst/>
                    <a:latin typeface="+mj-lt"/>
                    <a:ea typeface="楷体_GB2312" pitchFamily="49" charset="-122"/>
                  </a:rPr>
                  <a:t>【</a:t>
                </a:r>
                <a:r>
                  <a:rPr lang="zh-CN" altLang="en-US" sz="2000" b="1" dirty="0">
                    <a:effectLst/>
                    <a:latin typeface="+mj-lt"/>
                    <a:ea typeface="楷体_GB2312" pitchFamily="49" charset="-122"/>
                  </a:rPr>
                  <a:t>解</a:t>
                </a:r>
                <a:r>
                  <a:rPr lang="en-US" altLang="zh-CN" sz="2000" b="1" dirty="0">
                    <a:effectLst/>
                    <a:latin typeface="+mj-lt"/>
                    <a:ea typeface="楷体_GB2312" pitchFamily="49" charset="-122"/>
                  </a:rPr>
                  <a:t>】</a:t>
                </a:r>
                <a:r>
                  <a:rPr lang="en-US" altLang="zh-CN" sz="2000" b="1" dirty="0">
                    <a:solidFill>
                      <a:schemeClr val="accent1"/>
                    </a:solidFill>
                    <a:effectLst/>
                    <a:latin typeface="+mj-lt"/>
                    <a:ea typeface="楷体_GB2312" pitchFamily="49" charset="-122"/>
                  </a:rPr>
                  <a:t> </a:t>
                </a:r>
                <a:r>
                  <a:rPr lang="en-US" altLang="zh-CN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G</a:t>
                </a:r>
                <a:r>
                  <a:rPr lang="en-US" altLang="zh-CN" sz="2000" b="1" baseline="-25000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1</a:t>
                </a:r>
                <a:r>
                  <a:rPr lang="zh-CN" altLang="en-US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、</a:t>
                </a:r>
                <a:r>
                  <a:rPr lang="en-US" altLang="zh-CN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G</a:t>
                </a:r>
                <a:r>
                  <a:rPr lang="en-US" altLang="zh-CN" sz="2000" b="1" baseline="-25000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2</a:t>
                </a:r>
                <a:r>
                  <a:rPr lang="zh-CN" altLang="en-US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是多重图，</a:t>
                </a:r>
                <a:r>
                  <a:rPr lang="en-US" altLang="zh-CN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G</a:t>
                </a:r>
                <a:r>
                  <a:rPr lang="en-US" altLang="zh-CN" sz="2000" b="1" baseline="-25000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3</a:t>
                </a:r>
                <a:r>
                  <a:rPr lang="zh-CN" altLang="en-US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是线图，</a:t>
                </a:r>
                <a:r>
                  <a:rPr lang="en-US" altLang="zh-CN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G</a:t>
                </a:r>
                <a:r>
                  <a:rPr lang="en-US" altLang="zh-CN" sz="2000" b="1" baseline="-25000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4</a:t>
                </a:r>
                <a:r>
                  <a:rPr lang="zh-CN" altLang="en-US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是简单图。</a:t>
                </a:r>
                <a:endParaRPr lang="en-US" altLang="zh-CN" sz="2000" b="1" dirty="0">
                  <a:solidFill>
                    <a:srgbClr val="000000"/>
                  </a:solidFill>
                  <a:effectLst/>
                  <a:latin typeface="+mj-lt"/>
                  <a:ea typeface="楷体_GB2312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G</a:t>
                </a:r>
                <a:r>
                  <a:rPr lang="en-US" altLang="zh-CN" sz="2000" b="1" baseline="-25000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1</a:t>
                </a:r>
                <a:r>
                  <a:rPr lang="zh-CN" altLang="en-US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中平行边</a:t>
                </a:r>
                <a:r>
                  <a:rPr lang="en-US" altLang="zh-CN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(v</a:t>
                </a:r>
                <a:r>
                  <a:rPr lang="en-US" altLang="zh-CN" sz="2000" b="1" baseline="-25000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1</a:t>
                </a:r>
                <a:r>
                  <a:rPr lang="en-US" altLang="zh-CN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,v</a:t>
                </a:r>
                <a:r>
                  <a:rPr lang="en-US" altLang="zh-CN" sz="2000" b="1" baseline="-25000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1</a:t>
                </a:r>
                <a:r>
                  <a:rPr lang="en-US" altLang="zh-CN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)</a:t>
                </a:r>
                <a:r>
                  <a:rPr lang="zh-CN" altLang="en-US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的重数为</a:t>
                </a:r>
                <a:r>
                  <a:rPr lang="en-US" altLang="zh-CN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2</a:t>
                </a:r>
                <a:r>
                  <a:rPr lang="zh-CN" altLang="en-US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，</a:t>
                </a:r>
                <a:r>
                  <a:rPr lang="en-US" altLang="zh-CN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(v</a:t>
                </a:r>
                <a:r>
                  <a:rPr lang="en-US" altLang="zh-CN" sz="2000" b="1" baseline="-25000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1</a:t>
                </a:r>
                <a:r>
                  <a:rPr lang="en-US" altLang="zh-CN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,v</a:t>
                </a:r>
                <a:r>
                  <a:rPr lang="en-US" altLang="zh-CN" sz="2000" b="1" baseline="-25000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3</a:t>
                </a:r>
                <a:r>
                  <a:rPr lang="en-US" altLang="zh-CN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)</a:t>
                </a:r>
                <a:r>
                  <a:rPr lang="zh-CN" altLang="en-US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的重数为</a:t>
                </a:r>
                <a:r>
                  <a:rPr lang="en-US" altLang="zh-CN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2</a:t>
                </a:r>
                <a:r>
                  <a:rPr lang="zh-CN" altLang="en-US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，</a:t>
                </a:r>
                <a:r>
                  <a:rPr lang="en-US" altLang="zh-CN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(v</a:t>
                </a:r>
                <a:r>
                  <a:rPr lang="en-US" altLang="zh-CN" sz="2000" b="1" baseline="-25000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2</a:t>
                </a:r>
                <a:r>
                  <a:rPr lang="en-US" altLang="zh-CN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,v</a:t>
                </a:r>
                <a:r>
                  <a:rPr lang="en-US" altLang="zh-CN" sz="2000" b="1" baseline="-25000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4</a:t>
                </a:r>
                <a:r>
                  <a:rPr lang="en-US" altLang="zh-CN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)</a:t>
                </a:r>
                <a:r>
                  <a:rPr lang="zh-CN" altLang="en-US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的重数为</a:t>
                </a:r>
                <a:r>
                  <a:rPr lang="en-US" altLang="zh-CN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3</a:t>
                </a:r>
                <a:r>
                  <a:rPr lang="zh-CN" altLang="en-US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；</a:t>
                </a:r>
                <a:endParaRPr lang="en-US" altLang="zh-CN" sz="2000" b="1" dirty="0">
                  <a:solidFill>
                    <a:srgbClr val="000000"/>
                  </a:solidFill>
                  <a:effectLst/>
                  <a:latin typeface="+mj-lt"/>
                  <a:ea typeface="楷体_GB2312" pitchFamily="49" charset="-122"/>
                </a:endParaRPr>
              </a:p>
              <a:p>
                <a:pPr algn="just" eaLnBrk="1" hangingPunct="1">
                  <a:lnSpc>
                    <a:spcPct val="150000"/>
                  </a:lnSpc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G</a:t>
                </a:r>
                <a:r>
                  <a:rPr lang="en-US" altLang="zh-CN" sz="2000" b="1" baseline="-25000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2</a:t>
                </a:r>
                <a:r>
                  <a:rPr lang="zh-CN" altLang="en-US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中平行边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sz="2000" b="1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000" b="1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  <a:ea typeface="楷体_GB2312" pitchFamily="49" charset="-122"/>
                          </a:rPr>
                          <m:t>c</m:t>
                        </m:r>
                        <m:r>
                          <a:rPr lang="en-US" altLang="zh-CN" sz="2000" b="1" i="0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sz="2000" b="1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  <a:ea typeface="楷体_GB2312" pitchFamily="49" charset="-122"/>
                          </a:rPr>
                          <m:t>a</m:t>
                        </m:r>
                      </m:e>
                    </m:d>
                  </m:oMath>
                </a14:m>
                <a:r>
                  <a:rPr lang="zh-CN" altLang="en-US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的重数为</a:t>
                </a:r>
                <a:r>
                  <a:rPr lang="en-US" altLang="zh-CN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3</a:t>
                </a:r>
                <a:r>
                  <a:rPr lang="zh-CN" altLang="en-US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sz="2000" b="1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000" b="1" dirty="0">
                            <a:solidFill>
                              <a:srgbClr val="000000"/>
                            </a:solidFill>
                            <a:effectLst/>
                            <a:latin typeface="+mj-lt"/>
                            <a:ea typeface="楷体_GB2312" pitchFamily="49" charset="-122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zh-CN" sz="2000" b="1" dirty="0" smtClean="0">
                            <a:solidFill>
                              <a:srgbClr val="000000"/>
                            </a:solidFill>
                            <a:effectLst/>
                            <a:latin typeface="+mj-lt"/>
                            <a:ea typeface="楷体_GB2312" pitchFamily="49" charset="-122"/>
                          </a:rPr>
                          <m:t>,</m:t>
                        </m:r>
                        <m:r>
                          <a:rPr lang="en-US" altLang="zh-CN" sz="2000" b="1" i="0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𝐛</m:t>
                        </m:r>
                      </m:e>
                    </m:d>
                  </m:oMath>
                </a14:m>
                <a:r>
                  <a:rPr lang="zh-CN" altLang="en-US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的重数为</a:t>
                </a:r>
                <a:r>
                  <a:rPr lang="en-US" altLang="zh-CN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2</a:t>
                </a:r>
                <a:r>
                  <a:rPr lang="zh-CN" altLang="en-US" sz="2000" b="1" dirty="0">
                    <a:solidFill>
                      <a:srgbClr val="000000"/>
                    </a:solidFill>
                    <a:effectLst/>
                    <a:latin typeface="+mj-lt"/>
                    <a:ea typeface="楷体_GB2312" pitchFamily="49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73" name="Rectangle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0711" y="4710641"/>
                <a:ext cx="7704856" cy="1546064"/>
              </a:xfrm>
              <a:prstGeom prst="rect">
                <a:avLst/>
              </a:prstGeom>
              <a:blipFill>
                <a:blip r:embed="rId3"/>
                <a:stretch>
                  <a:fillRect l="-870" r="-79" b="-6324"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0660" name="Picture 72" descr="QQ截图201509191415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06" y="1610491"/>
            <a:ext cx="7631111" cy="3046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476250"/>
            <a:ext cx="1027113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432568" y="601295"/>
            <a:ext cx="6335985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</p:spTree>
    <p:extLst>
      <p:ext uri="{BB962C8B-B14F-4D97-AF65-F5344CB8AC3E}">
        <p14:creationId xmlns:p14="http://schemas.microsoft.com/office/powerpoint/2010/main" val="4241425844"/>
      </p:ext>
    </p:extLst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7657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539552" y="2204864"/>
                <a:ext cx="8280400" cy="3672408"/>
              </a:xfrm>
              <a:solidFill>
                <a:schemeClr val="accent3">
                  <a:lumMod val="95000"/>
                </a:schemeClr>
              </a:solidFill>
            </p:spPr>
            <p:txBody>
              <a:bodyPr/>
              <a:lstStyle/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en-US" altLang="zh-CN" b="1" dirty="0">
                    <a:cs typeface="楷体_GB2312" pitchFamily="49" charset="-122"/>
                  </a:rPr>
                  <a:t>  </a:t>
                </a:r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根据边或结点是否带权，可将图划为赋权图和无权图：</a:t>
                </a:r>
                <a:b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</a:br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     </a:t>
                </a:r>
                <a:r>
                  <a:rPr lang="zh-CN" altLang="en-US" b="1" dirty="0">
                    <a:solidFill>
                      <a:srgbClr val="FF000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赋权图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G</a:t>
                </a:r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为三元组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楷体_GB2312" pitchFamily="49" charset="-122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楷体_GB2312" pitchFamily="49" charset="-122"/>
                          </a:rPr>
                          <m:t>g</m:t>
                        </m:r>
                      </m:e>
                    </m:d>
                  </m:oMath>
                </a14:m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，其中：</a:t>
                </a:r>
                <a:endParaRPr lang="en-US" altLang="zh-CN" b="1" dirty="0"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     V</a:t>
                </a:r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是结点的集合，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E</a:t>
                </a:r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是边的集合，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g</a:t>
                </a:r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是从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E</a:t>
                </a:r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到到非负实数集合的函数（</a:t>
                </a:r>
                <a:r>
                  <a:rPr lang="zh-CN" altLang="en-US" b="1" dirty="0">
                    <a:solidFill>
                      <a:srgbClr val="0000FF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对边赋权</a:t>
                </a:r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）。 </a:t>
                </a:r>
                <a:endParaRPr lang="en-US" altLang="zh-CN" b="1" dirty="0"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     相应的有</a:t>
                </a:r>
                <a:r>
                  <a:rPr lang="zh-CN" altLang="en-US" b="1" dirty="0">
                    <a:solidFill>
                      <a:srgbClr val="FF000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无向赋权图</a:t>
                </a:r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和</a:t>
                </a:r>
                <a:r>
                  <a:rPr lang="zh-CN" altLang="en-US" b="1" dirty="0">
                    <a:solidFill>
                      <a:srgbClr val="FF000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有向赋权图</a:t>
                </a:r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之分。 </a:t>
                </a:r>
                <a:endParaRPr lang="en-US" altLang="zh-CN" b="1" dirty="0"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     </a:t>
                </a:r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非赋权图称为</a:t>
                </a:r>
                <a:r>
                  <a:rPr lang="zh-CN" altLang="en-US" b="1" dirty="0">
                    <a:solidFill>
                      <a:srgbClr val="FF000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无权图</a:t>
                </a:r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。</a:t>
                </a:r>
                <a:endParaRPr lang="zh-CN" altLang="en-US" b="1" dirty="0">
                  <a:effectLst/>
                  <a:cs typeface="楷体_GB2312" pitchFamily="49" charset="-122"/>
                </a:endParaRPr>
              </a:p>
            </p:txBody>
          </p:sp>
        </mc:Choice>
        <mc:Fallback xmlns="">
          <p:sp>
            <p:nvSpPr>
              <p:cNvPr id="117657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2204864"/>
                <a:ext cx="8280400" cy="3672408"/>
              </a:xfrm>
              <a:blipFill>
                <a:blip r:embed="rId2"/>
                <a:stretch>
                  <a:fillRect l="-11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035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FFAD12-66EF-409E-8FE6-52075F7F5882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pic>
        <p:nvPicPr>
          <p:cNvPr id="4403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367631" y="699591"/>
            <a:ext cx="6408738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按边带权性分类</a:t>
            </a:r>
          </a:p>
        </p:txBody>
      </p:sp>
    </p:spTree>
    <p:extLst>
      <p:ext uri="{BB962C8B-B14F-4D97-AF65-F5344CB8AC3E}">
        <p14:creationId xmlns:p14="http://schemas.microsoft.com/office/powerpoint/2010/main" val="4082709402"/>
      </p:ext>
    </p:extLst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887B391-391B-477F-A091-DCE3120C352C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pic>
        <p:nvPicPr>
          <p:cNvPr id="72708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1475656" y="699591"/>
            <a:ext cx="6408738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按边带权性分类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1E5304-740B-4580-8DFC-C6953E7BE748}"/>
              </a:ext>
            </a:extLst>
          </p:cNvPr>
          <p:cNvSpPr/>
          <p:nvPr/>
        </p:nvSpPr>
        <p:spPr>
          <a:xfrm>
            <a:off x="549906" y="1917996"/>
            <a:ext cx="8231765" cy="1137106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【例题】试判断</a:t>
            </a:r>
            <a:r>
              <a:rPr lang="zh-CN" altLang="en-US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下列个</a:t>
            </a:r>
            <a:r>
              <a:rPr lang="zh-CN" altLang="zh-CN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图哪</a:t>
            </a:r>
            <a:r>
              <a:rPr lang="zh-CN" altLang="en-US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些</a:t>
            </a:r>
            <a:r>
              <a:rPr lang="zh-CN" altLang="zh-CN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是赋权图，哪</a:t>
            </a:r>
            <a:r>
              <a:rPr lang="zh-CN" altLang="en-US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些</a:t>
            </a:r>
            <a:r>
              <a:rPr lang="zh-CN" altLang="zh-CN" sz="2400" b="1" kern="100" dirty="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是无权图？如果是赋权图，请写出相应的权函数。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5AA4226-643A-47DB-A6DE-3732E946A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56" y="3316299"/>
            <a:ext cx="8444337" cy="26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146120"/>
      </p:ext>
    </p:extLst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887B391-391B-477F-A091-DCE3120C352C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pic>
        <p:nvPicPr>
          <p:cNvPr id="72708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1475656" y="699591"/>
            <a:ext cx="6408738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按边带权性分类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1224CB6-476D-4381-8CB9-4D837562E70E}"/>
                  </a:ext>
                </a:extLst>
              </p:cNvPr>
              <p:cNvSpPr/>
              <p:nvPr/>
            </p:nvSpPr>
            <p:spPr>
              <a:xfrm>
                <a:off x="395536" y="1876871"/>
                <a:ext cx="8424936" cy="4207177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【解】图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是赋权图，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是无权图。</a:t>
                </a: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 </a:t>
                </a:r>
                <a:endParaRPr lang="zh-CN" altLang="zh-CN" sz="24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𝒈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𝒈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，其中：</a:t>
                </a:r>
              </a:p>
              <a:p>
                <a:pPr indent="266700" algn="ctr">
                  <a:lnSpc>
                    <a:spcPts val="36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   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𝟔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𝟓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4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ctr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𝟑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</a:p>
              <a:p>
                <a:pPr indent="266700" algn="ctr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𝟒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𝟖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4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ctr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𝟕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𝟒</m:t>
                                </m:r>
                              </m:sub>
                            </m:sSub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𝟓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 </a:t>
                </a:r>
              </a:p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类似地，有：</a:t>
                </a:r>
              </a:p>
              <a:p>
                <a:pPr indent="266700" algn="ctr">
                  <a:lnSpc>
                    <a:spcPts val="36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𝟒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𝟑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𝟖</m:t>
                    </m:r>
                  </m:oMath>
                </a14:m>
                <a:endParaRPr lang="zh-CN" altLang="zh-CN" sz="24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ctr">
                  <a:lnSpc>
                    <a:spcPts val="36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𝟓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𝒈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</m:sub>
                            </m:sSub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𝟕</m:t>
                    </m:r>
                  </m:oMath>
                </a14:m>
                <a:endParaRPr lang="zh-CN" altLang="zh-CN" sz="24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1224CB6-476D-4381-8CB9-4D837562E7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876871"/>
                <a:ext cx="8424936" cy="4207177"/>
              </a:xfrm>
              <a:prstGeom prst="rect">
                <a:avLst/>
              </a:prstGeom>
              <a:blipFill>
                <a:blip r:embed="rId4"/>
                <a:stretch>
                  <a:fillRect t="-580" b="-17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5271851"/>
      </p:ext>
    </p:extLst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D75A2CD-5664-4F0D-A7AA-2FC2A2F99BD4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1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43012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563C36F-84D2-4A40-8A0F-92662B3F64D8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37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3" name="Text Box 2"/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图的概念与表示</a:t>
            </a:r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68210" y="2636912"/>
            <a:ext cx="4537075" cy="3024188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4"/>
            </a:pPr>
            <a:r>
              <a:rPr lang="en-US" altLang="zh-CN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图模型的由来</a:t>
            </a:r>
            <a:endParaRPr lang="en-US" altLang="zh-CN" sz="3600" b="1" dirty="0">
              <a:effectLst/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4"/>
            </a:pPr>
            <a:r>
              <a:rPr lang="en-US" altLang="zh-CN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图的定义与分类</a:t>
            </a:r>
            <a:endParaRPr lang="en-US" altLang="zh-CN" sz="3600" b="1" dirty="0">
              <a:effectLst/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J"/>
            </a:pPr>
            <a:r>
              <a:rPr lang="zh-CN" altLang="en-US" sz="36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图的表示方法</a:t>
            </a:r>
          </a:p>
        </p:txBody>
      </p:sp>
      <p:pic>
        <p:nvPicPr>
          <p:cNvPr id="43015" name="Picture 7" descr="C:\Program Files\Microsoft Office\MEDIA\CAGCAT10\j0292982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9899457"/>
      </p:ext>
    </p:extLst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78627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539552" y="2331624"/>
                <a:ext cx="8280275" cy="3527201"/>
              </a:xfrm>
              <a:solidFill>
                <a:schemeClr val="bg1"/>
              </a:solidFill>
            </p:spPr>
            <p:txBody>
              <a:bodyPr/>
              <a:lstStyle/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zh-CN" altLang="en-US" b="1" dirty="0">
                    <a:effectLst/>
                    <a:cs typeface="楷体_GB2312" pitchFamily="49" charset="-122"/>
                  </a:rPr>
                  <a:t>       </a:t>
                </a:r>
                <a:r>
                  <a:rPr lang="zh-CN" altLang="en-US" sz="2800" b="1" dirty="0">
                    <a:effectLst/>
                    <a:cs typeface="楷体_GB2312" pitchFamily="49" charset="-122"/>
                  </a:rPr>
                  <a:t>对于一个图模型</a:t>
                </a:r>
                <a:r>
                  <a:rPr lang="en-US" altLang="zh-CN" sz="2800" b="1" dirty="0">
                    <a:effectLst/>
                    <a:cs typeface="楷体_GB2312" pitchFamily="49" charset="-122"/>
                  </a:rPr>
                  <a:t>G</a:t>
                </a:r>
                <a:r>
                  <a:rPr lang="zh-CN" altLang="en-US" sz="2800" b="1" dirty="0">
                    <a:effectLst/>
                    <a:cs typeface="楷体_GB2312" pitchFamily="49" charset="-122"/>
                  </a:rPr>
                  <a:t>，如果将其记为</a:t>
                </a:r>
                <a:r>
                  <a:rPr lang="en-US" altLang="zh-CN" sz="2800" b="1" dirty="0">
                    <a:effectLst/>
                    <a:cs typeface="楷体_GB2312" pitchFamily="49" charset="-122"/>
                  </a:rPr>
                  <a:t>G =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a:rPr lang="en-US" altLang="zh-CN" sz="2800" b="1" i="1" dirty="0" smtClean="0">
                            <a:effectLst/>
                            <a:latin typeface="Cambria Math" panose="02040503050406030204" pitchFamily="18" charset="0"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sz="2800" b="1" dirty="0">
                            <a:effectLst/>
                            <a:cs typeface="楷体_GB2312" pitchFamily="49" charset="-122"/>
                          </a:rPr>
                          <m:t>E</m:t>
                        </m:r>
                      </m:e>
                    </m:d>
                  </m:oMath>
                </a14:m>
                <a:r>
                  <a:rPr lang="en-US" altLang="zh-CN" sz="2800" b="1" dirty="0">
                    <a:effectLst/>
                    <a:cs typeface="楷体_GB2312" pitchFamily="49" charset="-122"/>
                  </a:rPr>
                  <a:t> </a:t>
                </a:r>
                <a:r>
                  <a:rPr lang="zh-CN" altLang="en-US" sz="2800" b="1" dirty="0">
                    <a:effectLst/>
                    <a:cs typeface="楷体_GB2312" pitchFamily="49" charset="-122"/>
                  </a:rPr>
                  <a:t>并枚举</a:t>
                </a:r>
                <a:r>
                  <a:rPr lang="en-US" altLang="zh-CN" sz="2800" b="1" dirty="0">
                    <a:effectLst/>
                    <a:cs typeface="楷体_GB2312" pitchFamily="49" charset="-122"/>
                  </a:rPr>
                  <a:t>V</a:t>
                </a:r>
                <a:r>
                  <a:rPr lang="zh-CN" altLang="en-US" sz="2800" b="1" dirty="0">
                    <a:effectLst/>
                    <a:cs typeface="楷体_GB2312" pitchFamily="49" charset="-122"/>
                  </a:rPr>
                  <a:t>和</a:t>
                </a:r>
                <a:r>
                  <a:rPr lang="en-US" altLang="zh-CN" sz="2800" b="1" dirty="0">
                    <a:effectLst/>
                    <a:cs typeface="楷体_GB2312" pitchFamily="49" charset="-122"/>
                  </a:rPr>
                  <a:t>E</a:t>
                </a:r>
                <a:r>
                  <a:rPr lang="zh-CN" altLang="en-US" sz="2800" b="1" dirty="0">
                    <a:effectLst/>
                    <a:cs typeface="楷体_GB2312" pitchFamily="49" charset="-122"/>
                  </a:rPr>
                  <a:t>中所有元素，则称之为</a:t>
                </a:r>
                <a:r>
                  <a:rPr lang="zh-CN" altLang="en-US" sz="2800" b="1" dirty="0">
                    <a:solidFill>
                      <a:srgbClr val="0000FF"/>
                    </a:solidFill>
                    <a:effectLst/>
                    <a:cs typeface="楷体_GB2312" pitchFamily="49" charset="-122"/>
                  </a:rPr>
                  <a:t>图的集合表示</a:t>
                </a:r>
                <a:r>
                  <a:rPr lang="zh-CN" altLang="en-US" sz="2800" b="1" dirty="0">
                    <a:effectLst/>
                    <a:cs typeface="楷体_GB2312" pitchFamily="49" charset="-122"/>
                  </a:rPr>
                  <a:t>。</a:t>
                </a:r>
              </a:p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zh-CN" altLang="en-US" sz="2800" b="1" dirty="0">
                    <a:effectLst/>
                    <a:cs typeface="楷体_GB2312" pitchFamily="49" charset="-122"/>
                  </a:rPr>
                  <a:t>     如果用小圆圈表示</a:t>
                </a:r>
                <a:r>
                  <a:rPr lang="en-US" altLang="zh-CN" sz="2800" b="1" dirty="0">
                    <a:effectLst/>
                    <a:cs typeface="楷体_GB2312" pitchFamily="49" charset="-122"/>
                  </a:rPr>
                  <a:t>V</a:t>
                </a:r>
                <a:r>
                  <a:rPr lang="zh-CN" altLang="en-US" sz="2800" b="1" dirty="0">
                    <a:effectLst/>
                    <a:cs typeface="楷体_GB2312" pitchFamily="49" charset="-122"/>
                  </a:rPr>
                  <a:t>中的结点，用由</a:t>
                </a:r>
                <a:r>
                  <a:rPr lang="en-US" altLang="zh-CN" sz="2800" b="1" dirty="0">
                    <a:effectLst/>
                    <a:cs typeface="楷体_GB2312" pitchFamily="49" charset="-122"/>
                  </a:rPr>
                  <a:t>u</a:t>
                </a:r>
                <a:r>
                  <a:rPr lang="zh-CN" altLang="en-US" sz="2800" b="1" dirty="0">
                    <a:effectLst/>
                    <a:cs typeface="楷体_GB2312" pitchFamily="49" charset="-122"/>
                  </a:rPr>
                  <a:t>指向</a:t>
                </a:r>
                <a:r>
                  <a:rPr lang="en-US" altLang="zh-CN" sz="2800" b="1" dirty="0">
                    <a:effectLst/>
                    <a:cs typeface="楷体_GB2312" pitchFamily="49" charset="-122"/>
                  </a:rPr>
                  <a:t>v</a:t>
                </a:r>
                <a:r>
                  <a:rPr lang="zh-CN" altLang="en-US" sz="2800" b="1" dirty="0">
                    <a:effectLst/>
                    <a:cs typeface="楷体_GB2312" pitchFamily="49" charset="-122"/>
                  </a:rPr>
                  <a:t>的有向线段或曲线表示有向边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sz="2800" b="1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b="1" dirty="0">
                            <a:effectLst/>
                            <a:cs typeface="楷体_GB2312" pitchFamily="49" charset="-122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altLang="zh-CN" sz="2800" b="1" i="0" dirty="0" smtClean="0">
                            <a:effectLst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sz="2800" b="1" dirty="0">
                            <a:effectLst/>
                            <a:cs typeface="楷体_GB2312" pitchFamily="49" charset="-122"/>
                          </a:rPr>
                          <m:t>v</m:t>
                        </m:r>
                      </m:e>
                    </m:d>
                  </m:oMath>
                </a14:m>
                <a:r>
                  <a:rPr lang="zh-CN" altLang="en-US" sz="2800" b="1" dirty="0">
                    <a:effectLst/>
                    <a:cs typeface="楷体_GB2312" pitchFamily="49" charset="-122"/>
                  </a:rPr>
                  <a:t>，无向线段或曲线表示无向边</a:t>
                </a:r>
                <a:r>
                  <a:rPr lang="en-US" altLang="zh-CN" sz="2800" b="1" dirty="0">
                    <a:effectLst/>
                    <a:cs typeface="楷体_GB2312" pitchFamily="49" charset="-122"/>
                  </a:rPr>
                  <a:t>(</a:t>
                </a:r>
                <a:r>
                  <a:rPr lang="en-US" altLang="zh-CN" sz="2800" b="1" dirty="0" err="1">
                    <a:effectLst/>
                    <a:cs typeface="楷体_GB2312" pitchFamily="49" charset="-122"/>
                  </a:rPr>
                  <a:t>u,v</a:t>
                </a:r>
                <a:r>
                  <a:rPr lang="en-US" altLang="zh-CN" sz="2800" b="1" dirty="0">
                    <a:effectLst/>
                    <a:cs typeface="楷体_GB2312" pitchFamily="49" charset="-122"/>
                  </a:rPr>
                  <a:t>)</a:t>
                </a:r>
                <a:r>
                  <a:rPr lang="zh-CN" altLang="en-US" sz="2800" b="1" dirty="0">
                    <a:effectLst/>
                    <a:cs typeface="楷体_GB2312" pitchFamily="49" charset="-122"/>
                  </a:rPr>
                  <a:t>，则称之为</a:t>
                </a:r>
                <a:r>
                  <a:rPr lang="zh-CN" altLang="en-US" sz="2800" b="1" dirty="0">
                    <a:solidFill>
                      <a:srgbClr val="0000FF"/>
                    </a:solidFill>
                    <a:effectLst/>
                    <a:cs typeface="楷体_GB2312" pitchFamily="49" charset="-122"/>
                  </a:rPr>
                  <a:t>图的图形表示</a:t>
                </a:r>
                <a:r>
                  <a:rPr lang="zh-CN" altLang="en-US" sz="2800" b="1" dirty="0">
                    <a:effectLst/>
                    <a:cs typeface="楷体_GB2312" pitchFamily="49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117862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2331624"/>
                <a:ext cx="8280275" cy="3527201"/>
              </a:xfrm>
              <a:blipFill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083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2AEA8F-E951-4975-90C6-9DA79C8076BD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46084" name="Text Box 2"/>
          <p:cNvSpPr txBox="1">
            <a:spLocks noChangeArrowheads="1"/>
          </p:cNvSpPr>
          <p:nvPr/>
        </p:nvSpPr>
        <p:spPr bwMode="auto">
          <a:xfrm>
            <a:off x="1547813" y="858838"/>
            <a:ext cx="597693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图的表示方法</a:t>
            </a:r>
          </a:p>
        </p:txBody>
      </p:sp>
      <p:pic>
        <p:nvPicPr>
          <p:cNvPr id="4608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4553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539552" y="2123628"/>
                <a:ext cx="8208962" cy="3801904"/>
              </a:xfrm>
              <a:solidFill>
                <a:schemeClr val="bg1"/>
              </a:solidFill>
            </p:spPr>
            <p:txBody>
              <a:bodyPr/>
              <a:lstStyle/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en-US" altLang="zh-CN" b="1" dirty="0">
                    <a:solidFill>
                      <a:schemeClr val="accent2"/>
                    </a:solidFill>
                    <a:effectLst/>
                    <a:cs typeface="楷体_GB2312" pitchFamily="49" charset="-122"/>
                  </a:rPr>
                  <a:t>【</a:t>
                </a:r>
                <a:r>
                  <a:rPr lang="zh-CN" altLang="en-US" b="1" dirty="0">
                    <a:solidFill>
                      <a:schemeClr val="accent2"/>
                    </a:solidFill>
                    <a:effectLst/>
                    <a:cs typeface="楷体_GB2312" pitchFamily="49" charset="-122"/>
                  </a:rPr>
                  <a:t>例</a:t>
                </a:r>
                <a:r>
                  <a:rPr lang="en-US" altLang="zh-CN" b="1" dirty="0">
                    <a:solidFill>
                      <a:schemeClr val="accent2"/>
                    </a:solidFill>
                    <a:effectLst/>
                    <a:cs typeface="楷体_GB2312" pitchFamily="49" charset="-122"/>
                  </a:rPr>
                  <a:t>】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设图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G=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cs typeface="楷体_GB2312" pitchFamily="49" charset="-122"/>
                          </a:rPr>
                          <m:t>V</m:t>
                        </m:r>
                        <m:r>
                          <a:rPr lang="en-US" altLang="zh-CN" b="1" i="1" dirty="0">
                            <a:latin typeface="Cambria Math" panose="02040503050406030204" pitchFamily="18" charset="0"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cs typeface="楷体_GB2312" pitchFamily="49" charset="-122"/>
                          </a:rPr>
                          <m:t>E</m:t>
                        </m:r>
                      </m:e>
                    </m:d>
                  </m:oMath>
                </a14:m>
                <a:r>
                  <a:rPr lang="zh-CN" altLang="en-US" b="1" dirty="0">
                    <a:effectLst/>
                    <a:cs typeface="楷体_GB2312" pitchFamily="49" charset="-122"/>
                  </a:rPr>
                  <a:t>，这里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:</a:t>
                </a:r>
                <a:endParaRPr lang="zh-CN" altLang="en-US" b="1" dirty="0">
                  <a:effectLst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en-US" altLang="zh-CN" b="1" dirty="0">
                    <a:effectLst/>
                    <a:cs typeface="楷体_GB2312" pitchFamily="49" charset="-122"/>
                  </a:rPr>
                  <a:t>               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V={v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1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2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3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4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5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}</a:t>
                </a:r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，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E={e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1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,e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2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,e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3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,e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4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,e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5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,e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6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}</a:t>
                </a:r>
                <a:endParaRPr lang="zh-CN" altLang="en-US" b="1" dirty="0"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其中：</a:t>
                </a:r>
                <a:endParaRPr lang="en-US" altLang="zh-CN" b="1" dirty="0"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       e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1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=(v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1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2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)</a:t>
                </a:r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，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e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2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楷体_GB2312" pitchFamily="49" charset="-122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b="1" i="0" dirty="0" smtClean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楷体_GB2312" pitchFamily="49" charset="-122"/>
                          </a:rPr>
                          <m:t>3</m:t>
                        </m:r>
                      </m:e>
                    </m:d>
                  </m:oMath>
                </a14:m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，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e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3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=(v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1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4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)</a:t>
                </a:r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，</a:t>
                </a:r>
                <a:endParaRPr lang="en-US" altLang="zh-CN" b="1" dirty="0"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       e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4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=(v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2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3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)</a:t>
                </a:r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，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e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5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 =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i="0" baseline="-25000" dirty="0" smtClean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楷体_GB2312" pitchFamily="49" charset="-122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楷体_GB2312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i="0" baseline="-25000" dirty="0" smtClean="0">
                            <a:solidFill>
                              <a:srgbClr val="0000FF"/>
                            </a:solidFill>
                            <a:effectLst/>
                            <a:latin typeface="黑体" panose="02010609060101010101" pitchFamily="49" charset="-122"/>
                            <a:ea typeface="黑体" panose="02010609060101010101" pitchFamily="49" charset="-122"/>
                            <a:cs typeface="楷体_GB2312" pitchFamily="49" charset="-122"/>
                          </a:rPr>
                          <m:t>2</m:t>
                        </m:r>
                      </m:e>
                    </m:d>
                  </m:oMath>
                </a14:m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，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e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6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=(v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3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,v</a:t>
                </a:r>
                <a:r>
                  <a:rPr lang="en-US" altLang="zh-CN" b="1" baseline="-250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3</a:t>
                </a:r>
                <a:r>
                  <a:rPr lang="en-US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)</a:t>
                </a:r>
                <a:r>
                  <a:rPr lang="zh-CN" altLang="en-US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。</a:t>
                </a:r>
              </a:p>
              <a:p>
                <a:pPr marL="0" indent="0" eaLnBrk="1" hangingPunct="1">
                  <a:lnSpc>
                    <a:spcPct val="150000"/>
                  </a:lnSpc>
                  <a:buFontTx/>
                  <a:buNone/>
                  <a:defRPr/>
                </a:pPr>
                <a:r>
                  <a:rPr lang="zh-CN" altLang="en-US" b="1" dirty="0">
                    <a:effectLst/>
                    <a:cs typeface="楷体_GB2312" pitchFamily="49" charset="-122"/>
                  </a:rPr>
                  <a:t>试画出图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G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的图形，并指出哪些是有向边，哪些是无向边？</a:t>
                </a:r>
              </a:p>
            </p:txBody>
          </p:sp>
        </mc:Choice>
        <mc:Fallback xmlns="">
          <p:sp>
            <p:nvSpPr>
              <p:cNvPr id="134553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2123628"/>
                <a:ext cx="8208962" cy="3801904"/>
              </a:xfrm>
              <a:blipFill>
                <a:blip r:embed="rId2"/>
                <a:stretch>
                  <a:fillRect l="-1189" b="-6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07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29DF0E-E413-467D-827A-3B43D685E7EB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47108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59769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图的图形表示</a:t>
            </a:r>
          </a:p>
        </p:txBody>
      </p:sp>
      <p:pic>
        <p:nvPicPr>
          <p:cNvPr id="4710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651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2132856"/>
            <a:ext cx="8064251" cy="3528392"/>
          </a:xfrm>
          <a:solidFill>
            <a:schemeClr val="bg1"/>
          </a:solidFill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zh-CN" sz="2800" b="1" dirty="0">
                <a:solidFill>
                  <a:srgbClr val="008000"/>
                </a:solidFill>
                <a:effectLst/>
                <a:cs typeface="楷体_GB2312" pitchFamily="49" charset="-122"/>
              </a:rPr>
              <a:t>     </a:t>
            </a:r>
            <a:r>
              <a:rPr lang="en-US" altLang="zh-CN" b="1" dirty="0">
                <a:solidFill>
                  <a:srgbClr val="008000"/>
                </a:solidFill>
                <a:effectLst/>
                <a:cs typeface="楷体_GB2312" pitchFamily="49" charset="-122"/>
              </a:rPr>
              <a:t>【</a:t>
            </a:r>
            <a:r>
              <a:rPr lang="zh-CN" altLang="en-US" b="1" dirty="0">
                <a:solidFill>
                  <a:srgbClr val="008000"/>
                </a:solidFill>
                <a:effectLst/>
                <a:cs typeface="楷体_GB2312" pitchFamily="49" charset="-122"/>
              </a:rPr>
              <a:t>分析</a:t>
            </a:r>
            <a:r>
              <a:rPr lang="en-US" altLang="zh-CN" b="1" dirty="0">
                <a:solidFill>
                  <a:srgbClr val="008000"/>
                </a:solidFill>
                <a:effectLst/>
                <a:cs typeface="楷体_GB2312" pitchFamily="49" charset="-122"/>
              </a:rPr>
              <a:t>】</a:t>
            </a:r>
            <a:r>
              <a:rPr lang="zh-CN" altLang="en-US" b="1" dirty="0">
                <a:effectLst/>
                <a:cs typeface="楷体_GB2312" pitchFamily="49" charset="-122"/>
              </a:rPr>
              <a:t>由于</a:t>
            </a:r>
            <a:r>
              <a:rPr lang="en-US" altLang="zh-CN" b="1" dirty="0">
                <a:effectLst/>
                <a:cs typeface="楷体_GB2312" pitchFamily="49" charset="-122"/>
              </a:rPr>
              <a:t>V</a:t>
            </a:r>
            <a:r>
              <a:rPr lang="zh-CN" altLang="en-US" b="1" dirty="0">
                <a:effectLst/>
                <a:cs typeface="楷体_GB2312" pitchFamily="49" charset="-122"/>
              </a:rPr>
              <a:t>中有</a:t>
            </a:r>
            <a:r>
              <a:rPr lang="en-US" altLang="zh-CN" b="1" dirty="0">
                <a:effectLst/>
                <a:cs typeface="楷体_GB2312" pitchFamily="49" charset="-122"/>
              </a:rPr>
              <a:t>5</a:t>
            </a:r>
            <a:r>
              <a:rPr lang="zh-CN" altLang="en-US" b="1" dirty="0">
                <a:effectLst/>
                <a:cs typeface="楷体_GB2312" pitchFamily="49" charset="-122"/>
              </a:rPr>
              <a:t>个结点，要用</a:t>
            </a:r>
            <a:r>
              <a:rPr lang="en-US" altLang="zh-CN" b="1" dirty="0">
                <a:effectLst/>
                <a:cs typeface="楷体_GB2312" pitchFamily="49" charset="-122"/>
              </a:rPr>
              <a:t>5</a:t>
            </a:r>
            <a:r>
              <a:rPr lang="zh-CN" altLang="en-US" b="1" dirty="0">
                <a:effectLst/>
                <a:cs typeface="楷体_GB2312" pitchFamily="49" charset="-122"/>
              </a:rPr>
              <a:t>个</a:t>
            </a:r>
            <a:r>
              <a:rPr lang="zh-CN" altLang="en-US" b="1" dirty="0">
                <a:solidFill>
                  <a:schemeClr val="accent2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小圆圈</a:t>
            </a:r>
            <a:r>
              <a:rPr lang="zh-CN" altLang="en-US" b="1" dirty="0">
                <a:effectLst/>
                <a:cs typeface="楷体_GB2312" pitchFamily="49" charset="-122"/>
              </a:rPr>
              <a:t>分别表示这</a:t>
            </a:r>
            <a:r>
              <a:rPr lang="en-US" altLang="zh-CN" b="1" dirty="0">
                <a:effectLst/>
                <a:cs typeface="楷体_GB2312" pitchFamily="49" charset="-122"/>
              </a:rPr>
              <a:t>5</a:t>
            </a:r>
            <a:r>
              <a:rPr lang="zh-CN" altLang="en-US" b="1" dirty="0">
                <a:effectLst/>
                <a:cs typeface="楷体_GB2312" pitchFamily="49" charset="-122"/>
              </a:rPr>
              <a:t>个结点，点的具体摆放位置可随意放。</a:t>
            </a:r>
            <a:endParaRPr lang="en-US" altLang="zh-CN" b="1" dirty="0">
              <a:effectLst/>
              <a:cs typeface="楷体_GB2312" pitchFamily="49" charset="-122"/>
            </a:endParaRPr>
          </a:p>
          <a:p>
            <a:pPr marL="0" indent="0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b="1" dirty="0">
                <a:effectLst/>
                <a:cs typeface="楷体_GB2312" pitchFamily="49" charset="-122"/>
              </a:rPr>
              <a:t>       对</a:t>
            </a:r>
            <a:r>
              <a:rPr lang="en-US" altLang="zh-CN" b="1" dirty="0">
                <a:effectLst/>
                <a:cs typeface="楷体_GB2312" pitchFamily="49" charset="-122"/>
              </a:rPr>
              <a:t>E</a:t>
            </a:r>
            <a:r>
              <a:rPr lang="zh-CN" altLang="en-US" b="1" dirty="0">
                <a:effectLst/>
                <a:cs typeface="楷体_GB2312" pitchFamily="49" charset="-122"/>
              </a:rPr>
              <a:t>中</a:t>
            </a:r>
            <a:r>
              <a:rPr lang="en-US" altLang="zh-CN" b="1" dirty="0">
                <a:effectLst/>
                <a:cs typeface="楷体_GB2312" pitchFamily="49" charset="-122"/>
              </a:rPr>
              <a:t>6</a:t>
            </a:r>
            <a:r>
              <a:rPr lang="zh-CN" altLang="en-US" b="1" dirty="0">
                <a:effectLst/>
                <a:cs typeface="楷体_GB2312" pitchFamily="49" charset="-122"/>
              </a:rPr>
              <a:t>条边，</a:t>
            </a:r>
            <a:r>
              <a:rPr lang="zh-CN" altLang="en-US" b="1" dirty="0">
                <a:solidFill>
                  <a:srgbClr val="0000FF"/>
                </a:solidFill>
                <a:effectLst/>
                <a:cs typeface="楷体_GB2312" pitchFamily="49" charset="-122"/>
              </a:rPr>
              <a:t>圆括号括的结点对为</a:t>
            </a:r>
            <a:r>
              <a:rPr lang="zh-CN" altLang="en-US" b="1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无向边</a:t>
            </a:r>
            <a:r>
              <a:rPr lang="zh-CN" altLang="en-US" b="1" dirty="0">
                <a:effectLst/>
                <a:cs typeface="楷体_GB2312" pitchFamily="49" charset="-122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effectLst/>
                <a:cs typeface="楷体_GB2312" pitchFamily="49" charset="-122"/>
              </a:rPr>
              <a:t>直接用直线或曲线连接两个端点</a:t>
            </a:r>
            <a:r>
              <a:rPr lang="zh-CN" altLang="en-US" b="1" dirty="0">
                <a:effectLst/>
                <a:cs typeface="楷体_GB2312" pitchFamily="49" charset="-122"/>
              </a:rPr>
              <a:t>，</a:t>
            </a:r>
            <a:r>
              <a:rPr lang="zh-CN" altLang="en-US" b="1" dirty="0">
                <a:solidFill>
                  <a:srgbClr val="0000FF"/>
                </a:solidFill>
                <a:effectLst/>
                <a:cs typeface="楷体_GB2312" pitchFamily="49" charset="-122"/>
              </a:rPr>
              <a:t>尖括号括的结点对为</a:t>
            </a:r>
            <a:r>
              <a:rPr lang="zh-CN" altLang="en-US" b="1" dirty="0">
                <a:solidFill>
                  <a:srgbClr val="FF0000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有向边</a:t>
            </a:r>
            <a:r>
              <a:rPr lang="zh-CN" altLang="en-US" b="1" dirty="0">
                <a:effectLst/>
                <a:cs typeface="楷体_GB2312" pitchFamily="49" charset="-122"/>
              </a:rPr>
              <a:t>，</a:t>
            </a:r>
            <a:r>
              <a:rPr lang="zh-CN" altLang="en-US" b="1" dirty="0">
                <a:solidFill>
                  <a:srgbClr val="800080"/>
                </a:solidFill>
                <a:effectLst/>
                <a:cs typeface="楷体_GB2312" pitchFamily="49" charset="-122"/>
              </a:rPr>
              <a:t>前一个是始点，后一个始终点</a:t>
            </a:r>
            <a:r>
              <a:rPr lang="zh-CN" altLang="en-US" b="1" dirty="0">
                <a:effectLst/>
                <a:cs typeface="楷体_GB2312" pitchFamily="49" charset="-122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effectLst/>
                <a:cs typeface="楷体_GB2312" pitchFamily="49" charset="-122"/>
              </a:rPr>
              <a:t>用从始点指向终点的又向直线或曲线连接</a:t>
            </a:r>
            <a:r>
              <a:rPr lang="zh-CN" altLang="en-US" b="1" dirty="0">
                <a:effectLst/>
                <a:cs typeface="楷体_GB2312" pitchFamily="49" charset="-122"/>
              </a:rPr>
              <a:t>。</a:t>
            </a:r>
          </a:p>
        </p:txBody>
      </p:sp>
      <p:sp>
        <p:nvSpPr>
          <p:cNvPr id="48131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7211397-9AC7-449F-8C2A-8E076E9DA9A6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48132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59769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图的图形表示</a:t>
            </a:r>
          </a:p>
        </p:txBody>
      </p:sp>
      <p:pic>
        <p:nvPicPr>
          <p:cNvPr id="48133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675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773238"/>
            <a:ext cx="8064500" cy="604837"/>
          </a:xfrm>
        </p:spPr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/>
                <a:cs typeface="楷体_GB2312" pitchFamily="49" charset="-122"/>
              </a:rPr>
              <a:t>【</a:t>
            </a:r>
            <a:r>
              <a:rPr lang="zh-CN" altLang="en-US" b="1" dirty="0">
                <a:solidFill>
                  <a:srgbClr val="FF0000"/>
                </a:solidFill>
                <a:effectLst/>
                <a:cs typeface="楷体_GB2312" pitchFamily="49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ffectLst/>
                <a:cs typeface="楷体_GB2312" pitchFamily="49" charset="-122"/>
              </a:rPr>
              <a:t>】</a:t>
            </a:r>
            <a:r>
              <a:rPr lang="en-US" altLang="zh-CN" b="1" dirty="0">
                <a:effectLst/>
                <a:cs typeface="楷体_GB2312" pitchFamily="49" charset="-122"/>
              </a:rPr>
              <a:t>G</a:t>
            </a:r>
            <a:r>
              <a:rPr lang="zh-CN" altLang="en-US" b="1" dirty="0">
                <a:effectLst/>
                <a:cs typeface="楷体_GB2312" pitchFamily="49" charset="-122"/>
              </a:rPr>
              <a:t>的图形如下图所示。</a:t>
            </a:r>
          </a:p>
        </p:txBody>
      </p:sp>
      <p:sp>
        <p:nvSpPr>
          <p:cNvPr id="49155" name="日期占位符 3"/>
          <p:cNvSpPr>
            <a:spLocks noGrp="1"/>
          </p:cNvSpPr>
          <p:nvPr>
            <p:ph type="dt" sz="quarter" idx="10"/>
          </p:nvPr>
        </p:nvSpPr>
        <p:spPr>
          <a:xfrm>
            <a:off x="684213" y="6400800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080807-3721-41DE-9C5E-B0721495B7C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180676" name="Rectangle 4"/>
          <p:cNvSpPr>
            <a:spLocks noChangeArrowheads="1"/>
          </p:cNvSpPr>
          <p:nvPr/>
        </p:nvSpPr>
        <p:spPr bwMode="auto">
          <a:xfrm>
            <a:off x="1043608" y="5557628"/>
            <a:ext cx="6840538" cy="47666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  <a:defRPr/>
            </a:pP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G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中的</a:t>
            </a: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e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、</a:t>
            </a: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e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+mn-ea"/>
                <a:ea typeface="+mn-ea"/>
              </a:rPr>
              <a:t>3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、</a:t>
            </a: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e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+mn-ea"/>
                <a:ea typeface="+mn-ea"/>
              </a:rPr>
              <a:t>4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、</a:t>
            </a: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e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+mn-ea"/>
                <a:ea typeface="+mn-ea"/>
              </a:rPr>
              <a:t>6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是无向边，</a:t>
            </a: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e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+mn-ea"/>
                <a:ea typeface="+mn-ea"/>
              </a:rPr>
              <a:t>2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、</a:t>
            </a: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e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+mn-ea"/>
                <a:ea typeface="+mn-ea"/>
              </a:rPr>
              <a:t>5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是有向边。 </a:t>
            </a:r>
          </a:p>
        </p:txBody>
      </p:sp>
      <p:sp>
        <p:nvSpPr>
          <p:cNvPr id="49157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59769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图的图形表示</a:t>
            </a:r>
          </a:p>
        </p:txBody>
      </p:sp>
      <p:pic>
        <p:nvPicPr>
          <p:cNvPr id="49158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9" name="Picture 34" descr="QQ截图201509191240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2287588"/>
            <a:ext cx="4848225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8169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67544" y="1755493"/>
                <a:ext cx="8424863" cy="391368"/>
              </a:xfrm>
              <a:solidFill>
                <a:schemeClr val="bg1"/>
              </a:solidFill>
            </p:spPr>
            <p:txBody>
              <a:bodyPr/>
              <a:lstStyle/>
              <a:p>
                <a:pPr marL="0" indent="0" eaLnBrk="1" hangingPunct="1">
                  <a:buFontTx/>
                  <a:buNone/>
                  <a:defRPr/>
                </a:pPr>
                <a:r>
                  <a:rPr lang="en-US" altLang="zh-CN" b="1" dirty="0">
                    <a:solidFill>
                      <a:srgbClr val="FF0000"/>
                    </a:solidFill>
                    <a:effectLst/>
                    <a:cs typeface="楷体_GB2312" pitchFamily="49" charset="-122"/>
                  </a:rPr>
                  <a:t>【</a:t>
                </a:r>
                <a:r>
                  <a:rPr lang="zh-CN" altLang="en-US" b="1" dirty="0">
                    <a:solidFill>
                      <a:srgbClr val="FF0000"/>
                    </a:solidFill>
                    <a:effectLst/>
                    <a:cs typeface="楷体_GB2312" pitchFamily="49" charset="-122"/>
                  </a:rPr>
                  <a:t>例</a:t>
                </a:r>
                <a:r>
                  <a:rPr lang="en-US" altLang="zh-CN" b="1" dirty="0">
                    <a:solidFill>
                      <a:srgbClr val="FF0000"/>
                    </a:solidFill>
                    <a:effectLst/>
                    <a:cs typeface="楷体_GB2312" pitchFamily="49" charset="-122"/>
                  </a:rPr>
                  <a:t>】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设图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G=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effectLst/>
                            <a:cs typeface="楷体_GB2312" pitchFamily="49" charset="-122"/>
                          </a:rPr>
                          <m:t>V</m:t>
                        </m:r>
                        <m:r>
                          <a:rPr lang="en-US" altLang="zh-CN" b="1" i="1" dirty="0">
                            <a:effectLst/>
                            <a:latin typeface="Cambria Math" panose="02040503050406030204" pitchFamily="18" charset="0"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effectLst/>
                            <a:cs typeface="楷体_GB2312" pitchFamily="49" charset="-122"/>
                          </a:rPr>
                          <m:t>E</m:t>
                        </m:r>
                      </m:e>
                    </m:d>
                  </m:oMath>
                </a14:m>
                <a:r>
                  <a:rPr lang="zh-CN" altLang="en-US" b="1" dirty="0">
                    <a:effectLst/>
                    <a:cs typeface="楷体_GB2312" pitchFamily="49" charset="-122"/>
                  </a:rPr>
                  <a:t>的图形如下，试写出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G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的集合表示。 </a:t>
                </a:r>
              </a:p>
            </p:txBody>
          </p:sp>
        </mc:Choice>
        <mc:Fallback xmlns="">
          <p:sp>
            <p:nvSpPr>
              <p:cNvPr id="118169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1755493"/>
                <a:ext cx="8424863" cy="391368"/>
              </a:xfrm>
              <a:blipFill>
                <a:blip r:embed="rId2"/>
                <a:stretch>
                  <a:fillRect l="-1158" t="-12500" b="-5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179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80BFDE-B8A3-4535-8BC2-5C36D5AF0E5D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81745" name="Rectangle 49"/>
              <p:cNvSpPr>
                <a:spLocks noChangeArrowheads="1"/>
              </p:cNvSpPr>
              <p:nvPr/>
            </p:nvSpPr>
            <p:spPr bwMode="auto">
              <a:xfrm>
                <a:off x="941730" y="4365104"/>
                <a:ext cx="7920880" cy="17912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3"/>
                  </a:buBlip>
                  <a:defRPr kumimoji="1" sz="240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  <a:cs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"/>
                  </a:buBlip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9pPr>
              </a:lstStyle>
              <a:p>
                <a:pPr algn="just" eaLnBrk="1" hangingPunct="1">
                  <a:buClr>
                    <a:srgbClr val="FF3300"/>
                  </a:buClr>
                  <a:buFont typeface="Wingdings" pitchFamily="2" charset="2"/>
                  <a:buNone/>
                  <a:defRPr/>
                </a:pPr>
                <a:r>
                  <a:rPr kumimoji="0" lang="zh-CN" altLang="en-US" b="1" dirty="0">
                    <a:solidFill>
                      <a:srgbClr val="FF0000"/>
                    </a:solidFill>
                    <a:effectLst/>
                    <a:latin typeface="+mj-lt"/>
                    <a:ea typeface="+mn-ea"/>
                  </a:rPr>
                  <a:t>  解：</a:t>
                </a:r>
                <a:r>
                  <a:rPr kumimoji="0" lang="zh-CN" altLang="en-US" b="1" dirty="0">
                    <a:solidFill>
                      <a:srgbClr val="000000"/>
                    </a:solidFill>
                    <a:effectLst/>
                    <a:latin typeface="+mj-lt"/>
                    <a:ea typeface="+mn-ea"/>
                  </a:rPr>
                  <a:t>图</a:t>
                </a:r>
                <a:r>
                  <a:rPr kumimoji="0" lang="en-US" altLang="zh-CN" b="1" dirty="0">
                    <a:solidFill>
                      <a:srgbClr val="000000"/>
                    </a:solidFill>
                    <a:effectLst/>
                    <a:latin typeface="+mj-lt"/>
                    <a:ea typeface="+mn-ea"/>
                  </a:rPr>
                  <a:t>G</a:t>
                </a:r>
                <a:r>
                  <a:rPr kumimoji="0" lang="zh-CN" altLang="en-US" b="1" dirty="0">
                    <a:solidFill>
                      <a:srgbClr val="000000"/>
                    </a:solidFill>
                    <a:effectLst/>
                    <a:latin typeface="+mj-lt"/>
                    <a:ea typeface="+mn-ea"/>
                  </a:rPr>
                  <a:t>的集合表示为</a:t>
                </a:r>
                <a:r>
                  <a:rPr kumimoji="0" lang="en-US" altLang="zh-CN" b="1" dirty="0">
                    <a:solidFill>
                      <a:srgbClr val="000000"/>
                    </a:solidFill>
                    <a:effectLst/>
                    <a:latin typeface="+mj-lt"/>
                    <a:ea typeface="+mn-ea"/>
                  </a:rPr>
                  <a:t>G=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effectLst/>
                          </a:rPr>
                          <m:t>V</m:t>
                        </m:r>
                        <m:r>
                          <a:rPr lang="en-US" altLang="zh-CN" b="1" i="1" dirty="0"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effectLst/>
                          </a:rPr>
                          <m:t>E</m:t>
                        </m:r>
                      </m:e>
                    </m:d>
                  </m:oMath>
                </a14:m>
                <a:r>
                  <a:rPr kumimoji="0" lang="zh-CN" altLang="en-US" b="1" dirty="0">
                    <a:solidFill>
                      <a:srgbClr val="000000"/>
                    </a:solidFill>
                    <a:effectLst/>
                    <a:latin typeface="+mj-lt"/>
                    <a:ea typeface="+mn-ea"/>
                  </a:rPr>
                  <a:t>，其中：</a:t>
                </a:r>
                <a:endParaRPr kumimoji="0" lang="en-US" altLang="zh-CN" b="1" dirty="0">
                  <a:solidFill>
                    <a:srgbClr val="000000"/>
                  </a:solidFill>
                  <a:effectLst/>
                  <a:latin typeface="+mj-lt"/>
                  <a:ea typeface="+mn-ea"/>
                </a:endParaRPr>
              </a:p>
              <a:p>
                <a:pPr algn="just" eaLnBrk="1" hangingPunct="1">
                  <a:buClr>
                    <a:srgbClr val="FF3300"/>
                  </a:buClr>
                  <a:buFont typeface="Wingdings" pitchFamily="2" charset="2"/>
                  <a:buNone/>
                  <a:defRPr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b="1" i="0" dirty="0" smtClean="0"/>
                      <m:t>             </m:t>
                    </m:r>
                    <m:r>
                      <m:rPr>
                        <m:nor/>
                      </m:rPr>
                      <a:rPr lang="en-US" altLang="zh-CN" b="1" dirty="0" smtClean="0">
                        <a:solidFill>
                          <a:srgbClr val="CC00FF"/>
                        </a:solidFill>
                      </a:rPr>
                      <m:t>V</m:t>
                    </m:r>
                  </m:oMath>
                </a14:m>
                <a:r>
                  <a:rPr kumimoji="0" lang="en-US" altLang="zh-CN" b="1" dirty="0">
                    <a:solidFill>
                      <a:srgbClr val="CC00FF"/>
                    </a:solidFill>
                    <a:effectLst/>
                    <a:latin typeface="+mj-lt"/>
                    <a:ea typeface="+mn-ea"/>
                  </a:rPr>
                  <a:t>={v</a:t>
                </a:r>
                <a:r>
                  <a:rPr kumimoji="0" lang="en-US" altLang="zh-CN" b="1" baseline="-25000" dirty="0">
                    <a:solidFill>
                      <a:srgbClr val="CC00FF"/>
                    </a:solidFill>
                    <a:effectLst/>
                    <a:latin typeface="+mj-lt"/>
                    <a:ea typeface="+mn-ea"/>
                  </a:rPr>
                  <a:t>1</a:t>
                </a:r>
                <a:r>
                  <a:rPr kumimoji="0" lang="en-US" altLang="zh-CN" b="1" dirty="0">
                    <a:solidFill>
                      <a:srgbClr val="CC00FF"/>
                    </a:solidFill>
                    <a:effectLst/>
                    <a:latin typeface="+mj-lt"/>
                    <a:ea typeface="+mn-ea"/>
                  </a:rPr>
                  <a:t>, v</a:t>
                </a:r>
                <a:r>
                  <a:rPr kumimoji="0" lang="en-US" altLang="zh-CN" b="1" baseline="-25000" dirty="0">
                    <a:solidFill>
                      <a:srgbClr val="CC00FF"/>
                    </a:solidFill>
                    <a:latin typeface="+mj-lt"/>
                    <a:ea typeface="+mn-ea"/>
                  </a:rPr>
                  <a:t>2</a:t>
                </a:r>
                <a:r>
                  <a:rPr kumimoji="0" lang="en-US" altLang="zh-CN" b="1" dirty="0">
                    <a:solidFill>
                      <a:srgbClr val="CC00FF"/>
                    </a:solidFill>
                    <a:effectLst/>
                    <a:latin typeface="+mj-lt"/>
                    <a:ea typeface="+mn-ea"/>
                  </a:rPr>
                  <a:t>, v</a:t>
                </a:r>
                <a:r>
                  <a:rPr kumimoji="0" lang="en-US" altLang="zh-CN" b="1" baseline="-25000" dirty="0">
                    <a:solidFill>
                      <a:srgbClr val="CC00FF"/>
                    </a:solidFill>
                    <a:latin typeface="+mj-lt"/>
                    <a:ea typeface="+mn-ea"/>
                  </a:rPr>
                  <a:t>3</a:t>
                </a:r>
                <a:r>
                  <a:rPr kumimoji="0" lang="en-US" altLang="zh-CN" b="1" dirty="0">
                    <a:solidFill>
                      <a:srgbClr val="CC00FF"/>
                    </a:solidFill>
                    <a:effectLst/>
                    <a:latin typeface="+mj-lt"/>
                    <a:ea typeface="+mn-ea"/>
                  </a:rPr>
                  <a:t>, v</a:t>
                </a:r>
                <a:r>
                  <a:rPr kumimoji="0" lang="en-US" altLang="zh-CN" b="1" baseline="-25000" dirty="0">
                    <a:solidFill>
                      <a:srgbClr val="CC00FF"/>
                    </a:solidFill>
                    <a:latin typeface="+mj-lt"/>
                    <a:ea typeface="+mn-ea"/>
                  </a:rPr>
                  <a:t>4</a:t>
                </a:r>
                <a:r>
                  <a:rPr kumimoji="0" lang="en-US" altLang="zh-CN" b="1" dirty="0">
                    <a:solidFill>
                      <a:srgbClr val="CC00FF"/>
                    </a:solidFill>
                    <a:effectLst/>
                    <a:latin typeface="+mj-lt"/>
                    <a:ea typeface="+mn-ea"/>
                  </a:rPr>
                  <a:t>}</a:t>
                </a:r>
              </a:p>
              <a:p>
                <a:pPr algn="just" eaLnBrk="1" hangingPunct="1">
                  <a:buClr>
                    <a:srgbClr val="FF3300"/>
                  </a:buClr>
                  <a:buFont typeface="Wingdings" pitchFamily="2" charset="2"/>
                  <a:buNone/>
                  <a:defRPr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b="1" i="0" dirty="0" smtClean="0">
                        <a:solidFill>
                          <a:srgbClr val="CC00FF"/>
                        </a:solidFill>
                      </a:rPr>
                      <m:t>             </m:t>
                    </m:r>
                    <m:r>
                      <m:rPr>
                        <m:nor/>
                      </m:rPr>
                      <a:rPr lang="en-US" altLang="zh-CN" b="1" dirty="0" smtClean="0">
                        <a:solidFill>
                          <a:srgbClr val="CC00FF"/>
                        </a:solidFill>
                      </a:rPr>
                      <m:t>E</m:t>
                    </m:r>
                  </m:oMath>
                </a14:m>
                <a:r>
                  <a:rPr kumimoji="0" lang="en-US" altLang="zh-CN" b="1" dirty="0">
                    <a:solidFill>
                      <a:srgbClr val="CC00FF"/>
                    </a:solidFill>
                    <a:effectLst/>
                    <a:latin typeface="+mj-lt"/>
                    <a:ea typeface="+mn-ea"/>
                  </a:rPr>
                  <a:t>={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2</m:t>
                        </m:r>
                      </m:e>
                    </m:d>
                  </m:oMath>
                </a14:m>
                <a:r>
                  <a:rPr kumimoji="0" lang="en-US" altLang="zh-CN" b="1" dirty="0">
                    <a:solidFill>
                      <a:srgbClr val="CC00FF"/>
                    </a:solidFill>
                    <a:latin typeface="+mj-lt"/>
                    <a:ea typeface="+mn-ea"/>
                  </a:rPr>
                  <a:t>,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4</m:t>
                        </m:r>
                      </m:e>
                    </m:d>
                  </m:oMath>
                </a14:m>
                <a:r>
                  <a:rPr kumimoji="0" lang="en-US" altLang="zh-CN" b="1" dirty="0">
                    <a:solidFill>
                      <a:srgbClr val="CC00FF"/>
                    </a:solidFill>
                    <a:latin typeface="+mj-lt"/>
                    <a:ea typeface="+mn-ea"/>
                  </a:rPr>
                  <a:t>,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1</m:t>
                        </m:r>
                      </m:e>
                    </m:d>
                  </m:oMath>
                </a14:m>
                <a:r>
                  <a:rPr kumimoji="0" lang="en-US" altLang="zh-CN" b="1" dirty="0">
                    <a:solidFill>
                      <a:srgbClr val="CC00FF"/>
                    </a:solidFill>
                    <a:latin typeface="+mj-lt"/>
                    <a:ea typeface="+mn-ea"/>
                  </a:rPr>
                  <a:t>,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3</m:t>
                        </m:r>
                      </m:e>
                    </m:d>
                  </m:oMath>
                </a14:m>
                <a:r>
                  <a:rPr kumimoji="0" lang="en-US" altLang="zh-CN" b="1" dirty="0">
                    <a:solidFill>
                      <a:srgbClr val="CC00FF"/>
                    </a:solidFill>
                    <a:latin typeface="+mj-lt"/>
                    <a:ea typeface="+mn-ea"/>
                  </a:rPr>
                  <a:t>,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4</m:t>
                        </m:r>
                      </m:e>
                    </m:d>
                  </m:oMath>
                </a14:m>
                <a:r>
                  <a:rPr kumimoji="0" lang="en-US" altLang="zh-CN" b="1" dirty="0">
                    <a:solidFill>
                      <a:srgbClr val="CC00FF"/>
                    </a:solidFill>
                    <a:latin typeface="+mj-lt"/>
                    <a:ea typeface="+mn-ea"/>
                  </a:rPr>
                  <a:t>,</a:t>
                </a:r>
              </a:p>
              <a:p>
                <a:pPr algn="just" eaLnBrk="1" hangingPunct="1">
                  <a:buClr>
                    <a:srgbClr val="FF3300"/>
                  </a:buClr>
                  <a:buFont typeface="Wingdings" pitchFamily="2" charset="2"/>
                  <a:buNone/>
                  <a:defRPr/>
                </a:pPr>
                <a:r>
                  <a:rPr kumimoji="0" lang="en-US" altLang="zh-CN" b="1" dirty="0">
                    <a:solidFill>
                      <a:srgbClr val="CC00FF"/>
                    </a:solidFill>
                    <a:latin typeface="+mj-lt"/>
                    <a:ea typeface="+mn-ea"/>
                  </a:rPr>
                  <a:t>                              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1</m:t>
                        </m:r>
                      </m:e>
                    </m:d>
                  </m:oMath>
                </a14:m>
                <a:r>
                  <a:rPr kumimoji="0" lang="en-US" altLang="zh-CN" b="1" dirty="0">
                    <a:solidFill>
                      <a:srgbClr val="CC00FF"/>
                    </a:solidFill>
                    <a:latin typeface="+mj-lt"/>
                    <a:ea typeface="+mn-ea"/>
                  </a:rPr>
                  <a:t>,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1</m:t>
                        </m:r>
                      </m:e>
                    </m:d>
                  </m:oMath>
                </a14:m>
                <a:r>
                  <a:rPr kumimoji="0" lang="zh-CN" altLang="en-US" b="1" dirty="0">
                    <a:solidFill>
                      <a:srgbClr val="CC00FF"/>
                    </a:solidFill>
                    <a:latin typeface="+mj-lt"/>
                    <a:ea typeface="+mn-ea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solidFill>
                              <a:srgbClr val="CC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b="1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altLang="zh-CN" b="1" baseline="-25000" dirty="0">
                            <a:solidFill>
                              <a:srgbClr val="CC00FF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m:t>3</m:t>
                        </m:r>
                      </m:e>
                    </m:d>
                  </m:oMath>
                </a14:m>
                <a:r>
                  <a:rPr kumimoji="0" lang="en-US" altLang="zh-CN" b="1" dirty="0">
                    <a:solidFill>
                      <a:srgbClr val="CC00FF"/>
                    </a:solidFill>
                    <a:effectLst/>
                    <a:latin typeface="+mj-lt"/>
                    <a:ea typeface="+mn-ea"/>
                  </a:rPr>
                  <a:t>}</a:t>
                </a:r>
                <a:r>
                  <a:rPr kumimoji="0" lang="zh-CN" altLang="en-US" b="1" dirty="0">
                    <a:solidFill>
                      <a:srgbClr val="CC00FF"/>
                    </a:solidFill>
                    <a:effectLst/>
                    <a:latin typeface="+mj-lt"/>
                    <a:ea typeface="+mn-ea"/>
                  </a:rPr>
                  <a:t> </a:t>
                </a:r>
              </a:p>
            </p:txBody>
          </p:sp>
        </mc:Choice>
        <mc:Fallback xmlns="">
          <p:sp>
            <p:nvSpPr>
              <p:cNvPr id="1181745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1730" y="4365104"/>
                <a:ext cx="7920880" cy="1791260"/>
              </a:xfrm>
              <a:prstGeom prst="rect">
                <a:avLst/>
              </a:prstGeom>
              <a:blipFill>
                <a:blip r:embed="rId4"/>
                <a:stretch>
                  <a:fillRect t="-2721" b="-680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181" name="Text Box 2"/>
          <p:cNvSpPr txBox="1">
            <a:spLocks noChangeArrowheads="1"/>
          </p:cNvSpPr>
          <p:nvPr/>
        </p:nvSpPr>
        <p:spPr bwMode="auto">
          <a:xfrm>
            <a:off x="1403648" y="615226"/>
            <a:ext cx="59769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图的集合表示</a:t>
            </a:r>
          </a:p>
        </p:txBody>
      </p:sp>
      <p:pic>
        <p:nvPicPr>
          <p:cNvPr id="5018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9872" y="2276872"/>
            <a:ext cx="2121032" cy="1916917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723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1916832"/>
            <a:ext cx="7775649" cy="4103687"/>
          </a:xfrm>
          <a:solidFill>
            <a:schemeClr val="bg1"/>
          </a:solidFill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effectLst/>
                <a:cs typeface="楷体_GB2312" pitchFamily="49" charset="-122"/>
              </a:rPr>
              <a:t>两种表示方法的优缺点：</a:t>
            </a:r>
            <a:endParaRPr lang="en-US" altLang="zh-CN" sz="2800" b="1" dirty="0">
              <a:solidFill>
                <a:srgbClr val="FF0000"/>
              </a:solidFill>
              <a:effectLst/>
              <a:cs typeface="楷体_GB2312" pitchFamily="49" charset="-122"/>
            </a:endParaRPr>
          </a:p>
          <a:p>
            <a:pPr marL="0" indent="0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800" b="1" dirty="0">
                <a:effectLst/>
                <a:cs typeface="楷体_GB2312" pitchFamily="49" charset="-122"/>
              </a:rPr>
              <a:t>   （</a:t>
            </a:r>
            <a:r>
              <a:rPr lang="en-US" altLang="zh-CN" sz="2800" b="1" dirty="0">
                <a:effectLst/>
                <a:cs typeface="楷体_GB2312" pitchFamily="49" charset="-122"/>
              </a:rPr>
              <a:t>1</a:t>
            </a:r>
            <a:r>
              <a:rPr lang="zh-CN" altLang="en-US" sz="2800" b="1" dirty="0">
                <a:effectLst/>
                <a:cs typeface="楷体_GB2312" pitchFamily="49" charset="-122"/>
              </a:rPr>
              <a:t>） 用</a:t>
            </a:r>
            <a:r>
              <a:rPr lang="zh-CN" altLang="en-US" sz="2800" b="1" dirty="0">
                <a:solidFill>
                  <a:schemeClr val="accent2"/>
                </a:solidFill>
                <a:effectLst/>
                <a:cs typeface="楷体_GB2312" pitchFamily="49" charset="-122"/>
              </a:rPr>
              <a:t>集合</a:t>
            </a:r>
            <a:r>
              <a:rPr lang="zh-CN" altLang="en-US" sz="2800" b="1" dirty="0">
                <a:effectLst/>
                <a:cs typeface="楷体_GB2312" pitchFamily="49" charset="-122"/>
              </a:rPr>
              <a:t>描述图的优点是</a:t>
            </a:r>
            <a:r>
              <a:rPr lang="zh-CN" altLang="en-US" sz="2800" b="1" dirty="0">
                <a:solidFill>
                  <a:schemeClr val="accent2"/>
                </a:solidFill>
                <a:effectLst/>
                <a:cs typeface="楷体_GB2312" pitchFamily="49" charset="-122"/>
              </a:rPr>
              <a:t>精确</a:t>
            </a:r>
            <a:r>
              <a:rPr lang="zh-CN" altLang="en-US" sz="2800" b="1" dirty="0">
                <a:effectLst/>
                <a:cs typeface="楷体_GB2312" pitchFamily="49" charset="-122"/>
              </a:rPr>
              <a:t>，但</a:t>
            </a:r>
            <a:r>
              <a:rPr lang="zh-CN" altLang="en-US" sz="2800" b="1" dirty="0">
                <a:solidFill>
                  <a:schemeClr val="accent2"/>
                </a:solidFill>
                <a:effectLst/>
                <a:cs typeface="楷体_GB2312" pitchFamily="49" charset="-122"/>
              </a:rPr>
              <a:t>抽象不易理解；</a:t>
            </a:r>
          </a:p>
          <a:p>
            <a:pPr marL="0" indent="0"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zh-CN" sz="2800" b="1" dirty="0">
                <a:effectLst/>
                <a:cs typeface="楷体_GB2312" pitchFamily="49" charset="-122"/>
              </a:rPr>
              <a:t>   </a:t>
            </a:r>
            <a:r>
              <a:rPr lang="zh-CN" altLang="en-US" sz="2800" b="1" dirty="0">
                <a:effectLst/>
                <a:cs typeface="楷体_GB2312" pitchFamily="49" charset="-122"/>
              </a:rPr>
              <a:t>（</a:t>
            </a:r>
            <a:r>
              <a:rPr lang="en-US" altLang="zh-CN" sz="2800" b="1" dirty="0">
                <a:effectLst/>
                <a:cs typeface="楷体_GB2312" pitchFamily="49" charset="-122"/>
              </a:rPr>
              <a:t>2</a:t>
            </a:r>
            <a:r>
              <a:rPr lang="zh-CN" altLang="en-US" sz="2800" b="1" dirty="0">
                <a:effectLst/>
                <a:cs typeface="楷体_GB2312" pitchFamily="49" charset="-122"/>
              </a:rPr>
              <a:t>） 用</a:t>
            </a:r>
            <a:r>
              <a:rPr lang="zh-CN" altLang="en-US" sz="2800" b="1" dirty="0">
                <a:solidFill>
                  <a:srgbClr val="800080"/>
                </a:solidFill>
                <a:effectLst/>
                <a:cs typeface="楷体_GB2312" pitchFamily="49" charset="-122"/>
              </a:rPr>
              <a:t>图形</a:t>
            </a:r>
            <a:r>
              <a:rPr lang="zh-CN" altLang="en-US" sz="2800" b="1" dirty="0">
                <a:effectLst/>
                <a:cs typeface="楷体_GB2312" pitchFamily="49" charset="-122"/>
              </a:rPr>
              <a:t>表示图的优点是</a:t>
            </a:r>
            <a:r>
              <a:rPr lang="zh-CN" altLang="en-US" sz="2800" b="1" dirty="0">
                <a:solidFill>
                  <a:srgbClr val="800080"/>
                </a:solidFill>
                <a:effectLst/>
                <a:cs typeface="楷体_GB2312" pitchFamily="49" charset="-122"/>
              </a:rPr>
              <a:t>形象直观</a:t>
            </a:r>
            <a:r>
              <a:rPr lang="zh-CN" altLang="en-US" sz="2800" b="1" dirty="0">
                <a:effectLst/>
                <a:cs typeface="楷体_GB2312" pitchFamily="49" charset="-122"/>
              </a:rPr>
              <a:t>，但当图中的结点和边的数目较大时，使用这种方法很</a:t>
            </a:r>
            <a:r>
              <a:rPr lang="zh-CN" altLang="en-US" sz="2800" b="1" dirty="0">
                <a:solidFill>
                  <a:srgbClr val="800080"/>
                </a:solidFill>
                <a:effectLst/>
                <a:cs typeface="楷体_GB2312" pitchFamily="49" charset="-122"/>
              </a:rPr>
              <a:t>不方便</a:t>
            </a:r>
            <a:r>
              <a:rPr lang="zh-CN" altLang="en-US" sz="2800" b="1" dirty="0">
                <a:effectLst/>
                <a:cs typeface="楷体_GB2312" pitchFamily="49" charset="-122"/>
              </a:rPr>
              <a:t>，甚至不可能。 </a:t>
            </a:r>
          </a:p>
        </p:txBody>
      </p:sp>
      <p:sp>
        <p:nvSpPr>
          <p:cNvPr id="51203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BA7BC7-0947-4C9E-A41A-27D0567A32FD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1204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61928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  结</a:t>
            </a:r>
          </a:p>
        </p:txBody>
      </p:sp>
      <p:pic>
        <p:nvPicPr>
          <p:cNvPr id="5120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747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1989386"/>
            <a:ext cx="7560840" cy="4176464"/>
          </a:xfrm>
          <a:solidFill>
            <a:schemeClr val="bg1"/>
          </a:solidFill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b="1" dirty="0">
                <a:cs typeface="楷体_GB2312" pitchFamily="49" charset="-122"/>
              </a:rPr>
              <a:t>       </a:t>
            </a:r>
            <a:r>
              <a:rPr lang="zh-CN" altLang="en-US" sz="2800" b="1" dirty="0">
                <a:effectLst/>
                <a:cs typeface="楷体_GB2312" pitchFamily="49" charset="-122"/>
              </a:rPr>
              <a:t>集合与图形都不适合使用计算机进行处理，所以要找到一种新的表示图的方法。这就是图模型的矩阵表示方法。</a:t>
            </a:r>
          </a:p>
          <a:p>
            <a:pPr marL="0" indent="0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effectLst/>
                <a:cs typeface="楷体_GB2312" pitchFamily="49" charset="-122"/>
              </a:rPr>
              <a:t>       由于矩阵的行和列有固定次序，因此先要将图的结点进行排序。若不具体说明排序，则默认为书写集合</a:t>
            </a:r>
            <a:r>
              <a:rPr lang="en-US" altLang="zh-CN" sz="2800" b="1" dirty="0">
                <a:solidFill>
                  <a:srgbClr val="0000FF"/>
                </a:solidFill>
                <a:effectLst/>
                <a:cs typeface="楷体_GB2312" pitchFamily="49" charset="-122"/>
              </a:rPr>
              <a:t>V</a:t>
            </a:r>
            <a:r>
              <a:rPr lang="zh-CN" altLang="en-US" sz="2800" b="1" dirty="0">
                <a:solidFill>
                  <a:srgbClr val="0000FF"/>
                </a:solidFill>
                <a:effectLst/>
                <a:cs typeface="楷体_GB2312" pitchFamily="49" charset="-122"/>
              </a:rPr>
              <a:t>时结点的顺序。 </a:t>
            </a:r>
          </a:p>
        </p:txBody>
      </p:sp>
      <p:sp>
        <p:nvSpPr>
          <p:cNvPr id="52227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F2A868-6BD8-4C97-AF69-2E161C00B784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2228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59769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图的矩阵表示</a:t>
            </a:r>
          </a:p>
        </p:txBody>
      </p:sp>
      <p:pic>
        <p:nvPicPr>
          <p:cNvPr id="5222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2CF758E-6CA9-4FDD-8F12-CC3DD2A35C8D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3251" name="Text Box 2"/>
          <p:cNvSpPr txBox="1">
            <a:spLocks noChangeArrowheads="1"/>
          </p:cNvSpPr>
          <p:nvPr/>
        </p:nvSpPr>
        <p:spPr bwMode="auto">
          <a:xfrm>
            <a:off x="1474788" y="858838"/>
            <a:ext cx="597693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图的矩阵表示</a:t>
            </a:r>
          </a:p>
        </p:txBody>
      </p:sp>
      <p:pic>
        <p:nvPicPr>
          <p:cNvPr id="5325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5D80B0E-1CED-4F36-8156-9C8D90017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2252353"/>
            <a:ext cx="8159165" cy="3650282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2CF758E-6CA9-4FDD-8F12-CC3DD2A35C8D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3251" name="Text Box 2"/>
          <p:cNvSpPr txBox="1">
            <a:spLocks noChangeArrowheads="1"/>
          </p:cNvSpPr>
          <p:nvPr/>
        </p:nvSpPr>
        <p:spPr bwMode="auto">
          <a:xfrm>
            <a:off x="1474788" y="858838"/>
            <a:ext cx="597693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图的矩阵表示</a:t>
            </a:r>
          </a:p>
        </p:txBody>
      </p:sp>
      <p:pic>
        <p:nvPicPr>
          <p:cNvPr id="5325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1636713" y="2492896"/>
            <a:ext cx="5544616" cy="293157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solidFill>
                  <a:schemeClr val="accent2"/>
                </a:solidFill>
              </a:rPr>
              <a:t>矩阵表示法</a:t>
            </a:r>
            <a:r>
              <a:rPr lang="zh-CN" altLang="en-US" sz="3200" dirty="0">
                <a:solidFill>
                  <a:schemeClr val="tx1"/>
                </a:solidFill>
              </a:rPr>
              <a:t>具体包括：</a:t>
            </a:r>
            <a:endParaRPr lang="en-US" altLang="zh-CN" sz="3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chemeClr val="tx1"/>
                </a:solidFill>
              </a:rPr>
              <a:t>      (1)</a:t>
            </a:r>
            <a:r>
              <a:rPr lang="zh-CN" altLang="en-US" sz="3200" dirty="0"/>
              <a:t>邻接矩阵表示法</a:t>
            </a:r>
            <a:endParaRPr lang="en-US" altLang="zh-CN" sz="3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chemeClr val="tx1"/>
                </a:solidFill>
              </a:rPr>
              <a:t>      (2)</a:t>
            </a:r>
            <a:r>
              <a:rPr lang="zh-CN" altLang="en-US" sz="3200" dirty="0"/>
              <a:t>关联矩阵表示法</a:t>
            </a:r>
            <a:endParaRPr lang="en-US" altLang="zh-CN" sz="32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chemeClr val="tx1"/>
                </a:solidFill>
              </a:rPr>
              <a:t>      (3)</a:t>
            </a:r>
            <a:r>
              <a:rPr lang="zh-CN" altLang="en-US" sz="3200" dirty="0"/>
              <a:t>邻接表表示法</a:t>
            </a:r>
          </a:p>
        </p:txBody>
      </p:sp>
    </p:spTree>
    <p:extLst>
      <p:ext uri="{BB962C8B-B14F-4D97-AF65-F5344CB8AC3E}">
        <p14:creationId xmlns:p14="http://schemas.microsoft.com/office/powerpoint/2010/main" val="205934695"/>
      </p:ext>
    </p:extLst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283D4D-FFB9-4051-9978-75B5435E84BD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4275" name="Rectangle 5"/>
          <p:cNvSpPr>
            <a:spLocks noChangeArrowheads="1"/>
          </p:cNvSpPr>
          <p:nvPr/>
        </p:nvSpPr>
        <p:spPr bwMode="auto">
          <a:xfrm>
            <a:off x="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4276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5976938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邻接矩阵表示法</a:t>
            </a:r>
          </a:p>
        </p:txBody>
      </p:sp>
      <p:pic>
        <p:nvPicPr>
          <p:cNvPr id="5427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44E9A4F-BD34-4E9F-8E40-F5895D3CB84A}"/>
                  </a:ext>
                </a:extLst>
              </p:cNvPr>
              <p:cNvSpPr/>
              <p:nvPr/>
            </p:nvSpPr>
            <p:spPr>
              <a:xfrm>
                <a:off x="395536" y="1988840"/>
                <a:ext cx="8494660" cy="409092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7970" algn="just">
                  <a:lnSpc>
                    <a:spcPts val="4000"/>
                  </a:lnSpc>
                  <a:spcAft>
                    <a:spcPts val="0"/>
                  </a:spcAft>
                </a:pPr>
                <a:r>
                  <a:rPr lang="zh-CN" altLang="zh-CN" sz="2400" b="1" kern="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【定义】设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b="1" kern="1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任一给定的图模型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，其中</a:t>
                </a:r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7970" algn="ctr">
                  <a:lnSpc>
                    <a:spcPts val="4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en-US" altLang="zh-CN" sz="2400" b="1" kern="100" dirty="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7970" algn="just">
                  <a:lnSpc>
                    <a:spcPts val="4000"/>
                  </a:lnSpc>
                  <a:spcAft>
                    <a:spcPts val="0"/>
                  </a:spcAft>
                </a:pP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称</a:t>
                </a:r>
                <a14:m>
                  <m:oMath xmlns:m="http://schemas.openxmlformats.org/officeDocument/2006/math">
                    <m:r>
                      <a:rPr lang="zh-CN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阶方阵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400" b="1" i="1" kern="10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𝒊𝒋</m:t>
                            </m:r>
                          </m:sub>
                        </m:s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  <m: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为图</a:t>
                </a:r>
                <a14:m>
                  <m:oMath xmlns:m="http://schemas.openxmlformats.org/officeDocument/2006/math">
                    <m:r>
                      <a:rPr lang="zh-CN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邻接矩阵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表示图中结点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之间是否有边相连：</a:t>
                </a:r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7970" algn="just">
                  <a:lnSpc>
                    <a:spcPts val="4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     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若有</a:t>
                </a:r>
                <a:r>
                  <a:rPr lang="zh-CN" altLang="en-US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𝒊𝒋</m:t>
                        </m:r>
                      </m:sub>
                    </m:sSub>
                    <m:r>
                      <a:rPr lang="zh-CN" altLang="zh-CN" sz="2400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为</m:t>
                    </m:r>
                    <m:r>
                      <m:rPr>
                        <m:nor/>
                      </m:rPr>
                      <a:rPr lang="zh-CN" altLang="zh-CN" sz="2400" b="1" kern="100" dirty="0">
                        <a:solidFill>
                          <a:srgbClr val="FFFF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相连</m:t>
                    </m:r>
                    <m:r>
                      <m:rPr>
                        <m:nor/>
                      </m:rPr>
                      <a:rPr lang="zh-CN" altLang="en-US" sz="2400" b="1" kern="100" dirty="0">
                        <a:solidFill>
                          <a:srgbClr val="FFFF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的边数</m:t>
                    </m:r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𝒌</m:t>
                    </m:r>
                    <m:r>
                      <a:rPr lang="zh-CN" altLang="zh-CN" sz="2400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zh-CN" altLang="en-US" sz="2400" b="1" kern="100" dirty="0">
                        <a:solidFill>
                          <a:srgbClr val="FFFF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否则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endParaRPr lang="en-US" altLang="zh-CN" sz="2400" b="1" kern="100" dirty="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7970" algn="just">
                  <a:lnSpc>
                    <a:spcPts val="4000"/>
                  </a:lnSpc>
                  <a:spcAft>
                    <a:spcPts val="0"/>
                  </a:spcAft>
                </a:pP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即有：</a:t>
                </a:r>
              </a:p>
              <a:p>
                <a:pPr indent="266700" algn="ctr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400" b="1" i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altLang="zh-CN" sz="2400" b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zh-CN" sz="2400" b="1" i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𝒌</m:t>
                              </m:r>
                              <m:r>
                                <a:rPr lang="zh-CN" altLang="zh-CN" sz="2400" b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，</m:t>
                              </m:r>
                            </m:e>
                            <m:e>
                              <m:r>
                                <a:rPr lang="en-US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  <m:r>
                                <a:rPr lang="zh-CN" altLang="zh-CN" sz="2400" b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，</m:t>
                              </m:r>
                            </m:e>
                          </m:eqArr>
                        </m:e>
                      </m:d>
                      <m:f>
                        <m:fPr>
                          <m:type m:val="noBar"/>
                          <m:ctrlPr>
                            <a:rPr lang="zh-CN" altLang="zh-CN" sz="2400" b="1" i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zh-CN" altLang="zh-CN" sz="2400" b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若</m:t>
                          </m:r>
                          <m:d>
                            <m:dPr>
                              <m:ctrlPr>
                                <a:rPr lang="zh-CN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b="1" i="1" kern="10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kern="10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400" b="1" i="1" kern="10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sz="2400" b="1" i="1" kern="10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kern="10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400" b="1" i="1" kern="10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b="1" i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altLang="zh-CN" sz="2400" b="1" i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𝑬</m:t>
                          </m:r>
                          <m:r>
                            <a:rPr lang="zh-CN" altLang="zh-CN" sz="2400" b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或</m:t>
                          </m:r>
                          <m:d>
                            <m:dPr>
                              <m:begChr m:val="〈"/>
                              <m:endChr m:val="〉"/>
                              <m:ctrlPr>
                                <a:rPr lang="zh-CN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b="1" i="1" kern="10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kern="10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400" b="1" i="1" kern="10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sz="2400" b="1" i="1" kern="10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kern="10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400" b="1" i="1" kern="100">
                                      <a:solidFill>
                                        <a:srgbClr val="FFFF00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400" b="1" i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altLang="zh-CN" sz="2400" b="1" i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𝑬</m:t>
                          </m:r>
                        </m:num>
                        <m:den>
                          <m:r>
                            <a:rPr lang="en-US" altLang="zh-CN" sz="2400" b="1" i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     </m:t>
                          </m:r>
                          <m:eqArr>
                            <m:eqArrPr>
                              <m:ctrlPr>
                                <a:rPr lang="zh-CN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     </m:t>
                              </m:r>
                            </m:e>
                            <m:e>
                              <m:r>
                                <a:rPr lang="en-US" altLang="zh-CN" sz="2400" b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      </m:t>
                              </m:r>
                              <m:r>
                                <a:rPr lang="zh-CN" altLang="zh-CN" sz="2400" b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否则</m:t>
                              </m:r>
                              <m:r>
                                <a:rPr lang="en-US" altLang="zh-CN" sz="2400" b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   </m:t>
                              </m:r>
                            </m:e>
                          </m:eqArr>
                          <m:r>
                            <a:rPr lang="en-US" altLang="zh-CN" sz="2400" b="1" i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              </m:t>
                          </m:r>
                        </m:den>
                      </m:f>
                      <m:r>
                        <a:rPr lang="en-US" altLang="zh-CN" sz="2400" b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(</m:t>
                      </m:r>
                      <m:r>
                        <a:rPr lang="en-US" altLang="zh-CN" sz="2400" b="1" i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altLang="zh-CN" sz="2400" b="1" i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b="1" i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𝒋</m:t>
                      </m:r>
                      <m:r>
                        <a:rPr lang="en-US" altLang="zh-CN" sz="2400" b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1" i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CN" sz="2400" b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b="1" i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altLang="zh-CN" sz="2400" b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b="1" i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𝟑</m:t>
                      </m:r>
                      <m:r>
                        <a:rPr lang="en-US" altLang="zh-CN" sz="2400" b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,⋯,</m:t>
                      </m:r>
                      <m:r>
                        <a:rPr lang="en-US" altLang="zh-CN" sz="2400" b="1" i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𝒏</m:t>
                      </m:r>
                      <m:r>
                        <a:rPr lang="en-US" altLang="zh-CN" sz="2400" b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400" kern="100" dirty="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44E9A4F-BD34-4E9F-8E40-F5895D3CB8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988840"/>
                <a:ext cx="8494660" cy="4090928"/>
              </a:xfrm>
              <a:prstGeom prst="rect">
                <a:avLst/>
              </a:prstGeom>
              <a:blipFill>
                <a:blip r:embed="rId4"/>
                <a:stretch>
                  <a:fillRect l="-1149" r="-1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05CBA1-73A0-4E91-9BD4-2385CA92F880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5301" name="Rectangle 34"/>
          <p:cNvSpPr>
            <a:spLocks noChangeArrowheads="1"/>
          </p:cNvSpPr>
          <p:nvPr/>
        </p:nvSpPr>
        <p:spPr bwMode="auto">
          <a:xfrm>
            <a:off x="0" y="2738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pic>
        <p:nvPicPr>
          <p:cNvPr id="55303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">
            <a:extLst>
              <a:ext uri="{FF2B5EF4-FFF2-40B4-BE49-F238E27FC236}">
                <a16:creationId xmlns:a16="http://schemas.microsoft.com/office/drawing/2014/main" id="{77F35313-F145-4A26-9BDD-D8F6AB5FC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620688"/>
            <a:ext cx="5976938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邻接矩阵表示法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BF7E4EE-3636-4380-A0CF-4C086FAA4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56" y="2636912"/>
            <a:ext cx="3240360" cy="282764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DF55A7C-50D3-481D-838B-4F84792BF7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992" y="2704060"/>
            <a:ext cx="4366030" cy="2832685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2D4758-010B-4E3C-9562-225305E3AFA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7348" name="Rectangle 5"/>
          <p:cNvSpPr>
            <a:spLocks noChangeArrowheads="1"/>
          </p:cNvSpPr>
          <p:nvPr/>
        </p:nvSpPr>
        <p:spPr bwMode="auto">
          <a:xfrm>
            <a:off x="0" y="2738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7351" name="Text Box 2"/>
          <p:cNvSpPr txBox="1">
            <a:spLocks noChangeArrowheads="1"/>
          </p:cNvSpPr>
          <p:nvPr/>
        </p:nvSpPr>
        <p:spPr bwMode="auto">
          <a:xfrm>
            <a:off x="1475656" y="561998"/>
            <a:ext cx="5976938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题</a:t>
            </a:r>
          </a:p>
        </p:txBody>
      </p:sp>
      <p:pic>
        <p:nvPicPr>
          <p:cNvPr id="5735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549277"/>
            <a:ext cx="957858" cy="1007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9DA38F3F-A491-4DE8-8D2A-65AAE07FC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802" y="1547258"/>
            <a:ext cx="8602670" cy="4834492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283D4D-FFB9-4051-9978-75B5435E84BD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4275" name="Rectangle 5"/>
          <p:cNvSpPr>
            <a:spLocks noChangeArrowheads="1"/>
          </p:cNvSpPr>
          <p:nvPr/>
        </p:nvSpPr>
        <p:spPr bwMode="auto">
          <a:xfrm>
            <a:off x="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4276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5976938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关联矩阵表示法</a:t>
            </a:r>
          </a:p>
        </p:txBody>
      </p:sp>
      <p:pic>
        <p:nvPicPr>
          <p:cNvPr id="5427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2B2DECD-B270-4B62-A52F-8285F2F1AD5B}"/>
                  </a:ext>
                </a:extLst>
              </p:cNvPr>
              <p:cNvSpPr/>
              <p:nvPr/>
            </p:nvSpPr>
            <p:spPr>
              <a:xfrm>
                <a:off x="334280" y="2060848"/>
                <a:ext cx="8621811" cy="3846759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>
                  <a:lnSpc>
                    <a:spcPts val="4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【定义】设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无向图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𝒎</m:t>
                            </m:r>
                          </m:sub>
                        </m:sSub>
                      </m:e>
                    </m:d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，则将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zh-CN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阶矩阵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𝒊𝒋</m:t>
                            </m:r>
                          </m:sub>
                        </m:s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  <m: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称为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无向图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关联矩阵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，记为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𝑴</m:t>
                    </m:r>
                    <m:d>
                      <m:dPr>
                        <m:ctrlP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</m:d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>
                  <a:lnSpc>
                    <a:spcPts val="4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其中元素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表示</m:t>
                    </m:r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图中结点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400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与边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关联</a:t>
                </a:r>
                <a:r>
                  <a:rPr lang="zh-CN" altLang="en-US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情况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即有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</a:p>
              <a:p>
                <a:pPr lvl="1" indent="267970" algn="ctr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  <m:r>
                                <a:rPr lang="zh-CN" altLang="zh-CN" sz="2400" b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，</m:t>
                              </m:r>
                            </m:e>
                            <m:e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  <m: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，</m:t>
                              </m:r>
                            </m:e>
                            <m:e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  <m: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，</m:t>
                              </m:r>
                            </m:e>
                          </m:eqAr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𝒆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zh-CN" altLang="en-US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是</m:t>
                            </m:r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zh-CN" altLang="zh-CN" sz="2400" b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的自环</m:t>
                            </m:r>
                          </m:e>
                        </m:mr>
                        <m:mr>
                          <m:e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   </m:t>
                            </m:r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zh-CN" altLang="zh-CN" sz="2400" b="1" i="1" kern="10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kern="10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CN" sz="2400" b="1" i="1" kern="10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2400" b="1" i="1" kern="10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zh-CN" altLang="zh-CN" sz="2400" b="1" kern="1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关联</m:t>
                                </m:r>
                                <m:r>
                                  <a:rPr lang="en-US" altLang="zh-CN" sz="2400" b="1" i="1" kern="1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𝒆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zh-CN" altLang="zh-CN" sz="2400" b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且</m:t>
                            </m:r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kern="1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𝒆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zh-CN" altLang="zh-CN" sz="2400" b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不是自环</m:t>
                            </m:r>
                          </m:e>
                        </m:mr>
                        <m:mr>
                          <m:e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            </m:t>
                            </m:r>
                            <m:sSub>
                              <m:sSubPr>
                                <m:ctrlPr>
                                  <a:rPr lang="zh-CN" altLang="zh-CN" sz="2400" b="1" i="1" kern="1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zh-CN" altLang="zh-CN" sz="2400" b="1" i="1" kern="10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kern="10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CN" sz="2400" b="1" i="1" kern="10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2400" b="1" i="1" kern="10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zh-CN" altLang="zh-CN" sz="2400" b="1" kern="1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不关联</m:t>
                                </m:r>
                                <m:r>
                                  <a:rPr lang="en-US" altLang="zh-CN" sz="2400" b="1" i="1" kern="1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𝒆</m:t>
                                </m:r>
                              </m:e>
                              <m:sub>
                                <m:r>
                                  <a:rPr lang="en-US" altLang="zh-CN" sz="2400" b="1" i="1" kern="1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                 </m:t>
                            </m:r>
                          </m:e>
                        </m:mr>
                      </m:m>
                      <m:r>
                        <a:rPr lang="en-US" altLang="zh-CN" sz="2400" b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sz="2400" b="1" kern="100" dirty="0">
                  <a:solidFill>
                    <a:schemeClr val="bg1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lvl="1" indent="267970" algn="ctr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altLang="zh-CN" sz="2400" b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CN" sz="2400" b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altLang="zh-CN" sz="2400" b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,⋯,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𝒏</m:t>
                      </m:r>
                      <m:r>
                        <a:rPr lang="zh-CN" altLang="zh-CN" sz="2400" b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，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𝒋</m:t>
                      </m:r>
                      <m:r>
                        <a:rPr lang="en-US" altLang="zh-CN" sz="2400" b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CN" sz="2400" b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altLang="zh-CN" sz="2400" b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,⋯,</m:t>
                      </m:r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𝒎</m:t>
                      </m:r>
                      <m:r>
                        <a:rPr lang="en-US" altLang="zh-CN" sz="2400" b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2B2DECD-B270-4B62-A52F-8285F2F1AD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80" y="2060848"/>
                <a:ext cx="8621811" cy="3846759"/>
              </a:xfrm>
              <a:prstGeom prst="rect">
                <a:avLst/>
              </a:prstGeom>
              <a:blipFill>
                <a:blip r:embed="rId4"/>
                <a:stretch>
                  <a:fillRect l="-1132" r="-424" b="-1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2589695"/>
      </p:ext>
    </p:extLst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2D4758-010B-4E3C-9562-225305E3AFA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7348" name="Rectangle 5"/>
          <p:cNvSpPr>
            <a:spLocks noChangeArrowheads="1"/>
          </p:cNvSpPr>
          <p:nvPr/>
        </p:nvSpPr>
        <p:spPr bwMode="auto">
          <a:xfrm>
            <a:off x="0" y="2738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7351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6408738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无向图关联矩阵</a:t>
            </a:r>
          </a:p>
        </p:txBody>
      </p:sp>
      <p:pic>
        <p:nvPicPr>
          <p:cNvPr id="5735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A4E2277-F600-4482-9948-36BD990D8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696" y="4040290"/>
            <a:ext cx="5328592" cy="228083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5B1EE2A-2D42-41EC-AFFF-A3B86C448F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9772" y="1773238"/>
            <a:ext cx="4104456" cy="215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0925"/>
      </p:ext>
    </p:extLst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283D4D-FFB9-4051-9978-75B5435E84BD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4275" name="Rectangle 5"/>
          <p:cNvSpPr>
            <a:spLocks noChangeArrowheads="1"/>
          </p:cNvSpPr>
          <p:nvPr/>
        </p:nvSpPr>
        <p:spPr bwMode="auto">
          <a:xfrm>
            <a:off x="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4276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5976938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关联矩阵表示</a:t>
            </a:r>
          </a:p>
        </p:txBody>
      </p:sp>
      <p:pic>
        <p:nvPicPr>
          <p:cNvPr id="5427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830F575-812F-44DC-8329-6A587845137B}"/>
                  </a:ext>
                </a:extLst>
              </p:cNvPr>
              <p:cNvSpPr/>
              <p:nvPr/>
            </p:nvSpPr>
            <p:spPr>
              <a:xfrm>
                <a:off x="395536" y="1988840"/>
                <a:ext cx="8496944" cy="394114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4000"/>
                  </a:lnSpc>
                  <a:spcAft>
                    <a:spcPts val="0"/>
                  </a:spcAft>
                </a:pP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【定义】设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有向图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𝒎</m:t>
                            </m:r>
                          </m:sub>
                        </m:sSub>
                      </m:e>
                    </m:d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，则将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zh-CN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阶矩阵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CN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 kern="1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𝒊𝒋</m:t>
                            </m:r>
                          </m:sub>
                        </m:s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  <m: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称为有向图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关联矩阵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，记作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𝑴</m:t>
                    </m:r>
                    <m:d>
                      <m:dPr>
                        <m:ctrlP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</m:d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 </a:t>
                </a:r>
                <a:endParaRPr lang="en-US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ts val="4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其中元素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表示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图中结点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与边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的关联情况，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即有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</a:p>
              <a:p>
                <a:pPr indent="266700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altLang="zh-CN" sz="2400" b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type m:val="noBar"/>
                                  <m:ctrlPr>
                                    <a:rPr lang="zh-CN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,   </m:t>
                                  </m:r>
                                </m:num>
                                <m:den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  <m:r>
                                    <a:rPr lang="zh-CN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，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noBar"/>
                                  <m:ctrlPr>
                                    <a:rPr lang="zh-CN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  <m:r>
                                    <a:rPr lang="zh-CN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，</m:t>
                                  </m:r>
                                </m:num>
                                <m:den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𝟎</m:t>
                                  </m:r>
                                  <m:r>
                                    <a:rPr lang="zh-CN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，</m:t>
                                  </m:r>
                                </m:den>
                              </m:f>
                            </m:e>
                          </m:eqArr>
                        </m:e>
                      </m:d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zh-CN" sz="2400" b="1" i="1" kern="1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zh-CN" sz="2400" b="1" i="1" kern="1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400" b="1" i="1" kern="1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kern="1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altLang="zh-CN" sz="2400" b="1" i="1" kern="1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kern="1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zh-CN" altLang="zh-CN" sz="2400" b="1" kern="1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为其关联自环</m:t>
                                      </m:r>
                                      <m:r>
                                        <a:rPr lang="en-US" altLang="zh-CN" sz="2400" b="1" i="1" kern="1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𝒆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kern="1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  <m:r>
                                    <a:rPr lang="zh-CN" altLang="zh-CN" sz="2400" b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的起点和终点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zh-CN" sz="2400" b="1" i="1" kern="1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400" b="1" i="1" kern="1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kern="1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altLang="zh-CN" sz="2400" b="1" i="1" kern="1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kern="1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zh-CN" altLang="zh-CN" sz="2400" b="1" kern="1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为其关联边</m:t>
                                      </m:r>
                                      <m:r>
                                        <a:rPr lang="en-US" altLang="zh-CN" sz="2400" b="1" i="1" kern="1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𝒆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kern="1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  <m:r>
                                    <a:rPr lang="zh-CN" altLang="zh-CN" sz="2400" b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的起点但不是终点</m:t>
                                  </m:r>
                                </m:e>
                              </m:mr>
                            </m:m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zh-CN" sz="2400" b="1" i="1" kern="1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zh-CN" sz="2400" b="1" i="1" kern="1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400" b="1" i="1" kern="1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kern="1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altLang="zh-CN" sz="2400" b="1" i="1" kern="1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kern="1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zh-CN" altLang="zh-CN" sz="2400" b="1" kern="1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为其关联边</m:t>
                                      </m:r>
                                      <m:r>
                                        <a:rPr lang="en-US" altLang="zh-CN" sz="2400" b="1" i="1" kern="1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𝒆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kern="1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  <m:r>
                                    <a:rPr lang="zh-CN" altLang="zh-CN" sz="2400" b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的终点但不是起点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zh-CN" sz="2400" b="1" i="1" kern="1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400" b="1" i="1" kern="1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kern="1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 </m:t>
                                          </m:r>
                                          <m:r>
                                            <a:rPr lang="en-US" altLang="zh-CN" sz="2400" b="1" i="1" kern="1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kern="10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zh-CN" altLang="zh-CN" sz="2400" b="1" kern="1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不关联边</m:t>
                                      </m:r>
                                      <m:r>
                                        <a:rPr lang="en-US" altLang="zh-CN" sz="2400" b="1" i="1" kern="1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𝒆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kern="10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𝒋</m:t>
                                      </m:r>
                                    </m:sub>
                                  </m:sSub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  </m:t>
                                  </m:r>
                                </m:e>
                              </m:mr>
                            </m:m>
                          </m:e>
                        </m:mr>
                      </m:m>
                      <m:r>
                        <a:rPr lang="en-US" altLang="zh-CN" sz="2400" b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             </m:t>
                      </m:r>
                    </m:oMath>
                  </m:oMathPara>
                </a14:m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830F575-812F-44DC-8329-6A58784513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988840"/>
                <a:ext cx="8496944" cy="3941144"/>
              </a:xfrm>
              <a:prstGeom prst="rect">
                <a:avLst/>
              </a:prstGeom>
              <a:blipFill>
                <a:blip r:embed="rId4"/>
                <a:stretch>
                  <a:fillRect l="-215" r="-10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2213949"/>
      </p:ext>
    </p:extLst>
  </p:cSld>
  <p:clrMapOvr>
    <a:masterClrMapping/>
  </p:clrMapOvr>
  <p:transition spd="med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2D4758-010B-4E3C-9562-225305E3AFA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pic>
        <p:nvPicPr>
          <p:cNvPr id="5735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4046707"/>
            <a:ext cx="4608512" cy="2262613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8464FC0-D187-43B8-A9EA-2D5BA207DD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3728" y="1739450"/>
            <a:ext cx="4608512" cy="2212998"/>
          </a:xfrm>
          <a:prstGeom prst="rect">
            <a:avLst/>
          </a:prstGeom>
        </p:spPr>
      </p:pic>
      <p:sp>
        <p:nvSpPr>
          <p:cNvPr id="9" name="Text Box 2">
            <a:extLst>
              <a:ext uri="{FF2B5EF4-FFF2-40B4-BE49-F238E27FC236}">
                <a16:creationId xmlns:a16="http://schemas.microsoft.com/office/drawing/2014/main" id="{F2EFDDBE-9F4C-4028-BEE4-BA8B1CF6B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692150"/>
            <a:ext cx="6408738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有向图关联矩阵</a:t>
            </a:r>
          </a:p>
        </p:txBody>
      </p:sp>
    </p:spTree>
    <p:extLst>
      <p:ext uri="{BB962C8B-B14F-4D97-AF65-F5344CB8AC3E}">
        <p14:creationId xmlns:p14="http://schemas.microsoft.com/office/powerpoint/2010/main" val="2124419905"/>
      </p:ext>
    </p:extLst>
  </p:cSld>
  <p:clrMapOvr>
    <a:masterClrMapping/>
  </p:clrMapOvr>
  <p:transition spd="med"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2D4758-010B-4E3C-9562-225305E3AFA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7348" name="Rectangle 5"/>
          <p:cNvSpPr>
            <a:spLocks noChangeArrowheads="1"/>
          </p:cNvSpPr>
          <p:nvPr/>
        </p:nvSpPr>
        <p:spPr bwMode="auto">
          <a:xfrm>
            <a:off x="0" y="2738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7351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59769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 结</a:t>
            </a:r>
          </a:p>
        </p:txBody>
      </p:sp>
      <p:pic>
        <p:nvPicPr>
          <p:cNvPr id="5735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35"/>
          <p:cNvSpPr>
            <a:spLocks noChangeArrowheads="1"/>
          </p:cNvSpPr>
          <p:nvPr/>
        </p:nvSpPr>
        <p:spPr bwMode="auto">
          <a:xfrm>
            <a:off x="251520" y="1956267"/>
            <a:ext cx="8640960" cy="420050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  <a:defRPr/>
            </a:pPr>
            <a:r>
              <a:rPr lang="zh-CN" altLang="en-US" sz="2800" dirty="0"/>
              <a:t>    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1</a:t>
            </a:r>
            <a:r>
              <a:rPr lang="zh-CN" altLang="en-US" dirty="0">
                <a:solidFill>
                  <a:schemeClr val="bg1"/>
                </a:solidFill>
              </a:rPr>
              <a:t>）对于</a:t>
            </a:r>
            <a:r>
              <a:rPr lang="zh-CN" altLang="en-US" dirty="0">
                <a:solidFill>
                  <a:srgbClr val="FFFF66"/>
                </a:solidFill>
              </a:rPr>
              <a:t>无向图</a:t>
            </a:r>
            <a:r>
              <a:rPr lang="zh-CN" altLang="en-US" dirty="0">
                <a:solidFill>
                  <a:schemeClr val="bg1"/>
                </a:solidFill>
              </a:rPr>
              <a:t>及其关联矩阵，由于每条非自环边关联</a:t>
            </a:r>
            <a:r>
              <a:rPr lang="en-US" altLang="zh-CN" dirty="0">
                <a:solidFill>
                  <a:schemeClr val="bg1"/>
                </a:solidFill>
              </a:rPr>
              <a:t>2</a:t>
            </a:r>
            <a:r>
              <a:rPr lang="zh-CN" altLang="en-US" dirty="0">
                <a:solidFill>
                  <a:schemeClr val="bg1"/>
                </a:solidFill>
              </a:rPr>
              <a:t>个结点，故矩阵中</a:t>
            </a:r>
            <a:r>
              <a:rPr lang="zh-CN" altLang="en-US" dirty="0">
                <a:solidFill>
                  <a:srgbClr val="FFFF66"/>
                </a:solidFill>
              </a:rPr>
              <a:t>每列元素之和必为</a:t>
            </a:r>
            <a:r>
              <a:rPr lang="en-US" altLang="zh-CN" dirty="0">
                <a:solidFill>
                  <a:srgbClr val="FFFF66"/>
                </a:solidFill>
              </a:rPr>
              <a:t>2</a:t>
            </a:r>
            <a:r>
              <a:rPr lang="zh-CN" altLang="en-US" dirty="0">
                <a:solidFill>
                  <a:schemeClr val="bg1"/>
                </a:solidFill>
              </a:rPr>
              <a:t>。</a:t>
            </a:r>
            <a:endParaRPr lang="en-US" altLang="zh-CN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  <a:defRPr/>
            </a:pPr>
            <a:r>
              <a:rPr lang="zh-CN" altLang="en-US" dirty="0">
                <a:solidFill>
                  <a:schemeClr val="bg1"/>
                </a:solidFill>
              </a:rPr>
              <a:t>    （</a:t>
            </a:r>
            <a:r>
              <a:rPr lang="en-US" altLang="zh-CN" dirty="0">
                <a:solidFill>
                  <a:schemeClr val="bg1"/>
                </a:solidFill>
              </a:rPr>
              <a:t>2</a:t>
            </a:r>
            <a:r>
              <a:rPr lang="zh-CN" altLang="en-US" dirty="0">
                <a:solidFill>
                  <a:schemeClr val="bg1"/>
                </a:solidFill>
              </a:rPr>
              <a:t>）对于</a:t>
            </a:r>
            <a:r>
              <a:rPr lang="zh-CN" altLang="en-US" dirty="0">
                <a:solidFill>
                  <a:srgbClr val="FFFF66"/>
                </a:solidFill>
              </a:rPr>
              <a:t>有向图</a:t>
            </a:r>
            <a:r>
              <a:rPr lang="zh-CN" altLang="en-US" dirty="0">
                <a:solidFill>
                  <a:schemeClr val="bg1"/>
                </a:solidFill>
              </a:rPr>
              <a:t>及其关联矩阵，由于每条非自环有向边关</a:t>
            </a:r>
            <a:r>
              <a:rPr lang="en-US" altLang="zh-CN" dirty="0">
                <a:solidFill>
                  <a:schemeClr val="bg1"/>
                </a:solidFill>
              </a:rPr>
              <a:t>2</a:t>
            </a:r>
            <a:r>
              <a:rPr lang="zh-CN" altLang="en-US" dirty="0">
                <a:solidFill>
                  <a:schemeClr val="bg1"/>
                </a:solidFill>
              </a:rPr>
              <a:t>个结点，且一个为起点一个为终点，故图中每个非自环边在关联矩阵中所对应</a:t>
            </a:r>
            <a:r>
              <a:rPr lang="zh-CN" altLang="en-US" dirty="0">
                <a:solidFill>
                  <a:srgbClr val="FFFF66"/>
                </a:solidFill>
              </a:rPr>
              <a:t>列元素之和必为</a:t>
            </a:r>
            <a:r>
              <a:rPr lang="en-US" altLang="zh-CN" dirty="0">
                <a:solidFill>
                  <a:srgbClr val="FFFF66"/>
                </a:solidFill>
              </a:rPr>
              <a:t>0</a:t>
            </a:r>
            <a:r>
              <a:rPr lang="zh-CN" altLang="en-US" dirty="0">
                <a:solidFill>
                  <a:schemeClr val="bg1"/>
                </a:solidFill>
              </a:rPr>
              <a:t>。</a:t>
            </a:r>
            <a:endParaRPr lang="en-US" altLang="zh-CN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+mn-ea"/>
              </a:rPr>
              <a:t>    （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+mn-ea"/>
              </a:rPr>
              <a:t>）当图中边数</a:t>
            </a:r>
            <a:r>
              <a:rPr lang="zh-CN" altLang="en-US" b="1" dirty="0">
                <a:solidFill>
                  <a:srgbClr val="FFFF66"/>
                </a:solidFill>
              </a:rPr>
              <a:t>较多</a:t>
            </a:r>
            <a:r>
              <a:rPr lang="zh-CN" altLang="en-US" dirty="0">
                <a:solidFill>
                  <a:schemeClr val="bg1"/>
                </a:solidFill>
                <a:latin typeface="+mn-ea"/>
              </a:rPr>
              <a:t>时，</a:t>
            </a:r>
            <a:r>
              <a:rPr lang="zh-CN" altLang="en-US" dirty="0">
                <a:solidFill>
                  <a:srgbClr val="FFFF66"/>
                </a:solidFill>
                <a:latin typeface="+mn-ea"/>
              </a:rPr>
              <a:t>邻接矩阵</a:t>
            </a:r>
            <a:r>
              <a:rPr lang="zh-CN" altLang="en-US" dirty="0">
                <a:solidFill>
                  <a:schemeClr val="bg1"/>
                </a:solidFill>
                <a:latin typeface="+mn-ea"/>
              </a:rPr>
              <a:t>和</a:t>
            </a:r>
            <a:r>
              <a:rPr lang="zh-CN" altLang="en-US" dirty="0">
                <a:solidFill>
                  <a:srgbClr val="FFFF66"/>
                </a:solidFill>
                <a:latin typeface="+mn-ea"/>
              </a:rPr>
              <a:t>关联矩阵</a:t>
            </a:r>
            <a:r>
              <a:rPr lang="zh-CN" altLang="en-US" dirty="0">
                <a:solidFill>
                  <a:schemeClr val="bg1"/>
                </a:solidFill>
                <a:latin typeface="+mn-ea"/>
              </a:rPr>
              <a:t>比较有效。</a:t>
            </a:r>
            <a:endParaRPr lang="en-US" altLang="zh-CN" dirty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+mn-ea"/>
              </a:rPr>
              <a:t>    （</a:t>
            </a:r>
            <a:r>
              <a:rPr lang="en-US" altLang="zh-CN" dirty="0">
                <a:solidFill>
                  <a:schemeClr val="bg1"/>
                </a:solidFill>
                <a:latin typeface="+mn-ea"/>
              </a:rPr>
              <a:t>4</a:t>
            </a:r>
            <a:r>
              <a:rPr lang="zh-CN" altLang="en-US" dirty="0">
                <a:solidFill>
                  <a:schemeClr val="bg1"/>
                </a:solidFill>
                <a:latin typeface="+mn-ea"/>
              </a:rPr>
              <a:t>）当图中边数</a:t>
            </a:r>
            <a:r>
              <a:rPr lang="zh-CN" altLang="en-US" b="1" dirty="0">
                <a:solidFill>
                  <a:srgbClr val="FFFF66"/>
                </a:solidFill>
              </a:rPr>
              <a:t>较少</a:t>
            </a:r>
            <a:r>
              <a:rPr lang="zh-CN" altLang="en-US" dirty="0">
                <a:solidFill>
                  <a:schemeClr val="bg1"/>
                </a:solidFill>
                <a:latin typeface="+mn-ea"/>
              </a:rPr>
              <a:t>时，邻接矩阵和关联矩阵的的表示法</a:t>
            </a:r>
            <a:r>
              <a:rPr lang="zh-CN" altLang="en-US" dirty="0">
                <a:solidFill>
                  <a:srgbClr val="FFFF66"/>
                </a:solidFill>
                <a:latin typeface="+mn-ea"/>
              </a:rPr>
              <a:t>比较浪费资源</a:t>
            </a:r>
            <a:r>
              <a:rPr lang="zh-CN" altLang="en-US" dirty="0">
                <a:solidFill>
                  <a:schemeClr val="bg1"/>
                </a:solidFill>
                <a:latin typeface="+mn-ea"/>
              </a:rPr>
              <a:t>，可用邻接表法。 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599921"/>
      </p:ext>
    </p:extLst>
  </p:cSld>
  <p:clrMapOvr>
    <a:masterClrMapping/>
  </p:clrMapOvr>
  <p:transition spd="med"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283D4D-FFB9-4051-9978-75B5435E84BD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4275" name="Rectangle 5"/>
          <p:cNvSpPr>
            <a:spLocks noChangeArrowheads="1"/>
          </p:cNvSpPr>
          <p:nvPr/>
        </p:nvSpPr>
        <p:spPr bwMode="auto">
          <a:xfrm>
            <a:off x="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4276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5976938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邻接表表示法</a:t>
            </a:r>
          </a:p>
        </p:txBody>
      </p:sp>
      <p:pic>
        <p:nvPicPr>
          <p:cNvPr id="5427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539552" y="2132856"/>
                <a:ext cx="8064895" cy="389420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dirty="0">
                    <a:solidFill>
                      <a:schemeClr val="accent6"/>
                    </a:solidFill>
                    <a:latin typeface="+mn-ea"/>
                    <a:ea typeface="+mn-ea"/>
                  </a:rPr>
                  <a:t>     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+mn-ea"/>
                    <a:ea typeface="+mn-ea"/>
                  </a:rPr>
                  <a:t>邻接表主要是</a:t>
                </a:r>
                <a:r>
                  <a:rPr lang="zh-CN" altLang="en-US" sz="2800" dirty="0">
                    <a:solidFill>
                      <a:schemeClr val="accent2"/>
                    </a:solidFill>
                    <a:latin typeface="+mn-ea"/>
                    <a:ea typeface="+mn-ea"/>
                  </a:rPr>
                  <a:t>分别对图</a:t>
                </a:r>
                <a:r>
                  <a:rPr lang="en-US" altLang="zh-CN" sz="2800" dirty="0">
                    <a:solidFill>
                      <a:schemeClr val="accent2"/>
                    </a:solidFill>
                    <a:latin typeface="+mn-ea"/>
                    <a:ea typeface="+mn-ea"/>
                  </a:rPr>
                  <a:t>G=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800" dirty="0">
                            <a:solidFill>
                              <a:schemeClr val="accent2"/>
                            </a:solidFill>
                            <a:latin typeface="+mn-ea"/>
                            <a:ea typeface="+mn-ea"/>
                          </a:rPr>
                          <m:t>V</m:t>
                        </m:r>
                        <m:r>
                          <a:rPr lang="en-US" altLang="zh-CN" sz="2800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sz="2800" dirty="0">
                            <a:solidFill>
                              <a:schemeClr val="accent2"/>
                            </a:solidFill>
                            <a:latin typeface="+mn-ea"/>
                            <a:ea typeface="+mn-ea"/>
                          </a:rPr>
                          <m:t>E</m:t>
                        </m:r>
                      </m:e>
                    </m:d>
                  </m:oMath>
                </a14:m>
                <a:r>
                  <a:rPr lang="zh-CN" altLang="en-US" sz="2800" dirty="0">
                    <a:solidFill>
                      <a:schemeClr val="accent2"/>
                    </a:solidFill>
                    <a:latin typeface="+mn-ea"/>
                    <a:ea typeface="+mn-ea"/>
                  </a:rPr>
                  <a:t>中每个结点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𝑣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+mn-ea"/>
                    <a:ea typeface="+mn-ea"/>
                  </a:rPr>
                  <a:t>建立一个单链表。 </a:t>
                </a:r>
                <a:endParaRPr lang="en-US" altLang="zh-CN" sz="28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dirty="0">
                    <a:solidFill>
                      <a:schemeClr val="tx1"/>
                    </a:solidFill>
                    <a:latin typeface="+mn-ea"/>
                    <a:ea typeface="+mn-ea"/>
                  </a:rPr>
                  <a:t>     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+mn-ea"/>
                    <a:ea typeface="+mn-ea"/>
                  </a:rPr>
                  <a:t>对于结点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𝑣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+mn-ea"/>
                    <a:ea typeface="+mn-ea"/>
                  </a:rPr>
                  <a:t>的单链表，该表的</a:t>
                </a:r>
                <a:r>
                  <a:rPr lang="zh-CN" altLang="en-US" sz="2800" dirty="0">
                    <a:solidFill>
                      <a:schemeClr val="accent2"/>
                    </a:solidFill>
                    <a:latin typeface="+mn-ea"/>
                    <a:ea typeface="+mn-ea"/>
                  </a:rPr>
                  <a:t>第一个存储单元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+mn-ea"/>
                    <a:ea typeface="+mn-ea"/>
                  </a:rPr>
                  <a:t>为表头，存放结点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𝑣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+mn-ea"/>
                    <a:ea typeface="+mn-ea"/>
                  </a:rPr>
                  <a:t>的有关信息，表中</a:t>
                </a:r>
                <a:r>
                  <a:rPr lang="zh-CN" altLang="en-US" sz="2800" dirty="0">
                    <a:solidFill>
                      <a:schemeClr val="accent2"/>
                    </a:solidFill>
                    <a:latin typeface="+mn-ea"/>
                    <a:ea typeface="+mn-ea"/>
                  </a:rPr>
                  <a:t>其它存储单元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+mn-ea"/>
                    <a:ea typeface="+mn-ea"/>
                  </a:rPr>
                  <a:t>存放与所有与</a:t>
                </a:r>
                <a:r>
                  <a:rPr lang="zh-CN" altLang="en-US" sz="2800" dirty="0">
                    <a:solidFill>
                      <a:schemeClr val="accent2"/>
                    </a:solidFill>
                    <a:latin typeface="+mn-ea"/>
                    <a:ea typeface="+mn-ea"/>
                  </a:rPr>
                  <a:t>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𝑣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800" dirty="0">
                    <a:solidFill>
                      <a:schemeClr val="accent2"/>
                    </a:solidFill>
                    <a:latin typeface="+mn-ea"/>
                    <a:ea typeface="+mn-ea"/>
                  </a:rPr>
                  <a:t>相关联边的另一端点（</a:t>
                </a:r>
                <a:r>
                  <a:rPr lang="zh-CN" altLang="en-US" sz="2800" dirty="0">
                    <a:latin typeface="+mn-ea"/>
                    <a:ea typeface="+mn-ea"/>
                  </a:rPr>
                  <a:t>不包含半关联边</a:t>
                </a:r>
                <a:r>
                  <a:rPr lang="zh-CN" altLang="en-US" sz="2800" dirty="0">
                    <a:solidFill>
                      <a:schemeClr val="accent2"/>
                    </a:solidFill>
                    <a:latin typeface="+mn-ea"/>
                    <a:ea typeface="+mn-ea"/>
                  </a:rPr>
                  <a:t>）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+mn-ea"/>
                    <a:ea typeface="+mn-ea"/>
                  </a:rPr>
                  <a:t>。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132856"/>
                <a:ext cx="8064895" cy="3894208"/>
              </a:xfrm>
              <a:prstGeom prst="rect">
                <a:avLst/>
              </a:prstGeom>
              <a:blipFill>
                <a:blip r:embed="rId4"/>
                <a:stretch>
                  <a:fillRect l="-1589" b="-34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1985943"/>
      </p:ext>
    </p:extLst>
  </p:cSld>
  <p:clrMapOvr>
    <a:masterClrMapping/>
  </p:clrMapOvr>
  <p:transition spd="med"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283D4D-FFB9-4051-9978-75B5435E84BD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4275" name="Rectangle 5"/>
          <p:cNvSpPr>
            <a:spLocks noChangeArrowheads="1"/>
          </p:cNvSpPr>
          <p:nvPr/>
        </p:nvSpPr>
        <p:spPr bwMode="auto">
          <a:xfrm>
            <a:off x="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4276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5976938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邻接表表示</a:t>
            </a:r>
          </a:p>
        </p:txBody>
      </p:sp>
      <p:pic>
        <p:nvPicPr>
          <p:cNvPr id="5427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611560" y="2060848"/>
            <a:ext cx="8208911" cy="3869329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       每个单链表中都存放着图模型的</a:t>
            </a:r>
            <a:r>
              <a:rPr lang="zh-CN" altLang="en-US" sz="2800" dirty="0">
                <a:solidFill>
                  <a:srgbClr val="CC00FF"/>
                </a:solidFill>
                <a:latin typeface="+mn-ea"/>
                <a:ea typeface="+mn-ea"/>
              </a:rPr>
              <a:t>某个结点及与该结点相关联的所有边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，表中各个存储单元通过指针进行串接。 </a:t>
            </a:r>
            <a:endParaRPr lang="en-US" altLang="zh-CN" sz="28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+mn-ea"/>
                <a:ea typeface="+mn-ea"/>
              </a:rPr>
              <a:t>      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图</a:t>
            </a:r>
            <a:r>
              <a:rPr lang="en-US" altLang="zh-CN" sz="2800" dirty="0">
                <a:solidFill>
                  <a:schemeClr val="tx1"/>
                </a:solidFill>
                <a:latin typeface="+mn-ea"/>
                <a:ea typeface="+mn-ea"/>
              </a:rPr>
              <a:t>G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中</a:t>
            </a:r>
            <a:r>
              <a:rPr lang="zh-CN" altLang="en-US" sz="2800" dirty="0">
                <a:solidFill>
                  <a:schemeClr val="accent2"/>
                </a:solidFill>
                <a:latin typeface="+mn-ea"/>
                <a:ea typeface="+mn-ea"/>
              </a:rPr>
              <a:t>所有结点的单链表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就构成图</a:t>
            </a:r>
            <a:r>
              <a:rPr lang="en-US" altLang="zh-CN" sz="2800" dirty="0">
                <a:solidFill>
                  <a:schemeClr val="tx1"/>
                </a:solidFill>
                <a:latin typeface="+mn-ea"/>
                <a:ea typeface="+mn-ea"/>
              </a:rPr>
              <a:t>G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的</a:t>
            </a:r>
            <a:r>
              <a:rPr lang="zh-CN" altLang="en-US" sz="2800" dirty="0">
                <a:solidFill>
                  <a:schemeClr val="accent2"/>
                </a:solidFill>
                <a:latin typeface="+mn-ea"/>
                <a:ea typeface="+mn-ea"/>
              </a:rPr>
              <a:t>邻接表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，该表是由单链表的表头形成的</a:t>
            </a:r>
            <a:r>
              <a:rPr lang="zh-CN" altLang="en-US" sz="2800" dirty="0">
                <a:solidFill>
                  <a:schemeClr val="accent6"/>
                </a:solidFill>
                <a:latin typeface="+mn-ea"/>
                <a:ea typeface="+mn-ea"/>
              </a:rPr>
              <a:t>结点表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和</a:t>
            </a:r>
            <a:r>
              <a:rPr lang="zh-CN" altLang="en-US" sz="2800" dirty="0">
                <a:latin typeface="+mn-ea"/>
                <a:ea typeface="+mn-ea"/>
              </a:rPr>
              <a:t>单链表其余结点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形成的</a:t>
            </a:r>
            <a:r>
              <a:rPr lang="zh-CN" altLang="en-US" sz="2800" dirty="0">
                <a:solidFill>
                  <a:srgbClr val="0000FF"/>
                </a:solidFill>
                <a:latin typeface="+mn-ea"/>
                <a:ea typeface="+mn-ea"/>
              </a:rPr>
              <a:t>边表</a:t>
            </a:r>
            <a:r>
              <a:rPr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两部分组成。 </a:t>
            </a:r>
          </a:p>
        </p:txBody>
      </p:sp>
    </p:spTree>
    <p:extLst>
      <p:ext uri="{BB962C8B-B14F-4D97-AF65-F5344CB8AC3E}">
        <p14:creationId xmlns:p14="http://schemas.microsoft.com/office/powerpoint/2010/main" val="4105767496"/>
      </p:ext>
    </p:extLst>
  </p:cSld>
  <p:clrMapOvr>
    <a:masterClrMapping/>
  </p:clrMapOvr>
  <p:transition spd="med"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2D4758-010B-4E3C-9562-225305E3AFA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7348" name="Rectangle 5"/>
          <p:cNvSpPr>
            <a:spLocks noChangeArrowheads="1"/>
          </p:cNvSpPr>
          <p:nvPr/>
        </p:nvSpPr>
        <p:spPr bwMode="auto">
          <a:xfrm>
            <a:off x="0" y="2738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7351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59769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题</a:t>
            </a:r>
          </a:p>
        </p:txBody>
      </p:sp>
      <p:pic>
        <p:nvPicPr>
          <p:cNvPr id="5735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35"/>
          <p:cNvSpPr>
            <a:spLocks noChangeArrowheads="1"/>
          </p:cNvSpPr>
          <p:nvPr/>
        </p:nvSpPr>
        <p:spPr bwMode="auto">
          <a:xfrm>
            <a:off x="284163" y="1916832"/>
            <a:ext cx="8248277" cy="127419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  <a:defRPr/>
            </a:pPr>
            <a:r>
              <a:rPr kumimoji="0"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【</a:t>
            </a:r>
            <a:r>
              <a:rPr kumimoji="0" lang="zh-CN" altLang="en-US" sz="3200" b="1" dirty="0">
                <a:solidFill>
                  <a:schemeClr val="accent2"/>
                </a:solidFill>
                <a:latin typeface="+mn-ea"/>
                <a:ea typeface="+mn-ea"/>
              </a:rPr>
              <a:t>例题</a:t>
            </a:r>
            <a:r>
              <a:rPr kumimoji="0" lang="en-US" altLang="zh-CN" sz="3200" b="1" dirty="0">
                <a:solidFill>
                  <a:schemeClr val="accent2"/>
                </a:solidFill>
                <a:latin typeface="+mn-ea"/>
                <a:ea typeface="+mn-ea"/>
              </a:rPr>
              <a:t>】</a:t>
            </a:r>
            <a:r>
              <a:rPr kumimoji="0" lang="zh-CN" altLang="en-US" sz="3200" b="1" dirty="0">
                <a:solidFill>
                  <a:srgbClr val="000000"/>
                </a:solidFill>
                <a:latin typeface="+mn-ea"/>
                <a:ea typeface="+mn-ea"/>
              </a:rPr>
              <a:t>对给定无向图</a:t>
            </a:r>
            <a:r>
              <a:rPr kumimoji="0" lang="en-US" altLang="zh-CN" sz="3200" b="1" dirty="0">
                <a:solidFill>
                  <a:srgbClr val="000000"/>
                </a:solidFill>
                <a:latin typeface="+mn-ea"/>
                <a:ea typeface="+mn-ea"/>
              </a:rPr>
              <a:t>G</a:t>
            </a:r>
            <a:r>
              <a:rPr kumimoji="0" lang="en-US" altLang="zh-CN" sz="3200" b="1" baseline="-25000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kumimoji="0" lang="zh-CN" altLang="en-US" sz="3200" b="1" dirty="0">
                <a:solidFill>
                  <a:srgbClr val="000000"/>
                </a:solidFill>
                <a:latin typeface="+mn-ea"/>
                <a:ea typeface="+mn-ea"/>
              </a:rPr>
              <a:t>和有向图</a:t>
            </a:r>
            <a:r>
              <a:rPr kumimoji="0" lang="en-US" altLang="zh-CN" sz="3200" b="1" dirty="0">
                <a:solidFill>
                  <a:srgbClr val="000000"/>
                </a:solidFill>
                <a:latin typeface="+mn-ea"/>
                <a:ea typeface="+mn-ea"/>
              </a:rPr>
              <a:t>G</a:t>
            </a:r>
            <a:r>
              <a:rPr kumimoji="0" lang="en-US" altLang="zh-CN" sz="3200" b="1" baseline="-25000" dirty="0">
                <a:solidFill>
                  <a:srgbClr val="000000"/>
                </a:solidFill>
                <a:latin typeface="+mn-ea"/>
                <a:ea typeface="+mn-ea"/>
              </a:rPr>
              <a:t>2</a:t>
            </a:r>
            <a:r>
              <a:rPr kumimoji="0" lang="zh-CN" altLang="en-US" sz="3200" b="1" dirty="0">
                <a:solidFill>
                  <a:srgbClr val="000000"/>
                </a:solidFill>
                <a:latin typeface="+mn-ea"/>
                <a:ea typeface="+mn-ea"/>
              </a:rPr>
              <a:t>，对其分别建立邻接表。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3396624"/>
            <a:ext cx="7434561" cy="250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931015"/>
      </p:ext>
    </p:extLst>
  </p:cSld>
  <p:clrMapOvr>
    <a:masterClrMapping/>
  </p:clrMapOvr>
  <p:transition spd="med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2D4758-010B-4E3C-9562-225305E3AFA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7348" name="Rectangle 5"/>
          <p:cNvSpPr>
            <a:spLocks noChangeArrowheads="1"/>
          </p:cNvSpPr>
          <p:nvPr/>
        </p:nvSpPr>
        <p:spPr bwMode="auto">
          <a:xfrm>
            <a:off x="0" y="2738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7351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59769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题</a:t>
            </a:r>
          </a:p>
        </p:txBody>
      </p:sp>
      <p:pic>
        <p:nvPicPr>
          <p:cNvPr id="5735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35"/>
          <p:cNvSpPr>
            <a:spLocks noChangeArrowheads="1"/>
          </p:cNvSpPr>
          <p:nvPr/>
        </p:nvSpPr>
        <p:spPr bwMode="auto">
          <a:xfrm>
            <a:off x="284163" y="1916832"/>
            <a:ext cx="8691562" cy="9787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  <a:defRPr/>
            </a:pPr>
            <a:r>
              <a:rPr kumimoji="0"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【</a:t>
            </a:r>
            <a:r>
              <a:rPr kumimoji="0"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kumimoji="0"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】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无向图</a:t>
            </a: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G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的邻接表如下所示，显然结点</a:t>
            </a: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v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邻接边另一端点分别为</a:t>
            </a: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v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+mn-ea"/>
                <a:ea typeface="+mn-ea"/>
              </a:rPr>
              <a:t>4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和</a:t>
            </a: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v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+mn-ea"/>
                <a:ea typeface="+mn-ea"/>
              </a:rPr>
              <a:t>2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，结点</a:t>
            </a: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v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+mn-ea"/>
                <a:ea typeface="+mn-ea"/>
              </a:rPr>
              <a:t>3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的邻接边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</a:rPr>
              <a:t>另一端点分别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为</a:t>
            </a: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v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+mn-ea"/>
                <a:ea typeface="+mn-ea"/>
              </a:rPr>
              <a:t>2</a:t>
            </a: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,v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+mn-ea"/>
                <a:ea typeface="+mn-ea"/>
              </a:rPr>
              <a:t>4</a:t>
            </a: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,v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+mn-ea"/>
                <a:ea typeface="+mn-ea"/>
              </a:rPr>
              <a:t>5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819" y="2996952"/>
            <a:ext cx="5472906" cy="3079941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BA1D98A4-24A4-49FA-954F-36EE9B7D5A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3703639"/>
            <a:ext cx="3063479" cy="145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972615"/>
      </p:ext>
    </p:extLst>
  </p:cSld>
  <p:clrMapOvr>
    <a:masterClrMapping/>
  </p:clrMapOvr>
  <p:transition spd="med"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2D4758-010B-4E3C-9562-225305E3AFA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7348" name="Rectangle 5"/>
          <p:cNvSpPr>
            <a:spLocks noChangeArrowheads="1"/>
          </p:cNvSpPr>
          <p:nvPr/>
        </p:nvSpPr>
        <p:spPr bwMode="auto">
          <a:xfrm>
            <a:off x="0" y="2738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7351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59769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题</a:t>
            </a:r>
          </a:p>
        </p:txBody>
      </p:sp>
      <p:pic>
        <p:nvPicPr>
          <p:cNvPr id="5735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35"/>
          <p:cNvSpPr>
            <a:spLocks noChangeArrowheads="1"/>
          </p:cNvSpPr>
          <p:nvPr/>
        </p:nvSpPr>
        <p:spPr bwMode="auto">
          <a:xfrm>
            <a:off x="284163" y="1916832"/>
            <a:ext cx="8691562" cy="97872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  <a:defRPr/>
            </a:pPr>
            <a:r>
              <a:rPr kumimoji="0"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【</a:t>
            </a:r>
            <a:r>
              <a:rPr kumimoji="0"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kumimoji="0"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】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有向图</a:t>
            </a: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G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+mn-ea"/>
                <a:ea typeface="+mn-ea"/>
              </a:rPr>
              <a:t>2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的邻接表如下所示，显然结点</a:t>
            </a: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v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的邻接边的终点分别为</a:t>
            </a: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v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+mn-ea"/>
                <a:ea typeface="+mn-ea"/>
              </a:rPr>
              <a:t>4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和</a:t>
            </a: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v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+mn-ea"/>
                <a:ea typeface="+mn-ea"/>
              </a:rPr>
              <a:t>2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，结点</a:t>
            </a: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v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+mn-ea"/>
                <a:ea typeface="+mn-ea"/>
              </a:rPr>
              <a:t>3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的邻接边终点为</a:t>
            </a:r>
            <a:r>
              <a:rPr kumimoji="0"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v</a:t>
            </a:r>
            <a:r>
              <a:rPr kumimoji="0" lang="en-US" altLang="zh-CN" b="1" baseline="-25000" dirty="0">
                <a:solidFill>
                  <a:srgbClr val="000000"/>
                </a:solidFill>
                <a:latin typeface="+mn-ea"/>
                <a:ea typeface="+mn-ea"/>
              </a:rPr>
              <a:t>4</a:t>
            </a:r>
            <a:r>
              <a:rPr kumimoji="0"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972" y="3049662"/>
            <a:ext cx="5436753" cy="311618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BD5FFE7-84B8-4286-8DCA-F048F2D71C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52" y="3429000"/>
            <a:ext cx="2592288" cy="220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461327"/>
      </p:ext>
    </p:extLst>
  </p:cSld>
  <p:clrMapOvr>
    <a:masterClrMapping/>
  </p:clrMapOvr>
  <p:transition spd="med">
    <p:wipe dir="r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日期占位符 3">
            <a:extLst>
              <a:ext uri="{FF2B5EF4-FFF2-40B4-BE49-F238E27FC236}">
                <a16:creationId xmlns:a16="http://schemas.microsoft.com/office/drawing/2014/main" id="{E9DEAC2B-9A4B-45BB-848B-9C234DEE8636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5254934-0C39-4267-8B95-3F40AD5EB362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0899" name="Text Box 2">
            <a:extLst>
              <a:ext uri="{FF2B5EF4-FFF2-40B4-BE49-F238E27FC236}">
                <a16:creationId xmlns:a16="http://schemas.microsoft.com/office/drawing/2014/main" id="{BBB78957-511A-4215-80BD-406A1601F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1412875"/>
            <a:ext cx="6335713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zh-CN" altLang="en-US" sz="5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本节内容到此结束</a:t>
            </a:r>
            <a:endParaRPr lang="en-US" altLang="zh-CN" sz="5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900" name="WordArt 6">
            <a:extLst>
              <a:ext uri="{FF2B5EF4-FFF2-40B4-BE49-F238E27FC236}">
                <a16:creationId xmlns:a16="http://schemas.microsoft.com/office/drawing/2014/main" id="{501CC8AA-ED62-43C1-8670-518D4FB1B26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590800" y="3048000"/>
            <a:ext cx="4419600" cy="25146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58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</a:rPr>
              <a:t>谢谢大家！</a:t>
            </a:r>
          </a:p>
        </p:txBody>
      </p:sp>
    </p:spTree>
  </p:cSld>
  <p:clrMapOvr>
    <a:masterClrMapping/>
  </p:clrMapOvr>
  <p:transition spd="med">
    <p:wipe dir="r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08FDE9C-A9CF-42A4-B74B-1D7EF2057DFA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CCB87DA-48A4-4567-A6B2-92DD14E666A6}"/>
              </a:ext>
            </a:extLst>
          </p:cNvPr>
          <p:cNvGrpSpPr/>
          <p:nvPr/>
        </p:nvGrpSpPr>
        <p:grpSpPr>
          <a:xfrm>
            <a:off x="2267744" y="2852936"/>
            <a:ext cx="4724400" cy="2232248"/>
            <a:chOff x="2267744" y="2852936"/>
            <a:chExt cx="4724400" cy="2232248"/>
          </a:xfrm>
        </p:grpSpPr>
        <p:sp>
          <p:nvSpPr>
            <p:cNvPr id="1170441" name="AutoShape 9"/>
            <p:cNvSpPr>
              <a:spLocks noChangeArrowheads="1"/>
            </p:cNvSpPr>
            <p:nvPr/>
          </p:nvSpPr>
          <p:spPr bwMode="gray">
            <a:xfrm>
              <a:off x="2648744" y="3010064"/>
              <a:ext cx="4343400" cy="606291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hlink"/>
                </a:gs>
                <a:gs pos="50000">
                  <a:schemeClr val="hlink">
                    <a:gamma/>
                    <a:tint val="21176"/>
                    <a:invGamma/>
                  </a:schemeClr>
                </a:gs>
                <a:gs pos="100000">
                  <a:schemeClr val="hlink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3200"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32774" name="AutoShape 10"/>
            <p:cNvSpPr>
              <a:spLocks noChangeArrowheads="1"/>
            </p:cNvSpPr>
            <p:nvPr/>
          </p:nvSpPr>
          <p:spPr bwMode="gray">
            <a:xfrm>
              <a:off x="2267744" y="2852936"/>
              <a:ext cx="685800" cy="909436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32775" name="Text Box 11"/>
            <p:cNvSpPr txBox="1">
              <a:spLocks noChangeArrowheads="1"/>
            </p:cNvSpPr>
            <p:nvPr/>
          </p:nvSpPr>
          <p:spPr bwMode="gray">
            <a:xfrm>
              <a:off x="2877344" y="3049742"/>
              <a:ext cx="3429000" cy="5237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  图的概念与表示</a:t>
              </a:r>
            </a:p>
          </p:txBody>
        </p:sp>
        <p:sp>
          <p:nvSpPr>
            <p:cNvPr id="32776" name="Text Box 12"/>
            <p:cNvSpPr txBox="1">
              <a:spLocks noChangeArrowheads="1"/>
            </p:cNvSpPr>
            <p:nvPr/>
          </p:nvSpPr>
          <p:spPr bwMode="gray">
            <a:xfrm>
              <a:off x="2415382" y="2983082"/>
              <a:ext cx="365125" cy="5237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dirty="0">
                  <a:solidFill>
                    <a:schemeClr val="bg1"/>
                  </a:solidFill>
                  <a:latin typeface="黑体" panose="02010609060101010101" pitchFamily="49" charset="-122"/>
                </a:rPr>
                <a:t>1</a:t>
              </a:r>
            </a:p>
          </p:txBody>
        </p:sp>
        <p:sp>
          <p:nvSpPr>
            <p:cNvPr id="32780" name="Text Box 17"/>
            <p:cNvSpPr txBox="1">
              <a:spLocks noChangeArrowheads="1"/>
            </p:cNvSpPr>
            <p:nvPr/>
          </p:nvSpPr>
          <p:spPr bwMode="gray">
            <a:xfrm>
              <a:off x="2407444" y="4166225"/>
              <a:ext cx="363538" cy="518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dirty="0">
                  <a:solidFill>
                    <a:schemeClr val="bg1"/>
                  </a:solidFill>
                  <a:latin typeface="黑体" panose="02010609060101010101" pitchFamily="49" charset="-122"/>
                </a:rPr>
                <a:t>3</a:t>
              </a:r>
            </a:p>
          </p:txBody>
        </p:sp>
        <p:sp>
          <p:nvSpPr>
            <p:cNvPr id="32781" name="AutoShape 19"/>
            <p:cNvSpPr>
              <a:spLocks noChangeArrowheads="1"/>
            </p:cNvSpPr>
            <p:nvPr/>
          </p:nvSpPr>
          <p:spPr bwMode="gray">
            <a:xfrm>
              <a:off x="2648744" y="4348747"/>
              <a:ext cx="4343400" cy="593593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540000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99190" dir="238833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32782" name="AutoShape 20"/>
            <p:cNvSpPr>
              <a:spLocks noChangeArrowheads="1"/>
            </p:cNvSpPr>
            <p:nvPr/>
          </p:nvSpPr>
          <p:spPr bwMode="gray">
            <a:xfrm>
              <a:off x="2267744" y="4194794"/>
              <a:ext cx="685800" cy="890390"/>
            </a:xfrm>
            <a:prstGeom prst="diamond">
              <a:avLst/>
            </a:prstGeom>
            <a:solidFill>
              <a:srgbClr val="CC9900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63500" dir="2212194" algn="ctr" rotWithShape="0">
                      <a:srgbClr val="333333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32783" name="Text Box 21"/>
            <p:cNvSpPr txBox="1">
              <a:spLocks noChangeArrowheads="1"/>
            </p:cNvSpPr>
            <p:nvPr/>
          </p:nvSpPr>
          <p:spPr bwMode="gray">
            <a:xfrm>
              <a:off x="2877344" y="4383664"/>
              <a:ext cx="3429000" cy="518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zh-CN" altLang="en-US" sz="2800" b="1" dirty="0">
                  <a:latin typeface="黑体" panose="02010609060101010101" pitchFamily="49" charset="-122"/>
                </a:rPr>
                <a:t>   </a:t>
              </a:r>
              <a:r>
                <a:rPr kumimoji="0" lang="zh-CN" altLang="en-US" sz="28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图的运算与结构</a:t>
              </a:r>
            </a:p>
          </p:txBody>
        </p:sp>
        <p:sp>
          <p:nvSpPr>
            <p:cNvPr id="32784" name="Text Box 22"/>
            <p:cNvSpPr txBox="1">
              <a:spLocks noChangeArrowheads="1"/>
            </p:cNvSpPr>
            <p:nvPr/>
          </p:nvSpPr>
          <p:spPr bwMode="gray">
            <a:xfrm>
              <a:off x="2415382" y="4374142"/>
              <a:ext cx="365125" cy="5237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92457" dir="9843276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CN" sz="2800" b="1" dirty="0">
                  <a:solidFill>
                    <a:schemeClr val="bg1"/>
                  </a:solidFill>
                  <a:latin typeface="黑体" panose="02010609060101010101" pitchFamily="49" charset="-122"/>
                </a:rPr>
                <a:t>2</a:t>
              </a:r>
            </a:p>
          </p:txBody>
        </p:sp>
      </p:grpSp>
      <p:sp>
        <p:nvSpPr>
          <p:cNvPr id="16410" name="Text Box 2"/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buClr>
                <a:schemeClr val="bg1"/>
              </a:buClr>
              <a:buSzPts val="5400"/>
              <a:buFont typeface="Wingdings" panose="05000000000000000000" pitchFamily="2" charset="2"/>
              <a:buChar char="&amp;"/>
              <a:defRPr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本章内容（上）</a:t>
            </a:r>
            <a:endParaRPr lang="zh-CN" altLang="en-U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72284475"/>
      </p:ext>
    </p:extLst>
  </p:cSld>
  <p:clrMapOvr>
    <a:masterClrMapping/>
  </p:clrMapOvr>
  <p:transition spd="med">
    <p:wipe dir="r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EF63B95-CEEE-452F-A1BF-6F35335C22F2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5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3796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87295F5-B732-4FA7-8470-0A815CEF7876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62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7" name="Rectangle 4"/>
          <p:cNvSpPr>
            <a:spLocks noGrp="1" noChangeArrowheads="1"/>
          </p:cNvSpPr>
          <p:nvPr>
            <p:ph type="ctrTitle" idx="4294967295"/>
          </p:nvPr>
        </p:nvSpPr>
        <p:spPr>
          <a:xfrm>
            <a:off x="1190625" y="2565400"/>
            <a:ext cx="7197725" cy="1439863"/>
          </a:xfrm>
          <a:solidFill>
            <a:srgbClr val="0000FF"/>
          </a:solidFill>
        </p:spPr>
        <p:txBody>
          <a:bodyPr/>
          <a:lstStyle/>
          <a:p>
            <a:pPr eaLnBrk="1" hangingPunct="1"/>
            <a:r>
              <a:rPr lang="zh-CN" altLang="en-US" sz="6600" b="1" dirty="0">
                <a:solidFill>
                  <a:schemeClr val="bg1"/>
                </a:solidFill>
              </a:rPr>
              <a:t>图的运算与结构</a:t>
            </a:r>
          </a:p>
        </p:txBody>
      </p:sp>
      <p:pic>
        <p:nvPicPr>
          <p:cNvPr id="33798" name="Picture 7" descr="C:\Program Files\Microsoft Office\MEDIA\CAGCAT10\j0292982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9039473"/>
      </p:ext>
    </p:extLst>
  </p:cSld>
  <p:clrMapOvr>
    <a:masterClrMapping/>
  </p:clrMapOvr>
  <p:transition spd="med">
    <p:wipe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E4466D0-807A-4BE1-802C-407627961677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4820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6A502F4-5142-4EA4-B936-3FE286B537F5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63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1" name="Text Box 2"/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图的运算与结构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83768" y="2564904"/>
            <a:ext cx="4537075" cy="2665263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J"/>
            </a:pPr>
            <a:r>
              <a:rPr lang="en-US" altLang="zh-CN" sz="36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zh-CN" altLang="en-US" sz="36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图的基本运算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图模型的度结构</a:t>
            </a:r>
            <a:endParaRPr lang="en-US" altLang="zh-CN" sz="3600" b="1" dirty="0">
              <a:effectLst/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图同构及其判定</a:t>
            </a:r>
          </a:p>
        </p:txBody>
      </p:sp>
      <p:pic>
        <p:nvPicPr>
          <p:cNvPr id="34823" name="Picture 7" descr="C:\Program Files\Microsoft Office\MEDIA\CAGCAT10\j0292982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6341222"/>
      </p:ext>
    </p:extLst>
  </p:cSld>
  <p:clrMapOvr>
    <a:masterClrMapping/>
  </p:clrMapOvr>
  <p:transition spd="med">
    <p:wipe dir="r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E4466D0-807A-4BE1-802C-407627961677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4820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6A502F4-5142-4EA4-B936-3FE286B537F5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64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1" name="Text Box 2"/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图的基本运算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5576" y="2060848"/>
            <a:ext cx="7632847" cy="1152128"/>
          </a:xfrm>
          <a:solidFill>
            <a:schemeClr val="accent5"/>
          </a:solidFill>
        </p:spPr>
        <p:txBody>
          <a:bodyPr lIns="92075" tIns="46038" rIns="92075" bIns="46038"/>
          <a:lstStyle/>
          <a:p>
            <a:pPr marL="0" indent="0" eaLnBrk="1" hangingPunct="1">
              <a:lnSpc>
                <a:spcPct val="140000"/>
              </a:lnSpc>
              <a:buNone/>
            </a:pPr>
            <a:r>
              <a:rPr lang="zh-CN" altLang="en-US" b="1" dirty="0">
                <a:effectLst/>
              </a:rPr>
              <a:t>      可以根据图模型特点定义</a:t>
            </a:r>
            <a:r>
              <a:rPr lang="zh-CN" altLang="en-US" b="1" dirty="0">
                <a:solidFill>
                  <a:schemeClr val="accent2"/>
                </a:solidFill>
                <a:effectLst/>
              </a:rPr>
              <a:t>图运算</a:t>
            </a:r>
            <a:r>
              <a:rPr lang="zh-CN" altLang="en-US" b="1" dirty="0">
                <a:effectLst/>
              </a:rPr>
              <a:t>以产生新的图模型。以图作为运算对象的运算称为</a:t>
            </a:r>
            <a:r>
              <a:rPr lang="zh-CN" altLang="en-US" b="1" dirty="0">
                <a:solidFill>
                  <a:schemeClr val="accent2"/>
                </a:solidFill>
                <a:effectLst/>
              </a:rPr>
              <a:t>图运算</a:t>
            </a:r>
            <a:r>
              <a:rPr lang="zh-CN" altLang="en-US" b="1" dirty="0">
                <a:effectLst/>
              </a:rPr>
              <a:t>。</a:t>
            </a:r>
            <a:endParaRPr lang="zh-CN" altLang="en-US" b="1" dirty="0">
              <a:effectLst/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1D8CD6-70CE-41CF-AE4E-6BECBA320B6B}"/>
              </a:ext>
            </a:extLst>
          </p:cNvPr>
          <p:cNvSpPr txBox="1"/>
          <p:nvPr/>
        </p:nvSpPr>
        <p:spPr>
          <a:xfrm>
            <a:off x="2915816" y="3522811"/>
            <a:ext cx="3384376" cy="219290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solidFill>
                  <a:schemeClr val="tx1"/>
                </a:solidFill>
              </a:rPr>
              <a:t> </a:t>
            </a:r>
            <a:r>
              <a:rPr lang="zh-CN" altLang="en-US" sz="3200" b="1" dirty="0">
                <a:solidFill>
                  <a:srgbClr val="FFFF00"/>
                </a:solidFill>
              </a:rPr>
              <a:t>图的集合运算</a:t>
            </a:r>
            <a:endParaRPr lang="en-US" altLang="zh-CN" sz="3200" b="1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FF00"/>
                </a:solidFill>
              </a:rPr>
              <a:t> 图的结构运算</a:t>
            </a:r>
            <a:endParaRPr lang="en-US" altLang="zh-CN" sz="3200" b="1" dirty="0">
              <a:solidFill>
                <a:srgbClr val="FFFF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FF00"/>
                </a:solidFill>
              </a:rPr>
              <a:t> 子图与补图运算</a:t>
            </a:r>
          </a:p>
        </p:txBody>
      </p:sp>
    </p:spTree>
    <p:extLst>
      <p:ext uri="{BB962C8B-B14F-4D97-AF65-F5344CB8AC3E}">
        <p14:creationId xmlns:p14="http://schemas.microsoft.com/office/powerpoint/2010/main" val="4258848816"/>
      </p:ext>
    </p:extLst>
  </p:cSld>
  <p:clrMapOvr>
    <a:masterClrMapping/>
  </p:clrMapOvr>
  <p:transition spd="med">
    <p:wipe dir="r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1AA585F-72D3-4AB4-A3BB-A3463D6423C6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74755" name="Text Box 2"/>
          <p:cNvSpPr txBox="1">
            <a:spLocks noChangeArrowheads="1"/>
          </p:cNvSpPr>
          <p:nvPr/>
        </p:nvSpPr>
        <p:spPr bwMode="auto">
          <a:xfrm>
            <a:off x="1331913" y="836613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图的集合运算</a:t>
            </a:r>
          </a:p>
        </p:txBody>
      </p:sp>
      <p:pic>
        <p:nvPicPr>
          <p:cNvPr id="74756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7" name="Text Box 6"/>
          <p:cNvSpPr txBox="1">
            <a:spLocks noChangeArrowheads="1"/>
          </p:cNvSpPr>
          <p:nvPr/>
        </p:nvSpPr>
        <p:spPr bwMode="auto">
          <a:xfrm>
            <a:off x="2771800" y="2636912"/>
            <a:ext cx="3743325" cy="2800767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图模型的</a:t>
            </a:r>
            <a:r>
              <a:rPr kumimoji="0" lang="zh-CN" altLang="en-US" sz="3200" b="1" dirty="0">
                <a:solidFill>
                  <a:srgbClr val="CC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</a:t>
            </a:r>
            <a:r>
              <a:rPr kumimoji="0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运算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图模型的</a:t>
            </a:r>
            <a:r>
              <a:rPr kumimoji="0" lang="zh-CN" altLang="en-US" sz="3200" b="1" dirty="0">
                <a:solidFill>
                  <a:srgbClr val="CC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</a:t>
            </a:r>
            <a:r>
              <a:rPr kumimoji="0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运算</a:t>
            </a:r>
            <a:endParaRPr kumimoji="0"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图模型的</a:t>
            </a:r>
            <a:r>
              <a:rPr kumimoji="0" lang="zh-CN" altLang="en-US" sz="3200" b="1" dirty="0">
                <a:solidFill>
                  <a:srgbClr val="CC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差</a:t>
            </a:r>
            <a:r>
              <a:rPr kumimoji="0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运算</a:t>
            </a:r>
            <a:endParaRPr kumimoji="0"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图模型的</a:t>
            </a:r>
            <a:r>
              <a:rPr kumimoji="0" lang="zh-CN" altLang="en-US" sz="3200" b="1" dirty="0">
                <a:solidFill>
                  <a:srgbClr val="CC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环和</a:t>
            </a:r>
            <a:r>
              <a:rPr kumimoji="0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运算</a:t>
            </a:r>
          </a:p>
        </p:txBody>
      </p:sp>
    </p:spTree>
    <p:extLst>
      <p:ext uri="{BB962C8B-B14F-4D97-AF65-F5344CB8AC3E}">
        <p14:creationId xmlns:p14="http://schemas.microsoft.com/office/powerpoint/2010/main" val="624015245"/>
      </p:ext>
    </p:extLst>
  </p:cSld>
  <p:clrMapOvr>
    <a:masterClrMapping/>
  </p:clrMapOvr>
  <p:transition spd="med">
    <p:wipe dir="r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E4466D0-807A-4BE1-802C-407627961677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4820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6A502F4-5142-4EA4-B936-3FE286B537F5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66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1" name="Text Box 2"/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图的集合运算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22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755576" y="2060712"/>
                <a:ext cx="7920879" cy="3960539"/>
              </a:xfrm>
              <a:solidFill>
                <a:schemeClr val="accent5"/>
              </a:solidFill>
            </p:spPr>
            <p:txBody>
              <a:bodyPr lIns="92075" tIns="46038" rIns="92075" bIns="46038"/>
              <a:lstStyle/>
              <a:p>
                <a:pPr marL="0" indent="0" eaLnBrk="1" hangingPunct="1">
                  <a:lnSpc>
                    <a:spcPct val="200000"/>
                  </a:lnSpc>
                  <a:buNone/>
                </a:pPr>
                <a:r>
                  <a:rPr lang="zh-CN" altLang="en-US" sz="28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   </a:t>
                </a:r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800" b="1" i="1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800" b="1" i="1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是任意给定的两个图模型，则有：</a:t>
                </a:r>
                <a:endParaRPr lang="en-US" altLang="zh-CN" sz="2800" b="1" dirty="0"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ct val="200000"/>
                  </a:lnSpc>
                  <a:buNone/>
                </a:pPr>
                <a:r>
                  <a:rPr lang="en-US" altLang="zh-CN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   (1)</a:t>
                </a:r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楷体_GB2312" pitchFamily="49" charset="-122"/>
                      </a:rPr>
                      <m:t>∅</m:t>
                    </m:r>
                    <m:r>
                      <a:rPr lang="zh-CN" altLang="en-US" sz="2800" b="1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楷体_GB2312" pitchFamily="49" charset="-122"/>
                      </a:rPr>
                      <m:t>，</m:t>
                    </m:r>
                  </m:oMath>
                </a14:m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为</a:t>
                </a:r>
                <a:r>
                  <a:rPr lang="zh-CN" altLang="en-US" sz="2800" b="1" dirty="0">
                    <a:solidFill>
                      <a:schemeClr val="accent2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不交</a:t>
                </a:r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；</a:t>
                </a:r>
                <a:endParaRPr lang="en-US" altLang="zh-CN" sz="2800" b="1" dirty="0"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ct val="200000"/>
                  </a:lnSpc>
                  <a:buNone/>
                </a:pPr>
                <a:r>
                  <a:rPr lang="en-US" altLang="zh-CN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   (2)</a:t>
                </a:r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effectLst/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楷体_GB2312" pitchFamily="49" charset="-122"/>
                      </a:rPr>
                      <m:t>∅</m:t>
                    </m:r>
                  </m:oMath>
                </a14:m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，则称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为</a:t>
                </a:r>
                <a:r>
                  <a:rPr lang="zh-CN" altLang="en-US" sz="2800" b="1" dirty="0">
                    <a:solidFill>
                      <a:schemeClr val="accent2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不重</a:t>
                </a:r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3482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755576" y="2060712"/>
                <a:ext cx="7920879" cy="3960539"/>
              </a:xfrm>
              <a:blipFill>
                <a:blip r:embed="rId3"/>
                <a:stretch>
                  <a:fillRect l="-15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0569415"/>
      </p:ext>
    </p:extLst>
  </p:cSld>
  <p:clrMapOvr>
    <a:masterClrMapping/>
  </p:clrMapOvr>
  <p:transition spd="med">
    <p:wipe dir="r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E4466D0-807A-4BE1-802C-407627961677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4820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6A502F4-5142-4EA4-B936-3FE286B537F5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67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1" name="Text Box 2"/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图的集合运算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22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467544" y="2060848"/>
                <a:ext cx="8280920" cy="1332184"/>
              </a:xfrm>
              <a:solidFill>
                <a:schemeClr val="accent5"/>
              </a:solidFill>
            </p:spPr>
            <p:txBody>
              <a:bodyPr lIns="92075" tIns="46038" rIns="92075" bIns="46038"/>
              <a:lstStyle/>
              <a:p>
                <a:pPr marL="0" indent="0" eaLnBrk="1" hangingPunct="1">
                  <a:lnSpc>
                    <a:spcPct val="140000"/>
                  </a:lnSpc>
                  <a:buNone/>
                </a:pPr>
                <a:r>
                  <a:rPr lang="zh-CN" altLang="en-US" sz="28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   </a:t>
                </a:r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800" b="1" i="1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800" b="1" i="1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是分别为</a:t>
                </a:r>
                <a:r>
                  <a:rPr lang="zh-CN" altLang="en-US" sz="2800" b="1" dirty="0">
                    <a:solidFill>
                      <a:srgbClr val="FF000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不含孤立结点</a:t>
                </a:r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的图模型（</a:t>
                </a:r>
                <a:r>
                  <a:rPr lang="zh-CN" altLang="en-US" sz="2800" b="1" dirty="0">
                    <a:solidFill>
                      <a:schemeClr val="accent2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同为无向图或有向图</a:t>
                </a:r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）。</a:t>
                </a:r>
                <a:endParaRPr lang="en-US" altLang="zh-CN" sz="2800" b="1" dirty="0"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楷体_GB2312" pitchFamily="49" charset="-122"/>
                </a:endParaRPr>
              </a:p>
            </p:txBody>
          </p:sp>
        </mc:Choice>
        <mc:Fallback xmlns="">
          <p:sp>
            <p:nvSpPr>
              <p:cNvPr id="3482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467544" y="2060848"/>
                <a:ext cx="8280920" cy="1332184"/>
              </a:xfrm>
              <a:blipFill>
                <a:blip r:embed="rId3"/>
                <a:stretch>
                  <a:fillRect l="-1546" b="-2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95222" y="3702867"/>
                <a:ext cx="8208912" cy="2253759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 marL="0" indent="0" eaLnBrk="1" hangingPunct="1">
                  <a:lnSpc>
                    <a:spcPct val="140000"/>
                  </a:lnSpc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  （</a:t>
                </a:r>
                <a:r>
                  <a:rPr lang="en-US" altLang="zh-CN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1</a:t>
                </a:r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）令图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400" b="1" i="1" dirty="0">
                            <a:solidFill>
                              <a:schemeClr val="accent6"/>
                            </a:solidFill>
                            <a:latin typeface="+mj-lt"/>
                            <a:cs typeface="楷体_GB2312" pitchFamily="49" charset="-122"/>
                          </a:rPr>
                          <m:t>V</m:t>
                        </m:r>
                        <m:r>
                          <a:rPr lang="en-US" altLang="zh-CN" sz="2400" b="1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sz="2400" b="1" i="1" dirty="0">
                            <a:solidFill>
                              <a:schemeClr val="accent6"/>
                            </a:solidFill>
                            <a:latin typeface="+mj-lt"/>
                            <a:cs typeface="楷体_GB2312" pitchFamily="49" charset="-122"/>
                          </a:rPr>
                          <m:t>E</m:t>
                        </m:r>
                      </m:e>
                    </m:d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，称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的</a:t>
                </a:r>
                <a:r>
                  <a:rPr lang="zh-CN" altLang="en-US" sz="2400" b="1" dirty="0">
                    <a:solidFill>
                      <a:schemeClr val="accent2"/>
                    </a:solidFill>
                    <a:effectLst/>
                    <a:cs typeface="楷体_GB2312" pitchFamily="49" charset="-122"/>
                  </a:rPr>
                  <a:t>并图，</a:t>
                </a:r>
                <a:endParaRPr lang="en-US" altLang="zh-CN" sz="2400" b="1" dirty="0">
                  <a:solidFill>
                    <a:schemeClr val="accent2"/>
                  </a:solidFill>
                  <a:effectLst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ct val="140000"/>
                  </a:lnSpc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其中：</a:t>
                </a:r>
                <a:endParaRPr lang="en-US" altLang="zh-CN" sz="2400" b="1" dirty="0">
                  <a:solidFill>
                    <a:schemeClr val="tx1"/>
                  </a:solidFill>
                  <a:effectLst/>
                  <a:cs typeface="楷体_GB2312" pitchFamily="49" charset="-122"/>
                </a:endParaRPr>
              </a:p>
              <a:p>
                <a:pPr marL="0" indent="0" algn="ctr" eaLnBrk="1" hangingPunct="1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8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chemeClr val="accent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accent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accent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chemeClr val="accent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accent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accent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800" b="1" dirty="0">
                    <a:solidFill>
                      <a:schemeClr val="accent2"/>
                    </a:solidFill>
                    <a:effectLst/>
                    <a:cs typeface="楷体_GB2312" pitchFamily="49" charset="-122"/>
                  </a:rPr>
                  <a:t>，</a:t>
                </a:r>
                <a:r>
                  <a:rPr lang="en-US" altLang="zh-CN" sz="2800" b="1" dirty="0">
                    <a:solidFill>
                      <a:schemeClr val="accent2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8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chemeClr val="accent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accent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accent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chemeClr val="accent2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accent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accent2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zh-CN" sz="2800" b="1" dirty="0">
                  <a:solidFill>
                    <a:schemeClr val="tx1"/>
                  </a:solidFill>
                  <a:effectLst/>
                </a:endParaRPr>
              </a:p>
              <a:p>
                <a:pPr marL="0" indent="0" eaLnBrk="1" hangingPunct="1">
                  <a:lnSpc>
                    <a:spcPct val="150000"/>
                  </a:lnSpc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  <a:effectLst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accent2"/>
                    </a:solidFill>
                    <a:effectLst/>
                  </a:rPr>
                  <a:t>没有公共边时</a:t>
                </a:r>
                <a:r>
                  <a:rPr lang="zh-CN" altLang="en-US" sz="2400" b="1" dirty="0">
                    <a:solidFill>
                      <a:schemeClr val="tx1"/>
                    </a:solidFill>
                    <a:effectLst/>
                  </a:rPr>
                  <a:t>，称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</a:rPr>
                  <a:t>的</a:t>
                </a:r>
                <a:r>
                  <a:rPr lang="zh-CN" altLang="en-US" sz="2400" b="1" dirty="0">
                    <a:solidFill>
                      <a:schemeClr val="accent6"/>
                    </a:solidFill>
                    <a:effectLst/>
                  </a:rPr>
                  <a:t>不重并</a:t>
                </a:r>
                <a:r>
                  <a:rPr lang="zh-CN" altLang="en-US" sz="2400" b="1" dirty="0">
                    <a:solidFill>
                      <a:srgbClr val="00B050"/>
                    </a:solidFill>
                    <a:effectLst/>
                  </a:rPr>
                  <a:t>。</a:t>
                </a:r>
                <a:endParaRPr lang="en-US" altLang="zh-CN" sz="2400" b="1" dirty="0">
                  <a:solidFill>
                    <a:srgbClr val="00B05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222" y="3702867"/>
                <a:ext cx="8208912" cy="2253759"/>
              </a:xfrm>
              <a:prstGeom prst="rect">
                <a:avLst/>
              </a:prstGeom>
              <a:blipFill>
                <a:blip r:embed="rId4"/>
                <a:stretch>
                  <a:fillRect l="-1114" r="-4826" b="-45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9720123"/>
      </p:ext>
    </p:extLst>
  </p:cSld>
  <p:clrMapOvr>
    <a:masterClrMapping/>
  </p:clrMapOvr>
  <p:transition spd="med">
    <p:wipe dir="r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E4466D0-807A-4BE1-802C-407627961677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4820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6A502F4-5142-4EA4-B936-3FE286B537F5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68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1" name="Text Box 2"/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图的集合运算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67544" y="3709935"/>
                <a:ext cx="8280920" cy="239225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 marL="0" indent="0" eaLnBrk="1" hangingPunct="1">
                  <a:lnSpc>
                    <a:spcPct val="140000"/>
                  </a:lnSpc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  （</a:t>
                </a:r>
                <a:r>
                  <a:rPr lang="en-US" altLang="zh-CN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2</a:t>
                </a:r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）令图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400" b="1" i="1" dirty="0">
                            <a:solidFill>
                              <a:schemeClr val="accent6"/>
                            </a:solidFill>
                            <a:latin typeface="+mj-lt"/>
                            <a:cs typeface="楷体_GB2312" pitchFamily="49" charset="-122"/>
                          </a:rPr>
                          <m:t>V</m:t>
                        </m:r>
                        <m:r>
                          <a:rPr lang="en-US" altLang="zh-CN" sz="2400" b="1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sz="2400" b="1" i="1" dirty="0">
                            <a:solidFill>
                              <a:schemeClr val="accent6"/>
                            </a:solidFill>
                            <a:latin typeface="+mj-lt"/>
                            <a:cs typeface="楷体_GB2312" pitchFamily="49" charset="-122"/>
                          </a:rPr>
                          <m:t>E</m:t>
                        </m:r>
                      </m:e>
                    </m:d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，称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FF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的</a:t>
                </a:r>
                <a:r>
                  <a:rPr lang="zh-CN" altLang="en-US" sz="2400" b="1" dirty="0">
                    <a:solidFill>
                      <a:schemeClr val="accent6"/>
                    </a:solidFill>
                    <a:effectLst/>
                    <a:cs typeface="楷体_GB2312" pitchFamily="49" charset="-122"/>
                  </a:rPr>
                  <a:t>交图</a:t>
                </a:r>
                <a:r>
                  <a:rPr lang="zh-CN" altLang="en-US" sz="2400" b="1" dirty="0">
                    <a:solidFill>
                      <a:srgbClr val="00B050"/>
                    </a:solidFill>
                    <a:effectLst/>
                    <a:cs typeface="楷体_GB2312" pitchFamily="49" charset="-122"/>
                  </a:rPr>
                  <a:t>，</a:t>
                </a:r>
                <a:endParaRPr lang="en-US" altLang="zh-CN" sz="2400" b="1" dirty="0">
                  <a:solidFill>
                    <a:srgbClr val="00B050"/>
                  </a:solidFill>
                  <a:effectLst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ct val="140000"/>
                  </a:lnSpc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其中：</a:t>
                </a:r>
                <a:endParaRPr lang="en-US" altLang="zh-CN" sz="2400" b="1" dirty="0">
                  <a:solidFill>
                    <a:schemeClr val="tx1"/>
                  </a:solidFill>
                  <a:effectLst/>
                  <a:cs typeface="楷体_GB2312" pitchFamily="49" charset="-122"/>
                </a:endParaRPr>
              </a:p>
              <a:p>
                <a:pPr marL="0" indent="0" algn="ctr" eaLnBrk="1" hangingPunct="1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8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800" b="1" i="1" dirty="0">
                    <a:solidFill>
                      <a:srgbClr val="0000FF"/>
                    </a:solidFill>
                    <a:effectLst/>
                    <a:cs typeface="楷体_GB2312" pitchFamily="49" charset="-122"/>
                  </a:rPr>
                  <a:t>，</a:t>
                </a:r>
                <a:r>
                  <a:rPr lang="en-US" altLang="zh-CN" sz="2800" b="1" i="1" dirty="0">
                    <a:solidFill>
                      <a:srgbClr val="0000FF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8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 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zh-CN" sz="2800" b="1" i="1" dirty="0">
                  <a:solidFill>
                    <a:srgbClr val="FF00FF"/>
                  </a:solidFill>
                  <a:effectLst/>
                </a:endParaRPr>
              </a:p>
              <a:p>
                <a:pPr marL="0" indent="0" eaLnBrk="1" hangingPunct="1">
                  <a:lnSpc>
                    <a:spcPct val="2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zh-CN" altLang="en-US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</a:rPr>
                  <a:t>中</a:t>
                </a:r>
                <a:r>
                  <a:rPr lang="zh-CN" altLang="en-US" sz="2400" b="1" dirty="0">
                    <a:effectLst/>
                  </a:rPr>
                  <a:t>所有公共边组成的图</a:t>
                </a:r>
                <a:r>
                  <a:rPr lang="zh-CN" altLang="en-US" sz="2400" b="1" dirty="0">
                    <a:solidFill>
                      <a:schemeClr val="tx1"/>
                    </a:solidFill>
                    <a:effectLst/>
                  </a:rPr>
                  <a:t>。</a:t>
                </a:r>
                <a:endParaRPr lang="en-US" altLang="zh-CN" sz="2400" b="1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709935"/>
                <a:ext cx="8280920" cy="2392258"/>
              </a:xfrm>
              <a:prstGeom prst="rect">
                <a:avLst/>
              </a:prstGeom>
              <a:blipFill>
                <a:blip r:embed="rId3"/>
                <a:stretch>
                  <a:fillRect l="-1178" r="-810" b="-43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ABA7B2C3-E98A-4AF3-BAAC-4AF929F31C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7544" y="2060848"/>
                <a:ext cx="8280920" cy="1332184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  <a:effectLst/>
              <a:extLs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400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 kern="1200">
                    <a:solidFill>
                      <a:schemeClr val="tx1"/>
                    </a:solidFill>
                    <a:latin typeface="+mj-lt"/>
                    <a:ea typeface="+mj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kern="1200">
                    <a:solidFill>
                      <a:schemeClr val="tx1"/>
                    </a:solidFill>
                    <a:latin typeface="+mj-lt"/>
                    <a:ea typeface="+mj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1600" kern="1200">
                    <a:solidFill>
                      <a:schemeClr val="tx1"/>
                    </a:solidFill>
                    <a:latin typeface="+mj-lt"/>
                    <a:ea typeface="+mj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 kern="1200">
                    <a:solidFill>
                      <a:schemeClr val="tx1"/>
                    </a:solidFill>
                    <a:latin typeface="+mj-lt"/>
                    <a:ea typeface="+mj-ea"/>
                    <a:cs typeface="楷体_GB2312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140000"/>
                  </a:lnSpc>
                  <a:buFontTx/>
                  <a:buNone/>
                </a:pPr>
                <a:r>
                  <a:rPr lang="zh-CN" altLang="en-US" sz="28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   </a:t>
                </a:r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800" b="1" i="1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800" b="1" i="1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是分别为</a:t>
                </a:r>
                <a:r>
                  <a:rPr lang="zh-CN" altLang="en-US" sz="2800" b="1" dirty="0">
                    <a:solidFill>
                      <a:srgbClr val="FF000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不含孤立结点</a:t>
                </a:r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的图模型（</a:t>
                </a:r>
                <a:r>
                  <a:rPr lang="zh-CN" altLang="en-US" sz="2800" b="1" dirty="0">
                    <a:solidFill>
                      <a:schemeClr val="accent2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同为无向图或有向图</a:t>
                </a:r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）。</a:t>
                </a:r>
                <a:endParaRPr lang="en-US" altLang="zh-CN" sz="2800" b="1" dirty="0"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楷体_GB2312" pitchFamily="49" charset="-122"/>
                </a:endParaRPr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ABA7B2C3-E98A-4AF3-BAAC-4AF929F31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544" y="2060848"/>
                <a:ext cx="8280920" cy="1332184"/>
              </a:xfrm>
              <a:prstGeom prst="rect">
                <a:avLst/>
              </a:prstGeom>
              <a:blipFill>
                <a:blip r:embed="rId4"/>
                <a:stretch>
                  <a:fillRect l="-1546" b="-2740"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4951132"/>
      </p:ext>
    </p:extLst>
  </p:cSld>
  <p:clrMapOvr>
    <a:masterClrMapping/>
  </p:clrMapOvr>
  <p:transition spd="med">
    <p:wipe dir="r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E4466D0-807A-4BE1-802C-407627961677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4820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6A502F4-5142-4EA4-B936-3FE286B537F5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69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1" name="Text Box 2"/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图的集合运算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67544" y="3573016"/>
                <a:ext cx="8496944" cy="239225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 marL="0" indent="0" eaLnBrk="1" hangingPunct="1">
                  <a:lnSpc>
                    <a:spcPct val="140000"/>
                  </a:lnSpc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  （</a:t>
                </a:r>
                <a:r>
                  <a:rPr lang="en-US" altLang="zh-CN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3</a:t>
                </a:r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）令图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CN" sz="2400" b="1" i="1" dirty="0">
                            <a:solidFill>
                              <a:schemeClr val="accent6"/>
                            </a:solidFill>
                            <a:latin typeface="+mj-lt"/>
                            <a:cs typeface="楷体_GB2312" pitchFamily="49" charset="-122"/>
                          </a:rPr>
                          <m:t>V</m:t>
                        </m:r>
                        <m:r>
                          <a:rPr lang="en-US" altLang="zh-CN" sz="2400" b="1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cs typeface="楷体_GB2312" pitchFamily="49" charset="-122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sz="2400" b="1" i="1" dirty="0">
                            <a:solidFill>
                              <a:schemeClr val="accent6"/>
                            </a:solidFill>
                            <a:latin typeface="+mj-lt"/>
                            <a:cs typeface="楷体_GB2312" pitchFamily="49" charset="-122"/>
                          </a:rPr>
                          <m:t>E</m:t>
                        </m:r>
                      </m:e>
                    </m:d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，称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的</a:t>
                </a:r>
                <a:r>
                  <a:rPr lang="zh-CN" altLang="en-US" sz="2400" b="1" dirty="0">
                    <a:solidFill>
                      <a:schemeClr val="accent2"/>
                    </a:solidFill>
                    <a:effectLst/>
                    <a:cs typeface="楷体_GB2312" pitchFamily="49" charset="-122"/>
                  </a:rPr>
                  <a:t>差图</a:t>
                </a:r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，</a:t>
                </a:r>
                <a:endParaRPr lang="en-US" altLang="zh-CN" sz="2400" b="1" dirty="0">
                  <a:solidFill>
                    <a:schemeClr val="tx1"/>
                  </a:solidFill>
                  <a:effectLst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ct val="140000"/>
                  </a:lnSpc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其中：</a:t>
                </a:r>
                <a:endParaRPr lang="en-US" altLang="zh-CN" sz="2400" b="1" dirty="0">
                  <a:solidFill>
                    <a:schemeClr val="tx1"/>
                  </a:solidFill>
                  <a:effectLst/>
                  <a:cs typeface="楷体_GB2312" pitchFamily="49" charset="-122"/>
                </a:endParaRPr>
              </a:p>
              <a:p>
                <a:pPr marL="0" indent="0" algn="ctr" eaLnBrk="1" hangingPunct="1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8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800" b="1" dirty="0">
                    <a:solidFill>
                      <a:srgbClr val="0000FF"/>
                    </a:solidFill>
                    <a:effectLst/>
                    <a:ea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8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dirty="0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2800" b="1" i="1" dirty="0" smtClean="0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zh-CN" sz="2800" b="1" dirty="0">
                  <a:solidFill>
                    <a:schemeClr val="tx1"/>
                  </a:solidFill>
                  <a:effectLst/>
                </a:endParaRPr>
              </a:p>
              <a:p>
                <a:pPr marL="0" indent="0" eaLnBrk="1" hangingPunct="1">
                  <a:lnSpc>
                    <a:spcPct val="2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</a:rPr>
                  <a:t>是</a:t>
                </a:r>
                <a:r>
                  <a:rPr lang="zh-CN" altLang="en-US" sz="2400" b="1" dirty="0">
                    <a:solidFill>
                      <a:srgbClr val="FF0000"/>
                    </a:solidFill>
                    <a:effectLst/>
                  </a:rPr>
                  <a:t>在图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rgbClr val="FF0000"/>
                    </a:solidFill>
                    <a:effectLst/>
                  </a:rPr>
                  <a:t>中减去属于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rgbClr val="FF0000"/>
                    </a:solidFill>
                    <a:effectLst/>
                  </a:rPr>
                  <a:t>的边后所剩余部分</a:t>
                </a:r>
                <a:r>
                  <a:rPr lang="zh-CN" altLang="en-US" sz="2400" b="1" dirty="0">
                    <a:solidFill>
                      <a:schemeClr val="tx1"/>
                    </a:solidFill>
                    <a:effectLst/>
                  </a:rPr>
                  <a:t>组成的图。</a:t>
                </a:r>
                <a:endParaRPr lang="en-US" altLang="zh-CN" sz="2400" b="1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573016"/>
                <a:ext cx="8496944" cy="2392258"/>
              </a:xfrm>
              <a:prstGeom prst="rect">
                <a:avLst/>
              </a:prstGeom>
              <a:blipFill>
                <a:blip r:embed="rId3"/>
                <a:stretch>
                  <a:fillRect l="-1148" b="-40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6CE9B32B-3A53-4AA0-9DCB-18C757A5ED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7544" y="2060848"/>
                <a:ext cx="8280920" cy="1332184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  <a:effectLst/>
              <a:extLs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400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 kern="1200">
                    <a:solidFill>
                      <a:schemeClr val="tx1"/>
                    </a:solidFill>
                    <a:latin typeface="+mj-lt"/>
                    <a:ea typeface="+mj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kern="1200">
                    <a:solidFill>
                      <a:schemeClr val="tx1"/>
                    </a:solidFill>
                    <a:latin typeface="+mj-lt"/>
                    <a:ea typeface="+mj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1600" kern="1200">
                    <a:solidFill>
                      <a:schemeClr val="tx1"/>
                    </a:solidFill>
                    <a:latin typeface="+mj-lt"/>
                    <a:ea typeface="+mj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 kern="1200">
                    <a:solidFill>
                      <a:schemeClr val="tx1"/>
                    </a:solidFill>
                    <a:latin typeface="+mj-lt"/>
                    <a:ea typeface="+mj-ea"/>
                    <a:cs typeface="楷体_GB2312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140000"/>
                  </a:lnSpc>
                  <a:buFontTx/>
                  <a:buNone/>
                </a:pPr>
                <a:r>
                  <a:rPr lang="zh-CN" altLang="en-US" sz="28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   </a:t>
                </a:r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800" b="1" i="1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800" b="1" i="1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是分别为</a:t>
                </a:r>
                <a:r>
                  <a:rPr lang="zh-CN" altLang="en-US" sz="2800" b="1" dirty="0">
                    <a:solidFill>
                      <a:srgbClr val="FF000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不含孤立结点</a:t>
                </a:r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的图模型（</a:t>
                </a:r>
                <a:r>
                  <a:rPr lang="zh-CN" altLang="en-US" sz="2800" b="1" dirty="0">
                    <a:solidFill>
                      <a:schemeClr val="accent2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同为无向图或有向图</a:t>
                </a:r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）。</a:t>
                </a:r>
                <a:endParaRPr lang="en-US" altLang="zh-CN" sz="2800" b="1" dirty="0"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楷体_GB2312" pitchFamily="49" charset="-122"/>
                </a:endParaRPr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6CE9B32B-3A53-4AA0-9DCB-18C757A5E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544" y="2060848"/>
                <a:ext cx="8280920" cy="1332184"/>
              </a:xfrm>
              <a:prstGeom prst="rect">
                <a:avLst/>
              </a:prstGeom>
              <a:blipFill>
                <a:blip r:embed="rId4"/>
                <a:stretch>
                  <a:fillRect l="-1546" b="-2740"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2629039"/>
      </p:ext>
    </p:extLst>
  </p:cSld>
  <p:clrMapOvr>
    <a:masterClrMapping/>
  </p:clrMapOvr>
  <p:transition spd="med">
    <p:wipe dir="r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E4466D0-807A-4BE1-802C-407627961677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4820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6A502F4-5142-4EA4-B936-3FE286B537F5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70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1" name="Text Box 2"/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图的集合运算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467544" y="4009520"/>
                <a:ext cx="8280920" cy="1772793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 marL="0" indent="0" eaLnBrk="1" hangingPunct="1">
                  <a:lnSpc>
                    <a:spcPct val="140000"/>
                  </a:lnSpc>
                  <a:buNone/>
                </a:pPr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   （</a:t>
                </a:r>
                <a:r>
                  <a:rPr lang="en-US" altLang="zh-CN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4</a:t>
                </a:r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）</a:t>
                </a:r>
                <a:r>
                  <a:rPr lang="zh-CN" altLang="en-US" sz="2400" b="1" dirty="0">
                    <a:solidFill>
                      <a:srgbClr val="0000FF"/>
                    </a:solidFill>
                    <a:effectLst/>
                    <a:cs typeface="楷体_GB2312" pitchFamily="49" charset="-122"/>
                  </a:rPr>
                  <a:t>环和图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是由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zh-CN" altLang="en-US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与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的并图减去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zh-CN" altLang="en-US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与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  <a:effectLst/>
                    <a:cs typeface="楷体_GB2312" pitchFamily="49" charset="-122"/>
                  </a:rPr>
                  <a:t>的交图后得到的图。</a:t>
                </a:r>
                <a:endParaRPr lang="en-US" altLang="zh-CN" sz="2400" b="1" dirty="0">
                  <a:solidFill>
                    <a:schemeClr val="tx1"/>
                  </a:solidFill>
                  <a:effectLst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>
                          <a:solidFill>
                            <a:srgbClr val="0000FF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>
                          <a:solidFill>
                            <a:srgbClr val="0000FF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（"/>
                          <m:endChr m:val="）"/>
                          <m:ctrlPr>
                            <a:rPr lang="zh-CN" altLang="en-US" sz="2800" b="1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1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b>
                              <m:r>
                                <a:rPr lang="en-US" altLang="zh-CN" sz="2800" b="1" i="1">
                                  <a:solidFill>
                                    <a:srgbClr val="0000FF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altLang="zh-CN" sz="2800" b="1" i="1" smtClean="0">
                          <a:solidFill>
                            <a:srgbClr val="0000FF"/>
                          </a:solidFill>
                          <a:effectLst/>
                          <a:latin typeface="Cambria Math" panose="02040503050406030204" pitchFamily="18" charset="0"/>
                        </a:rPr>
                        <m:t>−(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>
                          <a:solidFill>
                            <a:srgbClr val="0000FF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0000FF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1" i="1" smtClean="0">
                          <a:solidFill>
                            <a:srgbClr val="0000FF"/>
                          </a:solidFill>
                          <a:effectLst/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b="1" dirty="0"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009520"/>
                <a:ext cx="8280920" cy="1772793"/>
              </a:xfrm>
              <a:prstGeom prst="rect">
                <a:avLst/>
              </a:prstGeom>
              <a:blipFill>
                <a:blip r:embed="rId3"/>
                <a:stretch>
                  <a:fillRect l="-1178" r="-6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1022B37F-FCD3-4C92-8059-0EF37963CC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7544" y="2060848"/>
                <a:ext cx="8280920" cy="1332184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  <a:effectLst/>
              <a:extLs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400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 kern="1200">
                    <a:solidFill>
                      <a:schemeClr val="tx1"/>
                    </a:solidFill>
                    <a:latin typeface="+mj-lt"/>
                    <a:ea typeface="+mj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kern="1200">
                    <a:solidFill>
                      <a:schemeClr val="tx1"/>
                    </a:solidFill>
                    <a:latin typeface="+mj-lt"/>
                    <a:ea typeface="+mj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1600" kern="1200">
                    <a:solidFill>
                      <a:schemeClr val="tx1"/>
                    </a:solidFill>
                    <a:latin typeface="+mj-lt"/>
                    <a:ea typeface="+mj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 kern="1200">
                    <a:solidFill>
                      <a:schemeClr val="tx1"/>
                    </a:solidFill>
                    <a:latin typeface="+mj-lt"/>
                    <a:ea typeface="+mj-ea"/>
                    <a:cs typeface="楷体_GB2312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140000"/>
                  </a:lnSpc>
                  <a:buFontTx/>
                  <a:buNone/>
                </a:pPr>
                <a:r>
                  <a:rPr lang="zh-CN" altLang="en-US" sz="2800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   </a:t>
                </a:r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800" b="1" i="1" smtClean="0"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800" b="1" i="1" smtClean="0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800" b="1" i="1">
                            <a:effectLst/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2800" b="1" i="1"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是分别为</a:t>
                </a:r>
                <a:r>
                  <a:rPr lang="zh-CN" altLang="en-US" sz="2800" b="1" dirty="0">
                    <a:solidFill>
                      <a:srgbClr val="FF000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不含孤立结点</a:t>
                </a:r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的图模型（</a:t>
                </a:r>
                <a:r>
                  <a:rPr lang="zh-CN" altLang="en-US" sz="2800" b="1" dirty="0">
                    <a:solidFill>
                      <a:schemeClr val="accent2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同为无向图或有向图</a:t>
                </a:r>
                <a:r>
                  <a:rPr lang="zh-CN" altLang="en-US" sz="2800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  <a:cs typeface="楷体_GB2312" pitchFamily="49" charset="-122"/>
                  </a:rPr>
                  <a:t>）。</a:t>
                </a:r>
                <a:endParaRPr lang="en-US" altLang="zh-CN" sz="2800" b="1" dirty="0"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楷体_GB2312" pitchFamily="49" charset="-122"/>
                </a:endParaRPr>
              </a:p>
            </p:txBody>
          </p:sp>
        </mc:Choice>
        <mc:Fallback xmlns="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1022B37F-FCD3-4C92-8059-0EF37963C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544" y="2060848"/>
                <a:ext cx="8280920" cy="1332184"/>
              </a:xfrm>
              <a:prstGeom prst="rect">
                <a:avLst/>
              </a:prstGeom>
              <a:blipFill>
                <a:blip r:embed="rId4"/>
                <a:stretch>
                  <a:fillRect l="-1546" b="-2740"/>
                </a:stretch>
              </a:blip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6855455"/>
      </p:ext>
    </p:extLst>
  </p:cSld>
  <p:clrMapOvr>
    <a:masterClrMapping/>
  </p:clrMapOvr>
  <p:transition spd="med">
    <p:wipe dir="r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2D4758-010B-4E3C-9562-225305E3AFA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7348" name="Rectangle 5"/>
          <p:cNvSpPr>
            <a:spLocks noChangeArrowheads="1"/>
          </p:cNvSpPr>
          <p:nvPr/>
        </p:nvSpPr>
        <p:spPr bwMode="auto">
          <a:xfrm>
            <a:off x="0" y="2738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7351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59769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题</a:t>
            </a:r>
          </a:p>
        </p:txBody>
      </p:sp>
      <p:pic>
        <p:nvPicPr>
          <p:cNvPr id="5735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867" y="549276"/>
            <a:ext cx="957858" cy="1007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5"/>
              <p:cNvSpPr>
                <a:spLocks noChangeArrowheads="1"/>
              </p:cNvSpPr>
              <p:nvPr/>
            </p:nvSpPr>
            <p:spPr bwMode="auto">
              <a:xfrm>
                <a:off x="323528" y="1844824"/>
                <a:ext cx="8552792" cy="1308884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  <a:cs typeface="楷体_GB2312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5pPr>
                <a:lvl6pPr marL="25146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6pPr>
                <a:lvl7pPr marL="29718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7pPr>
                <a:lvl8pPr marL="34290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8pPr>
                <a:lvl9pPr marL="3886200" indent="-22860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buClr>
                    <a:srgbClr val="FF3300"/>
                  </a:buClr>
                  <a:buFont typeface="Wingdings" pitchFamily="2" charset="2"/>
                  <a:buNone/>
                  <a:defRPr/>
                </a:pPr>
                <a:r>
                  <a:rPr kumimoji="0" lang="en-US" altLang="zh-CN" sz="2800" b="1" dirty="0">
                    <a:solidFill>
                      <a:srgbClr val="0000FF"/>
                    </a:solidFill>
                    <a:effectLst/>
                    <a:latin typeface="+mn-ea"/>
                    <a:ea typeface="+mn-ea"/>
                  </a:rPr>
                  <a:t>    【</a:t>
                </a:r>
                <a:r>
                  <a:rPr kumimoji="0" lang="zh-CN" altLang="en-US" sz="2800" b="1" dirty="0">
                    <a:solidFill>
                      <a:srgbClr val="0000FF"/>
                    </a:solidFill>
                    <a:effectLst/>
                    <a:latin typeface="+mn-ea"/>
                    <a:ea typeface="+mn-ea"/>
                  </a:rPr>
                  <a:t>例题</a:t>
                </a:r>
                <a:r>
                  <a:rPr kumimoji="0" lang="en-US" altLang="zh-CN" sz="2800" b="1" dirty="0">
                    <a:solidFill>
                      <a:srgbClr val="0000FF"/>
                    </a:solidFill>
                    <a:effectLst/>
                    <a:latin typeface="+mn-ea"/>
                    <a:ea typeface="+mn-ea"/>
                  </a:rPr>
                  <a:t>】</a:t>
                </a:r>
                <a:r>
                  <a:rPr kumimoji="0" lang="zh-CN" altLang="en-US" sz="2800" b="1" dirty="0">
                    <a:solidFill>
                      <a:srgbClr val="000000"/>
                    </a:solidFill>
                    <a:effectLst/>
                    <a:latin typeface="+mn-ea"/>
                    <a:ea typeface="+mn-ea"/>
                  </a:rPr>
                  <a:t>对给定无向图</a:t>
                </a:r>
                <a:r>
                  <a:rPr kumimoji="0" lang="en-US" altLang="zh-CN" sz="2800" b="1" dirty="0">
                    <a:solidFill>
                      <a:srgbClr val="000000"/>
                    </a:solidFill>
                    <a:effectLst/>
                    <a:latin typeface="+mn-ea"/>
                    <a:ea typeface="+mn-ea"/>
                  </a:rPr>
                  <a:t>G</a:t>
                </a:r>
                <a:r>
                  <a:rPr kumimoji="0" lang="en-US" altLang="zh-CN" sz="2800" b="1" baseline="-25000" dirty="0">
                    <a:solidFill>
                      <a:srgbClr val="000000"/>
                    </a:solidFill>
                    <a:effectLst/>
                    <a:latin typeface="+mn-ea"/>
                    <a:ea typeface="+mn-ea"/>
                  </a:rPr>
                  <a:t>1</a:t>
                </a:r>
                <a:r>
                  <a:rPr kumimoji="0" lang="zh-CN" altLang="en-US" sz="2800" b="1" dirty="0">
                    <a:solidFill>
                      <a:srgbClr val="000000"/>
                    </a:solidFill>
                    <a:effectLst/>
                    <a:latin typeface="+mn-ea"/>
                    <a:ea typeface="+mn-ea"/>
                  </a:rPr>
                  <a:t>和</a:t>
                </a:r>
                <a:r>
                  <a:rPr kumimoji="0" lang="en-US" altLang="zh-CN" sz="2800" b="1" dirty="0">
                    <a:solidFill>
                      <a:srgbClr val="000000"/>
                    </a:solidFill>
                    <a:effectLst/>
                    <a:latin typeface="+mn-ea"/>
                    <a:ea typeface="+mn-ea"/>
                  </a:rPr>
                  <a:t>G</a:t>
                </a:r>
                <a:r>
                  <a:rPr kumimoji="0" lang="en-US" altLang="zh-CN" sz="2800" b="1" baseline="-25000" dirty="0">
                    <a:solidFill>
                      <a:srgbClr val="000000"/>
                    </a:solidFill>
                    <a:effectLst/>
                    <a:latin typeface="+mn-ea"/>
                    <a:ea typeface="+mn-ea"/>
                  </a:rPr>
                  <a:t>2</a:t>
                </a:r>
                <a:r>
                  <a:rPr kumimoji="0" lang="zh-CN" altLang="en-US" sz="2800" b="1" dirty="0">
                    <a:solidFill>
                      <a:srgbClr val="000000"/>
                    </a:solidFill>
                    <a:effectLst/>
                    <a:latin typeface="+mn-ea"/>
                    <a:ea typeface="+mn-ea"/>
                  </a:rPr>
                  <a:t>，求出：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en-US" altLang="zh-CN" sz="2800" b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𝑮</m:t>
                        </m:r>
                      </m:e>
                      <m:sub>
                        <m:r>
                          <a:rPr kumimoji="0" lang="en-US" altLang="zh-CN" sz="2800" b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</m:sSub>
                    <m:r>
                      <a:rPr kumimoji="0" lang="en-US" altLang="zh-CN" sz="2800" b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+mn-ea"/>
                      </a:rPr>
                      <m:t>∪</m:t>
                    </m:r>
                    <m:sSub>
                      <m:sSubPr>
                        <m:ctrlPr>
                          <a:rPr kumimoji="0" lang="en-US" altLang="zh-CN" sz="2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en-US" altLang="zh-CN" sz="2800" b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𝑮</m:t>
                        </m:r>
                      </m:e>
                      <m:sub>
                        <m:r>
                          <a:rPr kumimoji="0" lang="en-US" altLang="zh-CN" sz="2800" b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𝟐</m:t>
                        </m:r>
                      </m:sub>
                    </m:sSub>
                  </m:oMath>
                </a14:m>
                <a:r>
                  <a:rPr kumimoji="0" lang="zh-CN" altLang="en-US" sz="2800" b="1" dirty="0">
                    <a:solidFill>
                      <a:srgbClr val="000000"/>
                    </a:solidFill>
                    <a:effectLst/>
                    <a:latin typeface="+mn-ea"/>
                    <a:ea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en-US" altLang="zh-CN" sz="2800" b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𝑮</m:t>
                        </m:r>
                      </m:e>
                      <m:sub>
                        <m:r>
                          <a:rPr kumimoji="0" lang="en-US" altLang="zh-CN" sz="2800" b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</m:sSub>
                    <m:r>
                      <a:rPr kumimoji="0" lang="en-US" altLang="zh-CN" sz="2800" b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+mn-ea"/>
                      </a:rPr>
                      <m:t>∩</m:t>
                    </m:r>
                    <m:sSub>
                      <m:sSubPr>
                        <m:ctrlPr>
                          <a:rPr kumimoji="0" lang="en-US" altLang="zh-CN" sz="2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en-US" altLang="zh-CN" sz="2800" b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𝑮</m:t>
                        </m:r>
                      </m:e>
                      <m:sub>
                        <m:r>
                          <a:rPr kumimoji="0" lang="en-US" altLang="zh-CN" sz="2800" b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𝟐</m:t>
                        </m:r>
                      </m:sub>
                    </m:sSub>
                  </m:oMath>
                </a14:m>
                <a:r>
                  <a:rPr kumimoji="0" lang="zh-CN" altLang="en-US" sz="2800" b="1" dirty="0">
                    <a:solidFill>
                      <a:srgbClr val="000000"/>
                    </a:solidFill>
                    <a:effectLst/>
                    <a:latin typeface="+mn-ea"/>
                    <a:ea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en-US" altLang="zh-CN" sz="2800" b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𝑮</m:t>
                        </m:r>
                      </m:e>
                      <m:sub>
                        <m:r>
                          <a:rPr kumimoji="0" lang="en-US" altLang="zh-CN" sz="2800" b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𝟐</m:t>
                        </m:r>
                      </m:sub>
                    </m:sSub>
                    <m:r>
                      <a:rPr kumimoji="0" lang="en-US" altLang="zh-CN" sz="2800" b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sSub>
                      <m:sSubPr>
                        <m:ctrlPr>
                          <a:rPr kumimoji="0" lang="en-US" altLang="zh-CN" sz="2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en-US" altLang="zh-CN" sz="2800" b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𝑮</m:t>
                        </m:r>
                      </m:e>
                      <m:sub>
                        <m:r>
                          <a:rPr kumimoji="0" lang="en-US" altLang="zh-CN" sz="2800" b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</m:sSub>
                  </m:oMath>
                </a14:m>
                <a:r>
                  <a:rPr kumimoji="0" lang="zh-CN" altLang="en-US" sz="2800" b="1" dirty="0">
                    <a:solidFill>
                      <a:srgbClr val="000000"/>
                    </a:solidFill>
                    <a:effectLst/>
                    <a:latin typeface="+mn-ea"/>
                    <a:ea typeface="+mn-ea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en-US" altLang="zh-CN" sz="2800" b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𝑮</m:t>
                        </m:r>
                      </m:e>
                      <m:sub>
                        <m:r>
                          <a:rPr kumimoji="0" lang="en-US" altLang="zh-CN" sz="2800" b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</m:sSub>
                    <m:r>
                      <a:rPr kumimoji="0" lang="en-US" altLang="zh-CN" sz="2800" b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+mn-ea"/>
                      </a:rPr>
                      <m:t>⊕</m:t>
                    </m:r>
                    <m:sSub>
                      <m:sSubPr>
                        <m:ctrlPr>
                          <a:rPr kumimoji="0" lang="en-US" altLang="zh-CN" sz="2800" b="1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en-US" altLang="zh-CN" sz="2800" b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𝑮</m:t>
                        </m:r>
                      </m:e>
                      <m:sub>
                        <m:r>
                          <a:rPr kumimoji="0" lang="en-US" altLang="zh-CN" sz="2800" b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𝟐</m:t>
                        </m:r>
                      </m:sub>
                    </m:sSub>
                  </m:oMath>
                </a14:m>
                <a:r>
                  <a:rPr kumimoji="0" lang="zh-CN" altLang="en-US" sz="2800" b="1" dirty="0">
                    <a:solidFill>
                      <a:srgbClr val="000000"/>
                    </a:solidFill>
                    <a:effectLst/>
                    <a:latin typeface="+mn-ea"/>
                    <a:ea typeface="+mn-ea"/>
                  </a:rPr>
                  <a:t>。</a:t>
                </a:r>
                <a:endParaRPr kumimoji="0" lang="en-US" altLang="zh-CN" sz="2800" b="1" dirty="0">
                  <a:solidFill>
                    <a:srgbClr val="000000"/>
                  </a:solidFill>
                  <a:effectLst/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10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528" y="1844824"/>
                <a:ext cx="8552792" cy="1308884"/>
              </a:xfrm>
              <a:prstGeom prst="rect">
                <a:avLst/>
              </a:prstGeom>
              <a:blipFill>
                <a:blip r:embed="rId4"/>
                <a:stretch>
                  <a:fillRect r="-1497" b="-126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4F58450D-8504-4E4E-B055-57A486A19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080" y="3639082"/>
            <a:ext cx="3024336" cy="226934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043334E-58BD-4517-A819-EF4B486717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616" y="3621258"/>
            <a:ext cx="3312368" cy="224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843665"/>
      </p:ext>
    </p:extLst>
  </p:cSld>
  <p:clrMapOvr>
    <a:masterClrMapping/>
  </p:clrMapOvr>
  <p:transition spd="med">
    <p:wipe dir="r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2D4758-010B-4E3C-9562-225305E3AFA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7351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59769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题</a:t>
            </a:r>
          </a:p>
        </p:txBody>
      </p:sp>
      <p:pic>
        <p:nvPicPr>
          <p:cNvPr id="5735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A7ABBDE-D56B-43E5-9827-C99F7CC2F2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4" y="1844824"/>
            <a:ext cx="9014951" cy="18458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3AC2228-7F97-4A9A-AD6B-AF4466DAAD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624" y="4012542"/>
            <a:ext cx="3036512" cy="205355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57BE526-0D3F-4037-8F92-03175181DC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0993" y="4032651"/>
            <a:ext cx="2891407" cy="216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161739"/>
      </p:ext>
    </p:extLst>
  </p:cSld>
  <p:clrMapOvr>
    <a:masterClrMapping/>
  </p:clrMapOvr>
  <p:transition spd="med">
    <p:wipe dir="r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E4466D0-807A-4BE1-802C-407627961677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4820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6A502F4-5142-4EA4-B936-3FE286B537F5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73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1" name="Text Box 2"/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图的集合运算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77674" y="1851160"/>
            <a:ext cx="8280920" cy="1152128"/>
          </a:xfrm>
          <a:solidFill>
            <a:schemeClr val="accent5"/>
          </a:solidFill>
        </p:spPr>
        <p:txBody>
          <a:bodyPr lIns="92075" tIns="46038" rIns="92075" bIns="46038"/>
          <a:lstStyle/>
          <a:p>
            <a:pPr marL="0" indent="0" eaLnBrk="1" hangingPunct="1">
              <a:lnSpc>
                <a:spcPct val="140000"/>
              </a:lnSpc>
              <a:buNone/>
            </a:pPr>
            <a:r>
              <a:rPr lang="zh-CN" altLang="en-US" sz="2800" b="1" dirty="0">
                <a:effectLst/>
              </a:rPr>
              <a:t>      </a:t>
            </a:r>
            <a:r>
              <a:rPr lang="zh-CN" altLang="en-US" b="1" dirty="0">
                <a:effectLst/>
              </a:rPr>
              <a:t>从上述定义可以看出，图模型的并、 交、 差、环和等集合运算</a:t>
            </a:r>
            <a:r>
              <a:rPr lang="zh-CN" altLang="en-US" b="1" dirty="0">
                <a:solidFill>
                  <a:srgbClr val="0000FF"/>
                </a:solidFill>
                <a:effectLst/>
              </a:rPr>
              <a:t>是普通集合运算的延伸</a:t>
            </a:r>
            <a:r>
              <a:rPr lang="zh-CN" altLang="en-US" b="1" dirty="0">
                <a:effectLst/>
              </a:rPr>
              <a:t>。</a:t>
            </a:r>
            <a:r>
              <a:rPr lang="zh-CN" altLang="en-US" b="1" dirty="0"/>
              <a:t> 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/>
              <p:cNvSpPr txBox="1">
                <a:spLocks noChangeArrowheads="1"/>
              </p:cNvSpPr>
              <p:nvPr/>
            </p:nvSpPr>
            <p:spPr bwMode="auto">
              <a:xfrm>
                <a:off x="583153" y="3178823"/>
                <a:ext cx="7977693" cy="3047851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  <a:effectLst/>
            </p:spPr>
            <p:txBody>
              <a:bodyPr vert="horz" wrap="square" lIns="92075" tIns="46038" rIns="92075" bIns="46038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400" kern="12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 kern="1200">
                    <a:solidFill>
                      <a:schemeClr val="tx1"/>
                    </a:solidFill>
                    <a:latin typeface="+mj-lt"/>
                    <a:ea typeface="+mj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kern="1200">
                    <a:solidFill>
                      <a:schemeClr val="tx1"/>
                    </a:solidFill>
                    <a:latin typeface="+mj-lt"/>
                    <a:ea typeface="+mj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1600" kern="1200">
                    <a:solidFill>
                      <a:schemeClr val="tx1"/>
                    </a:solidFill>
                    <a:latin typeface="+mj-lt"/>
                    <a:ea typeface="+mj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 kern="1200">
                    <a:solidFill>
                      <a:schemeClr val="tx1"/>
                    </a:solidFill>
                    <a:latin typeface="+mj-lt"/>
                    <a:ea typeface="+mj-ea"/>
                    <a:cs typeface="楷体_GB2312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eaLnBrk="1" hangingPunct="1">
                  <a:lnSpc>
                    <a:spcPct val="150000"/>
                  </a:lnSpc>
                  <a:buFontTx/>
                  <a:buNone/>
                </a:pPr>
                <a:r>
                  <a:rPr lang="en-US" altLang="zh-CN" b="1" dirty="0">
                    <a:solidFill>
                      <a:srgbClr val="FF0000"/>
                    </a:solidFill>
                    <a:effectLst/>
                    <a:ea typeface="黑体" panose="02010609060101010101" pitchFamily="49" charset="-122"/>
                    <a:cs typeface="楷体_GB2312" pitchFamily="49" charset="-122"/>
                  </a:rPr>
                  <a:t>    (1)  </a:t>
                </a:r>
                <a:r>
                  <a:rPr lang="zh-CN" altLang="en-US" b="1" dirty="0">
                    <a:solidFill>
                      <a:schemeClr val="tx1"/>
                    </a:solidFill>
                    <a:effectLst/>
                    <a:ea typeface="黑体" panose="02010609060101010101" pitchFamily="49" charset="-122"/>
                    <a:cs typeface="楷体_GB2312" pitchFamily="49" charset="-122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chemeClr val="tx1"/>
                    </a:solidFill>
                    <a:effectLst/>
                    <a:ea typeface="黑体" panose="02010609060101010101" pitchFamily="49" charset="-122"/>
                    <a:cs typeface="楷体_GB2312" pitchFamily="49" charset="-122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b="1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1" dirty="0">
                  <a:solidFill>
                    <a:schemeClr val="tx1"/>
                  </a:solidFill>
                  <a:effectLst/>
                  <a:ea typeface="黑体" panose="02010609060101010101" pitchFamily="49" charset="-122"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ct val="150000"/>
                  </a:lnSpc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effectLst/>
                  <a:ea typeface="黑体" panose="02010609060101010101" pitchFamily="49" charset="-122"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ct val="150000"/>
                  </a:lnSpc>
                  <a:buFontTx/>
                  <a:buNone/>
                </a:pPr>
                <a:r>
                  <a:rPr lang="en-US" altLang="zh-CN" b="1" dirty="0">
                    <a:solidFill>
                      <a:srgbClr val="FF0000"/>
                    </a:solidFill>
                    <a:effectLst/>
                    <a:ea typeface="黑体" panose="02010609060101010101" pitchFamily="49" charset="-122"/>
                    <a:cs typeface="楷体_GB2312" pitchFamily="49" charset="-122"/>
                  </a:rPr>
                  <a:t>    (2)</a:t>
                </a:r>
                <a:r>
                  <a:rPr lang="en-US" altLang="zh-CN" b="1" dirty="0">
                    <a:solidFill>
                      <a:srgbClr val="FF0000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zh-CN" altLang="en-US" b="1" i="1" smtClean="0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与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0000FF"/>
                    </a:solidFill>
                    <a:effectLst/>
                    <a:ea typeface="黑体" panose="02010609060101010101" pitchFamily="49" charset="-122"/>
                    <a:cs typeface="楷体_GB2312" pitchFamily="49" charset="-122"/>
                  </a:rPr>
                  <a:t>不交时</a:t>
                </a:r>
                <a:r>
                  <a:rPr lang="zh-CN" altLang="en-US" b="1" dirty="0">
                    <a:solidFill>
                      <a:schemeClr val="tx1"/>
                    </a:solidFill>
                    <a:effectLst/>
                    <a:ea typeface="黑体" panose="02010609060101010101" pitchFamily="49" charset="-122"/>
                    <a:cs typeface="楷体_GB2312" pitchFamily="49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zh-CN" altLang="en-US" b="1" dirty="0">
                    <a:solidFill>
                      <a:schemeClr val="tx1"/>
                    </a:solidFill>
                    <a:effectLst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b="1" dirty="0">
                    <a:solidFill>
                      <a:schemeClr val="tx1"/>
                    </a:solidFill>
                    <a:effectLst/>
                    <a:ea typeface="黑体" panose="02010609060101010101" pitchFamily="49" charset="-122"/>
                    <a:cs typeface="楷体_GB2312" pitchFamily="49" charset="-122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chemeClr val="tx1"/>
                    </a:solidFill>
                    <a:effectLst/>
                    <a:ea typeface="黑体" panose="02010609060101010101" pitchFamily="49" charset="-122"/>
                    <a:cs typeface="楷体_GB2312" pitchFamily="49" charset="-122"/>
                  </a:rPr>
                  <a:t>， </a:t>
                </a:r>
                <a:endParaRPr lang="en-US" altLang="zh-CN" b="1" dirty="0">
                  <a:solidFill>
                    <a:schemeClr val="tx1"/>
                  </a:solidFill>
                  <a:effectLst/>
                  <a:ea typeface="黑体" panose="02010609060101010101" pitchFamily="49" charset="-122"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ct val="150000"/>
                  </a:lnSpc>
                  <a:buFontTx/>
                  <a:buNone/>
                </a:pPr>
                <a:r>
                  <a:rPr lang="zh-CN" altLang="en-US" b="1" dirty="0">
                    <a:solidFill>
                      <a:schemeClr val="tx1"/>
                    </a:solidFill>
                    <a:effectLst/>
                    <a:ea typeface="黑体" panose="02010609060101010101" pitchFamily="49" charset="-122"/>
                    <a:cs typeface="楷体_GB2312" pitchFamily="49" charset="-122"/>
                  </a:rPr>
                  <a:t>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chemeClr val="tx1"/>
                    </a:solidFill>
                    <a:effectLst/>
                    <a:ea typeface="黑体" panose="02010609060101010101" pitchFamily="49" charset="-122"/>
                    <a:cs typeface="楷体_GB2312" pitchFamily="49" charset="-122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zh-CN" b="1" dirty="0">
                  <a:solidFill>
                    <a:schemeClr val="tx1"/>
                  </a:solidFill>
                  <a:effectLst/>
                  <a:ea typeface="黑体" panose="02010609060101010101" pitchFamily="49" charset="-122"/>
                  <a:cs typeface="楷体_GB2312" pitchFamily="49" charset="-122"/>
                </a:endParaRPr>
              </a:p>
              <a:p>
                <a:pPr marL="0" indent="0" eaLnBrk="1" hangingPunct="1">
                  <a:lnSpc>
                    <a:spcPct val="150000"/>
                  </a:lnSpc>
                  <a:buNone/>
                </a:pPr>
                <a:r>
                  <a:rPr lang="en-US" altLang="zh-CN" b="1" dirty="0">
                    <a:solidFill>
                      <a:srgbClr val="FF0000"/>
                    </a:solidFill>
                    <a:effectLst/>
                    <a:ea typeface="黑体" panose="02010609060101010101" pitchFamily="49" charset="-122"/>
                    <a:cs typeface="楷体_GB2312" pitchFamily="49" charset="-122"/>
                  </a:rPr>
                  <a:t>    (3)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（"/>
                        <m:endChr m:val="）"/>
                        <m:ctrlPr>
                          <a:rPr lang="zh-CN" altLang="en-US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0000FF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0000FF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0000FF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0000FF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solidFill>
                                  <a:srgbClr val="0000FF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lang="en-US" altLang="zh-CN" b="1" i="1">
                                <a:solidFill>
                                  <a:srgbClr val="0000FF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FF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0000FF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1" dirty="0">
                  <a:solidFill>
                    <a:srgbClr val="92D05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8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3153" y="3178823"/>
                <a:ext cx="7977693" cy="3047851"/>
              </a:xfrm>
              <a:prstGeom prst="rect">
                <a:avLst/>
              </a:prstGeom>
              <a:blipFill>
                <a:blip r:embed="rId3"/>
                <a:stretch>
                  <a:fillRect b="-3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952608"/>
      </p:ext>
    </p:extLst>
  </p:cSld>
  <p:clrMapOvr>
    <a:masterClrMapping/>
  </p:clrMapOvr>
  <p:transition spd="med">
    <p:wipe dir="r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1AA585F-72D3-4AB4-A3BB-A3463D6423C6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74755" name="Text Box 2"/>
          <p:cNvSpPr txBox="1">
            <a:spLocks noChangeArrowheads="1"/>
          </p:cNvSpPr>
          <p:nvPr/>
        </p:nvSpPr>
        <p:spPr bwMode="auto">
          <a:xfrm>
            <a:off x="1331913" y="836613"/>
            <a:ext cx="6335712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图的结构运算</a:t>
            </a:r>
          </a:p>
        </p:txBody>
      </p:sp>
      <p:pic>
        <p:nvPicPr>
          <p:cNvPr id="74756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7" name="Text Box 6"/>
          <p:cNvSpPr txBox="1">
            <a:spLocks noChangeArrowheads="1"/>
          </p:cNvSpPr>
          <p:nvPr/>
        </p:nvSpPr>
        <p:spPr bwMode="auto">
          <a:xfrm>
            <a:off x="3059832" y="2564904"/>
            <a:ext cx="3384376" cy="2800767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prstShdw prst="shdw12">
              <a:schemeClr val="bg2">
                <a:alpha val="50000"/>
              </a:schemeClr>
            </a:prstShdw>
          </a:effec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边的</a:t>
            </a:r>
            <a:r>
              <a:rPr kumimoji="0"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添加</a:t>
            </a:r>
            <a:r>
              <a:rPr kumimoji="0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运算</a:t>
            </a:r>
            <a:endParaRPr kumimoji="0"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边的</a:t>
            </a:r>
            <a:r>
              <a:rPr kumimoji="0"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删除</a:t>
            </a:r>
            <a:r>
              <a:rPr kumimoji="0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运算</a:t>
            </a:r>
            <a:endParaRPr kumimoji="0"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边的</a:t>
            </a:r>
            <a:r>
              <a:rPr kumimoji="0"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收缩</a:t>
            </a:r>
            <a:r>
              <a:rPr kumimoji="0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运算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结点的</a:t>
            </a:r>
            <a:r>
              <a:rPr kumimoji="0"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删除</a:t>
            </a:r>
            <a:r>
              <a:rPr kumimoji="0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运算</a:t>
            </a:r>
          </a:p>
        </p:txBody>
      </p:sp>
    </p:spTree>
  </p:cSld>
  <p:clrMapOvr>
    <a:masterClrMapping/>
  </p:clrMapOvr>
  <p:transition spd="med">
    <p:wipe dir="r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EA5D82-5857-40B9-9BF4-7C0ACAC03399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75780" name="Text Box 2"/>
          <p:cNvSpPr txBox="1">
            <a:spLocks noChangeArrowheads="1"/>
          </p:cNvSpPr>
          <p:nvPr/>
        </p:nvSpPr>
        <p:spPr bwMode="auto">
          <a:xfrm>
            <a:off x="1331913" y="692150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边或节点的删除</a:t>
            </a:r>
          </a:p>
        </p:txBody>
      </p:sp>
      <p:pic>
        <p:nvPicPr>
          <p:cNvPr id="75781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5A08F16-673E-4511-8CEE-8E6395E2B2EF}"/>
                  </a:ext>
                </a:extLst>
              </p:cNvPr>
              <p:cNvSpPr/>
              <p:nvPr/>
            </p:nvSpPr>
            <p:spPr>
              <a:xfrm>
                <a:off x="593558" y="1834792"/>
                <a:ext cx="7956884" cy="143718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【定义】设图</a:t>
                </a:r>
                <a14:m>
                  <m:oMath xmlns:m="http://schemas.openxmlformats.org/officeDocument/2006/math">
                    <m:r>
                      <a:rPr lang="zh-CN" altLang="zh-CN" sz="2400" b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是一个任意给定的图模型（有向图或无向图），则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的四个常用图结构修改运算定义如下： 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5A08F16-673E-4511-8CEE-8E6395E2B2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58" y="1834792"/>
                <a:ext cx="7956884" cy="1437188"/>
              </a:xfrm>
              <a:prstGeom prst="rect">
                <a:avLst/>
              </a:prstGeom>
              <a:blipFill>
                <a:blip r:embed="rId4"/>
                <a:stretch>
                  <a:fillRect l="-1149" t="-1695" r="-1149" b="-6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8367F96-C6B5-4EFA-86E5-1772D733C189}"/>
                  </a:ext>
                </a:extLst>
              </p:cNvPr>
              <p:cNvSpPr/>
              <p:nvPr/>
            </p:nvSpPr>
            <p:spPr>
              <a:xfrm>
                <a:off x="629181" y="3586021"/>
                <a:ext cx="7883350" cy="224510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00025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）加新边运算：</a:t>
                </a:r>
                <a:endParaRPr lang="en-US" altLang="zh-CN" sz="2400" b="1" kern="100" dirty="0">
                  <a:solidFill>
                    <a:srgbClr val="FFFF66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00025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  <m:r>
                      <m:rPr>
                        <m:nor/>
                      </m:rPr>
                      <a:rPr lang="zh-CN" altLang="en-US" sz="2400" b="1" kern="1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是图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b="1" kern="1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的任意两个结点，即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，将这两个结点构成的边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𝒆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边添加到图</a:t>
                </a:r>
                <a14:m>
                  <m:oMath xmlns:m="http://schemas.openxmlformats.org/officeDocument/2006/math">
                    <m:r>
                      <a:rPr lang="zh-CN" altLang="zh-CN" sz="2400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b="1" kern="1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边集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中构成一个新图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′=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  <m:r>
                          <a:rPr lang="zh-CN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∪</m:t>
                        </m:r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{</m:t>
                        </m:r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  <m:r>
                          <a:rPr lang="en-US" altLang="zh-CN" sz="2400" b="1" i="1" kern="1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}</m:t>
                        </m:r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kern="100" dirty="0"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8367F96-C6B5-4EFA-86E5-1772D733C1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81" y="3586021"/>
                <a:ext cx="7883350" cy="2245102"/>
              </a:xfrm>
              <a:prstGeom prst="rect">
                <a:avLst/>
              </a:prstGeom>
              <a:blipFill>
                <a:blip r:embed="rId5"/>
                <a:stretch>
                  <a:fillRect l="-1160" r="-1237" b="-4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6846644"/>
      </p:ext>
    </p:extLst>
  </p:cSld>
  <p:clrMapOvr>
    <a:masterClrMapping/>
  </p:clrMapOvr>
  <p:transition spd="med">
    <p:wipe dir="r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EA5D82-5857-40B9-9BF4-7C0ACAC03399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75780" name="Text Box 2"/>
          <p:cNvSpPr txBox="1">
            <a:spLocks noChangeArrowheads="1"/>
          </p:cNvSpPr>
          <p:nvPr/>
        </p:nvSpPr>
        <p:spPr bwMode="auto">
          <a:xfrm>
            <a:off x="1331913" y="692150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边或节点的删除</a:t>
            </a:r>
          </a:p>
        </p:txBody>
      </p:sp>
      <p:pic>
        <p:nvPicPr>
          <p:cNvPr id="75781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5A08F16-673E-4511-8CEE-8E6395E2B2EF}"/>
                  </a:ext>
                </a:extLst>
              </p:cNvPr>
              <p:cNvSpPr/>
              <p:nvPr/>
            </p:nvSpPr>
            <p:spPr>
              <a:xfrm>
                <a:off x="593558" y="1834792"/>
                <a:ext cx="7956884" cy="143718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【定义】设图</a:t>
                </a:r>
                <a14:m>
                  <m:oMath xmlns:m="http://schemas.openxmlformats.org/officeDocument/2006/math">
                    <m:r>
                      <a:rPr lang="zh-CN" altLang="zh-CN" sz="2400" b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是一个任意给定的图模型（有向图或无向图），则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的四个常用图结构修改运算定义如下： 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5A08F16-673E-4511-8CEE-8E6395E2B2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58" y="1834792"/>
                <a:ext cx="7956884" cy="1437188"/>
              </a:xfrm>
              <a:prstGeom prst="rect">
                <a:avLst/>
              </a:prstGeom>
              <a:blipFill>
                <a:blip r:embed="rId4"/>
                <a:stretch>
                  <a:fillRect l="-1149" t="-1695" r="-1149" b="-88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38FEA44-D834-49AA-8BC5-EE07F73B7C62}"/>
                  </a:ext>
                </a:extLst>
              </p:cNvPr>
              <p:cNvSpPr/>
              <p:nvPr/>
            </p:nvSpPr>
            <p:spPr>
              <a:xfrm>
                <a:off x="539552" y="3414363"/>
                <a:ext cx="8280920" cy="282500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删除</a:t>
                </a:r>
                <a:r>
                  <a:rPr lang="zh-CN" altLang="en-US" sz="2400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边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运算：</a:t>
                </a:r>
                <a:endParaRPr lang="en-US" altLang="zh-CN" sz="2400" b="1" dirty="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𝒆</m:t>
                    </m:r>
                    <m:r>
                      <m:rPr>
                        <m:nor/>
                      </m:rPr>
                      <a:rPr lang="zh-CN" altLang="en-US" sz="2400" b="1" dirty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m:t>是图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b="1" dirty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m:t>的任意一条边，即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𝒆</m:t>
                    </m:r>
                    <m:r>
                      <a:rPr lang="en-US" altLang="zh-CN" sz="24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，从</a:t>
                </a:r>
                <a14:m>
                  <m:oMath xmlns:m="http://schemas.openxmlformats.org/officeDocument/2006/math">
                    <m:r>
                      <a:rPr lang="zh-CN" altLang="zh-CN" sz="24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中删除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b="1" dirty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m:t>边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𝒆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得到一个新图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′=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−{</m:t>
                        </m:r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}</m:t>
                        </m:r>
                      </m:e>
                    </m:d>
                    <m:r>
                      <a:rPr lang="zh-CN" altLang="zh-CN" sz="24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zh-CN" altLang="en-US" sz="2400" b="1" dirty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m:t>记为</m:t>
                    </m:r>
                    <m:r>
                      <a:rPr lang="en-US" altLang="zh-C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𝒆</m:t>
                    </m:r>
                    <m:r>
                      <a:rPr lang="en-US" altLang="zh-CN" sz="2400" b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400" b="1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又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中若干边组成的集合</a:t>
                </a:r>
                <a:r>
                  <a:rPr lang="en-US" altLang="zh-CN" sz="2400" b="1" dirty="0">
                    <a:solidFill>
                      <a:srgbClr val="FFFF00"/>
                    </a:solidFill>
                    <a:latin typeface="+mj-lt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en-US" sz="2400" b="1" dirty="0">
                    <a:solidFill>
                      <a:srgbClr val="FFFF00"/>
                    </a:solidFill>
                    <a:latin typeface="+mj-lt"/>
                    <a:ea typeface="宋体" panose="02010600030101010101" pitchFamily="2" charset="-122"/>
                    <a:cs typeface="Times New Roman" panose="02020603050405020304" pitchFamily="18" charset="0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′</m:t>
                    </m:r>
                    <m:r>
                      <a:rPr lang="en-US" altLang="zh-C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⊆</m:t>
                    </m:r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b="1" dirty="0">
                    <a:solidFill>
                      <a:srgbClr val="FFFF00"/>
                    </a:solidFill>
                    <a:latin typeface="+mj-lt"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从</a:t>
                </a:r>
                <a14:m>
                  <m:oMath xmlns:m="http://schemas.openxmlformats.org/officeDocument/2006/math">
                    <m:r>
                      <a:rPr lang="zh-CN" altLang="zh-CN" sz="24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𝑮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中删除</a:t>
                </a:r>
                <a14:m>
                  <m:oMath xmlns:m="http://schemas.openxmlformats.org/officeDocument/2006/math">
                    <m:r>
                      <a:rPr lang="zh-CN" altLang="zh-CN" sz="24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𝑬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中所有边得到一个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+mj-ea"/>
                    <a:ea typeface="+mj-ea"/>
                  </a:rPr>
                  <a:t>新图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+mj-ea"/>
                      </a:rPr>
                      <m:t>𝑮</m:t>
                    </m:r>
                    <m:r>
                      <a:rPr lang="en-US" altLang="zh-C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+mj-ea"/>
                      </a:rPr>
                      <m:t>′=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𝑽</m:t>
                        </m:r>
                        <m:r>
                          <a:rPr lang="en-US" altLang="zh-CN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,</m:t>
                        </m:r>
                        <m:r>
                          <a:rPr lang="en-US" altLang="zh-CN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𝑬</m:t>
                        </m:r>
                        <m:r>
                          <a:rPr lang="en-US" altLang="zh-CN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𝑬</m:t>
                        </m:r>
                        <m:r>
                          <a:rPr lang="en-US" altLang="zh-CN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′</m:t>
                        </m:r>
                      </m:e>
                    </m:d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，记为</a:t>
                </a:r>
                <a14:m>
                  <m:oMath xmlns:m="http://schemas.openxmlformats.org/officeDocument/2006/math">
                    <m:r>
                      <a:rPr lang="zh-CN" altLang="zh-CN" sz="24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+mj-ea"/>
                      </a:rPr>
                      <m:t>𝑮</m:t>
                    </m:r>
                    <m:r>
                      <a:rPr lang="en-US" altLang="zh-C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+mj-ea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+mj-ea"/>
                      </a:rPr>
                      <m:t>𝑬</m:t>
                    </m:r>
                    <m:r>
                      <a:rPr lang="en-US" altLang="zh-C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+mj-ea"/>
                      </a:rPr>
                      <m:t>′ 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F38FEA44-D834-49AA-8BC5-EE07F73B7C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414363"/>
                <a:ext cx="8280920" cy="2825004"/>
              </a:xfrm>
              <a:prstGeom prst="rect">
                <a:avLst/>
              </a:prstGeom>
              <a:blipFill>
                <a:blip r:embed="rId5"/>
                <a:stretch>
                  <a:fillRect l="-589" b="-3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473340"/>
      </p:ext>
    </p:extLst>
  </p:cSld>
  <p:clrMapOvr>
    <a:masterClrMapping/>
  </p:clrMapOvr>
  <p:transition spd="med">
    <p:wipe dir="r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EA5D82-5857-40B9-9BF4-7C0ACAC03399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75780" name="Text Box 2"/>
          <p:cNvSpPr txBox="1">
            <a:spLocks noChangeArrowheads="1"/>
          </p:cNvSpPr>
          <p:nvPr/>
        </p:nvSpPr>
        <p:spPr bwMode="auto">
          <a:xfrm>
            <a:off x="1331913" y="692150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边或节点的删除</a:t>
            </a:r>
          </a:p>
        </p:txBody>
      </p:sp>
      <p:pic>
        <p:nvPicPr>
          <p:cNvPr id="75781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5A08F16-673E-4511-8CEE-8E6395E2B2EF}"/>
                  </a:ext>
                </a:extLst>
              </p:cNvPr>
              <p:cNvSpPr/>
              <p:nvPr/>
            </p:nvSpPr>
            <p:spPr>
              <a:xfrm>
                <a:off x="593558" y="1834792"/>
                <a:ext cx="7956884" cy="143718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【定义】设图</a:t>
                </a:r>
                <a14:m>
                  <m:oMath xmlns:m="http://schemas.openxmlformats.org/officeDocument/2006/math">
                    <m:r>
                      <a:rPr lang="zh-CN" altLang="zh-CN" sz="2400" b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是一个任意给定的图模型（有向图或无向图），则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的四个常用图结构修改运算定义如下： 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5A08F16-673E-4511-8CEE-8E6395E2B2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58" y="1834792"/>
                <a:ext cx="7956884" cy="1437188"/>
              </a:xfrm>
              <a:prstGeom prst="rect">
                <a:avLst/>
              </a:prstGeom>
              <a:blipFill>
                <a:blip r:embed="rId4"/>
                <a:stretch>
                  <a:fillRect l="-1149" t="-1695" r="-1149" b="-6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D6656A4F-6C14-4FF9-85BB-44B68ED1C02A}"/>
                  </a:ext>
                </a:extLst>
              </p:cNvPr>
              <p:cNvSpPr/>
              <p:nvPr/>
            </p:nvSpPr>
            <p:spPr>
              <a:xfrm>
                <a:off x="539552" y="3427315"/>
                <a:ext cx="8136904" cy="27991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00025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）边的收缩运算</a:t>
                </a:r>
                <a:r>
                  <a:rPr lang="zh-CN" altLang="en-US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sz="2400" b="1" i="1" kern="100" dirty="0">
                  <a:solidFill>
                    <a:srgbClr val="FFFF66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00025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  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𝒆</m:t>
                    </m:r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是图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𝑽</m:t>
                        </m:r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,</m:t>
                        </m:r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en-US" sz="2400" b="1" kern="100" dirty="0">
                    <a:solidFill>
                      <a:schemeClr val="bg1"/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的任意一条边且关联结点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2400" b="1" kern="100" dirty="0">
                    <a:solidFill>
                      <a:schemeClr val="bg1"/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从图中删除边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𝒆</m:t>
                    </m:r>
                  </m:oMath>
                </a14:m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并将该边的两个端点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altLang="zh-CN" sz="24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合并成一个新的结点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𝒘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，使得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结点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𝒘</m:t>
                    </m:r>
                  </m:oMath>
                </a14:m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关联除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𝒆</m:t>
                    </m:r>
                  </m:oMath>
                </a14:m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以外的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𝒖</m:t>
                    </m:r>
                  </m:oMath>
                </a14:m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所关联的一切边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，得到一个新图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\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𝐞</m:t>
                    </m:r>
                  </m:oMath>
                </a14:m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D6656A4F-6C14-4FF9-85BB-44B68ED1C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427315"/>
                <a:ext cx="8136904" cy="2799100"/>
              </a:xfrm>
              <a:prstGeom prst="rect">
                <a:avLst/>
              </a:prstGeom>
              <a:blipFill>
                <a:blip r:embed="rId5"/>
                <a:stretch>
                  <a:fillRect l="-1199" r="-1199" b="-3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9173286"/>
      </p:ext>
    </p:extLst>
  </p:cSld>
  <p:clrMapOvr>
    <a:masterClrMapping/>
  </p:clrMapOvr>
  <p:transition spd="med">
    <p:wipe dir="r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EA5D82-5857-40B9-9BF4-7C0ACAC03399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75780" name="Text Box 2"/>
          <p:cNvSpPr txBox="1">
            <a:spLocks noChangeArrowheads="1"/>
          </p:cNvSpPr>
          <p:nvPr/>
        </p:nvSpPr>
        <p:spPr bwMode="auto">
          <a:xfrm>
            <a:off x="1331913" y="692150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边或节点的删除</a:t>
            </a:r>
          </a:p>
        </p:txBody>
      </p:sp>
      <p:pic>
        <p:nvPicPr>
          <p:cNvPr id="75781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5A08F16-673E-4511-8CEE-8E6395E2B2EF}"/>
                  </a:ext>
                </a:extLst>
              </p:cNvPr>
              <p:cNvSpPr/>
              <p:nvPr/>
            </p:nvSpPr>
            <p:spPr>
              <a:xfrm>
                <a:off x="593558" y="1834792"/>
                <a:ext cx="7956884" cy="1437188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ts val="3600"/>
                  </a:lnSpc>
                  <a:spcAft>
                    <a:spcPts val="0"/>
                  </a:spcAft>
                </a:pPr>
                <a:r>
                  <a:rPr lang="en-US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b="1" kern="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【定义】设图</a:t>
                </a:r>
                <a14:m>
                  <m:oMath xmlns:m="http://schemas.openxmlformats.org/officeDocument/2006/math">
                    <m:r>
                      <a:rPr lang="zh-CN" altLang="zh-CN" sz="2400" b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是一个任意给定的图模型（有向图或无向图），则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的四个常用图结构修改运算定义如下： 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5A08F16-673E-4511-8CEE-8E6395E2B2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558" y="1834792"/>
                <a:ext cx="7956884" cy="1437188"/>
              </a:xfrm>
              <a:prstGeom prst="rect">
                <a:avLst/>
              </a:prstGeom>
              <a:blipFill>
                <a:blip r:embed="rId4"/>
                <a:stretch>
                  <a:fillRect l="-1149" t="-1695" r="-1149" b="-67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F7124B2-304A-4E31-9CDC-CDEFA1397527}"/>
                  </a:ext>
                </a:extLst>
              </p:cNvPr>
              <p:cNvSpPr/>
              <p:nvPr/>
            </p:nvSpPr>
            <p:spPr>
              <a:xfrm>
                <a:off x="323528" y="3429000"/>
                <a:ext cx="8382167" cy="286796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dirty="0">
                    <a:solidFill>
                      <a:srgbClr val="FFFF66"/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4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）删除结点运算：</a:t>
                </a:r>
                <a:endParaRPr lang="en-US" altLang="zh-CN" sz="2400" b="1" dirty="0">
                  <a:solidFill>
                    <a:srgbClr val="FFFF66"/>
                  </a:solidFill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4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𝒗</m:t>
                    </m:r>
                    <m:r>
                      <m:rPr>
                        <m:nor/>
                      </m:rPr>
                      <a:rPr lang="zh-CN" altLang="en-US" sz="2400" b="1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+mj-ea"/>
                        <a:ea typeface="+mj-ea"/>
                      </a:rPr>
                      <m:t>是图</m:t>
                    </m:r>
                    <m:r>
                      <a:rPr lang="en-US" altLang="zh-CN" sz="2400" b="1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>
                            <a:solidFill>
                              <a:schemeClr val="accent5">
                                <a:lumMod val="20000"/>
                                <a:lumOff val="8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accent5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smtClean="0">
                            <a:solidFill>
                              <a:schemeClr val="accent5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smtClean="0">
                            <a:solidFill>
                              <a:schemeClr val="accent5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  <m:r>
                      <m:rPr>
                        <m:nor/>
                      </m:rPr>
                      <a:rPr lang="zh-CN" altLang="en-US" sz="2400" b="1" dirty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+mj-ea"/>
                        <a:ea typeface="+mj-ea"/>
                      </a:rPr>
                      <m:t>的任意一个结点，即</m:t>
                    </m:r>
                    <m:r>
                      <a:rPr lang="en-US" altLang="zh-CN" sz="2400" b="1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sz="2400" b="1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sz="2400" b="1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𝑽</m:t>
                    </m:r>
                  </m:oMath>
                </a14:m>
                <a:r>
                  <a:rPr lang="zh-CN" altLang="zh-CN" sz="24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，从</a:t>
                </a:r>
                <a14:m>
                  <m:oMath xmlns:m="http://schemas.openxmlformats.org/officeDocument/2006/math">
                    <m:r>
                      <a:rPr lang="zh-CN" altLang="zh-CN" sz="2400" b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中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删除</a:t>
                </a:r>
                <a14:m>
                  <m:oMath xmlns:m="http://schemas.openxmlformats.org/officeDocument/2006/math">
                    <m:r>
                      <a:rPr lang="zh-CN" altLang="zh-CN" sz="2400" b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zh-CN" altLang="zh-CN" sz="2400" b="1" dirty="0">
                    <a:solidFill>
                      <a:srgbClr val="FFFF66"/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及与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zh-CN" altLang="zh-CN" sz="2400" b="1" dirty="0">
                    <a:solidFill>
                      <a:srgbClr val="FFFF66"/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相关联的所有边</a:t>
                </a:r>
                <a:r>
                  <a:rPr lang="zh-CN" altLang="zh-CN" sz="24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，得到一个新图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zh-CN" altLang="zh-CN" sz="24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，记为</a:t>
                </a:r>
                <a14:m>
                  <m:oMath xmlns:m="http://schemas.openxmlformats.org/officeDocument/2006/math">
                    <m:r>
                      <a:rPr lang="zh-CN" altLang="zh-CN" sz="2400" b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sz="2400" b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，</a:t>
                </a:r>
                <a:endParaRPr lang="en-US" altLang="zh-CN" sz="2400" b="1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4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+mj-ea"/>
                    <a:ea typeface="+mj-ea"/>
                    <a:cs typeface="Times New Roman" panose="02020603050405020304" pitchFamily="18" charset="0"/>
                  </a:rPr>
                  <a:t>又设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b="1" i="1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1" dirty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altLang="zh-CN" sz="2400" b="1" i="1">
                        <a:solidFill>
                          <a:srgbClr val="FFFF66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𝑽</m:t>
                    </m:r>
                  </m:oMath>
                </a14:m>
                <a:r>
                  <a:rPr lang="zh-CN" altLang="en-US" sz="24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+mj-ea"/>
                    <a:ea typeface="+mj-ea"/>
                  </a:rPr>
                  <a:t>，</a:t>
                </a:r>
                <a:r>
                  <a:rPr lang="zh-CN" altLang="zh-CN" sz="24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+mj-ea"/>
                    <a:ea typeface="+mj-ea"/>
                  </a:rPr>
                  <a:t>从</a:t>
                </a:r>
                <a14:m>
                  <m:oMath xmlns:m="http://schemas.openxmlformats.org/officeDocument/2006/math">
                    <m:r>
                      <a:rPr lang="zh-CN" altLang="zh-CN" sz="2400" b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𝑮</m:t>
                    </m:r>
                    <m:r>
                      <a:rPr lang="en-US" altLang="zh-CN" sz="2400" b="1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+mj-ea"/>
                    <a:ea typeface="+mj-ea"/>
                  </a:rPr>
                  <a:t>中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+mj-ea"/>
                    <a:ea typeface="+mj-ea"/>
                  </a:rPr>
                  <a:t>删除</a:t>
                </a:r>
                <a14:m>
                  <m:oMath xmlns:m="http://schemas.openxmlformats.org/officeDocument/2006/math">
                    <m:r>
                      <a:rPr lang="zh-CN" altLang="zh-CN" sz="2400" b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𝑽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zh-CN" sz="2400" b="1" dirty="0">
                    <a:solidFill>
                      <a:srgbClr val="FFFF66"/>
                    </a:solidFill>
                    <a:latin typeface="+mj-ea"/>
                    <a:ea typeface="+mj-ea"/>
                  </a:rPr>
                  <a:t>中所有</a:t>
                </a:r>
                <a:r>
                  <a:rPr lang="zh-CN" altLang="en-US" sz="2400" b="1" dirty="0">
                    <a:solidFill>
                      <a:srgbClr val="FFFF66"/>
                    </a:solidFill>
                    <a:latin typeface="+mj-ea"/>
                    <a:ea typeface="+mj-ea"/>
                  </a:rPr>
                  <a:t>结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+mj-ea"/>
                    <a:ea typeface="+mj-ea"/>
                  </a:rPr>
                  <a:t>点及与这些</a:t>
                </a:r>
                <a:r>
                  <a:rPr lang="zh-CN" altLang="en-US" sz="2400" b="1" dirty="0">
                    <a:solidFill>
                      <a:srgbClr val="FFFF66"/>
                    </a:solidFill>
                    <a:latin typeface="+mj-ea"/>
                    <a:ea typeface="+mj-ea"/>
                  </a:rPr>
                  <a:t>结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+mj-ea"/>
                    <a:ea typeface="+mj-ea"/>
                  </a:rPr>
                  <a:t>点关联的所有边</a:t>
                </a:r>
                <a:r>
                  <a:rPr lang="zh-CN" altLang="zh-CN" sz="24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+mj-ea"/>
                    <a:ea typeface="+mj-ea"/>
                  </a:rPr>
                  <a:t>，得到一个新图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𝑮</m:t>
                    </m:r>
                    <m:r>
                      <a:rPr lang="en-US" altLang="zh-CN" sz="2400" b="1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′</m:t>
                    </m:r>
                  </m:oMath>
                </a14:m>
                <a:r>
                  <a:rPr lang="zh-CN" altLang="zh-CN" sz="24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+mj-ea"/>
                    <a:ea typeface="+mj-ea"/>
                  </a:rPr>
                  <a:t>，记为</a:t>
                </a:r>
                <a14:m>
                  <m:oMath xmlns:m="http://schemas.openxmlformats.org/officeDocument/2006/math">
                    <m:r>
                      <a:rPr lang="zh-CN" altLang="zh-CN" sz="2400" b="1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𝑮</m:t>
                    </m:r>
                    <m:r>
                      <a:rPr lang="en-US" altLang="zh-CN" sz="2400" b="1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−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chemeClr val="accent5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chemeClr val="accent5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𝑽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accent5">
                                <a:lumMod val="20000"/>
                                <a:lumOff val="8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zh-CN" sz="24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+mj-ea"/>
                    <a:ea typeface="+mj-ea"/>
                  </a:rPr>
                  <a:t>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F7124B2-304A-4E31-9CDC-CDEFA13975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429000"/>
                <a:ext cx="8382167" cy="2867965"/>
              </a:xfrm>
              <a:prstGeom prst="rect">
                <a:avLst/>
              </a:prstGeom>
              <a:blipFill>
                <a:blip r:embed="rId5"/>
                <a:stretch>
                  <a:fillRect l="-1091" r="-727" b="-31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8070401"/>
      </p:ext>
    </p:extLst>
  </p:cSld>
  <p:clrMapOvr>
    <a:masterClrMapping/>
  </p:clrMapOvr>
  <p:transition spd="med">
    <p:wipe dir="r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AC8BA6-1227-4C48-9ED2-9CAF8146A7E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76804" name="Text Box 2"/>
          <p:cNvSpPr txBox="1">
            <a:spLocks noChangeArrowheads="1"/>
          </p:cNvSpPr>
          <p:nvPr/>
        </p:nvSpPr>
        <p:spPr bwMode="auto">
          <a:xfrm>
            <a:off x="1331913" y="620713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题</a:t>
            </a:r>
          </a:p>
        </p:txBody>
      </p:sp>
      <p:pic>
        <p:nvPicPr>
          <p:cNvPr id="7680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EAF397C2-C3CF-4078-8C44-37230BDA2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25" y="1988840"/>
            <a:ext cx="8909873" cy="4036168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AC8BA6-1227-4C48-9ED2-9CAF8146A7E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/>
              <p:cNvSpPr txBox="1">
                <a:spLocks noChangeArrowheads="1"/>
              </p:cNvSpPr>
              <p:nvPr/>
            </p:nvSpPr>
            <p:spPr bwMode="auto">
              <a:xfrm>
                <a:off x="899592" y="1844824"/>
                <a:ext cx="7416824" cy="432048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txBody>
              <a:bodyPr/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20000"/>
                  </a:spcBef>
                  <a:buClr>
                    <a:srgbClr val="800080"/>
                  </a:buClr>
                  <a:defRPr/>
                </a:pPr>
                <a:r>
                  <a:rPr lang="zh-CN" altLang="zh-CN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【解】</a:t>
                </a:r>
                <a:r>
                  <a:rPr lang="zh-CN" altLang="zh-CN" sz="2400" dirty="0">
                    <a:solidFill>
                      <a:schemeClr val="tx1"/>
                    </a:solidFill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</a:t>
                </a:r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(b)</a:t>
                </a:r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−(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4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20000"/>
                  </a:spcBef>
                  <a:buClr>
                    <a:srgbClr val="800080"/>
                  </a:buClr>
                  <a:defRPr/>
                </a:pPr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</a:t>
                </a:r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(c)</a:t>
                </a:r>
                <a14:m>
                  <m:oMath xmlns:m="http://schemas.openxmlformats.org/officeDocument/2006/math">
                    <m:r>
                      <a:rPr lang="zh-CN" altLang="zh-CN" sz="24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表示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−{</m:t>
                    </m:r>
                    <m:d>
                      <m:d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d>
                      <m:d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𝟕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d>
                      <m:d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,(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)}</m:t>
                    </m:r>
                  </m:oMath>
                </a14:m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4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20000"/>
                  </a:spcBef>
                  <a:buClr>
                    <a:srgbClr val="800080"/>
                  </a:buClr>
                  <a:defRPr/>
                </a:pPr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</a:t>
                </a:r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(d)</a:t>
                </a:r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</a:t>
                </a:r>
                <a14:m>
                  <m:oMath xmlns:m="http://schemas.openxmlformats.org/officeDocument/2006/math">
                    <m:r>
                      <a:rPr lang="zh-CN" altLang="zh-CN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𝟕</m:t>
                        </m:r>
                      </m:sub>
                    </m:sSub>
                  </m:oMath>
                </a14:m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4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20000"/>
                  </a:spcBef>
                  <a:buClr>
                    <a:srgbClr val="800080"/>
                  </a:buClr>
                  <a:defRPr/>
                </a:pPr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</a:t>
                </a:r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(e)</a:t>
                </a:r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−{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𝟔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4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20000"/>
                  </a:spcBef>
                  <a:buClr>
                    <a:srgbClr val="800080"/>
                  </a:buClr>
                  <a:defRPr/>
                </a:pPr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</a:t>
                </a:r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(f)</a:t>
                </a:r>
                <a14:m>
                  <m:oMath xmlns:m="http://schemas.openxmlformats.org/officeDocument/2006/math">
                    <m:r>
                      <a:rPr lang="zh-CN" altLang="zh-CN" sz="24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表示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\</m:t>
                    </m:r>
                    <m:r>
                      <m:rPr>
                        <m:lit/>
                      </m:rP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𝟕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4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20000"/>
                  </a:spcBef>
                  <a:buClr>
                    <a:srgbClr val="800080"/>
                  </a:buClr>
                  <a:defRPr/>
                </a:pPr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</a:t>
                </a:r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(g)</a:t>
                </a:r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zh-CN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∪</m:t>
                    </m:r>
                    <m:r>
                      <m:rPr>
                        <m:nor/>
                      </m:rPr>
                      <a:rPr lang="en-US" altLang="zh-CN" sz="24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𝟔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4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ct val="20000"/>
                  </a:spcBef>
                  <a:buClr>
                    <a:srgbClr val="800080"/>
                  </a:buClr>
                  <a:defRPr/>
                </a:pPr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图</a:t>
                </a:r>
                <a:r>
                  <a:rPr lang="en-US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(h)</a:t>
                </a:r>
                <a:r>
                  <a:rPr lang="zh-CN" altLang="zh-CN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zh-CN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∪</m:t>
                    </m:r>
                    <m:r>
                      <m:rPr>
                        <m:nor/>
                      </m:rPr>
                      <a:rPr lang="en-US" altLang="zh-CN" sz="24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((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𝟓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4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zh-CN" sz="24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endParaRPr kumimoji="1" lang="zh-CN" altLang="en-US" sz="24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endParaRPr>
              </a:p>
            </p:txBody>
          </p:sp>
        </mc:Choice>
        <mc:Fallback xmlns="">
          <p:sp>
            <p:nvSpPr>
              <p:cNvPr id="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592" y="1844824"/>
                <a:ext cx="7416824" cy="4320480"/>
              </a:xfrm>
              <a:prstGeom prst="rect">
                <a:avLst/>
              </a:prstGeom>
              <a:blipFill>
                <a:blip r:embed="rId3"/>
                <a:stretch>
                  <a:fillRect l="-1316" b="-3249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804" name="Text Box 2"/>
          <p:cNvSpPr txBox="1">
            <a:spLocks noChangeArrowheads="1"/>
          </p:cNvSpPr>
          <p:nvPr/>
        </p:nvSpPr>
        <p:spPr bwMode="auto">
          <a:xfrm>
            <a:off x="1331913" y="620713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题</a:t>
            </a:r>
          </a:p>
        </p:txBody>
      </p:sp>
      <p:pic>
        <p:nvPicPr>
          <p:cNvPr id="7680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3976419"/>
      </p:ext>
    </p:extLst>
  </p:cSld>
  <p:clrMapOvr>
    <a:masterClrMapping/>
  </p:clrMapOvr>
  <p:transition spd="med">
    <p:wipe dir="r"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4" name="Text Box 2"/>
          <p:cNvSpPr txBox="1">
            <a:spLocks noChangeArrowheads="1"/>
          </p:cNvSpPr>
          <p:nvPr/>
        </p:nvSpPr>
        <p:spPr bwMode="auto">
          <a:xfrm>
            <a:off x="1331913" y="620713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题</a:t>
            </a:r>
          </a:p>
        </p:txBody>
      </p:sp>
      <p:pic>
        <p:nvPicPr>
          <p:cNvPr id="7680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D141F45-4D57-4261-AA31-172BCAA37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89" y="1772816"/>
            <a:ext cx="8640960" cy="453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266948"/>
      </p:ext>
    </p:extLst>
  </p:cSld>
  <p:clrMapOvr>
    <a:masterClrMapping/>
  </p:clrMapOvr>
  <p:transition spd="med">
    <p:wipe dir="r"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AC8BA6-1227-4C48-9ED2-9CAF8146A7E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/>
              <p:cNvSpPr txBox="1">
                <a:spLocks noChangeArrowheads="1"/>
              </p:cNvSpPr>
              <p:nvPr/>
            </p:nvSpPr>
            <p:spPr bwMode="auto">
              <a:xfrm>
                <a:off x="611560" y="1849097"/>
                <a:ext cx="7920880" cy="1223963"/>
              </a:xfrm>
              <a:prstGeom prst="rect">
                <a:avLst/>
              </a:prstGeom>
              <a:solidFill>
                <a:schemeClr val="accent5"/>
              </a:solidFill>
              <a:ln w="38100">
                <a:noFill/>
              </a:ln>
              <a:effectLst/>
            </p:spPr>
            <p:txBody>
              <a:bodyPr/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indent="26797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p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是两个图（同为无向图或有向图），则有：</a:t>
                </a:r>
              </a:p>
            </p:txBody>
          </p:sp>
        </mc:Choice>
        <mc:Fallback xmlns="">
          <p:sp>
            <p:nvSpPr>
              <p:cNvPr id="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1849097"/>
                <a:ext cx="7920880" cy="1223963"/>
              </a:xfrm>
              <a:prstGeom prst="rect">
                <a:avLst/>
              </a:prstGeom>
              <a:blipFill>
                <a:blip r:embed="rId3"/>
                <a:stretch>
                  <a:fillRect l="-1154" r="-1154" b="-1493"/>
                </a:stretch>
              </a:blipFill>
              <a:ln w="38100"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804" name="Text Box 2"/>
          <p:cNvSpPr txBox="1">
            <a:spLocks noChangeArrowheads="1"/>
          </p:cNvSpPr>
          <p:nvPr/>
        </p:nvSpPr>
        <p:spPr bwMode="auto">
          <a:xfrm>
            <a:off x="1331640" y="687184"/>
            <a:ext cx="6552456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子图与与生成子图</a:t>
            </a:r>
          </a:p>
        </p:txBody>
      </p:sp>
      <p:pic>
        <p:nvPicPr>
          <p:cNvPr id="7680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715" y="476251"/>
            <a:ext cx="1027285" cy="1080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95536" y="3284984"/>
                <a:ext cx="8640960" cy="279307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en-US" sz="2400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子图与生成子图：</a:t>
                </a:r>
                <a:endParaRPr lang="en-US" altLang="zh-CN" sz="2400" b="1" dirty="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⊆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且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⊆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，则称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子图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母图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，记为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n-US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⊆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𝐆</m:t>
                    </m:r>
                    <m:r>
                      <a:rPr lang="en-US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400" b="1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⊆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𝐆</m:t>
                    </m:r>
                    <m:r>
                      <a:rPr lang="en-US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且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′≠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𝐆</m:t>
                    </m:r>
                    <m:r>
                      <a:rPr lang="en-US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⊂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𝐕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′⊂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𝐄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），则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称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的真子图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；若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⊆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且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，则称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生成子图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2400" b="1" dirty="0">
                    <a:solidFill>
                      <a:schemeClr val="bg1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kumimoji="1"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284984"/>
                <a:ext cx="8640960" cy="2793072"/>
              </a:xfrm>
              <a:prstGeom prst="rect">
                <a:avLst/>
              </a:prstGeom>
              <a:blipFill>
                <a:blip r:embed="rId5"/>
                <a:stretch>
                  <a:fillRect l="-1129" r="-494" b="-3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676756"/>
      </p:ext>
    </p:extLst>
  </p:cSld>
  <p:clrMapOvr>
    <a:masterClrMapping/>
  </p:clrMapOvr>
  <p:transition spd="med">
    <p:wipe dir="r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15FAD0-6733-4495-84E0-75F8AD5455DC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pic>
        <p:nvPicPr>
          <p:cNvPr id="79875" name="Picture 69" descr="QQ截图201509191452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982651"/>
            <a:ext cx="7920038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7" name="Text Box 2"/>
          <p:cNvSpPr txBox="1">
            <a:spLocks noChangeArrowheads="1"/>
          </p:cNvSpPr>
          <p:nvPr/>
        </p:nvSpPr>
        <p:spPr bwMode="auto">
          <a:xfrm>
            <a:off x="1331913" y="620713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79878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3B04077-A5A2-4382-9551-3CF533F9921E}"/>
                  </a:ext>
                </a:extLst>
              </p:cNvPr>
              <p:cNvSpPr txBox="1"/>
              <p:nvPr/>
            </p:nvSpPr>
            <p:spPr>
              <a:xfrm>
                <a:off x="1475656" y="4652663"/>
                <a:ext cx="7056784" cy="1299779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都是图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的</a:t>
                </a:r>
                <a:r>
                  <a:rPr lang="zh-CN" altLang="en-US" sz="28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子图、真子图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；</a:t>
                </a:r>
                <a:endParaRPr lang="en-US" altLang="zh-CN" sz="28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是图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的</a:t>
                </a:r>
                <a:r>
                  <a:rPr lang="zh-CN" altLang="en-US" sz="28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生成子图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3B04077-A5A2-4382-9551-3CF533F99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4652663"/>
                <a:ext cx="7056784" cy="1299779"/>
              </a:xfrm>
              <a:prstGeom prst="rect">
                <a:avLst/>
              </a:prstGeom>
              <a:blipFill>
                <a:blip r:embed="rId6"/>
                <a:stretch>
                  <a:fillRect b="-11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92499"/>
      </p:ext>
    </p:extLst>
  </p:cSld>
  <p:clrMapOvr>
    <a:masterClrMapping/>
  </p:clrMapOvr>
  <p:transition spd="med">
    <p:wipe dir="r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AC8BA6-1227-4C48-9ED2-9CAF8146A7E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/>
              <p:cNvSpPr txBox="1">
                <a:spLocks noChangeArrowheads="1"/>
              </p:cNvSpPr>
              <p:nvPr/>
            </p:nvSpPr>
            <p:spPr bwMode="auto">
              <a:xfrm>
                <a:off x="611560" y="2101447"/>
                <a:ext cx="7920880" cy="1223963"/>
              </a:xfrm>
              <a:prstGeom prst="rect">
                <a:avLst/>
              </a:prstGeom>
              <a:solidFill>
                <a:schemeClr val="accent5"/>
              </a:solidFill>
              <a:ln w="38100">
                <a:noFill/>
              </a:ln>
              <a:effectLst/>
            </p:spPr>
            <p:txBody>
              <a:bodyPr/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indent="26797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p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是两个图（同为无向图或有向图），则有：</a:t>
                </a:r>
              </a:p>
            </p:txBody>
          </p:sp>
        </mc:Choice>
        <mc:Fallback xmlns="">
          <p:sp>
            <p:nvSpPr>
              <p:cNvPr id="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2101447"/>
                <a:ext cx="7920880" cy="1223963"/>
              </a:xfrm>
              <a:prstGeom prst="rect">
                <a:avLst/>
              </a:prstGeom>
              <a:blipFill>
                <a:blip r:embed="rId3"/>
                <a:stretch>
                  <a:fillRect l="-1154" r="-1154" b="-1493"/>
                </a:stretch>
              </a:blipFill>
              <a:ln w="38100"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804" name="Text Box 2"/>
          <p:cNvSpPr txBox="1">
            <a:spLocks noChangeArrowheads="1"/>
          </p:cNvSpPr>
          <p:nvPr/>
        </p:nvSpPr>
        <p:spPr bwMode="auto">
          <a:xfrm>
            <a:off x="1331913" y="620713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结点集导出子图</a:t>
            </a:r>
          </a:p>
        </p:txBody>
      </p:sp>
      <p:pic>
        <p:nvPicPr>
          <p:cNvPr id="7680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D8F11FF-93FC-49F2-9201-040E1ACB347E}"/>
                  </a:ext>
                </a:extLst>
              </p:cNvPr>
              <p:cNvSpPr txBox="1"/>
              <p:nvPr/>
            </p:nvSpPr>
            <p:spPr>
              <a:xfrm>
                <a:off x="539552" y="3933056"/>
                <a:ext cx="8203169" cy="223529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rgbClr val="FFFF00"/>
                    </a:solidFill>
                    <a:latin typeface="+mj-ea"/>
                    <a:ea typeface="+mj-ea"/>
                  </a:rPr>
                  <a:t>   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+mj-ea"/>
                    <a:ea typeface="+mj-ea"/>
                  </a:rPr>
                  <a:t>（</a:t>
                </a:r>
                <a:r>
                  <a:rPr lang="en-US" altLang="zh-CN" sz="2400" b="1" dirty="0">
                    <a:solidFill>
                      <a:srgbClr val="FFFF00"/>
                    </a:solidFill>
                    <a:latin typeface="+mj-ea"/>
                    <a:ea typeface="+mj-ea"/>
                  </a:rPr>
                  <a:t>2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+mj-ea"/>
                    <a:ea typeface="+mj-ea"/>
                  </a:rPr>
                  <a:t>）</a:t>
                </a:r>
                <a:r>
                  <a:rPr lang="zh-CN" altLang="en-US" sz="2400" b="1" dirty="0">
                    <a:solidFill>
                      <a:srgbClr val="FFFF00"/>
                    </a:solidFill>
                    <a:latin typeface="+mj-ea"/>
                    <a:ea typeface="+mj-ea"/>
                  </a:rPr>
                  <a:t>结点集导出子图：</a:t>
                </a:r>
                <a:endParaRPr lang="en-US" altLang="zh-CN" sz="2400" b="1" dirty="0">
                  <a:solidFill>
                    <a:srgbClr val="FFFF00"/>
                  </a:solidFill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    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𝟏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b="1" dirty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m:t>是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𝑽</m:t>
                    </m:r>
                    <m:r>
                      <m:rPr>
                        <m:nor/>
                      </m:rPr>
                      <a:rPr lang="zh-CN" altLang="en-US" sz="2400" b="1" dirty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m:t>的非空子集，即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Ø≠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⊆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𝑽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，则以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为结点集，以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+mj-ea"/>
                    <a:ea typeface="+mj-ea"/>
                  </a:rPr>
                  <a:t>两个端点均在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rgbClr val="FFFF00"/>
                    </a:solidFill>
                    <a:latin typeface="+mj-ea"/>
                    <a:ea typeface="+mj-ea"/>
                  </a:rPr>
                  <a:t>中的全体边为边集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构成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的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的子图称为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+mj-ea"/>
                    <a:ea typeface="+mj-ea"/>
                  </a:rPr>
                  <a:t>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rgbClr val="FFFF00"/>
                    </a:solidFill>
                    <a:latin typeface="+mj-ea"/>
                    <a:ea typeface="+mj-ea"/>
                  </a:rPr>
                  <a:t>导出的导出子图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，记为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+mj-ea"/>
                      </a:rPr>
                      <m:t>𝑮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。</a:t>
                </a:r>
                <a:endParaRPr lang="en-US" altLang="zh-CN" sz="24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D8F11FF-93FC-49F2-9201-040E1ACB3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933056"/>
                <a:ext cx="8203169" cy="2235292"/>
              </a:xfrm>
              <a:prstGeom prst="rect">
                <a:avLst/>
              </a:prstGeom>
              <a:blipFill>
                <a:blip r:embed="rId5"/>
                <a:stretch>
                  <a:fillRect l="-1190" b="-4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8219349"/>
      </p:ext>
    </p:extLst>
  </p:cSld>
  <p:clrMapOvr>
    <a:masterClrMapping/>
  </p:clrMapOvr>
  <p:transition spd="med">
    <p:wipe dir="r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15FAD0-6733-4495-84E0-75F8AD5455DC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pic>
        <p:nvPicPr>
          <p:cNvPr id="79875" name="Picture 69" descr="QQ截图201509191452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81" y="2068318"/>
            <a:ext cx="7920038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7" name="Text Box 2"/>
          <p:cNvSpPr txBox="1">
            <a:spLocks noChangeArrowheads="1"/>
          </p:cNvSpPr>
          <p:nvPr/>
        </p:nvSpPr>
        <p:spPr bwMode="auto">
          <a:xfrm>
            <a:off x="1331913" y="620713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79878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3B04077-A5A2-4382-9551-3CF533F9921E}"/>
                  </a:ext>
                </a:extLst>
              </p:cNvPr>
              <p:cNvSpPr txBox="1"/>
              <p:nvPr/>
            </p:nvSpPr>
            <p:spPr>
              <a:xfrm>
                <a:off x="359953" y="4649514"/>
                <a:ext cx="8424094" cy="1284006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      </m:t>
                        </m:r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𝑮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是图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𝑮</m:t>
                    </m:r>
                  </m:oMath>
                </a14:m>
                <a:r>
                  <a:rPr lang="zh-CN" altLang="en-US" sz="28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{</m:t>
                    </m:r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𝒗</m:t>
                    </m:r>
                    <m:r>
                      <a:rPr lang="en-US" altLang="zh-CN" sz="2800" b="1" i="1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𝟏</m:t>
                    </m:r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,</m:t>
                    </m:r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𝒗</m:t>
                    </m:r>
                    <m:r>
                      <a:rPr lang="en-US" altLang="zh-CN" sz="2800" b="1" i="1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𝟐</m:t>
                    </m:r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,</m:t>
                    </m:r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𝒗</m:t>
                    </m:r>
                    <m:r>
                      <a:rPr lang="en-US" altLang="zh-CN" sz="2800" b="1" i="1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𝟑</m:t>
                    </m:r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,</m:t>
                    </m:r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𝒗</m:t>
                    </m:r>
                    <m:r>
                      <a:rPr lang="en-US" altLang="zh-CN" sz="2800" b="1" i="1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𝟒</m:t>
                    </m:r>
                    <m:r>
                      <a:rPr lang="en-US" altLang="zh-CN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j-ea"/>
                      </a:rPr>
                      <m:t>}</m:t>
                    </m:r>
                    <m:r>
                      <m:rPr>
                        <m:nor/>
                      </m:rPr>
                      <a:rPr lang="zh-CN" altLang="en-US" sz="2800" b="1" dirty="0">
                        <a:solidFill>
                          <a:schemeClr val="tx1"/>
                        </a:solidFill>
                        <a:latin typeface="+mj-ea"/>
                        <a:ea typeface="+mj-ea"/>
                      </a:rPr>
                      <m:t>的</m:t>
                    </m:r>
                  </m:oMath>
                </a14:m>
                <a:r>
                  <a:rPr lang="zh-CN" altLang="en-US" sz="28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导出子图；</a:t>
                </a:r>
                <a:endParaRPr lang="en-US" altLang="zh-CN" sz="2800" b="1" dirty="0">
                  <a:solidFill>
                    <a:srgbClr val="0000FF"/>
                  </a:solidFill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solidFill>
                      <a:srgbClr val="0000FF"/>
                    </a:solidFill>
                    <a:latin typeface="+mj-ea"/>
                    <a:ea typeface="+mj-ea"/>
                  </a:rPr>
                  <a:t>  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每个图都是其自身的子图、生成子图和导出子图。</a:t>
                </a:r>
                <a:endParaRPr lang="en-US" altLang="zh-CN" sz="28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3B04077-A5A2-4382-9551-3CF533F99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953" y="4649514"/>
                <a:ext cx="8424094" cy="1284006"/>
              </a:xfrm>
              <a:prstGeom prst="rect">
                <a:avLst/>
              </a:prstGeom>
              <a:blipFill>
                <a:blip r:embed="rId5"/>
                <a:stretch>
                  <a:fillRect r="-1447" b="-1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3438202"/>
      </p:ext>
    </p:extLst>
  </p:cSld>
  <p:clrMapOvr>
    <a:masterClrMapping/>
  </p:clrMapOvr>
  <p:transition spd="med">
    <p:wipe dir="r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AC8BA6-1227-4C48-9ED2-9CAF8146A7E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/>
              <p:cNvSpPr txBox="1">
                <a:spLocks noChangeArrowheads="1"/>
              </p:cNvSpPr>
              <p:nvPr/>
            </p:nvSpPr>
            <p:spPr bwMode="auto">
              <a:xfrm>
                <a:off x="611560" y="2101447"/>
                <a:ext cx="7920880" cy="1223963"/>
              </a:xfrm>
              <a:prstGeom prst="rect">
                <a:avLst/>
              </a:prstGeom>
              <a:solidFill>
                <a:schemeClr val="accent5"/>
              </a:solidFill>
              <a:ln w="38100">
                <a:noFill/>
              </a:ln>
              <a:effectLst/>
            </p:spPr>
            <p:txBody>
              <a:bodyPr/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indent="26797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b="1" kern="1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p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zh-CN" altLang="zh-CN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altLang="zh-CN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是两个图（同为无向图或有向图），则有：</a:t>
                </a:r>
              </a:p>
            </p:txBody>
          </p:sp>
        </mc:Choice>
        <mc:Fallback xmlns="">
          <p:sp>
            <p:nvSpPr>
              <p:cNvPr id="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560" y="2101447"/>
                <a:ext cx="7920880" cy="1223963"/>
              </a:xfrm>
              <a:prstGeom prst="rect">
                <a:avLst/>
              </a:prstGeom>
              <a:blipFill>
                <a:blip r:embed="rId3"/>
                <a:stretch>
                  <a:fillRect l="-1154" r="-1154" b="-1493"/>
                </a:stretch>
              </a:blipFill>
              <a:ln w="38100"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804" name="Text Box 2"/>
          <p:cNvSpPr txBox="1">
            <a:spLocks noChangeArrowheads="1"/>
          </p:cNvSpPr>
          <p:nvPr/>
        </p:nvSpPr>
        <p:spPr bwMode="auto">
          <a:xfrm>
            <a:off x="1331913" y="620713"/>
            <a:ext cx="6335712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边集导出子图</a:t>
            </a:r>
          </a:p>
        </p:txBody>
      </p:sp>
      <p:pic>
        <p:nvPicPr>
          <p:cNvPr id="7680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5656258-2E7E-41C6-A25E-C1D2C4BF7701}"/>
                  </a:ext>
                </a:extLst>
              </p:cNvPr>
              <p:cNvSpPr txBox="1"/>
              <p:nvPr/>
            </p:nvSpPr>
            <p:spPr>
              <a:xfrm>
                <a:off x="755576" y="3719669"/>
                <a:ext cx="7848872" cy="223907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   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+mj-ea"/>
                    <a:ea typeface="+mj-ea"/>
                  </a:rPr>
                  <a:t>（</a:t>
                </a:r>
                <a:r>
                  <a:rPr lang="en-US" altLang="zh-CN" sz="2400" b="1" dirty="0">
                    <a:solidFill>
                      <a:srgbClr val="FFFF00"/>
                    </a:solidFill>
                    <a:latin typeface="+mj-ea"/>
                    <a:ea typeface="+mj-ea"/>
                  </a:rPr>
                  <a:t>3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+mj-ea"/>
                    <a:ea typeface="+mj-ea"/>
                  </a:rPr>
                  <a:t>）</a:t>
                </a:r>
                <a:r>
                  <a:rPr lang="zh-CN" altLang="en-US" sz="2400" b="1" dirty="0">
                    <a:solidFill>
                      <a:srgbClr val="FFFF00"/>
                    </a:solidFill>
                    <a:latin typeface="+mj-ea"/>
                    <a:ea typeface="+mj-ea"/>
                  </a:rPr>
                  <a:t>边集导出子图</a:t>
                </a:r>
                <a:endParaRPr lang="en-US" altLang="zh-CN" sz="2400" b="1" dirty="0">
                  <a:solidFill>
                    <a:srgbClr val="FFFF00"/>
                  </a:solidFill>
                  <a:latin typeface="+mj-ea"/>
                  <a:ea typeface="+mj-ea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    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𝑬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𝟏</m:t>
                        </m:r>
                      </m:sub>
                    </m:sSub>
                    <m:r>
                      <a:rPr lang="zh-CN" altLang="zh-CN" sz="24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是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𝑬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的非空子集，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Ø≠</m:t>
                        </m:r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𝑬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⊆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𝑬</m:t>
                    </m:r>
                  </m:oMath>
                </a14:m>
                <a:r>
                  <a:rPr kumimoji="1" lang="zh-CN" altLang="en-US" sz="24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+mj-ea"/>
                    <a:ea typeface="+mj-ea"/>
                  </a:rPr>
                  <a:t>，则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 </m:t>
                        </m:r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𝑬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为边集，以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 </m:t>
                        </m:r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𝑬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𝟏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中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+mj-ea"/>
                    <a:ea typeface="+mj-ea"/>
                  </a:rPr>
                  <a:t>所有边关联的全部结点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为结点集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构成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𝑮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的子图成为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b="1" dirty="0">
                        <a:solidFill>
                          <a:schemeClr val="bg1"/>
                        </a:solidFill>
                        <a:latin typeface="+mj-ea"/>
                        <a:ea typeface="+mj-ea"/>
                      </a:rPr>
                      <m:t>由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 </m:t>
                        </m:r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𝑬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导出的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+mj-ea"/>
                    <a:ea typeface="+mj-ea"/>
                  </a:rPr>
                  <a:t>导出子图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，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记为</a:t>
                </a:r>
                <a14:m>
                  <m:oMath xmlns:m="http://schemas.openxmlformats.org/officeDocument/2006/math">
                    <m:r>
                      <a:rPr lang="zh-CN" altLang="zh-CN" sz="2400" b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+mj-ea"/>
                      </a:rPr>
                      <m:t>𝑮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 </m:t>
                            </m:r>
                            <m:r>
                              <a:rPr lang="en-US" altLang="zh-CN" sz="24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。</a:t>
                </a:r>
                <a:endParaRPr kumimoji="1"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5656258-2E7E-41C6-A25E-C1D2C4BF7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719669"/>
                <a:ext cx="7848872" cy="2239074"/>
              </a:xfrm>
              <a:prstGeom prst="rect">
                <a:avLst/>
              </a:prstGeom>
              <a:blipFill>
                <a:blip r:embed="rId5"/>
                <a:stretch>
                  <a:fillRect l="-1243" r="-78" b="-4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5906300"/>
      </p:ext>
    </p:extLst>
  </p:cSld>
  <p:clrMapOvr>
    <a:masterClrMapping/>
  </p:clrMapOvr>
  <p:transition spd="med">
    <p:wipe dir="r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AC8BA6-1227-4C48-9ED2-9CAF8146A7E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76804" name="Text Box 2"/>
          <p:cNvSpPr txBox="1">
            <a:spLocks noChangeArrowheads="1"/>
          </p:cNvSpPr>
          <p:nvPr/>
        </p:nvSpPr>
        <p:spPr bwMode="auto">
          <a:xfrm>
            <a:off x="1331913" y="620713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题</a:t>
            </a:r>
          </a:p>
        </p:txBody>
      </p:sp>
      <p:pic>
        <p:nvPicPr>
          <p:cNvPr id="7680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0DB729E-E02F-41CB-A44C-E0E92B939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1916832"/>
            <a:ext cx="8738284" cy="424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3477"/>
      </p:ext>
    </p:extLst>
  </p:cSld>
  <p:clrMapOvr>
    <a:masterClrMapping/>
  </p:clrMapOvr>
  <p:transition spd="med">
    <p:wipe dir="r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AC8BA6-1227-4C48-9ED2-9CAF8146A7E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/>
              <p:cNvSpPr txBox="1">
                <a:spLocks noChangeArrowheads="1"/>
              </p:cNvSpPr>
              <p:nvPr/>
            </p:nvSpPr>
            <p:spPr bwMode="auto">
              <a:xfrm>
                <a:off x="395536" y="2078128"/>
                <a:ext cx="8461448" cy="4032448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  <a:effectLst/>
            </p:spPr>
            <p:txBody>
              <a:bodyPr/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>
                  <a:lnSpc>
                    <a:spcPts val="3800"/>
                  </a:lnSpc>
                </a:pPr>
                <a:r>
                  <a:rPr lang="en-US" altLang="zh-CN" sz="2400" dirty="0"/>
                  <a:t>   </a:t>
                </a:r>
                <a:r>
                  <a:rPr lang="zh-CN" altLang="zh-CN" sz="2400" b="1" dirty="0"/>
                  <a:t>【解】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由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真子图定义知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均是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的真子图。又因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，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故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accent2"/>
                    </a:solidFill>
                  </a:rPr>
                  <a:t>不是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zh-CN" sz="2400" b="1" dirty="0">
                    <a:solidFill>
                      <a:schemeClr val="accent2"/>
                    </a:solidFill>
                  </a:rPr>
                  <a:t>的生成子图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accent2"/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zh-CN" sz="2400" b="1" dirty="0">
                    <a:solidFill>
                      <a:schemeClr val="accent2"/>
                    </a:solidFill>
                  </a:rPr>
                  <a:t>的生成子图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。 </a:t>
                </a:r>
              </a:p>
              <a:p>
                <a:pPr>
                  <a:lnSpc>
                    <a:spcPts val="3800"/>
                  </a:lnSpc>
                </a:pPr>
                <a:r>
                  <a:rPr lang="en-US" altLang="zh-CN" sz="2400" b="1" dirty="0">
                    <a:solidFill>
                      <a:schemeClr val="tx1"/>
                    </a:solidFill>
                  </a:rPr>
                  <a:t>   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由导出子图的定义可知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：</a:t>
                </a:r>
                <a:endParaRPr lang="en-US" altLang="zh-CN" sz="24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ts val="3800"/>
                  </a:lnSpc>
                </a:pPr>
                <a:r>
                  <a:rPr lang="en-US" altLang="zh-CN" sz="2400" b="1" dirty="0"/>
                  <a:t>   </a:t>
                </a:r>
                <a:r>
                  <a:rPr lang="zh-CN" altLang="zh-CN" sz="2400" b="1" dirty="0"/>
                  <a:t>图</a:t>
                </a:r>
                <a14:m>
                  <m:oMath xmlns:m="http://schemas.openxmlformats.org/officeDocument/2006/math">
                    <m:r>
                      <a:rPr lang="zh-CN" altLang="zh-CN" sz="2400" b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既是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rgbClr val="0000FF"/>
                    </a:solidFill>
                  </a:rPr>
                  <a:t>的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导出子图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，也是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e>
                    </m:d>
                    <m:r>
                      <a:rPr lang="en-US" altLang="zh-CN" sz="2400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的导出子图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。</a:t>
                </a:r>
                <a:endParaRPr lang="en-US" altLang="zh-CN" sz="24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ts val="3800"/>
                  </a:lnSpc>
                </a:pPr>
                <a:r>
                  <a:rPr lang="en-US" altLang="zh-CN" sz="2400" b="1" dirty="0">
                    <a:solidFill>
                      <a:srgbClr val="0070C0"/>
                    </a:solidFill>
                  </a:rPr>
                  <a:t>   </a:t>
                </a:r>
                <a:r>
                  <a:rPr lang="zh-CN" altLang="zh-CN" sz="2400" b="1" dirty="0"/>
                  <a:t>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e>
                    </m:d>
                    <m:r>
                      <a:rPr lang="en-US" altLang="zh-CN" sz="2400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rgbClr val="0000FF"/>
                    </a:solidFill>
                  </a:rPr>
                  <a:t>的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导出子图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，由于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中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没有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边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和边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不是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的导出子图。</a:t>
                </a:r>
                <a:endParaRPr kumimoji="1" lang="zh-CN" altLang="en-US" sz="24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endParaRPr>
              </a:p>
            </p:txBody>
          </p:sp>
        </mc:Choice>
        <mc:Fallback xmlns="">
          <p:sp>
            <p:nvSpPr>
              <p:cNvPr id="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536" y="2078128"/>
                <a:ext cx="8461448" cy="4032448"/>
              </a:xfrm>
              <a:prstGeom prst="rect">
                <a:avLst/>
              </a:prstGeom>
              <a:blipFill>
                <a:blip r:embed="rId3"/>
                <a:stretch>
                  <a:fillRect l="-1153" t="-151" r="-50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804" name="Text Box 2"/>
          <p:cNvSpPr txBox="1">
            <a:spLocks noChangeArrowheads="1"/>
          </p:cNvSpPr>
          <p:nvPr/>
        </p:nvSpPr>
        <p:spPr bwMode="auto">
          <a:xfrm>
            <a:off x="1331913" y="620713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题</a:t>
            </a:r>
          </a:p>
        </p:txBody>
      </p:sp>
      <p:pic>
        <p:nvPicPr>
          <p:cNvPr id="7680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5984932"/>
      </p:ext>
    </p:extLst>
  </p:cSld>
  <p:clrMapOvr>
    <a:masterClrMapping/>
  </p:clrMapOvr>
  <p:transition spd="med">
    <p:wipe dir="r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AC8BA6-1227-4C48-9ED2-9CAF8146A7E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pic>
        <p:nvPicPr>
          <p:cNvPr id="7680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39329" y="1728315"/>
                <a:ext cx="7920880" cy="1681294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tx1"/>
                    </a:solidFill>
                  </a:rPr>
                  <a:t>   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是一个具有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个结点的</a:t>
                </a:r>
                <a:r>
                  <a:rPr lang="zh-CN" altLang="zh-CN" sz="2400" b="1" dirty="0">
                    <a:solidFill>
                      <a:schemeClr val="accent6"/>
                    </a:solidFill>
                  </a:rPr>
                  <a:t>无向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简单图，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若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图中任意两结点之间都有边相联结，则称该图为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C00FF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zh-CN" sz="2400" b="1" dirty="0">
                    <a:solidFill>
                      <a:srgbClr val="CC00FF"/>
                    </a:solidFill>
                  </a:rPr>
                  <a:t>阶无向完全图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，简称为</a:t>
                </a:r>
                <a:r>
                  <a:rPr lang="zh-CN" altLang="zh-CN" sz="2400" b="1" dirty="0">
                    <a:solidFill>
                      <a:srgbClr val="CC00FF"/>
                    </a:solidFill>
                  </a:rPr>
                  <a:t>完全图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，记为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；</a:t>
                </a:r>
                <a:endParaRPr lang="en-US" altLang="zh-CN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329" y="1728315"/>
                <a:ext cx="7920880" cy="1681294"/>
              </a:xfrm>
              <a:prstGeom prst="rect">
                <a:avLst/>
              </a:prstGeom>
              <a:blipFill>
                <a:blip r:embed="rId4"/>
                <a:stretch>
                  <a:fillRect l="-1154" b="-6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539329" y="3554708"/>
                <a:ext cx="8022852" cy="1681294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tx1"/>
                    </a:solidFill>
                  </a:rPr>
                  <a:t>   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是一个具有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个结点的</a:t>
                </a:r>
                <a:r>
                  <a:rPr lang="zh-CN" altLang="zh-CN" sz="2400" b="1" dirty="0">
                    <a:solidFill>
                      <a:schemeClr val="accent6"/>
                    </a:solidFill>
                  </a:rPr>
                  <a:t>有向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简单图，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若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图中任意两结点之间都</a:t>
                </a:r>
                <a:r>
                  <a:rPr lang="zh-CN" altLang="zh-CN" sz="2400" b="1" dirty="0">
                    <a:solidFill>
                      <a:srgbClr val="CC00FF"/>
                    </a:solidFill>
                  </a:rPr>
                  <a:t>有方向相反的两条边相联结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，则称该图为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CC00FF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zh-CN" sz="2400" b="1" dirty="0">
                    <a:solidFill>
                      <a:srgbClr val="CC00FF"/>
                    </a:solidFill>
                  </a:rPr>
                  <a:t>阶有向完全图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，在不混淆的情况下也记为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329" y="3554708"/>
                <a:ext cx="8022852" cy="1681294"/>
              </a:xfrm>
              <a:prstGeom prst="rect">
                <a:avLst/>
              </a:prstGeom>
              <a:blipFill>
                <a:blip r:embed="rId5"/>
                <a:stretch>
                  <a:fillRect l="-1139" r="-683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椭圆形标注 3"/>
          <p:cNvSpPr/>
          <p:nvPr/>
        </p:nvSpPr>
        <p:spPr bwMode="auto">
          <a:xfrm>
            <a:off x="3707904" y="5445224"/>
            <a:ext cx="4499992" cy="1080120"/>
          </a:xfrm>
          <a:prstGeom prst="wedgeEllipseCallout">
            <a:avLst>
              <a:gd name="adj1" fmla="val -36227"/>
              <a:gd name="adj2" fmla="val -76559"/>
            </a:avLst>
          </a:prstGeom>
          <a:solidFill>
            <a:srgbClr val="92D050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</a:rPr>
              <a:t>对于完全图，其邻接矩阵和边数有哪些特点呢？</a:t>
            </a: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331913" y="620713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完全图的概念</a:t>
            </a:r>
          </a:p>
        </p:txBody>
      </p:sp>
    </p:spTree>
    <p:extLst>
      <p:ext uri="{BB962C8B-B14F-4D97-AF65-F5344CB8AC3E}">
        <p14:creationId xmlns:p14="http://schemas.microsoft.com/office/powerpoint/2010/main" val="3461492760"/>
      </p:ext>
    </p:extLst>
  </p:cSld>
  <p:clrMapOvr>
    <a:masterClrMapping/>
  </p:clrMapOvr>
  <p:transition spd="med">
    <p:wipe dir="r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E40D0D-7CC9-4D58-B29F-8E24B7B819FF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82947" name="Rectangle 58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82948" name="Rectangle 60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82949" name="Text Box 2"/>
          <p:cNvSpPr txBox="1">
            <a:spLocks noChangeArrowheads="1"/>
          </p:cNvSpPr>
          <p:nvPr/>
        </p:nvSpPr>
        <p:spPr bwMode="auto">
          <a:xfrm>
            <a:off x="1331913" y="620713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完全图的特点</a:t>
            </a:r>
          </a:p>
        </p:txBody>
      </p:sp>
      <p:pic>
        <p:nvPicPr>
          <p:cNvPr id="82950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CC7D56A4-70C2-423C-82C6-179AC45EA959}"/>
                  </a:ext>
                </a:extLst>
              </p:cNvPr>
              <p:cNvSpPr/>
              <p:nvPr/>
            </p:nvSpPr>
            <p:spPr>
              <a:xfrm>
                <a:off x="467544" y="4116882"/>
                <a:ext cx="8064896" cy="223529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对于完全图来说，其邻接矩阵除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主对角线上元素均为</a:t>
                </a:r>
                <a:r>
                  <a:rPr lang="en-US" altLang="zh-CN" sz="2400" b="1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之外，其余元素均为</a:t>
                </a:r>
                <a:r>
                  <a:rPr lang="en-US" altLang="zh-CN" sz="2400" b="1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2400" b="1" dirty="0">
                    <a:solidFill>
                      <a:schemeClr val="bg1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altLang="zh-CN" sz="2400" b="1" dirty="0">
                  <a:solidFill>
                    <a:schemeClr val="bg1"/>
                  </a:solidFill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显然，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阶无向完全图的边数为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zh-CN" altLang="zh-CN" sz="2400" b="1" i="1" smtClean="0">
                            <a:solidFill>
                              <a:srgbClr val="FFFF66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  <m:r>
                          <a:rPr lang="en-US" altLang="zh-CN" sz="2400" b="1" i="1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  <m:r>
                          <a:rPr lang="en-US" altLang="zh-CN" sz="2400" b="1" i="1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altLang="zh-CN" sz="2400" b="1" i="1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阶有向完全图的边数为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2400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2400" b="1" dirty="0">
                    <a:solidFill>
                      <a:schemeClr val="bg1"/>
                    </a:solidFill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CC7D56A4-70C2-423C-82C6-179AC45EA9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4116882"/>
                <a:ext cx="8064896" cy="2235292"/>
              </a:xfrm>
              <a:prstGeom prst="rect">
                <a:avLst/>
              </a:prstGeom>
              <a:blipFill>
                <a:blip r:embed="rId4"/>
                <a:stretch>
                  <a:fillRect l="-1209" b="-149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38B0F3A1-F591-4DD1-81F7-9E17281938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21" y="1738502"/>
            <a:ext cx="8076690" cy="223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190356"/>
      </p:ext>
    </p:extLst>
  </p:cSld>
  <p:clrMapOvr>
    <a:masterClrMapping/>
  </p:clrMapOvr>
  <p:transition spd="med">
    <p:wipe dir="r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AC8BA6-1227-4C48-9ED2-9CAF8146A7E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76804" name="Text Box 2"/>
          <p:cNvSpPr txBox="1">
            <a:spLocks noChangeArrowheads="1"/>
          </p:cNvSpPr>
          <p:nvPr/>
        </p:nvSpPr>
        <p:spPr bwMode="auto">
          <a:xfrm>
            <a:off x="1331913" y="620713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补图的概念</a:t>
            </a:r>
          </a:p>
        </p:txBody>
      </p:sp>
      <p:pic>
        <p:nvPicPr>
          <p:cNvPr id="7680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39329" y="1891409"/>
                <a:ext cx="7920880" cy="1682320"/>
              </a:xfrm>
              <a:prstGeom prst="rect">
                <a:avLst/>
              </a:prstGeom>
              <a:solidFill>
                <a:schemeClr val="accent5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tx1"/>
                    </a:solidFill>
                  </a:rPr>
                  <a:t>    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阶简单图，以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为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结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点集，以所有使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成为完全图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的新加边为边集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构成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的图称为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相对于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的</a:t>
                </a:r>
                <a:r>
                  <a:rPr lang="zh-CN" altLang="zh-CN" sz="2400" b="1" dirty="0">
                    <a:solidFill>
                      <a:srgbClr val="0000FF"/>
                    </a:solidFill>
                  </a:rPr>
                  <a:t>补图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，简称为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的</a:t>
                </a:r>
                <a:r>
                  <a:rPr lang="zh-CN" altLang="zh-CN" sz="2400" b="1" dirty="0">
                    <a:solidFill>
                      <a:srgbClr val="0000FF"/>
                    </a:solidFill>
                  </a:rPr>
                  <a:t>补图</a:t>
                </a:r>
                <a:r>
                  <a:rPr lang="zh-CN" altLang="zh-CN" sz="2400" b="1" dirty="0">
                    <a:solidFill>
                      <a:srgbClr val="800080"/>
                    </a:solidFill>
                  </a:rPr>
                  <a:t>，</a:t>
                </a:r>
                <a:r>
                  <a:rPr lang="zh-CN" altLang="zh-CN" sz="2400" b="1" dirty="0">
                    <a:solidFill>
                      <a:srgbClr val="FF0000"/>
                    </a:solidFill>
                  </a:rPr>
                  <a:t>记为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</m:acc>
                  </m:oMath>
                </a14:m>
                <a:r>
                  <a:rPr lang="zh-CN" altLang="zh-CN" sz="2400" b="1" dirty="0">
                    <a:solidFill>
                      <a:srgbClr val="800080"/>
                    </a:solidFill>
                  </a:rPr>
                  <a:t>。 </a:t>
                </a:r>
                <a:endParaRPr lang="en-US" altLang="zh-CN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329" y="1891409"/>
                <a:ext cx="7920880" cy="1682320"/>
              </a:xfrm>
              <a:prstGeom prst="rect">
                <a:avLst/>
              </a:prstGeom>
              <a:blipFill>
                <a:blip r:embed="rId4"/>
                <a:stretch>
                  <a:fillRect l="-1154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575026" y="3861048"/>
                <a:ext cx="7957414" cy="2113399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    </a:t>
                </a:r>
                <a:r>
                  <a:rPr lang="zh-CN" altLang="zh-CN" sz="2400" dirty="0">
                    <a:solidFill>
                      <a:schemeClr val="bg1"/>
                    </a:solidFill>
                  </a:rPr>
                  <a:t>显然，若图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zh-CN" sz="2400" dirty="0">
                    <a:solidFill>
                      <a:schemeClr val="bg1"/>
                    </a:solidFill>
                  </a:rPr>
                  <a:t>的邻接矩阵为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zh-CN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CN" altLang="zh-C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zh-CN" sz="2400" dirty="0">
                    <a:solidFill>
                      <a:schemeClr val="bg1"/>
                    </a:solidFill>
                  </a:rPr>
                  <a:t>，则其补图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acc>
                  </m:oMath>
                </a14:m>
                <a:r>
                  <a:rPr lang="zh-CN" altLang="zh-CN" sz="2400" dirty="0">
                    <a:solidFill>
                      <a:schemeClr val="bg1"/>
                    </a:solidFill>
                  </a:rPr>
                  <a:t>的邻接矩阵为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zh-CN" altLang="zh-C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acc>
                      </m:sub>
                    </m:sSub>
                    <m:r>
                      <a:rPr lang="en-US" altLang="zh-CN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zh-CN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zh-CN" altLang="zh-C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zh-CN" altLang="zh-CN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</a:rPr>
                  <a:t>，其中：</a:t>
                </a:r>
                <a:endParaRPr lang="zh-CN" altLang="zh-CN" sz="240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b="1" i="1" smtClean="0">
                              <a:solidFill>
                                <a:srgbClr val="FFFF6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zh-CN" altLang="zh-CN" sz="2400" b="1" i="1">
                                  <a:solidFill>
                                    <a:srgbClr val="FFFF6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1" i="1">
                                  <a:solidFill>
                                    <a:srgbClr val="FFFF66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acc>
                        </m:e>
                        <m:sub>
                          <m:r>
                            <a:rPr lang="en-US" altLang="zh-CN" sz="2400" b="1" i="1">
                              <a:solidFill>
                                <a:srgbClr val="FFFF66"/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n-US" altLang="zh-CN" sz="2400" b="1" i="1">
                          <a:solidFill>
                            <a:srgbClr val="FFFF6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zh-CN" sz="2400" b="1" i="1">
                              <a:solidFill>
                                <a:srgbClr val="FFFF6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sz="2400" b="1" i="1">
                                  <a:solidFill>
                                    <a:srgbClr val="FFFF6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1" i="1">
                                  <a:solidFill>
                                    <a:srgbClr val="FFFF66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2400" b="1" i="1">
                                  <a:solidFill>
                                    <a:srgbClr val="FFFF66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b="1" i="1">
                                      <a:solidFill>
                                        <a:srgbClr val="FFFF66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>
                                      <a:solidFill>
                                        <a:srgbClr val="FFFF66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400" b="1" i="1">
                                      <a:solidFill>
                                        <a:srgbClr val="FFFF66"/>
                                      </a:solidFill>
                                      <a:latin typeface="Cambria Math" panose="02040503050406030204" pitchFamily="18" charset="0"/>
                                    </a:rPr>
                                    <m:t>𝒊𝒋</m:t>
                                  </m:r>
                                </m:sub>
                              </m:sSub>
                              <m:r>
                                <a:rPr lang="en-US" altLang="zh-CN" sz="2400" b="1" i="1">
                                  <a:solidFill>
                                    <a:srgbClr val="FFFF66"/>
                                  </a:solidFill>
                                  <a:latin typeface="Cambria Math" panose="02040503050406030204" pitchFamily="18" charset="0"/>
                                </a:rPr>
                                <m:t>,  &amp;</m:t>
                              </m:r>
                              <m:r>
                                <a:rPr lang="en-US" altLang="zh-CN" sz="2400" b="1" i="1">
                                  <a:solidFill>
                                    <a:srgbClr val="FFFF66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2400" b="1" i="1">
                                  <a:solidFill>
                                    <a:srgbClr val="FFFF66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US" altLang="zh-CN" sz="2400" b="1" i="1">
                                  <a:solidFill>
                                    <a:srgbClr val="FFFF66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e>
                            <m:e>
                              <m:r>
                                <a:rPr lang="en-US" altLang="zh-CN" sz="2400" b="1" i="1">
                                  <a:solidFill>
                                    <a:srgbClr val="FFFF66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altLang="zh-CN" sz="2400" b="1" i="1">
                                  <a:solidFill>
                                    <a:srgbClr val="FFFF66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altLang="zh-CN" sz="2400" b="1" i="1">
                                  <a:solidFill>
                                    <a:srgbClr val="FFFF66"/>
                                  </a:solidFill>
                                  <a:latin typeface="Cambria Math" panose="02040503050406030204" pitchFamily="18" charset="0"/>
                                </a:rPr>
                                <m:t>,               </m:t>
                              </m:r>
                              <m:r>
                                <a:rPr lang="en-US" altLang="zh-CN" sz="2400" b="1" i="1">
                                  <a:solidFill>
                                    <a:srgbClr val="FFFF66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2400" b="1" i="1">
                                  <a:solidFill>
                                    <a:srgbClr val="FFFF66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1" i="1">
                                  <a:solidFill>
                                    <a:srgbClr val="FFFF66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026" y="3861048"/>
                <a:ext cx="7957414" cy="2113399"/>
              </a:xfrm>
              <a:prstGeom prst="rect">
                <a:avLst/>
              </a:prstGeom>
              <a:blipFill>
                <a:blip r:embed="rId5"/>
                <a:stretch>
                  <a:fillRect l="-1149" r="-42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9906526"/>
      </p:ext>
    </p:extLst>
  </p:cSld>
  <p:clrMapOvr>
    <a:masterClrMapping/>
  </p:clrMapOvr>
  <p:transition spd="med">
    <p:wipe dir="r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9EAEADF-BEC5-498C-9CBD-C3F3EED0FDF7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84995" name="Rectangle 58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84996" name="Rectangle 60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84997" name="Text Box 2"/>
          <p:cNvSpPr txBox="1">
            <a:spLocks noChangeArrowheads="1"/>
          </p:cNvSpPr>
          <p:nvPr/>
        </p:nvSpPr>
        <p:spPr bwMode="auto">
          <a:xfrm>
            <a:off x="1331640" y="897281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补图的概念要点</a:t>
            </a:r>
          </a:p>
        </p:txBody>
      </p:sp>
      <p:pic>
        <p:nvPicPr>
          <p:cNvPr id="84998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1D89C56-38AC-44C6-A48A-37D582A63705}"/>
                  </a:ext>
                </a:extLst>
              </p:cNvPr>
              <p:cNvSpPr txBox="1"/>
              <p:nvPr/>
            </p:nvSpPr>
            <p:spPr>
              <a:xfrm>
                <a:off x="467544" y="2204864"/>
                <a:ext cx="8352928" cy="367107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2400" dirty="0">
                    <a:solidFill>
                      <a:schemeClr val="bg1"/>
                    </a:solidFill>
                  </a:rPr>
                  <a:t>    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</a:rPr>
                  <a:t>的补图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</a:rPr>
                  <a:t>也可以理解为从</a:t>
                </a:r>
                <a:r>
                  <a:rPr lang="zh-CN" altLang="en-US" sz="2400" dirty="0">
                    <a:solidFill>
                      <a:srgbClr val="FFFF00"/>
                    </a:solidFill>
                  </a:rPr>
                  <a:t>结点集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zh-CN" altLang="en-US" sz="2400" dirty="0">
                    <a:solidFill>
                      <a:srgbClr val="FFFF00"/>
                    </a:solidFill>
                  </a:rPr>
                  <a:t>的完全图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中删除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</a:rPr>
                  <a:t>中边而</a:t>
                </a:r>
                <a:r>
                  <a:rPr lang="zh-CN" altLang="en-US" sz="2400" dirty="0">
                    <a:solidFill>
                      <a:srgbClr val="FFFF00"/>
                    </a:solidFill>
                  </a:rPr>
                  <a:t>剩下的图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400" dirty="0">
                    <a:solidFill>
                      <a:srgbClr val="FFFF00"/>
                    </a:solidFill>
                  </a:rPr>
                  <a:t>与其补图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rgbClr val="FFFF00"/>
                    </a:solidFill>
                  </a:rPr>
                  <a:t>的结点集是相同的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，</a:t>
                </a:r>
                <a:r>
                  <a:rPr lang="zh-CN" altLang="zh-CN" sz="2400" b="1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</a:rPr>
                  <a:t>边集是相对完全图边集为全集的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</a:rPr>
                  <a:t>的边集的</a:t>
                </a:r>
                <a:r>
                  <a:rPr lang="zh-CN" altLang="en-US" sz="2400" dirty="0">
                    <a:solidFill>
                      <a:srgbClr val="FFFF00"/>
                    </a:solidFill>
                  </a:rPr>
                  <a:t>补集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。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sz="2400" dirty="0">
                    <a:solidFill>
                      <a:schemeClr val="bg1"/>
                    </a:solidFill>
                  </a:rPr>
                  <a:t>    显然，若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 i="1" baseline="-25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  <m:r>
                          <a:rPr lang="en-US" altLang="zh-CN" sz="2400" b="1" i="1" baseline="-25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</a:rPr>
                  <a:t>，即图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</a:rPr>
                  <a:t>与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</a:rPr>
                  <a:t>之间</a:t>
                </a:r>
                <a:r>
                  <a:rPr lang="zh-CN" altLang="en-US" sz="2400" dirty="0">
                    <a:solidFill>
                      <a:srgbClr val="FFFF00"/>
                    </a:solidFill>
                  </a:rPr>
                  <a:t>互为补图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；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altLang="zh-CN" sz="24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sz="2400" b="1" i="1" baseline="-250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</a:rPr>
                  <a:t>的补图为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</a:rPr>
                  <a:t>个结点的</a:t>
                </a:r>
                <a:r>
                  <a:rPr lang="zh-CN" altLang="en-US" sz="2400" dirty="0">
                    <a:solidFill>
                      <a:srgbClr val="FFFF00"/>
                    </a:solidFill>
                  </a:rPr>
                  <a:t>零图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1D89C56-38AC-44C6-A48A-37D582A63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204864"/>
                <a:ext cx="8352928" cy="3671070"/>
              </a:xfrm>
              <a:prstGeom prst="rect">
                <a:avLst/>
              </a:prstGeom>
              <a:blipFill>
                <a:blip r:embed="rId4"/>
                <a:stretch>
                  <a:fillRect l="-1168" r="-730" b="-24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6022411"/>
      </p:ext>
    </p:extLst>
  </p:cSld>
  <p:clrMapOvr>
    <a:masterClrMapping/>
  </p:clrMapOvr>
  <p:transition spd="med">
    <p:wipe dir="r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EE89DC-18DF-401F-A5EE-FEFF29CCB94C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86030" name="Text Box 2"/>
          <p:cNvSpPr txBox="1">
            <a:spLocks noChangeArrowheads="1"/>
          </p:cNvSpPr>
          <p:nvPr/>
        </p:nvSpPr>
        <p:spPr bwMode="auto">
          <a:xfrm>
            <a:off x="1404144" y="620688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完全图与补图</a:t>
            </a:r>
          </a:p>
        </p:txBody>
      </p:sp>
      <p:pic>
        <p:nvPicPr>
          <p:cNvPr id="86031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549275"/>
            <a:ext cx="1043608" cy="109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6296A0D-1D70-4B2A-8469-136700B6D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1842611"/>
            <a:ext cx="8280920" cy="446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527556"/>
      </p:ext>
    </p:extLst>
  </p:cSld>
  <p:clrMapOvr>
    <a:masterClrMapping/>
  </p:clrMapOvr>
  <p:transition spd="med">
    <p:wipe dir="r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27ECBD8-1E24-4D99-94BB-9F94BA485ED3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87056" name="Text Box 2"/>
          <p:cNvSpPr txBox="1">
            <a:spLocks noChangeArrowheads="1"/>
          </p:cNvSpPr>
          <p:nvPr/>
        </p:nvSpPr>
        <p:spPr bwMode="auto">
          <a:xfrm>
            <a:off x="1403648" y="582611"/>
            <a:ext cx="6335712" cy="830997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完全图与补图</a:t>
            </a:r>
          </a:p>
        </p:txBody>
      </p:sp>
      <p:pic>
        <p:nvPicPr>
          <p:cNvPr id="87057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715" y="476251"/>
            <a:ext cx="1027285" cy="1080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D37E75B-E3FE-4AAE-8A59-8E29F2842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133" y="1556793"/>
            <a:ext cx="7680224" cy="475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173978"/>
      </p:ext>
    </p:extLst>
  </p:cSld>
  <p:clrMapOvr>
    <a:masterClrMapping/>
  </p:clrMapOvr>
  <p:transition spd="med">
    <p:wipe dir="r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E4466D0-807A-4BE1-802C-407627961677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4820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6A502F4-5142-4EA4-B936-3FE286B537F5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95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1" name="Text Box 2"/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图的运算与结构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56611" y="2564904"/>
            <a:ext cx="4537075" cy="2665263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"/>
            </a:pPr>
            <a:r>
              <a:rPr lang="en-US" altLang="zh-CN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图的基本运算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J"/>
            </a:pPr>
            <a:r>
              <a:rPr lang="zh-CN" altLang="en-US" sz="3600" b="1" dirty="0">
                <a:solidFill>
                  <a:schemeClr val="accent2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图模型的度结构</a:t>
            </a:r>
            <a:endParaRPr lang="en-US" altLang="zh-CN" sz="3600" b="1" dirty="0">
              <a:solidFill>
                <a:schemeClr val="accent2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4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图同构及其判定</a:t>
            </a:r>
          </a:p>
        </p:txBody>
      </p:sp>
      <p:pic>
        <p:nvPicPr>
          <p:cNvPr id="34823" name="Picture 7" descr="C:\Program Files\Microsoft Office\MEDIA\CAGCAT10\j0292982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8151087"/>
      </p:ext>
    </p:extLst>
  </p:cSld>
  <p:clrMapOvr>
    <a:masterClrMapping/>
  </p:clrMapOvr>
  <p:transition spd="med">
    <p:wipe dir="r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AC8BA6-1227-4C48-9ED2-9CAF8146A7E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76804" name="Text Box 2"/>
          <p:cNvSpPr txBox="1">
            <a:spLocks noChangeArrowheads="1"/>
          </p:cNvSpPr>
          <p:nvPr/>
        </p:nvSpPr>
        <p:spPr bwMode="auto">
          <a:xfrm>
            <a:off x="1331913" y="620713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结点的度数</a:t>
            </a:r>
          </a:p>
        </p:txBody>
      </p:sp>
      <p:pic>
        <p:nvPicPr>
          <p:cNvPr id="7680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A20B4DC-7D01-452B-AFD3-AF992DF8E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811" y="1949565"/>
            <a:ext cx="6048672" cy="20148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9C49068-C95D-44F7-BD10-553D87D9D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02" y="4337756"/>
            <a:ext cx="4611438" cy="170918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76F468B-A2CF-496F-BD15-F64C6F1F03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8024" y="4337755"/>
            <a:ext cx="4248472" cy="174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593242"/>
      </p:ext>
    </p:extLst>
  </p:cSld>
  <p:clrMapOvr>
    <a:masterClrMapping/>
  </p:clrMapOvr>
  <p:transition spd="med">
    <p:wipe dir="r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AC8BA6-1227-4C48-9ED2-9CAF8146A7E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3"/>
              <p:cNvSpPr txBox="1">
                <a:spLocks noChangeArrowheads="1"/>
              </p:cNvSpPr>
              <p:nvPr/>
            </p:nvSpPr>
            <p:spPr bwMode="auto">
              <a:xfrm>
                <a:off x="699260" y="1802635"/>
                <a:ext cx="7841424" cy="175368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38100">
                <a:noFill/>
              </a:ln>
              <a:effectLst/>
            </p:spPr>
            <p:txBody>
              <a:bodyPr/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indent="26797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dirty="0">
                    <a:solidFill>
                      <a:schemeClr val="bg1"/>
                    </a:solidFill>
                  </a:rPr>
                  <a:t>  </a:t>
                </a:r>
                <a:r>
                  <a:rPr lang="zh-CN" altLang="zh-CN" sz="2400" b="1" dirty="0">
                    <a:solidFill>
                      <a:schemeClr val="bg1"/>
                    </a:solidFill>
                  </a:rPr>
                  <a:t>假设图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</a:rPr>
                  <a:t>是任意给定的一个</a:t>
                </a:r>
                <a:r>
                  <a:rPr lang="zh-CN" altLang="zh-CN" sz="2400" b="1" dirty="0">
                    <a:solidFill>
                      <a:srgbClr val="FFFF00"/>
                    </a:solidFill>
                  </a:rPr>
                  <a:t>无向图</a:t>
                </a:r>
                <a:r>
                  <a:rPr lang="zh-CN" altLang="zh-CN" sz="2400" b="1" dirty="0">
                    <a:solidFill>
                      <a:schemeClr val="bg1"/>
                    </a:solidFill>
                  </a:rPr>
                  <a:t>，对于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</a:rPr>
                  <a:t>中任意一个结点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</a:rPr>
                  <a:t>，与</a:t>
                </a:r>
                <a:r>
                  <a:rPr lang="zh-CN" altLang="zh-CN" sz="2400" b="1" dirty="0">
                    <a:solidFill>
                      <a:srgbClr val="FFFF00"/>
                    </a:solidFill>
                  </a:rPr>
                  <a:t>该结点</a:t>
                </a:r>
                <a:r>
                  <a:rPr lang="zh-CN" altLang="en-US" sz="2400" b="1" dirty="0">
                    <a:solidFill>
                      <a:srgbClr val="FFFF00"/>
                    </a:solidFill>
                  </a:rPr>
                  <a:t>相</a:t>
                </a:r>
                <a:r>
                  <a:rPr lang="zh-CN" altLang="zh-CN" sz="2400" b="1" dirty="0">
                    <a:solidFill>
                      <a:srgbClr val="FFFF00"/>
                    </a:solidFill>
                  </a:rPr>
                  <a:t>关联边的条数</a:t>
                </a:r>
                <a:r>
                  <a:rPr lang="zh-CN" altLang="zh-CN" sz="2400" b="1" dirty="0">
                    <a:solidFill>
                      <a:schemeClr val="bg1"/>
                    </a:solidFill>
                  </a:rPr>
                  <a:t>称为该结点的</a:t>
                </a:r>
                <a:r>
                  <a:rPr lang="zh-CN" altLang="zh-CN" sz="2400" b="1" dirty="0">
                    <a:solidFill>
                      <a:srgbClr val="FFFF00"/>
                    </a:solidFill>
                  </a:rPr>
                  <a:t>度数</a:t>
                </a:r>
                <a:r>
                  <a:rPr lang="zh-CN" altLang="zh-CN" sz="2400" b="1" dirty="0">
                    <a:solidFill>
                      <a:schemeClr val="bg1"/>
                    </a:solidFill>
                  </a:rPr>
                  <a:t>，简称为</a:t>
                </a:r>
                <a:r>
                  <a:rPr lang="zh-CN" altLang="zh-CN" sz="2400" b="1" dirty="0">
                    <a:solidFill>
                      <a:srgbClr val="FFFF00"/>
                    </a:solidFill>
                  </a:rPr>
                  <a:t>度</a:t>
                </a:r>
                <a:r>
                  <a:rPr lang="zh-CN" altLang="zh-CN" sz="2400" b="1" dirty="0">
                    <a:solidFill>
                      <a:schemeClr val="bg1"/>
                    </a:solidFill>
                  </a:rPr>
                  <a:t>，记为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𝒅𝒆𝒈</m:t>
                    </m:r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</a:rPr>
                  <a:t>。</a:t>
                </a:r>
                <a:endParaRPr lang="zh-CN" altLang="zh-CN" sz="2400" b="1" kern="1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9260" y="1802635"/>
                <a:ext cx="7841424" cy="1753685"/>
              </a:xfrm>
              <a:prstGeom prst="rect">
                <a:avLst/>
              </a:prstGeom>
              <a:blipFill>
                <a:blip r:embed="rId3"/>
                <a:stretch>
                  <a:fillRect l="-1244" r="-1166" b="-2439"/>
                </a:stretch>
              </a:blipFill>
              <a:ln w="38100"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804" name="Text Box 2"/>
          <p:cNvSpPr txBox="1">
            <a:spLocks noChangeArrowheads="1"/>
          </p:cNvSpPr>
          <p:nvPr/>
        </p:nvSpPr>
        <p:spPr bwMode="auto">
          <a:xfrm>
            <a:off x="1331913" y="620713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结点的度数</a:t>
            </a:r>
          </a:p>
        </p:txBody>
      </p:sp>
      <p:pic>
        <p:nvPicPr>
          <p:cNvPr id="7680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592D79E-5639-4392-B864-D7E4EACB48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260" y="3691737"/>
            <a:ext cx="7861828" cy="257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64793"/>
      </p:ext>
    </p:extLst>
  </p:cSld>
  <p:clrMapOvr>
    <a:masterClrMapping/>
  </p:clrMapOvr>
  <p:transition spd="med">
    <p:wipe dir="r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367E4B6-7823-4C09-AED5-E5548DECA8A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97283" name="Text Box 2"/>
          <p:cNvSpPr txBox="1">
            <a:spLocks noChangeArrowheads="1"/>
          </p:cNvSpPr>
          <p:nvPr/>
        </p:nvSpPr>
        <p:spPr bwMode="auto">
          <a:xfrm>
            <a:off x="1404938" y="714375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出度与入度</a:t>
            </a:r>
          </a:p>
        </p:txBody>
      </p:sp>
      <p:pic>
        <p:nvPicPr>
          <p:cNvPr id="97284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ED55C30-6EAC-4540-9F53-EAC88FD25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04" y="2682731"/>
            <a:ext cx="5452868" cy="261845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CF36510-B505-4D58-971E-1DD5058985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144" y="2689226"/>
            <a:ext cx="3168352" cy="261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366855"/>
      </p:ext>
    </p:extLst>
  </p:cSld>
  <p:clrMapOvr>
    <a:masterClrMapping/>
  </p:clrMapOvr>
  <p:transition spd="med">
    <p:wipe dir="r"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367E4B6-7823-4C09-AED5-E5548DECA8A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97283" name="Text Box 2"/>
          <p:cNvSpPr txBox="1">
            <a:spLocks noChangeArrowheads="1"/>
          </p:cNvSpPr>
          <p:nvPr/>
        </p:nvSpPr>
        <p:spPr bwMode="auto">
          <a:xfrm>
            <a:off x="1404938" y="714375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出度与入度</a:t>
            </a:r>
          </a:p>
        </p:txBody>
      </p:sp>
      <p:pic>
        <p:nvPicPr>
          <p:cNvPr id="97284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6715" y="476251"/>
            <a:ext cx="1027285" cy="1080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6" name="Picture 7" descr="QQ截图2015091915583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5556843"/>
            <a:ext cx="818984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395536" y="1772816"/>
                <a:ext cx="8424613" cy="341632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9050"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chemeClr val="bg1"/>
                    </a:solidFill>
                  </a:rPr>
                  <a:t>对于有向</a:t>
                </a:r>
                <a:r>
                  <a:rPr lang="zh-CN" altLang="zh-CN" sz="2400" b="1" dirty="0">
                    <a:solidFill>
                      <a:schemeClr val="bg1"/>
                    </a:solidFill>
                  </a:rPr>
                  <a:t>图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  <m:r>
                      <a:rPr lang="zh-CN" alt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</a:rPr>
                  <a:t>中任一结点，则有：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bg1"/>
                    </a:solidFill>
                  </a:rPr>
                  <a:t>    </a:t>
                </a:r>
                <a:r>
                  <a:rPr lang="zh-CN" altLang="zh-CN" sz="2400" b="1" dirty="0">
                    <a:solidFill>
                      <a:srgbClr val="FFFF00"/>
                    </a:solidFill>
                  </a:rPr>
                  <a:t>以该结点为起点的有向边的条数</a:t>
                </a:r>
                <a:r>
                  <a:rPr lang="zh-CN" altLang="zh-CN" sz="2400" b="1" dirty="0">
                    <a:solidFill>
                      <a:schemeClr val="bg1"/>
                    </a:solidFill>
                  </a:rPr>
                  <a:t>，称为该结点的</a:t>
                </a:r>
                <a:r>
                  <a:rPr lang="zh-CN" altLang="zh-CN" sz="2400" b="1" dirty="0">
                    <a:solidFill>
                      <a:srgbClr val="FFFF00"/>
                    </a:solidFill>
                  </a:rPr>
                  <a:t>出度</a:t>
                </a:r>
                <a:r>
                  <a:rPr lang="zh-CN" altLang="zh-CN" sz="2400" b="1" dirty="0">
                    <a:solidFill>
                      <a:schemeClr val="bg1"/>
                    </a:solidFill>
                  </a:rPr>
                  <a:t>，记为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𝒅𝒆𝒈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</a:rPr>
                  <a:t>；</a:t>
                </a:r>
                <a:endParaRPr lang="en-US" altLang="zh-CN" sz="2400" b="1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bg1"/>
                    </a:solidFill>
                  </a:rPr>
                  <a:t>   </a:t>
                </a:r>
                <a:r>
                  <a:rPr lang="zh-CN" altLang="zh-CN" sz="2400" b="1" dirty="0">
                    <a:solidFill>
                      <a:srgbClr val="FFFF00"/>
                    </a:solidFill>
                  </a:rPr>
                  <a:t>以该结点为终点的有向边的条数</a:t>
                </a:r>
                <a:r>
                  <a:rPr lang="zh-CN" altLang="zh-CN" sz="2400" b="1" dirty="0">
                    <a:solidFill>
                      <a:schemeClr val="bg1"/>
                    </a:solidFill>
                  </a:rPr>
                  <a:t>，称为该结点的</a:t>
                </a:r>
                <a:r>
                  <a:rPr lang="zh-CN" altLang="zh-CN" sz="2400" b="1" dirty="0">
                    <a:solidFill>
                      <a:srgbClr val="FFFF00"/>
                    </a:solidFill>
                  </a:rPr>
                  <a:t>入度</a:t>
                </a:r>
                <a:r>
                  <a:rPr lang="zh-CN" altLang="zh-CN" sz="2400" b="1" dirty="0">
                    <a:solidFill>
                      <a:schemeClr val="bg1"/>
                    </a:solidFill>
                  </a:rPr>
                  <a:t>，记为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𝒅𝒆𝒈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</a:rPr>
                  <a:t>。</a:t>
                </a:r>
                <a:endParaRPr lang="en-US" altLang="zh-CN" sz="2400" b="1" dirty="0">
                  <a:solidFill>
                    <a:schemeClr val="bg1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𝒅𝒆𝒈</m:t>
                    </m:r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unc>
                      <m:funcPr>
                        <m:ctrlPr>
                          <a:rPr lang="zh-CN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zh-CN" altLang="zh-CN" sz="24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𝒅𝒆𝒈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</m:e>
                    </m:func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𝒅𝒆𝒈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b="1" dirty="0">
                    <a:solidFill>
                      <a:srgbClr val="FFFF00"/>
                    </a:solidFill>
                  </a:rPr>
                  <a:t> </a:t>
                </a:r>
                <a:endParaRPr lang="zh-CN" altLang="zh-CN" sz="2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772816"/>
                <a:ext cx="8424613" cy="3416320"/>
              </a:xfrm>
              <a:prstGeom prst="rect">
                <a:avLst/>
              </a:prstGeom>
              <a:blipFill>
                <a:blip r:embed="rId5"/>
                <a:stretch>
                  <a:fillRect l="-1083"/>
                </a:stretch>
              </a:blipFill>
              <a:ln w="1905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5928866"/>
      </p:ext>
    </p:extLst>
  </p:cSld>
  <p:clrMapOvr>
    <a:masterClrMapping/>
  </p:clrMapOvr>
  <p:transition spd="med">
    <p:wipe dir="r"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367E4B6-7823-4C09-AED5-E5548DECA8A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97283" name="Text Box 2"/>
          <p:cNvSpPr txBox="1">
            <a:spLocks noChangeArrowheads="1"/>
          </p:cNvSpPr>
          <p:nvPr/>
        </p:nvSpPr>
        <p:spPr bwMode="auto">
          <a:xfrm>
            <a:off x="1404938" y="714375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若干特殊度</a:t>
            </a:r>
          </a:p>
        </p:txBody>
      </p:sp>
      <p:pic>
        <p:nvPicPr>
          <p:cNvPr id="97284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611560" y="1802732"/>
                <a:ext cx="8208912" cy="166776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9050"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tx1"/>
                    </a:solidFill>
                  </a:rPr>
                  <a:t>    </a:t>
                </a:r>
                <a:r>
                  <a:rPr lang="zh-CN" altLang="zh-CN" sz="2400" b="1" dirty="0">
                    <a:solidFill>
                      <a:schemeClr val="bg1"/>
                    </a:solidFill>
                  </a:rPr>
                  <a:t>对于有向图或无向图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</a:rPr>
                  <a:t>，图中</a:t>
                </a:r>
                <a:r>
                  <a:rPr lang="zh-CN" altLang="zh-CN" sz="2400" b="1" dirty="0">
                    <a:solidFill>
                      <a:srgbClr val="FFFF00"/>
                    </a:solidFill>
                  </a:rPr>
                  <a:t>度数为</a:t>
                </a:r>
                <a:r>
                  <a:rPr lang="en-US" altLang="zh-CN" sz="2400" b="1" dirty="0">
                    <a:solidFill>
                      <a:srgbClr val="FFFF00"/>
                    </a:solidFill>
                  </a:rPr>
                  <a:t>1</a:t>
                </a:r>
                <a:r>
                  <a:rPr lang="zh-CN" altLang="zh-CN" sz="2400" b="1" dirty="0">
                    <a:solidFill>
                      <a:schemeClr val="bg1"/>
                    </a:solidFill>
                  </a:rPr>
                  <a:t>的结点称为该图的</a:t>
                </a:r>
                <a:r>
                  <a:rPr lang="zh-CN" altLang="zh-CN" sz="2400" b="1" dirty="0">
                    <a:solidFill>
                      <a:srgbClr val="FFFF00"/>
                    </a:solidFill>
                  </a:rPr>
                  <a:t>悬挂结点</a:t>
                </a:r>
                <a:r>
                  <a:rPr lang="zh-CN" altLang="zh-CN" sz="2400" b="1" dirty="0">
                    <a:solidFill>
                      <a:schemeClr val="bg1"/>
                    </a:solidFill>
                  </a:rPr>
                  <a:t>，图中以</a:t>
                </a:r>
                <a:r>
                  <a:rPr lang="zh-CN" altLang="zh-CN" sz="2400" b="1" dirty="0">
                    <a:solidFill>
                      <a:srgbClr val="FFFF00"/>
                    </a:solidFill>
                  </a:rPr>
                  <a:t>悬挂结点为端点的边</a:t>
                </a:r>
                <a:r>
                  <a:rPr lang="zh-CN" altLang="zh-CN" sz="2400" b="1" dirty="0">
                    <a:solidFill>
                      <a:schemeClr val="bg1"/>
                    </a:solidFill>
                  </a:rPr>
                  <a:t>称为该图的</a:t>
                </a:r>
                <a:r>
                  <a:rPr lang="zh-CN" altLang="zh-CN" sz="2400" b="1" dirty="0">
                    <a:solidFill>
                      <a:srgbClr val="FFFF00"/>
                    </a:solidFill>
                  </a:rPr>
                  <a:t>悬挂边</a:t>
                </a:r>
                <a:r>
                  <a:rPr lang="zh-CN" altLang="zh-CN" sz="2400" b="1" dirty="0">
                    <a:solidFill>
                      <a:schemeClr val="bg1"/>
                    </a:solidFill>
                  </a:rPr>
                  <a:t>。</a:t>
                </a:r>
                <a:endParaRPr lang="zh-CN" alt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802732"/>
                <a:ext cx="8208912" cy="1667764"/>
              </a:xfrm>
              <a:prstGeom prst="rect">
                <a:avLst/>
              </a:prstGeom>
              <a:blipFill>
                <a:blip r:embed="rId4"/>
                <a:stretch>
                  <a:fillRect l="-1037" r="-296" b="-6884"/>
                </a:stretch>
              </a:blipFill>
              <a:ln w="19050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/>
              <p:cNvSpPr txBox="1"/>
              <p:nvPr/>
            </p:nvSpPr>
            <p:spPr>
              <a:xfrm>
                <a:off x="611560" y="3573016"/>
                <a:ext cx="8208912" cy="112729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rgbClr val="993366"/>
                    </a:solidFill>
                    <a:latin typeface="华文行楷" panose="02010800040101010101" pitchFamily="2" charset="-122"/>
                    <a:ea typeface="华文行楷" panose="02010800040101010101" pitchFamily="2" charset="-122"/>
                  </a:rPr>
                  <a:t>      </a:t>
                </a:r>
                <a:r>
                  <a:rPr lang="zh-CN" altLang="zh-CN" sz="2400" dirty="0">
                    <a:solidFill>
                      <a:schemeClr val="bg1"/>
                    </a:solidFill>
                  </a:rPr>
                  <a:t>如果图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zh-CN" sz="2400" dirty="0">
                    <a:solidFill>
                      <a:schemeClr val="bg1"/>
                    </a:solidFill>
                  </a:rPr>
                  <a:t>中各个结点的</a:t>
                </a:r>
                <a:r>
                  <a:rPr lang="zh-CN" altLang="zh-CN" sz="2400" dirty="0">
                    <a:solidFill>
                      <a:srgbClr val="FFFF00"/>
                    </a:solidFill>
                  </a:rPr>
                  <a:t>度数均相同</a:t>
                </a:r>
                <a:r>
                  <a:rPr lang="zh-CN" altLang="zh-CN" sz="2400" dirty="0">
                    <a:solidFill>
                      <a:schemeClr val="bg1"/>
                    </a:solidFill>
                  </a:rPr>
                  <a:t>，则称该图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为</a:t>
                </a:r>
                <a:r>
                  <a:rPr lang="zh-CN" altLang="zh-CN" sz="2400" dirty="0">
                    <a:solidFill>
                      <a:srgbClr val="FFFF00"/>
                    </a:solidFill>
                  </a:rPr>
                  <a:t>正则图</a:t>
                </a:r>
                <a:r>
                  <a:rPr lang="zh-CN" altLang="zh-CN" sz="2400" dirty="0">
                    <a:solidFill>
                      <a:schemeClr val="bg1"/>
                    </a:solidFill>
                  </a:rPr>
                  <a:t>，各结点度均为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zh-CN" sz="2400" dirty="0">
                    <a:solidFill>
                      <a:schemeClr val="bg1"/>
                    </a:solidFill>
                  </a:rPr>
                  <a:t>的正则图称为</a:t>
                </a:r>
                <a14:m>
                  <m:oMath xmlns:m="http://schemas.openxmlformats.org/officeDocument/2006/math">
                    <m:r>
                      <a:rPr lang="en-US" altLang="zh-CN" sz="24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altLang="zh-CN" sz="2400" dirty="0">
                    <a:solidFill>
                      <a:srgbClr val="FFFF00"/>
                    </a:solidFill>
                  </a:rPr>
                  <a:t>-</a:t>
                </a:r>
                <a:r>
                  <a:rPr lang="zh-CN" altLang="zh-CN" sz="2400" dirty="0">
                    <a:solidFill>
                      <a:srgbClr val="FFFF00"/>
                    </a:solidFill>
                  </a:rPr>
                  <a:t>正则图</a:t>
                </a:r>
                <a:r>
                  <a:rPr lang="zh-CN" altLang="zh-CN" sz="2400" dirty="0">
                    <a:solidFill>
                      <a:schemeClr val="bg1"/>
                    </a:solidFill>
                  </a:rPr>
                  <a:t>。</a:t>
                </a: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573016"/>
                <a:ext cx="8208912" cy="1127296"/>
              </a:xfrm>
              <a:prstGeom prst="rect">
                <a:avLst/>
              </a:prstGeom>
              <a:blipFill>
                <a:blip r:embed="rId5"/>
                <a:stretch>
                  <a:fillRect l="-1114" r="-445" b="-1027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40CE0F87-429E-480B-BB16-063BA2A17A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84" y="4823727"/>
            <a:ext cx="3096344" cy="153975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11C9591-1ABD-498F-A95A-DAB8E6D9F7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4208" y="4852839"/>
            <a:ext cx="2226205" cy="14244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EF6EA61-D0A5-4BF2-B288-93E162496E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5978" y="4852839"/>
            <a:ext cx="1728192" cy="145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93351"/>
      </p:ext>
    </p:extLst>
  </p:cSld>
  <p:clrMapOvr>
    <a:masterClrMapping/>
  </p:clrMapOvr>
  <p:transition spd="med">
    <p:wipe dir="r"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367E4B6-7823-4C09-AED5-E5548DECA8A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97283" name="Text Box 2"/>
          <p:cNvSpPr txBox="1">
            <a:spLocks noChangeArrowheads="1"/>
          </p:cNvSpPr>
          <p:nvPr/>
        </p:nvSpPr>
        <p:spPr bwMode="auto">
          <a:xfrm>
            <a:off x="1404938" y="714375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题</a:t>
            </a:r>
          </a:p>
        </p:txBody>
      </p:sp>
      <p:pic>
        <p:nvPicPr>
          <p:cNvPr id="97284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57F1820-5FA3-4FBE-85AB-E0C907D2B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1844824"/>
            <a:ext cx="8659902" cy="429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420035"/>
      </p:ext>
    </p:extLst>
  </p:cSld>
  <p:clrMapOvr>
    <a:masterClrMapping/>
  </p:clrMapOvr>
  <p:transition spd="med">
    <p:wipe dir="r"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367E4B6-7823-4C09-AED5-E5548DECA8A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97283" name="Text Box 2"/>
          <p:cNvSpPr txBox="1">
            <a:spLocks noChangeArrowheads="1"/>
          </p:cNvSpPr>
          <p:nvPr/>
        </p:nvSpPr>
        <p:spPr bwMode="auto">
          <a:xfrm>
            <a:off x="1404938" y="714375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题</a:t>
            </a:r>
          </a:p>
        </p:txBody>
      </p:sp>
      <p:pic>
        <p:nvPicPr>
          <p:cNvPr id="97284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756820" y="1866285"/>
                <a:ext cx="7776864" cy="4454489"/>
              </a:xfrm>
              <a:prstGeom prst="rect">
                <a:avLst/>
              </a:prstGeom>
              <a:solidFill>
                <a:schemeClr val="accent5"/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zh-CN" sz="2400" b="1" dirty="0"/>
                  <a:t>【解】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各结点的度数分别为：</a:t>
                </a:r>
              </a:p>
              <a:p>
                <a:pPr>
                  <a:lnSpc>
                    <a:spcPts val="3500"/>
                  </a:lnSpc>
                </a:pPr>
                <a:r>
                  <a:rPr lang="en-US" altLang="zh-CN" sz="2400" b="1" dirty="0">
                    <a:solidFill>
                      <a:schemeClr val="tx1"/>
                    </a:solidFill>
                  </a:rPr>
                  <a:t>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𝐝𝐞𝐠</m:t>
                        </m:r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zh-CN" altLang="zh-CN" sz="24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𝐝𝐞𝐠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zh-CN" altLang="zh-CN" sz="24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𝐝𝐞𝐠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；</a:t>
                </a:r>
              </a:p>
              <a:p>
                <a:pPr>
                  <a:lnSpc>
                    <a:spcPts val="3500"/>
                  </a:lnSpc>
                </a:pPr>
                <a:r>
                  <a:rPr lang="en-US" altLang="zh-CN" sz="2400" b="1" dirty="0">
                    <a:solidFill>
                      <a:schemeClr val="tx1"/>
                    </a:solidFill>
                  </a:rPr>
                  <a:t>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𝐝𝐞𝐠</m:t>
                        </m:r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zh-CN" altLang="zh-CN" sz="24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𝐝𝐞𝐠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zh-CN" altLang="zh-CN" sz="24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𝐝𝐞𝐠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；</a:t>
                </a:r>
              </a:p>
              <a:p>
                <a:pPr>
                  <a:lnSpc>
                    <a:spcPts val="3500"/>
                  </a:lnSpc>
                </a:pPr>
                <a:r>
                  <a:rPr lang="en-US" altLang="zh-CN" sz="2400" b="1" dirty="0">
                    <a:solidFill>
                      <a:schemeClr val="tx1"/>
                    </a:solidFill>
                  </a:rPr>
                  <a:t>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𝐝𝐞𝐠</m:t>
                        </m:r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zh-CN" altLang="zh-CN" sz="24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𝐝𝐞𝐠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zh-CN" altLang="zh-CN" sz="24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𝐝𝐞𝐠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；</a:t>
                </a:r>
              </a:p>
              <a:p>
                <a:pPr>
                  <a:lnSpc>
                    <a:spcPts val="3500"/>
                  </a:lnSpc>
                </a:pPr>
                <a:r>
                  <a:rPr lang="en-US" altLang="zh-CN" sz="2400" b="1" dirty="0">
                    <a:solidFill>
                      <a:schemeClr val="tx1"/>
                    </a:solidFill>
                  </a:rPr>
                  <a:t>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𝐝𝐞𝐠</m:t>
                        </m:r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zh-CN" altLang="zh-CN" sz="24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𝐝𝐞𝐠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zh-CN" altLang="zh-CN" sz="24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𝐝𝐞𝐠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；</a:t>
                </a:r>
                <a:endParaRPr lang="en-US" altLang="zh-CN" sz="24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ts val="3500"/>
                  </a:lnSpc>
                </a:pPr>
                <a:r>
                  <a:rPr lang="en-US" altLang="zh-CN" sz="2400" b="1" dirty="0">
                    <a:solidFill>
                      <a:schemeClr val="tx1"/>
                    </a:solidFill>
                  </a:rPr>
                  <a:t>  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𝐝𝐞𝐠</m:t>
                        </m:r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𝐝𝐞𝐠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𝐝𝐞𝐠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zh-CN" altLang="zh-CN" sz="2400" b="1" dirty="0">
                  <a:solidFill>
                    <a:schemeClr val="tx1"/>
                  </a:solidFill>
                </a:endParaRPr>
              </a:p>
              <a:p>
                <a:pPr algn="ctr">
                  <a:lnSpc>
                    <a:spcPts val="35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∆</m:t>
                    </m:r>
                    <m:d>
                      <m:d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𝛅</m:t>
                    </m:r>
                    <m:d>
                      <m:d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；</a:t>
                </a:r>
                <a:endParaRPr lang="en-US" altLang="zh-CN" sz="2400" b="1" dirty="0">
                  <a:solidFill>
                    <a:schemeClr val="tx1"/>
                  </a:solidFill>
                </a:endParaRPr>
              </a:p>
              <a:p>
                <a:pPr algn="ctr">
                  <a:lnSpc>
                    <a:spcPts val="3500"/>
                  </a:lnSpc>
                </a:pPr>
                <a14:m>
                  <m:oMath xmlns:m="http://schemas.openxmlformats.org/officeDocument/2006/math">
                    <m:r>
                      <a:rPr lang="zh-CN" altLang="zh-CN" sz="24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；</a:t>
                </a:r>
                <a14:m>
                  <m:oMath xmlns:m="http://schemas.openxmlformats.org/officeDocument/2006/math">
                    <m:r>
                      <a:rPr lang="zh-CN" altLang="zh-CN" sz="24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𝛅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d>
                      <m:d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；</a:t>
                </a:r>
                <a:endParaRPr lang="en-US" altLang="zh-CN" sz="2400" b="1" dirty="0">
                  <a:solidFill>
                    <a:schemeClr val="tx1"/>
                  </a:solidFill>
                </a:endParaRPr>
              </a:p>
              <a:p>
                <a:pPr algn="ctr">
                  <a:lnSpc>
                    <a:spcPts val="35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zh-CN" sz="24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𝛅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d>
                      <m:d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。</a:t>
                </a:r>
              </a:p>
              <a:p>
                <a:pPr>
                  <a:lnSpc>
                    <a:spcPts val="3500"/>
                  </a:lnSpc>
                </a:pPr>
                <a:r>
                  <a:rPr lang="en-US" altLang="zh-CN" sz="2400" b="1" dirty="0">
                    <a:solidFill>
                      <a:schemeClr val="tx1"/>
                    </a:solidFill>
                  </a:rPr>
                  <a:t>  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因为</a:t>
                </a:r>
                <a14:m>
                  <m:oMath xmlns:m="http://schemas.openxmlformats.org/officeDocument/2006/math">
                    <m:r>
                      <a:rPr lang="zh-CN" altLang="zh-CN" sz="24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𝐝𝐞𝐠</m:t>
                        </m:r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zh-CN" altLang="zh-CN" sz="24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，所以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为悬挂结点</a:t>
                </a:r>
                <a14:m>
                  <m:oMath xmlns:m="http://schemas.openxmlformats.org/officeDocument/2006/math">
                    <m:r>
                      <a:rPr lang="zh-CN" altLang="zh-CN" sz="24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20" y="1866285"/>
                <a:ext cx="7776864" cy="4454489"/>
              </a:xfrm>
              <a:prstGeom prst="rect">
                <a:avLst/>
              </a:prstGeom>
              <a:blipFill>
                <a:blip r:embed="rId4"/>
                <a:stretch>
                  <a:fillRect l="-1095" t="-954" b="-1499"/>
                </a:stretch>
              </a:blipFill>
              <a:ln w="190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9233052"/>
      </p:ext>
    </p:extLst>
  </p:cSld>
  <p:clrMapOvr>
    <a:masterClrMapping/>
  </p:clrMapOvr>
  <p:transition spd="med">
    <p:wipe dir="r"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BF48F0-3BA9-4C6F-95FF-7CD619F35D12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99331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6335713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度的矩阵表示</a:t>
            </a:r>
          </a:p>
        </p:txBody>
      </p:sp>
      <p:pic>
        <p:nvPicPr>
          <p:cNvPr id="9933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29A6496-2701-43A5-94F2-6385A2278C06}"/>
                  </a:ext>
                </a:extLst>
              </p:cNvPr>
              <p:cNvSpPr/>
              <p:nvPr/>
            </p:nvSpPr>
            <p:spPr>
              <a:xfrm>
                <a:off x="693007" y="2266384"/>
                <a:ext cx="8064896" cy="362471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假设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𝑽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是任意给定的一个有向图或无向图，其中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altLang="zh-CN" sz="2400" b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400" b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  <m:r>
                      <a:rPr lang="zh-CN" altLang="en-US" sz="2400" b="1" i="1" kern="100" smtClean="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𝑬</m:t>
                    </m:r>
                    <m:r>
                      <a:rPr lang="en-US" altLang="zh-CN" sz="2400" b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zh-CN" sz="2400" b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400" b="1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的邻接矩阵为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sz="2400" b="1" i="1" kern="0" dirty="0">
                  <a:solidFill>
                    <a:srgbClr val="FFFF66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kern="0" smtClean="0">
                          <a:solidFill>
                            <a:srgbClr val="FFFF66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sz="2400" b="1" kern="0">
                          <a:solidFill>
                            <a:srgbClr val="FFFF66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400" b="1" i="1" kern="0">
                              <a:solidFill>
                                <a:srgbClr val="FFFF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kern="0">
                              <a:solidFill>
                                <a:srgbClr val="FFFF66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2400" b="1" i="1" kern="0">
                                  <a:solidFill>
                                    <a:srgbClr val="FFFF6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kern="100">
                                  <a:solidFill>
                                    <a:srgbClr val="FFFF66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 kern="0">
                                  <a:solidFill>
                                    <a:srgbClr val="FFFF66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𝒊𝒋</m:t>
                              </m:r>
                            </m:sub>
                          </m:sSub>
                          <m:r>
                            <a:rPr lang="en-US" altLang="zh-CN" sz="2400" b="1" kern="0">
                              <a:solidFill>
                                <a:srgbClr val="FFFF66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altLang="zh-CN" sz="2400" b="1" i="1" kern="0">
                              <a:solidFill>
                                <a:srgbClr val="FFFF66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altLang="zh-CN" sz="2400" b="1" i="1" kern="0">
                              <a:solidFill>
                                <a:srgbClr val="FFFF66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altLang="zh-CN" sz="2400" b="1" i="1" kern="0">
                              <a:solidFill>
                                <a:srgbClr val="FFFF66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sz="2400" b="1" i="1" kern="0">
                          <a:solidFill>
                            <a:srgbClr val="FFFF66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sz="2400" b="1" i="1" kern="0">
                              <a:solidFill>
                                <a:srgbClr val="FFFF6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400" b="1" i="1" kern="0">
                                  <a:solidFill>
                                    <a:srgbClr val="FFFF6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400" b="1" i="1" kern="0">
                                        <a:solidFill>
                                          <a:srgbClr val="FFFF6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400" b="1" i="1" kern="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kern="10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kern="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𝟏𝟏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400" b="1" i="1" kern="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kern="10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kern="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𝟏𝟐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400" b="1" i="1" kern="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kern="10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kern="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𝟐𝟏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400" b="1" i="1" kern="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kern="10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kern="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𝟐𝟐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altLang="zh-CN" sz="2400" b="1" i="1" kern="0">
                                    <a:solidFill>
                                      <a:srgbClr val="FFFF66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400" b="1" i="1" kern="0">
                                        <a:solidFill>
                                          <a:srgbClr val="FFFF6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400" b="1" i="1" kern="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kern="10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kern="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𝟏</m:t>
                                          </m:r>
                                          <m:r>
                                            <a:rPr lang="en-US" altLang="zh-CN" sz="2400" b="1" i="1" kern="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400" b="1" i="1" kern="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kern="10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kern="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𝟐</m:t>
                                          </m:r>
                                          <m:r>
                                            <a:rPr lang="en-US" altLang="zh-CN" sz="2400" b="1" i="1" kern="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𝒏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altLang="zh-CN" sz="2400" b="1" i="1" kern="0">
                                    <a:solidFill>
                                      <a:srgbClr val="FFFF66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altLang="zh-CN" sz="2400" b="1" i="1" kern="0">
                                    <a:solidFill>
                                      <a:srgbClr val="FFFF66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altLang="zh-CN" sz="2400" b="1" i="1" kern="0">
                                    <a:solidFill>
                                      <a:srgbClr val="FFFF66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400" b="1" i="1" kern="0">
                                        <a:solidFill>
                                          <a:srgbClr val="FFFF6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400" b="1" i="1" kern="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kern="10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kern="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𝒏</m:t>
                                          </m:r>
                                          <m:r>
                                            <a:rPr lang="en-US" altLang="zh-CN" sz="2400" b="1" i="1" kern="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400" b="1" i="1" kern="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 kern="10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𝒂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 kern="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𝒏</m:t>
                                          </m:r>
                                          <m:r>
                                            <a:rPr lang="en-US" altLang="zh-CN" sz="2400" b="1" i="1" kern="0">
                                              <a:solidFill>
                                                <a:srgbClr val="FFFF66"/>
                                              </a:solidFill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altLang="zh-CN" sz="2400" b="1" i="1" kern="0">
                                    <a:solidFill>
                                      <a:srgbClr val="FFFF66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zh-CN" altLang="zh-CN" sz="2400" b="1" i="1" kern="0">
                                        <a:solidFill>
                                          <a:srgbClr val="FFFF66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kern="100">
                                        <a:solidFill>
                                          <a:srgbClr val="FFFF66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altLang="zh-CN" sz="2400" b="1" i="1" kern="0">
                                        <a:solidFill>
                                          <a:srgbClr val="FFFF66"/>
                                        </a:solidFill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𝒏𝒏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则有如下结论：</a:t>
                </a:r>
                <a:endParaRPr lang="zh-CN" altLang="zh-CN" sz="2400" b="1" kern="100" dirty="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29A6496-2701-43A5-94F2-6385A2278C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007" y="2266384"/>
                <a:ext cx="8064896" cy="3624710"/>
              </a:xfrm>
              <a:prstGeom prst="rect">
                <a:avLst/>
              </a:prstGeom>
              <a:blipFill>
                <a:blip r:embed="rId4"/>
                <a:stretch>
                  <a:fillRect l="-1209" r="-1134" b="-2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BF48F0-3BA9-4C6F-95FF-7CD619F35D12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99331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6335713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度的矩阵表示</a:t>
            </a:r>
          </a:p>
        </p:txBody>
      </p:sp>
      <p:pic>
        <p:nvPicPr>
          <p:cNvPr id="9933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CCEBA16-3E76-4515-BCDB-6F8FF04C05DD}"/>
                  </a:ext>
                </a:extLst>
              </p:cNvPr>
              <p:cNvSpPr/>
              <p:nvPr/>
            </p:nvSpPr>
            <p:spPr>
              <a:xfrm>
                <a:off x="394742" y="1687697"/>
                <a:ext cx="8352928" cy="452784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sz="2400" b="1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）如果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𝑮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无向图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，那么邻接矩阵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</a:t>
                </a:r>
                <a:r>
                  <a:rPr lang="zh-CN" altLang="en-US" sz="2400" b="1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sz="2400" b="1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sz="2400" b="1" kern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zh-CN" altLang="zh-CN" sz="2400" b="1" kern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行元素之和</a:t>
                </a:r>
                <a:r>
                  <a:rPr lang="zh-CN" altLang="en-US" sz="2400" b="1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再加上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𝒊𝒊</m:t>
                        </m:r>
                      </m:sub>
                    </m:sSub>
                  </m:oMath>
                </a14:m>
                <a:r>
                  <a:rPr lang="zh-CN" altLang="en-US" sz="2400" b="1" kern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zh-CN" sz="2400" b="1" kern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的度数</a:t>
                </a:r>
                <a:endParaRPr lang="en-US" altLang="zh-CN" sz="2400" b="1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sz="2400" b="1" kern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𝒋</m:t>
                    </m:r>
                  </m:oMath>
                </a14:m>
                <a:r>
                  <a:rPr lang="zh-CN" altLang="zh-CN" sz="2400" b="1" kern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列元素之和</a:t>
                </a:r>
                <a:r>
                  <a:rPr lang="zh-CN" altLang="en-US" sz="2400" b="1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再加上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𝒋𝒋</m:t>
                        </m:r>
                      </m:sub>
                    </m:sSub>
                  </m:oMath>
                </a14:m>
                <a:r>
                  <a:rPr lang="zh-CN" altLang="en-US" sz="2400" b="1" kern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zh-CN" altLang="zh-CN" sz="2400" b="1" kern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的度数</a:t>
                </a:r>
                <a:endParaRPr lang="en-US" altLang="zh-CN" sz="2400" b="1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即有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sz="2400" b="1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ctr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𝒅𝒆𝒈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sz="2400" b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𝒌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𝒊𝒌</m:t>
                              </m:r>
                            </m:sub>
                          </m:sSub>
                        </m:e>
                      </m:nary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𝒊𝒊</m:t>
                          </m:r>
                        </m:sub>
                      </m:sSub>
                    </m:oMath>
                  </m:oMathPara>
                </a14:m>
                <a:endParaRPr lang="en-US" altLang="zh-CN" sz="2400" b="1" i="1" kern="100" dirty="0">
                  <a:solidFill>
                    <a:schemeClr val="bg1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ctr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func>
                        <m:funcPr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𝒅𝒆𝒈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𝒌𝒋</m:t>
                              </m:r>
                            </m:sub>
                          </m:sSub>
                        </m:e>
                      </m:nary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𝒋𝒋</m:t>
                          </m:r>
                        </m:sub>
                      </m:sSub>
                    </m:oMath>
                  </m:oMathPara>
                </a14:m>
                <a:endParaRPr lang="zh-CN" altLang="zh-CN" sz="2400" b="1" i="1" kern="1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CCEBA16-3E76-4515-BCDB-6F8FF04C05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42" y="1687697"/>
                <a:ext cx="8352928" cy="45278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0545515"/>
      </p:ext>
    </p:extLst>
  </p:cSld>
  <p:clrMapOvr>
    <a:masterClrMapping/>
  </p:clrMapOvr>
  <p:transition spd="med">
    <p:wipe dir="r"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2CF758E-6CA9-4FDD-8F12-CC3DD2A35C8D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3251" name="Text Box 2"/>
          <p:cNvSpPr txBox="1">
            <a:spLocks noChangeArrowheads="1"/>
          </p:cNvSpPr>
          <p:nvPr/>
        </p:nvSpPr>
        <p:spPr bwMode="auto">
          <a:xfrm>
            <a:off x="1474788" y="858838"/>
            <a:ext cx="597693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题</a:t>
            </a:r>
          </a:p>
        </p:txBody>
      </p:sp>
      <p:pic>
        <p:nvPicPr>
          <p:cNvPr id="5325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5D80B0E-1CED-4F36-8156-9C8D90017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2252353"/>
            <a:ext cx="8159165" cy="365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173719"/>
      </p:ext>
    </p:extLst>
  </p:cSld>
  <p:clrMapOvr>
    <a:masterClrMapping/>
  </p:clrMapOvr>
  <p:transition spd="med">
    <p:wipe dir="r"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BF48F0-3BA9-4C6F-95FF-7CD619F35D12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99331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6335713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度的矩阵表示</a:t>
            </a:r>
          </a:p>
        </p:txBody>
      </p:sp>
      <p:pic>
        <p:nvPicPr>
          <p:cNvPr id="9933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97B17DEE-2F61-4F33-9FE6-264AFADC7ECB}"/>
                  </a:ext>
                </a:extLst>
              </p:cNvPr>
              <p:cNvSpPr/>
              <p:nvPr/>
            </p:nvSpPr>
            <p:spPr>
              <a:xfrm>
                <a:off x="641301" y="1772816"/>
                <a:ext cx="7920880" cy="452784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𝐆</m:t>
                    </m:r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是有向图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，那么邻接矩阵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zh-CN" altLang="zh-CN" sz="2400" b="1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</a:t>
                </a:r>
                <a:r>
                  <a:rPr lang="zh-CN" altLang="en-US" sz="2400" b="1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sz="2400" b="1" kern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sz="2400" b="1" kern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400" b="1" i="1" ker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zh-CN" altLang="zh-CN" sz="2400" b="1" kern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行元素之和表示结点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的出度</a:t>
                </a:r>
                <a:endParaRPr lang="en-US" altLang="zh-CN" sz="2400" b="1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ctr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sz="2400" b="1" kern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第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𝒋</m:t>
                    </m:r>
                  </m:oMath>
                </a14:m>
                <a:r>
                  <a:rPr lang="zh-CN" altLang="zh-CN" sz="2400" b="1" kern="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列元素之和表示结点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kern="10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400" b="1" kern="10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的入度</a:t>
                </a:r>
                <a:endParaRPr lang="en-US" altLang="zh-CN" sz="2400" b="1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简单地说，就是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“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竖入横出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”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。即有：</a:t>
                </a:r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ctr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𝒅𝒆𝒈</m:t>
                              </m:r>
                            </m:e>
                            <m:sup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sz="2400" b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𝒌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𝒊𝒌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2400" b="1" i="1" kern="100" dirty="0">
                  <a:solidFill>
                    <a:schemeClr val="bg1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ctr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𝒅𝒆𝒈</m:t>
                          </m:r>
                        </m:e>
                        <m:sup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</m:sup>
                      </m:sSup>
                      <m:d>
                        <m:dPr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𝒌𝒋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zh-CN" sz="2400" b="1" i="1" kern="1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97B17DEE-2F61-4F33-9FE6-264AFADC7E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01" y="1772816"/>
                <a:ext cx="7920880" cy="45278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6736464"/>
      </p:ext>
    </p:extLst>
  </p:cSld>
  <p:clrMapOvr>
    <a:masterClrMapping/>
  </p:clrMapOvr>
  <p:transition spd="med">
    <p:wipe dir="r"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05CBA1-73A0-4E91-9BD4-2385CA92F880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55301" name="Rectangle 34"/>
          <p:cNvSpPr>
            <a:spLocks noChangeArrowheads="1"/>
          </p:cNvSpPr>
          <p:nvPr/>
        </p:nvSpPr>
        <p:spPr bwMode="auto">
          <a:xfrm>
            <a:off x="0" y="27384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pic>
        <p:nvPicPr>
          <p:cNvPr id="55303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2">
            <a:extLst>
              <a:ext uri="{FF2B5EF4-FFF2-40B4-BE49-F238E27FC236}">
                <a16:creationId xmlns:a16="http://schemas.microsoft.com/office/drawing/2014/main" id="{77F35313-F145-4A26-9BDD-D8F6AB5FC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8505" y="620688"/>
            <a:ext cx="5976938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题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68A1EF9-1BCA-44EF-B9E3-65F7A12C9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2580131"/>
            <a:ext cx="3456384" cy="298090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80A0CBD-AE9F-44DA-BC8B-B1C194450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1960" y="2580131"/>
            <a:ext cx="4802311" cy="298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87218"/>
      </p:ext>
    </p:extLst>
  </p:cSld>
  <p:clrMapOvr>
    <a:masterClrMapping/>
  </p:clrMapOvr>
  <p:transition spd="med">
    <p:wipe dir="r"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BF48F0-3BA9-4C6F-95FF-7CD619F35D12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99331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6335713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度的矩阵表示</a:t>
            </a:r>
          </a:p>
        </p:txBody>
      </p:sp>
      <p:pic>
        <p:nvPicPr>
          <p:cNvPr id="9933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0B3AFB0-1AF1-4AD5-AA35-E281C8CA1213}"/>
                  </a:ext>
                </a:extLst>
              </p:cNvPr>
              <p:cNvSpPr/>
              <p:nvPr/>
            </p:nvSpPr>
            <p:spPr>
              <a:xfrm>
                <a:off x="574762" y="2120667"/>
                <a:ext cx="7992888" cy="379142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150000"/>
                  </a:lnSpc>
                  <a:spcAft>
                    <a:spcPts val="1200"/>
                  </a:spcAft>
                </a:pP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）对于有向图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𝐆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just">
                  <a:spcBef>
                    <a:spcPts val="12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𝒋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𝒅𝒆𝒈</m:t>
                              </m:r>
                            </m:e>
                            <m:sup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𝒋</m:t>
                              </m:r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𝒊𝒋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altLang="zh-CN" sz="2400" b="1" i="1" kern="1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kern="1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𝒅𝒆𝒈</m:t>
                              </m:r>
                            </m:e>
                            <m:sup>
                              <m:r>
                                <a:rPr lang="en-US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zh-CN" sz="2400" b="1" i="1" kern="1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400" b="1" i="1" kern="1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266700" algn="ctr">
                  <a:lnSpc>
                    <a:spcPct val="20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rgbClr val="FFFF00"/>
                    </a:solidFill>
                    <a:cs typeface="Times New Roman" panose="02020603050405020304" pitchFamily="18" charset="0"/>
                  </a:rPr>
                  <a:t>  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cs typeface="Times New Roman" panose="02020603050405020304" pitchFamily="18" charset="0"/>
                  </a:rPr>
                  <a:t>有向图中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所有入度之和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cs typeface="Times New Roman" panose="02020603050405020304" pitchFamily="18" charset="0"/>
                  </a:rPr>
                  <a:t>等于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所有出度之和</a:t>
                </a:r>
                <a:endParaRPr lang="en-US" altLang="zh-CN" sz="2400" b="1" kern="1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  <a:p>
                <a:pPr indent="266700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这个和其实就是图的</a:t>
                </a:r>
                <a:r>
                  <a:rPr lang="zh-CN" altLang="zh-CN" sz="2400" b="1" kern="100" dirty="0">
                    <a:solidFill>
                      <a:srgbClr val="FFFF66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边数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solidFill>
                          <a:srgbClr val="FFFF66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𝒎</m:t>
                    </m:r>
                  </m:oMath>
                </a14:m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因为</a:t>
                </a:r>
                <a:r>
                  <a:rPr lang="zh-CN" altLang="zh-CN" sz="2400" b="1" kern="100" dirty="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有向图的每条边均产生且仅产生一个出度和一个入度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 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0B3AFB0-1AF1-4AD5-AA35-E281C8CA12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62" y="2120667"/>
                <a:ext cx="7992888" cy="3791423"/>
              </a:xfrm>
              <a:prstGeom prst="rect">
                <a:avLst/>
              </a:prstGeom>
              <a:blipFill>
                <a:blip r:embed="rId4"/>
                <a:stretch>
                  <a:fillRect l="-1144" r="-76" b="-20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2286249"/>
      </p:ext>
    </p:extLst>
  </p:cSld>
  <p:clrMapOvr>
    <a:masterClrMapping/>
  </p:clrMapOvr>
  <p:transition spd="med">
    <p:wipe dir="r"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367E4B6-7823-4C09-AED5-E5548DECA8A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97283" name="Text Box 2"/>
          <p:cNvSpPr txBox="1">
            <a:spLocks noChangeArrowheads="1"/>
          </p:cNvSpPr>
          <p:nvPr/>
        </p:nvSpPr>
        <p:spPr bwMode="auto">
          <a:xfrm>
            <a:off x="1404938" y="714375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 题</a:t>
            </a:r>
          </a:p>
        </p:txBody>
      </p:sp>
      <p:pic>
        <p:nvPicPr>
          <p:cNvPr id="97284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611560" y="1916832"/>
                <a:ext cx="8052902" cy="1113766"/>
              </a:xfrm>
              <a:prstGeom prst="rect">
                <a:avLst/>
              </a:prstGeom>
              <a:solidFill>
                <a:schemeClr val="accent5"/>
              </a:solidFill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zh-CN" sz="2400" b="1" dirty="0">
                    <a:solidFill>
                      <a:schemeClr val="accent2"/>
                    </a:solidFill>
                  </a:rPr>
                  <a:t>【例题】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如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下图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所示，对于无向图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以及有向图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，分别写出其邻接矩阵，并通过邻接矩阵计算各个结点的度数。</a:t>
                </a:r>
                <a:endParaRPr lang="en-US" altLang="zh-CN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916832"/>
                <a:ext cx="8052902" cy="1113766"/>
              </a:xfrm>
              <a:prstGeom prst="rect">
                <a:avLst/>
              </a:prstGeom>
              <a:blipFill>
                <a:blip r:embed="rId4"/>
                <a:stretch>
                  <a:fillRect l="-1136" b="-1147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4938" y="3577176"/>
            <a:ext cx="2860757" cy="208823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4048" y="3577176"/>
            <a:ext cx="2896968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593149"/>
      </p:ext>
    </p:extLst>
  </p:cSld>
  <p:clrMapOvr>
    <a:masterClrMapping/>
  </p:clrMapOvr>
  <p:transition spd="med">
    <p:wipe dir="r"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367E4B6-7823-4C09-AED5-E5548DECA8A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97283" name="Text Box 2"/>
          <p:cNvSpPr txBox="1">
            <a:spLocks noChangeArrowheads="1"/>
          </p:cNvSpPr>
          <p:nvPr/>
        </p:nvSpPr>
        <p:spPr bwMode="auto">
          <a:xfrm>
            <a:off x="1404938" y="714375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 题</a:t>
            </a:r>
          </a:p>
        </p:txBody>
      </p:sp>
      <p:pic>
        <p:nvPicPr>
          <p:cNvPr id="97284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962993" y="1976630"/>
                <a:ext cx="7599188" cy="4057265"/>
              </a:xfrm>
              <a:prstGeom prst="rect">
                <a:avLst/>
              </a:prstGeom>
              <a:solidFill>
                <a:schemeClr val="accent5"/>
              </a:solidFill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zh-CN" sz="2400" b="1" dirty="0"/>
                  <a:t>【解】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依题意知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，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无向图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的邻接矩阵为：</a:t>
                </a:r>
                <a:endParaRPr lang="en-US" altLang="zh-CN" sz="2400" b="1" dirty="0">
                  <a:solidFill>
                    <a:schemeClr val="tx1"/>
                  </a:solidFill>
                </a:endParaRPr>
              </a:p>
              <a:p>
                <a:endParaRPr lang="zh-CN" altLang="zh-CN" sz="2400" b="1" dirty="0">
                  <a:solidFill>
                    <a:schemeClr val="tx1"/>
                  </a:solidFill>
                </a:endParaRPr>
              </a:p>
              <a:p>
                <a:r>
                  <a:rPr lang="en-US" altLang="zh-CN" sz="2400" b="1" dirty="0">
                    <a:solidFill>
                      <a:schemeClr val="tx1"/>
                    </a:solidFill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zh-CN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zh-CN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mr>
                    </m:m>
                  </m:oMath>
                </a14:m>
                <a:endParaRPr lang="zh-CN" altLang="zh-CN" sz="2400" b="1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altLang="zh-CN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mr>
                      </m:m>
                      <m:d>
                        <m:dPr>
                          <m:ctrlPr>
                            <a:rPr lang="zh-CN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1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mr>
                                </m:m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b="1" dirty="0">
                  <a:solidFill>
                    <a:schemeClr val="tx1"/>
                  </a:solidFill>
                </a:endParaRPr>
              </a:p>
              <a:p>
                <a:endParaRPr lang="zh-CN" altLang="zh-CN" sz="24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tx1"/>
                    </a:solidFill>
                  </a:rPr>
                  <a:t>		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𝐝𝐞𝐠</m:t>
                    </m:r>
                    <m:d>
                      <m:d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；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𝐝𝐞𝐠</m:t>
                    </m:r>
                    <m:d>
                      <m:d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；</a:t>
                </a:r>
                <a:endParaRPr lang="en-US" altLang="zh-CN" sz="2400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𝐝𝐞𝐠</m:t>
                      </m:r>
                      <m:d>
                        <m:dPr>
                          <m:ctrlPr>
                            <a:rPr lang="zh-CN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zh-CN" altLang="zh-CN" sz="24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；</m:t>
                      </m:r>
                      <m:r>
                        <a:rPr lang="en-US" altLang="zh-CN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𝐝𝐞𝐠</m:t>
                      </m:r>
                      <m:d>
                        <m:dPr>
                          <m:ctrlPr>
                            <a:rPr lang="zh-CN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altLang="zh-CN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993" y="1976630"/>
                <a:ext cx="7599188" cy="4057265"/>
              </a:xfrm>
              <a:prstGeom prst="rect">
                <a:avLst/>
              </a:prstGeom>
              <a:blipFill>
                <a:blip r:embed="rId4"/>
                <a:stretch>
                  <a:fillRect l="-1283" t="-165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7728443"/>
      </p:ext>
    </p:extLst>
  </p:cSld>
  <p:clrMapOvr>
    <a:masterClrMapping/>
  </p:clrMapOvr>
  <p:transition spd="med">
    <p:wipe dir="r"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367E4B6-7823-4C09-AED5-E5548DECA8A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97283" name="Text Box 2"/>
          <p:cNvSpPr txBox="1">
            <a:spLocks noChangeArrowheads="1"/>
          </p:cNvSpPr>
          <p:nvPr/>
        </p:nvSpPr>
        <p:spPr bwMode="auto">
          <a:xfrm>
            <a:off x="1404938" y="714375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 题</a:t>
            </a:r>
          </a:p>
        </p:txBody>
      </p:sp>
      <p:pic>
        <p:nvPicPr>
          <p:cNvPr id="97284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755576" y="1974866"/>
                <a:ext cx="7831248" cy="4060792"/>
              </a:xfrm>
              <a:prstGeom prst="rect">
                <a:avLst/>
              </a:prstGeom>
              <a:solidFill>
                <a:schemeClr val="accent5"/>
              </a:solidFill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zh-CN" sz="2400" b="1" dirty="0"/>
                  <a:t>【解】</a:t>
                </a:r>
                <a:r>
                  <a:rPr lang="zh-CN" altLang="en-US" sz="2400" b="1" dirty="0"/>
                  <a:t>（续）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有向图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的邻接矩阵为：</a:t>
                </a:r>
              </a:p>
              <a:p>
                <a:r>
                  <a:rPr lang="en-US" altLang="zh-CN" sz="2400" b="1" dirty="0">
                    <a:solidFill>
                      <a:schemeClr val="tx1"/>
                    </a:solidFill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zh-CN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zh-CN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US" altLang="zh-CN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𝒗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𝟒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mr>
                    </m:m>
                  </m:oMath>
                </a14:m>
                <a:endParaRPr lang="zh-CN" altLang="zh-CN" sz="2400" b="1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en-US" altLang="zh-CN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m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𝟑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zh-CN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mr>
                      </m:m>
                      <m:d>
                        <m:dPr>
                          <m:ctrlPr>
                            <a:rPr lang="zh-CN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e>
                                  </m:mr>
                                </m:m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CN" altLang="zh-CN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  <m:e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altLang="zh-CN" sz="2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b="1" i="1" dirty="0">
                  <a:solidFill>
                    <a:schemeClr val="tx1"/>
                  </a:solidFill>
                </a:endParaRPr>
              </a:p>
              <a:p>
                <a:endParaRPr lang="en-US" altLang="zh-CN" sz="2400" b="1" i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𝒅𝒆𝒈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𝒅𝒆𝒈</m:t>
                              </m:r>
                            </m:e>
                            <m:sup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zh-CN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zh-CN" altLang="zh-CN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𝒅𝒆𝒈</m:t>
                              </m:r>
                            </m:e>
                            <m:sup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zh-CN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zh-CN" sz="2400" b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𝒅𝒆𝒈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𝒅𝒆𝒈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𝒅𝒆𝒈</m:t>
                        </m:r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zh-CN" altLang="zh-CN" sz="2400" b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𝒅𝒆𝒈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𝒅𝒆𝒈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𝒅𝒆𝒈</m:t>
                        </m:r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zh-CN" altLang="zh-CN" sz="2400" b="1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𝒅𝒆𝒈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𝒅𝒆𝒈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func>
                      <m:func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𝒅𝒆𝒈</m:t>
                        </m:r>
                      </m:fName>
                      <m:e>
                        <m:d>
                          <m:d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altLang="zh-CN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974866"/>
                <a:ext cx="7831248" cy="4060792"/>
              </a:xfrm>
              <a:prstGeom prst="rect">
                <a:avLst/>
              </a:prstGeom>
              <a:blipFill>
                <a:blip r:embed="rId4"/>
                <a:stretch>
                  <a:fillRect l="-1245" t="-1652" b="-1952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8832446"/>
      </p:ext>
    </p:extLst>
  </p:cSld>
  <p:clrMapOvr>
    <a:masterClrMapping/>
  </p:clrMapOvr>
  <p:transition spd="med">
    <p:wipe dir="r"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515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877654"/>
            <a:ext cx="5373154" cy="1414785"/>
          </a:xfrm>
          <a:solidFill>
            <a:schemeClr val="accent5"/>
          </a:solidFill>
        </p:spPr>
        <p:txBody>
          <a:bodyPr/>
          <a:lstStyle/>
          <a:p>
            <a:pPr marL="0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/>
              </a:rPr>
              <a:t>【</a:t>
            </a:r>
            <a:r>
              <a:rPr lang="zh-CN" altLang="en-US" b="1" dirty="0">
                <a:solidFill>
                  <a:srgbClr val="FF0000"/>
                </a:solidFill>
                <a:effectLst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ffectLst/>
              </a:rPr>
              <a:t>】</a:t>
            </a:r>
            <a:r>
              <a:rPr lang="zh-CN" altLang="en-US" b="1" dirty="0">
                <a:effectLst/>
              </a:rPr>
              <a:t>求右图中所有结点的</a:t>
            </a:r>
            <a:r>
              <a:rPr lang="zh-CN" altLang="en-US" b="1" dirty="0">
                <a:solidFill>
                  <a:srgbClr val="0000FF"/>
                </a:solidFill>
                <a:effectLst/>
              </a:rPr>
              <a:t>度数、出度和入度</a:t>
            </a:r>
            <a:r>
              <a:rPr lang="zh-CN" altLang="en-US" b="1" dirty="0">
                <a:effectLst/>
              </a:rPr>
              <a:t>，指出</a:t>
            </a:r>
            <a:r>
              <a:rPr lang="zh-CN" altLang="en-US" b="1" dirty="0">
                <a:solidFill>
                  <a:srgbClr val="0000FF"/>
                </a:solidFill>
                <a:effectLst/>
              </a:rPr>
              <a:t>悬挂结点和为悬挂边</a:t>
            </a:r>
            <a:r>
              <a:rPr lang="zh-CN" altLang="en-US" b="1" dirty="0">
                <a:effectLst/>
              </a:rPr>
              <a:t>，并用</a:t>
            </a:r>
            <a:r>
              <a:rPr lang="zh-CN" altLang="en-US" b="1" dirty="0">
                <a:solidFill>
                  <a:srgbClr val="0000FF"/>
                </a:solidFill>
                <a:effectLst/>
              </a:rPr>
              <a:t>邻接矩阵验证</a:t>
            </a:r>
            <a:r>
              <a:rPr lang="zh-CN" altLang="en-US" b="1" dirty="0">
                <a:effectLst/>
              </a:rPr>
              <a:t>。</a:t>
            </a:r>
          </a:p>
        </p:txBody>
      </p:sp>
      <p:sp>
        <p:nvSpPr>
          <p:cNvPr id="101379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EB345B-6F6D-4D94-A40E-1C6274273484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01380" name="Rectangle 27"/>
          <p:cNvSpPr>
            <a:spLocks noChangeArrowheads="1"/>
          </p:cNvSpPr>
          <p:nvPr/>
        </p:nvSpPr>
        <p:spPr bwMode="auto">
          <a:xfrm>
            <a:off x="0" y="2563813"/>
            <a:ext cx="184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4"/>
              <p:cNvSpPr>
                <a:spLocks noChangeArrowheads="1"/>
              </p:cNvSpPr>
              <p:nvPr/>
            </p:nvSpPr>
            <p:spPr bwMode="auto">
              <a:xfrm>
                <a:off x="853912" y="3503397"/>
                <a:ext cx="7436176" cy="274511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  <a:cs typeface="楷体_GB2312" pitchFamily="49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9pPr>
              </a:lstStyle>
              <a:p>
                <a:pPr algn="just" eaLnBrk="1" hangingPunct="1">
                  <a:buClr>
                    <a:srgbClr val="FF3300"/>
                  </a:buClr>
                  <a:buFont typeface="Wingdings" pitchFamily="2" charset="2"/>
                  <a:buNone/>
                  <a:defRPr/>
                </a:pPr>
                <a:r>
                  <a:rPr kumimoji="0" lang="zh-CN" altLang="en-US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    </a:t>
                </a:r>
                <a:r>
                  <a:rPr kumimoji="0" lang="zh-CN" altLang="en-US" b="1" dirty="0">
                    <a:solidFill>
                      <a:schemeClr val="bg1"/>
                    </a:solidFill>
                    <a:latin typeface="+mj-lt"/>
                    <a:ea typeface="+mn-ea"/>
                  </a:rPr>
                  <a:t>解：</a:t>
                </a:r>
                <a:r>
                  <a:rPr kumimoji="0" lang="en-US" altLang="zh-CN" b="1" i="1" dirty="0" err="1">
                    <a:solidFill>
                      <a:schemeClr val="bg1"/>
                    </a:solidFill>
                    <a:latin typeface="+mj-lt"/>
                    <a:ea typeface="+mj-ea"/>
                  </a:rPr>
                  <a:t>deg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(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v</a:t>
                </a:r>
                <a:r>
                  <a:rPr kumimoji="0" lang="en-US" altLang="zh-CN" b="1" i="1" baseline="-25000" dirty="0">
                    <a:solidFill>
                      <a:schemeClr val="bg1"/>
                    </a:solidFill>
                    <a:latin typeface="+mj-lt"/>
                    <a:ea typeface="+mj-ea"/>
                  </a:rPr>
                  <a:t>1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)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 = 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1</a:t>
                </a:r>
                <a:r>
                  <a:rPr kumimoji="0" lang="zh-CN" altLang="en-US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，</a:t>
                </a:r>
                <a:r>
                  <a:rPr kumimoji="0" lang="en-US" altLang="zh-CN" b="1" i="1" dirty="0" err="1">
                    <a:solidFill>
                      <a:schemeClr val="bg1"/>
                    </a:solidFill>
                    <a:latin typeface="+mj-lt"/>
                    <a:ea typeface="+mj-ea"/>
                  </a:rPr>
                  <a:t>deg</a:t>
                </a:r>
                <a:r>
                  <a:rPr kumimoji="0" lang="en-US" altLang="zh-CN" b="1" i="1" baseline="30000" dirty="0">
                    <a:solidFill>
                      <a:schemeClr val="bg1"/>
                    </a:solidFill>
                    <a:latin typeface="+mj-lt"/>
                    <a:ea typeface="+mj-ea"/>
                  </a:rPr>
                  <a:t>+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(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v</a:t>
                </a:r>
                <a:r>
                  <a:rPr kumimoji="0" lang="en-US" altLang="zh-CN" b="1" i="1" baseline="-25000" dirty="0">
                    <a:solidFill>
                      <a:schemeClr val="bg1"/>
                    </a:solidFill>
                    <a:latin typeface="+mj-lt"/>
                    <a:ea typeface="+mj-ea"/>
                  </a:rPr>
                  <a:t>1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)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 = 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0</a:t>
                </a:r>
                <a:r>
                  <a:rPr kumimoji="0" lang="zh-CN" altLang="en-US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，</a:t>
                </a:r>
                <a:r>
                  <a:rPr kumimoji="0" lang="en-US" altLang="zh-CN" b="1" i="1" dirty="0" err="1">
                    <a:solidFill>
                      <a:schemeClr val="bg1"/>
                    </a:solidFill>
                    <a:latin typeface="+mj-lt"/>
                    <a:ea typeface="+mj-ea"/>
                  </a:rPr>
                  <a:t>deg</a:t>
                </a:r>
                <a:r>
                  <a:rPr kumimoji="0" lang="en-US" altLang="zh-CN" b="1" i="1" baseline="30000" dirty="0">
                    <a:solidFill>
                      <a:schemeClr val="bg1"/>
                    </a:solidFill>
                    <a:latin typeface="+mj-lt"/>
                    <a:ea typeface="+mj-ea"/>
                  </a:rPr>
                  <a:t>-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(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v</a:t>
                </a:r>
                <a:r>
                  <a:rPr kumimoji="0" lang="en-US" altLang="zh-CN" b="1" i="1" baseline="-25000" dirty="0">
                    <a:solidFill>
                      <a:schemeClr val="bg1"/>
                    </a:solidFill>
                    <a:latin typeface="+mj-lt"/>
                    <a:ea typeface="+mj-ea"/>
                  </a:rPr>
                  <a:t>1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)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 = 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1</a:t>
                </a:r>
              </a:p>
              <a:p>
                <a:pPr algn="just" eaLnBrk="1" hangingPunct="1">
                  <a:buClr>
                    <a:srgbClr val="FF3300"/>
                  </a:buClr>
                  <a:buFont typeface="Wingdings" pitchFamily="2" charset="2"/>
                  <a:buNone/>
                  <a:defRPr/>
                </a:pP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           deg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(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v</a:t>
                </a:r>
                <a:r>
                  <a:rPr kumimoji="0" lang="en-US" altLang="zh-CN" b="1" i="1" baseline="-25000" dirty="0">
                    <a:solidFill>
                      <a:schemeClr val="bg1"/>
                    </a:solidFill>
                    <a:latin typeface="+mj-lt"/>
                    <a:ea typeface="+mj-ea"/>
                  </a:rPr>
                  <a:t>2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)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 = 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4</a:t>
                </a:r>
                <a:r>
                  <a:rPr kumimoji="0" lang="zh-CN" altLang="en-US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，</a:t>
                </a:r>
                <a:r>
                  <a:rPr kumimoji="0" lang="en-US" altLang="zh-CN" b="1" i="1" dirty="0" err="1">
                    <a:solidFill>
                      <a:schemeClr val="bg1"/>
                    </a:solidFill>
                    <a:latin typeface="+mj-lt"/>
                    <a:ea typeface="+mj-ea"/>
                  </a:rPr>
                  <a:t>deg</a:t>
                </a:r>
                <a:r>
                  <a:rPr kumimoji="0" lang="en-US" altLang="zh-CN" b="1" i="1" baseline="30000" dirty="0">
                    <a:solidFill>
                      <a:schemeClr val="bg1"/>
                    </a:solidFill>
                    <a:latin typeface="+mj-lt"/>
                    <a:ea typeface="+mj-ea"/>
                  </a:rPr>
                  <a:t>+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(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v</a:t>
                </a:r>
                <a:r>
                  <a:rPr kumimoji="0" lang="en-US" altLang="zh-CN" b="1" i="1" baseline="-25000" dirty="0">
                    <a:solidFill>
                      <a:schemeClr val="bg1"/>
                    </a:solidFill>
                    <a:latin typeface="+mj-lt"/>
                    <a:ea typeface="+mj-ea"/>
                  </a:rPr>
                  <a:t>2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)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 = 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3</a:t>
                </a:r>
                <a:r>
                  <a:rPr kumimoji="0" lang="zh-CN" altLang="en-US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，</a:t>
                </a:r>
                <a:r>
                  <a:rPr kumimoji="0" lang="en-US" altLang="zh-CN" b="1" i="1" dirty="0" err="1">
                    <a:solidFill>
                      <a:schemeClr val="bg1"/>
                    </a:solidFill>
                    <a:latin typeface="+mj-lt"/>
                    <a:ea typeface="+mj-ea"/>
                  </a:rPr>
                  <a:t>deg</a:t>
                </a:r>
                <a:r>
                  <a:rPr kumimoji="0" lang="en-US" altLang="zh-CN" b="1" i="1" baseline="30000" dirty="0">
                    <a:solidFill>
                      <a:schemeClr val="bg1"/>
                    </a:solidFill>
                    <a:latin typeface="+mj-lt"/>
                    <a:ea typeface="+mj-ea"/>
                  </a:rPr>
                  <a:t>-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(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v</a:t>
                </a:r>
                <a:r>
                  <a:rPr kumimoji="0" lang="en-US" altLang="zh-CN" b="1" i="1" baseline="-25000" dirty="0">
                    <a:solidFill>
                      <a:schemeClr val="bg1"/>
                    </a:solidFill>
                    <a:latin typeface="+mj-lt"/>
                    <a:ea typeface="+mj-ea"/>
                  </a:rPr>
                  <a:t>2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)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 = 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1</a:t>
                </a:r>
              </a:p>
              <a:p>
                <a:pPr algn="just" eaLnBrk="1" hangingPunct="1">
                  <a:buClr>
                    <a:srgbClr val="FF3300"/>
                  </a:buClr>
                  <a:buFont typeface="Wingdings" pitchFamily="2" charset="2"/>
                  <a:buNone/>
                  <a:defRPr/>
                </a:pP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           deg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(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v</a:t>
                </a:r>
                <a:r>
                  <a:rPr kumimoji="0" lang="en-US" altLang="zh-CN" b="1" i="1" baseline="-25000" dirty="0">
                    <a:solidFill>
                      <a:schemeClr val="bg1"/>
                    </a:solidFill>
                    <a:latin typeface="+mj-lt"/>
                    <a:ea typeface="+mj-ea"/>
                  </a:rPr>
                  <a:t>3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) 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= 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3</a:t>
                </a:r>
                <a:r>
                  <a:rPr kumimoji="0" lang="zh-CN" altLang="en-US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，</a:t>
                </a:r>
                <a:r>
                  <a:rPr kumimoji="0" lang="en-US" altLang="zh-CN" b="1" i="1" dirty="0" err="1">
                    <a:solidFill>
                      <a:schemeClr val="bg1"/>
                    </a:solidFill>
                    <a:latin typeface="+mj-lt"/>
                    <a:ea typeface="+mj-ea"/>
                  </a:rPr>
                  <a:t>deg</a:t>
                </a:r>
                <a:r>
                  <a:rPr kumimoji="0" lang="en-US" altLang="zh-CN" b="1" i="1" baseline="30000" dirty="0">
                    <a:solidFill>
                      <a:schemeClr val="bg1"/>
                    </a:solidFill>
                    <a:latin typeface="+mj-lt"/>
                    <a:ea typeface="+mj-ea"/>
                  </a:rPr>
                  <a:t>+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(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v</a:t>
                </a:r>
                <a:r>
                  <a:rPr kumimoji="0" lang="en-US" altLang="zh-CN" b="1" i="1" baseline="-25000" dirty="0">
                    <a:solidFill>
                      <a:schemeClr val="bg1"/>
                    </a:solidFill>
                    <a:latin typeface="+mj-lt"/>
                    <a:ea typeface="+mj-ea"/>
                  </a:rPr>
                  <a:t>3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) 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= 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1</a:t>
                </a:r>
                <a:r>
                  <a:rPr kumimoji="0" lang="zh-CN" altLang="en-US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，</a:t>
                </a:r>
                <a:r>
                  <a:rPr kumimoji="0" lang="en-US" altLang="zh-CN" b="1" i="1" dirty="0" err="1">
                    <a:solidFill>
                      <a:schemeClr val="bg1"/>
                    </a:solidFill>
                    <a:latin typeface="+mj-lt"/>
                    <a:ea typeface="+mj-ea"/>
                  </a:rPr>
                  <a:t>deg</a:t>
                </a:r>
                <a:r>
                  <a:rPr kumimoji="0" lang="en-US" altLang="zh-CN" b="1" i="1" baseline="30000" dirty="0">
                    <a:solidFill>
                      <a:schemeClr val="bg1"/>
                    </a:solidFill>
                    <a:latin typeface="+mj-lt"/>
                    <a:ea typeface="+mj-ea"/>
                  </a:rPr>
                  <a:t>-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(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v</a:t>
                </a:r>
                <a:r>
                  <a:rPr kumimoji="0" lang="en-US" altLang="zh-CN" b="1" i="1" baseline="-25000" dirty="0">
                    <a:solidFill>
                      <a:schemeClr val="bg1"/>
                    </a:solidFill>
                    <a:latin typeface="+mj-lt"/>
                    <a:ea typeface="+mj-ea"/>
                  </a:rPr>
                  <a:t>3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)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 = 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2</a:t>
                </a:r>
              </a:p>
              <a:p>
                <a:pPr algn="just" eaLnBrk="1" hangingPunct="1">
                  <a:buClr>
                    <a:srgbClr val="FF3300"/>
                  </a:buClr>
                  <a:buFont typeface="Wingdings" pitchFamily="2" charset="2"/>
                  <a:buNone/>
                  <a:defRPr/>
                </a:pP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           deg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(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v</a:t>
                </a:r>
                <a:r>
                  <a:rPr kumimoji="0" lang="en-US" altLang="zh-CN" b="1" i="1" baseline="-25000" dirty="0">
                    <a:solidFill>
                      <a:schemeClr val="bg1"/>
                    </a:solidFill>
                    <a:latin typeface="+mj-lt"/>
                    <a:ea typeface="+mj-ea"/>
                  </a:rPr>
                  <a:t>4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)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 = 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4</a:t>
                </a:r>
                <a:r>
                  <a:rPr kumimoji="0" lang="zh-CN" altLang="en-US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，</a:t>
                </a:r>
                <a:r>
                  <a:rPr kumimoji="0" lang="en-US" altLang="zh-CN" b="1" i="1" dirty="0" err="1">
                    <a:solidFill>
                      <a:schemeClr val="bg1"/>
                    </a:solidFill>
                    <a:latin typeface="+mj-lt"/>
                    <a:ea typeface="+mj-ea"/>
                  </a:rPr>
                  <a:t>deg</a:t>
                </a:r>
                <a:r>
                  <a:rPr kumimoji="0" lang="en-US" altLang="zh-CN" b="1" i="1" baseline="30000" dirty="0">
                    <a:solidFill>
                      <a:schemeClr val="bg1"/>
                    </a:solidFill>
                    <a:latin typeface="+mj-lt"/>
                    <a:ea typeface="+mj-ea"/>
                  </a:rPr>
                  <a:t>+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(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v</a:t>
                </a:r>
                <a:r>
                  <a:rPr kumimoji="0" lang="en-US" altLang="zh-CN" b="1" i="1" baseline="-25000" dirty="0">
                    <a:solidFill>
                      <a:schemeClr val="bg1"/>
                    </a:solidFill>
                    <a:latin typeface="+mj-lt"/>
                    <a:ea typeface="+mj-ea"/>
                  </a:rPr>
                  <a:t>4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)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 = 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2</a:t>
                </a:r>
                <a:r>
                  <a:rPr kumimoji="0" lang="zh-CN" altLang="en-US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，</a:t>
                </a:r>
                <a:r>
                  <a:rPr kumimoji="0" lang="en-US" altLang="zh-CN" b="1" i="1" dirty="0" err="1">
                    <a:solidFill>
                      <a:schemeClr val="bg1"/>
                    </a:solidFill>
                    <a:latin typeface="+mj-lt"/>
                    <a:ea typeface="+mj-ea"/>
                  </a:rPr>
                  <a:t>deg</a:t>
                </a:r>
                <a:r>
                  <a:rPr kumimoji="0" lang="en-US" altLang="zh-CN" b="1" i="1" baseline="30000" dirty="0">
                    <a:solidFill>
                      <a:schemeClr val="bg1"/>
                    </a:solidFill>
                    <a:latin typeface="+mj-lt"/>
                    <a:ea typeface="+mj-ea"/>
                  </a:rPr>
                  <a:t>-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(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v</a:t>
                </a:r>
                <a:r>
                  <a:rPr kumimoji="0" lang="en-US" altLang="zh-CN" b="1" i="1" baseline="-25000" dirty="0">
                    <a:solidFill>
                      <a:schemeClr val="bg1"/>
                    </a:solidFill>
                    <a:latin typeface="+mj-lt"/>
                    <a:ea typeface="+mj-ea"/>
                  </a:rPr>
                  <a:t>4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)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 = 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2</a:t>
                </a:r>
              </a:p>
              <a:p>
                <a:pPr algn="just" eaLnBrk="1" hangingPunct="1">
                  <a:buClr>
                    <a:srgbClr val="FF3300"/>
                  </a:buClr>
                  <a:buFont typeface="Wingdings" pitchFamily="2" charset="2"/>
                  <a:buNone/>
                  <a:defRPr/>
                </a:pP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           deg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(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v</a:t>
                </a:r>
                <a:r>
                  <a:rPr kumimoji="0" lang="en-US" altLang="zh-CN" b="1" i="1" baseline="-25000" dirty="0">
                    <a:solidFill>
                      <a:schemeClr val="bg1"/>
                    </a:solidFill>
                    <a:latin typeface="+mj-lt"/>
                    <a:ea typeface="+mj-ea"/>
                  </a:rPr>
                  <a:t>5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)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 = deg</a:t>
                </a:r>
                <a:r>
                  <a:rPr kumimoji="0" lang="en-US" altLang="zh-CN" b="1" i="1" baseline="30000" dirty="0">
                    <a:solidFill>
                      <a:schemeClr val="bg1"/>
                    </a:solidFill>
                    <a:latin typeface="+mj-lt"/>
                    <a:ea typeface="+mj-ea"/>
                  </a:rPr>
                  <a:t>+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(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v</a:t>
                </a:r>
                <a:r>
                  <a:rPr kumimoji="0" lang="en-US" altLang="zh-CN" b="1" i="1" baseline="-25000" dirty="0">
                    <a:solidFill>
                      <a:schemeClr val="bg1"/>
                    </a:solidFill>
                    <a:latin typeface="+mj-lt"/>
                    <a:ea typeface="+mj-ea"/>
                  </a:rPr>
                  <a:t>5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) 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= deg</a:t>
                </a:r>
                <a:r>
                  <a:rPr kumimoji="0" lang="en-US" altLang="zh-CN" b="1" i="1" baseline="30000" dirty="0">
                    <a:solidFill>
                      <a:schemeClr val="bg1"/>
                    </a:solidFill>
                    <a:latin typeface="+mj-lt"/>
                    <a:ea typeface="+mj-ea"/>
                  </a:rPr>
                  <a:t>-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(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v</a:t>
                </a:r>
                <a:r>
                  <a:rPr kumimoji="0" lang="en-US" altLang="zh-CN" b="1" i="1" baseline="-25000" dirty="0">
                    <a:solidFill>
                      <a:schemeClr val="bg1"/>
                    </a:solidFill>
                    <a:latin typeface="+mj-lt"/>
                    <a:ea typeface="+mj-ea"/>
                  </a:rPr>
                  <a:t>5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)</a:t>
                </a:r>
                <a:r>
                  <a:rPr kumimoji="0" lang="en-US" altLang="zh-CN" b="1" i="1" dirty="0">
                    <a:solidFill>
                      <a:schemeClr val="bg1"/>
                    </a:solidFill>
                    <a:latin typeface="+mj-lt"/>
                    <a:ea typeface="+mj-ea"/>
                  </a:rPr>
                  <a:t> = </a:t>
                </a:r>
                <a:r>
                  <a:rPr kumimoji="0" lang="en-US" altLang="zh-CN" b="1" dirty="0">
                    <a:solidFill>
                      <a:schemeClr val="bg1"/>
                    </a:solidFill>
                    <a:latin typeface="+mj-lt"/>
                    <a:ea typeface="+mj-ea"/>
                  </a:rPr>
                  <a:t>0</a:t>
                </a:r>
              </a:p>
              <a:p>
                <a:pPr algn="just" eaLnBrk="1" hangingPunct="1">
                  <a:buClr>
                    <a:srgbClr val="FF3300"/>
                  </a:buClr>
                  <a:buFont typeface="Wingdings" pitchFamily="2" charset="2"/>
                  <a:buNone/>
                  <a:defRPr/>
                </a:pPr>
                <a:r>
                  <a:rPr kumimoji="0" lang="en-US" altLang="zh-CN" b="1" dirty="0">
                    <a:solidFill>
                      <a:srgbClr val="FFFF66"/>
                    </a:solidFill>
                    <a:latin typeface="+mj-lt"/>
                    <a:ea typeface="+mn-ea"/>
                  </a:rPr>
                  <a:t>                    </a:t>
                </a:r>
                <a:r>
                  <a:rPr kumimoji="0" lang="en-US" altLang="zh-CN" b="1" i="1" dirty="0">
                    <a:solidFill>
                      <a:srgbClr val="FFFF66"/>
                    </a:solidFill>
                    <a:latin typeface="+mj-lt"/>
                    <a:ea typeface="+mn-ea"/>
                  </a:rPr>
                  <a:t>v</a:t>
                </a:r>
                <a:r>
                  <a:rPr kumimoji="0" lang="en-US" altLang="zh-CN" b="1" i="1" baseline="-25000" dirty="0">
                    <a:solidFill>
                      <a:srgbClr val="FFFF66"/>
                    </a:solidFill>
                    <a:latin typeface="+mj-lt"/>
                    <a:ea typeface="+mn-ea"/>
                  </a:rPr>
                  <a:t>1</a:t>
                </a:r>
                <a:r>
                  <a:rPr kumimoji="0" lang="zh-CN" altLang="en-US" b="1" dirty="0">
                    <a:solidFill>
                      <a:srgbClr val="FFFF66"/>
                    </a:solidFill>
                    <a:latin typeface="+mj-lt"/>
                    <a:ea typeface="+mn-ea"/>
                  </a:rPr>
                  <a:t>为悬挂结点，</a:t>
                </a:r>
                <a:r>
                  <a:rPr lang="zh-CN" altLang="zh-CN" b="1" dirty="0">
                    <a:solidFill>
                      <a:schemeClr val="bg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 smtClean="0">
                            <a:solidFill>
                              <a:srgbClr val="FFFF6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kumimoji="0" lang="en-US" altLang="zh-CN" b="1" dirty="0">
                            <a:solidFill>
                              <a:srgbClr val="FFFF66"/>
                            </a:solidFill>
                            <a:latin typeface="+mj-lt"/>
                          </a:rPr>
                          <m:t>v</m:t>
                        </m:r>
                        <m:r>
                          <m:rPr>
                            <m:nor/>
                          </m:rPr>
                          <a:rPr kumimoji="0" lang="en-US" altLang="zh-CN" b="1" baseline="-25000" dirty="0">
                            <a:solidFill>
                              <a:srgbClr val="FFFF66"/>
                            </a:solidFill>
                            <a:latin typeface="+mj-lt"/>
                          </a:rPr>
                          <m:t>2</m:t>
                        </m:r>
                        <m:r>
                          <m:rPr>
                            <m:nor/>
                          </m:rPr>
                          <a:rPr kumimoji="0" lang="en-US" altLang="zh-CN" b="1" dirty="0">
                            <a:solidFill>
                              <a:srgbClr val="FFFF66"/>
                            </a:solidFill>
                            <a:latin typeface="+mj-lt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kumimoji="0" lang="en-US" altLang="zh-CN" b="1" dirty="0">
                            <a:solidFill>
                              <a:srgbClr val="FFFF66"/>
                            </a:solidFill>
                            <a:latin typeface="+mj-lt"/>
                          </a:rPr>
                          <m:t>v</m:t>
                        </m:r>
                        <m:r>
                          <m:rPr>
                            <m:nor/>
                          </m:rPr>
                          <a:rPr kumimoji="0" lang="en-US" altLang="zh-CN" b="1" baseline="-25000" dirty="0">
                            <a:solidFill>
                              <a:srgbClr val="FFFF66"/>
                            </a:solidFill>
                            <a:latin typeface="+mj-lt"/>
                          </a:rPr>
                          <m:t>1</m:t>
                        </m:r>
                      </m:e>
                    </m:d>
                    <m:r>
                      <a:rPr lang="en-US" altLang="zh-CN" b="1" i="1">
                        <a:solidFill>
                          <a:srgbClr val="FFFF66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0" lang="zh-CN" altLang="en-US" b="1" dirty="0">
                    <a:solidFill>
                      <a:srgbClr val="FFFF66"/>
                    </a:solidFill>
                    <a:latin typeface="+mj-lt"/>
                    <a:ea typeface="+mn-ea"/>
                  </a:rPr>
                  <a:t>为悬挂边。 </a:t>
                </a:r>
              </a:p>
            </p:txBody>
          </p:sp>
        </mc:Choice>
        <mc:Fallback xmlns="">
          <p:sp>
            <p:nvSpPr>
              <p:cNvPr id="30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3912" y="3503397"/>
                <a:ext cx="7436176" cy="2745110"/>
              </a:xfrm>
              <a:prstGeom prst="rect">
                <a:avLst/>
              </a:prstGeom>
              <a:blipFill>
                <a:blip r:embed="rId3"/>
                <a:stretch>
                  <a:fillRect t="-2444" b="-177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382" name="Text Box 2"/>
          <p:cNvSpPr txBox="1">
            <a:spLocks noChangeArrowheads="1"/>
          </p:cNvSpPr>
          <p:nvPr/>
        </p:nvSpPr>
        <p:spPr bwMode="auto">
          <a:xfrm>
            <a:off x="1403350" y="620713"/>
            <a:ext cx="64087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01383" name="Picture 26" descr="QQ截图201509191612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548" y="1685969"/>
            <a:ext cx="2376264" cy="1755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84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58E0FC-A4D2-41EF-9021-F4AD9E4C887E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216537" name="Rectangle 25"/>
          <p:cNvSpPr>
            <a:spLocks noChangeArrowheads="1"/>
          </p:cNvSpPr>
          <p:nvPr/>
        </p:nvSpPr>
        <p:spPr bwMode="auto">
          <a:xfrm>
            <a:off x="1017588" y="1792579"/>
            <a:ext cx="4140200" cy="497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  <a:defRPr/>
            </a:pPr>
            <a:r>
              <a:rPr kumimoji="0"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该图的邻接矩阵为： </a:t>
            </a:r>
          </a:p>
        </p:txBody>
      </p:sp>
      <p:sp>
        <p:nvSpPr>
          <p:cNvPr id="102405" name="Rectangle 27"/>
          <p:cNvSpPr>
            <a:spLocks noChangeArrowheads="1"/>
          </p:cNvSpPr>
          <p:nvPr/>
        </p:nvSpPr>
        <p:spPr bwMode="auto">
          <a:xfrm>
            <a:off x="0" y="2857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216540" name="Rectangle 28"/>
          <p:cNvSpPr>
            <a:spLocks noChangeArrowheads="1"/>
          </p:cNvSpPr>
          <p:nvPr/>
        </p:nvSpPr>
        <p:spPr bwMode="auto">
          <a:xfrm>
            <a:off x="1017588" y="5296132"/>
            <a:ext cx="7658868" cy="94115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 eaLnBrk="0" hangingPunct="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楷体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Clr>
                <a:srgbClr val="FF3300"/>
              </a:buClr>
              <a:buFont typeface="Wingdings" pitchFamily="2" charset="2"/>
              <a:buNone/>
              <a:defRPr/>
            </a:pPr>
            <a:r>
              <a:rPr kumimoji="0" lang="zh-CN" altLang="en-US" b="1" dirty="0">
                <a:solidFill>
                  <a:srgbClr val="0000FF"/>
                </a:solidFill>
                <a:latin typeface="+mn-ea"/>
                <a:ea typeface="+mn-ea"/>
              </a:rPr>
              <a:t>     容易验证以上的计算的正确性。</a:t>
            </a:r>
            <a:r>
              <a:rPr kumimoji="0" lang="zh-CN" altLang="en-US" b="1" dirty="0">
                <a:latin typeface="+mn-ea"/>
                <a:ea typeface="+mn-ea"/>
              </a:rPr>
              <a:t>例如</a:t>
            </a:r>
            <a:r>
              <a:rPr kumimoji="0" lang="en-US" altLang="zh-CN" b="1" dirty="0">
                <a:latin typeface="+mn-ea"/>
                <a:ea typeface="+mn-ea"/>
              </a:rPr>
              <a:t>A</a:t>
            </a:r>
            <a:r>
              <a:rPr kumimoji="0" lang="zh-CN" altLang="en-US" b="1" dirty="0">
                <a:latin typeface="+mn-ea"/>
                <a:ea typeface="+mn-ea"/>
              </a:rPr>
              <a:t>中第二行元素之和为</a:t>
            </a:r>
            <a:r>
              <a:rPr kumimoji="0" lang="en-US" altLang="zh-CN" b="1" dirty="0">
                <a:latin typeface="+mn-ea"/>
                <a:ea typeface="+mn-ea"/>
              </a:rPr>
              <a:t>3</a:t>
            </a:r>
            <a:r>
              <a:rPr kumimoji="0" lang="zh-CN" altLang="en-US" b="1" dirty="0">
                <a:latin typeface="+mn-ea"/>
                <a:ea typeface="+mn-ea"/>
              </a:rPr>
              <a:t>，即</a:t>
            </a:r>
            <a:r>
              <a:rPr kumimoji="0" lang="en-US" altLang="zh-CN" b="1" dirty="0">
                <a:latin typeface="+mn-ea"/>
                <a:ea typeface="+mn-ea"/>
              </a:rPr>
              <a:t>v</a:t>
            </a:r>
            <a:r>
              <a:rPr kumimoji="0" lang="en-US" altLang="zh-CN" b="1" baseline="-25000" dirty="0">
                <a:latin typeface="+mn-ea"/>
                <a:ea typeface="+mn-ea"/>
              </a:rPr>
              <a:t>2</a:t>
            </a:r>
            <a:r>
              <a:rPr kumimoji="0" lang="zh-CN" altLang="en-US" b="1" dirty="0">
                <a:latin typeface="+mn-ea"/>
                <a:ea typeface="+mn-ea"/>
              </a:rPr>
              <a:t>的出度为</a:t>
            </a:r>
            <a:r>
              <a:rPr kumimoji="0" lang="en-US" altLang="zh-CN" b="1" dirty="0">
                <a:latin typeface="+mn-ea"/>
                <a:ea typeface="+mn-ea"/>
              </a:rPr>
              <a:t>3</a:t>
            </a:r>
            <a:r>
              <a:rPr kumimoji="0" lang="zh-CN" altLang="en-US" b="1" dirty="0">
                <a:latin typeface="+mn-ea"/>
                <a:ea typeface="+mn-ea"/>
              </a:rPr>
              <a:t>。</a:t>
            </a:r>
          </a:p>
        </p:txBody>
      </p:sp>
      <p:sp>
        <p:nvSpPr>
          <p:cNvPr id="102408" name="Text Box 2"/>
          <p:cNvSpPr txBox="1">
            <a:spLocks noChangeArrowheads="1"/>
          </p:cNvSpPr>
          <p:nvPr/>
        </p:nvSpPr>
        <p:spPr bwMode="auto">
          <a:xfrm>
            <a:off x="1403350" y="620713"/>
            <a:ext cx="64087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0240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65EEBE5-5EFF-4835-9831-D4ADA3A78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886" y="2343327"/>
            <a:ext cx="7748271" cy="2785245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72220E7-7D7E-48BF-A97B-B6F464FF93A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04451" name="Text Box 2"/>
          <p:cNvSpPr txBox="1">
            <a:spLocks noChangeArrowheads="1"/>
          </p:cNvSpPr>
          <p:nvPr/>
        </p:nvSpPr>
        <p:spPr bwMode="auto">
          <a:xfrm>
            <a:off x="1403350" y="620713"/>
            <a:ext cx="6408738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度与边的关系</a:t>
            </a:r>
          </a:p>
        </p:txBody>
      </p:sp>
      <p:pic>
        <p:nvPicPr>
          <p:cNvPr id="104452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0E8E7C3-0557-4FB8-8AEE-897D4788D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07" y="1772816"/>
            <a:ext cx="8933785" cy="4363512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1753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539552" y="1859757"/>
                <a:ext cx="8353425" cy="2054225"/>
              </a:xfrm>
              <a:solidFill>
                <a:schemeClr val="accent5"/>
              </a:solidFill>
            </p:spPr>
            <p:txBody>
              <a:bodyPr/>
              <a:lstStyle/>
              <a:p>
                <a:pPr marL="0" indent="0" eaLnBrk="1" hangingPunct="1">
                  <a:lnSpc>
                    <a:spcPct val="120000"/>
                  </a:lnSpc>
                  <a:buFontTx/>
                  <a:buNone/>
                  <a:defRPr/>
                </a:pPr>
                <a:r>
                  <a:rPr lang="en-US" altLang="zh-CN" b="1" dirty="0">
                    <a:solidFill>
                      <a:schemeClr val="bg1"/>
                    </a:solidFill>
                    <a:effectLst/>
                    <a:cs typeface="楷体_GB2312" pitchFamily="49" charset="-122"/>
                  </a:rPr>
                  <a:t>    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【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定理（</a:t>
                </a:r>
                <a:r>
                  <a:rPr lang="zh-CN" altLang="en-US" b="1" dirty="0">
                    <a:solidFill>
                      <a:srgbClr val="0000FF"/>
                    </a:solidFill>
                    <a:effectLst/>
                    <a:cs typeface="楷体_GB2312" pitchFamily="49" charset="-122"/>
                  </a:rPr>
                  <a:t>握手定理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）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】</a:t>
                </a:r>
                <a:r>
                  <a:rPr lang="zh-CN" altLang="en-US" b="1" dirty="0">
                    <a:effectLst/>
                    <a:cs typeface="楷体_GB2312" pitchFamily="49" charset="-122"/>
                  </a:rPr>
                  <a:t>图中结点度数的总和等于边数的二倍，即对于图</a:t>
                </a:r>
                <a:r>
                  <a:rPr lang="en-US" altLang="zh-CN" b="1" i="1" dirty="0">
                    <a:effectLst/>
                    <a:latin typeface="+mj-lt"/>
                    <a:cs typeface="楷体_GB2312" pitchFamily="49" charset="-122"/>
                  </a:rPr>
                  <a:t>G</a:t>
                </a:r>
                <a:r>
                  <a:rPr lang="en-US" altLang="zh-CN" b="1" dirty="0">
                    <a:effectLst/>
                    <a:cs typeface="楷体_GB2312" pitchFamily="49" charset="-122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effectLst/>
                            <a:latin typeface="Cambria Math" panose="02040503050406030204" pitchFamily="18" charset="0"/>
                            <a:cs typeface="楷体_GB2312" pitchFamily="49" charset="-122"/>
                          </a:rPr>
                        </m:ctrlPr>
                      </m:dPr>
                      <m:e>
                        <m:r>
                          <a:rPr lang="en-US" altLang="zh-CN" b="1">
                            <a:effectLst/>
                            <a:latin typeface="Cambria Math" panose="02040503050406030204" pitchFamily="18" charset="0"/>
                            <a:cs typeface="楷体_GB2312" pitchFamily="49" charset="-122"/>
                          </a:rPr>
                          <m:t>𝑽</m:t>
                        </m:r>
                        <m:r>
                          <a:rPr lang="en-US" altLang="zh-CN" b="1">
                            <a:effectLst/>
                            <a:latin typeface="Cambria Math" panose="02040503050406030204" pitchFamily="18" charset="0"/>
                            <a:cs typeface="楷体_GB2312" pitchFamily="49" charset="-122"/>
                          </a:rPr>
                          <m:t>,</m:t>
                        </m:r>
                        <m:r>
                          <a:rPr lang="en-US" altLang="zh-CN" b="1">
                            <a:effectLst/>
                            <a:latin typeface="Cambria Math" panose="02040503050406030204" pitchFamily="18" charset="0"/>
                            <a:cs typeface="楷体_GB2312" pitchFamily="49" charset="-122"/>
                          </a:rPr>
                          <m:t>𝑬</m:t>
                        </m:r>
                      </m:e>
                    </m:d>
                    <m:r>
                      <a:rPr lang="en-US" altLang="zh-CN" b="1">
                        <a:effectLst/>
                        <a:latin typeface="Cambria Math" panose="02040503050406030204" pitchFamily="18" charset="0"/>
                        <a:cs typeface="楷体_GB2312" pitchFamily="49" charset="-122"/>
                      </a:rPr>
                      <m:t> </m:t>
                    </m:r>
                  </m:oMath>
                </a14:m>
                <a:r>
                  <a:rPr lang="zh-CN" altLang="en-US" b="1" dirty="0">
                    <a:effectLst/>
                    <a:cs typeface="楷体_GB2312" pitchFamily="49" charset="-122"/>
                  </a:rPr>
                  <a:t>，有： </a:t>
                </a:r>
              </a:p>
            </p:txBody>
          </p:sp>
        </mc:Choice>
        <mc:Fallback xmlns="">
          <p:sp>
            <p:nvSpPr>
              <p:cNvPr id="121753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1859757"/>
                <a:ext cx="8353425" cy="2054225"/>
              </a:xfrm>
              <a:blipFill>
                <a:blip r:embed="rId2"/>
                <a:stretch>
                  <a:fillRect l="-1168" t="-5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475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2370DD-1FD0-479A-AEC6-4BE5F58A7346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217544" name="Rectangle 8"/>
          <p:cNvSpPr>
            <a:spLocks noChangeArrowheads="1"/>
          </p:cNvSpPr>
          <p:nvPr/>
        </p:nvSpPr>
        <p:spPr bwMode="auto">
          <a:xfrm>
            <a:off x="539552" y="4169570"/>
            <a:ext cx="8497887" cy="190141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itchFamily="2" charset="2"/>
              <a:buNone/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rPr>
              <a:t>       这个结果是图论的第一个定理，它是由</a:t>
            </a:r>
            <a:r>
              <a:rPr lang="zh-CN" altLang="en-US" sz="2400" b="1" dirty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rPr>
              <a:t>欧拉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rPr>
              <a:t>于</a:t>
            </a:r>
            <a:r>
              <a:rPr lang="en-US" altLang="zh-CN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rPr>
              <a:t>1736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rPr>
              <a:t>年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rPr>
              <a:t>最先给出的。欧拉曾对此定理给出了这样一个形象论断：</a:t>
            </a:r>
            <a:endParaRPr lang="en-US" altLang="zh-CN" sz="24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  <a:cs typeface="楷体_GB2312" pitchFamily="49" charset="-122"/>
            </a:endParaRPr>
          </a:p>
          <a:p>
            <a:pPr algn="just" eaLnBrk="1" hangingPunct="1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itchFamily="2" charset="2"/>
              <a:buNone/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rPr>
              <a:t>      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rPr>
              <a:t>如果许多人在见面时握了手，两只手握在一起，被握过手的总次数为偶数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rPr>
              <a:t>。故此称为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  <a:cs typeface="楷体_GB2312" pitchFamily="49" charset="-122"/>
              </a:rPr>
              <a:t>图论的基本定理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rPr>
              <a:t>或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  <a:cs typeface="楷体_GB2312" pitchFamily="49" charset="-122"/>
              </a:rPr>
              <a:t>握手定理</a:t>
            </a:r>
            <a:r>
              <a:rPr lang="zh-CN" altLang="en-US" sz="24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rPr>
              <a:t>。</a:t>
            </a:r>
          </a:p>
        </p:txBody>
      </p:sp>
      <p:sp>
        <p:nvSpPr>
          <p:cNvPr id="105478" name="Text Box 2"/>
          <p:cNvSpPr txBox="1">
            <a:spLocks noChangeArrowheads="1"/>
          </p:cNvSpPr>
          <p:nvPr/>
        </p:nvSpPr>
        <p:spPr bwMode="auto">
          <a:xfrm>
            <a:off x="1403350" y="620713"/>
            <a:ext cx="6408738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图论基本定理</a:t>
            </a:r>
          </a:p>
        </p:txBody>
      </p:sp>
      <p:pic>
        <p:nvPicPr>
          <p:cNvPr id="10547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35455F1A-F22A-4964-8C67-07F8DB4607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1880" y="2852936"/>
            <a:ext cx="2736304" cy="949616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63" name="Rectangle 3"/>
          <p:cNvSpPr>
            <a:spLocks noGrp="1" noChangeArrowheads="1"/>
          </p:cNvSpPr>
          <p:nvPr>
            <p:ph idx="1"/>
          </p:nvPr>
        </p:nvSpPr>
        <p:spPr>
          <a:xfrm>
            <a:off x="755576" y="2060847"/>
            <a:ext cx="7920880" cy="648072"/>
          </a:xfrm>
          <a:solidFill>
            <a:schemeClr val="accent5"/>
          </a:solidFill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/>
                <a:cs typeface="楷体_GB2312" pitchFamily="49" charset="-122"/>
              </a:rPr>
              <a:t>    【</a:t>
            </a:r>
            <a:r>
              <a:rPr lang="zh-CN" altLang="en-US" b="1" dirty="0">
                <a:solidFill>
                  <a:srgbClr val="FF0000"/>
                </a:solidFill>
                <a:effectLst/>
                <a:cs typeface="楷体_GB2312" pitchFamily="49" charset="-122"/>
              </a:rPr>
              <a:t>推论</a:t>
            </a:r>
            <a:r>
              <a:rPr lang="en-US" altLang="zh-CN" b="1" dirty="0">
                <a:solidFill>
                  <a:srgbClr val="FF0000"/>
                </a:solidFill>
                <a:effectLst/>
                <a:cs typeface="楷体_GB2312" pitchFamily="49" charset="-122"/>
              </a:rPr>
              <a:t>】</a:t>
            </a:r>
            <a:r>
              <a:rPr lang="zh-CN" altLang="en-US" b="1" dirty="0">
                <a:solidFill>
                  <a:srgbClr val="000000"/>
                </a:solidFill>
                <a:effectLst/>
                <a:cs typeface="楷体_GB2312" pitchFamily="49" charset="-122"/>
              </a:rPr>
              <a:t>图中</a:t>
            </a:r>
            <a:r>
              <a:rPr lang="zh-CN" altLang="en-US" b="1" dirty="0">
                <a:solidFill>
                  <a:srgbClr val="FF00FF"/>
                </a:solidFill>
                <a:effectLst/>
                <a:cs typeface="楷体_GB2312" pitchFamily="49" charset="-122"/>
              </a:rPr>
              <a:t>度数为奇数</a:t>
            </a:r>
            <a:r>
              <a:rPr lang="zh-CN" altLang="en-US" b="1" dirty="0">
                <a:solidFill>
                  <a:srgbClr val="000000"/>
                </a:solidFill>
                <a:effectLst/>
                <a:cs typeface="楷体_GB2312" pitchFamily="49" charset="-122"/>
              </a:rPr>
              <a:t>的结点</a:t>
            </a:r>
            <a:r>
              <a:rPr lang="zh-CN" altLang="en-US" b="1" dirty="0">
                <a:solidFill>
                  <a:srgbClr val="FF00FF"/>
                </a:solidFill>
                <a:effectLst/>
                <a:cs typeface="楷体_GB2312" pitchFamily="49" charset="-122"/>
              </a:rPr>
              <a:t>个数必为偶数</a:t>
            </a:r>
            <a:r>
              <a:rPr lang="zh-CN" altLang="en-US" b="1" dirty="0">
                <a:solidFill>
                  <a:srgbClr val="000000"/>
                </a:solidFill>
                <a:effectLst/>
                <a:cs typeface="楷体_GB2312" pitchFamily="49" charset="-122"/>
              </a:rPr>
              <a:t>。</a:t>
            </a:r>
          </a:p>
        </p:txBody>
      </p:sp>
      <p:sp>
        <p:nvSpPr>
          <p:cNvPr id="106499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1E3F86-16A1-434A-91FE-DAEE12D3FF77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06500" name="Rectangle 7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>
                    <a:alpha val="89803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en-US" sz="32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704922" y="3268488"/>
                <a:ext cx="7992243" cy="2629245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  <a:effectLst/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楷体_GB2312" pitchFamily="49" charset="-122"/>
                    <a:ea typeface="楷体_GB2312" pitchFamily="49" charset="-122"/>
                    <a:cs typeface="楷体_GB2312" pitchFamily="49" charset="-122"/>
                  </a:defRPr>
                </a:lvl1pPr>
                <a:lvl2pPr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2pPr>
                <a:lvl3pPr>
                  <a:defRPr kumimoj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3pPr>
                <a:lvl4pPr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4pPr>
                <a:lvl5pPr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5pPr>
                <a:lvl6pPr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6pPr>
                <a:lvl7pPr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7pPr>
                <a:lvl8pPr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8pPr>
                <a:lvl9pPr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  <a:cs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20000"/>
                  </a:spcBef>
                  <a:defRPr/>
                </a:pPr>
                <a:r>
                  <a:rPr lang="en-US" altLang="zh-CN" b="1" dirty="0">
                    <a:solidFill>
                      <a:srgbClr val="FF0000"/>
                    </a:solidFill>
                  </a:rPr>
                  <a:t>    【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定理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】</a:t>
                </a:r>
                <a:r>
                  <a:rPr lang="zh-CN" altLang="en-US" b="1" dirty="0"/>
                  <a:t>有向图中</a:t>
                </a:r>
                <a:r>
                  <a:rPr lang="zh-CN" altLang="en-US" b="1" dirty="0">
                    <a:solidFill>
                      <a:srgbClr val="FF00FF"/>
                    </a:solidFill>
                  </a:rPr>
                  <a:t>各结点的出度之和</a:t>
                </a:r>
                <a:r>
                  <a:rPr lang="zh-CN" altLang="en-US" b="1" dirty="0"/>
                  <a:t>等于</a:t>
                </a:r>
                <a:r>
                  <a:rPr lang="zh-CN" altLang="en-US" b="1" dirty="0">
                    <a:solidFill>
                      <a:srgbClr val="FF00FF"/>
                    </a:solidFill>
                  </a:rPr>
                  <a:t>各结点的入度之和</a:t>
                </a:r>
                <a:r>
                  <a:rPr lang="zh-CN" altLang="en-US" b="1" dirty="0"/>
                  <a:t>，且</a:t>
                </a:r>
                <a:r>
                  <a:rPr lang="zh-CN" altLang="en-US" b="1" dirty="0">
                    <a:solidFill>
                      <a:srgbClr val="FF00FF"/>
                    </a:solidFill>
                  </a:rPr>
                  <a:t>等于边数</a:t>
                </a:r>
                <a:r>
                  <a:rPr lang="zh-CN" altLang="en-US" b="1" dirty="0"/>
                  <a:t>，即设有向图</a:t>
                </a:r>
                <a:r>
                  <a:rPr lang="en-US" altLang="zh-CN" b="1" i="1" dirty="0">
                    <a:latin typeface="+mj-lt"/>
                  </a:rPr>
                  <a:t>G</a:t>
                </a:r>
                <a:r>
                  <a:rPr lang="en-US" altLang="zh-CN" b="1" dirty="0">
                    <a:latin typeface="+mj-lt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  <m:r>
                      <a:rPr lang="en-US" altLang="zh-CN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 dirty="0"/>
                  <a:t>，则有 ：</a:t>
                </a:r>
              </a:p>
            </p:txBody>
          </p:sp>
        </mc:Choice>
        <mc:Fallback xmlns="">
          <p:sp>
            <p:nvSpPr>
              <p:cNvPr id="14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4922" y="3268488"/>
                <a:ext cx="7992243" cy="2629245"/>
              </a:xfrm>
              <a:prstGeom prst="rect">
                <a:avLst/>
              </a:prstGeom>
              <a:blipFill>
                <a:blip r:embed="rId3"/>
                <a:stretch>
                  <a:fillRect l="-12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6503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4" name="Text Box 2"/>
          <p:cNvSpPr txBox="1">
            <a:spLocks noChangeArrowheads="1"/>
          </p:cNvSpPr>
          <p:nvPr/>
        </p:nvSpPr>
        <p:spPr bwMode="auto">
          <a:xfrm>
            <a:off x="1403350" y="620713"/>
            <a:ext cx="6408738" cy="823912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度与边的关系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2C18E0D-2BD9-444B-9350-A23F95153EAB}"/>
                  </a:ext>
                </a:extLst>
              </p:cNvPr>
              <p:cNvSpPr/>
              <p:nvPr/>
            </p:nvSpPr>
            <p:spPr>
              <a:xfrm>
                <a:off x="2046344" y="4509120"/>
                <a:ext cx="5122749" cy="11462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zh-CN" sz="2400" b="1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1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𝒋</m:t>
                          </m:r>
                          <m:r>
                            <a:rPr lang="en-US" altLang="zh-CN" sz="2400" b="1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400" b="1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400" b="1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CN" sz="2400" b="1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𝒅𝒆𝒈</m:t>
                              </m:r>
                            </m:e>
                            <m:sup>
                              <m:r>
                                <a:rPr lang="en-US" altLang="zh-CN" sz="2400" b="1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zh-CN" sz="2400" b="1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b="1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400" b="1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400" b="1" i="1" kern="1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2400" b="1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1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altLang="zh-CN" sz="2400" b="1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2400" b="1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400" b="1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𝒅𝒆𝒈</m:t>
                              </m:r>
                            </m:e>
                            <m:sup>
                              <m:r>
                                <a:rPr lang="en-US" altLang="zh-CN" sz="2400" b="1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zh-CN" sz="2400" b="1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400" b="1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400" b="1" i="1" kern="1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CN" sz="2400" b="1" i="1" kern="1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b="1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𝑬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52C18E0D-2BD9-444B-9350-A23F95153E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344" y="4509120"/>
                <a:ext cx="5122749" cy="11462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wipe dir="r"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367E4B6-7823-4C09-AED5-E5548DECA8A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97283" name="Text Box 2"/>
          <p:cNvSpPr txBox="1">
            <a:spLocks noChangeArrowheads="1"/>
          </p:cNvSpPr>
          <p:nvPr/>
        </p:nvSpPr>
        <p:spPr bwMode="auto">
          <a:xfrm>
            <a:off x="1404144" y="804842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题</a:t>
            </a:r>
          </a:p>
        </p:txBody>
      </p:sp>
      <p:pic>
        <p:nvPicPr>
          <p:cNvPr id="97284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文本框 22"/>
          <p:cNvSpPr txBox="1"/>
          <p:nvPr/>
        </p:nvSpPr>
        <p:spPr>
          <a:xfrm>
            <a:off x="611560" y="2102665"/>
            <a:ext cx="8208912" cy="3970318"/>
          </a:xfrm>
          <a:prstGeom prst="rect">
            <a:avLst/>
          </a:prstGeom>
          <a:solidFill>
            <a:schemeClr val="accent5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accent2"/>
                </a:solidFill>
              </a:rPr>
              <a:t>   </a:t>
            </a:r>
            <a:r>
              <a:rPr lang="zh-CN" altLang="zh-CN" sz="2400" b="1" dirty="0">
                <a:solidFill>
                  <a:schemeClr val="accent2"/>
                </a:solidFill>
              </a:rPr>
              <a:t>【例题】</a:t>
            </a:r>
            <a:r>
              <a:rPr lang="zh-CN" altLang="zh-CN" sz="2400" b="1" dirty="0">
                <a:solidFill>
                  <a:schemeClr val="tx1"/>
                </a:solidFill>
              </a:rPr>
              <a:t>有一个警察追小偷进了一个</a:t>
            </a:r>
            <a:r>
              <a:rPr lang="zh-CN" altLang="zh-CN" sz="2400" b="1" dirty="0">
                <a:solidFill>
                  <a:srgbClr val="FF00FF"/>
                </a:solidFill>
              </a:rPr>
              <a:t>有两个出入口</a:t>
            </a:r>
            <a:r>
              <a:rPr lang="zh-CN" altLang="zh-CN" sz="2400" b="1" dirty="0">
                <a:solidFill>
                  <a:schemeClr val="tx1"/>
                </a:solidFill>
              </a:rPr>
              <a:t>的空宅。已知该宅中</a:t>
            </a:r>
            <a:r>
              <a:rPr lang="zh-CN" altLang="zh-CN" sz="2400" b="1" dirty="0">
                <a:solidFill>
                  <a:srgbClr val="FF00FF"/>
                </a:solidFill>
              </a:rPr>
              <a:t>有奇数个相互连通的房间</a:t>
            </a:r>
            <a:r>
              <a:rPr lang="zh-CN" altLang="zh-CN" sz="2400" b="1" dirty="0">
                <a:solidFill>
                  <a:schemeClr val="tx1"/>
                </a:solidFill>
              </a:rPr>
              <a:t>，每个房间</a:t>
            </a:r>
            <a:r>
              <a:rPr lang="zh-CN" altLang="zh-CN" sz="2400" b="1" dirty="0">
                <a:solidFill>
                  <a:srgbClr val="FF00FF"/>
                </a:solidFill>
              </a:rPr>
              <a:t>有奇数个通往不同房间的门</a:t>
            </a:r>
            <a:r>
              <a:rPr lang="zh-CN" altLang="zh-CN" sz="2400" b="1" dirty="0">
                <a:solidFill>
                  <a:schemeClr val="tx1"/>
                </a:solidFill>
              </a:rPr>
              <a:t>。若把住出入口，小偷能否逃出空宅？</a:t>
            </a:r>
            <a:endParaRPr lang="zh-CN" altLang="zh-CN" sz="2400" b="1" dirty="0"/>
          </a:p>
          <a:p>
            <a:pPr algn="just">
              <a:lnSpc>
                <a:spcPct val="150000"/>
              </a:lnSpc>
            </a:pPr>
            <a:r>
              <a:rPr lang="en-US" altLang="zh-CN" sz="2400" dirty="0"/>
              <a:t>   </a:t>
            </a:r>
            <a:r>
              <a:rPr lang="zh-CN" altLang="zh-CN" sz="2400" b="1" dirty="0"/>
              <a:t>【解】</a:t>
            </a:r>
            <a:r>
              <a:rPr lang="zh-CN" altLang="zh-CN" sz="24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空宅内通道图中</a:t>
            </a:r>
            <a:r>
              <a:rPr lang="zh-CN" altLang="zh-CN" sz="2400" b="1" dirty="0">
                <a:solidFill>
                  <a:srgbClr val="FF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结点个数为奇数，每个结点的度数为奇数</a:t>
            </a:r>
            <a:r>
              <a:rPr lang="zh-CN" altLang="zh-CN" sz="24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，根据图的度结构性质。 这是不可能的，所以</a:t>
            </a:r>
            <a:r>
              <a:rPr lang="zh-CN" altLang="zh-CN" sz="2400" b="1" dirty="0">
                <a:solidFill>
                  <a:srgbClr val="FF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宅内一定还有一处通往外面的密门</a:t>
            </a:r>
            <a:r>
              <a:rPr lang="zh-CN" altLang="zh-CN" sz="24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，在出入口被堵的情况下，小偷有可能通过密门逃出空宅。</a:t>
            </a:r>
            <a:endParaRPr lang="en-US" altLang="zh-CN" sz="2400" b="1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0598053"/>
      </p:ext>
    </p:extLst>
  </p:cSld>
  <p:clrMapOvr>
    <a:masterClrMapping/>
  </p:clrMapOvr>
  <p:transition spd="med">
    <p:wipe dir="r"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20611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95536" y="1942034"/>
                <a:ext cx="8486775" cy="4223816"/>
              </a:xfrm>
              <a:solidFill>
                <a:schemeClr val="accent5"/>
              </a:solidFill>
              <a:ln w="19050">
                <a:noFill/>
              </a:ln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    </a:t>
                </a:r>
                <a:r>
                  <a:rPr lang="zh-CN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假设</a:t>
                </a:r>
                <a14:m>
                  <m:oMath xmlns:m="http://schemas.openxmlformats.org/officeDocument/2006/math">
                    <m:r>
                      <a:rPr lang="en-US" altLang="zh-CN" b="1" i="1">
                        <a:effectLst/>
                        <a:latin typeface="Cambria Math" panose="02040503050406030204" pitchFamily="18" charset="0"/>
                        <a:ea typeface="+mj-ea"/>
                      </a:rPr>
                      <m:t>𝑮</m:t>
                    </m:r>
                    <m:r>
                      <a:rPr lang="en-US" altLang="zh-CN" b="1" i="1">
                        <a:effectLst/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b="1" i="1"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b="1" i="1"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  <m:t>𝑽</m:t>
                        </m:r>
                        <m:r>
                          <a:rPr lang="en-US" altLang="zh-CN" b="1" i="1"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  <m:t>,</m:t>
                        </m:r>
                        <m:r>
                          <a:rPr lang="en-US" altLang="zh-CN" b="1" i="1"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是任意给定的一个有向图或无向图，图中每个结点的图构成的自然数序列称为</a:t>
                </a:r>
                <a14:m>
                  <m:oMath xmlns:m="http://schemas.openxmlformats.org/officeDocument/2006/math">
                    <m:r>
                      <a:rPr lang="en-US" altLang="zh-CN" b="1" i="1">
                        <a:effectLst/>
                        <a:latin typeface="Cambria Math" panose="02040503050406030204" pitchFamily="18" charset="0"/>
                        <a:ea typeface="+mj-ea"/>
                      </a:rPr>
                      <m:t>𝑮</m:t>
                    </m:r>
                  </m:oMath>
                </a14:m>
                <a:r>
                  <a:rPr lang="zh-CN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的</a:t>
                </a:r>
                <a:r>
                  <a:rPr lang="zh-CN" altLang="zh-CN" b="1" dirty="0">
                    <a:solidFill>
                      <a:srgbClr val="FF0000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度序列</a:t>
                </a:r>
                <a:r>
                  <a:rPr lang="zh-CN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。也就是说，若</a:t>
                </a:r>
                <a14:m>
                  <m:oMath xmlns:m="http://schemas.openxmlformats.org/officeDocument/2006/math">
                    <m:r>
                      <a:rPr lang="zh-CN" altLang="zh-CN" b="1" i="1">
                        <a:effectLst/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r>
                      <a:rPr lang="en-US" altLang="zh-CN" b="1" i="1">
                        <a:effectLst/>
                        <a:latin typeface="Cambria Math" panose="02040503050406030204" pitchFamily="18" charset="0"/>
                        <a:ea typeface="+mj-ea"/>
                      </a:rPr>
                      <m:t>𝑽</m:t>
                    </m:r>
                    <m:r>
                      <a:rPr lang="en-US" altLang="zh-CN" b="1">
                        <a:effectLst/>
                        <a:latin typeface="Cambria Math" panose="02040503050406030204" pitchFamily="18" charset="0"/>
                        <a:ea typeface="+mj-ea"/>
                      </a:rPr>
                      <m:t>={</m:t>
                    </m:r>
                    <m:sSub>
                      <m:sSubPr>
                        <m:ctrlPr>
                          <a:rPr lang="zh-CN" altLang="zh-CN" b="1" i="1"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b="1" i="1"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  <m:t>𝟏</m:t>
                        </m:r>
                      </m:sub>
                    </m:sSub>
                    <m:r>
                      <a:rPr lang="en-US" altLang="zh-CN" b="1">
                        <a:effectLst/>
                        <a:latin typeface="Cambria Math" panose="02040503050406030204" pitchFamily="18" charset="0"/>
                        <a:ea typeface="+mj-ea"/>
                      </a:rPr>
                      <m:t>,</m:t>
                    </m:r>
                    <m:sSub>
                      <m:sSubPr>
                        <m:ctrlPr>
                          <a:rPr lang="zh-CN" altLang="zh-CN" b="1" i="1"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b="1" i="1"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  <m:t>𝟐</m:t>
                        </m:r>
                      </m:sub>
                    </m:sSub>
                    <m:r>
                      <a:rPr lang="en-US" altLang="zh-CN" b="1">
                        <a:effectLst/>
                        <a:latin typeface="Cambria Math" panose="02040503050406030204" pitchFamily="18" charset="0"/>
                        <a:ea typeface="+mj-ea"/>
                      </a:rPr>
                      <m:t>,…,</m:t>
                    </m:r>
                    <m:sSub>
                      <m:sSubPr>
                        <m:ctrlPr>
                          <a:rPr lang="zh-CN" altLang="zh-CN" b="1" i="1"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b="1" i="1"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  <m:t>𝒗</m:t>
                        </m:r>
                      </m:e>
                      <m:sub>
                        <m:r>
                          <a:rPr lang="en-US" altLang="zh-CN" b="1" i="1"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  <m:t>𝒏</m:t>
                        </m:r>
                      </m:sub>
                    </m:sSub>
                    <m:r>
                      <a:rPr lang="en-US" altLang="zh-CN" b="1">
                        <a:effectLst/>
                        <a:latin typeface="Cambria Math" panose="02040503050406030204" pitchFamily="18" charset="0"/>
                        <a:ea typeface="+mj-ea"/>
                      </a:rPr>
                      <m:t>}</m:t>
                    </m:r>
                  </m:oMath>
                </a14:m>
                <a:r>
                  <a:rPr lang="zh-CN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，称序列：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i="1" smtClean="0">
                              <a:solidFill>
                                <a:srgbClr val="FF00FF"/>
                              </a:solidFill>
                              <a:effectLst/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uncPr>
                        <m:fName>
                          <m:r>
                            <m:rPr>
                              <m:nor/>
                            </m:rPr>
                            <a:rPr lang="en-US" altLang="zh-CN">
                              <a:solidFill>
                                <a:srgbClr val="FF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altLang="zh-CN">
                              <a:solidFill>
                                <a:srgbClr val="FF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m:t>deg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i="1">
                                  <a:solidFill>
                                    <a:srgbClr val="FF00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solidFill>
                                        <a:srgbClr val="FF00FF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FF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>
                                      <a:solidFill>
                                        <a:srgbClr val="FF00FF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>
                          <a:solidFill>
                            <a:srgbClr val="FF00FF"/>
                          </a:solidFill>
                          <a:effectLst/>
                          <a:latin typeface="Cambria Math" panose="02040503050406030204" pitchFamily="18" charset="0"/>
                          <a:ea typeface="+mj-ea"/>
                        </a:rPr>
                        <m:t>,</m:t>
                      </m:r>
                      <m:func>
                        <m:funcPr>
                          <m:ctrlPr>
                            <a:rPr lang="zh-CN" altLang="zh-CN" i="1">
                              <a:solidFill>
                                <a:srgbClr val="FF00FF"/>
                              </a:solidFill>
                              <a:effectLst/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uncPr>
                        <m:fName>
                          <m:r>
                            <m:rPr>
                              <m:nor/>
                            </m:rPr>
                            <a:rPr lang="en-US" altLang="zh-CN">
                              <a:solidFill>
                                <a:srgbClr val="FF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m:t>deg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i="1">
                                  <a:solidFill>
                                    <a:srgbClr val="FF00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solidFill>
                                        <a:srgbClr val="FF00FF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FF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>
                                      <a:solidFill>
                                        <a:srgbClr val="FF00FF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>
                          <a:solidFill>
                            <a:srgbClr val="FF00FF"/>
                          </a:solidFill>
                          <a:effectLst/>
                          <a:latin typeface="Cambria Math" panose="02040503050406030204" pitchFamily="18" charset="0"/>
                          <a:ea typeface="+mj-ea"/>
                        </a:rPr>
                        <m:t>,⋯,</m:t>
                      </m:r>
                      <m:func>
                        <m:funcPr>
                          <m:ctrlPr>
                            <a:rPr lang="zh-CN" altLang="zh-CN" i="1">
                              <a:solidFill>
                                <a:srgbClr val="FF00FF"/>
                              </a:solidFill>
                              <a:effectLst/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uncPr>
                        <m:fName>
                          <m:r>
                            <m:rPr>
                              <m:nor/>
                            </m:rPr>
                            <a:rPr lang="en-US" altLang="zh-CN">
                              <a:solidFill>
                                <a:srgbClr val="FF00FF"/>
                              </a:solidFill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m:t>deg</m:t>
                          </m:r>
                        </m:fName>
                        <m:e>
                          <m:d>
                            <m:dPr>
                              <m:ctrlPr>
                                <a:rPr lang="zh-CN" altLang="zh-CN" i="1">
                                  <a:solidFill>
                                    <a:srgbClr val="FF00FF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solidFill>
                                        <a:srgbClr val="FF00FF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FF00FF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FF00FF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zh-CN" i="1">
                          <a:solidFill>
                            <a:srgbClr val="FF00FF"/>
                          </a:solidFill>
                          <a:effectLst/>
                          <a:latin typeface="Cambria Math" panose="02040503050406030204" pitchFamily="18" charset="0"/>
                          <a:ea typeface="+mj-ea"/>
                        </a:rPr>
                        <m:t>)</m:t>
                      </m:r>
                    </m:oMath>
                  </m:oMathPara>
                </a14:m>
                <a:endParaRPr lang="zh-CN" altLang="zh-CN" dirty="0">
                  <a:solidFill>
                    <a:srgbClr val="FF00FF"/>
                  </a:solidFill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lnSpc>
                    <a:spcPct val="150000"/>
                  </a:lnSpc>
                  <a:spcAft>
                    <a:spcPts val="1200"/>
                  </a:spcAft>
                  <a:buNone/>
                </a:pPr>
                <a:r>
                  <a:rPr lang="zh-CN" altLang="zh-CN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为图</a:t>
                </a:r>
                <a14:m>
                  <m:oMath xmlns:m="http://schemas.openxmlformats.org/officeDocument/2006/math">
                    <m:r>
                      <a:rPr lang="zh-CN" altLang="zh-CN">
                        <a:effectLst/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r>
                      <a:rPr lang="en-US" altLang="zh-CN" i="1">
                        <a:effectLst/>
                        <a:latin typeface="Cambria Math" panose="02040503050406030204" pitchFamily="18" charset="0"/>
                        <a:ea typeface="+mj-ea"/>
                      </a:rPr>
                      <m:t>𝐺</m:t>
                    </m:r>
                    <m:r>
                      <a:rPr lang="en-US" altLang="zh-CN">
                        <a:effectLst/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</m:oMath>
                </a14:m>
                <a:r>
                  <a:rPr lang="zh-CN" altLang="zh-CN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的</a:t>
                </a:r>
                <a:r>
                  <a:rPr lang="zh-CN" altLang="zh-CN" b="1" dirty="0">
                    <a:solidFill>
                      <a:schemeClr val="accent6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度数序列</a:t>
                </a:r>
                <a:r>
                  <a:rPr lang="zh-CN" altLang="zh-CN" b="1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，</a:t>
                </a:r>
                <a:r>
                  <a:rPr lang="zh-CN" altLang="zh-CN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简称为</a:t>
                </a:r>
                <a:r>
                  <a:rPr lang="zh-CN" altLang="zh-CN" b="1" dirty="0">
                    <a:solidFill>
                      <a:schemeClr val="accent6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度序列</a:t>
                </a:r>
                <a:r>
                  <a:rPr lang="zh-CN" altLang="zh-CN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。 </a:t>
                </a:r>
                <a:endParaRPr lang="en-US" altLang="zh-CN" dirty="0">
                  <a:effectLst/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    </a:t>
                </a:r>
                <a:r>
                  <a:rPr lang="zh-CN" altLang="zh-CN" dirty="0"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此外，对于任意一个给定的自然数序列，如果该序列能够成为某个图的度序列，则称该序列为</a:t>
                </a:r>
                <a:r>
                  <a:rPr lang="zh-CN" altLang="zh-CN" b="1" dirty="0">
                    <a:solidFill>
                      <a:schemeClr val="accent6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可图化序列</a:t>
                </a:r>
                <a:r>
                  <a:rPr lang="zh-CN" altLang="en-US" b="1" dirty="0">
                    <a:solidFill>
                      <a:schemeClr val="accent6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。</a:t>
                </a:r>
                <a:r>
                  <a:rPr lang="zh-CN" altLang="zh-CN" dirty="0">
                    <a:solidFill>
                      <a:schemeClr val="accent6"/>
                    </a:solidFill>
                    <a:effectLst/>
                    <a:latin typeface="黑体" panose="02010609060101010101" pitchFamily="49" charset="-122"/>
                    <a:ea typeface="黑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2206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1942034"/>
                <a:ext cx="8486775" cy="4223816"/>
              </a:xfrm>
              <a:blipFill>
                <a:blip r:embed="rId2"/>
                <a:stretch>
                  <a:fillRect l="-1149" r="-216" b="-159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523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2087AD-3B47-496A-B239-26F3D605A50C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07524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64087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度数序列</a:t>
            </a:r>
          </a:p>
        </p:txBody>
      </p:sp>
      <p:pic>
        <p:nvPicPr>
          <p:cNvPr id="10752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92087AD-3B47-496A-B239-26F3D605A50C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07524" name="Text Box 2"/>
          <p:cNvSpPr txBox="1">
            <a:spLocks noChangeArrowheads="1"/>
          </p:cNvSpPr>
          <p:nvPr/>
        </p:nvSpPr>
        <p:spPr bwMode="auto">
          <a:xfrm>
            <a:off x="1403350" y="692150"/>
            <a:ext cx="64087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度数序列</a:t>
            </a:r>
          </a:p>
        </p:txBody>
      </p:sp>
      <p:pic>
        <p:nvPicPr>
          <p:cNvPr id="10752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84F3D74-FDBF-47E6-B885-6EDAE79C0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696" y="1795846"/>
            <a:ext cx="2376264" cy="186506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2AA303A-F21B-46E0-8AA4-CCCC5C40AB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350" y="3850210"/>
            <a:ext cx="6715355" cy="231564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200A1A4-C00B-44DD-95B9-4659A8C373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1027" y="1817271"/>
            <a:ext cx="2520280" cy="182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635350"/>
      </p:ext>
    </p:extLst>
  </p:cSld>
  <p:clrMapOvr>
    <a:masterClrMapping/>
  </p:clrMapOvr>
  <p:transition spd="med">
    <p:wipe dir="r"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3A39C7-EA33-4B72-BACF-83F41B4DBE29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235973" name="Rectangle 5"/>
          <p:cNvSpPr>
            <a:spLocks noChangeArrowheads="1"/>
          </p:cNvSpPr>
          <p:nvPr/>
        </p:nvSpPr>
        <p:spPr bwMode="auto">
          <a:xfrm>
            <a:off x="323528" y="3613068"/>
            <a:ext cx="8640960" cy="265162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just" eaLnBrk="1" hangingPunct="1">
              <a:lnSpc>
                <a:spcPts val="3200"/>
              </a:lnSpc>
              <a:spcBef>
                <a:spcPct val="20000"/>
              </a:spcBef>
              <a:buClr>
                <a:srgbClr val="FF3300"/>
              </a:buClr>
              <a:buFont typeface="Wingdings" pitchFamily="2" charset="2"/>
              <a:buNone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解：（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）这两个序列中度数奇数的结点个数均为奇数，因此，它们都不能成为图的度数序列。</a:t>
            </a:r>
          </a:p>
          <a:p>
            <a:pPr algn="just" eaLnBrk="1" hangingPunct="1">
              <a:lnSpc>
                <a:spcPts val="3200"/>
              </a:lnSpc>
              <a:spcBef>
                <a:spcPct val="20000"/>
              </a:spcBef>
              <a:buClr>
                <a:srgbClr val="FF3300"/>
              </a:buClr>
              <a:buFont typeface="Wingdings" pitchFamily="2" charset="2"/>
              <a:buNone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  （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）图中边数为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15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，故总度数为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30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。由于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个度数为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4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的结点，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4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个度数为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的结点</a:t>
            </a:r>
            <a:r>
              <a:rPr lang="zh-CN" altLang="en-US" sz="2400" b="1" dirty="0">
                <a:solidFill>
                  <a:srgbClr val="FFFF66"/>
                </a:solidFill>
                <a:latin typeface="+mj-ea"/>
                <a:ea typeface="+mj-ea"/>
                <a:cs typeface="楷体_GB2312" pitchFamily="49" charset="-122"/>
              </a:rPr>
              <a:t>占去</a:t>
            </a:r>
            <a:r>
              <a:rPr lang="en-US" altLang="zh-CN" sz="2400" b="1" dirty="0">
                <a:solidFill>
                  <a:srgbClr val="FFFF66"/>
                </a:solidFill>
                <a:latin typeface="+mj-ea"/>
                <a:ea typeface="+mj-ea"/>
                <a:cs typeface="楷体_GB2312" pitchFamily="49" charset="-122"/>
              </a:rPr>
              <a:t>20</a:t>
            </a:r>
            <a:r>
              <a:rPr lang="zh-CN" altLang="en-US" sz="2400" b="1" dirty="0">
                <a:solidFill>
                  <a:srgbClr val="FFFF66"/>
                </a:solidFill>
                <a:latin typeface="+mj-ea"/>
                <a:ea typeface="+mj-ea"/>
                <a:cs typeface="楷体_GB2312" pitchFamily="49" charset="-122"/>
              </a:rPr>
              <a:t>度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，故还剩下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10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度。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cs typeface="楷体_GB2312" pitchFamily="49" charset="-122"/>
            </a:endParaRPr>
          </a:p>
          <a:p>
            <a:pPr algn="just" eaLnBrk="1" hangingPunct="1">
              <a:lnSpc>
                <a:spcPts val="3200"/>
              </a:lnSpc>
              <a:spcBef>
                <a:spcPct val="20000"/>
              </a:spcBef>
              <a:buClr>
                <a:srgbClr val="FF3300"/>
              </a:buClr>
              <a:buFont typeface="Wingdings" pitchFamily="2" charset="2"/>
              <a:buNone/>
              <a:defRPr/>
            </a:pP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   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若其余结点的度数均为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2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的，则需要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5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个结点来占用这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10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度，因此图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G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至少有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11</a:t>
            </a:r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楷体_GB2312" pitchFamily="49" charset="-122"/>
              </a:rPr>
              <a:t>个结点。 </a:t>
            </a:r>
          </a:p>
        </p:txBody>
      </p:sp>
      <p:sp>
        <p:nvSpPr>
          <p:cNvPr id="108548" name="Text Box 2"/>
          <p:cNvSpPr txBox="1">
            <a:spLocks noChangeArrowheads="1"/>
          </p:cNvSpPr>
          <p:nvPr/>
        </p:nvSpPr>
        <p:spPr bwMode="auto">
          <a:xfrm>
            <a:off x="1403648" y="593309"/>
            <a:ext cx="64087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0854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50" name="Picture 9" descr="QQ截图2015091916250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46651"/>
            <a:ext cx="6984578" cy="1849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3A39C7-EA33-4B72-BACF-83F41B4DBE29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08548" name="Text Box 2"/>
          <p:cNvSpPr txBox="1">
            <a:spLocks noChangeArrowheads="1"/>
          </p:cNvSpPr>
          <p:nvPr/>
        </p:nvSpPr>
        <p:spPr bwMode="auto">
          <a:xfrm>
            <a:off x="1403648" y="593309"/>
            <a:ext cx="64087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0854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62A79BA-5B8D-446B-8F2A-336D8DFA5543}"/>
                  </a:ext>
                </a:extLst>
              </p:cNvPr>
              <p:cNvSpPr/>
              <p:nvPr/>
            </p:nvSpPr>
            <p:spPr>
              <a:xfrm>
                <a:off x="899592" y="1991182"/>
                <a:ext cx="7704856" cy="390709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indent="200025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【例题】已知有向图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的度数序列和入度序列分别为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𝟒</m:t>
                        </m:r>
                        <m:r>
                          <a:rPr lang="en-US" altLang="zh-CN" sz="2400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𝟓</m:t>
                        </m:r>
                        <m:r>
                          <a:rPr lang="en-US" altLang="zh-CN" sz="2400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  <m:r>
                          <a:rPr lang="en-US" altLang="zh-CN" sz="2400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altLang="zh-CN" sz="2400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altLang="zh-CN" sz="2400" b="1" i="0" kern="1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altLang="zh-CN" sz="2400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altLang="zh-CN" sz="2400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altLang="zh-CN" sz="2400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altLang="zh-CN" sz="2400" b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，求有向图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的出度序列。</a:t>
                </a:r>
              </a:p>
              <a:p>
                <a:pPr indent="200025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【</a:t>
                </a:r>
                <a:r>
                  <a:rPr lang="zh-CN" altLang="en-US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解</a:t>
                </a:r>
                <a:r>
                  <a:rPr lang="en-US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】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对于有向图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的任意结点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𝒗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，显然有：</a:t>
                </a:r>
              </a:p>
              <a:p>
                <a:pPr indent="200025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400" b="1" kern="10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deg</m:t>
                      </m:r>
                      <m:r>
                        <a:rPr lang="en-US" altLang="zh-CN" sz="2400" b="1" i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⁡(</m:t>
                      </m:r>
                      <m:r>
                        <a:rPr lang="en-US" altLang="zh-CN" sz="2400" b="1" i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𝒗</m:t>
                      </m:r>
                      <m:r>
                        <a:rPr lang="en-US" altLang="zh-CN" sz="2400" b="1" i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func>
                        <m:funcPr>
                          <m:ctrlPr>
                            <a:rPr lang="zh-CN" altLang="zh-CN" sz="2400" b="1" i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deg</m:t>
                              </m:r>
                            </m:e>
                            <m:sup>
                              <m:r>
                                <a:rPr lang="en-US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zh-CN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𝒗</m:t>
                              </m:r>
                            </m:e>
                          </m:d>
                        </m:e>
                      </m:func>
                      <m:r>
                        <a:rPr lang="en-US" altLang="zh-CN" sz="2400" b="1" i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func>
                        <m:funcPr>
                          <m:ctrlPr>
                            <a:rPr lang="zh-CN" altLang="zh-CN" sz="2400" b="1" i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deg</m:t>
                              </m:r>
                            </m:e>
                            <m:sup>
                              <m:r>
                                <a:rPr lang="en-US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zh-CN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𝒗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zh-CN" sz="2400" b="1" kern="100" dirty="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sz="2400" b="1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故有</a:t>
                </a:r>
                <a:r>
                  <a:rPr lang="zh-CN" altLang="en-US" sz="2400" b="1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sz="2400" b="1" i="1" kern="1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sz="2400" b="1" i="1" kern="10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deg</m:t>
                              </m:r>
                            </m:e>
                            <m:sup>
                              <m:r>
                                <a:rPr lang="en-US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zh-CN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𝒗</m:t>
                              </m:r>
                            </m:e>
                          </m:d>
                        </m:e>
                      </m:func>
                      <m:r>
                        <a:rPr lang="en-US" altLang="zh-CN" sz="2400" b="1" i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400" b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deg</m:t>
                      </m:r>
                      <m:r>
                        <a:rPr lang="en-US" altLang="zh-CN" sz="2400" b="1" i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⁡(</m:t>
                      </m:r>
                      <m:r>
                        <a:rPr lang="en-US" altLang="zh-CN" sz="2400" b="1" i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𝒗</m:t>
                      </m:r>
                      <m:r>
                        <a:rPr lang="en-US" altLang="zh-CN" sz="2400" b="1" i="1" kern="10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)−</m:t>
                      </m:r>
                      <m:func>
                        <m:funcPr>
                          <m:ctrlPr>
                            <a:rPr lang="zh-CN" altLang="zh-CN" sz="2400" b="1" i="1" kern="1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deg</m:t>
                              </m:r>
                            </m:e>
                            <m:sup>
                              <m:r>
                                <a:rPr lang="en-US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zh-CN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kern="10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𝒗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CN" sz="2400" b="1" kern="100" dirty="0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en-US" altLang="zh-CN" sz="2400" b="1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因此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，图</a:t>
                </a:r>
                <a14:m>
                  <m:oMath xmlns:m="http://schemas.openxmlformats.org/officeDocument/2006/math">
                    <m:r>
                      <a:rPr lang="zh-CN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𝑮</m:t>
                    </m:r>
                    <m:r>
                      <a:rPr lang="en-US" altLang="zh-CN" sz="2400" b="1" kern="1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zh-CN" sz="2400" b="1" kern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出度序列为</a:t>
                </a:r>
                <a14:m>
                  <m:oMath xmlns:m="http://schemas.openxmlformats.org/officeDocument/2006/math">
                    <m:r>
                      <a:rPr lang="zh-CN" altLang="zh-CN" sz="2400" b="1" ker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zh-CN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𝟑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1" i="1" kern="1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zh-CN" altLang="zh-CN" sz="2400" b="1" kern="1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2400" b="1" kern="100" dirty="0">
                    <a:solidFill>
                      <a:schemeClr val="bg1"/>
                    </a:solidFill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62A79BA-5B8D-446B-8F2A-336D8DFA55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1991182"/>
                <a:ext cx="7704856" cy="3907095"/>
              </a:xfrm>
              <a:prstGeom prst="rect">
                <a:avLst/>
              </a:prstGeom>
              <a:blipFill>
                <a:blip r:embed="rId4"/>
                <a:stretch>
                  <a:fillRect l="-1267" r="-79" b="-20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7959604"/>
      </p:ext>
    </p:extLst>
  </p:cSld>
  <p:clrMapOvr>
    <a:masterClrMapping/>
  </p:clrMapOvr>
  <p:transition spd="med">
    <p:wipe dir="r"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367E4B6-7823-4C09-AED5-E5548DECA8A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97283" name="Text Box 2"/>
          <p:cNvSpPr txBox="1">
            <a:spLocks noChangeArrowheads="1"/>
          </p:cNvSpPr>
          <p:nvPr/>
        </p:nvSpPr>
        <p:spPr bwMode="auto">
          <a:xfrm>
            <a:off x="1404938" y="714375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题</a:t>
            </a:r>
          </a:p>
        </p:txBody>
      </p:sp>
      <p:pic>
        <p:nvPicPr>
          <p:cNvPr id="97284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682408" y="1916832"/>
                <a:ext cx="8161547" cy="1129476"/>
              </a:xfrm>
              <a:prstGeom prst="rect">
                <a:avLst/>
              </a:prstGeom>
              <a:solidFill>
                <a:schemeClr val="accent5"/>
              </a:solidFill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accent2"/>
                    </a:solidFill>
                  </a:rPr>
                  <a:t>  </a:t>
                </a:r>
                <a:r>
                  <a:rPr lang="zh-CN" altLang="zh-CN" sz="2400" b="1" dirty="0">
                    <a:solidFill>
                      <a:schemeClr val="accent2"/>
                    </a:solidFill>
                  </a:rPr>
                  <a:t>【例题】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为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9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阶无向图，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的每个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结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点的度数不是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5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就是</a:t>
                </a:r>
                <a:r>
                  <a:rPr lang="en-US" altLang="zh-CN" sz="2400" b="1" dirty="0">
                    <a:solidFill>
                      <a:schemeClr val="tx1"/>
                    </a:solidFill>
                  </a:rPr>
                  <a:t>6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。证明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中</a:t>
                </a:r>
                <a:r>
                  <a:rPr lang="zh-CN" altLang="zh-CN" sz="2400" b="1" dirty="0">
                    <a:solidFill>
                      <a:srgbClr val="0000FF"/>
                    </a:solidFill>
                  </a:rPr>
                  <a:t>至少有</a:t>
                </a:r>
                <a:r>
                  <a:rPr lang="en-US" altLang="zh-CN" sz="2400" b="1" dirty="0">
                    <a:solidFill>
                      <a:srgbClr val="0000FF"/>
                    </a:solidFill>
                  </a:rPr>
                  <a:t>5</a:t>
                </a:r>
                <a:r>
                  <a:rPr lang="zh-CN" altLang="zh-CN" sz="2400" b="1" dirty="0">
                    <a:solidFill>
                      <a:srgbClr val="0000FF"/>
                    </a:solidFill>
                  </a:rPr>
                  <a:t>个</a:t>
                </a:r>
                <a:r>
                  <a:rPr lang="en-US" altLang="zh-CN" sz="2400" b="1" dirty="0">
                    <a:solidFill>
                      <a:srgbClr val="0000FF"/>
                    </a:solidFill>
                  </a:rPr>
                  <a:t>6</a:t>
                </a:r>
                <a:r>
                  <a:rPr lang="zh-CN" altLang="zh-CN" sz="2400" b="1" dirty="0">
                    <a:solidFill>
                      <a:srgbClr val="0000FF"/>
                    </a:solidFill>
                  </a:rPr>
                  <a:t>度</a:t>
                </a:r>
                <a:r>
                  <a:rPr lang="zh-CN" altLang="en-US" sz="2400" b="1" dirty="0">
                    <a:solidFill>
                      <a:srgbClr val="0000FF"/>
                    </a:solidFill>
                  </a:rPr>
                  <a:t>结</a:t>
                </a:r>
                <a:r>
                  <a:rPr lang="zh-CN" altLang="zh-CN" sz="2400" b="1" dirty="0">
                    <a:solidFill>
                      <a:srgbClr val="0000FF"/>
                    </a:solidFill>
                  </a:rPr>
                  <a:t>点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或</a:t>
                </a:r>
                <a:r>
                  <a:rPr lang="zh-CN" altLang="zh-CN" sz="2400" b="1" dirty="0">
                    <a:solidFill>
                      <a:srgbClr val="0000FF"/>
                    </a:solidFill>
                  </a:rPr>
                  <a:t>至少有</a:t>
                </a:r>
                <a:r>
                  <a:rPr lang="en-US" altLang="zh-CN" sz="2400" b="1" dirty="0">
                    <a:solidFill>
                      <a:srgbClr val="0000FF"/>
                    </a:solidFill>
                  </a:rPr>
                  <a:t>6</a:t>
                </a:r>
                <a:r>
                  <a:rPr lang="zh-CN" altLang="zh-CN" sz="2400" b="1" dirty="0">
                    <a:solidFill>
                      <a:srgbClr val="0000FF"/>
                    </a:solidFill>
                  </a:rPr>
                  <a:t>个</a:t>
                </a:r>
                <a:r>
                  <a:rPr lang="en-US" altLang="zh-CN" sz="2400" b="1" dirty="0">
                    <a:solidFill>
                      <a:srgbClr val="0000FF"/>
                    </a:solidFill>
                  </a:rPr>
                  <a:t>5</a:t>
                </a:r>
                <a:r>
                  <a:rPr lang="zh-CN" altLang="zh-CN" sz="2400" b="1" dirty="0">
                    <a:solidFill>
                      <a:srgbClr val="0000FF"/>
                    </a:solidFill>
                  </a:rPr>
                  <a:t>度</a:t>
                </a:r>
                <a:r>
                  <a:rPr lang="zh-CN" altLang="en-US" sz="2400" b="1" dirty="0">
                    <a:solidFill>
                      <a:srgbClr val="0000FF"/>
                    </a:solidFill>
                  </a:rPr>
                  <a:t>结</a:t>
                </a:r>
                <a:r>
                  <a:rPr lang="zh-CN" altLang="zh-CN" sz="2400" b="1" dirty="0">
                    <a:solidFill>
                      <a:srgbClr val="0000FF"/>
                    </a:solidFill>
                  </a:rPr>
                  <a:t>点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。</a:t>
                </a:r>
                <a:endParaRPr lang="en-US" altLang="zh-CN" sz="2400" b="1" dirty="0">
                  <a:solidFill>
                    <a:srgbClr val="800080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08" y="1916832"/>
                <a:ext cx="8161547" cy="1129476"/>
              </a:xfrm>
              <a:prstGeom prst="rect">
                <a:avLst/>
              </a:prstGeom>
              <a:blipFill>
                <a:blip r:embed="rId4"/>
                <a:stretch>
                  <a:fillRect l="-1195" b="-96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07573" y="3281158"/>
                <a:ext cx="8136382" cy="2794996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   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【证明】用反证法。</a:t>
                </a:r>
                <a:endParaRPr lang="en-US" altLang="zh-CN" sz="24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     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假设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中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至多有</a:t>
                </a:r>
                <a:r>
                  <a:rPr lang="en-US" altLang="zh-CN" sz="2400" b="1" dirty="0">
                    <a:solidFill>
                      <a:srgbClr val="FFFF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4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个</a:t>
                </a:r>
                <a:r>
                  <a:rPr lang="en-US" altLang="zh-CN" sz="2400" b="1" dirty="0">
                    <a:solidFill>
                      <a:srgbClr val="FFFF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6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度</a:t>
                </a:r>
                <a:r>
                  <a:rPr lang="zh-CN" altLang="en-US" sz="2400" b="1" dirty="0">
                    <a:solidFill>
                      <a:srgbClr val="FFFF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结</a:t>
                </a:r>
                <a:r>
                  <a:rPr lang="zh-CN" altLang="zh-CN" sz="2400" b="1" dirty="0">
                    <a:solidFill>
                      <a:srgbClr val="FFFF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点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，并且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至多有</a:t>
                </a:r>
                <a:r>
                  <a:rPr lang="en-US" altLang="zh-CN" sz="2400" b="1" dirty="0">
                    <a:solidFill>
                      <a:srgbClr val="FFFF66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5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个</a:t>
                </a:r>
                <a:r>
                  <a:rPr lang="en-US" altLang="zh-CN" sz="2400" b="1" dirty="0">
                    <a:solidFill>
                      <a:srgbClr val="FFFF66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5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度</a:t>
                </a:r>
                <a:r>
                  <a:rPr lang="zh-CN" altLang="en-US" sz="2400" b="1" dirty="0">
                    <a:solidFill>
                      <a:srgbClr val="FFFF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结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点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，由握手定理的推论可知，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至多有</a:t>
                </a:r>
                <a:r>
                  <a:rPr lang="en-US" altLang="zh-CN" sz="2400" b="1" dirty="0">
                    <a:solidFill>
                      <a:srgbClr val="FFFF66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4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个</a:t>
                </a:r>
                <a:r>
                  <a:rPr lang="en-US" altLang="zh-CN" sz="2400" b="1" dirty="0">
                    <a:solidFill>
                      <a:srgbClr val="FFFF66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5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度</a:t>
                </a:r>
                <a:r>
                  <a:rPr lang="zh-CN" altLang="en-US" sz="2400" b="1" dirty="0">
                    <a:solidFill>
                      <a:srgbClr val="FFFF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结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点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，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中至多只有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8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个</a:t>
                </a:r>
                <a:r>
                  <a:rPr lang="zh-CN" altLang="en-US" sz="2400" b="1" dirty="0">
                    <a:solidFill>
                      <a:srgbClr val="FFFF00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结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点，与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为</a:t>
                </a:r>
                <a:r>
                  <a:rPr lang="en-US" altLang="zh-CN" sz="2400" b="1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9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阶图矛盾。</a:t>
                </a:r>
                <a:endParaRPr lang="en-US" altLang="zh-CN" sz="2400" b="1" dirty="0">
                  <a:solidFill>
                    <a:schemeClr val="bg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      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故原命题成立。</a:t>
                </a:r>
                <a:endParaRPr lang="zh-CN" altLang="en-US" sz="2400" b="1" dirty="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73" y="3281158"/>
                <a:ext cx="8136382" cy="2794996"/>
              </a:xfrm>
              <a:prstGeom prst="rect">
                <a:avLst/>
              </a:prstGeom>
              <a:blipFill>
                <a:blip r:embed="rId5"/>
                <a:stretch>
                  <a:fillRect l="-1124" b="-392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627067"/>
      </p:ext>
    </p:extLst>
  </p:cSld>
  <p:clrMapOvr>
    <a:masterClrMapping/>
  </p:clrMapOvr>
  <p:transition spd="med">
    <p:wipe dir="r"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367E4B6-7823-4C09-AED5-E5548DECA8A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97283" name="Text Box 2"/>
          <p:cNvSpPr txBox="1">
            <a:spLocks noChangeArrowheads="1"/>
          </p:cNvSpPr>
          <p:nvPr/>
        </p:nvSpPr>
        <p:spPr bwMode="auto">
          <a:xfrm>
            <a:off x="1404938" y="714375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题</a:t>
            </a:r>
          </a:p>
        </p:txBody>
      </p:sp>
      <p:pic>
        <p:nvPicPr>
          <p:cNvPr id="97284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730933" y="1726848"/>
                <a:ext cx="7831248" cy="1129476"/>
              </a:xfrm>
              <a:prstGeom prst="rect">
                <a:avLst/>
              </a:prstGeom>
              <a:solidFill>
                <a:schemeClr val="accent5"/>
              </a:solidFill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chemeClr val="accent2"/>
                    </a:solidFill>
                  </a:rPr>
                  <a:t>  </a:t>
                </a:r>
                <a:r>
                  <a:rPr lang="zh-CN" altLang="zh-CN" sz="2400" b="1" dirty="0">
                    <a:solidFill>
                      <a:schemeClr val="accent2"/>
                    </a:solidFill>
                  </a:rPr>
                  <a:t>【例题】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在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无向图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altLang="zh-CN" sz="2400" b="1" dirty="0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，证明：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中存在结点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𝒅𝒆𝒈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)≥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。</a:t>
                </a:r>
                <a:endParaRPr lang="en-US" altLang="zh-CN" sz="2400" b="1" dirty="0">
                  <a:solidFill>
                    <a:srgbClr val="0000FF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933" y="1726848"/>
                <a:ext cx="7831248" cy="1129476"/>
              </a:xfrm>
              <a:prstGeom prst="rect">
                <a:avLst/>
              </a:prstGeom>
              <a:blipFill>
                <a:blip r:embed="rId4"/>
                <a:stretch>
                  <a:fillRect l="-1245" r="-778" b="-9677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730933" y="2921819"/>
                <a:ext cx="7831248" cy="3435108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bg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rPr>
                  <a:t>   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【证明】</a:t>
                </a:r>
                <a:r>
                  <a:rPr lang="zh-CN" altLang="zh-CN" sz="2400" b="1" dirty="0">
                    <a:solidFill>
                      <a:srgbClr val="FFFF66"/>
                    </a:solidFill>
                    <a:latin typeface="+mj-ea"/>
                    <a:ea typeface="+mj-ea"/>
                  </a:rPr>
                  <a:t>用反证法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。设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对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∀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𝒗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∈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𝑽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均有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𝐝</m:t>
                    </m:r>
                    <m:r>
                      <a:rPr lang="en-US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𝒗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)≤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𝟐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𝑮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的总度数不超过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𝒏</m:t>
                    </m:r>
                    <m:r>
                      <a:rPr lang="zh-CN" alt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。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根据握手定理，有：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𝟐</m:t>
                      </m:r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𝒎</m:t>
                      </m:r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𝟐</m:t>
                      </m:r>
                      <m:d>
                        <m:dPr>
                          <m:ctrlPr>
                            <a:rPr lang="zh-CN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𝒏</m:t>
                          </m:r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+</m:t>
                          </m:r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𝟏</m:t>
                          </m:r>
                        </m:e>
                      </m:d>
                      <m:r>
                        <a:rPr lang="en-US" altLang="zh-CN" sz="24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r>
                        <a:rPr lang="en-US" altLang="zh-CN" sz="24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𝟐</m:t>
                      </m:r>
                      <m:r>
                        <a:rPr lang="en-US" altLang="zh-CN" sz="24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𝒏</m:t>
                      </m:r>
                      <m:r>
                        <a:rPr lang="en-US" altLang="zh-CN" sz="24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+</m:t>
                      </m:r>
                      <m:r>
                        <a:rPr lang="en-US" altLang="zh-CN" sz="24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𝟐</m:t>
                      </m:r>
                      <m:r>
                        <a:rPr lang="en-US" altLang="zh-CN" sz="24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CN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naryPr>
                        <m:sub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𝒗</m:t>
                          </m:r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∈</m:t>
                          </m:r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+mj-ea"/>
                            </a:rPr>
                            <m:t>𝑽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zh-CN" altLang="zh-CN" sz="2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</m:ctrlPr>
                            </m:funcPr>
                            <m:fName>
                              <m:r>
                                <a:rPr lang="en-US" altLang="zh-CN" sz="2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+mj-ea"/>
                                </a:rPr>
                                <m:t>𝒅𝒆𝒈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zh-CN" sz="2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+mj-ea"/>
                                    </a:rPr>
                                    <m:t>𝒗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zh-CN" altLang="zh-CN" sz="2400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zh-CN" altLang="en-US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得到：</a:t>
                </a:r>
                <a:endParaRPr lang="en-US" altLang="zh-CN" sz="2400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zh-CN" altLang="en-US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zh-CN" sz="24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naryPr>
                      <m:sub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𝒗</m:t>
                        </m:r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∈</m:t>
                        </m:r>
                        <m:r>
                          <a:rPr lang="en-US" altLang="zh-CN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𝑽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zh-CN" altLang="zh-CN" sz="2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funcPr>
                          <m:fName>
                            <m:r>
                              <a:rPr lang="en-US" altLang="zh-CN" sz="2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+mj-ea"/>
                              </a:rPr>
                              <m:t>𝒅𝒆𝒈</m:t>
                            </m:r>
                          </m:fName>
                          <m:e>
                            <m:d>
                              <m:dPr>
                                <m:ctrlPr>
                                  <a:rPr lang="zh-CN" altLang="zh-CN" sz="2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+mj-ea"/>
                                  </a:rPr>
                                  <m:t>𝒗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𝟐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𝒏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𝟐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≤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𝟐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𝒏</m:t>
                    </m:r>
                  </m:oMath>
                </a14:m>
                <a:endParaRPr lang="zh-CN" altLang="zh-CN" sz="2400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  <a:p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即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𝟐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𝒏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&lt;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𝟐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𝒏</m:t>
                    </m:r>
                  </m:oMath>
                </a14:m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，矛盾！</a:t>
                </a:r>
                <a:endParaRPr lang="en-US" altLang="zh-CN" sz="2400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  <a:p>
                <a:r>
                  <a:rPr lang="en-US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    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故存在</a:t>
                </a:r>
                <a:r>
                  <a:rPr lang="zh-CN" altLang="en-US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结</a:t>
                </a:r>
                <a:r>
                  <a:rPr lang="zh-CN" altLang="zh-CN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𝒗</m:t>
                    </m:r>
                  </m:oMath>
                </a14:m>
                <a:r>
                  <a:rPr lang="zh-CN" altLang="en-US" sz="2400" b="1" dirty="0">
                    <a:solidFill>
                      <a:schemeClr val="bg1"/>
                    </a:solidFill>
                    <a:latin typeface="+mj-ea"/>
                    <a:ea typeface="+mj-ea"/>
                  </a:rPr>
                  <a:t>满足：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𝒅𝒆𝒈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𝒗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)≥</m:t>
                    </m:r>
                    <m:r>
                      <a:rPr lang="en-US" altLang="zh-CN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+mj-ea"/>
                      </a:rPr>
                      <m:t>𝟑</m:t>
                    </m:r>
                  </m:oMath>
                </a14:m>
                <a:endPara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933" y="2921819"/>
                <a:ext cx="7831248" cy="3435108"/>
              </a:xfrm>
              <a:prstGeom prst="rect">
                <a:avLst/>
              </a:prstGeom>
              <a:blipFill>
                <a:blip r:embed="rId5"/>
                <a:stretch>
                  <a:fillRect l="-1245" t="-1950" b="-2482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5781160"/>
      </p:ext>
    </p:extLst>
  </p:cSld>
  <p:clrMapOvr>
    <a:masterClrMapping/>
  </p:clrMapOvr>
  <p:transition spd="med">
    <p:wipe dir="r"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E4466D0-807A-4BE1-802C-407627961677}" type="datetime1"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页脚占位符 4"/>
          <p:cNvSpPr txBox="1">
            <a:spLocks noGrp="1"/>
          </p:cNvSpPr>
          <p:nvPr/>
        </p:nvSpPr>
        <p:spPr bwMode="auto">
          <a:xfrm>
            <a:off x="3124200" y="635635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1400" b="1">
                <a:latin typeface="Times New Roman" panose="02020603050405020304" pitchFamily="18" charset="0"/>
                <a:ea typeface="宋体" panose="02010600030101010101" pitchFamily="2" charset="-122"/>
              </a:rPr>
              <a:t>计算机应用技术研究所</a:t>
            </a:r>
          </a:p>
        </p:txBody>
      </p:sp>
      <p:sp>
        <p:nvSpPr>
          <p:cNvPr id="34820" name="灯片编号占位符 5"/>
          <p:cNvSpPr txBox="1">
            <a:spLocks noGrp="1"/>
          </p:cNvSpPr>
          <p:nvPr/>
        </p:nvSpPr>
        <p:spPr bwMode="auto">
          <a:xfrm>
            <a:off x="6553200" y="63563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6A502F4-5142-4EA4-B936-3FE286B537F5}" type="slidenum">
              <a:rPr lang="en-US" altLang="zh-CN" sz="1400" b="1">
                <a:latin typeface="Times New Roman" panose="02020603050405020304" pitchFamily="18" charset="0"/>
                <a:ea typeface="宋体" panose="02010600030101010101" pitchFamily="2" charset="-122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124</a:t>
            </a:fld>
            <a:endParaRPr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1" name="Text Box 2"/>
          <p:cNvSpPr txBox="1">
            <a:spLocks noChangeArrowheads="1"/>
          </p:cNvSpPr>
          <p:nvPr/>
        </p:nvSpPr>
        <p:spPr bwMode="auto">
          <a:xfrm>
            <a:off x="1403350" y="836613"/>
            <a:ext cx="7086600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图的运算与结构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11760" y="2564904"/>
            <a:ext cx="4537075" cy="2737271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"/>
            </a:pPr>
            <a:r>
              <a:rPr lang="en-US" altLang="zh-CN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</a:t>
            </a: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图的基本运算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"/>
            </a:pP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图模型的度结构</a:t>
            </a:r>
            <a:endParaRPr lang="en-US" altLang="zh-CN" sz="3600" b="1" dirty="0">
              <a:effectLst/>
              <a:latin typeface="黑体" panose="02010609060101010101" pitchFamily="49" charset="-122"/>
              <a:ea typeface="黑体" panose="02010609060101010101" pitchFamily="49" charset="-122"/>
              <a:cs typeface="楷体_GB2312" pitchFamily="49" charset="-12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J"/>
            </a:pPr>
            <a:r>
              <a:rPr lang="zh-CN" altLang="en-US" sz="3600" b="1" dirty="0">
                <a:solidFill>
                  <a:srgbClr val="0000FF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楷体_GB2312" pitchFamily="49" charset="-122"/>
              </a:rPr>
              <a:t> 图同构及其判定</a:t>
            </a:r>
          </a:p>
        </p:txBody>
      </p:sp>
      <p:pic>
        <p:nvPicPr>
          <p:cNvPr id="34823" name="Picture 7" descr="C:\Program Files\Microsoft Office\MEDIA\CAGCAT10\j0292982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4738688"/>
            <a:ext cx="1371600" cy="1354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4712368"/>
      </p:ext>
    </p:extLst>
  </p:cSld>
  <p:clrMapOvr>
    <a:masterClrMapping/>
  </p:clrMapOvr>
  <p:transition spd="med">
    <p:wipe dir="r"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B91BD26-60BC-48AB-AF58-2975652708A3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10595" name="Text Box 2"/>
          <p:cNvSpPr txBox="1">
            <a:spLocks noChangeArrowheads="1"/>
          </p:cNvSpPr>
          <p:nvPr/>
        </p:nvSpPr>
        <p:spPr bwMode="auto">
          <a:xfrm>
            <a:off x="1403350" y="620713"/>
            <a:ext cx="64087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图的同构关系</a:t>
            </a:r>
          </a:p>
        </p:txBody>
      </p:sp>
      <p:pic>
        <p:nvPicPr>
          <p:cNvPr id="110596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58C91B2-C307-4E05-A66E-5C4E700EC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1729036"/>
            <a:ext cx="7416824" cy="4398235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DA4A4C1-3663-44FE-ACC8-DC4B341CF40E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11619" name="Text Box 2"/>
          <p:cNvSpPr txBox="1">
            <a:spLocks noChangeArrowheads="1"/>
          </p:cNvSpPr>
          <p:nvPr/>
        </p:nvSpPr>
        <p:spPr bwMode="auto">
          <a:xfrm>
            <a:off x="1403350" y="620713"/>
            <a:ext cx="64087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图同构的定义</a:t>
            </a:r>
          </a:p>
        </p:txBody>
      </p:sp>
      <p:pic>
        <p:nvPicPr>
          <p:cNvPr id="111620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79227" y="1837490"/>
                <a:ext cx="8856984" cy="2350708"/>
              </a:xfrm>
              <a:prstGeom prst="rect">
                <a:avLst/>
              </a:prstGeom>
              <a:solidFill>
                <a:schemeClr val="accent5"/>
              </a:solidFill>
              <a:ln w="1905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600"/>
                  </a:lnSpc>
                </a:pPr>
                <a:r>
                  <a:rPr lang="zh-CN" altLang="en-US" sz="2400" dirty="0">
                    <a:solidFill>
                      <a:schemeClr val="tx1"/>
                    </a:solidFill>
                  </a:rPr>
                  <a:t>    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设</a:t>
                </a:r>
                <a14:m>
                  <m:oMath xmlns:m="http://schemas.openxmlformats.org/officeDocument/2006/math">
                    <m:r>
                      <a:rPr lang="zh-CN" altLang="en-US" sz="2400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图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d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sz="2400" b="1" dirty="0">
                    <a:solidFill>
                      <a:schemeClr val="tx1"/>
                    </a:solidFill>
                  </a:rPr>
                  <a:t>之间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存在双射函数</a:t>
                </a:r>
                <a14:m>
                  <m:oMath xmlns:m="http://schemas.openxmlformats.org/officeDocument/2006/math">
                    <m:r>
                      <a:rPr lang="zh-CN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，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且满足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：</a:t>
                </a:r>
              </a:p>
              <a:p>
                <a:pPr algn="ctr">
                  <a:lnSpc>
                    <a:spcPts val="3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4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24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altLang="zh-CN" sz="2400" b="1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当且仅当</m:t>
                    </m:r>
                    <m:r>
                      <a:rPr lang="zh-CN" altLang="zh-CN" sz="2400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zh-CN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𝒈</m:t>
                        </m:r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zh-CN" altLang="zh-CN" sz="2400" b="1" dirty="0">
                  <a:solidFill>
                    <a:srgbClr val="0000FF"/>
                  </a:solidFill>
                </a:endParaRPr>
              </a:p>
              <a:p>
                <a:pPr>
                  <a:lnSpc>
                    <a:spcPts val="3600"/>
                  </a:lnSpc>
                </a:pPr>
                <a:r>
                  <a:rPr lang="en-US" altLang="zh-CN" sz="2400" b="1" dirty="0">
                    <a:solidFill>
                      <a:schemeClr val="tx1"/>
                    </a:solidFill>
                  </a:rPr>
                  <a:t>    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则称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zh-CN" sz="2400" b="1" dirty="0"/>
                  <a:t>同构</a:t>
                </a:r>
                <a:r>
                  <a:rPr lang="zh-CN" altLang="zh-CN" sz="2400" b="1" dirty="0">
                    <a:solidFill>
                      <a:srgbClr val="0000FF"/>
                    </a:solidFill>
                  </a:rPr>
                  <a:t>，记为</a:t>
                </a:r>
                <a14:m>
                  <m:oMath xmlns:m="http://schemas.openxmlformats.org/officeDocument/2006/math">
                    <m:r>
                      <a:rPr lang="zh-CN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≅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zh-CN" sz="2400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。</m:t>
                    </m:r>
                    <m:r>
                      <a:rPr lang="zh-CN" altLang="zh-CN" sz="2400" b="1" i="1">
                        <a:solidFill>
                          <a:srgbClr val="80008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b="1" i="1" dirty="0">
                  <a:solidFill>
                    <a:srgbClr val="80008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ts val="3600"/>
                  </a:lnSpc>
                </a:pPr>
                <a:r>
                  <a:rPr lang="en-US" altLang="zh-CN" sz="2400" b="1" dirty="0">
                    <a:solidFill>
                      <a:srgbClr val="0000FF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zh-CN" altLang="zh-CN" sz="2400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此时，</m:t>
                    </m:r>
                    <m:r>
                      <a:rPr lang="zh-CN" altLang="en-US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称</m:t>
                    </m:r>
                    <m:r>
                      <a:rPr lang="zh-CN" altLang="zh-CN" sz="2400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映射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zh-CN" sz="2400" b="1" dirty="0">
                    <a:solidFill>
                      <a:srgbClr val="0000FF"/>
                    </a:solidFill>
                  </a:rPr>
                  <a:t>为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rgbClr val="0000FF"/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zh-CN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zh-CN" sz="2400" b="1" dirty="0">
                    <a:solidFill>
                      <a:srgbClr val="0000FF"/>
                    </a:solidFill>
                  </a:rPr>
                  <a:t>之间</a:t>
                </a:r>
                <a:r>
                  <a:rPr lang="zh-CN" altLang="zh-CN" sz="2400" b="1" dirty="0"/>
                  <a:t>同构映射</a:t>
                </a:r>
                <a:r>
                  <a:rPr lang="zh-CN" altLang="zh-CN" sz="2400" b="1" dirty="0">
                    <a:solidFill>
                      <a:srgbClr val="0000FF"/>
                    </a:solidFill>
                  </a:rPr>
                  <a:t>。 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27" y="1837490"/>
                <a:ext cx="8856984" cy="2350708"/>
              </a:xfrm>
              <a:prstGeom prst="rect">
                <a:avLst/>
              </a:prstGeom>
              <a:blipFill>
                <a:blip r:embed="rId4"/>
                <a:stretch>
                  <a:fillRect l="-962" t="-771" b="-3599"/>
                </a:stretch>
              </a:blipFill>
              <a:ln w="19050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B576840B-3D82-4613-9B5B-C75EE18353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6713" y="4717012"/>
            <a:ext cx="3304716" cy="115098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5A00FE6-8493-4148-8597-CD85B96FA8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8184" y="4620737"/>
            <a:ext cx="2088232" cy="1343532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DA4A4C1-3663-44FE-ACC8-DC4B341CF40E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11619" name="Text Box 2"/>
          <p:cNvSpPr txBox="1">
            <a:spLocks noChangeArrowheads="1"/>
          </p:cNvSpPr>
          <p:nvPr/>
        </p:nvSpPr>
        <p:spPr bwMode="auto">
          <a:xfrm>
            <a:off x="1403350" y="620713"/>
            <a:ext cx="64087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图同构的等价性</a:t>
            </a:r>
          </a:p>
        </p:txBody>
      </p:sp>
      <p:pic>
        <p:nvPicPr>
          <p:cNvPr id="111620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B15145E-CD69-4139-A861-1B3A1D12FE1F}"/>
              </a:ext>
            </a:extLst>
          </p:cNvPr>
          <p:cNvSpPr/>
          <p:nvPr/>
        </p:nvSpPr>
        <p:spPr>
          <a:xfrm>
            <a:off x="555758" y="1696510"/>
            <a:ext cx="8208912" cy="1667764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</a:t>
            </a:r>
            <a:r>
              <a:rPr lang="zh-CN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两个图之间的同构关系显然满足</a:t>
            </a:r>
            <a:r>
              <a:rPr lang="zh-CN" altLang="zh-CN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自反性、对称性和传递性</a:t>
            </a:r>
            <a:r>
              <a:rPr lang="zh-CN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，因而是一种</a:t>
            </a:r>
            <a:r>
              <a:rPr lang="zh-CN" altLang="zh-CN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等价关系</a:t>
            </a:r>
            <a:r>
              <a:rPr lang="zh-CN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。由此可以根据图的同构关系对图进行</a:t>
            </a:r>
            <a:r>
              <a:rPr lang="zh-CN" altLang="zh-CN" sz="2400" b="1" dirty="0">
                <a:solidFill>
                  <a:srgbClr val="0000FF"/>
                </a:solidFill>
                <a:cs typeface="Times New Roman" panose="02020603050405020304" pitchFamily="18" charset="0"/>
              </a:rPr>
              <a:t>分类</a:t>
            </a:r>
            <a:r>
              <a:rPr lang="zh-CN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，将彼此同构的图模型归为一类。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097AF0A-2D09-4BC1-92FE-93C652D53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58" y="3573016"/>
            <a:ext cx="8200809" cy="259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530366"/>
      </p:ext>
    </p:extLst>
  </p:cSld>
  <p:clrMapOvr>
    <a:masterClrMapping/>
  </p:clrMapOvr>
  <p:transition spd="med">
    <p:wipe dir="r"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DA20D2-A8D4-487E-A441-C9E57E8B246D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14694" name="Text Box 2"/>
          <p:cNvSpPr txBox="1">
            <a:spLocks noChangeArrowheads="1"/>
          </p:cNvSpPr>
          <p:nvPr/>
        </p:nvSpPr>
        <p:spPr bwMode="auto">
          <a:xfrm>
            <a:off x="1403350" y="549275"/>
            <a:ext cx="64087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14695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76E8677-4EA4-42C3-A287-B95F0BD12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640316"/>
            <a:ext cx="7211461" cy="4720456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367E4B6-7823-4C09-AED5-E5548DECA8A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97283" name="Text Box 2"/>
          <p:cNvSpPr txBox="1">
            <a:spLocks noChangeArrowheads="1"/>
          </p:cNvSpPr>
          <p:nvPr/>
        </p:nvSpPr>
        <p:spPr bwMode="auto">
          <a:xfrm>
            <a:off x="1404938" y="714375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 题</a:t>
            </a:r>
          </a:p>
        </p:txBody>
      </p:sp>
      <p:pic>
        <p:nvPicPr>
          <p:cNvPr id="97284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755576" y="1916832"/>
                <a:ext cx="7831248" cy="1113766"/>
              </a:xfrm>
              <a:prstGeom prst="rect">
                <a:avLst/>
              </a:prstGeom>
              <a:solidFill>
                <a:schemeClr val="accent5"/>
              </a:solidFill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chemeClr val="accent2"/>
                    </a:solidFill>
                  </a:rPr>
                  <a:t>  </a:t>
                </a:r>
                <a:r>
                  <a:rPr lang="zh-CN" altLang="zh-CN" sz="2400" b="1" dirty="0">
                    <a:solidFill>
                      <a:schemeClr val="accent2"/>
                    </a:solidFill>
                  </a:rPr>
                  <a:t>【例题】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如</a:t>
                </a:r>
                <a:r>
                  <a:rPr lang="zh-CN" altLang="en-US" sz="2400" b="1" dirty="0">
                    <a:solidFill>
                      <a:schemeClr val="tx1"/>
                    </a:solidFill>
                  </a:rPr>
                  <a:t>下图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所示，设有两个图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，试证明它们是同构图。</a:t>
                </a:r>
                <a:endParaRPr lang="en-US" altLang="zh-CN" sz="24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916832"/>
                <a:ext cx="7831248" cy="1113766"/>
              </a:xfrm>
              <a:prstGeom prst="rect">
                <a:avLst/>
              </a:prstGeom>
              <a:blipFill>
                <a:blip r:embed="rId4"/>
                <a:stretch>
                  <a:fillRect l="-1245" r="-856" b="-11475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6752" y="3259945"/>
            <a:ext cx="5728895" cy="270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619326"/>
      </p:ext>
    </p:extLst>
  </p:cSld>
  <p:clrMapOvr>
    <a:masterClrMapping/>
  </p:clrMapOvr>
  <p:transition spd="med">
    <p:wipe dir="r"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367E4B6-7823-4C09-AED5-E5548DECA8AF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97283" name="Text Box 2"/>
          <p:cNvSpPr txBox="1">
            <a:spLocks noChangeArrowheads="1"/>
          </p:cNvSpPr>
          <p:nvPr/>
        </p:nvSpPr>
        <p:spPr bwMode="auto">
          <a:xfrm>
            <a:off x="1404938" y="714375"/>
            <a:ext cx="6335712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 题</a:t>
            </a:r>
          </a:p>
        </p:txBody>
      </p:sp>
      <p:pic>
        <p:nvPicPr>
          <p:cNvPr id="97284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/>
              <p:cNvSpPr txBox="1"/>
              <p:nvPr/>
            </p:nvSpPr>
            <p:spPr>
              <a:xfrm>
                <a:off x="251520" y="1988840"/>
                <a:ext cx="8784976" cy="4090543"/>
              </a:xfrm>
              <a:prstGeom prst="rect">
                <a:avLst/>
              </a:prstGeom>
              <a:solidFill>
                <a:schemeClr val="accent5"/>
              </a:solidFill>
              <a:ln w="19050">
                <a:solidFill>
                  <a:schemeClr val="bg2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800"/>
                  </a:lnSpc>
                </a:pPr>
                <a:r>
                  <a:rPr lang="en-US" altLang="zh-CN" sz="2400" dirty="0"/>
                  <a:t>   </a:t>
                </a:r>
                <a:r>
                  <a:rPr lang="zh-CN" altLang="zh-CN" sz="2400" b="1" dirty="0"/>
                  <a:t>【解】</a:t>
                </a:r>
                <a:r>
                  <a:rPr lang="zh-CN" altLang="zh-CN" sz="2400" b="1" dirty="0">
                    <a:solidFill>
                      <a:schemeClr val="tx1"/>
                    </a:solidFill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的结点集为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的结点集为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,⋯,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，可以构造出一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到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的图同构函数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如下：</a:t>
                </a:r>
              </a:p>
              <a:p>
                <a:pPr algn="ctr">
                  <a:lnSpc>
                    <a:spcPts val="38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zh-CN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zh-CN" altLang="zh-CN" sz="2400" b="1" dirty="0">
                    <a:solidFill>
                      <a:srgbClr val="0000FF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zh-CN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zh-CN" altLang="zh-CN" sz="2400" b="1" dirty="0">
                    <a:solidFill>
                      <a:srgbClr val="0000FF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zh-CN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zh-CN" altLang="zh-CN" sz="2400" b="1" dirty="0">
                    <a:solidFill>
                      <a:srgbClr val="0000FF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zh-CN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zh-CN" altLang="zh-CN" sz="2400" b="1" dirty="0">
                    <a:solidFill>
                      <a:srgbClr val="0000FF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zh-CN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endParaRPr lang="zh-CN" altLang="zh-CN" sz="2400" b="1" dirty="0">
                  <a:solidFill>
                    <a:srgbClr val="0000FF"/>
                  </a:solidFill>
                </a:endParaRPr>
              </a:p>
              <a:p>
                <a:pPr algn="ctr">
                  <a:lnSpc>
                    <a:spcPts val="3800"/>
                  </a:lnSpc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zh-CN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zh-CN" altLang="zh-CN" sz="2400" b="1" dirty="0">
                    <a:solidFill>
                      <a:srgbClr val="0000FF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zh-CN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zh-CN" sz="2400" b="1" dirty="0">
                    <a:solidFill>
                      <a:srgbClr val="0000FF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zh-CN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𝟖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zh-CN" altLang="zh-CN" sz="2400" b="1" dirty="0">
                    <a:solidFill>
                      <a:srgbClr val="0000FF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zh-CN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𝟗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zh-CN" sz="2400" b="1" dirty="0">
                    <a:solidFill>
                      <a:srgbClr val="0000FF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zh-CN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endParaRPr lang="zh-CN" altLang="zh-CN" sz="2400" b="1" dirty="0">
                  <a:solidFill>
                    <a:srgbClr val="0000FF"/>
                  </a:solidFill>
                </a:endParaRPr>
              </a:p>
              <a:p>
                <a:pPr>
                  <a:lnSpc>
                    <a:spcPts val="3800"/>
                  </a:lnSpc>
                </a:pPr>
                <a:r>
                  <a:rPr lang="en-US" altLang="zh-CN" sz="2400" b="1" dirty="0">
                    <a:solidFill>
                      <a:schemeClr val="tx1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到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双射，在图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中取任意边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，都可在图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中找到唯一对应边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且保持对应的邻接关系，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是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的同构函数。即有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≅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</a:rPr>
                  <a:t>。</a:t>
                </a:r>
                <a:endParaRPr lang="en-US" altLang="zh-CN" sz="2400" b="1" dirty="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3" name="文本框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988840"/>
                <a:ext cx="8784976" cy="4090543"/>
              </a:xfrm>
              <a:prstGeom prst="rect">
                <a:avLst/>
              </a:prstGeom>
              <a:blipFill>
                <a:blip r:embed="rId4"/>
                <a:stretch>
                  <a:fillRect l="-970" b="-1780"/>
                </a:stretch>
              </a:blipFill>
              <a:ln w="19050"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0276617"/>
      </p:ext>
    </p:extLst>
  </p:cSld>
  <p:clrMapOvr>
    <a:masterClrMapping/>
  </p:clrMapOvr>
  <p:transition spd="med">
    <p:wipe dir="r"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95E5382-D314-4EF7-8C6E-0E4D3872A1A1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12643" name="Text Box 2"/>
          <p:cNvSpPr txBox="1">
            <a:spLocks noChangeArrowheads="1"/>
          </p:cNvSpPr>
          <p:nvPr/>
        </p:nvSpPr>
        <p:spPr bwMode="auto">
          <a:xfrm>
            <a:off x="1331913" y="785813"/>
            <a:ext cx="640873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图同构的判定</a:t>
            </a:r>
          </a:p>
        </p:txBody>
      </p:sp>
      <p:pic>
        <p:nvPicPr>
          <p:cNvPr id="112644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45" name="Picture 7" descr="QQ截图2015092410400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5" y="1918695"/>
            <a:ext cx="7653117" cy="137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EC25503-CC2D-4904-B968-B218A56E05D2}"/>
              </a:ext>
            </a:extLst>
          </p:cNvPr>
          <p:cNvSpPr/>
          <p:nvPr/>
        </p:nvSpPr>
        <p:spPr>
          <a:xfrm>
            <a:off x="395536" y="3454793"/>
            <a:ext cx="8208912" cy="283154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sz="24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对于含有相同结点的两个图模型，</a:t>
            </a:r>
            <a:r>
              <a:rPr lang="zh-CN" alt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可以</a:t>
            </a:r>
            <a:r>
              <a:rPr lang="zh-CN" altLang="zh-CN" sz="24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通过调整其中一个图模型结点</a:t>
            </a:r>
            <a:r>
              <a:rPr lang="zh-CN" alt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z="24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排列次序，改变其邻接矩阵的行列次序</a:t>
            </a:r>
            <a:r>
              <a:rPr lang="zh-CN" altLang="en-US" sz="24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2400" b="1" dirty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如果能够使得两个图的邻接矩阵通过行列交换变得相等，则这两个图必然同构。</a:t>
            </a:r>
            <a:endParaRPr lang="en-US" altLang="zh-CN" sz="2400" b="1" dirty="0">
              <a:solidFill>
                <a:srgbClr val="FFFF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sz="24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然而，这并不是一个有效的方法，因为当图中结点数较多时，</a:t>
            </a:r>
            <a:r>
              <a:rPr lang="zh-CN" altLang="zh-CN" sz="2400" b="1" dirty="0">
                <a:solidFill>
                  <a:srgbClr val="FFFF66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结点的排列数以阶乘的速度增长</a:t>
            </a:r>
            <a:r>
              <a:rPr lang="zh-CN" altLang="zh-CN" sz="2400" b="1" dirty="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，计算量变得巨大而不可行。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日期占位符 3"/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D903A41-35F3-45E5-9CA9-1B82CE4C5CE8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13667" name="Text Box 2"/>
          <p:cNvSpPr txBox="1">
            <a:spLocks noChangeArrowheads="1"/>
          </p:cNvSpPr>
          <p:nvPr/>
        </p:nvSpPr>
        <p:spPr bwMode="auto">
          <a:xfrm>
            <a:off x="1331913" y="714375"/>
            <a:ext cx="6408737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4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图同构的不变量</a:t>
            </a:r>
          </a:p>
        </p:txBody>
      </p:sp>
      <p:pic>
        <p:nvPicPr>
          <p:cNvPr id="113668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3669" name="Picture 8" descr="QQ截图2015092410515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038" y="2349500"/>
            <a:ext cx="6551612" cy="316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731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701800"/>
            <a:ext cx="8208912" cy="2159248"/>
          </a:xfrm>
          <a:solidFill>
            <a:schemeClr val="accent5"/>
          </a:solidFill>
        </p:spPr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effectLst/>
                <a:cs typeface="楷体_GB2312" pitchFamily="49" charset="-122"/>
              </a:rPr>
              <a:t>【</a:t>
            </a:r>
            <a:r>
              <a:rPr lang="zh-CN" altLang="en-US" b="1" dirty="0">
                <a:solidFill>
                  <a:srgbClr val="FF0000"/>
                </a:solidFill>
                <a:effectLst/>
                <a:cs typeface="楷体_GB2312" pitchFamily="49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ffectLst/>
                <a:cs typeface="楷体_GB2312" pitchFamily="49" charset="-122"/>
              </a:rPr>
              <a:t>】</a:t>
            </a:r>
            <a:r>
              <a:rPr lang="zh-CN" altLang="en-US" b="1" dirty="0">
                <a:effectLst/>
                <a:cs typeface="楷体_GB2312" pitchFamily="49" charset="-122"/>
              </a:rPr>
              <a:t>证明下列图中</a:t>
            </a:r>
            <a:r>
              <a:rPr lang="en-US" altLang="zh-CN" b="1" dirty="0">
                <a:effectLst/>
                <a:cs typeface="楷体_GB2312" pitchFamily="49" charset="-122"/>
              </a:rPr>
              <a:t>G</a:t>
            </a:r>
            <a:r>
              <a:rPr lang="zh-CN" altLang="en-US" b="1" dirty="0">
                <a:effectLst/>
                <a:cs typeface="楷体_GB2312" pitchFamily="49" charset="-122"/>
              </a:rPr>
              <a:t>与</a:t>
            </a:r>
            <a:r>
              <a:rPr lang="en-US" altLang="zh-CN" b="1" dirty="0">
                <a:effectLst/>
                <a:cs typeface="楷体_GB2312" pitchFamily="49" charset="-122"/>
              </a:rPr>
              <a:t>G</a:t>
            </a:r>
            <a:r>
              <a:rPr lang="en-US" altLang="zh-CN" b="1" dirty="0">
                <a:effectLst/>
                <a:latin typeface="宋体" panose="02010600030101010101" pitchFamily="2" charset="-122"/>
                <a:cs typeface="楷体_GB2312" pitchFamily="49" charset="-122"/>
              </a:rPr>
              <a:t>’</a:t>
            </a:r>
            <a:r>
              <a:rPr lang="zh-CN" altLang="en-US" b="1" dirty="0">
                <a:effectLst/>
                <a:cs typeface="楷体_GB2312" pitchFamily="49" charset="-122"/>
              </a:rPr>
              <a:t>不同构</a:t>
            </a:r>
          </a:p>
        </p:txBody>
      </p:sp>
      <p:sp>
        <p:nvSpPr>
          <p:cNvPr id="115715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D440F7-7160-4A80-96F0-31A998C6D87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grpSp>
        <p:nvGrpSpPr>
          <p:cNvPr id="115716" name="Group 42"/>
          <p:cNvGrpSpPr>
            <a:grpSpLocks/>
          </p:cNvGrpSpPr>
          <p:nvPr/>
        </p:nvGrpSpPr>
        <p:grpSpPr bwMode="auto">
          <a:xfrm>
            <a:off x="2123728" y="2132856"/>
            <a:ext cx="4976813" cy="1762125"/>
            <a:chOff x="1741" y="1344"/>
            <a:chExt cx="3135" cy="1110"/>
          </a:xfrm>
        </p:grpSpPr>
        <p:sp>
          <p:nvSpPr>
            <p:cNvPr id="115720" name="Oval 6"/>
            <p:cNvSpPr>
              <a:spLocks noChangeArrowheads="1"/>
            </p:cNvSpPr>
            <p:nvPr/>
          </p:nvSpPr>
          <p:spPr bwMode="auto">
            <a:xfrm>
              <a:off x="2403" y="1586"/>
              <a:ext cx="56" cy="53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91145" name="Line 7"/>
            <p:cNvSpPr>
              <a:spLocks noChangeShapeType="1"/>
            </p:cNvSpPr>
            <p:nvPr/>
          </p:nvSpPr>
          <p:spPr bwMode="auto">
            <a:xfrm>
              <a:off x="1849" y="1906"/>
              <a:ext cx="249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722" name="Oval 8"/>
            <p:cNvSpPr>
              <a:spLocks noChangeArrowheads="1"/>
            </p:cNvSpPr>
            <p:nvPr/>
          </p:nvSpPr>
          <p:spPr bwMode="auto">
            <a:xfrm>
              <a:off x="1801" y="1879"/>
              <a:ext cx="56" cy="54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15723" name="Text Box 9"/>
            <p:cNvSpPr txBox="1">
              <a:spLocks noChangeArrowheads="1"/>
            </p:cNvSpPr>
            <p:nvPr/>
          </p:nvSpPr>
          <p:spPr bwMode="auto">
            <a:xfrm>
              <a:off x="1741" y="1902"/>
              <a:ext cx="175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>
                  <a:solidFill>
                    <a:srgbClr val="FF0000"/>
                  </a:solidFill>
                  <a:latin typeface="黑体" panose="02010609060101010101" pitchFamily="49" charset="-122"/>
                </a:rPr>
                <a:t>1</a:t>
              </a:r>
            </a:p>
          </p:txBody>
        </p:sp>
        <p:sp>
          <p:nvSpPr>
            <p:cNvPr id="115724" name="Text Box 10"/>
            <p:cNvSpPr txBox="1">
              <a:spLocks noChangeArrowheads="1"/>
            </p:cNvSpPr>
            <p:nvPr/>
          </p:nvSpPr>
          <p:spPr bwMode="auto">
            <a:xfrm>
              <a:off x="2040" y="1902"/>
              <a:ext cx="175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>
                  <a:solidFill>
                    <a:srgbClr val="FF0000"/>
                  </a:solidFill>
                  <a:latin typeface="黑体" panose="02010609060101010101" pitchFamily="49" charset="-122"/>
                </a:rPr>
                <a:t>2</a:t>
              </a:r>
            </a:p>
          </p:txBody>
        </p:sp>
        <p:sp>
          <p:nvSpPr>
            <p:cNvPr id="115725" name="Text Box 11"/>
            <p:cNvSpPr txBox="1">
              <a:spLocks noChangeArrowheads="1"/>
            </p:cNvSpPr>
            <p:nvPr/>
          </p:nvSpPr>
          <p:spPr bwMode="auto">
            <a:xfrm>
              <a:off x="2938" y="1902"/>
              <a:ext cx="176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>
                  <a:solidFill>
                    <a:srgbClr val="FF0000"/>
                  </a:solidFill>
                  <a:latin typeface="黑体" panose="02010609060101010101" pitchFamily="49" charset="-122"/>
                </a:rPr>
                <a:t>5</a:t>
              </a:r>
            </a:p>
          </p:txBody>
        </p:sp>
        <p:sp>
          <p:nvSpPr>
            <p:cNvPr id="115726" name="Text Box 12"/>
            <p:cNvSpPr txBox="1">
              <a:spLocks noChangeArrowheads="1"/>
            </p:cNvSpPr>
            <p:nvPr/>
          </p:nvSpPr>
          <p:spPr bwMode="auto">
            <a:xfrm>
              <a:off x="2345" y="1344"/>
              <a:ext cx="175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>
                  <a:solidFill>
                    <a:srgbClr val="FF0000"/>
                  </a:solidFill>
                  <a:latin typeface="黑体" panose="02010609060101010101" pitchFamily="49" charset="-122"/>
                </a:rPr>
                <a:t>6</a:t>
              </a:r>
            </a:p>
          </p:txBody>
        </p:sp>
        <p:sp>
          <p:nvSpPr>
            <p:cNvPr id="91151" name="Line 13"/>
            <p:cNvSpPr>
              <a:spLocks noChangeShapeType="1"/>
            </p:cNvSpPr>
            <p:nvPr/>
          </p:nvSpPr>
          <p:spPr bwMode="auto">
            <a:xfrm>
              <a:off x="2431" y="1639"/>
              <a:ext cx="0" cy="24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728" name="Text Box 14"/>
            <p:cNvSpPr txBox="1">
              <a:spLocks noChangeArrowheads="1"/>
            </p:cNvSpPr>
            <p:nvPr/>
          </p:nvSpPr>
          <p:spPr bwMode="auto">
            <a:xfrm>
              <a:off x="2339" y="1902"/>
              <a:ext cx="175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</a:rPr>
                <a:t>3</a:t>
              </a:r>
            </a:p>
          </p:txBody>
        </p:sp>
        <p:sp>
          <p:nvSpPr>
            <p:cNvPr id="115729" name="Text Box 15"/>
            <p:cNvSpPr txBox="1">
              <a:spLocks noChangeArrowheads="1"/>
            </p:cNvSpPr>
            <p:nvPr/>
          </p:nvSpPr>
          <p:spPr bwMode="auto">
            <a:xfrm>
              <a:off x="2639" y="1902"/>
              <a:ext cx="175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>
                  <a:solidFill>
                    <a:srgbClr val="FF0000"/>
                  </a:solidFill>
                  <a:latin typeface="黑体" panose="02010609060101010101" pitchFamily="49" charset="-122"/>
                </a:rPr>
                <a:t>4</a:t>
              </a:r>
            </a:p>
          </p:txBody>
        </p:sp>
        <p:sp>
          <p:nvSpPr>
            <p:cNvPr id="115730" name="Oval 16"/>
            <p:cNvSpPr>
              <a:spLocks noChangeArrowheads="1"/>
            </p:cNvSpPr>
            <p:nvPr/>
          </p:nvSpPr>
          <p:spPr bwMode="auto">
            <a:xfrm>
              <a:off x="2101" y="1879"/>
              <a:ext cx="56" cy="54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15731" name="Oval 17"/>
            <p:cNvSpPr>
              <a:spLocks noChangeArrowheads="1"/>
            </p:cNvSpPr>
            <p:nvPr/>
          </p:nvSpPr>
          <p:spPr bwMode="auto">
            <a:xfrm>
              <a:off x="2403" y="1879"/>
              <a:ext cx="56" cy="54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15732" name="Oval 18"/>
            <p:cNvSpPr>
              <a:spLocks noChangeArrowheads="1"/>
            </p:cNvSpPr>
            <p:nvPr/>
          </p:nvSpPr>
          <p:spPr bwMode="auto">
            <a:xfrm>
              <a:off x="2703" y="1879"/>
              <a:ext cx="56" cy="54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15733" name="Oval 19"/>
            <p:cNvSpPr>
              <a:spLocks noChangeArrowheads="1"/>
            </p:cNvSpPr>
            <p:nvPr/>
          </p:nvSpPr>
          <p:spPr bwMode="auto">
            <a:xfrm>
              <a:off x="3005" y="1879"/>
              <a:ext cx="56" cy="54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91158" name="Line 20"/>
            <p:cNvSpPr>
              <a:spLocks noChangeShapeType="1"/>
            </p:cNvSpPr>
            <p:nvPr/>
          </p:nvSpPr>
          <p:spPr bwMode="auto">
            <a:xfrm>
              <a:off x="2151" y="1906"/>
              <a:ext cx="25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1159" name="Line 21"/>
            <p:cNvSpPr>
              <a:spLocks noChangeShapeType="1"/>
            </p:cNvSpPr>
            <p:nvPr/>
          </p:nvSpPr>
          <p:spPr bwMode="auto">
            <a:xfrm>
              <a:off x="2455" y="1906"/>
              <a:ext cx="249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1160" name="Line 22"/>
            <p:cNvSpPr>
              <a:spLocks noChangeShapeType="1"/>
            </p:cNvSpPr>
            <p:nvPr/>
          </p:nvSpPr>
          <p:spPr bwMode="auto">
            <a:xfrm>
              <a:off x="2758" y="1906"/>
              <a:ext cx="25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737" name="Text Box 23"/>
            <p:cNvSpPr txBox="1">
              <a:spLocks noChangeArrowheads="1"/>
            </p:cNvSpPr>
            <p:nvPr/>
          </p:nvSpPr>
          <p:spPr bwMode="auto">
            <a:xfrm>
              <a:off x="2251" y="2160"/>
              <a:ext cx="353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>
                  <a:solidFill>
                    <a:srgbClr val="FF0000"/>
                  </a:solidFill>
                  <a:latin typeface="黑体" panose="02010609060101010101" pitchFamily="49" charset="-122"/>
                </a:rPr>
                <a:t>G</a:t>
              </a:r>
            </a:p>
          </p:txBody>
        </p:sp>
        <p:sp>
          <p:nvSpPr>
            <p:cNvPr id="115738" name="Oval 24"/>
            <p:cNvSpPr>
              <a:spLocks noChangeArrowheads="1"/>
            </p:cNvSpPr>
            <p:nvPr/>
          </p:nvSpPr>
          <p:spPr bwMode="auto">
            <a:xfrm>
              <a:off x="4454" y="1586"/>
              <a:ext cx="56" cy="53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91163" name="Line 25"/>
            <p:cNvSpPr>
              <a:spLocks noChangeShapeType="1"/>
            </p:cNvSpPr>
            <p:nvPr/>
          </p:nvSpPr>
          <p:spPr bwMode="auto">
            <a:xfrm>
              <a:off x="3611" y="1906"/>
              <a:ext cx="25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740" name="Oval 26"/>
            <p:cNvSpPr>
              <a:spLocks noChangeArrowheads="1"/>
            </p:cNvSpPr>
            <p:nvPr/>
          </p:nvSpPr>
          <p:spPr bwMode="auto">
            <a:xfrm>
              <a:off x="3563" y="1879"/>
              <a:ext cx="56" cy="54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15741" name="Text Box 27"/>
            <p:cNvSpPr txBox="1">
              <a:spLocks noChangeArrowheads="1"/>
            </p:cNvSpPr>
            <p:nvPr/>
          </p:nvSpPr>
          <p:spPr bwMode="auto">
            <a:xfrm>
              <a:off x="3503" y="1902"/>
              <a:ext cx="176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>
                  <a:solidFill>
                    <a:srgbClr val="FF0000"/>
                  </a:solidFill>
                  <a:latin typeface="黑体" panose="02010609060101010101" pitchFamily="49" charset="-122"/>
                </a:rPr>
                <a:t>a</a:t>
              </a:r>
            </a:p>
          </p:txBody>
        </p:sp>
        <p:sp>
          <p:nvSpPr>
            <p:cNvPr id="115742" name="Text Box 28"/>
            <p:cNvSpPr txBox="1">
              <a:spLocks noChangeArrowheads="1"/>
            </p:cNvSpPr>
            <p:nvPr/>
          </p:nvSpPr>
          <p:spPr bwMode="auto">
            <a:xfrm>
              <a:off x="3802" y="1902"/>
              <a:ext cx="175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>
                  <a:solidFill>
                    <a:srgbClr val="FF0000"/>
                  </a:solidFill>
                  <a:latin typeface="黑体" panose="02010609060101010101" pitchFamily="49" charset="-122"/>
                </a:rPr>
                <a:t>b</a:t>
              </a:r>
            </a:p>
          </p:txBody>
        </p:sp>
        <p:sp>
          <p:nvSpPr>
            <p:cNvPr id="115743" name="Text Box 29"/>
            <p:cNvSpPr txBox="1">
              <a:spLocks noChangeArrowheads="1"/>
            </p:cNvSpPr>
            <p:nvPr/>
          </p:nvSpPr>
          <p:spPr bwMode="auto">
            <a:xfrm>
              <a:off x="4701" y="1902"/>
              <a:ext cx="175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 dirty="0">
                  <a:solidFill>
                    <a:srgbClr val="FF0000"/>
                  </a:solidFill>
                  <a:latin typeface="黑体" panose="02010609060101010101" pitchFamily="49" charset="-122"/>
                </a:rPr>
                <a:t>e</a:t>
              </a:r>
            </a:p>
          </p:txBody>
        </p:sp>
        <p:sp>
          <p:nvSpPr>
            <p:cNvPr id="115744" name="Text Box 30"/>
            <p:cNvSpPr txBox="1">
              <a:spLocks noChangeArrowheads="1"/>
            </p:cNvSpPr>
            <p:nvPr/>
          </p:nvSpPr>
          <p:spPr bwMode="auto">
            <a:xfrm>
              <a:off x="4396" y="1344"/>
              <a:ext cx="176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>
                  <a:solidFill>
                    <a:srgbClr val="FF0000"/>
                  </a:solidFill>
                  <a:latin typeface="黑体" panose="02010609060101010101" pitchFamily="49" charset="-122"/>
                </a:rPr>
                <a:t>f</a:t>
              </a:r>
            </a:p>
          </p:txBody>
        </p:sp>
        <p:sp>
          <p:nvSpPr>
            <p:cNvPr id="91169" name="Line 31"/>
            <p:cNvSpPr>
              <a:spLocks noChangeShapeType="1"/>
            </p:cNvSpPr>
            <p:nvPr/>
          </p:nvSpPr>
          <p:spPr bwMode="auto">
            <a:xfrm>
              <a:off x="4482" y="1639"/>
              <a:ext cx="0" cy="24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746" name="Text Box 32"/>
            <p:cNvSpPr txBox="1">
              <a:spLocks noChangeArrowheads="1"/>
            </p:cNvSpPr>
            <p:nvPr/>
          </p:nvSpPr>
          <p:spPr bwMode="auto">
            <a:xfrm>
              <a:off x="4102" y="1902"/>
              <a:ext cx="175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>
                  <a:solidFill>
                    <a:srgbClr val="FF0000"/>
                  </a:solidFill>
                  <a:latin typeface="黑体" panose="02010609060101010101" pitchFamily="49" charset="-122"/>
                </a:rPr>
                <a:t>c</a:t>
              </a:r>
            </a:p>
          </p:txBody>
        </p:sp>
        <p:sp>
          <p:nvSpPr>
            <p:cNvPr id="115747" name="Text Box 33"/>
            <p:cNvSpPr txBox="1">
              <a:spLocks noChangeArrowheads="1"/>
            </p:cNvSpPr>
            <p:nvPr/>
          </p:nvSpPr>
          <p:spPr bwMode="auto">
            <a:xfrm>
              <a:off x="4401" y="1902"/>
              <a:ext cx="175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>
                  <a:solidFill>
                    <a:srgbClr val="FF0000"/>
                  </a:solidFill>
                  <a:latin typeface="黑体" panose="02010609060101010101" pitchFamily="49" charset="-122"/>
                </a:rPr>
                <a:t>d</a:t>
              </a:r>
            </a:p>
          </p:txBody>
        </p:sp>
        <p:sp>
          <p:nvSpPr>
            <p:cNvPr id="115748" name="Oval 34"/>
            <p:cNvSpPr>
              <a:spLocks noChangeArrowheads="1"/>
            </p:cNvSpPr>
            <p:nvPr/>
          </p:nvSpPr>
          <p:spPr bwMode="auto">
            <a:xfrm>
              <a:off x="3864" y="1879"/>
              <a:ext cx="55" cy="54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15749" name="Oval 35"/>
            <p:cNvSpPr>
              <a:spLocks noChangeArrowheads="1"/>
            </p:cNvSpPr>
            <p:nvPr/>
          </p:nvSpPr>
          <p:spPr bwMode="auto">
            <a:xfrm>
              <a:off x="4165" y="1879"/>
              <a:ext cx="56" cy="54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15750" name="Oval 36"/>
            <p:cNvSpPr>
              <a:spLocks noChangeArrowheads="1"/>
            </p:cNvSpPr>
            <p:nvPr/>
          </p:nvSpPr>
          <p:spPr bwMode="auto">
            <a:xfrm>
              <a:off x="4466" y="1879"/>
              <a:ext cx="56" cy="54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115751" name="Oval 37"/>
            <p:cNvSpPr>
              <a:spLocks noChangeArrowheads="1"/>
            </p:cNvSpPr>
            <p:nvPr/>
          </p:nvSpPr>
          <p:spPr bwMode="auto">
            <a:xfrm>
              <a:off x="4767" y="1879"/>
              <a:ext cx="56" cy="54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en-US" sz="3200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91176" name="Line 38"/>
            <p:cNvSpPr>
              <a:spLocks noChangeShapeType="1"/>
            </p:cNvSpPr>
            <p:nvPr/>
          </p:nvSpPr>
          <p:spPr bwMode="auto">
            <a:xfrm>
              <a:off x="3914" y="1906"/>
              <a:ext cx="249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1177" name="Line 39"/>
            <p:cNvSpPr>
              <a:spLocks noChangeShapeType="1"/>
            </p:cNvSpPr>
            <p:nvPr/>
          </p:nvSpPr>
          <p:spPr bwMode="auto">
            <a:xfrm>
              <a:off x="4217" y="1906"/>
              <a:ext cx="250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91178" name="Line 40"/>
            <p:cNvSpPr>
              <a:spLocks noChangeShapeType="1"/>
            </p:cNvSpPr>
            <p:nvPr/>
          </p:nvSpPr>
          <p:spPr bwMode="auto">
            <a:xfrm>
              <a:off x="4521" y="1906"/>
              <a:ext cx="249" cy="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5755" name="Text Box 41"/>
            <p:cNvSpPr txBox="1">
              <a:spLocks noChangeArrowheads="1"/>
            </p:cNvSpPr>
            <p:nvPr/>
          </p:nvSpPr>
          <p:spPr bwMode="auto">
            <a:xfrm>
              <a:off x="4013" y="2160"/>
              <a:ext cx="353" cy="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>
                  <a:solidFill>
                    <a:srgbClr val="FF0000"/>
                  </a:solidFill>
                  <a:latin typeface="黑体" panose="02010609060101010101" pitchFamily="49" charset="-122"/>
                </a:rPr>
                <a:t>G</a:t>
              </a:r>
              <a:r>
                <a:rPr kumimoji="0" lang="en-US" altLang="zh-CN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’</a:t>
              </a:r>
              <a:endParaRPr kumimoji="0" lang="en-US" altLang="zh-CN" b="1">
                <a:solidFill>
                  <a:srgbClr val="FF0000"/>
                </a:solidFill>
                <a:latin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en-US" altLang="zh-CN" b="1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25771" name="Rectangle 43"/>
              <p:cNvSpPr>
                <a:spLocks noChangeArrowheads="1"/>
              </p:cNvSpPr>
              <p:nvPr/>
            </p:nvSpPr>
            <p:spPr bwMode="auto">
              <a:xfrm>
                <a:off x="539552" y="4223911"/>
                <a:ext cx="8353425" cy="194264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1pPr>
                <a:lvl2pPr marL="742950" indent="-28575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2pPr>
                <a:lvl3pPr marL="11430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3pPr>
                <a:lvl4pPr marL="16002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4pPr>
                <a:lvl5pPr marL="2057400" indent="-228600" eaLnBrk="0" hangingPunct="0"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defRPr>
                </a:lvl9pPr>
              </a:lstStyle>
              <a:p>
                <a:pPr algn="just" eaLnBrk="1" hangingPunct="1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b="1" dirty="0">
                    <a:effectLst/>
                  </a:rPr>
                  <a:t>【</a:t>
                </a:r>
                <a:r>
                  <a:rPr lang="zh-CN" altLang="en-US" sz="2400" b="1" dirty="0">
                    <a:effectLst/>
                  </a:rPr>
                  <a:t>证明</a:t>
                </a:r>
                <a:r>
                  <a:rPr lang="en-US" altLang="zh-CN" sz="2400" b="1" dirty="0">
                    <a:effectLst/>
                  </a:rPr>
                  <a:t>】</a:t>
                </a:r>
                <a:r>
                  <a:rPr lang="zh-CN" altLang="zh-CN" sz="2400" b="1" dirty="0">
                    <a:solidFill>
                      <a:schemeClr val="tx1"/>
                    </a:solidFill>
                    <a:effectLst/>
                  </a:rPr>
                  <a:t>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</a:rPr>
                      <m:t>≅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effectLst/>
                  </a:rPr>
                  <a:t>，则存在同构映射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</a:rPr>
                      <m:t>𝒈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effectLst/>
                  </a:rPr>
                  <a:t>。根据同构的必要条件，</a:t>
                </a:r>
                <a:r>
                  <a:rPr lang="zh-CN" altLang="zh-CN" sz="2400" b="1" dirty="0">
                    <a:solidFill>
                      <a:srgbClr val="CC00FF"/>
                    </a:solidFill>
                    <a:effectLst/>
                  </a:rPr>
                  <a:t>最大度的结点必须映射到最大度的结点，故必有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CC00FF"/>
                        </a:solidFill>
                        <a:effectLst/>
                        <a:latin typeface="Cambria Math" panose="02040503050406030204" pitchFamily="18" charset="0"/>
                        <a:ea typeface="+mn-ea"/>
                      </a:rPr>
                      <m:t>𝒈</m:t>
                    </m:r>
                    <m:d>
                      <m:dPr>
                        <m:ctrlPr>
                          <a:rPr lang="zh-CN" altLang="zh-CN" sz="2400" b="1" i="1">
                            <a:solidFill>
                              <a:srgbClr val="CC00FF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1" i="1">
                                <a:solidFill>
                                  <a:srgbClr val="CC00FF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CC00FF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CC00FF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altLang="zh-CN" sz="2400" b="1">
                        <a:solidFill>
                          <a:srgbClr val="CC00FF"/>
                        </a:solidFill>
                        <a:effectLst/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CC00FF"/>
                        </a:solidFill>
                        <a:effectLst/>
                        <a:latin typeface="Cambria Math" panose="02040503050406030204" pitchFamily="18" charset="0"/>
                        <a:ea typeface="+mn-ea"/>
                      </a:rPr>
                      <m:t>𝒅</m:t>
                    </m:r>
                    <m:r>
                      <a:rPr lang="zh-CN" altLang="zh-CN" sz="2400" b="1">
                        <a:solidFill>
                          <a:srgbClr val="CC00FF"/>
                        </a:solidFill>
                        <a:effectLst/>
                        <a:latin typeface="Cambria Math" panose="02040503050406030204" pitchFamily="18" charset="0"/>
                        <a:ea typeface="+mn-ea"/>
                      </a:rPr>
                      <m:t>。</m:t>
                    </m:r>
                    <m:r>
                      <a:rPr lang="zh-CN" alt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</a:rPr>
                      <m:t>由于</m:t>
                    </m:r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effectLst/>
                  </a:rPr>
                  <a:t>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effectLst/>
                  </a:rPr>
                  <a:t>与一个度数为</a:t>
                </a:r>
                <a:r>
                  <a:rPr lang="en-US" altLang="zh-CN" sz="2400" b="1" dirty="0">
                    <a:solidFill>
                      <a:schemeClr val="tx1"/>
                    </a:solidFill>
                    <a:effectLst/>
                  </a:rPr>
                  <a:t>1</a:t>
                </a:r>
                <a:r>
                  <a:rPr lang="zh-CN" altLang="zh-CN" sz="2400" b="1" dirty="0">
                    <a:solidFill>
                      <a:schemeClr val="tx1"/>
                    </a:solidFill>
                    <a:effectLst/>
                  </a:rPr>
                  <a:t>的结点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𝟔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effectLst/>
                  </a:rPr>
                  <a:t>邻接，而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effectLst/>
                  </a:rPr>
                  <a:t>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</a:rPr>
                      <m:t>𝒅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effectLst/>
                  </a:rPr>
                  <a:t>与两个度数为</a:t>
                </a:r>
                <a:r>
                  <a:rPr lang="en-US" altLang="zh-CN" sz="2400" b="1" dirty="0">
                    <a:solidFill>
                      <a:schemeClr val="tx1"/>
                    </a:solidFill>
                    <a:effectLst/>
                  </a:rPr>
                  <a:t>1</a:t>
                </a:r>
                <a:r>
                  <a:rPr lang="zh-CN" altLang="zh-CN" sz="2400" b="1" dirty="0">
                    <a:solidFill>
                      <a:schemeClr val="tx1"/>
                    </a:solidFill>
                    <a:effectLst/>
                  </a:rPr>
                  <a:t>的结点</a:t>
                </a:r>
                <a14:m>
                  <m:oMath xmlns:m="http://schemas.openxmlformats.org/officeDocument/2006/math">
                    <m:r>
                      <a:rPr lang="zh-CN" altLang="zh-CN" sz="24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</a:rPr>
                      <m:t>𝒆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effectLst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</a:rPr>
                      <m:t>𝒇</m:t>
                    </m:r>
                    <m:r>
                      <a:rPr lang="en-US" altLang="zh-CN" sz="2400" b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effectLst/>
                  </a:rPr>
                  <a:t>邻接，这不符合同构图的必要条件，矛盾！故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effectLst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zh-CN" sz="2400" b="1" dirty="0">
                    <a:solidFill>
                      <a:schemeClr val="tx1"/>
                    </a:solidFill>
                    <a:effectLst/>
                  </a:rPr>
                  <a:t>不同构。</a:t>
                </a:r>
                <a:endParaRPr lang="zh-CN" altLang="en-US" sz="2400" b="1" dirty="0">
                  <a:solidFill>
                    <a:srgbClr val="0000FF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1225771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552" y="4223911"/>
                <a:ext cx="8353425" cy="1942648"/>
              </a:xfrm>
              <a:prstGeom prst="rect">
                <a:avLst/>
              </a:prstGeom>
              <a:blipFill>
                <a:blip r:embed="rId3"/>
                <a:stretch>
                  <a:fillRect l="-1168" t="-3448" r="-1095" b="-50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718" name="Text Box 2"/>
          <p:cNvSpPr txBox="1">
            <a:spLocks noChangeArrowheads="1"/>
          </p:cNvSpPr>
          <p:nvPr/>
        </p:nvSpPr>
        <p:spPr bwMode="auto">
          <a:xfrm>
            <a:off x="1403350" y="620713"/>
            <a:ext cx="64087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1571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D440F7-7160-4A80-96F0-31A998C6D878}" type="datetime1">
              <a:rPr kumimoji="0" lang="zh-CN" altLang="en-US" sz="1400" smtClean="0">
                <a:solidFill>
                  <a:srgbClr val="FF0000"/>
                </a:solidFill>
                <a:latin typeface="黑体" panose="02010609060101010101" pitchFamily="49" charset="-122"/>
              </a:rPr>
              <a:pPr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115718" name="Text Box 2"/>
          <p:cNvSpPr txBox="1">
            <a:spLocks noChangeArrowheads="1"/>
          </p:cNvSpPr>
          <p:nvPr/>
        </p:nvSpPr>
        <p:spPr bwMode="auto">
          <a:xfrm>
            <a:off x="1403350" y="620713"/>
            <a:ext cx="6408738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zh-CN" altLang="en-US" sz="5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例 题</a:t>
            </a:r>
          </a:p>
        </p:txBody>
      </p:sp>
      <p:pic>
        <p:nvPicPr>
          <p:cNvPr id="115719" name="Picture 6" descr="C:\Program Files\Microsoft Office\MEDIA\CAGCAT10\j0293844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63" y="476250"/>
            <a:ext cx="11636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9FAD7FB-BF1F-48E7-8E42-4FCBD6D2F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76" y="1772817"/>
            <a:ext cx="9005084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565872"/>
      </p:ext>
    </p:extLst>
  </p:cSld>
  <p:clrMapOvr>
    <a:masterClrMapping/>
  </p:clrMapOvr>
  <p:transition spd="med">
    <p:wipe dir="r"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日期占位符 3">
            <a:extLst>
              <a:ext uri="{FF2B5EF4-FFF2-40B4-BE49-F238E27FC236}">
                <a16:creationId xmlns:a16="http://schemas.microsoft.com/office/drawing/2014/main" id="{E9DEAC2B-9A4B-45BB-848B-9C234DEE8636}"/>
              </a:ext>
            </a:extLst>
          </p:cNvPr>
          <p:cNvSpPr txBox="1">
            <a:spLocks noGrp="1"/>
          </p:cNvSpPr>
          <p:nvPr/>
        </p:nvSpPr>
        <p:spPr bwMode="auto">
          <a:xfrm>
            <a:off x="684213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5254934-0C39-4267-8B95-3F40AD5EB362}" type="datetime1">
              <a:rPr kumimoji="0" lang="zh-CN" altLang="en-US" sz="1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2020/9/7</a:t>
            </a:fld>
            <a:endParaRPr kumimoji="0" lang="en-US" altLang="zh-CN" sz="14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0899" name="Text Box 2">
            <a:extLst>
              <a:ext uri="{FF2B5EF4-FFF2-40B4-BE49-F238E27FC236}">
                <a16:creationId xmlns:a16="http://schemas.microsoft.com/office/drawing/2014/main" id="{BBB78957-511A-4215-80BD-406A1601F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1412875"/>
            <a:ext cx="6335713" cy="91440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zh-CN" altLang="en-US" sz="540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本节内容到此结束</a:t>
            </a:r>
            <a:endParaRPr lang="en-US" altLang="zh-CN" sz="540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0900" name="WordArt 6">
            <a:extLst>
              <a:ext uri="{FF2B5EF4-FFF2-40B4-BE49-F238E27FC236}">
                <a16:creationId xmlns:a16="http://schemas.microsoft.com/office/drawing/2014/main" id="{501CC8AA-ED62-43C1-8670-518D4FB1B26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590800" y="3048000"/>
            <a:ext cx="4419600" cy="251460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58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r>
              <a:rPr lang="zh-CN" altLang="en-US" sz="36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宋体" panose="02010600030101010101" pitchFamily="2" charset="-122"/>
                <a:ea typeface="宋体" panose="02010600030101010101" pitchFamily="2" charset="-122"/>
              </a:rPr>
              <a:t>谢谢大家！</a:t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张勇-硕士答辩">
  <a:themeElements>
    <a:clrScheme name="张勇-硕士答辩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3399FF"/>
      </a:folHlink>
    </a:clrScheme>
    <a:fontScheme name="张勇-硕士答辩">
      <a:majorFont>
        <a:latin typeface="Times New Roman"/>
        <a:ea typeface="宋体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张勇-硕士答辩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张勇-硕士答辩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张勇-硕士答辩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张勇-硕士答辩">
  <a:themeElements>
    <a:clrScheme name="1_张勇-硕士答辩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3399FF"/>
      </a:folHlink>
    </a:clrScheme>
    <a:fontScheme name="1_张勇-硕士答辩">
      <a:majorFont>
        <a:latin typeface="Times New Roman"/>
        <a:ea typeface="宋体"/>
        <a:cs typeface=""/>
      </a:majorFont>
      <a:minorFont>
        <a:latin typeface="楷体_GB2312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张勇-硕士答辩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张勇-硕士答辩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张勇-硕士答辩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第6章_二元关系</Template>
  <TotalTime>6012</TotalTime>
  <Words>11221</Words>
  <Application>Microsoft Office PowerPoint</Application>
  <PresentationFormat>全屏显示(4:3)</PresentationFormat>
  <Paragraphs>711</Paragraphs>
  <Slides>135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135</vt:i4>
      </vt:variant>
    </vt:vector>
  </HeadingPairs>
  <TitlesOfParts>
    <vt:vector size="150" baseType="lpstr">
      <vt:lpstr>等线</vt:lpstr>
      <vt:lpstr>黑体</vt:lpstr>
      <vt:lpstr>华文行楷</vt:lpstr>
      <vt:lpstr>华文细黑</vt:lpstr>
      <vt:lpstr>楷体_GB2312</vt:lpstr>
      <vt:lpstr>隶书</vt:lpstr>
      <vt:lpstr>宋体</vt:lpstr>
      <vt:lpstr>Arial</vt:lpstr>
      <vt:lpstr>Calibri</vt:lpstr>
      <vt:lpstr>Cambria Math</vt:lpstr>
      <vt:lpstr>Times New Roman</vt:lpstr>
      <vt:lpstr>Wingdings</vt:lpstr>
      <vt:lpstr>Wingdings 2</vt:lpstr>
      <vt:lpstr>张勇-硕士答辩</vt:lpstr>
      <vt:lpstr>1_张勇-硕士答辩</vt:lpstr>
      <vt:lpstr>PowerPoint 演示文稿</vt:lpstr>
      <vt:lpstr>第8章 图基本理论 与算法(上)</vt:lpstr>
      <vt:lpstr>PowerPoint 演示文稿</vt:lpstr>
      <vt:lpstr>图的概念与表示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图的运算与结构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汪荣贵</dc:creator>
  <cp:lastModifiedBy>Windows 用户</cp:lastModifiedBy>
  <cp:revision>372</cp:revision>
  <dcterms:created xsi:type="dcterms:W3CDTF">2008-02-21T03:51:14Z</dcterms:created>
  <dcterms:modified xsi:type="dcterms:W3CDTF">2020-09-07T02:19:32Z</dcterms:modified>
</cp:coreProperties>
</file>