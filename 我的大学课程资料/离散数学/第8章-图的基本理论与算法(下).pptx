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 id="2147483681" r:id="rId2"/>
  </p:sldMasterIdLst>
  <p:notesMasterIdLst>
    <p:notesMasterId r:id="rId178"/>
  </p:notesMasterIdLst>
  <p:sldIdLst>
    <p:sldId id="1280" r:id="rId3"/>
    <p:sldId id="1281" r:id="rId4"/>
    <p:sldId id="823" r:id="rId5"/>
    <p:sldId id="1414" r:id="rId6"/>
    <p:sldId id="1415" r:id="rId7"/>
    <p:sldId id="1079" r:id="rId8"/>
    <p:sldId id="1246" r:id="rId9"/>
    <p:sldId id="1529" r:id="rId10"/>
    <p:sldId id="1245" r:id="rId11"/>
    <p:sldId id="1247" r:id="rId12"/>
    <p:sldId id="1248" r:id="rId13"/>
    <p:sldId id="1419" r:id="rId14"/>
    <p:sldId id="1417" r:id="rId15"/>
    <p:sldId id="1303" r:id="rId16"/>
    <p:sldId id="1295" r:id="rId17"/>
    <p:sldId id="1297" r:id="rId18"/>
    <p:sldId id="1298" r:id="rId19"/>
    <p:sldId id="1299" r:id="rId20"/>
    <p:sldId id="1300" r:id="rId21"/>
    <p:sldId id="1301" r:id="rId22"/>
    <p:sldId id="1252" r:id="rId23"/>
    <p:sldId id="1530" r:id="rId24"/>
    <p:sldId id="1421" r:id="rId25"/>
    <p:sldId id="1422" r:id="rId26"/>
    <p:sldId id="1423" r:id="rId27"/>
    <p:sldId id="1424" r:id="rId28"/>
    <p:sldId id="1531" r:id="rId29"/>
    <p:sldId id="1426" r:id="rId30"/>
    <p:sldId id="1284" r:id="rId31"/>
    <p:sldId id="1096" r:id="rId32"/>
    <p:sldId id="1097" r:id="rId33"/>
    <p:sldId id="1532" r:id="rId34"/>
    <p:sldId id="1098" r:id="rId35"/>
    <p:sldId id="1533" r:id="rId36"/>
    <p:sldId id="1100" r:id="rId37"/>
    <p:sldId id="1102" r:id="rId38"/>
    <p:sldId id="1427" r:id="rId39"/>
    <p:sldId id="1428" r:id="rId40"/>
    <p:sldId id="1429" r:id="rId41"/>
    <p:sldId id="1430" r:id="rId42"/>
    <p:sldId id="1431" r:id="rId43"/>
    <p:sldId id="1432" r:id="rId44"/>
    <p:sldId id="1265" r:id="rId45"/>
    <p:sldId id="1107" r:id="rId46"/>
    <p:sldId id="1108" r:id="rId47"/>
    <p:sldId id="1433" r:id="rId48"/>
    <p:sldId id="1434" r:id="rId49"/>
    <p:sldId id="1435" r:id="rId50"/>
    <p:sldId id="1437" r:id="rId51"/>
    <p:sldId id="1283" r:id="rId52"/>
    <p:sldId id="1111" r:id="rId53"/>
    <p:sldId id="1122" r:id="rId54"/>
    <p:sldId id="1534" r:id="rId55"/>
    <p:sldId id="1286" r:id="rId56"/>
    <p:sldId id="1285" r:id="rId57"/>
    <p:sldId id="1438" r:id="rId58"/>
    <p:sldId id="1439" r:id="rId59"/>
    <p:sldId id="1440" r:id="rId60"/>
    <p:sldId id="1441" r:id="rId61"/>
    <p:sldId id="1126" r:id="rId62"/>
    <p:sldId id="1268" r:id="rId63"/>
    <p:sldId id="1442" r:id="rId64"/>
    <p:sldId id="1443" r:id="rId65"/>
    <p:sldId id="1444" r:id="rId66"/>
    <p:sldId id="1445" r:id="rId67"/>
    <p:sldId id="1446" r:id="rId68"/>
    <p:sldId id="1448" r:id="rId69"/>
    <p:sldId id="1269" r:id="rId70"/>
    <p:sldId id="1449" r:id="rId71"/>
    <p:sldId id="1450" r:id="rId72"/>
    <p:sldId id="1305" r:id="rId73"/>
    <p:sldId id="1451" r:id="rId74"/>
    <p:sldId id="1452" r:id="rId75"/>
    <p:sldId id="1453" r:id="rId76"/>
    <p:sldId id="1455" r:id="rId77"/>
    <p:sldId id="1127" r:id="rId78"/>
    <p:sldId id="1535" r:id="rId79"/>
    <p:sldId id="1197" r:id="rId80"/>
    <p:sldId id="1130" r:id="rId81"/>
    <p:sldId id="1129" r:id="rId82"/>
    <p:sldId id="1131" r:id="rId83"/>
    <p:sldId id="1132" r:id="rId84"/>
    <p:sldId id="1457" r:id="rId85"/>
    <p:sldId id="1462" r:id="rId86"/>
    <p:sldId id="1135" r:id="rId87"/>
    <p:sldId id="1541" r:id="rId88"/>
    <p:sldId id="1536" r:id="rId89"/>
    <p:sldId id="1538" r:id="rId90"/>
    <p:sldId id="1539" r:id="rId91"/>
    <p:sldId id="841" r:id="rId92"/>
    <p:sldId id="1466" r:id="rId93"/>
    <p:sldId id="1467" r:id="rId94"/>
    <p:sldId id="1139" r:id="rId95"/>
    <p:sldId id="1543" r:id="rId96"/>
    <p:sldId id="1544" r:id="rId97"/>
    <p:sldId id="1469" r:id="rId98"/>
    <p:sldId id="1528" r:id="rId99"/>
    <p:sldId id="1545" r:id="rId100"/>
    <p:sldId id="1468" r:id="rId101"/>
    <p:sldId id="1470" r:id="rId102"/>
    <p:sldId id="1471" r:id="rId103"/>
    <p:sldId id="1472" r:id="rId104"/>
    <p:sldId id="1511" r:id="rId105"/>
    <p:sldId id="1546" r:id="rId106"/>
    <p:sldId id="1547" r:id="rId107"/>
    <p:sldId id="1473" r:id="rId108"/>
    <p:sldId id="1548" r:id="rId109"/>
    <p:sldId id="1474" r:id="rId110"/>
    <p:sldId id="1475" r:id="rId111"/>
    <p:sldId id="1549" r:id="rId112"/>
    <p:sldId id="1476" r:id="rId113"/>
    <p:sldId id="1477" r:id="rId114"/>
    <p:sldId id="1478" r:id="rId115"/>
    <p:sldId id="1481" r:id="rId116"/>
    <p:sldId id="1482" r:id="rId117"/>
    <p:sldId id="1513" r:id="rId118"/>
    <p:sldId id="1523" r:id="rId119"/>
    <p:sldId id="1555" r:id="rId120"/>
    <p:sldId id="1150" r:id="rId121"/>
    <p:sldId id="1151" r:id="rId122"/>
    <p:sldId id="1144" r:id="rId123"/>
    <p:sldId id="1145" r:id="rId124"/>
    <p:sldId id="1146" r:id="rId125"/>
    <p:sldId id="1149" r:id="rId126"/>
    <p:sldId id="1550" r:id="rId127"/>
    <p:sldId id="1551" r:id="rId128"/>
    <p:sldId id="1515" r:id="rId129"/>
    <p:sldId id="1152" r:id="rId130"/>
    <p:sldId id="1552" r:id="rId131"/>
    <p:sldId id="1553" r:id="rId132"/>
    <p:sldId id="1272" r:id="rId133"/>
    <p:sldId id="1153" r:id="rId134"/>
    <p:sldId id="1273" r:id="rId135"/>
    <p:sldId id="1154" r:id="rId136"/>
    <p:sldId id="1155" r:id="rId137"/>
    <p:sldId id="1274" r:id="rId138"/>
    <p:sldId id="1275" r:id="rId139"/>
    <p:sldId id="1276" r:id="rId140"/>
    <p:sldId id="1277" r:id="rId141"/>
    <p:sldId id="1278" r:id="rId142"/>
    <p:sldId id="1279" r:id="rId143"/>
    <p:sldId id="1556" r:id="rId144"/>
    <p:sldId id="1557" r:id="rId145"/>
    <p:sldId id="1558" r:id="rId146"/>
    <p:sldId id="1517" r:id="rId147"/>
    <p:sldId id="1518" r:id="rId148"/>
    <p:sldId id="1519" r:id="rId149"/>
    <p:sldId id="1520" r:id="rId150"/>
    <p:sldId id="1521" r:id="rId151"/>
    <p:sldId id="1522" r:id="rId152"/>
    <p:sldId id="1554" r:id="rId153"/>
    <p:sldId id="968" r:id="rId154"/>
    <p:sldId id="1484" r:id="rId155"/>
    <p:sldId id="1485" r:id="rId156"/>
    <p:sldId id="1486" r:id="rId157"/>
    <p:sldId id="1487" r:id="rId158"/>
    <p:sldId id="1488" r:id="rId159"/>
    <p:sldId id="1489" r:id="rId160"/>
    <p:sldId id="1501" r:id="rId161"/>
    <p:sldId id="1491" r:id="rId162"/>
    <p:sldId id="1492" r:id="rId163"/>
    <p:sldId id="1493" r:id="rId164"/>
    <p:sldId id="1494" r:id="rId165"/>
    <p:sldId id="1495" r:id="rId166"/>
    <p:sldId id="1496" r:id="rId167"/>
    <p:sldId id="1497" r:id="rId168"/>
    <p:sldId id="1498" r:id="rId169"/>
    <p:sldId id="1499" r:id="rId170"/>
    <p:sldId id="1500" r:id="rId171"/>
    <p:sldId id="1502" r:id="rId172"/>
    <p:sldId id="1503" r:id="rId173"/>
    <p:sldId id="1504" r:id="rId174"/>
    <p:sldId id="1505" r:id="rId175"/>
    <p:sldId id="1506" r:id="rId176"/>
    <p:sldId id="1542" r:id="rId177"/>
  </p:sldIdLst>
  <p:sldSz cx="9144000" cy="6858000" type="screen4x3"/>
  <p:notesSz cx="6858000" cy="9144000"/>
  <p:defaultTextStyle>
    <a:defPPr>
      <a:defRPr lang="en-US"/>
    </a:defPPr>
    <a:lvl1pPr algn="l" rtl="0" eaLnBrk="0" fontAlgn="base" hangingPunct="0">
      <a:spcBef>
        <a:spcPct val="0"/>
      </a:spcBef>
      <a:spcAft>
        <a:spcPct val="0"/>
      </a:spcAft>
      <a:defRPr sz="1200" kern="1200">
        <a:solidFill>
          <a:srgbClr val="FF0000"/>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1200" kern="1200">
        <a:solidFill>
          <a:srgbClr val="FF0000"/>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1200" kern="1200">
        <a:solidFill>
          <a:srgbClr val="FF0000"/>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1200" kern="1200">
        <a:solidFill>
          <a:srgbClr val="FF0000"/>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1200" kern="1200">
        <a:solidFill>
          <a:srgbClr val="FF0000"/>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1200" kern="1200">
        <a:solidFill>
          <a:srgbClr val="FF0000"/>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1200" kern="1200">
        <a:solidFill>
          <a:srgbClr val="FF0000"/>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1200" kern="1200">
        <a:solidFill>
          <a:srgbClr val="FF0000"/>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1200" kern="1200">
        <a:solidFill>
          <a:srgbClr val="FF0000"/>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FF"/>
    <a:srgbClr val="0000FF"/>
    <a:srgbClr val="FF00FF"/>
    <a:srgbClr val="FFFF66"/>
    <a:srgbClr val="FF0000"/>
    <a:srgbClr val="800080"/>
    <a:srgbClr val="993366"/>
    <a:srgbClr val="660033"/>
    <a:srgbClr val="33CCFF"/>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97" autoAdjust="0"/>
    <p:restoredTop sz="95479" autoAdjust="0"/>
  </p:normalViewPr>
  <p:slideViewPr>
    <p:cSldViewPr>
      <p:cViewPr varScale="1">
        <p:scale>
          <a:sx n="87" d="100"/>
          <a:sy n="87" d="100"/>
        </p:scale>
        <p:origin x="1349" y="77"/>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 r:id="rId94" collapse="1"/>
      <p:sld r:id="rId95" collapse="1"/>
      <p:sld r:id="rId96" collapse="1"/>
      <p:sld r:id="rId97" collapse="1"/>
      <p:sld r:id="rId98" collapse="1"/>
      <p:sld r:id="rId99" collapse="1"/>
      <p:sld r:id="rId100" collapse="1"/>
      <p:sld r:id="rId101" collapse="1"/>
      <p:sld r:id="rId102" collapse="1"/>
      <p:sld r:id="rId103" collapse="1"/>
      <p:sld r:id="rId104" collapse="1"/>
      <p:sld r:id="rId105" collapse="1"/>
      <p:sld r:id="rId106" collapse="1"/>
      <p:sld r:id="rId107" collapse="1"/>
      <p:sld r:id="rId108" collapse="1"/>
      <p:sld r:id="rId109" collapse="1"/>
      <p:sld r:id="rId110" collapse="1"/>
      <p:sld r:id="rId111" collapse="1"/>
      <p:sld r:id="rId112" collapse="1"/>
      <p:sld r:id="rId113" collapse="1"/>
      <p:sld r:id="rId114" collapse="1"/>
      <p:sld r:id="rId115" collapse="1"/>
      <p:sld r:id="rId116" collapse="1"/>
      <p:sld r:id="rId117" collapse="1"/>
    </p:sldLst>
  </p:outlin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theme" Target="theme/theme1.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tableStyles" Target="tableStyles.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viewProps" Target="viewProp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s>
</file>

<file path=ppt/_rels/viewProps.xml.rels><?xml version="1.0" encoding="UTF-8" standalone="yes"?>
<Relationships xmlns="http://schemas.openxmlformats.org/package/2006/relationships"><Relationship Id="rId26" Type="http://schemas.openxmlformats.org/officeDocument/2006/relationships/slide" Target="slides/slide43.xml"/><Relationship Id="rId117" Type="http://schemas.openxmlformats.org/officeDocument/2006/relationships/slide" Target="slides/slide174.xml"/><Relationship Id="rId21" Type="http://schemas.openxmlformats.org/officeDocument/2006/relationships/slide" Target="slides/slide38.xml"/><Relationship Id="rId42" Type="http://schemas.openxmlformats.org/officeDocument/2006/relationships/slide" Target="slides/slide60.xml"/><Relationship Id="rId47" Type="http://schemas.openxmlformats.org/officeDocument/2006/relationships/slide" Target="slides/slide65.xml"/><Relationship Id="rId63" Type="http://schemas.openxmlformats.org/officeDocument/2006/relationships/slide" Target="slides/slide82.xml"/><Relationship Id="rId68" Type="http://schemas.openxmlformats.org/officeDocument/2006/relationships/slide" Target="slides/slide87.xml"/><Relationship Id="rId84" Type="http://schemas.openxmlformats.org/officeDocument/2006/relationships/slide" Target="slides/slide107.xml"/><Relationship Id="rId89" Type="http://schemas.openxmlformats.org/officeDocument/2006/relationships/slide" Target="slides/slide112.xml"/><Relationship Id="rId112" Type="http://schemas.openxmlformats.org/officeDocument/2006/relationships/slide" Target="slides/slide168.xml"/><Relationship Id="rId16" Type="http://schemas.openxmlformats.org/officeDocument/2006/relationships/slide" Target="slides/slide33.xml"/><Relationship Id="rId107" Type="http://schemas.openxmlformats.org/officeDocument/2006/relationships/slide" Target="slides/slide163.xml"/><Relationship Id="rId11" Type="http://schemas.openxmlformats.org/officeDocument/2006/relationships/slide" Target="slides/slide27.xml"/><Relationship Id="rId32" Type="http://schemas.openxmlformats.org/officeDocument/2006/relationships/slide" Target="slides/slide50.xml"/><Relationship Id="rId37" Type="http://schemas.openxmlformats.org/officeDocument/2006/relationships/slide" Target="slides/slide55.xml"/><Relationship Id="rId53" Type="http://schemas.openxmlformats.org/officeDocument/2006/relationships/slide" Target="slides/slide71.xml"/><Relationship Id="rId58" Type="http://schemas.openxmlformats.org/officeDocument/2006/relationships/slide" Target="slides/slide77.xml"/><Relationship Id="rId74" Type="http://schemas.openxmlformats.org/officeDocument/2006/relationships/slide" Target="slides/slide96.xml"/><Relationship Id="rId79" Type="http://schemas.openxmlformats.org/officeDocument/2006/relationships/slide" Target="slides/slide101.xml"/><Relationship Id="rId102" Type="http://schemas.openxmlformats.org/officeDocument/2006/relationships/slide" Target="slides/slide157.xml"/><Relationship Id="rId5" Type="http://schemas.openxmlformats.org/officeDocument/2006/relationships/slide" Target="slides/slide21.xml"/><Relationship Id="rId90" Type="http://schemas.openxmlformats.org/officeDocument/2006/relationships/slide" Target="slides/slide113.xml"/><Relationship Id="rId95" Type="http://schemas.openxmlformats.org/officeDocument/2006/relationships/slide" Target="slides/slide147.xml"/><Relationship Id="rId22" Type="http://schemas.openxmlformats.org/officeDocument/2006/relationships/slide" Target="slides/slide39.xml"/><Relationship Id="rId27" Type="http://schemas.openxmlformats.org/officeDocument/2006/relationships/slide" Target="slides/slide44.xml"/><Relationship Id="rId43" Type="http://schemas.openxmlformats.org/officeDocument/2006/relationships/slide" Target="slides/slide61.xml"/><Relationship Id="rId48" Type="http://schemas.openxmlformats.org/officeDocument/2006/relationships/slide" Target="slides/slide66.xml"/><Relationship Id="rId64" Type="http://schemas.openxmlformats.org/officeDocument/2006/relationships/slide" Target="slides/slide83.xml"/><Relationship Id="rId69" Type="http://schemas.openxmlformats.org/officeDocument/2006/relationships/slide" Target="slides/slide88.xml"/><Relationship Id="rId113" Type="http://schemas.openxmlformats.org/officeDocument/2006/relationships/slide" Target="slides/slide169.xml"/><Relationship Id="rId80" Type="http://schemas.openxmlformats.org/officeDocument/2006/relationships/slide" Target="slides/slide102.xml"/><Relationship Id="rId85" Type="http://schemas.openxmlformats.org/officeDocument/2006/relationships/slide" Target="slides/slide108.xml"/><Relationship Id="rId12" Type="http://schemas.openxmlformats.org/officeDocument/2006/relationships/slide" Target="slides/slide29.xml"/><Relationship Id="rId17" Type="http://schemas.openxmlformats.org/officeDocument/2006/relationships/slide" Target="slides/slide34.xml"/><Relationship Id="rId33" Type="http://schemas.openxmlformats.org/officeDocument/2006/relationships/slide" Target="slides/slide51.xml"/><Relationship Id="rId38" Type="http://schemas.openxmlformats.org/officeDocument/2006/relationships/slide" Target="slides/slide56.xml"/><Relationship Id="rId59" Type="http://schemas.openxmlformats.org/officeDocument/2006/relationships/slide" Target="slides/slide78.xml"/><Relationship Id="rId103" Type="http://schemas.openxmlformats.org/officeDocument/2006/relationships/slide" Target="slides/slide158.xml"/><Relationship Id="rId108" Type="http://schemas.openxmlformats.org/officeDocument/2006/relationships/slide" Target="slides/slide164.xml"/><Relationship Id="rId54" Type="http://schemas.openxmlformats.org/officeDocument/2006/relationships/slide" Target="slides/slide72.xml"/><Relationship Id="rId70" Type="http://schemas.openxmlformats.org/officeDocument/2006/relationships/slide" Target="slides/slide89.xml"/><Relationship Id="rId75" Type="http://schemas.openxmlformats.org/officeDocument/2006/relationships/slide" Target="slides/slide97.xml"/><Relationship Id="rId91" Type="http://schemas.openxmlformats.org/officeDocument/2006/relationships/slide" Target="slides/slide114.xml"/><Relationship Id="rId96" Type="http://schemas.openxmlformats.org/officeDocument/2006/relationships/slide" Target="slides/slide148.xml"/><Relationship Id="rId1" Type="http://schemas.openxmlformats.org/officeDocument/2006/relationships/slide" Target="slides/slide6.xml"/><Relationship Id="rId6" Type="http://schemas.openxmlformats.org/officeDocument/2006/relationships/slide" Target="slides/slide22.xml"/><Relationship Id="rId23" Type="http://schemas.openxmlformats.org/officeDocument/2006/relationships/slide" Target="slides/slide40.xml"/><Relationship Id="rId28" Type="http://schemas.openxmlformats.org/officeDocument/2006/relationships/slide" Target="slides/slide45.xml"/><Relationship Id="rId49" Type="http://schemas.openxmlformats.org/officeDocument/2006/relationships/slide" Target="slides/slide67.xml"/><Relationship Id="rId114" Type="http://schemas.openxmlformats.org/officeDocument/2006/relationships/slide" Target="slides/slide171.xml"/><Relationship Id="rId10" Type="http://schemas.openxmlformats.org/officeDocument/2006/relationships/slide" Target="slides/slide26.xml"/><Relationship Id="rId31" Type="http://schemas.openxmlformats.org/officeDocument/2006/relationships/slide" Target="slides/slide48.xml"/><Relationship Id="rId44" Type="http://schemas.openxmlformats.org/officeDocument/2006/relationships/slide" Target="slides/slide62.xml"/><Relationship Id="rId52" Type="http://schemas.openxmlformats.org/officeDocument/2006/relationships/slide" Target="slides/slide70.xml"/><Relationship Id="rId60" Type="http://schemas.openxmlformats.org/officeDocument/2006/relationships/slide" Target="slides/slide79.xml"/><Relationship Id="rId65" Type="http://schemas.openxmlformats.org/officeDocument/2006/relationships/slide" Target="slides/slide84.xml"/><Relationship Id="rId73" Type="http://schemas.openxmlformats.org/officeDocument/2006/relationships/slide" Target="slides/slide95.xml"/><Relationship Id="rId78" Type="http://schemas.openxmlformats.org/officeDocument/2006/relationships/slide" Target="slides/slide100.xml"/><Relationship Id="rId81" Type="http://schemas.openxmlformats.org/officeDocument/2006/relationships/slide" Target="slides/slide104.xml"/><Relationship Id="rId86" Type="http://schemas.openxmlformats.org/officeDocument/2006/relationships/slide" Target="slides/slide109.xml"/><Relationship Id="rId94" Type="http://schemas.openxmlformats.org/officeDocument/2006/relationships/slide" Target="slides/slide146.xml"/><Relationship Id="rId99" Type="http://schemas.openxmlformats.org/officeDocument/2006/relationships/slide" Target="slides/slide151.xml"/><Relationship Id="rId101" Type="http://schemas.openxmlformats.org/officeDocument/2006/relationships/slide" Target="slides/slide156.xml"/><Relationship Id="rId4" Type="http://schemas.openxmlformats.org/officeDocument/2006/relationships/slide" Target="slides/slide14.xml"/><Relationship Id="rId9" Type="http://schemas.openxmlformats.org/officeDocument/2006/relationships/slide" Target="slides/slide25.xml"/><Relationship Id="rId13" Type="http://schemas.openxmlformats.org/officeDocument/2006/relationships/slide" Target="slides/slide30.xml"/><Relationship Id="rId18" Type="http://schemas.openxmlformats.org/officeDocument/2006/relationships/slide" Target="slides/slide35.xml"/><Relationship Id="rId39" Type="http://schemas.openxmlformats.org/officeDocument/2006/relationships/slide" Target="slides/slide57.xml"/><Relationship Id="rId109" Type="http://schemas.openxmlformats.org/officeDocument/2006/relationships/slide" Target="slides/slide165.xml"/><Relationship Id="rId34" Type="http://schemas.openxmlformats.org/officeDocument/2006/relationships/slide" Target="slides/slide52.xml"/><Relationship Id="rId50" Type="http://schemas.openxmlformats.org/officeDocument/2006/relationships/slide" Target="slides/slide68.xml"/><Relationship Id="rId55" Type="http://schemas.openxmlformats.org/officeDocument/2006/relationships/slide" Target="slides/slide73.xml"/><Relationship Id="rId76" Type="http://schemas.openxmlformats.org/officeDocument/2006/relationships/slide" Target="slides/slide98.xml"/><Relationship Id="rId97" Type="http://schemas.openxmlformats.org/officeDocument/2006/relationships/slide" Target="slides/slide149.xml"/><Relationship Id="rId104" Type="http://schemas.openxmlformats.org/officeDocument/2006/relationships/slide" Target="slides/slide160.xml"/><Relationship Id="rId7" Type="http://schemas.openxmlformats.org/officeDocument/2006/relationships/slide" Target="slides/slide23.xml"/><Relationship Id="rId71" Type="http://schemas.openxmlformats.org/officeDocument/2006/relationships/slide" Target="slides/slide93.xml"/><Relationship Id="rId92" Type="http://schemas.openxmlformats.org/officeDocument/2006/relationships/slide" Target="slides/slide115.xml"/><Relationship Id="rId2" Type="http://schemas.openxmlformats.org/officeDocument/2006/relationships/slide" Target="slides/slide12.xml"/><Relationship Id="rId29" Type="http://schemas.openxmlformats.org/officeDocument/2006/relationships/slide" Target="slides/slide46.xml"/><Relationship Id="rId24" Type="http://schemas.openxmlformats.org/officeDocument/2006/relationships/slide" Target="slides/slide41.xml"/><Relationship Id="rId40" Type="http://schemas.openxmlformats.org/officeDocument/2006/relationships/slide" Target="slides/slide58.xml"/><Relationship Id="rId45" Type="http://schemas.openxmlformats.org/officeDocument/2006/relationships/slide" Target="slides/slide63.xml"/><Relationship Id="rId66" Type="http://schemas.openxmlformats.org/officeDocument/2006/relationships/slide" Target="slides/slide85.xml"/><Relationship Id="rId87" Type="http://schemas.openxmlformats.org/officeDocument/2006/relationships/slide" Target="slides/slide110.xml"/><Relationship Id="rId110" Type="http://schemas.openxmlformats.org/officeDocument/2006/relationships/slide" Target="slides/slide166.xml"/><Relationship Id="rId115" Type="http://schemas.openxmlformats.org/officeDocument/2006/relationships/slide" Target="slides/slide172.xml"/><Relationship Id="rId61" Type="http://schemas.openxmlformats.org/officeDocument/2006/relationships/slide" Target="slides/slide80.xml"/><Relationship Id="rId82" Type="http://schemas.openxmlformats.org/officeDocument/2006/relationships/slide" Target="slides/slide105.xml"/><Relationship Id="rId19" Type="http://schemas.openxmlformats.org/officeDocument/2006/relationships/slide" Target="slides/slide36.xml"/><Relationship Id="rId14" Type="http://schemas.openxmlformats.org/officeDocument/2006/relationships/slide" Target="slides/slide31.xml"/><Relationship Id="rId30" Type="http://schemas.openxmlformats.org/officeDocument/2006/relationships/slide" Target="slides/slide47.xml"/><Relationship Id="rId35" Type="http://schemas.openxmlformats.org/officeDocument/2006/relationships/slide" Target="slides/slide53.xml"/><Relationship Id="rId56" Type="http://schemas.openxmlformats.org/officeDocument/2006/relationships/slide" Target="slides/slide74.xml"/><Relationship Id="rId77" Type="http://schemas.openxmlformats.org/officeDocument/2006/relationships/slide" Target="slides/slide99.xml"/><Relationship Id="rId100" Type="http://schemas.openxmlformats.org/officeDocument/2006/relationships/slide" Target="slides/slide155.xml"/><Relationship Id="rId105" Type="http://schemas.openxmlformats.org/officeDocument/2006/relationships/slide" Target="slides/slide161.xml"/><Relationship Id="rId8" Type="http://schemas.openxmlformats.org/officeDocument/2006/relationships/slide" Target="slides/slide24.xml"/><Relationship Id="rId51" Type="http://schemas.openxmlformats.org/officeDocument/2006/relationships/slide" Target="slides/slide69.xml"/><Relationship Id="rId72" Type="http://schemas.openxmlformats.org/officeDocument/2006/relationships/slide" Target="slides/slide94.xml"/><Relationship Id="rId93" Type="http://schemas.openxmlformats.org/officeDocument/2006/relationships/slide" Target="slides/slide145.xml"/><Relationship Id="rId98" Type="http://schemas.openxmlformats.org/officeDocument/2006/relationships/slide" Target="slides/slide150.xml"/><Relationship Id="rId3" Type="http://schemas.openxmlformats.org/officeDocument/2006/relationships/slide" Target="slides/slide13.xml"/><Relationship Id="rId25" Type="http://schemas.openxmlformats.org/officeDocument/2006/relationships/slide" Target="slides/slide42.xml"/><Relationship Id="rId46" Type="http://schemas.openxmlformats.org/officeDocument/2006/relationships/slide" Target="slides/slide64.xml"/><Relationship Id="rId67" Type="http://schemas.openxmlformats.org/officeDocument/2006/relationships/slide" Target="slides/slide86.xml"/><Relationship Id="rId116" Type="http://schemas.openxmlformats.org/officeDocument/2006/relationships/slide" Target="slides/slide173.xml"/><Relationship Id="rId20" Type="http://schemas.openxmlformats.org/officeDocument/2006/relationships/slide" Target="slides/slide37.xml"/><Relationship Id="rId41" Type="http://schemas.openxmlformats.org/officeDocument/2006/relationships/slide" Target="slides/slide59.xml"/><Relationship Id="rId62" Type="http://schemas.openxmlformats.org/officeDocument/2006/relationships/slide" Target="slides/slide81.xml"/><Relationship Id="rId83" Type="http://schemas.openxmlformats.org/officeDocument/2006/relationships/slide" Target="slides/slide106.xml"/><Relationship Id="rId88" Type="http://schemas.openxmlformats.org/officeDocument/2006/relationships/slide" Target="slides/slide111.xml"/><Relationship Id="rId111" Type="http://schemas.openxmlformats.org/officeDocument/2006/relationships/slide" Target="slides/slide167.xml"/><Relationship Id="rId15" Type="http://schemas.openxmlformats.org/officeDocument/2006/relationships/slide" Target="slides/slide32.xml"/><Relationship Id="rId36" Type="http://schemas.openxmlformats.org/officeDocument/2006/relationships/slide" Target="slides/slide54.xml"/><Relationship Id="rId57" Type="http://schemas.openxmlformats.org/officeDocument/2006/relationships/slide" Target="slides/slide76.xml"/><Relationship Id="rId106" Type="http://schemas.openxmlformats.org/officeDocument/2006/relationships/slide" Target="slides/slide1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effectLst/>
                <a:latin typeface="Arial" charset="0"/>
                <a:ea typeface="宋体" pitchFamily="2" charset="-122"/>
              </a:defRPr>
            </a:lvl1pPr>
          </a:lstStyle>
          <a:p>
            <a:pPr>
              <a:defRPr/>
            </a:pPr>
            <a:endParaRPr lang="zh-CN" altLang="en-US"/>
          </a:p>
        </p:txBody>
      </p:sp>
      <p:sp>
        <p:nvSpPr>
          <p:cNvPr id="1536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effectLst/>
                <a:latin typeface="Arial" charset="0"/>
                <a:ea typeface="宋体" pitchFamily="2" charset="-122"/>
              </a:defRPr>
            </a:lvl1pPr>
          </a:lstStyle>
          <a:p>
            <a:pPr>
              <a:defRPr/>
            </a:pPr>
            <a:endParaRPr lang="en-US" altLang="zh-CN"/>
          </a:p>
        </p:txBody>
      </p:sp>
      <p:sp>
        <p:nvSpPr>
          <p:cNvPr id="297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effectLst/>
                <a:latin typeface="Arial" charset="0"/>
                <a:ea typeface="宋体" pitchFamily="2" charset="-122"/>
              </a:defRPr>
            </a:lvl1pPr>
          </a:lstStyle>
          <a:p>
            <a:pPr>
              <a:defRPr/>
            </a:pPr>
            <a:endParaRPr lang="en-US" altLang="zh-CN"/>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mtClean="0">
                <a:solidFill>
                  <a:schemeClr val="tx1"/>
                </a:solidFill>
                <a:effectLst/>
                <a:latin typeface="Arial" panose="020B0604020202020204" pitchFamily="34" charset="0"/>
                <a:ea typeface="宋体" panose="02010600030101010101" pitchFamily="2" charset="-122"/>
              </a:defRPr>
            </a:lvl1pPr>
          </a:lstStyle>
          <a:p>
            <a:pPr>
              <a:defRPr/>
            </a:pPr>
            <a:fld id="{8ED0EF68-7DB4-4971-AFD2-F904790F93BD}" type="slidenum">
              <a:rPr lang="zh-CN" altLang="en-US"/>
              <a:pPr>
                <a:defRPr/>
              </a:pPr>
              <a:t>‹#›</a:t>
            </a:fld>
            <a:endParaRPr lang="en-US" altLang="zh-CN"/>
          </a:p>
        </p:txBody>
      </p:sp>
    </p:spTree>
    <p:extLst>
      <p:ext uri="{BB962C8B-B14F-4D97-AF65-F5344CB8AC3E}">
        <p14:creationId xmlns:p14="http://schemas.microsoft.com/office/powerpoint/2010/main" val="40092990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pPr>
              <a:defRPr/>
            </a:pPr>
            <a:fld id="{0575D3A0-317D-4AE8-B63E-1E4F9E7063D0}"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D91892E3-237F-4D84-98FF-7FF3841D59FF}" type="slidenum">
              <a:rPr lang="en-US" altLang="zh-CN"/>
              <a:pPr>
                <a:defRPr/>
              </a:pPr>
              <a:t>‹#›</a:t>
            </a:fld>
            <a:endParaRPr lang="en-US" altLang="zh-CN"/>
          </a:p>
        </p:txBody>
      </p:sp>
    </p:spTree>
    <p:extLst>
      <p:ext uri="{BB962C8B-B14F-4D97-AF65-F5344CB8AC3E}">
        <p14:creationId xmlns:p14="http://schemas.microsoft.com/office/powerpoint/2010/main" val="1601343080"/>
      </p:ext>
    </p:extLst>
  </p:cSld>
  <p:clrMapOvr>
    <a:masterClrMapping/>
  </p:clrMapOvr>
  <p:transition/>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C01F13D5-E72A-4E9D-B296-5496261E3489}"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D96AE822-FC28-42A0-BF87-6DB11A615641}" type="slidenum">
              <a:rPr lang="en-US" altLang="zh-CN"/>
              <a:pPr>
                <a:defRPr/>
              </a:pPr>
              <a:t>‹#›</a:t>
            </a:fld>
            <a:endParaRPr lang="en-US" altLang="zh-CN"/>
          </a:p>
        </p:txBody>
      </p:sp>
    </p:spTree>
    <p:extLst>
      <p:ext uri="{BB962C8B-B14F-4D97-AF65-F5344CB8AC3E}">
        <p14:creationId xmlns:p14="http://schemas.microsoft.com/office/powerpoint/2010/main" val="4286666578"/>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fld id="{B45831F7-9C48-4194-A7E6-9D4CB5D3BADD}"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8D2BB7E0-D204-4D2F-BC00-E89910A3EE04}" type="slidenum">
              <a:rPr lang="en-US" altLang="zh-CN"/>
              <a:pPr>
                <a:defRPr/>
              </a:pPr>
              <a:t>‹#›</a:t>
            </a:fld>
            <a:endParaRPr lang="en-US" altLang="zh-CN"/>
          </a:p>
        </p:txBody>
      </p:sp>
    </p:spTree>
    <p:extLst>
      <p:ext uri="{BB962C8B-B14F-4D97-AF65-F5344CB8AC3E}">
        <p14:creationId xmlns:p14="http://schemas.microsoft.com/office/powerpoint/2010/main" val="575904358"/>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fld id="{30AC43B1-C6EC-4EA0-AD03-E325CE4479C5}" type="datetime1">
              <a:rPr lang="zh-CN" altLang="en-US"/>
              <a:pPr>
                <a:defRPr/>
              </a:pPr>
              <a:t>2020/9/7</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BA105CDC-8D0F-43BA-BAA7-1D50940A5CA8}" type="slidenum">
              <a:rPr lang="en-US" altLang="zh-CN"/>
              <a:pPr>
                <a:defRPr/>
              </a:pPr>
              <a:t>‹#›</a:t>
            </a:fld>
            <a:endParaRPr lang="en-US" altLang="zh-CN"/>
          </a:p>
        </p:txBody>
      </p:sp>
    </p:spTree>
    <p:extLst>
      <p:ext uri="{BB962C8B-B14F-4D97-AF65-F5344CB8AC3E}">
        <p14:creationId xmlns:p14="http://schemas.microsoft.com/office/powerpoint/2010/main" val="2967521555"/>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fld id="{16A51A4F-402A-472B-9302-440B6A90B0E9}" type="datetime1">
              <a:rPr lang="zh-CN" altLang="en-US"/>
              <a:pPr>
                <a:defRPr/>
              </a:pPr>
              <a:t>2020/9/7</a:t>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9"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60B8EE83-3D97-439C-944A-69D26307FD8B}" type="slidenum">
              <a:rPr lang="en-US" altLang="zh-CN"/>
              <a:pPr>
                <a:defRPr/>
              </a:pPr>
              <a:t>‹#›</a:t>
            </a:fld>
            <a:endParaRPr lang="en-US" altLang="zh-CN"/>
          </a:p>
        </p:txBody>
      </p:sp>
    </p:spTree>
    <p:extLst>
      <p:ext uri="{BB962C8B-B14F-4D97-AF65-F5344CB8AC3E}">
        <p14:creationId xmlns:p14="http://schemas.microsoft.com/office/powerpoint/2010/main" val="1027692031"/>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fld id="{FB4FC388-EA3B-4D97-9490-20CD2E380913}" type="datetime1">
              <a:rPr lang="zh-CN" altLang="en-US"/>
              <a:pPr>
                <a:defRPr/>
              </a:pPr>
              <a:t>2020/9/7</a:t>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5"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EAF41D4B-4F8B-4B38-8E17-C5BAEA939621}" type="slidenum">
              <a:rPr lang="en-US" altLang="zh-CN"/>
              <a:pPr>
                <a:defRPr/>
              </a:pPr>
              <a:t>‹#›</a:t>
            </a:fld>
            <a:endParaRPr lang="en-US" altLang="zh-CN"/>
          </a:p>
        </p:txBody>
      </p:sp>
    </p:spTree>
    <p:extLst>
      <p:ext uri="{BB962C8B-B14F-4D97-AF65-F5344CB8AC3E}">
        <p14:creationId xmlns:p14="http://schemas.microsoft.com/office/powerpoint/2010/main" val="804141643"/>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80B27939-787C-4D0C-9300-4207BB958AF5}" type="datetime1">
              <a:rPr lang="zh-CN" altLang="en-US"/>
              <a:pPr>
                <a:defRPr/>
              </a:pPr>
              <a:t>2020/9/7</a:t>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4"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12D118CA-60BC-4080-ABF7-E459249BA31C}" type="slidenum">
              <a:rPr lang="en-US" altLang="zh-CN"/>
              <a:pPr>
                <a:defRPr/>
              </a:pPr>
              <a:t>‹#›</a:t>
            </a:fld>
            <a:endParaRPr lang="en-US" altLang="zh-CN"/>
          </a:p>
        </p:txBody>
      </p:sp>
    </p:spTree>
    <p:extLst>
      <p:ext uri="{BB962C8B-B14F-4D97-AF65-F5344CB8AC3E}">
        <p14:creationId xmlns:p14="http://schemas.microsoft.com/office/powerpoint/2010/main" val="3997157212"/>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7A14012F-CAD5-47FB-979F-0AAE6C1F9E3A}" type="datetime1">
              <a:rPr lang="zh-CN" altLang="en-US"/>
              <a:pPr>
                <a:defRPr/>
              </a:pPr>
              <a:t>2020/9/7</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3CDDC47B-526B-4862-9F96-9AF218B66CBA}" type="slidenum">
              <a:rPr lang="en-US" altLang="zh-CN"/>
              <a:pPr>
                <a:defRPr/>
              </a:pPr>
              <a:t>‹#›</a:t>
            </a:fld>
            <a:endParaRPr lang="en-US" altLang="zh-CN"/>
          </a:p>
        </p:txBody>
      </p:sp>
    </p:spTree>
    <p:extLst>
      <p:ext uri="{BB962C8B-B14F-4D97-AF65-F5344CB8AC3E}">
        <p14:creationId xmlns:p14="http://schemas.microsoft.com/office/powerpoint/2010/main" val="2367976766"/>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9EF05285-A547-4FBC-8535-34D61F09B175}" type="datetime1">
              <a:rPr lang="zh-CN" altLang="en-US"/>
              <a:pPr>
                <a:defRPr/>
              </a:pPr>
              <a:t>2020/9/7</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D4616F03-8E22-470E-B067-F08EF1A3B2DB}" type="slidenum">
              <a:rPr lang="en-US" altLang="zh-CN"/>
              <a:pPr>
                <a:defRPr/>
              </a:pPr>
              <a:t>‹#›</a:t>
            </a:fld>
            <a:endParaRPr lang="en-US" altLang="zh-CN"/>
          </a:p>
        </p:txBody>
      </p:sp>
    </p:spTree>
    <p:extLst>
      <p:ext uri="{BB962C8B-B14F-4D97-AF65-F5344CB8AC3E}">
        <p14:creationId xmlns:p14="http://schemas.microsoft.com/office/powerpoint/2010/main" val="1802457997"/>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B9D2DB27-2D91-49BC-9676-ACF9EEC7D60F}"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265C6299-A3E9-498A-B993-FACB8933B772}" type="slidenum">
              <a:rPr lang="en-US" altLang="zh-CN"/>
              <a:pPr>
                <a:defRPr/>
              </a:pPr>
              <a:t>‹#›</a:t>
            </a:fld>
            <a:endParaRPr lang="en-US" altLang="zh-CN"/>
          </a:p>
        </p:txBody>
      </p:sp>
    </p:spTree>
    <p:extLst>
      <p:ext uri="{BB962C8B-B14F-4D97-AF65-F5344CB8AC3E}">
        <p14:creationId xmlns:p14="http://schemas.microsoft.com/office/powerpoint/2010/main" val="1866204452"/>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C5503CE3-0651-4CCB-B0CD-8A02B8605CF8}"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FD6C23A3-2FA3-4CC7-B21B-7A8E05A15D39}" type="slidenum">
              <a:rPr lang="en-US" altLang="zh-CN"/>
              <a:pPr>
                <a:defRPr/>
              </a:pPr>
              <a:t>‹#›</a:t>
            </a:fld>
            <a:endParaRPr lang="en-US" altLang="zh-CN"/>
          </a:p>
        </p:txBody>
      </p:sp>
    </p:spTree>
    <p:extLst>
      <p:ext uri="{BB962C8B-B14F-4D97-AF65-F5344CB8AC3E}">
        <p14:creationId xmlns:p14="http://schemas.microsoft.com/office/powerpoint/2010/main" val="811285213"/>
      </p:ext>
    </p:extLst>
  </p:cSld>
  <p:clrMapOvr>
    <a:masterClrMapping/>
  </p:clrMapOvr>
  <p:transition/>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4213" y="609600"/>
            <a:ext cx="7773987" cy="5494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p:cNvSpPr>
            <a:spLocks noGrp="1" noChangeArrowheads="1"/>
          </p:cNvSpPr>
          <p:nvPr>
            <p:ph type="dt" sz="half" idx="10"/>
          </p:nvPr>
        </p:nvSpPr>
        <p:spPr/>
        <p:txBody>
          <a:bodyPr/>
          <a:lstStyle>
            <a:lvl1pPr>
              <a:defRPr/>
            </a:lvl1pPr>
          </a:lstStyle>
          <a:p>
            <a:pPr>
              <a:defRPr/>
            </a:pPr>
            <a:fld id="{EEDB9400-0EFB-4C3A-B81F-93CF95182FDB}" type="datetime1">
              <a:rPr lang="zh-CN" altLang="en-US"/>
              <a:pPr>
                <a:defRPr/>
              </a:pPr>
              <a:t>2020/9/7</a:t>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5" name="Rectangle 7"/>
          <p:cNvSpPr>
            <a:spLocks noGrp="1" noChangeArrowheads="1"/>
          </p:cNvSpPr>
          <p:nvPr>
            <p:ph type="sldNum" sz="quarter" idx="12"/>
          </p:nvPr>
        </p:nvSpPr>
        <p:spPr/>
        <p:txBody>
          <a:bodyPr/>
          <a:lstStyle>
            <a:lvl1pPr>
              <a:defRPr smtClean="0"/>
            </a:lvl1pPr>
          </a:lstStyle>
          <a:p>
            <a:pPr>
              <a:defRPr/>
            </a:pPr>
            <a:r>
              <a:rPr lang="en-US" altLang="zh-CN"/>
              <a:t>50</a:t>
            </a:r>
            <a:r>
              <a:rPr lang="zh-CN" altLang="en-US"/>
              <a:t>－</a:t>
            </a:r>
            <a:fld id="{B75740D0-B9DD-4E94-A4A2-A86C1020B78D}" type="slidenum">
              <a:rPr lang="en-US" altLang="zh-CN"/>
              <a:pPr>
                <a:defRPr/>
              </a:pPr>
              <a:t>‹#›</a:t>
            </a:fld>
            <a:endParaRPr lang="en-US" altLang="zh-CN"/>
          </a:p>
        </p:txBody>
      </p:sp>
    </p:spTree>
    <p:extLst>
      <p:ext uri="{BB962C8B-B14F-4D97-AF65-F5344CB8AC3E}">
        <p14:creationId xmlns:p14="http://schemas.microsoft.com/office/powerpoint/2010/main" val="3630123903"/>
      </p:ext>
    </p:extLst>
  </p:cSld>
  <p:clrMapOvr>
    <a:masterClrMapping/>
  </p:clrMapOvr>
  <p:transition spd="med">
    <p:wipe dir="r"/>
  </p:transition>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696913"/>
            <a:ext cx="8064500" cy="923925"/>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795463"/>
            <a:ext cx="3956050" cy="4586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9638" y="1795463"/>
            <a:ext cx="3956050" cy="4586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250825" y="6405563"/>
            <a:ext cx="1512888" cy="336550"/>
          </a:xfrm>
        </p:spPr>
        <p:txBody>
          <a:bodyPr/>
          <a:lstStyle>
            <a:lvl1pPr>
              <a:defRPr/>
            </a:lvl1pPr>
          </a:lstStyle>
          <a:p>
            <a:pPr>
              <a:defRPr/>
            </a:pPr>
            <a:fld id="{5E343EC4-BDBD-43C8-8E42-949B5E9D02DC}" type="datetime1">
              <a:rPr lang="zh-CN" altLang="en-US"/>
              <a:pPr>
                <a:defRPr/>
              </a:pPr>
              <a:t>2020/9/7</a:t>
            </a:fld>
            <a:endParaRPr lang="en-US" altLang="zh-CN"/>
          </a:p>
        </p:txBody>
      </p:sp>
      <p:sp>
        <p:nvSpPr>
          <p:cNvPr id="6" name="灯片编号占位符 5"/>
          <p:cNvSpPr>
            <a:spLocks noGrp="1"/>
          </p:cNvSpPr>
          <p:nvPr>
            <p:ph type="sldNum" sz="quarter" idx="11"/>
          </p:nvPr>
        </p:nvSpPr>
        <p:spPr>
          <a:xfrm>
            <a:off x="7947025" y="6405563"/>
            <a:ext cx="1162050" cy="336550"/>
          </a:xfrm>
        </p:spPr>
        <p:txBody>
          <a:bodyPr/>
          <a:lstStyle>
            <a:lvl1pPr>
              <a:defRPr smtClean="0"/>
            </a:lvl1pPr>
          </a:lstStyle>
          <a:p>
            <a:pPr>
              <a:defRPr/>
            </a:pPr>
            <a:r>
              <a:rPr lang="en-US" altLang="zh-CN"/>
              <a:t>50</a:t>
            </a:r>
            <a:r>
              <a:rPr lang="zh-CN" altLang="en-US"/>
              <a:t>－</a:t>
            </a:r>
            <a:fld id="{AB20D888-D3E1-4FC5-ABBF-6E6FD5982600}" type="slidenum">
              <a:rPr lang="en-US" altLang="zh-CN"/>
              <a:pPr>
                <a:defRPr/>
              </a:pPr>
              <a:t>‹#›</a:t>
            </a:fld>
            <a:endParaRPr lang="en-US" altLang="zh-CN"/>
          </a:p>
        </p:txBody>
      </p:sp>
    </p:spTree>
    <p:extLst>
      <p:ext uri="{BB962C8B-B14F-4D97-AF65-F5344CB8AC3E}">
        <p14:creationId xmlns:p14="http://schemas.microsoft.com/office/powerpoint/2010/main" val="3080528816"/>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fld id="{13F71436-8496-46A7-B23F-9FDB14E08E2A}" type="datetime1">
              <a:rPr lang="zh-CN" altLang="en-US"/>
              <a:pPr>
                <a:defRPr/>
              </a:pPr>
              <a:t>2020/9/7</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p:txBody>
          <a:bodyPr/>
          <a:lstStyle>
            <a:lvl1pPr>
              <a:defRPr smtClean="0"/>
            </a:lvl1pPr>
          </a:lstStyle>
          <a:p>
            <a:pPr>
              <a:defRPr/>
            </a:pPr>
            <a:fld id="{72AF2E45-ABF3-4C56-94DF-A8E1F9E0005B}" type="slidenum">
              <a:rPr lang="en-US" altLang="zh-CN"/>
              <a:pPr>
                <a:defRPr/>
              </a:pPr>
              <a:t>‹#›</a:t>
            </a:fld>
            <a:endParaRPr lang="en-US" altLang="zh-CN"/>
          </a:p>
        </p:txBody>
      </p:sp>
    </p:spTree>
    <p:extLst>
      <p:ext uri="{BB962C8B-B14F-4D97-AF65-F5344CB8AC3E}">
        <p14:creationId xmlns:p14="http://schemas.microsoft.com/office/powerpoint/2010/main" val="264815542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96CA990E-99FC-4AFC-AC7A-F0338E62E548}" type="datetime1">
              <a:rPr lang="zh-CN" altLang="en-US"/>
              <a:pPr>
                <a:defRPr/>
              </a:pPr>
              <a:t>2020/9/7</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p:txBody>
          <a:bodyPr/>
          <a:lstStyle>
            <a:lvl1pPr>
              <a:defRPr smtClean="0"/>
            </a:lvl1pPr>
          </a:lstStyle>
          <a:p>
            <a:pPr>
              <a:defRPr/>
            </a:pPr>
            <a:fld id="{21B5FEBF-756D-4CFB-AC18-977E34A29163}" type="slidenum">
              <a:rPr lang="en-US" altLang="zh-CN"/>
              <a:pPr>
                <a:defRPr/>
              </a:pPr>
              <a:t>‹#›</a:t>
            </a:fld>
            <a:endParaRPr lang="en-US" altLang="zh-CN"/>
          </a:p>
        </p:txBody>
      </p:sp>
    </p:spTree>
    <p:extLst>
      <p:ext uri="{BB962C8B-B14F-4D97-AF65-F5344CB8AC3E}">
        <p14:creationId xmlns:p14="http://schemas.microsoft.com/office/powerpoint/2010/main" val="89586218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fld id="{EE590912-BCFD-4345-B295-7D7B89D0DD13}" type="datetime1">
              <a:rPr lang="zh-CN" altLang="en-US"/>
              <a:pPr>
                <a:defRPr/>
              </a:pPr>
              <a:t>2020/9/7</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p:txBody>
          <a:bodyPr/>
          <a:lstStyle>
            <a:lvl1pPr>
              <a:defRPr smtClean="0"/>
            </a:lvl1pPr>
          </a:lstStyle>
          <a:p>
            <a:pPr>
              <a:defRPr/>
            </a:pPr>
            <a:fld id="{C1B6B468-995B-4F0E-88A9-A3D3576EC46A}" type="slidenum">
              <a:rPr lang="en-US" altLang="zh-CN"/>
              <a:pPr>
                <a:defRPr/>
              </a:pPr>
              <a:t>‹#›</a:t>
            </a:fld>
            <a:endParaRPr lang="en-US" altLang="zh-CN"/>
          </a:p>
        </p:txBody>
      </p:sp>
    </p:spTree>
    <p:extLst>
      <p:ext uri="{BB962C8B-B14F-4D97-AF65-F5344CB8AC3E}">
        <p14:creationId xmlns:p14="http://schemas.microsoft.com/office/powerpoint/2010/main" val="404053693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CDD18EAB-7DF2-49E9-9747-7BF278F1218E}" type="datetime1">
              <a:rPr lang="zh-CN" altLang="en-US"/>
              <a:pPr>
                <a:defRPr/>
              </a:pPr>
              <a:t>2020/9/7</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6"/>
          <p:cNvSpPr>
            <a:spLocks noGrp="1" noChangeArrowheads="1"/>
          </p:cNvSpPr>
          <p:nvPr>
            <p:ph type="sldNum" sz="quarter" idx="12"/>
          </p:nvPr>
        </p:nvSpPr>
        <p:spPr/>
        <p:txBody>
          <a:bodyPr/>
          <a:lstStyle>
            <a:lvl1pPr>
              <a:defRPr smtClean="0"/>
            </a:lvl1pPr>
          </a:lstStyle>
          <a:p>
            <a:pPr>
              <a:defRPr/>
            </a:pPr>
            <a:fld id="{5AD66635-353C-467C-B83B-340CE1B725B6}" type="slidenum">
              <a:rPr lang="en-US" altLang="zh-CN"/>
              <a:pPr>
                <a:defRPr/>
              </a:pPr>
              <a:t>‹#›</a:t>
            </a:fld>
            <a:endParaRPr lang="en-US" altLang="zh-CN"/>
          </a:p>
        </p:txBody>
      </p:sp>
    </p:spTree>
    <p:extLst>
      <p:ext uri="{BB962C8B-B14F-4D97-AF65-F5344CB8AC3E}">
        <p14:creationId xmlns:p14="http://schemas.microsoft.com/office/powerpoint/2010/main" val="391586288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fld id="{72E78BD8-4404-4E8A-8A7C-19FD03AB69DF}" type="datetime1">
              <a:rPr lang="zh-CN" altLang="en-US"/>
              <a:pPr>
                <a:defRPr/>
              </a:pPr>
              <a:t>2020/9/7</a:t>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9" name="Rectangle 6"/>
          <p:cNvSpPr>
            <a:spLocks noGrp="1" noChangeArrowheads="1"/>
          </p:cNvSpPr>
          <p:nvPr>
            <p:ph type="sldNum" sz="quarter" idx="12"/>
          </p:nvPr>
        </p:nvSpPr>
        <p:spPr/>
        <p:txBody>
          <a:bodyPr/>
          <a:lstStyle>
            <a:lvl1pPr>
              <a:defRPr smtClean="0"/>
            </a:lvl1pPr>
          </a:lstStyle>
          <a:p>
            <a:pPr>
              <a:defRPr/>
            </a:pPr>
            <a:fld id="{5A7BB2BD-1DFB-4DAD-A15B-550261F8C598}" type="slidenum">
              <a:rPr lang="en-US" altLang="zh-CN"/>
              <a:pPr>
                <a:defRPr/>
              </a:pPr>
              <a:t>‹#›</a:t>
            </a:fld>
            <a:endParaRPr lang="en-US" altLang="zh-CN"/>
          </a:p>
        </p:txBody>
      </p:sp>
    </p:spTree>
    <p:extLst>
      <p:ext uri="{BB962C8B-B14F-4D97-AF65-F5344CB8AC3E}">
        <p14:creationId xmlns:p14="http://schemas.microsoft.com/office/powerpoint/2010/main" val="49871089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fld id="{1150C57A-5EE3-4184-884B-3982EA357A82}" type="datetime1">
              <a:rPr lang="zh-CN" altLang="en-US"/>
              <a:pPr>
                <a:defRPr/>
              </a:pPr>
              <a:t>2020/9/7</a:t>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5" name="Rectangle 6"/>
          <p:cNvSpPr>
            <a:spLocks noGrp="1" noChangeArrowheads="1"/>
          </p:cNvSpPr>
          <p:nvPr>
            <p:ph type="sldNum" sz="quarter" idx="12"/>
          </p:nvPr>
        </p:nvSpPr>
        <p:spPr/>
        <p:txBody>
          <a:bodyPr/>
          <a:lstStyle>
            <a:lvl1pPr>
              <a:defRPr smtClean="0"/>
            </a:lvl1pPr>
          </a:lstStyle>
          <a:p>
            <a:pPr>
              <a:defRPr/>
            </a:pPr>
            <a:fld id="{B1C40696-AEC9-4B0F-A761-22CE4AD3435D}" type="slidenum">
              <a:rPr lang="en-US" altLang="zh-CN"/>
              <a:pPr>
                <a:defRPr/>
              </a:pPr>
              <a:t>‹#›</a:t>
            </a:fld>
            <a:endParaRPr lang="en-US" altLang="zh-CN"/>
          </a:p>
        </p:txBody>
      </p:sp>
    </p:spTree>
    <p:extLst>
      <p:ext uri="{BB962C8B-B14F-4D97-AF65-F5344CB8AC3E}">
        <p14:creationId xmlns:p14="http://schemas.microsoft.com/office/powerpoint/2010/main" val="395044133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6AA43C38-2873-48C4-BA33-6F7A2798CDB2}" type="datetime1">
              <a:rPr lang="zh-CN" altLang="en-US"/>
              <a:pPr>
                <a:defRPr/>
              </a:pPr>
              <a:t>2020/9/7</a:t>
            </a:fld>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4" name="Rectangle 6"/>
          <p:cNvSpPr>
            <a:spLocks noGrp="1" noChangeArrowheads="1"/>
          </p:cNvSpPr>
          <p:nvPr>
            <p:ph type="sldNum" sz="quarter" idx="12"/>
          </p:nvPr>
        </p:nvSpPr>
        <p:spPr/>
        <p:txBody>
          <a:bodyPr/>
          <a:lstStyle>
            <a:lvl1pPr>
              <a:defRPr smtClean="0"/>
            </a:lvl1pPr>
          </a:lstStyle>
          <a:p>
            <a:pPr>
              <a:defRPr/>
            </a:pPr>
            <a:fld id="{1C680925-390D-443E-8E75-EA96CD7BB181}" type="slidenum">
              <a:rPr lang="en-US" altLang="zh-CN"/>
              <a:pPr>
                <a:defRPr/>
              </a:pPr>
              <a:t>‹#›</a:t>
            </a:fld>
            <a:endParaRPr lang="en-US" altLang="zh-CN"/>
          </a:p>
        </p:txBody>
      </p:sp>
    </p:spTree>
    <p:extLst>
      <p:ext uri="{BB962C8B-B14F-4D97-AF65-F5344CB8AC3E}">
        <p14:creationId xmlns:p14="http://schemas.microsoft.com/office/powerpoint/2010/main" val="417621717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fld id="{3208EDB4-62F4-497B-9733-BB1D7CCB2BE1}" type="datetime1">
              <a:rPr lang="zh-CN" altLang="en-US"/>
              <a:pPr>
                <a:defRPr/>
              </a:pPr>
              <a:t>2020/9/7</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6"/>
          <p:cNvSpPr>
            <a:spLocks noGrp="1" noChangeArrowheads="1"/>
          </p:cNvSpPr>
          <p:nvPr>
            <p:ph type="sldNum" sz="quarter" idx="12"/>
          </p:nvPr>
        </p:nvSpPr>
        <p:spPr/>
        <p:txBody>
          <a:bodyPr/>
          <a:lstStyle>
            <a:lvl1pPr>
              <a:defRPr smtClean="0"/>
            </a:lvl1pPr>
          </a:lstStyle>
          <a:p>
            <a:pPr>
              <a:defRPr/>
            </a:pPr>
            <a:fld id="{DF95F854-F211-469F-BE4B-B193393A796D}" type="slidenum">
              <a:rPr lang="en-US" altLang="zh-CN"/>
              <a:pPr>
                <a:defRPr/>
              </a:pPr>
              <a:t>‹#›</a:t>
            </a:fld>
            <a:endParaRPr lang="en-US" altLang="zh-CN"/>
          </a:p>
        </p:txBody>
      </p:sp>
    </p:spTree>
    <p:extLst>
      <p:ext uri="{BB962C8B-B14F-4D97-AF65-F5344CB8AC3E}">
        <p14:creationId xmlns:p14="http://schemas.microsoft.com/office/powerpoint/2010/main" val="196738251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fld id="{F055A241-D709-4096-94B7-474DF8163E07}" type="datetime1">
              <a:rPr lang="zh-CN" altLang="en-US"/>
              <a:pPr>
                <a:defRPr/>
              </a:pPr>
              <a:t>2020/9/7</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6"/>
          <p:cNvSpPr>
            <a:spLocks noGrp="1" noChangeArrowheads="1"/>
          </p:cNvSpPr>
          <p:nvPr>
            <p:ph type="sldNum" sz="quarter" idx="12"/>
          </p:nvPr>
        </p:nvSpPr>
        <p:spPr/>
        <p:txBody>
          <a:bodyPr/>
          <a:lstStyle>
            <a:lvl1pPr>
              <a:defRPr smtClean="0"/>
            </a:lvl1pPr>
          </a:lstStyle>
          <a:p>
            <a:pPr>
              <a:defRPr/>
            </a:pPr>
            <a:fld id="{B1F6A6F6-5CF7-499A-99B4-9C38F610B2FC}" type="slidenum">
              <a:rPr lang="en-US" altLang="zh-CN"/>
              <a:pPr>
                <a:defRPr/>
              </a:pPr>
              <a:t>‹#›</a:t>
            </a:fld>
            <a:endParaRPr lang="en-US" altLang="zh-CN"/>
          </a:p>
        </p:txBody>
      </p:sp>
    </p:spTree>
    <p:extLst>
      <p:ext uri="{BB962C8B-B14F-4D97-AF65-F5344CB8AC3E}">
        <p14:creationId xmlns:p14="http://schemas.microsoft.com/office/powerpoint/2010/main" val="353961520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E4201F22-40C1-48EC-A6DE-95A35C2AC12B}" type="datetime1">
              <a:rPr lang="zh-CN" altLang="en-US"/>
              <a:pPr>
                <a:defRPr/>
              </a:pPr>
              <a:t>2020/9/7</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p:txBody>
          <a:bodyPr/>
          <a:lstStyle>
            <a:lvl1pPr>
              <a:defRPr smtClean="0"/>
            </a:lvl1pPr>
          </a:lstStyle>
          <a:p>
            <a:pPr>
              <a:defRPr/>
            </a:pPr>
            <a:fld id="{0C4C8574-38E8-42DB-81C3-A101DC38A0F0}" type="slidenum">
              <a:rPr lang="en-US" altLang="zh-CN"/>
              <a:pPr>
                <a:defRPr/>
              </a:pPr>
              <a:t>‹#›</a:t>
            </a:fld>
            <a:endParaRPr lang="en-US" altLang="zh-CN"/>
          </a:p>
        </p:txBody>
      </p:sp>
    </p:spTree>
    <p:extLst>
      <p:ext uri="{BB962C8B-B14F-4D97-AF65-F5344CB8AC3E}">
        <p14:creationId xmlns:p14="http://schemas.microsoft.com/office/powerpoint/2010/main" val="22051236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3CA920C3-E410-4419-A172-CA38E9BED2D3}" type="datetime1">
              <a:rPr lang="zh-CN" altLang="en-US"/>
              <a:pPr>
                <a:defRPr/>
              </a:pPr>
              <a:t>2020/9/7</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p:txBody>
          <a:bodyPr/>
          <a:lstStyle>
            <a:lvl1pPr>
              <a:defRPr smtClean="0"/>
            </a:lvl1pPr>
          </a:lstStyle>
          <a:p>
            <a:pPr>
              <a:defRPr/>
            </a:pPr>
            <a:fld id="{91FE52D3-0F2A-45CE-A323-03D0E884D79F}" type="slidenum">
              <a:rPr lang="en-US" altLang="zh-CN"/>
              <a:pPr>
                <a:defRPr/>
              </a:pPr>
              <a:t>‹#›</a:t>
            </a:fld>
            <a:endParaRPr lang="en-US" altLang="zh-CN"/>
          </a:p>
        </p:txBody>
      </p:sp>
    </p:spTree>
    <p:extLst>
      <p:ext uri="{BB962C8B-B14F-4D97-AF65-F5344CB8AC3E}">
        <p14:creationId xmlns:p14="http://schemas.microsoft.com/office/powerpoint/2010/main" val="254605324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3.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100" name="Rectangle 4"/>
          <p:cNvSpPr>
            <a:spLocks noGrp="1" noChangeArrowheads="1"/>
          </p:cNvSpPr>
          <p:nvPr>
            <p:ph type="body" idx="1"/>
          </p:nvPr>
        </p:nvSpPr>
        <p:spPr bwMode="auto">
          <a:xfrm>
            <a:off x="684213" y="19891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p:cNvSpPr>
            <a:spLocks noGrp="1" noChangeArrowheads="1"/>
          </p:cNvSpPr>
          <p:nvPr>
            <p:ph type="dt" sz="half" idx="2"/>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b="1">
                <a:effectLst/>
                <a:latin typeface="黑体" pitchFamily="49" charset="-122"/>
                <a:ea typeface="黑体" pitchFamily="49" charset="-122"/>
              </a:defRPr>
            </a:lvl1pPr>
          </a:lstStyle>
          <a:p>
            <a:pPr>
              <a:defRPr/>
            </a:pPr>
            <a:fld id="{AA297CBA-501B-46BE-B318-9657F5034845}" type="datetime1">
              <a:rPr lang="zh-CN" altLang="en-US"/>
              <a:pPr>
                <a:defRPr/>
              </a:pPr>
              <a:t>2020/9/7</a:t>
            </a:fld>
            <a:endParaRPr lang="en-US" altLang="zh-CN"/>
          </a:p>
        </p:txBody>
      </p:sp>
      <p:sp>
        <p:nvSpPr>
          <p:cNvPr id="4102" name="Rectangle 6"/>
          <p:cNvSpPr>
            <a:spLocks noGrp="1" noChangeArrowheads="1"/>
          </p:cNvSpPr>
          <p:nvPr>
            <p:ph type="ftr" sz="quarter" idx="3"/>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effectLst/>
                <a:latin typeface="黑体" pitchFamily="49" charset="-122"/>
                <a:ea typeface="黑体" pitchFamily="49" charset="-122"/>
              </a:defRPr>
            </a:lvl1pPr>
          </a:lstStyle>
          <a:p>
            <a:pPr>
              <a:defRPr/>
            </a:pPr>
            <a:r>
              <a:rPr lang="zh-CN" altLang="en-US"/>
              <a:t>计算机应用技术研究所</a:t>
            </a:r>
          </a:p>
        </p:txBody>
      </p:sp>
      <p:sp>
        <p:nvSpPr>
          <p:cNvPr id="4103" name="Rectangle 7"/>
          <p:cNvSpPr>
            <a:spLocks noGrp="1" noChangeArrowheads="1"/>
          </p:cNvSpPr>
          <p:nvPr>
            <p:ph type="sldNum" sz="quarter" idx="4"/>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1" smtClean="0">
                <a:effectLst/>
              </a:defRPr>
            </a:lvl1pPr>
          </a:lstStyle>
          <a:p>
            <a:pPr>
              <a:defRPr/>
            </a:pPr>
            <a:r>
              <a:rPr lang="en-US" altLang="zh-CN"/>
              <a:t>50</a:t>
            </a:r>
            <a:r>
              <a:rPr lang="zh-CN" altLang="en-US"/>
              <a:t>－</a:t>
            </a:r>
            <a:fld id="{53488F3B-6776-46DC-B96E-6ABC09B49CED}" type="slidenum">
              <a:rPr lang="en-US" altLang="zh-CN"/>
              <a:pPr>
                <a:defRPr/>
              </a:pPr>
              <a:t>‹#›</a:t>
            </a:fld>
            <a:endParaRPr lang="en-US" altLang="zh-CN"/>
          </a:p>
        </p:txBody>
      </p:sp>
      <p:pic>
        <p:nvPicPr>
          <p:cNvPr id="1031" name="Picture 10" descr="12副本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 id="2147483916" r:id="rId12"/>
    <p:sldLayoutId id="2147483918" r:id="rId13"/>
  </p:sldLayoutIdLst>
  <p:transition advClick="0"/>
  <p:hf sldNum="0" hdr="0" ftr="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7"/>
        </a:buBlip>
        <a:defRPr kumimoji="1" sz="2400" kern="120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Blip>
          <a:blip r:embed="rId17"/>
        </a:buBlip>
        <a:defRPr kumimoji="1" sz="2000" kern="1200">
          <a:solidFill>
            <a:schemeClr val="tx1"/>
          </a:solidFill>
          <a:latin typeface="+mj-lt"/>
          <a:ea typeface="+mj-ea"/>
          <a:cs typeface="楷体_GB2312"/>
        </a:defRPr>
      </a:lvl2pPr>
      <a:lvl3pPr marL="1143000" indent="-228600" algn="l" rtl="0" eaLnBrk="0" fontAlgn="base" hangingPunct="0">
        <a:spcBef>
          <a:spcPct val="20000"/>
        </a:spcBef>
        <a:spcAft>
          <a:spcPct val="0"/>
        </a:spcAft>
        <a:buChar char="•"/>
        <a:defRPr kumimoji="1" kern="1200">
          <a:solidFill>
            <a:schemeClr val="tx1"/>
          </a:solidFill>
          <a:latin typeface="+mj-lt"/>
          <a:ea typeface="+mj-ea"/>
          <a:cs typeface="楷体_GB2312"/>
        </a:defRPr>
      </a:lvl3pPr>
      <a:lvl4pPr marL="1600200" indent="-228600" algn="l" rtl="0" eaLnBrk="0" fontAlgn="base" hangingPunct="0">
        <a:spcBef>
          <a:spcPct val="20000"/>
        </a:spcBef>
        <a:spcAft>
          <a:spcPct val="0"/>
        </a:spcAft>
        <a:buChar char="–"/>
        <a:defRPr kumimoji="1" sz="1600" kern="1200">
          <a:solidFill>
            <a:schemeClr val="tx1"/>
          </a:solidFill>
          <a:latin typeface="+mj-lt"/>
          <a:ea typeface="+mj-ea"/>
          <a:cs typeface="楷体_GB2312"/>
        </a:defRPr>
      </a:lvl4pPr>
      <a:lvl5pPr marL="2057400" indent="-228600" algn="l" rtl="0" eaLnBrk="0" fontAlgn="base" hangingPunct="0">
        <a:spcBef>
          <a:spcPct val="20000"/>
        </a:spcBef>
        <a:spcAft>
          <a:spcPct val="0"/>
        </a:spcAft>
        <a:buChar char="»"/>
        <a:defRPr kumimoji="1" sz="1600" kern="1200">
          <a:solidFill>
            <a:schemeClr val="tx1"/>
          </a:solidFill>
          <a:latin typeface="+mj-lt"/>
          <a:ea typeface="+mj-ea"/>
          <a:cs typeface="楷体_GB231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24995" name="Rectangle 3"/>
          <p:cNvSpPr>
            <a:spLocks noGrp="1" noChangeArrowheads="1"/>
          </p:cNvSpPr>
          <p:nvPr>
            <p:ph type="body" idx="1"/>
          </p:nvPr>
        </p:nvSpPr>
        <p:spPr bwMode="auto">
          <a:xfrm>
            <a:off x="684213" y="19891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24996" name="Rectangle 4"/>
          <p:cNvSpPr>
            <a:spLocks noGrp="1" noChangeArrowheads="1"/>
          </p:cNvSpPr>
          <p:nvPr>
            <p:ph type="dt" sz="half" idx="2"/>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b="1">
                <a:effectLst/>
                <a:latin typeface="黑体" pitchFamily="49" charset="-122"/>
                <a:ea typeface="黑体" pitchFamily="49" charset="-122"/>
              </a:defRPr>
            </a:lvl1pPr>
          </a:lstStyle>
          <a:p>
            <a:pPr>
              <a:defRPr/>
            </a:pPr>
            <a:fld id="{0954C306-80F9-41EE-952C-1439B3CD7BA7}" type="datetime1">
              <a:rPr lang="zh-CN" altLang="en-US"/>
              <a:pPr>
                <a:defRPr/>
              </a:pPr>
              <a:t>2020/9/7</a:t>
            </a:fld>
            <a:endParaRPr lang="en-US" altLang="zh-CN"/>
          </a:p>
        </p:txBody>
      </p:sp>
      <p:sp>
        <p:nvSpPr>
          <p:cNvPr id="724997" name="Rectangle 5"/>
          <p:cNvSpPr>
            <a:spLocks noGrp="1" noChangeArrowheads="1"/>
          </p:cNvSpPr>
          <p:nvPr>
            <p:ph type="ftr" sz="quarter" idx="3"/>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effectLst/>
                <a:latin typeface="黑体" pitchFamily="49" charset="-122"/>
                <a:ea typeface="黑体" pitchFamily="49" charset="-122"/>
              </a:defRPr>
            </a:lvl1pPr>
          </a:lstStyle>
          <a:p>
            <a:pPr>
              <a:defRPr/>
            </a:pPr>
            <a:r>
              <a:rPr lang="zh-CN" altLang="en-US"/>
              <a:t>计算机应用技术研究所</a:t>
            </a:r>
          </a:p>
        </p:txBody>
      </p:sp>
      <p:sp>
        <p:nvSpPr>
          <p:cNvPr id="724998" name="Rectangle 6"/>
          <p:cNvSpPr>
            <a:spLocks noGrp="1" noChangeArrowheads="1"/>
          </p:cNvSpPr>
          <p:nvPr>
            <p:ph type="sldNum" sz="quarter" idx="4"/>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1" smtClean="0">
                <a:effectLst/>
              </a:defRPr>
            </a:lvl1pPr>
          </a:lstStyle>
          <a:p>
            <a:pPr>
              <a:defRPr/>
            </a:pPr>
            <a:fld id="{2E3AAAA6-FEE5-40C4-B42C-07551894096A}" type="slidenum">
              <a:rPr lang="en-US" altLang="zh-CN"/>
              <a:pPr>
                <a:defRPr/>
              </a:pPr>
              <a:t>‹#›</a:t>
            </a:fld>
            <a:endParaRPr lang="en-US" altLang="zh-CN"/>
          </a:p>
        </p:txBody>
      </p:sp>
      <p:pic>
        <p:nvPicPr>
          <p:cNvPr id="2055" name="Picture 7" descr="12副本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Lst>
  <p:transition advClick="0"/>
  <p:hf hd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5"/>
        </a:buBlip>
        <a:defRPr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5"/>
        </a:buBlip>
        <a:defRPr sz="2000" kern="1200">
          <a:solidFill>
            <a:schemeClr val="tx1"/>
          </a:solidFill>
          <a:latin typeface="+mj-lt"/>
          <a:ea typeface="+mn-ea"/>
          <a:cs typeface="+mn-cs"/>
        </a:defRPr>
      </a:lvl2pPr>
      <a:lvl3pPr marL="1143000" indent="-228600" algn="l" rtl="0" eaLnBrk="0" fontAlgn="base" hangingPunct="0">
        <a:spcBef>
          <a:spcPct val="20000"/>
        </a:spcBef>
        <a:spcAft>
          <a:spcPct val="0"/>
        </a:spcAft>
        <a:buChar char="•"/>
        <a:defRPr kern="1200">
          <a:solidFill>
            <a:schemeClr val="tx1"/>
          </a:solidFill>
          <a:latin typeface="+mj-lt"/>
          <a:ea typeface="+mn-ea"/>
          <a:cs typeface="+mn-cs"/>
        </a:defRPr>
      </a:lvl3pPr>
      <a:lvl4pPr marL="1600200" indent="-228600" algn="l" rtl="0" eaLnBrk="0" fontAlgn="base" hangingPunct="0">
        <a:spcBef>
          <a:spcPct val="20000"/>
        </a:spcBef>
        <a:spcAft>
          <a:spcPct val="0"/>
        </a:spcAft>
        <a:buChar char="–"/>
        <a:defRPr sz="1600" kern="1200">
          <a:solidFill>
            <a:schemeClr val="tx1"/>
          </a:solidFill>
          <a:latin typeface="+mj-lt"/>
          <a:ea typeface="+mn-ea"/>
          <a:cs typeface="+mn-cs"/>
        </a:defRPr>
      </a:lvl4pPr>
      <a:lvl5pPr marL="2057400" indent="-228600" algn="l" rtl="0" eaLnBrk="0" fontAlgn="base" hangingPunct="0">
        <a:spcBef>
          <a:spcPct val="20000"/>
        </a:spcBef>
        <a:spcAft>
          <a:spcPct val="0"/>
        </a:spcAft>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3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66.png"/></Relationships>
</file>

<file path=ppt/slides/_rels/slide4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4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5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2.png"/><Relationship Id="rId1" Type="http://schemas.openxmlformats.org/officeDocument/2006/relationships/slideLayout" Target="../slideLayouts/slideLayout7.xml"/><Relationship Id="rId5" Type="http://schemas.openxmlformats.org/officeDocument/2006/relationships/image" Target="../media/image73.png"/><Relationship Id="rId4" Type="http://schemas.openxmlformats.org/officeDocument/2006/relationships/image" Target="../media/image4.wmf"/></Relationships>
</file>

<file path=ppt/slides/_rels/slide5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80.png"/></Relationships>
</file>

<file path=ppt/slides/_rels/slide5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5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8.png"/></Relationships>
</file>

<file path=ppt/slides/_rels/slide5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6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6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7.png"/><Relationship Id="rId4" Type="http://schemas.openxmlformats.org/officeDocument/2006/relationships/image" Target="../media/image82.png"/></Relationships>
</file>

<file path=ppt/slides/_rels/slide6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6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6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87.png"/></Relationships>
</file>

<file path=ppt/slides/_rels/slide6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90.png"/></Relationships>
</file>

<file path=ppt/slides/_rels/slide6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6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00.png"/><Relationship Id="rId4" Type="http://schemas.openxmlformats.org/officeDocument/2006/relationships/image" Target="../media/image93.png"/></Relationships>
</file>

<file path=ppt/slides/_rels/slide6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3.png"/><Relationship Id="rId4" Type="http://schemas.openxmlformats.org/officeDocument/2006/relationships/image" Target="../media/image95.png"/></Relationships>
</file>

<file path=ppt/slides/_rels/slide7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7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7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0.png"/><Relationship Id="rId4" Type="http://schemas.openxmlformats.org/officeDocument/2006/relationships/image" Target="../media/image99.png"/></Relationships>
</file>

<file path=ppt/slides/_rels/slide7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7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6.png"/><Relationship Id="rId4" Type="http://schemas.openxmlformats.org/officeDocument/2006/relationships/image" Target="../media/image102.png"/></Relationships>
</file>

<file path=ppt/slides/_rels/slide7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7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7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7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8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8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8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8.png"/><Relationship Id="rId4" Type="http://schemas.openxmlformats.org/officeDocument/2006/relationships/image" Target="../media/image96.png"/></Relationships>
</file>

<file path=ppt/slides/_rels/slide8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20.png"/></Relationships>
</file>

<file path=ppt/slides/_rels/slide8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8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9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9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9.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9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0.png"/></Relationships>
</file>

<file path=ppt/slides/_rels/slide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6.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7.png"/><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4.wmf"/></Relationships>
</file>

<file path=ppt/slides/_rels/slide1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9.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0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10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10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1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4.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0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image" Target="../media/image122.png"/></Relationships>
</file>

<file path=ppt/slides/_rels/slide10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7.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0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1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9.png"/><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4.wmf"/></Relationships>
</file>

<file path=ppt/slides/_rels/slide1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2.png"/><Relationship Id="rId1" Type="http://schemas.openxmlformats.org/officeDocument/2006/relationships/slideLayout" Target="../slideLayouts/slideLayout2.xml"/><Relationship Id="rId5" Type="http://schemas.openxmlformats.org/officeDocument/2006/relationships/image" Target="../media/image128.png"/><Relationship Id="rId4" Type="http://schemas.openxmlformats.org/officeDocument/2006/relationships/image" Target="../media/image4.wmf"/></Relationships>
</file>

<file path=ppt/slides/_rels/slide1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4.png"/><Relationship Id="rId1" Type="http://schemas.openxmlformats.org/officeDocument/2006/relationships/slideLayout" Target="../slideLayouts/slideLayout2.xml"/><Relationship Id="rId5" Type="http://schemas.openxmlformats.org/officeDocument/2006/relationships/image" Target="../media/image131.png"/><Relationship Id="rId4" Type="http://schemas.openxmlformats.org/officeDocument/2006/relationships/image" Target="../media/image4.wmf"/></Relationships>
</file>

<file path=ppt/slides/_rels/slide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6.png"/><Relationship Id="rId1" Type="http://schemas.openxmlformats.org/officeDocument/2006/relationships/slideLayout" Target="../slideLayouts/slideLayout2.xml"/><Relationship Id="rId5" Type="http://schemas.openxmlformats.org/officeDocument/2006/relationships/image" Target="../media/image133.png"/><Relationship Id="rId4" Type="http://schemas.openxmlformats.org/officeDocument/2006/relationships/image" Target="../media/image4.wmf"/></Relationships>
</file>

<file path=ppt/slides/_rels/slide1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8.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11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12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12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3.png"/></Relationships>
</file>

<file path=ppt/slides/_rels/slide1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1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44.png"/><Relationship Id="rId5" Type="http://schemas.openxmlformats.org/officeDocument/2006/relationships/image" Target="../media/image142.png"/><Relationship Id="rId4" Type="http://schemas.openxmlformats.org/officeDocument/2006/relationships/image" Target="../media/image145.png"/></Relationships>
</file>

<file path=ppt/slides/_rels/slide12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8.png"/></Relationships>
</file>

<file path=ppt/slides/_rels/slide12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9.png"/><Relationship Id="rId1" Type="http://schemas.openxmlformats.org/officeDocument/2006/relationships/slideLayout" Target="../slideLayouts/slideLayout2.xml"/><Relationship Id="rId5" Type="http://schemas.openxmlformats.org/officeDocument/2006/relationships/image" Target="../media/image1490.png"/><Relationship Id="rId4" Type="http://schemas.openxmlformats.org/officeDocument/2006/relationships/image" Target="../media/image4.wmf"/></Relationships>
</file>

<file path=ppt/slides/_rels/slide1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13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1.png"/></Relationships>
</file>

<file path=ppt/slides/_rels/slide13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2.png"/></Relationships>
</file>

<file path=ppt/slides/_rels/slide13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153.png"/></Relationships>
</file>

<file path=ppt/slides/_rels/slide13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4.png"/></Relationships>
</file>

<file path=ppt/slides/_rels/slide13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13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6.png"/></Relationships>
</file>

<file path=ppt/slides/_rels/slide136.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3.png"/></Relationships>
</file>

<file path=ppt/slides/_rels/slide14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6.png"/></Relationships>
</file>

<file path=ppt/slides/_rels/slide14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7.png"/></Relationships>
</file>

<file path=ppt/slides/_rels/slide1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8.png"/><Relationship Id="rId1" Type="http://schemas.openxmlformats.org/officeDocument/2006/relationships/slideLayout" Target="../slideLayouts/slideLayout2.xml"/><Relationship Id="rId5" Type="http://schemas.openxmlformats.org/officeDocument/2006/relationships/image" Target="../media/image164.png"/><Relationship Id="rId4" Type="http://schemas.openxmlformats.org/officeDocument/2006/relationships/image" Target="../media/image4.wmf"/></Relationships>
</file>

<file path=ppt/slides/_rels/slide1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9.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90.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1.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4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5.png"/></Relationships>
</file>

<file path=ppt/slides/_rels/slide15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1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2.png"/></Relationships>
</file>

<file path=ppt/slides/_rels/slide1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3.png"/></Relationships>
</file>

<file path=ppt/slides/_rels/slide1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5.png"/><Relationship Id="rId1" Type="http://schemas.openxmlformats.org/officeDocument/2006/relationships/slideLayout" Target="../slideLayouts/slideLayout2.xml"/><Relationship Id="rId5" Type="http://schemas.openxmlformats.org/officeDocument/2006/relationships/image" Target="../media/image174.png"/><Relationship Id="rId4" Type="http://schemas.openxmlformats.org/officeDocument/2006/relationships/image" Target="../media/image4.wmf"/></Relationships>
</file>

<file path=ppt/slides/_rels/slide1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70.png"/><Relationship Id="rId1" Type="http://schemas.openxmlformats.org/officeDocument/2006/relationships/slideLayout" Target="../slideLayouts/slideLayout2.xml"/><Relationship Id="rId5" Type="http://schemas.openxmlformats.org/officeDocument/2006/relationships/image" Target="../media/image176.png"/><Relationship Id="rId4" Type="http://schemas.openxmlformats.org/officeDocument/2006/relationships/image" Target="../media/image4.wmf"/></Relationships>
</file>

<file path=ppt/slides/_rels/slide15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7.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8.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9.png"/></Relationships>
</file>

<file path=ppt/slides/_rels/slide1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2.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4.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3.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6.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5.png"/><Relationship Id="rId1" Type="http://schemas.openxmlformats.org/officeDocument/2006/relationships/slideLayout" Target="../slideLayouts/slideLayout2.xml"/><Relationship Id="rId5" Type="http://schemas.openxmlformats.org/officeDocument/2006/relationships/image" Target="../media/image181.png"/><Relationship Id="rId4" Type="http://schemas.openxmlformats.org/officeDocument/2006/relationships/image" Target="../media/image4.wmf"/></Relationships>
</file>

<file path=ppt/slides/_rels/slide17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7.png"/></Relationships>
</file>

<file path=ppt/slides/_rels/slide17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8.png"/></Relationships>
</file>

<file path=ppt/slides/_rels/slide17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9.png"/></Relationships>
</file>

<file path=ppt/slides/_rels/slide1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1"/>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9AAE12F0-D7BF-4E02-ACB0-666C08785BCA}"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0723" name="页脚占位符 2"/>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0724" name="灯片编号占位符 3"/>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70D45005-2D24-4C3E-A16D-143D8B927AFB}"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a:t>
            </a:fld>
            <a:endParaRPr lang="en-US" altLang="zh-CN" sz="1400" b="1">
              <a:latin typeface="Times New Roman" panose="02020603050405020304" pitchFamily="18" charset="0"/>
              <a:ea typeface="宋体" panose="02010600030101010101" pitchFamily="2" charset="-122"/>
            </a:endParaRPr>
          </a:p>
        </p:txBody>
      </p:sp>
      <p:sp>
        <p:nvSpPr>
          <p:cNvPr id="30725" name="页脚占位符 3"/>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a:spcBef>
                <a:spcPct val="0"/>
              </a:spcBef>
              <a:buFontTx/>
              <a:buNone/>
            </a:pPr>
            <a:fld id="{96E58E5F-3263-4296-ABC8-2073B779E6E6}"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1</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23939" name="Rectangle 3"/>
          <p:cNvSpPr>
            <a:spLocks noGrp="1" noChangeArrowheads="1"/>
          </p:cNvSpPr>
          <p:nvPr>
            <p:ph type="body" idx="4294967295"/>
          </p:nvPr>
        </p:nvSpPr>
        <p:spPr>
          <a:xfrm>
            <a:off x="684213" y="1412875"/>
            <a:ext cx="7826375" cy="2514600"/>
          </a:xfrm>
        </p:spPr>
        <p:txBody>
          <a:bodyPr/>
          <a:lstStyle/>
          <a:p>
            <a:pPr marL="400050" indent="-400050" algn="ctr" eaLnBrk="1" hangingPunct="1">
              <a:buFontTx/>
              <a:buNone/>
              <a:defRPr/>
            </a:pPr>
            <a:r>
              <a:rPr lang="zh-CN" altLang="en-US" sz="8000" b="1" dirty="0">
                <a:solidFill>
                  <a:schemeClr val="accent2"/>
                </a:solidFill>
                <a:effectLst/>
                <a:ea typeface="隶书" panose="02010509060101010101" pitchFamily="49" charset="-122"/>
                <a:cs typeface="楷体_GB2312" pitchFamily="49" charset="-122"/>
              </a:rPr>
              <a:t>离散数学</a:t>
            </a:r>
            <a:endParaRPr lang="zh-CN" altLang="en-US" sz="6600" b="1" dirty="0">
              <a:solidFill>
                <a:schemeClr val="accent2"/>
              </a:solidFill>
              <a:effectLst/>
              <a:ea typeface="隶书" panose="02010509060101010101" pitchFamily="49" charset="-122"/>
              <a:cs typeface="楷体_GB2312" pitchFamily="49" charset="-122"/>
            </a:endParaRPr>
          </a:p>
          <a:p>
            <a:pPr marL="400050" indent="-400050" algn="ctr" eaLnBrk="1" hangingPunct="1">
              <a:buFontTx/>
              <a:buNone/>
              <a:defRPr/>
            </a:pPr>
            <a:r>
              <a:rPr lang="en-US" altLang="zh-CN" sz="6600" dirty="0">
                <a:solidFill>
                  <a:schemeClr val="accent2"/>
                </a:solidFill>
                <a:effectLst/>
                <a:latin typeface="Times New Roman" panose="02020603050405020304" pitchFamily="18" charset="0"/>
                <a:ea typeface="华文行楷" panose="02010800040101010101" pitchFamily="2" charset="-122"/>
                <a:cs typeface="楷体_GB2312" pitchFamily="49" charset="-122"/>
              </a:rPr>
              <a:t>Discrete Mathematics</a:t>
            </a:r>
            <a:r>
              <a:rPr lang="en-US" altLang="zh-CN" sz="3600" b="1" dirty="0">
                <a:solidFill>
                  <a:schemeClr val="accent2"/>
                </a:solidFill>
                <a:ea typeface="宋体" panose="02010600030101010101" pitchFamily="2" charset="-122"/>
                <a:cs typeface="楷体_GB2312" pitchFamily="49" charset="-122"/>
              </a:rPr>
              <a:t> </a:t>
            </a:r>
          </a:p>
        </p:txBody>
      </p:sp>
      <p:sp>
        <p:nvSpPr>
          <p:cNvPr id="30727" name="Text Box 4"/>
          <p:cNvSpPr txBox="1">
            <a:spLocks noChangeArrowheads="1"/>
          </p:cNvSpPr>
          <p:nvPr/>
        </p:nvSpPr>
        <p:spPr bwMode="auto">
          <a:xfrm>
            <a:off x="1169988" y="4343400"/>
            <a:ext cx="6858000" cy="131762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spcAft>
                <a:spcPct val="20000"/>
              </a:spcAft>
              <a:buClr>
                <a:srgbClr val="228A88"/>
              </a:buClr>
              <a:buFont typeface="Wingdings 2" panose="05020102010507070707" pitchFamily="18" charset="2"/>
              <a:buNone/>
            </a:pPr>
            <a:r>
              <a:rPr kumimoji="0" lang="zh-CN" altLang="en-US" sz="3200" b="1">
                <a:latin typeface="黑体" panose="02010609060101010101" pitchFamily="49" charset="-122"/>
                <a:ea typeface="黑体" panose="02010609060101010101" pitchFamily="49" charset="-122"/>
                <a:cs typeface="Arial" panose="020B0604020202020204" pitchFamily="34" charset="0"/>
              </a:rPr>
              <a:t>杨娟</a:t>
            </a:r>
            <a:r>
              <a:rPr kumimoji="0" lang="zh-CN" altLang="en-US" sz="3200" b="1" smtClean="0">
                <a:latin typeface="黑体" panose="02010609060101010101" pitchFamily="49" charset="-122"/>
                <a:ea typeface="黑体" panose="02010609060101010101" pitchFamily="49" charset="-122"/>
                <a:cs typeface="Arial" panose="020B0604020202020204" pitchFamily="34" charset="0"/>
              </a:rPr>
              <a:t> 博士</a:t>
            </a:r>
            <a:endParaRPr kumimoji="0" lang="zh-CN" altLang="en-US" sz="3200" b="1" dirty="0">
              <a:latin typeface="黑体" panose="02010609060101010101" pitchFamily="49" charset="-122"/>
              <a:ea typeface="黑体" panose="02010609060101010101" pitchFamily="49" charset="-122"/>
              <a:cs typeface="Arial" panose="020B0604020202020204" pitchFamily="34" charset="0"/>
            </a:endParaRPr>
          </a:p>
          <a:p>
            <a:pPr algn="ctr" eaLnBrk="1" hangingPunct="1">
              <a:spcBef>
                <a:spcPct val="50000"/>
              </a:spcBef>
              <a:spcAft>
                <a:spcPct val="20000"/>
              </a:spcAft>
              <a:buClr>
                <a:srgbClr val="228A88"/>
              </a:buClr>
              <a:buFont typeface="Wingdings 2" panose="05020102010507070707" pitchFamily="18" charset="2"/>
              <a:buNone/>
            </a:pPr>
            <a:r>
              <a:rPr kumimoji="0" lang="zh-CN" altLang="en-US" sz="2800" b="1" dirty="0">
                <a:latin typeface="黑体" panose="02010609060101010101" pitchFamily="49" charset="-122"/>
                <a:ea typeface="黑体" panose="02010609060101010101" pitchFamily="49" charset="-122"/>
                <a:cs typeface="Arial" panose="020B0604020202020204" pitchFamily="34" charset="0"/>
              </a:rPr>
              <a:t>合肥工业大学计算机与信息学院</a:t>
            </a:r>
          </a:p>
        </p:txBody>
      </p:sp>
      <p:pic>
        <p:nvPicPr>
          <p:cNvPr id="3072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2238"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0F833220-D2B1-4720-9C04-D929C4DC0C3B}"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174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174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83C35079-C861-4D1B-8772-53943FEEE953}"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2</a:t>
            </a:fld>
            <a:endParaRPr lang="en-US" altLang="zh-CN" sz="1400" b="1">
              <a:latin typeface="Times New Roman" panose="02020603050405020304" pitchFamily="18" charset="0"/>
              <a:ea typeface="宋体" panose="02010600030101010101" pitchFamily="2" charset="-122"/>
            </a:endParaRPr>
          </a:p>
        </p:txBody>
      </p:sp>
      <p:sp>
        <p:nvSpPr>
          <p:cNvPr id="31749" name="Rectangle 2"/>
          <p:cNvSpPr>
            <a:spLocks noGrp="1" noChangeArrowheads="1"/>
          </p:cNvSpPr>
          <p:nvPr>
            <p:ph type="ctrTitle" idx="4294967295"/>
          </p:nvPr>
        </p:nvSpPr>
        <p:spPr>
          <a:xfrm>
            <a:off x="684213" y="2350641"/>
            <a:ext cx="8137525" cy="2662535"/>
          </a:xfrm>
        </p:spPr>
        <p:txBody>
          <a:bodyPr/>
          <a:lstStyle/>
          <a:p>
            <a:pPr eaLnBrk="1" hangingPunct="1"/>
            <a:r>
              <a:rPr lang="zh-CN" altLang="en-US" sz="6600" b="1" dirty="0">
                <a:solidFill>
                  <a:schemeClr val="accent2"/>
                </a:solidFill>
                <a:latin typeface="黑体" panose="02010609060101010101" pitchFamily="49" charset="-122"/>
                <a:ea typeface="黑体" panose="02010609060101010101" pitchFamily="49" charset="-122"/>
              </a:rPr>
              <a:t>第</a:t>
            </a:r>
            <a:r>
              <a:rPr lang="en-US" altLang="zh-CN" sz="6600" b="1" dirty="0">
                <a:solidFill>
                  <a:schemeClr val="accent2"/>
                </a:solidFill>
                <a:latin typeface="黑体" panose="02010609060101010101" pitchFamily="49" charset="-122"/>
                <a:ea typeface="黑体" panose="02010609060101010101" pitchFamily="49" charset="-122"/>
              </a:rPr>
              <a:t>8</a:t>
            </a:r>
            <a:r>
              <a:rPr lang="zh-CN" altLang="en-US" sz="6600" b="1" dirty="0">
                <a:solidFill>
                  <a:schemeClr val="accent2"/>
                </a:solidFill>
                <a:latin typeface="黑体" panose="02010609060101010101" pitchFamily="49" charset="-122"/>
                <a:ea typeface="黑体" panose="02010609060101010101" pitchFamily="49" charset="-122"/>
              </a:rPr>
              <a:t>章 图基本理论</a:t>
            </a:r>
            <a:r>
              <a:rPr lang="en-US" altLang="zh-CN" sz="6600" b="1" dirty="0">
                <a:solidFill>
                  <a:schemeClr val="accent2"/>
                </a:solidFill>
                <a:latin typeface="黑体" panose="02010609060101010101" pitchFamily="49" charset="-122"/>
                <a:ea typeface="黑体" panose="02010609060101010101" pitchFamily="49" charset="-122"/>
              </a:rPr>
              <a:t/>
            </a:r>
            <a:br>
              <a:rPr lang="en-US" altLang="zh-CN" sz="6600" b="1" dirty="0">
                <a:solidFill>
                  <a:schemeClr val="accent2"/>
                </a:solidFill>
                <a:latin typeface="黑体" panose="02010609060101010101" pitchFamily="49" charset="-122"/>
                <a:ea typeface="黑体" panose="02010609060101010101" pitchFamily="49" charset="-122"/>
              </a:rPr>
            </a:br>
            <a:r>
              <a:rPr lang="zh-CN" altLang="en-US" sz="6600" b="1" dirty="0">
                <a:solidFill>
                  <a:schemeClr val="accent2"/>
                </a:solidFill>
                <a:latin typeface="黑体" panose="02010609060101010101" pitchFamily="49" charset="-122"/>
                <a:ea typeface="黑体" panose="02010609060101010101" pitchFamily="49" charset="-122"/>
              </a:rPr>
              <a:t>与算法</a:t>
            </a:r>
            <a:r>
              <a:rPr lang="en-US" altLang="zh-CN" sz="6600" b="1" dirty="0">
                <a:solidFill>
                  <a:schemeClr val="accent2"/>
                </a:solidFill>
                <a:latin typeface="黑体" panose="02010609060101010101" pitchFamily="49" charset="-122"/>
                <a:ea typeface="黑体" panose="02010609060101010101" pitchFamily="49" charset="-122"/>
              </a:rPr>
              <a:t>(</a:t>
            </a:r>
            <a:r>
              <a:rPr lang="zh-CN" altLang="en-US" sz="6600" b="1" dirty="0">
                <a:solidFill>
                  <a:schemeClr val="accent2"/>
                </a:solidFill>
                <a:latin typeface="黑体" panose="02010609060101010101" pitchFamily="49" charset="-122"/>
                <a:ea typeface="黑体" panose="02010609060101010101" pitchFamily="49" charset="-122"/>
              </a:rPr>
              <a:t>下</a:t>
            </a:r>
            <a:r>
              <a:rPr lang="en-US" altLang="zh-CN" sz="6600" b="1" dirty="0">
                <a:solidFill>
                  <a:schemeClr val="accent2"/>
                </a:solidFill>
                <a:latin typeface="黑体" panose="02010609060101010101" pitchFamily="49" charset="-122"/>
                <a:ea typeface="黑体" panose="02010609060101010101" pitchFamily="49" charset="-122"/>
              </a:rPr>
              <a:t>)</a:t>
            </a:r>
            <a:r>
              <a:rPr lang="zh-CN" altLang="en-US" sz="6600" b="1" dirty="0">
                <a:solidFill>
                  <a:schemeClr val="accent2"/>
                </a:solidFill>
              </a:rPr>
              <a:t/>
            </a:r>
            <a:br>
              <a:rPr lang="zh-CN" altLang="en-US" sz="6600" b="1" dirty="0">
                <a:solidFill>
                  <a:schemeClr val="accent2"/>
                </a:solidFill>
              </a:rPr>
            </a:br>
            <a:endParaRPr lang="zh-CN" altLang="en-US" sz="5400" b="1" dirty="0">
              <a:solidFill>
                <a:schemeClr val="accent2"/>
              </a:solidFill>
            </a:endParaRPr>
          </a:p>
        </p:txBody>
      </p:sp>
      <p:pic>
        <p:nvPicPr>
          <p:cNvPr id="31750"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a:extLst>
              <a:ext uri="{FF2B5EF4-FFF2-40B4-BE49-F238E27FC236}">
                <a16:creationId xmlns:a16="http://schemas.microsoft.com/office/drawing/2014/main" id="{8B79DCF2-7D4B-4483-893E-B4FC31C71FC5}"/>
              </a:ext>
            </a:extLst>
          </p:cNvPr>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553EC686-AF37-45F3-853D-D89F0950FCF3}"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6148" name="Text Box 2">
            <a:extLst>
              <a:ext uri="{FF2B5EF4-FFF2-40B4-BE49-F238E27FC236}">
                <a16:creationId xmlns:a16="http://schemas.microsoft.com/office/drawing/2014/main" id="{3F5FA13A-E206-45A4-96E7-086741EE43DA}"/>
              </a:ext>
            </a:extLst>
          </p:cNvPr>
          <p:cNvSpPr txBox="1">
            <a:spLocks noChangeArrowheads="1"/>
          </p:cNvSpPr>
          <p:nvPr/>
        </p:nvSpPr>
        <p:spPr bwMode="auto">
          <a:xfrm>
            <a:off x="1403350" y="908050"/>
            <a:ext cx="70866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本章内容（下）</a:t>
            </a:r>
            <a:endParaRPr lang="en-US" altLang="zh-CN" sz="5400" dirty="0">
              <a:latin typeface="Times New Roman" panose="02020603050405020304" pitchFamily="18" charset="0"/>
              <a:ea typeface="宋体" panose="02010600030101010101" pitchFamily="2" charset="-122"/>
            </a:endParaRPr>
          </a:p>
        </p:txBody>
      </p:sp>
      <p:grpSp>
        <p:nvGrpSpPr>
          <p:cNvPr id="2" name="组合 1">
            <a:extLst>
              <a:ext uri="{FF2B5EF4-FFF2-40B4-BE49-F238E27FC236}">
                <a16:creationId xmlns:a16="http://schemas.microsoft.com/office/drawing/2014/main" id="{CC86C675-73F0-45F1-AF96-B162CA07333E}"/>
              </a:ext>
            </a:extLst>
          </p:cNvPr>
          <p:cNvGrpSpPr/>
          <p:nvPr/>
        </p:nvGrpSpPr>
        <p:grpSpPr>
          <a:xfrm>
            <a:off x="2267744" y="2564954"/>
            <a:ext cx="4724623" cy="3083222"/>
            <a:chOff x="2339752" y="2667000"/>
            <a:chExt cx="4724623" cy="3083222"/>
          </a:xfrm>
        </p:grpSpPr>
        <p:grpSp>
          <p:nvGrpSpPr>
            <p:cNvPr id="6147" name="Group 17">
              <a:extLst>
                <a:ext uri="{FF2B5EF4-FFF2-40B4-BE49-F238E27FC236}">
                  <a16:creationId xmlns:a16="http://schemas.microsoft.com/office/drawing/2014/main" id="{CCDBFCBF-8C53-4944-ADA3-10C127C95A94}"/>
                </a:ext>
              </a:extLst>
            </p:cNvPr>
            <p:cNvGrpSpPr>
              <a:grpSpLocks/>
            </p:cNvGrpSpPr>
            <p:nvPr/>
          </p:nvGrpSpPr>
          <p:grpSpPr bwMode="auto">
            <a:xfrm>
              <a:off x="2339975" y="2667000"/>
              <a:ext cx="4724400" cy="2789238"/>
              <a:chOff x="1480" y="1570"/>
              <a:chExt cx="2976" cy="1757"/>
            </a:xfrm>
          </p:grpSpPr>
          <p:sp>
            <p:nvSpPr>
              <p:cNvPr id="1170441" name="AutoShape 9">
                <a:extLst>
                  <a:ext uri="{FF2B5EF4-FFF2-40B4-BE49-F238E27FC236}">
                    <a16:creationId xmlns:a16="http://schemas.microsoft.com/office/drawing/2014/main" id="{4658E5D5-E5A0-4A29-A7AA-E525DD438D9E}"/>
                  </a:ext>
                </a:extLst>
              </p:cNvPr>
              <p:cNvSpPr>
                <a:spLocks noChangeArrowheads="1"/>
              </p:cNvSpPr>
              <p:nvPr/>
            </p:nvSpPr>
            <p:spPr bwMode="gray">
              <a:xfrm>
                <a:off x="1720" y="2343"/>
                <a:ext cx="2736" cy="37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6154" name="AutoShape 10">
                <a:extLst>
                  <a:ext uri="{FF2B5EF4-FFF2-40B4-BE49-F238E27FC236}">
                    <a16:creationId xmlns:a16="http://schemas.microsoft.com/office/drawing/2014/main" id="{DEA34A0A-3399-496E-8434-24D7ACC94B11}"/>
                  </a:ext>
                </a:extLst>
              </p:cNvPr>
              <p:cNvSpPr>
                <a:spLocks noChangeArrowheads="1"/>
              </p:cNvSpPr>
              <p:nvPr/>
            </p:nvSpPr>
            <p:spPr bwMode="gray">
              <a:xfrm>
                <a:off x="1480" y="2245"/>
                <a:ext cx="432" cy="568"/>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5" name="Text Box 11">
                <a:extLst>
                  <a:ext uri="{FF2B5EF4-FFF2-40B4-BE49-F238E27FC236}">
                    <a16:creationId xmlns:a16="http://schemas.microsoft.com/office/drawing/2014/main" id="{3D999257-C027-47DF-B018-11E7DA1127B5}"/>
                  </a:ext>
                </a:extLst>
              </p:cNvPr>
              <p:cNvSpPr txBox="1">
                <a:spLocks noChangeArrowheads="1"/>
              </p:cNvSpPr>
              <p:nvPr/>
            </p:nvSpPr>
            <p:spPr bwMode="gray">
              <a:xfrm>
                <a:off x="1751" y="2368"/>
                <a:ext cx="258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rPr>
                  <a:t>  </a:t>
                </a:r>
                <a:r>
                  <a:rPr kumimoji="0" lang="zh-CN" altLang="en-US" sz="2800" b="1" dirty="0">
                    <a:latin typeface="黑体" panose="02010609060101010101" pitchFamily="49" charset="-122"/>
                    <a:ea typeface="黑体" panose="02010609060101010101" pitchFamily="49" charset="-122"/>
                  </a:rPr>
                  <a:t>图的基本算法</a:t>
                </a:r>
              </a:p>
            </p:txBody>
          </p:sp>
          <p:sp>
            <p:nvSpPr>
              <p:cNvPr id="6156" name="Text Box 12">
                <a:extLst>
                  <a:ext uri="{FF2B5EF4-FFF2-40B4-BE49-F238E27FC236}">
                    <a16:creationId xmlns:a16="http://schemas.microsoft.com/office/drawing/2014/main" id="{F48BA5D5-907C-4142-A3A2-1B200839271D}"/>
                  </a:ext>
                </a:extLst>
              </p:cNvPr>
              <p:cNvSpPr txBox="1">
                <a:spLocks noChangeArrowheads="1"/>
              </p:cNvSpPr>
              <p:nvPr/>
            </p:nvSpPr>
            <p:spPr bwMode="gray">
              <a:xfrm>
                <a:off x="1573" y="2326"/>
                <a:ext cx="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dirty="0">
                    <a:solidFill>
                      <a:schemeClr val="bg1"/>
                    </a:solidFill>
                    <a:latin typeface="黑体" panose="02010609060101010101" pitchFamily="49" charset="-122"/>
                  </a:rPr>
                  <a:t>4</a:t>
                </a:r>
              </a:p>
            </p:txBody>
          </p:sp>
          <p:sp>
            <p:nvSpPr>
              <p:cNvPr id="6157" name="Text Box 17">
                <a:extLst>
                  <a:ext uri="{FF2B5EF4-FFF2-40B4-BE49-F238E27FC236}">
                    <a16:creationId xmlns:a16="http://schemas.microsoft.com/office/drawing/2014/main" id="{09A266C2-20AB-44A7-B373-276B643007F9}"/>
                  </a:ext>
                </a:extLst>
              </p:cNvPr>
              <p:cNvSpPr txBox="1">
                <a:spLocks noChangeArrowheads="1"/>
              </p:cNvSpPr>
              <p:nvPr/>
            </p:nvSpPr>
            <p:spPr bwMode="gray">
              <a:xfrm>
                <a:off x="1568" y="300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3</a:t>
                </a:r>
              </a:p>
            </p:txBody>
          </p:sp>
          <p:sp>
            <p:nvSpPr>
              <p:cNvPr id="6158" name="AutoShape 19">
                <a:extLst>
                  <a:ext uri="{FF2B5EF4-FFF2-40B4-BE49-F238E27FC236}">
                    <a16:creationId xmlns:a16="http://schemas.microsoft.com/office/drawing/2014/main" id="{C1D0CFD9-C150-4E45-9EEC-CADE03AA461C}"/>
                  </a:ext>
                </a:extLst>
              </p:cNvPr>
              <p:cNvSpPr>
                <a:spLocks noChangeArrowheads="1"/>
              </p:cNvSpPr>
              <p:nvPr/>
            </p:nvSpPr>
            <p:spPr bwMode="gray">
              <a:xfrm>
                <a:off x="1720" y="1666"/>
                <a:ext cx="2736" cy="371"/>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9" name="AutoShape 20">
                <a:extLst>
                  <a:ext uri="{FF2B5EF4-FFF2-40B4-BE49-F238E27FC236}">
                    <a16:creationId xmlns:a16="http://schemas.microsoft.com/office/drawing/2014/main" id="{768D2012-DD6D-495B-9208-9B206CE3DA1E}"/>
                  </a:ext>
                </a:extLst>
              </p:cNvPr>
              <p:cNvSpPr>
                <a:spLocks noChangeArrowheads="1"/>
              </p:cNvSpPr>
              <p:nvPr/>
            </p:nvSpPr>
            <p:spPr bwMode="gray">
              <a:xfrm>
                <a:off x="1480" y="1570"/>
                <a:ext cx="432" cy="556"/>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60" name="Text Box 21">
                <a:extLst>
                  <a:ext uri="{FF2B5EF4-FFF2-40B4-BE49-F238E27FC236}">
                    <a16:creationId xmlns:a16="http://schemas.microsoft.com/office/drawing/2014/main" id="{0B068811-2E32-4F92-8076-5B4524B455BB}"/>
                  </a:ext>
                </a:extLst>
              </p:cNvPr>
              <p:cNvSpPr txBox="1">
                <a:spLocks noChangeArrowheads="1"/>
              </p:cNvSpPr>
              <p:nvPr/>
            </p:nvSpPr>
            <p:spPr bwMode="gray">
              <a:xfrm>
                <a:off x="1973" y="1687"/>
                <a:ext cx="21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ea typeface="黑体" panose="02010609060101010101" pitchFamily="49" charset="-122"/>
                  </a:rPr>
                  <a:t>  通路与连通性</a:t>
                </a:r>
              </a:p>
            </p:txBody>
          </p:sp>
          <p:sp>
            <p:nvSpPr>
              <p:cNvPr id="6161" name="Text Box 22">
                <a:extLst>
                  <a:ext uri="{FF2B5EF4-FFF2-40B4-BE49-F238E27FC236}">
                    <a16:creationId xmlns:a16="http://schemas.microsoft.com/office/drawing/2014/main" id="{63B03637-5D77-4C8F-9B61-0BB44EB9B437}"/>
                  </a:ext>
                </a:extLst>
              </p:cNvPr>
              <p:cNvSpPr txBox="1">
                <a:spLocks noChangeArrowheads="1"/>
              </p:cNvSpPr>
              <p:nvPr/>
            </p:nvSpPr>
            <p:spPr bwMode="gray">
              <a:xfrm>
                <a:off x="1573" y="1682"/>
                <a:ext cx="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dirty="0">
                    <a:solidFill>
                      <a:schemeClr val="bg1"/>
                    </a:solidFill>
                    <a:latin typeface="黑体" panose="02010609060101010101" pitchFamily="49" charset="-122"/>
                  </a:rPr>
                  <a:t>3</a:t>
                </a:r>
              </a:p>
            </p:txBody>
          </p:sp>
        </p:grpSp>
        <p:sp>
          <p:nvSpPr>
            <p:cNvPr id="14" name="AutoShape 14">
              <a:extLst>
                <a:ext uri="{FF2B5EF4-FFF2-40B4-BE49-F238E27FC236}">
                  <a16:creationId xmlns:a16="http://schemas.microsoft.com/office/drawing/2014/main" id="{2F831752-1F3C-4215-A7F1-BD27623F602D}"/>
                </a:ext>
              </a:extLst>
            </p:cNvPr>
            <p:cNvSpPr>
              <a:spLocks noChangeArrowheads="1"/>
            </p:cNvSpPr>
            <p:nvPr/>
          </p:nvSpPr>
          <p:spPr bwMode="gray">
            <a:xfrm>
              <a:off x="2695352" y="5004097"/>
              <a:ext cx="4343400" cy="590550"/>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6150" name="AutoShape 15">
              <a:extLst>
                <a:ext uri="{FF2B5EF4-FFF2-40B4-BE49-F238E27FC236}">
                  <a16:creationId xmlns:a16="http://schemas.microsoft.com/office/drawing/2014/main" id="{732453DD-6264-4374-8E57-D0C8AA406672}"/>
                </a:ext>
              </a:extLst>
            </p:cNvPr>
            <p:cNvSpPr>
              <a:spLocks noChangeArrowheads="1"/>
            </p:cNvSpPr>
            <p:nvPr/>
          </p:nvSpPr>
          <p:spPr bwMode="gray">
            <a:xfrm>
              <a:off x="2339752" y="4869160"/>
              <a:ext cx="685800" cy="881062"/>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1" name="Text Box 17">
              <a:extLst>
                <a:ext uri="{FF2B5EF4-FFF2-40B4-BE49-F238E27FC236}">
                  <a16:creationId xmlns:a16="http://schemas.microsoft.com/office/drawing/2014/main" id="{7CEEF45B-EA0D-4E16-91F9-EF6A0D0E5FD0}"/>
                </a:ext>
              </a:extLst>
            </p:cNvPr>
            <p:cNvSpPr txBox="1">
              <a:spLocks noChangeArrowheads="1"/>
            </p:cNvSpPr>
            <p:nvPr/>
          </p:nvSpPr>
          <p:spPr bwMode="gray">
            <a:xfrm>
              <a:off x="2513250" y="4986635"/>
              <a:ext cx="3642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dirty="0">
                  <a:solidFill>
                    <a:schemeClr val="bg1"/>
                  </a:solidFill>
                  <a:latin typeface="黑体" panose="02010609060101010101" pitchFamily="49" charset="-122"/>
                </a:rPr>
                <a:t>5</a:t>
              </a:r>
            </a:p>
          </p:txBody>
        </p:sp>
        <p:sp>
          <p:nvSpPr>
            <p:cNvPr id="6152" name="Text Box 21">
              <a:extLst>
                <a:ext uri="{FF2B5EF4-FFF2-40B4-BE49-F238E27FC236}">
                  <a16:creationId xmlns:a16="http://schemas.microsoft.com/office/drawing/2014/main" id="{E6883E0E-3048-4245-8174-B75FE987F90D}"/>
                </a:ext>
              </a:extLst>
            </p:cNvPr>
            <p:cNvSpPr txBox="1">
              <a:spLocks noChangeArrowheads="1"/>
            </p:cNvSpPr>
            <p:nvPr/>
          </p:nvSpPr>
          <p:spPr bwMode="gray">
            <a:xfrm>
              <a:off x="3157314" y="5039022"/>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dirty="0">
                  <a:latin typeface="黑体" panose="02010609060101010101" pitchFamily="49" charset="-122"/>
                  <a:ea typeface="黑体" panose="02010609060101010101" pitchFamily="49" charset="-122"/>
                </a:rPr>
                <a:t> </a:t>
              </a:r>
              <a:r>
                <a:rPr kumimoji="0" lang="zh-CN" altLang="en-US" sz="2800" b="1" dirty="0">
                  <a:latin typeface="黑体" panose="02010609060101010101" pitchFamily="49" charset="-122"/>
                  <a:ea typeface="黑体" panose="02010609060101010101" pitchFamily="49" charset="-122"/>
                </a:rPr>
                <a:t>图模型的应用</a:t>
              </a:r>
            </a:p>
          </p:txBody>
        </p:sp>
      </p:gr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0EF63B95-CEEE-452F-A1BF-6F35335C22F2}"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379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379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087295F5-B732-4FA7-8470-0A815CEF7876}"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4</a:t>
            </a:fld>
            <a:endParaRPr lang="en-US" altLang="zh-CN" sz="1400" b="1">
              <a:latin typeface="Times New Roman" panose="02020603050405020304" pitchFamily="18" charset="0"/>
              <a:ea typeface="宋体" panose="02010600030101010101" pitchFamily="2" charset="-122"/>
            </a:endParaRPr>
          </a:p>
        </p:txBody>
      </p:sp>
      <p:sp>
        <p:nvSpPr>
          <p:cNvPr id="33797" name="Rectangle 4"/>
          <p:cNvSpPr>
            <a:spLocks noGrp="1" noChangeArrowheads="1"/>
          </p:cNvSpPr>
          <p:nvPr>
            <p:ph type="ctrTitle" idx="4294967295"/>
          </p:nvPr>
        </p:nvSpPr>
        <p:spPr>
          <a:xfrm>
            <a:off x="1190625" y="2565400"/>
            <a:ext cx="7197725" cy="1439863"/>
          </a:xfrm>
          <a:solidFill>
            <a:srgbClr val="0000FF"/>
          </a:solidFill>
        </p:spPr>
        <p:txBody>
          <a:bodyPr/>
          <a:lstStyle/>
          <a:p>
            <a:pPr eaLnBrk="1" hangingPunct="1"/>
            <a:r>
              <a:rPr lang="zh-CN" altLang="en-US" sz="6600" b="1" dirty="0">
                <a:solidFill>
                  <a:schemeClr val="bg1"/>
                </a:solidFill>
              </a:rPr>
              <a:t>通路与连通性</a:t>
            </a:r>
          </a:p>
        </p:txBody>
      </p:sp>
      <p:pic>
        <p:nvPicPr>
          <p:cNvPr id="33798"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2885271"/>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5</a:t>
            </a:fld>
            <a:endParaRPr lang="en-US" altLang="zh-CN" sz="1400" b="1">
              <a:latin typeface="Times New Roman" panose="02020603050405020304" pitchFamily="18" charset="0"/>
              <a:ea typeface="宋体" panose="02010600030101010101" pitchFamily="2" charset="-122"/>
            </a:endParaRPr>
          </a:p>
        </p:txBody>
      </p:sp>
      <p:sp>
        <p:nvSpPr>
          <p:cNvPr id="34821" name="Text Box 2"/>
          <p:cNvSpPr txBox="1">
            <a:spLocks noChangeArrowheads="1"/>
          </p:cNvSpPr>
          <p:nvPr/>
        </p:nvSpPr>
        <p:spPr bwMode="auto">
          <a:xfrm>
            <a:off x="1371600" y="1012091"/>
            <a:ext cx="70866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mj-ea"/>
                <a:ea typeface="+mj-ea"/>
              </a:rPr>
              <a:t> 图的通路与连通性</a:t>
            </a:r>
          </a:p>
        </p:txBody>
      </p:sp>
      <p:sp>
        <p:nvSpPr>
          <p:cNvPr id="34822" name="Rectangle 3"/>
          <p:cNvSpPr>
            <a:spLocks noGrp="1" noChangeArrowheads="1"/>
          </p:cNvSpPr>
          <p:nvPr>
            <p:ph type="body" idx="4294967295"/>
          </p:nvPr>
        </p:nvSpPr>
        <p:spPr>
          <a:xfrm>
            <a:off x="2555875" y="2347913"/>
            <a:ext cx="4537075" cy="3529012"/>
          </a:xfrm>
          <a:noFill/>
        </p:spPr>
        <p:txBody>
          <a:bodyPr lIns="92075" tIns="46038" rIns="92075" bIns="46038"/>
          <a:lstStyle/>
          <a:p>
            <a:pPr eaLnBrk="1" hangingPunct="1">
              <a:lnSpc>
                <a:spcPct val="140000"/>
              </a:lnSpc>
              <a:buFont typeface="Wingdings" panose="05000000000000000000" pitchFamily="2" charset="2"/>
              <a:buChar char="J"/>
            </a:pPr>
            <a:r>
              <a:rPr lang="en-US" altLang="zh-CN" sz="3600" b="1" dirty="0">
                <a:solidFill>
                  <a:srgbClr val="0000FF"/>
                </a:solidFill>
                <a:effectLst/>
                <a:latin typeface="黑体" panose="02010609060101010101" pitchFamily="49" charset="-122"/>
                <a:ea typeface="黑体" panose="02010609060101010101" pitchFamily="49" charset="-122"/>
                <a:cs typeface="楷体_GB2312" pitchFamily="49" charset="-122"/>
              </a:rPr>
              <a:t> </a:t>
            </a:r>
            <a:r>
              <a:rPr lang="zh-CN" altLang="en-US" sz="3600" b="1" dirty="0">
                <a:solidFill>
                  <a:srgbClr val="0000FF"/>
                </a:solidFill>
                <a:effectLst/>
                <a:latin typeface="黑体" panose="02010609060101010101" pitchFamily="49" charset="-122"/>
                <a:ea typeface="黑体" panose="02010609060101010101" pitchFamily="49" charset="-122"/>
                <a:cs typeface="楷体_GB2312" pitchFamily="49" charset="-122"/>
              </a:rPr>
              <a:t>通路的基本知识</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可达性及其判定</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无向图的连通性</a:t>
            </a:r>
            <a:endParaRPr lang="en-US" altLang="zh-CN" sz="3600" b="1" dirty="0">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有向图的连通性</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030774"/>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53FC24D2-1FF3-4F3C-8068-31223575A399}"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20837" name="Text Box 2"/>
          <p:cNvSpPr txBox="1">
            <a:spLocks noChangeArrowheads="1"/>
          </p:cNvSpPr>
          <p:nvPr/>
        </p:nvSpPr>
        <p:spPr bwMode="auto">
          <a:xfrm>
            <a:off x="1241302" y="615146"/>
            <a:ext cx="640873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通路与连通性</a:t>
            </a:r>
          </a:p>
        </p:txBody>
      </p:sp>
      <p:pic>
        <p:nvPicPr>
          <p:cNvPr id="12083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6004429C-A3FC-4944-B96B-E673AA5B5985}"/>
              </a:ext>
            </a:extLst>
          </p:cNvPr>
          <p:cNvPicPr>
            <a:picLocks noChangeAspect="1"/>
          </p:cNvPicPr>
          <p:nvPr/>
        </p:nvPicPr>
        <p:blipFill>
          <a:blip r:embed="rId4"/>
          <a:stretch>
            <a:fillRect/>
          </a:stretch>
        </p:blipFill>
        <p:spPr>
          <a:xfrm>
            <a:off x="1493343" y="1670137"/>
            <a:ext cx="5904656" cy="4646574"/>
          </a:xfrm>
          <a:prstGeom prst="rect">
            <a:avLst/>
          </a:prstGeom>
        </p:spPr>
      </p:pic>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34038288-56B6-439F-BC83-5A9F281B66BD}"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121859"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2186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BFDCC42-771A-4999-841B-6DC4A66FDB7B}"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7</a:t>
            </a:fld>
            <a:endParaRPr lang="en-US" altLang="zh-CN" sz="1400" b="1">
              <a:latin typeface="Times New Roman" panose="02020603050405020304" pitchFamily="18" charset="0"/>
              <a:ea typeface="宋体" panose="02010600030101010101" pitchFamily="2" charset="-122"/>
            </a:endParaRPr>
          </a:p>
        </p:txBody>
      </p:sp>
      <p:pic>
        <p:nvPicPr>
          <p:cNvPr id="12186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2">
            <a:extLst>
              <a:ext uri="{FF2B5EF4-FFF2-40B4-BE49-F238E27FC236}">
                <a16:creationId xmlns:a16="http://schemas.microsoft.com/office/drawing/2014/main" id="{216D2EC9-19F3-43A5-AB3E-6A3E83D6007F}"/>
              </a:ext>
            </a:extLst>
          </p:cNvPr>
          <p:cNvSpPr txBox="1">
            <a:spLocks noChangeArrowheads="1"/>
          </p:cNvSpPr>
          <p:nvPr/>
        </p:nvSpPr>
        <p:spPr bwMode="auto">
          <a:xfrm>
            <a:off x="1402899" y="620688"/>
            <a:ext cx="61214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通路与回路</a:t>
            </a:r>
          </a:p>
        </p:txBody>
      </p:sp>
      <p:pic>
        <p:nvPicPr>
          <p:cNvPr id="3" name="图片 2">
            <a:extLst>
              <a:ext uri="{FF2B5EF4-FFF2-40B4-BE49-F238E27FC236}">
                <a16:creationId xmlns:a16="http://schemas.microsoft.com/office/drawing/2014/main" id="{695A781D-E3E3-4170-A811-85EDF8B168CF}"/>
              </a:ext>
            </a:extLst>
          </p:cNvPr>
          <p:cNvPicPr>
            <a:picLocks noChangeAspect="1"/>
          </p:cNvPicPr>
          <p:nvPr/>
        </p:nvPicPr>
        <p:blipFill>
          <a:blip r:embed="rId4"/>
          <a:stretch>
            <a:fillRect/>
          </a:stretch>
        </p:blipFill>
        <p:spPr>
          <a:xfrm>
            <a:off x="539552" y="1885242"/>
            <a:ext cx="8309373" cy="4165403"/>
          </a:xfrm>
          <a:prstGeom prst="rect">
            <a:avLst/>
          </a:prstGeom>
        </p:spPr>
      </p:pic>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34038288-56B6-439F-BC83-5A9F281B66BD}"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121859"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2186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BFDCC42-771A-4999-841B-6DC4A66FDB7B}"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8</a:t>
            </a:fld>
            <a:endParaRPr lang="en-US" altLang="zh-CN" sz="1400" b="1">
              <a:latin typeface="Times New Roman" panose="02020603050405020304" pitchFamily="18" charset="0"/>
              <a:ea typeface="宋体" panose="02010600030101010101" pitchFamily="2" charset="-122"/>
            </a:endParaRPr>
          </a:p>
        </p:txBody>
      </p:sp>
      <p:pic>
        <p:nvPicPr>
          <p:cNvPr id="12186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2">
            <a:extLst>
              <a:ext uri="{FF2B5EF4-FFF2-40B4-BE49-F238E27FC236}">
                <a16:creationId xmlns:a16="http://schemas.microsoft.com/office/drawing/2014/main" id="{216D2EC9-19F3-43A5-AB3E-6A3E83D6007F}"/>
              </a:ext>
            </a:extLst>
          </p:cNvPr>
          <p:cNvSpPr txBox="1">
            <a:spLocks noChangeArrowheads="1"/>
          </p:cNvSpPr>
          <p:nvPr/>
        </p:nvSpPr>
        <p:spPr bwMode="auto">
          <a:xfrm>
            <a:off x="1402899" y="620688"/>
            <a:ext cx="61214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通路与回路</a:t>
            </a:r>
          </a:p>
        </p:txBody>
      </p:sp>
      <p:pic>
        <p:nvPicPr>
          <p:cNvPr id="4" name="图片 3">
            <a:extLst>
              <a:ext uri="{FF2B5EF4-FFF2-40B4-BE49-F238E27FC236}">
                <a16:creationId xmlns:a16="http://schemas.microsoft.com/office/drawing/2014/main" id="{B6C4312B-A970-46D6-99E2-96ECA2A723B7}"/>
              </a:ext>
            </a:extLst>
          </p:cNvPr>
          <p:cNvPicPr>
            <a:picLocks noChangeAspect="1"/>
          </p:cNvPicPr>
          <p:nvPr/>
        </p:nvPicPr>
        <p:blipFill>
          <a:blip r:embed="rId4"/>
          <a:stretch>
            <a:fillRect/>
          </a:stretch>
        </p:blipFill>
        <p:spPr>
          <a:xfrm>
            <a:off x="684213" y="1895872"/>
            <a:ext cx="7976832" cy="4320480"/>
          </a:xfrm>
          <a:prstGeom prst="rect">
            <a:avLst/>
          </a:prstGeom>
        </p:spPr>
      </p:pic>
    </p:spTree>
    <p:extLst>
      <p:ext uri="{BB962C8B-B14F-4D97-AF65-F5344CB8AC3E}">
        <p14:creationId xmlns:p14="http://schemas.microsoft.com/office/powerpoint/2010/main" val="1723443981"/>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010D7ED9-D316-412C-B929-0064818A6618}"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122883"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2288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8984B03B-92AD-4B64-9BCE-084B527F5B9E}"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9</a:t>
            </a:fld>
            <a:endParaRPr lang="en-US" altLang="zh-CN" sz="1400" b="1">
              <a:latin typeface="Times New Roman" panose="02020603050405020304" pitchFamily="18" charset="0"/>
              <a:ea typeface="宋体" panose="02010600030101010101" pitchFamily="2" charset="-122"/>
            </a:endParaRPr>
          </a:p>
        </p:txBody>
      </p:sp>
      <p:sp>
        <p:nvSpPr>
          <p:cNvPr id="122885" name="Text Box 2"/>
          <p:cNvSpPr txBox="1">
            <a:spLocks noChangeArrowheads="1"/>
          </p:cNvSpPr>
          <p:nvPr/>
        </p:nvSpPr>
        <p:spPr bwMode="auto">
          <a:xfrm>
            <a:off x="1259632" y="626566"/>
            <a:ext cx="6577464"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通路与回路的定义</a:t>
            </a:r>
          </a:p>
        </p:txBody>
      </p:sp>
      <p:pic>
        <p:nvPicPr>
          <p:cNvPr id="12288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15696" y="1720077"/>
                <a:ext cx="8928484" cy="4451283"/>
              </a:xfrm>
              <a:prstGeom prst="rect">
                <a:avLst/>
              </a:prstGeom>
              <a:solidFill>
                <a:schemeClr val="accent6">
                  <a:lumMod val="75000"/>
                </a:schemeClr>
              </a:solidFill>
              <a:ln w="19050">
                <a:solidFill>
                  <a:schemeClr val="bg1"/>
                </a:solidFill>
              </a:ln>
            </p:spPr>
            <p:txBody>
              <a:bodyPr wrap="square" rtlCol="0">
                <a:spAutoFit/>
              </a:bodyPr>
              <a:lstStyle/>
              <a:p>
                <a:pPr>
                  <a:lnSpc>
                    <a:spcPct val="150000"/>
                  </a:lnSpc>
                </a:pPr>
                <a:r>
                  <a:rPr lang="en-US" altLang="zh-CN" sz="2400" b="1" dirty="0">
                    <a:solidFill>
                      <a:schemeClr val="bg1"/>
                    </a:solidFill>
                    <a:latin typeface="+mj-ea"/>
                    <a:ea typeface="+mj-ea"/>
                  </a:rPr>
                  <a:t>   【</a:t>
                </a:r>
                <a:r>
                  <a:rPr lang="zh-CN" altLang="en-US" sz="2400" b="1" dirty="0">
                    <a:solidFill>
                      <a:schemeClr val="bg1"/>
                    </a:solidFill>
                    <a:latin typeface="+mj-ea"/>
                    <a:ea typeface="+mj-ea"/>
                  </a:rPr>
                  <a:t>定义</a:t>
                </a:r>
                <a:r>
                  <a:rPr lang="en-US" altLang="zh-CN" sz="2400" b="1" dirty="0">
                    <a:solidFill>
                      <a:schemeClr val="bg1"/>
                    </a:solidFill>
                    <a:latin typeface="+mj-ea"/>
                    <a:ea typeface="+mj-ea"/>
                  </a:rPr>
                  <a:t>】</a:t>
                </a:r>
                <a14:m>
                  <m:oMath xmlns:m="http://schemas.openxmlformats.org/officeDocument/2006/math">
                    <m:r>
                      <a:rPr lang="en-US" altLang="zh-CN" sz="2400" b="1" i="1">
                        <a:solidFill>
                          <a:schemeClr val="bg1"/>
                        </a:solidFill>
                        <a:latin typeface="Cambria Math" panose="02040503050406030204" pitchFamily="18" charset="0"/>
                      </a:rPr>
                      <m:t>𝜞</m:t>
                    </m:r>
                  </m:oMath>
                </a14:m>
                <a:r>
                  <a:rPr lang="zh-CN" altLang="en-US" sz="2400" b="1" dirty="0">
                    <a:solidFill>
                      <a:schemeClr val="bg1"/>
                    </a:solidFill>
                    <a:latin typeface="+mj-ea"/>
                    <a:ea typeface="+mj-ea"/>
                  </a:rPr>
                  <a:t>为图</a:t>
                </a:r>
                <a14:m>
                  <m:oMath xmlns:m="http://schemas.openxmlformats.org/officeDocument/2006/math">
                    <m:r>
                      <a:rPr lang="en-US" altLang="zh-CN" sz="2400" b="1" i="1">
                        <a:solidFill>
                          <a:schemeClr val="bg1"/>
                        </a:solidFill>
                        <a:latin typeface="Cambria Math" panose="02040503050406030204" pitchFamily="18" charset="0"/>
                        <a:ea typeface="+mj-ea"/>
                      </a:rPr>
                      <m:t>𝑮</m:t>
                    </m:r>
                    <m:r>
                      <a:rPr lang="en-US" altLang="zh-CN" sz="2400" b="1" i="1">
                        <a:solidFill>
                          <a:schemeClr val="bg1"/>
                        </a:solidFill>
                        <a:latin typeface="Cambria Math" panose="02040503050406030204" pitchFamily="18" charset="0"/>
                        <a:ea typeface="+mj-ea"/>
                      </a:rPr>
                      <m:t>=</m:t>
                    </m:r>
                    <m:d>
                      <m:dPr>
                        <m:begChr m:val="〈"/>
                        <m:endChr m:val="〉"/>
                        <m:ctrlPr>
                          <a:rPr lang="zh-CN" altLang="zh-CN" sz="2400" b="1" i="1">
                            <a:solidFill>
                              <a:schemeClr val="bg1"/>
                            </a:solidFill>
                            <a:latin typeface="Cambria Math" panose="02040503050406030204" pitchFamily="18" charset="0"/>
                            <a:ea typeface="+mj-ea"/>
                          </a:rPr>
                        </m:ctrlPr>
                      </m:dPr>
                      <m:e>
                        <m:r>
                          <a:rPr lang="en-US" altLang="zh-CN" sz="2400" b="1" i="1">
                            <a:solidFill>
                              <a:schemeClr val="bg1"/>
                            </a:solidFill>
                            <a:latin typeface="Cambria Math" panose="02040503050406030204" pitchFamily="18" charset="0"/>
                            <a:ea typeface="+mj-ea"/>
                          </a:rPr>
                          <m:t>𝑽</m:t>
                        </m:r>
                        <m:r>
                          <a:rPr lang="en-US" altLang="zh-CN" sz="2400" b="1" i="1">
                            <a:solidFill>
                              <a:schemeClr val="bg1"/>
                            </a:solidFill>
                            <a:latin typeface="Cambria Math" panose="02040503050406030204" pitchFamily="18" charset="0"/>
                            <a:ea typeface="+mj-ea"/>
                          </a:rPr>
                          <m:t>,</m:t>
                        </m:r>
                        <m:r>
                          <a:rPr lang="en-US" altLang="zh-CN" sz="2400" b="1" i="1">
                            <a:solidFill>
                              <a:schemeClr val="bg1"/>
                            </a:solidFill>
                            <a:latin typeface="Cambria Math" panose="02040503050406030204" pitchFamily="18" charset="0"/>
                            <a:ea typeface="+mj-ea"/>
                          </a:rPr>
                          <m:t>𝑬</m:t>
                        </m:r>
                      </m:e>
                    </m:d>
                    <m:r>
                      <a:rPr lang="en-US" altLang="zh-CN" sz="2400" b="1" i="1">
                        <a:solidFill>
                          <a:schemeClr val="bg1"/>
                        </a:solidFill>
                        <a:latin typeface="Cambria Math" panose="02040503050406030204" pitchFamily="18" charset="0"/>
                        <a:ea typeface="+mj-ea"/>
                      </a:rPr>
                      <m:t> </m:t>
                    </m:r>
                  </m:oMath>
                </a14:m>
                <a:r>
                  <a:rPr lang="zh-CN" altLang="zh-CN" sz="2400" b="1" dirty="0">
                    <a:solidFill>
                      <a:schemeClr val="bg1"/>
                    </a:solidFill>
                    <a:latin typeface="+mj-ea"/>
                    <a:ea typeface="+mj-ea"/>
                  </a:rPr>
                  <a:t>中</a:t>
                </a:r>
                <a:r>
                  <a:rPr lang="zh-CN" altLang="en-US" sz="2400" b="1" dirty="0">
                    <a:solidFill>
                      <a:srgbClr val="FFFF66"/>
                    </a:solidFill>
                    <a:latin typeface="+mj-ea"/>
                    <a:ea typeface="+mj-ea"/>
                  </a:rPr>
                  <a:t>结</a:t>
                </a:r>
                <a:r>
                  <a:rPr lang="zh-CN" altLang="zh-CN" sz="2400" b="1" dirty="0">
                    <a:solidFill>
                      <a:srgbClr val="FFFF66"/>
                    </a:solidFill>
                    <a:latin typeface="+mj-ea"/>
                    <a:ea typeface="+mj-ea"/>
                  </a:rPr>
                  <a:t>点</a:t>
                </a:r>
                <a:r>
                  <a:rPr lang="zh-CN" altLang="en-US" sz="2400" b="1" dirty="0">
                    <a:solidFill>
                      <a:srgbClr val="FFFF66"/>
                    </a:solidFill>
                    <a:latin typeface="+mj-ea"/>
                    <a:ea typeface="+mj-ea"/>
                  </a:rPr>
                  <a:t>与</a:t>
                </a:r>
                <a:r>
                  <a:rPr lang="zh-CN" altLang="zh-CN" sz="2400" b="1" dirty="0">
                    <a:solidFill>
                      <a:srgbClr val="FFFF66"/>
                    </a:solidFill>
                    <a:latin typeface="+mj-ea"/>
                    <a:ea typeface="+mj-ea"/>
                  </a:rPr>
                  <a:t>边相继交替出现</a:t>
                </a:r>
                <a:r>
                  <a:rPr lang="zh-CN" altLang="zh-CN" sz="2400" b="1" dirty="0">
                    <a:solidFill>
                      <a:schemeClr val="bg1"/>
                    </a:solidFill>
                    <a:latin typeface="+mj-ea"/>
                    <a:ea typeface="+mj-ea"/>
                  </a:rPr>
                  <a:t>的序列</a:t>
                </a:r>
                <a:r>
                  <a:rPr lang="zh-CN" altLang="en-US" sz="2400" b="1" dirty="0">
                    <a:solidFill>
                      <a:schemeClr val="bg1"/>
                    </a:solidFill>
                    <a:latin typeface="+mj-ea"/>
                    <a:ea typeface="+mj-ea"/>
                  </a:rPr>
                  <a:t>：</a:t>
                </a:r>
                <a:endParaRPr lang="en-US" altLang="zh-CN" sz="2400" b="1" dirty="0">
                  <a:solidFill>
                    <a:schemeClr val="bg1"/>
                  </a:solidFill>
                  <a:latin typeface="+mj-ea"/>
                  <a:ea typeface="+mj-ea"/>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2400" b="1" i="1" smtClean="0">
                          <a:solidFill>
                            <a:srgbClr val="FFFF66"/>
                          </a:solidFill>
                          <a:latin typeface="Cambria Math" panose="02040503050406030204" pitchFamily="18" charset="0"/>
                          <a:ea typeface="+mj-ea"/>
                        </a:rPr>
                        <m:t>𝜞</m:t>
                      </m:r>
                      <m:r>
                        <a:rPr lang="en-US" altLang="zh-CN" sz="2400" b="1" i="1" smtClean="0">
                          <a:solidFill>
                            <a:srgbClr val="FFFF66"/>
                          </a:solidFill>
                          <a:latin typeface="Cambria Math" panose="02040503050406030204" pitchFamily="18" charset="0"/>
                          <a:ea typeface="+mj-ea"/>
                        </a:rPr>
                        <m:t>=</m:t>
                      </m:r>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𝒗</m:t>
                          </m:r>
                        </m:e>
                        <m:sub>
                          <m:r>
                            <a:rPr lang="en-US" altLang="zh-CN" sz="2400" b="1" i="1">
                              <a:solidFill>
                                <a:srgbClr val="FFFF66"/>
                              </a:solidFill>
                              <a:latin typeface="Cambria Math" panose="02040503050406030204" pitchFamily="18" charset="0"/>
                              <a:ea typeface="+mj-ea"/>
                            </a:rPr>
                            <m:t>𝟎</m:t>
                          </m:r>
                        </m:sub>
                      </m:sSub>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𝒆</m:t>
                          </m:r>
                        </m:e>
                        <m:sub>
                          <m:r>
                            <a:rPr lang="en-US" altLang="zh-CN" sz="2400" b="1" i="1">
                              <a:solidFill>
                                <a:srgbClr val="FFFF66"/>
                              </a:solidFill>
                              <a:latin typeface="Cambria Math" panose="02040503050406030204" pitchFamily="18" charset="0"/>
                              <a:ea typeface="+mj-ea"/>
                            </a:rPr>
                            <m:t>𝟏</m:t>
                          </m:r>
                        </m:sub>
                      </m:sSub>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𝒗</m:t>
                          </m:r>
                        </m:e>
                        <m:sub>
                          <m:r>
                            <a:rPr lang="en-US" altLang="zh-CN" sz="2400" b="1" i="1">
                              <a:solidFill>
                                <a:srgbClr val="FFFF66"/>
                              </a:solidFill>
                              <a:latin typeface="Cambria Math" panose="02040503050406030204" pitchFamily="18" charset="0"/>
                              <a:ea typeface="+mj-ea"/>
                            </a:rPr>
                            <m:t>𝟏</m:t>
                          </m:r>
                        </m:sub>
                      </m:sSub>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𝒆</m:t>
                          </m:r>
                        </m:e>
                        <m:sub>
                          <m:r>
                            <a:rPr lang="en-US" altLang="zh-CN" sz="2400" b="1" i="1">
                              <a:solidFill>
                                <a:srgbClr val="FFFF66"/>
                              </a:solidFill>
                              <a:latin typeface="Cambria Math" panose="02040503050406030204" pitchFamily="18" charset="0"/>
                              <a:ea typeface="+mj-ea"/>
                            </a:rPr>
                            <m:t>𝟐</m:t>
                          </m:r>
                        </m:sub>
                      </m:sSub>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𝒗</m:t>
                          </m:r>
                        </m:e>
                        <m:sub>
                          <m:r>
                            <a:rPr lang="en-US" altLang="zh-CN" sz="2400" b="1" i="1">
                              <a:solidFill>
                                <a:srgbClr val="FFFF66"/>
                              </a:solidFill>
                              <a:latin typeface="Cambria Math" panose="02040503050406030204" pitchFamily="18" charset="0"/>
                              <a:ea typeface="+mj-ea"/>
                            </a:rPr>
                            <m:t>𝟐</m:t>
                          </m:r>
                        </m:sub>
                      </m:sSub>
                      <m:r>
                        <a:rPr lang="en-US" altLang="zh-CN" sz="2400" b="1" i="1">
                          <a:solidFill>
                            <a:srgbClr val="FFFF66"/>
                          </a:solidFill>
                          <a:latin typeface="Cambria Math" panose="02040503050406030204" pitchFamily="18" charset="0"/>
                          <a:ea typeface="+mj-ea"/>
                        </a:rPr>
                        <m:t>…</m:t>
                      </m:r>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𝒆</m:t>
                          </m:r>
                        </m:e>
                        <m:sub>
                          <m:r>
                            <a:rPr lang="en-US" altLang="zh-CN" sz="2400" b="1" i="1">
                              <a:solidFill>
                                <a:srgbClr val="FFFF66"/>
                              </a:solidFill>
                              <a:latin typeface="Cambria Math" panose="02040503050406030204" pitchFamily="18" charset="0"/>
                              <a:ea typeface="+mj-ea"/>
                            </a:rPr>
                            <m:t>𝒌</m:t>
                          </m:r>
                        </m:sub>
                      </m:sSub>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𝒗</m:t>
                          </m:r>
                        </m:e>
                        <m:sub>
                          <m:r>
                            <a:rPr lang="en-US" altLang="zh-CN" sz="2400" b="1" i="1">
                              <a:solidFill>
                                <a:srgbClr val="FFFF66"/>
                              </a:solidFill>
                              <a:latin typeface="Cambria Math" panose="02040503050406030204" pitchFamily="18" charset="0"/>
                              <a:ea typeface="+mj-ea"/>
                            </a:rPr>
                            <m:t>𝒌</m:t>
                          </m:r>
                        </m:sub>
                      </m:sSub>
                    </m:oMath>
                  </m:oMathPara>
                </a14:m>
                <a:endParaRPr lang="en-US" altLang="zh-CN" sz="2400" b="1" dirty="0">
                  <a:solidFill>
                    <a:schemeClr val="bg1"/>
                  </a:solidFill>
                  <a:latin typeface="+mj-ea"/>
                  <a:ea typeface="+mj-ea"/>
                </a:endParaRPr>
              </a:p>
              <a:p>
                <a:pPr>
                  <a:lnSpc>
                    <a:spcPct val="150000"/>
                  </a:lnSpc>
                </a:pPr>
                <a:r>
                  <a:rPr lang="en-US" altLang="zh-CN" sz="2400" b="1" dirty="0">
                    <a:solidFill>
                      <a:schemeClr val="bg1"/>
                    </a:solidFill>
                    <a:latin typeface="+mj-ea"/>
                    <a:ea typeface="+mj-ea"/>
                  </a:rPr>
                  <a:t>    </a:t>
                </a:r>
                <a:r>
                  <a:rPr lang="zh-CN" altLang="zh-CN" sz="2400" b="1" dirty="0">
                    <a:solidFill>
                      <a:schemeClr val="bg1"/>
                    </a:solidFill>
                    <a:latin typeface="+mj-ea"/>
                    <a:ea typeface="+mj-ea"/>
                  </a:rPr>
                  <a:t>如果对于</a:t>
                </a:r>
                <a14:m>
                  <m:oMath xmlns:m="http://schemas.openxmlformats.org/officeDocument/2006/math">
                    <m:r>
                      <a:rPr lang="en-US" altLang="zh-CN" sz="2400" b="1" i="1">
                        <a:solidFill>
                          <a:schemeClr val="bg1"/>
                        </a:solidFill>
                        <a:latin typeface="Cambria Math" panose="02040503050406030204" pitchFamily="18" charset="0"/>
                        <a:ea typeface="+mj-ea"/>
                      </a:rPr>
                      <m:t>𝒊</m:t>
                    </m:r>
                    <m:r>
                      <a:rPr lang="en-US" altLang="zh-CN" sz="2400" b="1">
                        <a:solidFill>
                          <a:schemeClr val="bg1"/>
                        </a:solidFill>
                        <a:latin typeface="Cambria Math" panose="02040503050406030204" pitchFamily="18" charset="0"/>
                        <a:ea typeface="+mj-ea"/>
                      </a:rPr>
                      <m:t>=</m:t>
                    </m:r>
                    <m:r>
                      <a:rPr lang="en-US" altLang="zh-CN" sz="2400" b="1" i="1">
                        <a:solidFill>
                          <a:schemeClr val="bg1"/>
                        </a:solidFill>
                        <a:latin typeface="Cambria Math" panose="02040503050406030204" pitchFamily="18" charset="0"/>
                        <a:ea typeface="+mj-ea"/>
                      </a:rPr>
                      <m:t>𝟏</m:t>
                    </m:r>
                    <m:r>
                      <a:rPr lang="en-US" altLang="zh-CN" sz="2400" b="1">
                        <a:solidFill>
                          <a:schemeClr val="bg1"/>
                        </a:solidFill>
                        <a:latin typeface="Cambria Math" panose="02040503050406030204" pitchFamily="18" charset="0"/>
                        <a:ea typeface="+mj-ea"/>
                      </a:rPr>
                      <m:t>,</m:t>
                    </m:r>
                    <m:r>
                      <a:rPr lang="en-US" altLang="zh-CN" sz="2400" b="1" i="1">
                        <a:solidFill>
                          <a:schemeClr val="bg1"/>
                        </a:solidFill>
                        <a:latin typeface="Cambria Math" panose="02040503050406030204" pitchFamily="18" charset="0"/>
                        <a:ea typeface="+mj-ea"/>
                      </a:rPr>
                      <m:t>𝟐</m:t>
                    </m:r>
                    <m:r>
                      <a:rPr lang="en-US" altLang="zh-CN" sz="2400" b="1">
                        <a:solidFill>
                          <a:schemeClr val="bg1"/>
                        </a:solidFill>
                        <a:latin typeface="Cambria Math" panose="02040503050406030204" pitchFamily="18" charset="0"/>
                        <a:ea typeface="+mj-ea"/>
                      </a:rPr>
                      <m:t>,⋯,</m:t>
                    </m:r>
                    <m:r>
                      <a:rPr lang="en-US" altLang="zh-CN" sz="2400" b="1" i="1">
                        <a:solidFill>
                          <a:schemeClr val="bg1"/>
                        </a:solidFill>
                        <a:latin typeface="Cambria Math" panose="02040503050406030204" pitchFamily="18" charset="0"/>
                        <a:ea typeface="+mj-ea"/>
                      </a:rPr>
                      <m:t>𝒌</m:t>
                    </m:r>
                  </m:oMath>
                </a14:m>
                <a:r>
                  <a:rPr lang="zh-CN" altLang="zh-CN" sz="2400" b="1" dirty="0">
                    <a:solidFill>
                      <a:schemeClr val="bg1"/>
                    </a:solidFill>
                    <a:latin typeface="+mj-ea"/>
                    <a:ea typeface="+mj-ea"/>
                  </a:rPr>
                  <a:t>，均有</a:t>
                </a:r>
                <a14:m>
                  <m:oMath xmlns:m="http://schemas.openxmlformats.org/officeDocument/2006/math">
                    <m:sSub>
                      <m:sSubPr>
                        <m:ctrlPr>
                          <a:rPr lang="zh-CN" altLang="zh-CN" sz="2400" b="1" i="1">
                            <a:solidFill>
                              <a:schemeClr val="bg1"/>
                            </a:solidFill>
                            <a:latin typeface="Cambria Math" panose="02040503050406030204" pitchFamily="18" charset="0"/>
                            <a:ea typeface="+mj-ea"/>
                          </a:rPr>
                        </m:ctrlPr>
                      </m:sSubPr>
                      <m:e>
                        <m:r>
                          <a:rPr lang="en-US" altLang="zh-CN" sz="2400" b="1" i="1">
                            <a:solidFill>
                              <a:schemeClr val="bg1"/>
                            </a:solidFill>
                            <a:latin typeface="Cambria Math" panose="02040503050406030204" pitchFamily="18" charset="0"/>
                            <a:ea typeface="+mj-ea"/>
                          </a:rPr>
                          <m:t>𝒗</m:t>
                        </m:r>
                      </m:e>
                      <m:sub>
                        <m:r>
                          <a:rPr lang="en-US" altLang="zh-CN" sz="2400" b="1" i="1">
                            <a:solidFill>
                              <a:schemeClr val="bg1"/>
                            </a:solidFill>
                            <a:latin typeface="Cambria Math" panose="02040503050406030204" pitchFamily="18" charset="0"/>
                            <a:ea typeface="+mj-ea"/>
                          </a:rPr>
                          <m:t>𝒊</m:t>
                        </m:r>
                        <m:r>
                          <a:rPr lang="en-US" altLang="zh-CN" sz="2400" b="1" i="1">
                            <a:solidFill>
                              <a:schemeClr val="bg1"/>
                            </a:solidFill>
                            <a:latin typeface="Cambria Math" panose="02040503050406030204" pitchFamily="18" charset="0"/>
                            <a:ea typeface="+mj-ea"/>
                          </a:rPr>
                          <m:t>−</m:t>
                        </m:r>
                        <m:r>
                          <a:rPr lang="en-US" altLang="zh-CN" sz="2400" b="1" i="1">
                            <a:solidFill>
                              <a:schemeClr val="bg1"/>
                            </a:solidFill>
                            <a:latin typeface="Cambria Math" panose="02040503050406030204" pitchFamily="18" charset="0"/>
                            <a:ea typeface="+mj-ea"/>
                          </a:rPr>
                          <m:t>𝟏</m:t>
                        </m:r>
                      </m:sub>
                    </m:sSub>
                    <m:r>
                      <a:rPr lang="en-US" altLang="zh-CN" sz="2400" b="1" i="1">
                        <a:solidFill>
                          <a:schemeClr val="bg1"/>
                        </a:solidFill>
                        <a:latin typeface="Cambria Math" panose="02040503050406030204" pitchFamily="18" charset="0"/>
                        <a:ea typeface="+mj-ea"/>
                      </a:rPr>
                      <m:t> </m:t>
                    </m:r>
                  </m:oMath>
                </a14:m>
                <a:r>
                  <a:rPr lang="zh-CN" altLang="zh-CN" sz="2400" b="1" dirty="0">
                    <a:solidFill>
                      <a:schemeClr val="bg1"/>
                    </a:solidFill>
                    <a:latin typeface="+mj-ea"/>
                    <a:ea typeface="+mj-ea"/>
                  </a:rPr>
                  <a:t>和</a:t>
                </a:r>
                <a14:m>
                  <m:oMath xmlns:m="http://schemas.openxmlformats.org/officeDocument/2006/math">
                    <m:r>
                      <a:rPr lang="zh-CN" altLang="zh-CN" sz="2400" b="1">
                        <a:solidFill>
                          <a:schemeClr val="bg1"/>
                        </a:solidFill>
                        <a:latin typeface="Cambria Math" panose="02040503050406030204" pitchFamily="18" charset="0"/>
                        <a:ea typeface="+mj-ea"/>
                      </a:rPr>
                      <m:t> </m:t>
                    </m:r>
                    <m:sSub>
                      <m:sSubPr>
                        <m:ctrlPr>
                          <a:rPr lang="zh-CN" altLang="zh-CN" sz="2400" b="1" i="1">
                            <a:solidFill>
                              <a:schemeClr val="bg1"/>
                            </a:solidFill>
                            <a:latin typeface="Cambria Math" panose="02040503050406030204" pitchFamily="18" charset="0"/>
                            <a:ea typeface="+mj-ea"/>
                          </a:rPr>
                        </m:ctrlPr>
                      </m:sSubPr>
                      <m:e>
                        <m:r>
                          <a:rPr lang="en-US" altLang="zh-CN" sz="2400" b="1" i="1">
                            <a:solidFill>
                              <a:schemeClr val="bg1"/>
                            </a:solidFill>
                            <a:latin typeface="Cambria Math" panose="02040503050406030204" pitchFamily="18" charset="0"/>
                            <a:ea typeface="+mj-ea"/>
                          </a:rPr>
                          <m:t>𝒗</m:t>
                        </m:r>
                      </m:e>
                      <m:sub>
                        <m:r>
                          <a:rPr lang="en-US" altLang="zh-CN" sz="2400" b="1" i="1">
                            <a:solidFill>
                              <a:schemeClr val="bg1"/>
                            </a:solidFill>
                            <a:latin typeface="Cambria Math" panose="02040503050406030204" pitchFamily="18" charset="0"/>
                            <a:ea typeface="+mj-ea"/>
                          </a:rPr>
                          <m:t>𝒊</m:t>
                        </m:r>
                      </m:sub>
                    </m:sSub>
                    <m:r>
                      <a:rPr lang="en-US" altLang="zh-CN" sz="2400" b="1" i="1">
                        <a:solidFill>
                          <a:schemeClr val="bg1"/>
                        </a:solidFill>
                        <a:latin typeface="Cambria Math" panose="02040503050406030204" pitchFamily="18" charset="0"/>
                        <a:ea typeface="+mj-ea"/>
                      </a:rPr>
                      <m:t> </m:t>
                    </m:r>
                  </m:oMath>
                </a14:m>
                <a:r>
                  <a:rPr lang="zh-CN" altLang="zh-CN" sz="2400" b="1" dirty="0">
                    <a:solidFill>
                      <a:schemeClr val="bg1"/>
                    </a:solidFill>
                    <a:latin typeface="+mj-ea"/>
                    <a:ea typeface="+mj-ea"/>
                  </a:rPr>
                  <a:t>是</a:t>
                </a:r>
                <a14:m>
                  <m:oMath xmlns:m="http://schemas.openxmlformats.org/officeDocument/2006/math">
                    <m:r>
                      <a:rPr lang="zh-CN" altLang="zh-CN" sz="2400" b="1">
                        <a:solidFill>
                          <a:schemeClr val="bg1"/>
                        </a:solidFill>
                        <a:latin typeface="Cambria Math" panose="02040503050406030204" pitchFamily="18" charset="0"/>
                        <a:ea typeface="+mj-ea"/>
                      </a:rPr>
                      <m:t> </m:t>
                    </m:r>
                    <m:sSub>
                      <m:sSubPr>
                        <m:ctrlPr>
                          <a:rPr lang="zh-CN" altLang="zh-CN" sz="2400" b="1" i="1">
                            <a:solidFill>
                              <a:schemeClr val="bg1"/>
                            </a:solidFill>
                            <a:latin typeface="Cambria Math" panose="02040503050406030204" pitchFamily="18" charset="0"/>
                            <a:ea typeface="+mj-ea"/>
                          </a:rPr>
                        </m:ctrlPr>
                      </m:sSubPr>
                      <m:e>
                        <m:r>
                          <a:rPr lang="en-US" altLang="zh-CN" sz="2400" b="1" i="1">
                            <a:solidFill>
                              <a:schemeClr val="bg1"/>
                            </a:solidFill>
                            <a:latin typeface="Cambria Math" panose="02040503050406030204" pitchFamily="18" charset="0"/>
                            <a:ea typeface="+mj-ea"/>
                          </a:rPr>
                          <m:t>𝒆</m:t>
                        </m:r>
                      </m:e>
                      <m:sub>
                        <m:r>
                          <a:rPr lang="en-US" altLang="zh-CN" sz="2400" b="1" i="1">
                            <a:solidFill>
                              <a:schemeClr val="bg1"/>
                            </a:solidFill>
                            <a:latin typeface="Cambria Math" panose="02040503050406030204" pitchFamily="18" charset="0"/>
                            <a:ea typeface="+mj-ea"/>
                          </a:rPr>
                          <m:t>𝒊</m:t>
                        </m:r>
                      </m:sub>
                    </m:sSub>
                    <m:r>
                      <a:rPr lang="en-US" altLang="zh-CN" sz="2400" b="1" i="1">
                        <a:solidFill>
                          <a:schemeClr val="bg1"/>
                        </a:solidFill>
                        <a:latin typeface="Cambria Math" panose="02040503050406030204" pitchFamily="18" charset="0"/>
                        <a:ea typeface="+mj-ea"/>
                      </a:rPr>
                      <m:t> </m:t>
                    </m:r>
                  </m:oMath>
                </a14:m>
                <a:r>
                  <a:rPr lang="zh-CN" altLang="zh-CN" sz="2400" b="1" dirty="0">
                    <a:solidFill>
                      <a:schemeClr val="bg1"/>
                    </a:solidFill>
                    <a:latin typeface="+mj-ea"/>
                    <a:ea typeface="+mj-ea"/>
                  </a:rPr>
                  <a:t>的两个端点（</a:t>
                </a:r>
                <a14:m>
                  <m:oMath xmlns:m="http://schemas.openxmlformats.org/officeDocument/2006/math">
                    <m:r>
                      <a:rPr lang="en-US" altLang="zh-CN" sz="2400" b="1" i="1">
                        <a:solidFill>
                          <a:schemeClr val="bg1"/>
                        </a:solidFill>
                        <a:latin typeface="Cambria Math" panose="02040503050406030204" pitchFamily="18" charset="0"/>
                      </a:rPr>
                      <m:t>𝑮</m:t>
                    </m:r>
                  </m:oMath>
                </a14:m>
                <a:r>
                  <a:rPr lang="zh-CN" altLang="zh-CN" sz="2400" b="1" dirty="0">
                    <a:solidFill>
                      <a:schemeClr val="bg1"/>
                    </a:solidFill>
                    <a:latin typeface="+mj-ea"/>
                    <a:ea typeface="+mj-ea"/>
                  </a:rPr>
                  <a:t>为有向图时要求</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𝒊</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𝟏</m:t>
                        </m:r>
                      </m:sub>
                    </m:sSub>
                  </m:oMath>
                </a14:m>
                <a:r>
                  <a:rPr lang="zh-CN" altLang="zh-CN" sz="2400" b="1" dirty="0">
                    <a:solidFill>
                      <a:schemeClr val="bg1"/>
                    </a:solidFill>
                    <a:latin typeface="+mj-ea"/>
                    <a:ea typeface="+mj-ea"/>
                  </a:rPr>
                  <a:t>为</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𝒆</m:t>
                        </m:r>
                      </m:e>
                      <m:sub>
                        <m:r>
                          <a:rPr lang="en-US" altLang="zh-CN" sz="2400" b="1" i="1">
                            <a:solidFill>
                              <a:schemeClr val="bg1"/>
                            </a:solidFill>
                            <a:latin typeface="Cambria Math" panose="02040503050406030204" pitchFamily="18" charset="0"/>
                          </a:rPr>
                          <m:t>𝒊</m:t>
                        </m:r>
                      </m:sub>
                    </m:sSub>
                  </m:oMath>
                </a14:m>
                <a:r>
                  <a:rPr lang="zh-CN" altLang="zh-CN" sz="2400" b="1" dirty="0">
                    <a:solidFill>
                      <a:schemeClr val="bg1"/>
                    </a:solidFill>
                    <a:latin typeface="+mj-ea"/>
                    <a:ea typeface="+mj-ea"/>
                  </a:rPr>
                  <a:t>的始点，</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𝒊</m:t>
                        </m:r>
                      </m:sub>
                    </m:sSub>
                  </m:oMath>
                </a14:m>
                <a:r>
                  <a:rPr lang="zh-CN" altLang="zh-CN" sz="2400" b="1" dirty="0">
                    <a:solidFill>
                      <a:schemeClr val="bg1"/>
                    </a:solidFill>
                    <a:latin typeface="+mj-ea"/>
                    <a:ea typeface="+mj-ea"/>
                  </a:rPr>
                  <a:t>为</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𝒆</m:t>
                        </m:r>
                      </m:e>
                      <m:sub>
                        <m:r>
                          <a:rPr lang="en-US" altLang="zh-CN" sz="2400" b="1" i="1">
                            <a:solidFill>
                              <a:schemeClr val="bg1"/>
                            </a:solidFill>
                            <a:latin typeface="Cambria Math" panose="02040503050406030204" pitchFamily="18" charset="0"/>
                          </a:rPr>
                          <m:t>𝒊</m:t>
                        </m:r>
                      </m:sub>
                    </m:sSub>
                  </m:oMath>
                </a14:m>
                <a:r>
                  <a:rPr lang="zh-CN" altLang="zh-CN" sz="2400" b="1" dirty="0">
                    <a:solidFill>
                      <a:schemeClr val="bg1"/>
                    </a:solidFill>
                    <a:latin typeface="+mj-ea"/>
                    <a:ea typeface="+mj-ea"/>
                  </a:rPr>
                  <a:t>的终点</a:t>
                </a:r>
                <a:r>
                  <a:rPr lang="zh-CN" altLang="en-US" sz="2400" b="1" dirty="0">
                    <a:solidFill>
                      <a:schemeClr val="bg1"/>
                    </a:solidFill>
                    <a:latin typeface="+mj-ea"/>
                    <a:ea typeface="+mj-ea"/>
                  </a:rPr>
                  <a:t>），</a:t>
                </a:r>
                <a:r>
                  <a:rPr lang="zh-CN" altLang="zh-CN" sz="2400" b="1" dirty="0">
                    <a:solidFill>
                      <a:schemeClr val="bg1"/>
                    </a:solidFill>
                    <a:latin typeface="+mj-ea"/>
                    <a:ea typeface="+mj-ea"/>
                  </a:rPr>
                  <a:t>则称</a:t>
                </a:r>
                <a14:m>
                  <m:oMath xmlns:m="http://schemas.openxmlformats.org/officeDocument/2006/math">
                    <m:r>
                      <a:rPr lang="zh-CN" altLang="zh-CN" sz="2400" b="1">
                        <a:solidFill>
                          <a:schemeClr val="bg1"/>
                        </a:solidFill>
                        <a:latin typeface="Cambria Math" panose="02040503050406030204" pitchFamily="18" charset="0"/>
                        <a:ea typeface="+mj-ea"/>
                      </a:rPr>
                      <m:t> </m:t>
                    </m:r>
                    <m:r>
                      <a:rPr lang="en-US" altLang="zh-CN" sz="2400" b="1">
                        <a:solidFill>
                          <a:schemeClr val="bg1"/>
                        </a:solidFill>
                        <a:latin typeface="Cambria Math" panose="02040503050406030204" pitchFamily="18" charset="0"/>
                        <a:ea typeface="+mj-ea"/>
                      </a:rPr>
                      <m:t>𝜞</m:t>
                    </m:r>
                  </m:oMath>
                </a14:m>
                <a:r>
                  <a:rPr lang="zh-CN" altLang="zh-CN" sz="2400" b="1" dirty="0">
                    <a:solidFill>
                      <a:schemeClr val="bg1"/>
                    </a:solidFill>
                    <a:latin typeface="+mj-ea"/>
                    <a:ea typeface="+mj-ea"/>
                  </a:rPr>
                  <a:t>为</a:t>
                </a:r>
                <a:r>
                  <a:rPr lang="zh-CN" altLang="en-US" sz="2400" b="1" dirty="0">
                    <a:solidFill>
                      <a:schemeClr val="bg1"/>
                    </a:solidFill>
                    <a:latin typeface="+mj-ea"/>
                    <a:ea typeface="+mj-ea"/>
                  </a:rPr>
                  <a:t>从</a:t>
                </a:r>
                <a:r>
                  <a:rPr lang="zh-CN" altLang="zh-CN" sz="2400" b="1" dirty="0">
                    <a:solidFill>
                      <a:srgbClr val="FFFF66"/>
                    </a:solidFill>
                    <a:latin typeface="+mj-ea"/>
                    <a:ea typeface="+mj-ea"/>
                  </a:rPr>
                  <a:t>结点</a:t>
                </a:r>
                <a14:m>
                  <m:oMath xmlns:m="http://schemas.openxmlformats.org/officeDocument/2006/math">
                    <m:r>
                      <a:rPr lang="zh-CN" altLang="zh-CN" sz="2400" b="1">
                        <a:solidFill>
                          <a:srgbClr val="FFFF66"/>
                        </a:solidFill>
                        <a:latin typeface="Cambria Math" panose="02040503050406030204" pitchFamily="18" charset="0"/>
                        <a:ea typeface="+mj-ea"/>
                      </a:rPr>
                      <m:t> </m:t>
                    </m:r>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𝒗</m:t>
                        </m:r>
                      </m:e>
                      <m:sub>
                        <m:r>
                          <a:rPr lang="en-US" altLang="zh-CN" sz="2400" b="1" i="1">
                            <a:solidFill>
                              <a:srgbClr val="FFFF66"/>
                            </a:solidFill>
                            <a:latin typeface="Cambria Math" panose="02040503050406030204" pitchFamily="18" charset="0"/>
                            <a:ea typeface="+mj-ea"/>
                          </a:rPr>
                          <m:t>𝟎</m:t>
                        </m:r>
                      </m:sub>
                    </m:sSub>
                    <m:r>
                      <a:rPr lang="en-US" altLang="zh-CN" sz="2400" b="1" i="1">
                        <a:solidFill>
                          <a:srgbClr val="FFFF66"/>
                        </a:solidFill>
                        <a:latin typeface="Cambria Math" panose="02040503050406030204" pitchFamily="18" charset="0"/>
                        <a:ea typeface="+mj-ea"/>
                      </a:rPr>
                      <m:t> </m:t>
                    </m:r>
                  </m:oMath>
                </a14:m>
                <a:r>
                  <a:rPr lang="zh-CN" altLang="zh-CN" sz="2400" b="1" dirty="0">
                    <a:solidFill>
                      <a:srgbClr val="FFFF66"/>
                    </a:solidFill>
                    <a:latin typeface="+mj-ea"/>
                    <a:ea typeface="+mj-ea"/>
                  </a:rPr>
                  <a:t>到</a:t>
                </a:r>
                <a14:m>
                  <m:oMath xmlns:m="http://schemas.openxmlformats.org/officeDocument/2006/math">
                    <m:r>
                      <a:rPr lang="zh-CN" altLang="zh-CN" sz="2400" b="1">
                        <a:solidFill>
                          <a:srgbClr val="FFFF66"/>
                        </a:solidFill>
                        <a:latin typeface="Cambria Math" panose="02040503050406030204" pitchFamily="18" charset="0"/>
                        <a:ea typeface="+mj-ea"/>
                      </a:rPr>
                      <m:t> </m:t>
                    </m:r>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𝒗</m:t>
                        </m:r>
                      </m:e>
                      <m:sub>
                        <m:r>
                          <a:rPr lang="en-US" altLang="zh-CN" sz="2400" b="1" i="1">
                            <a:solidFill>
                              <a:srgbClr val="FFFF66"/>
                            </a:solidFill>
                            <a:latin typeface="Cambria Math" panose="02040503050406030204" pitchFamily="18" charset="0"/>
                            <a:ea typeface="+mj-ea"/>
                          </a:rPr>
                          <m:t>𝒌</m:t>
                        </m:r>
                      </m:sub>
                    </m:sSub>
                    <m:r>
                      <a:rPr lang="en-US" altLang="zh-CN" sz="2400" b="1" i="1">
                        <a:solidFill>
                          <a:srgbClr val="FFFF66"/>
                        </a:solidFill>
                        <a:latin typeface="Cambria Math" panose="02040503050406030204" pitchFamily="18" charset="0"/>
                        <a:ea typeface="+mj-ea"/>
                      </a:rPr>
                      <m:t> </m:t>
                    </m:r>
                  </m:oMath>
                </a14:m>
                <a:r>
                  <a:rPr lang="zh-CN" altLang="zh-CN" sz="2400" b="1" dirty="0">
                    <a:solidFill>
                      <a:srgbClr val="FFFF66"/>
                    </a:solidFill>
                    <a:latin typeface="+mj-ea"/>
                    <a:ea typeface="+mj-ea"/>
                  </a:rPr>
                  <a:t>的一条通路</a:t>
                </a:r>
                <a:r>
                  <a:rPr lang="zh-CN" altLang="zh-CN" sz="2400" b="1" dirty="0">
                    <a:solidFill>
                      <a:schemeClr val="bg1"/>
                    </a:solidFill>
                    <a:latin typeface="+mj-ea"/>
                    <a:ea typeface="+mj-ea"/>
                  </a:rPr>
                  <a:t>，</a:t>
                </a:r>
                <a14:m>
                  <m:oMath xmlns:m="http://schemas.openxmlformats.org/officeDocument/2006/math">
                    <m:r>
                      <a:rPr lang="zh-CN" altLang="zh-CN" sz="2400" b="1" smtClean="0">
                        <a:solidFill>
                          <a:schemeClr val="bg1"/>
                        </a:solidFill>
                        <a:latin typeface="Cambria Math" panose="02040503050406030204" pitchFamily="18" charset="0"/>
                        <a:ea typeface="+mj-ea"/>
                      </a:rPr>
                      <m:t> </m:t>
                    </m:r>
                    <m:sSub>
                      <m:sSubPr>
                        <m:ctrlPr>
                          <a:rPr lang="zh-CN" altLang="zh-CN" sz="2400" b="1" i="1">
                            <a:solidFill>
                              <a:schemeClr val="bg1"/>
                            </a:solidFill>
                            <a:latin typeface="Cambria Math" panose="02040503050406030204" pitchFamily="18" charset="0"/>
                            <a:ea typeface="+mj-ea"/>
                          </a:rPr>
                        </m:ctrlPr>
                      </m:sSubPr>
                      <m:e>
                        <m:r>
                          <a:rPr lang="en-US" altLang="zh-CN" sz="2400" b="1" i="1">
                            <a:solidFill>
                              <a:schemeClr val="bg1"/>
                            </a:solidFill>
                            <a:latin typeface="Cambria Math" panose="02040503050406030204" pitchFamily="18" charset="0"/>
                            <a:ea typeface="+mj-ea"/>
                          </a:rPr>
                          <m:t>𝒗</m:t>
                        </m:r>
                      </m:e>
                      <m:sub>
                        <m:r>
                          <a:rPr lang="en-US" altLang="zh-CN" sz="2400" b="1" i="1">
                            <a:solidFill>
                              <a:schemeClr val="bg1"/>
                            </a:solidFill>
                            <a:latin typeface="Cambria Math" panose="02040503050406030204" pitchFamily="18" charset="0"/>
                            <a:ea typeface="+mj-ea"/>
                          </a:rPr>
                          <m:t>𝟎</m:t>
                        </m:r>
                      </m:sub>
                    </m:sSub>
                    <m:r>
                      <a:rPr lang="en-US" altLang="zh-CN" sz="2400" b="1" i="1">
                        <a:solidFill>
                          <a:schemeClr val="bg1"/>
                        </a:solidFill>
                        <a:latin typeface="Cambria Math" panose="02040503050406030204" pitchFamily="18" charset="0"/>
                        <a:ea typeface="+mj-ea"/>
                      </a:rPr>
                      <m:t> </m:t>
                    </m:r>
                  </m:oMath>
                </a14:m>
                <a:r>
                  <a:rPr lang="zh-CN" altLang="zh-CN" sz="2400" b="1" dirty="0">
                    <a:solidFill>
                      <a:schemeClr val="bg1"/>
                    </a:solidFill>
                    <a:latin typeface="+mj-ea"/>
                    <a:ea typeface="+mj-ea"/>
                  </a:rPr>
                  <a:t>和</a:t>
                </a:r>
                <a14:m>
                  <m:oMath xmlns:m="http://schemas.openxmlformats.org/officeDocument/2006/math">
                    <m:r>
                      <a:rPr lang="zh-CN" altLang="zh-CN" sz="2400" b="1">
                        <a:solidFill>
                          <a:schemeClr val="bg1"/>
                        </a:solidFill>
                        <a:latin typeface="Cambria Math" panose="02040503050406030204" pitchFamily="18" charset="0"/>
                        <a:ea typeface="+mj-ea"/>
                      </a:rPr>
                      <m:t> </m:t>
                    </m:r>
                    <m:sSub>
                      <m:sSubPr>
                        <m:ctrlPr>
                          <a:rPr lang="zh-CN" altLang="zh-CN" sz="2400" b="1" i="1">
                            <a:solidFill>
                              <a:schemeClr val="bg1"/>
                            </a:solidFill>
                            <a:latin typeface="Cambria Math" panose="02040503050406030204" pitchFamily="18" charset="0"/>
                            <a:ea typeface="+mj-ea"/>
                          </a:rPr>
                        </m:ctrlPr>
                      </m:sSubPr>
                      <m:e>
                        <m:r>
                          <a:rPr lang="en-US" altLang="zh-CN" sz="2400" b="1" i="1">
                            <a:solidFill>
                              <a:schemeClr val="bg1"/>
                            </a:solidFill>
                            <a:latin typeface="Cambria Math" panose="02040503050406030204" pitchFamily="18" charset="0"/>
                            <a:ea typeface="+mj-ea"/>
                          </a:rPr>
                          <m:t>𝒗</m:t>
                        </m:r>
                      </m:e>
                      <m:sub>
                        <m:r>
                          <a:rPr lang="en-US" altLang="zh-CN" sz="2400" b="1" i="1">
                            <a:solidFill>
                              <a:schemeClr val="bg1"/>
                            </a:solidFill>
                            <a:latin typeface="Cambria Math" panose="02040503050406030204" pitchFamily="18" charset="0"/>
                            <a:ea typeface="+mj-ea"/>
                          </a:rPr>
                          <m:t>𝒌</m:t>
                        </m:r>
                      </m:sub>
                    </m:sSub>
                    <m:r>
                      <a:rPr lang="en-US" altLang="zh-CN" sz="2400" b="1" i="1">
                        <a:solidFill>
                          <a:schemeClr val="bg1"/>
                        </a:solidFill>
                        <a:latin typeface="Cambria Math" panose="02040503050406030204" pitchFamily="18" charset="0"/>
                        <a:ea typeface="+mj-ea"/>
                      </a:rPr>
                      <m:t> </m:t>
                    </m:r>
                  </m:oMath>
                </a14:m>
                <a:r>
                  <a:rPr lang="zh-CN" altLang="zh-CN" sz="2400" b="1" dirty="0">
                    <a:solidFill>
                      <a:schemeClr val="bg1"/>
                    </a:solidFill>
                    <a:latin typeface="+mj-ea"/>
                    <a:ea typeface="+mj-ea"/>
                  </a:rPr>
                  <a:t>分别为该通路的</a:t>
                </a:r>
                <a:r>
                  <a:rPr lang="zh-CN" altLang="en-US" sz="2400" b="1" dirty="0">
                    <a:solidFill>
                      <a:srgbClr val="FFFF66"/>
                    </a:solidFill>
                    <a:latin typeface="+mj-ea"/>
                    <a:ea typeface="+mj-ea"/>
                  </a:rPr>
                  <a:t>起</a:t>
                </a:r>
                <a:r>
                  <a:rPr lang="zh-CN" altLang="zh-CN" sz="2400" b="1" dirty="0">
                    <a:solidFill>
                      <a:srgbClr val="FFFF66"/>
                    </a:solidFill>
                    <a:latin typeface="+mj-ea"/>
                    <a:ea typeface="+mj-ea"/>
                  </a:rPr>
                  <a:t>点</a:t>
                </a:r>
                <a:r>
                  <a:rPr lang="zh-CN" altLang="zh-CN" sz="2400" b="1" dirty="0">
                    <a:solidFill>
                      <a:schemeClr val="bg1"/>
                    </a:solidFill>
                    <a:latin typeface="+mj-ea"/>
                    <a:ea typeface="+mj-ea"/>
                  </a:rPr>
                  <a:t>和</a:t>
                </a:r>
                <a:r>
                  <a:rPr lang="zh-CN" altLang="zh-CN" sz="2400" b="1" dirty="0">
                    <a:solidFill>
                      <a:srgbClr val="FFFF66"/>
                    </a:solidFill>
                    <a:latin typeface="+mj-ea"/>
                    <a:ea typeface="+mj-ea"/>
                  </a:rPr>
                  <a:t>终点</a:t>
                </a:r>
                <a:r>
                  <a:rPr lang="zh-CN" altLang="zh-CN" sz="2400" b="1" dirty="0">
                    <a:solidFill>
                      <a:schemeClr val="bg1"/>
                    </a:solidFill>
                    <a:latin typeface="+mj-ea"/>
                    <a:ea typeface="+mj-ea"/>
                  </a:rPr>
                  <a:t>，统称为</a:t>
                </a:r>
                <a:r>
                  <a:rPr lang="zh-CN" altLang="en-US" sz="2400" b="1" dirty="0">
                    <a:solidFill>
                      <a:schemeClr val="bg1"/>
                    </a:solidFill>
                    <a:latin typeface="+mj-ea"/>
                    <a:ea typeface="+mj-ea"/>
                  </a:rPr>
                  <a:t>该</a:t>
                </a:r>
                <a:r>
                  <a:rPr lang="zh-CN" altLang="zh-CN" sz="2400" b="1" dirty="0">
                    <a:solidFill>
                      <a:schemeClr val="bg1"/>
                    </a:solidFill>
                    <a:latin typeface="+mj-ea"/>
                    <a:ea typeface="+mj-ea"/>
                  </a:rPr>
                  <a:t>通路的</a:t>
                </a:r>
                <a:r>
                  <a:rPr lang="zh-CN" altLang="zh-CN" sz="2400" b="1" dirty="0">
                    <a:solidFill>
                      <a:srgbClr val="FFFF66"/>
                    </a:solidFill>
                    <a:latin typeface="+mj-ea"/>
                    <a:ea typeface="+mj-ea"/>
                  </a:rPr>
                  <a:t>端点</a:t>
                </a:r>
                <a:r>
                  <a:rPr lang="zh-CN" altLang="zh-CN" sz="2400" b="1" dirty="0">
                    <a:solidFill>
                      <a:schemeClr val="bg1"/>
                    </a:solidFill>
                    <a:latin typeface="+mj-ea"/>
                    <a:ea typeface="+mj-ea"/>
                  </a:rPr>
                  <a:t>。 </a:t>
                </a:r>
                <a:endParaRPr lang="en-US" altLang="zh-CN" sz="2400" b="1" dirty="0">
                  <a:solidFill>
                    <a:schemeClr val="bg1"/>
                  </a:solidFill>
                  <a:latin typeface="+mj-ea"/>
                  <a:ea typeface="+mj-ea"/>
                </a:endParaRPr>
              </a:p>
              <a:p>
                <a:pPr>
                  <a:lnSpc>
                    <a:spcPct val="150000"/>
                  </a:lnSpc>
                </a:pPr>
                <a:r>
                  <a:rPr lang="zh-CN" altLang="en-US" sz="2400" b="1" dirty="0">
                    <a:solidFill>
                      <a:schemeClr val="bg1"/>
                    </a:solidFill>
                    <a:ea typeface="+mj-ea"/>
                  </a:rPr>
                  <a:t>    </a:t>
                </a:r>
                <a14:m>
                  <m:oMath xmlns:m="http://schemas.openxmlformats.org/officeDocument/2006/math">
                    <m:r>
                      <m:rPr>
                        <m:nor/>
                      </m:rPr>
                      <a:rPr lang="zh-CN" altLang="en-US" sz="2400" b="1" dirty="0">
                        <a:solidFill>
                          <a:schemeClr val="bg1"/>
                        </a:solidFill>
                        <a:latin typeface="+mj-ea"/>
                        <a:ea typeface="+mj-ea"/>
                      </a:rPr>
                      <m:t>通路</m:t>
                    </m:r>
                    <m:r>
                      <a:rPr lang="en-US" altLang="zh-CN" sz="2400" b="1" i="1">
                        <a:solidFill>
                          <a:schemeClr val="bg1"/>
                        </a:solidFill>
                        <a:latin typeface="Cambria Math" panose="02040503050406030204" pitchFamily="18" charset="0"/>
                        <a:ea typeface="+mj-ea"/>
                      </a:rPr>
                      <m:t>𝜞</m:t>
                    </m:r>
                    <m:r>
                      <a:rPr lang="en-US" altLang="zh-CN" sz="2400" b="1">
                        <a:solidFill>
                          <a:schemeClr val="bg1"/>
                        </a:solidFill>
                        <a:latin typeface="Cambria Math" panose="02040503050406030204" pitchFamily="18" charset="0"/>
                        <a:ea typeface="+mj-ea"/>
                      </a:rPr>
                      <m:t> </m:t>
                    </m:r>
                  </m:oMath>
                </a14:m>
                <a:r>
                  <a:rPr lang="zh-CN" altLang="zh-CN" sz="2400" b="1" dirty="0">
                    <a:solidFill>
                      <a:schemeClr val="bg1"/>
                    </a:solidFill>
                    <a:latin typeface="+mj-ea"/>
                    <a:ea typeface="+mj-ea"/>
                  </a:rPr>
                  <a:t>中边的数目</a:t>
                </a:r>
                <a14:m>
                  <m:oMath xmlns:m="http://schemas.openxmlformats.org/officeDocument/2006/math">
                    <m:r>
                      <a:rPr lang="en-US" altLang="zh-CN" sz="2400" b="1" i="1">
                        <a:solidFill>
                          <a:schemeClr val="bg1"/>
                        </a:solidFill>
                        <a:latin typeface="Cambria Math" panose="02040503050406030204" pitchFamily="18" charset="0"/>
                        <a:ea typeface="+mj-ea"/>
                      </a:rPr>
                      <m:t>𝒌</m:t>
                    </m:r>
                  </m:oMath>
                </a14:m>
                <a:r>
                  <a:rPr lang="zh-CN" altLang="zh-CN" sz="2400" b="1" dirty="0">
                    <a:solidFill>
                      <a:schemeClr val="bg1"/>
                    </a:solidFill>
                    <a:latin typeface="+mj-ea"/>
                    <a:ea typeface="+mj-ea"/>
                  </a:rPr>
                  <a:t>称为</a:t>
                </a:r>
                <a14:m>
                  <m:oMath xmlns:m="http://schemas.openxmlformats.org/officeDocument/2006/math">
                    <m:r>
                      <a:rPr lang="en-US" altLang="zh-CN" sz="2400" b="1" i="1" smtClean="0">
                        <a:solidFill>
                          <a:srgbClr val="FFFF66"/>
                        </a:solidFill>
                        <a:latin typeface="Cambria Math" panose="02040503050406030204" pitchFamily="18" charset="0"/>
                        <a:ea typeface="+mj-ea"/>
                      </a:rPr>
                      <m:t>𝜞</m:t>
                    </m:r>
                    <m:r>
                      <a:rPr lang="en-US" altLang="zh-CN" sz="2400" b="1">
                        <a:solidFill>
                          <a:srgbClr val="FFFF66"/>
                        </a:solidFill>
                        <a:latin typeface="Cambria Math" panose="02040503050406030204" pitchFamily="18" charset="0"/>
                        <a:ea typeface="+mj-ea"/>
                      </a:rPr>
                      <m:t> </m:t>
                    </m:r>
                  </m:oMath>
                </a14:m>
                <a:r>
                  <a:rPr lang="zh-CN" altLang="zh-CN" sz="2400" b="1" dirty="0">
                    <a:solidFill>
                      <a:srgbClr val="FFFF66"/>
                    </a:solidFill>
                    <a:latin typeface="+mj-ea"/>
                    <a:ea typeface="+mj-ea"/>
                  </a:rPr>
                  <a:t>的长度</a:t>
                </a:r>
                <a:r>
                  <a:rPr lang="zh-CN" altLang="zh-CN" sz="2400" b="1" dirty="0">
                    <a:solidFill>
                      <a:schemeClr val="bg1"/>
                    </a:solidFill>
                    <a:latin typeface="+mj-ea"/>
                    <a:ea typeface="+mj-ea"/>
                  </a:rPr>
                  <a:t>。</a:t>
                </a:r>
                <a:endParaRPr lang="en-US" altLang="zh-CN" sz="2400" b="1" dirty="0">
                  <a:solidFill>
                    <a:schemeClr val="bg1"/>
                  </a:solidFill>
                  <a:latin typeface="+mj-ea"/>
                  <a:ea typeface="+mj-ea"/>
                </a:endParaRPr>
              </a:p>
              <a:p>
                <a:pPr>
                  <a:lnSpc>
                    <a:spcPct val="150000"/>
                  </a:lnSpc>
                </a:pPr>
                <a:r>
                  <a:rPr lang="en-US" altLang="zh-CN" sz="2400" b="1" dirty="0">
                    <a:solidFill>
                      <a:schemeClr val="bg1"/>
                    </a:solidFill>
                    <a:latin typeface="+mj-ea"/>
                    <a:ea typeface="+mj-ea"/>
                  </a:rPr>
                  <a:t>    </a:t>
                </a:r>
                <a:r>
                  <a:rPr lang="zh-CN" altLang="zh-CN" sz="2400" b="1" dirty="0">
                    <a:solidFill>
                      <a:schemeClr val="bg1"/>
                    </a:solidFill>
                    <a:latin typeface="+mj-ea"/>
                    <a:ea typeface="+mj-ea"/>
                  </a:rPr>
                  <a:t>当</a:t>
                </a:r>
                <a14:m>
                  <m:oMath xmlns:m="http://schemas.openxmlformats.org/officeDocument/2006/math">
                    <m:r>
                      <a:rPr lang="zh-CN" altLang="zh-CN" sz="2400" b="1">
                        <a:solidFill>
                          <a:schemeClr val="bg1"/>
                        </a:solidFill>
                        <a:latin typeface="Cambria Math" panose="02040503050406030204" pitchFamily="18" charset="0"/>
                        <a:ea typeface="+mj-ea"/>
                      </a:rPr>
                      <m:t> </m:t>
                    </m:r>
                    <m:sSub>
                      <m:sSubPr>
                        <m:ctrlPr>
                          <a:rPr lang="zh-CN" altLang="zh-CN" sz="2400" b="1" i="1" smtClean="0">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𝒗</m:t>
                        </m:r>
                      </m:e>
                      <m:sub>
                        <m:r>
                          <a:rPr lang="en-US" altLang="zh-CN" sz="2400" b="1" i="1">
                            <a:solidFill>
                              <a:srgbClr val="FFFF66"/>
                            </a:solidFill>
                            <a:latin typeface="Cambria Math" panose="02040503050406030204" pitchFamily="18" charset="0"/>
                            <a:ea typeface="+mj-ea"/>
                          </a:rPr>
                          <m:t>𝟎</m:t>
                        </m:r>
                      </m:sub>
                    </m:sSub>
                    <m:r>
                      <a:rPr lang="en-US" altLang="zh-CN" sz="2400" b="1" i="1">
                        <a:solidFill>
                          <a:srgbClr val="FFFF66"/>
                        </a:solidFill>
                        <a:latin typeface="Cambria Math" panose="02040503050406030204" pitchFamily="18" charset="0"/>
                        <a:ea typeface="+mj-ea"/>
                      </a:rPr>
                      <m:t>=</m:t>
                    </m:r>
                    <m:sSub>
                      <m:sSubPr>
                        <m:ctrlPr>
                          <a:rPr lang="zh-CN" altLang="zh-CN" sz="2400" b="1" i="1">
                            <a:solidFill>
                              <a:srgbClr val="FFFF66"/>
                            </a:solidFill>
                            <a:latin typeface="Cambria Math" panose="02040503050406030204" pitchFamily="18" charset="0"/>
                            <a:ea typeface="+mj-ea"/>
                          </a:rPr>
                        </m:ctrlPr>
                      </m:sSubPr>
                      <m:e>
                        <m:r>
                          <a:rPr lang="en-US" altLang="zh-CN" sz="2400" b="1" i="1">
                            <a:solidFill>
                              <a:srgbClr val="FFFF66"/>
                            </a:solidFill>
                            <a:latin typeface="Cambria Math" panose="02040503050406030204" pitchFamily="18" charset="0"/>
                            <a:ea typeface="+mj-ea"/>
                          </a:rPr>
                          <m:t>𝒗</m:t>
                        </m:r>
                      </m:e>
                      <m:sub>
                        <m:r>
                          <a:rPr lang="en-US" altLang="zh-CN" sz="2400" b="1" i="1">
                            <a:solidFill>
                              <a:srgbClr val="FFFF66"/>
                            </a:solidFill>
                            <a:latin typeface="Cambria Math" panose="02040503050406030204" pitchFamily="18" charset="0"/>
                            <a:ea typeface="+mj-ea"/>
                          </a:rPr>
                          <m:t>𝒌</m:t>
                        </m:r>
                      </m:sub>
                    </m:sSub>
                    <m:r>
                      <a:rPr lang="en-US" altLang="zh-CN" sz="2400" b="1" i="1">
                        <a:solidFill>
                          <a:schemeClr val="bg1"/>
                        </a:solidFill>
                        <a:latin typeface="Cambria Math" panose="02040503050406030204" pitchFamily="18" charset="0"/>
                        <a:ea typeface="+mj-ea"/>
                      </a:rPr>
                      <m:t> </m:t>
                    </m:r>
                  </m:oMath>
                </a14:m>
                <a:r>
                  <a:rPr lang="zh-CN" altLang="zh-CN" sz="2400" b="1" dirty="0">
                    <a:solidFill>
                      <a:schemeClr val="bg1"/>
                    </a:solidFill>
                    <a:latin typeface="+mj-ea"/>
                    <a:ea typeface="+mj-ea"/>
                  </a:rPr>
                  <a:t>时，称该通路称为</a:t>
                </a:r>
                <a:r>
                  <a:rPr lang="zh-CN" altLang="zh-CN" sz="2400" b="1" dirty="0">
                    <a:solidFill>
                      <a:srgbClr val="FFFF66"/>
                    </a:solidFill>
                    <a:latin typeface="+mj-ea"/>
                    <a:ea typeface="+mj-ea"/>
                  </a:rPr>
                  <a:t>回路</a:t>
                </a:r>
                <a:r>
                  <a:rPr lang="zh-CN" altLang="zh-CN" sz="2400" b="1" dirty="0">
                    <a:solidFill>
                      <a:schemeClr val="bg1"/>
                    </a:solidFill>
                    <a:latin typeface="+mj-ea"/>
                    <a:ea typeface="+mj-ea"/>
                  </a:rPr>
                  <a:t>。</a:t>
                </a:r>
                <a:endParaRPr lang="zh-CN" altLang="en-US" sz="2400" b="1" dirty="0">
                  <a:solidFill>
                    <a:schemeClr val="bg1"/>
                  </a:solidFill>
                  <a:latin typeface="+mj-ea"/>
                  <a:ea typeface="+mj-ea"/>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15696" y="1720077"/>
                <a:ext cx="8928484" cy="4451283"/>
              </a:xfrm>
              <a:prstGeom prst="rect">
                <a:avLst/>
              </a:prstGeom>
              <a:blipFill>
                <a:blip r:embed="rId4"/>
                <a:stretch>
                  <a:fillRect l="-1022" r="-409" b="-1637"/>
                </a:stretch>
              </a:blipFill>
              <a:ln w="19050">
                <a:solidFill>
                  <a:schemeClr val="bg1"/>
                </a:solidFill>
              </a:ln>
            </p:spPr>
            <p:txBody>
              <a:bodyPr/>
              <a:lstStyle/>
              <a:p>
                <a:r>
                  <a:rPr lang="zh-CN" altLang="en-US">
                    <a:noFill/>
                  </a:rPr>
                  <a:t> </a:t>
                </a:r>
              </a:p>
            </p:txBody>
          </p:sp>
        </mc:Fallback>
      </mc:AlternateContent>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4AEA6596-7E11-4840-916D-9D4FED99E751}"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124931"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2493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CDFEE462-3DFF-438F-9DF4-0BE8856CA4CA}"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10</a:t>
            </a:fld>
            <a:endParaRPr lang="en-US" altLang="zh-CN" sz="1400" b="1">
              <a:latin typeface="Times New Roman" panose="02020603050405020304" pitchFamily="18" charset="0"/>
              <a:ea typeface="宋体" panose="02010600030101010101" pitchFamily="2" charset="-122"/>
            </a:endParaRPr>
          </a:p>
        </p:txBody>
      </p:sp>
      <p:sp>
        <p:nvSpPr>
          <p:cNvPr id="124933" name="Text Box 2"/>
          <p:cNvSpPr txBox="1">
            <a:spLocks noChangeArrowheads="1"/>
          </p:cNvSpPr>
          <p:nvPr/>
        </p:nvSpPr>
        <p:spPr bwMode="auto">
          <a:xfrm>
            <a:off x="1259632" y="626566"/>
            <a:ext cx="6479954"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若干基本概念</a:t>
            </a:r>
          </a:p>
        </p:txBody>
      </p:sp>
      <p:pic>
        <p:nvPicPr>
          <p:cNvPr id="12493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302478" y="1700213"/>
                <a:ext cx="8539043" cy="4620560"/>
              </a:xfrm>
              <a:prstGeom prst="rect">
                <a:avLst/>
              </a:prstGeom>
              <a:solidFill>
                <a:schemeClr val="accent6">
                  <a:lumMod val="75000"/>
                </a:schemeClr>
              </a:solidFill>
              <a:ln w="19050">
                <a:noFill/>
              </a:ln>
            </p:spPr>
            <p:txBody>
              <a:bodyPr wrap="square" rtlCol="0">
                <a:spAutoFit/>
              </a:bodyPr>
              <a:lstStyle/>
              <a:p>
                <a:pPr>
                  <a:lnSpc>
                    <a:spcPts val="3200"/>
                  </a:lnSpc>
                  <a:spcAft>
                    <a:spcPts val="600"/>
                  </a:spcAft>
                </a:pPr>
                <a:r>
                  <a:rPr lang="en-US" altLang="zh-CN" sz="2400" b="1" dirty="0">
                    <a:solidFill>
                      <a:schemeClr val="bg1"/>
                    </a:solidFill>
                  </a:rPr>
                  <a:t>   </a:t>
                </a:r>
                <a:r>
                  <a:rPr lang="zh-CN" altLang="zh-CN" sz="2400" b="1" dirty="0">
                    <a:solidFill>
                      <a:schemeClr val="bg1"/>
                    </a:solidFill>
                  </a:rPr>
                  <a:t>设</a:t>
                </a:r>
                <a14:m>
                  <m:oMath xmlns:m="http://schemas.openxmlformats.org/officeDocument/2006/math">
                    <m:r>
                      <a:rPr lang="en-US" altLang="zh-CN" sz="2400" b="1" i="1">
                        <a:solidFill>
                          <a:schemeClr val="bg1"/>
                        </a:solidFill>
                        <a:latin typeface="Cambria Math" panose="02040503050406030204" pitchFamily="18" charset="0"/>
                      </a:rPr>
                      <m:t>𝑮</m:t>
                    </m:r>
                    <m:r>
                      <a:rPr lang="en-US" altLang="zh-CN" sz="2400" b="1" i="1">
                        <a:solidFill>
                          <a:schemeClr val="bg1"/>
                        </a:solidFill>
                        <a:latin typeface="Cambria Math" panose="02040503050406030204" pitchFamily="18" charset="0"/>
                      </a:rPr>
                      <m:t>=</m:t>
                    </m:r>
                    <m:d>
                      <m:dPr>
                        <m:begChr m:val="〈"/>
                        <m:endChr m:val="〉"/>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panose="02040503050406030204" pitchFamily="18" charset="0"/>
                          </a:rPr>
                          <m:t>𝑽</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𝑬</m:t>
                        </m:r>
                      </m:e>
                    </m:d>
                    <m:r>
                      <a:rPr lang="en-US" altLang="zh-CN" sz="2400" b="1" i="1">
                        <a:solidFill>
                          <a:schemeClr val="bg1"/>
                        </a:solidFill>
                        <a:latin typeface="Cambria Math" panose="02040503050406030204" pitchFamily="18" charset="0"/>
                      </a:rPr>
                      <m:t> </m:t>
                    </m:r>
                  </m:oMath>
                </a14:m>
                <a:r>
                  <a:rPr lang="zh-CN" altLang="zh-CN" sz="2400" b="1" dirty="0">
                    <a:solidFill>
                      <a:schemeClr val="bg1"/>
                    </a:solidFill>
                  </a:rPr>
                  <a:t>，</a:t>
                </a:r>
                <a14:m>
                  <m:oMath xmlns:m="http://schemas.openxmlformats.org/officeDocument/2006/math">
                    <m:r>
                      <a:rPr lang="en-US" altLang="zh-CN" sz="2400" b="1" i="1">
                        <a:solidFill>
                          <a:schemeClr val="bg1"/>
                        </a:solidFill>
                        <a:latin typeface="Cambria Math" panose="02040503050406030204" pitchFamily="18" charset="0"/>
                      </a:rPr>
                      <m:t>𝜞</m:t>
                    </m:r>
                  </m:oMath>
                </a14:m>
                <a:r>
                  <a:rPr lang="zh-CN" altLang="zh-CN" sz="2400" b="1" dirty="0">
                    <a:solidFill>
                      <a:schemeClr val="bg1"/>
                    </a:solidFill>
                  </a:rPr>
                  <a:t>为图</a:t>
                </a:r>
                <a14:m>
                  <m:oMath xmlns:m="http://schemas.openxmlformats.org/officeDocument/2006/math">
                    <m:r>
                      <a:rPr lang="en-US" altLang="zh-CN" sz="2400" b="1" i="1">
                        <a:solidFill>
                          <a:schemeClr val="bg1"/>
                        </a:solidFill>
                        <a:latin typeface="Cambria Math" panose="02040503050406030204" pitchFamily="18" charset="0"/>
                      </a:rPr>
                      <m:t>𝑮</m:t>
                    </m:r>
                    <m:r>
                      <a:rPr lang="en-US" altLang="zh-CN" sz="2400" b="1" i="1">
                        <a:solidFill>
                          <a:schemeClr val="bg1"/>
                        </a:solidFill>
                        <a:latin typeface="Cambria Math" panose="02040503050406030204" pitchFamily="18" charset="0"/>
                      </a:rPr>
                      <m:t> </m:t>
                    </m:r>
                  </m:oMath>
                </a14:m>
                <a:r>
                  <a:rPr lang="zh-CN" altLang="zh-CN" sz="2400" b="1" dirty="0">
                    <a:solidFill>
                      <a:schemeClr val="bg1"/>
                    </a:solidFill>
                  </a:rPr>
                  <a:t>中以</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𝟎</m:t>
                        </m:r>
                      </m:sub>
                    </m:sSub>
                  </m:oMath>
                </a14:m>
                <a:r>
                  <a:rPr lang="zh-CN" altLang="zh-CN" sz="2400" b="1" dirty="0">
                    <a:solidFill>
                      <a:schemeClr val="bg1"/>
                    </a:solidFill>
                  </a:rPr>
                  <a:t>和</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𝒌</m:t>
                        </m:r>
                      </m:sub>
                    </m:sSub>
                  </m:oMath>
                </a14:m>
                <a:r>
                  <a:rPr lang="zh-CN" altLang="zh-CN" sz="2400" b="1" dirty="0">
                    <a:solidFill>
                      <a:schemeClr val="bg1"/>
                    </a:solidFill>
                  </a:rPr>
                  <a:t>为起点和终点的通路</a:t>
                </a:r>
                <a:r>
                  <a:rPr lang="zh-CN" altLang="en-US" sz="2400" b="1" dirty="0">
                    <a:solidFill>
                      <a:schemeClr val="bg1"/>
                    </a:solidFill>
                  </a:rPr>
                  <a:t>：</a:t>
                </a:r>
                <a:endParaRPr lang="en-US" altLang="zh-CN" sz="2400" b="1" dirty="0">
                  <a:solidFill>
                    <a:schemeClr val="bg1"/>
                  </a:solidFill>
                </a:endParaRPr>
              </a:p>
              <a:p>
                <a:pPr algn="ctr">
                  <a:lnSpc>
                    <a:spcPts val="3200"/>
                  </a:lnSpc>
                  <a:spcBef>
                    <a:spcPts val="1200"/>
                  </a:spcBef>
                  <a:spcAft>
                    <a:spcPts val="1200"/>
                  </a:spcAft>
                </a:pPr>
                <a14:m>
                  <m:oMathPara xmlns:m="http://schemas.openxmlformats.org/officeDocument/2006/math">
                    <m:oMathParaPr>
                      <m:jc m:val="centerGroup"/>
                    </m:oMathParaPr>
                    <m:oMath xmlns:m="http://schemas.openxmlformats.org/officeDocument/2006/math">
                      <m:r>
                        <a:rPr lang="en-US" altLang="zh-CN" sz="2400" b="1" i="1" smtClean="0">
                          <a:solidFill>
                            <a:schemeClr val="bg1"/>
                          </a:solidFill>
                          <a:latin typeface="Cambria Math" panose="02040503050406030204" pitchFamily="18" charset="0"/>
                        </a:rPr>
                        <m:t>𝜞</m:t>
                      </m:r>
                      <m:r>
                        <a:rPr lang="en-US" altLang="zh-CN" sz="2400" b="1" i="1" smtClean="0">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𝟎</m:t>
                          </m:r>
                        </m:sub>
                      </m:sSub>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𝒆</m:t>
                          </m:r>
                        </m:e>
                        <m:sub>
                          <m:r>
                            <a:rPr lang="en-US" altLang="zh-CN" sz="2400" b="1" i="1">
                              <a:solidFill>
                                <a:schemeClr val="bg1"/>
                              </a:solidFill>
                              <a:latin typeface="Cambria Math" panose="02040503050406030204" pitchFamily="18" charset="0"/>
                            </a:rPr>
                            <m:t>𝟏</m:t>
                          </m:r>
                        </m:sub>
                      </m:sSub>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𝟏</m:t>
                          </m:r>
                        </m:sub>
                      </m:sSub>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𝒆</m:t>
                          </m:r>
                        </m:e>
                        <m:sub>
                          <m:r>
                            <a:rPr lang="en-US" altLang="zh-CN" sz="2400" b="1" i="1">
                              <a:solidFill>
                                <a:schemeClr val="bg1"/>
                              </a:solidFill>
                              <a:latin typeface="Cambria Math" panose="02040503050406030204" pitchFamily="18" charset="0"/>
                            </a:rPr>
                            <m:t>𝟐</m:t>
                          </m:r>
                        </m:sub>
                      </m:sSub>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𝟐</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𝒆</m:t>
                          </m:r>
                        </m:e>
                        <m:sub>
                          <m:r>
                            <a:rPr lang="en-US" altLang="zh-CN" sz="2400" b="1" i="1">
                              <a:solidFill>
                                <a:schemeClr val="bg1"/>
                              </a:solidFill>
                              <a:latin typeface="Cambria Math" panose="02040503050406030204" pitchFamily="18" charset="0"/>
                            </a:rPr>
                            <m:t>𝒌</m:t>
                          </m:r>
                        </m:sub>
                      </m:sSub>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𝒌</m:t>
                          </m:r>
                        </m:sub>
                      </m:sSub>
                    </m:oMath>
                  </m:oMathPara>
                </a14:m>
                <a:endParaRPr lang="en-US" altLang="zh-CN" sz="2400" b="1" dirty="0">
                  <a:solidFill>
                    <a:schemeClr val="bg1"/>
                  </a:solidFill>
                </a:endParaRPr>
              </a:p>
              <a:p>
                <a:pPr algn="ctr">
                  <a:lnSpc>
                    <a:spcPts val="3200"/>
                  </a:lnSpc>
                  <a:spcAft>
                    <a:spcPts val="600"/>
                  </a:spcAft>
                </a:pPr>
                <a:r>
                  <a:rPr lang="zh-CN" altLang="en-US" sz="2400" b="1" dirty="0">
                    <a:solidFill>
                      <a:schemeClr val="bg1"/>
                    </a:solidFill>
                  </a:rPr>
                  <a:t>（</a:t>
                </a:r>
                <a:r>
                  <a:rPr lang="en-US" altLang="zh-CN" sz="2400" b="1" dirty="0">
                    <a:solidFill>
                      <a:schemeClr val="bg1"/>
                    </a:solidFill>
                  </a:rPr>
                  <a:t>1</a:t>
                </a:r>
                <a:r>
                  <a:rPr lang="zh-CN" altLang="en-US" sz="2400" b="1" dirty="0">
                    <a:solidFill>
                      <a:schemeClr val="bg1"/>
                    </a:solidFill>
                  </a:rPr>
                  <a:t>）</a:t>
                </a:r>
                <a:r>
                  <a:rPr lang="zh-CN" altLang="zh-CN" sz="2400" b="1" dirty="0">
                    <a:solidFill>
                      <a:schemeClr val="bg1"/>
                    </a:solidFill>
                  </a:rPr>
                  <a:t>若</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𝜞</m:t>
                    </m:r>
                    <m:r>
                      <a:rPr lang="en-US" altLang="zh-CN" sz="2400" b="1">
                        <a:solidFill>
                          <a:schemeClr val="bg1"/>
                        </a:solidFill>
                        <a:latin typeface="Cambria Math" panose="02040503050406030204" pitchFamily="18" charset="0"/>
                      </a:rPr>
                      <m:t> </m:t>
                    </m:r>
                  </m:oMath>
                </a14:m>
                <a:r>
                  <a:rPr lang="zh-CN" altLang="zh-CN" sz="2400" b="1" dirty="0">
                    <a:solidFill>
                      <a:schemeClr val="bg1"/>
                    </a:solidFill>
                  </a:rPr>
                  <a:t>中所有边各异，则称</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𝜞</m:t>
                    </m:r>
                  </m:oMath>
                </a14:m>
                <a:r>
                  <a:rPr lang="zh-CN" altLang="zh-CN" sz="2400" b="1" dirty="0">
                    <a:solidFill>
                      <a:schemeClr val="bg1"/>
                    </a:solidFill>
                  </a:rPr>
                  <a:t>为</a:t>
                </a:r>
                <a:r>
                  <a:rPr lang="zh-CN" altLang="zh-CN" sz="2400" b="1" dirty="0">
                    <a:solidFill>
                      <a:srgbClr val="FFFF00"/>
                    </a:solidFill>
                  </a:rPr>
                  <a:t>简单通路</a:t>
                </a:r>
                <a:r>
                  <a:rPr lang="zh-CN" altLang="zh-CN" sz="2400" b="1" dirty="0">
                    <a:solidFill>
                      <a:schemeClr val="bg1"/>
                    </a:solidFill>
                  </a:rPr>
                  <a:t>或</a:t>
                </a:r>
                <a:r>
                  <a:rPr lang="zh-CN" altLang="zh-CN" sz="2400" b="1" dirty="0">
                    <a:solidFill>
                      <a:srgbClr val="FFFF00"/>
                    </a:solidFill>
                  </a:rPr>
                  <a:t>简单路径</a:t>
                </a:r>
                <a:r>
                  <a:rPr lang="zh-CN" altLang="zh-CN" sz="2400" b="1" dirty="0">
                    <a:solidFill>
                      <a:schemeClr val="bg1"/>
                    </a:solidFill>
                  </a:rPr>
                  <a:t>；</a:t>
                </a:r>
                <a:r>
                  <a:rPr lang="en-US" altLang="zh-CN" sz="2400" b="1" dirty="0">
                    <a:solidFill>
                      <a:schemeClr val="bg1"/>
                    </a:solidFill>
                  </a:rPr>
                  <a:t>       </a:t>
                </a:r>
                <a:r>
                  <a:rPr lang="zh-CN" altLang="zh-CN" sz="2400" b="1" dirty="0">
                    <a:solidFill>
                      <a:schemeClr val="bg1"/>
                    </a:solidFill>
                  </a:rPr>
                  <a:t>若</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𝜞</m:t>
                    </m:r>
                    <m:r>
                      <a:rPr lang="en-US" altLang="zh-CN" sz="2400" b="1">
                        <a:solidFill>
                          <a:schemeClr val="bg1"/>
                        </a:solidFill>
                        <a:latin typeface="Cambria Math" panose="02040503050406030204" pitchFamily="18" charset="0"/>
                      </a:rPr>
                      <m:t> </m:t>
                    </m:r>
                  </m:oMath>
                </a14:m>
                <a:r>
                  <a:rPr lang="zh-CN" altLang="zh-CN" sz="2400" b="1" dirty="0">
                    <a:solidFill>
                      <a:schemeClr val="bg1"/>
                    </a:solidFill>
                  </a:rPr>
                  <a:t>中所有边各异且</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𝟎</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𝒌</m:t>
                        </m:r>
                      </m:sub>
                    </m:sSub>
                    <m:r>
                      <a:rPr lang="en-US" altLang="zh-CN" sz="2400" b="1" i="1">
                        <a:solidFill>
                          <a:schemeClr val="bg1"/>
                        </a:solidFill>
                        <a:latin typeface="Cambria Math" panose="02040503050406030204" pitchFamily="18" charset="0"/>
                      </a:rPr>
                      <m:t> </m:t>
                    </m:r>
                  </m:oMath>
                </a14:m>
                <a:r>
                  <a:rPr lang="zh-CN" altLang="zh-CN" sz="2400" b="1" dirty="0">
                    <a:solidFill>
                      <a:schemeClr val="bg1"/>
                    </a:solidFill>
                  </a:rPr>
                  <a:t>，称</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𝜞</m:t>
                    </m:r>
                  </m:oMath>
                </a14:m>
                <a:r>
                  <a:rPr lang="zh-CN" altLang="zh-CN" sz="2400" b="1" dirty="0">
                    <a:solidFill>
                      <a:schemeClr val="bg1"/>
                    </a:solidFill>
                  </a:rPr>
                  <a:t>为</a:t>
                </a:r>
                <a:r>
                  <a:rPr lang="zh-CN" altLang="zh-CN" sz="2400" b="1" dirty="0">
                    <a:solidFill>
                      <a:srgbClr val="FFFF00"/>
                    </a:solidFill>
                  </a:rPr>
                  <a:t>简单回路</a:t>
                </a:r>
                <a:r>
                  <a:rPr lang="zh-CN" altLang="zh-CN" sz="2400" b="1" dirty="0">
                    <a:solidFill>
                      <a:schemeClr val="bg1"/>
                    </a:solidFill>
                  </a:rPr>
                  <a:t>。</a:t>
                </a:r>
              </a:p>
              <a:p>
                <a:pPr>
                  <a:lnSpc>
                    <a:spcPts val="3200"/>
                  </a:lnSpc>
                  <a:spcAft>
                    <a:spcPts val="600"/>
                  </a:spcAft>
                </a:pPr>
                <a:r>
                  <a:rPr lang="en-US" altLang="zh-CN" sz="2400" b="1" dirty="0">
                    <a:solidFill>
                      <a:schemeClr val="bg1"/>
                    </a:solidFill>
                  </a:rPr>
                  <a:t>  </a:t>
                </a:r>
                <a:r>
                  <a:rPr lang="zh-CN" altLang="zh-CN" sz="2400" b="1" dirty="0">
                    <a:solidFill>
                      <a:schemeClr val="bg1"/>
                    </a:solidFill>
                  </a:rPr>
                  <a:t>（</a:t>
                </a:r>
                <a:r>
                  <a:rPr lang="en-US" altLang="zh-CN" sz="2400" b="1" dirty="0">
                    <a:solidFill>
                      <a:schemeClr val="bg1"/>
                    </a:solidFill>
                  </a:rPr>
                  <a:t>2</a:t>
                </a:r>
                <a:r>
                  <a:rPr lang="zh-CN" altLang="zh-CN" sz="2400" b="1" dirty="0">
                    <a:solidFill>
                      <a:schemeClr val="bg1"/>
                    </a:solidFill>
                  </a:rPr>
                  <a:t>）若</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𝜞</m:t>
                    </m:r>
                    <m:r>
                      <a:rPr lang="en-US" altLang="zh-CN" sz="2400" b="1">
                        <a:solidFill>
                          <a:schemeClr val="bg1"/>
                        </a:solidFill>
                        <a:latin typeface="Cambria Math" panose="02040503050406030204" pitchFamily="18" charset="0"/>
                      </a:rPr>
                      <m:t>  </m:t>
                    </m:r>
                  </m:oMath>
                </a14:m>
                <a:r>
                  <a:rPr lang="zh-CN" altLang="zh-CN" sz="2400" b="1" dirty="0">
                    <a:solidFill>
                      <a:schemeClr val="bg1"/>
                    </a:solidFill>
                  </a:rPr>
                  <a:t>中除</a:t>
                </a:r>
                <a14:m>
                  <m:oMath xmlns:m="http://schemas.openxmlformats.org/officeDocument/2006/math">
                    <m:r>
                      <a:rPr lang="zh-CN" altLang="zh-CN" sz="2400" b="1">
                        <a:solidFill>
                          <a:schemeClr val="bg1"/>
                        </a:solidFill>
                        <a:latin typeface="Cambria Math" panose="02040503050406030204" pitchFamily="18" charset="0"/>
                      </a:rPr>
                      <m:t> </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𝟎</m:t>
                        </m:r>
                      </m:sub>
                    </m:sSub>
                    <m:r>
                      <a:rPr lang="en-US" altLang="zh-CN" sz="2400" b="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𝒌</m:t>
                        </m:r>
                      </m:sub>
                    </m:sSub>
                    <m:r>
                      <a:rPr lang="en-US" altLang="zh-CN" sz="2400" b="1" i="1">
                        <a:solidFill>
                          <a:schemeClr val="bg1"/>
                        </a:solidFill>
                        <a:latin typeface="Cambria Math" panose="02040503050406030204" pitchFamily="18" charset="0"/>
                      </a:rPr>
                      <m:t> </m:t>
                    </m:r>
                  </m:oMath>
                </a14:m>
                <a:r>
                  <a:rPr lang="zh-CN" altLang="en-US" sz="2400" b="1" dirty="0">
                    <a:solidFill>
                      <a:schemeClr val="bg1"/>
                    </a:solidFill>
                  </a:rPr>
                  <a:t>以</a:t>
                </a:r>
                <a:r>
                  <a:rPr lang="zh-CN" altLang="zh-CN" sz="2400" b="1" dirty="0">
                    <a:solidFill>
                      <a:schemeClr val="bg1"/>
                    </a:solidFill>
                  </a:rPr>
                  <a:t>外的所有结点各异</a:t>
                </a:r>
                <a:r>
                  <a:rPr lang="zh-CN" altLang="en-US" sz="2400" b="1" dirty="0">
                    <a:solidFill>
                      <a:schemeClr val="bg1"/>
                    </a:solidFill>
                  </a:rPr>
                  <a:t>，</a:t>
                </a:r>
                <a:r>
                  <a:rPr lang="zh-CN" altLang="zh-CN" sz="2400" b="1" dirty="0">
                    <a:solidFill>
                      <a:schemeClr val="bg1"/>
                    </a:solidFill>
                  </a:rPr>
                  <a:t>则称</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𝜞</m:t>
                    </m:r>
                    <m:r>
                      <a:rPr lang="en-US" altLang="zh-CN" sz="2400" b="1">
                        <a:solidFill>
                          <a:schemeClr val="bg1"/>
                        </a:solidFill>
                        <a:latin typeface="Cambria Math" panose="02040503050406030204" pitchFamily="18" charset="0"/>
                      </a:rPr>
                      <m:t>  </m:t>
                    </m:r>
                  </m:oMath>
                </a14:m>
                <a:r>
                  <a:rPr lang="zh-CN" altLang="zh-CN" sz="2400" b="1" dirty="0">
                    <a:solidFill>
                      <a:schemeClr val="bg1"/>
                    </a:solidFill>
                  </a:rPr>
                  <a:t>为</a:t>
                </a:r>
                <a:r>
                  <a:rPr lang="zh-CN" altLang="zh-CN" sz="2400" b="1" dirty="0">
                    <a:solidFill>
                      <a:srgbClr val="FFFF00"/>
                    </a:solidFill>
                  </a:rPr>
                  <a:t>基本通路</a:t>
                </a:r>
                <a:r>
                  <a:rPr lang="zh-CN" altLang="zh-CN" sz="2400" b="1" dirty="0">
                    <a:solidFill>
                      <a:schemeClr val="bg1"/>
                    </a:solidFill>
                  </a:rPr>
                  <a:t>或</a:t>
                </a:r>
                <a:r>
                  <a:rPr lang="zh-CN" altLang="zh-CN" sz="2400" b="1" dirty="0">
                    <a:solidFill>
                      <a:srgbClr val="FFFF00"/>
                    </a:solidFill>
                  </a:rPr>
                  <a:t>基本路径</a:t>
                </a:r>
                <a:r>
                  <a:rPr lang="zh-CN" altLang="zh-CN" sz="2400" b="1" dirty="0">
                    <a:solidFill>
                      <a:schemeClr val="bg1"/>
                    </a:solidFill>
                  </a:rPr>
                  <a:t>。</a:t>
                </a:r>
                <a:endParaRPr lang="en-US" altLang="zh-CN" sz="2400" b="1" dirty="0">
                  <a:solidFill>
                    <a:schemeClr val="bg1"/>
                  </a:solidFill>
                </a:endParaRPr>
              </a:p>
              <a:p>
                <a:pPr>
                  <a:lnSpc>
                    <a:spcPts val="3200"/>
                  </a:lnSpc>
                  <a:spcAft>
                    <a:spcPts val="600"/>
                  </a:spcAft>
                </a:pPr>
                <a:r>
                  <a:rPr lang="en-US" altLang="zh-CN" sz="2400" b="1" dirty="0">
                    <a:solidFill>
                      <a:schemeClr val="bg1"/>
                    </a:solidFill>
                  </a:rPr>
                  <a:t>    </a:t>
                </a:r>
                <a:r>
                  <a:rPr lang="zh-CN" altLang="zh-CN" sz="2400" b="1" dirty="0">
                    <a:solidFill>
                      <a:schemeClr val="bg1"/>
                    </a:solidFill>
                  </a:rPr>
                  <a:t>若</a:t>
                </a:r>
                <a14:m>
                  <m:oMath xmlns:m="http://schemas.openxmlformats.org/officeDocument/2006/math">
                    <m:r>
                      <a:rPr lang="zh-CN" altLang="zh-CN" sz="2400" b="1">
                        <a:solidFill>
                          <a:schemeClr val="bg1"/>
                        </a:solidFill>
                        <a:latin typeface="Cambria Math" panose="02040503050406030204" pitchFamily="18" charset="0"/>
                      </a:rPr>
                      <m:t> </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𝟎</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𝒌</m:t>
                        </m:r>
                      </m:sub>
                    </m:sSub>
                    <m:r>
                      <a:rPr lang="en-US" altLang="zh-CN" sz="2400" b="1" i="1">
                        <a:solidFill>
                          <a:schemeClr val="bg1"/>
                        </a:solidFill>
                        <a:latin typeface="Cambria Math" panose="02040503050406030204" pitchFamily="18" charset="0"/>
                      </a:rPr>
                      <m:t> </m:t>
                    </m:r>
                  </m:oMath>
                </a14:m>
                <a:r>
                  <a:rPr lang="zh-CN" altLang="zh-CN" sz="2400" b="1" dirty="0">
                    <a:solidFill>
                      <a:schemeClr val="bg1"/>
                    </a:solidFill>
                  </a:rPr>
                  <a:t>且除</a:t>
                </a:r>
                <a14:m>
                  <m:oMath xmlns:m="http://schemas.openxmlformats.org/officeDocument/2006/math">
                    <m:r>
                      <a:rPr lang="zh-CN" altLang="zh-CN" sz="2400" b="1">
                        <a:solidFill>
                          <a:schemeClr val="bg1"/>
                        </a:solidFill>
                        <a:latin typeface="Cambria Math" panose="02040503050406030204" pitchFamily="18" charset="0"/>
                      </a:rPr>
                      <m:t> </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𝟎</m:t>
                        </m:r>
                      </m:sub>
                    </m:sSub>
                    <m:r>
                      <a:rPr lang="en-US" altLang="zh-CN" sz="2400" b="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𝒌</m:t>
                        </m:r>
                      </m:sub>
                    </m:sSub>
                    <m:r>
                      <a:rPr lang="en-US" altLang="zh-CN" sz="2400" b="1" i="1">
                        <a:solidFill>
                          <a:schemeClr val="bg1"/>
                        </a:solidFill>
                        <a:latin typeface="Cambria Math" panose="02040503050406030204" pitchFamily="18" charset="0"/>
                      </a:rPr>
                      <m:t> </m:t>
                    </m:r>
                  </m:oMath>
                </a14:m>
                <a:r>
                  <a:rPr lang="zh-CN" altLang="zh-CN" sz="2400" b="1" dirty="0">
                    <a:solidFill>
                      <a:schemeClr val="bg1"/>
                    </a:solidFill>
                  </a:rPr>
                  <a:t>以外的所有结点各异，则称</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𝜞</m:t>
                    </m:r>
                    <m:r>
                      <a:rPr lang="en-US" altLang="zh-CN" sz="2400" b="1">
                        <a:solidFill>
                          <a:schemeClr val="bg1"/>
                        </a:solidFill>
                        <a:latin typeface="Cambria Math" panose="02040503050406030204" pitchFamily="18" charset="0"/>
                      </a:rPr>
                      <m:t>  </m:t>
                    </m:r>
                  </m:oMath>
                </a14:m>
                <a:r>
                  <a:rPr lang="zh-CN" altLang="zh-CN" sz="2400" b="1" dirty="0">
                    <a:solidFill>
                      <a:schemeClr val="bg1"/>
                    </a:solidFill>
                  </a:rPr>
                  <a:t>为</a:t>
                </a:r>
                <a:r>
                  <a:rPr lang="zh-CN" altLang="zh-CN" sz="2400" b="1" dirty="0">
                    <a:solidFill>
                      <a:srgbClr val="FFFF00"/>
                    </a:solidFill>
                  </a:rPr>
                  <a:t>基本回路</a:t>
                </a:r>
                <a:r>
                  <a:rPr lang="zh-CN" altLang="zh-CN" sz="2400" b="1" dirty="0">
                    <a:solidFill>
                      <a:schemeClr val="bg1"/>
                    </a:solidFill>
                  </a:rPr>
                  <a:t>或者</a:t>
                </a:r>
                <a:r>
                  <a:rPr lang="zh-CN" altLang="zh-CN" sz="2400" b="1" dirty="0">
                    <a:solidFill>
                      <a:srgbClr val="FFFF00"/>
                    </a:solidFill>
                  </a:rPr>
                  <a:t>圈</a:t>
                </a:r>
                <a:r>
                  <a:rPr lang="zh-CN" altLang="zh-CN" sz="2400" b="1" dirty="0">
                    <a:solidFill>
                      <a:schemeClr val="bg1"/>
                    </a:solidFill>
                  </a:rPr>
                  <a:t>。</a:t>
                </a:r>
              </a:p>
              <a:p>
                <a:pPr>
                  <a:lnSpc>
                    <a:spcPts val="3200"/>
                  </a:lnSpc>
                </a:pPr>
                <a:r>
                  <a:rPr lang="en-US" altLang="zh-CN" sz="2400" b="1" dirty="0">
                    <a:solidFill>
                      <a:schemeClr val="bg1"/>
                    </a:solidFill>
                  </a:rPr>
                  <a:t>  </a:t>
                </a:r>
                <a:r>
                  <a:rPr lang="zh-CN" altLang="zh-CN" sz="2400" b="1" dirty="0">
                    <a:solidFill>
                      <a:schemeClr val="bg1"/>
                    </a:solidFill>
                  </a:rPr>
                  <a:t>（</a:t>
                </a:r>
                <a:r>
                  <a:rPr lang="en-US" altLang="zh-CN" sz="2400" b="1" dirty="0">
                    <a:solidFill>
                      <a:schemeClr val="bg1"/>
                    </a:solidFill>
                  </a:rPr>
                  <a:t>3</a:t>
                </a:r>
                <a:r>
                  <a:rPr lang="zh-CN" altLang="zh-CN" sz="2400" b="1" dirty="0">
                    <a:solidFill>
                      <a:schemeClr val="bg1"/>
                    </a:solidFill>
                  </a:rPr>
                  <a:t>）若</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𝜞</m:t>
                    </m:r>
                    <m:r>
                      <a:rPr lang="en-US" altLang="zh-CN" sz="2400" b="1">
                        <a:solidFill>
                          <a:schemeClr val="bg1"/>
                        </a:solidFill>
                        <a:latin typeface="Cambria Math" panose="02040503050406030204" pitchFamily="18" charset="0"/>
                      </a:rPr>
                      <m:t>  </m:t>
                    </m:r>
                  </m:oMath>
                </a14:m>
                <a:r>
                  <a:rPr lang="zh-CN" altLang="zh-CN" sz="2400" b="1" dirty="0">
                    <a:solidFill>
                      <a:schemeClr val="bg1"/>
                    </a:solidFill>
                  </a:rPr>
                  <a:t>中有边重复出现，则称</a:t>
                </a:r>
                <a14:m>
                  <m:oMath xmlns:m="http://schemas.openxmlformats.org/officeDocument/2006/math">
                    <m:r>
                      <a:rPr lang="zh-CN" altLang="zh-CN" sz="2400" b="1">
                        <a:solidFill>
                          <a:schemeClr val="bg1"/>
                        </a:solidFill>
                        <a:latin typeface="Cambria Math" panose="02040503050406030204" pitchFamily="18" charset="0"/>
                      </a:rPr>
                      <m:t>其</m:t>
                    </m:r>
                  </m:oMath>
                </a14:m>
                <a:r>
                  <a:rPr lang="zh-CN" altLang="zh-CN" sz="2400" b="1" dirty="0">
                    <a:solidFill>
                      <a:schemeClr val="bg1"/>
                    </a:solidFill>
                  </a:rPr>
                  <a:t>为</a:t>
                </a:r>
                <a:r>
                  <a:rPr lang="zh-CN" altLang="zh-CN" sz="2400" b="1" dirty="0">
                    <a:solidFill>
                      <a:srgbClr val="FFFF00"/>
                    </a:solidFill>
                  </a:rPr>
                  <a:t>复杂通路</a:t>
                </a:r>
                <a:r>
                  <a:rPr lang="zh-CN" altLang="zh-CN" sz="2400" b="1" dirty="0">
                    <a:solidFill>
                      <a:schemeClr val="bg1"/>
                    </a:solidFill>
                  </a:rPr>
                  <a:t>，若还有</a:t>
                </a:r>
                <a14:m>
                  <m:oMath xmlns:m="http://schemas.openxmlformats.org/officeDocument/2006/math">
                    <m:r>
                      <a:rPr lang="zh-CN" altLang="zh-CN" sz="2400" b="1">
                        <a:solidFill>
                          <a:schemeClr val="bg1"/>
                        </a:solidFill>
                        <a:latin typeface="Cambria Math" panose="02040503050406030204" pitchFamily="18" charset="0"/>
                      </a:rPr>
                      <m:t> </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𝟎</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𝒌</m:t>
                        </m:r>
                      </m:sub>
                    </m:sSub>
                    <m:r>
                      <a:rPr lang="en-US" altLang="zh-CN" sz="2400" b="1" i="1">
                        <a:solidFill>
                          <a:schemeClr val="bg1"/>
                        </a:solidFill>
                        <a:latin typeface="Cambria Math" panose="02040503050406030204" pitchFamily="18" charset="0"/>
                      </a:rPr>
                      <m:t> </m:t>
                    </m:r>
                  </m:oMath>
                </a14:m>
                <a:r>
                  <a:rPr lang="zh-CN" altLang="zh-CN" sz="2400" b="1" dirty="0">
                    <a:solidFill>
                      <a:schemeClr val="bg1"/>
                    </a:solidFill>
                  </a:rPr>
                  <a:t>，则称其为</a:t>
                </a:r>
                <a:r>
                  <a:rPr lang="zh-CN" altLang="zh-CN" sz="2400" b="1" dirty="0">
                    <a:solidFill>
                      <a:srgbClr val="FFFF00"/>
                    </a:solidFill>
                  </a:rPr>
                  <a:t>复杂回路</a:t>
                </a:r>
                <a:r>
                  <a:rPr lang="zh-CN" altLang="zh-CN" sz="2400" b="1" dirty="0">
                    <a:solidFill>
                      <a:schemeClr val="bg1"/>
                    </a:solidFill>
                  </a:rPr>
                  <a:t>。</a:t>
                </a:r>
                <a:r>
                  <a:rPr lang="en-US" altLang="zh-CN" sz="2400" b="1" dirty="0">
                    <a:solidFill>
                      <a:schemeClr val="bg1"/>
                    </a:solidFill>
                  </a:rPr>
                  <a:t> </a:t>
                </a:r>
                <a:endParaRPr lang="zh-CN" altLang="en-US" sz="2400" b="1" dirty="0">
                  <a:solidFill>
                    <a:schemeClr val="bg1"/>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02478" y="1700213"/>
                <a:ext cx="8539043" cy="4620560"/>
              </a:xfrm>
              <a:prstGeom prst="rect">
                <a:avLst/>
              </a:prstGeom>
              <a:blipFill>
                <a:blip r:embed="rId4"/>
                <a:stretch>
                  <a:fillRect l="-1143" t="-1319" r="-643" b="-1715"/>
                </a:stretch>
              </a:blipFill>
              <a:ln w="19050">
                <a:noFill/>
              </a:ln>
            </p:spPr>
            <p:txBody>
              <a:bodyPr/>
              <a:lstStyle/>
              <a:p>
                <a:r>
                  <a:rPr lang="zh-CN" altLang="en-US">
                    <a:noFill/>
                  </a:rPr>
                  <a:t> </a:t>
                </a:r>
              </a:p>
            </p:txBody>
          </p:sp>
        </mc:Fallback>
      </mc:AlternateContent>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A977D678-8D37-4644-920F-3D61CC5CF0C6}"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125955"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12595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8F083DEA-4FBD-4CF1-A6AA-44CA3B99E6D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11</a:t>
            </a:fld>
            <a:endParaRPr lang="en-US" altLang="zh-CN" sz="1400" b="1">
              <a:latin typeface="Times New Roman" panose="02020603050405020304" pitchFamily="18" charset="0"/>
              <a:ea typeface="宋体" panose="02010600030101010101" pitchFamily="2" charset="-122"/>
            </a:endParaRPr>
          </a:p>
        </p:txBody>
      </p:sp>
      <p:sp>
        <p:nvSpPr>
          <p:cNvPr id="125957" name="Text Box 2"/>
          <p:cNvSpPr txBox="1">
            <a:spLocks noChangeArrowheads="1"/>
          </p:cNvSpPr>
          <p:nvPr/>
        </p:nvSpPr>
        <p:spPr bwMode="auto">
          <a:xfrm>
            <a:off x="1403350" y="642938"/>
            <a:ext cx="61214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若干概念要点</a:t>
            </a:r>
          </a:p>
        </p:txBody>
      </p:sp>
      <p:pic>
        <p:nvPicPr>
          <p:cNvPr id="12595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8099299C-0F51-465A-ADCA-C72F6BC02485}"/>
              </a:ext>
            </a:extLst>
          </p:cNvPr>
          <p:cNvPicPr>
            <a:picLocks noChangeAspect="1"/>
          </p:cNvPicPr>
          <p:nvPr/>
        </p:nvPicPr>
        <p:blipFill>
          <a:blip r:embed="rId4"/>
          <a:stretch>
            <a:fillRect/>
          </a:stretch>
        </p:blipFill>
        <p:spPr>
          <a:xfrm>
            <a:off x="971600" y="1988840"/>
            <a:ext cx="7908117" cy="4109544"/>
          </a:xfrm>
          <a:prstGeom prst="rect">
            <a:avLst/>
          </a:prstGeom>
        </p:spPr>
      </p:pic>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例题（无向图）</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687742" y="1759872"/>
                <a:ext cx="7920880" cy="830997"/>
              </a:xfrm>
              <a:prstGeom prst="rect">
                <a:avLst/>
              </a:prstGeom>
              <a:solidFill>
                <a:schemeClr val="accent5"/>
              </a:solidFill>
              <a:ln w="19050">
                <a:noFill/>
              </a:ln>
            </p:spPr>
            <p:txBody>
              <a:bodyPr wrap="square" rtlCol="0">
                <a:spAutoFit/>
              </a:bodyPr>
              <a:lstStyle/>
              <a:p>
                <a:r>
                  <a:rPr lang="en-US" altLang="zh-CN" sz="2400" dirty="0"/>
                  <a:t>   </a:t>
                </a:r>
                <a:r>
                  <a:rPr lang="zh-CN" altLang="zh-CN" sz="2400" dirty="0"/>
                  <a:t>【例题】</a:t>
                </a:r>
                <a:r>
                  <a:rPr lang="zh-CN" altLang="zh-CN" sz="2400" dirty="0">
                    <a:solidFill>
                      <a:schemeClr val="tx1"/>
                    </a:solidFill>
                  </a:rPr>
                  <a:t>在</a:t>
                </a:r>
                <a:r>
                  <a:rPr lang="zh-CN" altLang="en-US" sz="2400" dirty="0">
                    <a:solidFill>
                      <a:schemeClr val="tx1"/>
                    </a:solidFill>
                  </a:rPr>
                  <a:t>如下</a:t>
                </a:r>
                <a:r>
                  <a:rPr lang="zh-CN" altLang="zh-CN" sz="2400" dirty="0">
                    <a:solidFill>
                      <a:schemeClr val="tx1"/>
                    </a:solidFill>
                  </a:rPr>
                  <a:t>无向图</a:t>
                </a:r>
                <a14:m>
                  <m:oMath xmlns:m="http://schemas.openxmlformats.org/officeDocument/2006/math">
                    <m:r>
                      <a:rPr lang="en-US" altLang="zh-CN" sz="2400" i="1">
                        <a:solidFill>
                          <a:schemeClr val="tx1"/>
                        </a:solidFill>
                        <a:latin typeface="Cambria Math" panose="02040503050406030204" pitchFamily="18" charset="0"/>
                      </a:rPr>
                      <m:t>𝐺</m:t>
                    </m:r>
                  </m:oMath>
                </a14:m>
                <a:r>
                  <a:rPr lang="zh-CN" altLang="zh-CN" sz="2400" dirty="0">
                    <a:solidFill>
                      <a:schemeClr val="tx1"/>
                    </a:solidFill>
                  </a:rPr>
                  <a:t>中分别，找出一条简单路径、基本路径、简单回路以及基本回路。</a:t>
                </a:r>
                <a:endParaRPr lang="en-US" altLang="zh-CN" sz="2400" dirty="0">
                  <a:solidFill>
                    <a:srgbClr val="0000FF"/>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687742" y="1759872"/>
                <a:ext cx="7920880" cy="830997"/>
              </a:xfrm>
              <a:prstGeom prst="rect">
                <a:avLst/>
              </a:prstGeom>
              <a:blipFill>
                <a:blip r:embed="rId4"/>
                <a:stretch>
                  <a:fillRect l="-1232" t="-8088" r="-385" b="-13971"/>
                </a:stretch>
              </a:blipFill>
              <a:ln w="19050">
                <a:noFill/>
              </a:ln>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51CDB5A5-2437-46CA-A8A7-EA756A01501C}"/>
              </a:ext>
            </a:extLst>
          </p:cNvPr>
          <p:cNvPicPr>
            <a:picLocks noChangeAspect="1"/>
          </p:cNvPicPr>
          <p:nvPr/>
        </p:nvPicPr>
        <p:blipFill>
          <a:blip r:embed="rId5"/>
          <a:stretch>
            <a:fillRect/>
          </a:stretch>
        </p:blipFill>
        <p:spPr>
          <a:xfrm>
            <a:off x="684212" y="2708920"/>
            <a:ext cx="7927940" cy="3637878"/>
          </a:xfrm>
          <a:prstGeom prst="rect">
            <a:avLst/>
          </a:prstGeom>
        </p:spPr>
      </p:pic>
    </p:spTree>
    <p:extLst>
      <p:ext uri="{BB962C8B-B14F-4D97-AF65-F5344CB8AC3E}">
        <p14:creationId xmlns:p14="http://schemas.microsoft.com/office/powerpoint/2010/main" val="3984795158"/>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例题（有向图）</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730758" y="1844824"/>
                <a:ext cx="8017706" cy="830997"/>
              </a:xfrm>
              <a:prstGeom prst="rect">
                <a:avLst/>
              </a:prstGeom>
              <a:solidFill>
                <a:schemeClr val="accent5"/>
              </a:solidFill>
              <a:ln w="19050">
                <a:noFill/>
              </a:ln>
            </p:spPr>
            <p:txBody>
              <a:bodyPr wrap="square" rtlCol="0">
                <a:spAutoFit/>
              </a:bodyPr>
              <a:lstStyle/>
              <a:p>
                <a:r>
                  <a:rPr lang="en-US" altLang="zh-CN" sz="2400" dirty="0"/>
                  <a:t>  </a:t>
                </a:r>
                <a:r>
                  <a:rPr lang="zh-CN" altLang="zh-CN" sz="2400" dirty="0"/>
                  <a:t>【例题】</a:t>
                </a:r>
                <a:r>
                  <a:rPr lang="zh-CN" altLang="zh-CN" sz="2400" dirty="0">
                    <a:solidFill>
                      <a:schemeClr val="tx1"/>
                    </a:solidFill>
                  </a:rPr>
                  <a:t>在</a:t>
                </a:r>
                <a:r>
                  <a:rPr lang="zh-CN" altLang="en-US" sz="2400" dirty="0">
                    <a:solidFill>
                      <a:schemeClr val="tx1"/>
                    </a:solidFill>
                  </a:rPr>
                  <a:t>如下</a:t>
                </a:r>
                <a:r>
                  <a:rPr lang="zh-CN" altLang="zh-CN" sz="2400" dirty="0">
                    <a:solidFill>
                      <a:schemeClr val="tx1"/>
                    </a:solidFill>
                  </a:rPr>
                  <a:t>有向图</a:t>
                </a:r>
                <a14:m>
                  <m:oMath xmlns:m="http://schemas.openxmlformats.org/officeDocument/2006/math">
                    <m:r>
                      <a:rPr lang="zh-CN" altLang="zh-CN" sz="2400">
                        <a:solidFill>
                          <a:schemeClr val="tx1"/>
                        </a:solidFill>
                        <a:latin typeface="Cambria Math" panose="02040503050406030204" pitchFamily="18" charset="0"/>
                      </a:rPr>
                      <m:t> </m:t>
                    </m:r>
                    <m:r>
                      <a:rPr lang="en-US" altLang="zh-CN" sz="2400" i="1">
                        <a:solidFill>
                          <a:schemeClr val="tx1"/>
                        </a:solidFill>
                        <a:latin typeface="Cambria Math" panose="02040503050406030204" pitchFamily="18" charset="0"/>
                      </a:rPr>
                      <m:t>𝐺</m:t>
                    </m:r>
                    <m:r>
                      <a:rPr lang="en-US" altLang="zh-CN" sz="2400" i="1">
                        <a:solidFill>
                          <a:schemeClr val="tx1"/>
                        </a:solidFill>
                        <a:latin typeface="Cambria Math" panose="02040503050406030204" pitchFamily="18" charset="0"/>
                      </a:rPr>
                      <m:t> </m:t>
                    </m:r>
                  </m:oMath>
                </a14:m>
                <a:r>
                  <a:rPr lang="zh-CN" altLang="en-US" sz="2400" dirty="0">
                    <a:solidFill>
                      <a:schemeClr val="tx1"/>
                    </a:solidFill>
                  </a:rPr>
                  <a:t>中</a:t>
                </a:r>
                <a:r>
                  <a:rPr lang="zh-CN" altLang="zh-CN" sz="2400" dirty="0">
                    <a:solidFill>
                      <a:schemeClr val="tx1"/>
                    </a:solidFill>
                  </a:rPr>
                  <a:t>分别找出一条简单路径、基本路径、简单回路以及基本回路。</a:t>
                </a:r>
                <a:endParaRPr lang="en-US" altLang="zh-CN" sz="2400" dirty="0">
                  <a:solidFill>
                    <a:schemeClr val="tx1"/>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730758" y="1844824"/>
                <a:ext cx="8017706" cy="830997"/>
              </a:xfrm>
              <a:prstGeom prst="rect">
                <a:avLst/>
              </a:prstGeom>
              <a:blipFill>
                <a:blip r:embed="rId4"/>
                <a:stretch>
                  <a:fillRect l="-1217" t="-8088" b="-13971"/>
                </a:stretch>
              </a:blipFill>
              <a:ln w="19050">
                <a:noFill/>
              </a:ln>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5A0D5BF8-2751-47C4-991E-44E59DC17505}"/>
              </a:ext>
            </a:extLst>
          </p:cNvPr>
          <p:cNvPicPr>
            <a:picLocks noChangeAspect="1"/>
          </p:cNvPicPr>
          <p:nvPr/>
        </p:nvPicPr>
        <p:blipFill>
          <a:blip r:embed="rId5"/>
          <a:stretch>
            <a:fillRect/>
          </a:stretch>
        </p:blipFill>
        <p:spPr>
          <a:xfrm>
            <a:off x="827584" y="2730414"/>
            <a:ext cx="7927742" cy="3403238"/>
          </a:xfrm>
          <a:prstGeom prst="rect">
            <a:avLst/>
          </a:prstGeom>
        </p:spPr>
      </p:pic>
    </p:spTree>
    <p:extLst>
      <p:ext uri="{BB962C8B-B14F-4D97-AF65-F5344CB8AC3E}">
        <p14:creationId xmlns:p14="http://schemas.microsoft.com/office/powerpoint/2010/main" val="2161225887"/>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0067" name="Rectangle 3"/>
          <p:cNvSpPr>
            <a:spLocks noGrp="1" noChangeArrowheads="1"/>
          </p:cNvSpPr>
          <p:nvPr>
            <p:ph idx="4294967295"/>
          </p:nvPr>
        </p:nvSpPr>
        <p:spPr>
          <a:xfrm>
            <a:off x="1043608" y="3501008"/>
            <a:ext cx="7920880" cy="1872208"/>
          </a:xfrm>
          <a:solidFill>
            <a:schemeClr val="accent5"/>
          </a:solidFill>
        </p:spPr>
        <p:txBody>
          <a:bodyPr/>
          <a:lstStyle/>
          <a:p>
            <a:pPr marL="0" indent="0" eaLnBrk="1" hangingPunct="1">
              <a:lnSpc>
                <a:spcPct val="155000"/>
              </a:lnSpc>
              <a:spcBef>
                <a:spcPct val="45000"/>
              </a:spcBef>
              <a:spcAft>
                <a:spcPct val="35000"/>
              </a:spcAft>
              <a:buFontTx/>
              <a:buNone/>
              <a:defRPr/>
            </a:pPr>
            <a:r>
              <a:rPr lang="zh-CN" altLang="en-US" b="1" dirty="0">
                <a:effectLst/>
                <a:cs typeface="楷体_GB2312" pitchFamily="49" charset="-122"/>
              </a:rPr>
              <a:t>          </a:t>
            </a:r>
            <a:r>
              <a:rPr lang="zh-CN" altLang="en-US" sz="3200" b="1" dirty="0">
                <a:effectLst/>
                <a:cs typeface="楷体_GB2312" pitchFamily="49" charset="-122"/>
              </a:rPr>
              <a:t>计算从图中某个节点出发到达另外某个节点，具有</a:t>
            </a:r>
            <a:r>
              <a:rPr lang="zh-CN" altLang="en-US" sz="3200" b="1" dirty="0">
                <a:solidFill>
                  <a:schemeClr val="accent2"/>
                </a:solidFill>
                <a:effectLst/>
                <a:cs typeface="楷体_GB2312" pitchFamily="49" charset="-122"/>
              </a:rPr>
              <a:t>多少条长度为</a:t>
            </a:r>
            <a:r>
              <a:rPr lang="en-US" altLang="zh-CN" sz="3200" b="1" dirty="0">
                <a:solidFill>
                  <a:schemeClr val="accent2"/>
                </a:solidFill>
                <a:effectLst/>
                <a:cs typeface="楷体_GB2312" pitchFamily="49" charset="-122"/>
              </a:rPr>
              <a:t>m</a:t>
            </a:r>
            <a:r>
              <a:rPr lang="zh-CN" altLang="en-US" sz="3200" b="1" dirty="0">
                <a:solidFill>
                  <a:schemeClr val="accent2"/>
                </a:solidFill>
                <a:effectLst/>
                <a:cs typeface="楷体_GB2312" pitchFamily="49" charset="-122"/>
              </a:rPr>
              <a:t>的通路</a:t>
            </a:r>
            <a:r>
              <a:rPr lang="zh-CN" altLang="en-US" sz="3200" b="1" dirty="0">
                <a:effectLst/>
                <a:cs typeface="楷体_GB2312" pitchFamily="49" charset="-122"/>
              </a:rPr>
              <a:t>？</a:t>
            </a:r>
          </a:p>
        </p:txBody>
      </p:sp>
      <p:sp>
        <p:nvSpPr>
          <p:cNvPr id="131075"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DD2CBEBE-7BF8-420C-9B87-322A864CBDAE}"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31076" name="Text Box 2"/>
          <p:cNvSpPr txBox="1">
            <a:spLocks noChangeArrowheads="1"/>
          </p:cNvSpPr>
          <p:nvPr/>
        </p:nvSpPr>
        <p:spPr bwMode="auto">
          <a:xfrm>
            <a:off x="1331640" y="705259"/>
            <a:ext cx="6577013"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通路的计数问题</a:t>
            </a:r>
          </a:p>
        </p:txBody>
      </p:sp>
      <p:pic>
        <p:nvPicPr>
          <p:cNvPr id="13107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8" name="Text Box 6"/>
          <p:cNvSpPr txBox="1">
            <a:spLocks noChangeArrowheads="1"/>
          </p:cNvSpPr>
          <p:nvPr/>
        </p:nvSpPr>
        <p:spPr bwMode="auto">
          <a:xfrm>
            <a:off x="683568" y="2132856"/>
            <a:ext cx="3456384" cy="646331"/>
          </a:xfrm>
          <a:prstGeom prst="rect">
            <a:avLst/>
          </a:prstGeom>
          <a:solidFill>
            <a:schemeClr val="bg1">
              <a:alpha val="89803"/>
            </a:schemeClr>
          </a:solidFill>
          <a:ln w="12700" algn="ctr">
            <a:solidFill>
              <a:schemeClr val="tx1"/>
            </a:solidFill>
            <a:miter lim="800000"/>
            <a:headEnd/>
            <a:tailEnd/>
          </a:ln>
          <a:effectLst>
            <a:prstShdw prst="shdw12">
              <a:schemeClr val="bg2">
                <a:alpha val="50000"/>
              </a:schemeClr>
            </a:prstShdw>
          </a:effectLst>
        </p:spPr>
        <p:txBody>
          <a:bodyPr wrap="square">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FontTx/>
              <a:buNone/>
            </a:pPr>
            <a:r>
              <a:rPr kumimoji="0" lang="zh-CN" altLang="en-US" sz="3600" dirty="0">
                <a:solidFill>
                  <a:srgbClr val="FF0000"/>
                </a:solidFill>
                <a:latin typeface="黑体" panose="02010609060101010101" pitchFamily="49" charset="-122"/>
                <a:ea typeface="黑体" panose="02010609060101010101" pitchFamily="49" charset="-122"/>
              </a:rPr>
              <a:t>要解决的问题：</a:t>
            </a:r>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3"/>
          <p:cNvSpPr>
            <a:spLocks noGrp="1" noChangeArrowheads="1"/>
          </p:cNvSpPr>
          <p:nvPr>
            <p:ph type="body" idx="4294967295"/>
          </p:nvPr>
        </p:nvSpPr>
        <p:spPr>
          <a:xfrm>
            <a:off x="179512" y="4515013"/>
            <a:ext cx="8856984" cy="1731322"/>
          </a:xfrm>
          <a:solidFill>
            <a:schemeClr val="accent6">
              <a:lumMod val="75000"/>
            </a:schemeClr>
          </a:solidFill>
        </p:spPr>
        <p:txBody>
          <a:bodyPr/>
          <a:lstStyle/>
          <a:p>
            <a:pPr>
              <a:lnSpc>
                <a:spcPct val="135000"/>
              </a:lnSpc>
              <a:buFontTx/>
              <a:buNone/>
            </a:pPr>
            <a:r>
              <a:rPr lang="zh-CN" altLang="en-US" sz="3200" b="1" dirty="0">
                <a:solidFill>
                  <a:schemeClr val="bg1"/>
                </a:solidFill>
                <a:effectLst/>
                <a:latin typeface="Times New Roman" panose="02020603050405020304" pitchFamily="18" charset="0"/>
                <a:ea typeface="宋体" panose="02010600030101010101" pitchFamily="2" charset="-122"/>
                <a:cs typeface="楷体_GB2312" pitchFamily="49" charset="-122"/>
              </a:rPr>
              <a:t>         </a:t>
            </a:r>
            <a:r>
              <a:rPr lang="zh-CN" altLang="en-US" b="1" dirty="0">
                <a:solidFill>
                  <a:schemeClr val="bg1"/>
                </a:solidFill>
                <a:effectLst/>
                <a:latin typeface="+mj-lt"/>
                <a:ea typeface="宋体" panose="02010600030101010101" pitchFamily="2" charset="-122"/>
                <a:cs typeface="楷体_GB2312" pitchFamily="49" charset="-122"/>
              </a:rPr>
              <a:t>如上图所示，结点</a:t>
            </a:r>
            <a:r>
              <a:rPr lang="en-US" altLang="zh-CN" b="1" i="1" dirty="0">
                <a:solidFill>
                  <a:schemeClr val="bg1"/>
                </a:solidFill>
                <a:effectLst/>
                <a:latin typeface="+mj-lt"/>
                <a:ea typeface="宋体" panose="02010600030101010101" pitchFamily="2" charset="-122"/>
                <a:cs typeface="楷体_GB2312" pitchFamily="49" charset="-122"/>
              </a:rPr>
              <a:t>v</a:t>
            </a:r>
            <a:r>
              <a:rPr lang="en-US" altLang="zh-CN" b="1" baseline="-25000" dirty="0">
                <a:solidFill>
                  <a:schemeClr val="bg1"/>
                </a:solidFill>
                <a:effectLst/>
                <a:latin typeface="+mj-lt"/>
                <a:ea typeface="宋体" panose="02010600030101010101" pitchFamily="2" charset="-122"/>
                <a:cs typeface="楷体_GB2312" pitchFamily="49" charset="-122"/>
              </a:rPr>
              <a:t>1</a:t>
            </a:r>
            <a:r>
              <a:rPr lang="zh-CN" altLang="en-US" b="1" dirty="0">
                <a:solidFill>
                  <a:schemeClr val="bg1"/>
                </a:solidFill>
                <a:effectLst/>
                <a:latin typeface="+mj-lt"/>
                <a:ea typeface="宋体" panose="02010600030101010101" pitchFamily="2" charset="-122"/>
                <a:cs typeface="楷体_GB2312" pitchFamily="49" charset="-122"/>
              </a:rPr>
              <a:t>～</a:t>
            </a:r>
            <a:r>
              <a:rPr lang="en-US" altLang="zh-CN" b="1" i="1" dirty="0">
                <a:solidFill>
                  <a:schemeClr val="bg1"/>
                </a:solidFill>
                <a:effectLst/>
                <a:latin typeface="+mj-lt"/>
                <a:ea typeface="宋体" panose="02010600030101010101" pitchFamily="2" charset="-122"/>
                <a:cs typeface="楷体_GB2312" pitchFamily="49" charset="-122"/>
              </a:rPr>
              <a:t>v</a:t>
            </a:r>
            <a:r>
              <a:rPr lang="en-US" altLang="zh-CN" b="1" baseline="-25000" dirty="0">
                <a:solidFill>
                  <a:schemeClr val="bg1"/>
                </a:solidFill>
                <a:effectLst/>
                <a:latin typeface="+mj-lt"/>
                <a:ea typeface="宋体" panose="02010600030101010101" pitchFamily="2" charset="-122"/>
                <a:cs typeface="楷体_GB2312" pitchFamily="49" charset="-122"/>
              </a:rPr>
              <a:t>7</a:t>
            </a:r>
            <a:r>
              <a:rPr lang="zh-CN" altLang="en-US" b="1" dirty="0">
                <a:solidFill>
                  <a:schemeClr val="bg1"/>
                </a:solidFill>
                <a:effectLst/>
                <a:latin typeface="+mj-lt"/>
                <a:ea typeface="宋体" panose="02010600030101010101" pitchFamily="2" charset="-122"/>
                <a:cs typeface="楷体_GB2312" pitchFamily="49" charset="-122"/>
              </a:rPr>
              <a:t>表示七座城市，有向边</a:t>
            </a:r>
            <a:r>
              <a:rPr lang="en-US" altLang="zh-CN" b="1" i="1" dirty="0" err="1">
                <a:solidFill>
                  <a:schemeClr val="bg1"/>
                </a:solidFill>
                <a:effectLst/>
                <a:latin typeface="+mj-lt"/>
                <a:ea typeface="宋体" panose="02010600030101010101" pitchFamily="2" charset="-122"/>
                <a:cs typeface="楷体_GB2312" pitchFamily="49" charset="-122"/>
              </a:rPr>
              <a:t>v</a:t>
            </a:r>
            <a:r>
              <a:rPr lang="en-US" altLang="zh-CN" b="1" i="1" baseline="-25000" dirty="0" err="1">
                <a:solidFill>
                  <a:schemeClr val="bg1"/>
                </a:solidFill>
                <a:effectLst/>
                <a:latin typeface="+mj-lt"/>
                <a:ea typeface="宋体" panose="02010600030101010101" pitchFamily="2" charset="-122"/>
                <a:cs typeface="楷体_GB2312" pitchFamily="49" charset="-122"/>
              </a:rPr>
              <a:t>i</a:t>
            </a:r>
            <a:r>
              <a:rPr lang="en-US" altLang="zh-CN" b="1" i="1" dirty="0" err="1">
                <a:solidFill>
                  <a:schemeClr val="bg1"/>
                </a:solidFill>
                <a:effectLst/>
                <a:latin typeface="+mj-lt"/>
                <a:ea typeface="宋体" panose="02010600030101010101" pitchFamily="2" charset="-122"/>
                <a:cs typeface="楷体_GB2312" pitchFamily="49" charset="-122"/>
              </a:rPr>
              <a:t>v</a:t>
            </a:r>
            <a:r>
              <a:rPr lang="en-US" altLang="zh-CN" b="1" i="1" baseline="-25000" dirty="0" err="1">
                <a:solidFill>
                  <a:schemeClr val="bg1"/>
                </a:solidFill>
                <a:effectLst/>
                <a:latin typeface="+mj-lt"/>
                <a:ea typeface="宋体" panose="02010600030101010101" pitchFamily="2" charset="-122"/>
                <a:cs typeface="楷体_GB2312" pitchFamily="49" charset="-122"/>
              </a:rPr>
              <a:t>j</a:t>
            </a:r>
            <a:r>
              <a:rPr lang="zh-CN" altLang="en-US" b="1" dirty="0">
                <a:solidFill>
                  <a:schemeClr val="bg1"/>
                </a:solidFill>
                <a:effectLst/>
                <a:latin typeface="+mj-lt"/>
                <a:ea typeface="宋体" panose="02010600030101010101" pitchFamily="2" charset="-122"/>
                <a:cs typeface="楷体_GB2312" pitchFamily="49" charset="-122"/>
              </a:rPr>
              <a:t>表示</a:t>
            </a:r>
            <a:r>
              <a:rPr lang="zh-CN" altLang="en-US" b="1" dirty="0">
                <a:solidFill>
                  <a:srgbClr val="FFFF66"/>
                </a:solidFill>
                <a:effectLst/>
                <a:latin typeface="+mj-lt"/>
                <a:ea typeface="宋体" panose="02010600030101010101" pitchFamily="2" charset="-122"/>
                <a:cs typeface="楷体_GB2312" pitchFamily="49" charset="-122"/>
              </a:rPr>
              <a:t>从</a:t>
            </a:r>
            <a:r>
              <a:rPr lang="en-US" altLang="zh-CN" b="1" i="1" dirty="0">
                <a:solidFill>
                  <a:srgbClr val="FFFF66"/>
                </a:solidFill>
                <a:effectLst/>
                <a:latin typeface="+mj-lt"/>
                <a:ea typeface="宋体" panose="02010600030101010101" pitchFamily="2" charset="-122"/>
                <a:cs typeface="楷体_GB2312" pitchFamily="49" charset="-122"/>
              </a:rPr>
              <a:t>v</a:t>
            </a:r>
            <a:r>
              <a:rPr lang="en-US" altLang="zh-CN" b="1" i="1" baseline="-25000" dirty="0">
                <a:solidFill>
                  <a:srgbClr val="FFFF66"/>
                </a:solidFill>
                <a:effectLst/>
                <a:latin typeface="+mj-lt"/>
                <a:ea typeface="宋体" panose="02010600030101010101" pitchFamily="2" charset="-122"/>
                <a:cs typeface="楷体_GB2312" pitchFamily="49" charset="-122"/>
              </a:rPr>
              <a:t>i</a:t>
            </a:r>
            <a:r>
              <a:rPr lang="zh-CN" altLang="en-US" b="1" dirty="0">
                <a:solidFill>
                  <a:srgbClr val="FFFF66"/>
                </a:solidFill>
                <a:effectLst/>
                <a:latin typeface="+mj-lt"/>
                <a:ea typeface="宋体" panose="02010600030101010101" pitchFamily="2" charset="-122"/>
                <a:cs typeface="楷体_GB2312" pitchFamily="49" charset="-122"/>
              </a:rPr>
              <a:t>城到</a:t>
            </a:r>
            <a:r>
              <a:rPr lang="en-US" altLang="zh-CN" b="1" i="1" dirty="0" err="1">
                <a:solidFill>
                  <a:srgbClr val="FFFF66"/>
                </a:solidFill>
                <a:effectLst/>
                <a:latin typeface="+mj-lt"/>
                <a:ea typeface="宋体" panose="02010600030101010101" pitchFamily="2" charset="-122"/>
                <a:cs typeface="楷体_GB2312" pitchFamily="49" charset="-122"/>
              </a:rPr>
              <a:t>v</a:t>
            </a:r>
            <a:r>
              <a:rPr lang="en-US" altLang="zh-CN" b="1" i="1" baseline="-25000" dirty="0" err="1">
                <a:solidFill>
                  <a:srgbClr val="FFFF66"/>
                </a:solidFill>
                <a:effectLst/>
                <a:latin typeface="+mj-lt"/>
                <a:ea typeface="宋体" panose="02010600030101010101" pitchFamily="2" charset="-122"/>
                <a:cs typeface="楷体_GB2312" pitchFamily="49" charset="-122"/>
              </a:rPr>
              <a:t>j</a:t>
            </a:r>
            <a:r>
              <a:rPr lang="zh-CN" altLang="en-US" b="1" dirty="0">
                <a:solidFill>
                  <a:srgbClr val="FFFF66"/>
                </a:solidFill>
                <a:effectLst/>
                <a:latin typeface="+mj-lt"/>
                <a:ea typeface="宋体" panose="02010600030101010101" pitchFamily="2" charset="-122"/>
                <a:cs typeface="楷体_GB2312" pitchFamily="49" charset="-122"/>
              </a:rPr>
              <a:t>城的单行车道</a:t>
            </a:r>
            <a:r>
              <a:rPr lang="zh-CN" altLang="en-US" b="1" dirty="0">
                <a:solidFill>
                  <a:schemeClr val="bg1"/>
                </a:solidFill>
                <a:effectLst/>
                <a:latin typeface="+mj-lt"/>
                <a:ea typeface="宋体" panose="02010600030101010101" pitchFamily="2" charset="-122"/>
                <a:cs typeface="楷体_GB2312" pitchFamily="49" charset="-122"/>
              </a:rPr>
              <a:t>，问：从</a:t>
            </a:r>
            <a:r>
              <a:rPr lang="en-US" altLang="zh-CN" b="1" i="1" dirty="0">
                <a:solidFill>
                  <a:schemeClr val="bg1"/>
                </a:solidFill>
                <a:effectLst/>
                <a:latin typeface="+mj-lt"/>
                <a:ea typeface="宋体" panose="02010600030101010101" pitchFamily="2" charset="-122"/>
                <a:cs typeface="楷体_GB2312" pitchFamily="49" charset="-122"/>
              </a:rPr>
              <a:t>v</a:t>
            </a:r>
            <a:r>
              <a:rPr lang="en-US" altLang="zh-CN" b="1" i="1" baseline="-25000" dirty="0">
                <a:solidFill>
                  <a:schemeClr val="bg1"/>
                </a:solidFill>
                <a:effectLst/>
                <a:latin typeface="+mj-lt"/>
                <a:ea typeface="宋体" panose="02010600030101010101" pitchFamily="2" charset="-122"/>
                <a:cs typeface="楷体_GB2312" pitchFamily="49" charset="-122"/>
              </a:rPr>
              <a:t>1</a:t>
            </a:r>
            <a:r>
              <a:rPr lang="zh-CN" altLang="en-US" b="1" dirty="0">
                <a:solidFill>
                  <a:schemeClr val="bg1"/>
                </a:solidFill>
                <a:effectLst/>
                <a:latin typeface="+mj-lt"/>
                <a:ea typeface="宋体" panose="02010600030101010101" pitchFamily="2" charset="-122"/>
                <a:cs typeface="楷体_GB2312" pitchFamily="49" charset="-122"/>
              </a:rPr>
              <a:t>城到</a:t>
            </a:r>
            <a:r>
              <a:rPr lang="en-US" altLang="zh-CN" b="1" i="1" dirty="0">
                <a:solidFill>
                  <a:schemeClr val="bg1"/>
                </a:solidFill>
                <a:effectLst/>
                <a:latin typeface="+mj-lt"/>
                <a:ea typeface="宋体" panose="02010600030101010101" pitchFamily="2" charset="-122"/>
                <a:cs typeface="楷体_GB2312" pitchFamily="49" charset="-122"/>
              </a:rPr>
              <a:t>v</a:t>
            </a:r>
            <a:r>
              <a:rPr lang="en-US" altLang="zh-CN" b="1" i="1" baseline="-25000" dirty="0">
                <a:solidFill>
                  <a:schemeClr val="bg1"/>
                </a:solidFill>
                <a:effectLst/>
                <a:latin typeface="+mj-lt"/>
                <a:ea typeface="宋体" panose="02010600030101010101" pitchFamily="2" charset="-122"/>
                <a:cs typeface="楷体_GB2312" pitchFamily="49" charset="-122"/>
              </a:rPr>
              <a:t>7</a:t>
            </a:r>
            <a:r>
              <a:rPr lang="zh-CN" altLang="en-US" b="1" dirty="0">
                <a:solidFill>
                  <a:schemeClr val="bg1"/>
                </a:solidFill>
                <a:effectLst/>
                <a:latin typeface="+mj-lt"/>
                <a:ea typeface="宋体" panose="02010600030101010101" pitchFamily="2" charset="-122"/>
                <a:cs typeface="楷体_GB2312" pitchFamily="49" charset="-122"/>
              </a:rPr>
              <a:t>城</a:t>
            </a:r>
            <a:r>
              <a:rPr lang="zh-CN" altLang="en-US" b="1" dirty="0">
                <a:solidFill>
                  <a:srgbClr val="FFFF66"/>
                </a:solidFill>
                <a:effectLst/>
                <a:latin typeface="+mj-lt"/>
                <a:ea typeface="宋体" panose="02010600030101010101" pitchFamily="2" charset="-122"/>
                <a:cs typeface="楷体_GB2312" pitchFamily="49" charset="-122"/>
              </a:rPr>
              <a:t>有无</a:t>
            </a:r>
            <a:r>
              <a:rPr lang="zh-CN" altLang="en-US" b="1" dirty="0">
                <a:solidFill>
                  <a:schemeClr val="bg1"/>
                </a:solidFill>
                <a:effectLst/>
                <a:latin typeface="+mj-lt"/>
                <a:ea typeface="宋体" panose="02010600030101010101" pitchFamily="2" charset="-122"/>
                <a:cs typeface="楷体_GB2312" pitchFamily="49" charset="-122"/>
              </a:rPr>
              <a:t>道路连通？有</a:t>
            </a:r>
            <a:r>
              <a:rPr lang="zh-CN" altLang="en-US" b="1" dirty="0">
                <a:solidFill>
                  <a:srgbClr val="FFFF00"/>
                </a:solidFill>
                <a:effectLst/>
                <a:latin typeface="+mj-lt"/>
                <a:ea typeface="宋体" panose="02010600030101010101" pitchFamily="2" charset="-122"/>
                <a:cs typeface="楷体_GB2312" pitchFamily="49" charset="-122"/>
              </a:rPr>
              <a:t>多少条</a:t>
            </a:r>
            <a:r>
              <a:rPr lang="zh-CN" altLang="en-US" b="1" dirty="0">
                <a:solidFill>
                  <a:schemeClr val="bg1"/>
                </a:solidFill>
                <a:effectLst/>
                <a:latin typeface="+mj-lt"/>
                <a:ea typeface="宋体" panose="02010600030101010101" pitchFamily="2" charset="-122"/>
                <a:cs typeface="楷体_GB2312" pitchFamily="49" charset="-122"/>
              </a:rPr>
              <a:t>不同的道路连通？</a:t>
            </a:r>
          </a:p>
        </p:txBody>
      </p:sp>
      <p:pic>
        <p:nvPicPr>
          <p:cNvPr id="13210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EE0FE55C-7DE9-4ABA-8758-D8BAA01D665C}"/>
              </a:ext>
            </a:extLst>
          </p:cNvPr>
          <p:cNvPicPr>
            <a:picLocks noChangeAspect="1"/>
          </p:cNvPicPr>
          <p:nvPr/>
        </p:nvPicPr>
        <p:blipFill>
          <a:blip r:embed="rId3"/>
          <a:stretch>
            <a:fillRect/>
          </a:stretch>
        </p:blipFill>
        <p:spPr>
          <a:xfrm>
            <a:off x="2844157" y="1700213"/>
            <a:ext cx="3527694" cy="2663916"/>
          </a:xfrm>
          <a:prstGeom prst="rect">
            <a:avLst/>
          </a:prstGeom>
        </p:spPr>
      </p:pic>
      <p:sp>
        <p:nvSpPr>
          <p:cNvPr id="6" name="Text Box 2">
            <a:extLst>
              <a:ext uri="{FF2B5EF4-FFF2-40B4-BE49-F238E27FC236}">
                <a16:creationId xmlns:a16="http://schemas.microsoft.com/office/drawing/2014/main" id="{DECA5063-E6F8-433E-AE49-C8D06B294EA4}"/>
              </a:ext>
            </a:extLst>
          </p:cNvPr>
          <p:cNvSpPr txBox="1">
            <a:spLocks noChangeArrowheads="1"/>
          </p:cNvSpPr>
          <p:nvPr/>
        </p:nvSpPr>
        <p:spPr bwMode="auto">
          <a:xfrm>
            <a:off x="1511300" y="572636"/>
            <a:ext cx="61214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4"/>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4"/>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计数问题实例</a:t>
            </a:r>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Rectangle 39"/>
          <p:cNvSpPr>
            <a:spLocks noGrp="1" noChangeArrowheads="1"/>
          </p:cNvSpPr>
          <p:nvPr>
            <p:ph type="body" idx="4294967295"/>
          </p:nvPr>
        </p:nvSpPr>
        <p:spPr>
          <a:xfrm>
            <a:off x="431569" y="1762150"/>
            <a:ext cx="3420351" cy="647700"/>
          </a:xfrm>
          <a:solidFill>
            <a:schemeClr val="accent5"/>
          </a:solidFill>
        </p:spPr>
        <p:txBody>
          <a:bodyPr/>
          <a:lstStyle/>
          <a:p>
            <a:pPr>
              <a:buFontTx/>
              <a:buNone/>
            </a:pPr>
            <a:r>
              <a:rPr lang="zh-CN" altLang="en-US" sz="3600" b="1" dirty="0">
                <a:effectLst/>
                <a:ea typeface="宋体" panose="02010600030101010101" pitchFamily="2" charset="-122"/>
                <a:cs typeface="楷体_GB2312" pitchFamily="49" charset="-122"/>
              </a:rPr>
              <a:t>考察邻接矩阵：</a:t>
            </a:r>
          </a:p>
        </p:txBody>
      </p:sp>
      <p:pic>
        <p:nvPicPr>
          <p:cNvPr id="13415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151EDA5C-5BCF-4073-B415-A800FD02AF3F}"/>
              </a:ext>
            </a:extLst>
          </p:cNvPr>
          <p:cNvPicPr>
            <a:picLocks noChangeAspect="1"/>
          </p:cNvPicPr>
          <p:nvPr/>
        </p:nvPicPr>
        <p:blipFill>
          <a:blip r:embed="rId3"/>
          <a:stretch>
            <a:fillRect/>
          </a:stretch>
        </p:blipFill>
        <p:spPr>
          <a:xfrm>
            <a:off x="1187624" y="2564904"/>
            <a:ext cx="7128792" cy="3638813"/>
          </a:xfrm>
          <a:prstGeom prst="rect">
            <a:avLst/>
          </a:prstGeom>
        </p:spPr>
      </p:pic>
      <p:sp>
        <p:nvSpPr>
          <p:cNvPr id="6" name="Text Box 2">
            <a:extLst>
              <a:ext uri="{FF2B5EF4-FFF2-40B4-BE49-F238E27FC236}">
                <a16:creationId xmlns:a16="http://schemas.microsoft.com/office/drawing/2014/main" id="{5F76A0CD-21E5-4E1C-A294-7735C1F914E2}"/>
              </a:ext>
            </a:extLst>
          </p:cNvPr>
          <p:cNvSpPr txBox="1">
            <a:spLocks noChangeArrowheads="1"/>
          </p:cNvSpPr>
          <p:nvPr/>
        </p:nvSpPr>
        <p:spPr bwMode="auto">
          <a:xfrm>
            <a:off x="1511300" y="572636"/>
            <a:ext cx="61214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4"/>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4"/>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计数问题实例</a:t>
            </a:r>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6" descr="C:\Program Files\Microsoft Office\MEDIA\CAGCAT10\j0293844.wmf">
            <a:extLst>
              <a:ext uri="{FF2B5EF4-FFF2-40B4-BE49-F238E27FC236}">
                <a16:creationId xmlns:a16="http://schemas.microsoft.com/office/drawing/2014/main" id="{68373454-ED85-4F4E-8B6E-AAF0328FE3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92006" y="476251"/>
            <a:ext cx="1051994" cy="110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4431A65B-2378-4076-B270-9F254078BE75}"/>
              </a:ext>
            </a:extLst>
          </p:cNvPr>
          <p:cNvPicPr>
            <a:picLocks noChangeAspect="1"/>
          </p:cNvPicPr>
          <p:nvPr/>
        </p:nvPicPr>
        <p:blipFill>
          <a:blip r:embed="rId3"/>
          <a:stretch>
            <a:fillRect/>
          </a:stretch>
        </p:blipFill>
        <p:spPr>
          <a:xfrm>
            <a:off x="1079612" y="1603408"/>
            <a:ext cx="6984776" cy="4778876"/>
          </a:xfrm>
          <a:prstGeom prst="rect">
            <a:avLst/>
          </a:prstGeom>
        </p:spPr>
      </p:pic>
      <p:sp>
        <p:nvSpPr>
          <p:cNvPr id="5" name="Text Box 2">
            <a:extLst>
              <a:ext uri="{FF2B5EF4-FFF2-40B4-BE49-F238E27FC236}">
                <a16:creationId xmlns:a16="http://schemas.microsoft.com/office/drawing/2014/main" id="{CFB5A070-D7E9-481A-A0A1-6F3002C694F8}"/>
              </a:ext>
            </a:extLst>
          </p:cNvPr>
          <p:cNvSpPr txBox="1">
            <a:spLocks noChangeArrowheads="1"/>
          </p:cNvSpPr>
          <p:nvPr/>
        </p:nvSpPr>
        <p:spPr bwMode="auto">
          <a:xfrm>
            <a:off x="1511300" y="572636"/>
            <a:ext cx="61214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4"/>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4"/>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计数问题实例</a:t>
            </a:r>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3"/>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spcAft>
                <a:spcPct val="20000"/>
              </a:spcAft>
              <a:buClr>
                <a:schemeClr val="hlink"/>
              </a:buClr>
              <a:buFont typeface="Wingdings 2" panose="05020102010507070707" pitchFamily="18" charset="2"/>
              <a:buNone/>
            </a:pPr>
            <a:endParaRPr kumimoji="0" lang="zh-CN" altLang="en-US" sz="2000">
              <a:latin typeface="Arial" panose="020B0604020202020204" pitchFamily="34" charset="0"/>
              <a:ea typeface="宋体" panose="02010600030101010101" pitchFamily="2" charset="-122"/>
            </a:endParaRPr>
          </a:p>
        </p:txBody>
      </p:sp>
      <p:sp>
        <p:nvSpPr>
          <p:cNvPr id="136195" name="Rectangle 4"/>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spcAft>
                <a:spcPct val="20000"/>
              </a:spcAft>
              <a:buClr>
                <a:schemeClr val="hlink"/>
              </a:buClr>
              <a:buFont typeface="Wingdings 2" panose="05020102010507070707" pitchFamily="18" charset="2"/>
              <a:buNone/>
            </a:pPr>
            <a:endParaRPr kumimoji="0" lang="zh-CN" altLang="en-US" sz="2000">
              <a:latin typeface="Arial" panose="020B0604020202020204" pitchFamily="34" charset="0"/>
              <a:ea typeface="宋体" panose="02010600030101010101" pitchFamily="2" charset="-122"/>
            </a:endParaRPr>
          </a:p>
        </p:txBody>
      </p:sp>
      <p:sp>
        <p:nvSpPr>
          <p:cNvPr id="136196" name="Rectangle 5"/>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spcAft>
                <a:spcPct val="20000"/>
              </a:spcAft>
              <a:buClr>
                <a:schemeClr val="hlink"/>
              </a:buClr>
              <a:buFont typeface="Wingdings 2" panose="05020102010507070707" pitchFamily="18" charset="2"/>
              <a:buNone/>
            </a:pPr>
            <a:endParaRPr kumimoji="0" lang="zh-CN" altLang="en-US" sz="2000">
              <a:latin typeface="Arial" panose="020B0604020202020204" pitchFamily="34" charset="0"/>
              <a:ea typeface="宋体" panose="02010600030101010101" pitchFamily="2" charset="-122"/>
            </a:endParaRPr>
          </a:p>
        </p:txBody>
      </p:sp>
      <p:sp>
        <p:nvSpPr>
          <p:cNvPr id="136197" name="Rectangle 6"/>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spcAft>
                <a:spcPct val="20000"/>
              </a:spcAft>
              <a:buClr>
                <a:schemeClr val="hlink"/>
              </a:buClr>
              <a:buFont typeface="Wingdings 2" panose="05020102010507070707" pitchFamily="18" charset="2"/>
              <a:buNone/>
            </a:pPr>
            <a:endParaRPr kumimoji="0" lang="zh-CN" altLang="en-US" sz="2000">
              <a:latin typeface="Arial" panose="020B0604020202020204" pitchFamily="34" charset="0"/>
              <a:ea typeface="宋体" panose="02010600030101010101" pitchFamily="2" charset="-122"/>
            </a:endParaRPr>
          </a:p>
        </p:txBody>
      </p:sp>
      <p:pic>
        <p:nvPicPr>
          <p:cNvPr id="44" name="Picture 6" descr="C:\Program Files\Microsoft Office\MEDIA\CAGCAT10\j0293844.wmf">
            <a:extLst>
              <a:ext uri="{FF2B5EF4-FFF2-40B4-BE49-F238E27FC236}">
                <a16:creationId xmlns:a16="http://schemas.microsoft.com/office/drawing/2014/main" id="{BE526082-E093-4C70-8FDA-1207DFA414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92006" y="476251"/>
            <a:ext cx="1051994" cy="110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4CE6CFAA-EEB5-451E-9F33-3F786CA6A5DB}"/>
              </a:ext>
            </a:extLst>
          </p:cNvPr>
          <p:cNvPicPr>
            <a:picLocks noChangeAspect="1"/>
          </p:cNvPicPr>
          <p:nvPr/>
        </p:nvPicPr>
        <p:blipFill>
          <a:blip r:embed="rId4"/>
          <a:stretch>
            <a:fillRect/>
          </a:stretch>
        </p:blipFill>
        <p:spPr>
          <a:xfrm>
            <a:off x="644720" y="1628800"/>
            <a:ext cx="7992888" cy="4676450"/>
          </a:xfrm>
          <a:prstGeom prst="rect">
            <a:avLst/>
          </a:prstGeom>
        </p:spPr>
      </p:pic>
      <p:sp>
        <p:nvSpPr>
          <p:cNvPr id="9" name="Text Box 2">
            <a:extLst>
              <a:ext uri="{FF2B5EF4-FFF2-40B4-BE49-F238E27FC236}">
                <a16:creationId xmlns:a16="http://schemas.microsoft.com/office/drawing/2014/main" id="{181A87C0-9FD4-48FA-B274-F86821802D4A}"/>
              </a:ext>
            </a:extLst>
          </p:cNvPr>
          <p:cNvSpPr txBox="1">
            <a:spLocks noChangeArrowheads="1"/>
          </p:cNvSpPr>
          <p:nvPr/>
        </p:nvSpPr>
        <p:spPr bwMode="auto">
          <a:xfrm>
            <a:off x="1511300" y="572636"/>
            <a:ext cx="61214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计数问题实例</a:t>
            </a:r>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spcAft>
                <a:spcPct val="20000"/>
              </a:spcAft>
              <a:buClr>
                <a:schemeClr val="hlink"/>
              </a:buClr>
              <a:buFont typeface="Wingdings 2" panose="05020102010507070707" pitchFamily="18" charset="2"/>
              <a:buNone/>
            </a:pPr>
            <a:endParaRPr kumimoji="0" lang="zh-CN" altLang="en-US" sz="2000">
              <a:latin typeface="Arial" panose="020B0604020202020204" pitchFamily="34" charset="0"/>
              <a:ea typeface="宋体" panose="02010600030101010101" pitchFamily="2" charset="-122"/>
            </a:endParaRPr>
          </a:p>
        </p:txBody>
      </p:sp>
      <p:pic>
        <p:nvPicPr>
          <p:cNvPr id="49" name="Picture 6" descr="C:\Program Files\Microsoft Office\MEDIA\CAGCAT10\j0293844.wmf">
            <a:extLst>
              <a:ext uri="{FF2B5EF4-FFF2-40B4-BE49-F238E27FC236}">
                <a16:creationId xmlns:a16="http://schemas.microsoft.com/office/drawing/2014/main" id="{0ACDE427-24E2-41AF-A62A-A21B44B344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92006" y="476251"/>
            <a:ext cx="1051994" cy="110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96919051-09B5-41B6-922F-095D04235838}"/>
              </a:ext>
            </a:extLst>
          </p:cNvPr>
          <p:cNvPicPr>
            <a:picLocks noChangeAspect="1"/>
          </p:cNvPicPr>
          <p:nvPr/>
        </p:nvPicPr>
        <p:blipFill>
          <a:blip r:embed="rId4"/>
          <a:stretch>
            <a:fillRect/>
          </a:stretch>
        </p:blipFill>
        <p:spPr>
          <a:xfrm>
            <a:off x="539552" y="1610413"/>
            <a:ext cx="8154386" cy="4717444"/>
          </a:xfrm>
          <a:prstGeom prst="rect">
            <a:avLst/>
          </a:prstGeom>
        </p:spPr>
      </p:pic>
      <p:sp>
        <p:nvSpPr>
          <p:cNvPr id="6" name="Text Box 2">
            <a:extLst>
              <a:ext uri="{FF2B5EF4-FFF2-40B4-BE49-F238E27FC236}">
                <a16:creationId xmlns:a16="http://schemas.microsoft.com/office/drawing/2014/main" id="{3301369D-7E1F-40EF-91F2-8B9F800E6906}"/>
              </a:ext>
            </a:extLst>
          </p:cNvPr>
          <p:cNvSpPr txBox="1">
            <a:spLocks noChangeArrowheads="1"/>
          </p:cNvSpPr>
          <p:nvPr/>
        </p:nvSpPr>
        <p:spPr bwMode="auto">
          <a:xfrm>
            <a:off x="1511300" y="572636"/>
            <a:ext cx="61214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计数问题实例</a:t>
            </a:r>
          </a:p>
        </p:txBody>
      </p:sp>
    </p:spTree>
    <p:extLst>
      <p:ext uri="{BB962C8B-B14F-4D97-AF65-F5344CB8AC3E}">
        <p14:creationId xmlns:p14="http://schemas.microsoft.com/office/powerpoint/2010/main" val="833592310"/>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Rectangle 4"/>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spcAft>
                <a:spcPct val="20000"/>
              </a:spcAft>
              <a:buClr>
                <a:schemeClr val="hlink"/>
              </a:buClr>
              <a:buFont typeface="Wingdings 2" panose="05020102010507070707" pitchFamily="18" charset="2"/>
              <a:buNone/>
            </a:pPr>
            <a:endParaRPr kumimoji="0" lang="zh-CN" altLang="en-US" sz="2000">
              <a:latin typeface="Arial" panose="020B0604020202020204" pitchFamily="34" charset="0"/>
              <a:ea typeface="宋体" panose="02010600030101010101" pitchFamily="2" charset="-122"/>
            </a:endParaRPr>
          </a:p>
        </p:txBody>
      </p:sp>
      <p:sp>
        <p:nvSpPr>
          <p:cNvPr id="138252" name="Rectangle 13"/>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spcAft>
                <a:spcPct val="20000"/>
              </a:spcAft>
              <a:buClr>
                <a:schemeClr val="hlink"/>
              </a:buClr>
              <a:buFont typeface="Wingdings 2" panose="05020102010507070707" pitchFamily="18" charset="2"/>
              <a:buNone/>
            </a:pPr>
            <a:endParaRPr kumimoji="0" lang="zh-CN" altLang="en-US" sz="2000">
              <a:latin typeface="Arial" panose="020B0604020202020204" pitchFamily="34" charset="0"/>
              <a:ea typeface="宋体" panose="02010600030101010101" pitchFamily="2" charset="-122"/>
            </a:endParaRPr>
          </a:p>
        </p:txBody>
      </p:sp>
      <p:sp>
        <p:nvSpPr>
          <p:cNvPr id="138254" name="Rectangle 15"/>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spcAft>
                <a:spcPct val="20000"/>
              </a:spcAft>
              <a:buClr>
                <a:schemeClr val="hlink"/>
              </a:buClr>
              <a:buFont typeface="Wingdings 2" panose="05020102010507070707" pitchFamily="18" charset="2"/>
              <a:buNone/>
            </a:pPr>
            <a:endParaRPr kumimoji="0" lang="zh-CN" altLang="en-US" sz="2000">
              <a:latin typeface="Arial" panose="020B0604020202020204" pitchFamily="34" charset="0"/>
              <a:ea typeface="宋体" panose="02010600030101010101" pitchFamily="2" charset="-122"/>
            </a:endParaRPr>
          </a:p>
        </p:txBody>
      </p:sp>
      <p:sp>
        <p:nvSpPr>
          <p:cNvPr id="138263" name="Rectangle 24"/>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spcAft>
                <a:spcPct val="20000"/>
              </a:spcAft>
              <a:buClr>
                <a:schemeClr val="hlink"/>
              </a:buClr>
              <a:buFont typeface="Wingdings 2" panose="05020102010507070707" pitchFamily="18" charset="2"/>
              <a:buNone/>
            </a:pPr>
            <a:endParaRPr kumimoji="0" lang="zh-CN" altLang="en-US" sz="2000">
              <a:latin typeface="Arial" panose="020B0604020202020204" pitchFamily="34" charset="0"/>
              <a:ea typeface="宋体" panose="02010600030101010101" pitchFamily="2" charset="-122"/>
            </a:endParaRPr>
          </a:p>
        </p:txBody>
      </p:sp>
      <p:sp>
        <p:nvSpPr>
          <p:cNvPr id="53" name="Text Box 2">
            <a:extLst>
              <a:ext uri="{FF2B5EF4-FFF2-40B4-BE49-F238E27FC236}">
                <a16:creationId xmlns:a16="http://schemas.microsoft.com/office/drawing/2014/main" id="{387CA937-D522-4170-B72D-0EDC56091CA7}"/>
              </a:ext>
            </a:extLst>
          </p:cNvPr>
          <p:cNvSpPr txBox="1">
            <a:spLocks noChangeArrowheads="1"/>
          </p:cNvSpPr>
          <p:nvPr/>
        </p:nvSpPr>
        <p:spPr bwMode="auto">
          <a:xfrm>
            <a:off x="1511300" y="572636"/>
            <a:ext cx="61214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计数问题实例</a:t>
            </a:r>
          </a:p>
        </p:txBody>
      </p:sp>
      <p:pic>
        <p:nvPicPr>
          <p:cNvPr id="54" name="Picture 6" descr="C:\Program Files\Microsoft Office\MEDIA\CAGCAT10\j0293844.wmf">
            <a:extLst>
              <a:ext uri="{FF2B5EF4-FFF2-40B4-BE49-F238E27FC236}">
                <a16:creationId xmlns:a16="http://schemas.microsoft.com/office/drawing/2014/main" id="{9A4A0FDD-EFC9-41A1-A738-6F8BA16AEA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92006" y="476251"/>
            <a:ext cx="1051994" cy="110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40D82EAB-0E24-42FC-8D7C-3FBBF86932B0}"/>
              </a:ext>
            </a:extLst>
          </p:cNvPr>
          <p:cNvPicPr>
            <a:picLocks noChangeAspect="1"/>
          </p:cNvPicPr>
          <p:nvPr/>
        </p:nvPicPr>
        <p:blipFill>
          <a:blip r:embed="rId4"/>
          <a:stretch>
            <a:fillRect/>
          </a:stretch>
        </p:blipFill>
        <p:spPr>
          <a:xfrm>
            <a:off x="1115616" y="1628800"/>
            <a:ext cx="7076511" cy="4656564"/>
          </a:xfrm>
          <a:prstGeom prst="rect">
            <a:avLst/>
          </a:prstGeom>
        </p:spPr>
      </p:pic>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8FFC544C-D4B9-40CB-9ACD-67B7E1322950}"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dirty="0">
              <a:solidFill>
                <a:srgbClr val="FF0000"/>
              </a:solidFill>
              <a:latin typeface="黑体" panose="02010609060101010101" pitchFamily="49" charset="-122"/>
            </a:endParaRPr>
          </a:p>
        </p:txBody>
      </p:sp>
      <p:sp>
        <p:nvSpPr>
          <p:cNvPr id="139267" name="Text Box 2"/>
          <p:cNvSpPr txBox="1">
            <a:spLocks noChangeArrowheads="1"/>
          </p:cNvSpPr>
          <p:nvPr/>
        </p:nvSpPr>
        <p:spPr bwMode="auto">
          <a:xfrm>
            <a:off x="1547664" y="635191"/>
            <a:ext cx="6126943"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通路计数定理</a:t>
            </a:r>
          </a:p>
        </p:txBody>
      </p:sp>
      <p:pic>
        <p:nvPicPr>
          <p:cNvPr id="13926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8384" y="507229"/>
            <a:ext cx="1164202" cy="1224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234970" y="2031586"/>
                <a:ext cx="8674059" cy="3862596"/>
              </a:xfrm>
              <a:prstGeom prst="rect">
                <a:avLst/>
              </a:prstGeom>
              <a:solidFill>
                <a:schemeClr val="accent6">
                  <a:lumMod val="75000"/>
                </a:schemeClr>
              </a:solidFill>
              <a:ln w="19050">
                <a:noFill/>
              </a:ln>
            </p:spPr>
            <p:txBody>
              <a:bodyPr wrap="square" rtlCol="0">
                <a:spAutoFit/>
              </a:bodyPr>
              <a:lstStyle/>
              <a:p>
                <a:pPr>
                  <a:lnSpc>
                    <a:spcPts val="3800"/>
                  </a:lnSpc>
                  <a:spcAft>
                    <a:spcPts val="1800"/>
                  </a:spcAft>
                </a:pPr>
                <a:r>
                  <a:rPr lang="en-US" altLang="zh-CN" sz="2400" b="1" dirty="0">
                    <a:solidFill>
                      <a:schemeClr val="bg1"/>
                    </a:solidFill>
                  </a:rPr>
                  <a:t>    </a:t>
                </a:r>
                <a:r>
                  <a:rPr lang="zh-CN" altLang="zh-CN" sz="2400" b="1" dirty="0">
                    <a:solidFill>
                      <a:schemeClr val="bg1"/>
                    </a:solidFill>
                  </a:rPr>
                  <a:t>【定理】设</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𝑮</m:t>
                    </m:r>
                    <m:r>
                      <a:rPr lang="en-US" altLang="zh-CN" sz="2400" b="1" i="1">
                        <a:solidFill>
                          <a:schemeClr val="bg1"/>
                        </a:solidFill>
                        <a:latin typeface="Cambria Math" panose="02040503050406030204" pitchFamily="18" charset="0"/>
                      </a:rPr>
                      <m:t>=</m:t>
                    </m:r>
                    <m:d>
                      <m:dPr>
                        <m:begChr m:val="〈"/>
                        <m:endChr m:val="〉"/>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panose="02040503050406030204" pitchFamily="18" charset="0"/>
                          </a:rPr>
                          <m:t>𝑽</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𝑬</m:t>
                        </m:r>
                      </m:e>
                    </m:d>
                    <m:r>
                      <a:rPr lang="en-US" altLang="zh-CN" sz="2400" b="1" i="1">
                        <a:solidFill>
                          <a:schemeClr val="bg1"/>
                        </a:solidFill>
                        <a:latin typeface="Cambria Math" panose="02040503050406030204" pitchFamily="18" charset="0"/>
                      </a:rPr>
                      <m:t> </m:t>
                    </m:r>
                  </m:oMath>
                </a14:m>
                <a:r>
                  <a:rPr lang="zh-CN" altLang="zh-CN" sz="2400" b="1" dirty="0">
                    <a:solidFill>
                      <a:schemeClr val="bg1"/>
                    </a:solidFill>
                  </a:rPr>
                  <a:t>，</a:t>
                </a:r>
                <a14:m>
                  <m:oMath xmlns:m="http://schemas.openxmlformats.org/officeDocument/2006/math">
                    <m:r>
                      <a:rPr lang="en-US" altLang="zh-CN" sz="2400" b="1" i="1">
                        <a:solidFill>
                          <a:schemeClr val="bg1"/>
                        </a:solidFill>
                        <a:latin typeface="Cambria Math" panose="02040503050406030204" pitchFamily="18" charset="0"/>
                      </a:rPr>
                      <m:t>𝑽</m:t>
                    </m:r>
                    <m:r>
                      <a:rPr lang="en-US" altLang="zh-CN" sz="2400" b="1" i="1">
                        <a:solidFill>
                          <a:schemeClr val="bg1"/>
                        </a:solidFill>
                        <a:latin typeface="Cambria Math" panose="02040503050406030204" pitchFamily="18" charset="0"/>
                      </a:rPr>
                      <m:t>=</m:t>
                    </m:r>
                    <m:d>
                      <m:dPr>
                        <m:begChr m:val="{"/>
                        <m:endChr m:val="}"/>
                        <m:ctrlPr>
                          <a:rPr lang="zh-CN" altLang="zh-CN" sz="2400" b="1" i="1">
                            <a:solidFill>
                              <a:schemeClr val="bg1"/>
                            </a:solidFill>
                            <a:latin typeface="Cambria Math" panose="02040503050406030204" pitchFamily="18" charset="0"/>
                          </a:rPr>
                        </m:ctrlPr>
                      </m:dPr>
                      <m:e>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𝟏</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𝟐</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𝒗</m:t>
                            </m:r>
                          </m:e>
                          <m:sub>
                            <m:r>
                              <a:rPr lang="en-US" altLang="zh-CN" sz="2400" b="1" i="1">
                                <a:solidFill>
                                  <a:schemeClr val="bg1"/>
                                </a:solidFill>
                                <a:latin typeface="Cambria Math" panose="02040503050406030204" pitchFamily="18" charset="0"/>
                              </a:rPr>
                              <m:t>𝒏</m:t>
                            </m:r>
                          </m:sub>
                        </m:sSub>
                      </m:e>
                    </m:d>
                  </m:oMath>
                </a14:m>
                <a:r>
                  <a:rPr lang="zh-CN" altLang="zh-CN" sz="2400" b="1" dirty="0">
                    <a:solidFill>
                      <a:schemeClr val="bg1"/>
                    </a:solidFill>
                  </a:rPr>
                  <a:t>，</a:t>
                </a:r>
                <a14:m>
                  <m:oMath xmlns:m="http://schemas.openxmlformats.org/officeDocument/2006/math">
                    <m:r>
                      <a:rPr lang="en-US" altLang="zh-CN" sz="2400" b="1" i="1">
                        <a:solidFill>
                          <a:schemeClr val="bg1"/>
                        </a:solidFill>
                        <a:latin typeface="Cambria Math" panose="02040503050406030204" pitchFamily="18" charset="0"/>
                      </a:rPr>
                      <m:t>𝑨</m:t>
                    </m:r>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𝒊𝒋</m:t>
                        </m:r>
                      </m:sub>
                    </m:sSub>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m:t>
                        </m:r>
                      </m:e>
                      <m:sub>
                        <m:r>
                          <a:rPr lang="en-US" altLang="zh-CN" sz="2400" b="1" i="1">
                            <a:solidFill>
                              <a:schemeClr val="bg1"/>
                            </a:solidFill>
                            <a:latin typeface="Cambria Math" panose="02040503050406030204" pitchFamily="18" charset="0"/>
                          </a:rPr>
                          <m:t>𝒏</m:t>
                        </m:r>
                        <m:r>
                          <a:rPr lang="zh-CN"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𝒏</m:t>
                        </m:r>
                      </m:sub>
                    </m:sSub>
                  </m:oMath>
                </a14:m>
                <a:r>
                  <a:rPr lang="zh-CN" altLang="zh-CN" sz="2400" b="1" dirty="0">
                    <a:solidFill>
                      <a:schemeClr val="bg1"/>
                    </a:solidFill>
                  </a:rPr>
                  <a:t>是</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𝑮</m:t>
                    </m:r>
                    <m:r>
                      <a:rPr lang="en-US" altLang="zh-CN" sz="2400" b="1" i="1">
                        <a:solidFill>
                          <a:schemeClr val="bg1"/>
                        </a:solidFill>
                        <a:latin typeface="Cambria Math" panose="02040503050406030204" pitchFamily="18" charset="0"/>
                      </a:rPr>
                      <m:t> </m:t>
                    </m:r>
                  </m:oMath>
                </a14:m>
                <a:r>
                  <a:rPr lang="zh-CN" altLang="zh-CN" sz="2400" b="1" dirty="0">
                    <a:solidFill>
                      <a:schemeClr val="bg1"/>
                    </a:solidFill>
                  </a:rPr>
                  <a:t>的</a:t>
                </a:r>
                <a:r>
                  <a:rPr lang="zh-CN" altLang="zh-CN" sz="2400" b="1" dirty="0">
                    <a:solidFill>
                      <a:srgbClr val="FFFF00"/>
                    </a:solidFill>
                  </a:rPr>
                  <a:t>邻接矩阵</a:t>
                </a:r>
                <a:r>
                  <a:rPr lang="zh-CN" altLang="zh-CN" sz="2400" b="1" dirty="0">
                    <a:solidFill>
                      <a:schemeClr val="bg1"/>
                    </a:solidFill>
                  </a:rPr>
                  <a:t>，则对于</a:t>
                </a:r>
                <a:r>
                  <a:rPr lang="zh-CN" altLang="en-US" sz="2400" b="1" dirty="0">
                    <a:solidFill>
                      <a:schemeClr val="bg1"/>
                    </a:solidFill>
                  </a:rPr>
                  <a:t>如下</a:t>
                </a:r>
                <a14:m>
                  <m:oMath xmlns:m="http://schemas.openxmlformats.org/officeDocument/2006/math">
                    <m:r>
                      <a:rPr lang="en-US" altLang="zh-CN" sz="2400" b="1" i="1">
                        <a:solidFill>
                          <a:schemeClr val="bg1"/>
                        </a:solidFill>
                        <a:latin typeface="Cambria Math" panose="02040503050406030204" pitchFamily="18" charset="0"/>
                      </a:rPr>
                      <m:t>𝑨</m:t>
                    </m:r>
                    <m:r>
                      <a:rPr lang="zh-CN" altLang="zh-CN" sz="2400" b="1">
                        <a:solidFill>
                          <a:schemeClr val="bg1"/>
                        </a:solidFill>
                        <a:latin typeface="Cambria Math" panose="02040503050406030204" pitchFamily="18" charset="0"/>
                      </a:rPr>
                      <m:t>的</m:t>
                    </m:r>
                    <m:r>
                      <a:rPr lang="en-US" altLang="zh-CN" sz="2400" b="1" i="1">
                        <a:solidFill>
                          <a:schemeClr val="bg1"/>
                        </a:solidFill>
                        <a:latin typeface="Cambria Math" panose="02040503050406030204" pitchFamily="18" charset="0"/>
                      </a:rPr>
                      <m:t>𝒎</m:t>
                    </m:r>
                  </m:oMath>
                </a14:m>
                <a:r>
                  <a:rPr lang="zh-CN" altLang="en-US" sz="2400" b="1" dirty="0">
                    <a:solidFill>
                      <a:schemeClr val="bg1"/>
                    </a:solidFill>
                    <a:latin typeface="Cambria Math" panose="02040503050406030204" pitchFamily="18" charset="0"/>
                  </a:rPr>
                  <a:t>次幂：</a:t>
                </a:r>
                <a:endParaRPr lang="en-US" altLang="zh-CN" sz="2400" b="1" dirty="0">
                  <a:solidFill>
                    <a:schemeClr val="bg1"/>
                  </a:solidFill>
                  <a:latin typeface="Cambria Math" panose="02040503050406030204" pitchFamily="18" charset="0"/>
                </a:endParaRPr>
              </a:p>
              <a:p>
                <a:pPr>
                  <a:lnSpc>
                    <a:spcPts val="3800"/>
                  </a:lnSpc>
                  <a:spcAft>
                    <a:spcPts val="1800"/>
                  </a:spcAft>
                </a:pPr>
                <a14:m>
                  <m:oMathPara xmlns:m="http://schemas.openxmlformats.org/officeDocument/2006/math">
                    <m:oMathParaPr>
                      <m:jc m:val="centerGroup"/>
                    </m:oMathParaPr>
                    <m:oMath xmlns:m="http://schemas.openxmlformats.org/officeDocument/2006/math">
                      <m:sSup>
                        <m:sSupPr>
                          <m:ctrlPr>
                            <a:rPr lang="zh-CN" altLang="zh-CN" sz="2400" b="1" i="1" smtClean="0">
                              <a:solidFill>
                                <a:srgbClr val="FFFF00"/>
                              </a:solidFill>
                              <a:latin typeface="Cambria Math" panose="02040503050406030204" pitchFamily="18" charset="0"/>
                            </a:rPr>
                          </m:ctrlPr>
                        </m:sSupPr>
                        <m:e>
                          <m:r>
                            <a:rPr lang="en-US" altLang="zh-CN" sz="2400" b="1" i="1">
                              <a:solidFill>
                                <a:srgbClr val="FFFF00"/>
                              </a:solidFill>
                              <a:latin typeface="Cambria Math" panose="02040503050406030204" pitchFamily="18" charset="0"/>
                            </a:rPr>
                            <m:t>𝑨</m:t>
                          </m:r>
                        </m:e>
                        <m:sup>
                          <m:r>
                            <a:rPr lang="en-US" altLang="zh-CN" sz="2400" b="1" i="1">
                              <a:solidFill>
                                <a:srgbClr val="FFFF00"/>
                              </a:solidFill>
                              <a:latin typeface="Cambria Math" panose="02040503050406030204" pitchFamily="18" charset="0"/>
                            </a:rPr>
                            <m:t>𝒎</m:t>
                          </m:r>
                        </m:sup>
                      </m:sSup>
                      <m:r>
                        <a:rPr lang="en-US" altLang="zh-CN" sz="2400" b="1" i="1">
                          <a:solidFill>
                            <a:srgbClr val="FFFF00"/>
                          </a:solidFill>
                          <a:latin typeface="Cambria Math" panose="02040503050406030204" pitchFamily="18" charset="0"/>
                        </a:rPr>
                        <m:t>=</m:t>
                      </m:r>
                      <m:r>
                        <a:rPr lang="en-US" altLang="zh-CN" sz="2400" b="1">
                          <a:solidFill>
                            <a:srgbClr val="FFFF00"/>
                          </a:solidFill>
                          <a:latin typeface="Cambria Math" panose="02040503050406030204" pitchFamily="18" charset="0"/>
                        </a:rPr>
                        <m:t>(</m:t>
                      </m:r>
                      <m:sSup>
                        <m:sSupPr>
                          <m:ctrlPr>
                            <a:rPr lang="zh-CN" altLang="zh-CN" sz="2400" b="1" i="1">
                              <a:solidFill>
                                <a:srgbClr val="FFFF00"/>
                              </a:solidFill>
                              <a:latin typeface="Cambria Math" panose="02040503050406030204" pitchFamily="18" charset="0"/>
                            </a:rPr>
                          </m:ctrlPr>
                        </m:sSupPr>
                        <m:e>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𝒂</m:t>
                              </m:r>
                            </m:e>
                            <m:sub>
                              <m:r>
                                <a:rPr lang="en-US" altLang="zh-CN" sz="2400" b="1" i="1">
                                  <a:solidFill>
                                    <a:srgbClr val="FFFF00"/>
                                  </a:solidFill>
                                  <a:latin typeface="Cambria Math" panose="02040503050406030204" pitchFamily="18" charset="0"/>
                                </a:rPr>
                                <m:t>𝒊𝒋</m:t>
                              </m:r>
                            </m:sub>
                          </m:sSub>
                        </m:e>
                        <m:sup>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panose="02040503050406030204" pitchFamily="18" charset="0"/>
                                </a:rPr>
                                <m:t>𝒎</m:t>
                              </m:r>
                            </m:e>
                          </m:d>
                        </m:sup>
                      </m:sSup>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m:t>
                          </m:r>
                        </m:e>
                        <m:sub>
                          <m:r>
                            <a:rPr lang="en-US" altLang="zh-CN" sz="2400" b="1" i="1">
                              <a:solidFill>
                                <a:srgbClr val="FFFF00"/>
                              </a:solidFill>
                              <a:latin typeface="Cambria Math" panose="02040503050406030204" pitchFamily="18" charset="0"/>
                            </a:rPr>
                            <m:t>𝒏</m:t>
                          </m:r>
                          <m:r>
                            <a:rPr lang="zh-CN" altLang="zh-CN" sz="2400" b="1" i="1">
                              <a:solidFill>
                                <a:srgbClr val="FFFF00"/>
                              </a:solidFill>
                              <a:latin typeface="Cambria Math" panose="02040503050406030204" pitchFamily="18" charset="0"/>
                            </a:rPr>
                            <m:t>×</m:t>
                          </m:r>
                          <m:r>
                            <a:rPr lang="en-US" altLang="zh-CN" sz="2400" b="1" i="1">
                              <a:solidFill>
                                <a:srgbClr val="FFFF00"/>
                              </a:solidFill>
                              <a:latin typeface="Cambria Math" panose="02040503050406030204" pitchFamily="18" charset="0"/>
                            </a:rPr>
                            <m:t>𝒏</m:t>
                          </m:r>
                        </m:sub>
                      </m:sSub>
                      <m:r>
                        <a:rPr lang="en-US" altLang="zh-CN" sz="2400" b="1" i="1">
                          <a:solidFill>
                            <a:srgbClr val="FFFF00"/>
                          </a:solidFill>
                          <a:latin typeface="Cambria Math" panose="02040503050406030204" pitchFamily="18" charset="0"/>
                        </a:rPr>
                        <m:t>,</m:t>
                      </m:r>
                      <m:r>
                        <a:rPr lang="en-US" altLang="zh-CN" sz="2400" b="1" i="1" smtClean="0">
                          <a:solidFill>
                            <a:srgbClr val="FFFF00"/>
                          </a:solidFill>
                          <a:latin typeface="Cambria Math" panose="02040503050406030204" pitchFamily="18" charset="0"/>
                        </a:rPr>
                        <m:t>  </m:t>
                      </m:r>
                      <m:r>
                        <a:rPr lang="en-US" altLang="zh-CN" sz="2400" b="1" i="1">
                          <a:solidFill>
                            <a:srgbClr val="FFFF00"/>
                          </a:solidFill>
                          <a:latin typeface="Cambria Math" panose="02040503050406030204" pitchFamily="18" charset="0"/>
                        </a:rPr>
                        <m:t>𝒎</m:t>
                      </m:r>
                      <m:r>
                        <a:rPr lang="en-US" altLang="zh-CN" sz="2400" b="1" i="1">
                          <a:solidFill>
                            <a:srgbClr val="FFFF00"/>
                          </a:solidFill>
                          <a:latin typeface="Cambria Math" panose="02040503050406030204" pitchFamily="18" charset="0"/>
                        </a:rPr>
                        <m:t>=</m:t>
                      </m:r>
                      <m:r>
                        <a:rPr lang="en-US" altLang="zh-CN" sz="2400" b="1" i="1">
                          <a:solidFill>
                            <a:srgbClr val="FFFF00"/>
                          </a:solidFill>
                          <a:latin typeface="Cambria Math" panose="02040503050406030204" pitchFamily="18" charset="0"/>
                        </a:rPr>
                        <m:t>𝟏</m:t>
                      </m:r>
                      <m:r>
                        <a:rPr lang="en-US" altLang="zh-CN" sz="2400" b="1" i="1">
                          <a:solidFill>
                            <a:srgbClr val="FFFF00"/>
                          </a:solidFill>
                          <a:latin typeface="Cambria Math" panose="02040503050406030204" pitchFamily="18" charset="0"/>
                        </a:rPr>
                        <m:t>,</m:t>
                      </m:r>
                      <m:r>
                        <a:rPr lang="en-US" altLang="zh-CN" sz="2400" b="1" i="1">
                          <a:solidFill>
                            <a:srgbClr val="FFFF00"/>
                          </a:solidFill>
                          <a:latin typeface="Cambria Math" panose="02040503050406030204" pitchFamily="18" charset="0"/>
                        </a:rPr>
                        <m:t>𝟐</m:t>
                      </m:r>
                      <m:r>
                        <a:rPr lang="en-US" altLang="zh-CN" sz="2400" b="1" i="1">
                          <a:solidFill>
                            <a:srgbClr val="FFFF00"/>
                          </a:solidFill>
                          <a:latin typeface="Cambria Math" panose="02040503050406030204" pitchFamily="18" charset="0"/>
                        </a:rPr>
                        <m:t>,⋯,</m:t>
                      </m:r>
                      <m:r>
                        <a:rPr lang="en-US" altLang="zh-CN" sz="2400" b="1" i="1">
                          <a:solidFill>
                            <a:srgbClr val="FFFF00"/>
                          </a:solidFill>
                          <a:latin typeface="Cambria Math" panose="02040503050406030204" pitchFamily="18" charset="0"/>
                        </a:rPr>
                        <m:t>𝒏</m:t>
                      </m:r>
                    </m:oMath>
                  </m:oMathPara>
                </a14:m>
                <a:endParaRPr lang="en-US" altLang="zh-CN" sz="2400" b="1" dirty="0">
                  <a:solidFill>
                    <a:srgbClr val="FFFF00"/>
                  </a:solidFill>
                </a:endParaRPr>
              </a:p>
              <a:p>
                <a:pPr>
                  <a:lnSpc>
                    <a:spcPts val="3800"/>
                  </a:lnSpc>
                  <a:spcAft>
                    <a:spcPts val="1800"/>
                  </a:spcAft>
                </a:pPr>
                <a:r>
                  <a:rPr lang="en-US" altLang="zh-CN" sz="2400" b="1" dirty="0">
                    <a:solidFill>
                      <a:schemeClr val="bg1"/>
                    </a:solidFill>
                  </a:rPr>
                  <a:t>    </a:t>
                </a:r>
                <a14:m>
                  <m:oMath xmlns:m="http://schemas.openxmlformats.org/officeDocument/2006/math">
                    <m:sSup>
                      <m:sSupPr>
                        <m:ctrlPr>
                          <a:rPr lang="zh-CN" altLang="zh-CN" sz="2400" b="1" i="1" smtClean="0">
                            <a:solidFill>
                              <a:schemeClr val="bg1"/>
                            </a:solidFill>
                            <a:latin typeface="Cambria Math" panose="02040503050406030204" pitchFamily="18" charset="0"/>
                          </a:rPr>
                        </m:ctrlPr>
                      </m:sSupPr>
                      <m:e>
                        <m:r>
                          <a:rPr lang="en-US" altLang="zh-CN" sz="2400" b="1" i="1">
                            <a:solidFill>
                              <a:schemeClr val="bg1"/>
                            </a:solidFill>
                            <a:latin typeface="Cambria Math" panose="02040503050406030204" pitchFamily="18" charset="0"/>
                          </a:rPr>
                          <m:t> </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𝒊𝒋</m:t>
                            </m:r>
                          </m:sub>
                        </m:sSub>
                      </m:e>
                      <m:sup>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𝒎</m:t>
                        </m:r>
                        <m:r>
                          <a:rPr lang="en-US" altLang="zh-CN" sz="2400" b="1" i="1">
                            <a:solidFill>
                              <a:schemeClr val="bg1"/>
                            </a:solidFill>
                            <a:latin typeface="Cambria Math" panose="02040503050406030204" pitchFamily="18" charset="0"/>
                          </a:rPr>
                          <m:t>)</m:t>
                        </m:r>
                      </m:sup>
                    </m:sSup>
                    <m:r>
                      <a:rPr lang="en-US" altLang="zh-CN" sz="2400" b="1" i="1">
                        <a:solidFill>
                          <a:schemeClr val="bg1"/>
                        </a:solidFill>
                        <a:latin typeface="Cambria Math" panose="02040503050406030204" pitchFamily="18" charset="0"/>
                      </a:rPr>
                      <m:t> </m:t>
                    </m:r>
                  </m:oMath>
                </a14:m>
                <a:r>
                  <a:rPr lang="zh-CN" altLang="zh-CN" sz="2400" b="1" dirty="0">
                    <a:solidFill>
                      <a:schemeClr val="bg1"/>
                    </a:solidFill>
                  </a:rPr>
                  <a:t>表示从</a:t>
                </a:r>
                <a:r>
                  <a:rPr lang="zh-CN" altLang="zh-CN" sz="2400" b="1" dirty="0">
                    <a:solidFill>
                      <a:srgbClr val="FFFF00"/>
                    </a:solidFill>
                  </a:rPr>
                  <a:t>结点</a:t>
                </a:r>
                <a14:m>
                  <m:oMath xmlns:m="http://schemas.openxmlformats.org/officeDocument/2006/math">
                    <m:r>
                      <a:rPr lang="zh-CN" altLang="zh-CN" sz="2400" b="1">
                        <a:solidFill>
                          <a:srgbClr val="FFFF00"/>
                        </a:solidFill>
                        <a:latin typeface="Cambria Math" panose="02040503050406030204" pitchFamily="18" charset="0"/>
                      </a:rPr>
                      <m:t> </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𝒗</m:t>
                        </m:r>
                      </m:e>
                      <m:sub>
                        <m:r>
                          <a:rPr lang="en-US" altLang="zh-CN" sz="2400" b="1" i="1">
                            <a:solidFill>
                              <a:srgbClr val="FFFF00"/>
                            </a:solidFill>
                            <a:latin typeface="Cambria Math" panose="02040503050406030204" pitchFamily="18" charset="0"/>
                          </a:rPr>
                          <m:t>𝒊</m:t>
                        </m:r>
                      </m:sub>
                    </m:sSub>
                    <m:r>
                      <a:rPr lang="en-US" altLang="zh-CN" sz="2400" b="1" i="1">
                        <a:solidFill>
                          <a:srgbClr val="FFFF00"/>
                        </a:solidFill>
                        <a:latin typeface="Cambria Math" panose="02040503050406030204" pitchFamily="18" charset="0"/>
                      </a:rPr>
                      <m:t> </m:t>
                    </m:r>
                  </m:oMath>
                </a14:m>
                <a:r>
                  <a:rPr lang="zh-CN" altLang="zh-CN" sz="2400" b="1" dirty="0">
                    <a:solidFill>
                      <a:srgbClr val="FFFF00"/>
                    </a:solidFill>
                  </a:rPr>
                  <a:t>到</a:t>
                </a:r>
                <a14:m>
                  <m:oMath xmlns:m="http://schemas.openxmlformats.org/officeDocument/2006/math">
                    <m:r>
                      <a:rPr lang="zh-CN" altLang="zh-CN" sz="2400" b="1">
                        <a:solidFill>
                          <a:srgbClr val="FFFF00"/>
                        </a:solidFill>
                        <a:latin typeface="Cambria Math" panose="02040503050406030204" pitchFamily="18" charset="0"/>
                      </a:rPr>
                      <m:t> </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𝒗</m:t>
                        </m:r>
                      </m:e>
                      <m:sub>
                        <m:r>
                          <a:rPr lang="en-US" altLang="zh-CN" sz="2400" b="1" i="1">
                            <a:solidFill>
                              <a:srgbClr val="FFFF00"/>
                            </a:solidFill>
                            <a:latin typeface="Cambria Math" panose="02040503050406030204" pitchFamily="18" charset="0"/>
                          </a:rPr>
                          <m:t>𝒋</m:t>
                        </m:r>
                      </m:sub>
                    </m:sSub>
                    <m:r>
                      <a:rPr lang="en-US" altLang="zh-CN" sz="2400" b="1" i="1">
                        <a:solidFill>
                          <a:srgbClr val="FFFF00"/>
                        </a:solidFill>
                        <a:latin typeface="Cambria Math" panose="02040503050406030204" pitchFamily="18" charset="0"/>
                      </a:rPr>
                      <m:t> </m:t>
                    </m:r>
                  </m:oMath>
                </a14:m>
                <a:r>
                  <a:rPr lang="zh-CN" altLang="zh-CN" sz="2400" b="1" dirty="0">
                    <a:solidFill>
                      <a:schemeClr val="bg1"/>
                    </a:solidFill>
                  </a:rPr>
                  <a:t>且</a:t>
                </a:r>
                <a:r>
                  <a:rPr lang="zh-CN" altLang="zh-CN" sz="2400" b="1" dirty="0">
                    <a:solidFill>
                      <a:srgbClr val="FFFF00"/>
                    </a:solidFill>
                  </a:rPr>
                  <a:t>长度为</a:t>
                </a:r>
                <a14:m>
                  <m:oMath xmlns:m="http://schemas.openxmlformats.org/officeDocument/2006/math">
                    <m:r>
                      <a:rPr lang="zh-CN" altLang="zh-CN" sz="2400" b="1">
                        <a:solidFill>
                          <a:srgbClr val="FFFF00"/>
                        </a:solidFill>
                        <a:latin typeface="Cambria Math" panose="02040503050406030204" pitchFamily="18" charset="0"/>
                      </a:rPr>
                      <m:t> </m:t>
                    </m:r>
                    <m:r>
                      <a:rPr lang="en-US" altLang="zh-CN" sz="2400" b="1" i="1">
                        <a:solidFill>
                          <a:srgbClr val="FFFF00"/>
                        </a:solidFill>
                        <a:latin typeface="Cambria Math" panose="02040503050406030204" pitchFamily="18" charset="0"/>
                      </a:rPr>
                      <m:t>𝒎</m:t>
                    </m:r>
                    <m:r>
                      <a:rPr lang="en-US" altLang="zh-CN" sz="2400" b="1">
                        <a:solidFill>
                          <a:srgbClr val="FFFF00"/>
                        </a:solidFill>
                        <a:latin typeface="Cambria Math" panose="02040503050406030204" pitchFamily="18" charset="0"/>
                      </a:rPr>
                      <m:t> </m:t>
                    </m:r>
                  </m:oMath>
                </a14:m>
                <a:r>
                  <a:rPr lang="zh-CN" altLang="zh-CN" sz="2400" b="1" dirty="0">
                    <a:solidFill>
                      <a:srgbClr val="FFFF00"/>
                    </a:solidFill>
                  </a:rPr>
                  <a:t>的通路数目</a:t>
                </a:r>
                <a:r>
                  <a:rPr lang="zh-CN" altLang="en-US" sz="2400" b="1" dirty="0">
                    <a:solidFill>
                      <a:schemeClr val="bg1"/>
                    </a:solidFill>
                  </a:rPr>
                  <a:t>；</a:t>
                </a:r>
                <a:endParaRPr lang="en-US" altLang="zh-CN" sz="2400" b="1" dirty="0">
                  <a:solidFill>
                    <a:schemeClr val="bg1"/>
                  </a:solidFill>
                </a:endParaRPr>
              </a:p>
              <a:p>
                <a:pPr>
                  <a:lnSpc>
                    <a:spcPts val="3800"/>
                  </a:lnSpc>
                  <a:spcAft>
                    <a:spcPts val="1200"/>
                  </a:spcAft>
                </a:pPr>
                <a:r>
                  <a:rPr lang="en-US" altLang="zh-CN" sz="2400" b="1" dirty="0">
                    <a:solidFill>
                      <a:schemeClr val="bg1"/>
                    </a:solidFill>
                  </a:rPr>
                  <a:t>    </a:t>
                </a:r>
                <a14:m>
                  <m:oMath xmlns:m="http://schemas.openxmlformats.org/officeDocument/2006/math">
                    <m:r>
                      <a:rPr lang="en-US" altLang="zh-CN" sz="2400" b="1" i="1" smtClean="0">
                        <a:solidFill>
                          <a:schemeClr val="bg1"/>
                        </a:solidFill>
                        <a:latin typeface="Cambria Math" panose="02040503050406030204" pitchFamily="18" charset="0"/>
                      </a:rPr>
                      <m:t> </m:t>
                    </m:r>
                    <m:sSup>
                      <m:sSupPr>
                        <m:ctrlPr>
                          <a:rPr lang="zh-CN" altLang="zh-CN" sz="2400" b="1" i="1" smtClean="0">
                            <a:solidFill>
                              <a:schemeClr val="bg1"/>
                            </a:solidFill>
                            <a:latin typeface="Cambria Math" panose="02040503050406030204" pitchFamily="18" charset="0"/>
                          </a:rPr>
                        </m:ctrlPr>
                      </m:sSupPr>
                      <m:e>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𝒊𝒊</m:t>
                            </m:r>
                          </m:sub>
                        </m:sSub>
                      </m:e>
                      <m:sup>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𝒎</m:t>
                        </m:r>
                        <m:r>
                          <a:rPr lang="en-US" altLang="zh-CN" sz="2400" b="1" i="1">
                            <a:solidFill>
                              <a:schemeClr val="bg1"/>
                            </a:solidFill>
                            <a:latin typeface="Cambria Math" panose="02040503050406030204" pitchFamily="18" charset="0"/>
                          </a:rPr>
                          <m:t>)</m:t>
                        </m:r>
                      </m:sup>
                    </m:sSup>
                  </m:oMath>
                </a14:m>
                <a:r>
                  <a:rPr lang="zh-CN" altLang="zh-CN" sz="2400" b="1" dirty="0">
                    <a:solidFill>
                      <a:schemeClr val="bg1"/>
                    </a:solidFill>
                  </a:rPr>
                  <a:t>表示从</a:t>
                </a:r>
                <a:r>
                  <a:rPr lang="zh-CN" altLang="zh-CN" sz="2400" b="1" dirty="0">
                    <a:solidFill>
                      <a:srgbClr val="FFFF00"/>
                    </a:solidFill>
                  </a:rPr>
                  <a:t>结点</a:t>
                </a:r>
                <a14:m>
                  <m:oMath xmlns:m="http://schemas.openxmlformats.org/officeDocument/2006/math">
                    <m:r>
                      <a:rPr lang="zh-CN" altLang="zh-CN" sz="2400" b="1">
                        <a:solidFill>
                          <a:srgbClr val="FFFF00"/>
                        </a:solidFill>
                        <a:latin typeface="Cambria Math" panose="02040503050406030204" pitchFamily="18" charset="0"/>
                      </a:rPr>
                      <m:t> </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𝒗</m:t>
                        </m:r>
                      </m:e>
                      <m:sub>
                        <m:r>
                          <a:rPr lang="en-US" altLang="zh-CN" sz="2400" b="1" i="1">
                            <a:solidFill>
                              <a:srgbClr val="FFFF00"/>
                            </a:solidFill>
                            <a:latin typeface="Cambria Math" panose="02040503050406030204" pitchFamily="18" charset="0"/>
                          </a:rPr>
                          <m:t>𝒊</m:t>
                        </m:r>
                      </m:sub>
                    </m:sSub>
                    <m:r>
                      <a:rPr lang="en-US" altLang="zh-CN" sz="2400" b="1" i="1">
                        <a:solidFill>
                          <a:srgbClr val="FFFF00"/>
                        </a:solidFill>
                        <a:latin typeface="Cambria Math" panose="02040503050406030204" pitchFamily="18" charset="0"/>
                      </a:rPr>
                      <m:t> </m:t>
                    </m:r>
                  </m:oMath>
                </a14:m>
                <a:r>
                  <a:rPr lang="zh-CN" altLang="zh-CN" sz="2400" b="1" dirty="0">
                    <a:solidFill>
                      <a:srgbClr val="FFFF00"/>
                    </a:solidFill>
                  </a:rPr>
                  <a:t>到其自身长度为</a:t>
                </a:r>
                <a14:m>
                  <m:oMath xmlns:m="http://schemas.openxmlformats.org/officeDocument/2006/math">
                    <m:r>
                      <a:rPr lang="zh-CN" altLang="zh-CN" sz="2400" b="1">
                        <a:solidFill>
                          <a:srgbClr val="FFFF00"/>
                        </a:solidFill>
                        <a:latin typeface="Cambria Math" panose="02040503050406030204" pitchFamily="18" charset="0"/>
                      </a:rPr>
                      <m:t> </m:t>
                    </m:r>
                    <m:r>
                      <a:rPr lang="en-US" altLang="zh-CN" sz="2400" b="1" i="1">
                        <a:solidFill>
                          <a:srgbClr val="FFFF00"/>
                        </a:solidFill>
                        <a:latin typeface="Cambria Math" panose="02040503050406030204" pitchFamily="18" charset="0"/>
                      </a:rPr>
                      <m:t>𝒎</m:t>
                    </m:r>
                    <m:r>
                      <a:rPr lang="en-US" altLang="zh-CN" sz="2400" b="1" i="1">
                        <a:solidFill>
                          <a:srgbClr val="FFFF00"/>
                        </a:solidFill>
                        <a:latin typeface="Cambria Math" panose="02040503050406030204" pitchFamily="18" charset="0"/>
                      </a:rPr>
                      <m:t> </m:t>
                    </m:r>
                  </m:oMath>
                </a14:m>
                <a:r>
                  <a:rPr lang="zh-CN" altLang="zh-CN" sz="2400" b="1" dirty="0">
                    <a:solidFill>
                      <a:srgbClr val="FFFF00"/>
                    </a:solidFill>
                  </a:rPr>
                  <a:t>的回路数目</a:t>
                </a:r>
                <a:r>
                  <a:rPr lang="zh-CN" altLang="zh-CN" sz="2400" b="1" dirty="0">
                    <a:solidFill>
                      <a:schemeClr val="bg1"/>
                    </a:solidFill>
                  </a:rPr>
                  <a:t>；</a:t>
                </a:r>
                <a:r>
                  <a:rPr lang="en-US" altLang="zh-CN" sz="2400" b="1" dirty="0">
                    <a:solidFill>
                      <a:schemeClr val="bg1"/>
                    </a:solidFill>
                  </a:rPr>
                  <a:t> </a:t>
                </a:r>
              </a:p>
              <a:p>
                <a:pPr>
                  <a:lnSpc>
                    <a:spcPts val="3800"/>
                  </a:lnSpc>
                  <a:spcAft>
                    <a:spcPts val="1200"/>
                  </a:spcAft>
                </a:pPr>
                <a:r>
                  <a:rPr lang="en-US" altLang="zh-CN" sz="2400" b="1" dirty="0">
                    <a:solidFill>
                      <a:schemeClr val="bg1"/>
                    </a:solidFill>
                  </a:rPr>
                  <a:t>    </a:t>
                </a:r>
                <a14:m>
                  <m:oMath xmlns:m="http://schemas.openxmlformats.org/officeDocument/2006/math">
                    <m:r>
                      <a:rPr lang="zh-CN" altLang="zh-CN" sz="2400" b="1" i="1">
                        <a:solidFill>
                          <a:schemeClr val="bg1"/>
                        </a:solidFill>
                        <a:latin typeface="Cambria Math" panose="02040503050406030204" pitchFamily="18" charset="0"/>
                      </a:rPr>
                      <m:t> </m:t>
                    </m:r>
                    <m:nary>
                      <m:naryPr>
                        <m:chr m:val="∑"/>
                        <m:limLoc m:val="undOvr"/>
                        <m:ctrlPr>
                          <a:rPr lang="zh-CN" altLang="zh-CN" sz="2400" b="1" i="1" smtClean="0">
                            <a:solidFill>
                              <a:schemeClr val="bg1"/>
                            </a:solidFill>
                            <a:latin typeface="Cambria Math" panose="02040503050406030204" pitchFamily="18" charset="0"/>
                          </a:rPr>
                        </m:ctrlPr>
                      </m:naryPr>
                      <m:sub>
                        <m:r>
                          <a:rPr lang="en-US" altLang="zh-CN" sz="2400" b="1" i="1">
                            <a:solidFill>
                              <a:schemeClr val="bg1"/>
                            </a:solidFill>
                            <a:latin typeface="Cambria Math" panose="02040503050406030204" pitchFamily="18" charset="0"/>
                          </a:rPr>
                          <m:t>𝒊</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𝟏</m:t>
                        </m:r>
                      </m:sub>
                      <m:sup>
                        <m:r>
                          <a:rPr lang="en-US" altLang="zh-CN" sz="2400" b="1" i="1">
                            <a:solidFill>
                              <a:schemeClr val="bg1"/>
                            </a:solidFill>
                            <a:latin typeface="Cambria Math" panose="02040503050406030204" pitchFamily="18" charset="0"/>
                          </a:rPr>
                          <m:t>𝒏</m:t>
                        </m:r>
                      </m:sup>
                      <m:e>
                        <m:nary>
                          <m:naryPr>
                            <m:chr m:val="∑"/>
                            <m:limLoc m:val="undOvr"/>
                            <m:ctrlPr>
                              <a:rPr lang="zh-CN" altLang="zh-CN" sz="2400" b="1" i="1">
                                <a:solidFill>
                                  <a:schemeClr val="bg1"/>
                                </a:solidFill>
                                <a:latin typeface="Cambria Math" panose="02040503050406030204" pitchFamily="18" charset="0"/>
                              </a:rPr>
                            </m:ctrlPr>
                          </m:naryPr>
                          <m:sub>
                            <m:r>
                              <a:rPr lang="en-US" altLang="zh-CN" sz="2400" b="1" i="1">
                                <a:solidFill>
                                  <a:schemeClr val="bg1"/>
                                </a:solidFill>
                                <a:latin typeface="Cambria Math" panose="02040503050406030204" pitchFamily="18" charset="0"/>
                              </a:rPr>
                              <m:t>𝒋</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𝟏</m:t>
                            </m:r>
                          </m:sub>
                          <m:sup>
                            <m:r>
                              <a:rPr lang="en-US" altLang="zh-CN" sz="2400" b="1" i="1">
                                <a:solidFill>
                                  <a:schemeClr val="bg1"/>
                                </a:solidFill>
                                <a:latin typeface="Cambria Math" panose="02040503050406030204" pitchFamily="18" charset="0"/>
                              </a:rPr>
                              <m:t>𝒏</m:t>
                            </m:r>
                          </m:sup>
                          <m:e>
                            <m:sSup>
                              <m:sSupPr>
                                <m:ctrlPr>
                                  <a:rPr lang="zh-CN" altLang="zh-CN" sz="2400" b="1" i="1">
                                    <a:solidFill>
                                      <a:schemeClr val="bg1"/>
                                    </a:solidFill>
                                    <a:latin typeface="Cambria Math" panose="02040503050406030204" pitchFamily="18" charset="0"/>
                                  </a:rPr>
                                </m:ctrlPr>
                              </m:sSupPr>
                              <m:e>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𝒊𝒋</m:t>
                                    </m:r>
                                  </m:sub>
                                </m:sSub>
                              </m:e>
                              <m:sup>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𝒎</m:t>
                                </m:r>
                                <m:r>
                                  <a:rPr lang="en-US" altLang="zh-CN" sz="2400" b="1" i="1">
                                    <a:solidFill>
                                      <a:schemeClr val="bg1"/>
                                    </a:solidFill>
                                    <a:latin typeface="Cambria Math" panose="02040503050406030204" pitchFamily="18" charset="0"/>
                                  </a:rPr>
                                  <m:t>)</m:t>
                                </m:r>
                              </m:sup>
                            </m:sSup>
                          </m:e>
                        </m:nary>
                      </m:e>
                    </m:nary>
                  </m:oMath>
                </a14:m>
                <a:r>
                  <a:rPr lang="zh-CN" altLang="zh-CN" sz="2400" b="1" dirty="0">
                    <a:solidFill>
                      <a:schemeClr val="bg1"/>
                    </a:solidFill>
                  </a:rPr>
                  <a:t>为</a:t>
                </a:r>
                <a14:m>
                  <m:oMath xmlns:m="http://schemas.openxmlformats.org/officeDocument/2006/math">
                    <m:r>
                      <a:rPr lang="en-US" altLang="zh-CN" sz="2400" b="1" i="1">
                        <a:solidFill>
                          <a:schemeClr val="bg1"/>
                        </a:solidFill>
                        <a:latin typeface="Cambria Math" panose="02040503050406030204" pitchFamily="18" charset="0"/>
                      </a:rPr>
                      <m:t>𝐆</m:t>
                    </m:r>
                  </m:oMath>
                </a14:m>
                <a:r>
                  <a:rPr lang="zh-CN" altLang="zh-CN" sz="2400" b="1" dirty="0">
                    <a:solidFill>
                      <a:schemeClr val="bg1"/>
                    </a:solidFill>
                  </a:rPr>
                  <a:t>中长度为</a:t>
                </a:r>
                <a14:m>
                  <m:oMath xmlns:m="http://schemas.openxmlformats.org/officeDocument/2006/math">
                    <m:r>
                      <a:rPr lang="zh-CN" altLang="zh-CN" sz="2400" b="1">
                        <a:solidFill>
                          <a:schemeClr val="bg1"/>
                        </a:solidFill>
                        <a:latin typeface="Cambria Math" panose="02040503050406030204" pitchFamily="18" charset="0"/>
                      </a:rPr>
                      <m:t> </m:t>
                    </m:r>
                    <m:r>
                      <a:rPr lang="en-US" altLang="zh-CN" sz="2400" b="1" i="1">
                        <a:solidFill>
                          <a:schemeClr val="bg1"/>
                        </a:solidFill>
                        <a:latin typeface="Cambria Math" panose="02040503050406030204" pitchFamily="18" charset="0"/>
                      </a:rPr>
                      <m:t>𝒎</m:t>
                    </m:r>
                    <m:r>
                      <a:rPr lang="en-US" altLang="zh-CN" sz="2400" b="1">
                        <a:solidFill>
                          <a:schemeClr val="bg1"/>
                        </a:solidFill>
                        <a:latin typeface="Cambria Math" panose="02040503050406030204" pitchFamily="18" charset="0"/>
                      </a:rPr>
                      <m:t> </m:t>
                    </m:r>
                  </m:oMath>
                </a14:m>
                <a:r>
                  <a:rPr lang="zh-CN" altLang="zh-CN" sz="2400" b="1" dirty="0">
                    <a:solidFill>
                      <a:schemeClr val="bg1"/>
                    </a:solidFill>
                  </a:rPr>
                  <a:t>的</a:t>
                </a:r>
                <a:r>
                  <a:rPr lang="zh-CN" altLang="zh-CN" sz="2400" b="1" dirty="0">
                    <a:solidFill>
                      <a:srgbClr val="FFFF00"/>
                    </a:solidFill>
                  </a:rPr>
                  <a:t>通路</a:t>
                </a:r>
                <a:r>
                  <a:rPr lang="en-US" altLang="zh-CN" sz="2400" b="1" dirty="0">
                    <a:solidFill>
                      <a:srgbClr val="FFFF00"/>
                    </a:solidFill>
                  </a:rPr>
                  <a:t>(</a:t>
                </a:r>
                <a:r>
                  <a:rPr lang="zh-CN" altLang="zh-CN" sz="2400" b="1" dirty="0">
                    <a:solidFill>
                      <a:srgbClr val="FFFF00"/>
                    </a:solidFill>
                  </a:rPr>
                  <a:t>包括回路</a:t>
                </a:r>
                <a:r>
                  <a:rPr lang="en-US" altLang="zh-CN" sz="2400" b="1" dirty="0">
                    <a:solidFill>
                      <a:srgbClr val="FFFF00"/>
                    </a:solidFill>
                  </a:rPr>
                  <a:t>)</a:t>
                </a:r>
                <a:r>
                  <a:rPr lang="zh-CN" altLang="zh-CN" sz="2400" b="1" dirty="0">
                    <a:solidFill>
                      <a:srgbClr val="FFFF00"/>
                    </a:solidFill>
                  </a:rPr>
                  <a:t>总数</a:t>
                </a:r>
                <a:r>
                  <a:rPr lang="zh-CN" altLang="zh-CN" sz="2400" b="1" dirty="0">
                    <a:solidFill>
                      <a:schemeClr val="bg1"/>
                    </a:solidFill>
                  </a:rPr>
                  <a:t>。</a:t>
                </a:r>
                <a:endParaRPr lang="zh-CN" altLang="en-US" sz="2400" b="1" dirty="0">
                  <a:solidFill>
                    <a:schemeClr val="bg1"/>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234970" y="2031586"/>
                <a:ext cx="8674059" cy="3862596"/>
              </a:xfrm>
              <a:prstGeom prst="rect">
                <a:avLst/>
              </a:prstGeom>
              <a:blipFill>
                <a:blip r:embed="rId4"/>
                <a:stretch>
                  <a:fillRect l="-1125" t="-158" b="-631"/>
                </a:stretch>
              </a:blipFill>
              <a:ln w="19050">
                <a:noFill/>
              </a:ln>
            </p:spPr>
            <p:txBody>
              <a:bodyPr/>
              <a:lstStyle/>
              <a:p>
                <a:r>
                  <a:rPr lang="zh-CN" altLang="en-US">
                    <a:noFill/>
                  </a:rPr>
                  <a:t> </a:t>
                </a:r>
              </a:p>
            </p:txBody>
          </p:sp>
        </mc:Fallback>
      </mc:AlternateContent>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8FFC544C-D4B9-40CB-9ACD-67B7E1322950}"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pic>
        <p:nvPicPr>
          <p:cNvPr id="13926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8384" y="507229"/>
            <a:ext cx="1164202" cy="1224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287A61A-065C-4D6E-ABD7-8D699D8BAA59}"/>
                  </a:ext>
                </a:extLst>
              </p:cNvPr>
              <p:cNvSpPr/>
              <p:nvPr/>
            </p:nvSpPr>
            <p:spPr>
              <a:xfrm>
                <a:off x="323535" y="1757816"/>
                <a:ext cx="8496929" cy="4506042"/>
              </a:xfrm>
              <a:prstGeom prst="rect">
                <a:avLst/>
              </a:prstGeom>
              <a:solidFill>
                <a:schemeClr val="accent6">
                  <a:lumMod val="75000"/>
                </a:schemeClr>
              </a:solidFill>
            </p:spPr>
            <p:txBody>
              <a:bodyPr wrap="square">
                <a:spAutoFit/>
              </a:bodyPr>
              <a:lstStyle/>
              <a:p>
                <a:pPr indent="266700" algn="just">
                  <a:lnSpc>
                    <a:spcPts val="3200"/>
                  </a:lnSpc>
                  <a:spcAft>
                    <a:spcPts val="0"/>
                  </a:spcAft>
                </a:pPr>
                <a:r>
                  <a:rPr lang="en-US" altLang="zh-CN" sz="2400" b="1" kern="100" dirty="0">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【证明】</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仅证明</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𝒊𝒋</m:t>
                            </m:r>
                          </m:sub>
                        </m:sSub>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𝒎</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表示从</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结</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点</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𝒋</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长度为</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𝒎</m:t>
                    </m:r>
                    <m:r>
                      <a:rPr lang="en-US"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的通路数目</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。对</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𝒎</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用数学归纳法。当</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𝒎</m:t>
                    </m:r>
                    <m:r>
                      <a:rPr lang="en-US"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时，</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结论</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显然成立。</a:t>
                </a:r>
              </a:p>
              <a:p>
                <a:pPr indent="266700" algn="just">
                  <a:lnSpc>
                    <a:spcPts val="32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设当</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𝒎</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𝒌</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时，</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结论</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成立，</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则</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当</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𝒎</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𝒌</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时，有：</a:t>
                </a:r>
              </a:p>
              <a:p>
                <a:pPr indent="266700" algn="just">
                  <a:spcAft>
                    <a:spcPts val="0"/>
                  </a:spcAft>
                </a:pPr>
                <a14:m>
                  <m:oMathPara xmlns:m="http://schemas.openxmlformats.org/officeDocument/2006/math">
                    <m:oMathParaPr>
                      <m:jc m:val="centerGroup"/>
                    </m:oMathParaPr>
                    <m:oMath xmlns:m="http://schemas.openxmlformats.org/officeDocument/2006/math">
                      <m:r>
                        <a:rPr lang="en-US" altLang="zh-CN" sz="2400" b="1" kern="100" smtClean="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𝒊𝒋</m:t>
                              </m:r>
                            </m:sub>
                          </m:sSub>
                        </m:e>
                        <m:sup>
                          <m:d>
                            <m:d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𝟏</m:t>
                              </m:r>
                            </m:e>
                          </m:d>
                        </m:sup>
                      </m:sSup>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𝒏</m:t>
                          </m:r>
                          <m:r>
                            <a:rPr lang="zh-CN"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𝒏</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𝑨</m:t>
                          </m:r>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𝟏</m:t>
                          </m:r>
                        </m:sup>
                      </m:sSup>
                      <m:r>
                        <a:rPr lang="en-US" altLang="zh-CN" sz="2400" b="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𝑨</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𝑨</m:t>
                          </m:r>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sup>
                      </m:sSup>
                    </m:oMath>
                  </m:oMathPara>
                </a14:m>
                <a:endPar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6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故有：</a:t>
                </a:r>
              </a:p>
              <a:p>
                <a:pPr indent="266700" algn="just">
                  <a:spcAft>
                    <a:spcPts val="0"/>
                  </a:spcAft>
                </a:pPr>
                <a14:m>
                  <m:oMathPara xmlns:m="http://schemas.openxmlformats.org/officeDocument/2006/math">
                    <m:oMathParaPr>
                      <m:jc m:val="centerGroup"/>
                    </m:oMathParaPr>
                    <m:oMath xmlns:m="http://schemas.openxmlformats.org/officeDocument/2006/math">
                      <m:sSup>
                        <m:sSupPr>
                          <m:ctrlPr>
                            <a:rPr lang="zh-CN" altLang="zh-CN" sz="2400" b="1" i="1" kern="100" smtClean="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𝒊𝒋</m:t>
                              </m:r>
                            </m:sub>
                          </m:sSub>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undOv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𝒑</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𝟏</m:t>
                          </m:r>
                        </m:sub>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𝒏</m:t>
                          </m:r>
                        </m:sup>
                        <m:e>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𝒊𝒑</m:t>
                              </m:r>
                            </m:sub>
                          </m:sSub>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𝒑𝒋</m:t>
                                  </m:r>
                                </m:sub>
                              </m:sSub>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p>
                        </m:e>
                      </m:nary>
                    </m:oMath>
                  </m:oMathPara>
                </a14:m>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2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其中</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𝒊𝒑</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表示</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结</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点</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𝒑</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长度为</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的通路数目，</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𝒑𝒋</m:t>
                            </m:r>
                          </m:sub>
                        </m:sSub>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表示</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结</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点</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𝒑</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𝒋</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长度为</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𝒌</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的通路数目，</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故</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𝒊𝒋</m:t>
                            </m:r>
                          </m:sub>
                        </m:sSub>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表示</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结</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点</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𝒋</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长度为</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𝒌</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𝟏</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的通路数目。</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故结论对任意</a:t>
                </a:r>
                <a14:m>
                  <m:oMath xmlns:m="http://schemas.openxmlformats.org/officeDocument/2006/math">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𝒎</m:t>
                    </m:r>
                  </m:oMath>
                </a14:m>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成立</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p>
            </p:txBody>
          </p:sp>
        </mc:Choice>
        <mc:Fallback xmlns="">
          <p:sp>
            <p:nvSpPr>
              <p:cNvPr id="3" name="矩形 2">
                <a:extLst>
                  <a:ext uri="{FF2B5EF4-FFF2-40B4-BE49-F238E27FC236}">
                    <a16:creationId xmlns:a16="http://schemas.microsoft.com/office/drawing/2014/main" id="{4287A61A-065C-4D6E-ABD7-8D699D8BAA59}"/>
                  </a:ext>
                </a:extLst>
              </p:cNvPr>
              <p:cNvSpPr>
                <a:spLocks noRot="1" noChangeAspect="1" noMove="1" noResize="1" noEditPoints="1" noAdjustHandles="1" noChangeArrowheads="1" noChangeShapeType="1" noTextEdit="1"/>
              </p:cNvSpPr>
              <p:nvPr/>
            </p:nvSpPr>
            <p:spPr>
              <a:xfrm>
                <a:off x="323535" y="1757816"/>
                <a:ext cx="8496929" cy="4506042"/>
              </a:xfrm>
              <a:prstGeom prst="rect">
                <a:avLst/>
              </a:prstGeom>
              <a:blipFill>
                <a:blip r:embed="rId4"/>
                <a:stretch>
                  <a:fillRect l="-1076" t="-1486" r="-1148" b="-811"/>
                </a:stretch>
              </a:blipFill>
            </p:spPr>
            <p:txBody>
              <a:bodyPr/>
              <a:lstStyle/>
              <a:p>
                <a:r>
                  <a:rPr lang="zh-CN" altLang="en-US">
                    <a:noFill/>
                  </a:rPr>
                  <a:t> </a:t>
                </a:r>
              </a:p>
            </p:txBody>
          </p:sp>
        </mc:Fallback>
      </mc:AlternateContent>
      <p:sp>
        <p:nvSpPr>
          <p:cNvPr id="6" name="Text Box 2">
            <a:extLst>
              <a:ext uri="{FF2B5EF4-FFF2-40B4-BE49-F238E27FC236}">
                <a16:creationId xmlns:a16="http://schemas.microsoft.com/office/drawing/2014/main" id="{0BBE30DC-3E12-4DBC-A5C3-2BD9DA6C3E65}"/>
              </a:ext>
            </a:extLst>
          </p:cNvPr>
          <p:cNvSpPr txBox="1">
            <a:spLocks noChangeArrowheads="1"/>
          </p:cNvSpPr>
          <p:nvPr/>
        </p:nvSpPr>
        <p:spPr bwMode="auto">
          <a:xfrm>
            <a:off x="1547664" y="635191"/>
            <a:ext cx="6126943"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通路计数定理</a:t>
            </a:r>
          </a:p>
        </p:txBody>
      </p:sp>
    </p:spTree>
    <p:extLst>
      <p:ext uri="{BB962C8B-B14F-4D97-AF65-F5344CB8AC3E}">
        <p14:creationId xmlns:p14="http://schemas.microsoft.com/office/powerpoint/2010/main" val="833044196"/>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730933" y="1880039"/>
                <a:ext cx="7831248" cy="967894"/>
              </a:xfrm>
              <a:prstGeom prst="rect">
                <a:avLst/>
              </a:prstGeom>
              <a:solidFill>
                <a:schemeClr val="accent5"/>
              </a:solidFill>
              <a:ln w="19050">
                <a:noFill/>
              </a:ln>
            </p:spPr>
            <p:txBody>
              <a:bodyPr wrap="square" rtlCol="0">
                <a:spAutoFit/>
              </a:bodyPr>
              <a:lstStyle/>
              <a:p>
                <a:pPr>
                  <a:lnSpc>
                    <a:spcPts val="3600"/>
                  </a:lnSpc>
                </a:pPr>
                <a:r>
                  <a:rPr lang="en-US" altLang="zh-CN" sz="2400" dirty="0"/>
                  <a:t>   </a:t>
                </a:r>
                <a:r>
                  <a:rPr lang="zh-CN" altLang="zh-CN" sz="2400" b="1" dirty="0"/>
                  <a:t>【例题】</a:t>
                </a:r>
                <a:r>
                  <a:rPr lang="zh-CN" altLang="zh-CN" sz="2400" b="1" dirty="0">
                    <a:solidFill>
                      <a:schemeClr val="tx1"/>
                    </a:solidFill>
                  </a:rPr>
                  <a:t>求</a:t>
                </a:r>
                <a:r>
                  <a:rPr lang="zh-CN" altLang="en-US" sz="2400" b="1" dirty="0">
                    <a:solidFill>
                      <a:schemeClr val="tx1"/>
                    </a:solidFill>
                  </a:rPr>
                  <a:t>下图</a:t>
                </a:r>
                <a:r>
                  <a:rPr lang="zh-CN" altLang="zh-CN" sz="2400" b="1" dirty="0">
                    <a:solidFill>
                      <a:schemeClr val="tx1"/>
                    </a:solidFill>
                  </a:rPr>
                  <a:t>所示无向图</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a:solidFill>
                          <a:schemeClr val="tx1"/>
                        </a:solidFill>
                        <a:latin typeface="Cambria Math" panose="02040503050406030204" pitchFamily="18" charset="0"/>
                      </a:rPr>
                      <m:t> </m:t>
                    </m:r>
                  </m:oMath>
                </a14:m>
                <a:r>
                  <a:rPr lang="zh-CN" altLang="zh-CN" sz="2400" b="1" dirty="0">
                    <a:solidFill>
                      <a:schemeClr val="tx1"/>
                    </a:solidFill>
                  </a:rPr>
                  <a:t>中结点</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𝟏</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到</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𝟒</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长度为</a:t>
                </a:r>
                <a:r>
                  <a:rPr lang="en-US" altLang="zh-CN" sz="2400" b="1" dirty="0">
                    <a:solidFill>
                      <a:schemeClr val="tx1"/>
                    </a:solidFill>
                  </a:rPr>
                  <a:t>4</a:t>
                </a:r>
                <a:r>
                  <a:rPr lang="zh-CN" altLang="zh-CN" sz="2400" b="1" dirty="0">
                    <a:solidFill>
                      <a:schemeClr val="tx1"/>
                    </a:solidFill>
                  </a:rPr>
                  <a:t>的通路数目及所有长度为</a:t>
                </a:r>
                <a:r>
                  <a:rPr lang="en-US" altLang="zh-CN" sz="2400" b="1" dirty="0">
                    <a:solidFill>
                      <a:schemeClr val="tx1"/>
                    </a:solidFill>
                  </a:rPr>
                  <a:t>4</a:t>
                </a:r>
                <a:r>
                  <a:rPr lang="zh-CN" altLang="zh-CN" sz="2400" b="1" dirty="0">
                    <a:solidFill>
                      <a:schemeClr val="tx1"/>
                    </a:solidFill>
                  </a:rPr>
                  <a:t>的通路数目以及回路数目。</a:t>
                </a:r>
                <a:endParaRPr lang="en-US" altLang="zh-CN" sz="2400" b="1" dirty="0">
                  <a:solidFill>
                    <a:srgbClr val="660033"/>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730933" y="1880039"/>
                <a:ext cx="7831248" cy="967894"/>
              </a:xfrm>
              <a:prstGeom prst="rect">
                <a:avLst/>
              </a:prstGeom>
              <a:blipFill>
                <a:blip r:embed="rId4"/>
                <a:stretch>
                  <a:fillRect l="-1245" t="-2516" b="-11321"/>
                </a:stretch>
              </a:blipFill>
              <a:ln w="19050">
                <a:noFill/>
              </a:ln>
            </p:spPr>
            <p:txBody>
              <a:bodyPr/>
              <a:lstStyle/>
              <a:p>
                <a:r>
                  <a:rPr lang="zh-CN" altLang="en-US">
                    <a:noFill/>
                  </a:rPr>
                  <a:t> </a:t>
                </a:r>
              </a:p>
            </p:txBody>
          </p:sp>
        </mc:Fallback>
      </mc:AlternateContent>
      <p:pic>
        <p:nvPicPr>
          <p:cNvPr id="2" name="图片 1"/>
          <p:cNvPicPr>
            <a:picLocks noChangeAspect="1"/>
          </p:cNvPicPr>
          <p:nvPr/>
        </p:nvPicPr>
        <p:blipFill>
          <a:blip r:embed="rId5"/>
          <a:stretch>
            <a:fillRect/>
          </a:stretch>
        </p:blipFill>
        <p:spPr>
          <a:xfrm>
            <a:off x="1691680" y="3137225"/>
            <a:ext cx="2304256" cy="1946699"/>
          </a:xfrm>
          <a:prstGeom prst="rect">
            <a:avLst/>
          </a:prstGeom>
        </p:spPr>
      </p:pic>
      <p:pic>
        <p:nvPicPr>
          <p:cNvPr id="3" name="图片 2">
            <a:extLst>
              <a:ext uri="{FF2B5EF4-FFF2-40B4-BE49-F238E27FC236}">
                <a16:creationId xmlns:a16="http://schemas.microsoft.com/office/drawing/2014/main" id="{5D1A5F69-2C1B-45D4-8CB4-D075C557A824}"/>
              </a:ext>
            </a:extLst>
          </p:cNvPr>
          <p:cNvPicPr>
            <a:picLocks noChangeAspect="1"/>
          </p:cNvPicPr>
          <p:nvPr/>
        </p:nvPicPr>
        <p:blipFill>
          <a:blip r:embed="rId6"/>
          <a:stretch>
            <a:fillRect/>
          </a:stretch>
        </p:blipFill>
        <p:spPr>
          <a:xfrm>
            <a:off x="4302620" y="3228396"/>
            <a:ext cx="4259561" cy="1888258"/>
          </a:xfrm>
          <a:prstGeom prst="rect">
            <a:avLst/>
          </a:prstGeom>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B9649331-9322-415A-8067-CB6CB9B980A3}"/>
                  </a:ext>
                </a:extLst>
              </p:cNvPr>
              <p:cNvSpPr/>
              <p:nvPr/>
            </p:nvSpPr>
            <p:spPr>
              <a:xfrm>
                <a:off x="827584" y="5373216"/>
                <a:ext cx="4893584" cy="461665"/>
              </a:xfrm>
              <a:prstGeom prst="rect">
                <a:avLst/>
              </a:prstGeom>
              <a:solidFill>
                <a:schemeClr val="accent5"/>
              </a:solidFill>
            </p:spPr>
            <p:txBody>
              <a:bodyPr wrap="none">
                <a:spAutoFit/>
              </a:bodyPr>
              <a:lstStyle/>
              <a:p>
                <a:r>
                  <a:rPr lang="zh-CN" altLang="zh-CN" sz="2400" dirty="0">
                    <a:solidFill>
                      <a:schemeClr val="accent2"/>
                    </a:solidFill>
                  </a:rPr>
                  <a:t>【解】</a:t>
                </a:r>
                <a:r>
                  <a:rPr lang="zh-CN" altLang="zh-CN" sz="2400" dirty="0">
                    <a:solidFill>
                      <a:schemeClr val="tx1"/>
                    </a:solidFill>
                  </a:rPr>
                  <a:t>先写出图</a:t>
                </a:r>
                <a14:m>
                  <m:oMath xmlns:m="http://schemas.openxmlformats.org/officeDocument/2006/math">
                    <m:r>
                      <a:rPr lang="en-US" altLang="zh-CN" sz="2400" i="1">
                        <a:solidFill>
                          <a:schemeClr val="tx1"/>
                        </a:solidFill>
                        <a:latin typeface="Cambria Math" panose="02040503050406030204" pitchFamily="18" charset="0"/>
                      </a:rPr>
                      <m:t>𝐺</m:t>
                    </m:r>
                  </m:oMath>
                </a14:m>
                <a:r>
                  <a:rPr lang="zh-CN" altLang="zh-CN" sz="2400" dirty="0">
                    <a:solidFill>
                      <a:schemeClr val="tx1"/>
                    </a:solidFill>
                  </a:rPr>
                  <a:t>的邻接矩阵</a:t>
                </a:r>
                <a14:m>
                  <m:oMath xmlns:m="http://schemas.openxmlformats.org/officeDocument/2006/math">
                    <m:r>
                      <a:rPr lang="zh-CN" altLang="zh-CN" sz="2400">
                        <a:solidFill>
                          <a:schemeClr val="tx1"/>
                        </a:solidFill>
                        <a:latin typeface="Cambria Math" panose="02040503050406030204" pitchFamily="18" charset="0"/>
                      </a:rPr>
                      <m:t> </m:t>
                    </m:r>
                    <m:sSub>
                      <m:sSubPr>
                        <m:ctrlPr>
                          <a:rPr lang="zh-CN"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𝐴</m:t>
                        </m:r>
                      </m:e>
                      <m:sub>
                        <m:r>
                          <a:rPr lang="en-US" altLang="zh-CN" sz="2400" i="1">
                            <a:solidFill>
                              <a:schemeClr val="tx1"/>
                            </a:solidFill>
                            <a:latin typeface="Cambria Math" panose="02040503050406030204" pitchFamily="18" charset="0"/>
                          </a:rPr>
                          <m:t>𝐺</m:t>
                        </m:r>
                      </m:sub>
                    </m:sSub>
                    <m:r>
                      <a:rPr lang="en-US" altLang="zh-CN" sz="2400" i="1">
                        <a:solidFill>
                          <a:schemeClr val="tx1"/>
                        </a:solidFill>
                        <a:latin typeface="Cambria Math" panose="02040503050406030204" pitchFamily="18" charset="0"/>
                      </a:rPr>
                      <m:t> </m:t>
                    </m:r>
                  </m:oMath>
                </a14:m>
                <a:r>
                  <a:rPr lang="zh-CN" altLang="zh-CN" sz="2400" dirty="0">
                    <a:solidFill>
                      <a:schemeClr val="tx1"/>
                    </a:solidFill>
                  </a:rPr>
                  <a:t>。</a:t>
                </a:r>
                <a:endParaRPr lang="zh-CN" altLang="zh-CN" sz="2400" dirty="0">
                  <a:solidFill>
                    <a:srgbClr val="800080"/>
                  </a:solidFill>
                </a:endParaRPr>
              </a:p>
            </p:txBody>
          </p:sp>
        </mc:Choice>
        <mc:Fallback xmlns="">
          <p:sp>
            <p:nvSpPr>
              <p:cNvPr id="4" name="矩形 3">
                <a:extLst>
                  <a:ext uri="{FF2B5EF4-FFF2-40B4-BE49-F238E27FC236}">
                    <a16:creationId xmlns:a16="http://schemas.microsoft.com/office/drawing/2014/main" id="{B9649331-9322-415A-8067-CB6CB9B980A3}"/>
                  </a:ext>
                </a:extLst>
              </p:cNvPr>
              <p:cNvSpPr>
                <a:spLocks noRot="1" noChangeAspect="1" noMove="1" noResize="1" noEditPoints="1" noAdjustHandles="1" noChangeArrowheads="1" noChangeShapeType="1" noTextEdit="1"/>
              </p:cNvSpPr>
              <p:nvPr/>
            </p:nvSpPr>
            <p:spPr>
              <a:xfrm>
                <a:off x="827584" y="5373216"/>
                <a:ext cx="4893584" cy="461665"/>
              </a:xfrm>
              <a:prstGeom prst="rect">
                <a:avLst/>
              </a:prstGeom>
              <a:blipFill>
                <a:blip r:embed="rId7"/>
                <a:stretch>
                  <a:fillRect l="-1993" t="-14474" r="-872" b="-25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6194310"/>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95536" y="1956408"/>
                <a:ext cx="8508472" cy="4240584"/>
              </a:xfrm>
              <a:prstGeom prst="rect">
                <a:avLst/>
              </a:prstGeom>
              <a:solidFill>
                <a:schemeClr val="accent5"/>
              </a:solidFill>
              <a:ln w="19050">
                <a:noFill/>
              </a:ln>
            </p:spPr>
            <p:txBody>
              <a:bodyPr wrap="square" rtlCol="0">
                <a:spAutoFit/>
              </a:bodyPr>
              <a:lstStyle/>
              <a:p>
                <a:pPr>
                  <a:lnSpc>
                    <a:spcPct val="150000"/>
                  </a:lnSpc>
                </a:pPr>
                <a:r>
                  <a:rPr lang="zh-CN" altLang="zh-CN" sz="2400" b="1" dirty="0">
                    <a:solidFill>
                      <a:schemeClr val="accent2"/>
                    </a:solidFill>
                  </a:rPr>
                  <a:t>【解</a:t>
                </a:r>
                <a:r>
                  <a:rPr lang="zh-CN" altLang="en-US" sz="2400" b="1" dirty="0">
                    <a:solidFill>
                      <a:schemeClr val="accent2"/>
                    </a:solidFill>
                  </a:rPr>
                  <a:t>（续）</a:t>
                </a:r>
                <a:r>
                  <a:rPr lang="zh-CN" altLang="zh-CN" sz="2400" b="1" dirty="0">
                    <a:solidFill>
                      <a:schemeClr val="accent2"/>
                    </a:solidFill>
                  </a:rPr>
                  <a:t>】</a:t>
                </a:r>
                <a:r>
                  <a:rPr lang="zh-CN" altLang="zh-CN" sz="2400" b="1" dirty="0">
                    <a:solidFill>
                      <a:schemeClr val="tx1"/>
                    </a:solidFill>
                  </a:rPr>
                  <a:t>接着计算邻接矩阵</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𝑨</m:t>
                        </m:r>
                      </m:e>
                      <m:sub>
                        <m:r>
                          <a:rPr lang="en-US" altLang="zh-CN" sz="2400" b="1" i="1">
                            <a:solidFill>
                              <a:schemeClr val="tx1"/>
                            </a:solidFill>
                            <a:latin typeface="Cambria Math" panose="02040503050406030204" pitchFamily="18" charset="0"/>
                          </a:rPr>
                          <m:t>𝑮</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的幂，如下所示：</a:t>
                </a:r>
              </a:p>
              <a:p>
                <a:pPr>
                  <a:spcAft>
                    <a:spcPts val="1200"/>
                  </a:spcAft>
                </a:pPr>
                <a14:m>
                  <m:oMath xmlns:m="http://schemas.openxmlformats.org/officeDocument/2006/math">
                    <m:sSubSup>
                      <m:sSubSupPr>
                        <m:ctrlPr>
                          <a:rPr lang="zh-CN" altLang="zh-CN" sz="2000" b="1" i="1" smtClean="0">
                            <a:solidFill>
                              <a:srgbClr val="0000FF"/>
                            </a:solidFill>
                            <a:latin typeface="Cambria Math" panose="02040503050406030204" pitchFamily="18" charset="0"/>
                          </a:rPr>
                        </m:ctrlPr>
                      </m:sSubSupPr>
                      <m:e>
                        <m:r>
                          <a:rPr lang="en-US" altLang="zh-CN" sz="2000" b="1" i="1">
                            <a:solidFill>
                              <a:srgbClr val="0000FF"/>
                            </a:solidFill>
                            <a:latin typeface="Cambria Math" panose="02040503050406030204" pitchFamily="18" charset="0"/>
                          </a:rPr>
                          <m:t>𝑨</m:t>
                        </m:r>
                      </m:e>
                      <m:sub>
                        <m:r>
                          <a:rPr lang="en-US" altLang="zh-CN" sz="2000" b="1" i="1">
                            <a:solidFill>
                              <a:srgbClr val="0000FF"/>
                            </a:solidFill>
                            <a:latin typeface="Cambria Math" panose="02040503050406030204" pitchFamily="18" charset="0"/>
                          </a:rPr>
                          <m:t>𝑮</m:t>
                        </m:r>
                      </m:sub>
                      <m:sup>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𝟐</m:t>
                        </m:r>
                        <m:r>
                          <a:rPr lang="en-US" altLang="zh-CN" sz="2000" b="1" i="1">
                            <a:solidFill>
                              <a:srgbClr val="0000FF"/>
                            </a:solidFill>
                            <a:latin typeface="Cambria Math" panose="02040503050406030204" pitchFamily="18" charset="0"/>
                          </a:rPr>
                          <m:t>)</m:t>
                        </m:r>
                      </m:sup>
                    </m:sSubSup>
                    <m:r>
                      <a:rPr lang="en-US" altLang="zh-CN" sz="2000" b="1" i="1">
                        <a:solidFill>
                          <a:srgbClr val="0000FF"/>
                        </a:solidFill>
                        <a:latin typeface="Cambria Math" panose="02040503050406030204" pitchFamily="18" charset="0"/>
                      </a:rPr>
                      <m:t>=</m:t>
                    </m:r>
                    <m:d>
                      <m:dPr>
                        <m:ctrlPr>
                          <a:rPr lang="zh-CN" altLang="zh-CN" sz="2000" b="1" i="1">
                            <a:solidFill>
                              <a:srgbClr val="0000FF"/>
                            </a:solidFill>
                            <a:latin typeface="Cambria Math" panose="02040503050406030204" pitchFamily="18" charset="0"/>
                          </a:rPr>
                        </m:ctrlPr>
                      </m:dPr>
                      <m:e>
                        <m:m>
                          <m:mPr>
                            <m:mcs>
                              <m:mc>
                                <m:mcPr>
                                  <m:count m:val="2"/>
                                  <m:mcJc m:val="center"/>
                                </m:mcPr>
                              </m:mc>
                            </m:mcs>
                            <m:ctrlPr>
                              <a:rPr lang="zh-CN" altLang="zh-CN" sz="2000" b="1" i="1">
                                <a:solidFill>
                                  <a:srgbClr val="0000FF"/>
                                </a:solidFill>
                                <a:latin typeface="Cambria Math" panose="02040503050406030204" pitchFamily="18" charset="0"/>
                              </a:rPr>
                            </m:ctrlPr>
                          </m:mPr>
                          <m:mr>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𝟐</m:t>
                                    </m:r>
                                  </m:e>
                                  <m:e>
                                    <m:r>
                                      <a:rPr lang="en-US" altLang="zh-CN" sz="2000" b="1" i="1">
                                        <a:solidFill>
                                          <a:srgbClr val="0000FF"/>
                                        </a:solidFill>
                                        <a:latin typeface="Cambria Math" panose="02040503050406030204" pitchFamily="18" charset="0"/>
                                      </a:rPr>
                                      <m:t>𝟎</m:t>
                                    </m:r>
                                  </m:e>
                                </m:m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𝟐</m:t>
                                    </m:r>
                                  </m:e>
                                </m:mr>
                              </m:m>
                            </m:e>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𝟐</m:t>
                                    </m:r>
                                  </m:e>
                                </m:mr>
                                <m:mr>
                                  <m:e>
                                    <m:r>
                                      <a:rPr lang="en-US" altLang="zh-CN" sz="2000" b="1" i="1">
                                        <a:solidFill>
                                          <a:srgbClr val="0000FF"/>
                                        </a:solidFill>
                                        <a:latin typeface="Cambria Math" panose="02040503050406030204" pitchFamily="18" charset="0"/>
                                      </a:rPr>
                                      <m:t>𝟐</m:t>
                                    </m:r>
                                  </m:e>
                                  <m:e>
                                    <m:r>
                                      <a:rPr lang="en-US" altLang="zh-CN" sz="2000" b="1" i="1">
                                        <a:solidFill>
                                          <a:srgbClr val="0000FF"/>
                                        </a:solidFill>
                                        <a:latin typeface="Cambria Math" panose="02040503050406030204" pitchFamily="18" charset="0"/>
                                      </a:rPr>
                                      <m:t>𝟎</m:t>
                                    </m:r>
                                  </m:e>
                                </m:mr>
                              </m:m>
                            </m:e>
                          </m:mr>
                          <m:mr>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𝟐</m:t>
                                    </m:r>
                                  </m:e>
                                </m:mr>
                                <m:mr>
                                  <m:e>
                                    <m:r>
                                      <a:rPr lang="en-US" altLang="zh-CN" sz="2000" b="1" i="1">
                                        <a:solidFill>
                                          <a:srgbClr val="0000FF"/>
                                        </a:solidFill>
                                        <a:latin typeface="Cambria Math" panose="02040503050406030204" pitchFamily="18" charset="0"/>
                                      </a:rPr>
                                      <m:t>𝟐</m:t>
                                    </m:r>
                                  </m:e>
                                  <m:e>
                                    <m:r>
                                      <a:rPr lang="en-US" altLang="zh-CN" sz="2000" b="1" i="1">
                                        <a:solidFill>
                                          <a:srgbClr val="0000FF"/>
                                        </a:solidFill>
                                        <a:latin typeface="Cambria Math" panose="02040503050406030204" pitchFamily="18" charset="0"/>
                                      </a:rPr>
                                      <m:t>𝟎</m:t>
                                    </m:r>
                                  </m:e>
                                </m:mr>
                              </m:m>
                            </m:e>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𝟐</m:t>
                                    </m:r>
                                  </m:e>
                                  <m:e>
                                    <m:r>
                                      <a:rPr lang="en-US" altLang="zh-CN" sz="2000" b="1" i="1">
                                        <a:solidFill>
                                          <a:srgbClr val="0000FF"/>
                                        </a:solidFill>
                                        <a:latin typeface="Cambria Math" panose="02040503050406030204" pitchFamily="18" charset="0"/>
                                      </a:rPr>
                                      <m:t>𝟎</m:t>
                                    </m:r>
                                  </m:e>
                                </m:m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𝟐</m:t>
                                    </m:r>
                                  </m:e>
                                </m:mr>
                              </m:m>
                            </m:e>
                          </m:mr>
                        </m:m>
                      </m:e>
                    </m:d>
                  </m:oMath>
                </a14:m>
                <a:r>
                  <a:rPr lang="zh-CN" altLang="zh-CN" sz="2000" b="1" dirty="0">
                    <a:solidFill>
                      <a:srgbClr val="0000FF"/>
                    </a:solidFill>
                  </a:rPr>
                  <a:t>；</a:t>
                </a:r>
                <a14:m>
                  <m:oMath xmlns:m="http://schemas.openxmlformats.org/officeDocument/2006/math">
                    <m:sSubSup>
                      <m:sSubSupPr>
                        <m:ctrlPr>
                          <a:rPr lang="zh-CN" altLang="zh-CN" sz="2000" b="1" i="1">
                            <a:solidFill>
                              <a:srgbClr val="0000FF"/>
                            </a:solidFill>
                            <a:latin typeface="Cambria Math" panose="02040503050406030204" pitchFamily="18" charset="0"/>
                          </a:rPr>
                        </m:ctrlPr>
                      </m:sSubSupPr>
                      <m:e>
                        <m:r>
                          <a:rPr lang="en-US" altLang="zh-CN" sz="2000" b="1" i="1">
                            <a:solidFill>
                              <a:srgbClr val="0000FF"/>
                            </a:solidFill>
                            <a:latin typeface="Cambria Math" panose="02040503050406030204" pitchFamily="18" charset="0"/>
                          </a:rPr>
                          <m:t>𝑨</m:t>
                        </m:r>
                      </m:e>
                      <m:sub>
                        <m:r>
                          <a:rPr lang="en-US" altLang="zh-CN" sz="2000" b="1" i="1">
                            <a:solidFill>
                              <a:srgbClr val="0000FF"/>
                            </a:solidFill>
                            <a:latin typeface="Cambria Math" panose="02040503050406030204" pitchFamily="18" charset="0"/>
                          </a:rPr>
                          <m:t>𝑮</m:t>
                        </m:r>
                      </m:sub>
                      <m:sup>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𝟑</m:t>
                        </m:r>
                        <m:r>
                          <a:rPr lang="en-US" altLang="zh-CN" sz="2000" b="1" i="1">
                            <a:solidFill>
                              <a:srgbClr val="0000FF"/>
                            </a:solidFill>
                            <a:latin typeface="Cambria Math" panose="02040503050406030204" pitchFamily="18" charset="0"/>
                          </a:rPr>
                          <m:t>)</m:t>
                        </m:r>
                      </m:sup>
                    </m:sSubSup>
                    <m:r>
                      <a:rPr lang="en-US" altLang="zh-CN" sz="2000" b="1" i="1">
                        <a:solidFill>
                          <a:srgbClr val="0000FF"/>
                        </a:solidFill>
                        <a:latin typeface="Cambria Math" panose="02040503050406030204" pitchFamily="18" charset="0"/>
                      </a:rPr>
                      <m:t>=</m:t>
                    </m:r>
                    <m:d>
                      <m:dPr>
                        <m:ctrlPr>
                          <a:rPr lang="zh-CN" altLang="zh-CN" sz="2000" b="1" i="1">
                            <a:solidFill>
                              <a:srgbClr val="0000FF"/>
                            </a:solidFill>
                            <a:latin typeface="Cambria Math" panose="02040503050406030204" pitchFamily="18" charset="0"/>
                          </a:rPr>
                        </m:ctrlPr>
                      </m:dPr>
                      <m:e>
                        <m:m>
                          <m:mPr>
                            <m:mcs>
                              <m:mc>
                                <m:mcPr>
                                  <m:count m:val="2"/>
                                  <m:mcJc m:val="center"/>
                                </m:mcPr>
                              </m:mc>
                            </m:mcs>
                            <m:ctrlPr>
                              <a:rPr lang="zh-CN" altLang="zh-CN" sz="2000" b="1" i="1">
                                <a:solidFill>
                                  <a:srgbClr val="0000FF"/>
                                </a:solidFill>
                                <a:latin typeface="Cambria Math" panose="02040503050406030204" pitchFamily="18" charset="0"/>
                              </a:rPr>
                            </m:ctrlPr>
                          </m:mPr>
                          <m:mr>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𝟒</m:t>
                                    </m:r>
                                  </m:e>
                                </m:mr>
                                <m:mr>
                                  <m:e>
                                    <m:r>
                                      <a:rPr lang="en-US" altLang="zh-CN" sz="2000" b="1" i="1">
                                        <a:solidFill>
                                          <a:srgbClr val="0000FF"/>
                                        </a:solidFill>
                                        <a:latin typeface="Cambria Math" panose="02040503050406030204" pitchFamily="18" charset="0"/>
                                      </a:rPr>
                                      <m:t>𝟒</m:t>
                                    </m:r>
                                  </m:e>
                                  <m:e>
                                    <m:r>
                                      <a:rPr lang="en-US" altLang="zh-CN" sz="2000" b="1" i="1">
                                        <a:solidFill>
                                          <a:srgbClr val="0000FF"/>
                                        </a:solidFill>
                                        <a:latin typeface="Cambria Math" panose="02040503050406030204" pitchFamily="18" charset="0"/>
                                      </a:rPr>
                                      <m:t>𝟎</m:t>
                                    </m:r>
                                  </m:e>
                                </m:mr>
                              </m:m>
                            </m:e>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𝟒</m:t>
                                    </m:r>
                                  </m:e>
                                  <m:e>
                                    <m:r>
                                      <a:rPr lang="en-US" altLang="zh-CN" sz="2000" b="1" i="1">
                                        <a:solidFill>
                                          <a:srgbClr val="0000FF"/>
                                        </a:solidFill>
                                        <a:latin typeface="Cambria Math" panose="02040503050406030204" pitchFamily="18" charset="0"/>
                                      </a:rPr>
                                      <m:t>𝟎</m:t>
                                    </m:r>
                                  </m:e>
                                </m:m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𝟒</m:t>
                                    </m:r>
                                  </m:e>
                                </m:mr>
                              </m:m>
                            </m:e>
                          </m:mr>
                          <m:mr>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𝟒</m:t>
                                    </m:r>
                                  </m:e>
                                  <m:e>
                                    <m:r>
                                      <a:rPr lang="en-US" altLang="zh-CN" sz="2000" b="1" i="1">
                                        <a:solidFill>
                                          <a:srgbClr val="0000FF"/>
                                        </a:solidFill>
                                        <a:latin typeface="Cambria Math" panose="02040503050406030204" pitchFamily="18" charset="0"/>
                                      </a:rPr>
                                      <m:t>𝟎</m:t>
                                    </m:r>
                                  </m:e>
                                </m:m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𝟒</m:t>
                                    </m:r>
                                  </m:e>
                                </m:mr>
                              </m:m>
                            </m:e>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𝟒</m:t>
                                    </m:r>
                                  </m:e>
                                </m:mr>
                                <m:mr>
                                  <m:e>
                                    <m:r>
                                      <a:rPr lang="en-US" altLang="zh-CN" sz="2000" b="1" i="1">
                                        <a:solidFill>
                                          <a:srgbClr val="0000FF"/>
                                        </a:solidFill>
                                        <a:latin typeface="Cambria Math" panose="02040503050406030204" pitchFamily="18" charset="0"/>
                                      </a:rPr>
                                      <m:t>𝟒</m:t>
                                    </m:r>
                                  </m:e>
                                  <m:e>
                                    <m:r>
                                      <a:rPr lang="en-US" altLang="zh-CN" sz="2000" b="1" i="1">
                                        <a:solidFill>
                                          <a:srgbClr val="0000FF"/>
                                        </a:solidFill>
                                        <a:latin typeface="Cambria Math" panose="02040503050406030204" pitchFamily="18" charset="0"/>
                                      </a:rPr>
                                      <m:t>𝟎</m:t>
                                    </m:r>
                                  </m:e>
                                </m:mr>
                              </m:m>
                            </m:e>
                          </m:mr>
                        </m:m>
                      </m:e>
                    </m:d>
                    <m:r>
                      <a:rPr lang="zh-CN" altLang="zh-CN" sz="2000" b="1">
                        <a:solidFill>
                          <a:srgbClr val="0000FF"/>
                        </a:solidFill>
                        <a:latin typeface="Cambria Math" panose="02040503050406030204" pitchFamily="18" charset="0"/>
                      </a:rPr>
                      <m:t>；</m:t>
                    </m:r>
                    <m:sSubSup>
                      <m:sSubSupPr>
                        <m:ctrlPr>
                          <a:rPr lang="zh-CN" altLang="zh-CN" sz="2000" b="1" i="1">
                            <a:solidFill>
                              <a:srgbClr val="0000FF"/>
                            </a:solidFill>
                            <a:latin typeface="Cambria Math" panose="02040503050406030204" pitchFamily="18" charset="0"/>
                          </a:rPr>
                        </m:ctrlPr>
                      </m:sSubSupPr>
                      <m:e>
                        <m:r>
                          <a:rPr lang="en-US" altLang="zh-CN" sz="2000" b="1" i="1">
                            <a:solidFill>
                              <a:srgbClr val="0000FF"/>
                            </a:solidFill>
                            <a:latin typeface="Cambria Math" panose="02040503050406030204" pitchFamily="18" charset="0"/>
                          </a:rPr>
                          <m:t>𝑨</m:t>
                        </m:r>
                      </m:e>
                      <m:sub>
                        <m:r>
                          <a:rPr lang="en-US" altLang="zh-CN" sz="2000" b="1" i="1">
                            <a:solidFill>
                              <a:srgbClr val="0000FF"/>
                            </a:solidFill>
                            <a:latin typeface="Cambria Math" panose="02040503050406030204" pitchFamily="18" charset="0"/>
                          </a:rPr>
                          <m:t>𝑮</m:t>
                        </m:r>
                      </m:sub>
                      <m:sup>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𝟒</m:t>
                        </m:r>
                        <m:r>
                          <a:rPr lang="en-US" altLang="zh-CN" sz="2000" b="1" i="1">
                            <a:solidFill>
                              <a:srgbClr val="0000FF"/>
                            </a:solidFill>
                            <a:latin typeface="Cambria Math" panose="02040503050406030204" pitchFamily="18" charset="0"/>
                          </a:rPr>
                          <m:t>)</m:t>
                        </m:r>
                      </m:sup>
                    </m:sSubSup>
                    <m:r>
                      <a:rPr lang="en-US" altLang="zh-CN" sz="2000" b="1" i="1">
                        <a:solidFill>
                          <a:srgbClr val="0000FF"/>
                        </a:solidFill>
                        <a:latin typeface="Cambria Math" panose="02040503050406030204" pitchFamily="18" charset="0"/>
                      </a:rPr>
                      <m:t>=</m:t>
                    </m:r>
                    <m:d>
                      <m:dPr>
                        <m:ctrlPr>
                          <a:rPr lang="zh-CN" altLang="zh-CN" sz="2000" b="1" i="1">
                            <a:solidFill>
                              <a:srgbClr val="0000FF"/>
                            </a:solidFill>
                            <a:latin typeface="Cambria Math" panose="02040503050406030204" pitchFamily="18" charset="0"/>
                          </a:rPr>
                        </m:ctrlPr>
                      </m:dPr>
                      <m:e>
                        <m:m>
                          <m:mPr>
                            <m:mcs>
                              <m:mc>
                                <m:mcPr>
                                  <m:count m:val="2"/>
                                  <m:mcJc m:val="center"/>
                                </m:mcPr>
                              </m:mc>
                            </m:mcs>
                            <m:ctrlPr>
                              <a:rPr lang="zh-CN" altLang="zh-CN" sz="2000" b="1" i="1">
                                <a:solidFill>
                                  <a:srgbClr val="0000FF"/>
                                </a:solidFill>
                                <a:latin typeface="Cambria Math" panose="02040503050406030204" pitchFamily="18" charset="0"/>
                              </a:rPr>
                            </m:ctrlPr>
                          </m:mPr>
                          <m:mr>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𝟖</m:t>
                                    </m:r>
                                  </m:e>
                                  <m:e>
                                    <m:r>
                                      <a:rPr lang="en-US" altLang="zh-CN" sz="2000" b="1" i="1">
                                        <a:solidFill>
                                          <a:srgbClr val="0000FF"/>
                                        </a:solidFill>
                                        <a:latin typeface="Cambria Math" panose="02040503050406030204" pitchFamily="18" charset="0"/>
                                      </a:rPr>
                                      <m:t>𝟎</m:t>
                                    </m:r>
                                  </m:e>
                                </m:m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𝟖</m:t>
                                    </m:r>
                                  </m:e>
                                </m:mr>
                              </m:m>
                            </m:e>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𝟖</m:t>
                                    </m:r>
                                  </m:e>
                                </m:mr>
                                <m:mr>
                                  <m:e>
                                    <m:r>
                                      <a:rPr lang="en-US" altLang="zh-CN" sz="2000" b="1" i="1">
                                        <a:solidFill>
                                          <a:srgbClr val="0000FF"/>
                                        </a:solidFill>
                                        <a:latin typeface="Cambria Math" panose="02040503050406030204" pitchFamily="18" charset="0"/>
                                      </a:rPr>
                                      <m:t>𝟖</m:t>
                                    </m:r>
                                  </m:e>
                                  <m:e>
                                    <m:r>
                                      <a:rPr lang="en-US" altLang="zh-CN" sz="2000" b="1" i="1">
                                        <a:solidFill>
                                          <a:srgbClr val="0000FF"/>
                                        </a:solidFill>
                                        <a:latin typeface="Cambria Math" panose="02040503050406030204" pitchFamily="18" charset="0"/>
                                      </a:rPr>
                                      <m:t>𝟎</m:t>
                                    </m:r>
                                  </m:e>
                                </m:mr>
                              </m:m>
                            </m:e>
                          </m:mr>
                          <m:mr>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𝟖</m:t>
                                    </m:r>
                                  </m:e>
                                </m:mr>
                                <m:mr>
                                  <m:e>
                                    <m:r>
                                      <a:rPr lang="en-US" altLang="zh-CN" sz="2000" b="1" i="1">
                                        <a:solidFill>
                                          <a:srgbClr val="0000FF"/>
                                        </a:solidFill>
                                        <a:latin typeface="Cambria Math" panose="02040503050406030204" pitchFamily="18" charset="0"/>
                                      </a:rPr>
                                      <m:t>𝟖</m:t>
                                    </m:r>
                                  </m:e>
                                  <m:e>
                                    <m:r>
                                      <a:rPr lang="en-US" altLang="zh-CN" sz="2000" b="1" i="1">
                                        <a:solidFill>
                                          <a:srgbClr val="0000FF"/>
                                        </a:solidFill>
                                        <a:latin typeface="Cambria Math" panose="02040503050406030204" pitchFamily="18" charset="0"/>
                                      </a:rPr>
                                      <m:t>𝟎</m:t>
                                    </m:r>
                                  </m:e>
                                </m:mr>
                              </m:m>
                            </m:e>
                            <m:e>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𝟖</m:t>
                                    </m:r>
                                  </m:e>
                                  <m:e>
                                    <m:r>
                                      <a:rPr lang="en-US" altLang="zh-CN" sz="2000" b="1" i="1">
                                        <a:solidFill>
                                          <a:srgbClr val="0000FF"/>
                                        </a:solidFill>
                                        <a:latin typeface="Cambria Math" panose="02040503050406030204" pitchFamily="18" charset="0"/>
                                      </a:rPr>
                                      <m:t>𝟎</m:t>
                                    </m:r>
                                  </m:e>
                                </m:mr>
                                <m:mr>
                                  <m:e>
                                    <m:r>
                                      <a:rPr lang="en-US" altLang="zh-CN" sz="2000" b="1" i="1">
                                        <a:solidFill>
                                          <a:srgbClr val="0000FF"/>
                                        </a:solidFill>
                                        <a:latin typeface="Cambria Math" panose="02040503050406030204" pitchFamily="18" charset="0"/>
                                      </a:rPr>
                                      <m:t>𝟎</m:t>
                                    </m:r>
                                  </m:e>
                                  <m:e>
                                    <m:r>
                                      <a:rPr lang="en-US" altLang="zh-CN" sz="2000" b="1" i="1">
                                        <a:solidFill>
                                          <a:srgbClr val="0000FF"/>
                                        </a:solidFill>
                                        <a:latin typeface="Cambria Math" panose="02040503050406030204" pitchFamily="18" charset="0"/>
                                      </a:rPr>
                                      <m:t>𝟖</m:t>
                                    </m:r>
                                  </m:e>
                                </m:mr>
                              </m:m>
                            </m:e>
                          </m:mr>
                        </m:m>
                      </m:e>
                    </m:d>
                  </m:oMath>
                </a14:m>
                <a:endParaRPr lang="zh-CN" altLang="zh-CN" sz="2000" b="1" dirty="0"/>
              </a:p>
              <a:p>
                <a:pPr>
                  <a:lnSpc>
                    <a:spcPct val="150000"/>
                  </a:lnSpc>
                </a:pPr>
                <a:r>
                  <a:rPr lang="zh-CN" altLang="zh-CN" sz="2400" b="1" dirty="0">
                    <a:solidFill>
                      <a:schemeClr val="tx1"/>
                    </a:solidFill>
                  </a:rPr>
                  <a:t>其中：</a:t>
                </a:r>
                <a:endParaRPr lang="en-US" altLang="zh-CN" sz="2400" b="1" dirty="0">
                  <a:solidFill>
                    <a:schemeClr val="tx1"/>
                  </a:solidFill>
                </a:endParaRPr>
              </a:p>
              <a:p>
                <a:pPr algn="ctr">
                  <a:lnSpc>
                    <a:spcPct val="150000"/>
                  </a:lnSpc>
                </a:pPr>
                <a14:m>
                  <m:oMath xmlns:m="http://schemas.openxmlformats.org/officeDocument/2006/math">
                    <m:sSubSup>
                      <m:sSubSupPr>
                        <m:ctrlPr>
                          <a:rPr lang="zh-CN" altLang="zh-CN" sz="2400" b="1" i="1" smtClean="0">
                            <a:solidFill>
                              <a:srgbClr val="0000FF"/>
                            </a:solidFill>
                            <a:latin typeface="Cambria Math" panose="02040503050406030204" pitchFamily="18" charset="0"/>
                          </a:rPr>
                        </m:ctrlPr>
                      </m:sSubSupPr>
                      <m:e>
                        <m:r>
                          <a:rPr lang="en-US" altLang="zh-CN" sz="2400" b="1" i="1">
                            <a:solidFill>
                              <a:srgbClr val="0000FF"/>
                            </a:solidFill>
                            <a:latin typeface="Cambria Math" panose="02040503050406030204" pitchFamily="18" charset="0"/>
                          </a:rPr>
                          <m:t>𝒂</m:t>
                        </m:r>
                      </m:e>
                      <m:sub>
                        <m:r>
                          <a:rPr lang="en-US" altLang="zh-CN" sz="2400" b="1" i="1">
                            <a:solidFill>
                              <a:srgbClr val="0000FF"/>
                            </a:solidFill>
                            <a:latin typeface="Cambria Math" panose="02040503050406030204" pitchFamily="18" charset="0"/>
                          </a:rPr>
                          <m:t>𝟏𝟒</m:t>
                        </m:r>
                      </m:sub>
                      <m:sup>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𝟒</m:t>
                        </m:r>
                        <m:r>
                          <a:rPr lang="en-US" altLang="zh-CN" sz="2400" b="1" i="1">
                            <a:solidFill>
                              <a:srgbClr val="0000FF"/>
                            </a:solidFill>
                            <a:latin typeface="Cambria Math" panose="02040503050406030204" pitchFamily="18" charset="0"/>
                          </a:rPr>
                          <m:t>)</m:t>
                        </m:r>
                      </m:sup>
                    </m:sSubSup>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𝟖</m:t>
                    </m:r>
                  </m:oMath>
                </a14:m>
                <a:r>
                  <a:rPr lang="zh-CN" altLang="zh-CN" sz="2400" b="1" dirty="0">
                    <a:solidFill>
                      <a:srgbClr val="0000FF"/>
                    </a:solidFill>
                  </a:rPr>
                  <a:t>，</a:t>
                </a:r>
                <a14:m>
                  <m:oMath xmlns:m="http://schemas.openxmlformats.org/officeDocument/2006/math">
                    <m:nary>
                      <m:naryPr>
                        <m:chr m:val="∑"/>
                        <m:limLoc m:val="undOvr"/>
                        <m:ctrlPr>
                          <a:rPr lang="zh-CN" altLang="zh-CN" sz="2400" b="1" i="1">
                            <a:solidFill>
                              <a:srgbClr val="0000FF"/>
                            </a:solidFill>
                            <a:latin typeface="Cambria Math" panose="02040503050406030204" pitchFamily="18" charset="0"/>
                          </a:rPr>
                        </m:ctrlPr>
                      </m:naryPr>
                      <m:sub>
                        <m:r>
                          <a:rPr lang="en-US" altLang="zh-CN" sz="2400" b="1" i="1">
                            <a:solidFill>
                              <a:srgbClr val="0000FF"/>
                            </a:solidFill>
                            <a:latin typeface="Cambria Math" panose="02040503050406030204" pitchFamily="18" charset="0"/>
                          </a:rPr>
                          <m:t>𝒊</m:t>
                        </m:r>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sub>
                      <m:sup>
                        <m:r>
                          <a:rPr lang="en-US" altLang="zh-CN" sz="2400" b="1" i="1">
                            <a:solidFill>
                              <a:srgbClr val="0000FF"/>
                            </a:solidFill>
                            <a:latin typeface="Cambria Math" panose="02040503050406030204" pitchFamily="18" charset="0"/>
                          </a:rPr>
                          <m:t>𝟒</m:t>
                        </m:r>
                      </m:sup>
                      <m:e>
                        <m:nary>
                          <m:naryPr>
                            <m:chr m:val="∑"/>
                            <m:limLoc m:val="undOvr"/>
                            <m:ctrlPr>
                              <a:rPr lang="zh-CN" altLang="zh-CN" sz="2400" b="1" i="1">
                                <a:solidFill>
                                  <a:srgbClr val="0000FF"/>
                                </a:solidFill>
                                <a:latin typeface="Cambria Math" panose="02040503050406030204" pitchFamily="18" charset="0"/>
                              </a:rPr>
                            </m:ctrlPr>
                          </m:naryPr>
                          <m:sub>
                            <m:r>
                              <a:rPr lang="en-US" altLang="zh-CN" sz="2400" b="1" i="1">
                                <a:solidFill>
                                  <a:srgbClr val="0000FF"/>
                                </a:solidFill>
                                <a:latin typeface="Cambria Math" panose="02040503050406030204" pitchFamily="18" charset="0"/>
                              </a:rPr>
                              <m:t>𝒋</m:t>
                            </m:r>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sub>
                          <m:sup>
                            <m:r>
                              <a:rPr lang="en-US" altLang="zh-CN" sz="2400" b="1" i="1">
                                <a:solidFill>
                                  <a:srgbClr val="0000FF"/>
                                </a:solidFill>
                                <a:latin typeface="Cambria Math" panose="02040503050406030204" pitchFamily="18" charset="0"/>
                              </a:rPr>
                              <m:t>𝟒</m:t>
                            </m:r>
                          </m:sup>
                          <m:e>
                            <m:sSup>
                              <m:sSupPr>
                                <m:ctrlPr>
                                  <a:rPr lang="zh-CN" altLang="zh-CN" sz="2400" b="1" i="1">
                                    <a:solidFill>
                                      <a:srgbClr val="0000FF"/>
                                    </a:solidFill>
                                    <a:latin typeface="Cambria Math" panose="02040503050406030204" pitchFamily="18" charset="0"/>
                                  </a:rPr>
                                </m:ctrlPr>
                              </m:sSupPr>
                              <m:e>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𝒂</m:t>
                                    </m:r>
                                  </m:e>
                                  <m:sub>
                                    <m:r>
                                      <a:rPr lang="en-US" altLang="zh-CN" sz="2400" b="1" i="1">
                                        <a:solidFill>
                                          <a:srgbClr val="0000FF"/>
                                        </a:solidFill>
                                        <a:latin typeface="Cambria Math" panose="02040503050406030204" pitchFamily="18" charset="0"/>
                                      </a:rPr>
                                      <m:t>𝒊𝒋</m:t>
                                    </m:r>
                                  </m:sub>
                                </m:sSub>
                              </m:e>
                              <m:sup>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𝟒</m:t>
                                </m:r>
                                <m:r>
                                  <a:rPr lang="en-US" altLang="zh-CN" sz="2400" b="1" i="1">
                                    <a:solidFill>
                                      <a:srgbClr val="0000FF"/>
                                    </a:solidFill>
                                    <a:latin typeface="Cambria Math" panose="02040503050406030204" pitchFamily="18" charset="0"/>
                                  </a:rPr>
                                  <m:t>)</m:t>
                                </m:r>
                              </m:sup>
                            </m:sSup>
                          </m:e>
                        </m:nary>
                      </m:e>
                    </m:nary>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𝟔𝟒</m:t>
                    </m:r>
                  </m:oMath>
                </a14:m>
                <a:r>
                  <a:rPr lang="zh-CN" altLang="zh-CN" sz="2400" b="1" dirty="0">
                    <a:solidFill>
                      <a:srgbClr val="0000FF"/>
                    </a:solidFill>
                  </a:rPr>
                  <a:t>，</a:t>
                </a:r>
                <a14:m>
                  <m:oMath xmlns:m="http://schemas.openxmlformats.org/officeDocument/2006/math">
                    <m:nary>
                      <m:naryPr>
                        <m:chr m:val="∑"/>
                        <m:limLoc m:val="undOvr"/>
                        <m:ctrlPr>
                          <a:rPr lang="zh-CN" altLang="zh-CN" sz="2400" b="1" i="1">
                            <a:solidFill>
                              <a:srgbClr val="0000FF"/>
                            </a:solidFill>
                            <a:latin typeface="Cambria Math" panose="02040503050406030204" pitchFamily="18" charset="0"/>
                          </a:rPr>
                        </m:ctrlPr>
                      </m:naryPr>
                      <m:sub>
                        <m:r>
                          <a:rPr lang="en-US" altLang="zh-CN" sz="2400" b="1" i="1">
                            <a:solidFill>
                              <a:srgbClr val="0000FF"/>
                            </a:solidFill>
                            <a:latin typeface="Cambria Math" panose="02040503050406030204" pitchFamily="18" charset="0"/>
                          </a:rPr>
                          <m:t>𝒊</m:t>
                        </m:r>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sub>
                      <m:sup>
                        <m:r>
                          <a:rPr lang="en-US" altLang="zh-CN" sz="2400" b="1" i="1">
                            <a:solidFill>
                              <a:srgbClr val="0000FF"/>
                            </a:solidFill>
                            <a:latin typeface="Cambria Math" panose="02040503050406030204" pitchFamily="18" charset="0"/>
                          </a:rPr>
                          <m:t>𝟒</m:t>
                        </m:r>
                      </m:sup>
                      <m:e>
                        <m:sSup>
                          <m:sSupPr>
                            <m:ctrlPr>
                              <a:rPr lang="zh-CN" altLang="zh-CN" sz="2400" b="1" i="1">
                                <a:solidFill>
                                  <a:srgbClr val="0000FF"/>
                                </a:solidFill>
                                <a:latin typeface="Cambria Math" panose="02040503050406030204" pitchFamily="18" charset="0"/>
                              </a:rPr>
                            </m:ctrlPr>
                          </m:sSupPr>
                          <m:e>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𝒂</m:t>
                                </m:r>
                              </m:e>
                              <m:sub>
                                <m:r>
                                  <a:rPr lang="en-US" altLang="zh-CN" sz="2400" b="1" i="1">
                                    <a:solidFill>
                                      <a:srgbClr val="0000FF"/>
                                    </a:solidFill>
                                    <a:latin typeface="Cambria Math" panose="02040503050406030204" pitchFamily="18" charset="0"/>
                                  </a:rPr>
                                  <m:t>𝒊𝒊</m:t>
                                </m:r>
                              </m:sub>
                            </m:sSub>
                          </m:e>
                          <m:sup>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𝟒</m:t>
                            </m:r>
                            <m:r>
                              <a:rPr lang="en-US" altLang="zh-CN" sz="2400" b="1" i="1">
                                <a:solidFill>
                                  <a:srgbClr val="0000FF"/>
                                </a:solidFill>
                                <a:latin typeface="Cambria Math" panose="02040503050406030204" pitchFamily="18" charset="0"/>
                              </a:rPr>
                              <m:t>)</m:t>
                            </m:r>
                          </m:sup>
                        </m:sSup>
                      </m:e>
                    </m:nary>
                  </m:oMath>
                </a14:m>
                <a:r>
                  <a:rPr lang="en-US" altLang="zh-CN" sz="2400" b="1" dirty="0">
                    <a:solidFill>
                      <a:srgbClr val="0000FF"/>
                    </a:solidFill>
                  </a:rPr>
                  <a:t>=32</a:t>
                </a:r>
              </a:p>
              <a:p>
                <a:pPr>
                  <a:lnSpc>
                    <a:spcPct val="150000"/>
                  </a:lnSpc>
                </a:pPr>
                <a:r>
                  <a:rPr lang="en-US" altLang="zh-CN" sz="2400" b="1" dirty="0">
                    <a:solidFill>
                      <a:schemeClr val="tx1"/>
                    </a:solidFill>
                  </a:rPr>
                  <a:t>   </a:t>
                </a:r>
                <a:r>
                  <a:rPr lang="zh-CN" altLang="zh-CN" sz="2400" b="1" dirty="0">
                    <a:solidFill>
                      <a:schemeClr val="tx1"/>
                    </a:solidFill>
                  </a:rPr>
                  <a:t>故图</a:t>
                </a:r>
                <a14:m>
                  <m:oMath xmlns:m="http://schemas.openxmlformats.org/officeDocument/2006/math">
                    <m:r>
                      <a:rPr lang="en-US" altLang="zh-CN" sz="2400" b="1" i="1">
                        <a:solidFill>
                          <a:schemeClr val="tx1"/>
                        </a:solidFill>
                        <a:latin typeface="Cambria Math" panose="02040503050406030204" pitchFamily="18" charset="0"/>
                      </a:rPr>
                      <m:t>𝑮</m:t>
                    </m:r>
                  </m:oMath>
                </a14:m>
                <a:r>
                  <a:rPr lang="zh-CN" altLang="zh-CN" sz="2400" b="1" dirty="0">
                    <a:solidFill>
                      <a:schemeClr val="tx1"/>
                    </a:solidFill>
                  </a:rPr>
                  <a:t>中从结点</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𝟏</m:t>
                        </m:r>
                      </m:sub>
                    </m:sSub>
                  </m:oMath>
                </a14:m>
                <a:r>
                  <a:rPr lang="zh-CN" altLang="zh-CN" sz="2400" b="1" dirty="0">
                    <a:solidFill>
                      <a:schemeClr val="tx1"/>
                    </a:solidFill>
                  </a:rPr>
                  <a:t>到</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𝟒</m:t>
                        </m:r>
                      </m:sub>
                    </m:sSub>
                  </m:oMath>
                </a14:m>
                <a:r>
                  <a:rPr lang="zh-CN" altLang="zh-CN" sz="2400" b="1" dirty="0">
                    <a:solidFill>
                      <a:schemeClr val="tx1"/>
                    </a:solidFill>
                  </a:rPr>
                  <a:t>长度为</a:t>
                </a:r>
                <a:r>
                  <a:rPr lang="en-US" altLang="zh-CN" sz="2400" b="1" dirty="0">
                    <a:solidFill>
                      <a:srgbClr val="0000FF"/>
                    </a:solidFill>
                  </a:rPr>
                  <a:t>4</a:t>
                </a:r>
                <a:r>
                  <a:rPr lang="zh-CN" altLang="zh-CN" sz="2400" b="1" dirty="0">
                    <a:solidFill>
                      <a:srgbClr val="0000FF"/>
                    </a:solidFill>
                  </a:rPr>
                  <a:t>的通路长度数目为</a:t>
                </a:r>
                <a:r>
                  <a:rPr lang="en-US" altLang="zh-CN" sz="2400" b="1" dirty="0">
                    <a:solidFill>
                      <a:srgbClr val="0000FF"/>
                    </a:solidFill>
                  </a:rPr>
                  <a:t>8</a:t>
                </a:r>
                <a:r>
                  <a:rPr lang="zh-CN" altLang="zh-CN" sz="2400" b="1" dirty="0">
                    <a:solidFill>
                      <a:schemeClr val="tx1"/>
                    </a:solidFill>
                  </a:rPr>
                  <a:t>。</a:t>
                </a:r>
                <a:endParaRPr lang="en-US" altLang="zh-CN" sz="2400" b="1" dirty="0">
                  <a:solidFill>
                    <a:schemeClr val="tx1"/>
                  </a:solidFill>
                </a:endParaRPr>
              </a:p>
              <a:p>
                <a:pPr>
                  <a:lnSpc>
                    <a:spcPct val="150000"/>
                  </a:lnSpc>
                </a:pPr>
                <a:r>
                  <a:rPr lang="en-US" altLang="zh-CN" sz="2400" b="1" dirty="0">
                    <a:solidFill>
                      <a:schemeClr val="tx1"/>
                    </a:solidFill>
                  </a:rPr>
                  <a:t>   </a:t>
                </a:r>
                <a:r>
                  <a:rPr lang="zh-CN" altLang="zh-CN" sz="2400" b="1" dirty="0">
                    <a:solidFill>
                      <a:schemeClr val="tx1"/>
                    </a:solidFill>
                  </a:rPr>
                  <a:t>长度为</a:t>
                </a:r>
                <a:r>
                  <a:rPr lang="en-US" altLang="zh-CN" sz="2400" b="1" dirty="0">
                    <a:solidFill>
                      <a:schemeClr val="tx1"/>
                    </a:solidFill>
                  </a:rPr>
                  <a:t>4</a:t>
                </a:r>
                <a:r>
                  <a:rPr lang="zh-CN" altLang="zh-CN" sz="2400" b="1" dirty="0">
                    <a:solidFill>
                      <a:schemeClr val="tx1"/>
                    </a:solidFill>
                  </a:rPr>
                  <a:t>的通路（含回路）总数为</a:t>
                </a:r>
                <a:r>
                  <a:rPr lang="en-US" altLang="zh-CN" sz="2400" b="1" dirty="0">
                    <a:solidFill>
                      <a:srgbClr val="0000FF"/>
                    </a:solidFill>
                  </a:rPr>
                  <a:t>64</a:t>
                </a:r>
                <a:r>
                  <a:rPr lang="zh-CN" altLang="zh-CN" sz="2400" b="1" dirty="0">
                    <a:solidFill>
                      <a:schemeClr val="tx1"/>
                    </a:solidFill>
                  </a:rPr>
                  <a:t>，回路数为</a:t>
                </a:r>
                <a:r>
                  <a:rPr lang="en-US" altLang="zh-CN" sz="2400" b="1" dirty="0">
                    <a:solidFill>
                      <a:srgbClr val="0000FF"/>
                    </a:solidFill>
                  </a:rPr>
                  <a:t>32</a:t>
                </a:r>
                <a:r>
                  <a:rPr lang="zh-CN" altLang="zh-CN" sz="2400" b="1" dirty="0">
                    <a:solidFill>
                      <a:schemeClr val="tx1"/>
                    </a:solidFill>
                  </a:rPr>
                  <a:t>条。</a:t>
                </a:r>
                <a:endParaRPr lang="en-US" altLang="zh-CN" sz="2400" b="1" dirty="0">
                  <a:solidFill>
                    <a:schemeClr val="tx1"/>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95536" y="1956408"/>
                <a:ext cx="8508472" cy="4240584"/>
              </a:xfrm>
              <a:prstGeom prst="rect">
                <a:avLst/>
              </a:prstGeom>
              <a:blipFill>
                <a:blip r:embed="rId4"/>
                <a:stretch>
                  <a:fillRect l="-1146" b="-1868"/>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3003553666"/>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730933" y="1916832"/>
                <a:ext cx="7831248" cy="967894"/>
              </a:xfrm>
              <a:prstGeom prst="rect">
                <a:avLst/>
              </a:prstGeom>
              <a:solidFill>
                <a:schemeClr val="accent5"/>
              </a:solidFill>
              <a:ln w="19050">
                <a:noFill/>
              </a:ln>
            </p:spPr>
            <p:txBody>
              <a:bodyPr wrap="square" rtlCol="0">
                <a:spAutoFit/>
              </a:bodyPr>
              <a:lstStyle/>
              <a:p>
                <a:pPr>
                  <a:lnSpc>
                    <a:spcPts val="3600"/>
                  </a:lnSpc>
                </a:pPr>
                <a:r>
                  <a:rPr lang="en-US" altLang="zh-CN" sz="2400" b="1" dirty="0"/>
                  <a:t>   </a:t>
                </a:r>
                <a:r>
                  <a:rPr lang="zh-CN" altLang="zh-CN" sz="2400" b="1" dirty="0"/>
                  <a:t>【例题】</a:t>
                </a:r>
                <a:r>
                  <a:rPr lang="zh-CN" altLang="en-US" sz="2400" b="1" dirty="0">
                    <a:solidFill>
                      <a:schemeClr val="tx1"/>
                    </a:solidFill>
                  </a:rPr>
                  <a:t>求下图</a:t>
                </a:r>
                <a:r>
                  <a:rPr lang="zh-CN" altLang="zh-CN" sz="2400" b="1" dirty="0">
                    <a:solidFill>
                      <a:schemeClr val="tx1"/>
                    </a:solidFill>
                  </a:rPr>
                  <a:t>所示有向图</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a:solidFill>
                          <a:schemeClr val="tx1"/>
                        </a:solidFill>
                        <a:latin typeface="Cambria Math" panose="02040503050406030204" pitchFamily="18" charset="0"/>
                      </a:rPr>
                      <m:t> </m:t>
                    </m:r>
                  </m:oMath>
                </a14:m>
                <a:r>
                  <a:rPr lang="zh-CN" altLang="zh-CN" sz="2400" b="1" dirty="0">
                    <a:solidFill>
                      <a:schemeClr val="tx1"/>
                    </a:solidFill>
                  </a:rPr>
                  <a:t>中结点</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𝟓</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到</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𝟒</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长度为</a:t>
                </a:r>
                <a:r>
                  <a:rPr lang="en-US" altLang="zh-CN" sz="2400" b="1" dirty="0">
                    <a:solidFill>
                      <a:schemeClr val="tx1"/>
                    </a:solidFill>
                  </a:rPr>
                  <a:t>3</a:t>
                </a:r>
                <a:r>
                  <a:rPr lang="zh-CN" altLang="zh-CN" sz="2400" b="1" dirty="0">
                    <a:solidFill>
                      <a:schemeClr val="tx1"/>
                    </a:solidFill>
                  </a:rPr>
                  <a:t>和</a:t>
                </a:r>
                <a:r>
                  <a:rPr lang="en-US" altLang="zh-CN" sz="2400" b="1" dirty="0">
                    <a:solidFill>
                      <a:schemeClr val="tx1"/>
                    </a:solidFill>
                  </a:rPr>
                  <a:t>4</a:t>
                </a:r>
                <a:r>
                  <a:rPr lang="zh-CN" altLang="zh-CN" sz="2400" b="1" dirty="0">
                    <a:solidFill>
                      <a:schemeClr val="tx1"/>
                    </a:solidFill>
                  </a:rPr>
                  <a:t>的通路数目，并写出长度为</a:t>
                </a:r>
                <a:r>
                  <a:rPr lang="en-US" altLang="zh-CN" sz="2400" b="1" dirty="0">
                    <a:solidFill>
                      <a:schemeClr val="tx1"/>
                    </a:solidFill>
                  </a:rPr>
                  <a:t>3</a:t>
                </a:r>
                <a:r>
                  <a:rPr lang="zh-CN" altLang="zh-CN" sz="2400" b="1" dirty="0">
                    <a:solidFill>
                      <a:schemeClr val="tx1"/>
                    </a:solidFill>
                  </a:rPr>
                  <a:t>的回路。</a:t>
                </a:r>
                <a:endParaRPr lang="en-US" altLang="zh-CN" sz="2400" b="1" dirty="0">
                  <a:solidFill>
                    <a:srgbClr val="0000FF"/>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730933" y="1916832"/>
                <a:ext cx="7831248" cy="967894"/>
              </a:xfrm>
              <a:prstGeom prst="rect">
                <a:avLst/>
              </a:prstGeom>
              <a:blipFill>
                <a:blip r:embed="rId4"/>
                <a:stretch>
                  <a:fillRect l="-1245" t="-2516" b="-11321"/>
                </a:stretch>
              </a:blipFill>
              <a:ln w="19050">
                <a:noFill/>
              </a:ln>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899592" y="3116565"/>
            <a:ext cx="2504932" cy="1998209"/>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A21C804-2B96-4044-8ECD-72C0C4A679D4}"/>
                  </a:ext>
                </a:extLst>
              </p:cNvPr>
              <p:cNvSpPr/>
              <p:nvPr/>
            </p:nvSpPr>
            <p:spPr>
              <a:xfrm>
                <a:off x="611560" y="5445224"/>
                <a:ext cx="4893584" cy="461665"/>
              </a:xfrm>
              <a:prstGeom prst="rect">
                <a:avLst/>
              </a:prstGeom>
              <a:solidFill>
                <a:schemeClr val="accent5"/>
              </a:solidFill>
            </p:spPr>
            <p:txBody>
              <a:bodyPr wrap="none">
                <a:spAutoFit/>
              </a:bodyPr>
              <a:lstStyle/>
              <a:p>
                <a:r>
                  <a:rPr lang="zh-CN" altLang="zh-CN" sz="2400" dirty="0">
                    <a:solidFill>
                      <a:schemeClr val="accent2"/>
                    </a:solidFill>
                  </a:rPr>
                  <a:t>【解】</a:t>
                </a:r>
                <a:r>
                  <a:rPr lang="zh-CN" altLang="zh-CN" sz="2400" dirty="0">
                    <a:solidFill>
                      <a:schemeClr val="tx1"/>
                    </a:solidFill>
                  </a:rPr>
                  <a:t>先写出图</a:t>
                </a:r>
                <a14:m>
                  <m:oMath xmlns:m="http://schemas.openxmlformats.org/officeDocument/2006/math">
                    <m:r>
                      <a:rPr lang="en-US" altLang="zh-CN" sz="2400" i="1">
                        <a:solidFill>
                          <a:schemeClr val="tx1"/>
                        </a:solidFill>
                        <a:latin typeface="Cambria Math" panose="02040503050406030204" pitchFamily="18" charset="0"/>
                      </a:rPr>
                      <m:t>𝐺</m:t>
                    </m:r>
                  </m:oMath>
                </a14:m>
                <a:r>
                  <a:rPr lang="zh-CN" altLang="zh-CN" sz="2400" dirty="0">
                    <a:solidFill>
                      <a:schemeClr val="tx1"/>
                    </a:solidFill>
                  </a:rPr>
                  <a:t>的邻接矩阵</a:t>
                </a:r>
                <a14:m>
                  <m:oMath xmlns:m="http://schemas.openxmlformats.org/officeDocument/2006/math">
                    <m:r>
                      <a:rPr lang="zh-CN" altLang="zh-CN" sz="2400">
                        <a:solidFill>
                          <a:schemeClr val="tx1"/>
                        </a:solidFill>
                        <a:latin typeface="Cambria Math" panose="02040503050406030204" pitchFamily="18" charset="0"/>
                      </a:rPr>
                      <m:t> </m:t>
                    </m:r>
                    <m:sSub>
                      <m:sSubPr>
                        <m:ctrlPr>
                          <a:rPr lang="zh-CN"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𝐴</m:t>
                        </m:r>
                      </m:e>
                      <m:sub>
                        <m:r>
                          <a:rPr lang="en-US" altLang="zh-CN" sz="2400" i="1">
                            <a:solidFill>
                              <a:schemeClr val="tx1"/>
                            </a:solidFill>
                            <a:latin typeface="Cambria Math" panose="02040503050406030204" pitchFamily="18" charset="0"/>
                          </a:rPr>
                          <m:t>𝐺</m:t>
                        </m:r>
                      </m:sub>
                    </m:sSub>
                    <m:r>
                      <a:rPr lang="en-US" altLang="zh-CN" sz="2400" i="1">
                        <a:solidFill>
                          <a:schemeClr val="tx1"/>
                        </a:solidFill>
                        <a:latin typeface="Cambria Math" panose="02040503050406030204" pitchFamily="18" charset="0"/>
                      </a:rPr>
                      <m:t> </m:t>
                    </m:r>
                  </m:oMath>
                </a14:m>
                <a:r>
                  <a:rPr lang="zh-CN" altLang="zh-CN" sz="2400" dirty="0">
                    <a:solidFill>
                      <a:schemeClr val="tx1"/>
                    </a:solidFill>
                  </a:rPr>
                  <a:t>。</a:t>
                </a:r>
                <a:endParaRPr lang="zh-CN" altLang="zh-CN" sz="2400" dirty="0">
                  <a:solidFill>
                    <a:srgbClr val="800080"/>
                  </a:solidFill>
                </a:endParaRPr>
              </a:p>
            </p:txBody>
          </p:sp>
        </mc:Choice>
        <mc:Fallback xmlns="">
          <p:sp>
            <p:nvSpPr>
              <p:cNvPr id="8" name="矩形 7">
                <a:extLst>
                  <a:ext uri="{FF2B5EF4-FFF2-40B4-BE49-F238E27FC236}">
                    <a16:creationId xmlns:a16="http://schemas.microsoft.com/office/drawing/2014/main" id="{6A21C804-2B96-4044-8ECD-72C0C4A679D4}"/>
                  </a:ext>
                </a:extLst>
              </p:cNvPr>
              <p:cNvSpPr>
                <a:spLocks noRot="1" noChangeAspect="1" noMove="1" noResize="1" noEditPoints="1" noAdjustHandles="1" noChangeArrowheads="1" noChangeShapeType="1" noTextEdit="1"/>
              </p:cNvSpPr>
              <p:nvPr/>
            </p:nvSpPr>
            <p:spPr>
              <a:xfrm>
                <a:off x="611560" y="5445224"/>
                <a:ext cx="4893584" cy="461665"/>
              </a:xfrm>
              <a:prstGeom prst="rect">
                <a:avLst/>
              </a:prstGeom>
              <a:blipFill>
                <a:blip r:embed="rId6"/>
                <a:stretch>
                  <a:fillRect l="-1868" t="-14474" r="-996" b="-2500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94CE6F7-F36F-4739-863B-D8DB324A00A0}"/>
              </a:ext>
            </a:extLst>
          </p:cNvPr>
          <p:cNvPicPr>
            <a:picLocks noChangeAspect="1"/>
          </p:cNvPicPr>
          <p:nvPr/>
        </p:nvPicPr>
        <p:blipFill>
          <a:blip r:embed="rId7"/>
          <a:stretch>
            <a:fillRect/>
          </a:stretch>
        </p:blipFill>
        <p:spPr>
          <a:xfrm>
            <a:off x="4067944" y="3092475"/>
            <a:ext cx="4732773" cy="2046391"/>
          </a:xfrm>
          <a:prstGeom prst="rect">
            <a:avLst/>
          </a:prstGeom>
        </p:spPr>
      </p:pic>
    </p:spTree>
    <p:extLst>
      <p:ext uri="{BB962C8B-B14F-4D97-AF65-F5344CB8AC3E}">
        <p14:creationId xmlns:p14="http://schemas.microsoft.com/office/powerpoint/2010/main" val="1240418882"/>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18558" y="1916832"/>
                <a:ext cx="8508472" cy="4154984"/>
              </a:xfrm>
              <a:prstGeom prst="rect">
                <a:avLst/>
              </a:prstGeom>
              <a:solidFill>
                <a:schemeClr val="bg1"/>
              </a:solidFill>
              <a:ln w="19050">
                <a:noFill/>
              </a:ln>
            </p:spPr>
            <p:txBody>
              <a:bodyPr wrap="square" rtlCol="0">
                <a:spAutoFit/>
              </a:bodyPr>
              <a:lstStyle/>
              <a:p>
                <a:r>
                  <a:rPr lang="zh-CN" altLang="zh-CN" sz="2400" dirty="0">
                    <a:solidFill>
                      <a:schemeClr val="accent2"/>
                    </a:solidFill>
                  </a:rPr>
                  <a:t>【解</a:t>
                </a:r>
                <a:r>
                  <a:rPr lang="zh-CN" altLang="en-US" sz="2400" dirty="0">
                    <a:solidFill>
                      <a:schemeClr val="accent2"/>
                    </a:solidFill>
                  </a:rPr>
                  <a:t>（续）</a:t>
                </a:r>
                <a:r>
                  <a:rPr lang="zh-CN" altLang="zh-CN" sz="2400" dirty="0">
                    <a:solidFill>
                      <a:schemeClr val="accent2"/>
                    </a:solidFill>
                  </a:rPr>
                  <a:t>】</a:t>
                </a:r>
                <a:r>
                  <a:rPr lang="zh-CN" altLang="zh-CN" sz="2400" b="1" dirty="0">
                    <a:solidFill>
                      <a:schemeClr val="tx1"/>
                    </a:solidFill>
                  </a:rPr>
                  <a:t>接着计算邻接矩阵</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𝑨</m:t>
                        </m:r>
                      </m:e>
                      <m:sub>
                        <m:r>
                          <a:rPr lang="en-US" altLang="zh-CN" sz="2400" b="1" i="1">
                            <a:solidFill>
                              <a:schemeClr val="tx1"/>
                            </a:solidFill>
                            <a:latin typeface="Cambria Math" panose="02040503050406030204" pitchFamily="18" charset="0"/>
                          </a:rPr>
                          <m:t>𝑮</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的幂</a:t>
                </a:r>
                <a:endParaRPr lang="zh-CN" altLang="zh-CN" sz="2400" b="1" dirty="0">
                  <a:solidFill>
                    <a:srgbClr val="800080"/>
                  </a:solidFill>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a:p>
                <a:endParaRPr lang="en-US" altLang="zh-CN" sz="1600" dirty="0">
                  <a:solidFill>
                    <a:srgbClr val="660033"/>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18558" y="1916832"/>
                <a:ext cx="8508472" cy="4154984"/>
              </a:xfrm>
              <a:prstGeom prst="rect">
                <a:avLst/>
              </a:prstGeom>
              <a:blipFill>
                <a:blip r:embed="rId4"/>
                <a:stretch>
                  <a:fillRect l="-1074" t="-1613"/>
                </a:stretch>
              </a:blipFill>
              <a:ln w="19050">
                <a:noFill/>
              </a:ln>
            </p:spPr>
            <p:txBody>
              <a:bodyPr/>
              <a:lstStyle/>
              <a:p>
                <a:r>
                  <a:rPr lang="zh-CN" altLang="en-US">
                    <a:noFill/>
                  </a:rPr>
                  <a:t> </a:t>
                </a:r>
              </a:p>
            </p:txBody>
          </p:sp>
        </mc:Fallback>
      </mc:AlternateContent>
      <p:pic>
        <p:nvPicPr>
          <p:cNvPr id="4" name="图片 3"/>
          <p:cNvPicPr>
            <a:picLocks noChangeAspect="1"/>
          </p:cNvPicPr>
          <p:nvPr/>
        </p:nvPicPr>
        <p:blipFill>
          <a:blip r:embed="rId5"/>
          <a:stretch>
            <a:fillRect/>
          </a:stretch>
        </p:blipFill>
        <p:spPr>
          <a:xfrm>
            <a:off x="2123728" y="2672886"/>
            <a:ext cx="3868137" cy="1304762"/>
          </a:xfrm>
          <a:prstGeom prst="rect">
            <a:avLst/>
          </a:prstGeom>
        </p:spPr>
      </p:pic>
      <p:pic>
        <p:nvPicPr>
          <p:cNvPr id="5" name="图片 4"/>
          <p:cNvPicPr>
            <a:picLocks noChangeAspect="1"/>
          </p:cNvPicPr>
          <p:nvPr/>
        </p:nvPicPr>
        <p:blipFill>
          <a:blip r:embed="rId6"/>
          <a:stretch>
            <a:fillRect/>
          </a:stretch>
        </p:blipFill>
        <p:spPr>
          <a:xfrm>
            <a:off x="395536" y="4436459"/>
            <a:ext cx="3885027" cy="1323810"/>
          </a:xfrm>
          <a:prstGeom prst="rect">
            <a:avLst/>
          </a:prstGeom>
        </p:spPr>
      </p:pic>
      <p:pic>
        <p:nvPicPr>
          <p:cNvPr id="6" name="图片 5"/>
          <p:cNvPicPr>
            <a:picLocks noChangeAspect="1"/>
          </p:cNvPicPr>
          <p:nvPr/>
        </p:nvPicPr>
        <p:blipFill>
          <a:blip r:embed="rId7"/>
          <a:stretch>
            <a:fillRect/>
          </a:stretch>
        </p:blipFill>
        <p:spPr>
          <a:xfrm>
            <a:off x="4788024" y="4404784"/>
            <a:ext cx="3885028" cy="1323810"/>
          </a:xfrm>
          <a:prstGeom prst="rect">
            <a:avLst/>
          </a:prstGeom>
        </p:spPr>
      </p:pic>
    </p:spTree>
    <p:extLst>
      <p:ext uri="{BB962C8B-B14F-4D97-AF65-F5344CB8AC3E}">
        <p14:creationId xmlns:p14="http://schemas.microsoft.com/office/powerpoint/2010/main" val="1404680457"/>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08E8A34-E1D8-48BF-A36B-892CE1349777}"/>
                  </a:ext>
                </a:extLst>
              </p:cNvPr>
              <p:cNvSpPr/>
              <p:nvPr/>
            </p:nvSpPr>
            <p:spPr>
              <a:xfrm>
                <a:off x="215516" y="1772816"/>
                <a:ext cx="8712968" cy="4290662"/>
              </a:xfrm>
              <a:prstGeom prst="rect">
                <a:avLst/>
              </a:prstGeom>
              <a:solidFill>
                <a:schemeClr val="accent6">
                  <a:lumMod val="75000"/>
                </a:schemeClr>
              </a:solidFill>
            </p:spPr>
            <p:txBody>
              <a:bodyPr wrap="square">
                <a:spAutoFit/>
              </a:bodyPr>
              <a:lstStyle/>
              <a:p>
                <a:pPr algn="just">
                  <a:spcAft>
                    <a:spcPts val="0"/>
                  </a:spcAft>
                </a:pPr>
                <a:r>
                  <a:rPr lang="en-US" altLang="zh-CN" sz="2400" b="1" dirty="0">
                    <a:solidFill>
                      <a:schemeClr val="bg1"/>
                    </a:solidFill>
                  </a:rPr>
                  <a:t>   </a:t>
                </a:r>
                <a:r>
                  <a:rPr lang="zh-CN" altLang="zh-CN" sz="2400" b="1" dirty="0">
                    <a:solidFill>
                      <a:schemeClr val="bg1"/>
                    </a:solidFill>
                  </a:rPr>
                  <a:t>【解</a:t>
                </a:r>
                <a:r>
                  <a:rPr lang="zh-CN" altLang="en-US" sz="2400" b="1" dirty="0">
                    <a:solidFill>
                      <a:schemeClr val="bg1"/>
                    </a:solidFill>
                  </a:rPr>
                  <a:t>（续）</a:t>
                </a:r>
                <a:r>
                  <a:rPr lang="zh-CN" altLang="zh-CN" sz="2400" b="1" dirty="0">
                    <a:solidFill>
                      <a:schemeClr val="bg1"/>
                    </a:solidFill>
                  </a:rPr>
                  <a:t>】</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由矩阵</a:t>
                </a:r>
                <a14:m>
                  <m:oMath xmlns:m="http://schemas.openxmlformats.org/officeDocument/2006/math">
                    <m:sSubSup>
                      <m:sSub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𝑨</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sub>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𝟑</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中</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元素值知</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中</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长度为</a:t>
                </a:r>
                <a:r>
                  <a:rPr lang="en-US"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3</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的路径共</a:t>
                </a:r>
                <a:r>
                  <a:rPr lang="en-US"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11</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条</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sSubSup>
                      <m:sSub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𝟓𝟒</m:t>
                        </m:r>
                      </m:sub>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𝟑</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表明从</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𝟓</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𝟒</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长度为</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3</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的路径只有</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条，即</a:t>
                </a: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𝟓</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𝟕</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𝟑</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Sup>
                      <m:sSub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𝟑𝟑</m:t>
                        </m:r>
                      </m:sub>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𝟑</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𝟒𝟒</m:t>
                        </m:r>
                      </m:sub>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𝟑</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𝟓𝟓</m:t>
                        </m:r>
                      </m:sub>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𝟑</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表明包含</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𝟑</m:t>
                        </m:r>
                      </m:sub>
                    </m:sSub>
                  </m:oMath>
                </a14:m>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𝟒</m:t>
                        </m:r>
                      </m:sub>
                    </m:sSub>
                  </m:oMath>
                </a14:m>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𝟓</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长度为</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3</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的回路各有一条，分别为</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algn="ctr">
                  <a:spcAft>
                    <a:spcPts val="0"/>
                  </a:spcAft>
                </a:pP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𝟑</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𝟐</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𝟓</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𝟑</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𝟑</m:t>
                        </m:r>
                      </m:sub>
                    </m:sSub>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𝟐</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𝟓</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𝟕</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𝟑</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𝟓</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𝟕</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𝟑</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𝟐</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𝟓</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p>
              <a:p>
                <a:r>
                  <a:rPr lang="en-US"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由</a:t>
                </a:r>
                <a14:m>
                  <m:oMath xmlns:m="http://schemas.openxmlformats.org/officeDocument/2006/math">
                    <m:sSubSup>
                      <m:sSubSupPr>
                        <m:ctrlPr>
                          <a:rPr lang="zh-CN" altLang="zh-CN" sz="2400" b="1" i="1">
                            <a:solidFill>
                              <a:schemeClr val="bg1"/>
                            </a:solidFill>
                            <a:effectLst/>
                            <a:latin typeface="Cambria Math" panose="02040503050406030204" pitchFamily="18" charset="0"/>
                            <a:ea typeface="Cambria Math" panose="02040503050406030204" pitchFamily="18" charset="0"/>
                          </a:rPr>
                        </m:ctrlPr>
                      </m:sSubSupPr>
                      <m:e>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𝑨</m:t>
                        </m:r>
                      </m:e>
                      <m:sub>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sub>
                      <m:sup>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𝟒</m:t>
                        </m:r>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en-US"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中</a:t>
                </a:r>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元素</a:t>
                </a:r>
                <a:r>
                  <a:rPr lang="zh-CN" altLang="en-US"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值</a:t>
                </a:r>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知</a:t>
                </a:r>
                <a:r>
                  <a:rPr lang="zh-CN" altLang="en-US"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en-US" altLang="zh-CN" sz="2400" b="1" i="1" smtClean="0">
                        <a:solidFill>
                          <a:srgbClr val="FFFF00"/>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dirty="0">
                    <a:solidFill>
                      <a:srgbClr val="FFFF00"/>
                    </a:solidFill>
                    <a:latin typeface="Calibri" panose="020F0502020204030204" pitchFamily="34" charset="0"/>
                    <a:ea typeface="宋体" panose="02010600030101010101" pitchFamily="2" charset="-122"/>
                    <a:cs typeface="Times New Roman" panose="02020603050405020304" pitchFamily="18" charset="0"/>
                  </a:rPr>
                  <a:t>中长度为</a:t>
                </a:r>
                <a:r>
                  <a:rPr lang="en-US" altLang="zh-CN" sz="2400" b="1" dirty="0">
                    <a:solidFill>
                      <a:srgbClr val="FFFF00"/>
                    </a:solidFill>
                    <a:latin typeface="Calibri" panose="020F0502020204030204" pitchFamily="34" charset="0"/>
                    <a:ea typeface="宋体" panose="02010600030101010101" pitchFamily="2" charset="-122"/>
                    <a:cs typeface="Times New Roman" panose="02020603050405020304" pitchFamily="18" charset="0"/>
                  </a:rPr>
                  <a:t>4</a:t>
                </a:r>
                <a:r>
                  <a:rPr lang="zh-CN" altLang="zh-CN" sz="2400" b="1" dirty="0">
                    <a:solidFill>
                      <a:srgbClr val="FFFF00"/>
                    </a:solidFill>
                    <a:latin typeface="Calibri" panose="020F0502020204030204" pitchFamily="34" charset="0"/>
                    <a:ea typeface="宋体" panose="02010600030101010101" pitchFamily="2" charset="-122"/>
                    <a:cs typeface="Times New Roman" panose="02020603050405020304" pitchFamily="18" charset="0"/>
                  </a:rPr>
                  <a:t>的路径共</a:t>
                </a:r>
                <a:r>
                  <a:rPr lang="en-US" altLang="zh-CN" sz="2400" b="1" dirty="0">
                    <a:solidFill>
                      <a:srgbClr val="FFFF00"/>
                    </a:solidFill>
                    <a:latin typeface="Calibri" panose="020F0502020204030204" pitchFamily="34" charset="0"/>
                    <a:ea typeface="宋体" panose="02010600030101010101" pitchFamily="2" charset="-122"/>
                    <a:cs typeface="Times New Roman" panose="02020603050405020304" pitchFamily="18" charset="0"/>
                  </a:rPr>
                  <a:t>15</a:t>
                </a:r>
                <a:r>
                  <a:rPr lang="zh-CN" altLang="zh-CN" sz="2400" b="1" dirty="0">
                    <a:solidFill>
                      <a:srgbClr val="FFFF00"/>
                    </a:solidFill>
                    <a:latin typeface="Calibri" panose="020F0502020204030204" pitchFamily="34" charset="0"/>
                    <a:ea typeface="宋体" panose="02010600030101010101" pitchFamily="2" charset="-122"/>
                    <a:cs typeface="Times New Roman" panose="02020603050405020304" pitchFamily="18" charset="0"/>
                  </a:rPr>
                  <a:t>条</a:t>
                </a:r>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sSubSup>
                      <m:sSubSupPr>
                        <m:ctrlPr>
                          <a:rPr lang="zh-CN" altLang="zh-CN" sz="2400" b="1" i="1">
                            <a:solidFill>
                              <a:schemeClr val="bg1"/>
                            </a:solidFill>
                            <a:effectLst/>
                            <a:latin typeface="Cambria Math" panose="02040503050406030204" pitchFamily="18" charset="0"/>
                            <a:ea typeface="Cambria Math" panose="02040503050406030204" pitchFamily="18" charset="0"/>
                          </a:rPr>
                        </m:ctrlPr>
                      </m:sSubSupPr>
                      <m:e>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𝟓𝟒</m:t>
                        </m:r>
                      </m:sub>
                      <m:sup>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𝟒</m:t>
                        </m:r>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b="1">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𝟐</m:t>
                    </m:r>
                  </m:oMath>
                </a14:m>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表明从</a:t>
                </a:r>
                <a14:m>
                  <m:oMath xmlns:m="http://schemas.openxmlformats.org/officeDocument/2006/math">
                    <m:sSub>
                      <m:sSubPr>
                        <m:ctrlPr>
                          <a:rPr lang="zh-CN" altLang="zh-CN" sz="2400" b="1" i="1">
                            <a:solidFill>
                              <a:schemeClr val="bg1"/>
                            </a:solidFill>
                            <a:effectLst/>
                            <a:latin typeface="Cambria Math" panose="02040503050406030204" pitchFamily="18" charset="0"/>
                            <a:ea typeface="Cambria Math" panose="02040503050406030204" pitchFamily="18" charset="0"/>
                          </a:rPr>
                        </m:ctrlPr>
                      </m:sSubPr>
                      <m:e>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𝟓</m:t>
                        </m:r>
                      </m:sub>
                    </m:sSub>
                  </m:oMath>
                </a14:m>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sSub>
                      <m:sSubPr>
                        <m:ctrlPr>
                          <a:rPr lang="zh-CN" altLang="zh-CN" sz="2400" b="1" i="1">
                            <a:solidFill>
                              <a:schemeClr val="bg1"/>
                            </a:solidFill>
                            <a:effectLst/>
                            <a:latin typeface="Cambria Math" panose="02040503050406030204" pitchFamily="18" charset="0"/>
                            <a:ea typeface="Cambria Math" panose="02040503050406030204" pitchFamily="18" charset="0"/>
                          </a:rPr>
                        </m:ctrlPr>
                      </m:sSubPr>
                      <m:e>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𝟒</m:t>
                        </m:r>
                      </m:sub>
                    </m:sSub>
                  </m:oMath>
                </a14:m>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长度为</a:t>
                </a:r>
                <a:r>
                  <a:rPr lang="en-US"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4</a:t>
                </a:r>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的路径有</a:t>
                </a:r>
                <a:r>
                  <a:rPr lang="en-US"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2</a:t>
                </a:r>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条，分别为</a:t>
                </a:r>
                <a14:m>
                  <m:oMath xmlns:m="http://schemas.openxmlformats.org/officeDocument/2006/math">
                    <m:sSub>
                      <m:sSubPr>
                        <m:ctrlPr>
                          <a:rPr lang="zh-CN" altLang="zh-CN" sz="2400" b="1" i="1">
                            <a:solidFill>
                              <a:srgbClr val="FFFF00"/>
                            </a:solidFill>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Cambria Math" panose="02040503050406030204" pitchFamily="18" charset="0"/>
                          </a:rPr>
                          <m:t>𝒗</m:t>
                        </m:r>
                      </m:e>
                      <m:sub>
                        <m:r>
                          <a:rPr lang="en-US" altLang="zh-CN" sz="2400" b="1" i="1">
                            <a:solidFill>
                              <a:srgbClr val="FFFF00"/>
                            </a:solidFill>
                            <a:latin typeface="Cambria Math" panose="02040503050406030204" pitchFamily="18" charset="0"/>
                            <a:ea typeface="Cambria Math" panose="02040503050406030204" pitchFamily="18" charset="0"/>
                          </a:rPr>
                          <m:t>𝟓</m:t>
                        </m:r>
                      </m:sub>
                    </m:sSub>
                    <m:sSub>
                      <m:sSubPr>
                        <m:ctrlPr>
                          <a:rPr lang="zh-CN" altLang="zh-CN" sz="2400" b="1" i="1">
                            <a:solidFill>
                              <a:srgbClr val="FFFF00"/>
                            </a:solidFill>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Cambria Math" panose="02040503050406030204" pitchFamily="18" charset="0"/>
                          </a:rPr>
                          <m:t>𝒆</m:t>
                        </m:r>
                      </m:e>
                      <m:sub>
                        <m:r>
                          <a:rPr lang="en-US" altLang="zh-CN" sz="2400" b="1" i="1">
                            <a:solidFill>
                              <a:srgbClr val="FFFF00"/>
                            </a:solidFill>
                            <a:latin typeface="Cambria Math" panose="02040503050406030204" pitchFamily="18" charset="0"/>
                            <a:ea typeface="Cambria Math" panose="02040503050406030204" pitchFamily="18" charset="0"/>
                          </a:rPr>
                          <m:t>𝟑</m:t>
                        </m:r>
                      </m:sub>
                    </m:sSub>
                    <m:sSub>
                      <m:sSubPr>
                        <m:ctrlPr>
                          <a:rPr lang="zh-CN" altLang="zh-CN" sz="2400" b="1" i="1">
                            <a:solidFill>
                              <a:srgbClr val="FFFF00"/>
                            </a:solidFill>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Cambria Math" panose="02040503050406030204" pitchFamily="18" charset="0"/>
                          </a:rPr>
                          <m:t>𝒗</m:t>
                        </m:r>
                      </m:e>
                      <m:sub>
                        <m:r>
                          <a:rPr lang="en-US" altLang="zh-CN" sz="2400" b="1" i="1">
                            <a:solidFill>
                              <a:srgbClr val="FFFF00"/>
                            </a:solidFill>
                            <a:latin typeface="Cambria Math" panose="02040503050406030204" pitchFamily="18" charset="0"/>
                            <a:ea typeface="Cambria Math" panose="02040503050406030204" pitchFamily="18" charset="0"/>
                          </a:rPr>
                          <m:t>𝟒</m:t>
                        </m:r>
                      </m:sub>
                    </m:sSub>
                    <m:sSub>
                      <m:sSubPr>
                        <m:ctrlPr>
                          <a:rPr lang="zh-CN" altLang="zh-CN" sz="2400" b="1" i="1">
                            <a:solidFill>
                              <a:srgbClr val="FFFF00"/>
                            </a:solidFill>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Cambria Math" panose="02040503050406030204" pitchFamily="18" charset="0"/>
                          </a:rPr>
                          <m:t>𝒆</m:t>
                        </m:r>
                      </m:e>
                      <m:sub>
                        <m:r>
                          <a:rPr lang="en-US" altLang="zh-CN" sz="2400" b="1" i="1">
                            <a:solidFill>
                              <a:srgbClr val="FFFF00"/>
                            </a:solidFill>
                            <a:latin typeface="Cambria Math" panose="02040503050406030204" pitchFamily="18" charset="0"/>
                            <a:ea typeface="Cambria Math" panose="02040503050406030204" pitchFamily="18" charset="0"/>
                          </a:rPr>
                          <m:t>𝟐</m:t>
                        </m:r>
                      </m:sub>
                    </m:sSub>
                    <m:sSub>
                      <m:sSubPr>
                        <m:ctrlPr>
                          <a:rPr lang="zh-CN" altLang="zh-CN" sz="2400" b="1" i="1">
                            <a:solidFill>
                              <a:srgbClr val="FFFF00"/>
                            </a:solidFill>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Cambria Math" panose="02040503050406030204" pitchFamily="18" charset="0"/>
                          </a:rPr>
                          <m:t>𝒗</m:t>
                        </m:r>
                      </m:e>
                      <m:sub>
                        <m:r>
                          <a:rPr lang="en-US" altLang="zh-CN" sz="2400" b="1" i="1">
                            <a:solidFill>
                              <a:srgbClr val="FFFF00"/>
                            </a:solidFill>
                            <a:latin typeface="Cambria Math" panose="02040503050406030204" pitchFamily="18" charset="0"/>
                            <a:ea typeface="Cambria Math" panose="02040503050406030204" pitchFamily="18" charset="0"/>
                          </a:rPr>
                          <m:t>𝟓</m:t>
                        </m:r>
                      </m:sub>
                    </m:sSub>
                    <m:sSub>
                      <m:sSubPr>
                        <m:ctrlPr>
                          <a:rPr lang="zh-CN" altLang="zh-CN" sz="2400" b="1" i="1">
                            <a:solidFill>
                              <a:srgbClr val="FFFF00"/>
                            </a:solidFill>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Cambria Math" panose="02040503050406030204" pitchFamily="18" charset="0"/>
                          </a:rPr>
                          <m:t>𝒆</m:t>
                        </m:r>
                      </m:e>
                      <m:sub>
                        <m:r>
                          <a:rPr lang="en-US" altLang="zh-CN" sz="2400" b="1" i="1">
                            <a:solidFill>
                              <a:srgbClr val="FFFF00"/>
                            </a:solidFill>
                            <a:latin typeface="Cambria Math" panose="02040503050406030204" pitchFamily="18" charset="0"/>
                            <a:ea typeface="Cambria Math" panose="02040503050406030204" pitchFamily="18" charset="0"/>
                          </a:rPr>
                          <m:t>𝟕</m:t>
                        </m:r>
                      </m:sub>
                    </m:sSub>
                    <m:sSub>
                      <m:sSubPr>
                        <m:ctrlPr>
                          <a:rPr lang="zh-CN" altLang="zh-CN" sz="2400" b="1" i="1">
                            <a:solidFill>
                              <a:srgbClr val="FFFF00"/>
                            </a:solidFill>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Cambria Math" panose="02040503050406030204" pitchFamily="18" charset="0"/>
                          </a:rPr>
                          <m:t>𝒗</m:t>
                        </m:r>
                      </m:e>
                      <m:sub>
                        <m:r>
                          <a:rPr lang="en-US" altLang="zh-CN" sz="2400" b="1" i="1">
                            <a:solidFill>
                              <a:srgbClr val="FFFF00"/>
                            </a:solidFill>
                            <a:latin typeface="Cambria Math" panose="02040503050406030204" pitchFamily="18" charset="0"/>
                            <a:ea typeface="Cambria Math" panose="02040503050406030204" pitchFamily="18" charset="0"/>
                          </a:rPr>
                          <m:t>𝟑</m:t>
                        </m:r>
                      </m:sub>
                    </m:sSub>
                    <m:sSub>
                      <m:sSubPr>
                        <m:ctrlPr>
                          <a:rPr lang="zh-CN" altLang="zh-CN" sz="2400" b="1" i="1">
                            <a:solidFill>
                              <a:srgbClr val="FFFF00"/>
                            </a:solidFill>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Cambria Math" panose="02040503050406030204" pitchFamily="18" charset="0"/>
                          </a:rPr>
                          <m:t>𝒆</m:t>
                        </m:r>
                      </m:e>
                      <m:sub>
                        <m:r>
                          <a:rPr lang="en-US" altLang="zh-CN" sz="2400" b="1" i="1">
                            <a:solidFill>
                              <a:srgbClr val="FFFF00"/>
                            </a:solidFill>
                            <a:latin typeface="Cambria Math" panose="02040503050406030204" pitchFamily="18" charset="0"/>
                            <a:ea typeface="Cambria Math" panose="02040503050406030204" pitchFamily="18" charset="0"/>
                          </a:rPr>
                          <m:t>𝟒</m:t>
                        </m:r>
                      </m:sub>
                    </m:sSub>
                    <m:sSub>
                      <m:sSubPr>
                        <m:ctrlPr>
                          <a:rPr lang="zh-CN" altLang="zh-CN" sz="2400" b="1" i="1">
                            <a:solidFill>
                              <a:srgbClr val="FFFF00"/>
                            </a:solidFill>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Cambria Math" panose="02040503050406030204" pitchFamily="18" charset="0"/>
                          </a:rPr>
                          <m:t>𝒗</m:t>
                        </m:r>
                      </m:e>
                      <m:sub>
                        <m:r>
                          <a:rPr lang="en-US" altLang="zh-CN" sz="2400" b="1" i="1">
                            <a:solidFill>
                              <a:srgbClr val="FFFF00"/>
                            </a:solidFill>
                            <a:latin typeface="Cambria Math" panose="02040503050406030204" pitchFamily="18" charset="0"/>
                            <a:ea typeface="Cambria Math" panose="02040503050406030204" pitchFamily="18" charset="0"/>
                          </a:rPr>
                          <m:t>𝟒</m:t>
                        </m:r>
                      </m:sub>
                    </m:sSub>
                  </m:oMath>
                </a14:m>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和</a:t>
                </a:r>
                <a14:m>
                  <m:oMath xmlns:m="http://schemas.openxmlformats.org/officeDocument/2006/math">
                    <m:sSub>
                      <m:sSubPr>
                        <m:ctrlPr>
                          <a:rPr lang="zh-CN" altLang="zh-CN" sz="2400" b="1" i="1" smtClean="0">
                            <a:solidFill>
                              <a:srgbClr val="FFFF00"/>
                            </a:solidFill>
                            <a:effectLst/>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𝟓</m:t>
                        </m:r>
                      </m:sub>
                    </m:sSub>
                    <m:sSub>
                      <m:sSubPr>
                        <m:ctrlPr>
                          <a:rPr lang="zh-CN" altLang="zh-CN" sz="2400" b="1" i="1">
                            <a:solidFill>
                              <a:srgbClr val="FFFF00"/>
                            </a:solidFill>
                            <a:effectLst/>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𝟕</m:t>
                        </m:r>
                      </m:sub>
                    </m:sSub>
                    <m:sSub>
                      <m:sSubPr>
                        <m:ctrlPr>
                          <a:rPr lang="zh-CN" altLang="zh-CN" sz="2400" b="1" i="1">
                            <a:solidFill>
                              <a:srgbClr val="FFFF00"/>
                            </a:solidFill>
                            <a:effectLst/>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𝟑</m:t>
                        </m:r>
                      </m:sub>
                    </m:sSub>
                    <m:sSub>
                      <m:sSubPr>
                        <m:ctrlPr>
                          <a:rPr lang="zh-CN" altLang="zh-CN" sz="2400" b="1" i="1">
                            <a:solidFill>
                              <a:srgbClr val="FFFF00"/>
                            </a:solidFill>
                            <a:effectLst/>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sSub>
                      <m:sSubPr>
                        <m:ctrlPr>
                          <a:rPr lang="zh-CN" altLang="zh-CN" sz="2400" b="1" i="1">
                            <a:solidFill>
                              <a:srgbClr val="FFFF00"/>
                            </a:solidFill>
                            <a:effectLst/>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sSub>
                      <m:sSubPr>
                        <m:ctrlPr>
                          <a:rPr lang="zh-CN" altLang="zh-CN" sz="2400" b="1" i="1">
                            <a:solidFill>
                              <a:srgbClr val="FFFF00"/>
                            </a:solidFill>
                            <a:effectLst/>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𝟐</m:t>
                        </m:r>
                      </m:sub>
                    </m:sSub>
                    <m:sSub>
                      <m:sSubPr>
                        <m:ctrlPr>
                          <a:rPr lang="zh-CN" altLang="zh-CN" sz="2400" b="1" i="1">
                            <a:solidFill>
                              <a:srgbClr val="FFFF00"/>
                            </a:solidFill>
                            <a:effectLst/>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𝟓</m:t>
                        </m:r>
                      </m:sub>
                    </m:sSub>
                    <m:sSub>
                      <m:sSubPr>
                        <m:ctrlPr>
                          <a:rPr lang="zh-CN" altLang="zh-CN" sz="2400" b="1" i="1">
                            <a:solidFill>
                              <a:srgbClr val="FFFF00"/>
                            </a:solidFill>
                            <a:effectLst/>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𝟑</m:t>
                        </m:r>
                      </m:sub>
                    </m:sSub>
                    <m:sSub>
                      <m:sSubPr>
                        <m:ctrlPr>
                          <a:rPr lang="zh-CN" altLang="zh-CN" sz="2400" b="1" i="1">
                            <a:solidFill>
                              <a:srgbClr val="FFFF00"/>
                            </a:solidFill>
                            <a:effectLst/>
                            <a:latin typeface="Cambria Math" panose="02040503050406030204" pitchFamily="18" charset="0"/>
                            <a:ea typeface="Cambria Math" panose="02040503050406030204" pitchFamily="18" charset="0"/>
                          </a:rPr>
                        </m:ctrlPr>
                      </m:sSub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sub>
                    </m:sSub>
                  </m:oMath>
                </a14:m>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r>
                  <a:rPr lang="en-US"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由</a:t>
                </a:r>
                <a14:m>
                  <m:oMath xmlns:m="http://schemas.openxmlformats.org/officeDocument/2006/math">
                    <m:sSubSup>
                      <m:sSubSupPr>
                        <m:ctrlPr>
                          <a:rPr lang="zh-CN" altLang="zh-CN" sz="2400" b="1" i="1" smtClean="0">
                            <a:solidFill>
                              <a:srgbClr val="FFFF00"/>
                            </a:solidFill>
                            <a:effectLst/>
                            <a:latin typeface="Cambria Math" panose="02040503050406030204" pitchFamily="18" charset="0"/>
                            <a:ea typeface="Cambria Math" panose="02040503050406030204" pitchFamily="18" charset="0"/>
                          </a:rPr>
                        </m:ctrlPr>
                      </m:sSubSup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𝟒𝟒</m:t>
                        </m:r>
                      </m:sub>
                      <m:sup>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b="1">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400" b="1" i="1">
                            <a:solidFill>
                              <a:srgbClr val="FFFF00"/>
                            </a:solidFill>
                            <a:effectLst/>
                            <a:latin typeface="Cambria Math" panose="02040503050406030204" pitchFamily="18" charset="0"/>
                            <a:ea typeface="Cambria Math" panose="02040503050406030204" pitchFamily="18" charset="0"/>
                          </a:rPr>
                        </m:ctrlPr>
                      </m:sSubSupPr>
                      <m:e>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𝟓𝟓</m:t>
                        </m:r>
                      </m:sub>
                      <m:sup>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𝟒</m:t>
                        </m:r>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400" b="1">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rgbClr val="FFFF00"/>
                        </a:solidFill>
                        <a:latin typeface="Cambria Math" panose="02040503050406030204" pitchFamily="18" charset="0"/>
                        <a:ea typeface="宋体" panose="02010600030101010101" pitchFamily="2" charset="-122"/>
                        <a:cs typeface="Times New Roman" panose="02020603050405020304" pitchFamily="18" charset="0"/>
                      </a:rPr>
                      <m:t>𝟏</m:t>
                    </m:r>
                  </m:oMath>
                </a14:m>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可知以</a:t>
                </a:r>
                <a14:m>
                  <m:oMath xmlns:m="http://schemas.openxmlformats.org/officeDocument/2006/math">
                    <m:sSub>
                      <m:sSubPr>
                        <m:ctrlPr>
                          <a:rPr lang="zh-CN" altLang="zh-CN" sz="2400" b="1" i="1">
                            <a:solidFill>
                              <a:schemeClr val="bg1"/>
                            </a:solidFill>
                            <a:effectLst/>
                            <a:latin typeface="Cambria Math" panose="02040503050406030204" pitchFamily="18" charset="0"/>
                            <a:ea typeface="Cambria Math" panose="02040503050406030204" pitchFamily="18" charset="0"/>
                          </a:rPr>
                        </m:ctrlPr>
                      </m:sSubPr>
                      <m:e>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𝟒</m:t>
                        </m:r>
                      </m:sub>
                    </m:sSub>
                    <m:r>
                      <m:rPr>
                        <m:nor/>
                      </m:rPr>
                      <a:rPr lang="zh-CN" altLang="en-US"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m:t>为起点和终点且长度为</m:t>
                    </m:r>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𝟒</m:t>
                    </m:r>
                    <m:r>
                      <a:rPr lang="zh-CN" altLang="zh-CN" sz="2400" b="1">
                        <a:solidFill>
                          <a:schemeClr val="bg1"/>
                        </a:solidFill>
                        <a:latin typeface="Cambria Math" panose="02040503050406030204" pitchFamily="18" charset="0"/>
                        <a:ea typeface="宋体" panose="02010600030101010101" pitchFamily="2" charset="-122"/>
                        <a:cs typeface="Times New Roman" panose="02020603050405020304" pitchFamily="18" charset="0"/>
                      </a:rPr>
                      <m:t>的</m:t>
                    </m:r>
                  </m:oMath>
                </a14:m>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回路，与以</a:t>
                </a:r>
                <a14:m>
                  <m:oMath xmlns:m="http://schemas.openxmlformats.org/officeDocument/2006/math">
                    <m:sSub>
                      <m:sSubPr>
                        <m:ctrlPr>
                          <a:rPr lang="zh-CN" altLang="zh-CN" sz="2400" b="1" i="1">
                            <a:solidFill>
                              <a:schemeClr val="bg1"/>
                            </a:solidFill>
                            <a:effectLst/>
                            <a:latin typeface="Cambria Math" panose="02040503050406030204" pitchFamily="18" charset="0"/>
                            <a:ea typeface="Cambria Math" panose="02040503050406030204" pitchFamily="18" charset="0"/>
                          </a:rPr>
                        </m:ctrlPr>
                      </m:sSubPr>
                      <m:e>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𝟓</m:t>
                        </m:r>
                      </m:sub>
                    </m:sSub>
                    <m:r>
                      <m:rPr>
                        <m:nor/>
                      </m:rPr>
                      <a:rPr lang="zh-CN" altLang="en-US"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m:t>为起点和终点且长度为</m:t>
                    </m:r>
                    <m:r>
                      <a:rPr lang="en-US" altLang="zh-CN" sz="2400" b="1" i="1">
                        <a:solidFill>
                          <a:schemeClr val="bg1"/>
                        </a:solidFill>
                        <a:latin typeface="Cambria Math" panose="02040503050406030204" pitchFamily="18" charset="0"/>
                        <a:ea typeface="宋体" panose="02010600030101010101" pitchFamily="2" charset="-122"/>
                        <a:cs typeface="Times New Roman" panose="02020603050405020304" pitchFamily="18" charset="0"/>
                      </a:rPr>
                      <m:t>𝟒</m:t>
                    </m:r>
                  </m:oMath>
                </a14:m>
                <a:r>
                  <a:rPr lang="zh-CN" altLang="en-US"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回路</a:t>
                </a:r>
                <a:r>
                  <a:rPr lang="zh-CN" altLang="en-US" sz="2400" b="1" dirty="0">
                    <a:solidFill>
                      <a:srgbClr val="FFFF00"/>
                    </a:solidFill>
                    <a:latin typeface="Calibri" panose="020F0502020204030204" pitchFamily="34" charset="0"/>
                    <a:ea typeface="宋体" panose="02010600030101010101" pitchFamily="2" charset="-122"/>
                    <a:cs typeface="Times New Roman" panose="02020603050405020304" pitchFamily="18" charset="0"/>
                  </a:rPr>
                  <a:t>均只有</a:t>
                </a:r>
                <a:r>
                  <a:rPr lang="en-US" altLang="zh-CN" sz="2400" b="1" dirty="0">
                    <a:solidFill>
                      <a:srgbClr val="FFFF00"/>
                    </a:solidFill>
                    <a:latin typeface="Calibri" panose="020F0502020204030204" pitchFamily="34" charset="0"/>
                    <a:ea typeface="宋体" panose="02010600030101010101" pitchFamily="2" charset="-122"/>
                    <a:cs typeface="Times New Roman" panose="02020603050405020304" pitchFamily="18" charset="0"/>
                  </a:rPr>
                  <a:t>1</a:t>
                </a:r>
                <a:r>
                  <a:rPr lang="zh-CN" altLang="en-US" sz="2400" b="1" dirty="0">
                    <a:solidFill>
                      <a:srgbClr val="FFFF00"/>
                    </a:solidFill>
                    <a:latin typeface="Calibri" panose="020F0502020204030204" pitchFamily="34" charset="0"/>
                    <a:ea typeface="宋体" panose="02010600030101010101" pitchFamily="2" charset="-122"/>
                    <a:cs typeface="Times New Roman" panose="02020603050405020304" pitchFamily="18" charset="0"/>
                  </a:rPr>
                  <a:t>条</a:t>
                </a:r>
                <a:r>
                  <a:rPr lang="zh-CN" altLang="zh-CN" sz="24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zh-CN" altLang="en-US" sz="2400" b="1" dirty="0">
                  <a:solidFill>
                    <a:schemeClr val="bg1"/>
                  </a:solidFill>
                </a:endParaRPr>
              </a:p>
            </p:txBody>
          </p:sp>
        </mc:Choice>
        <mc:Fallback xmlns="">
          <p:sp>
            <p:nvSpPr>
              <p:cNvPr id="2" name="矩形 1">
                <a:extLst>
                  <a:ext uri="{FF2B5EF4-FFF2-40B4-BE49-F238E27FC236}">
                    <a16:creationId xmlns:a16="http://schemas.microsoft.com/office/drawing/2014/main" id="{208E8A34-E1D8-48BF-A36B-892CE1349777}"/>
                  </a:ext>
                </a:extLst>
              </p:cNvPr>
              <p:cNvSpPr>
                <a:spLocks noRot="1" noChangeAspect="1" noMove="1" noResize="1" noEditPoints="1" noAdjustHandles="1" noChangeArrowheads="1" noChangeShapeType="1" noTextEdit="1"/>
              </p:cNvSpPr>
              <p:nvPr/>
            </p:nvSpPr>
            <p:spPr>
              <a:xfrm>
                <a:off x="215516" y="1772816"/>
                <a:ext cx="8712968" cy="4290662"/>
              </a:xfrm>
              <a:prstGeom prst="rect">
                <a:avLst/>
              </a:prstGeom>
              <a:blipFill>
                <a:blip r:embed="rId4"/>
                <a:stretch>
                  <a:fillRect l="-1049" r="-1049" b="-24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7524825"/>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28</a:t>
            </a:fld>
            <a:endParaRPr lang="en-US" altLang="zh-CN" sz="1400" b="1">
              <a:latin typeface="Times New Roman" panose="02020603050405020304" pitchFamily="18" charset="0"/>
              <a:ea typeface="宋体" panose="02010600030101010101" pitchFamily="2" charset="-122"/>
            </a:endParaRPr>
          </a:p>
        </p:txBody>
      </p:sp>
      <p:sp>
        <p:nvSpPr>
          <p:cNvPr id="34821" name="Text Box 2"/>
          <p:cNvSpPr txBox="1">
            <a:spLocks noChangeArrowheads="1"/>
          </p:cNvSpPr>
          <p:nvPr/>
        </p:nvSpPr>
        <p:spPr bwMode="auto">
          <a:xfrm>
            <a:off x="1403350" y="836613"/>
            <a:ext cx="7201098"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mj-ea"/>
                <a:ea typeface="+mj-ea"/>
              </a:rPr>
              <a:t> 图的通路与连通性</a:t>
            </a:r>
          </a:p>
        </p:txBody>
      </p:sp>
      <p:sp>
        <p:nvSpPr>
          <p:cNvPr id="34822" name="Rectangle 3"/>
          <p:cNvSpPr>
            <a:spLocks noGrp="1" noChangeArrowheads="1"/>
          </p:cNvSpPr>
          <p:nvPr>
            <p:ph type="body" idx="4294967295"/>
          </p:nvPr>
        </p:nvSpPr>
        <p:spPr>
          <a:xfrm>
            <a:off x="2563507" y="2276872"/>
            <a:ext cx="4537075" cy="3529012"/>
          </a:xfrm>
          <a:noFill/>
        </p:spPr>
        <p:txBody>
          <a:bodyPr lIns="92075" tIns="46038" rIns="92075" bIns="46038"/>
          <a:lstStyle/>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通路的基本知识</a:t>
            </a:r>
          </a:p>
          <a:p>
            <a:pPr eaLnBrk="1" hangingPunct="1">
              <a:lnSpc>
                <a:spcPct val="140000"/>
              </a:lnSpc>
              <a:buFont typeface="Wingdings" panose="05000000000000000000" pitchFamily="2" charset="2"/>
              <a:buChar char="J"/>
            </a:pPr>
            <a:r>
              <a:rPr lang="zh-CN" altLang="en-US" sz="3600" b="1" dirty="0">
                <a:solidFill>
                  <a:srgbClr val="0000FF"/>
                </a:solidFill>
                <a:effectLst/>
                <a:latin typeface="黑体" panose="02010609060101010101" pitchFamily="49" charset="-122"/>
                <a:ea typeface="黑体" panose="02010609060101010101" pitchFamily="49" charset="-122"/>
                <a:cs typeface="楷体_GB2312" pitchFamily="49" charset="-122"/>
              </a:rPr>
              <a:t> 可达性及其判定</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无向图的连通性</a:t>
            </a:r>
            <a:endParaRPr lang="en-US" altLang="zh-CN" sz="3600" b="1" dirty="0">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有向图的连通性</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0711256"/>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F4558327-93B4-4712-B04C-AAB6227F2D4A}"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47459" name="Text Box 2"/>
          <p:cNvSpPr txBox="1">
            <a:spLocks noChangeArrowheads="1"/>
          </p:cNvSpPr>
          <p:nvPr/>
        </p:nvSpPr>
        <p:spPr bwMode="auto">
          <a:xfrm>
            <a:off x="1259632" y="548680"/>
            <a:ext cx="6624736"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可达性关系的概念</a:t>
            </a:r>
          </a:p>
        </p:txBody>
      </p:sp>
      <p:pic>
        <p:nvPicPr>
          <p:cNvPr id="14746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5174" y="476251"/>
            <a:ext cx="958826" cy="1008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4B59C675-D3D3-443A-B640-B9812002CD1B}"/>
              </a:ext>
            </a:extLst>
          </p:cNvPr>
          <p:cNvPicPr>
            <a:picLocks noChangeAspect="1"/>
          </p:cNvPicPr>
          <p:nvPr/>
        </p:nvPicPr>
        <p:blipFill>
          <a:blip r:embed="rId4"/>
          <a:stretch>
            <a:fillRect/>
          </a:stretch>
        </p:blipFill>
        <p:spPr>
          <a:xfrm>
            <a:off x="1619672" y="1599425"/>
            <a:ext cx="5904656" cy="4646574"/>
          </a:xfrm>
          <a:prstGeom prst="rect">
            <a:avLst/>
          </a:prstGeom>
        </p:spPr>
      </p:pic>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F5584151-82F5-467C-89EB-8ADDA8FC13D4}"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pic>
        <p:nvPicPr>
          <p:cNvPr id="14848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71CAA40C-E2DA-4090-B25B-377B77FFDDC2}"/>
                  </a:ext>
                </a:extLst>
              </p:cNvPr>
              <p:cNvSpPr/>
              <p:nvPr/>
            </p:nvSpPr>
            <p:spPr>
              <a:xfrm>
                <a:off x="143508" y="1750707"/>
                <a:ext cx="8856984" cy="4332020"/>
              </a:xfrm>
              <a:prstGeom prst="rect">
                <a:avLst/>
              </a:prstGeom>
              <a:solidFill>
                <a:schemeClr val="accent6">
                  <a:lumMod val="75000"/>
                </a:schemeClr>
              </a:solidFill>
            </p:spPr>
            <p:txBody>
              <a:bodyPr wrap="square">
                <a:spAutoFit/>
              </a:bodyPr>
              <a:lstStyle/>
              <a:p>
                <a:pPr indent="266700" algn="just">
                  <a:lnSpc>
                    <a:spcPts val="4200"/>
                  </a:lnSpc>
                  <a:spcAft>
                    <a:spcPts val="0"/>
                  </a:spcAft>
                </a:pPr>
                <a:r>
                  <a:rPr lang="en-US" altLang="zh-CN" sz="2400" b="1" kern="100" dirty="0">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【定义】设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𝑬</m:t>
                        </m:r>
                      </m:e>
                    </m:d>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为任意</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有向或无向线图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，结点集为</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𝑽</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𝒏</m:t>
                            </m:r>
                          </m:sub>
                        </m:sSub>
                      </m:e>
                    </m:d>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，对于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𝑽</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中</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任意两个</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不同的</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结点</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𝒋</m:t>
                        </m:r>
                      </m:sub>
                    </m:sSub>
                    <m:r>
                      <a:rPr lang="zh-CN" altLang="en-US"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42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如果</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从</a:t>
                </a:r>
                <a14:m>
                  <m:oMath xmlns:m="http://schemas.openxmlformats.org/officeDocument/2006/math">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𝒊</m:t>
                        </m:r>
                      </m:sub>
                    </m:sSub>
                  </m:oMath>
                </a14:m>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之间存在长度至少为</a:t>
                </a:r>
                <a:r>
                  <a:rPr lang="en-US"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的通路</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，则称从</a:t>
                </a:r>
                <a14:m>
                  <m:oMath xmlns:m="http://schemas.openxmlformats.org/officeDocument/2006/math">
                    <m:sSub>
                      <m:sSubPr>
                        <m:ctrlPr>
                          <a:rPr lang="zh-CN" altLang="zh-CN" sz="2400" b="1" i="1" kern="100" smtClean="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𝒊</m:t>
                        </m:r>
                      </m:sub>
                    </m:sSub>
                    <m:r>
                      <m:rPr>
                        <m:nor/>
                      </m:rPr>
                      <a:rPr lang="zh-CN" altLang="en-US"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m:t>到</m:t>
                    </m:r>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可达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，否则称</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从</a:t>
                </a:r>
                <a14:m>
                  <m:oMath xmlns:m="http://schemas.openxmlformats.org/officeDocument/2006/math">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𝒊</m:t>
                        </m:r>
                      </m:sub>
                    </m:sSub>
                    <m:r>
                      <m:rPr>
                        <m:nor/>
                      </m:rPr>
                      <a:rPr lang="zh-CN" altLang="en-US"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m:t>到</m:t>
                    </m:r>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不可达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42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如果</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从</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m:rPr>
                        <m:nor/>
                      </m:rP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m:t>到</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可达，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则从</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m:rPr>
                        <m:nor/>
                      </m:rP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m:t>到</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长度最短通路称为</a:t>
                </a:r>
                <a:r>
                  <a:rPr lang="zh-CN" altLang="en-US"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从</a:t>
                </a:r>
                <a14:m>
                  <m:oMath xmlns:m="http://schemas.openxmlformats.org/officeDocument/2006/math">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𝒊</m:t>
                        </m:r>
                      </m:sub>
                    </m:sSub>
                    <m:r>
                      <m:rPr>
                        <m:nor/>
                      </m:rPr>
                      <a:rPr lang="zh-CN" altLang="en-US"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m:t>到</m:t>
                    </m:r>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en-US"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短程线</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，短程线的长度称</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从</a:t>
                </a:r>
                <a14:m>
                  <m:oMath xmlns:m="http://schemas.openxmlformats.org/officeDocument/2006/math">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𝒊</m:t>
                        </m:r>
                      </m:sub>
                    </m:sSub>
                    <m:r>
                      <a:rPr lang="zh-CN" altLang="zh-CN" sz="2400" b="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到</m:t>
                    </m:r>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的距离</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，记为</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𝒅</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𝒋</m:t>
                            </m:r>
                          </m:sub>
                        </m:sSub>
                      </m:e>
                    </m:d>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如果</a:t>
                </a:r>
                <a14:m>
                  <m:oMath xmlns:m="http://schemas.openxmlformats.org/officeDocument/2006/math">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从</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到</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不可达，则记为 </a:t>
                </a:r>
                <a14:m>
                  <m:oMath xmlns:m="http://schemas.openxmlformats.org/officeDocument/2006/math">
                    <m:r>
                      <a:rPr lang="en-US" altLang="zh-CN" sz="2400" b="1" i="1" kern="100" smtClean="0">
                        <a:solidFill>
                          <a:srgbClr val="FFFF66"/>
                        </a:solidFill>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𝒋</m:t>
                            </m:r>
                          </m:sub>
                        </m:sSub>
                      </m:e>
                    </m:d>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4200"/>
                  </a:lnSpc>
                  <a:spcAft>
                    <a:spcPts val="0"/>
                  </a:spcAft>
                </a:pPr>
                <a:r>
                  <a:rPr lang="zh-CN" altLang="en-US" sz="2400" b="1" kern="100" dirty="0">
                    <a:solidFill>
                      <a:schemeClr val="bg1"/>
                    </a:solidFill>
                    <a:cs typeface="Times New Roman" panose="02020603050405020304" pitchFamily="18" charset="0"/>
                  </a:rPr>
                  <a:t> 规定：图</a:t>
                </a:r>
                <a14:m>
                  <m:oMath xmlns:m="http://schemas.openxmlformats.org/officeDocument/2006/math">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𝑬</m:t>
                        </m:r>
                      </m:e>
                    </m:d>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400" b="1" kern="100" dirty="0">
                    <a:solidFill>
                      <a:schemeClr val="bg1"/>
                    </a:solidFill>
                    <a:cs typeface="Times New Roman" panose="02020603050405020304" pitchFamily="18" charset="0"/>
                  </a:rPr>
                  <a:t>的</a:t>
                </a:r>
                <a:r>
                  <a:rPr lang="zh-CN" altLang="en-US" sz="2400" b="1" kern="100" dirty="0">
                    <a:solidFill>
                      <a:srgbClr val="FFFF00"/>
                    </a:solidFill>
                    <a:cs typeface="Times New Roman" panose="02020603050405020304" pitchFamily="18" charset="0"/>
                  </a:rPr>
                  <a:t>任意结点到其自身为可达且距离为</a:t>
                </a:r>
                <a:r>
                  <a:rPr lang="en-US" altLang="zh-CN" sz="2400" b="1" kern="100" dirty="0">
                    <a:solidFill>
                      <a:srgbClr val="FFFF00"/>
                    </a:solidFill>
                    <a:cs typeface="Times New Roman" panose="02020603050405020304" pitchFamily="18" charset="0"/>
                  </a:rPr>
                  <a:t>0</a:t>
                </a:r>
                <a:r>
                  <a:rPr lang="zh-CN" altLang="en-US" sz="2400" b="1" kern="100" dirty="0">
                    <a:solidFill>
                      <a:schemeClr val="bg1"/>
                    </a:solidFill>
                    <a:cs typeface="Times New Roman" panose="02020603050405020304" pitchFamily="18" charset="0"/>
                  </a:rPr>
                  <a:t>。</a:t>
                </a:r>
                <a:r>
                  <a:rPr lang="zh-CN" altLang="zh-CN" sz="2400" b="1" kern="100" dirty="0">
                    <a:solidFill>
                      <a:schemeClr val="bg1"/>
                    </a:solidFill>
                    <a:cs typeface="Times New Roman" panose="02020603050405020304" pitchFamily="18" charset="0"/>
                  </a:rPr>
                  <a:t> </a:t>
                </a:r>
              </a:p>
            </p:txBody>
          </p:sp>
        </mc:Choice>
        <mc:Fallback xmlns="">
          <p:sp>
            <p:nvSpPr>
              <p:cNvPr id="3" name="矩形 2">
                <a:extLst>
                  <a:ext uri="{FF2B5EF4-FFF2-40B4-BE49-F238E27FC236}">
                    <a16:creationId xmlns:a16="http://schemas.microsoft.com/office/drawing/2014/main" id="{71CAA40C-E2DA-4090-B25B-377B77FFDDC2}"/>
                  </a:ext>
                </a:extLst>
              </p:cNvPr>
              <p:cNvSpPr>
                <a:spLocks noRot="1" noChangeAspect="1" noMove="1" noResize="1" noEditPoints="1" noAdjustHandles="1" noChangeArrowheads="1" noChangeShapeType="1" noTextEdit="1"/>
              </p:cNvSpPr>
              <p:nvPr/>
            </p:nvSpPr>
            <p:spPr>
              <a:xfrm>
                <a:off x="143508" y="1750707"/>
                <a:ext cx="8856984" cy="4332020"/>
              </a:xfrm>
              <a:prstGeom prst="rect">
                <a:avLst/>
              </a:prstGeom>
              <a:blipFill>
                <a:blip r:embed="rId4"/>
                <a:stretch>
                  <a:fillRect l="-1102" r="-1102" b="-1828"/>
                </a:stretch>
              </a:blipFill>
            </p:spPr>
            <p:txBody>
              <a:bodyPr/>
              <a:lstStyle/>
              <a:p>
                <a:r>
                  <a:rPr lang="zh-CN" altLang="en-US">
                    <a:noFill/>
                  </a:rPr>
                  <a:t> </a:t>
                </a:r>
              </a:p>
            </p:txBody>
          </p:sp>
        </mc:Fallback>
      </mc:AlternateContent>
      <p:sp>
        <p:nvSpPr>
          <p:cNvPr id="8" name="Text Box 2">
            <a:extLst>
              <a:ext uri="{FF2B5EF4-FFF2-40B4-BE49-F238E27FC236}">
                <a16:creationId xmlns:a16="http://schemas.microsoft.com/office/drawing/2014/main" id="{7F9B4B6C-348A-4385-9DCB-AB32D761F87E}"/>
              </a:ext>
            </a:extLst>
          </p:cNvPr>
          <p:cNvSpPr txBox="1">
            <a:spLocks noChangeArrowheads="1"/>
          </p:cNvSpPr>
          <p:nvPr/>
        </p:nvSpPr>
        <p:spPr bwMode="auto">
          <a:xfrm>
            <a:off x="1331640" y="620688"/>
            <a:ext cx="6552728"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可达性关系的定义</a:t>
            </a:r>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52355" name="Rectangle 3"/>
              <p:cNvSpPr>
                <a:spLocks noGrp="1" noChangeArrowheads="1"/>
              </p:cNvSpPr>
              <p:nvPr>
                <p:ph idx="1"/>
              </p:nvPr>
            </p:nvSpPr>
            <p:spPr>
              <a:xfrm>
                <a:off x="1439652" y="1693985"/>
                <a:ext cx="6264696" cy="2045881"/>
              </a:xfrm>
              <a:solidFill>
                <a:schemeClr val="accent6">
                  <a:lumMod val="75000"/>
                </a:schemeClr>
              </a:solidFill>
            </p:spPr>
            <p:txBody>
              <a:bodyPr/>
              <a:lstStyle/>
              <a:p>
                <a:pPr marL="0" indent="0" eaLnBrk="1" hangingPunct="1">
                  <a:lnSpc>
                    <a:spcPts val="3800"/>
                  </a:lnSpc>
                  <a:spcBef>
                    <a:spcPct val="0"/>
                  </a:spcBef>
                  <a:buFontTx/>
                  <a:buNone/>
                  <a:defRPr/>
                </a:pPr>
                <a14:m>
                  <m:oMath xmlns:m="http://schemas.openxmlformats.org/officeDocument/2006/math">
                    <m:r>
                      <a:rPr lang="en-US" altLang="zh-CN" b="1" i="1" kern="100" smtClean="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𝒋</m:t>
                            </m:r>
                          </m:sub>
                        </m:sSub>
                      </m:e>
                    </m:d>
                  </m:oMath>
                </a14:m>
                <a:r>
                  <a:rPr lang="zh-CN" altLang="en-US" b="1" dirty="0">
                    <a:solidFill>
                      <a:schemeClr val="bg1"/>
                    </a:solidFill>
                    <a:effectLst/>
                    <a:latin typeface="黑体" panose="02010609060101010101" pitchFamily="49" charset="-122"/>
                    <a:ea typeface="黑体" panose="02010609060101010101" pitchFamily="49" charset="-122"/>
                    <a:cs typeface="楷体_GB2312" pitchFamily="49" charset="-122"/>
                  </a:rPr>
                  <a:t>满足下列性质：</a:t>
                </a:r>
              </a:p>
              <a:p>
                <a:pPr marL="0" indent="0" eaLnBrk="1" hangingPunct="1">
                  <a:lnSpc>
                    <a:spcPts val="3800"/>
                  </a:lnSpc>
                  <a:spcBef>
                    <a:spcPct val="0"/>
                  </a:spcBef>
                  <a:buFontTx/>
                  <a:buNone/>
                  <a:defRPr/>
                </a:pPr>
                <a:r>
                  <a:rPr lang="zh-CN" altLang="en-US" b="1" dirty="0">
                    <a:solidFill>
                      <a:schemeClr val="bg1"/>
                    </a:solidFill>
                    <a:effectLst/>
                    <a:cs typeface="楷体_GB2312" pitchFamily="49" charset="-122"/>
                  </a:rPr>
                  <a:t>     （</a:t>
                </a:r>
                <a:r>
                  <a:rPr lang="en-US" altLang="zh-CN" b="1" dirty="0">
                    <a:solidFill>
                      <a:schemeClr val="bg1"/>
                    </a:solidFill>
                    <a:effectLst/>
                    <a:cs typeface="楷体_GB2312" pitchFamily="49" charset="-122"/>
                  </a:rPr>
                  <a:t>1</a:t>
                </a:r>
                <a:r>
                  <a:rPr lang="zh-CN" altLang="en-US" b="1" dirty="0">
                    <a:solidFill>
                      <a:schemeClr val="bg1"/>
                    </a:solidFill>
                    <a:effectLst/>
                    <a:cs typeface="楷体_GB2312" pitchFamily="49" charset="-122"/>
                  </a:rPr>
                  <a:t>）</a:t>
                </a:r>
                <a:r>
                  <a:rPr lang="en-US" altLang="zh-CN" b="1" kern="100" dirty="0">
                    <a:solidFill>
                      <a:schemeClr val="bg1"/>
                    </a:solidFill>
                    <a:effectLst/>
                    <a:ea typeface="宋体" panose="02010600030101010101" pitchFamily="2" charset="-122"/>
                    <a:cs typeface="Times New Roman" panose="02020603050405020304" pitchFamily="18" charset="0"/>
                  </a:rPr>
                  <a:t> </a:t>
                </a:r>
                <a14:m>
                  <m:oMath xmlns:m="http://schemas.openxmlformats.org/officeDocument/2006/math">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𝒋</m:t>
                            </m:r>
                          </m:sub>
                        </m:sSub>
                      </m:e>
                    </m:d>
                    <m:r>
                      <a:rPr lang="en-US" altLang="zh-CN" b="1"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𝟎</m:t>
                    </m:r>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b="1" dirty="0">
                    <a:solidFill>
                      <a:schemeClr val="bg1"/>
                    </a:solidFill>
                    <a:effectLst/>
                    <a:cs typeface="楷体_GB2312" pitchFamily="49" charset="-122"/>
                  </a:rPr>
                  <a:t>；</a:t>
                </a:r>
              </a:p>
              <a:p>
                <a:pPr marL="0" indent="0" eaLnBrk="1" hangingPunct="1">
                  <a:lnSpc>
                    <a:spcPts val="3800"/>
                  </a:lnSpc>
                  <a:spcBef>
                    <a:spcPct val="0"/>
                  </a:spcBef>
                  <a:buFontTx/>
                  <a:buNone/>
                  <a:defRPr/>
                </a:pPr>
                <a:r>
                  <a:rPr lang="zh-CN" altLang="en-US" b="1" dirty="0">
                    <a:solidFill>
                      <a:schemeClr val="bg1"/>
                    </a:solidFill>
                    <a:effectLst/>
                    <a:cs typeface="楷体_GB2312" pitchFamily="49" charset="-122"/>
                  </a:rPr>
                  <a:t>     （</a:t>
                </a:r>
                <a:r>
                  <a:rPr lang="en-US" altLang="zh-CN" b="1" dirty="0">
                    <a:solidFill>
                      <a:schemeClr val="bg1"/>
                    </a:solidFill>
                    <a:effectLst/>
                    <a:cs typeface="楷体_GB2312" pitchFamily="49" charset="-122"/>
                  </a:rPr>
                  <a:t>2</a:t>
                </a:r>
                <a:r>
                  <a:rPr lang="zh-CN" altLang="en-US" b="1" dirty="0">
                    <a:solidFill>
                      <a:schemeClr val="bg1"/>
                    </a:solidFill>
                    <a:effectLst/>
                    <a:cs typeface="楷体_GB2312" pitchFamily="49" charset="-122"/>
                  </a:rPr>
                  <a:t>）</a:t>
                </a:r>
                <a:r>
                  <a:rPr lang="en-US" altLang="zh-CN" b="1" kern="100" dirty="0">
                    <a:solidFill>
                      <a:schemeClr val="bg1"/>
                    </a:solidFill>
                    <a:effectLst/>
                    <a:ea typeface="宋体" panose="02010600030101010101" pitchFamily="2" charset="-122"/>
                    <a:cs typeface="Times New Roman" panose="02020603050405020304" pitchFamily="18" charset="0"/>
                  </a:rPr>
                  <a:t> </a:t>
                </a:r>
                <a14:m>
                  <m:oMath xmlns:m="http://schemas.openxmlformats.org/officeDocument/2006/math">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𝒊</m:t>
                            </m:r>
                          </m:sub>
                        </m:sSub>
                      </m:e>
                    </m:d>
                    <m:r>
                      <a:rPr lang="en-US"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𝟎</m:t>
                    </m:r>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b="1" dirty="0">
                    <a:solidFill>
                      <a:schemeClr val="bg1"/>
                    </a:solidFill>
                    <a:effectLst/>
                    <a:cs typeface="楷体_GB2312" pitchFamily="49" charset="-122"/>
                  </a:rPr>
                  <a:t>；</a:t>
                </a:r>
              </a:p>
              <a:p>
                <a:pPr marL="0" indent="0" eaLnBrk="1" hangingPunct="1">
                  <a:lnSpc>
                    <a:spcPts val="3800"/>
                  </a:lnSpc>
                  <a:spcBef>
                    <a:spcPct val="0"/>
                  </a:spcBef>
                  <a:buFontTx/>
                  <a:buNone/>
                  <a:defRPr/>
                </a:pPr>
                <a:r>
                  <a:rPr lang="zh-CN" altLang="en-US" b="1" dirty="0">
                    <a:solidFill>
                      <a:schemeClr val="bg1"/>
                    </a:solidFill>
                    <a:effectLst/>
                    <a:cs typeface="楷体_GB2312" pitchFamily="49" charset="-122"/>
                  </a:rPr>
                  <a:t>     （</a:t>
                </a:r>
                <a:r>
                  <a:rPr lang="en-US" altLang="zh-CN" b="1" dirty="0">
                    <a:solidFill>
                      <a:schemeClr val="bg1"/>
                    </a:solidFill>
                    <a:effectLst/>
                    <a:cs typeface="楷体_GB2312" pitchFamily="49" charset="-122"/>
                  </a:rPr>
                  <a:t>3</a:t>
                </a:r>
                <a:r>
                  <a:rPr lang="zh-CN" altLang="en-US" b="1" dirty="0">
                    <a:solidFill>
                      <a:schemeClr val="bg1"/>
                    </a:solidFill>
                    <a:effectLst/>
                    <a:cs typeface="楷体_GB2312" pitchFamily="49" charset="-122"/>
                  </a:rPr>
                  <a:t>）</a:t>
                </a:r>
                <a:r>
                  <a:rPr lang="en-US" altLang="zh-CN" b="1" kern="100" dirty="0">
                    <a:solidFill>
                      <a:schemeClr val="bg1"/>
                    </a:solidFill>
                    <a:effectLst/>
                    <a:ea typeface="宋体" panose="02010600030101010101" pitchFamily="2" charset="-122"/>
                    <a:cs typeface="Times New Roman" panose="02020603050405020304" pitchFamily="18" charset="0"/>
                  </a:rPr>
                  <a:t> </a:t>
                </a:r>
                <a14:m>
                  <m:oMath xmlns:m="http://schemas.openxmlformats.org/officeDocument/2006/math">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𝒌</m:t>
                            </m:r>
                          </m:sub>
                        </m:sSub>
                      </m:e>
                    </m:d>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𝒋</m:t>
                            </m:r>
                          </m:sub>
                        </m:sSub>
                      </m:e>
                    </m:d>
                    <m:r>
                      <a:rPr lang="en-US" altLang="zh-CN" b="1"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b="1" i="1" kern="100">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𝒋</m:t>
                            </m:r>
                          </m:sub>
                        </m:sSub>
                      </m:e>
                    </m:d>
                  </m:oMath>
                </a14:m>
                <a:r>
                  <a:rPr lang="zh-CN" altLang="en-US" b="1" dirty="0">
                    <a:solidFill>
                      <a:schemeClr val="bg1"/>
                    </a:solidFill>
                    <a:effectLst/>
                    <a:cs typeface="楷体_GB2312" pitchFamily="49" charset="-122"/>
                  </a:rPr>
                  <a:t>。</a:t>
                </a:r>
              </a:p>
            </p:txBody>
          </p:sp>
        </mc:Choice>
        <mc:Fallback xmlns="">
          <p:sp>
            <p:nvSpPr>
              <p:cNvPr id="1252355" name="Rectangle 3"/>
              <p:cNvSpPr>
                <a:spLocks noGrp="1" noRot="1" noChangeAspect="1" noMove="1" noResize="1" noEditPoints="1" noAdjustHandles="1" noChangeArrowheads="1" noChangeShapeType="1" noTextEdit="1"/>
              </p:cNvSpPr>
              <p:nvPr>
                <p:ph idx="1"/>
              </p:nvPr>
            </p:nvSpPr>
            <p:spPr>
              <a:xfrm>
                <a:off x="1439652" y="1693985"/>
                <a:ext cx="6264696" cy="2045881"/>
              </a:xfrm>
              <a:blipFill>
                <a:blip r:embed="rId2"/>
                <a:stretch>
                  <a:fillRect t="-299" b="-3284"/>
                </a:stretch>
              </a:blipFill>
            </p:spPr>
            <p:txBody>
              <a:bodyPr/>
              <a:lstStyle/>
              <a:p>
                <a:r>
                  <a:rPr lang="zh-CN" altLang="en-US">
                    <a:noFill/>
                  </a:rPr>
                  <a:t> </a:t>
                </a:r>
              </a:p>
            </p:txBody>
          </p:sp>
        </mc:Fallback>
      </mc:AlternateContent>
      <p:sp>
        <p:nvSpPr>
          <p:cNvPr id="149507"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1C4FE9F1-C649-421B-BC09-F0A9AB75B05E}"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mc:AlternateContent xmlns:mc="http://schemas.openxmlformats.org/markup-compatibility/2006" xmlns:a14="http://schemas.microsoft.com/office/drawing/2010/main">
        <mc:Choice Requires="a14">
          <p:sp>
            <p:nvSpPr>
              <p:cNvPr id="1252409" name="Rectangle 57"/>
              <p:cNvSpPr>
                <a:spLocks noChangeArrowheads="1"/>
              </p:cNvSpPr>
              <p:nvPr/>
            </p:nvSpPr>
            <p:spPr bwMode="auto">
              <a:xfrm>
                <a:off x="289378" y="3904608"/>
                <a:ext cx="8854622" cy="2246449"/>
              </a:xfrm>
              <a:prstGeom prst="rect">
                <a:avLst/>
              </a:prstGeom>
              <a:solidFill>
                <a:schemeClr val="accent5"/>
              </a:solidFill>
              <a:ln>
                <a:noFill/>
              </a:ln>
              <a:effectLst/>
            </p:spPr>
            <p:txBody>
              <a:bodyPr wrap="square">
                <a:spAutoFit/>
              </a:bodyPr>
              <a:lstStyle/>
              <a:p>
                <a:pPr algn="just" eaLnBrk="1" hangingPunct="1">
                  <a:lnSpc>
                    <a:spcPct val="130000"/>
                  </a:lnSpc>
                  <a:buClr>
                    <a:srgbClr val="FF3300"/>
                  </a:buClr>
                  <a:buFont typeface="Wingdings" pitchFamily="2" charset="2"/>
                  <a:buNone/>
                  <a:defRPr/>
                </a:pPr>
                <a:r>
                  <a:rPr lang="zh-CN" altLang="en-US" sz="2400" b="1" dirty="0">
                    <a:solidFill>
                      <a:srgbClr val="000000"/>
                    </a:solidFill>
                    <a:latin typeface="楷体_GB2312" pitchFamily="49" charset="-122"/>
                    <a:ea typeface="楷体_GB2312" pitchFamily="49" charset="-122"/>
                    <a:cs typeface="楷体_GB2312" pitchFamily="49" charset="-122"/>
                  </a:rPr>
                  <a:t>      </a:t>
                </a:r>
                <a:r>
                  <a:rPr lang="zh-CN" altLang="en-US" sz="2400" b="1" dirty="0">
                    <a:solidFill>
                      <a:schemeClr val="tx1"/>
                    </a:solidFill>
                    <a:latin typeface="楷体_GB2312" pitchFamily="49" charset="-122"/>
                    <a:ea typeface="楷体_GB2312" pitchFamily="49" charset="-122"/>
                    <a:cs typeface="楷体_GB2312" pitchFamily="49" charset="-122"/>
                  </a:rPr>
                  <a:t>对于无向图，若</a:t>
                </a:r>
                <a:r>
                  <a:rPr lang="zh-CN" altLang="zh-CN" sz="2400" b="1" dirty="0">
                    <a:solidFill>
                      <a:schemeClr val="tx1"/>
                    </a:solidFill>
                    <a:latin typeface="楷体_GB2312" pitchFamily="49" charset="-122"/>
                    <a:ea typeface="楷体_GB2312" pitchFamily="49" charset="-122"/>
                    <a:cs typeface="楷体_GB2312" pitchFamily="49" charset="-122"/>
                  </a:rPr>
                  <a:t>从</a:t>
                </a:r>
                <a14:m>
                  <m:oMath xmlns:m="http://schemas.openxmlformats.org/officeDocument/2006/math">
                    <m:sSub>
                      <m:sSubPr>
                        <m:ctrlPr>
                          <a:rPr lang="zh-CN" altLang="zh-CN" sz="2400" b="1" i="1">
                            <a:solidFill>
                              <a:schemeClr val="tx1"/>
                            </a:solidFill>
                            <a:latin typeface="Cambria Math" panose="02040503050406030204" pitchFamily="18" charset="0"/>
                            <a:ea typeface="楷体_GB2312" pitchFamily="49" charset="-122"/>
                            <a:cs typeface="楷体_GB2312" pitchFamily="49" charset="-122"/>
                          </a:rPr>
                        </m:ctrlPr>
                      </m:sSubPr>
                      <m:e>
                        <m:r>
                          <a:rPr lang="en-US" altLang="zh-CN" sz="2400" b="1">
                            <a:solidFill>
                              <a:schemeClr val="tx1"/>
                            </a:solidFill>
                            <a:latin typeface="Cambria Math" panose="02040503050406030204" pitchFamily="18" charset="0"/>
                            <a:ea typeface="楷体_GB2312" pitchFamily="49" charset="-122"/>
                            <a:cs typeface="楷体_GB2312" pitchFamily="49" charset="-122"/>
                          </a:rPr>
                          <m:t>𝒗</m:t>
                        </m:r>
                      </m:e>
                      <m:sub>
                        <m:r>
                          <a:rPr lang="en-US" altLang="zh-CN" sz="2400" b="1">
                            <a:solidFill>
                              <a:schemeClr val="tx1"/>
                            </a:solidFill>
                            <a:latin typeface="Cambria Math" panose="02040503050406030204" pitchFamily="18" charset="0"/>
                            <a:ea typeface="楷体_GB2312" pitchFamily="49" charset="-122"/>
                            <a:cs typeface="楷体_GB2312" pitchFamily="49" charset="-122"/>
                          </a:rPr>
                          <m:t>𝒊</m:t>
                        </m:r>
                      </m:sub>
                    </m:sSub>
                    <m:r>
                      <m:rPr>
                        <m:nor/>
                      </m:rPr>
                      <a:rPr lang="zh-CN" altLang="en-US" sz="2400" b="1" dirty="0">
                        <a:solidFill>
                          <a:schemeClr val="tx1"/>
                        </a:solidFill>
                        <a:latin typeface="楷体_GB2312" pitchFamily="49" charset="-122"/>
                        <a:ea typeface="楷体_GB2312" pitchFamily="49" charset="-122"/>
                        <a:cs typeface="楷体_GB2312" pitchFamily="49" charset="-122"/>
                      </a:rPr>
                      <m:t>到</m:t>
                    </m:r>
                    <m:sSub>
                      <m:sSubPr>
                        <m:ctrlPr>
                          <a:rPr lang="zh-CN" altLang="zh-CN" sz="2400" b="1" i="1">
                            <a:solidFill>
                              <a:schemeClr val="tx1"/>
                            </a:solidFill>
                            <a:latin typeface="Cambria Math" panose="02040503050406030204" pitchFamily="18" charset="0"/>
                            <a:ea typeface="楷体_GB2312" pitchFamily="49" charset="-122"/>
                            <a:cs typeface="楷体_GB2312" pitchFamily="49" charset="-122"/>
                          </a:rPr>
                        </m:ctrlPr>
                      </m:sSubPr>
                      <m:e>
                        <m:r>
                          <a:rPr lang="en-US" altLang="zh-CN" sz="2400" b="1">
                            <a:solidFill>
                              <a:schemeClr val="tx1"/>
                            </a:solidFill>
                            <a:latin typeface="Cambria Math" panose="02040503050406030204" pitchFamily="18" charset="0"/>
                            <a:ea typeface="楷体_GB2312" pitchFamily="49" charset="-122"/>
                            <a:cs typeface="楷体_GB2312" pitchFamily="49" charset="-122"/>
                          </a:rPr>
                          <m:t>𝒗</m:t>
                        </m:r>
                      </m:e>
                      <m:sub>
                        <m:r>
                          <a:rPr lang="en-US" altLang="zh-CN" sz="2400" b="1">
                            <a:solidFill>
                              <a:schemeClr val="tx1"/>
                            </a:solidFill>
                            <a:latin typeface="Cambria Math" panose="02040503050406030204" pitchFamily="18" charset="0"/>
                            <a:ea typeface="楷体_GB2312" pitchFamily="49" charset="-122"/>
                            <a:cs typeface="楷体_GB2312" pitchFamily="49" charset="-122"/>
                          </a:rPr>
                          <m:t>𝒋</m:t>
                        </m:r>
                      </m:sub>
                    </m:sSub>
                  </m:oMath>
                </a14:m>
                <a:r>
                  <a:rPr lang="zh-CN" altLang="zh-CN" sz="2400" b="1" dirty="0">
                    <a:solidFill>
                      <a:schemeClr val="tx1"/>
                    </a:solidFill>
                    <a:latin typeface="楷体_GB2312" pitchFamily="49" charset="-122"/>
                    <a:ea typeface="楷体_GB2312" pitchFamily="49" charset="-122"/>
                    <a:cs typeface="楷体_GB2312" pitchFamily="49" charset="-122"/>
                  </a:rPr>
                  <a:t>可达</a:t>
                </a:r>
                <a:r>
                  <a:rPr lang="zh-CN" altLang="en-US" sz="2400" b="1" dirty="0">
                    <a:solidFill>
                      <a:schemeClr val="tx1"/>
                    </a:solidFill>
                    <a:latin typeface="楷体_GB2312" pitchFamily="49" charset="-122"/>
                    <a:ea typeface="楷体_GB2312" pitchFamily="49" charset="-122"/>
                    <a:cs typeface="楷体_GB2312" pitchFamily="49" charset="-122"/>
                  </a:rPr>
                  <a:t>，则有从</a:t>
                </a:r>
                <a14:m>
                  <m:oMath xmlns:m="http://schemas.openxmlformats.org/officeDocument/2006/math">
                    <m:sSub>
                      <m:sSubPr>
                        <m:ctrlPr>
                          <a:rPr lang="zh-CN" altLang="zh-CN" sz="2400" b="1" i="1">
                            <a:solidFill>
                              <a:schemeClr val="tx1"/>
                            </a:solidFill>
                            <a:latin typeface="Cambria Math" panose="02040503050406030204" pitchFamily="18" charset="0"/>
                            <a:ea typeface="楷体_GB2312" pitchFamily="49" charset="-122"/>
                            <a:cs typeface="楷体_GB2312" pitchFamily="49" charset="-122"/>
                          </a:rPr>
                        </m:ctrlPr>
                      </m:sSubPr>
                      <m:e>
                        <m:r>
                          <a:rPr lang="en-US" altLang="zh-CN" sz="2400" b="1">
                            <a:solidFill>
                              <a:schemeClr val="tx1"/>
                            </a:solidFill>
                            <a:latin typeface="Cambria Math" panose="02040503050406030204" pitchFamily="18" charset="0"/>
                            <a:ea typeface="楷体_GB2312" pitchFamily="49" charset="-122"/>
                            <a:cs typeface="楷体_GB2312" pitchFamily="49" charset="-122"/>
                          </a:rPr>
                          <m:t>𝒗</m:t>
                        </m:r>
                      </m:e>
                      <m:sub>
                        <m:r>
                          <a:rPr lang="en-US" altLang="zh-CN" sz="2400" b="1">
                            <a:solidFill>
                              <a:schemeClr val="tx1"/>
                            </a:solidFill>
                            <a:latin typeface="Cambria Math" panose="02040503050406030204" pitchFamily="18" charset="0"/>
                            <a:ea typeface="楷体_GB2312" pitchFamily="49" charset="-122"/>
                            <a:cs typeface="楷体_GB2312" pitchFamily="49" charset="-122"/>
                          </a:rPr>
                          <m:t>𝒋</m:t>
                        </m:r>
                      </m:sub>
                    </m:sSub>
                  </m:oMath>
                </a14:m>
                <a:r>
                  <a:rPr lang="zh-CN" altLang="en-US" sz="2400" b="1" dirty="0">
                    <a:solidFill>
                      <a:schemeClr val="tx1"/>
                    </a:solidFill>
                    <a:latin typeface="楷体_GB2312" pitchFamily="49" charset="-122"/>
                    <a:ea typeface="楷体_GB2312" pitchFamily="49" charset="-122"/>
                    <a:cs typeface="楷体_GB2312" pitchFamily="49" charset="-122"/>
                  </a:rPr>
                  <a:t>到</a:t>
                </a:r>
                <a14:m>
                  <m:oMath xmlns:m="http://schemas.openxmlformats.org/officeDocument/2006/math">
                    <m:sSub>
                      <m:sSubPr>
                        <m:ctrlPr>
                          <a:rPr lang="zh-CN" altLang="zh-CN" sz="2400" b="1" i="1">
                            <a:solidFill>
                              <a:schemeClr val="tx1"/>
                            </a:solidFill>
                            <a:latin typeface="Cambria Math" panose="02040503050406030204" pitchFamily="18" charset="0"/>
                            <a:ea typeface="楷体_GB2312" pitchFamily="49" charset="-122"/>
                            <a:cs typeface="楷体_GB2312" pitchFamily="49" charset="-122"/>
                          </a:rPr>
                        </m:ctrlPr>
                      </m:sSubPr>
                      <m:e>
                        <m:r>
                          <a:rPr lang="en-US" altLang="zh-CN" sz="2400" b="1">
                            <a:solidFill>
                              <a:schemeClr val="tx1"/>
                            </a:solidFill>
                            <a:latin typeface="Cambria Math" panose="02040503050406030204" pitchFamily="18" charset="0"/>
                            <a:ea typeface="楷体_GB2312" pitchFamily="49" charset="-122"/>
                            <a:cs typeface="楷体_GB2312" pitchFamily="49" charset="-122"/>
                          </a:rPr>
                          <m:t>𝒗</m:t>
                        </m:r>
                      </m:e>
                      <m:sub>
                        <m:r>
                          <a:rPr lang="en-US" altLang="zh-CN" sz="2400" b="1">
                            <a:solidFill>
                              <a:schemeClr val="tx1"/>
                            </a:solidFill>
                            <a:latin typeface="Cambria Math" panose="02040503050406030204" pitchFamily="18" charset="0"/>
                            <a:ea typeface="楷体_GB2312" pitchFamily="49" charset="-122"/>
                            <a:cs typeface="楷体_GB2312" pitchFamily="49" charset="-122"/>
                          </a:rPr>
                          <m:t>𝒊</m:t>
                        </m:r>
                      </m:sub>
                    </m:sSub>
                  </m:oMath>
                </a14:m>
                <a:r>
                  <a:rPr lang="zh-CN" altLang="en-US" sz="2400" b="1" dirty="0">
                    <a:solidFill>
                      <a:schemeClr val="tx1"/>
                    </a:solidFill>
                    <a:latin typeface="楷体_GB2312" pitchFamily="49" charset="-122"/>
                    <a:ea typeface="楷体_GB2312" pitchFamily="49" charset="-122"/>
                    <a:cs typeface="楷体_GB2312" pitchFamily="49" charset="-122"/>
                  </a:rPr>
                  <a:t>可达，</a:t>
                </a:r>
                <a:r>
                  <a:rPr lang="zh-CN" altLang="en-US" sz="2400" b="1" dirty="0">
                    <a:solidFill>
                      <a:srgbClr val="000000"/>
                    </a:solidFill>
                    <a:latin typeface="楷体_GB2312" pitchFamily="49" charset="-122"/>
                    <a:ea typeface="楷体_GB2312" pitchFamily="49" charset="-122"/>
                    <a:cs typeface="楷体_GB2312" pitchFamily="49" charset="-122"/>
                  </a:rPr>
                  <a:t>即有：</a:t>
                </a:r>
                <a:endParaRPr lang="en-US" altLang="zh-CN" sz="2400" b="1" dirty="0">
                  <a:solidFill>
                    <a:srgbClr val="000000"/>
                  </a:solidFill>
                  <a:latin typeface="楷体_GB2312" pitchFamily="49" charset="-122"/>
                  <a:ea typeface="楷体_GB2312" pitchFamily="49" charset="-122"/>
                  <a:cs typeface="楷体_GB2312" pitchFamily="49" charset="-122"/>
                </a:endParaRPr>
              </a:p>
              <a:p>
                <a:pPr algn="ctr" eaLnBrk="1" hangingPunct="1">
                  <a:lnSpc>
                    <a:spcPct val="130000"/>
                  </a:lnSpc>
                  <a:buClr>
                    <a:srgbClr val="FF3300"/>
                  </a:buClr>
                  <a:buFont typeface="Wingdings" pitchFamily="2" charset="2"/>
                  <a:buNone/>
                  <a:defRPr/>
                </a:pPr>
                <a14:m>
                  <m:oMathPara xmlns:m="http://schemas.openxmlformats.org/officeDocument/2006/math">
                    <m:oMathParaPr>
                      <m:jc m:val="centerGroup"/>
                    </m:oMathParaPr>
                    <m:oMath xmlns:m="http://schemas.openxmlformats.org/officeDocument/2006/math">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𝒋</m:t>
                              </m:r>
                            </m:sub>
                          </m:sSub>
                        </m:e>
                      </m:d>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𝒋</m:t>
                              </m:r>
                            </m:sub>
                          </m:s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𝒊</m:t>
                              </m:r>
                            </m:sub>
                          </m:sSub>
                        </m:e>
                      </m:d>
                    </m:oMath>
                  </m:oMathPara>
                </a14:m>
                <a:endParaRPr lang="en-US" altLang="zh-CN" sz="2400" b="1" kern="100" dirty="0">
                  <a:latin typeface="楷体_GB2312" pitchFamily="49" charset="-122"/>
                  <a:ea typeface="宋体" panose="02010600030101010101" pitchFamily="2" charset="-122"/>
                  <a:cs typeface="Times New Roman" panose="02020603050405020304" pitchFamily="18" charset="0"/>
                </a:endParaRPr>
              </a:p>
              <a:p>
                <a:pPr eaLnBrk="1" hangingPunct="1">
                  <a:lnSpc>
                    <a:spcPct val="130000"/>
                  </a:lnSpc>
                  <a:buClr>
                    <a:srgbClr val="FF3300"/>
                  </a:buClr>
                  <a:buFont typeface="Wingdings" pitchFamily="2" charset="2"/>
                  <a:buNone/>
                  <a:defRPr/>
                </a:pPr>
                <a:r>
                  <a:rPr lang="zh-CN" altLang="en-US" sz="2400" b="1" dirty="0">
                    <a:solidFill>
                      <a:srgbClr val="000000"/>
                    </a:solidFill>
                    <a:latin typeface="楷体_GB2312" pitchFamily="49" charset="-122"/>
                    <a:ea typeface="楷体_GB2312" pitchFamily="49" charset="-122"/>
                    <a:cs typeface="楷体_GB2312" pitchFamily="49" charset="-122"/>
                  </a:rPr>
                  <a:t>      </a:t>
                </a:r>
                <a:r>
                  <a:rPr lang="zh-CN" altLang="en-US" sz="2400" b="1" dirty="0">
                    <a:solidFill>
                      <a:schemeClr val="accent2"/>
                    </a:solidFill>
                    <a:latin typeface="楷体_GB2312" pitchFamily="49" charset="-122"/>
                    <a:ea typeface="楷体_GB2312" pitchFamily="49" charset="-122"/>
                    <a:cs typeface="楷体_GB2312" pitchFamily="49" charset="-122"/>
                  </a:rPr>
                  <a:t>对于有向图，若</a:t>
                </a:r>
                <a:r>
                  <a:rPr lang="zh-CN" altLang="zh-CN" sz="2400" b="1" dirty="0">
                    <a:solidFill>
                      <a:schemeClr val="tx1"/>
                    </a:solidFill>
                    <a:latin typeface="楷体_GB2312" pitchFamily="49" charset="-122"/>
                    <a:ea typeface="楷体_GB2312" pitchFamily="49" charset="-122"/>
                    <a:cs typeface="楷体_GB2312" pitchFamily="49" charset="-122"/>
                  </a:rPr>
                  <a:t>从</a:t>
                </a:r>
                <a14:m>
                  <m:oMath xmlns:m="http://schemas.openxmlformats.org/officeDocument/2006/math">
                    <m:sSub>
                      <m:sSubPr>
                        <m:ctrlPr>
                          <a:rPr lang="zh-CN" altLang="zh-CN" sz="2400" b="1" i="1">
                            <a:solidFill>
                              <a:schemeClr val="tx1"/>
                            </a:solidFill>
                            <a:latin typeface="Cambria Math" panose="02040503050406030204" pitchFamily="18" charset="0"/>
                            <a:ea typeface="楷体_GB2312" pitchFamily="49" charset="-122"/>
                            <a:cs typeface="楷体_GB2312" pitchFamily="49" charset="-122"/>
                          </a:rPr>
                        </m:ctrlPr>
                      </m:sSubPr>
                      <m:e>
                        <m:r>
                          <a:rPr lang="en-US" altLang="zh-CN" sz="2400" b="1">
                            <a:solidFill>
                              <a:schemeClr val="tx1"/>
                            </a:solidFill>
                            <a:latin typeface="Cambria Math" panose="02040503050406030204" pitchFamily="18" charset="0"/>
                            <a:ea typeface="楷体_GB2312" pitchFamily="49" charset="-122"/>
                            <a:cs typeface="楷体_GB2312" pitchFamily="49" charset="-122"/>
                          </a:rPr>
                          <m:t>𝒗</m:t>
                        </m:r>
                      </m:e>
                      <m:sub>
                        <m:r>
                          <a:rPr lang="en-US" altLang="zh-CN" sz="2400" b="1">
                            <a:solidFill>
                              <a:schemeClr val="tx1"/>
                            </a:solidFill>
                            <a:latin typeface="Cambria Math" panose="02040503050406030204" pitchFamily="18" charset="0"/>
                            <a:ea typeface="楷体_GB2312" pitchFamily="49" charset="-122"/>
                            <a:cs typeface="楷体_GB2312" pitchFamily="49" charset="-122"/>
                          </a:rPr>
                          <m:t>𝒊</m:t>
                        </m:r>
                      </m:sub>
                    </m:sSub>
                    <m:r>
                      <m:rPr>
                        <m:nor/>
                      </m:rPr>
                      <a:rPr lang="zh-CN" altLang="en-US" sz="2400" b="1" dirty="0">
                        <a:solidFill>
                          <a:schemeClr val="tx1"/>
                        </a:solidFill>
                        <a:latin typeface="楷体_GB2312" pitchFamily="49" charset="-122"/>
                        <a:ea typeface="楷体_GB2312" pitchFamily="49" charset="-122"/>
                        <a:cs typeface="楷体_GB2312" pitchFamily="49" charset="-122"/>
                      </a:rPr>
                      <m:t>到</m:t>
                    </m:r>
                    <m:sSub>
                      <m:sSubPr>
                        <m:ctrlPr>
                          <a:rPr lang="zh-CN" altLang="zh-CN" sz="2400" b="1" i="1">
                            <a:solidFill>
                              <a:schemeClr val="tx1"/>
                            </a:solidFill>
                            <a:latin typeface="Cambria Math" panose="02040503050406030204" pitchFamily="18" charset="0"/>
                            <a:ea typeface="楷体_GB2312" pitchFamily="49" charset="-122"/>
                            <a:cs typeface="楷体_GB2312" pitchFamily="49" charset="-122"/>
                          </a:rPr>
                        </m:ctrlPr>
                      </m:sSubPr>
                      <m:e>
                        <m:r>
                          <a:rPr lang="en-US" altLang="zh-CN" sz="2400" b="1">
                            <a:solidFill>
                              <a:schemeClr val="tx1"/>
                            </a:solidFill>
                            <a:latin typeface="Cambria Math" panose="02040503050406030204" pitchFamily="18" charset="0"/>
                            <a:ea typeface="楷体_GB2312" pitchFamily="49" charset="-122"/>
                            <a:cs typeface="楷体_GB2312" pitchFamily="49" charset="-122"/>
                          </a:rPr>
                          <m:t>𝒗</m:t>
                        </m:r>
                      </m:e>
                      <m:sub>
                        <m:r>
                          <a:rPr lang="en-US" altLang="zh-CN" sz="2400" b="1">
                            <a:solidFill>
                              <a:schemeClr val="tx1"/>
                            </a:solidFill>
                            <a:latin typeface="Cambria Math" panose="02040503050406030204" pitchFamily="18" charset="0"/>
                            <a:ea typeface="楷体_GB2312" pitchFamily="49" charset="-122"/>
                            <a:cs typeface="楷体_GB2312" pitchFamily="49" charset="-122"/>
                          </a:rPr>
                          <m:t>𝒋</m:t>
                        </m:r>
                      </m:sub>
                    </m:sSub>
                  </m:oMath>
                </a14:m>
                <a:r>
                  <a:rPr lang="zh-CN" altLang="zh-CN" sz="2400" b="1" dirty="0">
                    <a:solidFill>
                      <a:schemeClr val="tx1"/>
                    </a:solidFill>
                    <a:latin typeface="楷体_GB2312" pitchFamily="49" charset="-122"/>
                    <a:ea typeface="楷体_GB2312" pitchFamily="49" charset="-122"/>
                    <a:cs typeface="楷体_GB2312" pitchFamily="49" charset="-122"/>
                  </a:rPr>
                  <a:t>可达</a:t>
                </a:r>
                <a:r>
                  <a:rPr lang="zh-CN" altLang="en-US" sz="2400" b="1" dirty="0">
                    <a:solidFill>
                      <a:schemeClr val="accent2"/>
                    </a:solidFill>
                    <a:latin typeface="楷体_GB2312" pitchFamily="49" charset="-122"/>
                    <a:ea typeface="楷体_GB2312" pitchFamily="49" charset="-122"/>
                    <a:cs typeface="楷体_GB2312" pitchFamily="49" charset="-122"/>
                  </a:rPr>
                  <a:t>，则不一定有</a:t>
                </a:r>
                <a:r>
                  <a:rPr lang="zh-CN" altLang="en-US" sz="2400" b="1" dirty="0">
                    <a:solidFill>
                      <a:schemeClr val="tx1"/>
                    </a:solidFill>
                    <a:latin typeface="楷体_GB2312" pitchFamily="49" charset="-122"/>
                    <a:ea typeface="楷体_GB2312" pitchFamily="49" charset="-122"/>
                    <a:cs typeface="楷体_GB2312" pitchFamily="49" charset="-122"/>
                  </a:rPr>
                  <a:t>从</a:t>
                </a:r>
                <a14:m>
                  <m:oMath xmlns:m="http://schemas.openxmlformats.org/officeDocument/2006/math">
                    <m:sSub>
                      <m:sSubPr>
                        <m:ctrlPr>
                          <a:rPr lang="zh-CN" altLang="zh-CN" sz="2400" b="1" i="1">
                            <a:solidFill>
                              <a:schemeClr val="tx1"/>
                            </a:solidFill>
                            <a:latin typeface="Cambria Math" panose="02040503050406030204" pitchFamily="18" charset="0"/>
                            <a:ea typeface="楷体_GB2312" pitchFamily="49" charset="-122"/>
                            <a:cs typeface="楷体_GB2312" pitchFamily="49" charset="-122"/>
                          </a:rPr>
                        </m:ctrlPr>
                      </m:sSubPr>
                      <m:e>
                        <m:r>
                          <a:rPr lang="en-US" altLang="zh-CN" sz="2400" b="1">
                            <a:solidFill>
                              <a:schemeClr val="tx1"/>
                            </a:solidFill>
                            <a:latin typeface="Cambria Math" panose="02040503050406030204" pitchFamily="18" charset="0"/>
                            <a:ea typeface="楷体_GB2312" pitchFamily="49" charset="-122"/>
                            <a:cs typeface="楷体_GB2312" pitchFamily="49" charset="-122"/>
                          </a:rPr>
                          <m:t>𝒗</m:t>
                        </m:r>
                      </m:e>
                      <m:sub>
                        <m:r>
                          <a:rPr lang="en-US" altLang="zh-CN" sz="2400" b="1">
                            <a:solidFill>
                              <a:schemeClr val="tx1"/>
                            </a:solidFill>
                            <a:latin typeface="Cambria Math" panose="02040503050406030204" pitchFamily="18" charset="0"/>
                            <a:ea typeface="楷体_GB2312" pitchFamily="49" charset="-122"/>
                            <a:cs typeface="楷体_GB2312" pitchFamily="49" charset="-122"/>
                          </a:rPr>
                          <m:t>𝒋</m:t>
                        </m:r>
                      </m:sub>
                    </m:sSub>
                  </m:oMath>
                </a14:m>
                <a:r>
                  <a:rPr lang="zh-CN" altLang="en-US" sz="2400" b="1" dirty="0">
                    <a:solidFill>
                      <a:schemeClr val="tx1"/>
                    </a:solidFill>
                    <a:latin typeface="楷体_GB2312" pitchFamily="49" charset="-122"/>
                    <a:ea typeface="楷体_GB2312" pitchFamily="49" charset="-122"/>
                    <a:cs typeface="楷体_GB2312" pitchFamily="49" charset="-122"/>
                  </a:rPr>
                  <a:t>到</a:t>
                </a:r>
                <a14:m>
                  <m:oMath xmlns:m="http://schemas.openxmlformats.org/officeDocument/2006/math">
                    <m:sSub>
                      <m:sSubPr>
                        <m:ctrlPr>
                          <a:rPr lang="zh-CN" altLang="zh-CN" sz="2400" b="1" i="1">
                            <a:solidFill>
                              <a:schemeClr val="tx1"/>
                            </a:solidFill>
                            <a:latin typeface="Cambria Math" panose="02040503050406030204" pitchFamily="18" charset="0"/>
                            <a:ea typeface="楷体_GB2312" pitchFamily="49" charset="-122"/>
                            <a:cs typeface="楷体_GB2312" pitchFamily="49" charset="-122"/>
                          </a:rPr>
                        </m:ctrlPr>
                      </m:sSubPr>
                      <m:e>
                        <m:r>
                          <a:rPr lang="en-US" altLang="zh-CN" sz="2400" b="1">
                            <a:solidFill>
                              <a:schemeClr val="tx1"/>
                            </a:solidFill>
                            <a:latin typeface="Cambria Math" panose="02040503050406030204" pitchFamily="18" charset="0"/>
                            <a:ea typeface="楷体_GB2312" pitchFamily="49" charset="-122"/>
                            <a:cs typeface="楷体_GB2312" pitchFamily="49" charset="-122"/>
                          </a:rPr>
                          <m:t>𝒗</m:t>
                        </m:r>
                      </m:e>
                      <m:sub>
                        <m:r>
                          <a:rPr lang="en-US" altLang="zh-CN" sz="2400" b="1">
                            <a:solidFill>
                              <a:schemeClr val="tx1"/>
                            </a:solidFill>
                            <a:latin typeface="Cambria Math" panose="02040503050406030204" pitchFamily="18" charset="0"/>
                            <a:ea typeface="楷体_GB2312" pitchFamily="49" charset="-122"/>
                            <a:cs typeface="楷体_GB2312" pitchFamily="49" charset="-122"/>
                          </a:rPr>
                          <m:t>𝒊</m:t>
                        </m:r>
                      </m:sub>
                    </m:sSub>
                  </m:oMath>
                </a14:m>
                <a:r>
                  <a:rPr lang="zh-CN" altLang="en-US" sz="2400" b="1" dirty="0">
                    <a:solidFill>
                      <a:schemeClr val="tx1"/>
                    </a:solidFill>
                    <a:latin typeface="楷体_GB2312" pitchFamily="49" charset="-122"/>
                    <a:ea typeface="楷体_GB2312" pitchFamily="49" charset="-122"/>
                    <a:cs typeface="楷体_GB2312" pitchFamily="49" charset="-122"/>
                  </a:rPr>
                  <a:t>可达</a:t>
                </a:r>
                <a:r>
                  <a:rPr lang="zh-CN" altLang="en-US" sz="2400" b="1" dirty="0">
                    <a:solidFill>
                      <a:schemeClr val="accent2"/>
                    </a:solidFill>
                    <a:latin typeface="楷体_GB2312" pitchFamily="49" charset="-122"/>
                    <a:ea typeface="楷体_GB2312" pitchFamily="49" charset="-122"/>
                    <a:cs typeface="楷体_GB2312" pitchFamily="49" charset="-122"/>
                  </a:rPr>
                  <a:t>；即使可达，也不一定有</a:t>
                </a:r>
                <a14:m>
                  <m:oMath xmlns:m="http://schemas.openxmlformats.org/officeDocument/2006/math">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𝒋</m:t>
                            </m:r>
                          </m:sub>
                        </m:sSub>
                      </m:e>
                    </m:d>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𝒋</m:t>
                            </m:r>
                          </m:sub>
                        </m:s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𝒊</m:t>
                            </m:r>
                          </m:sub>
                        </m:sSub>
                      </m:e>
                    </m:d>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400" b="1" dirty="0">
                    <a:solidFill>
                      <a:srgbClr val="000000"/>
                    </a:solidFill>
                    <a:latin typeface="楷体_GB2312" pitchFamily="49" charset="-122"/>
                    <a:ea typeface="楷体_GB2312" pitchFamily="49" charset="-122"/>
                    <a:cs typeface="楷体_GB2312" pitchFamily="49" charset="-122"/>
                  </a:rPr>
                  <a:t>。</a:t>
                </a:r>
              </a:p>
            </p:txBody>
          </p:sp>
        </mc:Choice>
        <mc:Fallback xmlns="">
          <p:sp>
            <p:nvSpPr>
              <p:cNvPr id="1252409" name="Rectangle 57"/>
              <p:cNvSpPr>
                <a:spLocks noRot="1" noChangeAspect="1" noMove="1" noResize="1" noEditPoints="1" noAdjustHandles="1" noChangeArrowheads="1" noChangeShapeType="1" noTextEdit="1"/>
              </p:cNvSpPr>
              <p:nvPr/>
            </p:nvSpPr>
            <p:spPr bwMode="auto">
              <a:xfrm>
                <a:off x="289378" y="3904608"/>
                <a:ext cx="8854622" cy="2246449"/>
              </a:xfrm>
              <a:prstGeom prst="rect">
                <a:avLst/>
              </a:prstGeom>
              <a:blipFill>
                <a:blip r:embed="rId4"/>
                <a:stretch>
                  <a:fillRect l="-1032" b="-3804"/>
                </a:stretch>
              </a:blipFill>
              <a:ln>
                <a:noFill/>
              </a:ln>
              <a:effectLst/>
            </p:spPr>
            <p:txBody>
              <a:bodyPr/>
              <a:lstStyle/>
              <a:p>
                <a:r>
                  <a:rPr lang="zh-CN" altLang="en-US">
                    <a:noFill/>
                  </a:rPr>
                  <a:t> </a:t>
                </a:r>
              </a:p>
            </p:txBody>
          </p:sp>
        </mc:Fallback>
      </mc:AlternateContent>
      <p:sp>
        <p:nvSpPr>
          <p:cNvPr id="149509" name="Text Box 2"/>
          <p:cNvSpPr txBox="1">
            <a:spLocks noChangeArrowheads="1"/>
          </p:cNvSpPr>
          <p:nvPr/>
        </p:nvSpPr>
        <p:spPr bwMode="auto">
          <a:xfrm>
            <a:off x="1403350" y="549275"/>
            <a:ext cx="6300998"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可达性概念要点</a:t>
            </a:r>
          </a:p>
        </p:txBody>
      </p:sp>
      <p:pic>
        <p:nvPicPr>
          <p:cNvPr id="149510" name="Picture 6" descr="C:\Program Files\Microsoft Office\MEDIA\CAGCAT10\j0293844.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1C4FE9F1-C649-421B-BC09-F0A9AB75B05E}"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49509" name="Text Box 2"/>
          <p:cNvSpPr txBox="1">
            <a:spLocks noChangeArrowheads="1"/>
          </p:cNvSpPr>
          <p:nvPr/>
        </p:nvSpPr>
        <p:spPr bwMode="auto">
          <a:xfrm>
            <a:off x="1403648" y="548680"/>
            <a:ext cx="6481018"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可达性与传递闭包</a:t>
            </a:r>
          </a:p>
        </p:txBody>
      </p:sp>
      <p:pic>
        <p:nvPicPr>
          <p:cNvPr id="14951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2400" y="476251"/>
            <a:ext cx="971600" cy="10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25512E0-4024-40D4-8918-1A495C48A1A0}"/>
                  </a:ext>
                </a:extLst>
              </p:cNvPr>
              <p:cNvSpPr/>
              <p:nvPr/>
            </p:nvSpPr>
            <p:spPr>
              <a:xfrm>
                <a:off x="323528" y="1628800"/>
                <a:ext cx="8712968" cy="4579074"/>
              </a:xfrm>
              <a:prstGeom prst="rect">
                <a:avLst/>
              </a:prstGeom>
              <a:solidFill>
                <a:schemeClr val="accent5"/>
              </a:solidFill>
            </p:spPr>
            <p:txBody>
              <a:bodyPr wrap="square">
                <a:spAutoFit/>
              </a:bodyPr>
              <a:lstStyle/>
              <a:p>
                <a:pPr algn="just">
                  <a:lnSpc>
                    <a:spcPts val="32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图模型</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𝑬</m:t>
                        </m:r>
                      </m:e>
                    </m:d>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中结点之间的通路由该图所表示二元关系不断对其自身作复合运算产生，</a:t>
                </a:r>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长度为</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𝒌</m:t>
                    </m:r>
                  </m:oMath>
                </a14:m>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的通路其实就是二元关系</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𝒌</m:t>
                    </m:r>
                  </m:oMath>
                </a14:m>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次幂运算的结果</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algn="just">
                  <a:lnSpc>
                    <a:spcPts val="32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因此，由图</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𝑬</m:t>
                        </m:r>
                      </m:e>
                    </m:d>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中结点之间可达性产生的二元关系其实就是图</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𝑬</m:t>
                        </m:r>
                      </m:e>
                    </m:d>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所表示二元关系的</a:t>
                </a:r>
                <a:r>
                  <a:rPr lang="zh-CN" altLang="en-US"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自反</a:t>
                </a:r>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传递闭包</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endPar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algn="just">
                  <a:lnSpc>
                    <a:spcPts val="32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我们知道，</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对于集合</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𝒏</m:t>
                            </m:r>
                          </m:sub>
                        </m:sSub>
                      </m:e>
                    </m:d>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上</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二元关系，构造其传递闭包最多只需进行</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𝒏</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次方幂运算</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即可</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。也就是说，对于任意</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包含</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𝒏</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结点的图模型，联结其中两个可达的结点最多只需做</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𝒏</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次方幂运算，亦即</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algn="just">
                  <a:lnSpc>
                    <a:spcPts val="32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rgbClr val="0000FF"/>
                    </a:solidFill>
                    <a:cs typeface="Times New Roman" panose="02020603050405020304" pitchFamily="18" charset="0"/>
                  </a:rPr>
                  <a:t>对于图中任意两个可达结点，必然存在一条长度不大于</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𝒏</m:t>
                    </m:r>
                  </m:oMath>
                </a14:m>
                <a:r>
                  <a:rPr lang="zh-CN" altLang="zh-CN" sz="2400" b="1" kern="100" dirty="0">
                    <a:solidFill>
                      <a:srgbClr val="0000FF"/>
                    </a:solidFill>
                    <a:cs typeface="Times New Roman" panose="02020603050405020304" pitchFamily="18" charset="0"/>
                  </a:rPr>
                  <a:t>的通路或回路联结这两个结点。</a:t>
                </a:r>
                <a:endParaRPr lang="zh-CN" altLang="zh-CN" sz="2400" b="1" kern="100" dirty="0">
                  <a:solidFill>
                    <a:schemeClr val="tx1"/>
                  </a:solidFill>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525512E0-4024-40D4-8918-1A495C48A1A0}"/>
                  </a:ext>
                </a:extLst>
              </p:cNvPr>
              <p:cNvSpPr>
                <a:spLocks noRot="1" noChangeAspect="1" noMove="1" noResize="1" noEditPoints="1" noAdjustHandles="1" noChangeArrowheads="1" noChangeShapeType="1" noTextEdit="1"/>
              </p:cNvSpPr>
              <p:nvPr/>
            </p:nvSpPr>
            <p:spPr>
              <a:xfrm>
                <a:off x="323528" y="1628800"/>
                <a:ext cx="8712968" cy="4579074"/>
              </a:xfrm>
              <a:prstGeom prst="rect">
                <a:avLst/>
              </a:prstGeom>
              <a:blipFill>
                <a:blip r:embed="rId4"/>
                <a:stretch>
                  <a:fillRect l="-1050" t="-1332" r="-1120" b="-15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2538183"/>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01DEE07F-C62F-4BB2-85B2-1C540BBB764D}"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50532" name="Text Box 2"/>
          <p:cNvSpPr txBox="1">
            <a:spLocks noChangeArrowheads="1"/>
          </p:cNvSpPr>
          <p:nvPr/>
        </p:nvSpPr>
        <p:spPr bwMode="auto">
          <a:xfrm>
            <a:off x="1403648" y="618746"/>
            <a:ext cx="61214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可达结点的通路</a:t>
            </a:r>
          </a:p>
        </p:txBody>
      </p:sp>
      <p:pic>
        <p:nvPicPr>
          <p:cNvPr id="150533"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6B820D95-65C9-44F6-AF43-642C49D2EC29}"/>
                  </a:ext>
                </a:extLst>
              </p:cNvPr>
              <p:cNvSpPr/>
              <p:nvPr/>
            </p:nvSpPr>
            <p:spPr>
              <a:xfrm>
                <a:off x="395536" y="1628800"/>
                <a:ext cx="8554082" cy="4478149"/>
              </a:xfrm>
              <a:prstGeom prst="rect">
                <a:avLst/>
              </a:prstGeom>
              <a:solidFill>
                <a:schemeClr val="accent5"/>
              </a:solidFill>
            </p:spPr>
            <p:txBody>
              <a:bodyPr wrap="square">
                <a:spAutoFit/>
              </a:bodyPr>
              <a:lstStyle/>
              <a:p>
                <a:pPr indent="266700" algn="just">
                  <a:lnSpc>
                    <a:spcPts val="3800"/>
                  </a:lnSpc>
                  <a:spcAft>
                    <a:spcPts val="0"/>
                  </a:spcAft>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【定理】假设</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𝑬</m:t>
                        </m:r>
                      </m:e>
                    </m:d>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为任意给定的</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有向或无向线图</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，并且其结点集为</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𝑽</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𝒏</m:t>
                            </m:r>
                          </m:sub>
                        </m:sSub>
                      </m:e>
                    </m:d>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，若对于图中两个不同的结点</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和</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𝒗</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存在一条从</a:t>
                </a:r>
                <a14:m>
                  <m:oMath xmlns:m="http://schemas.openxmlformats.org/officeDocument/2006/math">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zh-CN"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𝒗</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通路</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，则</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必然存在一条长度不</a:t>
                </a:r>
                <a:r>
                  <a:rPr lang="zh-CN" altLang="en-US"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超过</a:t>
                </a:r>
                <a14:m>
                  <m:oMath xmlns:m="http://schemas.openxmlformats.org/officeDocument/2006/math">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的基本通路</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p>
              <a:p>
                <a:pPr indent="266700" algn="just">
                  <a:lnSpc>
                    <a:spcPts val="38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【证明】</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用</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反证法。设从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最短通路为</a:t>
                </a:r>
                <a14:m>
                  <m:oMath xmlns:m="http://schemas.openxmlformats.org/officeDocument/2006/math">
                    <m:r>
                      <a:rPr lang="zh-CN"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𝑳</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且</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长度</a:t>
                </a:r>
                <a14:m>
                  <m:oMath xmlns:m="http://schemas.openxmlformats.org/officeDocument/2006/math">
                    <m:r>
                      <a:rPr lang="zh-CN"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𝒌</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&gt;</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𝒏</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𝟏</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，则</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𝑳</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结点数必然大于</a:t>
                </a:r>
                <a14:m>
                  <m:oMath xmlns:m="http://schemas.openxmlformats.org/officeDocument/2006/math">
                    <m:r>
                      <a:rPr lang="zh-CN"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。由于</a:t>
                </a:r>
                <a14:m>
                  <m:oMath xmlns:m="http://schemas.openxmlformats.org/officeDocument/2006/math">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𝑽</m:t>
                        </m:r>
                      </m:e>
                    </m:d>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𝒏</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故</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由鸽巢原理知</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𝑳</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中必然至少存在</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两个相同结点</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，不妨设为</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zh-CN" altLang="zh-CN" sz="2400" b="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则有</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，也就是说</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𝑳</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中必然</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至少有一回路</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，例如：</a:t>
                </a:r>
                <a:endPar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8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rgbClr val="CC00FF"/>
                          </a:solidFill>
                          <a:latin typeface="Cambria Math" panose="02040503050406030204" pitchFamily="18" charset="0"/>
                          <a:ea typeface="宋体" panose="02010600030101010101" pitchFamily="2" charset="-122"/>
                          <a:cs typeface="Times New Roman" panose="02020603050405020304" pitchFamily="18" charset="0"/>
                        </a:rPr>
                        <m:t>𝒖</m:t>
                      </m:r>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𝟐</m:t>
                          </m:r>
                        </m:sub>
                      </m:sSub>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𝒊</m:t>
                          </m:r>
                        </m:sub>
                      </m:sSub>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𝒋</m:t>
                          </m:r>
                        </m:sub>
                      </m:sSub>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𝒋</m:t>
                          </m:r>
                        </m:sub>
                      </m:sSub>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𝒋</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𝒏</m:t>
                          </m:r>
                        </m:sub>
                      </m:sSub>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 </m:t>
                      </m:r>
                    </m:oMath>
                  </m:oMathPara>
                </a14:m>
                <a:endPar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6B820D95-65C9-44F6-AF43-642C49D2EC29}"/>
                  </a:ext>
                </a:extLst>
              </p:cNvPr>
              <p:cNvSpPr>
                <a:spLocks noRot="1" noChangeAspect="1" noMove="1" noResize="1" noEditPoints="1" noAdjustHandles="1" noChangeArrowheads="1" noChangeShapeType="1" noTextEdit="1"/>
              </p:cNvSpPr>
              <p:nvPr/>
            </p:nvSpPr>
            <p:spPr>
              <a:xfrm>
                <a:off x="395536" y="1628800"/>
                <a:ext cx="8554082" cy="4478149"/>
              </a:xfrm>
              <a:prstGeom prst="rect">
                <a:avLst/>
              </a:prstGeom>
              <a:blipFill>
                <a:blip r:embed="rId4"/>
                <a:stretch>
                  <a:fillRect l="-1140" t="-136" r="-1069"/>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01DEE07F-C62F-4BB2-85B2-1C540BBB764D}"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pic>
        <p:nvPicPr>
          <p:cNvPr id="150533"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BC842E7-F6EC-4567-A911-863E8576AEB3}"/>
                  </a:ext>
                </a:extLst>
              </p:cNvPr>
              <p:cNvSpPr/>
              <p:nvPr/>
            </p:nvSpPr>
            <p:spPr>
              <a:xfrm>
                <a:off x="179512" y="1593417"/>
                <a:ext cx="8856984" cy="4668842"/>
              </a:xfrm>
              <a:prstGeom prst="rect">
                <a:avLst/>
              </a:prstGeom>
              <a:solidFill>
                <a:schemeClr val="accent5"/>
              </a:solidFill>
            </p:spPr>
            <p:txBody>
              <a:bodyPr wrap="square">
                <a:spAutoFit/>
              </a:bodyPr>
              <a:lstStyle/>
              <a:p>
                <a:pPr indent="266700" algn="just">
                  <a:lnSpc>
                    <a:spcPts val="3600"/>
                  </a:lnSpc>
                  <a:spcAft>
                    <a:spcPts val="0"/>
                  </a:spcAft>
                </a:pPr>
                <a:r>
                  <a:rPr lang="zh-CN" altLang="en-US" sz="2400" b="1" kern="100" dirty="0">
                    <a:latin typeface="Calibri" panose="020F0502020204030204" pitchFamily="34" charset="0"/>
                    <a:ea typeface="宋体" panose="02010600030101010101" pitchFamily="2" charset="-122"/>
                    <a:cs typeface="Times New Roman" panose="02020603050405020304" pitchFamily="18" charset="0"/>
                  </a:rPr>
                  <a:t>    </a:t>
                </a: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证明（续）</a:t>
                </a: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在</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𝑳</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a:t>
                </a:r>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删除该回路</a:t>
                </a:r>
                <a14:m>
                  <m:oMath xmlns:m="http://schemas.openxmlformats.org/officeDocument/2006/math">
                    <m:sSub>
                      <m:sSubPr>
                        <m:ctrlPr>
                          <a:rPr lang="zh-CN"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𝒊</m:t>
                        </m:r>
                      </m:sub>
                    </m:sSub>
                    <m:sSub>
                      <m:sSubPr>
                        <m:ctrlPr>
                          <a:rPr lang="zh-CN"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lang="zh-CN"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𝒋</m:t>
                        </m:r>
                      </m:sub>
                    </m:sSub>
                    <m:sSub>
                      <m:sSubPr>
                        <m:ctrlPr>
                          <a:rPr lang="zh-CN"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𝒋</m:t>
                        </m:r>
                      </m:sub>
                    </m:sSub>
                  </m:oMath>
                </a14:m>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并保留结点</a:t>
                </a:r>
                <a14:m>
                  <m:oMath xmlns:m="http://schemas.openxmlformats.org/officeDocument/2006/math">
                    <m:sSub>
                      <m:sSubPr>
                        <m:ctrlPr>
                          <a:rPr lang="zh-CN"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𝒊</m:t>
                        </m:r>
                      </m:sub>
                    </m:sSub>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，则仍可得到一条从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到达</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的路径，其长度为</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i="1" kern="100" dirty="0">
                  <a:solidFill>
                    <a:schemeClr val="tx1"/>
                  </a:solidFill>
                  <a:latin typeface="Cambria Math" panose="02040503050406030204" pitchFamily="18" charset="0"/>
                  <a:ea typeface="宋体" panose="02010600030101010101" pitchFamily="2" charset="-122"/>
                  <a:cs typeface="Times New Roman" panose="02020603050405020304" pitchFamily="18" charset="0"/>
                </a:endParaRPr>
              </a:p>
              <a:p>
                <a:pPr indent="266700" algn="just">
                  <a:lnSpc>
                    <a:spcPts val="36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𝒋</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oMath>
                  </m:oMathPara>
                </a14:m>
                <a:endPar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6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不妨设</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𝒋</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𝒊</m:t>
                    </m:r>
                    <m:r>
                      <a:rPr lang="en-US"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&gt;</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𝟎</m:t>
                    </m:r>
                    <m:r>
                      <a:rPr lang="en-US"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，则有</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indent="266700" algn="ctr">
                  <a:lnSpc>
                    <a:spcPts val="3600"/>
                  </a:lnSpc>
                  <a:spcAft>
                    <a:spcPts val="0"/>
                  </a:spcAft>
                </a:pPr>
                <a14:m>
                  <m:oMath xmlns:m="http://schemas.openxmlformats.org/officeDocument/2006/math">
                    <m:r>
                      <a:rPr lang="zh-CN" altLang="zh-CN" sz="2400" b="1" kern="10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𝒌</m:t>
                    </m:r>
                    <m:r>
                      <a:rPr lang="en-US"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zh-CN"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 </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𝒋</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𝒊</m:t>
                        </m:r>
                      </m:e>
                    </m:d>
                    <m:r>
                      <a:rPr lang="en-US" altLang="zh-CN" sz="2400" b="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&lt;</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 </m:t>
                    </m:r>
                  </m:oMath>
                </a14:m>
                <a:r>
                  <a:rPr lang="en-US"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 </a:t>
                </a:r>
              </a:p>
              <a:p>
                <a:pPr indent="266700" algn="just">
                  <a:lnSpc>
                    <a:spcPts val="36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这</a:t>
                </a:r>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与</a:t>
                </a:r>
                <a14:m>
                  <m:oMath xmlns:m="http://schemas.openxmlformats.org/officeDocument/2006/math">
                    <m:r>
                      <a:rPr lang="zh-CN" altLang="zh-CN" sz="2400" b="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𝒌</m:t>
                    </m:r>
                    <m:r>
                      <a:rPr lang="en-US" altLang="zh-CN" sz="2400" b="1" i="1" kern="10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是从</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𝒗</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的最短通路长度</a:t>
                </a:r>
                <a:r>
                  <a:rPr lang="zh-CN" altLang="en-US"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相</a:t>
                </a:r>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矛盾</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。故有</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，即从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必有一条不大于</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𝒏</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的通路。 </a:t>
                </a:r>
              </a:p>
              <a:p>
                <a:pPr indent="266700" algn="just">
                  <a:lnSpc>
                    <a:spcPts val="36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由</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上述证明</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过程可知，</a:t>
                </a:r>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从</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𝒗</m:t>
                    </m:r>
                  </m:oMath>
                </a14:m>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的最短通路必然没有回路因而是基本通路</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6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因此，从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必然</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存在一条长度不超过</a:t>
                </a:r>
                <a14:m>
                  <m:oMath xmlns:m="http://schemas.openxmlformats.org/officeDocument/2006/math">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的基本通路</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p>
            </p:txBody>
          </p:sp>
        </mc:Choice>
        <mc:Fallback xmlns="">
          <p:sp>
            <p:nvSpPr>
              <p:cNvPr id="2" name="矩形 1">
                <a:extLst>
                  <a:ext uri="{FF2B5EF4-FFF2-40B4-BE49-F238E27FC236}">
                    <a16:creationId xmlns:a16="http://schemas.microsoft.com/office/drawing/2014/main" id="{5BC842E7-F6EC-4567-A911-863E8576AEB3}"/>
                  </a:ext>
                </a:extLst>
              </p:cNvPr>
              <p:cNvSpPr>
                <a:spLocks noRot="1" noChangeAspect="1" noMove="1" noResize="1" noEditPoints="1" noAdjustHandles="1" noChangeArrowheads="1" noChangeShapeType="1" noTextEdit="1"/>
              </p:cNvSpPr>
              <p:nvPr/>
            </p:nvSpPr>
            <p:spPr>
              <a:xfrm>
                <a:off x="179512" y="1593417"/>
                <a:ext cx="8856984" cy="4668842"/>
              </a:xfrm>
              <a:prstGeom prst="rect">
                <a:avLst/>
              </a:prstGeom>
              <a:blipFill>
                <a:blip r:embed="rId4"/>
                <a:stretch>
                  <a:fillRect l="-1032" t="-522" r="-1101" b="-1436"/>
                </a:stretch>
              </a:blipFill>
            </p:spPr>
            <p:txBody>
              <a:bodyPr/>
              <a:lstStyle/>
              <a:p>
                <a:r>
                  <a:rPr lang="zh-CN" altLang="en-US">
                    <a:noFill/>
                  </a:rPr>
                  <a:t> </a:t>
                </a:r>
              </a:p>
            </p:txBody>
          </p:sp>
        </mc:Fallback>
      </mc:AlternateContent>
      <p:sp>
        <p:nvSpPr>
          <p:cNvPr id="7" name="Text Box 2">
            <a:extLst>
              <a:ext uri="{FF2B5EF4-FFF2-40B4-BE49-F238E27FC236}">
                <a16:creationId xmlns:a16="http://schemas.microsoft.com/office/drawing/2014/main" id="{633D9B3C-FCA8-45E3-B919-0B81BEB45A35}"/>
              </a:ext>
            </a:extLst>
          </p:cNvPr>
          <p:cNvSpPr txBox="1">
            <a:spLocks noChangeArrowheads="1"/>
          </p:cNvSpPr>
          <p:nvPr/>
        </p:nvSpPr>
        <p:spPr bwMode="auto">
          <a:xfrm>
            <a:off x="1403648" y="618746"/>
            <a:ext cx="61214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可达结点的通路</a:t>
            </a:r>
          </a:p>
        </p:txBody>
      </p:sp>
    </p:spTree>
    <p:extLst>
      <p:ext uri="{BB962C8B-B14F-4D97-AF65-F5344CB8AC3E}">
        <p14:creationId xmlns:p14="http://schemas.microsoft.com/office/powerpoint/2010/main" val="2596649950"/>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55427" name="Rectangle 3"/>
              <p:cNvSpPr>
                <a:spLocks noGrp="1" noChangeArrowheads="1"/>
              </p:cNvSpPr>
              <p:nvPr>
                <p:ph idx="1"/>
              </p:nvPr>
            </p:nvSpPr>
            <p:spPr>
              <a:xfrm>
                <a:off x="179512" y="1856742"/>
                <a:ext cx="8856984" cy="4176464"/>
              </a:xfrm>
              <a:solidFill>
                <a:schemeClr val="accent5"/>
              </a:solidFill>
              <a:ln w="19050">
                <a:noFill/>
              </a:ln>
            </p:spPr>
            <p:txBody>
              <a:bodyPr/>
              <a:lstStyle/>
              <a:p>
                <a:pPr marL="0" indent="0" eaLnBrk="1" hangingPunct="1">
                  <a:lnSpc>
                    <a:spcPct val="150000"/>
                  </a:lnSpc>
                  <a:buFontTx/>
                  <a:buNone/>
                  <a:defRPr/>
                </a:pPr>
                <a:r>
                  <a:rPr lang="en-US" altLang="zh-CN" sz="2800" b="1" dirty="0">
                    <a:solidFill>
                      <a:srgbClr val="FF0000"/>
                    </a:solidFill>
                    <a:cs typeface="楷体_GB2312" pitchFamily="49" charset="-122"/>
                  </a:rPr>
                  <a:t>     </a:t>
                </a:r>
                <a:r>
                  <a:rPr lang="en-US" altLang="zh-CN" sz="2800" b="1" dirty="0">
                    <a:solidFill>
                      <a:srgbClr val="FF0000"/>
                    </a:solidFill>
                    <a:effectLst/>
                    <a:cs typeface="楷体_GB2312" pitchFamily="49" charset="-122"/>
                  </a:rPr>
                  <a:t>【</a:t>
                </a:r>
                <a:r>
                  <a:rPr lang="zh-CN" altLang="en-US" sz="2800" b="1" dirty="0">
                    <a:solidFill>
                      <a:srgbClr val="FF0000"/>
                    </a:solidFill>
                    <a:effectLst/>
                    <a:cs typeface="楷体_GB2312" pitchFamily="49" charset="-122"/>
                  </a:rPr>
                  <a:t>定理</a:t>
                </a:r>
                <a:r>
                  <a:rPr lang="en-US" altLang="zh-CN" sz="2800" b="1" dirty="0">
                    <a:solidFill>
                      <a:srgbClr val="FF0000"/>
                    </a:solidFill>
                    <a:effectLst/>
                    <a:cs typeface="楷体_GB2312" pitchFamily="49" charset="-122"/>
                  </a:rPr>
                  <a:t>】</a:t>
                </a:r>
                <a:r>
                  <a:rPr lang="zh-CN" altLang="en-US" sz="2800" b="1" dirty="0">
                    <a:effectLst/>
                    <a:cs typeface="楷体_GB2312" pitchFamily="49" charset="-122"/>
                  </a:rPr>
                  <a:t>在一个具有</a:t>
                </a:r>
                <a14:m>
                  <m:oMath xmlns:m="http://schemas.openxmlformats.org/officeDocument/2006/math">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𝒏</m:t>
                    </m:r>
                  </m:oMath>
                </a14:m>
                <a:r>
                  <a:rPr lang="zh-CN" altLang="en-US" sz="2800" b="1" dirty="0">
                    <a:effectLst/>
                    <a:cs typeface="楷体_GB2312" pitchFamily="49" charset="-122"/>
                  </a:rPr>
                  <a:t>个结点的有向或无向线图中，如果存在经过结点</a:t>
                </a:r>
                <a14:m>
                  <m:oMath xmlns:m="http://schemas.openxmlformats.org/officeDocument/2006/math">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𝒗</m:t>
                    </m:r>
                  </m:oMath>
                </a14:m>
                <a:r>
                  <a:rPr lang="zh-CN" altLang="en-US" sz="2800" b="1" dirty="0">
                    <a:effectLst/>
                    <a:cs typeface="楷体_GB2312" pitchFamily="49" charset="-122"/>
                  </a:rPr>
                  <a:t>回路，则存在一条经过</a:t>
                </a:r>
                <a14:m>
                  <m:oMath xmlns:m="http://schemas.openxmlformats.org/officeDocument/2006/math">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𝒗</m:t>
                    </m:r>
                  </m:oMath>
                </a14:m>
                <a:r>
                  <a:rPr lang="zh-CN" altLang="en-US" sz="2800" b="1" dirty="0">
                    <a:effectLst/>
                    <a:cs typeface="楷体_GB2312" pitchFamily="49" charset="-122"/>
                  </a:rPr>
                  <a:t>且长度不超过</a:t>
                </a:r>
                <a14:m>
                  <m:oMath xmlns:m="http://schemas.openxmlformats.org/officeDocument/2006/math">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𝒏</m:t>
                    </m:r>
                  </m:oMath>
                </a14:m>
                <a:r>
                  <a:rPr lang="zh-CN" altLang="en-US" sz="2800" b="1" dirty="0">
                    <a:effectLst/>
                    <a:cs typeface="楷体_GB2312" pitchFamily="49" charset="-122"/>
                  </a:rPr>
                  <a:t>的</a:t>
                </a:r>
                <a:r>
                  <a:rPr lang="zh-CN" altLang="en-US" sz="2800" b="1" dirty="0">
                    <a:solidFill>
                      <a:schemeClr val="hlink"/>
                    </a:solidFill>
                    <a:effectLst/>
                    <a:cs typeface="楷体_GB2312" pitchFamily="49" charset="-122"/>
                  </a:rPr>
                  <a:t>回路</a:t>
                </a:r>
                <a:r>
                  <a:rPr lang="zh-CN" altLang="en-US" sz="2800" b="1" dirty="0">
                    <a:effectLst/>
                    <a:cs typeface="楷体_GB2312" pitchFamily="49" charset="-122"/>
                  </a:rPr>
                  <a:t>。</a:t>
                </a:r>
              </a:p>
              <a:p>
                <a:pPr marL="0" indent="0" eaLnBrk="1" hangingPunct="1">
                  <a:lnSpc>
                    <a:spcPct val="150000"/>
                  </a:lnSpc>
                  <a:buFontTx/>
                  <a:buNone/>
                  <a:defRPr/>
                </a:pPr>
                <a:r>
                  <a:rPr lang="en-US" altLang="zh-CN" sz="2800" b="1" dirty="0">
                    <a:solidFill>
                      <a:srgbClr val="FF0000"/>
                    </a:solidFill>
                    <a:effectLst/>
                    <a:cs typeface="楷体_GB2312" pitchFamily="49" charset="-122"/>
                  </a:rPr>
                  <a:t>     【</a:t>
                </a:r>
                <a:r>
                  <a:rPr lang="zh-CN" altLang="en-US" sz="2800" b="1" dirty="0">
                    <a:solidFill>
                      <a:srgbClr val="FF0000"/>
                    </a:solidFill>
                    <a:effectLst/>
                    <a:cs typeface="楷体_GB2312" pitchFamily="49" charset="-122"/>
                  </a:rPr>
                  <a:t>推论</a:t>
                </a:r>
                <a:r>
                  <a:rPr lang="en-US" altLang="zh-CN" sz="2800" b="1" dirty="0">
                    <a:solidFill>
                      <a:srgbClr val="FF0000"/>
                    </a:solidFill>
                    <a:effectLst/>
                    <a:cs typeface="楷体_GB2312" pitchFamily="49" charset="-122"/>
                  </a:rPr>
                  <a:t>】</a:t>
                </a:r>
                <a:r>
                  <a:rPr lang="zh-CN" altLang="en-US" sz="2800" b="1" dirty="0">
                    <a:effectLst/>
                    <a:cs typeface="楷体_GB2312" pitchFamily="49" charset="-122"/>
                  </a:rPr>
                  <a:t>在一个具有</a:t>
                </a:r>
                <a14:m>
                  <m:oMath xmlns:m="http://schemas.openxmlformats.org/officeDocument/2006/math">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𝒏</m:t>
                    </m:r>
                  </m:oMath>
                </a14:m>
                <a:r>
                  <a:rPr lang="zh-CN" altLang="en-US" sz="2800" b="1" dirty="0">
                    <a:effectLst/>
                    <a:cs typeface="楷体_GB2312" pitchFamily="49" charset="-122"/>
                  </a:rPr>
                  <a:t>个结点的有向或无向线图中，如果存在经过结点</a:t>
                </a:r>
                <a14:m>
                  <m:oMath xmlns:m="http://schemas.openxmlformats.org/officeDocument/2006/math">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𝒗</m:t>
                    </m:r>
                  </m:oMath>
                </a14:m>
                <a:r>
                  <a:rPr lang="zh-CN" altLang="en-US" sz="2800" b="1" dirty="0">
                    <a:effectLst/>
                    <a:cs typeface="楷体_GB2312" pitchFamily="49" charset="-122"/>
                  </a:rPr>
                  <a:t>回路，则存在一条经过</a:t>
                </a:r>
                <a14:m>
                  <m:oMath xmlns:m="http://schemas.openxmlformats.org/officeDocument/2006/math">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𝒗</m:t>
                    </m:r>
                  </m:oMath>
                </a14:m>
                <a:r>
                  <a:rPr lang="zh-CN" altLang="en-US" sz="2800" b="1" dirty="0">
                    <a:effectLst/>
                    <a:cs typeface="楷体_GB2312" pitchFamily="49" charset="-122"/>
                  </a:rPr>
                  <a:t>且长度不超过</a:t>
                </a:r>
                <a14:m>
                  <m:oMath xmlns:m="http://schemas.openxmlformats.org/officeDocument/2006/math">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𝒏</m:t>
                    </m:r>
                  </m:oMath>
                </a14:m>
                <a:r>
                  <a:rPr lang="zh-CN" altLang="en-US" sz="2800" b="1" dirty="0">
                    <a:effectLst/>
                    <a:cs typeface="楷体_GB2312" pitchFamily="49" charset="-122"/>
                  </a:rPr>
                  <a:t>的</a:t>
                </a:r>
                <a:r>
                  <a:rPr lang="zh-CN" altLang="en-US" sz="2800" b="1" dirty="0">
                    <a:solidFill>
                      <a:schemeClr val="hlink"/>
                    </a:solidFill>
                    <a:effectLst/>
                    <a:cs typeface="楷体_GB2312" pitchFamily="49" charset="-122"/>
                  </a:rPr>
                  <a:t>基本回路</a:t>
                </a:r>
                <a:r>
                  <a:rPr lang="zh-CN" altLang="en-US" sz="2800" b="1" dirty="0">
                    <a:effectLst/>
                    <a:cs typeface="楷体_GB2312" pitchFamily="49" charset="-122"/>
                  </a:rPr>
                  <a:t>。 </a:t>
                </a:r>
              </a:p>
            </p:txBody>
          </p:sp>
        </mc:Choice>
        <mc:Fallback xmlns="">
          <p:sp>
            <p:nvSpPr>
              <p:cNvPr id="1255427" name="Rectangle 3"/>
              <p:cNvSpPr>
                <a:spLocks noGrp="1" noRot="1" noChangeAspect="1" noMove="1" noResize="1" noEditPoints="1" noAdjustHandles="1" noChangeArrowheads="1" noChangeShapeType="1" noTextEdit="1"/>
              </p:cNvSpPr>
              <p:nvPr>
                <p:ph idx="1"/>
              </p:nvPr>
            </p:nvSpPr>
            <p:spPr>
              <a:xfrm>
                <a:off x="179512" y="1856742"/>
                <a:ext cx="8856984" cy="4176464"/>
              </a:xfrm>
              <a:blipFill>
                <a:blip r:embed="rId2"/>
                <a:stretch>
                  <a:fillRect l="-1376" r="-688"/>
                </a:stretch>
              </a:blipFill>
              <a:ln w="19050">
                <a:noFill/>
              </a:ln>
            </p:spPr>
            <p:txBody>
              <a:bodyPr/>
              <a:lstStyle/>
              <a:p>
                <a:r>
                  <a:rPr lang="zh-CN" altLang="en-US">
                    <a:noFill/>
                  </a:rPr>
                  <a:t> </a:t>
                </a:r>
              </a:p>
            </p:txBody>
          </p:sp>
        </mc:Fallback>
      </mc:AlternateContent>
      <p:sp>
        <p:nvSpPr>
          <p:cNvPr id="15155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93DEEBB-3994-4C21-8A51-2CF2732D1249}"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pic>
        <p:nvPicPr>
          <p:cNvPr id="15155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
            <a:extLst>
              <a:ext uri="{FF2B5EF4-FFF2-40B4-BE49-F238E27FC236}">
                <a16:creationId xmlns:a16="http://schemas.microsoft.com/office/drawing/2014/main" id="{E065749E-7E4F-4DDA-8EDD-DA380151D9B6}"/>
              </a:ext>
            </a:extLst>
          </p:cNvPr>
          <p:cNvSpPr txBox="1">
            <a:spLocks noChangeArrowheads="1"/>
          </p:cNvSpPr>
          <p:nvPr/>
        </p:nvSpPr>
        <p:spPr bwMode="auto">
          <a:xfrm>
            <a:off x="1403648" y="618746"/>
            <a:ext cx="61214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可达结点的回路</a:t>
            </a:r>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日期占位符 4"/>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5E208447-BB5F-4A98-9E4E-04AB79091BDF}"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52579" name="Text Box 2"/>
          <p:cNvSpPr txBox="1">
            <a:spLocks noChangeArrowheads="1"/>
          </p:cNvSpPr>
          <p:nvPr/>
        </p:nvSpPr>
        <p:spPr bwMode="auto">
          <a:xfrm>
            <a:off x="1403648" y="620688"/>
            <a:ext cx="6408738"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可达性的量化计算</a:t>
            </a:r>
          </a:p>
        </p:txBody>
      </p:sp>
      <p:pic>
        <p:nvPicPr>
          <p:cNvPr id="15258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5174" y="476250"/>
            <a:ext cx="958825" cy="100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323528" y="1670009"/>
                <a:ext cx="8712968" cy="4669996"/>
              </a:xfrm>
              <a:prstGeom prst="rect">
                <a:avLst/>
              </a:prstGeom>
              <a:solidFill>
                <a:schemeClr val="accent5"/>
              </a:solidFill>
              <a:ln w="19050">
                <a:noFill/>
              </a:ln>
            </p:spPr>
            <p:txBody>
              <a:bodyPr wrap="square" rtlCol="0">
                <a:spAutoFit/>
              </a:bodyPr>
              <a:lstStyle/>
              <a:p>
                <a:pPr>
                  <a:lnSpc>
                    <a:spcPct val="150000"/>
                  </a:lnSpc>
                </a:pPr>
                <a:r>
                  <a:rPr lang="en-US" altLang="zh-CN" sz="2400" dirty="0"/>
                  <a:t>    </a:t>
                </a:r>
                <a:r>
                  <a:rPr lang="zh-CN" altLang="zh-CN" sz="2400" b="1" dirty="0"/>
                  <a:t>【定理】</a:t>
                </a:r>
                <a:r>
                  <a:rPr lang="zh-CN" altLang="zh-CN" sz="2400" b="1" dirty="0">
                    <a:solidFill>
                      <a:schemeClr val="tx1"/>
                    </a:solidFill>
                  </a:rPr>
                  <a:t>设</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𝑽</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𝑬</m:t>
                        </m:r>
                      </m:e>
                    </m:d>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为任意有向或无向线图</a:t>
                </a:r>
                <a:r>
                  <a:rPr lang="zh-CN" altLang="en-US" sz="2400" b="1" dirty="0">
                    <a:solidFill>
                      <a:schemeClr val="tx1"/>
                    </a:solidFill>
                  </a:rPr>
                  <a:t>，</a:t>
                </a:r>
                <a:r>
                  <a:rPr lang="zh-CN" altLang="zh-CN" sz="2400" b="1" dirty="0">
                    <a:solidFill>
                      <a:schemeClr val="tx1"/>
                    </a:solidFill>
                  </a:rPr>
                  <a:t>结点集为</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𝑽</m:t>
                    </m:r>
                    <m:r>
                      <a:rPr lang="en-US" altLang="zh-CN" sz="2400" b="1" i="1">
                        <a:solidFill>
                          <a:schemeClr val="tx1"/>
                        </a:solidFill>
                        <a:latin typeface="Cambria Math" panose="02040503050406030204" pitchFamily="18" charset="0"/>
                      </a:rPr>
                      <m:t>=</m:t>
                    </m:r>
                    <m:d>
                      <m:dPr>
                        <m:begChr m:val="{"/>
                        <m:endChr m:val="}"/>
                        <m:ctrlPr>
                          <a:rPr lang="zh-CN" altLang="zh-CN" sz="2400" b="1" i="1">
                            <a:solidFill>
                              <a:schemeClr val="tx1"/>
                            </a:solidFill>
                            <a:latin typeface="Cambria Math" panose="02040503050406030204" pitchFamily="18" charset="0"/>
                          </a:rPr>
                        </m:ctrlPr>
                      </m:dPr>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𝟏</m:t>
                            </m:r>
                          </m:sub>
                        </m:sSub>
                        <m:r>
                          <a:rPr lang="en-US" altLang="zh-CN" sz="2400" b="1" i="1">
                            <a:solidFill>
                              <a:schemeClr val="tx1"/>
                            </a:solidFill>
                            <a:latin typeface="Cambria Math" panose="02040503050406030204" pitchFamily="18" charset="0"/>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𝟐</m:t>
                            </m:r>
                          </m:sub>
                        </m:sSub>
                        <m:r>
                          <a:rPr lang="en-US" altLang="zh-CN" sz="2400" b="1" i="1">
                            <a:solidFill>
                              <a:schemeClr val="tx1"/>
                            </a:solidFill>
                            <a:latin typeface="Cambria Math" panose="02040503050406030204" pitchFamily="18" charset="0"/>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𝒏</m:t>
                            </m:r>
                          </m:sub>
                        </m:sSub>
                      </m:e>
                    </m:d>
                  </m:oMath>
                </a14:m>
                <a:r>
                  <a:rPr lang="zh-CN" altLang="zh-CN" sz="2400" b="1" dirty="0">
                    <a:solidFill>
                      <a:schemeClr val="tx1"/>
                    </a:solidFill>
                  </a:rPr>
                  <a:t>，</a:t>
                </a:r>
                <a14:m>
                  <m:oMath xmlns:m="http://schemas.openxmlformats.org/officeDocument/2006/math">
                    <m:r>
                      <a:rPr lang="en-US" altLang="zh-CN" sz="2400" b="1" i="1">
                        <a:solidFill>
                          <a:schemeClr val="tx1"/>
                        </a:solidFill>
                        <a:latin typeface="Cambria Math" panose="02040503050406030204" pitchFamily="18" charset="0"/>
                      </a:rPr>
                      <m:t>𝑨</m:t>
                    </m:r>
                    <m:r>
                      <a:rPr lang="en-US" altLang="zh-CN" sz="2400" b="1" i="1">
                        <a:solidFill>
                          <a:schemeClr val="tx1"/>
                        </a:solidFill>
                        <a:latin typeface="Cambria Math" panose="02040503050406030204" pitchFamily="18" charset="0"/>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𝒂</m:t>
                        </m:r>
                      </m:e>
                      <m:sub>
                        <m:r>
                          <a:rPr lang="en-US" altLang="zh-CN" sz="2400" b="1" i="1">
                            <a:solidFill>
                              <a:schemeClr val="tx1"/>
                            </a:solidFill>
                            <a:latin typeface="Cambria Math" panose="02040503050406030204" pitchFamily="18" charset="0"/>
                          </a:rPr>
                          <m:t>𝒊𝒋</m:t>
                        </m:r>
                      </m:sub>
                    </m:sSub>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m:t>
                        </m:r>
                      </m:e>
                      <m:sub>
                        <m:r>
                          <a:rPr lang="en-US" altLang="zh-CN" sz="2400" b="1" i="1">
                            <a:solidFill>
                              <a:schemeClr val="tx1"/>
                            </a:solidFill>
                            <a:latin typeface="Cambria Math" panose="02040503050406030204" pitchFamily="18" charset="0"/>
                          </a:rPr>
                          <m:t>𝒏</m:t>
                        </m:r>
                        <m:r>
                          <a:rPr lang="zh-CN"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𝒏</m:t>
                        </m:r>
                      </m:sub>
                    </m:sSub>
                  </m:oMath>
                </a14:m>
                <a:r>
                  <a:rPr lang="zh-CN" altLang="zh-CN" sz="2400" b="1" dirty="0">
                    <a:solidFill>
                      <a:schemeClr val="tx1"/>
                    </a:solidFill>
                  </a:rPr>
                  <a:t>为图</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的邻接矩阵，令：</a:t>
                </a:r>
              </a:p>
              <a:p>
                <a:pPr>
                  <a:lnSpc>
                    <a:spcPct val="150000"/>
                  </a:lnSpc>
                </a:pPr>
                <a14:m>
                  <m:oMathPara xmlns:m="http://schemas.openxmlformats.org/officeDocument/2006/math">
                    <m:oMathParaPr>
                      <m:jc m:val="centerGroup"/>
                    </m:oMathParaPr>
                    <m:oMath xmlns:m="http://schemas.openxmlformats.org/officeDocument/2006/math">
                      <m:sSub>
                        <m:sSubPr>
                          <m:ctrlPr>
                            <a:rPr lang="zh-CN" altLang="zh-CN" sz="2400" b="1" i="1" smtClean="0">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𝑩</m:t>
                          </m:r>
                        </m:e>
                        <m:sub>
                          <m:r>
                            <a:rPr lang="en-US" altLang="zh-CN" sz="2400" b="1" i="1">
                              <a:solidFill>
                                <a:srgbClr val="0000FF"/>
                              </a:solidFill>
                              <a:latin typeface="Cambria Math" panose="02040503050406030204" pitchFamily="18" charset="0"/>
                            </a:rPr>
                            <m:t>𝒏</m:t>
                          </m:r>
                        </m:sub>
                      </m:sSub>
                      <m:r>
                        <a:rPr lang="en-US" altLang="zh-CN" sz="2400" b="1">
                          <a:solidFill>
                            <a:srgbClr val="0000FF"/>
                          </a:solidFill>
                          <a:latin typeface="Cambria Math" panose="02040503050406030204" pitchFamily="18" charset="0"/>
                        </a:rPr>
                        <m:t>=(</m:t>
                      </m:r>
                      <m:sSubSup>
                        <m:sSubSupPr>
                          <m:ctrlPr>
                            <a:rPr lang="zh-CN" altLang="zh-CN" sz="2400" b="1" i="1">
                              <a:solidFill>
                                <a:srgbClr val="0000FF"/>
                              </a:solidFill>
                              <a:latin typeface="Cambria Math" panose="02040503050406030204" pitchFamily="18" charset="0"/>
                            </a:rPr>
                          </m:ctrlPr>
                        </m:sSubSupPr>
                        <m:e>
                          <m:r>
                            <a:rPr lang="en-US" altLang="zh-CN" sz="2400" b="1" i="1">
                              <a:solidFill>
                                <a:srgbClr val="0000FF"/>
                              </a:solidFill>
                              <a:latin typeface="Cambria Math" panose="02040503050406030204" pitchFamily="18" charset="0"/>
                            </a:rPr>
                            <m:t>𝒃</m:t>
                          </m:r>
                        </m:e>
                        <m:sub>
                          <m:r>
                            <a:rPr lang="en-US" altLang="zh-CN" sz="2400" b="1" i="1">
                              <a:solidFill>
                                <a:srgbClr val="0000FF"/>
                              </a:solidFill>
                              <a:latin typeface="Cambria Math" panose="02040503050406030204" pitchFamily="18" charset="0"/>
                            </a:rPr>
                            <m:t>𝒊𝒋</m:t>
                          </m:r>
                        </m:sub>
                        <m:sup>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𝒏</m:t>
                          </m:r>
                          <m:r>
                            <a:rPr lang="en-US" altLang="zh-CN" sz="2400" b="1" i="1">
                              <a:solidFill>
                                <a:srgbClr val="0000FF"/>
                              </a:solidFill>
                              <a:latin typeface="Cambria Math" panose="02040503050406030204" pitchFamily="18" charset="0"/>
                            </a:rPr>
                            <m:t>)</m:t>
                          </m:r>
                        </m:sup>
                      </m:sSubSup>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m:t>
                          </m:r>
                        </m:e>
                        <m:sub>
                          <m:r>
                            <a:rPr lang="en-US" altLang="zh-CN" sz="2400" b="1" i="1">
                              <a:solidFill>
                                <a:srgbClr val="0000FF"/>
                              </a:solidFill>
                              <a:latin typeface="Cambria Math" panose="02040503050406030204" pitchFamily="18" charset="0"/>
                            </a:rPr>
                            <m:t>𝒏</m:t>
                          </m:r>
                          <m:r>
                            <a:rPr lang="zh-CN"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𝒏</m:t>
                          </m:r>
                        </m:sub>
                      </m:sSub>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𝑨</m:t>
                      </m:r>
                      <m:r>
                        <a:rPr lang="en-US" altLang="zh-CN" sz="2400" b="1">
                          <a:solidFill>
                            <a:srgbClr val="0000FF"/>
                          </a:solidFill>
                          <a:latin typeface="Cambria Math" panose="02040503050406030204" pitchFamily="18" charset="0"/>
                        </a:rPr>
                        <m:t>+</m:t>
                      </m:r>
                      <m:sSup>
                        <m:sSupPr>
                          <m:ctrlPr>
                            <a:rPr lang="zh-CN" altLang="zh-CN" sz="2400" b="1" i="1">
                              <a:solidFill>
                                <a:srgbClr val="0000FF"/>
                              </a:solidFill>
                              <a:latin typeface="Cambria Math" panose="02040503050406030204" pitchFamily="18" charset="0"/>
                            </a:rPr>
                          </m:ctrlPr>
                        </m:sSupPr>
                        <m:e>
                          <m:r>
                            <a:rPr lang="en-US" altLang="zh-CN" sz="2400" b="1" i="1">
                              <a:solidFill>
                                <a:srgbClr val="0000FF"/>
                              </a:solidFill>
                              <a:latin typeface="Cambria Math" panose="02040503050406030204" pitchFamily="18" charset="0"/>
                            </a:rPr>
                            <m:t>𝑨</m:t>
                          </m:r>
                        </m:e>
                        <m:sup>
                          <m:r>
                            <a:rPr lang="en-US" altLang="zh-CN" sz="2400" b="1" i="1">
                              <a:solidFill>
                                <a:srgbClr val="0000FF"/>
                              </a:solidFill>
                              <a:latin typeface="Cambria Math" panose="02040503050406030204" pitchFamily="18" charset="0"/>
                            </a:rPr>
                            <m:t>𝟐</m:t>
                          </m:r>
                        </m:sup>
                      </m:sSup>
                      <m:r>
                        <a:rPr lang="en-US" altLang="zh-CN" sz="2400" b="1" i="1">
                          <a:solidFill>
                            <a:srgbClr val="0000FF"/>
                          </a:solidFill>
                          <a:latin typeface="Cambria Math" panose="02040503050406030204" pitchFamily="18" charset="0"/>
                        </a:rPr>
                        <m:t>+…+</m:t>
                      </m:r>
                      <m:sSup>
                        <m:sSupPr>
                          <m:ctrlPr>
                            <a:rPr lang="zh-CN" altLang="zh-CN" sz="2400" b="1" i="1">
                              <a:solidFill>
                                <a:srgbClr val="0000FF"/>
                              </a:solidFill>
                              <a:latin typeface="Cambria Math" panose="02040503050406030204" pitchFamily="18" charset="0"/>
                            </a:rPr>
                          </m:ctrlPr>
                        </m:sSupPr>
                        <m:e>
                          <m:r>
                            <a:rPr lang="en-US" altLang="zh-CN" sz="2400" b="1" i="1">
                              <a:solidFill>
                                <a:srgbClr val="0000FF"/>
                              </a:solidFill>
                              <a:latin typeface="Cambria Math" panose="02040503050406030204" pitchFamily="18" charset="0"/>
                            </a:rPr>
                            <m:t>𝑨</m:t>
                          </m:r>
                        </m:e>
                        <m:sup>
                          <m:r>
                            <a:rPr lang="en-US" altLang="zh-CN" sz="2400" b="1" i="1">
                              <a:solidFill>
                                <a:srgbClr val="0000FF"/>
                              </a:solidFill>
                              <a:latin typeface="Cambria Math" panose="02040503050406030204" pitchFamily="18" charset="0"/>
                            </a:rPr>
                            <m:t>𝒏</m:t>
                          </m:r>
                        </m:sup>
                      </m:sSup>
                    </m:oMath>
                  </m:oMathPara>
                </a14:m>
                <a:endParaRPr lang="zh-CN" altLang="zh-CN" sz="2400" b="1" dirty="0">
                  <a:solidFill>
                    <a:srgbClr val="660033"/>
                  </a:solidFill>
                </a:endParaRPr>
              </a:p>
              <a:p>
                <a:pPr>
                  <a:lnSpc>
                    <a:spcPct val="150000"/>
                  </a:lnSpc>
                  <a:spcAft>
                    <a:spcPts val="1800"/>
                  </a:spcAft>
                </a:pPr>
                <a:r>
                  <a:rPr lang="zh-CN" altLang="en-US" sz="2400" b="1" dirty="0">
                    <a:solidFill>
                      <a:schemeClr val="tx1"/>
                    </a:solidFill>
                  </a:rPr>
                  <a:t>     对于</a:t>
                </a:r>
                <a14:m>
                  <m:oMath xmlns:m="http://schemas.openxmlformats.org/officeDocument/2006/math">
                    <m:r>
                      <a:rPr lang="en-US" altLang="zh-CN" sz="2400" b="1" i="1" dirty="0" smtClean="0">
                        <a:solidFill>
                          <a:srgbClr val="0000FF"/>
                        </a:solidFill>
                        <a:latin typeface="Cambria Math" panose="02040503050406030204" pitchFamily="18" charset="0"/>
                        <a:ea typeface="Cambria Math" panose="02040503050406030204" pitchFamily="18" charset="0"/>
                      </a:rPr>
                      <m:t>𝒊</m:t>
                    </m:r>
                    <m:r>
                      <a:rPr lang="en-US" altLang="zh-CN" sz="2400" b="1" i="1">
                        <a:solidFill>
                          <a:srgbClr val="0000FF"/>
                        </a:solidFill>
                        <a:latin typeface="Cambria Math" panose="02040503050406030204" pitchFamily="18" charset="0"/>
                        <a:ea typeface="Cambria Math" panose="02040503050406030204" pitchFamily="18" charset="0"/>
                      </a:rPr>
                      <m:t>≠</m:t>
                    </m:r>
                    <m:r>
                      <a:rPr lang="en-US" altLang="zh-CN" sz="2400" b="1" i="1" smtClean="0">
                        <a:solidFill>
                          <a:srgbClr val="0000FF"/>
                        </a:solidFill>
                        <a:latin typeface="Cambria Math" panose="02040503050406030204" pitchFamily="18" charset="0"/>
                        <a:ea typeface="Cambria Math" panose="02040503050406030204" pitchFamily="18" charset="0"/>
                      </a:rPr>
                      <m:t>𝒋</m:t>
                    </m:r>
                  </m:oMath>
                </a14:m>
                <a:r>
                  <a:rPr lang="zh-CN" altLang="en-US" sz="2400" b="1" dirty="0">
                    <a:solidFill>
                      <a:schemeClr val="tx1"/>
                    </a:solidFill>
                  </a:rPr>
                  <a:t>，</a:t>
                </a:r>
                <a:r>
                  <a:rPr lang="zh-CN" altLang="zh-CN" sz="2400" b="1" dirty="0">
                    <a:solidFill>
                      <a:schemeClr val="tx1"/>
                    </a:solidFill>
                  </a:rPr>
                  <a:t>则若</a:t>
                </a:r>
                <a14:m>
                  <m:oMath xmlns:m="http://schemas.openxmlformats.org/officeDocument/2006/math">
                    <m:sSup>
                      <m:sSupPr>
                        <m:ctrlPr>
                          <a:rPr lang="zh-CN" altLang="zh-CN" sz="2400" b="1" i="1">
                            <a:solidFill>
                              <a:schemeClr val="tx1"/>
                            </a:solidFill>
                            <a:latin typeface="Cambria Math" panose="02040503050406030204" pitchFamily="18" charset="0"/>
                          </a:rPr>
                        </m:ctrlPr>
                      </m:sSupPr>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𝒃</m:t>
                            </m:r>
                          </m:e>
                          <m:sub>
                            <m:r>
                              <a:rPr lang="en-US" altLang="zh-CN" sz="2400" b="1" i="1">
                                <a:solidFill>
                                  <a:schemeClr val="tx1"/>
                                </a:solidFill>
                                <a:latin typeface="Cambria Math" panose="02040503050406030204" pitchFamily="18" charset="0"/>
                              </a:rPr>
                              <m:t>𝒊𝒋</m:t>
                            </m:r>
                          </m:sub>
                        </m:sSub>
                      </m:e>
                      <m:sup>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𝒏</m:t>
                            </m:r>
                          </m:e>
                        </m:d>
                      </m:sup>
                    </m:sSup>
                    <m:r>
                      <a:rPr lang="en-US" altLang="zh-CN" sz="2400" b="1" i="1">
                        <a:solidFill>
                          <a:schemeClr val="tx1"/>
                        </a:solidFill>
                        <a:latin typeface="Cambria Math" panose="02040503050406030204" pitchFamily="18" charset="0"/>
                      </a:rPr>
                      <m:t>&gt;</m:t>
                    </m:r>
                    <m:r>
                      <a:rPr lang="en-US" altLang="zh-CN" sz="2400" b="1" i="1">
                        <a:solidFill>
                          <a:schemeClr val="tx1"/>
                        </a:solidFill>
                        <a:latin typeface="Cambria Math" panose="02040503050406030204" pitchFamily="18" charset="0"/>
                      </a:rPr>
                      <m:t>𝟎</m:t>
                    </m:r>
                  </m:oMath>
                </a14:m>
                <a:r>
                  <a:rPr lang="zh-CN" altLang="zh-CN" sz="2400" b="1" dirty="0">
                    <a:solidFill>
                      <a:schemeClr val="tx1"/>
                    </a:solidFill>
                  </a:rPr>
                  <a:t>，则</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𝒊</m:t>
                        </m:r>
                      </m:sub>
                    </m:sSub>
                  </m:oMath>
                </a14:m>
                <a:r>
                  <a:rPr lang="zh-CN" altLang="zh-CN" sz="2400" b="1" dirty="0">
                    <a:solidFill>
                      <a:schemeClr val="tx1"/>
                    </a:solidFill>
                  </a:rPr>
                  <a:t>到</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𝒗</m:t>
                        </m:r>
                      </m:e>
                      <m:sub>
                        <m:r>
                          <a:rPr lang="en-US" altLang="zh-CN" sz="2400" b="1" i="1">
                            <a:solidFill>
                              <a:schemeClr val="tx1"/>
                            </a:solidFill>
                            <a:latin typeface="Cambria Math" panose="02040503050406030204" pitchFamily="18" charset="0"/>
                          </a:rPr>
                          <m:t>𝒋</m:t>
                        </m:r>
                      </m:sub>
                    </m:sSub>
                  </m:oMath>
                </a14:m>
                <a:r>
                  <a:rPr lang="zh-CN" altLang="zh-CN" sz="2400" b="1" dirty="0">
                    <a:solidFill>
                      <a:schemeClr val="tx1"/>
                    </a:solidFill>
                  </a:rPr>
                  <a:t>可达，否则不可达，</a:t>
                </a:r>
                <a:endParaRPr lang="en-US" altLang="zh-CN" sz="2400" b="1" dirty="0">
                  <a:solidFill>
                    <a:schemeClr val="tx1"/>
                  </a:solidFill>
                </a:endParaRPr>
              </a:p>
              <a:p>
                <a:pPr>
                  <a:spcAft>
                    <a:spcPts val="1200"/>
                  </a:spcAft>
                </a:pPr>
                <a:r>
                  <a:rPr lang="zh-CN" altLang="zh-CN" sz="2400" b="1" dirty="0">
                    <a:solidFill>
                      <a:schemeClr val="tx1"/>
                    </a:solidFill>
                  </a:rPr>
                  <a:t>且</a:t>
                </a:r>
                <a:r>
                  <a:rPr lang="zh-CN" altLang="en-US" sz="2400" b="1" dirty="0">
                    <a:solidFill>
                      <a:schemeClr val="tx1"/>
                    </a:solidFill>
                  </a:rPr>
                  <a:t>有</a:t>
                </a:r>
                <a:r>
                  <a:rPr lang="zh-CN" altLang="zh-CN" sz="2400" b="1" dirty="0">
                    <a:solidFill>
                      <a:schemeClr val="tx1"/>
                    </a:solidFill>
                  </a:rPr>
                  <a:t>：</a:t>
                </a:r>
                <a14:m>
                  <m:oMath xmlns:m="http://schemas.openxmlformats.org/officeDocument/2006/math">
                    <m:r>
                      <a:rPr lang="en-US" altLang="zh-CN" sz="2400" b="1" i="1" smtClean="0">
                        <a:solidFill>
                          <a:srgbClr val="0000FF"/>
                        </a:solidFill>
                        <a:latin typeface="Cambria Math" panose="02040503050406030204" pitchFamily="18" charset="0"/>
                      </a:rPr>
                      <m:t>𝒅</m:t>
                    </m:r>
                    <m:d>
                      <m:dPr>
                        <m:ctrlPr>
                          <a:rPr lang="zh-CN" altLang="zh-CN" sz="2400" b="1" i="1">
                            <a:solidFill>
                              <a:srgbClr val="0000FF"/>
                            </a:solidFill>
                            <a:latin typeface="Cambria Math" panose="02040503050406030204" pitchFamily="18" charset="0"/>
                          </a:rPr>
                        </m:ctrlPr>
                      </m:dPr>
                      <m:e>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𝒊</m:t>
                            </m:r>
                          </m:sub>
                        </m:sSub>
                        <m:r>
                          <a:rPr lang="en-US" altLang="zh-CN" sz="2400" b="1" i="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𝒋</m:t>
                            </m:r>
                          </m:sub>
                        </m:sSub>
                      </m:e>
                    </m:d>
                    <m:r>
                      <a:rPr lang="en-US" altLang="zh-CN" sz="2400" b="1">
                        <a:solidFill>
                          <a:srgbClr val="0000FF"/>
                        </a:solidFill>
                        <a:latin typeface="Cambria Math" panose="02040503050406030204" pitchFamily="18" charset="0"/>
                      </a:rPr>
                      <m:t>=</m:t>
                    </m:r>
                    <m:d>
                      <m:dPr>
                        <m:begChr m:val="{"/>
                        <m:endChr m:val=""/>
                        <m:ctrlPr>
                          <a:rPr lang="zh-CN" altLang="zh-CN" sz="2400" b="1" i="1">
                            <a:solidFill>
                              <a:srgbClr val="0000FF"/>
                            </a:solidFill>
                            <a:latin typeface="Cambria Math" panose="02040503050406030204" pitchFamily="18" charset="0"/>
                          </a:rPr>
                        </m:ctrlPr>
                      </m:dPr>
                      <m:e>
                        <m:eqArr>
                          <m:eqArrPr>
                            <m:ctrlPr>
                              <a:rPr lang="zh-CN" altLang="zh-CN" sz="2400" b="1" i="1">
                                <a:solidFill>
                                  <a:srgbClr val="0000FF"/>
                                </a:solidFill>
                                <a:latin typeface="Cambria Math" panose="02040503050406030204" pitchFamily="18" charset="0"/>
                              </a:rPr>
                            </m:ctrlPr>
                          </m:eqArrPr>
                          <m:e>
                            <m:r>
                              <a:rPr lang="en-US" altLang="zh-CN" sz="2400" b="1" i="1">
                                <a:solidFill>
                                  <a:srgbClr val="0000FF"/>
                                </a:solidFill>
                                <a:latin typeface="Cambria Math" panose="02040503050406030204" pitchFamily="18" charset="0"/>
                              </a:rPr>
                              <m:t>∞</m:t>
                            </m:r>
                            <m:r>
                              <a:rPr lang="zh-CN" altLang="zh-CN" sz="2400" b="1">
                                <a:solidFill>
                                  <a:srgbClr val="0000FF"/>
                                </a:solidFill>
                                <a:latin typeface="Cambria Math" panose="02040503050406030204" pitchFamily="18" charset="0"/>
                              </a:rPr>
                              <m:t>，</m:t>
                            </m:r>
                          </m:e>
                          <m:e>
                            <m:r>
                              <a:rPr lang="en-US" altLang="zh-CN" sz="2400" b="1" i="1">
                                <a:solidFill>
                                  <a:srgbClr val="0000FF"/>
                                </a:solidFill>
                                <a:latin typeface="Cambria Math" panose="02040503050406030204" pitchFamily="18" charset="0"/>
                              </a:rPr>
                              <m:t>𝐦𝐢𝐧</m:t>
                            </m:r>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𝒎</m:t>
                            </m:r>
                            <m:r>
                              <a:rPr lang="en-US" altLang="zh-CN" sz="2400" b="1">
                                <a:solidFill>
                                  <a:srgbClr val="0000FF"/>
                                </a:solidFill>
                                <a:latin typeface="Cambria Math" panose="02040503050406030204" pitchFamily="18" charset="0"/>
                              </a:rPr>
                              <m:t>|</m:t>
                            </m:r>
                            <m:sSubSup>
                              <m:sSubSupPr>
                                <m:ctrlPr>
                                  <a:rPr lang="zh-CN" altLang="zh-CN" sz="2400" b="1" i="1">
                                    <a:solidFill>
                                      <a:srgbClr val="0000FF"/>
                                    </a:solidFill>
                                    <a:latin typeface="Cambria Math" panose="02040503050406030204" pitchFamily="18" charset="0"/>
                                  </a:rPr>
                                </m:ctrlPr>
                              </m:sSubSupPr>
                              <m:e>
                                <m:r>
                                  <a:rPr lang="en-US" altLang="zh-CN" sz="2400" b="1" i="1">
                                    <a:solidFill>
                                      <a:srgbClr val="0000FF"/>
                                    </a:solidFill>
                                    <a:latin typeface="Cambria Math" panose="02040503050406030204" pitchFamily="18" charset="0"/>
                                  </a:rPr>
                                  <m:t>𝒂</m:t>
                                </m:r>
                              </m:e>
                              <m:sub>
                                <m:r>
                                  <a:rPr lang="en-US" altLang="zh-CN" sz="2400" b="1" i="1">
                                    <a:solidFill>
                                      <a:srgbClr val="0000FF"/>
                                    </a:solidFill>
                                    <a:latin typeface="Cambria Math" panose="02040503050406030204" pitchFamily="18" charset="0"/>
                                  </a:rPr>
                                  <m:t>𝒊𝒋</m:t>
                                </m:r>
                              </m:sub>
                              <m:sup>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𝒎</m:t>
                                </m:r>
                                <m:r>
                                  <a:rPr lang="en-US" altLang="zh-CN" sz="2400" b="1" i="1">
                                    <a:solidFill>
                                      <a:srgbClr val="0000FF"/>
                                    </a:solidFill>
                                    <a:latin typeface="Cambria Math" panose="02040503050406030204" pitchFamily="18" charset="0"/>
                                  </a:rPr>
                                  <m:t>)</m:t>
                                </m:r>
                              </m:sup>
                            </m:sSubSup>
                            <m:r>
                              <a:rPr lang="en-US" altLang="zh-CN" sz="2400" b="1" i="1" smtClean="0">
                                <a:solidFill>
                                  <a:srgbClr val="0000FF"/>
                                </a:solidFill>
                                <a:latin typeface="Cambria Math" panose="02040503050406030204" pitchFamily="18" charset="0"/>
                                <a:ea typeface="Cambria Math" panose="02040503050406030204" pitchFamily="18" charset="0"/>
                              </a:rPr>
                              <m:t>≠</m:t>
                            </m:r>
                            <m:r>
                              <a:rPr lang="en-US" altLang="zh-CN" sz="2400" b="1" i="0" smtClean="0">
                                <a:solidFill>
                                  <a:srgbClr val="0000FF"/>
                                </a:solidFill>
                                <a:latin typeface="Cambria Math" panose="02040503050406030204" pitchFamily="18" charset="0"/>
                                <a:ea typeface="Cambria Math" panose="02040503050406030204" pitchFamily="18" charset="0"/>
                              </a:rPr>
                              <m:t>𝟎</m:t>
                            </m:r>
                            <m:r>
                              <a:rPr lang="en-US" altLang="zh-CN" sz="2400" b="1">
                                <a:solidFill>
                                  <a:srgbClr val="0000FF"/>
                                </a:solidFill>
                                <a:latin typeface="Cambria Math" panose="02040503050406030204" pitchFamily="18" charset="0"/>
                              </a:rPr>
                              <m:t>}</m:t>
                            </m:r>
                            <m:r>
                              <a:rPr lang="zh-CN" altLang="zh-CN" sz="2400" b="1">
                                <a:solidFill>
                                  <a:srgbClr val="0000FF"/>
                                </a:solidFill>
                                <a:latin typeface="Cambria Math" panose="02040503050406030204" pitchFamily="18" charset="0"/>
                              </a:rPr>
                              <m:t>，</m:t>
                            </m:r>
                          </m:e>
                        </m:eqArr>
                      </m:e>
                    </m:d>
                    <m:f>
                      <m:fPr>
                        <m:type m:val="noBar"/>
                        <m:ctrlPr>
                          <a:rPr lang="zh-CN" altLang="zh-CN" sz="2400" b="1" i="1">
                            <a:solidFill>
                              <a:srgbClr val="0000FF"/>
                            </a:solidFill>
                            <a:latin typeface="Cambria Math" panose="02040503050406030204" pitchFamily="18" charset="0"/>
                          </a:rPr>
                        </m:ctrlPr>
                      </m:fPr>
                      <m:num>
                        <m:r>
                          <a:rPr lang="en-US" altLang="zh-CN" sz="2400" b="1" smtClean="0">
                            <a:solidFill>
                              <a:srgbClr val="0000FF"/>
                            </a:solidFill>
                            <a:latin typeface="Cambria Math" panose="02040503050406030204" pitchFamily="18" charset="0"/>
                          </a:rPr>
                          <m:t>     </m:t>
                        </m:r>
                        <m:r>
                          <a:rPr lang="zh-CN" altLang="zh-CN" sz="2400" b="1">
                            <a:solidFill>
                              <a:srgbClr val="0000FF"/>
                            </a:solidFill>
                            <a:latin typeface="Cambria Math" panose="02040503050406030204" pitchFamily="18" charset="0"/>
                          </a:rPr>
                          <m:t>若</m:t>
                        </m:r>
                        <m:sSup>
                          <m:sSupPr>
                            <m:ctrlPr>
                              <a:rPr lang="zh-CN" altLang="zh-CN" sz="2400" b="1" i="1">
                                <a:solidFill>
                                  <a:srgbClr val="0000FF"/>
                                </a:solidFill>
                                <a:latin typeface="Cambria Math" panose="02040503050406030204" pitchFamily="18" charset="0"/>
                              </a:rPr>
                            </m:ctrlPr>
                          </m:sSupPr>
                          <m:e>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𝒂</m:t>
                                </m:r>
                              </m:e>
                              <m:sub>
                                <m:r>
                                  <a:rPr lang="en-US" altLang="zh-CN" sz="2400" b="1" i="1">
                                    <a:solidFill>
                                      <a:srgbClr val="0000FF"/>
                                    </a:solidFill>
                                    <a:latin typeface="Cambria Math" panose="02040503050406030204" pitchFamily="18" charset="0"/>
                                  </a:rPr>
                                  <m:t>𝒊𝒋</m:t>
                                </m:r>
                              </m:sub>
                            </m:sSub>
                          </m:e>
                          <m:sup>
                            <m:d>
                              <m:dPr>
                                <m:ctrlPr>
                                  <a:rPr lang="zh-CN" altLang="zh-CN" sz="2400" b="1" i="1">
                                    <a:solidFill>
                                      <a:srgbClr val="0000FF"/>
                                    </a:solidFill>
                                    <a:latin typeface="Cambria Math" panose="02040503050406030204" pitchFamily="18" charset="0"/>
                                  </a:rPr>
                                </m:ctrlPr>
                              </m:dPr>
                              <m:e>
                                <m:r>
                                  <a:rPr lang="en-US" altLang="zh-CN" sz="2400" b="1" i="1" smtClean="0">
                                    <a:solidFill>
                                      <a:srgbClr val="0000FF"/>
                                    </a:solidFill>
                                    <a:latin typeface="Cambria Math" panose="02040503050406030204" pitchFamily="18" charset="0"/>
                                  </a:rPr>
                                  <m:t>𝟏</m:t>
                                </m:r>
                              </m:e>
                            </m:d>
                          </m:sup>
                        </m:sSup>
                        <m:r>
                          <a:rPr lang="en-US" altLang="zh-CN" sz="2400" b="1" i="1">
                            <a:solidFill>
                              <a:srgbClr val="0000FF"/>
                            </a:solidFill>
                            <a:latin typeface="Cambria Math" panose="02040503050406030204" pitchFamily="18" charset="0"/>
                          </a:rPr>
                          <m:t>,⋯,</m:t>
                        </m:r>
                        <m:sSup>
                          <m:sSupPr>
                            <m:ctrlPr>
                              <a:rPr lang="zh-CN" altLang="zh-CN" sz="2400" b="1" i="1">
                                <a:solidFill>
                                  <a:srgbClr val="0000FF"/>
                                </a:solidFill>
                                <a:latin typeface="Cambria Math" panose="02040503050406030204" pitchFamily="18" charset="0"/>
                              </a:rPr>
                            </m:ctrlPr>
                          </m:sSupPr>
                          <m:e>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𝒂</m:t>
                                </m:r>
                              </m:e>
                              <m:sub>
                                <m:r>
                                  <a:rPr lang="en-US" altLang="zh-CN" sz="2400" b="1" i="1">
                                    <a:solidFill>
                                      <a:srgbClr val="0000FF"/>
                                    </a:solidFill>
                                    <a:latin typeface="Cambria Math" panose="02040503050406030204" pitchFamily="18" charset="0"/>
                                  </a:rPr>
                                  <m:t>𝒊𝒋</m:t>
                                </m:r>
                              </m:sub>
                            </m:sSub>
                          </m:e>
                          <m:sup>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𝒏</m:t>
                                </m:r>
                              </m:e>
                            </m:d>
                          </m:sup>
                        </m:sSup>
                        <m:r>
                          <a:rPr lang="zh-CN" altLang="zh-CN" sz="2400" b="1">
                            <a:solidFill>
                              <a:srgbClr val="0000FF"/>
                            </a:solidFill>
                            <a:latin typeface="Cambria Math" panose="02040503050406030204" pitchFamily="18" charset="0"/>
                          </a:rPr>
                          <m:t>均为</m:t>
                        </m:r>
                        <m:r>
                          <a:rPr lang="en-US" altLang="zh-CN" sz="2400" b="1" i="1">
                            <a:solidFill>
                              <a:srgbClr val="0000FF"/>
                            </a:solidFill>
                            <a:latin typeface="Cambria Math" panose="02040503050406030204" pitchFamily="18" charset="0"/>
                          </a:rPr>
                          <m:t>𝟎</m:t>
                        </m:r>
                        <m:r>
                          <a:rPr lang="en-US" altLang="zh-CN" sz="2400" b="1">
                            <a:solidFill>
                              <a:srgbClr val="0000FF"/>
                            </a:solidFill>
                            <a:latin typeface="Cambria Math" panose="02040503050406030204" pitchFamily="18" charset="0"/>
                          </a:rPr>
                          <m:t>       </m:t>
                        </m:r>
                      </m:num>
                      <m:den>
                        <m:r>
                          <a:rPr lang="zh-CN" altLang="zh-CN" sz="2400" b="1">
                            <a:solidFill>
                              <a:srgbClr val="0000FF"/>
                            </a:solidFill>
                            <a:latin typeface="Cambria Math" panose="02040503050406030204" pitchFamily="18" charset="0"/>
                          </a:rPr>
                          <m:t>否则</m:t>
                        </m:r>
                      </m:den>
                    </m:f>
                  </m:oMath>
                </a14:m>
                <a:endParaRPr lang="en-US" altLang="zh-CN" sz="2400" b="1" dirty="0"/>
              </a:p>
              <a:p>
                <a:pPr>
                  <a:lnSpc>
                    <a:spcPct val="150000"/>
                  </a:lnSpc>
                </a:pPr>
                <a:r>
                  <a:rPr lang="zh-CN" altLang="en-US" sz="2400" b="1" dirty="0">
                    <a:solidFill>
                      <a:schemeClr val="tx1"/>
                    </a:solidFill>
                  </a:rPr>
                  <a:t>     对于</a:t>
                </a:r>
                <a14:m>
                  <m:oMath xmlns:m="http://schemas.openxmlformats.org/officeDocument/2006/math">
                    <m:r>
                      <a:rPr lang="en-US" altLang="zh-CN" sz="2400" b="1" dirty="0" smtClean="0">
                        <a:solidFill>
                          <a:srgbClr val="0000FF"/>
                        </a:solidFill>
                        <a:latin typeface="Cambria Math" panose="02040503050406030204" pitchFamily="18" charset="0"/>
                      </a:rPr>
                      <m:t>𝒊</m:t>
                    </m:r>
                    <m:r>
                      <a:rPr lang="en-US" altLang="zh-CN" sz="2400" b="1" i="1" dirty="0">
                        <a:solidFill>
                          <a:srgbClr val="0000FF"/>
                        </a:solidFill>
                        <a:latin typeface="Cambria Math" panose="02040503050406030204" pitchFamily="18" charset="0"/>
                      </a:rPr>
                      <m:t>=</m:t>
                    </m:r>
                    <m:r>
                      <a:rPr lang="en-US" altLang="zh-CN" sz="2400" b="1">
                        <a:solidFill>
                          <a:srgbClr val="0000FF"/>
                        </a:solidFill>
                        <a:latin typeface="Cambria Math" panose="02040503050406030204" pitchFamily="18" charset="0"/>
                      </a:rPr>
                      <m:t>𝒋</m:t>
                    </m:r>
                  </m:oMath>
                </a14:m>
                <a:r>
                  <a:rPr lang="zh-CN" altLang="en-US" sz="2400" b="1" dirty="0">
                    <a:solidFill>
                      <a:schemeClr val="tx1"/>
                    </a:solidFill>
                  </a:rPr>
                  <a:t>，</a:t>
                </a:r>
                <a:r>
                  <a:rPr lang="zh-CN" altLang="zh-CN" sz="2400" b="1" dirty="0">
                    <a:solidFill>
                      <a:schemeClr val="tx1"/>
                    </a:solidFill>
                  </a:rPr>
                  <a:t>则</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a:solidFill>
                              <a:schemeClr val="tx1"/>
                            </a:solidFill>
                            <a:latin typeface="Cambria Math" panose="02040503050406030204" pitchFamily="18" charset="0"/>
                          </a:rPr>
                          <m:t>𝒗</m:t>
                        </m:r>
                      </m:e>
                      <m:sub>
                        <m:r>
                          <a:rPr lang="en-US" altLang="zh-CN" sz="2400" b="1">
                            <a:solidFill>
                              <a:schemeClr val="tx1"/>
                            </a:solidFill>
                            <a:latin typeface="Cambria Math" panose="02040503050406030204" pitchFamily="18" charset="0"/>
                          </a:rPr>
                          <m:t>𝒊</m:t>
                        </m:r>
                      </m:sub>
                    </m:sSub>
                  </m:oMath>
                </a14:m>
                <a:r>
                  <a:rPr lang="zh-CN" altLang="zh-CN" sz="2400" b="1" dirty="0">
                    <a:solidFill>
                      <a:schemeClr val="tx1"/>
                    </a:solidFill>
                  </a:rPr>
                  <a:t>到</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a:solidFill>
                              <a:schemeClr val="tx1"/>
                            </a:solidFill>
                            <a:latin typeface="Cambria Math" panose="02040503050406030204" pitchFamily="18" charset="0"/>
                          </a:rPr>
                          <m:t>𝒗</m:t>
                        </m:r>
                      </m:e>
                      <m:sub>
                        <m:r>
                          <a:rPr lang="en-US" altLang="zh-CN" sz="2400" b="1">
                            <a:solidFill>
                              <a:schemeClr val="tx1"/>
                            </a:solidFill>
                            <a:latin typeface="Cambria Math" panose="02040503050406030204" pitchFamily="18" charset="0"/>
                          </a:rPr>
                          <m:t>𝒋</m:t>
                        </m:r>
                      </m:sub>
                    </m:sSub>
                  </m:oMath>
                </a14:m>
                <a:r>
                  <a:rPr lang="zh-CN" altLang="zh-CN" sz="2400" b="1" dirty="0">
                    <a:solidFill>
                      <a:schemeClr val="tx1"/>
                    </a:solidFill>
                  </a:rPr>
                  <a:t>可达</a:t>
                </a:r>
                <a:r>
                  <a:rPr lang="zh-CN" altLang="en-US" sz="2400" b="1" dirty="0">
                    <a:solidFill>
                      <a:schemeClr val="tx1"/>
                    </a:solidFill>
                  </a:rPr>
                  <a:t>且有</a:t>
                </a:r>
                <a14:m>
                  <m:oMath xmlns:m="http://schemas.openxmlformats.org/officeDocument/2006/math">
                    <m:r>
                      <a:rPr lang="en-US" altLang="zh-CN" sz="2400" b="1" smtClean="0">
                        <a:solidFill>
                          <a:srgbClr val="0000FF"/>
                        </a:solidFill>
                        <a:latin typeface="Cambria Math" panose="02040503050406030204" pitchFamily="18" charset="0"/>
                      </a:rPr>
                      <m:t>𝒅</m:t>
                    </m:r>
                    <m:d>
                      <m:dPr>
                        <m:ctrlPr>
                          <a:rPr lang="zh-CN" altLang="zh-CN" sz="2400" b="1" i="1">
                            <a:solidFill>
                              <a:srgbClr val="0000FF"/>
                            </a:solidFill>
                            <a:latin typeface="Cambria Math" panose="02040503050406030204" pitchFamily="18" charset="0"/>
                          </a:rPr>
                        </m:ctrlPr>
                      </m:dPr>
                      <m:e>
                        <m:sSub>
                          <m:sSubPr>
                            <m:ctrlPr>
                              <a:rPr lang="zh-CN" altLang="zh-CN" sz="2400" b="1" i="1">
                                <a:solidFill>
                                  <a:srgbClr val="0000FF"/>
                                </a:solidFill>
                                <a:latin typeface="Cambria Math" panose="02040503050406030204" pitchFamily="18" charset="0"/>
                              </a:rPr>
                            </m:ctrlPr>
                          </m:sSubPr>
                          <m:e>
                            <m:r>
                              <a:rPr lang="en-US" altLang="zh-CN" sz="2400" b="1">
                                <a:solidFill>
                                  <a:srgbClr val="0000FF"/>
                                </a:solidFill>
                                <a:latin typeface="Cambria Math" panose="02040503050406030204" pitchFamily="18" charset="0"/>
                              </a:rPr>
                              <m:t>𝒗</m:t>
                            </m:r>
                          </m:e>
                          <m:sub>
                            <m:r>
                              <a:rPr lang="en-US" altLang="zh-CN" sz="2400" b="1">
                                <a:solidFill>
                                  <a:srgbClr val="0000FF"/>
                                </a:solidFill>
                                <a:latin typeface="Cambria Math" panose="02040503050406030204" pitchFamily="18" charset="0"/>
                              </a:rPr>
                              <m:t>𝒊</m:t>
                            </m:r>
                          </m:sub>
                        </m:sSub>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a:solidFill>
                                  <a:srgbClr val="0000FF"/>
                                </a:solidFill>
                                <a:latin typeface="Cambria Math" panose="02040503050406030204" pitchFamily="18" charset="0"/>
                              </a:rPr>
                              <m:t>𝒗</m:t>
                            </m:r>
                          </m:e>
                          <m:sub>
                            <m:r>
                              <a:rPr lang="en-US" altLang="zh-CN" sz="2400" b="1">
                                <a:solidFill>
                                  <a:srgbClr val="0000FF"/>
                                </a:solidFill>
                                <a:latin typeface="Cambria Math" panose="02040503050406030204" pitchFamily="18" charset="0"/>
                              </a:rPr>
                              <m:t>𝒋</m:t>
                            </m:r>
                          </m:sub>
                        </m:sSub>
                      </m:e>
                    </m:d>
                    <m:r>
                      <a:rPr lang="en-US" altLang="zh-CN" sz="2400" b="1">
                        <a:solidFill>
                          <a:srgbClr val="0000FF"/>
                        </a:solidFill>
                        <a:latin typeface="Cambria Math" panose="02040503050406030204" pitchFamily="18" charset="0"/>
                      </a:rPr>
                      <m:t>=</m:t>
                    </m:r>
                  </m:oMath>
                </a14:m>
                <a:r>
                  <a:rPr lang="en-US" altLang="zh-CN" sz="2400" b="1" dirty="0">
                    <a:solidFill>
                      <a:srgbClr val="0000FF"/>
                    </a:solidFill>
                  </a:rPr>
                  <a:t>0 </a:t>
                </a:r>
                <a:r>
                  <a:rPr lang="zh-CN" altLang="en-US" sz="2400" b="1" dirty="0">
                    <a:solidFill>
                      <a:schemeClr val="tx1"/>
                    </a:solidFill>
                  </a:rPr>
                  <a:t>。</a:t>
                </a:r>
              </a:p>
            </p:txBody>
          </p:sp>
        </mc:Choice>
        <mc:Fallback xmlns="">
          <p:sp>
            <p:nvSpPr>
              <p:cNvPr id="2" name="文本框 1"/>
              <p:cNvSpPr txBox="1">
                <a:spLocks noRot="1" noChangeAspect="1" noMove="1" noResize="1" noEditPoints="1" noAdjustHandles="1" noChangeArrowheads="1" noChangeShapeType="1" noTextEdit="1"/>
              </p:cNvSpPr>
              <p:nvPr/>
            </p:nvSpPr>
            <p:spPr>
              <a:xfrm>
                <a:off x="323528" y="1670009"/>
                <a:ext cx="8712968" cy="4669996"/>
              </a:xfrm>
              <a:prstGeom prst="rect">
                <a:avLst/>
              </a:prstGeom>
              <a:blipFill>
                <a:blip r:embed="rId4"/>
                <a:stretch>
                  <a:fillRect l="-1050" r="-350" b="-653"/>
                </a:stretch>
              </a:blipFill>
              <a:ln w="19050">
                <a:noFill/>
              </a:ln>
            </p:spPr>
            <p:txBody>
              <a:bodyPr/>
              <a:lstStyle/>
              <a:p>
                <a:r>
                  <a:rPr lang="zh-CN" altLang="en-US">
                    <a:noFill/>
                  </a:rPr>
                  <a:t> </a:t>
                </a:r>
              </a:p>
            </p:txBody>
          </p:sp>
        </mc:Fallback>
      </mc:AlternateContent>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755576" y="1848720"/>
                <a:ext cx="8119280" cy="1129476"/>
              </a:xfrm>
              <a:prstGeom prst="rect">
                <a:avLst/>
              </a:prstGeom>
              <a:solidFill>
                <a:schemeClr val="accent5"/>
              </a:solidFill>
              <a:ln w="19050">
                <a:noFill/>
              </a:ln>
            </p:spPr>
            <p:txBody>
              <a:bodyPr wrap="square" rtlCol="0">
                <a:spAutoFit/>
              </a:bodyPr>
              <a:lstStyle/>
              <a:p>
                <a:pPr>
                  <a:lnSpc>
                    <a:spcPct val="150000"/>
                  </a:lnSpc>
                </a:pPr>
                <a:r>
                  <a:rPr lang="en-US" altLang="zh-CN" sz="2400" dirty="0"/>
                  <a:t>   </a:t>
                </a:r>
                <a:r>
                  <a:rPr lang="zh-CN" altLang="zh-CN" sz="2400" b="1" dirty="0"/>
                  <a:t>【例题】</a:t>
                </a:r>
                <a:r>
                  <a:rPr lang="zh-CN" altLang="zh-CN" sz="2400" b="1" dirty="0">
                    <a:solidFill>
                      <a:schemeClr val="tx1"/>
                    </a:solidFill>
                  </a:rPr>
                  <a:t>如</a:t>
                </a:r>
                <a:r>
                  <a:rPr lang="zh-CN" altLang="en-US" sz="2400" b="1" dirty="0">
                    <a:solidFill>
                      <a:schemeClr val="tx1"/>
                    </a:solidFill>
                  </a:rPr>
                  <a:t>下图</a:t>
                </a:r>
                <a:r>
                  <a:rPr lang="zh-CN" altLang="zh-CN" sz="2400" b="1" dirty="0">
                    <a:solidFill>
                      <a:schemeClr val="tx1"/>
                    </a:solidFill>
                  </a:rPr>
                  <a:t>所示，判断图</a:t>
                </a:r>
                <a14:m>
                  <m:oMath xmlns:m="http://schemas.openxmlformats.org/officeDocument/2006/math">
                    <m:r>
                      <a:rPr lang="en-US" altLang="zh-CN" sz="2400" b="1" i="1">
                        <a:solidFill>
                          <a:schemeClr val="tx1"/>
                        </a:solidFill>
                        <a:latin typeface="Cambria Math" panose="02040503050406030204" pitchFamily="18" charset="0"/>
                      </a:rPr>
                      <m:t>𝑮</m:t>
                    </m:r>
                  </m:oMath>
                </a14:m>
                <a:r>
                  <a:rPr lang="zh-CN" altLang="zh-CN" sz="2400" b="1" dirty="0">
                    <a:solidFill>
                      <a:schemeClr val="tx1"/>
                    </a:solidFill>
                  </a:rPr>
                  <a:t>中结点之间可达关系，如果可达，则算出相应通路或回路的条数。</a:t>
                </a:r>
                <a:endParaRPr lang="en-US" altLang="zh-CN" sz="2400" b="1" dirty="0">
                  <a:solidFill>
                    <a:srgbClr val="0000FF"/>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755576" y="1848720"/>
                <a:ext cx="8119280" cy="1129476"/>
              </a:xfrm>
              <a:prstGeom prst="rect">
                <a:avLst/>
              </a:prstGeom>
              <a:blipFill>
                <a:blip r:embed="rId4"/>
                <a:stretch>
                  <a:fillRect l="-1201" b="-9677"/>
                </a:stretch>
              </a:blipFill>
              <a:ln w="19050">
                <a:noFill/>
              </a:ln>
            </p:spPr>
            <p:txBody>
              <a:bodyPr/>
              <a:lstStyle/>
              <a:p>
                <a:r>
                  <a:rPr lang="zh-CN" altLang="en-US">
                    <a:noFill/>
                  </a:rPr>
                  <a:t> </a:t>
                </a:r>
              </a:p>
            </p:txBody>
          </p:sp>
        </mc:Fallback>
      </mc:AlternateContent>
      <p:pic>
        <p:nvPicPr>
          <p:cNvPr id="2" name="图片 1"/>
          <p:cNvPicPr>
            <a:picLocks noChangeAspect="1"/>
          </p:cNvPicPr>
          <p:nvPr/>
        </p:nvPicPr>
        <p:blipFill>
          <a:blip r:embed="rId5"/>
          <a:stretch>
            <a:fillRect/>
          </a:stretch>
        </p:blipFill>
        <p:spPr>
          <a:xfrm>
            <a:off x="2911543" y="3126703"/>
            <a:ext cx="3320913" cy="2942362"/>
          </a:xfrm>
          <a:prstGeom prst="rect">
            <a:avLst/>
          </a:prstGeom>
        </p:spPr>
      </p:pic>
    </p:spTree>
    <p:extLst>
      <p:ext uri="{BB962C8B-B14F-4D97-AF65-F5344CB8AC3E}">
        <p14:creationId xmlns:p14="http://schemas.microsoft.com/office/powerpoint/2010/main" val="3220701612"/>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23528" y="1916832"/>
                <a:ext cx="8508472" cy="461665"/>
              </a:xfrm>
              <a:prstGeom prst="rect">
                <a:avLst/>
              </a:prstGeom>
              <a:solidFill>
                <a:schemeClr val="accent5"/>
              </a:solidFill>
              <a:ln w="19050">
                <a:noFill/>
              </a:ln>
            </p:spPr>
            <p:txBody>
              <a:bodyPr wrap="square" rtlCol="0">
                <a:spAutoFit/>
              </a:bodyPr>
              <a:lstStyle/>
              <a:p>
                <a:r>
                  <a:rPr lang="zh-CN" altLang="zh-CN" sz="2400" dirty="0">
                    <a:solidFill>
                      <a:schemeClr val="accent2"/>
                    </a:solidFill>
                  </a:rPr>
                  <a:t>【解】</a:t>
                </a:r>
                <a:r>
                  <a:rPr lang="zh-CN" altLang="zh-CN" sz="2400" b="1" dirty="0">
                    <a:solidFill>
                      <a:schemeClr val="tx1"/>
                    </a:solidFill>
                  </a:rPr>
                  <a:t>先写图</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的邻接矩阵</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𝑨</m:t>
                        </m:r>
                      </m:e>
                      <m:sub>
                        <m:r>
                          <a:rPr lang="en-US" altLang="zh-CN" sz="2400" b="1" i="1">
                            <a:solidFill>
                              <a:schemeClr val="tx1"/>
                            </a:solidFill>
                            <a:latin typeface="Cambria Math" panose="02040503050406030204" pitchFamily="18" charset="0"/>
                          </a:rPr>
                          <m:t>𝑮</m:t>
                        </m:r>
                      </m:sub>
                    </m:sSub>
                    <m:r>
                      <a:rPr lang="en-US" altLang="zh-CN" sz="2400" b="1" i="1">
                        <a:solidFill>
                          <a:schemeClr val="tx1"/>
                        </a:solidFill>
                        <a:latin typeface="Cambria Math" panose="02040503050406030204" pitchFamily="18" charset="0"/>
                      </a:rPr>
                      <m:t> </m:t>
                    </m:r>
                  </m:oMath>
                </a14:m>
                <a:r>
                  <a:rPr lang="zh-CN" altLang="en-US" sz="2400" b="1" dirty="0">
                    <a:solidFill>
                      <a:schemeClr val="tx1"/>
                    </a:solidFill>
                  </a:rPr>
                  <a:t>，</a:t>
                </a:r>
                <a:r>
                  <a:rPr lang="zh-CN" altLang="zh-CN" sz="2400" b="1" dirty="0">
                    <a:solidFill>
                      <a:schemeClr val="tx1"/>
                    </a:solidFill>
                  </a:rPr>
                  <a:t>然后计算</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𝑨</m:t>
                    </m:r>
                    <m:r>
                      <a:rPr lang="en-US" altLang="zh-CN" sz="2400" b="1">
                        <a:solidFill>
                          <a:schemeClr val="tx1"/>
                        </a:solidFill>
                        <a:latin typeface="Cambria Math" panose="02040503050406030204" pitchFamily="18" charset="0"/>
                      </a:rPr>
                      <m:t> </m:t>
                    </m:r>
                  </m:oMath>
                </a14:m>
                <a:r>
                  <a:rPr lang="zh-CN" altLang="zh-CN" sz="2400" b="1" dirty="0">
                    <a:solidFill>
                      <a:schemeClr val="tx1"/>
                    </a:solidFill>
                  </a:rPr>
                  <a:t>的若干幂即可</a:t>
                </a:r>
                <a:endParaRPr lang="en-US" altLang="zh-CN" sz="1600" b="1" dirty="0">
                  <a:solidFill>
                    <a:srgbClr val="800080"/>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23528" y="1916832"/>
                <a:ext cx="8508472" cy="461665"/>
              </a:xfrm>
              <a:prstGeom prst="rect">
                <a:avLst/>
              </a:prstGeom>
              <a:blipFill>
                <a:blip r:embed="rId4"/>
                <a:stretch>
                  <a:fillRect l="-1074" t="-14474" b="-25000"/>
                </a:stretch>
              </a:blipFill>
              <a:ln w="19050">
                <a:noFill/>
              </a:ln>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8FF8F67B-CA32-4AA2-B97C-34A839827357}"/>
              </a:ext>
            </a:extLst>
          </p:cNvPr>
          <p:cNvPicPr>
            <a:picLocks noChangeAspect="1"/>
          </p:cNvPicPr>
          <p:nvPr/>
        </p:nvPicPr>
        <p:blipFill>
          <a:blip r:embed="rId5"/>
          <a:stretch>
            <a:fillRect/>
          </a:stretch>
        </p:blipFill>
        <p:spPr>
          <a:xfrm>
            <a:off x="622253" y="2666554"/>
            <a:ext cx="7899494" cy="3542167"/>
          </a:xfrm>
          <a:prstGeom prst="rect">
            <a:avLst/>
          </a:prstGeom>
        </p:spPr>
      </p:pic>
    </p:spTree>
    <p:extLst>
      <p:ext uri="{BB962C8B-B14F-4D97-AF65-F5344CB8AC3E}">
        <p14:creationId xmlns:p14="http://schemas.microsoft.com/office/powerpoint/2010/main" val="3058601578"/>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81916" y="548680"/>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684213" y="1635635"/>
                <a:ext cx="7632848" cy="4642809"/>
              </a:xfrm>
              <a:prstGeom prst="rect">
                <a:avLst/>
              </a:prstGeom>
              <a:solidFill>
                <a:schemeClr val="accent5"/>
              </a:solidFill>
              <a:ln w="19050">
                <a:noFill/>
              </a:ln>
            </p:spPr>
            <p:txBody>
              <a:bodyPr wrap="square" rtlCol="0">
                <a:spAutoFit/>
              </a:bodyPr>
              <a:lstStyle/>
              <a:p>
                <a:r>
                  <a:rPr lang="zh-CN" altLang="zh-CN" sz="2400" dirty="0">
                    <a:solidFill>
                      <a:schemeClr val="accent2"/>
                    </a:solidFill>
                  </a:rPr>
                  <a:t>【解</a:t>
                </a:r>
                <a:r>
                  <a:rPr lang="zh-CN" altLang="en-US" sz="2400" dirty="0">
                    <a:solidFill>
                      <a:schemeClr val="accent2"/>
                    </a:solidFill>
                  </a:rPr>
                  <a:t>（续）</a:t>
                </a:r>
                <a:r>
                  <a:rPr lang="zh-CN" altLang="zh-CN" sz="2400" dirty="0">
                    <a:solidFill>
                      <a:schemeClr val="accent2"/>
                    </a:solidFill>
                  </a:rPr>
                  <a:t>】</a:t>
                </a:r>
                <a:endParaRPr lang="en-US" altLang="zh-CN" sz="2400" dirty="0">
                  <a:solidFill>
                    <a:schemeClr val="accent2"/>
                  </a:solidFill>
                </a:endParaRPr>
              </a:p>
              <a:p>
                <a:pPr/>
                <a14:m>
                  <m:oMathPara xmlns:m="http://schemas.openxmlformats.org/officeDocument/2006/math">
                    <m:oMathParaPr>
                      <m:jc m:val="centerGroup"/>
                    </m:oMathParaPr>
                    <m:oMath xmlns:m="http://schemas.openxmlformats.org/officeDocument/2006/math">
                      <m:sSub>
                        <m:sSubPr>
                          <m:ctrlPr>
                            <a:rPr lang="zh-CN" altLang="zh-CN" sz="2000" b="1" i="1" smtClean="0">
                              <a:solidFill>
                                <a:srgbClr val="800080"/>
                              </a:solidFill>
                              <a:latin typeface="Cambria Math" panose="02040503050406030204" pitchFamily="18" charset="0"/>
                            </a:rPr>
                          </m:ctrlPr>
                        </m:sSubPr>
                        <m:e>
                          <m:r>
                            <a:rPr lang="en-US" altLang="zh-CN" sz="2000" b="1" i="1">
                              <a:solidFill>
                                <a:srgbClr val="800080"/>
                              </a:solidFill>
                              <a:latin typeface="Cambria Math" panose="02040503050406030204" pitchFamily="18" charset="0"/>
                            </a:rPr>
                            <m:t>𝑩</m:t>
                          </m:r>
                        </m:e>
                        <m:sub>
                          <m:r>
                            <a:rPr lang="en-US" altLang="zh-CN" sz="2000" b="1" i="1">
                              <a:solidFill>
                                <a:srgbClr val="800080"/>
                              </a:solidFill>
                              <a:latin typeface="Cambria Math" panose="02040503050406030204" pitchFamily="18" charset="0"/>
                            </a:rPr>
                            <m:t>𝟓</m:t>
                          </m:r>
                        </m:sub>
                      </m:sSub>
                      <m:r>
                        <a:rPr lang="en-US" altLang="zh-CN" sz="2000" b="1">
                          <a:solidFill>
                            <a:srgbClr val="800080"/>
                          </a:solidFill>
                          <a:latin typeface="Cambria Math" panose="02040503050406030204" pitchFamily="18" charset="0"/>
                        </a:rPr>
                        <m:t>=</m:t>
                      </m:r>
                      <m:r>
                        <a:rPr lang="en-US" altLang="zh-CN" sz="2000" b="1" i="1">
                          <a:solidFill>
                            <a:srgbClr val="800080"/>
                          </a:solidFill>
                          <a:latin typeface="Cambria Math" panose="02040503050406030204" pitchFamily="18" charset="0"/>
                        </a:rPr>
                        <m:t>𝑨</m:t>
                      </m:r>
                      <m:r>
                        <a:rPr lang="en-US" altLang="zh-CN" sz="2000" b="1">
                          <a:solidFill>
                            <a:srgbClr val="800080"/>
                          </a:solidFill>
                          <a:latin typeface="Cambria Math" panose="02040503050406030204" pitchFamily="18" charset="0"/>
                        </a:rPr>
                        <m:t>+</m:t>
                      </m:r>
                      <m:sSup>
                        <m:sSupPr>
                          <m:ctrlPr>
                            <a:rPr lang="zh-CN" altLang="zh-CN" sz="2000" b="1" i="1">
                              <a:solidFill>
                                <a:srgbClr val="800080"/>
                              </a:solidFill>
                              <a:latin typeface="Cambria Math" panose="02040503050406030204" pitchFamily="18" charset="0"/>
                            </a:rPr>
                          </m:ctrlPr>
                        </m:sSupPr>
                        <m:e>
                          <m:r>
                            <a:rPr lang="en-US" altLang="zh-CN" sz="2000" b="1" i="1">
                              <a:solidFill>
                                <a:srgbClr val="800080"/>
                              </a:solidFill>
                              <a:latin typeface="Cambria Math" panose="02040503050406030204" pitchFamily="18" charset="0"/>
                            </a:rPr>
                            <m:t>𝑨</m:t>
                          </m:r>
                        </m:e>
                        <m:sup>
                          <m:r>
                            <a:rPr lang="en-US" altLang="zh-CN" sz="2000" b="1" i="1">
                              <a:solidFill>
                                <a:srgbClr val="800080"/>
                              </a:solidFill>
                              <a:latin typeface="Cambria Math" panose="02040503050406030204" pitchFamily="18" charset="0"/>
                            </a:rPr>
                            <m:t>𝟐</m:t>
                          </m:r>
                        </m:sup>
                      </m:sSup>
                      <m:r>
                        <a:rPr lang="en-US" altLang="zh-CN" sz="2000" b="1" i="1">
                          <a:solidFill>
                            <a:srgbClr val="800080"/>
                          </a:solidFill>
                          <a:latin typeface="Cambria Math" panose="02040503050406030204" pitchFamily="18" charset="0"/>
                        </a:rPr>
                        <m:t>+</m:t>
                      </m:r>
                      <m:sSup>
                        <m:sSupPr>
                          <m:ctrlPr>
                            <a:rPr lang="zh-CN" altLang="zh-CN" sz="2000" b="1" i="1">
                              <a:solidFill>
                                <a:srgbClr val="800080"/>
                              </a:solidFill>
                              <a:latin typeface="Cambria Math" panose="02040503050406030204" pitchFamily="18" charset="0"/>
                            </a:rPr>
                          </m:ctrlPr>
                        </m:sSupPr>
                        <m:e>
                          <m:r>
                            <a:rPr lang="en-US" altLang="zh-CN" sz="2000" b="1" i="1">
                              <a:solidFill>
                                <a:srgbClr val="800080"/>
                              </a:solidFill>
                              <a:latin typeface="Cambria Math" panose="02040503050406030204" pitchFamily="18" charset="0"/>
                            </a:rPr>
                            <m:t>𝑨</m:t>
                          </m:r>
                        </m:e>
                        <m:sup>
                          <m:r>
                            <a:rPr lang="en-US" altLang="zh-CN" sz="2000" b="1" i="1">
                              <a:solidFill>
                                <a:srgbClr val="800080"/>
                              </a:solidFill>
                              <a:latin typeface="Cambria Math" panose="02040503050406030204" pitchFamily="18" charset="0"/>
                            </a:rPr>
                            <m:t>𝟑</m:t>
                          </m:r>
                        </m:sup>
                      </m:sSup>
                      <m:r>
                        <a:rPr lang="en-US" altLang="zh-CN" sz="2000" b="1" i="1">
                          <a:solidFill>
                            <a:srgbClr val="800080"/>
                          </a:solidFill>
                          <a:latin typeface="Cambria Math" panose="02040503050406030204" pitchFamily="18" charset="0"/>
                        </a:rPr>
                        <m:t>+</m:t>
                      </m:r>
                      <m:sSup>
                        <m:sSupPr>
                          <m:ctrlPr>
                            <a:rPr lang="zh-CN" altLang="zh-CN" sz="2000" b="1" i="1">
                              <a:solidFill>
                                <a:srgbClr val="800080"/>
                              </a:solidFill>
                              <a:latin typeface="Cambria Math" panose="02040503050406030204" pitchFamily="18" charset="0"/>
                            </a:rPr>
                          </m:ctrlPr>
                        </m:sSupPr>
                        <m:e>
                          <m:r>
                            <a:rPr lang="en-US" altLang="zh-CN" sz="2000" b="1" i="1">
                              <a:solidFill>
                                <a:srgbClr val="800080"/>
                              </a:solidFill>
                              <a:latin typeface="Cambria Math" panose="02040503050406030204" pitchFamily="18" charset="0"/>
                            </a:rPr>
                            <m:t>𝑨</m:t>
                          </m:r>
                        </m:e>
                        <m:sup>
                          <m:r>
                            <a:rPr lang="en-US" altLang="zh-CN" sz="2000" b="1" i="1">
                              <a:solidFill>
                                <a:srgbClr val="800080"/>
                              </a:solidFill>
                              <a:latin typeface="Cambria Math" panose="02040503050406030204" pitchFamily="18" charset="0"/>
                            </a:rPr>
                            <m:t>𝟒</m:t>
                          </m:r>
                        </m:sup>
                      </m:sSup>
                      <m:r>
                        <a:rPr lang="en-US" altLang="zh-CN" sz="2000" b="1" i="1">
                          <a:solidFill>
                            <a:srgbClr val="800080"/>
                          </a:solidFill>
                          <a:latin typeface="Cambria Math" panose="02040503050406030204" pitchFamily="18" charset="0"/>
                        </a:rPr>
                        <m:t>+</m:t>
                      </m:r>
                      <m:sSup>
                        <m:sSupPr>
                          <m:ctrlPr>
                            <a:rPr lang="zh-CN" altLang="zh-CN" sz="2000" b="1" i="1">
                              <a:solidFill>
                                <a:srgbClr val="800080"/>
                              </a:solidFill>
                              <a:latin typeface="Cambria Math" panose="02040503050406030204" pitchFamily="18" charset="0"/>
                            </a:rPr>
                          </m:ctrlPr>
                        </m:sSupPr>
                        <m:e>
                          <m:r>
                            <a:rPr lang="en-US" altLang="zh-CN" sz="2000" b="1" i="1">
                              <a:solidFill>
                                <a:srgbClr val="800080"/>
                              </a:solidFill>
                              <a:latin typeface="Cambria Math" panose="02040503050406030204" pitchFamily="18" charset="0"/>
                            </a:rPr>
                            <m:t>𝑨</m:t>
                          </m:r>
                        </m:e>
                        <m:sup>
                          <m:r>
                            <a:rPr lang="en-US" altLang="zh-CN" sz="2000" b="1" i="1">
                              <a:solidFill>
                                <a:srgbClr val="800080"/>
                              </a:solidFill>
                              <a:latin typeface="Cambria Math" panose="02040503050406030204" pitchFamily="18" charset="0"/>
                            </a:rPr>
                            <m:t>𝟓</m:t>
                          </m:r>
                        </m:sup>
                      </m:sSup>
                      <m:r>
                        <a:rPr lang="en-US" altLang="zh-CN" sz="2000" b="1" i="1">
                          <a:solidFill>
                            <a:srgbClr val="800080"/>
                          </a:solidFill>
                          <a:latin typeface="Cambria Math" panose="02040503050406030204" pitchFamily="18" charset="0"/>
                        </a:rPr>
                        <m:t>=</m:t>
                      </m:r>
                      <m:d>
                        <m:dPr>
                          <m:ctrlPr>
                            <a:rPr lang="zh-CN" altLang="zh-CN" sz="2000" b="1" i="1">
                              <a:solidFill>
                                <a:srgbClr val="800080"/>
                              </a:solidFill>
                              <a:latin typeface="Cambria Math" panose="02040503050406030204" pitchFamily="18" charset="0"/>
                            </a:rPr>
                          </m:ctrlPr>
                        </m:dPr>
                        <m:e>
                          <m:m>
                            <m:mPr>
                              <m:mcs>
                                <m:mc>
                                  <m:mcPr>
                                    <m:count m:val="2"/>
                                    <m:mcJc m:val="center"/>
                                  </m:mcPr>
                                </m:mc>
                              </m:mcs>
                              <m:ctrlPr>
                                <a:rPr lang="zh-CN" altLang="zh-CN" sz="2000" b="1" i="1">
                                  <a:solidFill>
                                    <a:srgbClr val="800080"/>
                                  </a:solidFill>
                                  <a:latin typeface="Cambria Math" panose="02040503050406030204" pitchFamily="18" charset="0"/>
                                </a:rPr>
                              </m:ctrlPr>
                            </m:mPr>
                            <m:mr>
                              <m:e>
                                <m:m>
                                  <m:mPr>
                                    <m:mcs>
                                      <m:mc>
                                        <m:mcPr>
                                          <m:count m:val="2"/>
                                          <m:mcJc m:val="center"/>
                                        </m:mcPr>
                                      </m:mc>
                                    </m:mcs>
                                    <m:ctrlPr>
                                      <a:rPr lang="zh-CN" altLang="zh-CN" sz="2000" b="1" i="1">
                                        <a:solidFill>
                                          <a:srgbClr val="800080"/>
                                        </a:solidFill>
                                        <a:latin typeface="Cambria Math" panose="02040503050406030204" pitchFamily="18" charset="0"/>
                                      </a:rPr>
                                    </m:ctrlPr>
                                  </m:mPr>
                                  <m:mr>
                                    <m:e>
                                      <m:r>
                                        <m:rPr>
                                          <m:brk m:alnAt="7"/>
                                        </m:rPr>
                                        <a:rPr lang="en-US" altLang="zh-CN" sz="2000" b="1" i="1" smtClean="0">
                                          <a:solidFill>
                                            <a:srgbClr val="800080"/>
                                          </a:solidFill>
                                          <a:latin typeface="Cambria Math" panose="02040503050406030204" pitchFamily="18" charset="0"/>
                                        </a:rPr>
                                        <m:t>𝟎</m:t>
                                      </m:r>
                                    </m:e>
                                    <m:e>
                                      <m:r>
                                        <a:rPr lang="en-US" altLang="zh-CN" sz="2000" b="1" i="1">
                                          <a:solidFill>
                                            <a:srgbClr val="800080"/>
                                          </a:solidFill>
                                          <a:latin typeface="Cambria Math" panose="02040503050406030204" pitchFamily="18" charset="0"/>
                                        </a:rPr>
                                        <m:t>𝟐</m:t>
                                      </m:r>
                                    </m:e>
                                  </m:mr>
                                  <m:mr>
                                    <m:e>
                                      <m:r>
                                        <a:rPr lang="en-US" altLang="zh-CN" sz="2000" b="1" i="1">
                                          <a:solidFill>
                                            <a:srgbClr val="800080"/>
                                          </a:solidFill>
                                          <a:latin typeface="Cambria Math" panose="02040503050406030204" pitchFamily="18" charset="0"/>
                                        </a:rPr>
                                        <m:t>𝟎</m:t>
                                      </m:r>
                                    </m:e>
                                    <m:e>
                                      <m:r>
                                        <a:rPr lang="en-US" altLang="zh-CN" sz="2000" b="1" i="1" smtClean="0">
                                          <a:solidFill>
                                            <a:srgbClr val="800080"/>
                                          </a:solidFill>
                                          <a:latin typeface="Cambria Math" panose="02040503050406030204" pitchFamily="18" charset="0"/>
                                        </a:rPr>
                                        <m:t>𝟏</m:t>
                                      </m:r>
                                    </m:e>
                                  </m:mr>
                                </m:m>
                              </m:e>
                              <m:e>
                                <m:m>
                                  <m:mPr>
                                    <m:mcs>
                                      <m:mc>
                                        <m:mcPr>
                                          <m:count m:val="3"/>
                                          <m:mcJc m:val="center"/>
                                        </m:mcPr>
                                      </m:mc>
                                    </m:mcs>
                                    <m:ctrlPr>
                                      <a:rPr lang="zh-CN" altLang="zh-CN" sz="2000" b="1" i="1">
                                        <a:solidFill>
                                          <a:srgbClr val="800080"/>
                                        </a:solidFill>
                                        <a:latin typeface="Cambria Math" panose="02040503050406030204" pitchFamily="18" charset="0"/>
                                      </a:rPr>
                                    </m:ctrlPr>
                                  </m:mPr>
                                  <m:mr>
                                    <m:e>
                                      <m:r>
                                        <a:rPr lang="en-US" altLang="zh-CN" sz="2000" b="1" i="1">
                                          <a:solidFill>
                                            <a:srgbClr val="800080"/>
                                          </a:solidFill>
                                          <a:latin typeface="Cambria Math" panose="02040503050406030204" pitchFamily="18" charset="0"/>
                                        </a:rPr>
                                        <m:t>𝟎</m:t>
                                      </m:r>
                                    </m:e>
                                    <m:e>
                                      <m:r>
                                        <a:rPr lang="en-US" altLang="zh-CN" sz="2000" b="1" i="1">
                                          <a:solidFill>
                                            <a:srgbClr val="800080"/>
                                          </a:solidFill>
                                          <a:latin typeface="Cambria Math" panose="02040503050406030204" pitchFamily="18" charset="0"/>
                                        </a:rPr>
                                        <m:t>𝟐</m:t>
                                      </m:r>
                                    </m:e>
                                    <m:e>
                                      <m:r>
                                        <a:rPr lang="en-US" altLang="zh-CN" sz="2000" b="1" i="1">
                                          <a:solidFill>
                                            <a:srgbClr val="800080"/>
                                          </a:solidFill>
                                          <a:latin typeface="Cambria Math" panose="02040503050406030204" pitchFamily="18" charset="0"/>
                                        </a:rPr>
                                        <m:t>𝟏</m:t>
                                      </m:r>
                                    </m:e>
                                  </m:mr>
                                  <m:mr>
                                    <m:e>
                                      <m:r>
                                        <a:rPr lang="en-US" altLang="zh-CN" sz="2000" b="1" i="1">
                                          <a:solidFill>
                                            <a:srgbClr val="800080"/>
                                          </a:solidFill>
                                          <a:latin typeface="Cambria Math" panose="02040503050406030204" pitchFamily="18" charset="0"/>
                                        </a:rPr>
                                        <m:t>𝟎</m:t>
                                      </m:r>
                                    </m:e>
                                    <m:e>
                                      <m:r>
                                        <a:rPr lang="en-US" altLang="zh-CN" sz="2000" b="1" i="1">
                                          <a:solidFill>
                                            <a:srgbClr val="800080"/>
                                          </a:solidFill>
                                          <a:latin typeface="Cambria Math" panose="02040503050406030204" pitchFamily="18" charset="0"/>
                                        </a:rPr>
                                        <m:t>𝟐</m:t>
                                      </m:r>
                                    </m:e>
                                    <m:e>
                                      <m:r>
                                        <a:rPr lang="en-US" altLang="zh-CN" sz="2000" b="1" i="1">
                                          <a:solidFill>
                                            <a:srgbClr val="800080"/>
                                          </a:solidFill>
                                          <a:latin typeface="Cambria Math" panose="02040503050406030204" pitchFamily="18" charset="0"/>
                                        </a:rPr>
                                        <m:t>𝟐</m:t>
                                      </m:r>
                                    </m:e>
                                  </m:mr>
                                </m:m>
                              </m:e>
                            </m:mr>
                            <m:mr>
                              <m:e>
                                <m:m>
                                  <m:mPr>
                                    <m:mcs>
                                      <m:mc>
                                        <m:mcPr>
                                          <m:count m:val="2"/>
                                          <m:mcJc m:val="center"/>
                                        </m:mcPr>
                                      </m:mc>
                                    </m:mcs>
                                    <m:ctrlPr>
                                      <a:rPr lang="zh-CN" altLang="zh-CN" sz="2000" b="1" i="1">
                                        <a:solidFill>
                                          <a:srgbClr val="800080"/>
                                        </a:solidFill>
                                        <a:latin typeface="Cambria Math" panose="02040503050406030204" pitchFamily="18" charset="0"/>
                                      </a:rPr>
                                    </m:ctrlPr>
                                  </m:mPr>
                                  <m:mr>
                                    <m:e>
                                      <m:r>
                                        <a:rPr lang="en-US" altLang="zh-CN" sz="2000" b="1" i="1">
                                          <a:solidFill>
                                            <a:srgbClr val="800080"/>
                                          </a:solidFill>
                                          <a:latin typeface="Cambria Math" panose="02040503050406030204" pitchFamily="18" charset="0"/>
                                        </a:rPr>
                                        <m:t>𝟏</m:t>
                                      </m:r>
                                    </m:e>
                                    <m:e>
                                      <m:r>
                                        <a:rPr lang="en-US" altLang="zh-CN" sz="2000" b="1" i="1">
                                          <a:solidFill>
                                            <a:srgbClr val="800080"/>
                                          </a:solidFill>
                                          <a:latin typeface="Cambria Math" panose="02040503050406030204" pitchFamily="18" charset="0"/>
                                        </a:rPr>
                                        <m:t>𝟐</m:t>
                                      </m:r>
                                    </m:e>
                                  </m:mr>
                                  <m:mr>
                                    <m:e>
                                      <m:r>
                                        <a:rPr lang="en-US" altLang="zh-CN" sz="2000" b="1" i="1">
                                          <a:solidFill>
                                            <a:srgbClr val="800080"/>
                                          </a:solidFill>
                                          <a:latin typeface="Cambria Math" panose="02040503050406030204" pitchFamily="18" charset="0"/>
                                        </a:rPr>
                                        <m:t>𝟎</m:t>
                                      </m:r>
                                    </m:e>
                                    <m:e>
                                      <m:r>
                                        <a:rPr lang="en-US" altLang="zh-CN" sz="2000" b="1" i="1">
                                          <a:solidFill>
                                            <a:srgbClr val="800080"/>
                                          </a:solidFill>
                                          <a:latin typeface="Cambria Math" panose="02040503050406030204" pitchFamily="18" charset="0"/>
                                        </a:rPr>
                                        <m:t>𝟐</m:t>
                                      </m:r>
                                    </m:e>
                                  </m:mr>
                                  <m:mr>
                                    <m:e>
                                      <m:r>
                                        <a:rPr lang="en-US" altLang="zh-CN" sz="2000" b="1" i="1">
                                          <a:solidFill>
                                            <a:srgbClr val="800080"/>
                                          </a:solidFill>
                                          <a:latin typeface="Cambria Math" panose="02040503050406030204" pitchFamily="18" charset="0"/>
                                        </a:rPr>
                                        <m:t>𝟎</m:t>
                                      </m:r>
                                    </m:e>
                                    <m:e>
                                      <m:r>
                                        <a:rPr lang="en-US" altLang="zh-CN" sz="2000" b="1" i="1">
                                          <a:solidFill>
                                            <a:srgbClr val="800080"/>
                                          </a:solidFill>
                                          <a:latin typeface="Cambria Math" panose="02040503050406030204" pitchFamily="18" charset="0"/>
                                        </a:rPr>
                                        <m:t>𝟐</m:t>
                                      </m:r>
                                    </m:e>
                                  </m:mr>
                                </m:m>
                              </m:e>
                              <m:e>
                                <m:m>
                                  <m:mPr>
                                    <m:mcs>
                                      <m:mc>
                                        <m:mcPr>
                                          <m:count m:val="3"/>
                                          <m:mcJc m:val="center"/>
                                        </m:mcPr>
                                      </m:mc>
                                    </m:mcs>
                                    <m:ctrlPr>
                                      <a:rPr lang="zh-CN" altLang="zh-CN" sz="2000" b="1" i="1">
                                        <a:solidFill>
                                          <a:srgbClr val="800080"/>
                                        </a:solidFill>
                                        <a:latin typeface="Cambria Math" panose="02040503050406030204" pitchFamily="18" charset="0"/>
                                      </a:rPr>
                                    </m:ctrlPr>
                                  </m:mPr>
                                  <m:mr>
                                    <m:e>
                                      <m:r>
                                        <m:rPr>
                                          <m:brk m:alnAt="7"/>
                                        </m:rPr>
                                        <a:rPr lang="en-US" altLang="zh-CN" sz="2000" b="1" i="1" smtClean="0">
                                          <a:solidFill>
                                            <a:srgbClr val="800080"/>
                                          </a:solidFill>
                                          <a:latin typeface="Cambria Math" panose="02040503050406030204" pitchFamily="18" charset="0"/>
                                        </a:rPr>
                                        <m:t>𝟎</m:t>
                                      </m:r>
                                    </m:e>
                                    <m:e>
                                      <m:r>
                                        <a:rPr lang="en-US" altLang="zh-CN" sz="2000" b="1" i="1">
                                          <a:solidFill>
                                            <a:srgbClr val="800080"/>
                                          </a:solidFill>
                                          <a:latin typeface="Cambria Math" panose="02040503050406030204" pitchFamily="18" charset="0"/>
                                        </a:rPr>
                                        <m:t>𝟏</m:t>
                                      </m:r>
                                    </m:e>
                                    <m:e>
                                      <m:r>
                                        <a:rPr lang="en-US" altLang="zh-CN" sz="2000" b="1" i="1">
                                          <a:solidFill>
                                            <a:srgbClr val="800080"/>
                                          </a:solidFill>
                                          <a:latin typeface="Cambria Math" panose="02040503050406030204" pitchFamily="18" charset="0"/>
                                        </a:rPr>
                                        <m:t>𝟏</m:t>
                                      </m:r>
                                    </m:e>
                                  </m:mr>
                                  <m:mr>
                                    <m:e>
                                      <m:r>
                                        <a:rPr lang="en-US" altLang="zh-CN" sz="2000" b="1" i="1">
                                          <a:solidFill>
                                            <a:srgbClr val="800080"/>
                                          </a:solidFill>
                                          <a:latin typeface="Cambria Math" panose="02040503050406030204" pitchFamily="18" charset="0"/>
                                        </a:rPr>
                                        <m:t>𝟎</m:t>
                                      </m:r>
                                    </m:e>
                                    <m:e>
                                      <m:r>
                                        <a:rPr lang="en-US" altLang="zh-CN" sz="2000" b="1" i="1" smtClean="0">
                                          <a:solidFill>
                                            <a:srgbClr val="800080"/>
                                          </a:solidFill>
                                          <a:latin typeface="Cambria Math" panose="02040503050406030204" pitchFamily="18" charset="0"/>
                                        </a:rPr>
                                        <m:t>𝟎</m:t>
                                      </m:r>
                                    </m:e>
                                    <m:e>
                                      <m:r>
                                        <a:rPr lang="en-US" altLang="zh-CN" sz="2000" b="1" i="1">
                                          <a:solidFill>
                                            <a:srgbClr val="800080"/>
                                          </a:solidFill>
                                          <a:latin typeface="Cambria Math" panose="02040503050406030204" pitchFamily="18" charset="0"/>
                                        </a:rPr>
                                        <m:t>𝟐</m:t>
                                      </m:r>
                                    </m:e>
                                  </m:mr>
                                  <m:mr>
                                    <m:e>
                                      <m:r>
                                        <a:rPr lang="en-US" altLang="zh-CN" sz="2000" b="1" i="1">
                                          <a:solidFill>
                                            <a:srgbClr val="800080"/>
                                          </a:solidFill>
                                          <a:latin typeface="Cambria Math" panose="02040503050406030204" pitchFamily="18" charset="0"/>
                                        </a:rPr>
                                        <m:t>𝟎</m:t>
                                      </m:r>
                                    </m:e>
                                    <m:e>
                                      <m:r>
                                        <a:rPr lang="en-US" altLang="zh-CN" sz="2000" b="1" i="1">
                                          <a:solidFill>
                                            <a:srgbClr val="800080"/>
                                          </a:solidFill>
                                          <a:latin typeface="Cambria Math" panose="02040503050406030204" pitchFamily="18" charset="0"/>
                                        </a:rPr>
                                        <m:t>𝟏</m:t>
                                      </m:r>
                                    </m:e>
                                    <m:e>
                                      <m:r>
                                        <a:rPr lang="en-US" altLang="zh-CN" sz="2000" b="1" i="1" smtClean="0">
                                          <a:solidFill>
                                            <a:srgbClr val="800080"/>
                                          </a:solidFill>
                                          <a:latin typeface="Cambria Math" panose="02040503050406030204" pitchFamily="18" charset="0"/>
                                        </a:rPr>
                                        <m:t>𝟐</m:t>
                                      </m:r>
                                    </m:e>
                                  </m:mr>
                                </m:m>
                              </m:e>
                            </m:mr>
                          </m:m>
                        </m:e>
                      </m:d>
                    </m:oMath>
                  </m:oMathPara>
                </a14:m>
                <a:endParaRPr lang="zh-CN" altLang="zh-CN" sz="2000" b="1" dirty="0"/>
              </a:p>
              <a:p>
                <a:pPr>
                  <a:lnSpc>
                    <a:spcPts val="3600"/>
                  </a:lnSpc>
                </a:pPr>
                <a:r>
                  <a:rPr lang="zh-CN" altLang="en-US" sz="2400" dirty="0">
                    <a:solidFill>
                      <a:srgbClr val="0000FF"/>
                    </a:solidFill>
                  </a:rPr>
                  <a:t>   每个结点到其自身可达，且</a:t>
                </a:r>
                <a:r>
                  <a:rPr lang="zh-CN" altLang="zh-CN" sz="2400" dirty="0">
                    <a:solidFill>
                      <a:srgbClr val="0000FF"/>
                    </a:solidFill>
                  </a:rPr>
                  <a:t>从</a:t>
                </a:r>
                <a14:m>
                  <m:oMath xmlns:m="http://schemas.openxmlformats.org/officeDocument/2006/math">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𝐵</m:t>
                        </m:r>
                      </m:e>
                      <m:sub>
                        <m:r>
                          <a:rPr lang="en-US" altLang="zh-CN" sz="2400" i="1">
                            <a:solidFill>
                              <a:srgbClr val="0000FF"/>
                            </a:solidFill>
                            <a:latin typeface="Cambria Math" panose="02040503050406030204" pitchFamily="18" charset="0"/>
                          </a:rPr>
                          <m:t>5</m:t>
                        </m:r>
                      </m:sub>
                    </m:sSub>
                    <m:r>
                      <a:rPr lang="zh-CN" altLang="en-US" sz="2400" i="1">
                        <a:solidFill>
                          <a:srgbClr val="0000FF"/>
                        </a:solidFill>
                        <a:latin typeface="Cambria Math" panose="02040503050406030204" pitchFamily="18" charset="0"/>
                      </a:rPr>
                      <m:t>中</m:t>
                    </m:r>
                  </m:oMath>
                </a14:m>
                <a:r>
                  <a:rPr lang="zh-CN" altLang="en-US" sz="2400" dirty="0">
                    <a:solidFill>
                      <a:srgbClr val="0000FF"/>
                    </a:solidFill>
                  </a:rPr>
                  <a:t>元素取值</a:t>
                </a:r>
                <a:r>
                  <a:rPr lang="zh-CN" altLang="zh-CN" sz="2400" dirty="0">
                    <a:solidFill>
                      <a:srgbClr val="0000FF"/>
                    </a:solidFill>
                  </a:rPr>
                  <a:t>可知：</a:t>
                </a:r>
                <a:endParaRPr lang="en-US" altLang="zh-CN" sz="2400" dirty="0">
                  <a:solidFill>
                    <a:srgbClr val="0000FF"/>
                  </a:solidFill>
                </a:endParaRPr>
              </a:p>
              <a:p>
                <a:pPr>
                  <a:lnSpc>
                    <a:spcPts val="3600"/>
                  </a:lnSpc>
                </a:pPr>
                <a:r>
                  <a:rPr lang="en-US" altLang="zh-CN" sz="2400" dirty="0">
                    <a:solidFill>
                      <a:srgbClr val="0000FF"/>
                    </a:solidFill>
                  </a:rPr>
                  <a:t>   </a:t>
                </a:r>
                <a:r>
                  <a:rPr lang="zh-CN" altLang="zh-CN" sz="2400" dirty="0">
                    <a:solidFill>
                      <a:srgbClr val="0000FF"/>
                    </a:solidFill>
                  </a:rPr>
                  <a:t>从</a:t>
                </a:r>
                <a14:m>
                  <m:oMath xmlns:m="http://schemas.openxmlformats.org/officeDocument/2006/math">
                    <m:r>
                      <a:rPr lang="zh-CN" altLang="zh-CN" sz="2400">
                        <a:solidFill>
                          <a:srgbClr val="0000FF"/>
                        </a:solidFill>
                        <a:latin typeface="Cambria Math" panose="02040503050406030204" pitchFamily="18" charset="0"/>
                      </a:rPr>
                      <m:t> </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1</m:t>
                        </m:r>
                      </m:sub>
                    </m:sSub>
                    <m:r>
                      <a:rPr lang="en-US" altLang="zh-CN" sz="2400" i="1">
                        <a:solidFill>
                          <a:srgbClr val="0000FF"/>
                        </a:solidFill>
                        <a:latin typeface="Cambria Math" panose="02040503050406030204" pitchFamily="18" charset="0"/>
                      </a:rPr>
                      <m:t> </m:t>
                    </m:r>
                  </m:oMath>
                </a14:m>
                <a:r>
                  <a:rPr lang="zh-CN" altLang="zh-CN" sz="2400" dirty="0">
                    <a:solidFill>
                      <a:srgbClr val="0000FF"/>
                    </a:solidFill>
                  </a:rPr>
                  <a:t>到</a:t>
                </a:r>
                <a14:m>
                  <m:oMath xmlns:m="http://schemas.openxmlformats.org/officeDocument/2006/math">
                    <m:r>
                      <a:rPr lang="zh-CN" altLang="zh-CN" sz="2400">
                        <a:solidFill>
                          <a:srgbClr val="0000FF"/>
                        </a:solidFill>
                        <a:latin typeface="Cambria Math" panose="02040503050406030204" pitchFamily="18" charset="0"/>
                      </a:rPr>
                      <m:t> </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2</m:t>
                        </m:r>
                      </m:sub>
                    </m:sSub>
                    <m:r>
                      <a:rPr lang="en-US" altLang="zh-CN" sz="2400" i="1">
                        <a:solidFill>
                          <a:srgbClr val="0000FF"/>
                        </a:solidFill>
                        <a:latin typeface="Cambria Math" panose="02040503050406030204" pitchFamily="18" charset="0"/>
                      </a:rPr>
                      <m:t>,</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4</m:t>
                        </m:r>
                      </m:sub>
                    </m:sSub>
                    <m:r>
                      <a:rPr lang="en-US" altLang="zh-CN" sz="2400" i="1">
                        <a:solidFill>
                          <a:srgbClr val="0000FF"/>
                        </a:solidFill>
                        <a:latin typeface="Cambria Math" panose="02040503050406030204" pitchFamily="18" charset="0"/>
                      </a:rPr>
                      <m:t>,</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5</m:t>
                        </m:r>
                      </m:sub>
                    </m:sSub>
                    <m:r>
                      <a:rPr lang="en-US" altLang="zh-CN" sz="2400" i="1">
                        <a:solidFill>
                          <a:srgbClr val="0000FF"/>
                        </a:solidFill>
                        <a:latin typeface="Cambria Math" panose="02040503050406030204" pitchFamily="18" charset="0"/>
                      </a:rPr>
                      <m:t> </m:t>
                    </m:r>
                  </m:oMath>
                </a14:m>
                <a:r>
                  <a:rPr lang="zh-CN" altLang="zh-CN" sz="2400" dirty="0">
                    <a:solidFill>
                      <a:srgbClr val="0000FF"/>
                    </a:solidFill>
                  </a:rPr>
                  <a:t>可达，通路数分别为</a:t>
                </a:r>
                <a:r>
                  <a:rPr lang="en-US" altLang="zh-CN" sz="2400" dirty="0">
                    <a:solidFill>
                      <a:srgbClr val="0000FF"/>
                    </a:solidFill>
                  </a:rPr>
                  <a:t>2,2,1</a:t>
                </a:r>
                <a:r>
                  <a:rPr lang="zh-CN" altLang="zh-CN" sz="2400" dirty="0">
                    <a:solidFill>
                      <a:srgbClr val="0000FF"/>
                    </a:solidFill>
                  </a:rPr>
                  <a:t>；</a:t>
                </a:r>
                <a:endParaRPr lang="en-US" altLang="zh-CN" sz="2400" dirty="0">
                  <a:solidFill>
                    <a:srgbClr val="0000FF"/>
                  </a:solidFill>
                </a:endParaRPr>
              </a:p>
              <a:p>
                <a:pPr>
                  <a:lnSpc>
                    <a:spcPts val="3600"/>
                  </a:lnSpc>
                </a:pPr>
                <a:r>
                  <a:rPr lang="en-US" altLang="zh-CN" sz="2400" dirty="0">
                    <a:solidFill>
                      <a:srgbClr val="0000FF"/>
                    </a:solidFill>
                  </a:rPr>
                  <a:t>   </a:t>
                </a:r>
                <a:r>
                  <a:rPr lang="zh-CN" altLang="zh-CN" sz="2400" dirty="0">
                    <a:solidFill>
                      <a:srgbClr val="0000FF"/>
                    </a:solidFill>
                  </a:rPr>
                  <a:t>从</a:t>
                </a:r>
                <a14:m>
                  <m:oMath xmlns:m="http://schemas.openxmlformats.org/officeDocument/2006/math">
                    <m:r>
                      <a:rPr lang="zh-CN" altLang="zh-CN" sz="2400">
                        <a:solidFill>
                          <a:srgbClr val="0000FF"/>
                        </a:solidFill>
                        <a:latin typeface="Cambria Math" panose="02040503050406030204" pitchFamily="18" charset="0"/>
                      </a:rPr>
                      <m:t> </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2</m:t>
                        </m:r>
                      </m:sub>
                    </m:sSub>
                    <m:r>
                      <a:rPr lang="en-US" altLang="zh-CN" sz="2400" i="1">
                        <a:solidFill>
                          <a:srgbClr val="0000FF"/>
                        </a:solidFill>
                        <a:latin typeface="Cambria Math" panose="02040503050406030204" pitchFamily="18" charset="0"/>
                      </a:rPr>
                      <m:t> </m:t>
                    </m:r>
                  </m:oMath>
                </a14:m>
                <a:r>
                  <a:rPr lang="zh-CN" altLang="zh-CN" sz="2400" dirty="0">
                    <a:solidFill>
                      <a:srgbClr val="0000FF"/>
                    </a:solidFill>
                  </a:rPr>
                  <a:t>到</a:t>
                </a:r>
                <a14:m>
                  <m:oMath xmlns:m="http://schemas.openxmlformats.org/officeDocument/2006/math">
                    <m:r>
                      <a:rPr lang="zh-CN" altLang="zh-CN" sz="2400">
                        <a:solidFill>
                          <a:srgbClr val="0000FF"/>
                        </a:solidFill>
                        <a:latin typeface="Cambria Math" panose="02040503050406030204" pitchFamily="18" charset="0"/>
                      </a:rPr>
                      <m:t> </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4</m:t>
                        </m:r>
                      </m:sub>
                    </m:sSub>
                    <m:r>
                      <a:rPr lang="en-US" altLang="zh-CN" sz="2400" i="1">
                        <a:solidFill>
                          <a:srgbClr val="0000FF"/>
                        </a:solidFill>
                        <a:latin typeface="Cambria Math" panose="02040503050406030204" pitchFamily="18" charset="0"/>
                      </a:rPr>
                      <m:t>,</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5</m:t>
                        </m:r>
                      </m:sub>
                    </m:sSub>
                    <m:r>
                      <a:rPr lang="en-US" altLang="zh-CN" sz="2400" i="1">
                        <a:solidFill>
                          <a:srgbClr val="0000FF"/>
                        </a:solidFill>
                        <a:latin typeface="Cambria Math" panose="02040503050406030204" pitchFamily="18" charset="0"/>
                      </a:rPr>
                      <m:t> </m:t>
                    </m:r>
                  </m:oMath>
                </a14:m>
                <a:r>
                  <a:rPr lang="zh-CN" altLang="zh-CN" sz="2400" dirty="0">
                    <a:solidFill>
                      <a:srgbClr val="0000FF"/>
                    </a:solidFill>
                  </a:rPr>
                  <a:t>可达，通路数分别为</a:t>
                </a:r>
                <a:r>
                  <a:rPr lang="en-US" altLang="zh-CN" sz="2400" dirty="0">
                    <a:solidFill>
                      <a:srgbClr val="0000FF"/>
                    </a:solidFill>
                  </a:rPr>
                  <a:t>2,2</a:t>
                </a:r>
                <a:r>
                  <a:rPr lang="zh-CN" altLang="zh-CN" sz="2400" dirty="0">
                    <a:solidFill>
                      <a:srgbClr val="0000FF"/>
                    </a:solidFill>
                  </a:rPr>
                  <a:t>；</a:t>
                </a:r>
                <a:endParaRPr lang="en-US" altLang="zh-CN" sz="2400" dirty="0">
                  <a:solidFill>
                    <a:srgbClr val="0000FF"/>
                  </a:solidFill>
                </a:endParaRPr>
              </a:p>
              <a:p>
                <a:pPr>
                  <a:lnSpc>
                    <a:spcPts val="3600"/>
                  </a:lnSpc>
                </a:pPr>
                <a:r>
                  <a:rPr lang="en-US" altLang="zh-CN" sz="2400" dirty="0">
                    <a:solidFill>
                      <a:srgbClr val="0000FF"/>
                    </a:solidFill>
                  </a:rPr>
                  <a:t>   </a:t>
                </a:r>
                <a:r>
                  <a:rPr lang="zh-CN" altLang="zh-CN" sz="2400" dirty="0">
                    <a:solidFill>
                      <a:srgbClr val="0000FF"/>
                    </a:solidFill>
                  </a:rPr>
                  <a:t>从</a:t>
                </a:r>
                <a14:m>
                  <m:oMath xmlns:m="http://schemas.openxmlformats.org/officeDocument/2006/math">
                    <m:r>
                      <a:rPr lang="zh-CN" altLang="zh-CN" sz="2400">
                        <a:solidFill>
                          <a:srgbClr val="0000FF"/>
                        </a:solidFill>
                        <a:latin typeface="Cambria Math" panose="02040503050406030204" pitchFamily="18" charset="0"/>
                      </a:rPr>
                      <m:t> </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3</m:t>
                        </m:r>
                      </m:sub>
                    </m:sSub>
                    <m:r>
                      <a:rPr lang="en-US" altLang="zh-CN" sz="2400" i="1">
                        <a:solidFill>
                          <a:srgbClr val="0000FF"/>
                        </a:solidFill>
                        <a:latin typeface="Cambria Math" panose="02040503050406030204" pitchFamily="18" charset="0"/>
                      </a:rPr>
                      <m:t> </m:t>
                    </m:r>
                  </m:oMath>
                </a14:m>
                <a:r>
                  <a:rPr lang="zh-CN" altLang="zh-CN" sz="2400" dirty="0">
                    <a:solidFill>
                      <a:srgbClr val="0000FF"/>
                    </a:solidFill>
                  </a:rPr>
                  <a:t>到</a:t>
                </a:r>
                <a14:m>
                  <m:oMath xmlns:m="http://schemas.openxmlformats.org/officeDocument/2006/math">
                    <m:r>
                      <a:rPr lang="zh-CN" altLang="zh-CN" sz="2400">
                        <a:solidFill>
                          <a:srgbClr val="0000FF"/>
                        </a:solidFill>
                        <a:latin typeface="Cambria Math" panose="02040503050406030204" pitchFamily="18" charset="0"/>
                      </a:rPr>
                      <m:t> </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1</m:t>
                        </m:r>
                      </m:sub>
                    </m:sSub>
                    <m:r>
                      <a:rPr lang="en-US" altLang="zh-CN" sz="2400" i="1">
                        <a:solidFill>
                          <a:srgbClr val="0000FF"/>
                        </a:solidFill>
                        <a:latin typeface="Cambria Math" panose="02040503050406030204" pitchFamily="18" charset="0"/>
                      </a:rPr>
                      <m:t>,</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2</m:t>
                        </m:r>
                      </m:sub>
                    </m:sSub>
                    <m:r>
                      <a:rPr lang="en-US" altLang="zh-CN" sz="2400" i="1">
                        <a:solidFill>
                          <a:srgbClr val="0000FF"/>
                        </a:solidFill>
                        <a:latin typeface="Cambria Math" panose="02040503050406030204" pitchFamily="18" charset="0"/>
                      </a:rPr>
                      <m:t>,</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4</m:t>
                        </m:r>
                      </m:sub>
                    </m:sSub>
                    <m:r>
                      <a:rPr lang="en-US" altLang="zh-CN" sz="2400" i="1">
                        <a:solidFill>
                          <a:srgbClr val="0000FF"/>
                        </a:solidFill>
                        <a:latin typeface="Cambria Math" panose="02040503050406030204" pitchFamily="18" charset="0"/>
                      </a:rPr>
                      <m:t>,</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5</m:t>
                        </m:r>
                      </m:sub>
                    </m:sSub>
                    <m:r>
                      <a:rPr lang="en-US" altLang="zh-CN" sz="2400" i="1">
                        <a:solidFill>
                          <a:srgbClr val="0000FF"/>
                        </a:solidFill>
                        <a:latin typeface="Cambria Math" panose="02040503050406030204" pitchFamily="18" charset="0"/>
                      </a:rPr>
                      <m:t> </m:t>
                    </m:r>
                  </m:oMath>
                </a14:m>
                <a:r>
                  <a:rPr lang="zh-CN" altLang="zh-CN" sz="2400" dirty="0">
                    <a:solidFill>
                      <a:srgbClr val="0000FF"/>
                    </a:solidFill>
                  </a:rPr>
                  <a:t>可达，通路数分别为</a:t>
                </a:r>
                <a:r>
                  <a:rPr lang="en-US" altLang="zh-CN" sz="2400" dirty="0">
                    <a:solidFill>
                      <a:srgbClr val="0000FF"/>
                    </a:solidFill>
                  </a:rPr>
                  <a:t>1,2,1,1</a:t>
                </a:r>
                <a:r>
                  <a:rPr lang="zh-CN" altLang="zh-CN" sz="2400" dirty="0">
                    <a:solidFill>
                      <a:srgbClr val="0000FF"/>
                    </a:solidFill>
                  </a:rPr>
                  <a:t>；</a:t>
                </a:r>
                <a:endParaRPr lang="en-US" altLang="zh-CN" sz="2400" dirty="0">
                  <a:solidFill>
                    <a:srgbClr val="0000FF"/>
                  </a:solidFill>
                </a:endParaRPr>
              </a:p>
              <a:p>
                <a:pPr>
                  <a:lnSpc>
                    <a:spcPts val="3600"/>
                  </a:lnSpc>
                </a:pPr>
                <a:r>
                  <a:rPr lang="en-US" altLang="zh-CN" sz="2400" dirty="0">
                    <a:solidFill>
                      <a:srgbClr val="0000FF"/>
                    </a:solidFill>
                  </a:rPr>
                  <a:t>   </a:t>
                </a:r>
                <a:r>
                  <a:rPr lang="zh-CN" altLang="zh-CN" sz="2400" dirty="0">
                    <a:solidFill>
                      <a:srgbClr val="0000FF"/>
                    </a:solidFill>
                  </a:rPr>
                  <a:t>从</a:t>
                </a:r>
                <a14:m>
                  <m:oMath xmlns:m="http://schemas.openxmlformats.org/officeDocument/2006/math">
                    <m:r>
                      <a:rPr lang="zh-CN" altLang="zh-CN" sz="2400">
                        <a:solidFill>
                          <a:srgbClr val="0000FF"/>
                        </a:solidFill>
                        <a:latin typeface="Cambria Math" panose="02040503050406030204" pitchFamily="18" charset="0"/>
                      </a:rPr>
                      <m:t> </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4</m:t>
                        </m:r>
                      </m:sub>
                    </m:sSub>
                    <m:r>
                      <a:rPr lang="en-US" altLang="zh-CN" sz="2400" i="1">
                        <a:solidFill>
                          <a:srgbClr val="0000FF"/>
                        </a:solidFill>
                        <a:latin typeface="Cambria Math" panose="02040503050406030204" pitchFamily="18" charset="0"/>
                      </a:rPr>
                      <m:t> </m:t>
                    </m:r>
                  </m:oMath>
                </a14:m>
                <a:r>
                  <a:rPr lang="zh-CN" altLang="zh-CN" sz="2400" dirty="0">
                    <a:solidFill>
                      <a:srgbClr val="0000FF"/>
                    </a:solidFill>
                  </a:rPr>
                  <a:t>到</a:t>
                </a:r>
                <a14:m>
                  <m:oMath xmlns:m="http://schemas.openxmlformats.org/officeDocument/2006/math">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2</m:t>
                        </m:r>
                      </m:sub>
                    </m:sSub>
                    <m:r>
                      <a:rPr lang="en-US" altLang="zh-CN" sz="2400" i="1">
                        <a:solidFill>
                          <a:srgbClr val="0000FF"/>
                        </a:solidFill>
                        <a:latin typeface="Cambria Math" panose="02040503050406030204" pitchFamily="18" charset="0"/>
                      </a:rPr>
                      <m:t>,</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5</m:t>
                        </m:r>
                      </m:sub>
                    </m:sSub>
                    <m:r>
                      <a:rPr lang="en-US" altLang="zh-CN" sz="2400" i="1">
                        <a:solidFill>
                          <a:srgbClr val="0000FF"/>
                        </a:solidFill>
                        <a:latin typeface="Cambria Math" panose="02040503050406030204" pitchFamily="18" charset="0"/>
                      </a:rPr>
                      <m:t> </m:t>
                    </m:r>
                  </m:oMath>
                </a14:m>
                <a:r>
                  <a:rPr lang="zh-CN" altLang="zh-CN" sz="2400" dirty="0">
                    <a:solidFill>
                      <a:srgbClr val="0000FF"/>
                    </a:solidFill>
                  </a:rPr>
                  <a:t>可达，通路数分别为</a:t>
                </a:r>
                <a:r>
                  <a:rPr lang="en-US" altLang="zh-CN" sz="2400" dirty="0">
                    <a:solidFill>
                      <a:srgbClr val="0000FF"/>
                    </a:solidFill>
                  </a:rPr>
                  <a:t>2,2</a:t>
                </a:r>
                <a:r>
                  <a:rPr lang="zh-CN" altLang="zh-CN" sz="2400" dirty="0">
                    <a:solidFill>
                      <a:srgbClr val="0000FF"/>
                    </a:solidFill>
                  </a:rPr>
                  <a:t>；</a:t>
                </a:r>
                <a:endParaRPr lang="en-US" altLang="zh-CN" sz="2400" dirty="0">
                  <a:solidFill>
                    <a:srgbClr val="0000FF"/>
                  </a:solidFill>
                </a:endParaRPr>
              </a:p>
              <a:p>
                <a:pPr>
                  <a:lnSpc>
                    <a:spcPts val="3600"/>
                  </a:lnSpc>
                </a:pPr>
                <a:r>
                  <a:rPr lang="en-US" altLang="zh-CN" sz="2400" dirty="0">
                    <a:solidFill>
                      <a:srgbClr val="0000FF"/>
                    </a:solidFill>
                  </a:rPr>
                  <a:t>   </a:t>
                </a:r>
                <a:r>
                  <a:rPr lang="zh-CN" altLang="zh-CN" sz="2400" dirty="0">
                    <a:solidFill>
                      <a:srgbClr val="0000FF"/>
                    </a:solidFill>
                  </a:rPr>
                  <a:t>从</a:t>
                </a:r>
                <a14:m>
                  <m:oMath xmlns:m="http://schemas.openxmlformats.org/officeDocument/2006/math">
                    <m:r>
                      <a:rPr lang="zh-CN" altLang="zh-CN" sz="2400">
                        <a:solidFill>
                          <a:srgbClr val="0000FF"/>
                        </a:solidFill>
                        <a:latin typeface="Cambria Math" panose="02040503050406030204" pitchFamily="18" charset="0"/>
                      </a:rPr>
                      <m:t> </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5</m:t>
                        </m:r>
                      </m:sub>
                    </m:sSub>
                    <m:r>
                      <a:rPr lang="en-US" altLang="zh-CN" sz="2400" i="1">
                        <a:solidFill>
                          <a:srgbClr val="0000FF"/>
                        </a:solidFill>
                        <a:latin typeface="Cambria Math" panose="02040503050406030204" pitchFamily="18" charset="0"/>
                      </a:rPr>
                      <m:t> </m:t>
                    </m:r>
                  </m:oMath>
                </a14:m>
                <a:r>
                  <a:rPr lang="zh-CN" altLang="zh-CN" sz="2400" dirty="0">
                    <a:solidFill>
                      <a:srgbClr val="0000FF"/>
                    </a:solidFill>
                  </a:rPr>
                  <a:t>到</a:t>
                </a:r>
                <a14:m>
                  <m:oMath xmlns:m="http://schemas.openxmlformats.org/officeDocument/2006/math">
                    <m:r>
                      <a:rPr lang="zh-CN" altLang="zh-CN" sz="2400">
                        <a:solidFill>
                          <a:srgbClr val="0000FF"/>
                        </a:solidFill>
                        <a:latin typeface="Cambria Math" panose="02040503050406030204" pitchFamily="18" charset="0"/>
                      </a:rPr>
                      <m:t> </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2</m:t>
                        </m:r>
                      </m:sub>
                    </m:sSub>
                    <m:r>
                      <a:rPr lang="en-US" altLang="zh-CN" sz="2400" i="1">
                        <a:solidFill>
                          <a:srgbClr val="0000FF"/>
                        </a:solidFill>
                        <a:latin typeface="Cambria Math" panose="02040503050406030204" pitchFamily="18" charset="0"/>
                      </a:rPr>
                      <m:t>,</m:t>
                    </m:r>
                    <m:sSub>
                      <m:sSubPr>
                        <m:ctrlPr>
                          <a:rPr lang="zh-CN"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a:rPr lang="en-US" altLang="zh-CN" sz="2400" i="1">
                            <a:solidFill>
                              <a:srgbClr val="0000FF"/>
                            </a:solidFill>
                            <a:latin typeface="Cambria Math" panose="02040503050406030204" pitchFamily="18" charset="0"/>
                          </a:rPr>
                          <m:t>4</m:t>
                        </m:r>
                      </m:sub>
                    </m:sSub>
                    <m:r>
                      <a:rPr lang="zh-CN" altLang="zh-CN" sz="2400" i="1" smtClean="0">
                        <a:solidFill>
                          <a:srgbClr val="0000FF"/>
                        </a:solidFill>
                        <a:latin typeface="Cambria Math" panose="02040503050406030204" pitchFamily="18" charset="0"/>
                      </a:rPr>
                      <m:t> </m:t>
                    </m:r>
                  </m:oMath>
                </a14:m>
                <a:r>
                  <a:rPr lang="zh-CN" altLang="zh-CN" sz="2400" dirty="0">
                    <a:solidFill>
                      <a:srgbClr val="0000FF"/>
                    </a:solidFill>
                  </a:rPr>
                  <a:t>可达，通路数分别为</a:t>
                </a:r>
                <a:r>
                  <a:rPr lang="en-US" altLang="zh-CN" sz="2400" dirty="0">
                    <a:solidFill>
                      <a:srgbClr val="0000FF"/>
                    </a:solidFill>
                  </a:rPr>
                  <a:t>2,1</a:t>
                </a:r>
                <a:r>
                  <a:rPr lang="zh-CN" altLang="en-US" sz="2400" dirty="0">
                    <a:solidFill>
                      <a:srgbClr val="0000FF"/>
                    </a:solidFill>
                  </a:rPr>
                  <a:t>。</a:t>
                </a:r>
                <a:endParaRPr lang="en-US" altLang="zh-CN" sz="2400" dirty="0">
                  <a:solidFill>
                    <a:srgbClr val="0000FF"/>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684213" y="1635635"/>
                <a:ext cx="7632848" cy="4642809"/>
              </a:xfrm>
              <a:prstGeom prst="rect">
                <a:avLst/>
              </a:prstGeom>
              <a:blipFill>
                <a:blip r:embed="rId4"/>
                <a:stretch>
                  <a:fillRect l="-1198" t="-1050" b="-1706"/>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1699224360"/>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755576" y="1968089"/>
                <a:ext cx="7831248" cy="1129476"/>
              </a:xfrm>
              <a:prstGeom prst="rect">
                <a:avLst/>
              </a:prstGeom>
              <a:solidFill>
                <a:schemeClr val="accent5"/>
              </a:solidFill>
              <a:ln w="19050">
                <a:noFill/>
              </a:ln>
            </p:spPr>
            <p:txBody>
              <a:bodyPr wrap="square" rtlCol="0">
                <a:spAutoFit/>
              </a:bodyPr>
              <a:lstStyle/>
              <a:p>
                <a:pPr>
                  <a:lnSpc>
                    <a:spcPct val="150000"/>
                  </a:lnSpc>
                </a:pPr>
                <a:r>
                  <a:rPr lang="en-US" altLang="zh-CN" sz="2400" dirty="0"/>
                  <a:t>   </a:t>
                </a:r>
                <a:r>
                  <a:rPr lang="zh-CN" altLang="zh-CN" sz="2400" b="1" dirty="0"/>
                  <a:t>【例题】</a:t>
                </a:r>
                <a:r>
                  <a:rPr lang="zh-CN" altLang="zh-CN" sz="2400" b="1" dirty="0">
                    <a:solidFill>
                      <a:schemeClr val="tx1"/>
                    </a:solidFill>
                  </a:rPr>
                  <a:t>如</a:t>
                </a:r>
                <a:r>
                  <a:rPr lang="zh-CN" altLang="en-US" sz="2400" b="1" dirty="0">
                    <a:solidFill>
                      <a:schemeClr val="tx1"/>
                    </a:solidFill>
                  </a:rPr>
                  <a:t>下图</a:t>
                </a:r>
                <a:r>
                  <a:rPr lang="zh-CN" altLang="zh-CN" sz="2400" b="1" dirty="0">
                    <a:solidFill>
                      <a:schemeClr val="tx1"/>
                    </a:solidFill>
                  </a:rPr>
                  <a:t>所示</a:t>
                </a:r>
                <a:r>
                  <a:rPr lang="zh-CN" altLang="zh-CN" sz="2400" dirty="0">
                    <a:solidFill>
                      <a:schemeClr val="tx1"/>
                    </a:solidFill>
                  </a:rPr>
                  <a:t>，判断图</a:t>
                </a:r>
                <a14:m>
                  <m:oMath xmlns:m="http://schemas.openxmlformats.org/officeDocument/2006/math">
                    <m:r>
                      <a:rPr lang="en-US" altLang="zh-CN" sz="2400" b="0" i="1">
                        <a:solidFill>
                          <a:schemeClr val="tx1"/>
                        </a:solidFill>
                        <a:latin typeface="Cambria Math" panose="02040503050406030204" pitchFamily="18" charset="0"/>
                      </a:rPr>
                      <m:t>𝐺</m:t>
                    </m:r>
                  </m:oMath>
                </a14:m>
                <a:r>
                  <a:rPr lang="zh-CN" altLang="zh-CN" sz="2400" dirty="0">
                    <a:solidFill>
                      <a:schemeClr val="tx1"/>
                    </a:solidFill>
                  </a:rPr>
                  <a:t>中结点间可达关系，并求任意两结点之间的距离。</a:t>
                </a:r>
                <a:endParaRPr lang="en-US" altLang="zh-CN" sz="2400" dirty="0">
                  <a:solidFill>
                    <a:srgbClr val="0000FF"/>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755576" y="1968089"/>
                <a:ext cx="7831248" cy="1129476"/>
              </a:xfrm>
              <a:prstGeom prst="rect">
                <a:avLst/>
              </a:prstGeom>
              <a:blipFill>
                <a:blip r:embed="rId4"/>
                <a:stretch>
                  <a:fillRect l="-1245" b="-10270"/>
                </a:stretch>
              </a:blipFill>
              <a:ln w="19050">
                <a:noFill/>
              </a:ln>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2267744" y="3368758"/>
            <a:ext cx="4680520" cy="2803997"/>
          </a:xfrm>
          <a:prstGeom prst="rect">
            <a:avLst/>
          </a:prstGeom>
        </p:spPr>
      </p:pic>
    </p:spTree>
    <p:extLst>
      <p:ext uri="{BB962C8B-B14F-4D97-AF65-F5344CB8AC3E}">
        <p14:creationId xmlns:p14="http://schemas.microsoft.com/office/powerpoint/2010/main" val="4143087703"/>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17764" y="1909085"/>
                <a:ext cx="8508472" cy="575479"/>
              </a:xfrm>
              <a:prstGeom prst="rect">
                <a:avLst/>
              </a:prstGeom>
              <a:solidFill>
                <a:schemeClr val="accent5"/>
              </a:solidFill>
              <a:ln w="19050">
                <a:noFill/>
              </a:ln>
            </p:spPr>
            <p:txBody>
              <a:bodyPr wrap="square" rtlCol="0">
                <a:spAutoFit/>
              </a:bodyPr>
              <a:lstStyle/>
              <a:p>
                <a:pPr>
                  <a:lnSpc>
                    <a:spcPct val="150000"/>
                  </a:lnSpc>
                  <a:spcAft>
                    <a:spcPts val="1200"/>
                  </a:spcAft>
                </a:pPr>
                <a:r>
                  <a:rPr lang="zh-CN" altLang="zh-CN" sz="2400" dirty="0">
                    <a:solidFill>
                      <a:schemeClr val="accent2"/>
                    </a:solidFill>
                  </a:rPr>
                  <a:t>【解】</a:t>
                </a:r>
                <a:r>
                  <a:rPr lang="zh-CN" altLang="zh-CN" sz="2400" b="1" dirty="0">
                    <a:solidFill>
                      <a:schemeClr val="tx1"/>
                    </a:solidFill>
                  </a:rPr>
                  <a:t>先写图</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的邻接矩阵</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𝑨</m:t>
                        </m:r>
                      </m:e>
                      <m:sub>
                        <m:r>
                          <a:rPr lang="en-US" altLang="zh-CN" sz="2400" b="1" i="1">
                            <a:solidFill>
                              <a:schemeClr val="tx1"/>
                            </a:solidFill>
                            <a:latin typeface="Cambria Math" panose="02040503050406030204" pitchFamily="18" charset="0"/>
                          </a:rPr>
                          <m:t>𝑮</m:t>
                        </m:r>
                      </m:sub>
                    </m:sSub>
                    <m:r>
                      <a:rPr lang="en-US" altLang="zh-CN" sz="2400" b="1" i="1">
                        <a:solidFill>
                          <a:schemeClr val="tx1"/>
                        </a:solidFill>
                        <a:latin typeface="Cambria Math" panose="02040503050406030204" pitchFamily="18" charset="0"/>
                      </a:rPr>
                      <m:t> </m:t>
                    </m:r>
                  </m:oMath>
                </a14:m>
                <a:r>
                  <a:rPr lang="zh-CN" altLang="en-US" sz="2400" b="1" dirty="0">
                    <a:solidFill>
                      <a:schemeClr val="tx1"/>
                    </a:solidFill>
                  </a:rPr>
                  <a:t>，</a:t>
                </a:r>
                <a:r>
                  <a:rPr lang="zh-CN" altLang="zh-CN" sz="2400" b="1" dirty="0">
                    <a:solidFill>
                      <a:schemeClr val="tx1"/>
                    </a:solidFill>
                  </a:rPr>
                  <a:t>然后计算</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𝑨</m:t>
                    </m:r>
                    <m:r>
                      <a:rPr lang="en-US" altLang="zh-CN" sz="2400" b="1">
                        <a:solidFill>
                          <a:schemeClr val="tx1"/>
                        </a:solidFill>
                        <a:latin typeface="Cambria Math" panose="02040503050406030204" pitchFamily="18" charset="0"/>
                      </a:rPr>
                      <m:t> </m:t>
                    </m:r>
                  </m:oMath>
                </a14:m>
                <a:r>
                  <a:rPr lang="zh-CN" altLang="zh-CN" sz="2400" b="1" dirty="0">
                    <a:solidFill>
                      <a:schemeClr val="tx1"/>
                    </a:solidFill>
                  </a:rPr>
                  <a:t>的若干幂即可</a:t>
                </a:r>
                <a:r>
                  <a:rPr lang="zh-CN" altLang="en-US" sz="2400" b="1" dirty="0">
                    <a:solidFill>
                      <a:schemeClr val="tx1"/>
                    </a:solidFill>
                  </a:rPr>
                  <a:t>。</a:t>
                </a:r>
                <a:endParaRPr lang="en-US" altLang="zh-CN" sz="1600" b="1" dirty="0">
                  <a:solidFill>
                    <a:srgbClr val="800080"/>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17764" y="1909085"/>
                <a:ext cx="8508472" cy="575479"/>
              </a:xfrm>
              <a:prstGeom prst="rect">
                <a:avLst/>
              </a:prstGeom>
              <a:blipFill>
                <a:blip r:embed="rId4"/>
                <a:stretch>
                  <a:fillRect l="-1074" b="-20000"/>
                </a:stretch>
              </a:blipFill>
              <a:ln w="19050">
                <a:noFill/>
              </a:ln>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D6C3A7EE-1317-41CB-B596-A8F22F06206E}"/>
              </a:ext>
            </a:extLst>
          </p:cNvPr>
          <p:cNvPicPr>
            <a:picLocks noChangeAspect="1"/>
          </p:cNvPicPr>
          <p:nvPr/>
        </p:nvPicPr>
        <p:blipFill>
          <a:blip r:embed="rId5"/>
          <a:stretch>
            <a:fillRect/>
          </a:stretch>
        </p:blipFill>
        <p:spPr>
          <a:xfrm>
            <a:off x="719894" y="2770231"/>
            <a:ext cx="7704211" cy="3373394"/>
          </a:xfrm>
          <a:prstGeom prst="rect">
            <a:avLst/>
          </a:prstGeom>
        </p:spPr>
      </p:pic>
    </p:spTree>
    <p:extLst>
      <p:ext uri="{BB962C8B-B14F-4D97-AF65-F5344CB8AC3E}">
        <p14:creationId xmlns:p14="http://schemas.microsoft.com/office/powerpoint/2010/main" val="2295651200"/>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179512" y="1556792"/>
                <a:ext cx="8820472" cy="4808176"/>
              </a:xfrm>
              <a:prstGeom prst="rect">
                <a:avLst/>
              </a:prstGeom>
              <a:solidFill>
                <a:schemeClr val="accent5"/>
              </a:solidFill>
              <a:ln w="19050">
                <a:noFill/>
              </a:ln>
            </p:spPr>
            <p:txBody>
              <a:bodyPr wrap="square" rtlCol="0">
                <a:spAutoFit/>
              </a:bodyPr>
              <a:lstStyle/>
              <a:p>
                <a:r>
                  <a:rPr lang="zh-CN" altLang="zh-CN" sz="2400" dirty="0">
                    <a:solidFill>
                      <a:schemeClr val="tx1"/>
                    </a:solidFill>
                  </a:rPr>
                  <a:t>【解】</a:t>
                </a:r>
                <a:r>
                  <a:rPr lang="zh-CN" altLang="en-US" sz="2400" dirty="0">
                    <a:solidFill>
                      <a:schemeClr val="tx1"/>
                    </a:solidFill>
                  </a:rPr>
                  <a:t>续</a:t>
                </a:r>
                <a:endParaRPr lang="en-US" altLang="zh-CN" sz="240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zh-CN" altLang="zh-CN" sz="2000" b="1" i="1" smtClean="0">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𝑩</m:t>
                          </m:r>
                        </m:e>
                        <m:sub>
                          <m:r>
                            <a:rPr lang="en-US" altLang="zh-CN" sz="2000" b="1" i="1">
                              <a:solidFill>
                                <a:schemeClr val="tx1"/>
                              </a:solidFill>
                              <a:latin typeface="Cambria Math" panose="02040503050406030204" pitchFamily="18" charset="0"/>
                            </a:rPr>
                            <m:t>𝟓</m:t>
                          </m:r>
                        </m:sub>
                      </m:sSub>
                      <m:r>
                        <a:rPr lang="en-US" altLang="zh-CN" sz="2000" b="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𝑨</m:t>
                      </m:r>
                      <m:r>
                        <a:rPr lang="en-US" altLang="zh-CN" sz="2000" b="1">
                          <a:solidFill>
                            <a:schemeClr val="tx1"/>
                          </a:solidFill>
                          <a:latin typeface="Cambria Math" panose="02040503050406030204" pitchFamily="18" charset="0"/>
                        </a:rPr>
                        <m:t>+</m:t>
                      </m:r>
                      <m:sSup>
                        <m:sSupPr>
                          <m:ctrlPr>
                            <a:rPr lang="zh-CN" altLang="zh-CN" sz="2000" b="1" i="1">
                              <a:solidFill>
                                <a:schemeClr val="tx1"/>
                              </a:solidFill>
                              <a:latin typeface="Cambria Math" panose="02040503050406030204" pitchFamily="18" charset="0"/>
                            </a:rPr>
                          </m:ctrlPr>
                        </m:sSupPr>
                        <m:e>
                          <m:r>
                            <a:rPr lang="en-US" altLang="zh-CN" sz="2000" b="1" i="1">
                              <a:solidFill>
                                <a:schemeClr val="tx1"/>
                              </a:solidFill>
                              <a:latin typeface="Cambria Math" panose="02040503050406030204" pitchFamily="18" charset="0"/>
                            </a:rPr>
                            <m:t>𝑨</m:t>
                          </m:r>
                        </m:e>
                        <m:sup>
                          <m:r>
                            <a:rPr lang="en-US" altLang="zh-CN" sz="2000" b="1" i="1">
                              <a:solidFill>
                                <a:schemeClr val="tx1"/>
                              </a:solidFill>
                              <a:latin typeface="Cambria Math" panose="02040503050406030204" pitchFamily="18" charset="0"/>
                            </a:rPr>
                            <m:t>𝟐</m:t>
                          </m:r>
                        </m:sup>
                      </m:sSup>
                      <m:r>
                        <a:rPr lang="en-US" altLang="zh-CN" sz="2000" b="1" i="1">
                          <a:solidFill>
                            <a:schemeClr val="tx1"/>
                          </a:solidFill>
                          <a:latin typeface="Cambria Math" panose="02040503050406030204" pitchFamily="18" charset="0"/>
                        </a:rPr>
                        <m:t>+</m:t>
                      </m:r>
                      <m:sSup>
                        <m:sSupPr>
                          <m:ctrlPr>
                            <a:rPr lang="zh-CN" altLang="zh-CN" sz="2000" b="1" i="1">
                              <a:solidFill>
                                <a:schemeClr val="tx1"/>
                              </a:solidFill>
                              <a:latin typeface="Cambria Math" panose="02040503050406030204" pitchFamily="18" charset="0"/>
                            </a:rPr>
                          </m:ctrlPr>
                        </m:sSupPr>
                        <m:e>
                          <m:r>
                            <a:rPr lang="en-US" altLang="zh-CN" sz="2000" b="1" i="1">
                              <a:solidFill>
                                <a:schemeClr val="tx1"/>
                              </a:solidFill>
                              <a:latin typeface="Cambria Math" panose="02040503050406030204" pitchFamily="18" charset="0"/>
                            </a:rPr>
                            <m:t>𝑨</m:t>
                          </m:r>
                        </m:e>
                        <m:sup>
                          <m:r>
                            <a:rPr lang="en-US" altLang="zh-CN" sz="2000" b="1" i="1">
                              <a:solidFill>
                                <a:schemeClr val="tx1"/>
                              </a:solidFill>
                              <a:latin typeface="Cambria Math" panose="02040503050406030204" pitchFamily="18" charset="0"/>
                            </a:rPr>
                            <m:t>𝟑</m:t>
                          </m:r>
                        </m:sup>
                      </m:sSup>
                      <m:r>
                        <a:rPr lang="en-US" altLang="zh-CN" sz="2000" b="1" i="1">
                          <a:solidFill>
                            <a:schemeClr val="tx1"/>
                          </a:solidFill>
                          <a:latin typeface="Cambria Math" panose="02040503050406030204" pitchFamily="18" charset="0"/>
                        </a:rPr>
                        <m:t>+</m:t>
                      </m:r>
                      <m:sSup>
                        <m:sSupPr>
                          <m:ctrlPr>
                            <a:rPr lang="zh-CN" altLang="zh-CN" sz="2000" b="1" i="1">
                              <a:solidFill>
                                <a:schemeClr val="tx1"/>
                              </a:solidFill>
                              <a:latin typeface="Cambria Math" panose="02040503050406030204" pitchFamily="18" charset="0"/>
                            </a:rPr>
                          </m:ctrlPr>
                        </m:sSupPr>
                        <m:e>
                          <m:r>
                            <a:rPr lang="en-US" altLang="zh-CN" sz="2000" b="1" i="1">
                              <a:solidFill>
                                <a:schemeClr val="tx1"/>
                              </a:solidFill>
                              <a:latin typeface="Cambria Math" panose="02040503050406030204" pitchFamily="18" charset="0"/>
                            </a:rPr>
                            <m:t>𝑨</m:t>
                          </m:r>
                        </m:e>
                        <m:sup>
                          <m:r>
                            <a:rPr lang="en-US" altLang="zh-CN" sz="2000" b="1" i="1">
                              <a:solidFill>
                                <a:schemeClr val="tx1"/>
                              </a:solidFill>
                              <a:latin typeface="Cambria Math" panose="02040503050406030204" pitchFamily="18" charset="0"/>
                            </a:rPr>
                            <m:t>𝟒</m:t>
                          </m:r>
                        </m:sup>
                      </m:sSup>
                      <m:r>
                        <a:rPr lang="en-US" altLang="zh-CN" sz="2000" b="1" i="1">
                          <a:solidFill>
                            <a:schemeClr val="tx1"/>
                          </a:solidFill>
                          <a:latin typeface="Cambria Math" panose="02040503050406030204" pitchFamily="18" charset="0"/>
                        </a:rPr>
                        <m:t>+</m:t>
                      </m:r>
                      <m:sSup>
                        <m:sSupPr>
                          <m:ctrlPr>
                            <a:rPr lang="zh-CN" altLang="zh-CN" sz="2000" b="1" i="1">
                              <a:solidFill>
                                <a:schemeClr val="tx1"/>
                              </a:solidFill>
                              <a:latin typeface="Cambria Math" panose="02040503050406030204" pitchFamily="18" charset="0"/>
                            </a:rPr>
                          </m:ctrlPr>
                        </m:sSupPr>
                        <m:e>
                          <m:r>
                            <a:rPr lang="en-US" altLang="zh-CN" sz="2000" b="1" i="1">
                              <a:solidFill>
                                <a:schemeClr val="tx1"/>
                              </a:solidFill>
                              <a:latin typeface="Cambria Math" panose="02040503050406030204" pitchFamily="18" charset="0"/>
                            </a:rPr>
                            <m:t>𝑨</m:t>
                          </m:r>
                        </m:e>
                        <m:sup>
                          <m:r>
                            <a:rPr lang="en-US" altLang="zh-CN" sz="2000" b="1" i="1">
                              <a:solidFill>
                                <a:schemeClr val="tx1"/>
                              </a:solidFill>
                              <a:latin typeface="Cambria Math" panose="02040503050406030204" pitchFamily="18" charset="0"/>
                            </a:rPr>
                            <m:t>𝟓</m:t>
                          </m:r>
                        </m:sup>
                      </m:sSup>
                      <m:r>
                        <a:rPr lang="en-US" altLang="zh-CN" sz="2000" b="1" i="1">
                          <a:solidFill>
                            <a:schemeClr val="tx1"/>
                          </a:solidFill>
                          <a:latin typeface="Cambria Math" panose="02040503050406030204" pitchFamily="18" charset="0"/>
                        </a:rPr>
                        <m:t>=</m:t>
                      </m:r>
                      <m:d>
                        <m:dPr>
                          <m:ctrlPr>
                            <a:rPr lang="zh-CN" altLang="zh-CN" sz="2000" b="1" i="1">
                              <a:solidFill>
                                <a:schemeClr val="tx1"/>
                              </a:solidFill>
                              <a:latin typeface="Cambria Math" panose="02040503050406030204" pitchFamily="18" charset="0"/>
                            </a:rPr>
                          </m:ctrlPr>
                        </m:dPr>
                        <m:e>
                          <m:m>
                            <m:mPr>
                              <m:mcs>
                                <m:mc>
                                  <m:mcPr>
                                    <m:count m:val="2"/>
                                    <m:mcJc m:val="center"/>
                                  </m:mcPr>
                                </m:mc>
                              </m:mcs>
                              <m:ctrlPr>
                                <a:rPr lang="zh-CN" altLang="zh-CN" sz="2000" b="1" i="1">
                                  <a:solidFill>
                                    <a:schemeClr val="tx1"/>
                                  </a:solidFill>
                                  <a:latin typeface="Cambria Math" panose="02040503050406030204" pitchFamily="18" charset="0"/>
                                </a:rPr>
                              </m:ctrlPr>
                            </m:mPr>
                            <m:mr>
                              <m:e>
                                <m:m>
                                  <m:mPr>
                                    <m:mcs>
                                      <m:mc>
                                        <m:mcPr>
                                          <m:count m:val="2"/>
                                          <m:mcJc m:val="center"/>
                                        </m:mcPr>
                                      </m:mc>
                                    </m:mcs>
                                    <m:ctrlPr>
                                      <a:rPr lang="zh-CN" altLang="zh-CN" sz="2000" b="1" i="1">
                                        <a:solidFill>
                                          <a:schemeClr val="tx1"/>
                                        </a:solidFill>
                                        <a:latin typeface="Cambria Math" panose="02040503050406030204" pitchFamily="18" charset="0"/>
                                      </a:rPr>
                                    </m:ctrlPr>
                                  </m:mPr>
                                  <m:mr>
                                    <m:e>
                                      <m:r>
                                        <a:rPr lang="en-US" altLang="zh-CN" sz="2000" b="1" i="1">
                                          <a:solidFill>
                                            <a:schemeClr val="tx1"/>
                                          </a:solidFill>
                                          <a:latin typeface="Cambria Math" panose="02040503050406030204" pitchFamily="18" charset="0"/>
                                        </a:rPr>
                                        <m:t>𝟎</m:t>
                                      </m:r>
                                    </m:e>
                                    <m:e>
                                      <m:r>
                                        <a:rPr lang="en-US" altLang="zh-CN" sz="2000" b="1" i="1">
                                          <a:solidFill>
                                            <a:schemeClr val="tx1"/>
                                          </a:solidFill>
                                          <a:latin typeface="Cambria Math" panose="02040503050406030204" pitchFamily="18" charset="0"/>
                                        </a:rPr>
                                        <m:t>𝟎</m:t>
                                      </m:r>
                                    </m:e>
                                  </m:mr>
                                  <m:mr>
                                    <m:e>
                                      <m:r>
                                        <a:rPr lang="en-US" altLang="zh-CN" sz="2000" b="1" i="1">
                                          <a:solidFill>
                                            <a:schemeClr val="tx1"/>
                                          </a:solidFill>
                                          <a:latin typeface="Cambria Math" panose="02040503050406030204" pitchFamily="18" charset="0"/>
                                        </a:rPr>
                                        <m:t>𝟎</m:t>
                                      </m:r>
                                    </m:e>
                                    <m:e>
                                      <m:r>
                                        <a:rPr lang="en-US" altLang="zh-CN" sz="2000" b="1" i="1">
                                          <a:solidFill>
                                            <a:schemeClr val="tx1"/>
                                          </a:solidFill>
                                          <a:latin typeface="Cambria Math" panose="02040503050406030204" pitchFamily="18" charset="0"/>
                                        </a:rPr>
                                        <m:t>𝟏</m:t>
                                      </m:r>
                                    </m:e>
                                  </m:mr>
                                </m:m>
                              </m:e>
                              <m:e>
                                <m:m>
                                  <m:mPr>
                                    <m:mcs>
                                      <m:mc>
                                        <m:mcPr>
                                          <m:count m:val="3"/>
                                          <m:mcJc m:val="center"/>
                                        </m:mcPr>
                                      </m:mc>
                                    </m:mcs>
                                    <m:ctrlPr>
                                      <a:rPr lang="zh-CN" altLang="zh-CN" sz="2000" b="1" i="1">
                                        <a:solidFill>
                                          <a:schemeClr val="tx1"/>
                                        </a:solidFill>
                                        <a:latin typeface="Cambria Math" panose="02040503050406030204" pitchFamily="18" charset="0"/>
                                      </a:rPr>
                                    </m:ctrlPr>
                                  </m:mPr>
                                  <m:mr>
                                    <m:e>
                                      <m:r>
                                        <a:rPr lang="en-US" altLang="zh-CN" sz="2000" b="1" i="1">
                                          <a:solidFill>
                                            <a:schemeClr val="tx1"/>
                                          </a:solidFill>
                                          <a:latin typeface="Cambria Math" panose="02040503050406030204" pitchFamily="18" charset="0"/>
                                        </a:rPr>
                                        <m:t>𝟎</m:t>
                                      </m:r>
                                    </m:e>
                                    <m:e>
                                      <m:r>
                                        <a:rPr lang="en-US" altLang="zh-CN" sz="2000" b="1" i="1">
                                          <a:solidFill>
                                            <a:schemeClr val="tx1"/>
                                          </a:solidFill>
                                          <a:latin typeface="Cambria Math" panose="02040503050406030204" pitchFamily="18" charset="0"/>
                                        </a:rPr>
                                        <m:t>𝟎</m:t>
                                      </m:r>
                                    </m:e>
                                    <m:e>
                                      <m:r>
                                        <a:rPr lang="en-US" altLang="zh-CN" sz="2000" b="1" i="1">
                                          <a:solidFill>
                                            <a:schemeClr val="tx1"/>
                                          </a:solidFill>
                                          <a:latin typeface="Cambria Math" panose="02040503050406030204" pitchFamily="18" charset="0"/>
                                        </a:rPr>
                                        <m:t>𝟎</m:t>
                                      </m:r>
                                    </m:e>
                                  </m:mr>
                                  <m:mr>
                                    <m:e>
                                      <m:r>
                                        <a:rPr lang="en-US" altLang="zh-CN" sz="2000" b="1" i="1">
                                          <a:solidFill>
                                            <a:schemeClr val="tx1"/>
                                          </a:solidFill>
                                          <a:latin typeface="Cambria Math" panose="02040503050406030204" pitchFamily="18" charset="0"/>
                                        </a:rPr>
                                        <m:t>𝟐</m:t>
                                      </m:r>
                                    </m:e>
                                    <m:e>
                                      <m:r>
                                        <a:rPr lang="en-US" altLang="zh-CN" sz="2000" b="1" i="1">
                                          <a:solidFill>
                                            <a:schemeClr val="tx1"/>
                                          </a:solidFill>
                                          <a:latin typeface="Cambria Math" panose="02040503050406030204" pitchFamily="18" charset="0"/>
                                        </a:rPr>
                                        <m:t>𝟐</m:t>
                                      </m:r>
                                    </m:e>
                                    <m:e>
                                      <m:r>
                                        <a:rPr lang="en-US" altLang="zh-CN" sz="2000" b="1" i="1">
                                          <a:solidFill>
                                            <a:schemeClr val="tx1"/>
                                          </a:solidFill>
                                          <a:latin typeface="Cambria Math" panose="02040503050406030204" pitchFamily="18" charset="0"/>
                                        </a:rPr>
                                        <m:t>𝟎</m:t>
                                      </m:r>
                                    </m:e>
                                  </m:mr>
                                </m:m>
                              </m:e>
                            </m:mr>
                            <m:mr>
                              <m:e>
                                <m:m>
                                  <m:mPr>
                                    <m:mcs>
                                      <m:mc>
                                        <m:mcPr>
                                          <m:count m:val="2"/>
                                          <m:mcJc m:val="center"/>
                                        </m:mcPr>
                                      </m:mc>
                                    </m:mcs>
                                    <m:ctrlPr>
                                      <a:rPr lang="zh-CN" altLang="zh-CN" sz="2000" b="1" i="1">
                                        <a:solidFill>
                                          <a:schemeClr val="tx1"/>
                                        </a:solidFill>
                                        <a:latin typeface="Cambria Math" panose="02040503050406030204" pitchFamily="18" charset="0"/>
                                      </a:rPr>
                                    </m:ctrlPr>
                                  </m:mPr>
                                  <m:mr>
                                    <m:e>
                                      <m:r>
                                        <a:rPr lang="en-US" altLang="zh-CN" sz="2000" b="1" i="1">
                                          <a:solidFill>
                                            <a:schemeClr val="tx1"/>
                                          </a:solidFill>
                                          <a:latin typeface="Cambria Math" panose="02040503050406030204" pitchFamily="18" charset="0"/>
                                        </a:rPr>
                                        <m:t>𝟎</m:t>
                                      </m:r>
                                    </m:e>
                                    <m:e>
                                      <m:r>
                                        <a:rPr lang="en-US" altLang="zh-CN" sz="2000" b="1" i="1">
                                          <a:solidFill>
                                            <a:schemeClr val="tx1"/>
                                          </a:solidFill>
                                          <a:latin typeface="Cambria Math" panose="02040503050406030204" pitchFamily="18" charset="0"/>
                                        </a:rPr>
                                        <m:t>𝟐</m:t>
                                      </m:r>
                                    </m:e>
                                  </m:mr>
                                  <m:mr>
                                    <m:e>
                                      <m:r>
                                        <a:rPr lang="en-US" altLang="zh-CN" sz="2000" b="1" i="1">
                                          <a:solidFill>
                                            <a:schemeClr val="tx1"/>
                                          </a:solidFill>
                                          <a:latin typeface="Cambria Math" panose="02040503050406030204" pitchFamily="18" charset="0"/>
                                        </a:rPr>
                                        <m:t>𝟎</m:t>
                                      </m:r>
                                    </m:e>
                                    <m:e>
                                      <m:r>
                                        <a:rPr lang="en-US" altLang="zh-CN" sz="2000" b="1" i="1">
                                          <a:solidFill>
                                            <a:schemeClr val="tx1"/>
                                          </a:solidFill>
                                          <a:latin typeface="Cambria Math" panose="02040503050406030204" pitchFamily="18" charset="0"/>
                                        </a:rPr>
                                        <m:t>𝟐</m:t>
                                      </m:r>
                                    </m:e>
                                  </m:mr>
                                  <m:mr>
                                    <m:e>
                                      <m:r>
                                        <a:rPr lang="en-US" altLang="zh-CN" sz="2000" b="1" i="1">
                                          <a:solidFill>
                                            <a:schemeClr val="tx1"/>
                                          </a:solidFill>
                                          <a:latin typeface="Cambria Math" panose="02040503050406030204" pitchFamily="18" charset="0"/>
                                        </a:rPr>
                                        <m:t>𝟎</m:t>
                                      </m:r>
                                    </m:e>
                                    <m:e>
                                      <m:r>
                                        <a:rPr lang="en-US" altLang="zh-CN" sz="2000" b="1" i="1">
                                          <a:solidFill>
                                            <a:schemeClr val="tx1"/>
                                          </a:solidFill>
                                          <a:latin typeface="Cambria Math" panose="02040503050406030204" pitchFamily="18" charset="0"/>
                                        </a:rPr>
                                        <m:t>𝟕</m:t>
                                      </m:r>
                                    </m:e>
                                  </m:mr>
                                </m:m>
                              </m:e>
                              <m:e>
                                <m:m>
                                  <m:mPr>
                                    <m:mcs>
                                      <m:mc>
                                        <m:mcPr>
                                          <m:count m:val="3"/>
                                          <m:mcJc m:val="center"/>
                                        </m:mcPr>
                                      </m:mc>
                                    </m:mcs>
                                    <m:ctrlPr>
                                      <a:rPr lang="zh-CN" altLang="zh-CN" sz="2000" b="1" i="1">
                                        <a:solidFill>
                                          <a:schemeClr val="tx1"/>
                                        </a:solidFill>
                                        <a:latin typeface="Cambria Math" panose="02040503050406030204" pitchFamily="18" charset="0"/>
                                      </a:rPr>
                                    </m:ctrlPr>
                                  </m:mPr>
                                  <m:mr>
                                    <m:e>
                                      <m:r>
                                        <a:rPr lang="en-US" altLang="zh-CN" sz="2000" b="1" i="1">
                                          <a:solidFill>
                                            <a:schemeClr val="tx1"/>
                                          </a:solidFill>
                                          <a:latin typeface="Cambria Math" panose="02040503050406030204" pitchFamily="18" charset="0"/>
                                        </a:rPr>
                                        <m:t>𝟏</m:t>
                                      </m:r>
                                    </m:e>
                                    <m:e>
                                      <m:r>
                                        <a:rPr lang="en-US" altLang="zh-CN" sz="2000" b="1" i="1">
                                          <a:solidFill>
                                            <a:schemeClr val="tx1"/>
                                          </a:solidFill>
                                          <a:latin typeface="Cambria Math" panose="02040503050406030204" pitchFamily="18" charset="0"/>
                                        </a:rPr>
                                        <m:t>𝟐</m:t>
                                      </m:r>
                                    </m:e>
                                    <m:e>
                                      <m:r>
                                        <a:rPr lang="en-US" altLang="zh-CN" sz="2000" b="1" i="1">
                                          <a:solidFill>
                                            <a:schemeClr val="tx1"/>
                                          </a:solidFill>
                                          <a:latin typeface="Cambria Math" panose="02040503050406030204" pitchFamily="18" charset="0"/>
                                        </a:rPr>
                                        <m:t>𝟎</m:t>
                                      </m:r>
                                    </m:e>
                                  </m:mr>
                                  <m:mr>
                                    <m:e>
                                      <m:r>
                                        <a:rPr lang="en-US" altLang="zh-CN" sz="2000" b="1" i="1">
                                          <a:solidFill>
                                            <a:schemeClr val="tx1"/>
                                          </a:solidFill>
                                          <a:latin typeface="Cambria Math" panose="02040503050406030204" pitchFamily="18" charset="0"/>
                                        </a:rPr>
                                        <m:t>𝟐</m:t>
                                      </m:r>
                                    </m:e>
                                    <m:e>
                                      <m:r>
                                        <a:rPr lang="en-US" altLang="zh-CN" sz="2000" b="1" i="1">
                                          <a:solidFill>
                                            <a:schemeClr val="tx1"/>
                                          </a:solidFill>
                                          <a:latin typeface="Cambria Math" panose="02040503050406030204" pitchFamily="18" charset="0"/>
                                        </a:rPr>
                                        <m:t>𝟏</m:t>
                                      </m:r>
                                    </m:e>
                                    <m:e>
                                      <m:r>
                                        <a:rPr lang="en-US" altLang="zh-CN" sz="2000" b="1" i="1">
                                          <a:solidFill>
                                            <a:schemeClr val="tx1"/>
                                          </a:solidFill>
                                          <a:latin typeface="Cambria Math" panose="02040503050406030204" pitchFamily="18" charset="0"/>
                                        </a:rPr>
                                        <m:t>𝟎</m:t>
                                      </m:r>
                                    </m:e>
                                  </m:mr>
                                  <m:mr>
                                    <m:e>
                                      <m:r>
                                        <a:rPr lang="en-US" altLang="zh-CN" sz="2000" b="1" i="1">
                                          <a:solidFill>
                                            <a:schemeClr val="tx1"/>
                                          </a:solidFill>
                                          <a:latin typeface="Cambria Math" panose="02040503050406030204" pitchFamily="18" charset="0"/>
                                        </a:rPr>
                                        <m:t>𝟑</m:t>
                                      </m:r>
                                    </m:e>
                                    <m:e>
                                      <m:r>
                                        <a:rPr lang="en-US" altLang="zh-CN" sz="2000" b="1" i="1">
                                          <a:solidFill>
                                            <a:schemeClr val="tx1"/>
                                          </a:solidFill>
                                          <a:latin typeface="Cambria Math" panose="02040503050406030204" pitchFamily="18" charset="0"/>
                                        </a:rPr>
                                        <m:t>𝟓</m:t>
                                      </m:r>
                                    </m:e>
                                    <m:e>
                                      <m:r>
                                        <a:rPr lang="en-US" altLang="zh-CN" sz="2000" b="1" i="1">
                                          <a:solidFill>
                                            <a:schemeClr val="tx1"/>
                                          </a:solidFill>
                                          <a:latin typeface="Cambria Math" panose="02040503050406030204" pitchFamily="18" charset="0"/>
                                        </a:rPr>
                                        <m:t>𝟓</m:t>
                                      </m:r>
                                    </m:e>
                                  </m:mr>
                                </m:m>
                              </m:e>
                            </m:mr>
                          </m:m>
                        </m:e>
                      </m:d>
                    </m:oMath>
                  </m:oMathPara>
                </a14:m>
                <a:endParaRPr lang="zh-CN" altLang="zh-CN" sz="2000" b="1" dirty="0">
                  <a:solidFill>
                    <a:schemeClr val="tx1"/>
                  </a:solidFill>
                </a:endParaRPr>
              </a:p>
              <a:p>
                <a:pPr>
                  <a:lnSpc>
                    <a:spcPts val="3500"/>
                  </a:lnSpc>
                </a:pPr>
                <a:r>
                  <a:rPr lang="zh-CN" altLang="en-US" sz="2000" b="1" dirty="0">
                    <a:solidFill>
                      <a:schemeClr val="tx1"/>
                    </a:solidFill>
                  </a:rPr>
                  <a:t>根据可达关系的定义，每个结点与其自身可达，且有：</a:t>
                </a:r>
                <a:endParaRPr lang="en-US" altLang="zh-CN" sz="2000" b="1" dirty="0">
                  <a:solidFill>
                    <a:schemeClr val="tx1"/>
                  </a:solidFill>
                </a:endParaRPr>
              </a:p>
              <a:p>
                <a:pPr algn="ctr">
                  <a:lnSpc>
                    <a:spcPts val="3500"/>
                  </a:lnSpc>
                </a:pPr>
                <a14:m>
                  <m:oMath xmlns:m="http://schemas.openxmlformats.org/officeDocument/2006/math">
                    <m:r>
                      <a:rPr lang="en-US" altLang="zh-CN" sz="2000" b="1" i="1" smtClean="0">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𝟏</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𝟏</m:t>
                            </m:r>
                          </m:sub>
                        </m:sSub>
                      </m:e>
                    </m:d>
                    <m:r>
                      <a:rPr lang="en-US" altLang="zh-CN" sz="2000" b="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smtClean="0">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𝟐</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𝟐</m:t>
                            </m:r>
                          </m:sub>
                        </m:sSub>
                      </m:e>
                    </m:d>
                    <m:r>
                      <a:rPr lang="en-US" altLang="zh-CN" sz="2000" b="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𝟑</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𝟑</m:t>
                            </m:r>
                          </m:sub>
                        </m:sSub>
                      </m:e>
                    </m:d>
                    <m:r>
                      <a:rPr lang="en-US" altLang="zh-CN" sz="2000" b="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𝟒</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𝟒</m:t>
                            </m:r>
                          </m:sub>
                        </m:sSub>
                      </m:e>
                    </m:d>
                    <m:r>
                      <a:rPr lang="en-US" altLang="zh-CN" sz="2000" b="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𝟓</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𝟓</m:t>
                            </m:r>
                          </m:sub>
                        </m:sSub>
                      </m:e>
                    </m:d>
                    <m:r>
                      <a:rPr lang="en-US" altLang="zh-CN" sz="2000" b="1">
                        <a:solidFill>
                          <a:srgbClr val="0000FF"/>
                        </a:solidFill>
                        <a:latin typeface="Cambria Math" panose="02040503050406030204" pitchFamily="18" charset="0"/>
                      </a:rPr>
                      <m:t>=</m:t>
                    </m:r>
                  </m:oMath>
                </a14:m>
                <a:r>
                  <a:rPr lang="en-US" altLang="zh-CN" sz="2000" b="1" dirty="0">
                    <a:solidFill>
                      <a:srgbClr val="0000FF"/>
                    </a:solidFill>
                  </a:rPr>
                  <a:t>0</a:t>
                </a:r>
              </a:p>
              <a:p>
                <a:pPr>
                  <a:lnSpc>
                    <a:spcPts val="3500"/>
                  </a:lnSpc>
                </a:pPr>
                <a:r>
                  <a:rPr lang="zh-CN" altLang="zh-CN" sz="2000" b="1" dirty="0">
                    <a:solidFill>
                      <a:schemeClr val="tx1"/>
                    </a:solidFill>
                  </a:rPr>
                  <a:t>根据邻接矩阵各次幂</a:t>
                </a:r>
                <a:r>
                  <a:rPr lang="zh-CN" altLang="en-US" sz="2000" b="1" dirty="0">
                    <a:solidFill>
                      <a:schemeClr val="tx1"/>
                    </a:solidFill>
                  </a:rPr>
                  <a:t>的元素值</a:t>
                </a:r>
                <a:r>
                  <a:rPr lang="en-US" altLang="zh-CN" sz="2000" b="1" dirty="0">
                    <a:solidFill>
                      <a:schemeClr val="tx1"/>
                    </a:solidFill>
                  </a:rPr>
                  <a:t> </a:t>
                </a:r>
                <a:r>
                  <a:rPr lang="zh-CN" altLang="zh-CN" sz="2000" b="1" dirty="0">
                    <a:solidFill>
                      <a:schemeClr val="tx1"/>
                    </a:solidFill>
                  </a:rPr>
                  <a:t>，可得到如下任意结点间的距离：</a:t>
                </a:r>
              </a:p>
              <a:p>
                <a:pPr/>
                <a14:m>
                  <m:oMathPara xmlns:m="http://schemas.openxmlformats.org/officeDocument/2006/math">
                    <m:oMathParaPr>
                      <m:jc m:val="centerGroup"/>
                    </m:oMathParaPr>
                    <m:oMath xmlns:m="http://schemas.openxmlformats.org/officeDocument/2006/math">
                      <m:r>
                        <a:rPr lang="en-US" altLang="zh-CN" sz="2000" b="1" i="1" smtClean="0">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𝟑</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𝟐</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𝟐</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𝟒</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𝟓</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𝟐</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𝟒</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𝟑</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𝟏</m:t>
                      </m:r>
                    </m:oMath>
                  </m:oMathPara>
                </a14:m>
                <a:endParaRPr lang="zh-CN" altLang="zh-CN" sz="2000" b="1" dirty="0">
                  <a:solidFill>
                    <a:srgbClr val="0000FF"/>
                  </a:solidFill>
                </a:endParaRPr>
              </a:p>
              <a:p>
                <a:pPr algn="ctr"/>
                <a:r>
                  <a:rPr lang="en-US" altLang="zh-CN" sz="2000" b="1" dirty="0">
                    <a:solidFill>
                      <a:srgbClr val="0000FF"/>
                    </a:solidFill>
                  </a:rPr>
                  <a:t> </a:t>
                </a:r>
                <a14:m>
                  <m:oMath xmlns:m="http://schemas.openxmlformats.org/officeDocument/2006/math">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𝟒</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𝟐</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𝟐</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𝟑</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𝟑</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𝟒</m:t>
                            </m:r>
                          </m:sub>
                        </m:sSub>
                      </m:e>
                    </m:d>
                    <m:r>
                      <a:rPr lang="en-US" altLang="zh-CN" sz="2000" b="1" i="1">
                        <a:solidFill>
                          <a:srgbClr val="0000FF"/>
                        </a:solidFill>
                        <a:latin typeface="Cambria Math" panose="02040503050406030204" pitchFamily="18" charset="0"/>
                      </a:rPr>
                      <m:t>=</m:t>
                    </m:r>
                    <m:r>
                      <a:rPr lang="en-US" altLang="zh-CN" sz="2000" b="1" i="1" smtClean="0">
                        <a:solidFill>
                          <a:srgbClr val="0000FF"/>
                        </a:solidFill>
                        <a:latin typeface="Cambria Math" panose="02040503050406030204" pitchFamily="18" charset="0"/>
                      </a:rPr>
                      <m:t>𝟐</m:t>
                    </m:r>
                  </m:oMath>
                </a14:m>
                <a:r>
                  <a:rPr lang="zh-CN" altLang="en-US" sz="2000" b="1" i="1" dirty="0">
                    <a:solidFill>
                      <a:srgbClr val="0000FF"/>
                    </a:solidFill>
                    <a:latin typeface="Cambria Math" panose="02040503050406030204" pitchFamily="18" charset="0"/>
                  </a:rPr>
                  <a:t>；</a:t>
                </a:r>
                <a14:m>
                  <m:oMath xmlns:m="http://schemas.openxmlformats.org/officeDocument/2006/math">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𝟓</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𝟑</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𝟓</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𝟒</m:t>
                            </m:r>
                          </m:sub>
                        </m:sSub>
                      </m:e>
                    </m:d>
                    <m:r>
                      <a:rPr lang="en-US" altLang="zh-CN" sz="2000" b="1" i="1">
                        <a:solidFill>
                          <a:srgbClr val="0000FF"/>
                        </a:solidFill>
                        <a:latin typeface="Cambria Math" panose="02040503050406030204" pitchFamily="18" charset="0"/>
                      </a:rPr>
                      <m:t>=</m:t>
                    </m:r>
                    <m:r>
                      <a:rPr lang="en-US" altLang="zh-CN" sz="2000" b="1" i="1" smtClean="0">
                        <a:solidFill>
                          <a:srgbClr val="0000FF"/>
                        </a:solidFill>
                        <a:latin typeface="Cambria Math" panose="02040503050406030204" pitchFamily="18" charset="0"/>
                      </a:rPr>
                      <m:t>𝟑</m:t>
                    </m:r>
                  </m:oMath>
                </a14:m>
                <a:endParaRPr lang="zh-CN" altLang="zh-CN" sz="2000" b="1" dirty="0">
                  <a:solidFill>
                    <a:srgbClr val="0000FF"/>
                  </a:solidFill>
                </a:endParaRPr>
              </a:p>
              <a:p>
                <a:pPr algn="ctr"/>
                <a:r>
                  <a:rPr lang="en-US" altLang="zh-CN" sz="2000" b="1" dirty="0">
                    <a:solidFill>
                      <a:srgbClr val="0000FF"/>
                    </a:solidFill>
                  </a:rPr>
                  <a:t> </a:t>
                </a:r>
                <a14:m>
                  <m:oMath xmlns:m="http://schemas.openxmlformats.org/officeDocument/2006/math">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𝟏</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𝟐</m:t>
                            </m:r>
                          </m:sub>
                        </m:sSub>
                      </m:e>
                    </m:d>
                    <m:r>
                      <a:rPr lang="en-US" altLang="zh-CN" sz="2000" b="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𝟏</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𝟑</m:t>
                            </m:r>
                          </m:sub>
                        </m:sSub>
                      </m:e>
                    </m:d>
                    <m:r>
                      <a:rPr lang="en-US" altLang="zh-CN" sz="2000" b="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𝟏</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𝟒</m:t>
                            </m:r>
                          </m:sub>
                        </m:sSub>
                      </m:e>
                    </m:d>
                    <m:r>
                      <a:rPr lang="en-US" altLang="zh-CN" sz="2000" b="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𝟏</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𝟓</m:t>
                            </m:r>
                          </m:sub>
                        </m:sSub>
                      </m:e>
                    </m:d>
                    <m:r>
                      <a:rPr lang="en-US" altLang="zh-CN" sz="2000" b="1" i="1">
                        <a:solidFill>
                          <a:srgbClr val="0000FF"/>
                        </a:solidFill>
                        <a:latin typeface="Cambria Math" panose="02040503050406030204" pitchFamily="18" charset="0"/>
                      </a:rPr>
                      <m:t>=∞</m:t>
                    </m:r>
                  </m:oMath>
                </a14:m>
                <a:endParaRPr lang="zh-CN" altLang="zh-CN" sz="2000" b="1" dirty="0">
                  <a:solidFill>
                    <a:srgbClr val="0000FF"/>
                  </a:solidFill>
                </a:endParaRPr>
              </a:p>
              <a:p>
                <a:pPr algn="ctr"/>
                <a:r>
                  <a:rPr lang="en-US" altLang="zh-CN" sz="2000" b="1" dirty="0">
                    <a:solidFill>
                      <a:srgbClr val="0000FF"/>
                    </a:solidFill>
                  </a:rPr>
                  <a:t> </a:t>
                </a:r>
                <a14:m>
                  <m:oMath xmlns:m="http://schemas.openxmlformats.org/officeDocument/2006/math">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𝟐</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𝟏</m:t>
                            </m:r>
                          </m:sub>
                        </m:sSub>
                      </m:e>
                    </m:d>
                    <m:r>
                      <a:rPr lang="en-US" altLang="zh-CN" sz="2000" b="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𝟑</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𝟏</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𝟒</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𝟏</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𝟓</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𝟏</m:t>
                            </m:r>
                          </m:sub>
                        </m:sSub>
                      </m:e>
                    </m:d>
                    <m:r>
                      <a:rPr lang="en-US" altLang="zh-CN" sz="2000" b="1" i="1">
                        <a:solidFill>
                          <a:srgbClr val="0000FF"/>
                        </a:solidFill>
                        <a:latin typeface="Cambria Math" panose="02040503050406030204" pitchFamily="18" charset="0"/>
                      </a:rPr>
                      <m:t>=∞</m:t>
                    </m:r>
                  </m:oMath>
                </a14:m>
                <a:endParaRPr lang="en-US" altLang="zh-CN" sz="2000" b="1" dirty="0">
                  <a:solidFill>
                    <a:srgbClr val="0000FF"/>
                  </a:solidFill>
                </a:endParaRPr>
              </a:p>
              <a:p>
                <a:pPr algn="ctr"/>
                <a:r>
                  <a:rPr lang="en-US" altLang="zh-CN" sz="2000" b="1" dirty="0">
                    <a:solidFill>
                      <a:srgbClr val="0000FF"/>
                    </a:solidFill>
                  </a:rPr>
                  <a:t> </a:t>
                </a:r>
                <a14:m>
                  <m:oMath xmlns:m="http://schemas.openxmlformats.org/officeDocument/2006/math">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𝟑</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𝟑</m:t>
                            </m:r>
                          </m:sub>
                        </m:sSub>
                      </m:e>
                    </m:d>
                    <m:r>
                      <a:rPr lang="en-US" altLang="zh-CN" sz="2000" b="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𝟒</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𝟓</m:t>
                            </m:r>
                          </m:sub>
                        </m:sSub>
                      </m:e>
                    </m:d>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smtClean="0">
                                <a:solidFill>
                                  <a:srgbClr val="0000FF"/>
                                </a:solidFill>
                                <a:latin typeface="Cambria Math" panose="02040503050406030204" pitchFamily="18" charset="0"/>
                              </a:rPr>
                              <m:t>𝟐</m:t>
                            </m:r>
                          </m:sub>
                        </m:sSub>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𝒗</m:t>
                            </m:r>
                          </m:e>
                          <m:sub>
                            <m:r>
                              <a:rPr lang="en-US" altLang="zh-CN" sz="2000" b="1" i="1">
                                <a:solidFill>
                                  <a:srgbClr val="0000FF"/>
                                </a:solidFill>
                                <a:latin typeface="Cambria Math" panose="02040503050406030204" pitchFamily="18" charset="0"/>
                              </a:rPr>
                              <m:t>𝟓</m:t>
                            </m:r>
                          </m:sub>
                        </m:sSub>
                      </m:e>
                    </m:d>
                    <m:r>
                      <a:rPr lang="en-US" altLang="zh-CN" sz="2000" b="1" i="1">
                        <a:solidFill>
                          <a:srgbClr val="0000FF"/>
                        </a:solidFill>
                        <a:latin typeface="Cambria Math" panose="02040503050406030204" pitchFamily="18" charset="0"/>
                      </a:rPr>
                      <m:t>=</m:t>
                    </m:r>
                    <m:r>
                      <a:rPr lang="en-US" altLang="zh-CN" sz="2000" b="1" i="1" smtClean="0">
                        <a:solidFill>
                          <a:srgbClr val="0000FF"/>
                        </a:solidFill>
                        <a:latin typeface="Cambria Math" panose="02040503050406030204" pitchFamily="18" charset="0"/>
                      </a:rPr>
                      <m:t>∞</m:t>
                    </m:r>
                  </m:oMath>
                </a14:m>
                <a:r>
                  <a:rPr lang="en-US" altLang="zh-CN" sz="2000" b="1" dirty="0">
                    <a:solidFill>
                      <a:srgbClr val="0000FF"/>
                    </a:solidFill>
                  </a:rPr>
                  <a:t> </a:t>
                </a:r>
                <a:endParaRPr lang="zh-CN" altLang="zh-CN" sz="2000" b="1" dirty="0">
                  <a:solidFill>
                    <a:srgbClr val="0000FF"/>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179512" y="1556792"/>
                <a:ext cx="8820472" cy="4808176"/>
              </a:xfrm>
              <a:prstGeom prst="rect">
                <a:avLst/>
              </a:prstGeom>
              <a:blipFill>
                <a:blip r:embed="rId4"/>
                <a:stretch>
                  <a:fillRect l="-1037" t="-1014"/>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364044683"/>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日期占位符 4"/>
          <p:cNvSpPr txBox="1">
            <a:spLocks noGrp="1"/>
          </p:cNvSpPr>
          <p:nvPr/>
        </p:nvSpPr>
        <p:spPr bwMode="auto">
          <a:xfrm>
            <a:off x="250825" y="6405563"/>
            <a:ext cx="15128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31ACF7C8-2DFB-4ABA-8D30-6DEC9DDCA790}"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pic>
        <p:nvPicPr>
          <p:cNvPr id="15769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0" name="Text Box 2"/>
          <p:cNvSpPr txBox="1">
            <a:spLocks noChangeArrowheads="1"/>
          </p:cNvSpPr>
          <p:nvPr/>
        </p:nvSpPr>
        <p:spPr bwMode="auto">
          <a:xfrm>
            <a:off x="1403350" y="836613"/>
            <a:ext cx="6408738"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可达性矩阵定义</a:t>
            </a:r>
          </a:p>
        </p:txBody>
      </p:sp>
      <mc:AlternateContent xmlns:mc="http://schemas.openxmlformats.org/markup-compatibility/2006" xmlns:a14="http://schemas.microsoft.com/office/drawing/2010/main">
        <mc:Choice Requires="a14">
          <p:sp>
            <p:nvSpPr>
              <p:cNvPr id="2" name="文本框 1"/>
              <p:cNvSpPr txBox="1"/>
              <p:nvPr/>
            </p:nvSpPr>
            <p:spPr>
              <a:xfrm>
                <a:off x="467544" y="2060848"/>
                <a:ext cx="8497639" cy="3944285"/>
              </a:xfrm>
              <a:prstGeom prst="rect">
                <a:avLst/>
              </a:prstGeom>
              <a:solidFill>
                <a:schemeClr val="accent6">
                  <a:lumMod val="75000"/>
                </a:schemeClr>
              </a:solidFill>
              <a:ln w="19050">
                <a:noFill/>
              </a:ln>
            </p:spPr>
            <p:txBody>
              <a:bodyPr wrap="square" rtlCol="0">
                <a:spAutoFit/>
              </a:bodyPr>
              <a:lstStyle/>
              <a:p>
                <a:pPr>
                  <a:lnSpc>
                    <a:spcPct val="150000"/>
                  </a:lnSpc>
                  <a:spcAft>
                    <a:spcPts val="1200"/>
                  </a:spcAft>
                </a:pPr>
                <a:r>
                  <a:rPr lang="en-US" altLang="zh-CN" sz="2400" dirty="0">
                    <a:solidFill>
                      <a:schemeClr val="tx1"/>
                    </a:solidFill>
                  </a:rPr>
                  <a:t>     </a:t>
                </a:r>
                <a:r>
                  <a:rPr lang="zh-CN" altLang="zh-CN" sz="2800" b="1" dirty="0">
                    <a:solidFill>
                      <a:schemeClr val="bg1"/>
                    </a:solidFill>
                  </a:rPr>
                  <a:t>设</a:t>
                </a:r>
                <a14:m>
                  <m:oMath xmlns:m="http://schemas.openxmlformats.org/officeDocument/2006/math">
                    <m:r>
                      <a:rPr lang="zh-CN" altLang="zh-CN" sz="2800" b="1">
                        <a:solidFill>
                          <a:schemeClr val="bg1"/>
                        </a:solidFill>
                        <a:latin typeface="Cambria Math" panose="02040503050406030204" pitchFamily="18" charset="0"/>
                      </a:rPr>
                      <m:t> </m:t>
                    </m:r>
                    <m:r>
                      <a:rPr lang="en-US" altLang="zh-CN" sz="2800" b="1" i="1">
                        <a:solidFill>
                          <a:schemeClr val="bg1"/>
                        </a:solidFill>
                        <a:latin typeface="Cambria Math" panose="02040503050406030204" pitchFamily="18" charset="0"/>
                      </a:rPr>
                      <m:t>𝑮</m:t>
                    </m:r>
                    <m:r>
                      <a:rPr lang="en-US" altLang="zh-CN" sz="2800" b="1" i="1">
                        <a:solidFill>
                          <a:schemeClr val="bg1"/>
                        </a:solidFill>
                        <a:latin typeface="Cambria Math" panose="02040503050406030204" pitchFamily="18" charset="0"/>
                      </a:rPr>
                      <m:t>=</m:t>
                    </m:r>
                    <m:d>
                      <m:dPr>
                        <m:begChr m:val="〈"/>
                        <m:endChr m:val="〉"/>
                        <m:ctrlPr>
                          <a:rPr lang="zh-CN" altLang="zh-CN" sz="2800" b="1" i="1">
                            <a:solidFill>
                              <a:schemeClr val="bg1"/>
                            </a:solidFill>
                            <a:latin typeface="Cambria Math" panose="02040503050406030204" pitchFamily="18" charset="0"/>
                          </a:rPr>
                        </m:ctrlPr>
                      </m:dPr>
                      <m:e>
                        <m:r>
                          <a:rPr lang="en-US" altLang="zh-CN" sz="2800" b="1" i="1">
                            <a:solidFill>
                              <a:schemeClr val="bg1"/>
                            </a:solidFill>
                            <a:latin typeface="Cambria Math" panose="02040503050406030204" pitchFamily="18" charset="0"/>
                          </a:rPr>
                          <m:t>𝑽</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𝑬</m:t>
                        </m:r>
                      </m:e>
                    </m:d>
                    <m:r>
                      <a:rPr lang="en-US" altLang="zh-CN" sz="2800" b="1" i="1">
                        <a:solidFill>
                          <a:schemeClr val="bg1"/>
                        </a:solidFill>
                        <a:latin typeface="Cambria Math" panose="02040503050406030204" pitchFamily="18" charset="0"/>
                      </a:rPr>
                      <m:t> </m:t>
                    </m:r>
                  </m:oMath>
                </a14:m>
                <a:r>
                  <a:rPr lang="zh-CN" altLang="en-US" sz="2800" b="1" dirty="0">
                    <a:solidFill>
                      <a:schemeClr val="bg1"/>
                    </a:solidFill>
                  </a:rPr>
                  <a:t>，</a:t>
                </a:r>
                <a14:m>
                  <m:oMath xmlns:m="http://schemas.openxmlformats.org/officeDocument/2006/math">
                    <m:r>
                      <a:rPr lang="zh-CN" altLang="zh-CN" sz="2800" b="1">
                        <a:solidFill>
                          <a:schemeClr val="bg1"/>
                        </a:solidFill>
                        <a:latin typeface="Cambria Math" panose="02040503050406030204" pitchFamily="18" charset="0"/>
                      </a:rPr>
                      <m:t> </m:t>
                    </m:r>
                    <m:r>
                      <a:rPr lang="en-US" altLang="zh-CN" sz="2800" b="1" i="1">
                        <a:solidFill>
                          <a:schemeClr val="bg1"/>
                        </a:solidFill>
                        <a:latin typeface="Cambria Math" panose="02040503050406030204" pitchFamily="18" charset="0"/>
                      </a:rPr>
                      <m:t>𝑽</m:t>
                    </m:r>
                    <m:r>
                      <a:rPr lang="en-US" altLang="zh-CN" sz="2800" b="1" i="1">
                        <a:solidFill>
                          <a:schemeClr val="bg1"/>
                        </a:solidFill>
                        <a:latin typeface="Cambria Math" panose="02040503050406030204" pitchFamily="18" charset="0"/>
                      </a:rPr>
                      <m:t>=</m:t>
                    </m:r>
                    <m:d>
                      <m:dPr>
                        <m:begChr m:val="{"/>
                        <m:endChr m:val="}"/>
                        <m:ctrlPr>
                          <a:rPr lang="zh-CN" altLang="zh-CN" sz="2800" b="1" i="1">
                            <a:solidFill>
                              <a:schemeClr val="bg1"/>
                            </a:solidFill>
                            <a:latin typeface="Cambria Math" panose="02040503050406030204" pitchFamily="18" charset="0"/>
                          </a:rPr>
                        </m:ctrlPr>
                      </m:dPr>
                      <m:e>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panose="02040503050406030204" pitchFamily="18" charset="0"/>
                              </a:rPr>
                              <m:t>𝒗</m:t>
                            </m:r>
                          </m:e>
                          <m:sub>
                            <m:r>
                              <a:rPr lang="en-US" altLang="zh-CN" sz="2800" b="1" i="1">
                                <a:solidFill>
                                  <a:schemeClr val="bg1"/>
                                </a:solidFill>
                                <a:latin typeface="Cambria Math" panose="02040503050406030204" pitchFamily="18" charset="0"/>
                              </a:rPr>
                              <m:t>𝟏</m:t>
                            </m:r>
                          </m:sub>
                        </m:sSub>
                        <m:r>
                          <a:rPr lang="en-US" altLang="zh-CN" sz="2800" b="1" i="1">
                            <a:solidFill>
                              <a:schemeClr val="bg1"/>
                            </a:solidFill>
                            <a:latin typeface="Cambria Math" panose="02040503050406030204" pitchFamily="18" charset="0"/>
                          </a:rPr>
                          <m:t>,</m:t>
                        </m:r>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panose="02040503050406030204" pitchFamily="18" charset="0"/>
                              </a:rPr>
                              <m:t>𝒗</m:t>
                            </m:r>
                          </m:e>
                          <m:sub>
                            <m:r>
                              <a:rPr lang="en-US" altLang="zh-CN" sz="2800" b="1" i="1">
                                <a:solidFill>
                                  <a:schemeClr val="bg1"/>
                                </a:solidFill>
                                <a:latin typeface="Cambria Math" panose="02040503050406030204" pitchFamily="18" charset="0"/>
                              </a:rPr>
                              <m:t>𝟐</m:t>
                            </m:r>
                          </m:sub>
                        </m:sSub>
                        <m:r>
                          <a:rPr lang="en-US" altLang="zh-CN" sz="2800" b="1" i="1">
                            <a:solidFill>
                              <a:schemeClr val="bg1"/>
                            </a:solidFill>
                            <a:latin typeface="Cambria Math" panose="02040503050406030204" pitchFamily="18" charset="0"/>
                          </a:rPr>
                          <m:t>,…,</m:t>
                        </m:r>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panose="02040503050406030204" pitchFamily="18" charset="0"/>
                              </a:rPr>
                              <m:t>𝒗</m:t>
                            </m:r>
                          </m:e>
                          <m:sub>
                            <m:r>
                              <a:rPr lang="en-US" altLang="zh-CN" sz="2800" b="1" i="1">
                                <a:solidFill>
                                  <a:schemeClr val="bg1"/>
                                </a:solidFill>
                                <a:latin typeface="Cambria Math" panose="02040503050406030204" pitchFamily="18" charset="0"/>
                              </a:rPr>
                              <m:t>𝒏</m:t>
                            </m:r>
                          </m:sub>
                        </m:sSub>
                      </m:e>
                    </m:d>
                  </m:oMath>
                </a14:m>
                <a:r>
                  <a:rPr lang="zh-CN" altLang="zh-CN" sz="2800" b="1" dirty="0">
                    <a:solidFill>
                      <a:schemeClr val="bg1"/>
                    </a:solidFill>
                  </a:rPr>
                  <a:t>，结点间的顺序为</a:t>
                </a:r>
                <a14:m>
                  <m:oMath xmlns:m="http://schemas.openxmlformats.org/officeDocument/2006/math">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panose="02040503050406030204" pitchFamily="18" charset="0"/>
                          </a:rPr>
                          <m:t>𝒗</m:t>
                        </m:r>
                      </m:e>
                      <m:sub>
                        <m:r>
                          <a:rPr lang="en-US" altLang="zh-CN" sz="2800" b="1" i="1">
                            <a:solidFill>
                              <a:schemeClr val="bg1"/>
                            </a:solidFill>
                            <a:latin typeface="Cambria Math" panose="02040503050406030204" pitchFamily="18" charset="0"/>
                          </a:rPr>
                          <m:t>𝟏</m:t>
                        </m:r>
                      </m:sub>
                    </m:sSub>
                    <m:r>
                      <a:rPr lang="en-US" altLang="zh-CN" sz="2800" b="1" i="1">
                        <a:solidFill>
                          <a:schemeClr val="bg1"/>
                        </a:solidFill>
                        <a:latin typeface="Cambria Math" panose="02040503050406030204" pitchFamily="18" charset="0"/>
                      </a:rPr>
                      <m:t>,</m:t>
                    </m:r>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panose="02040503050406030204" pitchFamily="18" charset="0"/>
                          </a:rPr>
                          <m:t>𝒗</m:t>
                        </m:r>
                      </m:e>
                      <m:sub>
                        <m:r>
                          <a:rPr lang="en-US" altLang="zh-CN" sz="2800" b="1" i="1">
                            <a:solidFill>
                              <a:schemeClr val="bg1"/>
                            </a:solidFill>
                            <a:latin typeface="Cambria Math" panose="02040503050406030204" pitchFamily="18" charset="0"/>
                          </a:rPr>
                          <m:t>𝟐</m:t>
                        </m:r>
                      </m:sub>
                    </m:sSub>
                    <m:r>
                      <a:rPr lang="en-US" altLang="zh-CN" sz="2800" b="1" i="1">
                        <a:solidFill>
                          <a:schemeClr val="bg1"/>
                        </a:solidFill>
                        <a:latin typeface="Cambria Math" panose="02040503050406030204" pitchFamily="18" charset="0"/>
                      </a:rPr>
                      <m:t>,…,</m:t>
                    </m:r>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panose="02040503050406030204" pitchFamily="18" charset="0"/>
                          </a:rPr>
                          <m:t>𝒗</m:t>
                        </m:r>
                      </m:e>
                      <m:sub>
                        <m:r>
                          <a:rPr lang="en-US" altLang="zh-CN" sz="2800" b="1" i="1">
                            <a:solidFill>
                              <a:schemeClr val="bg1"/>
                            </a:solidFill>
                            <a:latin typeface="Cambria Math" panose="02040503050406030204" pitchFamily="18" charset="0"/>
                          </a:rPr>
                          <m:t>𝒏</m:t>
                        </m:r>
                      </m:sub>
                    </m:sSub>
                  </m:oMath>
                </a14:m>
                <a:r>
                  <a:rPr lang="zh-CN" altLang="zh-CN" sz="2800" b="1" dirty="0">
                    <a:solidFill>
                      <a:schemeClr val="bg1"/>
                    </a:solidFill>
                  </a:rPr>
                  <a:t>，令</a:t>
                </a:r>
                <a14:m>
                  <m:oMath xmlns:m="http://schemas.openxmlformats.org/officeDocument/2006/math">
                    <m:r>
                      <a:rPr lang="en-US" altLang="zh-CN" sz="2800" b="1" i="1">
                        <a:solidFill>
                          <a:schemeClr val="bg1"/>
                        </a:solidFill>
                        <a:latin typeface="Cambria Math" panose="02040503050406030204" pitchFamily="18" charset="0"/>
                      </a:rPr>
                      <m:t>𝑷</m:t>
                    </m:r>
                    <m:r>
                      <a:rPr lang="en-US" altLang="zh-CN" sz="2800" b="1" i="1">
                        <a:solidFill>
                          <a:schemeClr val="bg1"/>
                        </a:solidFill>
                        <a:latin typeface="Cambria Math" panose="02040503050406030204" pitchFamily="18" charset="0"/>
                      </a:rPr>
                      <m:t>=</m:t>
                    </m:r>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panose="02040503050406030204" pitchFamily="18" charset="0"/>
                          </a:rPr>
                          <m:t>(</m:t>
                        </m:r>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panose="02040503050406030204" pitchFamily="18" charset="0"/>
                              </a:rPr>
                              <m:t>𝒑</m:t>
                            </m:r>
                          </m:e>
                          <m:sub>
                            <m:r>
                              <a:rPr lang="en-US" altLang="zh-CN" sz="2800" b="1" i="1">
                                <a:solidFill>
                                  <a:schemeClr val="bg1"/>
                                </a:solidFill>
                                <a:latin typeface="Cambria Math" panose="02040503050406030204" pitchFamily="18" charset="0"/>
                              </a:rPr>
                              <m:t>𝒊𝒋</m:t>
                            </m:r>
                          </m:sub>
                        </m:sSub>
                        <m:r>
                          <a:rPr lang="en-US" altLang="zh-CN" sz="2800" b="1" i="1">
                            <a:solidFill>
                              <a:schemeClr val="bg1"/>
                            </a:solidFill>
                            <a:latin typeface="Cambria Math" panose="02040503050406030204" pitchFamily="18" charset="0"/>
                          </a:rPr>
                          <m:t>)</m:t>
                        </m:r>
                      </m:e>
                      <m:sub>
                        <m:r>
                          <a:rPr lang="en-US" altLang="zh-CN" sz="2800" b="1" i="1">
                            <a:solidFill>
                              <a:schemeClr val="bg1"/>
                            </a:solidFill>
                            <a:latin typeface="Cambria Math" panose="02040503050406030204" pitchFamily="18" charset="0"/>
                          </a:rPr>
                          <m:t>𝒏</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𝒏</m:t>
                        </m:r>
                      </m:sub>
                    </m:sSub>
                  </m:oMath>
                </a14:m>
                <a:r>
                  <a:rPr lang="zh-CN" altLang="zh-CN" sz="2800" b="1" dirty="0">
                    <a:solidFill>
                      <a:schemeClr val="bg1"/>
                    </a:solidFill>
                  </a:rPr>
                  <a:t>是一个</a:t>
                </a:r>
                <a14:m>
                  <m:oMath xmlns:m="http://schemas.openxmlformats.org/officeDocument/2006/math">
                    <m:r>
                      <a:rPr lang="en-US" altLang="zh-CN" sz="2800" b="1" i="1">
                        <a:solidFill>
                          <a:schemeClr val="bg1"/>
                        </a:solidFill>
                        <a:latin typeface="Cambria Math" panose="02040503050406030204" pitchFamily="18" charset="0"/>
                      </a:rPr>
                      <m:t>𝒏</m:t>
                    </m:r>
                  </m:oMath>
                </a14:m>
                <a:r>
                  <a:rPr lang="zh-CN" altLang="zh-CN" sz="2800" b="1" dirty="0">
                    <a:solidFill>
                      <a:schemeClr val="bg1"/>
                    </a:solidFill>
                  </a:rPr>
                  <a:t>阶矩阵，且满足：</a:t>
                </a:r>
              </a:p>
              <a:p>
                <a:pPr>
                  <a:spcBef>
                    <a:spcPts val="1200"/>
                  </a:spcBef>
                  <a:spcAft>
                    <a:spcPts val="1200"/>
                  </a:spcAft>
                </a:pPr>
                <a14:m>
                  <m:oMathPara xmlns:m="http://schemas.openxmlformats.org/officeDocument/2006/math">
                    <m:oMathParaPr>
                      <m:jc m:val="centerGroup"/>
                    </m:oMathParaPr>
                    <m:oMath xmlns:m="http://schemas.openxmlformats.org/officeDocument/2006/math">
                      <m:sSub>
                        <m:sSubPr>
                          <m:ctrlPr>
                            <a:rPr lang="zh-CN" altLang="zh-CN" sz="2800" b="1" i="1" smtClean="0">
                              <a:solidFill>
                                <a:srgbClr val="FFFF00"/>
                              </a:solidFill>
                              <a:latin typeface="Cambria Math" panose="02040503050406030204" pitchFamily="18" charset="0"/>
                            </a:rPr>
                          </m:ctrlPr>
                        </m:sSubPr>
                        <m:e>
                          <m:r>
                            <a:rPr lang="en-US" altLang="zh-CN" sz="2800" b="1" i="1">
                              <a:solidFill>
                                <a:srgbClr val="FFFF00"/>
                              </a:solidFill>
                              <a:latin typeface="Cambria Math" panose="02040503050406030204" pitchFamily="18" charset="0"/>
                            </a:rPr>
                            <m:t>𝒑</m:t>
                          </m:r>
                        </m:e>
                        <m:sub>
                          <m:r>
                            <a:rPr lang="en-US" altLang="zh-CN" sz="2800" b="1" i="1">
                              <a:solidFill>
                                <a:srgbClr val="FFFF00"/>
                              </a:solidFill>
                              <a:latin typeface="Cambria Math" panose="02040503050406030204" pitchFamily="18" charset="0"/>
                            </a:rPr>
                            <m:t>𝒊𝒋</m:t>
                          </m:r>
                        </m:sub>
                      </m:sSub>
                      <m:r>
                        <a:rPr lang="en-US" altLang="zh-CN" sz="2800" b="1">
                          <a:solidFill>
                            <a:srgbClr val="FFFF00"/>
                          </a:solidFill>
                          <a:latin typeface="Cambria Math" panose="02040503050406030204" pitchFamily="18" charset="0"/>
                        </a:rPr>
                        <m:t>=</m:t>
                      </m:r>
                      <m:d>
                        <m:dPr>
                          <m:begChr m:val="{"/>
                          <m:endChr m:val=""/>
                          <m:ctrlPr>
                            <a:rPr lang="zh-CN" altLang="zh-CN" sz="2800" b="1" i="1">
                              <a:solidFill>
                                <a:srgbClr val="FFFF00"/>
                              </a:solidFill>
                              <a:latin typeface="Cambria Math" panose="02040503050406030204" pitchFamily="18" charset="0"/>
                            </a:rPr>
                          </m:ctrlPr>
                        </m:dPr>
                        <m:e>
                          <m:eqArr>
                            <m:eqArrPr>
                              <m:ctrlPr>
                                <a:rPr lang="zh-CN" altLang="zh-CN" sz="2800" b="1" i="1">
                                  <a:solidFill>
                                    <a:srgbClr val="FFFF00"/>
                                  </a:solidFill>
                                  <a:latin typeface="Cambria Math" panose="02040503050406030204" pitchFamily="18" charset="0"/>
                                </a:rPr>
                              </m:ctrlPr>
                            </m:eqArrPr>
                            <m:e>
                              <m:r>
                                <a:rPr lang="en-US" altLang="zh-CN" sz="2800" b="1" i="1">
                                  <a:solidFill>
                                    <a:srgbClr val="FFFF00"/>
                                  </a:solidFill>
                                  <a:latin typeface="Cambria Math" panose="02040503050406030204" pitchFamily="18" charset="0"/>
                                </a:rPr>
                                <m:t>𝟏</m:t>
                              </m:r>
                              <m:r>
                                <a:rPr lang="zh-CN" altLang="zh-CN" sz="2800" b="1">
                                  <a:solidFill>
                                    <a:srgbClr val="FFFF00"/>
                                  </a:solidFill>
                                  <a:latin typeface="Cambria Math" panose="02040503050406030204" pitchFamily="18" charset="0"/>
                                </a:rPr>
                                <m:t>，</m:t>
                              </m:r>
                            </m:e>
                            <m:e>
                              <m:r>
                                <a:rPr lang="en-US" altLang="zh-CN" sz="2800" b="1" i="1">
                                  <a:solidFill>
                                    <a:srgbClr val="FFFF00"/>
                                  </a:solidFill>
                                  <a:latin typeface="Cambria Math" panose="02040503050406030204" pitchFamily="18" charset="0"/>
                                </a:rPr>
                                <m:t>𝟎</m:t>
                              </m:r>
                              <m:r>
                                <a:rPr lang="zh-CN" altLang="zh-CN" sz="2800" b="1">
                                  <a:solidFill>
                                    <a:srgbClr val="FFFF00"/>
                                  </a:solidFill>
                                  <a:latin typeface="Cambria Math" panose="02040503050406030204" pitchFamily="18" charset="0"/>
                                </a:rPr>
                                <m:t>，</m:t>
                              </m:r>
                            </m:e>
                          </m:eqArr>
                        </m:e>
                      </m:d>
                      <m:f>
                        <m:fPr>
                          <m:type m:val="noBar"/>
                          <m:ctrlPr>
                            <a:rPr lang="zh-CN" altLang="zh-CN" sz="2800" b="1" i="1">
                              <a:solidFill>
                                <a:srgbClr val="FFFF00"/>
                              </a:solidFill>
                              <a:latin typeface="Cambria Math" panose="02040503050406030204" pitchFamily="18" charset="0"/>
                            </a:rPr>
                          </m:ctrlPr>
                        </m:fPr>
                        <m:num>
                          <m:r>
                            <a:rPr lang="en-US" altLang="zh-CN" sz="2800" b="1">
                              <a:solidFill>
                                <a:srgbClr val="FFFF00"/>
                              </a:solidFill>
                              <a:latin typeface="Cambria Math" panose="02040503050406030204" pitchFamily="18" charset="0"/>
                            </a:rPr>
                            <m:t>     </m:t>
                          </m:r>
                          <m:r>
                            <a:rPr lang="zh-CN" altLang="zh-CN" sz="2800" b="1">
                              <a:solidFill>
                                <a:srgbClr val="FFFF00"/>
                              </a:solidFill>
                              <a:latin typeface="Cambria Math" panose="02040503050406030204" pitchFamily="18" charset="0"/>
                            </a:rPr>
                            <m:t>从</m:t>
                          </m:r>
                          <m:sSub>
                            <m:sSubPr>
                              <m:ctrlPr>
                                <a:rPr lang="zh-CN" altLang="zh-CN" sz="2800" b="1" i="1">
                                  <a:solidFill>
                                    <a:srgbClr val="FFFF00"/>
                                  </a:solidFill>
                                  <a:latin typeface="Cambria Math" panose="02040503050406030204" pitchFamily="18" charset="0"/>
                                </a:rPr>
                              </m:ctrlPr>
                            </m:sSubPr>
                            <m:e>
                              <m:r>
                                <a:rPr lang="en-US" altLang="zh-CN" sz="2800" b="1" i="1">
                                  <a:solidFill>
                                    <a:srgbClr val="FFFF00"/>
                                  </a:solidFill>
                                  <a:latin typeface="Cambria Math" panose="02040503050406030204" pitchFamily="18" charset="0"/>
                                </a:rPr>
                                <m:t>𝒗</m:t>
                              </m:r>
                            </m:e>
                            <m:sub>
                              <m:r>
                                <a:rPr lang="en-US" altLang="zh-CN" sz="2800" b="1" i="1">
                                  <a:solidFill>
                                    <a:srgbClr val="FFFF00"/>
                                  </a:solidFill>
                                  <a:latin typeface="Cambria Math" panose="02040503050406030204" pitchFamily="18" charset="0"/>
                                </a:rPr>
                                <m:t>𝒊</m:t>
                              </m:r>
                            </m:sub>
                          </m:sSub>
                          <m:r>
                            <a:rPr lang="zh-CN" altLang="zh-CN" sz="2800" b="1">
                              <a:solidFill>
                                <a:srgbClr val="FFFF00"/>
                              </a:solidFill>
                              <a:latin typeface="Cambria Math" panose="02040503050406030204" pitchFamily="18" charset="0"/>
                            </a:rPr>
                            <m:t>到</m:t>
                          </m:r>
                          <m:sSub>
                            <m:sSubPr>
                              <m:ctrlPr>
                                <a:rPr lang="zh-CN" altLang="zh-CN" sz="2800" b="1" i="1">
                                  <a:solidFill>
                                    <a:srgbClr val="FFFF00"/>
                                  </a:solidFill>
                                  <a:latin typeface="Cambria Math" panose="02040503050406030204" pitchFamily="18" charset="0"/>
                                </a:rPr>
                              </m:ctrlPr>
                            </m:sSubPr>
                            <m:e>
                              <m:r>
                                <a:rPr lang="en-US" altLang="zh-CN" sz="2800" b="1" i="1">
                                  <a:solidFill>
                                    <a:srgbClr val="FFFF00"/>
                                  </a:solidFill>
                                  <a:latin typeface="Cambria Math" panose="02040503050406030204" pitchFamily="18" charset="0"/>
                                </a:rPr>
                                <m:t>𝒗</m:t>
                              </m:r>
                            </m:e>
                            <m:sub>
                              <m:r>
                                <a:rPr lang="en-US" altLang="zh-CN" sz="2800" b="1" i="1">
                                  <a:solidFill>
                                    <a:srgbClr val="FFFF00"/>
                                  </a:solidFill>
                                  <a:latin typeface="Cambria Math" panose="02040503050406030204" pitchFamily="18" charset="0"/>
                                </a:rPr>
                                <m:t>𝒋</m:t>
                              </m:r>
                            </m:sub>
                          </m:sSub>
                          <m:r>
                            <a:rPr lang="zh-CN" altLang="en-US" sz="2800" b="1" i="1">
                              <a:solidFill>
                                <a:srgbClr val="FFFF00"/>
                              </a:solidFill>
                              <a:latin typeface="Cambria Math" panose="02040503050406030204" pitchFamily="18" charset="0"/>
                            </a:rPr>
                            <m:t>可达</m:t>
                          </m:r>
                        </m:num>
                        <m:den>
                          <m:r>
                            <a:rPr lang="en-US" altLang="zh-CN" sz="2800" b="1">
                              <a:solidFill>
                                <a:srgbClr val="FFFF00"/>
                              </a:solidFill>
                              <a:latin typeface="Cambria Math" panose="02040503050406030204" pitchFamily="18" charset="0"/>
                            </a:rPr>
                            <m:t>           </m:t>
                          </m:r>
                          <m:r>
                            <a:rPr lang="zh-CN" altLang="zh-CN" sz="2800" b="1">
                              <a:solidFill>
                                <a:srgbClr val="FFFF00"/>
                              </a:solidFill>
                              <a:latin typeface="Cambria Math" panose="02040503050406030204" pitchFamily="18" charset="0"/>
                            </a:rPr>
                            <m:t>否则</m:t>
                          </m:r>
                          <m:r>
                            <a:rPr lang="en-US" altLang="zh-CN" sz="2800" b="1">
                              <a:solidFill>
                                <a:srgbClr val="FFFF00"/>
                              </a:solidFill>
                              <a:latin typeface="Cambria Math" panose="02040503050406030204" pitchFamily="18" charset="0"/>
                            </a:rPr>
                            <m:t>           </m:t>
                          </m:r>
                        </m:den>
                      </m:f>
                      <m:r>
                        <a:rPr lang="en-US" altLang="zh-CN" sz="2800" b="1" i="1">
                          <a:solidFill>
                            <a:srgbClr val="FFFF00"/>
                          </a:solidFill>
                          <a:latin typeface="Cambria Math" panose="02040503050406030204" pitchFamily="18" charset="0"/>
                        </a:rPr>
                        <m:t>     </m:t>
                      </m:r>
                    </m:oMath>
                  </m:oMathPara>
                </a14:m>
                <a:endParaRPr lang="en-US" altLang="zh-CN" sz="2800" b="1" dirty="0">
                  <a:solidFill>
                    <a:srgbClr val="FFFF00"/>
                  </a:solidFill>
                </a:endParaRPr>
              </a:p>
              <a:p>
                <a:pPr>
                  <a:lnSpc>
                    <a:spcPct val="150000"/>
                  </a:lnSpc>
                </a:pPr>
                <a:r>
                  <a:rPr lang="zh-CN" altLang="en-US" sz="2800" b="1" dirty="0">
                    <a:solidFill>
                      <a:schemeClr val="bg1"/>
                    </a:solidFill>
                  </a:rPr>
                  <a:t>则</a:t>
                </a:r>
                <a:r>
                  <a:rPr lang="zh-CN" altLang="zh-CN" sz="2800" b="1" dirty="0">
                    <a:solidFill>
                      <a:schemeClr val="bg1"/>
                    </a:solidFill>
                  </a:rPr>
                  <a:t>称矩阵</a:t>
                </a:r>
                <a14:m>
                  <m:oMath xmlns:m="http://schemas.openxmlformats.org/officeDocument/2006/math">
                    <m:r>
                      <a:rPr lang="zh-CN" altLang="zh-CN" sz="2800" b="1">
                        <a:solidFill>
                          <a:schemeClr val="bg1"/>
                        </a:solidFill>
                        <a:latin typeface="Cambria Math" panose="02040503050406030204" pitchFamily="18" charset="0"/>
                      </a:rPr>
                      <m:t> </m:t>
                    </m:r>
                    <m:r>
                      <a:rPr lang="en-US" altLang="zh-CN" sz="2800" b="1" i="1">
                        <a:solidFill>
                          <a:schemeClr val="bg1"/>
                        </a:solidFill>
                        <a:latin typeface="Cambria Math" panose="02040503050406030204" pitchFamily="18" charset="0"/>
                      </a:rPr>
                      <m:t>𝑷</m:t>
                    </m:r>
                    <m:r>
                      <a:rPr lang="en-US" altLang="zh-CN" sz="2800" b="1" i="1">
                        <a:solidFill>
                          <a:schemeClr val="bg1"/>
                        </a:solidFill>
                        <a:latin typeface="Cambria Math" panose="02040503050406030204" pitchFamily="18" charset="0"/>
                      </a:rPr>
                      <m:t> </m:t>
                    </m:r>
                  </m:oMath>
                </a14:m>
                <a:r>
                  <a:rPr lang="zh-CN" altLang="zh-CN" sz="2800" b="1" dirty="0">
                    <a:solidFill>
                      <a:schemeClr val="bg1"/>
                    </a:solidFill>
                  </a:rPr>
                  <a:t>为图</a:t>
                </a:r>
                <a14:m>
                  <m:oMath xmlns:m="http://schemas.openxmlformats.org/officeDocument/2006/math">
                    <m:r>
                      <a:rPr lang="zh-CN" altLang="zh-CN" sz="2800" b="1">
                        <a:solidFill>
                          <a:schemeClr val="bg1"/>
                        </a:solidFill>
                        <a:latin typeface="Cambria Math" panose="02040503050406030204" pitchFamily="18" charset="0"/>
                      </a:rPr>
                      <m:t> </m:t>
                    </m:r>
                    <m:r>
                      <a:rPr lang="en-US" altLang="zh-CN" sz="2800" b="1" i="1">
                        <a:solidFill>
                          <a:schemeClr val="bg1"/>
                        </a:solidFill>
                        <a:latin typeface="Cambria Math" panose="02040503050406030204" pitchFamily="18" charset="0"/>
                      </a:rPr>
                      <m:t>𝑮</m:t>
                    </m:r>
                    <m:r>
                      <a:rPr lang="en-US" altLang="zh-CN" sz="2800" b="1" i="1">
                        <a:solidFill>
                          <a:schemeClr val="bg1"/>
                        </a:solidFill>
                        <a:latin typeface="Cambria Math" panose="02040503050406030204" pitchFamily="18" charset="0"/>
                      </a:rPr>
                      <m:t> </m:t>
                    </m:r>
                  </m:oMath>
                </a14:m>
                <a:r>
                  <a:rPr lang="zh-CN" altLang="zh-CN" sz="2800" b="1" dirty="0">
                    <a:solidFill>
                      <a:schemeClr val="bg1"/>
                    </a:solidFill>
                  </a:rPr>
                  <a:t>的</a:t>
                </a:r>
                <a:r>
                  <a:rPr lang="zh-CN" altLang="zh-CN" sz="2800" b="1" dirty="0">
                    <a:solidFill>
                      <a:srgbClr val="FFFF00"/>
                    </a:solidFill>
                  </a:rPr>
                  <a:t>可达性矩阵</a:t>
                </a:r>
                <a:r>
                  <a:rPr lang="zh-CN" altLang="zh-CN" sz="2800" b="1" dirty="0">
                    <a:solidFill>
                      <a:schemeClr val="bg1"/>
                    </a:solidFill>
                  </a:rPr>
                  <a:t>。</a:t>
                </a:r>
                <a:endParaRPr lang="zh-CN" altLang="en-US" sz="2800" b="1" dirty="0">
                  <a:solidFill>
                    <a:schemeClr val="bg1"/>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67544" y="2060848"/>
                <a:ext cx="8497639" cy="3944285"/>
              </a:xfrm>
              <a:prstGeom prst="rect">
                <a:avLst/>
              </a:prstGeom>
              <a:blipFill>
                <a:blip r:embed="rId4"/>
                <a:stretch>
                  <a:fillRect l="-1506" r="-789" b="-2937"/>
                </a:stretch>
              </a:blipFill>
              <a:ln w="19050">
                <a:noFill/>
              </a:ln>
            </p:spPr>
            <p:txBody>
              <a:bodyPr/>
              <a:lstStyle/>
              <a:p>
                <a:r>
                  <a:rPr lang="zh-CN" altLang="en-US">
                    <a:noFill/>
                  </a:rPr>
                  <a:t> </a:t>
                </a:r>
              </a:p>
            </p:txBody>
          </p:sp>
        </mc:Fallback>
      </mc:AlternateContent>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2595" name="Rectangle 3"/>
          <p:cNvSpPr>
            <a:spLocks noGrp="1" noChangeArrowheads="1"/>
          </p:cNvSpPr>
          <p:nvPr>
            <p:ph idx="1"/>
          </p:nvPr>
        </p:nvSpPr>
        <p:spPr>
          <a:xfrm>
            <a:off x="971600" y="2135337"/>
            <a:ext cx="7560195" cy="3744416"/>
          </a:xfrm>
          <a:solidFill>
            <a:schemeClr val="accent5"/>
          </a:solidFill>
        </p:spPr>
        <p:txBody>
          <a:bodyPr/>
          <a:lstStyle/>
          <a:p>
            <a:pPr marL="0" indent="0" eaLnBrk="1" hangingPunct="1">
              <a:lnSpc>
                <a:spcPct val="150000"/>
              </a:lnSpc>
              <a:spcBef>
                <a:spcPts val="600"/>
              </a:spcBef>
              <a:spcAft>
                <a:spcPts val="600"/>
              </a:spcAft>
              <a:buFontTx/>
              <a:buNone/>
              <a:defRPr/>
            </a:pPr>
            <a:r>
              <a:rPr lang="zh-CN" altLang="en-US" b="1" dirty="0">
                <a:effectLst/>
                <a:cs typeface="楷体_GB2312" pitchFamily="49" charset="-122"/>
              </a:rPr>
              <a:t>       无向图的可达性矩阵</a:t>
            </a:r>
            <a:r>
              <a:rPr lang="zh-CN" altLang="en-US" b="1" dirty="0">
                <a:solidFill>
                  <a:srgbClr val="0000FF"/>
                </a:solidFill>
                <a:effectLst/>
                <a:cs typeface="楷体_GB2312" pitchFamily="49" charset="-122"/>
              </a:rPr>
              <a:t>是对称的</a:t>
            </a:r>
            <a:r>
              <a:rPr lang="zh-CN" altLang="en-US" b="1" dirty="0">
                <a:effectLst/>
                <a:cs typeface="楷体_GB2312" pitchFamily="49" charset="-122"/>
              </a:rPr>
              <a:t>，有向图的可达性矩阵则</a:t>
            </a:r>
            <a:r>
              <a:rPr lang="zh-CN" altLang="en-US" b="1" dirty="0">
                <a:solidFill>
                  <a:srgbClr val="0000FF"/>
                </a:solidFill>
                <a:effectLst/>
                <a:cs typeface="楷体_GB2312" pitchFamily="49" charset="-122"/>
              </a:rPr>
              <a:t>不一定对称</a:t>
            </a:r>
            <a:r>
              <a:rPr lang="zh-CN" altLang="en-US" b="1" dirty="0">
                <a:effectLst/>
                <a:cs typeface="楷体_GB2312" pitchFamily="49" charset="-122"/>
              </a:rPr>
              <a:t>。</a:t>
            </a:r>
          </a:p>
          <a:p>
            <a:pPr marL="0" indent="0" eaLnBrk="1" hangingPunct="1">
              <a:lnSpc>
                <a:spcPct val="150000"/>
              </a:lnSpc>
              <a:spcBef>
                <a:spcPts val="600"/>
              </a:spcBef>
              <a:spcAft>
                <a:spcPts val="600"/>
              </a:spcAft>
              <a:buFontTx/>
              <a:buNone/>
              <a:defRPr/>
            </a:pPr>
            <a:r>
              <a:rPr lang="zh-CN" altLang="en-US" b="1" dirty="0">
                <a:solidFill>
                  <a:srgbClr val="0000FF"/>
                </a:solidFill>
                <a:effectLst/>
                <a:cs typeface="楷体_GB2312" pitchFamily="49" charset="-122"/>
              </a:rPr>
              <a:t>      </a:t>
            </a:r>
            <a:r>
              <a:rPr lang="zh-CN" altLang="en-US" b="1" dirty="0">
                <a:effectLst/>
                <a:cs typeface="楷体_GB2312" pitchFamily="49" charset="-122"/>
              </a:rPr>
              <a:t>与邻接矩阵不同，可达性矩阵</a:t>
            </a:r>
            <a:r>
              <a:rPr lang="zh-CN" altLang="en-US" b="1" dirty="0">
                <a:solidFill>
                  <a:srgbClr val="0000FF"/>
                </a:solidFill>
                <a:effectLst/>
                <a:cs typeface="楷体_GB2312" pitchFamily="49" charset="-122"/>
              </a:rPr>
              <a:t>不能给出图的完整信息</a:t>
            </a:r>
            <a:r>
              <a:rPr lang="zh-CN" altLang="en-US" b="1" dirty="0">
                <a:effectLst/>
                <a:cs typeface="楷体_GB2312" pitchFamily="49" charset="-122"/>
              </a:rPr>
              <a:t>，但由于简洁而便于使用。</a:t>
            </a:r>
          </a:p>
          <a:p>
            <a:pPr marL="0" indent="0" eaLnBrk="1" hangingPunct="1">
              <a:lnSpc>
                <a:spcPct val="150000"/>
              </a:lnSpc>
              <a:spcBef>
                <a:spcPts val="600"/>
              </a:spcBef>
              <a:spcAft>
                <a:spcPts val="600"/>
              </a:spcAft>
              <a:buFontTx/>
              <a:buNone/>
              <a:defRPr/>
            </a:pPr>
            <a:r>
              <a:rPr lang="zh-CN" altLang="en-US" b="1" dirty="0">
                <a:effectLst/>
                <a:cs typeface="楷体_GB2312" pitchFamily="49" charset="-122"/>
              </a:rPr>
              <a:t>      如果已知矩阵</a:t>
            </a:r>
            <a:r>
              <a:rPr lang="en-US" altLang="zh-CN" b="1" dirty="0">
                <a:effectLst/>
                <a:cs typeface="楷体_GB2312" pitchFamily="49" charset="-122"/>
              </a:rPr>
              <a:t>B</a:t>
            </a:r>
            <a:r>
              <a:rPr lang="en-US" altLang="zh-CN" b="1" baseline="-25000" dirty="0">
                <a:effectLst/>
                <a:cs typeface="楷体_GB2312" pitchFamily="49" charset="-122"/>
              </a:rPr>
              <a:t>n</a:t>
            </a:r>
            <a:r>
              <a:rPr lang="zh-CN" altLang="en-US" b="1" dirty="0">
                <a:effectLst/>
                <a:cs typeface="楷体_GB2312" pitchFamily="49" charset="-122"/>
              </a:rPr>
              <a:t>，则只需将</a:t>
            </a:r>
            <a:r>
              <a:rPr lang="zh-CN" altLang="en-US" b="1" dirty="0">
                <a:solidFill>
                  <a:srgbClr val="0000FF"/>
                </a:solidFill>
                <a:effectLst/>
                <a:cs typeface="楷体_GB2312" pitchFamily="49" charset="-122"/>
              </a:rPr>
              <a:t>矩阵</a:t>
            </a:r>
            <a:r>
              <a:rPr lang="en-US" altLang="zh-CN" b="1" dirty="0" err="1">
                <a:solidFill>
                  <a:srgbClr val="0000FF"/>
                </a:solidFill>
                <a:effectLst/>
                <a:cs typeface="楷体_GB2312" pitchFamily="49" charset="-122"/>
              </a:rPr>
              <a:t>I+B</a:t>
            </a:r>
            <a:r>
              <a:rPr lang="en-US" altLang="zh-CN" b="1" baseline="-25000" dirty="0" err="1">
                <a:solidFill>
                  <a:srgbClr val="0000FF"/>
                </a:solidFill>
                <a:effectLst/>
                <a:cs typeface="楷体_GB2312" pitchFamily="49" charset="-122"/>
              </a:rPr>
              <a:t>n</a:t>
            </a:r>
            <a:r>
              <a:rPr lang="zh-CN" altLang="en-US" b="1" dirty="0">
                <a:effectLst/>
                <a:cs typeface="楷体_GB2312" pitchFamily="49" charset="-122"/>
              </a:rPr>
              <a:t>中非零元素写成</a:t>
            </a:r>
            <a:r>
              <a:rPr lang="en-US" altLang="zh-CN" b="1" dirty="0">
                <a:effectLst/>
                <a:cs typeface="楷体_GB2312" pitchFamily="49" charset="-122"/>
              </a:rPr>
              <a:t>1</a:t>
            </a:r>
            <a:r>
              <a:rPr lang="zh-CN" altLang="en-US" b="1" dirty="0">
                <a:effectLst/>
                <a:cs typeface="楷体_GB2312" pitchFamily="49" charset="-122"/>
              </a:rPr>
              <a:t>，就可得到可达性矩阵。</a:t>
            </a:r>
          </a:p>
        </p:txBody>
      </p:sp>
      <p:sp>
        <p:nvSpPr>
          <p:cNvPr id="15872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0F7A9636-551D-43B5-BBB2-8D040ADA8691}"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58725" name="Text Box 2"/>
          <p:cNvSpPr txBox="1">
            <a:spLocks noChangeArrowheads="1"/>
          </p:cNvSpPr>
          <p:nvPr/>
        </p:nvSpPr>
        <p:spPr bwMode="auto">
          <a:xfrm>
            <a:off x="1403350" y="765175"/>
            <a:ext cx="6408738"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可达性矩阵要点</a:t>
            </a:r>
          </a:p>
        </p:txBody>
      </p:sp>
      <p:pic>
        <p:nvPicPr>
          <p:cNvPr id="15872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BA1A151B-3659-4344-BAB2-C6C356639597}"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60774" name="Text Box 2"/>
          <p:cNvSpPr txBox="1">
            <a:spLocks noChangeArrowheads="1"/>
          </p:cNvSpPr>
          <p:nvPr/>
        </p:nvSpPr>
        <p:spPr bwMode="auto">
          <a:xfrm>
            <a:off x="1403350" y="908050"/>
            <a:ext cx="6192838"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可达性矩阵的计算</a:t>
            </a:r>
          </a:p>
        </p:txBody>
      </p:sp>
      <p:pic>
        <p:nvPicPr>
          <p:cNvPr id="16077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395536" y="2295306"/>
                <a:ext cx="8496944" cy="3459601"/>
              </a:xfrm>
              <a:prstGeom prst="rect">
                <a:avLst/>
              </a:prstGeom>
              <a:solidFill>
                <a:schemeClr val="accent5"/>
              </a:solidFill>
              <a:ln w="19050">
                <a:noFill/>
              </a:ln>
            </p:spPr>
            <p:txBody>
              <a:bodyPr wrap="square" rtlCol="0">
                <a:spAutoFit/>
              </a:bodyPr>
              <a:lstStyle/>
              <a:p>
                <a:pPr>
                  <a:lnSpc>
                    <a:spcPct val="150000"/>
                  </a:lnSpc>
                </a:pPr>
                <a:r>
                  <a:rPr lang="en-US" altLang="zh-CN" sz="2800" dirty="0"/>
                  <a:t>   </a:t>
                </a:r>
                <a:r>
                  <a:rPr lang="zh-CN" altLang="zh-CN" sz="2800" b="1" dirty="0"/>
                  <a:t>【定理】</a:t>
                </a:r>
                <a:r>
                  <a:rPr lang="zh-CN" altLang="zh-CN" sz="2800" b="1" dirty="0">
                    <a:solidFill>
                      <a:schemeClr val="tx1"/>
                    </a:solidFill>
                  </a:rPr>
                  <a:t>设</a:t>
                </a:r>
                <a14:m>
                  <m:oMath xmlns:m="http://schemas.openxmlformats.org/officeDocument/2006/math">
                    <m:r>
                      <a:rPr lang="zh-CN" altLang="zh-CN" sz="2800" b="1">
                        <a:solidFill>
                          <a:schemeClr val="tx1"/>
                        </a:solidFill>
                        <a:latin typeface="Cambria Math" panose="02040503050406030204" pitchFamily="18" charset="0"/>
                      </a:rPr>
                      <m:t> </m:t>
                    </m:r>
                    <m:r>
                      <a:rPr lang="en-US" altLang="zh-CN" sz="2800" b="1" i="1">
                        <a:solidFill>
                          <a:schemeClr val="tx1"/>
                        </a:solidFill>
                        <a:latin typeface="Cambria Math" panose="02040503050406030204" pitchFamily="18" charset="0"/>
                      </a:rPr>
                      <m:t>𝑮</m:t>
                    </m:r>
                    <m:r>
                      <a:rPr lang="en-US" altLang="zh-CN" sz="2800" b="1" i="1">
                        <a:solidFill>
                          <a:schemeClr val="tx1"/>
                        </a:solidFill>
                        <a:latin typeface="Cambria Math" panose="02040503050406030204" pitchFamily="18" charset="0"/>
                      </a:rPr>
                      <m:t>=</m:t>
                    </m:r>
                    <m:d>
                      <m:dPr>
                        <m:begChr m:val="〈"/>
                        <m:endChr m:val="〉"/>
                        <m:ctrlPr>
                          <a:rPr lang="zh-CN" altLang="zh-CN" sz="2800" b="1" i="1">
                            <a:solidFill>
                              <a:schemeClr val="tx1"/>
                            </a:solidFill>
                            <a:latin typeface="Cambria Math" panose="02040503050406030204" pitchFamily="18" charset="0"/>
                          </a:rPr>
                        </m:ctrlPr>
                      </m:dPr>
                      <m:e>
                        <m:r>
                          <a:rPr lang="en-US" altLang="zh-CN" sz="2800" b="1" i="1">
                            <a:solidFill>
                              <a:schemeClr val="tx1"/>
                            </a:solidFill>
                            <a:latin typeface="Cambria Math" panose="02040503050406030204" pitchFamily="18" charset="0"/>
                          </a:rPr>
                          <m:t>𝑽</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𝑬</m:t>
                        </m:r>
                      </m:e>
                    </m:d>
                    <m:r>
                      <a:rPr lang="en-US" altLang="zh-CN" sz="2800" b="1" i="1">
                        <a:solidFill>
                          <a:schemeClr val="tx1"/>
                        </a:solidFill>
                        <a:latin typeface="Cambria Math" panose="02040503050406030204" pitchFamily="18" charset="0"/>
                      </a:rPr>
                      <m:t> </m:t>
                    </m:r>
                  </m:oMath>
                </a14:m>
                <a:r>
                  <a:rPr lang="zh-CN" altLang="zh-CN" sz="2800" b="1" dirty="0">
                    <a:solidFill>
                      <a:schemeClr val="tx1"/>
                    </a:solidFill>
                  </a:rPr>
                  <a:t>线图，</a:t>
                </a:r>
                <a14:m>
                  <m:oMath xmlns:m="http://schemas.openxmlformats.org/officeDocument/2006/math">
                    <m:r>
                      <a:rPr lang="en-US" altLang="zh-CN" sz="2800" b="1" i="1">
                        <a:solidFill>
                          <a:schemeClr val="tx1"/>
                        </a:solidFill>
                        <a:latin typeface="Cambria Math" panose="02040503050406030204" pitchFamily="18" charset="0"/>
                      </a:rPr>
                      <m:t>𝑽</m:t>
                    </m:r>
                    <m:r>
                      <a:rPr lang="en-US" altLang="zh-CN" sz="2800" b="1" i="1">
                        <a:solidFill>
                          <a:schemeClr val="tx1"/>
                        </a:solidFill>
                        <a:latin typeface="Cambria Math" panose="02040503050406030204" pitchFamily="18" charset="0"/>
                      </a:rPr>
                      <m:t>=</m:t>
                    </m:r>
                    <m:d>
                      <m:dPr>
                        <m:begChr m:val="{"/>
                        <m:endChr m:val="}"/>
                        <m:ctrlPr>
                          <a:rPr lang="zh-CN" altLang="zh-CN" sz="2800" b="1" i="1">
                            <a:solidFill>
                              <a:schemeClr val="tx1"/>
                            </a:solidFill>
                            <a:latin typeface="Cambria Math" panose="02040503050406030204" pitchFamily="18" charset="0"/>
                          </a:rPr>
                        </m:ctrlPr>
                      </m:dPr>
                      <m:e>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𝟏</m:t>
                            </m:r>
                          </m:sub>
                        </m:sSub>
                        <m:r>
                          <a:rPr lang="en-US" altLang="zh-CN" sz="2800" b="1" i="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𝟐</m:t>
                            </m:r>
                          </m:sub>
                        </m:sSub>
                        <m:r>
                          <a:rPr lang="en-US" altLang="zh-CN" sz="2800" b="1" i="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𝒏</m:t>
                            </m:r>
                          </m:sub>
                        </m:sSub>
                      </m:e>
                    </m:d>
                  </m:oMath>
                </a14:m>
                <a:r>
                  <a:rPr lang="zh-CN" altLang="zh-CN" sz="2800" b="1" dirty="0">
                    <a:solidFill>
                      <a:schemeClr val="tx1"/>
                    </a:solidFill>
                  </a:rPr>
                  <a:t>，矩阵</a:t>
                </a:r>
                <a14:m>
                  <m:oMath xmlns:m="http://schemas.openxmlformats.org/officeDocument/2006/math">
                    <m:r>
                      <a:rPr lang="en-US" altLang="zh-CN" sz="2800" b="1" i="1">
                        <a:solidFill>
                          <a:schemeClr val="tx1"/>
                        </a:solidFill>
                        <a:latin typeface="Cambria Math" panose="02040503050406030204" pitchFamily="18" charset="0"/>
                      </a:rPr>
                      <m:t>𝑨</m:t>
                    </m:r>
                  </m:oMath>
                </a14:m>
                <a:r>
                  <a:rPr lang="zh-CN" altLang="zh-CN" sz="2800" b="1" dirty="0">
                    <a:solidFill>
                      <a:schemeClr val="tx1"/>
                    </a:solidFill>
                  </a:rPr>
                  <a:t>和</a:t>
                </a:r>
                <a14:m>
                  <m:oMath xmlns:m="http://schemas.openxmlformats.org/officeDocument/2006/math">
                    <m:r>
                      <a:rPr lang="en-US" altLang="zh-CN" sz="2800" b="1" i="1">
                        <a:solidFill>
                          <a:schemeClr val="tx1"/>
                        </a:solidFill>
                        <a:latin typeface="Cambria Math" panose="02040503050406030204" pitchFamily="18" charset="0"/>
                      </a:rPr>
                      <m:t>𝑷</m:t>
                    </m:r>
                  </m:oMath>
                </a14:m>
                <a:r>
                  <a:rPr lang="zh-CN" altLang="zh-CN" sz="2800" b="1" dirty="0">
                    <a:solidFill>
                      <a:schemeClr val="tx1"/>
                    </a:solidFill>
                  </a:rPr>
                  <a:t>分别是图</a:t>
                </a:r>
                <a14:m>
                  <m:oMath xmlns:m="http://schemas.openxmlformats.org/officeDocument/2006/math">
                    <m:r>
                      <a:rPr lang="en-US" altLang="zh-CN" sz="2800" b="1" i="1">
                        <a:solidFill>
                          <a:schemeClr val="tx1"/>
                        </a:solidFill>
                        <a:latin typeface="Cambria Math" panose="02040503050406030204" pitchFamily="18" charset="0"/>
                      </a:rPr>
                      <m:t>𝑮</m:t>
                    </m:r>
                  </m:oMath>
                </a14:m>
                <a:r>
                  <a:rPr lang="zh-CN" altLang="zh-CN" sz="2800" b="1" dirty="0">
                    <a:solidFill>
                      <a:schemeClr val="tx1"/>
                    </a:solidFill>
                  </a:rPr>
                  <a:t>在该结点次序下的邻接矩阵和可达性矩阵，则有：</a:t>
                </a:r>
              </a:p>
              <a:p>
                <a:pPr>
                  <a:lnSpc>
                    <a:spcPct val="150000"/>
                  </a:lnSpc>
                  <a:spcBef>
                    <a:spcPts val="1200"/>
                  </a:spcBef>
                  <a:spcAft>
                    <a:spcPts val="1200"/>
                  </a:spcAft>
                </a:pPr>
                <a14:m>
                  <m:oMathPara xmlns:m="http://schemas.openxmlformats.org/officeDocument/2006/math">
                    <m:oMathParaPr>
                      <m:jc m:val="centerGroup"/>
                    </m:oMathParaPr>
                    <m:oMath xmlns:m="http://schemas.openxmlformats.org/officeDocument/2006/math">
                      <m:r>
                        <a:rPr lang="en-US" altLang="zh-CN" sz="2800" b="1" i="1" smtClean="0">
                          <a:solidFill>
                            <a:srgbClr val="0000FF"/>
                          </a:solidFill>
                          <a:latin typeface="Cambria Math" panose="02040503050406030204" pitchFamily="18" charset="0"/>
                        </a:rPr>
                        <m:t>𝑷</m:t>
                      </m:r>
                      <m:r>
                        <a:rPr lang="en-US" altLang="zh-CN" sz="2800" b="1" i="1" smtClean="0">
                          <a:solidFill>
                            <a:srgbClr val="0000FF"/>
                          </a:solidFill>
                          <a:latin typeface="Cambria Math" panose="02040503050406030204" pitchFamily="18" charset="0"/>
                        </a:rPr>
                        <m:t>=</m:t>
                      </m:r>
                      <m:sSup>
                        <m:sSupPr>
                          <m:ctrlPr>
                            <a:rPr lang="zh-CN" altLang="zh-CN" sz="2800" b="1" i="1">
                              <a:solidFill>
                                <a:srgbClr val="0000FF"/>
                              </a:solidFill>
                              <a:latin typeface="Cambria Math" panose="02040503050406030204" pitchFamily="18" charset="0"/>
                            </a:rPr>
                          </m:ctrlPr>
                        </m:sSupPr>
                        <m:e>
                          <m:sSup>
                            <m:sSupPr>
                              <m:ctrlPr>
                                <a:rPr lang="zh-CN" altLang="zh-CN" sz="2800" b="1" i="1">
                                  <a:solidFill>
                                    <a:srgbClr val="0000FF"/>
                                  </a:solidFill>
                                  <a:latin typeface="Cambria Math" panose="02040503050406030204" pitchFamily="18" charset="0"/>
                                </a:rPr>
                              </m:ctrlPr>
                            </m:sSupPr>
                            <m:e>
                              <m:r>
                                <a:rPr lang="en-US" altLang="zh-CN" sz="2800" b="1" i="1">
                                  <a:solidFill>
                                    <a:srgbClr val="0000FF"/>
                                  </a:solidFill>
                                  <a:latin typeface="Cambria Math" panose="02040503050406030204" pitchFamily="18" charset="0"/>
                                </a:rPr>
                                <m:t>𝑨</m:t>
                              </m:r>
                            </m:e>
                            <m:sup>
                              <m:r>
                                <a:rPr lang="en-US" altLang="zh-CN" sz="2800" b="1" i="1">
                                  <a:solidFill>
                                    <a:srgbClr val="0000FF"/>
                                  </a:solidFill>
                                  <a:latin typeface="Cambria Math" panose="02040503050406030204" pitchFamily="18" charset="0"/>
                                </a:rPr>
                                <m:t>(</m:t>
                              </m:r>
                              <m:r>
                                <a:rPr lang="en-US" altLang="zh-CN" sz="2800" b="1" i="1" smtClean="0">
                                  <a:solidFill>
                                    <a:srgbClr val="0000FF"/>
                                  </a:solidFill>
                                  <a:latin typeface="Cambria Math" panose="02040503050406030204" pitchFamily="18" charset="0"/>
                                </a:rPr>
                                <m:t>𝟎</m:t>
                              </m:r>
                              <m:r>
                                <a:rPr lang="en-US" altLang="zh-CN" sz="2800" b="1" i="1">
                                  <a:solidFill>
                                    <a:srgbClr val="0000FF"/>
                                  </a:solidFill>
                                  <a:latin typeface="Cambria Math" panose="02040503050406030204" pitchFamily="18" charset="0"/>
                                </a:rPr>
                                <m:t>)</m:t>
                              </m:r>
                            </m:sup>
                          </m:sSup>
                          <m:r>
                            <a:rPr lang="zh-CN" altLang="zh-CN" sz="2800" b="1" i="1">
                              <a:solidFill>
                                <a:srgbClr val="0000FF"/>
                              </a:solidFill>
                              <a:latin typeface="Cambria Math" panose="02040503050406030204" pitchFamily="18" charset="0"/>
                            </a:rPr>
                            <m:t>∨</m:t>
                          </m:r>
                          <m:r>
                            <a:rPr lang="en-US" altLang="zh-CN" sz="2800" b="1" i="1">
                              <a:solidFill>
                                <a:srgbClr val="0000FF"/>
                              </a:solidFill>
                              <a:latin typeface="Cambria Math" panose="02040503050406030204" pitchFamily="18" charset="0"/>
                            </a:rPr>
                            <m:t>𝑨</m:t>
                          </m:r>
                        </m:e>
                        <m:sup>
                          <m:r>
                            <a:rPr lang="en-US" altLang="zh-CN" sz="2800" b="1" i="1">
                              <a:solidFill>
                                <a:srgbClr val="0000FF"/>
                              </a:solidFill>
                              <a:latin typeface="Cambria Math" panose="02040503050406030204" pitchFamily="18" charset="0"/>
                            </a:rPr>
                            <m:t>(</m:t>
                          </m:r>
                          <m:r>
                            <a:rPr lang="en-US" altLang="zh-CN" sz="2800" b="1" i="1">
                              <a:solidFill>
                                <a:srgbClr val="0000FF"/>
                              </a:solidFill>
                              <a:latin typeface="Cambria Math" panose="02040503050406030204" pitchFamily="18" charset="0"/>
                            </a:rPr>
                            <m:t>𝟏</m:t>
                          </m:r>
                          <m:r>
                            <a:rPr lang="en-US" altLang="zh-CN" sz="2800" b="1" i="1">
                              <a:solidFill>
                                <a:srgbClr val="0000FF"/>
                              </a:solidFill>
                              <a:latin typeface="Cambria Math" panose="02040503050406030204" pitchFamily="18" charset="0"/>
                            </a:rPr>
                            <m:t>)</m:t>
                          </m:r>
                        </m:sup>
                      </m:sSup>
                      <m:r>
                        <a:rPr lang="zh-CN" altLang="zh-CN" sz="2800" b="1" i="1">
                          <a:solidFill>
                            <a:srgbClr val="0000FF"/>
                          </a:solidFill>
                          <a:latin typeface="Cambria Math" panose="02040503050406030204" pitchFamily="18" charset="0"/>
                        </a:rPr>
                        <m:t>∨</m:t>
                      </m:r>
                      <m:sSup>
                        <m:sSupPr>
                          <m:ctrlPr>
                            <a:rPr lang="zh-CN" altLang="zh-CN" sz="2800" b="1" i="1">
                              <a:solidFill>
                                <a:srgbClr val="0000FF"/>
                              </a:solidFill>
                              <a:latin typeface="Cambria Math" panose="02040503050406030204" pitchFamily="18" charset="0"/>
                            </a:rPr>
                          </m:ctrlPr>
                        </m:sSupPr>
                        <m:e>
                          <m:r>
                            <a:rPr lang="en-US" altLang="zh-CN" sz="2800" b="1" i="1">
                              <a:solidFill>
                                <a:srgbClr val="0000FF"/>
                              </a:solidFill>
                              <a:latin typeface="Cambria Math" panose="02040503050406030204" pitchFamily="18" charset="0"/>
                            </a:rPr>
                            <m:t>𝑨</m:t>
                          </m:r>
                        </m:e>
                        <m:sup>
                          <m:d>
                            <m:dPr>
                              <m:ctrlPr>
                                <a:rPr lang="zh-CN" altLang="zh-CN" sz="2800" b="1" i="1">
                                  <a:solidFill>
                                    <a:srgbClr val="0000FF"/>
                                  </a:solidFill>
                                  <a:latin typeface="Cambria Math" panose="02040503050406030204" pitchFamily="18" charset="0"/>
                                </a:rPr>
                              </m:ctrlPr>
                            </m:dPr>
                            <m:e>
                              <m:r>
                                <a:rPr lang="en-US" altLang="zh-CN" sz="2800" b="1" i="1">
                                  <a:solidFill>
                                    <a:srgbClr val="0000FF"/>
                                  </a:solidFill>
                                  <a:latin typeface="Cambria Math" panose="02040503050406030204" pitchFamily="18" charset="0"/>
                                </a:rPr>
                                <m:t>𝟐</m:t>
                              </m:r>
                            </m:e>
                          </m:d>
                        </m:sup>
                      </m:sSup>
                      <m:r>
                        <a:rPr lang="zh-CN" altLang="zh-CN" sz="2800" b="1" i="1">
                          <a:solidFill>
                            <a:srgbClr val="0000FF"/>
                          </a:solidFill>
                          <a:latin typeface="Cambria Math" panose="02040503050406030204" pitchFamily="18" charset="0"/>
                        </a:rPr>
                        <m:t>∨</m:t>
                      </m:r>
                      <m:r>
                        <a:rPr lang="en-US" altLang="zh-CN" sz="2800" b="1" i="1">
                          <a:solidFill>
                            <a:srgbClr val="0000FF"/>
                          </a:solidFill>
                          <a:latin typeface="Cambria Math" panose="02040503050406030204" pitchFamily="18" charset="0"/>
                        </a:rPr>
                        <m:t>⋯</m:t>
                      </m:r>
                      <m:r>
                        <a:rPr lang="zh-CN" altLang="zh-CN" sz="2800" b="1" i="1">
                          <a:solidFill>
                            <a:srgbClr val="0000FF"/>
                          </a:solidFill>
                          <a:latin typeface="Cambria Math" panose="02040503050406030204" pitchFamily="18" charset="0"/>
                        </a:rPr>
                        <m:t>∨</m:t>
                      </m:r>
                      <m:sSup>
                        <m:sSupPr>
                          <m:ctrlPr>
                            <a:rPr lang="zh-CN" altLang="zh-CN" sz="2800" b="1" i="1">
                              <a:solidFill>
                                <a:srgbClr val="0000FF"/>
                              </a:solidFill>
                              <a:latin typeface="Cambria Math" panose="02040503050406030204" pitchFamily="18" charset="0"/>
                            </a:rPr>
                          </m:ctrlPr>
                        </m:sSupPr>
                        <m:e>
                          <m:r>
                            <a:rPr lang="en-US" altLang="zh-CN" sz="2800" b="1" i="1">
                              <a:solidFill>
                                <a:srgbClr val="0000FF"/>
                              </a:solidFill>
                              <a:latin typeface="Cambria Math" panose="02040503050406030204" pitchFamily="18" charset="0"/>
                            </a:rPr>
                            <m:t>𝑨</m:t>
                          </m:r>
                        </m:e>
                        <m:sup>
                          <m:r>
                            <a:rPr lang="en-US" altLang="zh-CN" sz="2800" b="1" i="1">
                              <a:solidFill>
                                <a:srgbClr val="0000FF"/>
                              </a:solidFill>
                              <a:latin typeface="Cambria Math" panose="02040503050406030204" pitchFamily="18" charset="0"/>
                            </a:rPr>
                            <m:t>(</m:t>
                          </m:r>
                          <m:r>
                            <a:rPr lang="en-US" altLang="zh-CN" sz="2800" b="1" i="1">
                              <a:solidFill>
                                <a:srgbClr val="0000FF"/>
                              </a:solidFill>
                              <a:latin typeface="Cambria Math" panose="02040503050406030204" pitchFamily="18" charset="0"/>
                            </a:rPr>
                            <m:t>𝒌</m:t>
                          </m:r>
                          <m:r>
                            <a:rPr lang="en-US" altLang="zh-CN" sz="2800" b="1" i="1">
                              <a:solidFill>
                                <a:srgbClr val="0000FF"/>
                              </a:solidFill>
                              <a:latin typeface="Cambria Math" panose="02040503050406030204" pitchFamily="18" charset="0"/>
                            </a:rPr>
                            <m:t>)</m:t>
                          </m:r>
                        </m:sup>
                      </m:sSup>
                      <m:r>
                        <a:rPr lang="zh-CN" altLang="zh-CN" sz="2800" b="1" i="1">
                          <a:solidFill>
                            <a:srgbClr val="0000FF"/>
                          </a:solidFill>
                          <a:latin typeface="Cambria Math" panose="02040503050406030204" pitchFamily="18" charset="0"/>
                        </a:rPr>
                        <m:t>∨</m:t>
                      </m:r>
                      <m:r>
                        <a:rPr lang="en-US" altLang="zh-CN" sz="2800" b="1" i="1">
                          <a:solidFill>
                            <a:srgbClr val="0000FF"/>
                          </a:solidFill>
                          <a:latin typeface="Cambria Math" panose="02040503050406030204" pitchFamily="18" charset="0"/>
                        </a:rPr>
                        <m:t>⋯</m:t>
                      </m:r>
                      <m:r>
                        <a:rPr lang="zh-CN" altLang="zh-CN" sz="2800" b="1" i="1">
                          <a:solidFill>
                            <a:srgbClr val="0000FF"/>
                          </a:solidFill>
                          <a:latin typeface="Cambria Math" panose="02040503050406030204" pitchFamily="18" charset="0"/>
                        </a:rPr>
                        <m:t>∨</m:t>
                      </m:r>
                      <m:sSup>
                        <m:sSupPr>
                          <m:ctrlPr>
                            <a:rPr lang="zh-CN" altLang="zh-CN" sz="2800" b="1" i="1">
                              <a:solidFill>
                                <a:srgbClr val="0000FF"/>
                              </a:solidFill>
                              <a:latin typeface="Cambria Math" panose="02040503050406030204" pitchFamily="18" charset="0"/>
                            </a:rPr>
                          </m:ctrlPr>
                        </m:sSupPr>
                        <m:e>
                          <m:r>
                            <a:rPr lang="en-US" altLang="zh-CN" sz="2800" b="1" i="1">
                              <a:solidFill>
                                <a:srgbClr val="0000FF"/>
                              </a:solidFill>
                              <a:latin typeface="Cambria Math" panose="02040503050406030204" pitchFamily="18" charset="0"/>
                            </a:rPr>
                            <m:t>𝑨</m:t>
                          </m:r>
                        </m:e>
                        <m:sup>
                          <m:d>
                            <m:dPr>
                              <m:ctrlPr>
                                <a:rPr lang="zh-CN" altLang="zh-CN" sz="2800" b="1" i="1">
                                  <a:solidFill>
                                    <a:srgbClr val="0000FF"/>
                                  </a:solidFill>
                                  <a:latin typeface="Cambria Math" panose="02040503050406030204" pitchFamily="18" charset="0"/>
                                </a:rPr>
                              </m:ctrlPr>
                            </m:dPr>
                            <m:e>
                              <m:r>
                                <a:rPr lang="en-US" altLang="zh-CN" sz="2800" b="1" i="1">
                                  <a:solidFill>
                                    <a:srgbClr val="0000FF"/>
                                  </a:solidFill>
                                  <a:latin typeface="Cambria Math" panose="02040503050406030204" pitchFamily="18" charset="0"/>
                                </a:rPr>
                                <m:t>𝒏</m:t>
                              </m:r>
                            </m:e>
                          </m:d>
                        </m:sup>
                      </m:sSup>
                    </m:oMath>
                  </m:oMathPara>
                </a14:m>
                <a:endParaRPr lang="en-US" altLang="zh-CN" sz="2800" b="1" dirty="0">
                  <a:solidFill>
                    <a:srgbClr val="800080"/>
                  </a:solidFill>
                </a:endParaRPr>
              </a:p>
              <a:p>
                <a:pPr>
                  <a:lnSpc>
                    <a:spcPct val="150000"/>
                  </a:lnSpc>
                </a:pPr>
                <a:r>
                  <a:rPr lang="zh-CN" altLang="zh-CN" sz="2800" b="1" dirty="0">
                    <a:solidFill>
                      <a:schemeClr val="tx1"/>
                    </a:solidFill>
                  </a:rPr>
                  <a:t>其中</a:t>
                </a:r>
                <a14:m>
                  <m:oMath xmlns:m="http://schemas.openxmlformats.org/officeDocument/2006/math">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𝑨</m:t>
                        </m:r>
                      </m:e>
                      <m:sup>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𝒌</m:t>
                        </m:r>
                        <m:r>
                          <a:rPr lang="en-US" altLang="zh-CN" sz="2800" b="1" i="1">
                            <a:solidFill>
                              <a:schemeClr val="tx1"/>
                            </a:solidFill>
                            <a:latin typeface="Cambria Math" panose="02040503050406030204" pitchFamily="18" charset="0"/>
                          </a:rPr>
                          <m:t>)</m:t>
                        </m:r>
                      </m:sup>
                    </m:sSup>
                  </m:oMath>
                </a14:m>
                <a:r>
                  <a:rPr lang="zh-CN" altLang="zh-CN" sz="2800" b="1" dirty="0">
                    <a:solidFill>
                      <a:schemeClr val="tx1"/>
                    </a:solidFill>
                  </a:rPr>
                  <a:t>表示矩阵</a:t>
                </a:r>
                <a14:m>
                  <m:oMath xmlns:m="http://schemas.openxmlformats.org/officeDocument/2006/math">
                    <m:r>
                      <a:rPr lang="en-US" altLang="zh-CN" sz="2800" b="1" i="1">
                        <a:solidFill>
                          <a:schemeClr val="tx1"/>
                        </a:solidFill>
                        <a:latin typeface="Cambria Math" panose="02040503050406030204" pitchFamily="18" charset="0"/>
                      </a:rPr>
                      <m:t>𝑨</m:t>
                    </m:r>
                    <m:r>
                      <a:rPr lang="zh-CN" altLang="zh-CN" sz="2800" b="1">
                        <a:solidFill>
                          <a:schemeClr val="tx1"/>
                        </a:solidFill>
                        <a:latin typeface="Cambria Math" panose="02040503050406030204" pitchFamily="18" charset="0"/>
                      </a:rPr>
                      <m:t>的</m:t>
                    </m:r>
                    <m:r>
                      <a:rPr lang="en-US" altLang="zh-CN" sz="2800" b="1" i="1">
                        <a:solidFill>
                          <a:schemeClr val="tx1"/>
                        </a:solidFill>
                        <a:latin typeface="Cambria Math" panose="02040503050406030204" pitchFamily="18" charset="0"/>
                      </a:rPr>
                      <m:t>𝒌</m:t>
                    </m:r>
                  </m:oMath>
                </a14:m>
                <a:r>
                  <a:rPr lang="zh-CN" altLang="zh-CN" sz="2800" b="1" dirty="0">
                    <a:solidFill>
                      <a:schemeClr val="tx1"/>
                    </a:solidFill>
                  </a:rPr>
                  <a:t>次</a:t>
                </a:r>
                <a:r>
                  <a:rPr lang="zh-CN" altLang="zh-CN" sz="2800" b="1" dirty="0">
                    <a:solidFill>
                      <a:srgbClr val="0000FF"/>
                    </a:solidFill>
                  </a:rPr>
                  <a:t>布尔幂运算</a:t>
                </a:r>
                <a:r>
                  <a:rPr lang="zh-CN" altLang="en-US" sz="2800" b="1" dirty="0">
                    <a:solidFill>
                      <a:schemeClr val="tx1"/>
                    </a:solidFill>
                  </a:rPr>
                  <a:t>，</a:t>
                </a:r>
                <a14:m>
                  <m:oMath xmlns:m="http://schemas.openxmlformats.org/officeDocument/2006/math">
                    <m:sSup>
                      <m:sSupPr>
                        <m:ctrlPr>
                          <a:rPr lang="zh-CN" altLang="zh-CN" sz="2800" b="1" i="1">
                            <a:solidFill>
                              <a:srgbClr val="0000FF"/>
                            </a:solidFill>
                            <a:latin typeface="Cambria Math" panose="02040503050406030204" pitchFamily="18" charset="0"/>
                          </a:rPr>
                        </m:ctrlPr>
                      </m:sSupPr>
                      <m:e>
                        <m:r>
                          <a:rPr lang="en-US" altLang="zh-CN" sz="2800" b="1" i="1">
                            <a:solidFill>
                              <a:srgbClr val="0000FF"/>
                            </a:solidFill>
                            <a:latin typeface="Cambria Math" panose="02040503050406030204" pitchFamily="18" charset="0"/>
                          </a:rPr>
                          <m:t>𝑨</m:t>
                        </m:r>
                      </m:e>
                      <m:sup>
                        <m:r>
                          <a:rPr lang="en-US" altLang="zh-CN" sz="2800" b="1" i="1">
                            <a:solidFill>
                              <a:srgbClr val="0000FF"/>
                            </a:solidFill>
                            <a:latin typeface="Cambria Math" panose="02040503050406030204" pitchFamily="18" charset="0"/>
                          </a:rPr>
                          <m:t>(</m:t>
                        </m:r>
                        <m:r>
                          <a:rPr lang="en-US" altLang="zh-CN" sz="2800" b="1" i="1">
                            <a:solidFill>
                              <a:srgbClr val="0000FF"/>
                            </a:solidFill>
                            <a:latin typeface="Cambria Math" panose="02040503050406030204" pitchFamily="18" charset="0"/>
                          </a:rPr>
                          <m:t>𝟎</m:t>
                        </m:r>
                        <m:r>
                          <a:rPr lang="en-US" altLang="zh-CN" sz="2800" b="1" i="1">
                            <a:solidFill>
                              <a:srgbClr val="0000FF"/>
                            </a:solidFill>
                            <a:latin typeface="Cambria Math" panose="02040503050406030204" pitchFamily="18" charset="0"/>
                          </a:rPr>
                          <m:t>)</m:t>
                        </m:r>
                      </m:sup>
                    </m:sSup>
                    <m:r>
                      <a:rPr lang="en-US" altLang="zh-CN" sz="2800" b="1" i="1">
                        <a:solidFill>
                          <a:srgbClr val="0000FF"/>
                        </a:solidFill>
                        <a:latin typeface="Cambria Math" panose="02040503050406030204" pitchFamily="18" charset="0"/>
                      </a:rPr>
                      <m:t> = </m:t>
                    </m:r>
                  </m:oMath>
                </a14:m>
                <a:r>
                  <a:rPr lang="en-US" altLang="zh-CN" sz="2800" b="1" i="1" dirty="0">
                    <a:solidFill>
                      <a:srgbClr val="FF00FF"/>
                    </a:solidFill>
                    <a:latin typeface="+mj-lt"/>
                  </a:rPr>
                  <a:t>I</a:t>
                </a:r>
                <a:r>
                  <a:rPr lang="zh-CN" altLang="zh-CN" sz="2800" b="1" dirty="0">
                    <a:solidFill>
                      <a:schemeClr val="tx1"/>
                    </a:solidFill>
                  </a:rPr>
                  <a:t>。</a:t>
                </a:r>
                <a:endParaRPr lang="zh-CN" altLang="en-US" sz="2800" b="1" dirty="0">
                  <a:solidFill>
                    <a:schemeClr val="tx1"/>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395536" y="2295306"/>
                <a:ext cx="8496944" cy="3459601"/>
              </a:xfrm>
              <a:prstGeom prst="rect">
                <a:avLst/>
              </a:prstGeom>
              <a:blipFill>
                <a:blip r:embed="rId4"/>
                <a:stretch>
                  <a:fillRect l="-1506" r="-1363" b="-4233"/>
                </a:stretch>
              </a:blipFill>
              <a:ln w="19050">
                <a:noFill/>
              </a:ln>
            </p:spPr>
            <p:txBody>
              <a:bodyPr/>
              <a:lstStyle/>
              <a:p>
                <a:r>
                  <a:rPr lang="zh-CN" altLang="en-US">
                    <a:noFill/>
                  </a:rPr>
                  <a:t> </a:t>
                </a:r>
              </a:p>
            </p:txBody>
          </p:sp>
        </mc:Fallback>
      </mc:AlternateContent>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684213" y="2265046"/>
                <a:ext cx="7831248" cy="523220"/>
              </a:xfrm>
              <a:prstGeom prst="rect">
                <a:avLst/>
              </a:prstGeom>
              <a:solidFill>
                <a:schemeClr val="bg1"/>
              </a:solidFill>
              <a:ln w="19050">
                <a:noFill/>
              </a:ln>
            </p:spPr>
            <p:txBody>
              <a:bodyPr wrap="square" rtlCol="0">
                <a:spAutoFit/>
              </a:bodyPr>
              <a:lstStyle/>
              <a:p>
                <a:r>
                  <a:rPr lang="zh-CN" altLang="zh-CN" sz="2800" b="1" dirty="0">
                    <a:solidFill>
                      <a:schemeClr val="accent2"/>
                    </a:solidFill>
                  </a:rPr>
                  <a:t>【例题】</a:t>
                </a:r>
                <a:r>
                  <a:rPr lang="zh-CN" altLang="en-US" sz="2800" b="1" dirty="0">
                    <a:solidFill>
                      <a:schemeClr val="tx1"/>
                    </a:solidFill>
                  </a:rPr>
                  <a:t>对于</a:t>
                </a:r>
                <a:r>
                  <a:rPr lang="zh-CN" altLang="zh-CN" sz="2800" b="1" dirty="0">
                    <a:solidFill>
                      <a:schemeClr val="tx1"/>
                    </a:solidFill>
                  </a:rPr>
                  <a:t>如图</a:t>
                </a:r>
                <a14:m>
                  <m:oMath xmlns:m="http://schemas.openxmlformats.org/officeDocument/2006/math">
                    <m:r>
                      <a:rPr lang="en-US" altLang="zh-CN" sz="2800" b="1">
                        <a:solidFill>
                          <a:schemeClr val="tx1"/>
                        </a:solidFill>
                        <a:latin typeface="Cambria Math" panose="02040503050406030204" pitchFamily="18" charset="0"/>
                      </a:rPr>
                      <m:t>𝑮</m:t>
                    </m:r>
                  </m:oMath>
                </a14:m>
                <a:r>
                  <a:rPr lang="zh-CN" altLang="zh-CN" sz="2800" b="1" dirty="0">
                    <a:solidFill>
                      <a:schemeClr val="tx1"/>
                    </a:solidFill>
                  </a:rPr>
                  <a:t>，</a:t>
                </a:r>
                <a:r>
                  <a:rPr lang="zh-CN" altLang="en-US" sz="2800" b="1" dirty="0">
                    <a:solidFill>
                      <a:schemeClr val="tx1"/>
                    </a:solidFill>
                  </a:rPr>
                  <a:t>求出</a:t>
                </a:r>
                <a:r>
                  <a:rPr lang="zh-CN" altLang="zh-CN" sz="2800" b="1" dirty="0">
                    <a:solidFill>
                      <a:schemeClr val="tx1"/>
                    </a:solidFill>
                  </a:rPr>
                  <a:t>其可达性矩阵</a:t>
                </a:r>
                <a14:m>
                  <m:oMath xmlns:m="http://schemas.openxmlformats.org/officeDocument/2006/math">
                    <m:r>
                      <a:rPr lang="en-US" altLang="zh-CN" sz="2800" b="1" i="1">
                        <a:solidFill>
                          <a:schemeClr val="tx1"/>
                        </a:solidFill>
                        <a:latin typeface="Cambria Math" panose="02040503050406030204" pitchFamily="18" charset="0"/>
                      </a:rPr>
                      <m:t>𝑷</m:t>
                    </m:r>
                  </m:oMath>
                </a14:m>
                <a:r>
                  <a:rPr lang="zh-CN" altLang="zh-CN" sz="2800" b="1" dirty="0">
                    <a:solidFill>
                      <a:schemeClr val="tx1"/>
                    </a:solidFill>
                  </a:rPr>
                  <a:t>。</a:t>
                </a:r>
                <a:endParaRPr lang="en-US" altLang="zh-CN" sz="2800" b="1" dirty="0">
                  <a:solidFill>
                    <a:schemeClr val="tx1"/>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684213" y="2265046"/>
                <a:ext cx="7831248" cy="523220"/>
              </a:xfrm>
              <a:prstGeom prst="rect">
                <a:avLst/>
              </a:prstGeom>
              <a:blipFill>
                <a:blip r:embed="rId4"/>
                <a:stretch>
                  <a:fillRect l="-1556" t="-16471" b="-29412"/>
                </a:stretch>
              </a:blipFill>
              <a:ln w="19050">
                <a:noFill/>
              </a:ln>
            </p:spPr>
            <p:txBody>
              <a:bodyPr/>
              <a:lstStyle/>
              <a:p>
                <a:r>
                  <a:rPr lang="zh-CN" altLang="en-US">
                    <a:noFill/>
                  </a:rPr>
                  <a:t> </a:t>
                </a:r>
              </a:p>
            </p:txBody>
          </p:sp>
        </mc:Fallback>
      </mc:AlternateContent>
      <p:pic>
        <p:nvPicPr>
          <p:cNvPr id="2" name="图片 1"/>
          <p:cNvPicPr>
            <a:picLocks noChangeAspect="1"/>
          </p:cNvPicPr>
          <p:nvPr/>
        </p:nvPicPr>
        <p:blipFill>
          <a:blip r:embed="rId5"/>
          <a:stretch>
            <a:fillRect/>
          </a:stretch>
        </p:blipFill>
        <p:spPr>
          <a:xfrm>
            <a:off x="2411760" y="3179306"/>
            <a:ext cx="4464496" cy="2624958"/>
          </a:xfrm>
          <a:prstGeom prst="rect">
            <a:avLst/>
          </a:prstGeom>
        </p:spPr>
      </p:pic>
    </p:spTree>
    <p:extLst>
      <p:ext uri="{BB962C8B-B14F-4D97-AF65-F5344CB8AC3E}">
        <p14:creationId xmlns:p14="http://schemas.microsoft.com/office/powerpoint/2010/main" val="1817902266"/>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17764" y="1876175"/>
                <a:ext cx="8508472" cy="461665"/>
              </a:xfrm>
              <a:prstGeom prst="rect">
                <a:avLst/>
              </a:prstGeom>
              <a:solidFill>
                <a:schemeClr val="accent5"/>
              </a:solidFill>
              <a:ln w="19050">
                <a:noFill/>
              </a:ln>
            </p:spPr>
            <p:txBody>
              <a:bodyPr wrap="square" rtlCol="0">
                <a:spAutoFit/>
              </a:bodyPr>
              <a:lstStyle/>
              <a:p>
                <a:r>
                  <a:rPr lang="zh-CN" altLang="zh-CN" sz="2400" dirty="0">
                    <a:solidFill>
                      <a:schemeClr val="accent2"/>
                    </a:solidFill>
                  </a:rPr>
                  <a:t>【解】</a:t>
                </a:r>
                <a:r>
                  <a:rPr lang="zh-CN" altLang="zh-CN" sz="2400" b="1" dirty="0">
                    <a:solidFill>
                      <a:schemeClr val="tx1"/>
                    </a:solidFill>
                  </a:rPr>
                  <a:t>先写图</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的邻接矩阵</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𝑨</m:t>
                        </m:r>
                      </m:e>
                      <m:sub>
                        <m:r>
                          <a:rPr lang="en-US" altLang="zh-CN" sz="2400" b="1" i="1">
                            <a:solidFill>
                              <a:schemeClr val="tx1"/>
                            </a:solidFill>
                            <a:latin typeface="Cambria Math" panose="02040503050406030204" pitchFamily="18" charset="0"/>
                          </a:rPr>
                          <m:t>𝑮</m:t>
                        </m:r>
                      </m:sub>
                    </m:sSub>
                    <m:r>
                      <a:rPr lang="en-US" altLang="zh-CN" sz="2400" b="1" i="1">
                        <a:solidFill>
                          <a:schemeClr val="tx1"/>
                        </a:solidFill>
                        <a:latin typeface="Cambria Math" panose="02040503050406030204" pitchFamily="18" charset="0"/>
                      </a:rPr>
                      <m:t> </m:t>
                    </m:r>
                  </m:oMath>
                </a14:m>
                <a:r>
                  <a:rPr lang="zh-CN" altLang="en-US" sz="2400" b="1" dirty="0">
                    <a:solidFill>
                      <a:schemeClr val="tx1"/>
                    </a:solidFill>
                  </a:rPr>
                  <a:t>，</a:t>
                </a:r>
                <a:r>
                  <a:rPr lang="zh-CN" altLang="zh-CN" sz="2400" b="1" dirty="0">
                    <a:solidFill>
                      <a:schemeClr val="tx1"/>
                    </a:solidFill>
                  </a:rPr>
                  <a:t>然后计算</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𝑨</m:t>
                    </m:r>
                    <m:r>
                      <a:rPr lang="en-US" altLang="zh-CN" sz="2400" b="1">
                        <a:solidFill>
                          <a:schemeClr val="tx1"/>
                        </a:solidFill>
                        <a:latin typeface="Cambria Math" panose="02040503050406030204" pitchFamily="18" charset="0"/>
                      </a:rPr>
                      <m:t> </m:t>
                    </m:r>
                  </m:oMath>
                </a14:m>
                <a:r>
                  <a:rPr lang="zh-CN" altLang="zh-CN" sz="2400" b="1" dirty="0">
                    <a:solidFill>
                      <a:schemeClr val="tx1"/>
                    </a:solidFill>
                  </a:rPr>
                  <a:t>的若干幂即可</a:t>
                </a:r>
                <a:endParaRPr lang="en-US" altLang="zh-CN" sz="1600" b="1" dirty="0">
                  <a:solidFill>
                    <a:srgbClr val="800080"/>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17764" y="1876175"/>
                <a:ext cx="8508472" cy="461665"/>
              </a:xfrm>
              <a:prstGeom prst="rect">
                <a:avLst/>
              </a:prstGeom>
              <a:blipFill>
                <a:blip r:embed="rId4"/>
                <a:stretch>
                  <a:fillRect l="-1074" t="-14474" b="-25000"/>
                </a:stretch>
              </a:blipFill>
              <a:ln w="19050">
                <a:noFill/>
              </a:ln>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0D3183A9-6012-40BC-BC89-4704B3926341}"/>
              </a:ext>
            </a:extLst>
          </p:cNvPr>
          <p:cNvPicPr>
            <a:picLocks noChangeAspect="1"/>
          </p:cNvPicPr>
          <p:nvPr/>
        </p:nvPicPr>
        <p:blipFill>
          <a:blip r:embed="rId5"/>
          <a:stretch>
            <a:fillRect/>
          </a:stretch>
        </p:blipFill>
        <p:spPr>
          <a:xfrm>
            <a:off x="401226" y="2513802"/>
            <a:ext cx="8438719" cy="3765034"/>
          </a:xfrm>
          <a:prstGeom prst="rect">
            <a:avLst/>
          </a:prstGeom>
        </p:spPr>
      </p:pic>
    </p:spTree>
    <p:extLst>
      <p:ext uri="{BB962C8B-B14F-4D97-AF65-F5344CB8AC3E}">
        <p14:creationId xmlns:p14="http://schemas.microsoft.com/office/powerpoint/2010/main" val="3646955300"/>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827584" y="2492896"/>
                <a:ext cx="7578092" cy="3391378"/>
              </a:xfrm>
              <a:prstGeom prst="rect">
                <a:avLst/>
              </a:prstGeom>
              <a:solidFill>
                <a:schemeClr val="accent5"/>
              </a:solidFill>
              <a:ln w="19050">
                <a:noFill/>
              </a:ln>
            </p:spPr>
            <p:txBody>
              <a:bodyPr wrap="square" rtlCol="0">
                <a:spAutoFit/>
              </a:bodyPr>
              <a:lstStyle/>
              <a:p>
                <a:pPr>
                  <a:lnSpc>
                    <a:spcPct val="150000"/>
                  </a:lnSpc>
                </a:pPr>
                <a:r>
                  <a:rPr lang="zh-CN" altLang="zh-CN" sz="2800" b="1" dirty="0">
                    <a:solidFill>
                      <a:schemeClr val="accent2"/>
                    </a:solidFill>
                  </a:rPr>
                  <a:t>【解</a:t>
                </a:r>
                <a:r>
                  <a:rPr lang="zh-CN" altLang="en-US" sz="2800" b="1" dirty="0">
                    <a:solidFill>
                      <a:schemeClr val="accent2"/>
                    </a:solidFill>
                  </a:rPr>
                  <a:t>（续）</a:t>
                </a:r>
                <a:r>
                  <a:rPr lang="zh-CN" altLang="zh-CN" sz="2800" b="1" dirty="0">
                    <a:solidFill>
                      <a:schemeClr val="accent2"/>
                    </a:solidFill>
                  </a:rPr>
                  <a:t>】</a:t>
                </a:r>
                <a:endParaRPr lang="en-US" altLang="zh-CN" sz="2800" b="1" dirty="0">
                  <a:solidFill>
                    <a:schemeClr val="accent2"/>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b="1" i="1" smtClean="0">
                          <a:solidFill>
                            <a:schemeClr val="tx1"/>
                          </a:solidFill>
                          <a:latin typeface="Cambria Math" panose="02040503050406030204" pitchFamily="18" charset="0"/>
                        </a:rPr>
                        <m:t>𝑷</m:t>
                      </m:r>
                      <m:r>
                        <a:rPr lang="en-US" altLang="zh-CN" sz="2400" b="1" i="1" smtClean="0">
                          <a:solidFill>
                            <a:schemeClr val="tx1"/>
                          </a:solidFill>
                          <a:latin typeface="Cambria Math" panose="02040503050406030204" pitchFamily="18" charset="0"/>
                        </a:rPr>
                        <m:t>=</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𝑨</m:t>
                          </m:r>
                        </m:e>
                        <m:sup>
                          <m:r>
                            <a:rPr lang="en-US" altLang="zh-CN" sz="2400" b="1" i="1">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𝟎</m:t>
                          </m:r>
                          <m:r>
                            <a:rPr lang="en-US" altLang="zh-CN" sz="2400" b="1" i="1">
                              <a:solidFill>
                                <a:schemeClr val="tx1"/>
                              </a:solidFill>
                              <a:latin typeface="Cambria Math" panose="02040503050406030204" pitchFamily="18" charset="0"/>
                            </a:rPr>
                            <m:t>)</m:t>
                          </m:r>
                        </m:sup>
                      </m:sSup>
                      <m:sSup>
                        <m:sSupPr>
                          <m:ctrlPr>
                            <a:rPr lang="zh-CN" altLang="zh-CN" sz="2400" b="1" i="1">
                              <a:solidFill>
                                <a:schemeClr val="tx1"/>
                              </a:solidFill>
                              <a:latin typeface="Cambria Math" panose="02040503050406030204" pitchFamily="18" charset="0"/>
                            </a:rPr>
                          </m:ctrlPr>
                        </m:sSupPr>
                        <m:e>
                          <m:r>
                            <a:rPr lang="zh-CN"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𝑨</m:t>
                          </m:r>
                        </m:e>
                        <m:sup>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m:t>
                          </m:r>
                        </m:sup>
                      </m:sSup>
                      <m:r>
                        <a:rPr lang="zh-CN" altLang="zh-CN" sz="2400" b="1" i="1">
                          <a:solidFill>
                            <a:schemeClr val="tx1"/>
                          </a:solidFill>
                          <a:latin typeface="Cambria Math" panose="02040503050406030204" pitchFamily="18" charset="0"/>
                        </a:rPr>
                        <m:t>∨</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𝑨</m:t>
                          </m:r>
                        </m:e>
                        <m:sup>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𝟐</m:t>
                              </m:r>
                            </m:e>
                          </m:d>
                        </m:sup>
                      </m:sSup>
                      <m:r>
                        <a:rPr lang="zh-CN" altLang="zh-CN" sz="2400" b="1" i="1">
                          <a:solidFill>
                            <a:schemeClr val="tx1"/>
                          </a:solidFill>
                          <a:latin typeface="Cambria Math" panose="02040503050406030204" pitchFamily="18" charset="0"/>
                        </a:rPr>
                        <m:t>∨</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𝑨</m:t>
                          </m:r>
                        </m:e>
                        <m:sup>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𝟑</m:t>
                              </m:r>
                            </m:e>
                          </m:d>
                        </m:sup>
                      </m:sSup>
                      <m:r>
                        <a:rPr lang="zh-CN" altLang="zh-CN" sz="2400" b="1" i="1">
                          <a:solidFill>
                            <a:schemeClr val="tx1"/>
                          </a:solidFill>
                          <a:latin typeface="Cambria Math" panose="02040503050406030204" pitchFamily="18" charset="0"/>
                        </a:rPr>
                        <m:t>∨</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𝑨</m:t>
                          </m:r>
                        </m:e>
                        <m:sup>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𝟒</m:t>
                              </m:r>
                            </m:e>
                          </m:d>
                        </m:sup>
                      </m:sSup>
                      <m:r>
                        <a:rPr lang="zh-CN" altLang="zh-CN" sz="2400" b="1" i="1">
                          <a:solidFill>
                            <a:schemeClr val="tx1"/>
                          </a:solidFill>
                          <a:latin typeface="Cambria Math" panose="02040503050406030204" pitchFamily="18" charset="0"/>
                        </a:rPr>
                        <m:t>∨</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𝑨</m:t>
                          </m:r>
                        </m:e>
                        <m:sup>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𝟓</m:t>
                              </m:r>
                            </m:e>
                          </m:d>
                        </m:sup>
                      </m:sSup>
                    </m:oMath>
                  </m:oMathPara>
                </a14:m>
                <a:endParaRPr lang="en-US" altLang="zh-CN" sz="2400" b="1" i="1" dirty="0">
                  <a:solidFill>
                    <a:schemeClr val="tx1"/>
                  </a:solidFill>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smtClean="0">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𝟎</m:t>
                                      </m:r>
                                    </m:e>
                                  </m:mr>
                                  <m:mr>
                                    <m:e>
                                      <m:r>
                                        <a:rPr lang="en-US" altLang="zh-CN" sz="2400" b="1" i="1">
                                          <a:solidFill>
                                            <a:schemeClr val="tx1"/>
                                          </a:solidFill>
                                          <a:latin typeface="Cambria Math" panose="02040503050406030204" pitchFamily="18" charset="0"/>
                                        </a:rPr>
                                        <m:t>𝟎</m:t>
                                      </m:r>
                                    </m:e>
                                    <m:e>
                                      <m:r>
                                        <a:rPr lang="en-US" altLang="zh-CN" sz="2400" b="1" i="1">
                                          <a:solidFill>
                                            <a:schemeClr val="tx1"/>
                                          </a:solidFill>
                                          <a:latin typeface="Cambria Math" panose="02040503050406030204" pitchFamily="18" charset="0"/>
                                        </a:rPr>
                                        <m:t>𝟏</m:t>
                                      </m:r>
                                    </m:e>
                                  </m:mr>
                                </m:m>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𝟎</m:t>
                                      </m:r>
                                    </m:e>
                                    <m:e>
                                      <m:r>
                                        <a:rPr lang="en-US" altLang="zh-CN" sz="2400" b="1" i="1">
                                          <a:solidFill>
                                            <a:schemeClr val="tx1"/>
                                          </a:solidFill>
                                          <a:latin typeface="Cambria Math" panose="02040503050406030204" pitchFamily="18" charset="0"/>
                                        </a:rPr>
                                        <m:t>𝟎</m:t>
                                      </m:r>
                                    </m:e>
                                    <m:e>
                                      <m:r>
                                        <a:rPr lang="en-US" altLang="zh-CN" sz="2400" b="1" i="1">
                                          <a:solidFill>
                                            <a:schemeClr val="tx1"/>
                                          </a:solidFill>
                                          <a:latin typeface="Cambria Math" panose="02040503050406030204" pitchFamily="18" charset="0"/>
                                        </a:rPr>
                                        <m:t>𝟎</m:t>
                                      </m:r>
                                    </m:e>
                                  </m:mr>
                                  <m:mr>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𝟎</m:t>
                                      </m:r>
                                    </m:e>
                                  </m:mr>
                                </m:m>
                              </m:e>
                            </m:mr>
                            <m:m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𝟎</m:t>
                                      </m:r>
                                    </m:e>
                                    <m:e>
                                      <m:r>
                                        <a:rPr lang="en-US" altLang="zh-CN" sz="2400" b="1" i="1">
                                          <a:solidFill>
                                            <a:schemeClr val="tx1"/>
                                          </a:solidFill>
                                          <a:latin typeface="Cambria Math" panose="02040503050406030204" pitchFamily="18" charset="0"/>
                                        </a:rPr>
                                        <m:t>𝟏</m:t>
                                      </m:r>
                                    </m:e>
                                  </m:mr>
                                  <m:mr>
                                    <m:e>
                                      <m:r>
                                        <a:rPr lang="en-US" altLang="zh-CN" sz="2400" b="1" i="1">
                                          <a:solidFill>
                                            <a:schemeClr val="tx1"/>
                                          </a:solidFill>
                                          <a:latin typeface="Cambria Math" panose="02040503050406030204" pitchFamily="18" charset="0"/>
                                        </a:rPr>
                                        <m:t>𝟎</m:t>
                                      </m:r>
                                    </m:e>
                                    <m:e>
                                      <m:r>
                                        <a:rPr lang="en-US" altLang="zh-CN" sz="2400" b="1" i="1">
                                          <a:solidFill>
                                            <a:schemeClr val="tx1"/>
                                          </a:solidFill>
                                          <a:latin typeface="Cambria Math" panose="02040503050406030204" pitchFamily="18" charset="0"/>
                                        </a:rPr>
                                        <m:t>𝟏</m:t>
                                      </m:r>
                                    </m:e>
                                  </m:mr>
                                  <m:mr>
                                    <m:e>
                                      <m:r>
                                        <a:rPr lang="en-US" altLang="zh-CN" sz="2400" b="1" i="1">
                                          <a:solidFill>
                                            <a:schemeClr val="tx1"/>
                                          </a:solidFill>
                                          <a:latin typeface="Cambria Math" panose="02040503050406030204" pitchFamily="18" charset="0"/>
                                        </a:rPr>
                                        <m:t>𝟎</m:t>
                                      </m:r>
                                    </m:e>
                                    <m:e>
                                      <m:r>
                                        <a:rPr lang="en-US" altLang="zh-CN" sz="2400" b="1" i="1">
                                          <a:solidFill>
                                            <a:schemeClr val="tx1"/>
                                          </a:solidFill>
                                          <a:latin typeface="Cambria Math" panose="02040503050406030204" pitchFamily="18" charset="0"/>
                                        </a:rPr>
                                        <m:t>𝟏</m:t>
                                      </m:r>
                                    </m:e>
                                  </m:mr>
                                </m:m>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𝟎</m:t>
                                      </m:r>
                                    </m:e>
                                  </m:mr>
                                  <m:mr>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𝟎</m:t>
                                      </m:r>
                                    </m:e>
                                  </m:mr>
                                  <m:mr>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𝟏</m:t>
                                      </m:r>
                                    </m:e>
                                  </m:mr>
                                </m:m>
                              </m:e>
                            </m:mr>
                          </m:m>
                        </m:e>
                      </m:d>
                    </m:oMath>
                  </m:oMathPara>
                </a14:m>
                <a:endParaRPr lang="en-US" altLang="zh-CN" sz="2400" b="1" dirty="0"/>
              </a:p>
              <a:p>
                <a:endParaRPr lang="zh-CN" altLang="zh-CN" sz="2000" dirty="0"/>
              </a:p>
            </p:txBody>
          </p:sp>
        </mc:Choice>
        <mc:Fallback xmlns="">
          <p:sp>
            <p:nvSpPr>
              <p:cNvPr id="23" name="文本框 22"/>
              <p:cNvSpPr txBox="1">
                <a:spLocks noRot="1" noChangeAspect="1" noMove="1" noResize="1" noEditPoints="1" noAdjustHandles="1" noChangeArrowheads="1" noChangeShapeType="1" noTextEdit="1"/>
              </p:cNvSpPr>
              <p:nvPr/>
            </p:nvSpPr>
            <p:spPr>
              <a:xfrm>
                <a:off x="827584" y="2492896"/>
                <a:ext cx="7578092" cy="3391378"/>
              </a:xfrm>
              <a:prstGeom prst="rect">
                <a:avLst/>
              </a:prstGeom>
              <a:blipFill>
                <a:blip r:embed="rId4"/>
                <a:stretch>
                  <a:fillRect l="-1689"/>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2267200118"/>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49</a:t>
            </a:fld>
            <a:endParaRPr lang="en-US" altLang="zh-CN" sz="1400" b="1">
              <a:latin typeface="Times New Roman" panose="02020603050405020304" pitchFamily="18" charset="0"/>
              <a:ea typeface="宋体" panose="02010600030101010101" pitchFamily="2" charset="-122"/>
            </a:endParaRPr>
          </a:p>
        </p:txBody>
      </p:sp>
      <p:sp>
        <p:nvSpPr>
          <p:cNvPr id="34821" name="Text Box 2"/>
          <p:cNvSpPr txBox="1">
            <a:spLocks noChangeArrowheads="1"/>
          </p:cNvSpPr>
          <p:nvPr/>
        </p:nvSpPr>
        <p:spPr bwMode="auto">
          <a:xfrm>
            <a:off x="1403350" y="836613"/>
            <a:ext cx="70866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mj-ea"/>
                <a:ea typeface="+mj-ea"/>
              </a:rPr>
              <a:t> 图的通路与连通性</a:t>
            </a:r>
          </a:p>
        </p:txBody>
      </p:sp>
      <p:sp>
        <p:nvSpPr>
          <p:cNvPr id="34822" name="Rectangle 3"/>
          <p:cNvSpPr>
            <a:spLocks noGrp="1" noChangeArrowheads="1"/>
          </p:cNvSpPr>
          <p:nvPr>
            <p:ph type="body" idx="4294967295"/>
          </p:nvPr>
        </p:nvSpPr>
        <p:spPr>
          <a:xfrm>
            <a:off x="2555777" y="2260174"/>
            <a:ext cx="4248472" cy="3529012"/>
          </a:xfrm>
          <a:noFill/>
        </p:spPr>
        <p:txBody>
          <a:bodyPr lIns="92075" tIns="46038" rIns="92075" bIns="46038"/>
          <a:lstStyle/>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通路的基本知识</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可达性及其判定</a:t>
            </a:r>
          </a:p>
          <a:p>
            <a:pPr eaLnBrk="1" hangingPunct="1">
              <a:lnSpc>
                <a:spcPct val="140000"/>
              </a:lnSpc>
              <a:buFont typeface="Wingdings" panose="05000000000000000000" pitchFamily="2" charset="2"/>
              <a:buChar char="J"/>
            </a:pPr>
            <a:r>
              <a:rPr lang="zh-CN" altLang="en-US" sz="3600" b="1" dirty="0">
                <a:solidFill>
                  <a:schemeClr val="accent2"/>
                </a:solidFill>
                <a:effectLst/>
                <a:latin typeface="黑体" panose="02010609060101010101" pitchFamily="49" charset="-122"/>
                <a:ea typeface="黑体" panose="02010609060101010101" pitchFamily="49" charset="-122"/>
                <a:cs typeface="楷体_GB2312" pitchFamily="49" charset="-122"/>
              </a:rPr>
              <a:t> 无向图的连通性</a:t>
            </a:r>
            <a:endParaRPr lang="en-US" altLang="zh-CN" sz="3600" b="1" dirty="0">
              <a:solidFill>
                <a:schemeClr val="accent2"/>
              </a:solidFill>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有向图的连通性</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3591427"/>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DF2EFE9-4A41-479E-87B3-59CC1CFAF1D0}"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67939" name="Text Box 2"/>
          <p:cNvSpPr txBox="1">
            <a:spLocks noChangeArrowheads="1"/>
          </p:cNvSpPr>
          <p:nvPr/>
        </p:nvSpPr>
        <p:spPr bwMode="auto">
          <a:xfrm>
            <a:off x="1636713" y="620688"/>
            <a:ext cx="6265863"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图模型的连通性</a:t>
            </a:r>
          </a:p>
        </p:txBody>
      </p:sp>
      <p:pic>
        <p:nvPicPr>
          <p:cNvPr id="16794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图片 56">
            <a:extLst>
              <a:ext uri="{FF2B5EF4-FFF2-40B4-BE49-F238E27FC236}">
                <a16:creationId xmlns:a16="http://schemas.microsoft.com/office/drawing/2014/main" id="{965522AC-EBB2-4C4D-96CA-330B05BEADE2}"/>
              </a:ext>
            </a:extLst>
          </p:cNvPr>
          <p:cNvPicPr>
            <a:picLocks noChangeAspect="1"/>
          </p:cNvPicPr>
          <p:nvPr/>
        </p:nvPicPr>
        <p:blipFill>
          <a:blip r:embed="rId4"/>
          <a:stretch>
            <a:fillRect/>
          </a:stretch>
        </p:blipFill>
        <p:spPr>
          <a:xfrm>
            <a:off x="1817316" y="1614767"/>
            <a:ext cx="5904656" cy="4646574"/>
          </a:xfrm>
          <a:prstGeom prst="rect">
            <a:avLst/>
          </a:prstGeom>
        </p:spPr>
      </p:pic>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F36DF92-8746-4AF2-B31E-53C0572A5AED}"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68964" name="Text Box 2"/>
          <p:cNvSpPr txBox="1">
            <a:spLocks noChangeArrowheads="1"/>
          </p:cNvSpPr>
          <p:nvPr/>
        </p:nvSpPr>
        <p:spPr bwMode="auto">
          <a:xfrm>
            <a:off x="1619250" y="765175"/>
            <a:ext cx="6265863"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无向图的连通性</a:t>
            </a:r>
          </a:p>
        </p:txBody>
      </p:sp>
      <p:pic>
        <p:nvPicPr>
          <p:cNvPr id="16896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D7524D03-5023-496A-A549-0678182F6545}"/>
              </a:ext>
            </a:extLst>
          </p:cNvPr>
          <p:cNvPicPr>
            <a:picLocks noChangeAspect="1"/>
          </p:cNvPicPr>
          <p:nvPr/>
        </p:nvPicPr>
        <p:blipFill>
          <a:blip r:embed="rId4"/>
          <a:stretch>
            <a:fillRect/>
          </a:stretch>
        </p:blipFill>
        <p:spPr>
          <a:xfrm>
            <a:off x="323528" y="2082298"/>
            <a:ext cx="8680835" cy="4010527"/>
          </a:xfrm>
          <a:prstGeom prst="rect">
            <a:avLst/>
          </a:prstGeom>
        </p:spPr>
      </p:pic>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E1F8225E-5951-45C3-B136-44B0042E62FE}"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69988" name="Text Box 2"/>
          <p:cNvSpPr txBox="1">
            <a:spLocks noChangeArrowheads="1"/>
          </p:cNvSpPr>
          <p:nvPr/>
        </p:nvSpPr>
        <p:spPr bwMode="auto">
          <a:xfrm>
            <a:off x="1547813" y="765175"/>
            <a:ext cx="6480571"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连通关系的等价性</a:t>
            </a:r>
            <a:endParaRPr lang="en-US" altLang="zh-CN" sz="4800" b="1" dirty="0">
              <a:solidFill>
                <a:schemeClr val="bg1"/>
              </a:solidFill>
              <a:latin typeface="宋体" panose="02010600030101010101" pitchFamily="2" charset="-122"/>
              <a:ea typeface="宋体" panose="02010600030101010101" pitchFamily="2" charset="-122"/>
            </a:endParaRPr>
          </a:p>
        </p:txBody>
      </p:sp>
      <p:pic>
        <p:nvPicPr>
          <p:cNvPr id="16998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3075" name="Rectangle 3"/>
          <p:cNvSpPr>
            <a:spLocks noChangeArrowheads="1"/>
          </p:cNvSpPr>
          <p:nvPr/>
        </p:nvSpPr>
        <p:spPr bwMode="auto">
          <a:xfrm>
            <a:off x="827584" y="4235013"/>
            <a:ext cx="8064500" cy="1800200"/>
          </a:xfrm>
          <a:prstGeom prst="rect">
            <a:avLst/>
          </a:prstGeom>
          <a:solidFill>
            <a:schemeClr val="accent3">
              <a:lumMod val="85000"/>
            </a:schemeClr>
          </a:solidFill>
          <a:ln>
            <a:noFill/>
          </a:ln>
          <a:effectLst/>
        </p:spPr>
        <p:txBody>
          <a:bodyPr/>
          <a:lstStyle/>
          <a:p>
            <a:pPr eaLnBrk="1" hangingPunct="1">
              <a:lnSpc>
                <a:spcPct val="150000"/>
              </a:lnSpc>
              <a:spcBef>
                <a:spcPct val="20000"/>
              </a:spcBef>
              <a:defRPr/>
            </a:pPr>
            <a:r>
              <a:rPr kumimoji="1" lang="en-US" altLang="zh-CN" sz="2400" b="1" dirty="0">
                <a:latin typeface="楷体_GB2312" pitchFamily="49" charset="-122"/>
                <a:ea typeface="楷体_GB2312" pitchFamily="49" charset="-122"/>
                <a:cs typeface="楷体_GB2312" pitchFamily="49" charset="-122"/>
              </a:rPr>
              <a:t>    【</a:t>
            </a:r>
            <a:r>
              <a:rPr kumimoji="1" lang="zh-CN" altLang="en-US" sz="2400" b="1" dirty="0">
                <a:latin typeface="楷体_GB2312" pitchFamily="49" charset="-122"/>
                <a:ea typeface="楷体_GB2312" pitchFamily="49" charset="-122"/>
                <a:cs typeface="楷体_GB2312" pitchFamily="49" charset="-122"/>
              </a:rPr>
              <a:t>说明</a:t>
            </a:r>
            <a:r>
              <a:rPr kumimoji="1" lang="en-US" altLang="zh-CN" sz="2400" b="1" dirty="0">
                <a:latin typeface="楷体_GB2312" pitchFamily="49" charset="-122"/>
                <a:ea typeface="楷体_GB2312" pitchFamily="49" charset="-122"/>
                <a:cs typeface="楷体_GB2312" pitchFamily="49" charset="-122"/>
              </a:rPr>
              <a:t>】</a:t>
            </a:r>
            <a:r>
              <a:rPr kumimoji="1" lang="zh-CN" altLang="en-US" sz="2400" b="1" dirty="0">
                <a:solidFill>
                  <a:schemeClr val="tx1"/>
                </a:solidFill>
                <a:latin typeface="楷体_GB2312" pitchFamily="49" charset="-122"/>
                <a:ea typeface="楷体_GB2312" pitchFamily="49" charset="-122"/>
                <a:cs typeface="楷体_GB2312" pitchFamily="49" charset="-122"/>
              </a:rPr>
              <a:t>等价关系可以</a:t>
            </a:r>
            <a:r>
              <a:rPr kumimoji="1" lang="zh-CN" altLang="en-US" sz="2400" b="1" dirty="0">
                <a:solidFill>
                  <a:srgbClr val="0000FF"/>
                </a:solidFill>
                <a:latin typeface="楷体_GB2312" pitchFamily="49" charset="-122"/>
                <a:ea typeface="楷体_GB2312" pitchFamily="49" charset="-122"/>
                <a:cs typeface="楷体_GB2312" pitchFamily="49" charset="-122"/>
              </a:rPr>
              <a:t>确定对集合的划分</a:t>
            </a:r>
            <a:r>
              <a:rPr kumimoji="1" lang="zh-CN" altLang="en-US" sz="2400" b="1" dirty="0">
                <a:solidFill>
                  <a:schemeClr val="tx1"/>
                </a:solidFill>
                <a:latin typeface="楷体_GB2312" pitchFamily="49" charset="-122"/>
                <a:ea typeface="楷体_GB2312" pitchFamily="49" charset="-122"/>
                <a:cs typeface="楷体_GB2312" pitchFamily="49" charset="-122"/>
              </a:rPr>
              <a:t>，因此对于任何无向图的结点集都存在一种划分，使得每个划分块中的结点都彼此可达，而两个不同划分块中的结点都不可达。 </a:t>
            </a:r>
          </a:p>
        </p:txBody>
      </p:sp>
      <mc:AlternateContent xmlns:mc="http://schemas.openxmlformats.org/markup-compatibility/2006" xmlns:a14="http://schemas.microsoft.com/office/drawing/2010/main">
        <mc:Choice Requires="a14">
          <p:sp>
            <p:nvSpPr>
              <p:cNvPr id="3" name="文本框 2"/>
              <p:cNvSpPr txBox="1"/>
              <p:nvPr/>
            </p:nvSpPr>
            <p:spPr>
              <a:xfrm>
                <a:off x="827584" y="1909631"/>
                <a:ext cx="8064500" cy="1879810"/>
              </a:xfrm>
              <a:prstGeom prst="rect">
                <a:avLst/>
              </a:prstGeom>
              <a:solidFill>
                <a:schemeClr val="accent5"/>
              </a:solidFill>
              <a:ln w="19050">
                <a:noFill/>
              </a:ln>
            </p:spPr>
            <p:txBody>
              <a:bodyPr wrap="square" rtlCol="0">
                <a:spAutoFit/>
              </a:bodyPr>
              <a:lstStyle/>
              <a:p>
                <a:r>
                  <a:rPr lang="en-US" altLang="zh-CN" sz="2400" dirty="0">
                    <a:effectLst/>
                    <a:latin typeface="+mn-ea"/>
                    <a:ea typeface="+mn-ea"/>
                  </a:rPr>
                  <a:t>   </a:t>
                </a:r>
                <a:r>
                  <a:rPr lang="zh-CN" altLang="zh-CN" sz="2400" dirty="0">
                    <a:effectLst/>
                  </a:rPr>
                  <a:t>【</a:t>
                </a:r>
                <a:r>
                  <a:rPr lang="zh-CN" altLang="zh-CN" sz="2400" b="1" dirty="0">
                    <a:effectLst/>
                  </a:rPr>
                  <a:t>定理</a:t>
                </a:r>
                <a:r>
                  <a:rPr lang="zh-CN" altLang="zh-CN" sz="2400" dirty="0">
                    <a:effectLst/>
                  </a:rPr>
                  <a:t>】</a:t>
                </a:r>
                <a:r>
                  <a:rPr lang="zh-CN" altLang="zh-CN" sz="2400" b="1" dirty="0">
                    <a:solidFill>
                      <a:schemeClr val="tx1"/>
                    </a:solidFill>
                    <a:effectLst/>
                  </a:rPr>
                  <a:t>设</a:t>
                </a:r>
                <a14:m>
                  <m:oMath xmlns:m="http://schemas.openxmlformats.org/officeDocument/2006/math">
                    <m:r>
                      <a:rPr lang="zh-CN" altLang="zh-CN" sz="2400" b="1">
                        <a:solidFill>
                          <a:schemeClr val="tx1"/>
                        </a:solidFill>
                        <a:effectLst/>
                        <a:latin typeface="Cambria Math" panose="02040503050406030204" pitchFamily="18" charset="0"/>
                        <a:ea typeface="+mn-ea"/>
                      </a:rPr>
                      <m:t> </m:t>
                    </m:r>
                    <m:r>
                      <a:rPr lang="en-US" altLang="zh-CN" sz="2400" b="1" i="1">
                        <a:solidFill>
                          <a:schemeClr val="tx1"/>
                        </a:solidFill>
                        <a:effectLst/>
                        <a:latin typeface="Cambria Math" panose="02040503050406030204" pitchFamily="18" charset="0"/>
                        <a:ea typeface="+mn-ea"/>
                      </a:rPr>
                      <m:t>𝑮</m:t>
                    </m:r>
                    <m:r>
                      <a:rPr lang="en-US" altLang="zh-CN" sz="2400" b="1" i="1">
                        <a:solidFill>
                          <a:schemeClr val="tx1"/>
                        </a:solidFill>
                        <a:effectLst/>
                        <a:latin typeface="Cambria Math" panose="02040503050406030204" pitchFamily="18" charset="0"/>
                        <a:ea typeface="+mn-ea"/>
                      </a:rPr>
                      <m:t>=</m:t>
                    </m:r>
                    <m:d>
                      <m:dPr>
                        <m:begChr m:val="〈"/>
                        <m:endChr m:val="〉"/>
                        <m:ctrlPr>
                          <a:rPr lang="zh-CN" altLang="zh-CN" sz="2400" b="1" i="1">
                            <a:solidFill>
                              <a:schemeClr val="tx1"/>
                            </a:solidFill>
                            <a:effectLst/>
                            <a:latin typeface="Cambria Math" panose="02040503050406030204" pitchFamily="18" charset="0"/>
                            <a:ea typeface="+mn-ea"/>
                          </a:rPr>
                        </m:ctrlPr>
                      </m:dPr>
                      <m:e>
                        <m:r>
                          <a:rPr lang="en-US" altLang="zh-CN" sz="2400" b="1" i="1">
                            <a:solidFill>
                              <a:schemeClr val="tx1"/>
                            </a:solidFill>
                            <a:effectLst/>
                            <a:latin typeface="Cambria Math" panose="02040503050406030204" pitchFamily="18" charset="0"/>
                            <a:ea typeface="+mn-ea"/>
                          </a:rPr>
                          <m:t>𝑽</m:t>
                        </m:r>
                        <m:r>
                          <a:rPr lang="en-US" altLang="zh-CN" sz="2400" b="1" i="1">
                            <a:solidFill>
                              <a:schemeClr val="tx1"/>
                            </a:solidFill>
                            <a:effectLst/>
                            <a:latin typeface="Cambria Math" panose="02040503050406030204" pitchFamily="18" charset="0"/>
                            <a:ea typeface="+mn-ea"/>
                          </a:rPr>
                          <m:t>,</m:t>
                        </m:r>
                        <m:r>
                          <a:rPr lang="en-US" altLang="zh-CN" sz="2400" b="1" i="1">
                            <a:solidFill>
                              <a:schemeClr val="tx1"/>
                            </a:solidFill>
                            <a:effectLst/>
                            <a:latin typeface="Cambria Math" panose="02040503050406030204" pitchFamily="18" charset="0"/>
                            <a:ea typeface="+mn-ea"/>
                          </a:rPr>
                          <m:t>𝑬</m:t>
                        </m:r>
                      </m:e>
                    </m:d>
                    <m:r>
                      <a:rPr lang="en-US" altLang="zh-CN" sz="2400" b="1" i="1">
                        <a:solidFill>
                          <a:schemeClr val="tx1"/>
                        </a:solidFill>
                        <a:effectLst/>
                        <a:latin typeface="Cambria Math" panose="02040503050406030204" pitchFamily="18" charset="0"/>
                        <a:ea typeface="+mn-ea"/>
                      </a:rPr>
                      <m:t> </m:t>
                    </m:r>
                  </m:oMath>
                </a14:m>
                <a:r>
                  <a:rPr lang="zh-CN" altLang="zh-CN" sz="2400" b="1" dirty="0">
                    <a:solidFill>
                      <a:schemeClr val="tx1"/>
                    </a:solidFill>
                    <a:effectLst/>
                  </a:rPr>
                  <a:t>为无向图，</a:t>
                </a:r>
                <a14:m>
                  <m:oMath xmlns:m="http://schemas.openxmlformats.org/officeDocument/2006/math">
                    <m:r>
                      <a:rPr lang="en-US" altLang="zh-CN" sz="2400" b="1" i="1">
                        <a:solidFill>
                          <a:schemeClr val="tx1"/>
                        </a:solidFill>
                        <a:effectLst/>
                        <a:latin typeface="Cambria Math" panose="02040503050406030204" pitchFamily="18" charset="0"/>
                        <a:ea typeface="+mn-ea"/>
                      </a:rPr>
                      <m:t>𝑽</m:t>
                    </m:r>
                    <m:r>
                      <a:rPr lang="en-US" altLang="zh-CN" sz="2400" b="1" i="1">
                        <a:solidFill>
                          <a:schemeClr val="tx1"/>
                        </a:solidFill>
                        <a:effectLst/>
                        <a:latin typeface="Cambria Math" panose="02040503050406030204" pitchFamily="18" charset="0"/>
                        <a:ea typeface="+mn-ea"/>
                      </a:rPr>
                      <m:t>=</m:t>
                    </m:r>
                    <m:d>
                      <m:dPr>
                        <m:begChr m:val="{"/>
                        <m:endChr m:val="}"/>
                        <m:ctrlPr>
                          <a:rPr lang="zh-CN" altLang="zh-CN" sz="2400" b="1" i="1">
                            <a:solidFill>
                              <a:schemeClr val="tx1"/>
                            </a:solidFill>
                            <a:effectLst/>
                            <a:latin typeface="Cambria Math" panose="02040503050406030204" pitchFamily="18" charset="0"/>
                            <a:ea typeface="+mn-ea"/>
                          </a:rPr>
                        </m:ctrlPr>
                      </m:dPr>
                      <m:e>
                        <m:sSub>
                          <m:sSubPr>
                            <m:ctrlPr>
                              <a:rPr lang="zh-CN" altLang="zh-CN" sz="2400" b="1" i="1">
                                <a:solidFill>
                                  <a:schemeClr val="tx1"/>
                                </a:solidFill>
                                <a:effectLst/>
                                <a:latin typeface="Cambria Math" panose="02040503050406030204" pitchFamily="18" charset="0"/>
                                <a:ea typeface="+mn-ea"/>
                              </a:rPr>
                            </m:ctrlPr>
                          </m:sSubPr>
                          <m:e>
                            <m:r>
                              <a:rPr lang="en-US" altLang="zh-CN" sz="2400" b="1" i="1">
                                <a:solidFill>
                                  <a:schemeClr val="tx1"/>
                                </a:solidFill>
                                <a:effectLst/>
                                <a:latin typeface="Cambria Math" panose="02040503050406030204" pitchFamily="18" charset="0"/>
                                <a:ea typeface="+mn-ea"/>
                              </a:rPr>
                              <m:t>𝒗</m:t>
                            </m:r>
                          </m:e>
                          <m:sub>
                            <m:r>
                              <a:rPr lang="en-US" altLang="zh-CN" sz="2400" b="1" i="1">
                                <a:solidFill>
                                  <a:schemeClr val="tx1"/>
                                </a:solidFill>
                                <a:effectLst/>
                                <a:latin typeface="Cambria Math" panose="02040503050406030204" pitchFamily="18" charset="0"/>
                                <a:ea typeface="+mn-ea"/>
                              </a:rPr>
                              <m:t>𝟏</m:t>
                            </m:r>
                          </m:sub>
                        </m:sSub>
                        <m:r>
                          <a:rPr lang="en-US" altLang="zh-CN" sz="2400" b="1" i="1">
                            <a:solidFill>
                              <a:schemeClr val="tx1"/>
                            </a:solidFill>
                            <a:effectLst/>
                            <a:latin typeface="Cambria Math" panose="02040503050406030204" pitchFamily="18" charset="0"/>
                            <a:ea typeface="+mn-ea"/>
                          </a:rPr>
                          <m:t>,</m:t>
                        </m:r>
                        <m:sSub>
                          <m:sSubPr>
                            <m:ctrlPr>
                              <a:rPr lang="zh-CN" altLang="zh-CN" sz="2400" b="1" i="1">
                                <a:solidFill>
                                  <a:schemeClr val="tx1"/>
                                </a:solidFill>
                                <a:effectLst/>
                                <a:latin typeface="Cambria Math" panose="02040503050406030204" pitchFamily="18" charset="0"/>
                                <a:ea typeface="+mn-ea"/>
                              </a:rPr>
                            </m:ctrlPr>
                          </m:sSubPr>
                          <m:e>
                            <m:r>
                              <a:rPr lang="en-US" altLang="zh-CN" sz="2400" b="1" i="1">
                                <a:solidFill>
                                  <a:schemeClr val="tx1"/>
                                </a:solidFill>
                                <a:effectLst/>
                                <a:latin typeface="Cambria Math" panose="02040503050406030204" pitchFamily="18" charset="0"/>
                                <a:ea typeface="+mn-ea"/>
                              </a:rPr>
                              <m:t>𝒗</m:t>
                            </m:r>
                          </m:e>
                          <m:sub>
                            <m:r>
                              <a:rPr lang="en-US" altLang="zh-CN" sz="2400" b="1" i="1">
                                <a:solidFill>
                                  <a:schemeClr val="tx1"/>
                                </a:solidFill>
                                <a:effectLst/>
                                <a:latin typeface="Cambria Math" panose="02040503050406030204" pitchFamily="18" charset="0"/>
                                <a:ea typeface="+mn-ea"/>
                              </a:rPr>
                              <m:t>𝟐</m:t>
                            </m:r>
                          </m:sub>
                        </m:sSub>
                        <m:r>
                          <a:rPr lang="en-US" altLang="zh-CN" sz="2400" b="1" i="1">
                            <a:solidFill>
                              <a:schemeClr val="tx1"/>
                            </a:solidFill>
                            <a:effectLst/>
                            <a:latin typeface="Cambria Math" panose="02040503050406030204" pitchFamily="18" charset="0"/>
                            <a:ea typeface="+mn-ea"/>
                          </a:rPr>
                          <m:t>,…,</m:t>
                        </m:r>
                        <m:sSub>
                          <m:sSubPr>
                            <m:ctrlPr>
                              <a:rPr lang="zh-CN" altLang="zh-CN" sz="2400" b="1" i="1">
                                <a:solidFill>
                                  <a:schemeClr val="tx1"/>
                                </a:solidFill>
                                <a:effectLst/>
                                <a:latin typeface="Cambria Math" panose="02040503050406030204" pitchFamily="18" charset="0"/>
                                <a:ea typeface="+mn-ea"/>
                              </a:rPr>
                            </m:ctrlPr>
                          </m:sSubPr>
                          <m:e>
                            <m:r>
                              <a:rPr lang="en-US" altLang="zh-CN" sz="2400" b="1" i="1">
                                <a:solidFill>
                                  <a:schemeClr val="tx1"/>
                                </a:solidFill>
                                <a:effectLst/>
                                <a:latin typeface="Cambria Math" panose="02040503050406030204" pitchFamily="18" charset="0"/>
                                <a:ea typeface="+mn-ea"/>
                              </a:rPr>
                              <m:t>𝒗</m:t>
                            </m:r>
                          </m:e>
                          <m:sub>
                            <m:r>
                              <a:rPr lang="en-US" altLang="zh-CN" sz="2400" b="1" i="1">
                                <a:solidFill>
                                  <a:schemeClr val="tx1"/>
                                </a:solidFill>
                                <a:effectLst/>
                                <a:latin typeface="Cambria Math" panose="02040503050406030204" pitchFamily="18" charset="0"/>
                                <a:ea typeface="+mn-ea"/>
                              </a:rPr>
                              <m:t>𝒏</m:t>
                            </m:r>
                          </m:sub>
                        </m:sSub>
                      </m:e>
                    </m:d>
                  </m:oMath>
                </a14:m>
                <a:r>
                  <a:rPr lang="zh-CN" altLang="zh-CN" sz="2400" b="1" dirty="0">
                    <a:solidFill>
                      <a:schemeClr val="tx1"/>
                    </a:solidFill>
                    <a:effectLst/>
                  </a:rPr>
                  <a:t>，令</a:t>
                </a:r>
                <a14:m>
                  <m:oMath xmlns:m="http://schemas.openxmlformats.org/officeDocument/2006/math">
                    <m:r>
                      <a:rPr lang="en-US" altLang="zh-CN" sz="2400" b="1" i="1">
                        <a:solidFill>
                          <a:schemeClr val="tx1"/>
                        </a:solidFill>
                        <a:effectLst/>
                        <a:latin typeface="Cambria Math" panose="02040503050406030204" pitchFamily="18" charset="0"/>
                        <a:ea typeface="+mn-ea"/>
                      </a:rPr>
                      <m:t>𝑹</m:t>
                    </m:r>
                    <m:r>
                      <a:rPr lang="en-US" altLang="zh-CN" sz="2400" b="1" i="1">
                        <a:solidFill>
                          <a:schemeClr val="tx1"/>
                        </a:solidFill>
                        <a:effectLst/>
                        <a:latin typeface="Cambria Math" panose="02040503050406030204" pitchFamily="18" charset="0"/>
                        <a:ea typeface="+mn-ea"/>
                      </a:rPr>
                      <m:t> </m:t>
                    </m:r>
                  </m:oMath>
                </a14:m>
                <a:r>
                  <a:rPr lang="zh-CN" altLang="zh-CN" sz="2400" b="1" dirty="0">
                    <a:solidFill>
                      <a:schemeClr val="tx1"/>
                    </a:solidFill>
                    <a:effectLst/>
                  </a:rPr>
                  <a:t>是</a:t>
                </a:r>
                <a14:m>
                  <m:oMath xmlns:m="http://schemas.openxmlformats.org/officeDocument/2006/math">
                    <m:r>
                      <a:rPr lang="en-US" altLang="zh-CN" sz="2400" b="1" i="1">
                        <a:solidFill>
                          <a:schemeClr val="tx1"/>
                        </a:solidFill>
                        <a:effectLst/>
                        <a:latin typeface="Cambria Math" panose="02040503050406030204" pitchFamily="18" charset="0"/>
                        <a:ea typeface="+mn-ea"/>
                      </a:rPr>
                      <m:t>𝑽</m:t>
                    </m:r>
                    <m:r>
                      <a:rPr lang="en-US" altLang="zh-CN" sz="2400" b="1" i="1">
                        <a:solidFill>
                          <a:schemeClr val="tx1"/>
                        </a:solidFill>
                        <a:effectLst/>
                        <a:latin typeface="Cambria Math" panose="02040503050406030204" pitchFamily="18" charset="0"/>
                        <a:ea typeface="+mn-ea"/>
                      </a:rPr>
                      <m:t>=</m:t>
                    </m:r>
                    <m:d>
                      <m:dPr>
                        <m:begChr m:val="{"/>
                        <m:endChr m:val="}"/>
                        <m:ctrlPr>
                          <a:rPr lang="zh-CN" altLang="zh-CN" sz="2400" b="1" i="1">
                            <a:solidFill>
                              <a:schemeClr val="tx1"/>
                            </a:solidFill>
                            <a:effectLst/>
                            <a:latin typeface="Cambria Math" panose="02040503050406030204" pitchFamily="18" charset="0"/>
                            <a:ea typeface="+mn-ea"/>
                          </a:rPr>
                        </m:ctrlPr>
                      </m:dPr>
                      <m:e>
                        <m:sSub>
                          <m:sSubPr>
                            <m:ctrlPr>
                              <a:rPr lang="zh-CN" altLang="zh-CN" sz="2400" b="1" i="1">
                                <a:solidFill>
                                  <a:schemeClr val="tx1"/>
                                </a:solidFill>
                                <a:effectLst/>
                                <a:latin typeface="Cambria Math" panose="02040503050406030204" pitchFamily="18" charset="0"/>
                                <a:ea typeface="+mn-ea"/>
                              </a:rPr>
                            </m:ctrlPr>
                          </m:sSubPr>
                          <m:e>
                            <m:r>
                              <a:rPr lang="en-US" altLang="zh-CN" sz="2400" b="1" i="1">
                                <a:solidFill>
                                  <a:schemeClr val="tx1"/>
                                </a:solidFill>
                                <a:effectLst/>
                                <a:latin typeface="Cambria Math" panose="02040503050406030204" pitchFamily="18" charset="0"/>
                                <a:ea typeface="+mn-ea"/>
                              </a:rPr>
                              <m:t>𝒗</m:t>
                            </m:r>
                          </m:e>
                          <m:sub>
                            <m:r>
                              <a:rPr lang="en-US" altLang="zh-CN" sz="2400" b="1" i="1">
                                <a:solidFill>
                                  <a:schemeClr val="tx1"/>
                                </a:solidFill>
                                <a:effectLst/>
                                <a:latin typeface="Cambria Math" panose="02040503050406030204" pitchFamily="18" charset="0"/>
                                <a:ea typeface="+mn-ea"/>
                              </a:rPr>
                              <m:t>𝟏</m:t>
                            </m:r>
                          </m:sub>
                        </m:sSub>
                        <m:r>
                          <a:rPr lang="en-US" altLang="zh-CN" sz="2400" b="1" i="1">
                            <a:solidFill>
                              <a:schemeClr val="tx1"/>
                            </a:solidFill>
                            <a:effectLst/>
                            <a:latin typeface="Cambria Math" panose="02040503050406030204" pitchFamily="18" charset="0"/>
                            <a:ea typeface="+mn-ea"/>
                          </a:rPr>
                          <m:t>,</m:t>
                        </m:r>
                        <m:sSub>
                          <m:sSubPr>
                            <m:ctrlPr>
                              <a:rPr lang="zh-CN" altLang="zh-CN" sz="2400" b="1" i="1">
                                <a:solidFill>
                                  <a:schemeClr val="tx1"/>
                                </a:solidFill>
                                <a:effectLst/>
                                <a:latin typeface="Cambria Math" panose="02040503050406030204" pitchFamily="18" charset="0"/>
                                <a:ea typeface="+mn-ea"/>
                              </a:rPr>
                            </m:ctrlPr>
                          </m:sSubPr>
                          <m:e>
                            <m:r>
                              <a:rPr lang="en-US" altLang="zh-CN" sz="2400" b="1" i="1">
                                <a:solidFill>
                                  <a:schemeClr val="tx1"/>
                                </a:solidFill>
                                <a:effectLst/>
                                <a:latin typeface="Cambria Math" panose="02040503050406030204" pitchFamily="18" charset="0"/>
                                <a:ea typeface="+mn-ea"/>
                              </a:rPr>
                              <m:t>𝒗</m:t>
                            </m:r>
                          </m:e>
                          <m:sub>
                            <m:r>
                              <a:rPr lang="en-US" altLang="zh-CN" sz="2400" b="1" i="1">
                                <a:solidFill>
                                  <a:schemeClr val="tx1"/>
                                </a:solidFill>
                                <a:effectLst/>
                                <a:latin typeface="Cambria Math" panose="02040503050406030204" pitchFamily="18" charset="0"/>
                                <a:ea typeface="+mn-ea"/>
                              </a:rPr>
                              <m:t>𝟐</m:t>
                            </m:r>
                          </m:sub>
                        </m:sSub>
                        <m:r>
                          <a:rPr lang="en-US" altLang="zh-CN" sz="2400" b="1" i="1">
                            <a:solidFill>
                              <a:schemeClr val="tx1"/>
                            </a:solidFill>
                            <a:effectLst/>
                            <a:latin typeface="Cambria Math" panose="02040503050406030204" pitchFamily="18" charset="0"/>
                            <a:ea typeface="+mn-ea"/>
                          </a:rPr>
                          <m:t>,…,</m:t>
                        </m:r>
                        <m:sSub>
                          <m:sSubPr>
                            <m:ctrlPr>
                              <a:rPr lang="zh-CN" altLang="zh-CN" sz="2400" b="1" i="1">
                                <a:solidFill>
                                  <a:schemeClr val="tx1"/>
                                </a:solidFill>
                                <a:effectLst/>
                                <a:latin typeface="Cambria Math" panose="02040503050406030204" pitchFamily="18" charset="0"/>
                                <a:ea typeface="+mn-ea"/>
                              </a:rPr>
                            </m:ctrlPr>
                          </m:sSubPr>
                          <m:e>
                            <m:r>
                              <a:rPr lang="en-US" altLang="zh-CN" sz="2400" b="1" i="1">
                                <a:solidFill>
                                  <a:schemeClr val="tx1"/>
                                </a:solidFill>
                                <a:effectLst/>
                                <a:latin typeface="Cambria Math" panose="02040503050406030204" pitchFamily="18" charset="0"/>
                                <a:ea typeface="+mn-ea"/>
                              </a:rPr>
                              <m:t>𝒗</m:t>
                            </m:r>
                          </m:e>
                          <m:sub>
                            <m:r>
                              <a:rPr lang="en-US" altLang="zh-CN" sz="2400" b="1" i="1">
                                <a:solidFill>
                                  <a:schemeClr val="tx1"/>
                                </a:solidFill>
                                <a:effectLst/>
                                <a:latin typeface="Cambria Math" panose="02040503050406030204" pitchFamily="18" charset="0"/>
                                <a:ea typeface="+mn-ea"/>
                              </a:rPr>
                              <m:t>𝒏</m:t>
                            </m:r>
                          </m:sub>
                        </m:sSub>
                      </m:e>
                    </m:d>
                  </m:oMath>
                </a14:m>
                <a:r>
                  <a:rPr lang="zh-CN" altLang="zh-CN" sz="2400" b="1" dirty="0">
                    <a:solidFill>
                      <a:schemeClr val="tx1"/>
                    </a:solidFill>
                    <a:effectLst/>
                  </a:rPr>
                  <a:t>上结点之间的连通关系，即有：</a:t>
                </a:r>
              </a:p>
              <a:p>
                <a:pPr algn="ctr">
                  <a:spcBef>
                    <a:spcPts val="1200"/>
                  </a:spcBef>
                  <a:spcAft>
                    <a:spcPts val="1200"/>
                  </a:spcAft>
                </a:pPr>
                <a14:m>
                  <m:oMath xmlns:m="http://schemas.openxmlformats.org/officeDocument/2006/math">
                    <m:r>
                      <a:rPr lang="en-US" altLang="zh-CN" sz="2400" b="1" i="1" smtClean="0">
                        <a:solidFill>
                          <a:srgbClr val="0000FF"/>
                        </a:solidFill>
                        <a:effectLst/>
                        <a:latin typeface="Cambria Math" panose="02040503050406030204" pitchFamily="18" charset="0"/>
                        <a:ea typeface="+mn-ea"/>
                      </a:rPr>
                      <m:t>𝑹</m:t>
                    </m:r>
                    <m:r>
                      <a:rPr lang="en-US" altLang="zh-CN" sz="2400" b="1">
                        <a:solidFill>
                          <a:srgbClr val="0000FF"/>
                        </a:solidFill>
                        <a:effectLst/>
                        <a:latin typeface="Cambria Math" panose="02040503050406030204" pitchFamily="18" charset="0"/>
                        <a:ea typeface="+mn-ea"/>
                      </a:rPr>
                      <m:t>={</m:t>
                    </m:r>
                    <m:d>
                      <m:dPr>
                        <m:begChr m:val="〈"/>
                        <m:endChr m:val="〉"/>
                        <m:ctrlPr>
                          <a:rPr lang="zh-CN" altLang="zh-CN" sz="2400" b="1" i="1">
                            <a:solidFill>
                              <a:srgbClr val="0000FF"/>
                            </a:solidFill>
                            <a:effectLst/>
                            <a:latin typeface="Cambria Math" panose="02040503050406030204" pitchFamily="18" charset="0"/>
                            <a:ea typeface="+mn-ea"/>
                          </a:rPr>
                        </m:ctrlPr>
                      </m:dPr>
                      <m:e>
                        <m:r>
                          <a:rPr lang="en-US" altLang="zh-CN" sz="2400" b="1" i="1">
                            <a:solidFill>
                              <a:srgbClr val="0000FF"/>
                            </a:solidFill>
                            <a:effectLst/>
                            <a:latin typeface="Cambria Math" panose="02040503050406030204" pitchFamily="18" charset="0"/>
                            <a:ea typeface="+mn-ea"/>
                          </a:rPr>
                          <m:t>𝒖</m:t>
                        </m:r>
                        <m:r>
                          <a:rPr lang="en-US" altLang="zh-CN" sz="2400" b="1">
                            <a:solidFill>
                              <a:srgbClr val="0000FF"/>
                            </a:solidFill>
                            <a:effectLst/>
                            <a:latin typeface="Cambria Math" panose="02040503050406030204" pitchFamily="18" charset="0"/>
                            <a:ea typeface="+mn-ea"/>
                          </a:rPr>
                          <m:t>,</m:t>
                        </m:r>
                        <m:r>
                          <a:rPr lang="en-US" altLang="zh-CN" sz="2400" b="1" i="1">
                            <a:solidFill>
                              <a:srgbClr val="0000FF"/>
                            </a:solidFill>
                            <a:effectLst/>
                            <a:latin typeface="Cambria Math" panose="02040503050406030204" pitchFamily="18" charset="0"/>
                            <a:ea typeface="+mn-ea"/>
                          </a:rPr>
                          <m:t>𝒗</m:t>
                        </m:r>
                      </m:e>
                    </m:d>
                    <m:r>
                      <a:rPr lang="en-US" altLang="zh-CN" sz="2400" b="1">
                        <a:solidFill>
                          <a:srgbClr val="0000FF"/>
                        </a:solidFill>
                        <a:effectLst/>
                        <a:latin typeface="Cambria Math" panose="02040503050406030204" pitchFamily="18" charset="0"/>
                        <a:ea typeface="+mn-ea"/>
                      </a:rPr>
                      <m:t>|</m:t>
                    </m:r>
                    <m:r>
                      <a:rPr lang="en-US" altLang="zh-CN" sz="2400" b="1" i="1">
                        <a:solidFill>
                          <a:srgbClr val="0000FF"/>
                        </a:solidFill>
                        <a:effectLst/>
                        <a:latin typeface="Cambria Math" panose="02040503050406030204" pitchFamily="18" charset="0"/>
                        <a:ea typeface="+mn-ea"/>
                      </a:rPr>
                      <m:t>𝒖</m:t>
                    </m:r>
                    <m:r>
                      <a:rPr lang="en-US" altLang="zh-CN" sz="2400" b="1">
                        <a:solidFill>
                          <a:srgbClr val="0000FF"/>
                        </a:solidFill>
                        <a:effectLst/>
                        <a:latin typeface="Cambria Math" panose="02040503050406030204" pitchFamily="18" charset="0"/>
                        <a:ea typeface="+mn-ea"/>
                      </a:rPr>
                      <m:t>,</m:t>
                    </m:r>
                    <m:r>
                      <a:rPr lang="en-US" altLang="zh-CN" sz="2400" b="1" i="1">
                        <a:solidFill>
                          <a:srgbClr val="0000FF"/>
                        </a:solidFill>
                        <a:effectLst/>
                        <a:latin typeface="Cambria Math" panose="02040503050406030204" pitchFamily="18" charset="0"/>
                        <a:ea typeface="+mn-ea"/>
                      </a:rPr>
                      <m:t>𝒗</m:t>
                    </m:r>
                    <m:r>
                      <a:rPr lang="en-US" altLang="zh-CN" sz="2400" b="1" i="1">
                        <a:solidFill>
                          <a:srgbClr val="0000FF"/>
                        </a:solidFill>
                        <a:effectLst/>
                        <a:latin typeface="Cambria Math" panose="02040503050406030204" pitchFamily="18" charset="0"/>
                        <a:ea typeface="+mn-ea"/>
                      </a:rPr>
                      <m:t>∈</m:t>
                    </m:r>
                    <m:r>
                      <a:rPr lang="en-US" altLang="zh-CN" sz="2400" b="1" i="1">
                        <a:solidFill>
                          <a:srgbClr val="0000FF"/>
                        </a:solidFill>
                        <a:effectLst/>
                        <a:latin typeface="Cambria Math" panose="02040503050406030204" pitchFamily="18" charset="0"/>
                        <a:ea typeface="+mn-ea"/>
                      </a:rPr>
                      <m:t>𝑽</m:t>
                    </m:r>
                    <m:r>
                      <m:rPr>
                        <m:nor/>
                      </m:rPr>
                      <a:rPr lang="zh-CN" altLang="en-US" sz="2400" b="1" dirty="0" smtClean="0">
                        <a:solidFill>
                          <a:srgbClr val="0000FF"/>
                        </a:solidFill>
                      </a:rPr>
                      <m:t>且</m:t>
                    </m:r>
                    <m:r>
                      <a:rPr lang="zh-CN" altLang="zh-CN" sz="2400" b="1">
                        <a:solidFill>
                          <a:srgbClr val="0000FF"/>
                        </a:solidFill>
                        <a:effectLst/>
                        <a:latin typeface="Cambria Math" panose="02040503050406030204" pitchFamily="18" charset="0"/>
                        <a:ea typeface="+mn-ea"/>
                      </a:rPr>
                      <m:t>从</m:t>
                    </m:r>
                    <m:r>
                      <a:rPr lang="en-US" altLang="zh-CN" sz="2400" b="1" i="1">
                        <a:solidFill>
                          <a:srgbClr val="0000FF"/>
                        </a:solidFill>
                        <a:effectLst/>
                        <a:latin typeface="Cambria Math" panose="02040503050406030204" pitchFamily="18" charset="0"/>
                        <a:ea typeface="+mn-ea"/>
                      </a:rPr>
                      <m:t>𝒖</m:t>
                    </m:r>
                    <m:r>
                      <a:rPr lang="zh-CN" altLang="zh-CN" sz="2400" b="1">
                        <a:solidFill>
                          <a:srgbClr val="0000FF"/>
                        </a:solidFill>
                        <a:effectLst/>
                        <a:latin typeface="Cambria Math" panose="02040503050406030204" pitchFamily="18" charset="0"/>
                        <a:ea typeface="+mn-ea"/>
                      </a:rPr>
                      <m:t>到</m:t>
                    </m:r>
                    <m:r>
                      <a:rPr lang="en-US" altLang="zh-CN" sz="2400" b="1" i="1">
                        <a:solidFill>
                          <a:srgbClr val="0000FF"/>
                        </a:solidFill>
                        <a:effectLst/>
                        <a:latin typeface="Cambria Math" panose="02040503050406030204" pitchFamily="18" charset="0"/>
                        <a:ea typeface="+mn-ea"/>
                      </a:rPr>
                      <m:t>𝒗</m:t>
                    </m:r>
                    <m:r>
                      <a:rPr lang="zh-CN" altLang="zh-CN" sz="2400" b="1">
                        <a:solidFill>
                          <a:srgbClr val="0000FF"/>
                        </a:solidFill>
                        <a:effectLst/>
                        <a:latin typeface="Cambria Math" panose="02040503050406030204" pitchFamily="18" charset="0"/>
                        <a:ea typeface="+mn-ea"/>
                      </a:rPr>
                      <m:t>连通</m:t>
                    </m:r>
                    <m:r>
                      <a:rPr lang="en-US" altLang="zh-CN" sz="2400" b="1">
                        <a:solidFill>
                          <a:srgbClr val="0000FF"/>
                        </a:solidFill>
                        <a:effectLst/>
                        <a:latin typeface="Cambria Math" panose="02040503050406030204" pitchFamily="18" charset="0"/>
                        <a:ea typeface="+mn-ea"/>
                      </a:rPr>
                      <m:t>}</m:t>
                    </m:r>
                  </m:oMath>
                </a14:m>
                <a:r>
                  <a:rPr lang="en-US" altLang="zh-CN" sz="2400" b="1" dirty="0">
                    <a:solidFill>
                      <a:srgbClr val="0000FF"/>
                    </a:solidFill>
                    <a:effectLst/>
                  </a:rPr>
                  <a:t> </a:t>
                </a:r>
              </a:p>
              <a:p>
                <a:r>
                  <a:rPr lang="zh-CN" altLang="zh-CN" sz="2400" b="1" dirty="0">
                    <a:solidFill>
                      <a:schemeClr val="tx1"/>
                    </a:solidFill>
                    <a:effectLst/>
                  </a:rPr>
                  <a:t>则</a:t>
                </a:r>
                <a14:m>
                  <m:oMath xmlns:m="http://schemas.openxmlformats.org/officeDocument/2006/math">
                    <m:r>
                      <a:rPr lang="en-US" altLang="zh-CN" sz="2400" b="1" i="1">
                        <a:solidFill>
                          <a:schemeClr val="tx1"/>
                        </a:solidFill>
                        <a:effectLst/>
                        <a:latin typeface="Cambria Math" panose="02040503050406030204" pitchFamily="18" charset="0"/>
                        <a:ea typeface="+mn-ea"/>
                      </a:rPr>
                      <m:t>𝑹</m:t>
                    </m:r>
                  </m:oMath>
                </a14:m>
                <a:r>
                  <a:rPr lang="zh-CN" altLang="zh-CN" sz="2400" b="1" dirty="0">
                    <a:solidFill>
                      <a:schemeClr val="tx1"/>
                    </a:solidFill>
                    <a:effectLst/>
                  </a:rPr>
                  <a:t>是集合</a:t>
                </a:r>
                <a14:m>
                  <m:oMath xmlns:m="http://schemas.openxmlformats.org/officeDocument/2006/math">
                    <m:r>
                      <a:rPr lang="en-US" altLang="zh-CN" sz="2400" b="1" i="1">
                        <a:solidFill>
                          <a:schemeClr val="tx1"/>
                        </a:solidFill>
                        <a:effectLst/>
                        <a:latin typeface="Cambria Math" panose="02040503050406030204" pitchFamily="18" charset="0"/>
                        <a:ea typeface="+mn-ea"/>
                      </a:rPr>
                      <m:t>𝑽</m:t>
                    </m:r>
                  </m:oMath>
                </a14:m>
                <a:r>
                  <a:rPr lang="zh-CN" altLang="zh-CN" sz="2400" b="1" dirty="0">
                    <a:solidFill>
                      <a:schemeClr val="tx1"/>
                    </a:solidFill>
                    <a:effectLst/>
                  </a:rPr>
                  <a:t>上的一个</a:t>
                </a:r>
                <a:r>
                  <a:rPr lang="zh-CN" altLang="zh-CN" sz="2400" b="1" dirty="0">
                    <a:solidFill>
                      <a:srgbClr val="0000FF"/>
                    </a:solidFill>
                    <a:effectLst/>
                  </a:rPr>
                  <a:t>等价关系</a:t>
                </a:r>
                <a:r>
                  <a:rPr lang="zh-CN" altLang="zh-CN" sz="2400" b="1" dirty="0">
                    <a:solidFill>
                      <a:schemeClr val="tx1"/>
                    </a:solidFill>
                    <a:effectLst/>
                  </a:rPr>
                  <a:t>。</a:t>
                </a:r>
              </a:p>
            </p:txBody>
          </p:sp>
        </mc:Choice>
        <mc:Fallback xmlns="">
          <p:sp>
            <p:nvSpPr>
              <p:cNvPr id="3" name="文本框 2"/>
              <p:cNvSpPr txBox="1">
                <a:spLocks noRot="1" noChangeAspect="1" noMove="1" noResize="1" noEditPoints="1" noAdjustHandles="1" noChangeArrowheads="1" noChangeShapeType="1" noTextEdit="1"/>
              </p:cNvSpPr>
              <p:nvPr/>
            </p:nvSpPr>
            <p:spPr>
              <a:xfrm>
                <a:off x="827584" y="1909631"/>
                <a:ext cx="8064500" cy="1879810"/>
              </a:xfrm>
              <a:prstGeom prst="rect">
                <a:avLst/>
              </a:prstGeom>
              <a:blipFill>
                <a:blip r:embed="rId4"/>
                <a:stretch>
                  <a:fillRect l="-1209" t="-3560" r="-983" b="-5502"/>
                </a:stretch>
              </a:blipFill>
              <a:ln w="19050">
                <a:noFill/>
              </a:ln>
            </p:spPr>
            <p:txBody>
              <a:bodyPr/>
              <a:lstStyle/>
              <a:p>
                <a:r>
                  <a:rPr lang="zh-CN" altLang="en-US">
                    <a:noFill/>
                  </a:rPr>
                  <a:t> </a:t>
                </a:r>
              </a:p>
            </p:txBody>
          </p:sp>
        </mc:Fallback>
      </mc:AlternateContent>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E1F8225E-5951-45C3-B136-44B0042E62FE}"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69988" name="Text Box 2"/>
          <p:cNvSpPr txBox="1">
            <a:spLocks noChangeArrowheads="1"/>
          </p:cNvSpPr>
          <p:nvPr/>
        </p:nvSpPr>
        <p:spPr bwMode="auto">
          <a:xfrm>
            <a:off x="1547813" y="765175"/>
            <a:ext cx="6480571"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连通关系的等价性</a:t>
            </a:r>
            <a:endParaRPr lang="en-US" altLang="zh-CN" sz="4800" b="1" dirty="0">
              <a:solidFill>
                <a:schemeClr val="bg1"/>
              </a:solidFill>
              <a:latin typeface="宋体" panose="02010600030101010101" pitchFamily="2" charset="-122"/>
              <a:ea typeface="宋体" panose="02010600030101010101" pitchFamily="2" charset="-122"/>
            </a:endParaRPr>
          </a:p>
        </p:txBody>
      </p:sp>
      <p:pic>
        <p:nvPicPr>
          <p:cNvPr id="16998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4825E2C-0391-4838-844C-E1E625403192}"/>
                  </a:ext>
                </a:extLst>
              </p:cNvPr>
              <p:cNvSpPr/>
              <p:nvPr/>
            </p:nvSpPr>
            <p:spPr>
              <a:xfrm>
                <a:off x="323528" y="1763849"/>
                <a:ext cx="8640960" cy="4451283"/>
              </a:xfrm>
              <a:prstGeom prst="rect">
                <a:avLst/>
              </a:prstGeom>
              <a:solidFill>
                <a:schemeClr val="accent5"/>
              </a:solidFill>
            </p:spPr>
            <p:txBody>
              <a:bodyPr wrap="square">
                <a:spAutoFit/>
              </a:bodyPr>
              <a:lstStyle/>
              <a:p>
                <a:pPr indent="266700" algn="just">
                  <a:lnSpc>
                    <a:spcPct val="1500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【证明】</a:t>
                </a:r>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只需证明</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cs typeface="Times New Roman" panose="02020603050405020304" pitchFamily="18" charset="0"/>
                      </a:rPr>
                      <m:t>𝑹</m:t>
                    </m:r>
                  </m:oMath>
                </a14:m>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满足自反性、对称性和传递性</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p>
              <a:p>
                <a:pPr indent="266700" algn="just">
                  <a:lnSpc>
                    <a:spcPct val="1500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自反性：根据连通的定义，图中任何结点与其自身都是连通的，故</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𝑹</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满足</a:t>
                </a:r>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自反性</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p>
              <a:p>
                <a:pPr indent="266700" algn="just">
                  <a:lnSpc>
                    <a:spcPct val="150000"/>
                  </a:lnSpc>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对称性：</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对于</a:t>
                </a:r>
                <a14:m>
                  <m:oMath xmlns:m="http://schemas.openxmlformats.org/officeDocument/2006/math">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d>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𝑹</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由于</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该图是无向图，故有</a:t>
                </a:r>
                <a14:m>
                  <m:oMath xmlns:m="http://schemas.openxmlformats.org/officeDocument/2006/math">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r>
                          <a:rPr lang="en-US" altLang="zh-CN" sz="2400" b="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e>
                    </m:d>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𝑹</m:t>
                    </m:r>
                    <m:r>
                      <a:rPr lang="zh-CN" altLang="en-US" sz="2400" b="1" i="1" kern="100" smtClean="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即关系</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𝑹</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满足</a:t>
                </a:r>
                <a:r>
                  <a:rPr lang="zh-CN" altLang="zh-CN" sz="2400" b="1" kern="100" dirty="0">
                    <a:solidFill>
                      <a:srgbClr val="0000FF"/>
                    </a:solidFill>
                    <a:latin typeface="Calibri" panose="020F0502020204030204" pitchFamily="34" charset="0"/>
                    <a:ea typeface="宋体" panose="02010600030101010101" pitchFamily="2" charset="-122"/>
                    <a:cs typeface="Times New Roman" panose="02020603050405020304" pitchFamily="18" charset="0"/>
                  </a:rPr>
                  <a:t>对称性</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p>
              <a:p>
                <a:pPr>
                  <a:lnSpc>
                    <a:spcPct val="150000"/>
                  </a:lnSpc>
                </a:pPr>
                <a:r>
                  <a:rPr lang="en-US"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传递性：如果</a:t>
                </a:r>
                <a14:m>
                  <m:oMath xmlns:m="http://schemas.openxmlformats.org/officeDocument/2006/math">
                    <m:d>
                      <m:dPr>
                        <m:begChr m:val="〈"/>
                        <m:endChr m:val="〉"/>
                        <m:ctrlPr>
                          <a:rPr lang="zh-CN" altLang="zh-CN" sz="2400" b="1" i="1">
                            <a:solidFill>
                              <a:schemeClr val="tx1"/>
                            </a:solidFill>
                            <a:effectLst/>
                            <a:latin typeface="Cambria Math" panose="02040503050406030204" pitchFamily="18" charset="0"/>
                            <a:ea typeface="Cambria Math" panose="02040503050406030204" pitchFamily="18" charset="0"/>
                          </a:rPr>
                        </m:ctrlPr>
                      </m:dPr>
                      <m:e>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d>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𝑹</m:t>
                    </m:r>
                  </m:oMath>
                </a14:m>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且</a:t>
                </a:r>
                <a14:m>
                  <m:oMath xmlns:m="http://schemas.openxmlformats.org/officeDocument/2006/math">
                    <m:d>
                      <m:dPr>
                        <m:begChr m:val="〈"/>
                        <m:endChr m:val="〉"/>
                        <m:ctrlPr>
                          <a:rPr lang="zh-CN" altLang="zh-CN" sz="2400" b="1" i="1">
                            <a:solidFill>
                              <a:schemeClr val="tx1"/>
                            </a:solidFill>
                            <a:effectLst/>
                            <a:latin typeface="Cambria Math" panose="02040503050406030204" pitchFamily="18" charset="0"/>
                            <a:ea typeface="Cambria Math" panose="02040503050406030204" pitchFamily="18" charset="0"/>
                          </a:rPr>
                        </m:ctrlPr>
                      </m:dPr>
                      <m:e>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r>
                          <a:rPr lang="en-US" altLang="zh-CN" sz="2400" b="1">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𝒘</m:t>
                        </m:r>
                      </m:e>
                    </m:d>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𝑹</m:t>
                    </m:r>
                  </m:oMath>
                </a14:m>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，则分别存在从</a:t>
                </a:r>
                <a14:m>
                  <m:oMath xmlns:m="http://schemas.openxmlformats.org/officeDocument/2006/math">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r>
                      <a:rPr lang="zh-CN" altLang="zh-CN" sz="2400" b="1">
                        <a:solidFill>
                          <a:schemeClr val="tx1"/>
                        </a:solidFill>
                        <a:latin typeface="Cambria Math" panose="02040503050406030204" pitchFamily="18" charset="0"/>
                        <a:ea typeface="宋体" panose="02010600030101010101" pitchFamily="2" charset="-122"/>
                        <a:cs typeface="Times New Roman" panose="02020603050405020304" pitchFamily="18" charset="0"/>
                      </a:rPr>
                      <m:t>到</m:t>
                    </m:r>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oMath>
                </a14:m>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的通路和从</a:t>
                </a:r>
                <a14:m>
                  <m:oMath xmlns:m="http://schemas.openxmlformats.org/officeDocument/2006/math">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oMath>
                </a14:m>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𝒘</m:t>
                    </m:r>
                  </m:oMath>
                </a14:m>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的通路，将这两条通路进行串接则可得到从</a:t>
                </a:r>
                <a14:m>
                  <m:oMath xmlns:m="http://schemas.openxmlformats.org/officeDocument/2006/math">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oMath>
                </a14:m>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𝒘</m:t>
                    </m:r>
                  </m:oMath>
                </a14:m>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的通路，故有</a:t>
                </a:r>
                <a14:m>
                  <m:oMath xmlns:m="http://schemas.openxmlformats.org/officeDocument/2006/math">
                    <m:d>
                      <m:dPr>
                        <m:begChr m:val="〈"/>
                        <m:endChr m:val="〉"/>
                        <m:ctrlPr>
                          <a:rPr lang="zh-CN" altLang="zh-CN" sz="2400" b="1" i="1">
                            <a:solidFill>
                              <a:schemeClr val="tx1"/>
                            </a:solidFill>
                            <a:effectLst/>
                            <a:latin typeface="Cambria Math" panose="02040503050406030204" pitchFamily="18" charset="0"/>
                            <a:ea typeface="Cambria Math" panose="02040503050406030204" pitchFamily="18" charset="0"/>
                          </a:rPr>
                        </m:ctrlPr>
                      </m:dPr>
                      <m:e>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𝒖</m:t>
                        </m:r>
                        <m:r>
                          <a:rPr lang="en-US" altLang="zh-CN" sz="2400" b="1">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𝒘</m:t>
                        </m:r>
                      </m:e>
                    </m:d>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𝑹</m:t>
                    </m:r>
                  </m:oMath>
                </a14:m>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，即关系</a:t>
                </a:r>
                <a14:m>
                  <m:oMath xmlns:m="http://schemas.openxmlformats.org/officeDocument/2006/math">
                    <m:r>
                      <a:rPr lang="en-US" altLang="zh-CN" sz="2400"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𝑹</m:t>
                    </m:r>
                  </m:oMath>
                </a14:m>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满足</a:t>
                </a:r>
                <a:r>
                  <a:rPr lang="zh-CN" altLang="zh-CN" sz="2400" b="1" dirty="0">
                    <a:solidFill>
                      <a:srgbClr val="0000FF"/>
                    </a:solidFill>
                    <a:latin typeface="Calibri" panose="020F0502020204030204" pitchFamily="34" charset="0"/>
                    <a:ea typeface="宋体" panose="02010600030101010101" pitchFamily="2" charset="-122"/>
                    <a:cs typeface="Times New Roman" panose="02020603050405020304" pitchFamily="18" charset="0"/>
                  </a:rPr>
                  <a:t>传递性</a:t>
                </a:r>
                <a:r>
                  <a:rPr lang="zh-CN" altLang="zh-CN" sz="2400" b="1"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endParaRPr lang="zh-CN" altLang="en-US" sz="2400" b="1" dirty="0">
                  <a:solidFill>
                    <a:schemeClr val="tx1"/>
                  </a:solidFill>
                </a:endParaRPr>
              </a:p>
            </p:txBody>
          </p:sp>
        </mc:Choice>
        <mc:Fallback xmlns="">
          <p:sp>
            <p:nvSpPr>
              <p:cNvPr id="2" name="矩形 1">
                <a:extLst>
                  <a:ext uri="{FF2B5EF4-FFF2-40B4-BE49-F238E27FC236}">
                    <a16:creationId xmlns:a16="http://schemas.microsoft.com/office/drawing/2014/main" id="{A4825E2C-0391-4838-844C-E1E625403192}"/>
                  </a:ext>
                </a:extLst>
              </p:cNvPr>
              <p:cNvSpPr>
                <a:spLocks noRot="1" noChangeAspect="1" noMove="1" noResize="1" noEditPoints="1" noAdjustHandles="1" noChangeArrowheads="1" noChangeShapeType="1" noTextEdit="1"/>
              </p:cNvSpPr>
              <p:nvPr/>
            </p:nvSpPr>
            <p:spPr>
              <a:xfrm>
                <a:off x="323528" y="1763849"/>
                <a:ext cx="8640960" cy="4451283"/>
              </a:xfrm>
              <a:prstGeom prst="rect">
                <a:avLst/>
              </a:prstGeom>
              <a:blipFill>
                <a:blip r:embed="rId4"/>
                <a:stretch>
                  <a:fillRect l="-1058" r="-1058" b="-17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8339003"/>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06961568-28D2-4875-B77F-D6F790D82921}"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71011" name="Text Box 2"/>
          <p:cNvSpPr txBox="1">
            <a:spLocks noChangeArrowheads="1"/>
          </p:cNvSpPr>
          <p:nvPr/>
        </p:nvSpPr>
        <p:spPr bwMode="auto">
          <a:xfrm>
            <a:off x="1403648" y="642333"/>
            <a:ext cx="643255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等价类与连通分支</a:t>
            </a:r>
            <a:endParaRPr lang="en-US" altLang="zh-CN" sz="4800" b="1" dirty="0">
              <a:solidFill>
                <a:schemeClr val="bg1"/>
              </a:solidFill>
              <a:latin typeface="宋体" panose="02010600030101010101" pitchFamily="2" charset="-122"/>
              <a:ea typeface="宋体" panose="02010600030101010101" pitchFamily="2" charset="-122"/>
            </a:endParaRPr>
          </a:p>
        </p:txBody>
      </p:sp>
      <p:pic>
        <p:nvPicPr>
          <p:cNvPr id="17101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图片 56">
            <a:extLst>
              <a:ext uri="{FF2B5EF4-FFF2-40B4-BE49-F238E27FC236}">
                <a16:creationId xmlns:a16="http://schemas.microsoft.com/office/drawing/2014/main" id="{A4C5AE34-1082-4056-A6ED-9F73CAC9E0D1}"/>
              </a:ext>
            </a:extLst>
          </p:cNvPr>
          <p:cNvPicPr>
            <a:picLocks noChangeAspect="1"/>
          </p:cNvPicPr>
          <p:nvPr/>
        </p:nvPicPr>
        <p:blipFill>
          <a:blip r:embed="rId4"/>
          <a:stretch>
            <a:fillRect/>
          </a:stretch>
        </p:blipFill>
        <p:spPr>
          <a:xfrm>
            <a:off x="1835696" y="1772816"/>
            <a:ext cx="5688632" cy="4476577"/>
          </a:xfrm>
          <a:prstGeom prst="rect">
            <a:avLst/>
          </a:prstGeom>
        </p:spPr>
      </p:pic>
    </p:spTree>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84099" name="Rectangle 3"/>
              <p:cNvSpPr>
                <a:spLocks noGrp="1" noChangeArrowheads="1"/>
              </p:cNvSpPr>
              <p:nvPr>
                <p:ph idx="4294967295"/>
              </p:nvPr>
            </p:nvSpPr>
            <p:spPr>
              <a:xfrm>
                <a:off x="684213" y="1988840"/>
                <a:ext cx="8064500" cy="2304256"/>
              </a:xfrm>
              <a:solidFill>
                <a:schemeClr val="accent5"/>
              </a:solidFill>
              <a:ln w="19050">
                <a:noFill/>
              </a:ln>
            </p:spPr>
            <p:txBody>
              <a:bodyPr/>
              <a:lstStyle/>
              <a:p>
                <a:pPr marL="0" indent="0">
                  <a:lnSpc>
                    <a:spcPct val="150000"/>
                  </a:lnSpc>
                  <a:buNone/>
                </a:pPr>
                <a:r>
                  <a:rPr lang="en-US" altLang="zh-CN" b="1" dirty="0">
                    <a:effectLst/>
                    <a:latin typeface="黑体" panose="02010609060101010101" pitchFamily="49" charset="-122"/>
                    <a:ea typeface="黑体" panose="02010609060101010101" pitchFamily="49" charset="-122"/>
                  </a:rPr>
                  <a:t>   </a:t>
                </a:r>
                <a:r>
                  <a:rPr lang="zh-CN" altLang="zh-CN" b="1" dirty="0">
                    <a:effectLst/>
                    <a:latin typeface="黑体" panose="02010609060101010101" pitchFamily="49" charset="-122"/>
                    <a:ea typeface="黑体" panose="02010609060101010101" pitchFamily="49" charset="-122"/>
                  </a:rPr>
                  <a:t>【定义】设</a:t>
                </a:r>
                <a14:m>
                  <m:oMath xmlns:m="http://schemas.openxmlformats.org/officeDocument/2006/math">
                    <m:r>
                      <a:rPr lang="zh-CN" altLang="zh-CN" b="1">
                        <a:effectLst/>
                        <a:latin typeface="Cambria Math" panose="02040503050406030204" pitchFamily="18" charset="0"/>
                      </a:rPr>
                      <m:t> </m:t>
                    </m:r>
                    <m:r>
                      <a:rPr lang="en-US" altLang="zh-CN" b="1" i="1">
                        <a:effectLst/>
                        <a:latin typeface="Cambria Math" panose="02040503050406030204" pitchFamily="18" charset="0"/>
                      </a:rPr>
                      <m:t>𝑮</m:t>
                    </m:r>
                    <m:r>
                      <a:rPr lang="en-US" altLang="zh-CN" b="1" i="1">
                        <a:effectLst/>
                        <a:latin typeface="Cambria Math" panose="02040503050406030204" pitchFamily="18" charset="0"/>
                      </a:rPr>
                      <m:t>=</m:t>
                    </m:r>
                    <m:d>
                      <m:dPr>
                        <m:begChr m:val="〈"/>
                        <m:endChr m:val="〉"/>
                        <m:ctrlPr>
                          <a:rPr lang="zh-CN" altLang="zh-CN" b="1" i="1">
                            <a:effectLst/>
                            <a:latin typeface="Cambria Math" panose="02040503050406030204" pitchFamily="18" charset="0"/>
                          </a:rPr>
                        </m:ctrlPr>
                      </m:dPr>
                      <m:e>
                        <m:r>
                          <a:rPr lang="en-US" altLang="zh-CN" b="1" i="1">
                            <a:effectLst/>
                            <a:latin typeface="Cambria Math" panose="02040503050406030204" pitchFamily="18" charset="0"/>
                          </a:rPr>
                          <m:t>𝑽</m:t>
                        </m:r>
                        <m:r>
                          <a:rPr lang="en-US" altLang="zh-CN" b="1" i="1">
                            <a:effectLst/>
                            <a:latin typeface="Cambria Math" panose="02040503050406030204" pitchFamily="18" charset="0"/>
                          </a:rPr>
                          <m:t>,</m:t>
                        </m:r>
                        <m:r>
                          <a:rPr lang="en-US" altLang="zh-CN" b="1" i="1">
                            <a:effectLst/>
                            <a:latin typeface="Cambria Math" panose="02040503050406030204" pitchFamily="18" charset="0"/>
                          </a:rPr>
                          <m:t>𝑬</m:t>
                        </m:r>
                      </m:e>
                    </m:d>
                    <m:r>
                      <a:rPr lang="en-US" altLang="zh-CN" b="1" i="1">
                        <a:effectLst/>
                        <a:latin typeface="Cambria Math" panose="02040503050406030204" pitchFamily="18" charset="0"/>
                      </a:rPr>
                      <m:t> </m:t>
                    </m:r>
                  </m:oMath>
                </a14:m>
                <a:r>
                  <a:rPr lang="zh-CN" altLang="zh-CN" b="1" dirty="0">
                    <a:effectLst/>
                    <a:latin typeface="黑体" panose="02010609060101010101" pitchFamily="49" charset="-122"/>
                    <a:ea typeface="黑体" panose="02010609060101010101" pitchFamily="49" charset="-122"/>
                  </a:rPr>
                  <a:t>为任一给定的</a:t>
                </a:r>
                <a:r>
                  <a:rPr lang="zh-CN" altLang="zh-CN" b="1" dirty="0">
                    <a:solidFill>
                      <a:srgbClr val="0000FF"/>
                    </a:solidFill>
                    <a:effectLst/>
                    <a:latin typeface="黑体" panose="02010609060101010101" pitchFamily="49" charset="-122"/>
                    <a:ea typeface="黑体" panose="02010609060101010101" pitchFamily="49" charset="-122"/>
                  </a:rPr>
                  <a:t>无向图</a:t>
                </a:r>
                <a:r>
                  <a:rPr lang="zh-CN" altLang="zh-CN" b="1" dirty="0">
                    <a:effectLst/>
                    <a:latin typeface="黑体" panose="02010609060101010101" pitchFamily="49" charset="-122"/>
                    <a:ea typeface="黑体" panose="02010609060101010101" pitchFamily="49" charset="-122"/>
                  </a:rPr>
                  <a:t>，</a:t>
                </a:r>
                <a14:m>
                  <m:oMath xmlns:m="http://schemas.openxmlformats.org/officeDocument/2006/math">
                    <m:r>
                      <a:rPr lang="en-US" altLang="zh-CN" b="1" i="1">
                        <a:effectLst/>
                        <a:latin typeface="Cambria Math" panose="02040503050406030204" pitchFamily="18" charset="0"/>
                      </a:rPr>
                      <m:t>𝑹</m:t>
                    </m:r>
                  </m:oMath>
                </a14:m>
                <a:r>
                  <a:rPr lang="zh-CN" altLang="zh-CN" b="1" dirty="0">
                    <a:effectLst/>
                    <a:latin typeface="黑体" panose="02010609060101010101" pitchFamily="49" charset="-122"/>
                    <a:ea typeface="黑体" panose="02010609060101010101" pitchFamily="49" charset="-122"/>
                  </a:rPr>
                  <a:t>是图</a:t>
                </a:r>
                <a14:m>
                  <m:oMath xmlns:m="http://schemas.openxmlformats.org/officeDocument/2006/math">
                    <m:r>
                      <a:rPr lang="en-US" altLang="zh-CN" b="1" i="1">
                        <a:effectLst/>
                        <a:latin typeface="Cambria Math" panose="02040503050406030204" pitchFamily="18" charset="0"/>
                      </a:rPr>
                      <m:t>𝑮</m:t>
                    </m:r>
                  </m:oMath>
                </a14:m>
                <a:r>
                  <a:rPr lang="zh-CN" altLang="zh-CN" b="1" dirty="0">
                    <a:effectLst/>
                    <a:latin typeface="黑体" panose="02010609060101010101" pitchFamily="49" charset="-122"/>
                    <a:ea typeface="黑体" panose="02010609060101010101" pitchFamily="49" charset="-122"/>
                  </a:rPr>
                  <a:t>结点集合</a:t>
                </a:r>
                <a14:m>
                  <m:oMath xmlns:m="http://schemas.openxmlformats.org/officeDocument/2006/math">
                    <m:r>
                      <a:rPr lang="en-US" altLang="zh-CN" b="1" i="1">
                        <a:effectLst/>
                        <a:latin typeface="Cambria Math" panose="02040503050406030204" pitchFamily="18" charset="0"/>
                      </a:rPr>
                      <m:t>𝑽</m:t>
                    </m:r>
                  </m:oMath>
                </a14:m>
                <a:r>
                  <a:rPr lang="zh-CN" altLang="zh-CN" b="1" dirty="0">
                    <a:effectLst/>
                    <a:latin typeface="黑体" panose="02010609060101010101" pitchFamily="49" charset="-122"/>
                    <a:ea typeface="黑体" panose="02010609060101010101" pitchFamily="49" charset="-122"/>
                  </a:rPr>
                  <a:t>上的</a:t>
                </a:r>
                <a:r>
                  <a:rPr lang="zh-CN" altLang="zh-CN" b="1" dirty="0">
                    <a:solidFill>
                      <a:srgbClr val="0000FF"/>
                    </a:solidFill>
                    <a:effectLst/>
                    <a:latin typeface="黑体" panose="02010609060101010101" pitchFamily="49" charset="-122"/>
                    <a:ea typeface="黑体" panose="02010609060101010101" pitchFamily="49" charset="-122"/>
                  </a:rPr>
                  <a:t>连通性关系</a:t>
                </a:r>
                <a:r>
                  <a:rPr lang="zh-CN" altLang="zh-CN" b="1" dirty="0">
                    <a:effectLst/>
                    <a:latin typeface="黑体" panose="02010609060101010101" pitchFamily="49" charset="-122"/>
                    <a:ea typeface="黑体" panose="02010609060101010101" pitchFamily="49" charset="-122"/>
                  </a:rPr>
                  <a:t>，则以关系</a:t>
                </a:r>
                <a14:m>
                  <m:oMath xmlns:m="http://schemas.openxmlformats.org/officeDocument/2006/math">
                    <m:r>
                      <a:rPr lang="en-US" altLang="zh-CN" b="1" i="1">
                        <a:effectLst/>
                        <a:latin typeface="Cambria Math" panose="02040503050406030204" pitchFamily="18" charset="0"/>
                      </a:rPr>
                      <m:t>𝑹</m:t>
                    </m:r>
                  </m:oMath>
                </a14:m>
                <a:r>
                  <a:rPr lang="zh-CN" altLang="zh-CN" b="1" dirty="0">
                    <a:effectLst/>
                    <a:latin typeface="黑体" panose="02010609060101010101" pitchFamily="49" charset="-122"/>
                    <a:ea typeface="黑体" panose="02010609060101010101" pitchFamily="49" charset="-122"/>
                  </a:rPr>
                  <a:t>的</a:t>
                </a:r>
                <a:r>
                  <a:rPr lang="zh-CN" altLang="zh-CN" b="1" dirty="0">
                    <a:solidFill>
                      <a:srgbClr val="0000FF"/>
                    </a:solidFill>
                    <a:effectLst/>
                    <a:latin typeface="黑体" panose="02010609060101010101" pitchFamily="49" charset="-122"/>
                    <a:ea typeface="黑体" panose="02010609060101010101" pitchFamily="49" charset="-122"/>
                  </a:rPr>
                  <a:t>每个等价类为结点集的导出子图</a:t>
                </a:r>
                <a:r>
                  <a:rPr lang="zh-CN" altLang="zh-CN" b="1" dirty="0">
                    <a:effectLst/>
                    <a:latin typeface="黑体" panose="02010609060101010101" pitchFamily="49" charset="-122"/>
                    <a:ea typeface="黑体" panose="02010609060101010101" pitchFamily="49" charset="-122"/>
                  </a:rPr>
                  <a:t>都称为图</a:t>
                </a:r>
                <a14:m>
                  <m:oMath xmlns:m="http://schemas.openxmlformats.org/officeDocument/2006/math">
                    <m:r>
                      <a:rPr lang="en-US" altLang="zh-CN" b="1" i="1">
                        <a:effectLst/>
                        <a:latin typeface="Cambria Math" panose="02040503050406030204" pitchFamily="18" charset="0"/>
                      </a:rPr>
                      <m:t>𝑮</m:t>
                    </m:r>
                  </m:oMath>
                </a14:m>
                <a:r>
                  <a:rPr lang="zh-CN" altLang="zh-CN" b="1" dirty="0">
                    <a:effectLst/>
                    <a:latin typeface="黑体" panose="02010609060101010101" pitchFamily="49" charset="-122"/>
                    <a:ea typeface="黑体" panose="02010609060101010101" pitchFamily="49" charset="-122"/>
                  </a:rPr>
                  <a:t>的一个</a:t>
                </a:r>
                <a:r>
                  <a:rPr lang="zh-CN" altLang="zh-CN" b="1" dirty="0">
                    <a:solidFill>
                      <a:srgbClr val="0000FF"/>
                    </a:solidFill>
                    <a:effectLst/>
                    <a:latin typeface="黑体" panose="02010609060101010101" pitchFamily="49" charset="-122"/>
                    <a:ea typeface="黑体" panose="02010609060101010101" pitchFamily="49" charset="-122"/>
                  </a:rPr>
                  <a:t>连通分支</a:t>
                </a:r>
                <a:r>
                  <a:rPr lang="zh-CN" altLang="zh-CN" b="1" dirty="0">
                    <a:effectLst/>
                    <a:latin typeface="黑体" panose="02010609060101010101" pitchFamily="49" charset="-122"/>
                    <a:ea typeface="黑体" panose="02010609060101010101" pitchFamily="49" charset="-122"/>
                  </a:rPr>
                  <a:t>，并用</a:t>
                </a:r>
                <a14:m>
                  <m:oMath xmlns:m="http://schemas.openxmlformats.org/officeDocument/2006/math">
                    <m:r>
                      <a:rPr lang="en-US" altLang="zh-CN" b="1" i="1">
                        <a:effectLst/>
                        <a:latin typeface="Cambria Math" panose="02040503050406030204" pitchFamily="18" charset="0"/>
                      </a:rPr>
                      <m:t>𝒑</m:t>
                    </m:r>
                    <m:d>
                      <m:dPr>
                        <m:ctrlPr>
                          <a:rPr lang="zh-CN" altLang="zh-CN" b="1" i="1">
                            <a:effectLst/>
                            <a:latin typeface="Cambria Math" panose="02040503050406030204" pitchFamily="18" charset="0"/>
                          </a:rPr>
                        </m:ctrlPr>
                      </m:dPr>
                      <m:e>
                        <m:r>
                          <a:rPr lang="en-US" altLang="zh-CN" b="1" i="1">
                            <a:effectLst/>
                            <a:latin typeface="Cambria Math" panose="02040503050406030204" pitchFamily="18" charset="0"/>
                          </a:rPr>
                          <m:t>𝑮</m:t>
                        </m:r>
                      </m:e>
                    </m:d>
                  </m:oMath>
                </a14:m>
                <a:r>
                  <a:rPr lang="zh-CN" altLang="zh-CN" b="1" dirty="0">
                    <a:effectLst/>
                    <a:latin typeface="黑体" panose="02010609060101010101" pitchFamily="49" charset="-122"/>
                    <a:ea typeface="黑体" panose="02010609060101010101" pitchFamily="49" charset="-122"/>
                  </a:rPr>
                  <a:t>表示图</a:t>
                </a:r>
                <a14:m>
                  <m:oMath xmlns:m="http://schemas.openxmlformats.org/officeDocument/2006/math">
                    <m:r>
                      <a:rPr lang="en-US" altLang="zh-CN" b="1" i="1">
                        <a:effectLst/>
                        <a:latin typeface="Cambria Math" panose="02040503050406030204" pitchFamily="18" charset="0"/>
                      </a:rPr>
                      <m:t>𝑮</m:t>
                    </m:r>
                  </m:oMath>
                </a14:m>
                <a:r>
                  <a:rPr lang="zh-CN" altLang="zh-CN" b="1" dirty="0">
                    <a:effectLst/>
                    <a:latin typeface="黑体" panose="02010609060101010101" pitchFamily="49" charset="-122"/>
                    <a:ea typeface="黑体" panose="02010609060101010101" pitchFamily="49" charset="-122"/>
                  </a:rPr>
                  <a:t>的连通分支总数。</a:t>
                </a:r>
                <a:r>
                  <a:rPr lang="zh-CN" altLang="en-US" b="1" dirty="0">
                    <a:solidFill>
                      <a:srgbClr val="0000FF"/>
                    </a:solidFill>
                    <a:effectLst/>
                    <a:latin typeface="黑体" panose="02010609060101010101" pitchFamily="49" charset="-122"/>
                    <a:ea typeface="黑体" panose="02010609060101010101" pitchFamily="49" charset="-122"/>
                    <a:cs typeface="楷体_GB2312" pitchFamily="49" charset="-122"/>
                  </a:rPr>
                  <a:t>  </a:t>
                </a:r>
              </a:p>
            </p:txBody>
          </p:sp>
        </mc:Choice>
        <mc:Fallback xmlns="">
          <p:sp>
            <p:nvSpPr>
              <p:cNvPr id="1284099" name="Rectangle 3"/>
              <p:cNvSpPr>
                <a:spLocks noGrp="1" noRot="1" noChangeAspect="1" noMove="1" noResize="1" noEditPoints="1" noAdjustHandles="1" noChangeArrowheads="1" noChangeShapeType="1" noTextEdit="1"/>
              </p:cNvSpPr>
              <p:nvPr>
                <p:ph idx="4294967295"/>
              </p:nvPr>
            </p:nvSpPr>
            <p:spPr>
              <a:xfrm>
                <a:off x="684213" y="1988840"/>
                <a:ext cx="8064500" cy="2304256"/>
              </a:xfrm>
              <a:blipFill>
                <a:blip r:embed="rId2"/>
                <a:stretch>
                  <a:fillRect l="-1134" r="-907" b="-1587"/>
                </a:stretch>
              </a:blipFill>
              <a:ln w="19050">
                <a:noFill/>
              </a:ln>
            </p:spPr>
            <p:txBody>
              <a:bodyPr/>
              <a:lstStyle/>
              <a:p>
                <a:r>
                  <a:rPr lang="zh-CN" altLang="en-US">
                    <a:noFill/>
                  </a:rPr>
                  <a:t> </a:t>
                </a:r>
              </a:p>
            </p:txBody>
          </p:sp>
        </mc:Fallback>
      </mc:AlternateContent>
      <p:sp>
        <p:nvSpPr>
          <p:cNvPr id="172035"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450DAD67-4EAB-4DBE-B7FD-A0ACD3922398}"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72036" name="Text Box 2"/>
          <p:cNvSpPr txBox="1">
            <a:spLocks noChangeArrowheads="1"/>
          </p:cNvSpPr>
          <p:nvPr/>
        </p:nvSpPr>
        <p:spPr bwMode="auto">
          <a:xfrm>
            <a:off x="1476375" y="908050"/>
            <a:ext cx="633730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无向图的连通分支</a:t>
            </a:r>
            <a:endParaRPr lang="en-US" altLang="zh-CN" sz="4800" b="1" dirty="0">
              <a:solidFill>
                <a:schemeClr val="bg1"/>
              </a:solidFill>
              <a:latin typeface="宋体" panose="02010600030101010101" pitchFamily="2" charset="-122"/>
              <a:ea typeface="宋体" panose="02010600030101010101" pitchFamily="2" charset="-122"/>
            </a:endParaRPr>
          </a:p>
        </p:txBody>
      </p:sp>
      <p:pic>
        <p:nvPicPr>
          <p:cNvPr id="17203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EF0B41E-211C-4B16-854F-345682D50C86}"/>
                  </a:ext>
                </a:extLst>
              </p:cNvPr>
              <p:cNvSpPr/>
              <p:nvPr/>
            </p:nvSpPr>
            <p:spPr>
              <a:xfrm>
                <a:off x="571844" y="4476668"/>
                <a:ext cx="8289238" cy="1667764"/>
              </a:xfrm>
              <a:prstGeom prst="rect">
                <a:avLst/>
              </a:prstGeom>
              <a:solidFill>
                <a:schemeClr val="accent6">
                  <a:lumMod val="75000"/>
                </a:schemeClr>
              </a:solidFill>
            </p:spPr>
            <p:txBody>
              <a:bodyPr wrap="square">
                <a:spAutoFit/>
              </a:bodyPr>
              <a:lstStyle/>
              <a:p>
                <a:pPr marL="0" indent="0" eaLnBrk="1" hangingPunct="1">
                  <a:lnSpc>
                    <a:spcPct val="150000"/>
                  </a:lnSpc>
                  <a:buFontTx/>
                  <a:buNone/>
                  <a:defRPr/>
                </a:pPr>
                <a:r>
                  <a:rPr lang="zh-CN" altLang="en-US" sz="2400" b="1" dirty="0">
                    <a:solidFill>
                      <a:schemeClr val="bg1"/>
                    </a:solidFill>
                    <a:cs typeface="楷体_GB2312" pitchFamily="49" charset="-122"/>
                  </a:rPr>
                  <a:t>显然：</a:t>
                </a:r>
              </a:p>
              <a:p>
                <a:pPr marL="0" indent="0" eaLnBrk="1" hangingPunct="1">
                  <a:lnSpc>
                    <a:spcPct val="150000"/>
                  </a:lnSpc>
                  <a:buFontTx/>
                  <a:buNone/>
                  <a:defRPr/>
                </a:pPr>
                <a:r>
                  <a:rPr lang="zh-CN" altLang="en-US" sz="2400" b="1" dirty="0">
                    <a:solidFill>
                      <a:schemeClr val="bg1"/>
                    </a:solidFill>
                    <a:cs typeface="楷体_GB2312" pitchFamily="49" charset="-122"/>
                  </a:rPr>
                  <a:t>     </a:t>
                </a:r>
                <a:r>
                  <a:rPr lang="zh-CN" altLang="en-US" sz="2400" b="1" dirty="0">
                    <a:solidFill>
                      <a:srgbClr val="FFFF00"/>
                    </a:solidFill>
                    <a:cs typeface="楷体_GB2312" pitchFamily="49" charset="-122"/>
                  </a:rPr>
                  <a:t>无向图是连通图当且仅当</a:t>
                </a:r>
                <a14:m>
                  <m:oMath xmlns:m="http://schemas.openxmlformats.org/officeDocument/2006/math">
                    <m:r>
                      <a:rPr lang="en-US" altLang="zh-CN" sz="2400" b="1" i="1" smtClean="0">
                        <a:solidFill>
                          <a:srgbClr val="FFFF00"/>
                        </a:solidFill>
                        <a:latin typeface="Cambria Math" panose="02040503050406030204" pitchFamily="18" charset="0"/>
                      </a:rPr>
                      <m:t>𝒑</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panose="02040503050406030204" pitchFamily="18" charset="0"/>
                          </a:rPr>
                          <m:t>𝑮</m:t>
                        </m:r>
                      </m:e>
                    </m:d>
                    <m:r>
                      <a:rPr lang="en-US" altLang="zh-CN" sz="2400" b="1" i="1">
                        <a:solidFill>
                          <a:srgbClr val="FFFF00"/>
                        </a:solidFill>
                        <a:latin typeface="Cambria Math" panose="02040503050406030204" pitchFamily="18" charset="0"/>
                      </a:rPr>
                      <m:t>=</m:t>
                    </m:r>
                    <m:r>
                      <a:rPr lang="en-US" altLang="zh-CN" sz="2400" b="1" i="1">
                        <a:solidFill>
                          <a:srgbClr val="FFFF00"/>
                        </a:solidFill>
                        <a:latin typeface="Cambria Math" panose="02040503050406030204" pitchFamily="18" charset="0"/>
                      </a:rPr>
                      <m:t>𝟏</m:t>
                    </m:r>
                    <m:r>
                      <a:rPr lang="en-US" altLang="zh-CN" sz="2400" b="1" i="1">
                        <a:solidFill>
                          <a:srgbClr val="FFFF00"/>
                        </a:solidFill>
                        <a:latin typeface="Cambria Math" panose="02040503050406030204" pitchFamily="18" charset="0"/>
                      </a:rPr>
                      <m:t> </m:t>
                    </m:r>
                  </m:oMath>
                </a14:m>
                <a:r>
                  <a:rPr lang="zh-CN" altLang="en-US" sz="2400" b="1" dirty="0">
                    <a:solidFill>
                      <a:srgbClr val="FFFF00"/>
                    </a:solidFill>
                    <a:cs typeface="楷体_GB2312" pitchFamily="49" charset="-122"/>
                  </a:rPr>
                  <a:t>；</a:t>
                </a:r>
              </a:p>
              <a:p>
                <a:pPr marL="0" indent="0" eaLnBrk="1" hangingPunct="1">
                  <a:lnSpc>
                    <a:spcPct val="150000"/>
                  </a:lnSpc>
                  <a:buFontTx/>
                  <a:buNone/>
                  <a:defRPr/>
                </a:pPr>
                <a:r>
                  <a:rPr lang="zh-CN" altLang="en-US" sz="2400" b="1" dirty="0">
                    <a:solidFill>
                      <a:srgbClr val="FFFF00"/>
                    </a:solidFill>
                    <a:cs typeface="楷体_GB2312" pitchFamily="49" charset="-122"/>
                  </a:rPr>
                  <a:t>     无向图每个结点和每条边都在且仅在一个连通分支中。</a:t>
                </a:r>
              </a:p>
            </p:txBody>
          </p:sp>
        </mc:Choice>
        <mc:Fallback xmlns="">
          <p:sp>
            <p:nvSpPr>
              <p:cNvPr id="2" name="矩形 1">
                <a:extLst>
                  <a:ext uri="{FF2B5EF4-FFF2-40B4-BE49-F238E27FC236}">
                    <a16:creationId xmlns:a16="http://schemas.microsoft.com/office/drawing/2014/main" id="{AEF0B41E-211C-4B16-854F-345682D50C86}"/>
                  </a:ext>
                </a:extLst>
              </p:cNvPr>
              <p:cNvSpPr>
                <a:spLocks noRot="1" noChangeAspect="1" noMove="1" noResize="1" noEditPoints="1" noAdjustHandles="1" noChangeArrowheads="1" noChangeShapeType="1" noTextEdit="1"/>
              </p:cNvSpPr>
              <p:nvPr/>
            </p:nvSpPr>
            <p:spPr>
              <a:xfrm>
                <a:off x="571844" y="4476668"/>
                <a:ext cx="8289238" cy="1667764"/>
              </a:xfrm>
              <a:prstGeom prst="rect">
                <a:avLst/>
              </a:prstGeom>
              <a:blipFill>
                <a:blip r:embed="rId5"/>
                <a:stretch>
                  <a:fillRect l="-1176" r="-1324" b="-7299"/>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23528" y="2041826"/>
                <a:ext cx="8712967" cy="1302408"/>
              </a:xfrm>
              <a:prstGeom prst="rect">
                <a:avLst/>
              </a:prstGeom>
              <a:solidFill>
                <a:schemeClr val="accent5"/>
              </a:solidFill>
              <a:ln w="19050">
                <a:noFill/>
              </a:ln>
            </p:spPr>
            <p:txBody>
              <a:bodyPr wrap="square" rtlCol="0">
                <a:spAutoFit/>
              </a:bodyPr>
              <a:lstStyle/>
              <a:p>
                <a:pPr>
                  <a:lnSpc>
                    <a:spcPct val="150000"/>
                  </a:lnSpc>
                </a:pPr>
                <a:r>
                  <a:rPr lang="en-US" altLang="zh-CN" sz="2800" dirty="0"/>
                  <a:t>   </a:t>
                </a:r>
                <a:r>
                  <a:rPr lang="zh-CN" altLang="zh-CN" sz="2800" dirty="0"/>
                  <a:t>【例题】</a:t>
                </a:r>
                <a:r>
                  <a:rPr lang="zh-CN" altLang="zh-CN" sz="2800" b="1" dirty="0">
                    <a:solidFill>
                      <a:schemeClr val="tx1"/>
                    </a:solidFill>
                  </a:rPr>
                  <a:t>如</a:t>
                </a:r>
                <a:r>
                  <a:rPr lang="zh-CN" altLang="en-US" sz="2800" b="1" dirty="0">
                    <a:solidFill>
                      <a:schemeClr val="tx1"/>
                    </a:solidFill>
                  </a:rPr>
                  <a:t>下图</a:t>
                </a:r>
                <a:r>
                  <a:rPr lang="zh-CN" altLang="zh-CN" sz="2800" b="1" dirty="0">
                    <a:solidFill>
                      <a:schemeClr val="tx1"/>
                    </a:solidFill>
                  </a:rPr>
                  <a:t>所示</a:t>
                </a:r>
                <a:r>
                  <a:rPr lang="zh-CN" altLang="zh-CN" sz="2800" dirty="0">
                    <a:solidFill>
                      <a:schemeClr val="tx1"/>
                    </a:solidFill>
                  </a:rPr>
                  <a:t>，</a:t>
                </a:r>
                <a:r>
                  <a:rPr lang="zh-CN" altLang="zh-CN" sz="2800" b="1" dirty="0">
                    <a:solidFill>
                      <a:schemeClr val="tx1"/>
                    </a:solidFill>
                  </a:rPr>
                  <a:t>判断图</a:t>
                </a:r>
                <a14:m>
                  <m:oMath xmlns:m="http://schemas.openxmlformats.org/officeDocument/2006/math">
                    <m:r>
                      <a:rPr lang="zh-CN" altLang="zh-CN" sz="2800" b="1">
                        <a:solidFill>
                          <a:schemeClr val="tx1"/>
                        </a:solidFill>
                        <a:latin typeface="Cambria Math" panose="02040503050406030204" pitchFamily="18" charset="0"/>
                      </a:rPr>
                      <m:t> </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𝑮</m:t>
                        </m:r>
                      </m:e>
                      <m:sub>
                        <m:r>
                          <a:rPr lang="en-US" altLang="zh-CN" sz="2800" b="1" i="1">
                            <a:solidFill>
                              <a:schemeClr val="tx1"/>
                            </a:solidFill>
                            <a:latin typeface="Cambria Math" panose="02040503050406030204" pitchFamily="18" charset="0"/>
                          </a:rPr>
                          <m:t>𝟏</m:t>
                        </m:r>
                      </m:sub>
                    </m:sSub>
                    <m:r>
                      <a:rPr lang="en-US" altLang="zh-CN" sz="2800" b="1">
                        <a:solidFill>
                          <a:schemeClr val="tx1"/>
                        </a:solidFill>
                        <a:latin typeface="Cambria Math" panose="02040503050406030204" pitchFamily="18" charset="0"/>
                      </a:rPr>
                      <m:t> ,</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𝑮</m:t>
                        </m:r>
                      </m:e>
                      <m:sub>
                        <m:r>
                          <a:rPr lang="en-US" altLang="zh-CN" sz="2800" b="1" i="1">
                            <a:solidFill>
                              <a:schemeClr val="tx1"/>
                            </a:solidFill>
                            <a:latin typeface="Cambria Math" panose="02040503050406030204" pitchFamily="18" charset="0"/>
                          </a:rPr>
                          <m:t>𝟐</m:t>
                        </m:r>
                      </m:sub>
                    </m:sSub>
                    <m:r>
                      <a:rPr lang="en-US" altLang="zh-CN" sz="2800" b="1" i="1">
                        <a:solidFill>
                          <a:schemeClr val="tx1"/>
                        </a:solidFill>
                        <a:latin typeface="Cambria Math" panose="02040503050406030204" pitchFamily="18" charset="0"/>
                      </a:rPr>
                      <m:t> </m:t>
                    </m:r>
                  </m:oMath>
                </a14:m>
                <a:r>
                  <a:rPr lang="zh-CN" altLang="zh-CN" sz="2800" b="1" dirty="0">
                    <a:solidFill>
                      <a:schemeClr val="tx1"/>
                    </a:solidFill>
                  </a:rPr>
                  <a:t>的连通性，并求其连通分支个数。</a:t>
                </a:r>
                <a:endParaRPr lang="en-US" altLang="zh-CN" sz="2800" b="1" dirty="0">
                  <a:solidFill>
                    <a:srgbClr val="800080"/>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23528" y="2041826"/>
                <a:ext cx="8712967" cy="1302408"/>
              </a:xfrm>
              <a:prstGeom prst="rect">
                <a:avLst/>
              </a:prstGeom>
              <a:blipFill>
                <a:blip r:embed="rId4"/>
                <a:stretch>
                  <a:fillRect l="-1400" r="-1050" b="-10748"/>
                </a:stretch>
              </a:blipFill>
              <a:ln w="19050">
                <a:noFill/>
              </a:ln>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107504" y="3789040"/>
            <a:ext cx="3776634" cy="2207396"/>
          </a:xfrm>
          <a:prstGeom prst="rect">
            <a:avLst/>
          </a:prstGeom>
        </p:spPr>
      </p:pic>
      <p:pic>
        <p:nvPicPr>
          <p:cNvPr id="4" name="图片 3"/>
          <p:cNvPicPr>
            <a:picLocks noChangeAspect="1"/>
          </p:cNvPicPr>
          <p:nvPr/>
        </p:nvPicPr>
        <p:blipFill>
          <a:blip r:embed="rId6"/>
          <a:stretch>
            <a:fillRect/>
          </a:stretch>
        </p:blipFill>
        <p:spPr>
          <a:xfrm>
            <a:off x="3959313" y="3789040"/>
            <a:ext cx="5184687" cy="2147194"/>
          </a:xfrm>
          <a:prstGeom prst="rect">
            <a:avLst/>
          </a:prstGeom>
        </p:spPr>
      </p:pic>
    </p:spTree>
    <p:extLst>
      <p:ext uri="{BB962C8B-B14F-4D97-AF65-F5344CB8AC3E}">
        <p14:creationId xmlns:p14="http://schemas.microsoft.com/office/powerpoint/2010/main" val="2215852822"/>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467544" y="2132856"/>
                <a:ext cx="8496944" cy="3899465"/>
              </a:xfrm>
              <a:prstGeom prst="rect">
                <a:avLst/>
              </a:prstGeom>
              <a:solidFill>
                <a:schemeClr val="accent5"/>
              </a:solidFill>
              <a:ln w="19050">
                <a:noFill/>
              </a:ln>
            </p:spPr>
            <p:txBody>
              <a:bodyPr wrap="square" rtlCol="0">
                <a:spAutoFit/>
              </a:bodyPr>
              <a:lstStyle/>
              <a:p>
                <a:pPr algn="ctr">
                  <a:lnSpc>
                    <a:spcPct val="150000"/>
                  </a:lnSpc>
                </a:pPr>
                <a:r>
                  <a:rPr lang="zh-CN" altLang="zh-CN" sz="2400" b="1" dirty="0">
                    <a:solidFill>
                      <a:schemeClr val="accent2"/>
                    </a:solidFill>
                  </a:rPr>
                  <a:t>【解】</a:t>
                </a:r>
                <a14:m>
                  <m:oMath xmlns:m="http://schemas.openxmlformats.org/officeDocument/2006/math">
                    <m:sSub>
                      <m:sSubPr>
                        <m:ctrlPr>
                          <a:rPr lang="zh-CN" altLang="zh-CN" sz="2400" b="1" i="1" smtClean="0">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𝑮</m:t>
                        </m:r>
                      </m:e>
                      <m:sub>
                        <m:r>
                          <a:rPr lang="en-US" altLang="zh-CN" sz="2400" b="1" i="1">
                            <a:solidFill>
                              <a:schemeClr val="tx1"/>
                            </a:solidFill>
                            <a:latin typeface="Cambria Math" panose="02040503050406030204" pitchFamily="18" charset="0"/>
                          </a:rPr>
                          <m:t>𝟏</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显然是连通图，故</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𝑮</m:t>
                        </m:r>
                      </m:e>
                      <m:sub>
                        <m:r>
                          <a:rPr lang="en-US" altLang="zh-CN" sz="2400" b="1" i="1">
                            <a:solidFill>
                              <a:schemeClr val="tx1"/>
                            </a:solidFill>
                            <a:latin typeface="Cambria Math" panose="02040503050406030204" pitchFamily="18" charset="0"/>
                          </a:rPr>
                          <m:t>𝟏</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只有一个连通分支</a:t>
                </a:r>
                <a:r>
                  <a:rPr lang="zh-CN" altLang="en-US" sz="2400" b="1" dirty="0">
                    <a:solidFill>
                      <a:schemeClr val="tx1"/>
                    </a:solidFill>
                  </a:rPr>
                  <a:t>，即有：</a:t>
                </a:r>
                <a14:m>
                  <m:oMath xmlns:m="http://schemas.openxmlformats.org/officeDocument/2006/math">
                    <m:r>
                      <a:rPr lang="en-US" altLang="zh-CN" sz="2400" b="1" i="1" smtClean="0">
                        <a:solidFill>
                          <a:srgbClr val="0000FF"/>
                        </a:solidFill>
                        <a:latin typeface="Cambria Math" panose="02040503050406030204" pitchFamily="18" charset="0"/>
                      </a:rPr>
                      <m:t>𝒑</m:t>
                    </m:r>
                    <m:d>
                      <m:dPr>
                        <m:ctrlPr>
                          <a:rPr lang="zh-CN" altLang="zh-CN" sz="2400" b="1" i="1">
                            <a:solidFill>
                              <a:srgbClr val="0000FF"/>
                            </a:solidFill>
                            <a:latin typeface="Cambria Math" panose="02040503050406030204" pitchFamily="18" charset="0"/>
                          </a:rPr>
                        </m:ctrlPr>
                      </m:dPr>
                      <m:e>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𝑮</m:t>
                            </m:r>
                          </m:e>
                          <m:sub>
                            <m:r>
                              <a:rPr lang="en-US" altLang="zh-CN" sz="2400" b="1" i="1">
                                <a:solidFill>
                                  <a:srgbClr val="0000FF"/>
                                </a:solidFill>
                                <a:latin typeface="Cambria Math" panose="02040503050406030204" pitchFamily="18" charset="0"/>
                              </a:rPr>
                              <m:t>𝟏</m:t>
                            </m:r>
                          </m:sub>
                        </m:sSub>
                      </m:e>
                    </m:d>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oMath>
                </a14:m>
                <a:endParaRPr lang="en-US" altLang="zh-CN" sz="2400" b="1" dirty="0">
                  <a:solidFill>
                    <a:srgbClr val="0000FF"/>
                  </a:solidFill>
                </a:endParaRPr>
              </a:p>
              <a:p>
                <a:pPr>
                  <a:lnSpc>
                    <a:spcPct val="150000"/>
                  </a:lnSpc>
                </a:pPr>
                <a14:m>
                  <m:oMath xmlns:m="http://schemas.openxmlformats.org/officeDocument/2006/math">
                    <m:r>
                      <a:rPr lang="en-US" altLang="zh-CN" sz="2400" b="1" i="1" smtClean="0">
                        <a:solidFill>
                          <a:schemeClr val="tx1"/>
                        </a:solidFill>
                        <a:latin typeface="Cambria Math" panose="02040503050406030204" pitchFamily="18" charset="0"/>
                      </a:rPr>
                      <m:t>          </m:t>
                    </m:r>
                    <m:sSub>
                      <m:sSubPr>
                        <m:ctrlPr>
                          <a:rPr lang="zh-CN" altLang="zh-CN" sz="2400" b="1" i="1" smtClean="0">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e>
                      <m:sub>
                        <m:r>
                          <a:rPr lang="en-US" altLang="zh-CN" sz="2400" b="1" i="1">
                            <a:solidFill>
                              <a:schemeClr val="tx1"/>
                            </a:solidFill>
                            <a:latin typeface="Cambria Math" panose="02040503050406030204" pitchFamily="18" charset="0"/>
                          </a:rPr>
                          <m:t>𝟐</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是非连通图</a:t>
                </a:r>
                <a:r>
                  <a:rPr lang="zh-CN" altLang="en-US" sz="2400" b="1" dirty="0">
                    <a:solidFill>
                      <a:schemeClr val="tx1"/>
                    </a:solidFill>
                  </a:rPr>
                  <a:t>。</a:t>
                </a:r>
                <a:r>
                  <a:rPr lang="zh-CN" altLang="zh-CN" sz="2400" b="1" dirty="0">
                    <a:solidFill>
                      <a:schemeClr val="tx1"/>
                    </a:solidFill>
                  </a:rPr>
                  <a:t>根据图</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𝑮</m:t>
                        </m:r>
                      </m:e>
                      <m:sub>
                        <m:r>
                          <a:rPr lang="en-US" altLang="zh-CN" sz="2400" b="1" i="1">
                            <a:solidFill>
                              <a:schemeClr val="tx1"/>
                            </a:solidFill>
                            <a:latin typeface="Cambria Math" panose="02040503050406030204" pitchFamily="18" charset="0"/>
                          </a:rPr>
                          <m:t>𝟐</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中的连通关系，可以得到</a:t>
                </a:r>
                <a:r>
                  <a:rPr lang="zh-CN" altLang="en-US" sz="2400" b="1" dirty="0">
                    <a:solidFill>
                      <a:schemeClr val="tx1"/>
                    </a:solidFill>
                  </a:rPr>
                  <a:t>关于</a:t>
                </a:r>
                <a:r>
                  <a:rPr lang="zh-CN" altLang="zh-CN" sz="2400" b="1" dirty="0">
                    <a:solidFill>
                      <a:schemeClr val="tx1"/>
                    </a:solidFill>
                  </a:rPr>
                  <a:t>该图结点集合的四个等价类，即</a:t>
                </a:r>
                <a:r>
                  <a:rPr lang="zh-CN" altLang="en-US" sz="2400" b="1" dirty="0">
                    <a:solidFill>
                      <a:schemeClr val="tx1"/>
                    </a:solidFill>
                  </a:rPr>
                  <a:t>有：</a:t>
                </a:r>
                <a:endParaRPr lang="en-US" altLang="zh-CN" sz="2400" b="1" dirty="0">
                  <a:solidFill>
                    <a:schemeClr val="tx1"/>
                  </a:solidFill>
                </a:endParaRPr>
              </a:p>
              <a:p>
                <a:pPr algn="ctr">
                  <a:lnSpc>
                    <a:spcPct val="150000"/>
                  </a:lnSpc>
                </a:pPr>
                <a14:m>
                  <m:oMath xmlns:m="http://schemas.openxmlformats.org/officeDocument/2006/math">
                    <m:r>
                      <a:rPr lang="en-US" altLang="zh-CN" sz="2400" b="1" smtClean="0">
                        <a:solidFill>
                          <a:srgbClr val="0000FF"/>
                        </a:solidFill>
                        <a:latin typeface="Cambria Math" panose="02040503050406030204" pitchFamily="18" charset="0"/>
                      </a:rPr>
                      <m:t> {</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𝟏</m:t>
                        </m:r>
                      </m:sub>
                    </m:sSub>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𝟐</m:t>
                        </m:r>
                      </m:sub>
                    </m:sSub>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𝟑</m:t>
                        </m:r>
                      </m:sub>
                    </m:sSub>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𝟒</m:t>
                        </m:r>
                      </m:sub>
                    </m:sSub>
                    <m:r>
                      <a:rPr lang="en-US" altLang="zh-CN" sz="2400" b="1">
                        <a:solidFill>
                          <a:srgbClr val="0000FF"/>
                        </a:solidFill>
                        <a:latin typeface="Cambria Math" panose="02040503050406030204" pitchFamily="18" charset="0"/>
                      </a:rPr>
                      <m:t>}</m:t>
                    </m:r>
                  </m:oMath>
                </a14:m>
                <a:r>
                  <a:rPr lang="zh-CN" altLang="zh-CN" sz="2400" b="1" dirty="0">
                    <a:solidFill>
                      <a:srgbClr val="0000FF"/>
                    </a:solidFill>
                  </a:rPr>
                  <a:t>，</a:t>
                </a:r>
                <a14:m>
                  <m:oMath xmlns:m="http://schemas.openxmlformats.org/officeDocument/2006/math">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𝟓</m:t>
                        </m:r>
                      </m:sub>
                    </m:sSub>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𝟔</m:t>
                        </m:r>
                      </m:sub>
                    </m:sSub>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𝟕</m:t>
                        </m:r>
                      </m:sub>
                    </m:sSub>
                    <m:r>
                      <a:rPr lang="en-US" altLang="zh-CN" sz="2400" b="1">
                        <a:solidFill>
                          <a:srgbClr val="0000FF"/>
                        </a:solidFill>
                        <a:latin typeface="Cambria Math" panose="02040503050406030204" pitchFamily="18" charset="0"/>
                      </a:rPr>
                      <m:t>}</m:t>
                    </m:r>
                  </m:oMath>
                </a14:m>
                <a:r>
                  <a:rPr lang="zh-CN" altLang="zh-CN" sz="2400" b="1" dirty="0">
                    <a:solidFill>
                      <a:srgbClr val="0000FF"/>
                    </a:solidFill>
                  </a:rPr>
                  <a:t>，</a:t>
                </a:r>
                <a14:m>
                  <m:oMath xmlns:m="http://schemas.openxmlformats.org/officeDocument/2006/math">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𝟖</m:t>
                        </m:r>
                      </m:sub>
                    </m:sSub>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𝟗</m:t>
                        </m:r>
                      </m:sub>
                    </m:sSub>
                    <m:r>
                      <a:rPr lang="en-US" altLang="zh-CN" sz="2400" b="1">
                        <a:solidFill>
                          <a:srgbClr val="0000FF"/>
                        </a:solidFill>
                        <a:latin typeface="Cambria Math" panose="02040503050406030204" pitchFamily="18" charset="0"/>
                      </a:rPr>
                      <m:t>}</m:t>
                    </m:r>
                  </m:oMath>
                </a14:m>
                <a:r>
                  <a:rPr lang="zh-CN" altLang="zh-CN" sz="2400" b="1" dirty="0">
                    <a:solidFill>
                      <a:srgbClr val="0000FF"/>
                    </a:solidFill>
                  </a:rPr>
                  <a:t>，</a:t>
                </a:r>
                <a14:m>
                  <m:oMath xmlns:m="http://schemas.openxmlformats.org/officeDocument/2006/math">
                    <m:r>
                      <a:rPr lang="en-US" altLang="zh-CN" sz="2400" b="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𝒗</m:t>
                        </m:r>
                      </m:e>
                      <m:sub>
                        <m:r>
                          <a:rPr lang="en-US" altLang="zh-CN" sz="2400" b="1" i="1">
                            <a:solidFill>
                              <a:srgbClr val="0000FF"/>
                            </a:solidFill>
                            <a:latin typeface="Cambria Math" panose="02040503050406030204" pitchFamily="18" charset="0"/>
                          </a:rPr>
                          <m:t>𝟏𝟎</m:t>
                        </m:r>
                      </m:sub>
                    </m:sSub>
                    <m:r>
                      <a:rPr lang="en-US" altLang="zh-CN" sz="2400" b="1">
                        <a:solidFill>
                          <a:srgbClr val="0000FF"/>
                        </a:solidFill>
                        <a:latin typeface="Cambria Math" panose="02040503050406030204" pitchFamily="18" charset="0"/>
                      </a:rPr>
                      <m:t>}</m:t>
                    </m:r>
                  </m:oMath>
                </a14:m>
                <a:endParaRPr lang="en-US" altLang="zh-CN" sz="2400" b="1" dirty="0">
                  <a:solidFill>
                    <a:srgbClr val="0000FF"/>
                  </a:solidFill>
                </a:endParaRPr>
              </a:p>
              <a:p>
                <a:pPr>
                  <a:lnSpc>
                    <a:spcPct val="150000"/>
                  </a:lnSpc>
                </a:pPr>
                <a:r>
                  <a:rPr lang="zh-CN" altLang="zh-CN" sz="2400" b="1" dirty="0">
                    <a:solidFill>
                      <a:schemeClr val="tx1"/>
                    </a:solidFill>
                  </a:rPr>
                  <a:t>故</a:t>
                </a:r>
                <a:r>
                  <a:rPr lang="zh-CN" altLang="en-US" sz="2400" b="1" dirty="0">
                    <a:solidFill>
                      <a:schemeClr val="tx1"/>
                    </a:solidFill>
                  </a:rPr>
                  <a:t>有</a:t>
                </a:r>
                <a14:m>
                  <m:oMath xmlns:m="http://schemas.openxmlformats.org/officeDocument/2006/math">
                    <m:r>
                      <a:rPr lang="zh-CN" altLang="en-US" sz="2400" b="1" i="1" dirty="0">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𝒑</m:t>
                    </m:r>
                    <m:d>
                      <m:dPr>
                        <m:ctrlPr>
                          <a:rPr lang="zh-CN" altLang="zh-CN" sz="2400" b="1" i="1">
                            <a:solidFill>
                              <a:schemeClr val="tx1"/>
                            </a:solidFill>
                            <a:latin typeface="Cambria Math" panose="02040503050406030204" pitchFamily="18" charset="0"/>
                          </a:rPr>
                        </m:ctrlPr>
                      </m:dPr>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𝑮</m:t>
                            </m:r>
                          </m:e>
                          <m:sub>
                            <m:r>
                              <a:rPr lang="en-US" altLang="zh-CN" sz="2400" b="1" i="1">
                                <a:solidFill>
                                  <a:schemeClr val="tx1"/>
                                </a:solidFill>
                                <a:latin typeface="Cambria Math" panose="02040503050406030204" pitchFamily="18" charset="0"/>
                              </a:rPr>
                              <m:t>𝟐</m:t>
                            </m:r>
                          </m:sub>
                        </m:sSub>
                      </m:e>
                    </m:d>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𝟒</m:t>
                    </m:r>
                    <m:r>
                      <a:rPr lang="zh-CN" altLang="en-US" sz="2400" b="1" i="1">
                        <a:solidFill>
                          <a:schemeClr val="tx1"/>
                        </a:solidFill>
                        <a:latin typeface="Cambria Math" panose="02040503050406030204" pitchFamily="18" charset="0"/>
                      </a:rPr>
                      <m:t>。</m:t>
                    </m:r>
                  </m:oMath>
                </a14:m>
                <a:endParaRPr lang="en-US" altLang="zh-CN" sz="2400" b="1" dirty="0">
                  <a:solidFill>
                    <a:schemeClr val="tx1"/>
                  </a:solidFill>
                </a:endParaRPr>
              </a:p>
              <a:p>
                <a:pPr>
                  <a:lnSpc>
                    <a:spcPct val="150000"/>
                  </a:lnSpc>
                </a:pPr>
                <a:r>
                  <a:rPr lang="en-US" altLang="zh-CN" sz="2400" b="1" dirty="0">
                    <a:solidFill>
                      <a:schemeClr val="tx1"/>
                    </a:solidFill>
                  </a:rPr>
                  <a:t>     </a:t>
                </a:r>
                <a:r>
                  <a:rPr lang="zh-CN" altLang="en-US" sz="2400" b="1" dirty="0">
                    <a:solidFill>
                      <a:schemeClr val="tx1"/>
                    </a:solidFill>
                  </a:rPr>
                  <a:t>这</a:t>
                </a:r>
                <a:r>
                  <a:rPr lang="zh-CN" altLang="zh-CN" sz="2400" b="1" dirty="0">
                    <a:solidFill>
                      <a:schemeClr val="tx1"/>
                    </a:solidFill>
                  </a:rPr>
                  <a:t>四个等价类的</a:t>
                </a:r>
                <a:r>
                  <a:rPr lang="zh-CN" altLang="zh-CN" sz="2400" b="1" dirty="0">
                    <a:solidFill>
                      <a:srgbClr val="0000FF"/>
                    </a:solidFill>
                  </a:rPr>
                  <a:t>导出子图</a:t>
                </a:r>
                <a:r>
                  <a:rPr lang="zh-CN" altLang="zh-CN" sz="2400" b="1" dirty="0">
                    <a:solidFill>
                      <a:schemeClr val="tx1"/>
                    </a:solidFill>
                  </a:rPr>
                  <a:t>即为</a:t>
                </a:r>
                <a14:m>
                  <m:oMath xmlns:m="http://schemas.openxmlformats.org/officeDocument/2006/math">
                    <m:r>
                      <a:rPr lang="zh-CN" altLang="zh-CN" sz="2400" b="1">
                        <a:solidFill>
                          <a:schemeClr val="tx1"/>
                        </a:solidFill>
                        <a:latin typeface="Cambria Math" panose="02040503050406030204" pitchFamily="18" charset="0"/>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𝑮</m:t>
                        </m:r>
                      </m:e>
                      <m:sub>
                        <m:r>
                          <a:rPr lang="en-US" altLang="zh-CN" sz="2400" b="1" i="1">
                            <a:solidFill>
                              <a:schemeClr val="tx1"/>
                            </a:solidFill>
                            <a:latin typeface="Cambria Math" panose="02040503050406030204" pitchFamily="18" charset="0"/>
                          </a:rPr>
                          <m:t>𝟐</m:t>
                        </m:r>
                      </m:sub>
                    </m:sSub>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的四个连通分支。</a:t>
                </a:r>
                <a:endParaRPr lang="en-US" altLang="zh-CN" sz="1600" b="1" dirty="0">
                  <a:solidFill>
                    <a:schemeClr val="tx1"/>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467544" y="2132856"/>
                <a:ext cx="8496944" cy="3899465"/>
              </a:xfrm>
              <a:prstGeom prst="rect">
                <a:avLst/>
              </a:prstGeom>
              <a:blipFill>
                <a:blip r:embed="rId4"/>
                <a:stretch>
                  <a:fillRect l="-1148" b="-2188"/>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945326602"/>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539552" y="1988840"/>
                <a:ext cx="8208912" cy="3897285"/>
              </a:xfrm>
              <a:prstGeom prst="rect">
                <a:avLst/>
              </a:prstGeom>
              <a:solidFill>
                <a:schemeClr val="accent5"/>
              </a:solidFill>
              <a:ln w="19050">
                <a:noFill/>
              </a:ln>
            </p:spPr>
            <p:txBody>
              <a:bodyPr wrap="square" rtlCol="0">
                <a:spAutoFit/>
              </a:bodyPr>
              <a:lstStyle/>
              <a:p>
                <a:pPr>
                  <a:lnSpc>
                    <a:spcPct val="150000"/>
                  </a:lnSpc>
                </a:pPr>
                <a:r>
                  <a:rPr lang="en-US" altLang="zh-CN" sz="2400" dirty="0"/>
                  <a:t>   </a:t>
                </a:r>
                <a:r>
                  <a:rPr lang="zh-CN" altLang="zh-CN" sz="2400" b="1" dirty="0"/>
                  <a:t>【例题】</a:t>
                </a:r>
                <a:r>
                  <a:rPr lang="zh-CN" altLang="zh-CN" sz="2400" b="1" dirty="0">
                    <a:solidFill>
                      <a:schemeClr val="tx1"/>
                    </a:solidFill>
                  </a:rPr>
                  <a:t>设</a:t>
                </a:r>
                <a14:m>
                  <m:oMath xmlns:m="http://schemas.openxmlformats.org/officeDocument/2006/math">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𝑽</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𝑬</m:t>
                        </m:r>
                      </m:e>
                    </m:d>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为任一给定的无向简单图，其中</a:t>
                </a:r>
                <a14:m>
                  <m:oMath xmlns:m="http://schemas.openxmlformats.org/officeDocument/2006/math">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𝑽</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𝒏</m:t>
                    </m:r>
                  </m:oMath>
                </a14:m>
                <a:r>
                  <a:rPr lang="zh-CN" altLang="zh-CN" sz="2400" b="1" dirty="0">
                    <a:solidFill>
                      <a:schemeClr val="tx1"/>
                    </a:solidFill>
                  </a:rPr>
                  <a:t>，</a:t>
                </a:r>
                <a14:m>
                  <m:oMath xmlns:m="http://schemas.openxmlformats.org/officeDocument/2006/math">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𝑬</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𝒎</m:t>
                    </m:r>
                  </m:oMath>
                </a14:m>
                <a:r>
                  <a:rPr lang="zh-CN" altLang="zh-CN" sz="2400" b="1" dirty="0">
                    <a:solidFill>
                      <a:schemeClr val="tx1"/>
                    </a:solidFill>
                  </a:rPr>
                  <a:t>，</a:t>
                </a:r>
                <a14:m>
                  <m:oMath xmlns:m="http://schemas.openxmlformats.org/officeDocument/2006/math">
                    <m:r>
                      <a:rPr lang="en-US" altLang="zh-CN" sz="2400" b="1" i="1">
                        <a:solidFill>
                          <a:schemeClr val="tx1"/>
                        </a:solidFill>
                        <a:latin typeface="Cambria Math" panose="02040503050406030204" pitchFamily="18" charset="0"/>
                      </a:rPr>
                      <m:t>𝒑</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oMath>
                </a14:m>
                <a:r>
                  <a:rPr lang="zh-CN" altLang="zh-CN" sz="2400" b="1" dirty="0">
                    <a:solidFill>
                      <a:schemeClr val="tx1"/>
                    </a:solidFill>
                  </a:rPr>
                  <a:t>是其连通分支数</a:t>
                </a:r>
                <a:r>
                  <a:rPr lang="zh-CN" altLang="en-US" sz="2400" b="1" dirty="0">
                    <a:solidFill>
                      <a:schemeClr val="tx1"/>
                    </a:solidFill>
                  </a:rPr>
                  <a:t>。</a:t>
                </a:r>
                <a:endParaRPr lang="en-US" altLang="zh-CN" sz="2400" b="1" dirty="0">
                  <a:solidFill>
                    <a:schemeClr val="tx1"/>
                  </a:solidFill>
                </a:endParaRPr>
              </a:p>
              <a:p>
                <a:pPr>
                  <a:lnSpc>
                    <a:spcPct val="150000"/>
                  </a:lnSpc>
                </a:pPr>
                <a:r>
                  <a:rPr lang="en-US" altLang="zh-CN" sz="2400" b="1" dirty="0">
                    <a:solidFill>
                      <a:schemeClr val="tx1"/>
                    </a:solidFill>
                  </a:rPr>
                  <a:t>    </a:t>
                </a:r>
                <a:r>
                  <a:rPr lang="zh-CN" altLang="zh-CN" sz="2400" b="1" dirty="0">
                    <a:solidFill>
                      <a:schemeClr val="tx1"/>
                    </a:solidFill>
                  </a:rPr>
                  <a:t>证明：</a:t>
                </a:r>
                <a14:m>
                  <m:oMath xmlns:m="http://schemas.openxmlformats.org/officeDocument/2006/math">
                    <m:r>
                      <a:rPr lang="en-US" altLang="zh-CN" sz="2400" b="1" i="1" smtClean="0">
                        <a:solidFill>
                          <a:srgbClr val="0000FF"/>
                        </a:solidFill>
                        <a:latin typeface="Cambria Math" panose="02040503050406030204" pitchFamily="18" charset="0"/>
                      </a:rPr>
                      <m:t>𝒏</m:t>
                    </m:r>
                    <m:r>
                      <a:rPr lang="en-US" altLang="zh-CN" sz="2400" b="1" i="1" smtClean="0">
                        <a:solidFill>
                          <a:srgbClr val="0000FF"/>
                        </a:solidFill>
                        <a:latin typeface="Cambria Math" panose="02040503050406030204" pitchFamily="18" charset="0"/>
                      </a:rPr>
                      <m:t>−</m:t>
                    </m:r>
                    <m:r>
                      <a:rPr lang="en-US" altLang="zh-CN" sz="2400" b="1" i="1" smtClean="0">
                        <a:solidFill>
                          <a:srgbClr val="0000FF"/>
                        </a:solidFill>
                        <a:latin typeface="Cambria Math" panose="02040503050406030204" pitchFamily="18" charset="0"/>
                      </a:rPr>
                      <m:t>𝒑</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𝑮</m:t>
                        </m:r>
                      </m:e>
                    </m:d>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𝒎</m:t>
                    </m:r>
                  </m:oMath>
                </a14:m>
                <a:endParaRPr lang="en-US" altLang="zh-CN" sz="2400" b="1" dirty="0">
                  <a:solidFill>
                    <a:schemeClr val="tx1"/>
                  </a:solidFill>
                </a:endParaRPr>
              </a:p>
              <a:p>
                <a:pPr>
                  <a:lnSpc>
                    <a:spcPct val="150000"/>
                  </a:lnSpc>
                </a:pPr>
                <a:r>
                  <a:rPr lang="en-US" altLang="zh-CN" sz="2400" b="1" dirty="0">
                    <a:solidFill>
                      <a:schemeClr val="accent2"/>
                    </a:solidFill>
                  </a:rPr>
                  <a:t>   </a:t>
                </a:r>
                <a:r>
                  <a:rPr lang="zh-CN" altLang="zh-CN" sz="2400" b="1" dirty="0">
                    <a:solidFill>
                      <a:schemeClr val="accent2"/>
                    </a:solidFill>
                  </a:rPr>
                  <a:t>【证明】</a:t>
                </a:r>
                <a:r>
                  <a:rPr lang="zh-CN" altLang="zh-CN" sz="2400" b="1" dirty="0">
                    <a:solidFill>
                      <a:schemeClr val="tx1"/>
                    </a:solidFill>
                  </a:rPr>
                  <a:t>对</a:t>
                </a:r>
                <a14:m>
                  <m:oMath xmlns:m="http://schemas.openxmlformats.org/officeDocument/2006/math">
                    <m:r>
                      <a:rPr lang="en-US" altLang="zh-CN" sz="2400" b="1" i="1">
                        <a:solidFill>
                          <a:schemeClr val="tx1"/>
                        </a:solidFill>
                        <a:latin typeface="Cambria Math" panose="02040503050406030204" pitchFamily="18" charset="0"/>
                      </a:rPr>
                      <m:t>𝒎</m:t>
                    </m:r>
                  </m:oMath>
                </a14:m>
                <a:r>
                  <a:rPr lang="zh-CN" altLang="zh-CN" sz="2400" b="1" dirty="0">
                    <a:solidFill>
                      <a:schemeClr val="tx1"/>
                    </a:solidFill>
                  </a:rPr>
                  <a:t>作数学归纳法证明：</a:t>
                </a:r>
                <a:endParaRPr lang="en-US" altLang="zh-CN" sz="2400" b="1" dirty="0">
                  <a:solidFill>
                    <a:schemeClr val="tx1"/>
                  </a:solidFill>
                </a:endParaRPr>
              </a:p>
              <a:p>
                <a:pPr>
                  <a:lnSpc>
                    <a:spcPct val="150000"/>
                  </a:lnSpc>
                </a:pPr>
                <a:r>
                  <a:rPr lang="en-US" altLang="zh-CN" sz="2400" b="1" dirty="0">
                    <a:solidFill>
                      <a:schemeClr val="tx1"/>
                    </a:solidFill>
                  </a:rPr>
                  <a:t>   </a:t>
                </a:r>
                <a:r>
                  <a:rPr lang="zh-CN" altLang="zh-CN" sz="2400" b="1" dirty="0">
                    <a:solidFill>
                      <a:schemeClr val="tx1"/>
                    </a:solidFill>
                  </a:rPr>
                  <a:t>当</a:t>
                </a:r>
                <a14:m>
                  <m:oMath xmlns:m="http://schemas.openxmlformats.org/officeDocument/2006/math">
                    <m:r>
                      <a:rPr lang="en-US" altLang="zh-CN" sz="2400" b="1" i="1">
                        <a:solidFill>
                          <a:schemeClr val="tx1"/>
                        </a:solidFill>
                        <a:latin typeface="Cambria Math" panose="02040503050406030204" pitchFamily="18" charset="0"/>
                      </a:rPr>
                      <m:t>𝒎</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𝟎</m:t>
                    </m:r>
                  </m:oMath>
                </a14:m>
                <a:r>
                  <a:rPr lang="zh-CN" altLang="zh-CN" sz="2400" b="1" dirty="0">
                    <a:solidFill>
                      <a:schemeClr val="tx1"/>
                    </a:solidFill>
                  </a:rPr>
                  <a:t>时，</a:t>
                </a:r>
                <a14:m>
                  <m:oMath xmlns:m="http://schemas.openxmlformats.org/officeDocument/2006/math">
                    <m:r>
                      <a:rPr lang="en-US" altLang="zh-CN" sz="2400" b="1" i="1">
                        <a:solidFill>
                          <a:schemeClr val="tx1"/>
                        </a:solidFill>
                        <a:latin typeface="Cambria Math" panose="02040503050406030204" pitchFamily="18" charset="0"/>
                      </a:rPr>
                      <m:t>𝑮</m:t>
                    </m:r>
                  </m:oMath>
                </a14:m>
                <a:r>
                  <a:rPr lang="zh-CN" altLang="zh-CN" sz="2400" b="1" dirty="0">
                    <a:solidFill>
                      <a:schemeClr val="tx1"/>
                    </a:solidFill>
                  </a:rPr>
                  <a:t>是零图，</a:t>
                </a:r>
                <a14:m>
                  <m:oMath xmlns:m="http://schemas.openxmlformats.org/officeDocument/2006/math">
                    <m:r>
                      <a:rPr lang="en-US" altLang="zh-CN" sz="2400" b="1" i="1">
                        <a:solidFill>
                          <a:schemeClr val="tx1"/>
                        </a:solidFill>
                        <a:latin typeface="Cambria Math" panose="02040503050406030204" pitchFamily="18" charset="0"/>
                      </a:rPr>
                      <m:t>𝒑</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𝒏</m:t>
                    </m:r>
                  </m:oMath>
                </a14:m>
                <a:r>
                  <a:rPr lang="zh-CN" altLang="zh-CN" sz="2400" b="1" dirty="0">
                    <a:solidFill>
                      <a:schemeClr val="tx1"/>
                    </a:solidFill>
                  </a:rPr>
                  <a:t>，命题成立。</a:t>
                </a:r>
                <a:endParaRPr lang="en-US" altLang="zh-CN" sz="2400" b="1" dirty="0">
                  <a:solidFill>
                    <a:schemeClr val="tx1"/>
                  </a:solidFill>
                </a:endParaRPr>
              </a:p>
              <a:p>
                <a:pPr>
                  <a:lnSpc>
                    <a:spcPct val="150000"/>
                  </a:lnSpc>
                </a:pPr>
                <a:r>
                  <a:rPr lang="en-US" altLang="zh-CN" sz="2400" b="1" dirty="0">
                    <a:solidFill>
                      <a:schemeClr val="tx1"/>
                    </a:solidFill>
                  </a:rPr>
                  <a:t>   </a:t>
                </a:r>
                <a:r>
                  <a:rPr lang="zh-CN" altLang="zh-CN" sz="2400" b="1" dirty="0">
                    <a:solidFill>
                      <a:schemeClr val="tx1"/>
                    </a:solidFill>
                  </a:rPr>
                  <a:t>设不等式对于</a:t>
                </a:r>
                <a14:m>
                  <m:oMath xmlns:m="http://schemas.openxmlformats.org/officeDocument/2006/math">
                    <m:r>
                      <a:rPr lang="en-US" altLang="zh-CN" sz="2400" b="1" i="1">
                        <a:solidFill>
                          <a:schemeClr val="tx1"/>
                        </a:solidFill>
                        <a:latin typeface="Cambria Math" panose="02040503050406030204" pitchFamily="18" charset="0"/>
                      </a:rPr>
                      <m:t>𝒎</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oMath>
                </a14:m>
                <a:r>
                  <a:rPr lang="zh-CN" altLang="zh-CN" sz="2400" b="1" dirty="0">
                    <a:solidFill>
                      <a:schemeClr val="tx1"/>
                    </a:solidFill>
                  </a:rPr>
                  <a:t>成立，要证明</a:t>
                </a:r>
                <a14:m>
                  <m:oMath xmlns:m="http://schemas.openxmlformats.org/officeDocument/2006/math">
                    <m:r>
                      <a:rPr lang="zh-CN" altLang="zh-CN" sz="2400" b="1">
                        <a:solidFill>
                          <a:schemeClr val="tx1"/>
                        </a:solidFill>
                        <a:latin typeface="Cambria Math" panose="02040503050406030204" pitchFamily="18" charset="0"/>
                      </a:rPr>
                      <m:t>对</m:t>
                    </m:r>
                    <m:r>
                      <a:rPr lang="en-US" altLang="zh-CN" sz="2400" b="1" i="1">
                        <a:solidFill>
                          <a:schemeClr val="tx1"/>
                        </a:solidFill>
                        <a:latin typeface="Cambria Math" panose="02040503050406030204" pitchFamily="18" charset="0"/>
                      </a:rPr>
                      <m:t>𝒎</m:t>
                    </m:r>
                  </m:oMath>
                </a14:m>
                <a:r>
                  <a:rPr lang="zh-CN" altLang="zh-CN" sz="2400" b="1" dirty="0">
                    <a:solidFill>
                      <a:schemeClr val="tx1"/>
                    </a:solidFill>
                  </a:rPr>
                  <a:t>也成立。现从</a:t>
                </a:r>
                <a14:m>
                  <m:oMath xmlns:m="http://schemas.openxmlformats.org/officeDocument/2006/math">
                    <m:r>
                      <a:rPr lang="en-US" altLang="zh-CN" sz="2400" b="1" i="1">
                        <a:solidFill>
                          <a:schemeClr val="tx1"/>
                        </a:solidFill>
                        <a:latin typeface="Cambria Math" panose="02040503050406030204" pitchFamily="18" charset="0"/>
                      </a:rPr>
                      <m:t>𝑮</m:t>
                    </m:r>
                  </m:oMath>
                </a14:m>
                <a:r>
                  <a:rPr lang="zh-CN" altLang="zh-CN" sz="2400" b="1" dirty="0">
                    <a:solidFill>
                      <a:schemeClr val="tx1"/>
                    </a:solidFill>
                  </a:rPr>
                  <a:t>上删去一条边得</a:t>
                </a:r>
                <a14:m>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𝑮</m:t>
                        </m:r>
                      </m:e>
                      <m:sup>
                        <m:r>
                          <a:rPr lang="en-US" altLang="zh-CN" sz="2400" b="1" i="1">
                            <a:solidFill>
                              <a:schemeClr val="tx1"/>
                            </a:solidFill>
                            <a:latin typeface="Cambria Math" panose="02040503050406030204" pitchFamily="18" charset="0"/>
                          </a:rPr>
                          <m:t>′</m:t>
                        </m:r>
                      </m:sup>
                    </m:sSup>
                  </m:oMath>
                </a14:m>
                <a:r>
                  <a:rPr lang="zh-CN" altLang="zh-CN" sz="2400" b="1" dirty="0">
                    <a:solidFill>
                      <a:schemeClr val="tx1"/>
                    </a:solidFill>
                  </a:rPr>
                  <a:t>，</a:t>
                </a:r>
                <a14:m>
                  <m:oMath xmlns:m="http://schemas.openxmlformats.org/officeDocument/2006/math">
                    <m:r>
                      <a:rPr lang="zh-CN" altLang="zh-CN" sz="2400" b="1">
                        <a:solidFill>
                          <a:schemeClr val="tx1"/>
                        </a:solidFill>
                        <a:latin typeface="Cambria Math" panose="02040503050406030204" pitchFamily="18" charset="0"/>
                      </a:rPr>
                      <m:t>则</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𝑮</m:t>
                        </m:r>
                      </m:e>
                      <m:sup>
                        <m:r>
                          <a:rPr lang="en-US" altLang="zh-CN" sz="2400" b="1" i="1">
                            <a:solidFill>
                              <a:schemeClr val="tx1"/>
                            </a:solidFill>
                            <a:latin typeface="Cambria Math" panose="02040503050406030204" pitchFamily="18" charset="0"/>
                          </a:rPr>
                          <m:t>′</m:t>
                        </m:r>
                      </m:sup>
                    </m:sSup>
                  </m:oMath>
                </a14:m>
                <a:r>
                  <a:rPr lang="zh-CN" altLang="zh-CN" sz="2400" b="1" dirty="0">
                    <a:solidFill>
                      <a:schemeClr val="tx1"/>
                    </a:solidFill>
                  </a:rPr>
                  <a:t>有两种可能：</a:t>
                </a:r>
              </a:p>
            </p:txBody>
          </p:sp>
        </mc:Choice>
        <mc:Fallback xmlns="">
          <p:sp>
            <p:nvSpPr>
              <p:cNvPr id="23" name="文本框 22"/>
              <p:cNvSpPr txBox="1">
                <a:spLocks noRot="1" noChangeAspect="1" noMove="1" noResize="1" noEditPoints="1" noAdjustHandles="1" noChangeArrowheads="1" noChangeShapeType="1" noTextEdit="1"/>
              </p:cNvSpPr>
              <p:nvPr/>
            </p:nvSpPr>
            <p:spPr>
              <a:xfrm>
                <a:off x="539552" y="1988840"/>
                <a:ext cx="8208912" cy="3897285"/>
              </a:xfrm>
              <a:prstGeom prst="rect">
                <a:avLst/>
              </a:prstGeom>
              <a:blipFill>
                <a:blip r:embed="rId4"/>
                <a:stretch>
                  <a:fillRect l="-1189" b="-2188"/>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660661817"/>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23528" y="1751336"/>
                <a:ext cx="8496944" cy="4524315"/>
              </a:xfrm>
              <a:prstGeom prst="rect">
                <a:avLst/>
              </a:prstGeom>
              <a:solidFill>
                <a:schemeClr val="accent5"/>
              </a:solidFill>
              <a:ln w="19050">
                <a:noFill/>
              </a:ln>
            </p:spPr>
            <p:txBody>
              <a:bodyPr wrap="square" rtlCol="0">
                <a:spAutoFit/>
              </a:bodyPr>
              <a:lstStyle/>
              <a:p>
                <a:pPr>
                  <a:lnSpc>
                    <a:spcPct val="150000"/>
                  </a:lnSpc>
                </a:pPr>
                <a:r>
                  <a:rPr lang="zh-CN" altLang="zh-CN" sz="2400" b="1" dirty="0">
                    <a:solidFill>
                      <a:schemeClr val="tx1"/>
                    </a:solidFill>
                  </a:rPr>
                  <a:t>【证明</a:t>
                </a:r>
                <a:r>
                  <a:rPr lang="zh-CN" altLang="en-US" sz="2400" b="1" dirty="0">
                    <a:solidFill>
                      <a:schemeClr val="tx1"/>
                    </a:solidFill>
                  </a:rPr>
                  <a:t>（续）</a:t>
                </a:r>
                <a:r>
                  <a:rPr lang="zh-CN" altLang="zh-CN" sz="2400" b="1" dirty="0">
                    <a:solidFill>
                      <a:schemeClr val="tx1"/>
                    </a:solidFill>
                  </a:rPr>
                  <a:t>】</a:t>
                </a:r>
                <a:r>
                  <a:rPr lang="en-US" altLang="zh-CN" sz="2400" b="1" dirty="0">
                    <a:solidFill>
                      <a:srgbClr val="0000FF"/>
                    </a:solidFill>
                  </a:rPr>
                  <a:t>①</a:t>
                </a:r>
                <a:r>
                  <a:rPr lang="en-US" altLang="zh-CN" sz="2400" b="1" dirty="0">
                    <a:solidFill>
                      <a:schemeClr val="tx1"/>
                    </a:solidFill>
                  </a:rPr>
                  <a:t> </a:t>
                </a:r>
                <a14:m>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𝑮</m:t>
                        </m:r>
                      </m:e>
                      <m:sup>
                        <m:r>
                          <a:rPr lang="en-US" altLang="zh-CN" sz="2400" b="1" i="1">
                            <a:solidFill>
                              <a:schemeClr val="tx1"/>
                            </a:solidFill>
                            <a:latin typeface="Cambria Math" panose="02040503050406030204" pitchFamily="18" charset="0"/>
                          </a:rPr>
                          <m:t>′</m:t>
                        </m:r>
                      </m:sup>
                    </m:sSup>
                  </m:oMath>
                </a14:m>
                <a:r>
                  <a:rPr lang="zh-CN" altLang="zh-CN" sz="2400" b="1" dirty="0">
                    <a:solidFill>
                      <a:schemeClr val="tx1"/>
                    </a:solidFill>
                  </a:rPr>
                  <a:t>有</a:t>
                </a:r>
                <a14:m>
                  <m:oMath xmlns:m="http://schemas.openxmlformats.org/officeDocument/2006/math">
                    <m:r>
                      <a:rPr lang="en-US" altLang="zh-CN" sz="2400" b="1" i="1">
                        <a:solidFill>
                          <a:schemeClr val="tx1"/>
                        </a:solidFill>
                        <a:latin typeface="Cambria Math" panose="02040503050406030204" pitchFamily="18" charset="0"/>
                      </a:rPr>
                      <m:t>𝒏</m:t>
                    </m:r>
                  </m:oMath>
                </a14:m>
                <a:r>
                  <a:rPr lang="zh-CN" altLang="zh-CN" sz="2400" b="1" dirty="0">
                    <a:solidFill>
                      <a:schemeClr val="tx1"/>
                    </a:solidFill>
                  </a:rPr>
                  <a:t>个结点，</a:t>
                </a:r>
                <a14:m>
                  <m:oMath xmlns:m="http://schemas.openxmlformats.org/officeDocument/2006/math">
                    <m:r>
                      <a:rPr lang="en-US" altLang="zh-CN" sz="2400" b="1" i="1" smtClean="0">
                        <a:solidFill>
                          <a:srgbClr val="0000FF"/>
                        </a:solidFill>
                        <a:latin typeface="Cambria Math" panose="02040503050406030204" pitchFamily="18" charset="0"/>
                      </a:rPr>
                      <m:t>𝒑</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𝑮</m:t>
                        </m:r>
                      </m:e>
                    </m:d>
                  </m:oMath>
                </a14:m>
                <a:r>
                  <a:rPr lang="zh-CN" altLang="zh-CN" sz="2400" b="1" dirty="0">
                    <a:solidFill>
                      <a:srgbClr val="0000FF"/>
                    </a:solidFill>
                  </a:rPr>
                  <a:t>个连通分支</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panose="02040503050406030204" pitchFamily="18" charset="0"/>
                      </a:rPr>
                      <m:t>𝒎</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oMath>
                </a14:m>
                <a:r>
                  <a:rPr lang="zh-CN" altLang="zh-CN" sz="2400" b="1" dirty="0">
                    <a:solidFill>
                      <a:schemeClr val="tx1"/>
                    </a:solidFill>
                  </a:rPr>
                  <a:t>条边，根据归纳假设</a:t>
                </a:r>
                <a14:m>
                  <m:oMath xmlns:m="http://schemas.openxmlformats.org/officeDocument/2006/math">
                    <m:r>
                      <a:rPr lang="en-US" altLang="zh-CN" sz="2400" b="1" i="1">
                        <a:solidFill>
                          <a:schemeClr val="tx1"/>
                        </a:solidFill>
                        <a:latin typeface="Cambria Math" panose="02040503050406030204" pitchFamily="18" charset="0"/>
                      </a:rPr>
                      <m:t>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𝒑</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𝒎</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oMath>
                </a14:m>
                <a:r>
                  <a:rPr lang="zh-CN" altLang="zh-CN" sz="2400" b="1" dirty="0">
                    <a:solidFill>
                      <a:schemeClr val="tx1"/>
                    </a:solidFill>
                  </a:rPr>
                  <a:t>，故有：</a:t>
                </a:r>
                <a:endParaRPr lang="en-US" altLang="zh-CN" sz="2400" b="1"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rPr>
                        <m:t>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𝒑</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𝒎</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&lt;</m:t>
                      </m:r>
                      <m:r>
                        <a:rPr lang="en-US" altLang="zh-CN" sz="2400" b="1" i="1">
                          <a:solidFill>
                            <a:schemeClr val="tx1"/>
                          </a:solidFill>
                          <a:latin typeface="Cambria Math" panose="02040503050406030204" pitchFamily="18" charset="0"/>
                        </a:rPr>
                        <m:t>𝒎</m:t>
                      </m:r>
                    </m:oMath>
                  </m:oMathPara>
                </a14:m>
                <a:endParaRPr lang="zh-CN" altLang="zh-CN" sz="2400" b="1" dirty="0">
                  <a:solidFill>
                    <a:schemeClr val="tx1"/>
                  </a:solidFill>
                </a:endParaRPr>
              </a:p>
              <a:p>
                <a:pPr>
                  <a:lnSpc>
                    <a:spcPct val="150000"/>
                  </a:lnSpc>
                </a:pPr>
                <a:r>
                  <a:rPr lang="en-US" altLang="zh-CN" sz="2400" b="1" dirty="0">
                    <a:solidFill>
                      <a:schemeClr val="tx1"/>
                    </a:solidFill>
                  </a:rPr>
                  <a:t>   ②</a:t>
                </a:r>
                <a14:m>
                  <m:oMath xmlns:m="http://schemas.openxmlformats.org/officeDocument/2006/math">
                    <m:r>
                      <a:rPr lang="en-US" altLang="zh-CN" sz="2400" b="1">
                        <a:solidFill>
                          <a:schemeClr val="tx1"/>
                        </a:solidFill>
                        <a:latin typeface="Cambria Math" panose="02040503050406030204" pitchFamily="18" charset="0"/>
                      </a:rPr>
                      <m:t> </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𝑮</m:t>
                        </m:r>
                      </m:e>
                      <m:sup>
                        <m:r>
                          <a:rPr lang="en-US" altLang="zh-CN" sz="2400" b="1" i="1">
                            <a:solidFill>
                              <a:schemeClr val="tx1"/>
                            </a:solidFill>
                            <a:latin typeface="Cambria Math" panose="02040503050406030204" pitchFamily="18" charset="0"/>
                          </a:rPr>
                          <m:t>′</m:t>
                        </m:r>
                      </m:sup>
                    </m:sSup>
                  </m:oMath>
                </a14:m>
                <a:r>
                  <a:rPr lang="zh-CN" altLang="zh-CN" sz="2400" b="1" dirty="0">
                    <a:solidFill>
                      <a:schemeClr val="tx1"/>
                    </a:solidFill>
                  </a:rPr>
                  <a:t>有</a:t>
                </a:r>
                <a14:m>
                  <m:oMath xmlns:m="http://schemas.openxmlformats.org/officeDocument/2006/math">
                    <m:r>
                      <a:rPr lang="en-US" altLang="zh-CN" sz="2400" b="1" i="1">
                        <a:solidFill>
                          <a:schemeClr val="tx1"/>
                        </a:solidFill>
                        <a:latin typeface="Cambria Math" panose="02040503050406030204" pitchFamily="18" charset="0"/>
                      </a:rPr>
                      <m:t>𝒏</m:t>
                    </m:r>
                  </m:oMath>
                </a14:m>
                <a:r>
                  <a:rPr lang="zh-CN" altLang="zh-CN" sz="2400" b="1" dirty="0">
                    <a:solidFill>
                      <a:schemeClr val="tx1"/>
                    </a:solidFill>
                  </a:rPr>
                  <a:t>个结点，</a:t>
                </a:r>
                <a14:m>
                  <m:oMath xmlns:m="http://schemas.openxmlformats.org/officeDocument/2006/math">
                    <m:r>
                      <a:rPr lang="en-US" altLang="zh-CN" sz="2400" b="1" i="1" smtClean="0">
                        <a:solidFill>
                          <a:srgbClr val="0000FF"/>
                        </a:solidFill>
                        <a:latin typeface="Cambria Math" panose="02040503050406030204" pitchFamily="18" charset="0"/>
                      </a:rPr>
                      <m:t>𝒑</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𝑮</m:t>
                        </m:r>
                      </m:e>
                    </m:d>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oMath>
                </a14:m>
                <a:r>
                  <a:rPr lang="zh-CN" altLang="zh-CN" sz="2400" b="1" dirty="0">
                    <a:solidFill>
                      <a:srgbClr val="0000FF"/>
                    </a:solidFill>
                  </a:rPr>
                  <a:t>个连通分支</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panose="02040503050406030204" pitchFamily="18" charset="0"/>
                      </a:rPr>
                      <m:t>𝒎</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oMath>
                </a14:m>
                <a:r>
                  <a:rPr lang="zh-CN" altLang="zh-CN" sz="2400" b="1" dirty="0">
                    <a:solidFill>
                      <a:schemeClr val="tx1"/>
                    </a:solidFill>
                  </a:rPr>
                  <a:t>条边</a:t>
                </a:r>
                <a:r>
                  <a:rPr lang="zh-CN" altLang="en-US" sz="2400" b="1" dirty="0">
                    <a:solidFill>
                      <a:schemeClr val="tx1"/>
                    </a:solidFill>
                  </a:rPr>
                  <a:t>。</a:t>
                </a:r>
                <a:r>
                  <a:rPr lang="zh-CN" altLang="zh-CN" sz="2400" b="1" dirty="0">
                    <a:solidFill>
                      <a:schemeClr val="tx1"/>
                    </a:solidFill>
                  </a:rPr>
                  <a:t>根据归纳假设</a:t>
                </a:r>
                <a:r>
                  <a:rPr lang="zh-CN" altLang="en-US" sz="2400" b="1" dirty="0">
                    <a:solidFill>
                      <a:schemeClr val="tx1"/>
                    </a:solidFill>
                  </a:rPr>
                  <a:t>，有</a:t>
                </a:r>
                <a:r>
                  <a:rPr lang="zh-CN" altLang="zh-CN" sz="2400" b="1" dirty="0">
                    <a:solidFill>
                      <a:schemeClr val="tx1"/>
                    </a:solidFill>
                  </a:rPr>
                  <a:t>：</a:t>
                </a:r>
              </a:p>
              <a:p>
                <a:pPr algn="ctr">
                  <a:lnSpc>
                    <a:spcPct val="150000"/>
                  </a:lnSpc>
                </a:pPr>
                <a14:m>
                  <m:oMath xmlns:m="http://schemas.openxmlformats.org/officeDocument/2006/math">
                    <m:r>
                      <a:rPr lang="en-US" altLang="zh-CN" sz="2400" b="1" i="1">
                        <a:solidFill>
                          <a:schemeClr val="tx1"/>
                        </a:solidFill>
                        <a:latin typeface="Cambria Math" panose="02040503050406030204" pitchFamily="18" charset="0"/>
                      </a:rPr>
                      <m:t>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𝒑</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𝒎</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oMath>
                </a14:m>
                <a:r>
                  <a:rPr lang="en-US" altLang="zh-CN" sz="2400" b="1" dirty="0">
                    <a:solidFill>
                      <a:schemeClr val="tx1"/>
                    </a:solidFill>
                  </a:rPr>
                  <a:t> </a:t>
                </a:r>
              </a:p>
              <a:p>
                <a:pPr>
                  <a:lnSpc>
                    <a:spcPct val="150000"/>
                  </a:lnSpc>
                </a:pPr>
                <a:r>
                  <a:rPr lang="zh-CN" altLang="zh-CN" sz="2400" b="1" dirty="0">
                    <a:solidFill>
                      <a:schemeClr val="tx1"/>
                    </a:solidFill>
                  </a:rPr>
                  <a:t>故有</a:t>
                </a:r>
                <a:r>
                  <a:rPr lang="zh-CN" altLang="en-US" sz="2400" b="1" dirty="0">
                    <a:solidFill>
                      <a:schemeClr val="tx1"/>
                    </a:solidFill>
                  </a:rPr>
                  <a:t>：</a:t>
                </a:r>
                <a14:m>
                  <m:oMath xmlns:m="http://schemas.openxmlformats.org/officeDocument/2006/math">
                    <m:r>
                      <a:rPr lang="en-US" altLang="zh-CN" sz="2400" b="1" i="1">
                        <a:solidFill>
                          <a:schemeClr val="tx1"/>
                        </a:solidFill>
                        <a:latin typeface="Cambria Math" panose="02040503050406030204" pitchFamily="18" charset="0"/>
                      </a:rPr>
                      <m:t>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𝝎</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𝐦</m:t>
                    </m:r>
                  </m:oMath>
                </a14:m>
                <a:r>
                  <a:rPr lang="zh-CN" altLang="en-US" sz="2400" b="1" dirty="0">
                    <a:solidFill>
                      <a:schemeClr val="tx1"/>
                    </a:solidFill>
                  </a:rPr>
                  <a:t>，从而</a:t>
                </a:r>
                <a:r>
                  <a:rPr lang="zh-CN" altLang="zh-CN" sz="2400" b="1" dirty="0">
                    <a:solidFill>
                      <a:schemeClr val="tx1"/>
                    </a:solidFill>
                  </a:rPr>
                  <a:t>对一切</a:t>
                </a:r>
                <a14:m>
                  <m:oMath xmlns:m="http://schemas.openxmlformats.org/officeDocument/2006/math">
                    <m:r>
                      <a:rPr lang="en-US" altLang="zh-CN" sz="2400" b="1" i="1">
                        <a:solidFill>
                          <a:schemeClr val="tx1"/>
                        </a:solidFill>
                        <a:latin typeface="Cambria Math" panose="02040503050406030204" pitchFamily="18" charset="0"/>
                      </a:rPr>
                      <m:t>𝒎</m:t>
                    </m:r>
                  </m:oMath>
                </a14:m>
                <a:r>
                  <a:rPr lang="zh-CN" altLang="zh-CN" sz="2400" b="1" dirty="0">
                    <a:solidFill>
                      <a:schemeClr val="tx1"/>
                    </a:solidFill>
                  </a:rPr>
                  <a:t>，成立</a:t>
                </a:r>
                <a:r>
                  <a:rPr lang="zh-CN" altLang="en-US" sz="2400" b="1" dirty="0">
                    <a:solidFill>
                      <a:schemeClr val="tx1"/>
                    </a:solidFill>
                  </a:rPr>
                  <a:t>：</a:t>
                </a:r>
                <a:endParaRPr lang="en-US" altLang="zh-CN" sz="2400" b="1"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rPr>
                        <m:t>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𝒑</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𝒎</m:t>
                      </m:r>
                    </m:oMath>
                  </m:oMathPara>
                </a14:m>
                <a:endParaRPr lang="en-US" altLang="zh-CN" sz="2400" b="1" i="1" dirty="0">
                  <a:solidFill>
                    <a:schemeClr val="tx1"/>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23528" y="1751336"/>
                <a:ext cx="8496944" cy="4524315"/>
              </a:xfrm>
              <a:prstGeom prst="rect">
                <a:avLst/>
              </a:prstGeom>
              <a:blipFill>
                <a:blip r:embed="rId4"/>
                <a:stretch>
                  <a:fillRect l="-1076" r="-430"/>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740065858"/>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5123" name="Rectangle 3"/>
          <p:cNvSpPr>
            <a:spLocks noGrp="1" noChangeArrowheads="1"/>
          </p:cNvSpPr>
          <p:nvPr>
            <p:ph idx="1"/>
          </p:nvPr>
        </p:nvSpPr>
        <p:spPr>
          <a:xfrm>
            <a:off x="645580" y="1844824"/>
            <a:ext cx="8300913" cy="576262"/>
          </a:xfrm>
          <a:solidFill>
            <a:schemeClr val="accent5"/>
          </a:solidFill>
          <a:ln>
            <a:noFill/>
          </a:ln>
        </p:spPr>
        <p:txBody>
          <a:bodyPr/>
          <a:lstStyle/>
          <a:p>
            <a:pPr marL="0" indent="0" eaLnBrk="1" hangingPunct="1">
              <a:buFontTx/>
              <a:buNone/>
              <a:defRPr/>
            </a:pPr>
            <a:r>
              <a:rPr lang="en-US" altLang="zh-CN" b="1" dirty="0">
                <a:solidFill>
                  <a:srgbClr val="FF0000"/>
                </a:solidFill>
                <a:effectLst/>
                <a:latin typeface="黑体" panose="02010609060101010101" pitchFamily="49" charset="-122"/>
                <a:ea typeface="黑体" panose="02010609060101010101" pitchFamily="49" charset="-122"/>
                <a:cs typeface="楷体_GB2312" pitchFamily="49" charset="-122"/>
              </a:rPr>
              <a:t>【</a:t>
            </a:r>
            <a:r>
              <a:rPr lang="zh-CN" altLang="en-US" b="1" dirty="0">
                <a:solidFill>
                  <a:srgbClr val="FF0000"/>
                </a:solidFill>
                <a:effectLst/>
                <a:latin typeface="黑体" panose="02010609060101010101" pitchFamily="49" charset="-122"/>
                <a:ea typeface="黑体" panose="02010609060101010101" pitchFamily="49" charset="-122"/>
                <a:cs typeface="楷体_GB2312" pitchFamily="49" charset="-122"/>
              </a:rPr>
              <a:t>例</a:t>
            </a:r>
            <a:r>
              <a:rPr lang="en-US" altLang="zh-CN" b="1" dirty="0">
                <a:solidFill>
                  <a:srgbClr val="FF0000"/>
                </a:solidFill>
                <a:effectLst/>
                <a:latin typeface="黑体" panose="02010609060101010101" pitchFamily="49" charset="-122"/>
                <a:ea typeface="黑体" panose="02010609060101010101" pitchFamily="49" charset="-122"/>
                <a:cs typeface="楷体_GB2312" pitchFamily="49" charset="-122"/>
              </a:rPr>
              <a:t>】</a:t>
            </a:r>
            <a:r>
              <a:rPr lang="zh-CN" altLang="en-US" b="1" dirty="0">
                <a:effectLst/>
                <a:latin typeface="黑体" panose="02010609060101010101" pitchFamily="49" charset="-122"/>
                <a:ea typeface="黑体" panose="02010609060101010101" pitchFamily="49" charset="-122"/>
                <a:cs typeface="楷体_GB2312" pitchFamily="49" charset="-122"/>
              </a:rPr>
              <a:t>判断下图中图</a:t>
            </a:r>
            <a:r>
              <a:rPr lang="en-US" altLang="zh-CN" b="1" dirty="0">
                <a:effectLst/>
                <a:latin typeface="黑体" panose="02010609060101010101" pitchFamily="49" charset="-122"/>
                <a:ea typeface="黑体" panose="02010609060101010101" pitchFamily="49" charset="-122"/>
                <a:cs typeface="楷体_GB2312" pitchFamily="49" charset="-122"/>
              </a:rPr>
              <a:t>G</a:t>
            </a:r>
            <a:r>
              <a:rPr lang="en-US" altLang="zh-CN" b="1" baseline="-25000" dirty="0">
                <a:effectLst/>
                <a:latin typeface="黑体" panose="02010609060101010101" pitchFamily="49" charset="-122"/>
                <a:ea typeface="黑体" panose="02010609060101010101" pitchFamily="49" charset="-122"/>
                <a:cs typeface="楷体_GB2312" pitchFamily="49" charset="-122"/>
              </a:rPr>
              <a:t>1</a:t>
            </a:r>
            <a:r>
              <a:rPr lang="zh-CN" altLang="en-US" b="1" dirty="0">
                <a:effectLst/>
                <a:latin typeface="黑体" panose="02010609060101010101" pitchFamily="49" charset="-122"/>
                <a:ea typeface="黑体" panose="02010609060101010101" pitchFamily="49" charset="-122"/>
                <a:cs typeface="楷体_GB2312" pitchFamily="49" charset="-122"/>
              </a:rPr>
              <a:t>和</a:t>
            </a:r>
            <a:r>
              <a:rPr lang="en-US" altLang="zh-CN" b="1" dirty="0">
                <a:effectLst/>
                <a:latin typeface="黑体" panose="02010609060101010101" pitchFamily="49" charset="-122"/>
                <a:ea typeface="黑体" panose="02010609060101010101" pitchFamily="49" charset="-122"/>
                <a:cs typeface="楷体_GB2312" pitchFamily="49" charset="-122"/>
              </a:rPr>
              <a:t>G</a:t>
            </a:r>
            <a:r>
              <a:rPr lang="en-US" altLang="zh-CN" b="1" baseline="-25000" dirty="0">
                <a:effectLst/>
                <a:latin typeface="黑体" panose="02010609060101010101" pitchFamily="49" charset="-122"/>
                <a:ea typeface="黑体" panose="02010609060101010101" pitchFamily="49" charset="-122"/>
                <a:cs typeface="楷体_GB2312" pitchFamily="49" charset="-122"/>
              </a:rPr>
              <a:t>2</a:t>
            </a:r>
            <a:r>
              <a:rPr lang="zh-CN" altLang="en-US" b="1" dirty="0">
                <a:effectLst/>
                <a:latin typeface="黑体" panose="02010609060101010101" pitchFamily="49" charset="-122"/>
                <a:ea typeface="黑体" panose="02010609060101010101" pitchFamily="49" charset="-122"/>
                <a:cs typeface="楷体_GB2312" pitchFamily="49" charset="-122"/>
              </a:rPr>
              <a:t>的连通性，并求其连通分支个数。</a:t>
            </a:r>
          </a:p>
        </p:txBody>
      </p:sp>
      <p:sp>
        <p:nvSpPr>
          <p:cNvPr id="173059"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F4636A6D-F2BB-455D-97BA-49B84A3E2B28}"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285190" name="Rectangle 70"/>
          <p:cNvSpPr>
            <a:spLocks noChangeArrowheads="1"/>
          </p:cNvSpPr>
          <p:nvPr/>
        </p:nvSpPr>
        <p:spPr bwMode="auto">
          <a:xfrm>
            <a:off x="539552" y="2577523"/>
            <a:ext cx="8468115" cy="1406525"/>
          </a:xfrm>
          <a:prstGeom prst="rect">
            <a:avLst/>
          </a:prstGeom>
          <a:solidFill>
            <a:schemeClr val="accent3">
              <a:lumMod val="85000"/>
            </a:schemeClr>
          </a:solidFill>
          <a:ln>
            <a:noFill/>
          </a:ln>
          <a:effectLst/>
        </p:spPr>
        <p:txBody>
          <a:bodyPr wrap="square">
            <a:spAutoFit/>
          </a:bodyPr>
          <a:lstStyle/>
          <a:p>
            <a:pPr algn="just" eaLnBrk="1" hangingPunct="1">
              <a:lnSpc>
                <a:spcPct val="120000"/>
              </a:lnSpc>
              <a:spcBef>
                <a:spcPct val="20000"/>
              </a:spcBef>
              <a:buClr>
                <a:srgbClr val="FF3300"/>
              </a:buClr>
              <a:buFont typeface="Wingdings" pitchFamily="2" charset="2"/>
              <a:buNone/>
              <a:defRPr/>
            </a:pPr>
            <a:r>
              <a:rPr lang="en-US" altLang="zh-CN" sz="2400" b="1" dirty="0">
                <a:cs typeface="楷体_GB2312" pitchFamily="49" charset="-122"/>
              </a:rPr>
              <a:t>【</a:t>
            </a:r>
            <a:r>
              <a:rPr lang="zh-CN" altLang="en-US" sz="2400" b="1" dirty="0">
                <a:cs typeface="楷体_GB2312" pitchFamily="49" charset="-122"/>
              </a:rPr>
              <a:t>分析</a:t>
            </a:r>
            <a:r>
              <a:rPr lang="en-US" altLang="zh-CN" sz="2400" b="1" dirty="0">
                <a:cs typeface="楷体_GB2312" pitchFamily="49" charset="-122"/>
              </a:rPr>
              <a:t>】</a:t>
            </a:r>
            <a:r>
              <a:rPr lang="zh-CN" altLang="en-US" sz="2400" b="1" dirty="0">
                <a:solidFill>
                  <a:srgbClr val="000000"/>
                </a:solidFill>
                <a:cs typeface="楷体_GB2312" pitchFamily="49" charset="-122"/>
              </a:rPr>
              <a:t>显然</a:t>
            </a:r>
            <a:r>
              <a:rPr lang="en-US" altLang="zh-CN" sz="2400" b="1" dirty="0">
                <a:solidFill>
                  <a:srgbClr val="000000"/>
                </a:solidFill>
                <a:cs typeface="楷体_GB2312" pitchFamily="49" charset="-122"/>
              </a:rPr>
              <a:t>G</a:t>
            </a:r>
            <a:r>
              <a:rPr lang="en-US" altLang="zh-CN" sz="2400" b="1" baseline="-25000" dirty="0">
                <a:solidFill>
                  <a:srgbClr val="000000"/>
                </a:solidFill>
                <a:cs typeface="楷体_GB2312" pitchFamily="49" charset="-122"/>
              </a:rPr>
              <a:t>1</a:t>
            </a:r>
            <a:r>
              <a:rPr lang="zh-CN" altLang="en-US" sz="2400" b="1" dirty="0">
                <a:solidFill>
                  <a:srgbClr val="000000"/>
                </a:solidFill>
                <a:cs typeface="楷体_GB2312" pitchFamily="49" charset="-122"/>
              </a:rPr>
              <a:t>是连通图，</a:t>
            </a:r>
            <a:r>
              <a:rPr lang="en-US" altLang="zh-CN" sz="2400" b="1" dirty="0">
                <a:solidFill>
                  <a:srgbClr val="000000"/>
                </a:solidFill>
                <a:cs typeface="楷体_GB2312" pitchFamily="49" charset="-122"/>
              </a:rPr>
              <a:t>G</a:t>
            </a:r>
            <a:r>
              <a:rPr lang="en-US" altLang="zh-CN" sz="2400" b="1" baseline="-25000" dirty="0">
                <a:solidFill>
                  <a:srgbClr val="000000"/>
                </a:solidFill>
                <a:cs typeface="楷体_GB2312" pitchFamily="49" charset="-122"/>
              </a:rPr>
              <a:t>2</a:t>
            </a:r>
            <a:r>
              <a:rPr lang="zh-CN" altLang="en-US" sz="2400" b="1" dirty="0">
                <a:solidFill>
                  <a:srgbClr val="000000"/>
                </a:solidFill>
                <a:cs typeface="楷体_GB2312" pitchFamily="49" charset="-122"/>
              </a:rPr>
              <a:t>是非连通图。</a:t>
            </a:r>
            <a:r>
              <a:rPr lang="en-US" altLang="zh-CN" sz="2400" b="1" dirty="0">
                <a:solidFill>
                  <a:srgbClr val="000000"/>
                </a:solidFill>
                <a:cs typeface="楷体_GB2312" pitchFamily="49" charset="-122"/>
              </a:rPr>
              <a:t>G</a:t>
            </a:r>
            <a:r>
              <a:rPr lang="en-US" altLang="zh-CN" sz="2400" b="1" baseline="-25000" dirty="0">
                <a:solidFill>
                  <a:srgbClr val="000000"/>
                </a:solidFill>
                <a:cs typeface="楷体_GB2312" pitchFamily="49" charset="-122"/>
              </a:rPr>
              <a:t>2</a:t>
            </a:r>
            <a:r>
              <a:rPr lang="zh-CN" altLang="en-US" sz="2400" b="1" dirty="0">
                <a:solidFill>
                  <a:srgbClr val="000000"/>
                </a:solidFill>
                <a:cs typeface="楷体_GB2312" pitchFamily="49" charset="-122"/>
              </a:rPr>
              <a:t>中可达关系的等价类为</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1</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2</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3</a:t>
            </a:r>
            <a:r>
              <a:rPr lang="en-US" altLang="zh-CN" sz="2400" b="1" dirty="0">
                <a:solidFill>
                  <a:srgbClr val="000000"/>
                </a:solidFill>
                <a:cs typeface="楷体_GB2312" pitchFamily="49" charset="-122"/>
              </a:rPr>
              <a:t>}</a:t>
            </a:r>
            <a:r>
              <a:rPr lang="zh-CN" altLang="en-US" sz="2400" b="1" dirty="0">
                <a:solidFill>
                  <a:srgbClr val="000000"/>
                </a:solidFill>
                <a:cs typeface="楷体_GB2312" pitchFamily="49" charset="-122"/>
              </a:rPr>
              <a:t>，</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4</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5</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6</a:t>
            </a:r>
            <a:r>
              <a:rPr lang="en-US" altLang="zh-CN" sz="2400" b="1" dirty="0">
                <a:solidFill>
                  <a:srgbClr val="000000"/>
                </a:solidFill>
                <a:cs typeface="楷体_GB2312" pitchFamily="49" charset="-122"/>
              </a:rPr>
              <a:t>}</a:t>
            </a:r>
            <a:r>
              <a:rPr lang="zh-CN" altLang="en-US" sz="2400" b="1" dirty="0">
                <a:solidFill>
                  <a:srgbClr val="000000"/>
                </a:solidFill>
                <a:cs typeface="楷体_GB2312" pitchFamily="49" charset="-122"/>
              </a:rPr>
              <a:t>，</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7</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8</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9</a:t>
            </a:r>
            <a:r>
              <a:rPr lang="en-US" altLang="zh-CN" sz="2400" b="1" dirty="0">
                <a:solidFill>
                  <a:srgbClr val="000000"/>
                </a:solidFill>
                <a:cs typeface="楷体_GB2312" pitchFamily="49" charset="-122"/>
              </a:rPr>
              <a:t>, v</a:t>
            </a:r>
            <a:r>
              <a:rPr lang="en-US" altLang="zh-CN" sz="2400" b="1" baseline="-25000" dirty="0">
                <a:solidFill>
                  <a:srgbClr val="000000"/>
                </a:solidFill>
                <a:cs typeface="楷体_GB2312" pitchFamily="49" charset="-122"/>
              </a:rPr>
              <a:t>10</a:t>
            </a:r>
            <a:r>
              <a:rPr lang="en-US" altLang="zh-CN" sz="2400" b="1" dirty="0">
                <a:solidFill>
                  <a:srgbClr val="000000"/>
                </a:solidFill>
                <a:cs typeface="楷体_GB2312" pitchFamily="49" charset="-122"/>
              </a:rPr>
              <a:t>}</a:t>
            </a:r>
            <a:r>
              <a:rPr lang="zh-CN" altLang="en-US" sz="2400" b="1" dirty="0">
                <a:solidFill>
                  <a:srgbClr val="000000"/>
                </a:solidFill>
                <a:cs typeface="楷体_GB2312" pitchFamily="49" charset="-122"/>
              </a:rPr>
              <a:t>，</a:t>
            </a:r>
            <a:r>
              <a:rPr lang="en-US" altLang="zh-CN" sz="2400" b="1" dirty="0">
                <a:solidFill>
                  <a:srgbClr val="000000"/>
                </a:solidFill>
                <a:cs typeface="楷体_GB2312" pitchFamily="49" charset="-122"/>
              </a:rPr>
              <a:t>{v</a:t>
            </a:r>
            <a:r>
              <a:rPr lang="en-US" altLang="zh-CN" sz="2400" b="1" baseline="-25000" dirty="0">
                <a:solidFill>
                  <a:srgbClr val="000000"/>
                </a:solidFill>
                <a:cs typeface="楷体_GB2312" pitchFamily="49" charset="-122"/>
              </a:rPr>
              <a:t>11</a:t>
            </a:r>
            <a:r>
              <a:rPr lang="en-US" altLang="zh-CN" sz="2400" b="1" dirty="0">
                <a:solidFill>
                  <a:srgbClr val="000000"/>
                </a:solidFill>
                <a:cs typeface="楷体_GB2312" pitchFamily="49" charset="-122"/>
              </a:rPr>
              <a:t>}</a:t>
            </a:r>
            <a:r>
              <a:rPr lang="zh-CN" altLang="en-US" sz="2400" b="1" dirty="0">
                <a:solidFill>
                  <a:srgbClr val="000000"/>
                </a:solidFill>
                <a:cs typeface="楷体_GB2312" pitchFamily="49" charset="-122"/>
              </a:rPr>
              <a:t>，它们导出的子图即为</a:t>
            </a:r>
            <a:r>
              <a:rPr lang="en-US" altLang="zh-CN" sz="2400" b="1" dirty="0">
                <a:solidFill>
                  <a:srgbClr val="000000"/>
                </a:solidFill>
                <a:cs typeface="楷体_GB2312" pitchFamily="49" charset="-122"/>
              </a:rPr>
              <a:t>G</a:t>
            </a:r>
            <a:r>
              <a:rPr lang="en-US" altLang="zh-CN" sz="2400" b="1" baseline="-25000" dirty="0">
                <a:solidFill>
                  <a:srgbClr val="000000"/>
                </a:solidFill>
                <a:cs typeface="楷体_GB2312" pitchFamily="49" charset="-122"/>
              </a:rPr>
              <a:t>2</a:t>
            </a:r>
            <a:r>
              <a:rPr lang="zh-CN" altLang="en-US" sz="2400" b="1" dirty="0">
                <a:solidFill>
                  <a:srgbClr val="000000"/>
                </a:solidFill>
                <a:cs typeface="楷体_GB2312" pitchFamily="49" charset="-122"/>
              </a:rPr>
              <a:t>的</a:t>
            </a:r>
            <a:r>
              <a:rPr lang="en-US" altLang="zh-CN" sz="2400" b="1" dirty="0">
                <a:solidFill>
                  <a:srgbClr val="000000"/>
                </a:solidFill>
                <a:cs typeface="楷体_GB2312" pitchFamily="49" charset="-122"/>
              </a:rPr>
              <a:t>4</a:t>
            </a:r>
            <a:r>
              <a:rPr lang="zh-CN" altLang="en-US" sz="2400" b="1" dirty="0">
                <a:solidFill>
                  <a:srgbClr val="000000"/>
                </a:solidFill>
                <a:cs typeface="楷体_GB2312" pitchFamily="49" charset="-122"/>
              </a:rPr>
              <a:t>个连通分支。</a:t>
            </a:r>
          </a:p>
        </p:txBody>
      </p:sp>
      <p:sp>
        <p:nvSpPr>
          <p:cNvPr id="173062" name="Text Box 2"/>
          <p:cNvSpPr txBox="1">
            <a:spLocks noChangeArrowheads="1"/>
          </p:cNvSpPr>
          <p:nvPr/>
        </p:nvSpPr>
        <p:spPr bwMode="auto">
          <a:xfrm>
            <a:off x="1403350" y="692150"/>
            <a:ext cx="633730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例  题</a:t>
            </a:r>
            <a:endParaRPr lang="en-US" altLang="zh-CN" sz="4800" b="1">
              <a:solidFill>
                <a:schemeClr val="bg1"/>
              </a:solidFill>
              <a:latin typeface="宋体" panose="02010600030101010101" pitchFamily="2" charset="-122"/>
              <a:ea typeface="宋体" panose="02010600030101010101" pitchFamily="2" charset="-122"/>
            </a:endParaRPr>
          </a:p>
        </p:txBody>
      </p:sp>
      <p:pic>
        <p:nvPicPr>
          <p:cNvPr id="173063"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814FBEAA-32D4-4ECC-9867-E8B572C441EE}"/>
              </a:ext>
            </a:extLst>
          </p:cNvPr>
          <p:cNvPicPr>
            <a:picLocks noChangeAspect="1"/>
          </p:cNvPicPr>
          <p:nvPr/>
        </p:nvPicPr>
        <p:blipFill>
          <a:blip r:embed="rId4"/>
          <a:stretch>
            <a:fillRect/>
          </a:stretch>
        </p:blipFill>
        <p:spPr>
          <a:xfrm>
            <a:off x="684213" y="4063439"/>
            <a:ext cx="8193549" cy="2228454"/>
          </a:xfrm>
          <a:prstGeom prst="rect">
            <a:avLst/>
          </a:prstGeom>
        </p:spPr>
      </p:pic>
    </p:spTree>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927F700-AB51-4097-A208-3256B0477CC5}"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75107" name="Text Box 2"/>
          <p:cNvSpPr txBox="1">
            <a:spLocks noChangeArrowheads="1"/>
          </p:cNvSpPr>
          <p:nvPr/>
        </p:nvSpPr>
        <p:spPr bwMode="auto">
          <a:xfrm>
            <a:off x="1223628" y="836712"/>
            <a:ext cx="6696744" cy="82301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连通程度（点割集）</a:t>
            </a:r>
            <a:endParaRPr lang="en-US" altLang="zh-CN" sz="4800" b="1" dirty="0">
              <a:solidFill>
                <a:schemeClr val="bg1"/>
              </a:solidFill>
              <a:latin typeface="宋体" panose="02010600030101010101" pitchFamily="2" charset="-122"/>
              <a:ea typeface="宋体" panose="02010600030101010101" pitchFamily="2" charset="-122"/>
            </a:endParaRPr>
          </a:p>
        </p:txBody>
      </p:sp>
      <p:pic>
        <p:nvPicPr>
          <p:cNvPr id="17510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611560" y="2108931"/>
                <a:ext cx="8136904" cy="3897285"/>
              </a:xfrm>
              <a:prstGeom prst="rect">
                <a:avLst/>
              </a:prstGeom>
              <a:solidFill>
                <a:schemeClr val="accent6">
                  <a:lumMod val="75000"/>
                </a:schemeClr>
              </a:solidFill>
              <a:ln w="19050">
                <a:noFill/>
              </a:ln>
            </p:spPr>
            <p:txBody>
              <a:bodyPr wrap="square" rtlCol="0">
                <a:spAutoFit/>
              </a:bodyPr>
              <a:lstStyle/>
              <a:p>
                <a:pPr>
                  <a:lnSpc>
                    <a:spcPct val="150000"/>
                  </a:lnSpc>
                  <a:spcBef>
                    <a:spcPts val="0"/>
                  </a:spcBef>
                  <a:spcAft>
                    <a:spcPts val="0"/>
                  </a:spcAft>
                </a:pPr>
                <a:r>
                  <a:rPr lang="en-US" altLang="zh-CN" sz="2400" b="1" dirty="0">
                    <a:solidFill>
                      <a:schemeClr val="tx1"/>
                    </a:solidFill>
                    <a:effectLst/>
                  </a:rPr>
                  <a:t>   </a:t>
                </a:r>
                <a:r>
                  <a:rPr lang="en-US" altLang="zh-CN" sz="2400" b="1" dirty="0">
                    <a:solidFill>
                      <a:schemeClr val="bg1"/>
                    </a:solidFill>
                    <a:effectLst/>
                  </a:rPr>
                  <a:t>【</a:t>
                </a:r>
                <a:r>
                  <a:rPr lang="zh-CN" altLang="en-US" sz="2400" b="1" dirty="0">
                    <a:solidFill>
                      <a:schemeClr val="bg1"/>
                    </a:solidFill>
                    <a:effectLst/>
                  </a:rPr>
                  <a:t>定义</a:t>
                </a:r>
                <a:r>
                  <a:rPr lang="en-US" altLang="zh-CN" sz="2400" b="1" dirty="0">
                    <a:solidFill>
                      <a:schemeClr val="bg1"/>
                    </a:solidFill>
                    <a:effectLst/>
                  </a:rPr>
                  <a:t>】 </a:t>
                </a:r>
                <a:r>
                  <a:rPr lang="zh-CN" altLang="en-US" sz="2400" b="1" dirty="0">
                    <a:solidFill>
                      <a:schemeClr val="bg1"/>
                    </a:solidFill>
                    <a:effectLst/>
                  </a:rPr>
                  <a:t>对于</a:t>
                </a:r>
                <a:r>
                  <a:rPr lang="zh-CN" altLang="zh-CN" sz="2400" b="1" dirty="0">
                    <a:solidFill>
                      <a:schemeClr val="bg1"/>
                    </a:solidFill>
                    <a:effectLst/>
                  </a:rPr>
                  <a:t>无向图</a:t>
                </a:r>
                <a14:m>
                  <m:oMath xmlns:m="http://schemas.openxmlformats.org/officeDocument/2006/math">
                    <m:r>
                      <a:rPr lang="zh-CN" altLang="zh-CN" sz="2400" b="1">
                        <a:solidFill>
                          <a:schemeClr val="bg1"/>
                        </a:solidFill>
                        <a:effectLst/>
                        <a:latin typeface="Cambria Math" panose="02040503050406030204" pitchFamily="18" charset="0"/>
                        <a:ea typeface="+mn-ea"/>
                      </a:rPr>
                      <m:t> </m:t>
                    </m:r>
                    <m:r>
                      <a:rPr lang="en-US" altLang="zh-CN" sz="2400" b="1" i="1">
                        <a:solidFill>
                          <a:schemeClr val="bg1"/>
                        </a:solidFill>
                        <a:effectLst/>
                        <a:latin typeface="Cambria Math" panose="02040503050406030204" pitchFamily="18" charset="0"/>
                        <a:ea typeface="+mn-ea"/>
                      </a:rPr>
                      <m:t>𝑮</m:t>
                    </m:r>
                    <m:r>
                      <a:rPr lang="en-US" altLang="zh-CN" sz="2400" b="1" i="1">
                        <a:solidFill>
                          <a:schemeClr val="bg1"/>
                        </a:solidFill>
                        <a:effectLst/>
                        <a:latin typeface="Cambria Math" panose="02040503050406030204" pitchFamily="18" charset="0"/>
                        <a:ea typeface="+mn-ea"/>
                      </a:rPr>
                      <m:t>=</m:t>
                    </m:r>
                    <m:d>
                      <m:dPr>
                        <m:begChr m:val="〈"/>
                        <m:endChr m:val="〉"/>
                        <m:ctrlPr>
                          <a:rPr lang="zh-CN" altLang="zh-CN" sz="2400" b="1" i="1">
                            <a:solidFill>
                              <a:schemeClr val="bg1"/>
                            </a:solidFill>
                            <a:effectLst/>
                            <a:latin typeface="Cambria Math" panose="02040503050406030204" pitchFamily="18" charset="0"/>
                            <a:ea typeface="+mn-ea"/>
                          </a:rPr>
                        </m:ctrlPr>
                      </m:dPr>
                      <m:e>
                        <m:r>
                          <a:rPr lang="en-US" altLang="zh-CN" sz="2400" b="1" i="1">
                            <a:solidFill>
                              <a:schemeClr val="bg1"/>
                            </a:solidFill>
                            <a:effectLst/>
                            <a:latin typeface="Cambria Math" panose="02040503050406030204" pitchFamily="18" charset="0"/>
                            <a:ea typeface="+mn-ea"/>
                          </a:rPr>
                          <m:t>𝑽</m:t>
                        </m:r>
                        <m:r>
                          <a:rPr lang="en-US" altLang="zh-CN" sz="2400" b="1" i="1">
                            <a:solidFill>
                              <a:schemeClr val="bg1"/>
                            </a:solidFill>
                            <a:effectLst/>
                            <a:latin typeface="Cambria Math" panose="02040503050406030204" pitchFamily="18" charset="0"/>
                            <a:ea typeface="+mn-ea"/>
                          </a:rPr>
                          <m:t>,</m:t>
                        </m:r>
                        <m:r>
                          <a:rPr lang="en-US" altLang="zh-CN" sz="2400" b="1" i="1">
                            <a:solidFill>
                              <a:schemeClr val="bg1"/>
                            </a:solidFill>
                            <a:effectLst/>
                            <a:latin typeface="Cambria Math" panose="02040503050406030204" pitchFamily="18" charset="0"/>
                            <a:ea typeface="+mn-ea"/>
                          </a:rPr>
                          <m:t>𝑬</m:t>
                        </m:r>
                      </m:e>
                    </m:d>
                  </m:oMath>
                </a14:m>
                <a:r>
                  <a:rPr lang="zh-CN" altLang="zh-CN" sz="2400" b="1" dirty="0">
                    <a:solidFill>
                      <a:schemeClr val="bg1"/>
                    </a:solidFill>
                    <a:effectLst/>
                  </a:rPr>
                  <a:t>，若存在</a:t>
                </a:r>
                <a14:m>
                  <m:oMath xmlns:m="http://schemas.openxmlformats.org/officeDocument/2006/math">
                    <m:r>
                      <a:rPr lang="en-US" altLang="zh-CN" sz="2400" b="1" i="1" smtClean="0">
                        <a:solidFill>
                          <a:schemeClr val="bg1"/>
                        </a:solidFill>
                        <a:effectLst/>
                        <a:latin typeface="Cambria Math" panose="02040503050406030204" pitchFamily="18" charset="0"/>
                        <a:ea typeface="+mn-ea"/>
                      </a:rPr>
                      <m:t>𝑽</m:t>
                    </m:r>
                  </m:oMath>
                </a14:m>
                <a:r>
                  <a:rPr lang="zh-CN" altLang="zh-CN" sz="2400" b="1" dirty="0">
                    <a:solidFill>
                      <a:schemeClr val="bg1"/>
                    </a:solidFill>
                    <a:effectLst/>
                  </a:rPr>
                  <a:t>的某个子集</a:t>
                </a:r>
                <a14:m>
                  <m:oMath xmlns:m="http://schemas.openxmlformats.org/officeDocument/2006/math">
                    <m:r>
                      <a:rPr lang="zh-CN" altLang="zh-CN" sz="2400" b="1" i="1">
                        <a:solidFill>
                          <a:schemeClr val="bg1"/>
                        </a:solidFill>
                        <a:effectLst/>
                        <a:latin typeface="Cambria Math" panose="02040503050406030204" pitchFamily="18" charset="0"/>
                        <a:ea typeface="+mn-ea"/>
                      </a:rPr>
                      <m:t> </m:t>
                    </m:r>
                    <m:r>
                      <a:rPr lang="en-US" altLang="zh-CN" sz="2400" b="1" i="1">
                        <a:solidFill>
                          <a:schemeClr val="bg1"/>
                        </a:solidFill>
                        <a:effectLst/>
                        <a:latin typeface="Cambria Math" panose="02040503050406030204" pitchFamily="18" charset="0"/>
                        <a:ea typeface="+mn-ea"/>
                      </a:rPr>
                      <m:t>𝑽</m:t>
                    </m:r>
                    <m:r>
                      <a:rPr lang="en-US" altLang="zh-CN" sz="2400" b="1" i="1">
                        <a:solidFill>
                          <a:schemeClr val="bg1"/>
                        </a:solidFill>
                        <a:effectLst/>
                        <a:latin typeface="Cambria Math" panose="02040503050406030204" pitchFamily="18" charset="0"/>
                        <a:ea typeface="+mn-ea"/>
                      </a:rPr>
                      <m:t>′⊆</m:t>
                    </m:r>
                    <m:r>
                      <a:rPr lang="en-US" altLang="zh-CN" sz="2400" b="1" i="1">
                        <a:solidFill>
                          <a:schemeClr val="bg1"/>
                        </a:solidFill>
                        <a:effectLst/>
                        <a:latin typeface="Cambria Math" panose="02040503050406030204" pitchFamily="18" charset="0"/>
                        <a:ea typeface="+mn-ea"/>
                      </a:rPr>
                      <m:t>𝑽</m:t>
                    </m:r>
                    <m:r>
                      <a:rPr lang="en-US" altLang="zh-CN" sz="2400" b="1">
                        <a:solidFill>
                          <a:schemeClr val="bg1"/>
                        </a:solidFill>
                        <a:effectLst/>
                        <a:latin typeface="Cambria Math" panose="02040503050406030204" pitchFamily="18" charset="0"/>
                        <a:ea typeface="+mn-ea"/>
                      </a:rPr>
                      <m:t> </m:t>
                    </m:r>
                  </m:oMath>
                </a14:m>
                <a:r>
                  <a:rPr lang="zh-CN" altLang="zh-CN" sz="2400" b="1" dirty="0">
                    <a:solidFill>
                      <a:schemeClr val="bg1"/>
                    </a:solidFill>
                    <a:effectLst/>
                  </a:rPr>
                  <a:t>，</a:t>
                </a:r>
                <a:r>
                  <a:rPr lang="zh-CN" altLang="en-US" sz="2400" b="1" dirty="0">
                    <a:solidFill>
                      <a:schemeClr val="bg1"/>
                    </a:solidFill>
                    <a:effectLst/>
                  </a:rPr>
                  <a:t>满足：</a:t>
                </a:r>
                <a:endParaRPr lang="en-US" altLang="zh-CN" sz="2400" b="1" dirty="0">
                  <a:solidFill>
                    <a:schemeClr val="bg1"/>
                  </a:solidFill>
                  <a:effectLst/>
                  <a:latin typeface="Cambria Math" panose="02040503050406030204" pitchFamily="18" charset="0"/>
                  <a:ea typeface="+mn-ea"/>
                </a:endParaRPr>
              </a:p>
              <a:p>
                <a:pP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zh-CN" altLang="zh-CN" sz="2400" b="1" smtClean="0">
                          <a:solidFill>
                            <a:srgbClr val="FFFF00"/>
                          </a:solidFill>
                          <a:effectLst/>
                          <a:latin typeface="Cambria Math" panose="02040503050406030204" pitchFamily="18" charset="0"/>
                          <a:ea typeface="+mn-ea"/>
                        </a:rPr>
                        <m:t> </m:t>
                      </m:r>
                      <m:r>
                        <a:rPr lang="en-US" altLang="zh-CN" sz="2400" b="1" i="1">
                          <a:solidFill>
                            <a:srgbClr val="FFFF00"/>
                          </a:solidFill>
                          <a:effectLst/>
                          <a:latin typeface="Cambria Math" panose="02040503050406030204" pitchFamily="18" charset="0"/>
                          <a:ea typeface="+mn-ea"/>
                        </a:rPr>
                        <m:t>𝒑</m:t>
                      </m:r>
                      <m:d>
                        <m:dPr>
                          <m:ctrlPr>
                            <a:rPr lang="zh-CN" altLang="zh-CN" sz="2400" b="1" i="1">
                              <a:solidFill>
                                <a:srgbClr val="FFFF00"/>
                              </a:solidFill>
                              <a:effectLst/>
                              <a:latin typeface="Cambria Math" panose="02040503050406030204" pitchFamily="18" charset="0"/>
                              <a:ea typeface="+mn-ea"/>
                            </a:rPr>
                          </m:ctrlPr>
                        </m:dPr>
                        <m:e>
                          <m:r>
                            <a:rPr lang="en-US" altLang="zh-CN" sz="2400" b="1" i="1">
                              <a:solidFill>
                                <a:srgbClr val="FFFF00"/>
                              </a:solidFill>
                              <a:effectLst/>
                              <a:latin typeface="Cambria Math" panose="02040503050406030204" pitchFamily="18" charset="0"/>
                              <a:ea typeface="+mn-ea"/>
                            </a:rPr>
                            <m:t>𝑮</m:t>
                          </m:r>
                          <m:r>
                            <a:rPr lang="en-US" altLang="zh-CN" sz="2400" b="1" i="1">
                              <a:solidFill>
                                <a:srgbClr val="FFFF00"/>
                              </a:solidFill>
                              <a:effectLst/>
                              <a:latin typeface="Cambria Math" panose="02040503050406030204" pitchFamily="18" charset="0"/>
                              <a:ea typeface="+mn-ea"/>
                            </a:rPr>
                            <m:t>−</m:t>
                          </m:r>
                          <m:sSup>
                            <m:sSupPr>
                              <m:ctrlPr>
                                <a:rPr lang="zh-CN" altLang="zh-CN" sz="2400" b="1" i="1">
                                  <a:solidFill>
                                    <a:srgbClr val="FFFF00"/>
                                  </a:solidFill>
                                  <a:effectLst/>
                                  <a:latin typeface="Cambria Math" panose="02040503050406030204" pitchFamily="18" charset="0"/>
                                  <a:ea typeface="+mn-ea"/>
                                </a:rPr>
                              </m:ctrlPr>
                            </m:sSupPr>
                            <m:e>
                              <m:r>
                                <a:rPr lang="en-US" altLang="zh-CN" sz="2400" b="1" i="1">
                                  <a:solidFill>
                                    <a:srgbClr val="FFFF00"/>
                                  </a:solidFill>
                                  <a:effectLst/>
                                  <a:latin typeface="Cambria Math" panose="02040503050406030204" pitchFamily="18" charset="0"/>
                                  <a:ea typeface="+mn-ea"/>
                                </a:rPr>
                                <m:t>𝑽</m:t>
                              </m:r>
                            </m:e>
                            <m:sup>
                              <m:r>
                                <a:rPr lang="en-US" altLang="zh-CN" sz="2400" b="1" i="1">
                                  <a:solidFill>
                                    <a:srgbClr val="FFFF00"/>
                                  </a:solidFill>
                                  <a:effectLst/>
                                  <a:latin typeface="Cambria Math" panose="02040503050406030204" pitchFamily="18" charset="0"/>
                                  <a:ea typeface="+mn-ea"/>
                                </a:rPr>
                                <m:t>′</m:t>
                              </m:r>
                            </m:sup>
                          </m:sSup>
                        </m:e>
                      </m:d>
                      <m:r>
                        <a:rPr lang="en-US" altLang="zh-CN" sz="2400" b="1" i="1">
                          <a:solidFill>
                            <a:srgbClr val="FFFF00"/>
                          </a:solidFill>
                          <a:effectLst/>
                          <a:latin typeface="Cambria Math" panose="02040503050406030204" pitchFamily="18" charset="0"/>
                          <a:ea typeface="+mn-ea"/>
                        </a:rPr>
                        <m:t>&gt;</m:t>
                      </m:r>
                      <m:r>
                        <a:rPr lang="en-US" altLang="zh-CN" sz="2400" b="1" i="1">
                          <a:solidFill>
                            <a:srgbClr val="FFFF00"/>
                          </a:solidFill>
                          <a:effectLst/>
                          <a:latin typeface="Cambria Math" panose="02040503050406030204" pitchFamily="18" charset="0"/>
                          <a:ea typeface="+mn-ea"/>
                        </a:rPr>
                        <m:t>𝒑</m:t>
                      </m:r>
                      <m:d>
                        <m:dPr>
                          <m:ctrlPr>
                            <a:rPr lang="zh-CN" altLang="zh-CN" sz="2400" b="1" i="1">
                              <a:solidFill>
                                <a:srgbClr val="FFFF00"/>
                              </a:solidFill>
                              <a:effectLst/>
                              <a:latin typeface="Cambria Math" panose="02040503050406030204" pitchFamily="18" charset="0"/>
                              <a:ea typeface="+mn-ea"/>
                            </a:rPr>
                          </m:ctrlPr>
                        </m:dPr>
                        <m:e>
                          <m:r>
                            <a:rPr lang="en-US" altLang="zh-CN" sz="2400" b="1" i="1">
                              <a:solidFill>
                                <a:srgbClr val="FFFF00"/>
                              </a:solidFill>
                              <a:effectLst/>
                              <a:latin typeface="Cambria Math" panose="02040503050406030204" pitchFamily="18" charset="0"/>
                              <a:ea typeface="+mn-ea"/>
                            </a:rPr>
                            <m:t>𝑮</m:t>
                          </m:r>
                        </m:e>
                      </m:d>
                      <m:r>
                        <a:rPr lang="en-US" altLang="zh-CN" sz="2400" b="1" i="1">
                          <a:solidFill>
                            <a:srgbClr val="FFFF00"/>
                          </a:solidFill>
                          <a:effectLst/>
                          <a:latin typeface="Cambria Math" panose="02040503050406030204" pitchFamily="18" charset="0"/>
                          <a:ea typeface="+mn-ea"/>
                        </a:rPr>
                        <m:t> </m:t>
                      </m:r>
                    </m:oMath>
                  </m:oMathPara>
                </a14:m>
                <a:endParaRPr lang="en-US" altLang="zh-CN" sz="2400" b="1" dirty="0">
                  <a:solidFill>
                    <a:srgbClr val="FFFF00"/>
                  </a:solidFill>
                  <a:effectLst/>
                </a:endParaRPr>
              </a:p>
              <a:p>
                <a:pPr>
                  <a:lnSpc>
                    <a:spcPct val="150000"/>
                  </a:lnSpc>
                  <a:spcBef>
                    <a:spcPts val="0"/>
                  </a:spcBef>
                  <a:spcAft>
                    <a:spcPts val="0"/>
                  </a:spcAft>
                </a:pPr>
                <a:r>
                  <a:rPr lang="zh-CN" altLang="zh-CN" sz="2400" b="1" dirty="0">
                    <a:solidFill>
                      <a:schemeClr val="bg1"/>
                    </a:solidFill>
                    <a:effectLst/>
                  </a:rPr>
                  <a:t>且对于</a:t>
                </a:r>
                <a14:m>
                  <m:oMath xmlns:m="http://schemas.openxmlformats.org/officeDocument/2006/math">
                    <m:r>
                      <a:rPr lang="zh-CN" altLang="zh-CN" sz="2400" b="1">
                        <a:solidFill>
                          <a:schemeClr val="bg1"/>
                        </a:solidFill>
                        <a:effectLst/>
                        <a:latin typeface="Cambria Math" panose="02040503050406030204" pitchFamily="18" charset="0"/>
                        <a:ea typeface="+mn-ea"/>
                      </a:rPr>
                      <m:t> </m:t>
                    </m:r>
                    <m:sSup>
                      <m:sSupPr>
                        <m:ctrlPr>
                          <a:rPr lang="zh-CN" altLang="zh-CN" sz="2400" b="1" i="1">
                            <a:solidFill>
                              <a:schemeClr val="bg1"/>
                            </a:solidFill>
                            <a:effectLst/>
                            <a:latin typeface="Cambria Math" panose="02040503050406030204" pitchFamily="18" charset="0"/>
                            <a:ea typeface="+mn-ea"/>
                          </a:rPr>
                        </m:ctrlPr>
                      </m:sSupPr>
                      <m:e>
                        <m:r>
                          <a:rPr lang="en-US" altLang="zh-CN" sz="2400" b="1" i="1">
                            <a:solidFill>
                              <a:schemeClr val="bg1"/>
                            </a:solidFill>
                            <a:effectLst/>
                            <a:latin typeface="Cambria Math" panose="02040503050406030204" pitchFamily="18" charset="0"/>
                            <a:ea typeface="+mn-ea"/>
                          </a:rPr>
                          <m:t>𝑽</m:t>
                        </m:r>
                      </m:e>
                      <m:sup>
                        <m:r>
                          <a:rPr lang="en-US" altLang="zh-CN" sz="2400" b="1" i="1">
                            <a:solidFill>
                              <a:schemeClr val="bg1"/>
                            </a:solidFill>
                            <a:effectLst/>
                            <a:latin typeface="Cambria Math" panose="02040503050406030204" pitchFamily="18" charset="0"/>
                            <a:ea typeface="+mn-ea"/>
                          </a:rPr>
                          <m:t>′</m:t>
                        </m:r>
                      </m:sup>
                    </m:sSup>
                  </m:oMath>
                </a14:m>
                <a:r>
                  <a:rPr lang="zh-CN" altLang="zh-CN" sz="2400" b="1" dirty="0">
                    <a:solidFill>
                      <a:schemeClr val="bg1"/>
                    </a:solidFill>
                    <a:effectLst/>
                  </a:rPr>
                  <a:t>的任何真子集</a:t>
                </a:r>
                <a14:m>
                  <m:oMath xmlns:m="http://schemas.openxmlformats.org/officeDocument/2006/math">
                    <m:r>
                      <a:rPr lang="zh-CN" altLang="zh-CN" sz="2400" b="1">
                        <a:solidFill>
                          <a:schemeClr val="bg1"/>
                        </a:solidFill>
                        <a:effectLst/>
                        <a:latin typeface="Cambria Math" panose="02040503050406030204" pitchFamily="18" charset="0"/>
                        <a:ea typeface="+mn-ea"/>
                      </a:rPr>
                      <m:t> </m:t>
                    </m:r>
                    <m:r>
                      <a:rPr lang="en-US" altLang="zh-CN" sz="2400" b="1" i="1">
                        <a:solidFill>
                          <a:schemeClr val="bg1"/>
                        </a:solidFill>
                        <a:effectLst/>
                        <a:latin typeface="Cambria Math" panose="02040503050406030204" pitchFamily="18" charset="0"/>
                        <a:ea typeface="+mn-ea"/>
                      </a:rPr>
                      <m:t>𝑽</m:t>
                    </m:r>
                    <m:r>
                      <a:rPr lang="en-US" altLang="zh-CN" sz="2400" b="1" i="1">
                        <a:solidFill>
                          <a:schemeClr val="bg1"/>
                        </a:solidFill>
                        <a:effectLst/>
                        <a:latin typeface="Cambria Math" panose="02040503050406030204" pitchFamily="18" charset="0"/>
                        <a:ea typeface="+mn-ea"/>
                      </a:rPr>
                      <m:t>′′</m:t>
                    </m:r>
                  </m:oMath>
                </a14:m>
                <a:r>
                  <a:rPr lang="zh-CN" altLang="zh-CN" sz="2400" b="1" dirty="0">
                    <a:solidFill>
                      <a:schemeClr val="bg1"/>
                    </a:solidFill>
                    <a:effectLst/>
                  </a:rPr>
                  <a:t>，有</a:t>
                </a:r>
                <a:r>
                  <a:rPr lang="zh-CN" altLang="en-US" sz="2400" b="1" dirty="0">
                    <a:solidFill>
                      <a:schemeClr val="bg1"/>
                    </a:solidFill>
                    <a:effectLst/>
                  </a:rPr>
                  <a:t>：</a:t>
                </a:r>
                <a:endParaRPr lang="en-US" altLang="zh-CN" sz="2400" b="1" dirty="0">
                  <a:solidFill>
                    <a:schemeClr val="bg1"/>
                  </a:solidFill>
                  <a:effectLst/>
                </a:endParaRPr>
              </a:p>
              <a:p>
                <a:pP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zh-CN" altLang="zh-CN" sz="2400" b="1" smtClean="0">
                          <a:solidFill>
                            <a:srgbClr val="FFFF00"/>
                          </a:solidFill>
                          <a:effectLst/>
                          <a:latin typeface="Cambria Math" panose="02040503050406030204" pitchFamily="18" charset="0"/>
                        </a:rPr>
                        <m:t> </m:t>
                      </m:r>
                      <m:r>
                        <a:rPr lang="en-US" altLang="zh-CN" sz="2400" b="1" i="1">
                          <a:solidFill>
                            <a:srgbClr val="FFFF00"/>
                          </a:solidFill>
                          <a:effectLst/>
                          <a:latin typeface="Cambria Math" panose="02040503050406030204" pitchFamily="18" charset="0"/>
                        </a:rPr>
                        <m:t>𝒑</m:t>
                      </m:r>
                      <m:d>
                        <m:dPr>
                          <m:ctrlPr>
                            <a:rPr lang="zh-CN" altLang="zh-CN" sz="2400" b="1" i="1">
                              <a:solidFill>
                                <a:srgbClr val="FFFF00"/>
                              </a:solidFill>
                              <a:effectLst/>
                              <a:latin typeface="Cambria Math" panose="02040503050406030204" pitchFamily="18" charset="0"/>
                            </a:rPr>
                          </m:ctrlPr>
                        </m:dPr>
                        <m:e>
                          <m:r>
                            <a:rPr lang="en-US" altLang="zh-CN" sz="2400" b="1" i="1">
                              <a:solidFill>
                                <a:srgbClr val="FFFF00"/>
                              </a:solidFill>
                              <a:effectLst/>
                              <a:latin typeface="Cambria Math" panose="02040503050406030204" pitchFamily="18" charset="0"/>
                            </a:rPr>
                            <m:t>𝑮</m:t>
                          </m:r>
                          <m:r>
                            <a:rPr lang="en-US" altLang="zh-CN" sz="2400" b="1" i="1">
                              <a:solidFill>
                                <a:srgbClr val="FFFF00"/>
                              </a:solidFill>
                              <a:effectLst/>
                              <a:latin typeface="Cambria Math" panose="02040503050406030204" pitchFamily="18" charset="0"/>
                            </a:rPr>
                            <m:t>−</m:t>
                          </m:r>
                          <m:sSup>
                            <m:sSupPr>
                              <m:ctrlPr>
                                <a:rPr lang="zh-CN" altLang="zh-CN" sz="2400" b="1" i="1">
                                  <a:solidFill>
                                    <a:srgbClr val="FFFF00"/>
                                  </a:solidFill>
                                  <a:effectLst/>
                                  <a:latin typeface="Cambria Math" panose="02040503050406030204" pitchFamily="18" charset="0"/>
                                </a:rPr>
                              </m:ctrlPr>
                            </m:sSupPr>
                            <m:e>
                              <m:r>
                                <a:rPr lang="en-US" altLang="zh-CN" sz="2400" b="1" i="1">
                                  <a:solidFill>
                                    <a:srgbClr val="FFFF00"/>
                                  </a:solidFill>
                                  <a:effectLst/>
                                  <a:latin typeface="Cambria Math" panose="02040503050406030204" pitchFamily="18" charset="0"/>
                                </a:rPr>
                                <m:t>𝑽</m:t>
                              </m:r>
                            </m:e>
                            <m:sup>
                              <m:r>
                                <a:rPr lang="en-US" altLang="zh-CN" sz="2400" b="1" i="1">
                                  <a:solidFill>
                                    <a:srgbClr val="FFFF00"/>
                                  </a:solidFill>
                                  <a:effectLst/>
                                  <a:latin typeface="Cambria Math" panose="02040503050406030204" pitchFamily="18" charset="0"/>
                                </a:rPr>
                                <m:t>′</m:t>
                              </m:r>
                            </m:sup>
                          </m:sSup>
                          <m:r>
                            <a:rPr lang="en-US" altLang="zh-CN" sz="2400" b="1" i="1">
                              <a:solidFill>
                                <a:srgbClr val="FFFF00"/>
                              </a:solidFill>
                              <a:effectLst/>
                              <a:latin typeface="Cambria Math" panose="02040503050406030204" pitchFamily="18" charset="0"/>
                            </a:rPr>
                            <m:t>′</m:t>
                          </m:r>
                        </m:e>
                      </m:d>
                      <m:r>
                        <a:rPr lang="en-US" altLang="zh-CN" sz="2400" b="1" i="1">
                          <a:solidFill>
                            <a:srgbClr val="FFFF00"/>
                          </a:solidFill>
                          <a:effectLst/>
                          <a:latin typeface="Cambria Math" panose="02040503050406030204" pitchFamily="18" charset="0"/>
                        </a:rPr>
                        <m:t>=</m:t>
                      </m:r>
                      <m:r>
                        <a:rPr lang="en-US" altLang="zh-CN" sz="2400" b="1" i="1">
                          <a:solidFill>
                            <a:srgbClr val="FFFF00"/>
                          </a:solidFill>
                          <a:effectLst/>
                          <a:latin typeface="Cambria Math" panose="02040503050406030204" pitchFamily="18" charset="0"/>
                        </a:rPr>
                        <m:t>𝒑</m:t>
                      </m:r>
                      <m:d>
                        <m:dPr>
                          <m:ctrlPr>
                            <a:rPr lang="zh-CN" altLang="zh-CN" sz="2400" b="1" i="1">
                              <a:solidFill>
                                <a:srgbClr val="FFFF00"/>
                              </a:solidFill>
                              <a:effectLst/>
                              <a:latin typeface="Cambria Math" panose="02040503050406030204" pitchFamily="18" charset="0"/>
                            </a:rPr>
                          </m:ctrlPr>
                        </m:dPr>
                        <m:e>
                          <m:r>
                            <a:rPr lang="en-US" altLang="zh-CN" sz="2400" b="1" i="1">
                              <a:solidFill>
                                <a:srgbClr val="FFFF00"/>
                              </a:solidFill>
                              <a:effectLst/>
                              <a:latin typeface="Cambria Math" panose="02040503050406030204" pitchFamily="18" charset="0"/>
                            </a:rPr>
                            <m:t>𝑮</m:t>
                          </m:r>
                        </m:e>
                      </m:d>
                    </m:oMath>
                  </m:oMathPara>
                </a14:m>
                <a:endParaRPr lang="en-US" altLang="zh-CN" sz="2400" b="1" dirty="0">
                  <a:solidFill>
                    <a:srgbClr val="FFFF00"/>
                  </a:solidFill>
                  <a:effectLst/>
                </a:endParaRPr>
              </a:p>
              <a:p>
                <a:pPr>
                  <a:lnSpc>
                    <a:spcPct val="150000"/>
                  </a:lnSpc>
                  <a:spcBef>
                    <a:spcPts val="0"/>
                  </a:spcBef>
                  <a:spcAft>
                    <a:spcPts val="0"/>
                  </a:spcAft>
                </a:pPr>
                <a:r>
                  <a:rPr lang="zh-CN" altLang="zh-CN" sz="2400" b="1" dirty="0">
                    <a:solidFill>
                      <a:schemeClr val="bg1"/>
                    </a:solidFill>
                    <a:effectLst/>
                  </a:rPr>
                  <a:t>则称</a:t>
                </a:r>
                <a14:m>
                  <m:oMath xmlns:m="http://schemas.openxmlformats.org/officeDocument/2006/math">
                    <m:r>
                      <a:rPr lang="zh-CN" altLang="zh-CN" sz="2400" b="1">
                        <a:solidFill>
                          <a:schemeClr val="bg1"/>
                        </a:solidFill>
                        <a:effectLst/>
                        <a:latin typeface="Cambria Math" panose="02040503050406030204" pitchFamily="18" charset="0"/>
                        <a:ea typeface="+mn-ea"/>
                      </a:rPr>
                      <m:t> </m:t>
                    </m:r>
                    <m:sSup>
                      <m:sSupPr>
                        <m:ctrlPr>
                          <a:rPr lang="zh-CN" altLang="zh-CN" sz="2400" b="1" i="1">
                            <a:solidFill>
                              <a:schemeClr val="bg1"/>
                            </a:solidFill>
                            <a:effectLst/>
                            <a:latin typeface="Cambria Math" panose="02040503050406030204" pitchFamily="18" charset="0"/>
                            <a:ea typeface="+mn-ea"/>
                          </a:rPr>
                        </m:ctrlPr>
                      </m:sSupPr>
                      <m:e>
                        <m:r>
                          <a:rPr lang="en-US" altLang="zh-CN" sz="2400" b="1" i="1">
                            <a:solidFill>
                              <a:schemeClr val="bg1"/>
                            </a:solidFill>
                            <a:effectLst/>
                            <a:latin typeface="Cambria Math" panose="02040503050406030204" pitchFamily="18" charset="0"/>
                            <a:ea typeface="+mn-ea"/>
                          </a:rPr>
                          <m:t>𝑽</m:t>
                        </m:r>
                      </m:e>
                      <m:sup>
                        <m:r>
                          <a:rPr lang="en-US" altLang="zh-CN" sz="2400" b="1" i="1">
                            <a:solidFill>
                              <a:schemeClr val="bg1"/>
                            </a:solidFill>
                            <a:effectLst/>
                            <a:latin typeface="Cambria Math" panose="02040503050406030204" pitchFamily="18" charset="0"/>
                            <a:ea typeface="+mn-ea"/>
                          </a:rPr>
                          <m:t>′</m:t>
                        </m:r>
                      </m:sup>
                    </m:sSup>
                  </m:oMath>
                </a14:m>
                <a:r>
                  <a:rPr lang="zh-CN" altLang="zh-CN" sz="2400" b="1" dirty="0">
                    <a:solidFill>
                      <a:schemeClr val="bg1"/>
                    </a:solidFill>
                    <a:effectLst/>
                  </a:rPr>
                  <a:t>为</a:t>
                </a:r>
                <a14:m>
                  <m:oMath xmlns:m="http://schemas.openxmlformats.org/officeDocument/2006/math">
                    <m:r>
                      <a:rPr lang="zh-CN" altLang="zh-CN" sz="2400" b="1">
                        <a:solidFill>
                          <a:schemeClr val="bg1"/>
                        </a:solidFill>
                        <a:effectLst/>
                        <a:latin typeface="Cambria Math" panose="02040503050406030204" pitchFamily="18" charset="0"/>
                        <a:ea typeface="+mn-ea"/>
                      </a:rPr>
                      <m:t> </m:t>
                    </m:r>
                    <m:r>
                      <a:rPr lang="en-US" altLang="zh-CN" sz="2400" b="1" i="1">
                        <a:solidFill>
                          <a:schemeClr val="bg1"/>
                        </a:solidFill>
                        <a:effectLst/>
                        <a:latin typeface="Cambria Math" panose="02040503050406030204" pitchFamily="18" charset="0"/>
                        <a:ea typeface="+mn-ea"/>
                      </a:rPr>
                      <m:t>𝑮</m:t>
                    </m:r>
                    <m:r>
                      <a:rPr lang="en-US" altLang="zh-CN" sz="2400" b="1" i="1">
                        <a:solidFill>
                          <a:schemeClr val="bg1"/>
                        </a:solidFill>
                        <a:effectLst/>
                        <a:latin typeface="Cambria Math" panose="02040503050406030204" pitchFamily="18" charset="0"/>
                        <a:ea typeface="+mn-ea"/>
                      </a:rPr>
                      <m:t> </m:t>
                    </m:r>
                  </m:oMath>
                </a14:m>
                <a:r>
                  <a:rPr lang="zh-CN" altLang="zh-CN" sz="2400" b="1" dirty="0">
                    <a:solidFill>
                      <a:schemeClr val="bg1"/>
                    </a:solidFill>
                    <a:effectLst/>
                  </a:rPr>
                  <a:t>的</a:t>
                </a:r>
                <a:r>
                  <a:rPr lang="zh-CN" altLang="zh-CN" sz="2400" b="1" dirty="0">
                    <a:solidFill>
                      <a:srgbClr val="FFFF00"/>
                    </a:solidFill>
                    <a:effectLst/>
                  </a:rPr>
                  <a:t>点割集</a:t>
                </a:r>
                <a:r>
                  <a:rPr lang="zh-CN" altLang="zh-CN" sz="2400" b="1" dirty="0">
                    <a:solidFill>
                      <a:schemeClr val="bg1"/>
                    </a:solidFill>
                    <a:effectLst/>
                  </a:rPr>
                  <a:t>。</a:t>
                </a:r>
                <a:endParaRPr lang="en-US" altLang="zh-CN" sz="2400" b="1" dirty="0">
                  <a:solidFill>
                    <a:schemeClr val="bg1"/>
                  </a:solidFill>
                  <a:effectLst/>
                </a:endParaRPr>
              </a:p>
              <a:p>
                <a:pPr>
                  <a:lnSpc>
                    <a:spcPct val="150000"/>
                  </a:lnSpc>
                  <a:spcBef>
                    <a:spcPts val="0"/>
                  </a:spcBef>
                  <a:spcAft>
                    <a:spcPts val="0"/>
                  </a:spcAft>
                </a:pPr>
                <a:r>
                  <a:rPr lang="en-US" altLang="zh-CN" sz="2400" b="1" dirty="0">
                    <a:solidFill>
                      <a:schemeClr val="bg1"/>
                    </a:solidFill>
                  </a:rPr>
                  <a:t>    </a:t>
                </a:r>
                <a:r>
                  <a:rPr lang="zh-CN" altLang="zh-CN" sz="2400" b="1" dirty="0">
                    <a:solidFill>
                      <a:schemeClr val="bg1"/>
                    </a:solidFill>
                    <a:effectLst/>
                  </a:rPr>
                  <a:t>如果点割集中只有一个结点</a:t>
                </a:r>
                <a14:m>
                  <m:oMath xmlns:m="http://schemas.openxmlformats.org/officeDocument/2006/math">
                    <m:r>
                      <a:rPr lang="zh-CN" altLang="zh-CN" sz="2400" b="1">
                        <a:solidFill>
                          <a:schemeClr val="bg1"/>
                        </a:solidFill>
                        <a:effectLst/>
                        <a:latin typeface="Cambria Math" panose="02040503050406030204" pitchFamily="18" charset="0"/>
                        <a:ea typeface="+mn-ea"/>
                      </a:rPr>
                      <m:t> </m:t>
                    </m:r>
                    <m:r>
                      <a:rPr lang="en-US" altLang="zh-CN" sz="2400" b="1" i="1">
                        <a:solidFill>
                          <a:schemeClr val="bg1"/>
                        </a:solidFill>
                        <a:effectLst/>
                        <a:latin typeface="Cambria Math" panose="02040503050406030204" pitchFamily="18" charset="0"/>
                        <a:ea typeface="+mn-ea"/>
                      </a:rPr>
                      <m:t>𝒗</m:t>
                    </m:r>
                    <m:r>
                      <a:rPr lang="en-US" altLang="zh-CN" sz="2400" b="1" i="1">
                        <a:solidFill>
                          <a:schemeClr val="bg1"/>
                        </a:solidFill>
                        <a:effectLst/>
                        <a:latin typeface="Cambria Math" panose="02040503050406030204" pitchFamily="18" charset="0"/>
                        <a:ea typeface="+mn-ea"/>
                      </a:rPr>
                      <m:t> </m:t>
                    </m:r>
                  </m:oMath>
                </a14:m>
                <a:r>
                  <a:rPr lang="zh-CN" altLang="zh-CN" sz="2400" b="1" dirty="0">
                    <a:solidFill>
                      <a:schemeClr val="bg1"/>
                    </a:solidFill>
                    <a:effectLst/>
                  </a:rPr>
                  <a:t>，则称</a:t>
                </a:r>
                <a14:m>
                  <m:oMath xmlns:m="http://schemas.openxmlformats.org/officeDocument/2006/math">
                    <m:r>
                      <a:rPr lang="zh-CN" altLang="zh-CN" sz="2400" b="1">
                        <a:solidFill>
                          <a:schemeClr val="bg1"/>
                        </a:solidFill>
                        <a:effectLst/>
                        <a:latin typeface="Cambria Math" panose="02040503050406030204" pitchFamily="18" charset="0"/>
                        <a:ea typeface="+mn-ea"/>
                      </a:rPr>
                      <m:t> </m:t>
                    </m:r>
                    <m:r>
                      <a:rPr lang="en-US" altLang="zh-CN" sz="2400" b="1" i="1">
                        <a:solidFill>
                          <a:schemeClr val="bg1"/>
                        </a:solidFill>
                        <a:effectLst/>
                        <a:latin typeface="Cambria Math" panose="02040503050406030204" pitchFamily="18" charset="0"/>
                        <a:ea typeface="+mn-ea"/>
                      </a:rPr>
                      <m:t>𝒗</m:t>
                    </m:r>
                    <m:r>
                      <a:rPr lang="en-US" altLang="zh-CN" sz="2400" b="1" i="1">
                        <a:solidFill>
                          <a:schemeClr val="bg1"/>
                        </a:solidFill>
                        <a:effectLst/>
                        <a:latin typeface="Cambria Math" panose="02040503050406030204" pitchFamily="18" charset="0"/>
                        <a:ea typeface="+mn-ea"/>
                      </a:rPr>
                      <m:t> </m:t>
                    </m:r>
                  </m:oMath>
                </a14:m>
                <a:r>
                  <a:rPr lang="zh-CN" altLang="zh-CN" sz="2400" b="1" dirty="0">
                    <a:solidFill>
                      <a:schemeClr val="bg1"/>
                    </a:solidFill>
                    <a:effectLst/>
                  </a:rPr>
                  <a:t>为</a:t>
                </a:r>
                <a:r>
                  <a:rPr lang="zh-CN" altLang="zh-CN" sz="2400" b="1" dirty="0">
                    <a:solidFill>
                      <a:srgbClr val="FFFF00"/>
                    </a:solidFill>
                    <a:effectLst/>
                  </a:rPr>
                  <a:t>割点</a:t>
                </a:r>
                <a:r>
                  <a:rPr lang="zh-CN" altLang="zh-CN" sz="2400" b="1" dirty="0">
                    <a:solidFill>
                      <a:schemeClr val="bg1"/>
                    </a:solidFill>
                    <a:effectLst/>
                  </a:rPr>
                  <a:t>。</a:t>
                </a:r>
                <a:endParaRPr lang="zh-CN" altLang="en-US" sz="2400" b="1" dirty="0">
                  <a:solidFill>
                    <a:schemeClr val="bg1"/>
                  </a:solidFill>
                  <a:effectLst/>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611560" y="2108931"/>
                <a:ext cx="8136904" cy="3897285"/>
              </a:xfrm>
              <a:prstGeom prst="rect">
                <a:avLst/>
              </a:prstGeom>
              <a:blipFill>
                <a:blip r:embed="rId4"/>
                <a:stretch>
                  <a:fillRect l="-1124" b="-2347"/>
                </a:stretch>
              </a:blipFill>
              <a:ln w="19050">
                <a:noFill/>
              </a:ln>
            </p:spPr>
            <p:txBody>
              <a:bodyPr/>
              <a:lstStyle/>
              <a:p>
                <a:r>
                  <a:rPr lang="zh-CN" altLang="en-US">
                    <a:noFill/>
                  </a:rPr>
                  <a:t> </a:t>
                </a:r>
              </a:p>
            </p:txBody>
          </p:sp>
        </mc:Fallback>
      </mc:AlternateContent>
    </p:spTree>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95536" y="2028242"/>
                <a:ext cx="8424936" cy="1302408"/>
              </a:xfrm>
              <a:prstGeom prst="rect">
                <a:avLst/>
              </a:prstGeom>
              <a:solidFill>
                <a:schemeClr val="accent5"/>
              </a:solidFill>
              <a:ln w="19050">
                <a:noFill/>
              </a:ln>
            </p:spPr>
            <p:txBody>
              <a:bodyPr wrap="square" rtlCol="0">
                <a:spAutoFit/>
              </a:bodyPr>
              <a:lstStyle/>
              <a:p>
                <a:pPr>
                  <a:lnSpc>
                    <a:spcPct val="150000"/>
                  </a:lnSpc>
                </a:pPr>
                <a:r>
                  <a:rPr lang="en-US" altLang="zh-CN" sz="2800" dirty="0"/>
                  <a:t>    </a:t>
                </a:r>
                <a:r>
                  <a:rPr lang="zh-CN" altLang="zh-CN" sz="2800" dirty="0"/>
                  <a:t>【例题】</a:t>
                </a:r>
                <a:r>
                  <a:rPr lang="zh-CN" altLang="zh-CN" sz="2800" b="1" dirty="0">
                    <a:solidFill>
                      <a:schemeClr val="tx1"/>
                    </a:solidFill>
                  </a:rPr>
                  <a:t>如</a:t>
                </a:r>
                <a:r>
                  <a:rPr lang="zh-CN" altLang="en-US" sz="2800" b="1" dirty="0">
                    <a:solidFill>
                      <a:schemeClr val="tx1"/>
                    </a:solidFill>
                  </a:rPr>
                  <a:t>下图</a:t>
                </a:r>
                <a:r>
                  <a:rPr lang="zh-CN" altLang="zh-CN" sz="2800" b="1" dirty="0">
                    <a:solidFill>
                      <a:schemeClr val="tx1"/>
                    </a:solidFill>
                  </a:rPr>
                  <a:t>所示，判断图</a:t>
                </a:r>
                <a14:m>
                  <m:oMath xmlns:m="http://schemas.openxmlformats.org/officeDocument/2006/math">
                    <m:r>
                      <a:rPr lang="zh-CN" altLang="zh-CN" sz="2800" b="1">
                        <a:solidFill>
                          <a:schemeClr val="tx1"/>
                        </a:solidFill>
                        <a:latin typeface="Cambria Math" panose="02040503050406030204" pitchFamily="18" charset="0"/>
                      </a:rPr>
                      <m:t> </m:t>
                    </m:r>
                    <m:r>
                      <a:rPr lang="en-US" altLang="zh-CN" sz="2800" b="1" i="1">
                        <a:solidFill>
                          <a:schemeClr val="tx1"/>
                        </a:solidFill>
                        <a:latin typeface="Cambria Math" panose="02040503050406030204" pitchFamily="18" charset="0"/>
                      </a:rPr>
                      <m:t>𝑮</m:t>
                    </m:r>
                    <m:r>
                      <m:rPr>
                        <m:nor/>
                      </m:rPr>
                      <a:rPr lang="zh-CN" altLang="en-US" sz="2800" b="1" dirty="0">
                        <a:solidFill>
                          <a:schemeClr val="tx1"/>
                        </a:solidFill>
                      </a:rPr>
                      <m:t>的下列结点集合</m:t>
                    </m:r>
                    <m:r>
                      <a:rPr lang="en-US" altLang="zh-CN" sz="2800" b="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𝟓</m:t>
                        </m:r>
                      </m:sub>
                    </m:sSub>
                    <m:r>
                      <a:rPr lang="en-US" altLang="zh-CN" sz="2800" b="1">
                        <a:solidFill>
                          <a:schemeClr val="tx1"/>
                        </a:solidFill>
                        <a:latin typeface="Cambria Math" panose="02040503050406030204" pitchFamily="18" charset="0"/>
                      </a:rPr>
                      <m:t>}</m:t>
                    </m:r>
                  </m:oMath>
                </a14:m>
                <a:r>
                  <a:rPr lang="zh-CN" altLang="zh-CN" sz="2800" b="1" dirty="0">
                    <a:solidFill>
                      <a:schemeClr val="tx1"/>
                    </a:solidFill>
                  </a:rPr>
                  <a:t>，</a:t>
                </a:r>
                <a14:m>
                  <m:oMath xmlns:m="http://schemas.openxmlformats.org/officeDocument/2006/math">
                    <m:r>
                      <a:rPr lang="en-US" altLang="zh-CN" sz="2800" b="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𝟔</m:t>
                        </m:r>
                      </m:sub>
                    </m:sSub>
                    <m:r>
                      <a:rPr lang="en-US" altLang="zh-CN" sz="2800" b="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𝟕</m:t>
                        </m:r>
                      </m:sub>
                    </m:sSub>
                    <m:r>
                      <a:rPr lang="en-US" altLang="zh-CN" sz="2800" b="1">
                        <a:solidFill>
                          <a:schemeClr val="tx1"/>
                        </a:solidFill>
                        <a:latin typeface="Cambria Math" panose="02040503050406030204" pitchFamily="18" charset="0"/>
                      </a:rPr>
                      <m:t>}</m:t>
                    </m:r>
                  </m:oMath>
                </a14:m>
                <a:r>
                  <a:rPr lang="zh-CN" altLang="zh-CN" sz="2800" b="1" dirty="0">
                    <a:solidFill>
                      <a:schemeClr val="tx1"/>
                    </a:solidFill>
                  </a:rPr>
                  <a:t>，</a:t>
                </a:r>
                <a14:m>
                  <m:oMath xmlns:m="http://schemas.openxmlformats.org/officeDocument/2006/math">
                    <m:d>
                      <m:dPr>
                        <m:begChr m:val="{"/>
                        <m:endChr m:val="}"/>
                        <m:ctrlPr>
                          <a:rPr lang="zh-CN" altLang="zh-CN" sz="2800" b="1" i="1">
                            <a:solidFill>
                              <a:schemeClr val="tx1"/>
                            </a:solidFill>
                            <a:latin typeface="Cambria Math" panose="02040503050406030204" pitchFamily="18" charset="0"/>
                          </a:rPr>
                        </m:ctrlPr>
                      </m:dPr>
                      <m:e>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𝟕</m:t>
                            </m:r>
                          </m:sub>
                        </m:sSub>
                        <m:r>
                          <a:rPr lang="en-US" altLang="zh-CN" sz="2800" b="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𝟖</m:t>
                            </m:r>
                          </m:sub>
                        </m:sSub>
                      </m:e>
                    </m:d>
                    <m:r>
                      <a:rPr lang="en-US" altLang="zh-CN" sz="2800" b="1" i="1">
                        <a:solidFill>
                          <a:schemeClr val="tx1"/>
                        </a:solidFill>
                        <a:latin typeface="Cambria Math" panose="02040503050406030204" pitchFamily="18" charset="0"/>
                      </a:rPr>
                      <m:t> </m:t>
                    </m:r>
                  </m:oMath>
                </a14:m>
                <a:r>
                  <a:rPr lang="zh-CN" altLang="zh-CN" sz="2800" b="1" dirty="0">
                    <a:solidFill>
                      <a:schemeClr val="tx1"/>
                    </a:solidFill>
                  </a:rPr>
                  <a:t>是否为点割集。</a:t>
                </a:r>
                <a:endParaRPr lang="en-US" altLang="zh-CN" sz="2800" b="1" dirty="0">
                  <a:solidFill>
                    <a:srgbClr val="0000FF"/>
                  </a:solidFill>
                  <a:latin typeface="华文细黑" panose="02010600040101010101" pitchFamily="2" charset="-122"/>
                  <a:ea typeface="华文细黑" panose="02010600040101010101" pitchFamily="2"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95536" y="2028242"/>
                <a:ext cx="8424936" cy="1302408"/>
              </a:xfrm>
              <a:prstGeom prst="rect">
                <a:avLst/>
              </a:prstGeom>
              <a:blipFill>
                <a:blip r:embed="rId4"/>
                <a:stretch>
                  <a:fillRect b="-11268"/>
                </a:stretch>
              </a:blipFill>
              <a:ln w="19050">
                <a:noFill/>
              </a:ln>
            </p:spPr>
            <p:txBody>
              <a:bodyPr/>
              <a:lstStyle/>
              <a:p>
                <a:r>
                  <a:rPr lang="zh-CN" altLang="en-US">
                    <a:noFill/>
                  </a:rPr>
                  <a:t> </a:t>
                </a:r>
              </a:p>
            </p:txBody>
          </p:sp>
        </mc:Fallback>
      </mc:AlternateContent>
      <p:pic>
        <p:nvPicPr>
          <p:cNvPr id="2" name="图片 1"/>
          <p:cNvPicPr>
            <a:picLocks noChangeAspect="1"/>
          </p:cNvPicPr>
          <p:nvPr/>
        </p:nvPicPr>
        <p:blipFill>
          <a:blip r:embed="rId5"/>
          <a:stretch>
            <a:fillRect/>
          </a:stretch>
        </p:blipFill>
        <p:spPr>
          <a:xfrm>
            <a:off x="251520" y="3719052"/>
            <a:ext cx="4104456" cy="2441134"/>
          </a:xfrm>
          <a:prstGeom prst="rect">
            <a:avLst/>
          </a:prstGeom>
        </p:spPr>
      </p:pic>
      <p:pic>
        <p:nvPicPr>
          <p:cNvPr id="5" name="图片 4"/>
          <p:cNvPicPr>
            <a:picLocks noChangeAspect="1"/>
          </p:cNvPicPr>
          <p:nvPr/>
        </p:nvPicPr>
        <p:blipFill>
          <a:blip r:embed="rId6"/>
          <a:stretch>
            <a:fillRect/>
          </a:stretch>
        </p:blipFill>
        <p:spPr>
          <a:xfrm>
            <a:off x="4608004" y="3745146"/>
            <a:ext cx="4167474" cy="2488405"/>
          </a:xfrm>
          <a:prstGeom prst="rect">
            <a:avLst/>
          </a:prstGeom>
        </p:spPr>
      </p:pic>
    </p:spTree>
    <p:extLst>
      <p:ext uri="{BB962C8B-B14F-4D97-AF65-F5344CB8AC3E}">
        <p14:creationId xmlns:p14="http://schemas.microsoft.com/office/powerpoint/2010/main" val="1652054426"/>
      </p:ext>
    </p:extLst>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95536" y="1916832"/>
                <a:ext cx="8640960" cy="3869329"/>
              </a:xfrm>
              <a:prstGeom prst="rect">
                <a:avLst/>
              </a:prstGeom>
              <a:solidFill>
                <a:schemeClr val="accent5"/>
              </a:solidFill>
              <a:ln w="19050">
                <a:noFill/>
              </a:ln>
            </p:spPr>
            <p:txBody>
              <a:bodyPr wrap="square" rtlCol="0">
                <a:spAutoFit/>
              </a:bodyPr>
              <a:lstStyle/>
              <a:p>
                <a:pPr>
                  <a:lnSpc>
                    <a:spcPct val="150000"/>
                  </a:lnSpc>
                </a:pPr>
                <a:r>
                  <a:rPr lang="en-US" altLang="zh-CN" sz="2800" b="1" dirty="0">
                    <a:solidFill>
                      <a:schemeClr val="accent2"/>
                    </a:solidFill>
                  </a:rPr>
                  <a:t>   </a:t>
                </a:r>
                <a:r>
                  <a:rPr lang="zh-CN" altLang="zh-CN" sz="2800" b="1" dirty="0">
                    <a:solidFill>
                      <a:schemeClr val="accent2"/>
                    </a:solidFill>
                  </a:rPr>
                  <a:t>【解】</a:t>
                </a:r>
                <a:r>
                  <a:rPr lang="zh-CN" altLang="zh-CN" sz="2800" b="1" dirty="0">
                    <a:solidFill>
                      <a:schemeClr val="tx1"/>
                    </a:solidFill>
                  </a:rPr>
                  <a:t>在图</a:t>
                </a:r>
                <a14:m>
                  <m:oMath xmlns:m="http://schemas.openxmlformats.org/officeDocument/2006/math">
                    <m:r>
                      <a:rPr lang="zh-CN" altLang="zh-CN" sz="2800" b="1">
                        <a:solidFill>
                          <a:schemeClr val="tx1"/>
                        </a:solidFill>
                        <a:latin typeface="Cambria Math" panose="02040503050406030204" pitchFamily="18" charset="0"/>
                      </a:rPr>
                      <m:t> </m:t>
                    </m:r>
                    <m:r>
                      <a:rPr lang="en-US" altLang="zh-CN" sz="2800" b="1" i="1">
                        <a:solidFill>
                          <a:schemeClr val="tx1"/>
                        </a:solidFill>
                        <a:latin typeface="Cambria Math" panose="02040503050406030204" pitchFamily="18" charset="0"/>
                      </a:rPr>
                      <m:t>𝑮</m:t>
                    </m:r>
                    <m:r>
                      <a:rPr lang="en-US" altLang="zh-CN" sz="2800" b="1">
                        <a:solidFill>
                          <a:schemeClr val="tx1"/>
                        </a:solidFill>
                        <a:latin typeface="Cambria Math" panose="02040503050406030204" pitchFamily="18" charset="0"/>
                      </a:rPr>
                      <m:t> </m:t>
                    </m:r>
                  </m:oMath>
                </a14:m>
                <a:r>
                  <a:rPr lang="zh-CN" altLang="zh-CN" sz="2800" b="1" dirty="0">
                    <a:solidFill>
                      <a:schemeClr val="tx1"/>
                    </a:solidFill>
                  </a:rPr>
                  <a:t>中移去割点</a:t>
                </a:r>
                <a14:m>
                  <m:oMath xmlns:m="http://schemas.openxmlformats.org/officeDocument/2006/math">
                    <m:r>
                      <a:rPr lang="zh-CN" altLang="zh-CN" sz="2800" b="1">
                        <a:solidFill>
                          <a:schemeClr val="tx1"/>
                        </a:solidFill>
                        <a:latin typeface="Cambria Math" panose="02040503050406030204" pitchFamily="18" charset="0"/>
                      </a:rPr>
                      <m:t> </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𝟓</m:t>
                        </m:r>
                      </m:sub>
                    </m:sSub>
                    <m:r>
                      <a:rPr lang="en-US" altLang="zh-CN" sz="2800" b="1" i="1">
                        <a:solidFill>
                          <a:schemeClr val="tx1"/>
                        </a:solidFill>
                        <a:latin typeface="Cambria Math" panose="02040503050406030204" pitchFamily="18" charset="0"/>
                      </a:rPr>
                      <m:t> </m:t>
                    </m:r>
                  </m:oMath>
                </a14:m>
                <a:r>
                  <a:rPr lang="zh-CN" altLang="zh-CN" sz="2800" b="1" dirty="0">
                    <a:solidFill>
                      <a:schemeClr val="tx1"/>
                    </a:solidFill>
                  </a:rPr>
                  <a:t>后，余图成为有两个连通分支的非连通图，如图</a:t>
                </a:r>
                <a:r>
                  <a:rPr lang="en-US" altLang="zh-CN" sz="2800" b="1" dirty="0">
                    <a:solidFill>
                      <a:schemeClr val="tx1"/>
                    </a:solidFill>
                  </a:rPr>
                  <a:t> (b)</a:t>
                </a:r>
                <a:r>
                  <a:rPr lang="zh-CN" altLang="zh-CN" sz="2800" b="1" dirty="0">
                    <a:solidFill>
                      <a:schemeClr val="tx1"/>
                    </a:solidFill>
                  </a:rPr>
                  <a:t>所示。 </a:t>
                </a:r>
                <a:endParaRPr lang="en-US" altLang="zh-CN" sz="2800" b="1" dirty="0">
                  <a:solidFill>
                    <a:schemeClr val="tx1"/>
                  </a:solidFill>
                </a:endParaRPr>
              </a:p>
              <a:p>
                <a:pPr>
                  <a:lnSpc>
                    <a:spcPct val="150000"/>
                  </a:lnSpc>
                </a:pPr>
                <a:r>
                  <a:rPr lang="en-US" altLang="zh-CN" sz="2800" b="1" dirty="0">
                    <a:solidFill>
                      <a:schemeClr val="tx1"/>
                    </a:solidFill>
                  </a:rPr>
                  <a:t>    </a:t>
                </a:r>
                <a14:m>
                  <m:oMath xmlns:m="http://schemas.openxmlformats.org/officeDocument/2006/math">
                    <m:d>
                      <m:dPr>
                        <m:begChr m:val="{"/>
                        <m:endChr m:val="}"/>
                        <m:ctrlPr>
                          <a:rPr lang="zh-CN" altLang="zh-CN" sz="2800" b="1" i="1" smtClean="0">
                            <a:solidFill>
                              <a:schemeClr val="tx1"/>
                            </a:solidFill>
                            <a:latin typeface="Cambria Math" panose="02040503050406030204" pitchFamily="18" charset="0"/>
                          </a:rPr>
                        </m:ctrlPr>
                      </m:dPr>
                      <m:e>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𝟓</m:t>
                            </m:r>
                          </m:sub>
                        </m:sSub>
                      </m:e>
                    </m:d>
                    <m:r>
                      <a:rPr lang="en-US" altLang="zh-CN" sz="2800" b="1" i="1">
                        <a:solidFill>
                          <a:schemeClr val="tx1"/>
                        </a:solidFill>
                        <a:latin typeface="Cambria Math" panose="02040503050406030204" pitchFamily="18" charset="0"/>
                      </a:rPr>
                      <m:t> </m:t>
                    </m:r>
                  </m:oMath>
                </a14:m>
                <a:r>
                  <a:rPr lang="zh-CN" altLang="zh-CN" sz="2800" b="1" dirty="0">
                    <a:solidFill>
                      <a:schemeClr val="tx1"/>
                    </a:solidFill>
                  </a:rPr>
                  <a:t>是</a:t>
                </a:r>
                <a:r>
                  <a:rPr lang="zh-CN" altLang="zh-CN" sz="2800" b="1" dirty="0">
                    <a:solidFill>
                      <a:srgbClr val="0000FF"/>
                    </a:solidFill>
                  </a:rPr>
                  <a:t>点割集</a:t>
                </a:r>
                <a:r>
                  <a:rPr lang="zh-CN" altLang="zh-CN" sz="2800" b="1" dirty="0">
                    <a:solidFill>
                      <a:schemeClr val="tx1"/>
                    </a:solidFill>
                  </a:rPr>
                  <a:t>，</a:t>
                </a:r>
                <a14:m>
                  <m:oMath xmlns:m="http://schemas.openxmlformats.org/officeDocument/2006/math">
                    <m:r>
                      <a:rPr lang="zh-CN" altLang="zh-CN" sz="2800" b="1">
                        <a:solidFill>
                          <a:schemeClr val="tx1"/>
                        </a:solidFill>
                        <a:latin typeface="Cambria Math" panose="02040503050406030204" pitchFamily="18" charset="0"/>
                      </a:rPr>
                      <m:t> </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𝟓</m:t>
                        </m:r>
                      </m:sub>
                    </m:sSub>
                    <m:r>
                      <a:rPr lang="en-US" altLang="zh-CN" sz="2800" b="1" i="1">
                        <a:solidFill>
                          <a:schemeClr val="tx1"/>
                        </a:solidFill>
                        <a:latin typeface="Cambria Math" panose="02040503050406030204" pitchFamily="18" charset="0"/>
                      </a:rPr>
                      <m:t> </m:t>
                    </m:r>
                  </m:oMath>
                </a14:m>
                <a:r>
                  <a:rPr lang="zh-CN" altLang="zh-CN" sz="2800" b="1" dirty="0">
                    <a:solidFill>
                      <a:schemeClr val="tx1"/>
                    </a:solidFill>
                  </a:rPr>
                  <a:t>是</a:t>
                </a:r>
                <a:r>
                  <a:rPr lang="zh-CN" altLang="zh-CN" sz="2800" b="1" dirty="0">
                    <a:solidFill>
                      <a:srgbClr val="0000FF"/>
                    </a:solidFill>
                  </a:rPr>
                  <a:t>割点</a:t>
                </a:r>
                <a:endParaRPr lang="en-US" altLang="zh-CN" sz="2800" b="1" dirty="0">
                  <a:solidFill>
                    <a:srgbClr val="0000FF"/>
                  </a:solidFill>
                </a:endParaRPr>
              </a:p>
              <a:p>
                <a:pPr>
                  <a:lnSpc>
                    <a:spcPct val="150000"/>
                  </a:lnSpc>
                </a:pPr>
                <a:r>
                  <a:rPr lang="en-US" altLang="zh-CN" sz="2800" b="1" dirty="0">
                    <a:solidFill>
                      <a:schemeClr val="tx1"/>
                    </a:solidFill>
                  </a:rPr>
                  <a:t>    </a:t>
                </a:r>
                <a14:m>
                  <m:oMath xmlns:m="http://schemas.openxmlformats.org/officeDocument/2006/math">
                    <m:d>
                      <m:dPr>
                        <m:begChr m:val="{"/>
                        <m:endChr m:val="}"/>
                        <m:ctrlPr>
                          <a:rPr lang="zh-CN" altLang="zh-CN" sz="2800" b="1" i="1">
                            <a:solidFill>
                              <a:schemeClr val="tx1"/>
                            </a:solidFill>
                            <a:latin typeface="Cambria Math" panose="02040503050406030204" pitchFamily="18" charset="0"/>
                          </a:rPr>
                        </m:ctrlPr>
                      </m:dPr>
                      <m:e>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𝟔</m:t>
                            </m:r>
                          </m:sub>
                        </m:sSub>
                        <m:r>
                          <a:rPr lang="en-US" altLang="zh-CN" sz="2800" b="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𝟕</m:t>
                            </m:r>
                          </m:sub>
                        </m:sSub>
                      </m:e>
                    </m:d>
                    <m:r>
                      <a:rPr lang="en-US" altLang="zh-CN" sz="2800" b="1" i="1">
                        <a:solidFill>
                          <a:schemeClr val="tx1"/>
                        </a:solidFill>
                        <a:latin typeface="Cambria Math" panose="02040503050406030204" pitchFamily="18" charset="0"/>
                      </a:rPr>
                      <m:t> </m:t>
                    </m:r>
                  </m:oMath>
                </a14:m>
                <a:r>
                  <a:rPr lang="zh-CN" altLang="zh-CN" sz="2800" b="1" dirty="0">
                    <a:solidFill>
                      <a:srgbClr val="0000FF"/>
                    </a:solidFill>
                  </a:rPr>
                  <a:t>不是点割集</a:t>
                </a:r>
                <a:r>
                  <a:rPr lang="zh-CN" altLang="zh-CN" sz="2800" b="1" dirty="0">
                    <a:solidFill>
                      <a:schemeClr val="tx1"/>
                    </a:solidFill>
                  </a:rPr>
                  <a:t>，因为点割集</a:t>
                </a:r>
                <a14:m>
                  <m:oMath xmlns:m="http://schemas.openxmlformats.org/officeDocument/2006/math">
                    <m:r>
                      <a:rPr lang="zh-CN" altLang="zh-CN" sz="2800" b="1">
                        <a:solidFill>
                          <a:schemeClr val="tx1"/>
                        </a:solidFill>
                        <a:latin typeface="Cambria Math" panose="02040503050406030204" pitchFamily="18" charset="0"/>
                      </a:rPr>
                      <m:t> </m:t>
                    </m:r>
                    <m:d>
                      <m:dPr>
                        <m:begChr m:val="{"/>
                        <m:endChr m:val="}"/>
                        <m:ctrlPr>
                          <a:rPr lang="zh-CN" altLang="zh-CN" sz="2800" b="1" i="1">
                            <a:solidFill>
                              <a:schemeClr val="tx1"/>
                            </a:solidFill>
                            <a:latin typeface="Cambria Math" panose="02040503050406030204" pitchFamily="18" charset="0"/>
                          </a:rPr>
                        </m:ctrlPr>
                      </m:dPr>
                      <m:e>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𝟔</m:t>
                            </m:r>
                          </m:sub>
                        </m:sSub>
                      </m:e>
                    </m:d>
                    <m:r>
                      <a:rPr lang="en-US" altLang="zh-CN" sz="2800" b="1">
                        <a:solidFill>
                          <a:schemeClr val="tx1"/>
                        </a:solidFill>
                        <a:latin typeface="Cambria Math" panose="02040503050406030204" pitchFamily="18" charset="0"/>
                      </a:rPr>
                      <m:t>⊆</m:t>
                    </m:r>
                    <m:d>
                      <m:dPr>
                        <m:begChr m:val="{"/>
                        <m:endChr m:val="}"/>
                        <m:ctrlPr>
                          <a:rPr lang="zh-CN" altLang="zh-CN" sz="2800" b="1" i="1">
                            <a:solidFill>
                              <a:schemeClr val="tx1"/>
                            </a:solidFill>
                            <a:latin typeface="Cambria Math" panose="02040503050406030204" pitchFamily="18" charset="0"/>
                          </a:rPr>
                        </m:ctrlPr>
                      </m:dPr>
                      <m:e>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𝟔</m:t>
                            </m:r>
                          </m:sub>
                        </m:sSub>
                        <m:r>
                          <a:rPr lang="en-US" altLang="zh-CN" sz="2800" b="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𝟕</m:t>
                            </m:r>
                          </m:sub>
                        </m:sSub>
                      </m:e>
                    </m:d>
                    <m:r>
                      <a:rPr lang="en-US" altLang="zh-CN" sz="2800" b="1" i="1">
                        <a:solidFill>
                          <a:schemeClr val="tx1"/>
                        </a:solidFill>
                        <a:latin typeface="Cambria Math" panose="02040503050406030204" pitchFamily="18" charset="0"/>
                      </a:rPr>
                      <m:t> </m:t>
                    </m:r>
                  </m:oMath>
                </a14:m>
                <a:endParaRPr lang="zh-CN" altLang="zh-CN" sz="2800" b="1" dirty="0">
                  <a:solidFill>
                    <a:schemeClr val="tx1"/>
                  </a:solidFill>
                </a:endParaRPr>
              </a:p>
              <a:p>
                <a:pPr>
                  <a:lnSpc>
                    <a:spcPct val="150000"/>
                  </a:lnSpc>
                </a:pPr>
                <a:r>
                  <a:rPr lang="en-US" altLang="zh-CN" sz="2800" b="1" dirty="0">
                    <a:solidFill>
                      <a:schemeClr val="tx1"/>
                    </a:solidFill>
                  </a:rPr>
                  <a:t>    </a:t>
                </a:r>
                <a14:m>
                  <m:oMath xmlns:m="http://schemas.openxmlformats.org/officeDocument/2006/math">
                    <m:d>
                      <m:dPr>
                        <m:begChr m:val="{"/>
                        <m:endChr m:val="}"/>
                        <m:ctrlPr>
                          <a:rPr lang="zh-CN" altLang="zh-CN" sz="2800" b="1" i="1">
                            <a:solidFill>
                              <a:schemeClr val="tx1"/>
                            </a:solidFill>
                            <a:latin typeface="Cambria Math" panose="02040503050406030204" pitchFamily="18" charset="0"/>
                          </a:rPr>
                        </m:ctrlPr>
                      </m:dPr>
                      <m:e>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𝟕</m:t>
                            </m:r>
                          </m:sub>
                        </m:sSub>
                        <m:r>
                          <a:rPr lang="en-US" altLang="zh-CN" sz="2800" b="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𝟖</m:t>
                            </m:r>
                          </m:sub>
                        </m:sSub>
                      </m:e>
                    </m:d>
                    <m:r>
                      <a:rPr lang="en-US" altLang="zh-CN" sz="2800" b="1" i="1">
                        <a:solidFill>
                          <a:schemeClr val="tx1"/>
                        </a:solidFill>
                        <a:latin typeface="Cambria Math" panose="02040503050406030204" pitchFamily="18" charset="0"/>
                      </a:rPr>
                      <m:t> </m:t>
                    </m:r>
                  </m:oMath>
                </a14:m>
                <a:r>
                  <a:rPr lang="zh-CN" altLang="zh-CN" sz="2800" b="1" dirty="0">
                    <a:solidFill>
                      <a:srgbClr val="0000FF"/>
                    </a:solidFill>
                  </a:rPr>
                  <a:t>不是点割集</a:t>
                </a:r>
                <a:r>
                  <a:rPr lang="zh-CN" altLang="zh-CN" sz="2800" b="1" dirty="0">
                    <a:solidFill>
                      <a:schemeClr val="tx1"/>
                    </a:solidFill>
                  </a:rPr>
                  <a:t>，因为删去</a:t>
                </a:r>
                <a14:m>
                  <m:oMath xmlns:m="http://schemas.openxmlformats.org/officeDocument/2006/math">
                    <m:r>
                      <a:rPr lang="zh-CN" altLang="zh-CN" sz="2800" b="1">
                        <a:solidFill>
                          <a:schemeClr val="tx1"/>
                        </a:solidFill>
                        <a:latin typeface="Cambria Math" panose="02040503050406030204" pitchFamily="18" charset="0"/>
                      </a:rPr>
                      <m:t> </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𝟕</m:t>
                        </m:r>
                      </m:sub>
                    </m:sSub>
                    <m:r>
                      <a:rPr lang="en-US" altLang="zh-CN" sz="2800" b="1">
                        <a:solidFill>
                          <a:schemeClr val="tx1"/>
                        </a:solidFill>
                        <a:latin typeface="Cambria Math" panose="02040503050406030204" pitchFamily="18" charset="0"/>
                      </a:rPr>
                      <m:t>,</m:t>
                    </m:r>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𝒗</m:t>
                        </m:r>
                      </m:e>
                      <m:sub>
                        <m:r>
                          <a:rPr lang="en-US" altLang="zh-CN" sz="2800" b="1" i="1">
                            <a:solidFill>
                              <a:schemeClr val="tx1"/>
                            </a:solidFill>
                            <a:latin typeface="Cambria Math" panose="02040503050406030204" pitchFamily="18" charset="0"/>
                          </a:rPr>
                          <m:t>𝟖</m:t>
                        </m:r>
                      </m:sub>
                    </m:sSub>
                    <m:r>
                      <a:rPr lang="en-US" altLang="zh-CN" sz="2800" b="1" i="1">
                        <a:solidFill>
                          <a:schemeClr val="tx1"/>
                        </a:solidFill>
                        <a:latin typeface="Cambria Math" panose="02040503050406030204" pitchFamily="18" charset="0"/>
                      </a:rPr>
                      <m:t> </m:t>
                    </m:r>
                  </m:oMath>
                </a14:m>
                <a:r>
                  <a:rPr lang="zh-CN" altLang="zh-CN" sz="2800" b="1" dirty="0">
                    <a:solidFill>
                      <a:schemeClr val="tx1"/>
                    </a:solidFill>
                  </a:rPr>
                  <a:t>后图仍是连通图</a:t>
                </a:r>
                <a:endParaRPr lang="en-US" altLang="zh-CN" sz="2800" b="1" dirty="0">
                  <a:solidFill>
                    <a:srgbClr val="0000FF"/>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95536" y="1916832"/>
                <a:ext cx="8640960" cy="3869329"/>
              </a:xfrm>
              <a:prstGeom prst="rect">
                <a:avLst/>
              </a:prstGeom>
              <a:blipFill>
                <a:blip r:embed="rId4"/>
                <a:stretch>
                  <a:fillRect l="-1482" r="-565" b="-3465"/>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929860461"/>
      </p:ext>
    </p:extLst>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927F700-AB51-4097-A208-3256B0477CC5}"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pic>
        <p:nvPicPr>
          <p:cNvPr id="17510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395536" y="1988840"/>
                <a:ext cx="8496944" cy="3989618"/>
              </a:xfrm>
              <a:prstGeom prst="rect">
                <a:avLst/>
              </a:prstGeom>
              <a:solidFill>
                <a:schemeClr val="accent6">
                  <a:lumMod val="75000"/>
                </a:schemeClr>
              </a:solidFill>
              <a:ln w="19050">
                <a:noFill/>
              </a:ln>
            </p:spPr>
            <p:txBody>
              <a:bodyPr wrap="square" rtlCol="0">
                <a:spAutoFit/>
              </a:bodyPr>
              <a:lstStyle/>
              <a:p>
                <a:pPr>
                  <a:lnSpc>
                    <a:spcPct val="150000"/>
                  </a:lnSpc>
                  <a:spcBef>
                    <a:spcPts val="0"/>
                  </a:spcBef>
                  <a:spcAft>
                    <a:spcPts val="0"/>
                  </a:spcAft>
                </a:pPr>
                <a:r>
                  <a:rPr lang="en-US" altLang="zh-CN" sz="2800" dirty="0">
                    <a:solidFill>
                      <a:schemeClr val="bg1"/>
                    </a:solidFill>
                  </a:rPr>
                  <a:t>   </a:t>
                </a:r>
                <a:r>
                  <a:rPr lang="en-US" altLang="zh-CN" sz="2400" dirty="0">
                    <a:solidFill>
                      <a:schemeClr val="bg1"/>
                    </a:solidFill>
                  </a:rPr>
                  <a:t>【</a:t>
                </a:r>
                <a:r>
                  <a:rPr lang="zh-CN" altLang="en-US" sz="2400" dirty="0">
                    <a:solidFill>
                      <a:schemeClr val="bg1"/>
                    </a:solidFill>
                  </a:rPr>
                  <a:t>定义</a:t>
                </a:r>
                <a:r>
                  <a:rPr lang="en-US" altLang="zh-CN" sz="2400" dirty="0">
                    <a:solidFill>
                      <a:schemeClr val="bg1"/>
                    </a:solidFill>
                  </a:rPr>
                  <a:t>】</a:t>
                </a:r>
                <a:r>
                  <a:rPr lang="zh-CN" altLang="en-US" sz="2400" b="1" dirty="0">
                    <a:solidFill>
                      <a:schemeClr val="bg1"/>
                    </a:solidFill>
                    <a:effectLst/>
                  </a:rPr>
                  <a:t>对于</a:t>
                </a:r>
                <a:r>
                  <a:rPr lang="zh-CN" altLang="zh-CN" sz="2400" b="1" dirty="0">
                    <a:solidFill>
                      <a:schemeClr val="bg1"/>
                    </a:solidFill>
                    <a:effectLst/>
                  </a:rPr>
                  <a:t>无向图</a:t>
                </a:r>
                <a14:m>
                  <m:oMath xmlns:m="http://schemas.openxmlformats.org/officeDocument/2006/math">
                    <m:r>
                      <a:rPr lang="zh-CN" altLang="zh-CN" sz="2400" b="1">
                        <a:solidFill>
                          <a:schemeClr val="bg1"/>
                        </a:solidFill>
                        <a:effectLst/>
                        <a:latin typeface="Cambria Math" panose="02040503050406030204" pitchFamily="18" charset="0"/>
                      </a:rPr>
                      <m:t> </m:t>
                    </m:r>
                    <m:r>
                      <a:rPr lang="en-US" altLang="zh-CN" sz="2400" b="1" i="1">
                        <a:solidFill>
                          <a:schemeClr val="bg1"/>
                        </a:solidFill>
                        <a:effectLst/>
                        <a:latin typeface="Cambria Math" panose="02040503050406030204" pitchFamily="18" charset="0"/>
                      </a:rPr>
                      <m:t>𝑮</m:t>
                    </m:r>
                    <m:r>
                      <a:rPr lang="en-US" altLang="zh-CN" sz="2400" b="1" i="1">
                        <a:solidFill>
                          <a:schemeClr val="bg1"/>
                        </a:solidFill>
                        <a:effectLst/>
                        <a:latin typeface="Cambria Math" panose="02040503050406030204" pitchFamily="18" charset="0"/>
                      </a:rPr>
                      <m:t>=</m:t>
                    </m:r>
                    <m:d>
                      <m:dPr>
                        <m:begChr m:val="〈"/>
                        <m:endChr m:val="〉"/>
                        <m:ctrlPr>
                          <a:rPr lang="zh-CN" altLang="zh-CN" sz="2400" b="1" i="1">
                            <a:solidFill>
                              <a:schemeClr val="bg1"/>
                            </a:solidFill>
                            <a:effectLst/>
                            <a:latin typeface="Cambria Math" panose="02040503050406030204" pitchFamily="18" charset="0"/>
                          </a:rPr>
                        </m:ctrlPr>
                      </m:dPr>
                      <m:e>
                        <m:r>
                          <a:rPr lang="en-US" altLang="zh-CN" sz="2400" b="1" i="1">
                            <a:solidFill>
                              <a:schemeClr val="bg1"/>
                            </a:solidFill>
                            <a:effectLst/>
                            <a:latin typeface="Cambria Math" panose="02040503050406030204" pitchFamily="18" charset="0"/>
                          </a:rPr>
                          <m:t>𝑽</m:t>
                        </m:r>
                        <m:r>
                          <a:rPr lang="en-US" altLang="zh-CN" sz="2400" b="1" i="1">
                            <a:solidFill>
                              <a:schemeClr val="bg1"/>
                            </a:solidFill>
                            <a:effectLst/>
                            <a:latin typeface="Cambria Math" panose="02040503050406030204" pitchFamily="18" charset="0"/>
                          </a:rPr>
                          <m:t>,</m:t>
                        </m:r>
                        <m:r>
                          <a:rPr lang="en-US" altLang="zh-CN" sz="2400" b="1" i="1">
                            <a:solidFill>
                              <a:schemeClr val="bg1"/>
                            </a:solidFill>
                            <a:effectLst/>
                            <a:latin typeface="Cambria Math" panose="02040503050406030204" pitchFamily="18" charset="0"/>
                          </a:rPr>
                          <m:t>𝑬</m:t>
                        </m:r>
                      </m:e>
                    </m:d>
                  </m:oMath>
                </a14:m>
                <a:r>
                  <a:rPr lang="zh-CN" altLang="zh-CN" sz="2400" b="1" dirty="0">
                    <a:solidFill>
                      <a:schemeClr val="bg1"/>
                    </a:solidFill>
                    <a:effectLst/>
                  </a:rPr>
                  <a:t>，若存在边集</a:t>
                </a:r>
                <a14:m>
                  <m:oMath xmlns:m="http://schemas.openxmlformats.org/officeDocument/2006/math">
                    <m:r>
                      <a:rPr lang="en-US" altLang="zh-CN" sz="2400" b="1" i="1">
                        <a:solidFill>
                          <a:schemeClr val="bg1"/>
                        </a:solidFill>
                        <a:effectLst/>
                        <a:latin typeface="Cambria Math" panose="02040503050406030204" pitchFamily="18" charset="0"/>
                      </a:rPr>
                      <m:t>𝑬</m:t>
                    </m:r>
                  </m:oMath>
                </a14:m>
                <a:r>
                  <a:rPr lang="zh-CN" altLang="zh-CN" sz="2400" b="1" dirty="0">
                    <a:solidFill>
                      <a:schemeClr val="bg1"/>
                    </a:solidFill>
                    <a:effectLst/>
                  </a:rPr>
                  <a:t>的某个子集</a:t>
                </a:r>
                <a14:m>
                  <m:oMath xmlns:m="http://schemas.openxmlformats.org/officeDocument/2006/math">
                    <m:r>
                      <a:rPr lang="zh-CN" altLang="zh-CN" sz="2400" b="1" i="1">
                        <a:solidFill>
                          <a:schemeClr val="bg1"/>
                        </a:solidFill>
                        <a:effectLst/>
                        <a:latin typeface="Cambria Math" panose="02040503050406030204" pitchFamily="18" charset="0"/>
                      </a:rPr>
                      <m:t> </m:t>
                    </m:r>
                    <m:r>
                      <a:rPr lang="en-US" altLang="zh-CN" sz="2400" b="1" i="1">
                        <a:solidFill>
                          <a:schemeClr val="bg1"/>
                        </a:solidFill>
                        <a:effectLst/>
                        <a:latin typeface="Cambria Math" panose="02040503050406030204" pitchFamily="18" charset="0"/>
                      </a:rPr>
                      <m:t>𝑬</m:t>
                    </m:r>
                    <m:r>
                      <a:rPr lang="en-US" altLang="zh-CN" sz="2400" b="1" i="1">
                        <a:solidFill>
                          <a:schemeClr val="bg1"/>
                        </a:solidFill>
                        <a:effectLst/>
                        <a:latin typeface="Cambria Math" panose="02040503050406030204" pitchFamily="18" charset="0"/>
                      </a:rPr>
                      <m:t>′⊆</m:t>
                    </m:r>
                    <m:r>
                      <a:rPr lang="en-US" altLang="zh-CN" sz="2400" b="1" i="1">
                        <a:solidFill>
                          <a:schemeClr val="bg1"/>
                        </a:solidFill>
                        <a:effectLst/>
                        <a:latin typeface="Cambria Math" panose="02040503050406030204" pitchFamily="18" charset="0"/>
                      </a:rPr>
                      <m:t>𝑬</m:t>
                    </m:r>
                    <m:r>
                      <a:rPr lang="en-US" altLang="zh-CN" sz="2400" b="1">
                        <a:solidFill>
                          <a:schemeClr val="bg1"/>
                        </a:solidFill>
                        <a:effectLst/>
                        <a:latin typeface="Cambria Math" panose="02040503050406030204" pitchFamily="18" charset="0"/>
                      </a:rPr>
                      <m:t> </m:t>
                    </m:r>
                  </m:oMath>
                </a14:m>
                <a:r>
                  <a:rPr lang="zh-CN" altLang="zh-CN" sz="2400" b="1" dirty="0">
                    <a:solidFill>
                      <a:schemeClr val="bg1"/>
                    </a:solidFill>
                    <a:effectLst/>
                  </a:rPr>
                  <a:t>，</a:t>
                </a:r>
                <a:r>
                  <a:rPr lang="zh-CN" altLang="en-US" sz="2400" b="1" dirty="0">
                    <a:solidFill>
                      <a:schemeClr val="bg1"/>
                    </a:solidFill>
                    <a:effectLst/>
                  </a:rPr>
                  <a:t>满足：</a:t>
                </a:r>
                <a:endParaRPr lang="en-US" altLang="zh-CN" sz="2400" b="1" dirty="0">
                  <a:solidFill>
                    <a:schemeClr val="bg1"/>
                  </a:solidFill>
                  <a:effectLst/>
                  <a:latin typeface="Cambria Math" panose="02040503050406030204" pitchFamily="18" charset="0"/>
                </a:endParaRPr>
              </a:p>
              <a:p>
                <a:pP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zh-CN" altLang="zh-CN" sz="2400" b="1" smtClean="0">
                          <a:solidFill>
                            <a:srgbClr val="FFFF66"/>
                          </a:solidFill>
                          <a:effectLst/>
                          <a:latin typeface="Cambria Math" panose="02040503050406030204" pitchFamily="18" charset="0"/>
                        </a:rPr>
                        <m:t> </m:t>
                      </m:r>
                      <m:r>
                        <a:rPr lang="en-US" altLang="zh-CN" sz="2400" b="1" i="1">
                          <a:solidFill>
                            <a:srgbClr val="FFFF66"/>
                          </a:solidFill>
                          <a:effectLst/>
                          <a:latin typeface="Cambria Math" panose="02040503050406030204" pitchFamily="18" charset="0"/>
                        </a:rPr>
                        <m:t>𝒑</m:t>
                      </m:r>
                      <m:d>
                        <m:dPr>
                          <m:ctrlPr>
                            <a:rPr lang="zh-CN" altLang="zh-CN" sz="2400" b="1" i="1">
                              <a:solidFill>
                                <a:srgbClr val="FFFF66"/>
                              </a:solidFill>
                              <a:effectLst/>
                              <a:latin typeface="Cambria Math" panose="02040503050406030204" pitchFamily="18" charset="0"/>
                            </a:rPr>
                          </m:ctrlPr>
                        </m:dPr>
                        <m:e>
                          <m:r>
                            <a:rPr lang="en-US" altLang="zh-CN" sz="2400" b="1" i="1">
                              <a:solidFill>
                                <a:srgbClr val="FFFF66"/>
                              </a:solidFill>
                              <a:effectLst/>
                              <a:latin typeface="Cambria Math" panose="02040503050406030204" pitchFamily="18" charset="0"/>
                            </a:rPr>
                            <m:t>𝑮</m:t>
                          </m:r>
                          <m:r>
                            <a:rPr lang="en-US" altLang="zh-CN" sz="2400" b="1" i="1">
                              <a:solidFill>
                                <a:srgbClr val="FFFF66"/>
                              </a:solidFill>
                              <a:effectLst/>
                              <a:latin typeface="Cambria Math" panose="02040503050406030204" pitchFamily="18" charset="0"/>
                            </a:rPr>
                            <m:t>− </m:t>
                          </m:r>
                          <m:r>
                            <a:rPr lang="en-US" altLang="zh-CN" sz="2400" b="1" i="1">
                              <a:solidFill>
                                <a:srgbClr val="FFFF66"/>
                              </a:solidFill>
                              <a:effectLst/>
                              <a:latin typeface="Cambria Math" panose="02040503050406030204" pitchFamily="18" charset="0"/>
                            </a:rPr>
                            <m:t>𝑬</m:t>
                          </m:r>
                          <m:r>
                            <a:rPr lang="en-US" altLang="zh-CN" sz="2400" b="1" i="1">
                              <a:solidFill>
                                <a:srgbClr val="FFFF66"/>
                              </a:solidFill>
                              <a:effectLst/>
                              <a:latin typeface="Cambria Math" panose="02040503050406030204" pitchFamily="18" charset="0"/>
                            </a:rPr>
                            <m:t>′</m:t>
                          </m:r>
                        </m:e>
                      </m:d>
                      <m:r>
                        <a:rPr lang="en-US" altLang="zh-CN" sz="2400" b="1" i="1">
                          <a:solidFill>
                            <a:srgbClr val="FFFF66"/>
                          </a:solidFill>
                          <a:effectLst/>
                          <a:latin typeface="Cambria Math" panose="02040503050406030204" pitchFamily="18" charset="0"/>
                        </a:rPr>
                        <m:t>&gt;</m:t>
                      </m:r>
                      <m:r>
                        <a:rPr lang="en-US" altLang="zh-CN" sz="2400" b="1" i="1">
                          <a:solidFill>
                            <a:srgbClr val="FFFF66"/>
                          </a:solidFill>
                          <a:effectLst/>
                          <a:latin typeface="Cambria Math" panose="02040503050406030204" pitchFamily="18" charset="0"/>
                        </a:rPr>
                        <m:t>𝒑</m:t>
                      </m:r>
                      <m:d>
                        <m:dPr>
                          <m:ctrlPr>
                            <a:rPr lang="zh-CN" altLang="zh-CN" sz="2400" b="1" i="1">
                              <a:solidFill>
                                <a:srgbClr val="FFFF66"/>
                              </a:solidFill>
                              <a:effectLst/>
                              <a:latin typeface="Cambria Math" panose="02040503050406030204" pitchFamily="18" charset="0"/>
                            </a:rPr>
                          </m:ctrlPr>
                        </m:dPr>
                        <m:e>
                          <m:r>
                            <a:rPr lang="en-US" altLang="zh-CN" sz="2400" b="1" i="1">
                              <a:solidFill>
                                <a:srgbClr val="FFFF66"/>
                              </a:solidFill>
                              <a:effectLst/>
                              <a:latin typeface="Cambria Math" panose="02040503050406030204" pitchFamily="18" charset="0"/>
                            </a:rPr>
                            <m:t>𝑮</m:t>
                          </m:r>
                        </m:e>
                      </m:d>
                      <m:r>
                        <a:rPr lang="en-US" altLang="zh-CN" sz="2400" b="1" i="1">
                          <a:solidFill>
                            <a:srgbClr val="FFFF66"/>
                          </a:solidFill>
                          <a:effectLst/>
                          <a:latin typeface="Cambria Math" panose="02040503050406030204" pitchFamily="18" charset="0"/>
                        </a:rPr>
                        <m:t> </m:t>
                      </m:r>
                    </m:oMath>
                  </m:oMathPara>
                </a14:m>
                <a:endParaRPr lang="en-US" altLang="zh-CN" sz="2400" b="1" dirty="0">
                  <a:solidFill>
                    <a:srgbClr val="FFFF66"/>
                  </a:solidFill>
                  <a:effectLst/>
                </a:endParaRPr>
              </a:p>
              <a:p>
                <a:pPr>
                  <a:lnSpc>
                    <a:spcPct val="150000"/>
                  </a:lnSpc>
                  <a:spcBef>
                    <a:spcPts val="0"/>
                  </a:spcBef>
                  <a:spcAft>
                    <a:spcPts val="0"/>
                  </a:spcAft>
                </a:pPr>
                <a:r>
                  <a:rPr lang="zh-CN" altLang="zh-CN" sz="2400" b="1" dirty="0">
                    <a:solidFill>
                      <a:schemeClr val="bg1"/>
                    </a:solidFill>
                    <a:effectLst/>
                  </a:rPr>
                  <a:t>且对</a:t>
                </a:r>
                <a14:m>
                  <m:oMath xmlns:m="http://schemas.openxmlformats.org/officeDocument/2006/math">
                    <m:r>
                      <a:rPr lang="zh-CN" altLang="zh-CN" sz="2400" b="1" i="1">
                        <a:solidFill>
                          <a:schemeClr val="bg1"/>
                        </a:solidFill>
                        <a:effectLst/>
                        <a:latin typeface="Cambria Math" panose="02040503050406030204" pitchFamily="18" charset="0"/>
                      </a:rPr>
                      <m:t> </m:t>
                    </m:r>
                    <m:r>
                      <a:rPr lang="en-US" altLang="zh-CN" sz="2400" b="1" i="1">
                        <a:solidFill>
                          <a:schemeClr val="bg1"/>
                        </a:solidFill>
                        <a:effectLst/>
                        <a:latin typeface="Cambria Math" panose="02040503050406030204" pitchFamily="18" charset="0"/>
                      </a:rPr>
                      <m:t>𝑬</m:t>
                    </m:r>
                    <m:r>
                      <a:rPr lang="en-US" altLang="zh-CN" sz="2400" b="1" i="1">
                        <a:solidFill>
                          <a:schemeClr val="bg1"/>
                        </a:solidFill>
                        <a:effectLst/>
                        <a:latin typeface="Cambria Math" panose="02040503050406030204" pitchFamily="18" charset="0"/>
                      </a:rPr>
                      <m:t>′</m:t>
                    </m:r>
                  </m:oMath>
                </a14:m>
                <a:r>
                  <a:rPr lang="zh-CN" altLang="zh-CN" sz="2400" b="1" dirty="0">
                    <a:solidFill>
                      <a:schemeClr val="bg1"/>
                    </a:solidFill>
                    <a:effectLst/>
                  </a:rPr>
                  <a:t>的任何</a:t>
                </a:r>
                <a:r>
                  <a:rPr lang="zh-CN" altLang="zh-CN" sz="2400" b="1" dirty="0">
                    <a:solidFill>
                      <a:srgbClr val="FFFF66"/>
                    </a:solidFill>
                    <a:effectLst/>
                  </a:rPr>
                  <a:t>真子集</a:t>
                </a:r>
                <a14:m>
                  <m:oMath xmlns:m="http://schemas.openxmlformats.org/officeDocument/2006/math">
                    <m:r>
                      <a:rPr lang="zh-CN" altLang="zh-CN" sz="2400" b="1">
                        <a:solidFill>
                          <a:srgbClr val="FFFF66"/>
                        </a:solidFill>
                        <a:effectLst/>
                        <a:latin typeface="Cambria Math" panose="02040503050406030204" pitchFamily="18" charset="0"/>
                      </a:rPr>
                      <m:t> </m:t>
                    </m:r>
                    <m:r>
                      <a:rPr lang="en-US" altLang="zh-CN" sz="2400" b="1" i="1">
                        <a:solidFill>
                          <a:srgbClr val="FFFF66"/>
                        </a:solidFill>
                        <a:effectLst/>
                        <a:latin typeface="Cambria Math" panose="02040503050406030204" pitchFamily="18" charset="0"/>
                      </a:rPr>
                      <m:t>𝑬</m:t>
                    </m:r>
                    <m:r>
                      <a:rPr lang="en-US" altLang="zh-CN" sz="2400" b="1" i="1">
                        <a:solidFill>
                          <a:srgbClr val="FFFF66"/>
                        </a:solidFill>
                        <a:effectLst/>
                        <a:latin typeface="Cambria Math" panose="02040503050406030204" pitchFamily="18" charset="0"/>
                      </a:rPr>
                      <m:t>′′</m:t>
                    </m:r>
                  </m:oMath>
                </a14:m>
                <a:r>
                  <a:rPr lang="zh-CN" altLang="zh-CN" sz="2400" b="1" dirty="0">
                    <a:solidFill>
                      <a:schemeClr val="bg1"/>
                    </a:solidFill>
                    <a:effectLst/>
                  </a:rPr>
                  <a:t>，有</a:t>
                </a:r>
                <a:r>
                  <a:rPr lang="zh-CN" altLang="en-US" sz="2400" b="1" dirty="0">
                    <a:solidFill>
                      <a:schemeClr val="bg1"/>
                    </a:solidFill>
                    <a:effectLst/>
                  </a:rPr>
                  <a:t>：</a:t>
                </a:r>
                <a:r>
                  <a:rPr lang="en-US" altLang="zh-CN" sz="2400" b="1" dirty="0">
                    <a:solidFill>
                      <a:schemeClr val="bg1"/>
                    </a:solidFill>
                    <a:effectLst/>
                  </a:rPr>
                  <a:t>		     </a:t>
                </a:r>
              </a:p>
              <a:p>
                <a:pP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zh-CN" altLang="zh-CN" sz="2400" b="1" smtClean="0">
                          <a:solidFill>
                            <a:srgbClr val="FFFF66"/>
                          </a:solidFill>
                          <a:effectLst/>
                          <a:latin typeface="Cambria Math" panose="02040503050406030204" pitchFamily="18" charset="0"/>
                        </a:rPr>
                        <m:t> </m:t>
                      </m:r>
                      <m:r>
                        <a:rPr lang="en-US" altLang="zh-CN" sz="2400" b="1" i="1">
                          <a:solidFill>
                            <a:srgbClr val="FFFF66"/>
                          </a:solidFill>
                          <a:effectLst/>
                          <a:latin typeface="Cambria Math" panose="02040503050406030204" pitchFamily="18" charset="0"/>
                        </a:rPr>
                        <m:t>𝒑</m:t>
                      </m:r>
                      <m:d>
                        <m:dPr>
                          <m:ctrlPr>
                            <a:rPr lang="zh-CN" altLang="zh-CN" sz="2400" b="1" i="1">
                              <a:solidFill>
                                <a:srgbClr val="FFFF66"/>
                              </a:solidFill>
                              <a:effectLst/>
                              <a:latin typeface="Cambria Math" panose="02040503050406030204" pitchFamily="18" charset="0"/>
                            </a:rPr>
                          </m:ctrlPr>
                        </m:dPr>
                        <m:e>
                          <m:r>
                            <a:rPr lang="en-US" altLang="zh-CN" sz="2400" b="1" i="1">
                              <a:solidFill>
                                <a:srgbClr val="FFFF66"/>
                              </a:solidFill>
                              <a:effectLst/>
                              <a:latin typeface="Cambria Math" panose="02040503050406030204" pitchFamily="18" charset="0"/>
                            </a:rPr>
                            <m:t>𝑮</m:t>
                          </m:r>
                          <m:r>
                            <a:rPr lang="en-US" altLang="zh-CN" sz="2400" b="1" i="1">
                              <a:solidFill>
                                <a:srgbClr val="FFFF66"/>
                              </a:solidFill>
                              <a:effectLst/>
                              <a:latin typeface="Cambria Math" panose="02040503050406030204" pitchFamily="18" charset="0"/>
                            </a:rPr>
                            <m:t>−</m:t>
                          </m:r>
                          <m:r>
                            <a:rPr lang="en-US" altLang="zh-CN" sz="2400" b="1">
                              <a:solidFill>
                                <a:srgbClr val="FFFF66"/>
                              </a:solidFill>
                              <a:effectLst/>
                              <a:latin typeface="Cambria Math" panose="02040503050406030204" pitchFamily="18" charset="0"/>
                            </a:rPr>
                            <m:t> </m:t>
                          </m:r>
                          <m:r>
                            <a:rPr lang="en-US" altLang="zh-CN" sz="2400" b="1" i="1">
                              <a:solidFill>
                                <a:srgbClr val="FFFF66"/>
                              </a:solidFill>
                              <a:effectLst/>
                              <a:latin typeface="Cambria Math" panose="02040503050406030204" pitchFamily="18" charset="0"/>
                            </a:rPr>
                            <m:t>𝑬</m:t>
                          </m:r>
                          <m:r>
                            <a:rPr lang="en-US" altLang="zh-CN" sz="2400" b="1" i="1">
                              <a:solidFill>
                                <a:srgbClr val="FFFF66"/>
                              </a:solidFill>
                              <a:effectLst/>
                              <a:latin typeface="Cambria Math" panose="02040503050406030204" pitchFamily="18" charset="0"/>
                            </a:rPr>
                            <m:t>′′</m:t>
                          </m:r>
                        </m:e>
                      </m:d>
                      <m:r>
                        <a:rPr lang="en-US" altLang="zh-CN" sz="2400" b="1" i="1">
                          <a:solidFill>
                            <a:srgbClr val="FFFF66"/>
                          </a:solidFill>
                          <a:effectLst/>
                          <a:latin typeface="Cambria Math" panose="02040503050406030204" pitchFamily="18" charset="0"/>
                        </a:rPr>
                        <m:t>=</m:t>
                      </m:r>
                      <m:r>
                        <a:rPr lang="en-US" altLang="zh-CN" sz="2400" b="1" i="1">
                          <a:solidFill>
                            <a:srgbClr val="FFFF66"/>
                          </a:solidFill>
                          <a:effectLst/>
                          <a:latin typeface="Cambria Math" panose="02040503050406030204" pitchFamily="18" charset="0"/>
                        </a:rPr>
                        <m:t>𝒑</m:t>
                      </m:r>
                      <m:d>
                        <m:dPr>
                          <m:ctrlPr>
                            <a:rPr lang="zh-CN" altLang="zh-CN" sz="2400" b="1" i="1">
                              <a:solidFill>
                                <a:srgbClr val="FFFF66"/>
                              </a:solidFill>
                              <a:effectLst/>
                              <a:latin typeface="Cambria Math" panose="02040503050406030204" pitchFamily="18" charset="0"/>
                            </a:rPr>
                          </m:ctrlPr>
                        </m:dPr>
                        <m:e>
                          <m:r>
                            <a:rPr lang="en-US" altLang="zh-CN" sz="2400" b="1" i="1">
                              <a:solidFill>
                                <a:srgbClr val="FFFF66"/>
                              </a:solidFill>
                              <a:effectLst/>
                              <a:latin typeface="Cambria Math" panose="02040503050406030204" pitchFamily="18" charset="0"/>
                            </a:rPr>
                            <m:t>𝑮</m:t>
                          </m:r>
                        </m:e>
                      </m:d>
                    </m:oMath>
                  </m:oMathPara>
                </a14:m>
                <a:endParaRPr lang="en-US" altLang="zh-CN" sz="2400" b="1" dirty="0">
                  <a:solidFill>
                    <a:srgbClr val="FFFF66"/>
                  </a:solidFill>
                  <a:effectLst/>
                </a:endParaRPr>
              </a:p>
              <a:p>
                <a:pPr>
                  <a:lnSpc>
                    <a:spcPct val="150000"/>
                  </a:lnSpc>
                  <a:spcBef>
                    <a:spcPts val="0"/>
                  </a:spcBef>
                  <a:spcAft>
                    <a:spcPts val="0"/>
                  </a:spcAft>
                </a:pPr>
                <a:r>
                  <a:rPr lang="zh-CN" altLang="zh-CN" sz="2400" b="1" dirty="0">
                    <a:solidFill>
                      <a:schemeClr val="bg1"/>
                    </a:solidFill>
                    <a:effectLst/>
                  </a:rPr>
                  <a:t>则称</a:t>
                </a:r>
                <a14:m>
                  <m:oMath xmlns:m="http://schemas.openxmlformats.org/officeDocument/2006/math">
                    <m:r>
                      <a:rPr lang="zh-CN" altLang="zh-CN" sz="2400" b="1">
                        <a:solidFill>
                          <a:schemeClr val="bg1"/>
                        </a:solidFill>
                        <a:effectLst/>
                        <a:latin typeface="Cambria Math" panose="02040503050406030204" pitchFamily="18" charset="0"/>
                      </a:rPr>
                      <m:t> </m:t>
                    </m:r>
                    <m:sSup>
                      <m:sSupPr>
                        <m:ctrlPr>
                          <a:rPr lang="zh-CN" altLang="zh-CN" sz="2400" b="1" i="1">
                            <a:solidFill>
                              <a:schemeClr val="bg1"/>
                            </a:solidFill>
                            <a:effectLst/>
                            <a:latin typeface="Cambria Math" panose="02040503050406030204" pitchFamily="18" charset="0"/>
                          </a:rPr>
                        </m:ctrlPr>
                      </m:sSupPr>
                      <m:e>
                        <m:r>
                          <a:rPr lang="en-US" altLang="zh-CN" sz="2400" b="1" i="1">
                            <a:solidFill>
                              <a:schemeClr val="bg1"/>
                            </a:solidFill>
                            <a:effectLst/>
                            <a:latin typeface="Cambria Math" panose="02040503050406030204" pitchFamily="18" charset="0"/>
                          </a:rPr>
                          <m:t>𝑽</m:t>
                        </m:r>
                      </m:e>
                      <m:sup>
                        <m:r>
                          <a:rPr lang="en-US" altLang="zh-CN" sz="2400" b="1" i="1">
                            <a:solidFill>
                              <a:schemeClr val="bg1"/>
                            </a:solidFill>
                            <a:effectLst/>
                            <a:latin typeface="Cambria Math" panose="02040503050406030204" pitchFamily="18" charset="0"/>
                          </a:rPr>
                          <m:t>′</m:t>
                        </m:r>
                      </m:sup>
                    </m:sSup>
                  </m:oMath>
                </a14:m>
                <a:r>
                  <a:rPr lang="zh-CN" altLang="zh-CN" sz="2400" b="1" dirty="0">
                    <a:solidFill>
                      <a:schemeClr val="bg1"/>
                    </a:solidFill>
                    <a:effectLst/>
                  </a:rPr>
                  <a:t>为</a:t>
                </a:r>
                <a14:m>
                  <m:oMath xmlns:m="http://schemas.openxmlformats.org/officeDocument/2006/math">
                    <m:r>
                      <a:rPr lang="zh-CN" altLang="zh-CN" sz="2400" b="1">
                        <a:solidFill>
                          <a:schemeClr val="bg1"/>
                        </a:solidFill>
                        <a:effectLst/>
                        <a:latin typeface="Cambria Math" panose="02040503050406030204" pitchFamily="18" charset="0"/>
                      </a:rPr>
                      <m:t> </m:t>
                    </m:r>
                    <m:r>
                      <a:rPr lang="en-US" altLang="zh-CN" sz="2400" b="1" i="1">
                        <a:solidFill>
                          <a:schemeClr val="bg1"/>
                        </a:solidFill>
                        <a:effectLst/>
                        <a:latin typeface="Cambria Math" panose="02040503050406030204" pitchFamily="18" charset="0"/>
                      </a:rPr>
                      <m:t>𝑮</m:t>
                    </m:r>
                    <m:r>
                      <a:rPr lang="en-US" altLang="zh-CN" sz="2400" b="1" i="1">
                        <a:solidFill>
                          <a:schemeClr val="bg1"/>
                        </a:solidFill>
                        <a:effectLst/>
                        <a:latin typeface="Cambria Math" panose="02040503050406030204" pitchFamily="18" charset="0"/>
                      </a:rPr>
                      <m:t> </m:t>
                    </m:r>
                  </m:oMath>
                </a14:m>
                <a:r>
                  <a:rPr lang="zh-CN" altLang="zh-CN" sz="2400" b="1" dirty="0">
                    <a:solidFill>
                      <a:schemeClr val="bg1"/>
                    </a:solidFill>
                    <a:effectLst/>
                  </a:rPr>
                  <a:t>的</a:t>
                </a:r>
                <a:r>
                  <a:rPr lang="zh-CN" altLang="zh-CN" sz="2400" b="1" dirty="0">
                    <a:solidFill>
                      <a:srgbClr val="FFFF66"/>
                    </a:solidFill>
                    <a:effectLst/>
                  </a:rPr>
                  <a:t>边割集</a:t>
                </a:r>
                <a:r>
                  <a:rPr lang="zh-CN" altLang="zh-CN" sz="2400" b="1" dirty="0">
                    <a:solidFill>
                      <a:schemeClr val="bg1"/>
                    </a:solidFill>
                    <a:effectLst/>
                  </a:rPr>
                  <a:t>。</a:t>
                </a:r>
                <a:endParaRPr lang="en-US" altLang="zh-CN" sz="2400" b="1" dirty="0">
                  <a:solidFill>
                    <a:schemeClr val="bg1"/>
                  </a:solidFill>
                  <a:effectLst/>
                </a:endParaRPr>
              </a:p>
              <a:p>
                <a:pPr>
                  <a:lnSpc>
                    <a:spcPct val="150000"/>
                  </a:lnSpc>
                  <a:spcBef>
                    <a:spcPts val="0"/>
                  </a:spcBef>
                  <a:spcAft>
                    <a:spcPts val="0"/>
                  </a:spcAft>
                </a:pPr>
                <a:r>
                  <a:rPr lang="en-US" altLang="zh-CN" sz="2400" b="1" dirty="0">
                    <a:solidFill>
                      <a:schemeClr val="bg1"/>
                    </a:solidFill>
                  </a:rPr>
                  <a:t>    </a:t>
                </a:r>
                <a:r>
                  <a:rPr lang="zh-CN" altLang="zh-CN" sz="2400" b="1" dirty="0">
                    <a:solidFill>
                      <a:schemeClr val="bg1"/>
                    </a:solidFill>
                    <a:effectLst/>
                  </a:rPr>
                  <a:t>如果</a:t>
                </a:r>
                <a:r>
                  <a:rPr lang="zh-CN" altLang="en-US" sz="2400" b="1" dirty="0">
                    <a:solidFill>
                      <a:schemeClr val="bg1"/>
                    </a:solidFill>
                    <a:effectLst/>
                  </a:rPr>
                  <a:t>边</a:t>
                </a:r>
                <a:r>
                  <a:rPr lang="zh-CN" altLang="zh-CN" sz="2400" b="1" dirty="0">
                    <a:solidFill>
                      <a:schemeClr val="bg1"/>
                    </a:solidFill>
                    <a:effectLst/>
                  </a:rPr>
                  <a:t>割集中只有一个条边</a:t>
                </a:r>
                <a14:m>
                  <m:oMath xmlns:m="http://schemas.openxmlformats.org/officeDocument/2006/math">
                    <m:r>
                      <a:rPr lang="en-US" altLang="zh-CN" sz="2400" b="1">
                        <a:solidFill>
                          <a:schemeClr val="bg1"/>
                        </a:solidFill>
                        <a:effectLst/>
                        <a:latin typeface="Cambria Math" panose="02040503050406030204" pitchFamily="18" charset="0"/>
                      </a:rPr>
                      <m:t>  </m:t>
                    </m:r>
                    <m:r>
                      <a:rPr lang="en-US" altLang="zh-CN" sz="2400" b="1" i="1">
                        <a:solidFill>
                          <a:schemeClr val="bg1"/>
                        </a:solidFill>
                        <a:effectLst/>
                        <a:latin typeface="Cambria Math" panose="02040503050406030204" pitchFamily="18" charset="0"/>
                      </a:rPr>
                      <m:t>𝒆</m:t>
                    </m:r>
                    <m:r>
                      <a:rPr lang="en-US" altLang="zh-CN" sz="2400" b="1" i="1">
                        <a:solidFill>
                          <a:schemeClr val="bg1"/>
                        </a:solidFill>
                        <a:effectLst/>
                        <a:latin typeface="Cambria Math" panose="02040503050406030204" pitchFamily="18" charset="0"/>
                      </a:rPr>
                      <m:t> </m:t>
                    </m:r>
                  </m:oMath>
                </a14:m>
                <a:r>
                  <a:rPr lang="zh-CN" altLang="zh-CN" sz="2400" b="1" dirty="0">
                    <a:solidFill>
                      <a:schemeClr val="bg1"/>
                    </a:solidFill>
                    <a:effectLst/>
                  </a:rPr>
                  <a:t>，则称</a:t>
                </a:r>
                <a14:m>
                  <m:oMath xmlns:m="http://schemas.openxmlformats.org/officeDocument/2006/math">
                    <m:r>
                      <a:rPr lang="zh-CN" altLang="zh-CN" sz="2400" b="1">
                        <a:solidFill>
                          <a:schemeClr val="bg1"/>
                        </a:solidFill>
                        <a:effectLst/>
                        <a:latin typeface="Cambria Math" panose="02040503050406030204" pitchFamily="18" charset="0"/>
                      </a:rPr>
                      <m:t> </m:t>
                    </m:r>
                    <m:r>
                      <a:rPr lang="en-US" altLang="zh-CN" sz="2400" b="1" i="1">
                        <a:solidFill>
                          <a:schemeClr val="bg1"/>
                        </a:solidFill>
                        <a:effectLst/>
                        <a:latin typeface="Cambria Math" panose="02040503050406030204" pitchFamily="18" charset="0"/>
                      </a:rPr>
                      <m:t>𝒆</m:t>
                    </m:r>
                    <m:r>
                      <a:rPr lang="en-US" altLang="zh-CN" sz="2400" b="1" i="1">
                        <a:solidFill>
                          <a:schemeClr val="bg1"/>
                        </a:solidFill>
                        <a:effectLst/>
                        <a:latin typeface="Cambria Math" panose="02040503050406030204" pitchFamily="18" charset="0"/>
                      </a:rPr>
                      <m:t> </m:t>
                    </m:r>
                  </m:oMath>
                </a14:m>
                <a:r>
                  <a:rPr lang="zh-CN" altLang="zh-CN" sz="2400" b="1" dirty="0">
                    <a:solidFill>
                      <a:schemeClr val="bg1"/>
                    </a:solidFill>
                    <a:effectLst/>
                  </a:rPr>
                  <a:t>为</a:t>
                </a:r>
                <a:r>
                  <a:rPr lang="zh-CN" altLang="zh-CN" sz="2400" b="1" dirty="0">
                    <a:solidFill>
                      <a:srgbClr val="FFFF66"/>
                    </a:solidFill>
                    <a:effectLst/>
                  </a:rPr>
                  <a:t>割边</a:t>
                </a:r>
                <a:r>
                  <a:rPr lang="zh-CN" altLang="zh-CN" sz="2400" b="1" dirty="0">
                    <a:solidFill>
                      <a:schemeClr val="bg1"/>
                    </a:solidFill>
                    <a:effectLst/>
                  </a:rPr>
                  <a:t>或</a:t>
                </a:r>
                <a:r>
                  <a:rPr lang="zh-CN" altLang="zh-CN" sz="2400" b="1" dirty="0">
                    <a:solidFill>
                      <a:srgbClr val="FFFF66"/>
                    </a:solidFill>
                    <a:effectLst/>
                  </a:rPr>
                  <a:t>桥</a:t>
                </a:r>
                <a:r>
                  <a:rPr lang="zh-CN" altLang="zh-CN" sz="2400" b="1" dirty="0">
                    <a:solidFill>
                      <a:schemeClr val="bg1"/>
                    </a:solidFill>
                    <a:effectLst/>
                  </a:rPr>
                  <a:t>。</a:t>
                </a:r>
                <a:endParaRPr lang="zh-CN" altLang="en-US" sz="2400" b="1" dirty="0">
                  <a:solidFill>
                    <a:schemeClr val="bg1"/>
                  </a:solidFill>
                  <a:effectLst/>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95536" y="1988840"/>
                <a:ext cx="8496944" cy="3989618"/>
              </a:xfrm>
              <a:prstGeom prst="rect">
                <a:avLst/>
              </a:prstGeom>
              <a:blipFill>
                <a:blip r:embed="rId4"/>
                <a:stretch>
                  <a:fillRect l="-1148" r="-359" b="-2137"/>
                </a:stretch>
              </a:blipFill>
              <a:ln w="19050">
                <a:noFill/>
              </a:ln>
            </p:spPr>
            <p:txBody>
              <a:bodyPr/>
              <a:lstStyle/>
              <a:p>
                <a:r>
                  <a:rPr lang="zh-CN" altLang="en-US">
                    <a:noFill/>
                  </a:rPr>
                  <a:t> </a:t>
                </a:r>
              </a:p>
            </p:txBody>
          </p:sp>
        </mc:Fallback>
      </mc:AlternateContent>
      <p:sp>
        <p:nvSpPr>
          <p:cNvPr id="6" name="Text Box 2">
            <a:extLst>
              <a:ext uri="{FF2B5EF4-FFF2-40B4-BE49-F238E27FC236}">
                <a16:creationId xmlns:a16="http://schemas.microsoft.com/office/drawing/2014/main" id="{B8F36CB4-3A43-4510-9A76-EC23DBA4C14E}"/>
              </a:ext>
            </a:extLst>
          </p:cNvPr>
          <p:cNvSpPr txBox="1">
            <a:spLocks noChangeArrowheads="1"/>
          </p:cNvSpPr>
          <p:nvPr/>
        </p:nvSpPr>
        <p:spPr bwMode="auto">
          <a:xfrm>
            <a:off x="1223628" y="836712"/>
            <a:ext cx="6696744" cy="82301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连通程度（边割集）</a:t>
            </a:r>
            <a:endParaRPr lang="en-US" altLang="zh-CN" sz="4800" b="1" dirty="0">
              <a:solidFill>
                <a:schemeClr val="bg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45586447"/>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215516" y="1895947"/>
                <a:ext cx="8712967" cy="1681679"/>
              </a:xfrm>
              <a:prstGeom prst="rect">
                <a:avLst/>
              </a:prstGeom>
              <a:solidFill>
                <a:schemeClr val="accent5"/>
              </a:solidFill>
              <a:ln w="19050">
                <a:noFill/>
              </a:ln>
            </p:spPr>
            <p:txBody>
              <a:bodyPr wrap="square" rtlCol="0">
                <a:spAutoFit/>
              </a:bodyPr>
              <a:lstStyle/>
              <a:p>
                <a:pPr>
                  <a:lnSpc>
                    <a:spcPct val="150000"/>
                  </a:lnSpc>
                </a:pPr>
                <a:r>
                  <a:rPr lang="zh-CN" altLang="zh-CN" sz="2400" b="1" dirty="0">
                    <a:effectLst/>
                  </a:rPr>
                  <a:t>【例题】</a:t>
                </a:r>
                <a:r>
                  <a:rPr lang="zh-CN" altLang="zh-CN" sz="2400" b="1" dirty="0">
                    <a:solidFill>
                      <a:schemeClr val="tx1"/>
                    </a:solidFill>
                    <a:effectLst/>
                  </a:rPr>
                  <a:t>对于</a:t>
                </a:r>
                <a:r>
                  <a:rPr lang="zh-CN" altLang="en-US" sz="2400" b="1" dirty="0">
                    <a:solidFill>
                      <a:schemeClr val="tx1"/>
                    </a:solidFill>
                    <a:effectLst/>
                  </a:rPr>
                  <a:t>下列</a:t>
                </a:r>
                <a:r>
                  <a:rPr lang="zh-CN" altLang="zh-CN" sz="2400" b="1" dirty="0">
                    <a:solidFill>
                      <a:schemeClr val="tx1"/>
                    </a:solidFill>
                    <a:effectLst/>
                  </a:rPr>
                  <a:t>图</a:t>
                </a:r>
                <a14:m>
                  <m:oMath xmlns:m="http://schemas.openxmlformats.org/officeDocument/2006/math">
                    <m:r>
                      <a:rPr lang="zh-CN" altLang="zh-CN" sz="2400" b="1">
                        <a:solidFill>
                          <a:schemeClr val="tx1"/>
                        </a:solidFill>
                        <a:effectLst/>
                        <a:latin typeface="Cambria Math" panose="02040503050406030204" pitchFamily="18" charset="0"/>
                      </a:rPr>
                      <m:t> </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𝑮</m:t>
                        </m:r>
                      </m:e>
                      <m:sub>
                        <m:r>
                          <a:rPr lang="en-US" altLang="zh-CN" sz="2400" b="1" i="1">
                            <a:solidFill>
                              <a:schemeClr val="tx1"/>
                            </a:solidFill>
                            <a:effectLst/>
                            <a:latin typeface="Cambria Math" panose="02040503050406030204" pitchFamily="18" charset="0"/>
                          </a:rPr>
                          <m:t>𝟏</m:t>
                        </m:r>
                      </m:sub>
                    </m:sSub>
                    <m:r>
                      <a:rPr lang="en-US" altLang="zh-CN" sz="2400" b="1">
                        <a:solidFill>
                          <a:schemeClr val="tx1"/>
                        </a:solidFill>
                        <a:effectLst/>
                        <a:latin typeface="Cambria Math" panose="02040503050406030204" pitchFamily="18" charset="0"/>
                      </a:rPr>
                      <m:t> </m:t>
                    </m:r>
                    <m:r>
                      <a:rPr lang="zh-CN" altLang="zh-CN" sz="2400" b="1">
                        <a:solidFill>
                          <a:schemeClr val="tx1"/>
                        </a:solidFill>
                        <a:effectLst/>
                        <a:latin typeface="Cambria Math" panose="02040503050406030204" pitchFamily="18" charset="0"/>
                      </a:rPr>
                      <m:t>和</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𝑮</m:t>
                        </m:r>
                      </m:e>
                      <m:sub>
                        <m:r>
                          <a:rPr lang="en-US" altLang="zh-CN" sz="2400" b="1" i="1">
                            <a:solidFill>
                              <a:schemeClr val="tx1"/>
                            </a:solidFill>
                            <a:effectLst/>
                            <a:latin typeface="Cambria Math" panose="02040503050406030204" pitchFamily="18" charset="0"/>
                          </a:rPr>
                          <m:t>𝟐</m:t>
                        </m:r>
                      </m:sub>
                    </m:sSub>
                  </m:oMath>
                </a14:m>
                <a:r>
                  <a:rPr lang="zh-CN" altLang="zh-CN" sz="2400" b="1" dirty="0">
                    <a:solidFill>
                      <a:schemeClr val="tx1"/>
                    </a:solidFill>
                    <a:effectLst/>
                  </a:rPr>
                  <a:t>，判断</a:t>
                </a:r>
                <a:r>
                  <a:rPr lang="zh-CN" altLang="en-US" sz="2400" b="1" dirty="0">
                    <a:solidFill>
                      <a:schemeClr val="tx1"/>
                    </a:solidFill>
                    <a:effectLst/>
                  </a:rPr>
                  <a:t>其</a:t>
                </a:r>
                <a:r>
                  <a:rPr lang="zh-CN" altLang="zh-CN" sz="2400" b="1" dirty="0">
                    <a:solidFill>
                      <a:schemeClr val="tx1"/>
                    </a:solidFill>
                    <a:effectLst/>
                  </a:rPr>
                  <a:t>边集是否为边割集：</a:t>
                </a:r>
              </a:p>
              <a:p>
                <a:pPr>
                  <a:lnSpc>
                    <a:spcPct val="150000"/>
                  </a:lnSpc>
                </a:pPr>
                <a:r>
                  <a:rPr lang="zh-CN" altLang="zh-CN" sz="2400" b="1" dirty="0">
                    <a:solidFill>
                      <a:schemeClr val="tx1"/>
                    </a:solidFill>
                    <a:effectLst/>
                  </a:rPr>
                  <a:t>（</a:t>
                </a:r>
                <a:r>
                  <a:rPr lang="en-US" altLang="zh-CN" sz="2400" b="1" dirty="0">
                    <a:solidFill>
                      <a:schemeClr val="tx1"/>
                    </a:solidFill>
                    <a:effectLst/>
                  </a:rPr>
                  <a:t>1</a:t>
                </a:r>
                <a:r>
                  <a:rPr lang="zh-CN" altLang="zh-CN" sz="2400" b="1" dirty="0">
                    <a:solidFill>
                      <a:schemeClr val="tx1"/>
                    </a:solidFill>
                    <a:effectLst/>
                  </a:rPr>
                  <a:t>）在图</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𝑮</m:t>
                        </m:r>
                      </m:e>
                      <m:sub>
                        <m:r>
                          <a:rPr lang="en-US" altLang="zh-CN" sz="2400" b="1" i="1">
                            <a:solidFill>
                              <a:schemeClr val="tx1"/>
                            </a:solidFill>
                            <a:effectLst/>
                            <a:latin typeface="Cambria Math" panose="02040503050406030204" pitchFamily="18" charset="0"/>
                          </a:rPr>
                          <m:t>𝟏</m:t>
                        </m:r>
                      </m:sub>
                    </m:sSub>
                  </m:oMath>
                </a14:m>
                <a:r>
                  <a:rPr lang="zh-CN" altLang="zh-CN" sz="2400" b="1" dirty="0">
                    <a:solidFill>
                      <a:schemeClr val="tx1"/>
                    </a:solidFill>
                    <a:effectLst/>
                  </a:rPr>
                  <a:t>上，</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𝑬</m:t>
                        </m:r>
                      </m:e>
                      <m:sub>
                        <m:r>
                          <a:rPr lang="en-US" altLang="zh-CN" sz="2400" b="1" i="1">
                            <a:solidFill>
                              <a:schemeClr val="tx1"/>
                            </a:solidFill>
                            <a:effectLst/>
                            <a:latin typeface="Cambria Math" panose="02040503050406030204" pitchFamily="18" charset="0"/>
                          </a:rPr>
                          <m:t>𝟏</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𝑬</m:t>
                        </m:r>
                      </m:e>
                      <m:sub>
                        <m:r>
                          <a:rPr lang="en-US" altLang="zh-CN" sz="2400" b="1" i="1">
                            <a:solidFill>
                              <a:schemeClr val="tx1"/>
                            </a:solidFill>
                            <a:effectLst/>
                            <a:latin typeface="Cambria Math" panose="02040503050406030204" pitchFamily="18" charset="0"/>
                          </a:rPr>
                          <m:t>𝟐</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𝟐</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𝟔</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𝟕</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a:t>
                </a:r>
              </a:p>
              <a:p>
                <a:pPr>
                  <a:lnSpc>
                    <a:spcPct val="150000"/>
                  </a:lnSpc>
                </a:pPr>
                <a:r>
                  <a:rPr lang="zh-CN" altLang="zh-CN" sz="2400" b="1" dirty="0">
                    <a:solidFill>
                      <a:schemeClr val="tx1"/>
                    </a:solidFill>
                    <a:effectLst/>
                  </a:rPr>
                  <a:t>（</a:t>
                </a:r>
                <a:r>
                  <a:rPr lang="en-US" altLang="zh-CN" sz="2400" b="1" dirty="0">
                    <a:solidFill>
                      <a:schemeClr val="tx1"/>
                    </a:solidFill>
                    <a:effectLst/>
                  </a:rPr>
                  <a:t>2</a:t>
                </a:r>
                <a:r>
                  <a:rPr lang="zh-CN" altLang="zh-CN" sz="2400" b="1" dirty="0">
                    <a:solidFill>
                      <a:schemeClr val="tx1"/>
                    </a:solidFill>
                    <a:effectLst/>
                  </a:rPr>
                  <a:t>）在图</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𝑮</m:t>
                        </m:r>
                      </m:e>
                      <m:sub>
                        <m:r>
                          <a:rPr lang="en-US" altLang="zh-CN" sz="2400" b="1" i="1">
                            <a:solidFill>
                              <a:schemeClr val="tx1"/>
                            </a:solidFill>
                            <a:effectLst/>
                            <a:latin typeface="Cambria Math" panose="02040503050406030204" pitchFamily="18" charset="0"/>
                          </a:rPr>
                          <m:t>𝟐</m:t>
                        </m:r>
                      </m:sub>
                    </m:sSub>
                  </m:oMath>
                </a14:m>
                <a:r>
                  <a:rPr lang="zh-CN" altLang="zh-CN" sz="2400" b="1" dirty="0">
                    <a:solidFill>
                      <a:schemeClr val="tx1"/>
                    </a:solidFill>
                    <a:effectLst/>
                  </a:rPr>
                  <a:t>上，</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𝑬</m:t>
                        </m:r>
                      </m:e>
                      <m:sub>
                        <m:r>
                          <a:rPr lang="en-US" altLang="zh-CN" sz="2400" b="1" i="1">
                            <a:solidFill>
                              <a:schemeClr val="tx1"/>
                            </a:solidFill>
                            <a:effectLst/>
                            <a:latin typeface="Cambria Math" panose="02040503050406030204" pitchFamily="18" charset="0"/>
                          </a:rPr>
                          <m:t>𝟑</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𝟐</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𝑬</m:t>
                        </m:r>
                      </m:e>
                      <m:sub>
                        <m:r>
                          <a:rPr lang="en-US" altLang="zh-CN" sz="2400" b="1" i="1">
                            <a:solidFill>
                              <a:schemeClr val="tx1"/>
                            </a:solidFill>
                            <a:effectLst/>
                            <a:latin typeface="Cambria Math" panose="02040503050406030204" pitchFamily="18" charset="0"/>
                          </a:rPr>
                          <m:t>𝟒</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𝟕</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𝟖</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𝟗</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𝟏𝟎</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𝟏𝟒</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a:t>
                </a:r>
              </a:p>
            </p:txBody>
          </p:sp>
        </mc:Choice>
        <mc:Fallback xmlns="">
          <p:sp>
            <p:nvSpPr>
              <p:cNvPr id="23" name="文本框 22"/>
              <p:cNvSpPr txBox="1">
                <a:spLocks noRot="1" noChangeAspect="1" noMove="1" noResize="1" noEditPoints="1" noAdjustHandles="1" noChangeArrowheads="1" noChangeShapeType="1" noTextEdit="1"/>
              </p:cNvSpPr>
              <p:nvPr/>
            </p:nvSpPr>
            <p:spPr>
              <a:xfrm>
                <a:off x="215516" y="1895947"/>
                <a:ext cx="8712967" cy="1681679"/>
              </a:xfrm>
              <a:prstGeom prst="rect">
                <a:avLst/>
              </a:prstGeom>
              <a:blipFill>
                <a:blip r:embed="rId4"/>
                <a:stretch>
                  <a:fillRect l="-1049" b="-6522"/>
                </a:stretch>
              </a:blipFill>
              <a:ln w="19050">
                <a:noFill/>
              </a:ln>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395536" y="3807517"/>
            <a:ext cx="3528392" cy="2423381"/>
          </a:xfrm>
          <a:prstGeom prst="rect">
            <a:avLst/>
          </a:prstGeom>
        </p:spPr>
      </p:pic>
      <p:pic>
        <p:nvPicPr>
          <p:cNvPr id="4" name="图片 3"/>
          <p:cNvPicPr>
            <a:picLocks noChangeAspect="1"/>
          </p:cNvPicPr>
          <p:nvPr/>
        </p:nvPicPr>
        <p:blipFill>
          <a:blip r:embed="rId6"/>
          <a:stretch>
            <a:fillRect/>
          </a:stretch>
        </p:blipFill>
        <p:spPr>
          <a:xfrm>
            <a:off x="4355976" y="3787888"/>
            <a:ext cx="4536504" cy="2485309"/>
          </a:xfrm>
          <a:prstGeom prst="rect">
            <a:avLst/>
          </a:prstGeom>
        </p:spPr>
      </p:pic>
    </p:spTree>
    <p:extLst>
      <p:ext uri="{BB962C8B-B14F-4D97-AF65-F5344CB8AC3E}">
        <p14:creationId xmlns:p14="http://schemas.microsoft.com/office/powerpoint/2010/main" val="2271391160"/>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3648" y="620688"/>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395536" y="1772815"/>
                <a:ext cx="8604956" cy="2308324"/>
              </a:xfrm>
              <a:prstGeom prst="rect">
                <a:avLst/>
              </a:prstGeom>
              <a:solidFill>
                <a:schemeClr val="accent5"/>
              </a:solidFill>
              <a:ln w="19050">
                <a:noFill/>
              </a:ln>
            </p:spPr>
            <p:txBody>
              <a:bodyPr wrap="square" rtlCol="0">
                <a:spAutoFit/>
              </a:bodyPr>
              <a:lstStyle/>
              <a:p>
                <a:pPr>
                  <a:spcBef>
                    <a:spcPts val="0"/>
                  </a:spcBef>
                  <a:spcAft>
                    <a:spcPts val="0"/>
                  </a:spcAft>
                </a:pPr>
                <a:r>
                  <a:rPr lang="en-US" altLang="zh-CN" sz="2400" b="1" dirty="0">
                    <a:solidFill>
                      <a:schemeClr val="accent2"/>
                    </a:solidFill>
                    <a:effectLst/>
                  </a:rPr>
                  <a:t>   </a:t>
                </a:r>
                <a:r>
                  <a:rPr lang="zh-CN" altLang="zh-CN" sz="2400" b="1" dirty="0">
                    <a:solidFill>
                      <a:schemeClr val="accent2"/>
                    </a:solidFill>
                    <a:effectLst/>
                  </a:rPr>
                  <a:t>【解】</a:t>
                </a:r>
                <a:r>
                  <a:rPr lang="zh-CN" altLang="zh-CN" sz="2400" b="1" dirty="0">
                    <a:solidFill>
                      <a:srgbClr val="800080"/>
                    </a:solidFill>
                    <a:effectLst/>
                  </a:rPr>
                  <a:t>（</a:t>
                </a:r>
                <a:r>
                  <a:rPr lang="en-US" altLang="zh-CN" sz="2400" b="1" dirty="0">
                    <a:solidFill>
                      <a:srgbClr val="800080"/>
                    </a:solidFill>
                    <a:effectLst/>
                  </a:rPr>
                  <a:t>1</a:t>
                </a:r>
                <a:r>
                  <a:rPr lang="zh-CN" altLang="zh-CN" sz="2400" b="1" dirty="0">
                    <a:solidFill>
                      <a:srgbClr val="800080"/>
                    </a:solidFill>
                    <a:effectLst/>
                  </a:rPr>
                  <a:t>）</a:t>
                </a:r>
                <a:r>
                  <a:rPr lang="zh-CN" altLang="en-US" sz="2400" b="1" dirty="0">
                    <a:solidFill>
                      <a:srgbClr val="800080"/>
                    </a:solidFill>
                    <a:effectLst/>
                  </a:rPr>
                  <a:t>对于</a:t>
                </a:r>
                <a:r>
                  <a:rPr lang="zh-CN" altLang="zh-CN" sz="2400" b="1" dirty="0">
                    <a:solidFill>
                      <a:srgbClr val="800080"/>
                    </a:solidFill>
                    <a:effectLst/>
                  </a:rPr>
                  <a:t>图</a:t>
                </a:r>
                <a14:m>
                  <m:oMath xmlns:m="http://schemas.openxmlformats.org/officeDocument/2006/math">
                    <m:sSub>
                      <m:sSubPr>
                        <m:ctrlPr>
                          <a:rPr lang="zh-CN" altLang="zh-CN" sz="2400" b="1" i="1">
                            <a:solidFill>
                              <a:srgbClr val="800080"/>
                            </a:solidFill>
                            <a:effectLst/>
                            <a:latin typeface="Cambria Math" panose="02040503050406030204" pitchFamily="18" charset="0"/>
                          </a:rPr>
                        </m:ctrlPr>
                      </m:sSubPr>
                      <m:e>
                        <m:r>
                          <a:rPr lang="en-US" altLang="zh-CN" sz="2400" b="1" i="1">
                            <a:solidFill>
                              <a:srgbClr val="800080"/>
                            </a:solidFill>
                            <a:effectLst/>
                            <a:latin typeface="Cambria Math" panose="02040503050406030204" pitchFamily="18" charset="0"/>
                          </a:rPr>
                          <m:t>𝑮</m:t>
                        </m:r>
                      </m:e>
                      <m:sub>
                        <m:r>
                          <a:rPr lang="en-US" altLang="zh-CN" sz="2400" b="1" i="1">
                            <a:solidFill>
                              <a:srgbClr val="800080"/>
                            </a:solidFill>
                            <a:effectLst/>
                            <a:latin typeface="Cambria Math" panose="02040503050406030204" pitchFamily="18" charset="0"/>
                          </a:rPr>
                          <m:t>𝟏</m:t>
                        </m:r>
                      </m:sub>
                    </m:sSub>
                  </m:oMath>
                </a14:m>
                <a:r>
                  <a:rPr lang="zh-CN" altLang="zh-CN" sz="2400" b="1" dirty="0">
                    <a:solidFill>
                      <a:srgbClr val="800080"/>
                    </a:solidFill>
                    <a:effectLst/>
                  </a:rPr>
                  <a:t>，</a:t>
                </a:r>
                <a14:m>
                  <m:oMath xmlns:m="http://schemas.openxmlformats.org/officeDocument/2006/math">
                    <m:sSub>
                      <m:sSubPr>
                        <m:ctrlPr>
                          <a:rPr lang="zh-CN" altLang="zh-CN" sz="2400" b="1" i="1" smtClean="0">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𝑬</m:t>
                        </m:r>
                      </m:e>
                      <m:sub>
                        <m:r>
                          <a:rPr lang="en-US" altLang="zh-CN" sz="2400" b="1" i="1">
                            <a:solidFill>
                              <a:schemeClr val="tx1"/>
                            </a:solidFill>
                            <a:effectLst/>
                            <a:latin typeface="Cambria Math" panose="02040503050406030204" pitchFamily="18" charset="0"/>
                          </a:rPr>
                          <m:t>𝟏</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是边割集，</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m:t>
                        </m:r>
                      </m:sub>
                    </m:sSub>
                  </m:oMath>
                </a14:m>
                <a:r>
                  <a:rPr lang="zh-CN" altLang="zh-CN" sz="2400" b="1" dirty="0">
                    <a:solidFill>
                      <a:schemeClr val="tx1"/>
                    </a:solidFill>
                    <a:effectLst/>
                  </a:rPr>
                  <a:t>是割边，移除割边</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m:t>
                        </m:r>
                      </m:sub>
                    </m:sSub>
                  </m:oMath>
                </a14:m>
                <a:r>
                  <a:rPr lang="zh-CN" altLang="zh-CN" sz="2400" b="1" dirty="0">
                    <a:solidFill>
                      <a:schemeClr val="tx1"/>
                    </a:solidFill>
                    <a:effectLst/>
                  </a:rPr>
                  <a:t>后显然不再连通；</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𝑬</m:t>
                        </m:r>
                      </m:e>
                      <m:sub>
                        <m:r>
                          <a:rPr lang="en-US" altLang="zh-CN" sz="2400" b="1" i="1">
                            <a:solidFill>
                              <a:schemeClr val="tx1"/>
                            </a:solidFill>
                            <a:effectLst/>
                            <a:latin typeface="Cambria Math" panose="02040503050406030204" pitchFamily="18" charset="0"/>
                          </a:rPr>
                          <m:t>𝟐</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𝟐</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𝟔</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𝟕</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不是边割集，因为</a:t>
                </a:r>
                <a14:m>
                  <m:oMath xmlns:m="http://schemas.openxmlformats.org/officeDocument/2006/math">
                    <m:r>
                      <a:rPr lang="en-US" altLang="zh-CN" sz="2400" b="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𝟔</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是边割集，</a:t>
                </a:r>
                <a14:m>
                  <m:oMath xmlns:m="http://schemas.openxmlformats.org/officeDocument/2006/math">
                    <m:r>
                      <a:rPr lang="en-US" altLang="zh-CN" sz="2400" b="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𝟔</m:t>
                        </m:r>
                      </m:sub>
                    </m:sSub>
                    <m:r>
                      <a:rPr lang="en-US" altLang="zh-CN" sz="2400" b="1" i="1">
                        <a:solidFill>
                          <a:schemeClr val="tx1"/>
                        </a:solidFill>
                        <a:effectLst/>
                        <a:latin typeface="Cambria Math" panose="02040503050406030204" pitchFamily="18" charset="0"/>
                      </a:rPr>
                      <m:t>}</m:t>
                    </m:r>
                    <m:r>
                      <a:rPr lang="en-US" altLang="zh-CN" sz="2400" b="1">
                        <a:solidFill>
                          <a:schemeClr val="tx1"/>
                        </a:solidFill>
                        <a:effectLst/>
                        <a:latin typeface="Cambria Math" panose="02040503050406030204" pitchFamily="18" charset="0"/>
                      </a:rPr>
                      <m:t>⊆</m:t>
                    </m:r>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𝟐</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𝟔</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𝟕</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a:t>
                </a:r>
                <a:endParaRPr lang="en-US" altLang="zh-CN" sz="2400" b="1" dirty="0">
                  <a:solidFill>
                    <a:schemeClr val="tx1"/>
                  </a:solidFill>
                  <a:effectLst/>
                </a:endParaRPr>
              </a:p>
              <a:p>
                <a:r>
                  <a:rPr lang="zh-CN" altLang="en-US" sz="2400" dirty="0">
                    <a:solidFill>
                      <a:srgbClr val="800080"/>
                    </a:solidFill>
                  </a:rPr>
                  <a:t>   （</a:t>
                </a:r>
                <a:r>
                  <a:rPr lang="en-US" altLang="zh-CN" sz="2400" b="1" dirty="0">
                    <a:solidFill>
                      <a:srgbClr val="800080"/>
                    </a:solidFill>
                    <a:effectLst/>
                  </a:rPr>
                  <a:t>2</a:t>
                </a:r>
                <a:r>
                  <a:rPr lang="zh-CN" altLang="en-US" sz="2400" b="1" dirty="0">
                    <a:solidFill>
                      <a:srgbClr val="800080"/>
                    </a:solidFill>
                    <a:effectLst/>
                  </a:rPr>
                  <a:t>）对于</a:t>
                </a:r>
                <a:r>
                  <a:rPr lang="zh-CN" altLang="zh-CN" sz="2400" b="1" dirty="0">
                    <a:solidFill>
                      <a:srgbClr val="800080"/>
                    </a:solidFill>
                    <a:effectLst/>
                  </a:rPr>
                  <a:t>图</a:t>
                </a:r>
                <a14:m>
                  <m:oMath xmlns:m="http://schemas.openxmlformats.org/officeDocument/2006/math">
                    <m:sSub>
                      <m:sSubPr>
                        <m:ctrlPr>
                          <a:rPr lang="zh-CN" altLang="zh-CN" sz="2400" b="1" i="1">
                            <a:solidFill>
                              <a:srgbClr val="800080"/>
                            </a:solidFill>
                            <a:effectLst/>
                            <a:latin typeface="Cambria Math" panose="02040503050406030204" pitchFamily="18" charset="0"/>
                          </a:rPr>
                        </m:ctrlPr>
                      </m:sSubPr>
                      <m:e>
                        <m:r>
                          <a:rPr lang="en-US" altLang="zh-CN" sz="2400" b="1" i="1">
                            <a:solidFill>
                              <a:srgbClr val="800080"/>
                            </a:solidFill>
                            <a:effectLst/>
                            <a:latin typeface="Cambria Math" panose="02040503050406030204" pitchFamily="18" charset="0"/>
                          </a:rPr>
                          <m:t>𝑮</m:t>
                        </m:r>
                      </m:e>
                      <m:sub>
                        <m:r>
                          <a:rPr lang="en-US" altLang="zh-CN" sz="2400" b="1" i="1">
                            <a:solidFill>
                              <a:srgbClr val="800080"/>
                            </a:solidFill>
                            <a:effectLst/>
                            <a:latin typeface="Cambria Math" panose="02040503050406030204" pitchFamily="18" charset="0"/>
                          </a:rPr>
                          <m:t>𝟐</m:t>
                        </m:r>
                      </m:sub>
                    </m:sSub>
                  </m:oMath>
                </a14:m>
                <a:r>
                  <a:rPr lang="zh-CN" altLang="zh-CN" sz="2400" b="1" dirty="0">
                    <a:solidFill>
                      <a:srgbClr val="800080"/>
                    </a:solidFill>
                    <a:effectLst/>
                  </a:rPr>
                  <a:t>，</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𝑬</m:t>
                        </m:r>
                      </m:e>
                      <m:sub>
                        <m:r>
                          <a:rPr lang="en-US" altLang="zh-CN" sz="2400" b="1" i="1">
                            <a:solidFill>
                              <a:schemeClr val="tx1"/>
                            </a:solidFill>
                            <a:effectLst/>
                            <a:latin typeface="Cambria Math" panose="02040503050406030204" pitchFamily="18" charset="0"/>
                          </a:rPr>
                          <m:t>𝟑</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𝟐</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是边割集，移除边</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𝟐</m:t>
                        </m:r>
                      </m:sub>
                    </m:sSub>
                  </m:oMath>
                </a14:m>
                <a:r>
                  <a:rPr lang="zh-CN" altLang="zh-CN" sz="2400" b="1" dirty="0">
                    <a:solidFill>
                      <a:schemeClr val="tx1"/>
                    </a:solidFill>
                    <a:effectLst/>
                  </a:rPr>
                  <a:t>后；</a:t>
                </a:r>
                <a:endParaRPr lang="en-US" altLang="zh-CN" sz="2400" b="1" dirty="0">
                  <a:solidFill>
                    <a:schemeClr val="tx1"/>
                  </a:solidFill>
                  <a:effectLst/>
                </a:endParaRPr>
              </a:p>
              <a:p>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𝑬</m:t>
                        </m:r>
                      </m:e>
                      <m:sub>
                        <m:r>
                          <a:rPr lang="en-US" altLang="zh-CN" sz="2400" b="1" i="1">
                            <a:solidFill>
                              <a:schemeClr val="tx1"/>
                            </a:solidFill>
                            <a:effectLst/>
                            <a:latin typeface="Cambria Math" panose="02040503050406030204" pitchFamily="18" charset="0"/>
                          </a:rPr>
                          <m:t>𝟒</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𝟕</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𝟖</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𝟗</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𝟏𝟎</m:t>
                        </m:r>
                      </m:sub>
                    </m:sSub>
                    <m:r>
                      <a:rPr lang="en-US" altLang="zh-CN" sz="2400" b="1" i="1">
                        <a:solidFill>
                          <a:schemeClr val="tx1"/>
                        </a:solidFill>
                        <a:effectLst/>
                        <a:latin typeface="Cambria Math" panose="02040503050406030204" pitchFamily="18" charset="0"/>
                      </a:rPr>
                      <m:t>,</m:t>
                    </m:r>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𝒆</m:t>
                        </m:r>
                      </m:e>
                      <m:sub>
                        <m:r>
                          <a:rPr lang="en-US" altLang="zh-CN" sz="2400" b="1" i="1">
                            <a:solidFill>
                              <a:schemeClr val="tx1"/>
                            </a:solidFill>
                            <a:effectLst/>
                            <a:latin typeface="Cambria Math" panose="02040503050406030204" pitchFamily="18" charset="0"/>
                          </a:rPr>
                          <m:t>𝟏𝟒</m:t>
                        </m:r>
                      </m:sub>
                    </m:sSub>
                    <m:r>
                      <a:rPr lang="en-US" altLang="zh-CN" sz="2400" b="1" i="1">
                        <a:solidFill>
                          <a:schemeClr val="tx1"/>
                        </a:solidFill>
                        <a:effectLst/>
                        <a:latin typeface="Cambria Math" panose="02040503050406030204" pitchFamily="18" charset="0"/>
                      </a:rPr>
                      <m:t>}</m:t>
                    </m:r>
                  </m:oMath>
                </a14:m>
                <a:r>
                  <a:rPr lang="zh-CN" altLang="zh-CN" sz="2400" b="1" dirty="0">
                    <a:solidFill>
                      <a:schemeClr val="tx1"/>
                    </a:solidFill>
                    <a:effectLst/>
                  </a:rPr>
                  <a:t>不是边割集，因为移除</a:t>
                </a:r>
                <a14:m>
                  <m:oMath xmlns:m="http://schemas.openxmlformats.org/officeDocument/2006/math">
                    <m:sSub>
                      <m:sSubPr>
                        <m:ctrlPr>
                          <a:rPr lang="zh-CN" altLang="zh-CN" sz="2400" b="1" i="1">
                            <a:solidFill>
                              <a:schemeClr val="tx1"/>
                            </a:solidFill>
                            <a:effectLst/>
                            <a:latin typeface="Cambria Math" panose="02040503050406030204" pitchFamily="18" charset="0"/>
                          </a:rPr>
                        </m:ctrlPr>
                      </m:sSubPr>
                      <m:e>
                        <m:r>
                          <a:rPr lang="en-US" altLang="zh-CN" sz="2400" b="1" i="1">
                            <a:solidFill>
                              <a:schemeClr val="tx1"/>
                            </a:solidFill>
                            <a:effectLst/>
                            <a:latin typeface="Cambria Math" panose="02040503050406030204" pitchFamily="18" charset="0"/>
                          </a:rPr>
                          <m:t>𝑬</m:t>
                        </m:r>
                      </m:e>
                      <m:sub>
                        <m:r>
                          <a:rPr lang="en-US" altLang="zh-CN" sz="2400" b="1" i="1">
                            <a:solidFill>
                              <a:schemeClr val="tx1"/>
                            </a:solidFill>
                            <a:effectLst/>
                            <a:latin typeface="Cambria Math" panose="02040503050406030204" pitchFamily="18" charset="0"/>
                          </a:rPr>
                          <m:t>𝟒</m:t>
                        </m:r>
                      </m:sub>
                    </m:sSub>
                  </m:oMath>
                </a14:m>
                <a:r>
                  <a:rPr lang="zh-CN" altLang="zh-CN" sz="2400" b="1" dirty="0">
                    <a:solidFill>
                      <a:schemeClr val="tx1"/>
                    </a:solidFill>
                    <a:effectLst/>
                  </a:rPr>
                  <a:t>的所有弧后余图是连通图，如</a:t>
                </a:r>
                <a:r>
                  <a:rPr lang="zh-CN" altLang="en-US" sz="2400" b="1" dirty="0">
                    <a:solidFill>
                      <a:schemeClr val="tx1"/>
                    </a:solidFill>
                    <a:effectLst/>
                  </a:rPr>
                  <a:t>下</a:t>
                </a:r>
                <a:r>
                  <a:rPr lang="zh-CN" altLang="zh-CN" sz="2400" b="1" dirty="0">
                    <a:solidFill>
                      <a:schemeClr val="tx1"/>
                    </a:solidFill>
                    <a:effectLst/>
                  </a:rPr>
                  <a:t>图所示</a:t>
                </a:r>
                <a:r>
                  <a:rPr lang="zh-CN" altLang="en-US" sz="2400" b="1" dirty="0">
                    <a:solidFill>
                      <a:schemeClr val="tx1"/>
                    </a:solidFill>
                    <a:effectLst/>
                  </a:rPr>
                  <a:t>：</a:t>
                </a:r>
                <a:endParaRPr lang="en-US" altLang="zh-CN" sz="2400" b="1" dirty="0">
                  <a:solidFill>
                    <a:srgbClr val="800080"/>
                  </a:solidFill>
                  <a:effectLst/>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95536" y="1772815"/>
                <a:ext cx="8604956" cy="2308324"/>
              </a:xfrm>
              <a:prstGeom prst="rect">
                <a:avLst/>
              </a:prstGeom>
              <a:blipFill>
                <a:blip r:embed="rId4"/>
                <a:stretch>
                  <a:fillRect l="-1134" t="-2910" r="-780" b="-5291"/>
                </a:stretch>
              </a:blipFill>
              <a:ln w="19050">
                <a:noFill/>
              </a:ln>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35154C26-6194-4921-8883-29E96E02700B}"/>
              </a:ext>
            </a:extLst>
          </p:cNvPr>
          <p:cNvPicPr>
            <a:picLocks noChangeAspect="1"/>
          </p:cNvPicPr>
          <p:nvPr/>
        </p:nvPicPr>
        <p:blipFill>
          <a:blip r:embed="rId5"/>
          <a:stretch>
            <a:fillRect/>
          </a:stretch>
        </p:blipFill>
        <p:spPr>
          <a:xfrm>
            <a:off x="2195736" y="4159269"/>
            <a:ext cx="5112568" cy="2105176"/>
          </a:xfrm>
          <a:prstGeom prst="rect">
            <a:avLst/>
          </a:prstGeom>
        </p:spPr>
      </p:pic>
    </p:spTree>
    <p:extLst>
      <p:ext uri="{BB962C8B-B14F-4D97-AF65-F5344CB8AC3E}">
        <p14:creationId xmlns:p14="http://schemas.microsoft.com/office/powerpoint/2010/main" val="432948937"/>
      </p:ext>
    </p:extLst>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927F700-AB51-4097-A208-3256B0477CC5}"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75107" name="Text Box 2"/>
          <p:cNvSpPr txBox="1">
            <a:spLocks noChangeArrowheads="1"/>
          </p:cNvSpPr>
          <p:nvPr/>
        </p:nvSpPr>
        <p:spPr bwMode="auto">
          <a:xfrm>
            <a:off x="1403350" y="804863"/>
            <a:ext cx="6337300"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概念理解要点</a:t>
            </a:r>
            <a:endParaRPr lang="en-US" altLang="zh-CN" sz="4800" b="1" dirty="0">
              <a:solidFill>
                <a:schemeClr val="bg1"/>
              </a:solidFill>
              <a:latin typeface="宋体" panose="02010600030101010101" pitchFamily="2" charset="-122"/>
              <a:ea typeface="宋体" panose="02010600030101010101" pitchFamily="2" charset="-122"/>
            </a:endParaRPr>
          </a:p>
        </p:txBody>
      </p:sp>
      <p:pic>
        <p:nvPicPr>
          <p:cNvPr id="17510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395536" y="1861247"/>
                <a:ext cx="8676964" cy="4437753"/>
              </a:xfrm>
              <a:prstGeom prst="rect">
                <a:avLst/>
              </a:prstGeom>
              <a:solidFill>
                <a:schemeClr val="accent5"/>
              </a:solidFill>
              <a:ln w="19050">
                <a:noFill/>
              </a:ln>
            </p:spPr>
            <p:txBody>
              <a:bodyPr wrap="square" rtlCol="0">
                <a:spAutoFit/>
              </a:bodyPr>
              <a:lstStyle/>
              <a:p>
                <a:pPr>
                  <a:lnSpc>
                    <a:spcPct val="150000"/>
                  </a:lnSpc>
                </a:pPr>
                <a:r>
                  <a:rPr lang="en-US" altLang="zh-CN" sz="2400" b="1" dirty="0">
                    <a:solidFill>
                      <a:schemeClr val="accent6">
                        <a:lumMod val="50000"/>
                      </a:schemeClr>
                    </a:solidFill>
                    <a:effectLst/>
                  </a:rPr>
                  <a:t>   </a:t>
                </a:r>
                <a:r>
                  <a:rPr lang="zh-CN" altLang="zh-CN" sz="2400" b="1" dirty="0">
                    <a:solidFill>
                      <a:schemeClr val="accent6">
                        <a:lumMod val="50000"/>
                      </a:schemeClr>
                    </a:solidFill>
                    <a:effectLst/>
                  </a:rPr>
                  <a:t>（</a:t>
                </a:r>
                <a:r>
                  <a:rPr lang="en-US" altLang="zh-CN" sz="2400" b="1" dirty="0">
                    <a:solidFill>
                      <a:schemeClr val="accent6">
                        <a:lumMod val="50000"/>
                      </a:schemeClr>
                    </a:solidFill>
                    <a:effectLst/>
                  </a:rPr>
                  <a:t>1</a:t>
                </a:r>
                <a:r>
                  <a:rPr lang="zh-CN" altLang="zh-CN" sz="2400" b="1" dirty="0">
                    <a:solidFill>
                      <a:schemeClr val="accent6">
                        <a:lumMod val="50000"/>
                      </a:schemeClr>
                    </a:solidFill>
                    <a:effectLst/>
                  </a:rPr>
                  <a:t>）完全图</a:t>
                </a:r>
                <a14:m>
                  <m:oMath xmlns:m="http://schemas.openxmlformats.org/officeDocument/2006/math">
                    <m:r>
                      <a:rPr lang="zh-CN" altLang="zh-CN" sz="2400" b="1">
                        <a:solidFill>
                          <a:schemeClr val="accent6">
                            <a:lumMod val="50000"/>
                          </a:schemeClr>
                        </a:solidFill>
                        <a:effectLst/>
                        <a:latin typeface="Cambria Math" panose="02040503050406030204" pitchFamily="18" charset="0"/>
                      </a:rPr>
                      <m:t> </m:t>
                    </m:r>
                    <m:sSub>
                      <m:sSubPr>
                        <m:ctrlPr>
                          <a:rPr lang="zh-CN" altLang="zh-CN" sz="2400" b="1" i="1">
                            <a:solidFill>
                              <a:schemeClr val="accent6">
                                <a:lumMod val="50000"/>
                              </a:schemeClr>
                            </a:solidFill>
                            <a:effectLst/>
                            <a:latin typeface="Cambria Math" panose="02040503050406030204" pitchFamily="18" charset="0"/>
                          </a:rPr>
                        </m:ctrlPr>
                      </m:sSubPr>
                      <m:e>
                        <m:r>
                          <a:rPr lang="en-US" altLang="zh-CN" sz="2400" b="1" i="1">
                            <a:solidFill>
                              <a:schemeClr val="accent6">
                                <a:lumMod val="50000"/>
                              </a:schemeClr>
                            </a:solidFill>
                            <a:effectLst/>
                            <a:latin typeface="Cambria Math" panose="02040503050406030204" pitchFamily="18" charset="0"/>
                          </a:rPr>
                          <m:t>𝑲</m:t>
                        </m:r>
                      </m:e>
                      <m:sub>
                        <m:r>
                          <a:rPr lang="en-US" altLang="zh-CN" sz="2400" b="1" i="1">
                            <a:solidFill>
                              <a:schemeClr val="accent6">
                                <a:lumMod val="50000"/>
                              </a:schemeClr>
                            </a:solidFill>
                            <a:effectLst/>
                            <a:latin typeface="Cambria Math" panose="02040503050406030204" pitchFamily="18" charset="0"/>
                          </a:rPr>
                          <m:t>𝒏</m:t>
                        </m:r>
                      </m:sub>
                    </m:sSub>
                    <m:r>
                      <a:rPr lang="en-US" altLang="zh-CN" sz="2400" b="1" i="1">
                        <a:solidFill>
                          <a:schemeClr val="accent6">
                            <a:lumMod val="50000"/>
                          </a:schemeClr>
                        </a:solidFill>
                        <a:effectLst/>
                        <a:latin typeface="Cambria Math" panose="02040503050406030204" pitchFamily="18" charset="0"/>
                      </a:rPr>
                      <m:t> </m:t>
                    </m:r>
                  </m:oMath>
                </a14:m>
                <a:r>
                  <a:rPr lang="zh-CN" altLang="zh-CN" sz="2400" b="1" dirty="0">
                    <a:solidFill>
                      <a:schemeClr val="accent6">
                        <a:lumMod val="50000"/>
                      </a:schemeClr>
                    </a:solidFill>
                    <a:effectLst/>
                  </a:rPr>
                  <a:t>无点割集，因为从</a:t>
                </a:r>
                <a14:m>
                  <m:oMath xmlns:m="http://schemas.openxmlformats.org/officeDocument/2006/math">
                    <m:r>
                      <a:rPr lang="zh-CN" altLang="zh-CN" sz="2400" b="1">
                        <a:solidFill>
                          <a:schemeClr val="accent6">
                            <a:lumMod val="50000"/>
                          </a:schemeClr>
                        </a:solidFill>
                        <a:effectLst/>
                        <a:latin typeface="Cambria Math" panose="02040503050406030204" pitchFamily="18" charset="0"/>
                      </a:rPr>
                      <m:t> </m:t>
                    </m:r>
                    <m:sSub>
                      <m:sSubPr>
                        <m:ctrlPr>
                          <a:rPr lang="zh-CN" altLang="zh-CN" sz="2400" b="1" i="1">
                            <a:solidFill>
                              <a:schemeClr val="accent6">
                                <a:lumMod val="50000"/>
                              </a:schemeClr>
                            </a:solidFill>
                            <a:effectLst/>
                            <a:latin typeface="Cambria Math" panose="02040503050406030204" pitchFamily="18" charset="0"/>
                          </a:rPr>
                        </m:ctrlPr>
                      </m:sSubPr>
                      <m:e>
                        <m:r>
                          <a:rPr lang="en-US" altLang="zh-CN" sz="2400" b="1" i="1">
                            <a:solidFill>
                              <a:schemeClr val="accent6">
                                <a:lumMod val="50000"/>
                              </a:schemeClr>
                            </a:solidFill>
                            <a:effectLst/>
                            <a:latin typeface="Cambria Math" panose="02040503050406030204" pitchFamily="18" charset="0"/>
                          </a:rPr>
                          <m:t>𝑲</m:t>
                        </m:r>
                      </m:e>
                      <m:sub>
                        <m:r>
                          <a:rPr lang="en-US" altLang="zh-CN" sz="2400" b="1" i="1">
                            <a:solidFill>
                              <a:schemeClr val="accent6">
                                <a:lumMod val="50000"/>
                              </a:schemeClr>
                            </a:solidFill>
                            <a:effectLst/>
                            <a:latin typeface="Cambria Math" panose="02040503050406030204" pitchFamily="18" charset="0"/>
                          </a:rPr>
                          <m:t>𝒏</m:t>
                        </m:r>
                      </m:sub>
                    </m:sSub>
                    <m:r>
                      <a:rPr lang="en-US" altLang="zh-CN" sz="2400" b="1" i="1">
                        <a:solidFill>
                          <a:schemeClr val="accent6">
                            <a:lumMod val="50000"/>
                          </a:schemeClr>
                        </a:solidFill>
                        <a:effectLst/>
                        <a:latin typeface="Cambria Math" panose="02040503050406030204" pitchFamily="18" charset="0"/>
                      </a:rPr>
                      <m:t> </m:t>
                    </m:r>
                  </m:oMath>
                </a14:m>
                <a:r>
                  <a:rPr lang="zh-CN" altLang="zh-CN" sz="2400" b="1" dirty="0">
                    <a:solidFill>
                      <a:schemeClr val="accent6">
                        <a:lumMod val="50000"/>
                      </a:schemeClr>
                    </a:solidFill>
                    <a:effectLst/>
                  </a:rPr>
                  <a:t>中删除</a:t>
                </a:r>
                <a14:m>
                  <m:oMath xmlns:m="http://schemas.openxmlformats.org/officeDocument/2006/math">
                    <m:r>
                      <a:rPr lang="zh-CN" altLang="zh-CN" sz="2400" b="1">
                        <a:solidFill>
                          <a:schemeClr val="accent6">
                            <a:lumMod val="50000"/>
                          </a:schemeClr>
                        </a:solidFill>
                        <a:effectLst/>
                        <a:latin typeface="Cambria Math" panose="02040503050406030204" pitchFamily="18" charset="0"/>
                      </a:rPr>
                      <m:t> </m:t>
                    </m:r>
                    <m:r>
                      <a:rPr lang="en-US" altLang="zh-CN" sz="2400" b="1" i="1">
                        <a:solidFill>
                          <a:schemeClr val="accent6">
                            <a:lumMod val="50000"/>
                          </a:schemeClr>
                        </a:solidFill>
                        <a:effectLst/>
                        <a:latin typeface="Cambria Math" panose="02040503050406030204" pitchFamily="18" charset="0"/>
                      </a:rPr>
                      <m:t>𝒌</m:t>
                    </m:r>
                    <m:r>
                      <a:rPr lang="zh-CN" altLang="zh-CN" sz="2400" b="1" i="1">
                        <a:solidFill>
                          <a:schemeClr val="accent6">
                            <a:lumMod val="50000"/>
                          </a:schemeClr>
                        </a:solidFill>
                        <a:effectLst/>
                        <a:latin typeface="Cambria Math" panose="02040503050406030204" pitchFamily="18" charset="0"/>
                      </a:rPr>
                      <m:t>≤</m:t>
                    </m:r>
                    <m:r>
                      <a:rPr lang="en-US" altLang="zh-CN" sz="2400" b="1" i="1">
                        <a:solidFill>
                          <a:schemeClr val="accent6">
                            <a:lumMod val="50000"/>
                          </a:schemeClr>
                        </a:solidFill>
                        <a:effectLst/>
                        <a:latin typeface="Cambria Math" panose="02040503050406030204" pitchFamily="18" charset="0"/>
                      </a:rPr>
                      <m:t>𝒏</m:t>
                    </m:r>
                    <m:r>
                      <a:rPr lang="en-US" altLang="zh-CN" sz="2400" b="1" i="1">
                        <a:solidFill>
                          <a:schemeClr val="accent6">
                            <a:lumMod val="50000"/>
                          </a:schemeClr>
                        </a:solidFill>
                        <a:effectLst/>
                        <a:latin typeface="Cambria Math" panose="02040503050406030204" pitchFamily="18" charset="0"/>
                      </a:rPr>
                      <m:t>−</m:t>
                    </m:r>
                    <m:r>
                      <a:rPr lang="en-US" altLang="zh-CN" sz="2400" b="1" i="1">
                        <a:solidFill>
                          <a:schemeClr val="accent6">
                            <a:lumMod val="50000"/>
                          </a:schemeClr>
                        </a:solidFill>
                        <a:effectLst/>
                        <a:latin typeface="Cambria Math" panose="02040503050406030204" pitchFamily="18" charset="0"/>
                      </a:rPr>
                      <m:t>𝟏</m:t>
                    </m:r>
                  </m:oMath>
                </a14:m>
                <a:r>
                  <a:rPr lang="zh-CN" altLang="zh-CN" sz="2400" b="1" dirty="0">
                    <a:solidFill>
                      <a:schemeClr val="accent6">
                        <a:lumMod val="50000"/>
                      </a:schemeClr>
                    </a:solidFill>
                    <a:effectLst/>
                  </a:rPr>
                  <a:t>个</a:t>
                </a:r>
                <a:r>
                  <a:rPr lang="zh-CN" altLang="en-US" sz="2400" b="1" dirty="0">
                    <a:solidFill>
                      <a:schemeClr val="accent6">
                        <a:lumMod val="50000"/>
                      </a:schemeClr>
                    </a:solidFill>
                    <a:effectLst/>
                  </a:rPr>
                  <a:t>结</a:t>
                </a:r>
                <a:r>
                  <a:rPr lang="zh-CN" altLang="zh-CN" sz="2400" b="1" dirty="0">
                    <a:solidFill>
                      <a:schemeClr val="accent6">
                        <a:lumMod val="50000"/>
                      </a:schemeClr>
                    </a:solidFill>
                    <a:effectLst/>
                  </a:rPr>
                  <a:t>点后，所得</a:t>
                </a:r>
                <a:r>
                  <a:rPr lang="zh-CN" altLang="en-US" sz="2400" b="1" dirty="0">
                    <a:solidFill>
                      <a:schemeClr val="accent6">
                        <a:lumMod val="50000"/>
                      </a:schemeClr>
                    </a:solidFill>
                    <a:effectLst/>
                  </a:rPr>
                  <a:t>的</a:t>
                </a:r>
                <a:r>
                  <a:rPr lang="zh-CN" altLang="zh-CN" sz="2400" b="1" dirty="0">
                    <a:solidFill>
                      <a:schemeClr val="accent6">
                        <a:lumMod val="50000"/>
                      </a:schemeClr>
                    </a:solidFill>
                    <a:effectLst/>
                  </a:rPr>
                  <a:t>图</a:t>
                </a:r>
                <a:r>
                  <a:rPr lang="zh-CN" altLang="en-US" sz="2400" b="1" dirty="0">
                    <a:solidFill>
                      <a:schemeClr val="accent6">
                        <a:lumMod val="50000"/>
                      </a:schemeClr>
                    </a:solidFill>
                    <a:effectLst/>
                  </a:rPr>
                  <a:t>模型</a:t>
                </a:r>
                <a:r>
                  <a:rPr lang="zh-CN" altLang="zh-CN" sz="2400" b="1" dirty="0">
                    <a:solidFill>
                      <a:schemeClr val="accent6">
                        <a:lumMod val="50000"/>
                      </a:schemeClr>
                    </a:solidFill>
                    <a:effectLst/>
                  </a:rPr>
                  <a:t>仍然是连通的。</a:t>
                </a:r>
              </a:p>
              <a:p>
                <a:pPr>
                  <a:lnSpc>
                    <a:spcPct val="150000"/>
                  </a:lnSpc>
                </a:pPr>
                <a:r>
                  <a:rPr lang="en-US" altLang="zh-CN" sz="2400" b="1" dirty="0">
                    <a:solidFill>
                      <a:srgbClr val="0000FF"/>
                    </a:solidFill>
                    <a:effectLst/>
                  </a:rPr>
                  <a:t>   </a:t>
                </a:r>
                <a:r>
                  <a:rPr lang="zh-CN" altLang="zh-CN" sz="2400" b="1" dirty="0">
                    <a:solidFill>
                      <a:srgbClr val="0000FF"/>
                    </a:solidFill>
                    <a:effectLst/>
                  </a:rPr>
                  <a:t>（</a:t>
                </a:r>
                <a:r>
                  <a:rPr lang="en-US" altLang="zh-CN" sz="2400" b="1" dirty="0">
                    <a:solidFill>
                      <a:srgbClr val="0000FF"/>
                    </a:solidFill>
                    <a:effectLst/>
                  </a:rPr>
                  <a:t>2</a:t>
                </a:r>
                <a:r>
                  <a:rPr lang="zh-CN" altLang="zh-CN" sz="2400" b="1" dirty="0">
                    <a:solidFill>
                      <a:srgbClr val="0000FF"/>
                    </a:solidFill>
                    <a:effectLst/>
                  </a:rPr>
                  <a:t>）</a:t>
                </a:r>
                <a14:m>
                  <m:oMath xmlns:m="http://schemas.openxmlformats.org/officeDocument/2006/math">
                    <m:r>
                      <a:rPr lang="en-US" altLang="zh-CN" sz="2400" b="1" i="1">
                        <a:solidFill>
                          <a:srgbClr val="0000FF"/>
                        </a:solidFill>
                        <a:effectLst/>
                        <a:latin typeface="Cambria Math" panose="02040503050406030204" pitchFamily="18" charset="0"/>
                      </a:rPr>
                      <m:t>𝒏</m:t>
                    </m:r>
                    <m:r>
                      <a:rPr lang="en-US" altLang="zh-CN" sz="2400" b="1" i="1">
                        <a:solidFill>
                          <a:srgbClr val="0000FF"/>
                        </a:solidFill>
                        <a:effectLst/>
                        <a:latin typeface="Cambria Math" panose="02040503050406030204" pitchFamily="18" charset="0"/>
                      </a:rPr>
                      <m:t> </m:t>
                    </m:r>
                  </m:oMath>
                </a14:m>
                <a:r>
                  <a:rPr lang="zh-CN" altLang="zh-CN" sz="2400" b="1" dirty="0">
                    <a:solidFill>
                      <a:srgbClr val="0000FF"/>
                    </a:solidFill>
                    <a:effectLst/>
                  </a:rPr>
                  <a:t>阶零图既无点割集也无边割集。</a:t>
                </a:r>
              </a:p>
              <a:p>
                <a:pPr>
                  <a:lnSpc>
                    <a:spcPct val="150000"/>
                  </a:lnSpc>
                </a:pPr>
                <a:r>
                  <a:rPr lang="en-US" altLang="zh-CN" sz="2400" b="1" dirty="0">
                    <a:solidFill>
                      <a:schemeClr val="accent6">
                        <a:lumMod val="50000"/>
                      </a:schemeClr>
                    </a:solidFill>
                    <a:effectLst/>
                  </a:rPr>
                  <a:t>   </a:t>
                </a:r>
                <a:r>
                  <a:rPr lang="zh-CN" altLang="zh-CN" sz="2400" b="1" dirty="0">
                    <a:solidFill>
                      <a:schemeClr val="accent6">
                        <a:lumMod val="50000"/>
                      </a:schemeClr>
                    </a:solidFill>
                    <a:effectLst/>
                  </a:rPr>
                  <a:t>（</a:t>
                </a:r>
                <a:r>
                  <a:rPr lang="en-US" altLang="zh-CN" sz="2400" b="1" dirty="0">
                    <a:solidFill>
                      <a:schemeClr val="accent6">
                        <a:lumMod val="50000"/>
                      </a:schemeClr>
                    </a:solidFill>
                    <a:effectLst/>
                  </a:rPr>
                  <a:t>3</a:t>
                </a:r>
                <a:r>
                  <a:rPr lang="zh-CN" altLang="zh-CN" sz="2400" b="1" dirty="0">
                    <a:solidFill>
                      <a:schemeClr val="accent6">
                        <a:lumMod val="50000"/>
                      </a:schemeClr>
                    </a:solidFill>
                    <a:effectLst/>
                  </a:rPr>
                  <a:t>）对于连通图</a:t>
                </a:r>
                <a14:m>
                  <m:oMath xmlns:m="http://schemas.openxmlformats.org/officeDocument/2006/math">
                    <m:r>
                      <a:rPr lang="zh-CN" altLang="zh-CN" sz="2400" b="1">
                        <a:solidFill>
                          <a:schemeClr val="accent6">
                            <a:lumMod val="50000"/>
                          </a:schemeClr>
                        </a:solidFill>
                        <a:effectLst/>
                        <a:latin typeface="Cambria Math" panose="02040503050406030204" pitchFamily="18" charset="0"/>
                      </a:rPr>
                      <m:t> </m:t>
                    </m:r>
                    <m:r>
                      <a:rPr lang="en-US" altLang="zh-CN" sz="2400" b="1" i="1">
                        <a:solidFill>
                          <a:schemeClr val="accent6">
                            <a:lumMod val="50000"/>
                          </a:schemeClr>
                        </a:solidFill>
                        <a:effectLst/>
                        <a:latin typeface="Cambria Math" panose="02040503050406030204" pitchFamily="18" charset="0"/>
                      </a:rPr>
                      <m:t>𝑮</m:t>
                    </m:r>
                  </m:oMath>
                </a14:m>
                <a:r>
                  <a:rPr lang="zh-CN" altLang="zh-CN" sz="2400" b="1" dirty="0">
                    <a:solidFill>
                      <a:schemeClr val="accent6">
                        <a:lumMod val="50000"/>
                      </a:schemeClr>
                    </a:solidFill>
                    <a:effectLst/>
                  </a:rPr>
                  <a:t>，</a:t>
                </a:r>
                <a14:m>
                  <m:oMath xmlns:m="http://schemas.openxmlformats.org/officeDocument/2006/math">
                    <m:sSup>
                      <m:sSupPr>
                        <m:ctrlPr>
                          <a:rPr lang="zh-CN" altLang="zh-CN" sz="2400" b="1" i="1">
                            <a:solidFill>
                              <a:schemeClr val="accent6">
                                <a:lumMod val="50000"/>
                              </a:schemeClr>
                            </a:solidFill>
                            <a:effectLst/>
                            <a:latin typeface="Cambria Math" panose="02040503050406030204" pitchFamily="18" charset="0"/>
                          </a:rPr>
                        </m:ctrlPr>
                      </m:sSupPr>
                      <m:e>
                        <m:r>
                          <a:rPr lang="en-US" altLang="zh-CN" sz="2400" b="1" i="1">
                            <a:solidFill>
                              <a:schemeClr val="accent6">
                                <a:lumMod val="50000"/>
                              </a:schemeClr>
                            </a:solidFill>
                            <a:effectLst/>
                            <a:latin typeface="Cambria Math" panose="02040503050406030204" pitchFamily="18" charset="0"/>
                          </a:rPr>
                          <m:t>𝑬</m:t>
                        </m:r>
                      </m:e>
                      <m:sup>
                        <m:r>
                          <a:rPr lang="en-US" altLang="zh-CN" sz="2400" b="1" i="1">
                            <a:solidFill>
                              <a:schemeClr val="accent6">
                                <a:lumMod val="50000"/>
                              </a:schemeClr>
                            </a:solidFill>
                            <a:effectLst/>
                            <a:latin typeface="Cambria Math" panose="02040503050406030204" pitchFamily="18" charset="0"/>
                          </a:rPr>
                          <m:t>′</m:t>
                        </m:r>
                      </m:sup>
                    </m:sSup>
                  </m:oMath>
                </a14:m>
                <a:r>
                  <a:rPr lang="zh-CN" altLang="zh-CN" sz="2400" b="1" dirty="0">
                    <a:solidFill>
                      <a:schemeClr val="accent6">
                        <a:lumMod val="50000"/>
                      </a:schemeClr>
                    </a:solidFill>
                    <a:effectLst/>
                  </a:rPr>
                  <a:t>为</a:t>
                </a:r>
                <a14:m>
                  <m:oMath xmlns:m="http://schemas.openxmlformats.org/officeDocument/2006/math">
                    <m:r>
                      <a:rPr lang="zh-CN" altLang="zh-CN" sz="2400" b="1">
                        <a:solidFill>
                          <a:schemeClr val="accent6">
                            <a:lumMod val="50000"/>
                          </a:schemeClr>
                        </a:solidFill>
                        <a:effectLst/>
                        <a:latin typeface="Cambria Math" panose="02040503050406030204" pitchFamily="18" charset="0"/>
                      </a:rPr>
                      <m:t> </m:t>
                    </m:r>
                  </m:oMath>
                </a14:m>
                <a:r>
                  <a:rPr lang="zh-CN" altLang="en-US" sz="2400" b="1" dirty="0">
                    <a:solidFill>
                      <a:schemeClr val="accent6">
                        <a:lumMod val="50000"/>
                      </a:schemeClr>
                    </a:solidFill>
                    <a:effectLst/>
                  </a:rPr>
                  <a:t>其</a:t>
                </a:r>
                <a:r>
                  <a:rPr lang="zh-CN" altLang="zh-CN" sz="2400" b="1" dirty="0">
                    <a:solidFill>
                      <a:schemeClr val="accent6">
                        <a:lumMod val="50000"/>
                      </a:schemeClr>
                    </a:solidFill>
                    <a:effectLst/>
                  </a:rPr>
                  <a:t>边割集，则有</a:t>
                </a:r>
                <a14:m>
                  <m:oMath xmlns:m="http://schemas.openxmlformats.org/officeDocument/2006/math">
                    <m:r>
                      <a:rPr lang="zh-CN" altLang="zh-CN" sz="2400" b="1">
                        <a:solidFill>
                          <a:schemeClr val="accent6">
                            <a:lumMod val="50000"/>
                          </a:schemeClr>
                        </a:solidFill>
                        <a:effectLst/>
                        <a:latin typeface="Cambria Math" panose="02040503050406030204" pitchFamily="18" charset="0"/>
                      </a:rPr>
                      <m:t> </m:t>
                    </m:r>
                    <m:r>
                      <a:rPr lang="en-US" altLang="zh-CN" sz="2400" b="1" i="1">
                        <a:solidFill>
                          <a:schemeClr val="accent6">
                            <a:lumMod val="50000"/>
                          </a:schemeClr>
                        </a:solidFill>
                        <a:effectLst/>
                        <a:latin typeface="Cambria Math" panose="02040503050406030204" pitchFamily="18" charset="0"/>
                      </a:rPr>
                      <m:t>𝒑</m:t>
                    </m:r>
                    <m:d>
                      <m:dPr>
                        <m:ctrlPr>
                          <a:rPr lang="zh-CN" altLang="zh-CN" sz="2400" b="1" i="1">
                            <a:solidFill>
                              <a:schemeClr val="accent6">
                                <a:lumMod val="50000"/>
                              </a:schemeClr>
                            </a:solidFill>
                            <a:effectLst/>
                            <a:latin typeface="Cambria Math" panose="02040503050406030204" pitchFamily="18" charset="0"/>
                          </a:rPr>
                        </m:ctrlPr>
                      </m:dPr>
                      <m:e>
                        <m:r>
                          <a:rPr lang="en-US" altLang="zh-CN" sz="2400" b="1" i="1">
                            <a:solidFill>
                              <a:schemeClr val="accent6">
                                <a:lumMod val="50000"/>
                              </a:schemeClr>
                            </a:solidFill>
                            <a:effectLst/>
                            <a:latin typeface="Cambria Math" panose="02040503050406030204" pitchFamily="18" charset="0"/>
                          </a:rPr>
                          <m:t>𝑮</m:t>
                        </m:r>
                        <m:r>
                          <a:rPr lang="en-US" altLang="zh-CN" sz="2400" b="1" i="1">
                            <a:solidFill>
                              <a:schemeClr val="accent6">
                                <a:lumMod val="50000"/>
                              </a:schemeClr>
                            </a:solidFill>
                            <a:effectLst/>
                            <a:latin typeface="Cambria Math" panose="02040503050406030204" pitchFamily="18" charset="0"/>
                          </a:rPr>
                          <m:t>−</m:t>
                        </m:r>
                        <m:sSup>
                          <m:sSupPr>
                            <m:ctrlPr>
                              <a:rPr lang="zh-CN" altLang="zh-CN" sz="2400" b="1" i="1">
                                <a:solidFill>
                                  <a:schemeClr val="accent6">
                                    <a:lumMod val="50000"/>
                                  </a:schemeClr>
                                </a:solidFill>
                                <a:effectLst/>
                                <a:latin typeface="Cambria Math" panose="02040503050406030204" pitchFamily="18" charset="0"/>
                              </a:rPr>
                            </m:ctrlPr>
                          </m:sSupPr>
                          <m:e>
                            <m:r>
                              <a:rPr lang="en-US" altLang="zh-CN" sz="2400" b="1" i="1">
                                <a:solidFill>
                                  <a:schemeClr val="accent6">
                                    <a:lumMod val="50000"/>
                                  </a:schemeClr>
                                </a:solidFill>
                                <a:effectLst/>
                                <a:latin typeface="Cambria Math" panose="02040503050406030204" pitchFamily="18" charset="0"/>
                              </a:rPr>
                              <m:t>𝑬</m:t>
                            </m:r>
                          </m:e>
                          <m:sup>
                            <m:r>
                              <a:rPr lang="en-US" altLang="zh-CN" sz="2400" b="1" i="1">
                                <a:solidFill>
                                  <a:schemeClr val="accent6">
                                    <a:lumMod val="50000"/>
                                  </a:schemeClr>
                                </a:solidFill>
                                <a:effectLst/>
                                <a:latin typeface="Cambria Math" panose="02040503050406030204" pitchFamily="18" charset="0"/>
                              </a:rPr>
                              <m:t>′</m:t>
                            </m:r>
                          </m:sup>
                        </m:sSup>
                      </m:e>
                    </m:d>
                    <m:r>
                      <a:rPr lang="en-US" altLang="zh-CN" sz="2400" b="1" i="1">
                        <a:solidFill>
                          <a:schemeClr val="accent6">
                            <a:lumMod val="50000"/>
                          </a:schemeClr>
                        </a:solidFill>
                        <a:effectLst/>
                        <a:latin typeface="Cambria Math" panose="02040503050406030204" pitchFamily="18" charset="0"/>
                      </a:rPr>
                      <m:t>=</m:t>
                    </m:r>
                    <m:r>
                      <a:rPr lang="en-US" altLang="zh-CN" sz="2400" b="1" i="1">
                        <a:solidFill>
                          <a:schemeClr val="accent6">
                            <a:lumMod val="50000"/>
                          </a:schemeClr>
                        </a:solidFill>
                        <a:effectLst/>
                        <a:latin typeface="Cambria Math" panose="02040503050406030204" pitchFamily="18" charset="0"/>
                      </a:rPr>
                      <m:t>𝟐</m:t>
                    </m:r>
                    <m:r>
                      <a:rPr lang="en-US" altLang="zh-CN" sz="2400" b="1" i="1">
                        <a:solidFill>
                          <a:schemeClr val="accent6">
                            <a:lumMod val="50000"/>
                          </a:schemeClr>
                        </a:solidFill>
                        <a:effectLst/>
                        <a:latin typeface="Cambria Math" panose="02040503050406030204" pitchFamily="18" charset="0"/>
                      </a:rPr>
                      <m:t> </m:t>
                    </m:r>
                  </m:oMath>
                </a14:m>
                <a:r>
                  <a:rPr lang="zh-CN" altLang="zh-CN" sz="2400" b="1" dirty="0">
                    <a:solidFill>
                      <a:schemeClr val="accent6">
                        <a:lumMod val="50000"/>
                      </a:schemeClr>
                    </a:solidFill>
                    <a:effectLst/>
                  </a:rPr>
                  <a:t>。 因为删除一条边最多只能增加一个连通分支。</a:t>
                </a:r>
              </a:p>
              <a:p>
                <a:pPr>
                  <a:lnSpc>
                    <a:spcPct val="150000"/>
                  </a:lnSpc>
                </a:pPr>
                <a:r>
                  <a:rPr lang="en-US" altLang="zh-CN" sz="2400" b="1" dirty="0">
                    <a:solidFill>
                      <a:srgbClr val="0000FF"/>
                    </a:solidFill>
                    <a:effectLst/>
                  </a:rPr>
                  <a:t>   </a:t>
                </a:r>
                <a:r>
                  <a:rPr lang="zh-CN" altLang="zh-CN" sz="2400" b="1" dirty="0">
                    <a:solidFill>
                      <a:srgbClr val="0000FF"/>
                    </a:solidFill>
                    <a:effectLst/>
                  </a:rPr>
                  <a:t>（</a:t>
                </a:r>
                <a:r>
                  <a:rPr lang="en-US" altLang="zh-CN" sz="2400" b="1" dirty="0">
                    <a:solidFill>
                      <a:srgbClr val="0000FF"/>
                    </a:solidFill>
                    <a:effectLst/>
                  </a:rPr>
                  <a:t>4</a:t>
                </a:r>
                <a:r>
                  <a:rPr lang="zh-CN" altLang="zh-CN" sz="2400" b="1" dirty="0">
                    <a:solidFill>
                      <a:srgbClr val="0000FF"/>
                    </a:solidFill>
                    <a:effectLst/>
                  </a:rPr>
                  <a:t>）对于连通图</a:t>
                </a:r>
                <a14:m>
                  <m:oMath xmlns:m="http://schemas.openxmlformats.org/officeDocument/2006/math">
                    <m:r>
                      <a:rPr lang="zh-CN" altLang="zh-CN" sz="2400" b="1" i="1">
                        <a:solidFill>
                          <a:srgbClr val="0000FF"/>
                        </a:solidFill>
                        <a:effectLst/>
                        <a:latin typeface="Cambria Math" panose="02040503050406030204" pitchFamily="18" charset="0"/>
                      </a:rPr>
                      <m:t> </m:t>
                    </m:r>
                    <m:r>
                      <a:rPr lang="en-US" altLang="zh-CN" sz="2400" b="1" i="1">
                        <a:solidFill>
                          <a:srgbClr val="0000FF"/>
                        </a:solidFill>
                        <a:effectLst/>
                        <a:latin typeface="Cambria Math" panose="02040503050406030204" pitchFamily="18" charset="0"/>
                      </a:rPr>
                      <m:t>𝑮</m:t>
                    </m:r>
                    <m:r>
                      <a:rPr lang="en-US" altLang="zh-CN" sz="2400" b="1" i="1">
                        <a:solidFill>
                          <a:srgbClr val="0000FF"/>
                        </a:solidFill>
                        <a:effectLst/>
                        <a:latin typeface="Cambria Math" panose="02040503050406030204" pitchFamily="18" charset="0"/>
                      </a:rPr>
                      <m:t> </m:t>
                    </m:r>
                  </m:oMath>
                </a14:m>
                <a:r>
                  <a:rPr lang="zh-CN" altLang="zh-CN" sz="2400" b="1" dirty="0">
                    <a:solidFill>
                      <a:srgbClr val="0000FF"/>
                    </a:solidFill>
                    <a:effectLst/>
                  </a:rPr>
                  <a:t>，</a:t>
                </a:r>
                <a14:m>
                  <m:oMath xmlns:m="http://schemas.openxmlformats.org/officeDocument/2006/math">
                    <m:sSup>
                      <m:sSupPr>
                        <m:ctrlPr>
                          <a:rPr lang="zh-CN" altLang="zh-CN" sz="2400" b="1" i="1">
                            <a:solidFill>
                              <a:srgbClr val="0000FF"/>
                            </a:solidFill>
                            <a:effectLst/>
                            <a:latin typeface="Cambria Math" panose="02040503050406030204" pitchFamily="18" charset="0"/>
                          </a:rPr>
                        </m:ctrlPr>
                      </m:sSupPr>
                      <m:e>
                        <m:r>
                          <a:rPr lang="en-US" altLang="zh-CN" sz="2400" b="1" i="1">
                            <a:solidFill>
                              <a:srgbClr val="0000FF"/>
                            </a:solidFill>
                            <a:effectLst/>
                            <a:latin typeface="Cambria Math" panose="02040503050406030204" pitchFamily="18" charset="0"/>
                          </a:rPr>
                          <m:t>𝑽</m:t>
                        </m:r>
                      </m:e>
                      <m:sup>
                        <m:r>
                          <a:rPr lang="en-US" altLang="zh-CN" sz="2400" b="1" i="1">
                            <a:solidFill>
                              <a:srgbClr val="0000FF"/>
                            </a:solidFill>
                            <a:effectLst/>
                            <a:latin typeface="Cambria Math" panose="02040503050406030204" pitchFamily="18" charset="0"/>
                          </a:rPr>
                          <m:t>′</m:t>
                        </m:r>
                      </m:sup>
                    </m:sSup>
                  </m:oMath>
                </a14:m>
                <a:r>
                  <a:rPr lang="zh-CN" altLang="zh-CN" sz="2400" b="1" dirty="0">
                    <a:solidFill>
                      <a:srgbClr val="0000FF"/>
                    </a:solidFill>
                    <a:effectLst/>
                  </a:rPr>
                  <a:t>为</a:t>
                </a:r>
                <a:r>
                  <a:rPr lang="zh-CN" altLang="en-US" sz="2400" b="1" dirty="0">
                    <a:solidFill>
                      <a:srgbClr val="0000FF"/>
                    </a:solidFill>
                    <a:effectLst/>
                  </a:rPr>
                  <a:t>其</a:t>
                </a:r>
                <a:r>
                  <a:rPr lang="zh-CN" altLang="zh-CN" sz="2400" b="1" dirty="0">
                    <a:solidFill>
                      <a:srgbClr val="0000FF"/>
                    </a:solidFill>
                    <a:effectLst/>
                  </a:rPr>
                  <a:t>点割集，则</a:t>
                </a:r>
                <a:r>
                  <a:rPr lang="zh-CN" altLang="en-US" sz="2400" b="1" dirty="0">
                    <a:solidFill>
                      <a:srgbClr val="0000FF"/>
                    </a:solidFill>
                    <a:effectLst/>
                  </a:rPr>
                  <a:t>有</a:t>
                </a:r>
                <a14:m>
                  <m:oMath xmlns:m="http://schemas.openxmlformats.org/officeDocument/2006/math">
                    <m:r>
                      <a:rPr lang="zh-CN" altLang="zh-CN" sz="2400" b="1">
                        <a:solidFill>
                          <a:srgbClr val="0000FF"/>
                        </a:solidFill>
                        <a:effectLst/>
                        <a:latin typeface="Cambria Math" panose="02040503050406030204" pitchFamily="18" charset="0"/>
                      </a:rPr>
                      <m:t> </m:t>
                    </m:r>
                    <m:r>
                      <a:rPr lang="en-US" altLang="zh-CN" sz="2400" b="1" i="1">
                        <a:solidFill>
                          <a:srgbClr val="0000FF"/>
                        </a:solidFill>
                        <a:effectLst/>
                        <a:latin typeface="Cambria Math" panose="02040503050406030204" pitchFamily="18" charset="0"/>
                      </a:rPr>
                      <m:t>𝒑</m:t>
                    </m:r>
                    <m:d>
                      <m:dPr>
                        <m:ctrlPr>
                          <a:rPr lang="zh-CN" altLang="zh-CN" sz="2400" b="1" i="1">
                            <a:solidFill>
                              <a:srgbClr val="0000FF"/>
                            </a:solidFill>
                            <a:effectLst/>
                            <a:latin typeface="Cambria Math" panose="02040503050406030204" pitchFamily="18" charset="0"/>
                          </a:rPr>
                        </m:ctrlPr>
                      </m:dPr>
                      <m:e>
                        <m:r>
                          <a:rPr lang="en-US" altLang="zh-CN" sz="2400" b="1" i="1">
                            <a:solidFill>
                              <a:srgbClr val="0000FF"/>
                            </a:solidFill>
                            <a:effectLst/>
                            <a:latin typeface="Cambria Math" panose="02040503050406030204" pitchFamily="18" charset="0"/>
                          </a:rPr>
                          <m:t>𝑮</m:t>
                        </m:r>
                        <m:r>
                          <a:rPr lang="en-US" altLang="zh-CN" sz="2400" b="1" i="1">
                            <a:solidFill>
                              <a:srgbClr val="0000FF"/>
                            </a:solidFill>
                            <a:effectLst/>
                            <a:latin typeface="Cambria Math" panose="02040503050406030204" pitchFamily="18" charset="0"/>
                          </a:rPr>
                          <m:t>−</m:t>
                        </m:r>
                        <m:sSup>
                          <m:sSupPr>
                            <m:ctrlPr>
                              <a:rPr lang="zh-CN" altLang="zh-CN" sz="2400" b="1" i="1">
                                <a:solidFill>
                                  <a:srgbClr val="0000FF"/>
                                </a:solidFill>
                                <a:effectLst/>
                                <a:latin typeface="Cambria Math" panose="02040503050406030204" pitchFamily="18" charset="0"/>
                              </a:rPr>
                            </m:ctrlPr>
                          </m:sSupPr>
                          <m:e>
                            <m:r>
                              <a:rPr lang="en-US" altLang="zh-CN" sz="2400" b="1" i="1">
                                <a:solidFill>
                                  <a:srgbClr val="0000FF"/>
                                </a:solidFill>
                                <a:effectLst/>
                                <a:latin typeface="Cambria Math" panose="02040503050406030204" pitchFamily="18" charset="0"/>
                              </a:rPr>
                              <m:t>𝑽</m:t>
                            </m:r>
                          </m:e>
                          <m:sup>
                            <m:r>
                              <a:rPr lang="en-US" altLang="zh-CN" sz="2400" b="1" i="1">
                                <a:solidFill>
                                  <a:srgbClr val="0000FF"/>
                                </a:solidFill>
                                <a:effectLst/>
                                <a:latin typeface="Cambria Math" panose="02040503050406030204" pitchFamily="18" charset="0"/>
                              </a:rPr>
                              <m:t>′</m:t>
                            </m:r>
                          </m:sup>
                        </m:sSup>
                      </m:e>
                    </m:d>
                    <m:r>
                      <a:rPr lang="zh-CN" altLang="zh-CN" sz="2400" b="1" i="1">
                        <a:solidFill>
                          <a:srgbClr val="0000FF"/>
                        </a:solidFill>
                        <a:effectLst/>
                        <a:latin typeface="Cambria Math" panose="02040503050406030204" pitchFamily="18" charset="0"/>
                      </a:rPr>
                      <m:t>≥</m:t>
                    </m:r>
                    <m:r>
                      <a:rPr lang="en-US" altLang="zh-CN" sz="2400" b="1" i="1">
                        <a:solidFill>
                          <a:srgbClr val="0000FF"/>
                        </a:solidFill>
                        <a:effectLst/>
                        <a:latin typeface="Cambria Math" panose="02040503050406030204" pitchFamily="18" charset="0"/>
                      </a:rPr>
                      <m:t>𝟐</m:t>
                    </m:r>
                  </m:oMath>
                </a14:m>
                <a:r>
                  <a:rPr lang="zh-CN" altLang="zh-CN" sz="2400" b="1" dirty="0">
                    <a:solidFill>
                      <a:srgbClr val="0000FF"/>
                    </a:solidFill>
                    <a:effectLst/>
                  </a:rPr>
                  <a:t>，而且可能</a:t>
                </a:r>
                <a:r>
                  <a:rPr lang="zh-CN" altLang="en-US" sz="2400" b="1" dirty="0">
                    <a:solidFill>
                      <a:srgbClr val="0000FF"/>
                    </a:solidFill>
                    <a:effectLst/>
                  </a:rPr>
                  <a:t>有</a:t>
                </a:r>
                <a14:m>
                  <m:oMath xmlns:m="http://schemas.openxmlformats.org/officeDocument/2006/math">
                    <m:r>
                      <a:rPr lang="zh-CN" altLang="zh-CN" sz="2400" b="1">
                        <a:solidFill>
                          <a:srgbClr val="0000FF"/>
                        </a:solidFill>
                        <a:effectLst/>
                        <a:latin typeface="Cambria Math" panose="02040503050406030204" pitchFamily="18" charset="0"/>
                      </a:rPr>
                      <m:t> </m:t>
                    </m:r>
                    <m:r>
                      <a:rPr lang="en-US" altLang="zh-CN" sz="2400" b="1" i="1">
                        <a:solidFill>
                          <a:srgbClr val="0000FF"/>
                        </a:solidFill>
                        <a:effectLst/>
                        <a:latin typeface="Cambria Math" panose="02040503050406030204" pitchFamily="18" charset="0"/>
                      </a:rPr>
                      <m:t>𝒑</m:t>
                    </m:r>
                    <m:d>
                      <m:dPr>
                        <m:ctrlPr>
                          <a:rPr lang="zh-CN" altLang="zh-CN" sz="2400" b="1" i="1">
                            <a:solidFill>
                              <a:srgbClr val="0000FF"/>
                            </a:solidFill>
                            <a:effectLst/>
                            <a:latin typeface="Cambria Math" panose="02040503050406030204" pitchFamily="18" charset="0"/>
                          </a:rPr>
                        </m:ctrlPr>
                      </m:dPr>
                      <m:e>
                        <m:r>
                          <a:rPr lang="en-US" altLang="zh-CN" sz="2400" b="1" i="1">
                            <a:solidFill>
                              <a:srgbClr val="0000FF"/>
                            </a:solidFill>
                            <a:effectLst/>
                            <a:latin typeface="Cambria Math" panose="02040503050406030204" pitchFamily="18" charset="0"/>
                          </a:rPr>
                          <m:t>𝑮</m:t>
                        </m:r>
                        <m:r>
                          <a:rPr lang="en-US" altLang="zh-CN" sz="2400" b="1" i="1">
                            <a:solidFill>
                              <a:srgbClr val="0000FF"/>
                            </a:solidFill>
                            <a:effectLst/>
                            <a:latin typeface="Cambria Math" panose="02040503050406030204" pitchFamily="18" charset="0"/>
                          </a:rPr>
                          <m:t>−</m:t>
                        </m:r>
                        <m:sSup>
                          <m:sSupPr>
                            <m:ctrlPr>
                              <a:rPr lang="zh-CN" altLang="zh-CN" sz="2400" b="1" i="1">
                                <a:solidFill>
                                  <a:srgbClr val="0000FF"/>
                                </a:solidFill>
                                <a:effectLst/>
                                <a:latin typeface="Cambria Math" panose="02040503050406030204" pitchFamily="18" charset="0"/>
                              </a:rPr>
                            </m:ctrlPr>
                          </m:sSupPr>
                          <m:e>
                            <m:r>
                              <a:rPr lang="en-US" altLang="zh-CN" sz="2400" b="1" i="1">
                                <a:solidFill>
                                  <a:srgbClr val="0000FF"/>
                                </a:solidFill>
                                <a:effectLst/>
                                <a:latin typeface="Cambria Math" panose="02040503050406030204" pitchFamily="18" charset="0"/>
                              </a:rPr>
                              <m:t>𝑬</m:t>
                            </m:r>
                          </m:e>
                          <m:sup>
                            <m:r>
                              <a:rPr lang="en-US" altLang="zh-CN" sz="2400" b="1" i="1">
                                <a:solidFill>
                                  <a:srgbClr val="0000FF"/>
                                </a:solidFill>
                                <a:effectLst/>
                                <a:latin typeface="Cambria Math" panose="02040503050406030204" pitchFamily="18" charset="0"/>
                              </a:rPr>
                              <m:t>′</m:t>
                            </m:r>
                          </m:sup>
                        </m:sSup>
                      </m:e>
                    </m:d>
                    <m:r>
                      <a:rPr lang="en-US" altLang="zh-CN" sz="2400" b="1" i="1">
                        <a:solidFill>
                          <a:srgbClr val="0000FF"/>
                        </a:solidFill>
                        <a:effectLst/>
                        <a:latin typeface="Cambria Math" panose="02040503050406030204" pitchFamily="18" charset="0"/>
                      </a:rPr>
                      <m:t>&gt;</m:t>
                    </m:r>
                    <m:r>
                      <a:rPr lang="en-US" altLang="zh-CN" sz="2400" b="1" i="1">
                        <a:solidFill>
                          <a:srgbClr val="0000FF"/>
                        </a:solidFill>
                        <a:effectLst/>
                        <a:latin typeface="Cambria Math" panose="02040503050406030204" pitchFamily="18" charset="0"/>
                      </a:rPr>
                      <m:t>𝟐</m:t>
                    </m:r>
                  </m:oMath>
                </a14:m>
                <a:r>
                  <a:rPr lang="zh-CN" altLang="zh-CN" sz="2400" b="1" dirty="0">
                    <a:solidFill>
                      <a:srgbClr val="0000FF"/>
                    </a:solidFill>
                    <a:effectLst/>
                  </a:rPr>
                  <a:t>，因为删除一个结点</a:t>
                </a:r>
                <a:r>
                  <a:rPr lang="zh-CN" altLang="en-US" sz="2400" b="1" dirty="0">
                    <a:solidFill>
                      <a:srgbClr val="0000FF"/>
                    </a:solidFill>
                    <a:effectLst/>
                  </a:rPr>
                  <a:t>有</a:t>
                </a:r>
                <a:r>
                  <a:rPr lang="zh-CN" altLang="zh-CN" sz="2400" b="1" dirty="0">
                    <a:solidFill>
                      <a:srgbClr val="0000FF"/>
                    </a:solidFill>
                    <a:effectLst/>
                  </a:rPr>
                  <a:t>可能增加多个连通分支。</a:t>
                </a:r>
                <a:endParaRPr lang="zh-CN" altLang="en-US" sz="2400" b="1" dirty="0">
                  <a:solidFill>
                    <a:srgbClr val="0000FF"/>
                  </a:solidFill>
                  <a:effectLst/>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95536" y="1861247"/>
                <a:ext cx="8676964" cy="4437753"/>
              </a:xfrm>
              <a:prstGeom prst="rect">
                <a:avLst/>
              </a:prstGeom>
              <a:blipFill>
                <a:blip r:embed="rId4"/>
                <a:stretch>
                  <a:fillRect l="-1124" r="-843" b="-2198"/>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1876357019"/>
      </p:ext>
    </p:extLst>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3609F1F1-435E-4DB0-AFC1-311E3BD6473B}"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77155" name="Text Box 2"/>
          <p:cNvSpPr txBox="1">
            <a:spLocks noChangeArrowheads="1"/>
          </p:cNvSpPr>
          <p:nvPr/>
        </p:nvSpPr>
        <p:spPr bwMode="auto">
          <a:xfrm>
            <a:off x="1403350" y="804863"/>
            <a:ext cx="6337300"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无向图的连通度</a:t>
            </a:r>
            <a:endParaRPr lang="en-US" altLang="zh-CN" sz="4800" b="1" dirty="0">
              <a:solidFill>
                <a:schemeClr val="bg1"/>
              </a:solidFill>
              <a:latin typeface="宋体" panose="02010600030101010101" pitchFamily="2" charset="-122"/>
              <a:ea typeface="宋体" panose="02010600030101010101" pitchFamily="2" charset="-122"/>
            </a:endParaRPr>
          </a:p>
        </p:txBody>
      </p:sp>
      <p:pic>
        <p:nvPicPr>
          <p:cNvPr id="17715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1615C36-0A2C-44FE-9665-04A4DAFA26BC}"/>
                  </a:ext>
                </a:extLst>
              </p:cNvPr>
              <p:cNvSpPr/>
              <p:nvPr/>
            </p:nvSpPr>
            <p:spPr>
              <a:xfrm>
                <a:off x="497285" y="1844824"/>
                <a:ext cx="8172908" cy="2333203"/>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【定义】对于任意无向连通图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𝑬</m:t>
                        </m:r>
                      </m:e>
                    </m:d>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，令：</a:t>
                </a:r>
              </a:p>
              <a:p>
                <a:pPr indent="266700" algn="ctr">
                  <a:lnSpc>
                    <a:spcPct val="150000"/>
                  </a:lnSpc>
                  <a:spcAft>
                    <a:spcPts val="0"/>
                  </a:spcAft>
                </a:pPr>
                <a:r>
                  <a:rPr lang="en-US" altLang="zh-CN" sz="2400" b="1" kern="100" dirty="0">
                    <a:solidFill>
                      <a:schemeClr val="bg1"/>
                    </a:solidFill>
                    <a:ea typeface="宋体" panose="02010600030101010101" pitchFamily="2" charset="-122"/>
                    <a:cs typeface="Times New Roman" panose="02020603050405020304" pitchFamily="18" charset="0"/>
                  </a:rPr>
                  <a:t> </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𝜿</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0"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𝐦𝐢𝐧</m:t>
                    </m:r>
                    <m:r>
                      <m:rPr>
                        <m:nor/>
                      </m:rPr>
                      <a:rPr lang="en-US" altLang="zh-CN" sz="2400" b="1" kern="100">
                        <a:solidFill>
                          <a:schemeClr val="bg1"/>
                        </a:solidFill>
                        <a:latin typeface="+mj-lt"/>
                        <a:ea typeface="宋体" panose="02010600030101010101" pitchFamily="2" charset="-122"/>
                        <a:cs typeface="Times New Roman" panose="02020603050405020304" pitchFamily="18" charset="0"/>
                      </a:rPr>
                      <m:t>{|</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𝑽</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p>
                    <m:r>
                      <m:rPr>
                        <m:nor/>
                      </m:rPr>
                      <a:rPr lang="en-US" altLang="zh-CN" sz="2400" b="1" kern="100">
                        <a:solidFill>
                          <a:schemeClr val="bg1"/>
                        </a:solidFill>
                        <a:latin typeface="+mj-lt"/>
                        <a:ea typeface="宋体" panose="02010600030101010101" pitchFamily="2" charset="-122"/>
                        <a:cs typeface="Times New Roman" panose="02020603050405020304" pitchFamily="18" charset="0"/>
                      </a:rPr>
                      <m:t>||</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𝑽</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p>
                    <m:r>
                      <m:rPr>
                        <m:nor/>
                      </m:rPr>
                      <a:rPr lang="zh-CN" altLang="zh-CN" sz="2400" b="1" kern="100">
                        <a:solidFill>
                          <a:schemeClr val="bg1"/>
                        </a:solidFill>
                        <a:latin typeface="+mj-lt"/>
                        <a:ea typeface="宋体" panose="02010600030101010101" pitchFamily="2" charset="-122"/>
                        <a:cs typeface="Times New Roman" panose="02020603050405020304" pitchFamily="18" charset="0"/>
                      </a:rPr>
                      <m:t>为</m:t>
                    </m:r>
                    <m:r>
                      <m:rPr>
                        <m:nor/>
                      </m:rPr>
                      <a:rPr lang="en-US" altLang="zh-CN" sz="2400" b="1" i="1" kern="100">
                        <a:solidFill>
                          <a:schemeClr val="bg1"/>
                        </a:solidFill>
                        <a:latin typeface="+mj-lt"/>
                        <a:ea typeface="宋体" panose="02010600030101010101" pitchFamily="2" charset="-122"/>
                        <a:cs typeface="Times New Roman" panose="02020603050405020304" pitchFamily="18" charset="0"/>
                      </a:rPr>
                      <m:t>G</m:t>
                    </m:r>
                    <m:r>
                      <m:rPr>
                        <m:nor/>
                      </m:rPr>
                      <a:rPr lang="zh-CN" altLang="en-US" sz="2400" b="1" kern="100" dirty="0">
                        <a:solidFill>
                          <a:schemeClr val="bg1"/>
                        </a:solidFill>
                        <a:ea typeface="宋体" panose="02010600030101010101" pitchFamily="2" charset="-122"/>
                        <a:cs typeface="Times New Roman" panose="02020603050405020304" pitchFamily="18" charset="0"/>
                      </a:rPr>
                      <m:t>的点割集</m:t>
                    </m:r>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400" b="1" kern="100" dirty="0">
                  <a:solidFill>
                    <a:schemeClr val="bg1"/>
                  </a:solidFill>
                  <a:latin typeface="+mj-lt"/>
                  <a:ea typeface="宋体" panose="02010600030101010101" pitchFamily="2" charset="-122"/>
                  <a:cs typeface="Times New Roman" panose="02020603050405020304" pitchFamily="18" charset="0"/>
                </a:endParaRPr>
              </a:p>
              <a:p>
                <a:pPr indent="266700" algn="ctr">
                  <a:lnSpc>
                    <a:spcPct val="150000"/>
                  </a:lnSpc>
                  <a:spcAft>
                    <a:spcPts val="0"/>
                  </a:spcAft>
                </a:pPr>
                <a:r>
                  <a:rPr lang="zh-CN" altLang="en-US" sz="2400" b="1" kern="100" dirty="0">
                    <a:solidFill>
                      <a:schemeClr val="bg1"/>
                    </a:solidFill>
                    <a:latin typeface="+mj-lt"/>
                    <a:ea typeface="宋体" panose="02010600030101010101" pitchFamily="2" charset="-122"/>
                    <a:cs typeface="Times New Roman" panose="02020603050405020304" pitchFamily="18" charset="0"/>
                  </a:rPr>
                  <a:t> </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𝛌</m:t>
                    </m:r>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𝐆</m:t>
                    </m:r>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𝐦𝐢𝐧</m:t>
                    </m:r>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𝑬</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𝑬</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p>
                    <m:r>
                      <m:rPr>
                        <m:nor/>
                      </m:rPr>
                      <a:rPr lang="zh-CN" altLang="zh-CN" sz="2400" b="1" kern="100">
                        <a:solidFill>
                          <a:schemeClr val="bg1"/>
                        </a:solidFill>
                        <a:ea typeface="宋体" panose="02010600030101010101" pitchFamily="2" charset="-122"/>
                        <a:cs typeface="Times New Roman" panose="02020603050405020304" pitchFamily="18" charset="0"/>
                      </a:rPr>
                      <m:t>为</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r>
                      <m:rPr>
                        <m:nor/>
                      </m:rPr>
                      <a:rPr lang="zh-CN" altLang="en-US" sz="2400" b="1" kern="100" dirty="0">
                        <a:solidFill>
                          <a:schemeClr val="bg1"/>
                        </a:solidFill>
                        <a:ea typeface="宋体" panose="02010600030101010101" pitchFamily="2" charset="-122"/>
                        <a:cs typeface="Times New Roman" panose="02020603050405020304" pitchFamily="18" charset="0"/>
                      </a:rPr>
                      <m:t>的边割集</m:t>
                    </m:r>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zh-CN" sz="2400" b="1" kern="100" dirty="0">
                  <a:solidFill>
                    <a:schemeClr val="bg1"/>
                  </a:solidFill>
                  <a:latin typeface="+mj-lt"/>
                  <a:ea typeface="宋体" panose="02010600030101010101" pitchFamily="2" charset="-122"/>
                  <a:cs typeface="Times New Roman" panose="02020603050405020304" pitchFamily="18" charset="0"/>
                </a:endParaRPr>
              </a:p>
              <a:p>
                <a:pPr algn="just">
                  <a:lnSpc>
                    <a:spcPct val="150000"/>
                  </a:lnSpc>
                  <a:spcAft>
                    <a:spcPts val="0"/>
                  </a:spcAft>
                </a:pP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并称</a:t>
                </a:r>
                <a14:m>
                  <m:oMath xmlns:m="http://schemas.openxmlformats.org/officeDocument/2006/math">
                    <m: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𝜿</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e>
                    </m:d>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为图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点连通度</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𝝀</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e>
                    </m:d>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为图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边连通度</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p>
            </p:txBody>
          </p:sp>
        </mc:Choice>
        <mc:Fallback xmlns="">
          <p:sp>
            <p:nvSpPr>
              <p:cNvPr id="3" name="矩形 2">
                <a:extLst>
                  <a:ext uri="{FF2B5EF4-FFF2-40B4-BE49-F238E27FC236}">
                    <a16:creationId xmlns:a16="http://schemas.microsoft.com/office/drawing/2014/main" id="{E1615C36-0A2C-44FE-9665-04A4DAFA26BC}"/>
                  </a:ext>
                </a:extLst>
              </p:cNvPr>
              <p:cNvSpPr>
                <a:spLocks noRot="1" noChangeAspect="1" noMove="1" noResize="1" noEditPoints="1" noAdjustHandles="1" noChangeArrowheads="1" noChangeShapeType="1" noTextEdit="1"/>
              </p:cNvSpPr>
              <p:nvPr/>
            </p:nvSpPr>
            <p:spPr>
              <a:xfrm>
                <a:off x="497285" y="1844824"/>
                <a:ext cx="8172908" cy="2333203"/>
              </a:xfrm>
              <a:prstGeom prst="rect">
                <a:avLst/>
              </a:prstGeom>
              <a:blipFill>
                <a:blip r:embed="rId4"/>
                <a:stretch>
                  <a:fillRect l="-1194" b="-41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CC4C02B-5A48-46FC-A700-D01080636282}"/>
                  </a:ext>
                </a:extLst>
              </p:cNvPr>
              <p:cNvSpPr/>
              <p:nvPr/>
            </p:nvSpPr>
            <p:spPr>
              <a:xfrm>
                <a:off x="431540" y="4335367"/>
                <a:ext cx="8280920" cy="1889043"/>
              </a:xfrm>
              <a:prstGeom prst="rect">
                <a:avLst/>
              </a:prstGeom>
              <a:solidFill>
                <a:schemeClr val="accent5"/>
              </a:solidFill>
            </p:spPr>
            <p:txBody>
              <a:bodyPr wrap="square">
                <a:spAutoFit/>
              </a:bodyPr>
              <a:lstStyle/>
              <a:p>
                <a:pPr indent="267335" algn="just">
                  <a:lnSpc>
                    <a:spcPts val="3600"/>
                  </a:lnSpc>
                  <a:spcAft>
                    <a:spcPts val="0"/>
                  </a:spcAft>
                </a:pPr>
                <a:r>
                  <a:rPr lang="en-US" altLang="zh-CN" sz="2400" b="1" kern="100" dirty="0">
                    <a:solidFill>
                      <a:schemeClr val="tx1"/>
                    </a:solidFill>
                    <a:cs typeface="Times New Roman" panose="02020603050405020304" pitchFamily="18" charset="0"/>
                  </a:rPr>
                  <a:t>  </a:t>
                </a:r>
                <a:r>
                  <a:rPr lang="zh-CN" altLang="zh-CN" sz="2400" b="1" kern="100" dirty="0">
                    <a:cs typeface="Times New Roman" panose="02020603050405020304" pitchFamily="18" charset="0"/>
                  </a:rPr>
                  <a:t>点连通度</a:t>
                </a:r>
                <a:r>
                  <a:rPr lang="zh-CN" altLang="zh-CN" sz="2400" b="1" kern="100" dirty="0">
                    <a:solidFill>
                      <a:schemeClr val="tx1"/>
                    </a:solidFill>
                    <a:cs typeface="Times New Roman" panose="02020603050405020304" pitchFamily="18" charset="0"/>
                  </a:rPr>
                  <a:t>表示由</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cs typeface="Times New Roman" panose="02020603050405020304" pitchFamily="18" charset="0"/>
                  </a:rPr>
                  <a:t>产生一个非连通图或平凡图，需要从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𝐆</m:t>
                    </m:r>
                  </m:oMath>
                </a14:m>
                <a:r>
                  <a:rPr lang="zh-CN" altLang="zh-CN" sz="2400" b="1" kern="100" dirty="0">
                    <a:solidFill>
                      <a:schemeClr val="tx1"/>
                    </a:solidFill>
                    <a:cs typeface="Times New Roman" panose="02020603050405020304" pitchFamily="18" charset="0"/>
                  </a:rPr>
                  <a:t>中删除的</a:t>
                </a:r>
                <a:r>
                  <a:rPr lang="zh-CN" altLang="zh-CN" sz="2400" b="1" kern="100" dirty="0">
                    <a:solidFill>
                      <a:srgbClr val="0000FF"/>
                    </a:solidFill>
                    <a:cs typeface="Times New Roman" panose="02020603050405020304" pitchFamily="18" charset="0"/>
                  </a:rPr>
                  <a:t>最少结点数</a:t>
                </a:r>
                <a:r>
                  <a:rPr lang="zh-CN" altLang="en-US" sz="2400" b="1" kern="100" dirty="0">
                    <a:solidFill>
                      <a:srgbClr val="0000FF"/>
                    </a:solidFill>
                    <a:cs typeface="Times New Roman" panose="02020603050405020304" pitchFamily="18" charset="0"/>
                  </a:rPr>
                  <a:t>；</a:t>
                </a:r>
                <a:endParaRPr lang="en-US" altLang="zh-CN" sz="2400" b="1" kern="100" dirty="0">
                  <a:solidFill>
                    <a:srgbClr val="0000FF"/>
                  </a:solidFill>
                  <a:cs typeface="Times New Roman" panose="02020603050405020304" pitchFamily="18" charset="0"/>
                </a:endParaRPr>
              </a:p>
              <a:p>
                <a:pPr indent="267335" algn="just">
                  <a:lnSpc>
                    <a:spcPts val="3600"/>
                  </a:lnSpc>
                  <a:spcAft>
                    <a:spcPts val="0"/>
                  </a:spcAft>
                </a:pPr>
                <a:r>
                  <a:rPr lang="en-US" altLang="zh-CN" sz="2400" b="1" kern="100" dirty="0">
                    <a:solidFill>
                      <a:schemeClr val="tx1"/>
                    </a:solidFill>
                    <a:cs typeface="Times New Roman" panose="02020603050405020304" pitchFamily="18" charset="0"/>
                  </a:rPr>
                  <a:t>  </a:t>
                </a:r>
                <a:r>
                  <a:rPr lang="zh-CN" altLang="zh-CN" sz="2400" b="1" kern="100" dirty="0">
                    <a:cs typeface="Times New Roman" panose="02020603050405020304" pitchFamily="18" charset="0"/>
                  </a:rPr>
                  <a:t>边连通度</a:t>
                </a:r>
                <a:r>
                  <a:rPr lang="zh-CN" altLang="zh-CN" sz="2400" b="1" kern="100" dirty="0">
                    <a:solidFill>
                      <a:schemeClr val="tx1"/>
                    </a:solidFill>
                    <a:cs typeface="Times New Roman" panose="02020603050405020304" pitchFamily="18" charset="0"/>
                  </a:rPr>
                  <a:t>表示由</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cs typeface="Times New Roman" panose="02020603050405020304" pitchFamily="18" charset="0"/>
                  </a:rPr>
                  <a:t>产生一个非连通图或平凡图，需要从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𝐆</m:t>
                    </m:r>
                  </m:oMath>
                </a14:m>
                <a:r>
                  <a:rPr lang="zh-CN" altLang="zh-CN" sz="2400" b="1" kern="100" dirty="0">
                    <a:solidFill>
                      <a:schemeClr val="tx1"/>
                    </a:solidFill>
                    <a:cs typeface="Times New Roman" panose="02020603050405020304" pitchFamily="18" charset="0"/>
                  </a:rPr>
                  <a:t>中</a:t>
                </a:r>
                <a:r>
                  <a:rPr lang="zh-CN" altLang="zh-CN" sz="2400" b="1" kern="100" dirty="0">
                    <a:solidFill>
                      <a:srgbClr val="0000FF"/>
                    </a:solidFill>
                    <a:cs typeface="Times New Roman" panose="02020603050405020304" pitchFamily="18" charset="0"/>
                  </a:rPr>
                  <a:t>删除的最少边数</a:t>
                </a:r>
                <a:r>
                  <a:rPr lang="zh-CN" altLang="zh-CN" sz="2400" b="1" kern="100" dirty="0">
                    <a:solidFill>
                      <a:schemeClr val="tx1"/>
                    </a:solidFill>
                    <a:cs typeface="Times New Roman" panose="02020603050405020304" pitchFamily="18" charset="0"/>
                  </a:rPr>
                  <a:t>。</a:t>
                </a:r>
                <a:endParaRPr lang="zh-CN" altLang="zh-CN" sz="2400" b="1" kern="100" dirty="0">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0CC4C02B-5A48-46FC-A700-D01080636282}"/>
                  </a:ext>
                </a:extLst>
              </p:cNvPr>
              <p:cNvSpPr>
                <a:spLocks noRot="1" noChangeAspect="1" noMove="1" noResize="1" noEditPoints="1" noAdjustHandles="1" noChangeArrowheads="1" noChangeShapeType="1" noTextEdit="1"/>
              </p:cNvSpPr>
              <p:nvPr/>
            </p:nvSpPr>
            <p:spPr>
              <a:xfrm>
                <a:off x="431540" y="4335367"/>
                <a:ext cx="8280920" cy="1889043"/>
              </a:xfrm>
              <a:prstGeom prst="rect">
                <a:avLst/>
              </a:prstGeom>
              <a:blipFill>
                <a:blip r:embed="rId5"/>
                <a:stretch>
                  <a:fillRect l="-221" t="-1290" r="-1105" b="-5484"/>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611560" y="2028658"/>
                <a:ext cx="8280920" cy="1127296"/>
              </a:xfrm>
              <a:prstGeom prst="rect">
                <a:avLst/>
              </a:prstGeom>
              <a:solidFill>
                <a:schemeClr val="accent5"/>
              </a:solidFill>
              <a:ln w="19050">
                <a:noFill/>
              </a:ln>
            </p:spPr>
            <p:txBody>
              <a:bodyPr wrap="square" rtlCol="0">
                <a:spAutoFit/>
              </a:bodyPr>
              <a:lstStyle/>
              <a:p>
                <a:pPr>
                  <a:lnSpc>
                    <a:spcPct val="150000"/>
                  </a:lnSpc>
                </a:pPr>
                <a:r>
                  <a:rPr lang="zh-CN" altLang="zh-CN" sz="2400" b="1" dirty="0">
                    <a:solidFill>
                      <a:schemeClr val="tx1"/>
                    </a:solidFill>
                  </a:rPr>
                  <a:t>对于图</a:t>
                </a:r>
                <a:r>
                  <a:rPr lang="zh-CN" altLang="en-US" sz="2400" b="1" dirty="0">
                    <a:solidFill>
                      <a:schemeClr val="tx1"/>
                    </a:solidFill>
                  </a:rPr>
                  <a:t>（</a:t>
                </a:r>
                <a:r>
                  <a:rPr lang="en-US" altLang="zh-CN" sz="2400" b="1" dirty="0">
                    <a:solidFill>
                      <a:schemeClr val="tx1"/>
                    </a:solidFill>
                  </a:rPr>
                  <a:t>a</a:t>
                </a:r>
                <a:r>
                  <a:rPr lang="zh-CN" altLang="en-US" sz="2400" b="1" dirty="0">
                    <a:solidFill>
                      <a:schemeClr val="tx1"/>
                    </a:solidFill>
                  </a:rPr>
                  <a:t>）</a:t>
                </a:r>
                <a:r>
                  <a:rPr lang="zh-CN" altLang="zh-CN" sz="2400" b="1" dirty="0">
                    <a:solidFill>
                      <a:schemeClr val="tx1"/>
                    </a:solidFill>
                  </a:rPr>
                  <a:t>所示无向连通图</a:t>
                </a:r>
                <a14:m>
                  <m:oMath xmlns:m="http://schemas.openxmlformats.org/officeDocument/2006/math">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，有</a:t>
                </a:r>
                <a:r>
                  <a:rPr lang="zh-CN" altLang="en-US" sz="2400" b="1" dirty="0">
                    <a:solidFill>
                      <a:schemeClr val="tx1"/>
                    </a:solidFill>
                  </a:rPr>
                  <a:t>：</a:t>
                </a:r>
                <a14:m>
                  <m:oMath xmlns:m="http://schemas.openxmlformats.org/officeDocument/2006/math">
                    <m:r>
                      <a:rPr lang="en-US" altLang="zh-CN" sz="2400" b="1" i="1">
                        <a:solidFill>
                          <a:schemeClr val="tx1"/>
                        </a:solidFill>
                        <a:latin typeface="Cambria Math" panose="02040503050406030204" pitchFamily="18" charset="0"/>
                      </a:rPr>
                      <m:t>𝜿</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oMath>
                </a14:m>
                <a:r>
                  <a:rPr lang="zh-CN" altLang="zh-CN" sz="2400" b="1" dirty="0">
                    <a:solidFill>
                      <a:schemeClr val="tx1"/>
                    </a:solidFill>
                  </a:rPr>
                  <a:t>，</a:t>
                </a:r>
                <a14:m>
                  <m:oMath xmlns:m="http://schemas.openxmlformats.org/officeDocument/2006/math">
                    <m:r>
                      <a:rPr lang="en-US" altLang="zh-CN" sz="2400" b="1" i="1">
                        <a:solidFill>
                          <a:schemeClr val="tx1"/>
                        </a:solidFill>
                        <a:latin typeface="Cambria Math" panose="02040503050406030204" pitchFamily="18" charset="0"/>
                      </a:rPr>
                      <m:t>𝝀</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𝟑</m:t>
                    </m:r>
                    <m:r>
                      <a:rPr lang="zh-CN" altLang="en-US" sz="2400" b="1" i="1">
                        <a:solidFill>
                          <a:schemeClr val="tx1"/>
                        </a:solidFill>
                        <a:latin typeface="Cambria Math" panose="02040503050406030204" pitchFamily="18" charset="0"/>
                      </a:rPr>
                      <m:t>；</m:t>
                    </m:r>
                  </m:oMath>
                </a14:m>
                <a:endParaRPr lang="en-US" altLang="zh-CN" sz="2400" b="1" dirty="0">
                  <a:solidFill>
                    <a:schemeClr val="tx1"/>
                  </a:solidFill>
                </a:endParaRPr>
              </a:p>
              <a:p>
                <a:pPr>
                  <a:lnSpc>
                    <a:spcPct val="150000"/>
                  </a:lnSpc>
                </a:pPr>
                <a:r>
                  <a:rPr lang="zh-CN" altLang="zh-CN" sz="2400" b="1" dirty="0">
                    <a:solidFill>
                      <a:schemeClr val="tx1"/>
                    </a:solidFill>
                  </a:rPr>
                  <a:t>对于图</a:t>
                </a:r>
                <a:r>
                  <a:rPr lang="zh-CN" altLang="en-US" sz="2400" b="1" dirty="0">
                    <a:solidFill>
                      <a:schemeClr val="tx1"/>
                    </a:solidFill>
                  </a:rPr>
                  <a:t>（</a:t>
                </a:r>
                <a:r>
                  <a:rPr lang="en-US" altLang="zh-CN" sz="2400" b="1" dirty="0">
                    <a:solidFill>
                      <a:schemeClr val="tx1"/>
                    </a:solidFill>
                  </a:rPr>
                  <a:t>b</a:t>
                </a:r>
                <a:r>
                  <a:rPr lang="zh-CN" altLang="en-US" sz="2400" b="1" dirty="0">
                    <a:solidFill>
                      <a:schemeClr val="tx1"/>
                    </a:solidFill>
                  </a:rPr>
                  <a:t>）</a:t>
                </a:r>
                <a:r>
                  <a:rPr lang="zh-CN" altLang="zh-CN" sz="2400" b="1" dirty="0">
                    <a:solidFill>
                      <a:schemeClr val="tx1"/>
                    </a:solidFill>
                  </a:rPr>
                  <a:t>所示彼得森图，有</a:t>
                </a:r>
                <a:r>
                  <a:rPr lang="zh-CN" altLang="en-US" sz="2400" b="1" dirty="0">
                    <a:solidFill>
                      <a:schemeClr val="tx1"/>
                    </a:solidFill>
                  </a:rPr>
                  <a:t>：</a:t>
                </a:r>
                <a14:m>
                  <m:oMath xmlns:m="http://schemas.openxmlformats.org/officeDocument/2006/math">
                    <m:r>
                      <a:rPr lang="en-US" altLang="zh-CN" sz="2400" b="1" i="1">
                        <a:solidFill>
                          <a:schemeClr val="tx1"/>
                        </a:solidFill>
                        <a:latin typeface="Cambria Math" panose="02040503050406030204" pitchFamily="18" charset="0"/>
                      </a:rPr>
                      <m:t>𝜿</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𝝀</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𝟑</m:t>
                    </m:r>
                  </m:oMath>
                </a14:m>
                <a:r>
                  <a:rPr lang="zh-CN" altLang="en-US" sz="2400" b="1" dirty="0">
                    <a:solidFill>
                      <a:schemeClr val="tx1"/>
                    </a:solidFill>
                  </a:rPr>
                  <a:t>。</a:t>
                </a:r>
                <a:endParaRPr lang="en-US" altLang="zh-CN" sz="2400" b="1" dirty="0">
                  <a:solidFill>
                    <a:schemeClr val="tx1"/>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611560" y="2028658"/>
                <a:ext cx="8280920" cy="1127296"/>
              </a:xfrm>
              <a:prstGeom prst="rect">
                <a:avLst/>
              </a:prstGeom>
              <a:blipFill>
                <a:blip r:embed="rId4"/>
                <a:stretch>
                  <a:fillRect l="-1104" b="-10270"/>
                </a:stretch>
              </a:blipFill>
              <a:ln w="19050">
                <a:noFill/>
              </a:ln>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92789AF0-2194-4EAC-932A-E180201E1EE8}"/>
              </a:ext>
            </a:extLst>
          </p:cNvPr>
          <p:cNvPicPr>
            <a:picLocks noChangeAspect="1"/>
          </p:cNvPicPr>
          <p:nvPr/>
        </p:nvPicPr>
        <p:blipFill>
          <a:blip r:embed="rId5"/>
          <a:stretch>
            <a:fillRect/>
          </a:stretch>
        </p:blipFill>
        <p:spPr>
          <a:xfrm>
            <a:off x="1103945" y="3356992"/>
            <a:ext cx="7296150" cy="2688055"/>
          </a:xfrm>
          <a:prstGeom prst="rect">
            <a:avLst/>
          </a:prstGeom>
        </p:spPr>
      </p:pic>
    </p:spTree>
    <p:extLst>
      <p:ext uri="{BB962C8B-B14F-4D97-AF65-F5344CB8AC3E}">
        <p14:creationId xmlns:p14="http://schemas.microsoft.com/office/powerpoint/2010/main" val="3982250226"/>
      </p:ext>
    </p:extLst>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概念理解要点</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684213" y="2173742"/>
                <a:ext cx="7831298" cy="3724096"/>
              </a:xfrm>
              <a:prstGeom prst="rect">
                <a:avLst/>
              </a:prstGeom>
              <a:solidFill>
                <a:schemeClr val="accent5"/>
              </a:solidFill>
              <a:ln w="19050">
                <a:noFill/>
              </a:ln>
            </p:spPr>
            <p:txBody>
              <a:bodyPr wrap="square" rtlCol="0">
                <a:spAutoFit/>
              </a:bodyPr>
              <a:lstStyle/>
              <a:p>
                <a:pPr>
                  <a:spcAft>
                    <a:spcPts val="1200"/>
                  </a:spcAft>
                </a:pPr>
                <a:r>
                  <a:rPr lang="zh-CN" altLang="zh-CN" sz="2400" b="1" dirty="0">
                    <a:solidFill>
                      <a:schemeClr val="tx1"/>
                    </a:solidFill>
                  </a:rPr>
                  <a:t>（</a:t>
                </a:r>
                <a:r>
                  <a:rPr lang="en-US" altLang="zh-CN" sz="2400" b="1" dirty="0">
                    <a:solidFill>
                      <a:schemeClr val="tx1"/>
                    </a:solidFill>
                  </a:rPr>
                  <a:t>1</a:t>
                </a:r>
                <a:r>
                  <a:rPr lang="zh-CN" altLang="zh-CN" sz="2400" b="1" dirty="0">
                    <a:solidFill>
                      <a:schemeClr val="tx1"/>
                    </a:solidFill>
                  </a:rPr>
                  <a:t>）如果</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m:rPr>
                        <m:nor/>
                      </m:rPr>
                      <a:rPr lang="zh-CN" altLang="en-US" sz="2400" b="1" dirty="0">
                        <a:solidFill>
                          <a:schemeClr val="tx1"/>
                        </a:solidFill>
                      </a:rPr>
                      <m:t>为</m:t>
                    </m:r>
                    <m:r>
                      <m:rPr>
                        <m:nor/>
                      </m:rPr>
                      <a:rPr lang="zh-CN" altLang="en-US" sz="2400" b="1" dirty="0" smtClean="0">
                        <a:solidFill>
                          <a:srgbClr val="0000FF"/>
                        </a:solidFill>
                      </a:rPr>
                      <m:t>平凡图或非</m:t>
                    </m:r>
                  </m:oMath>
                </a14:m>
                <a:r>
                  <a:rPr lang="zh-CN" altLang="zh-CN" sz="2400" b="1" dirty="0">
                    <a:solidFill>
                      <a:srgbClr val="0000FF"/>
                    </a:solidFill>
                  </a:rPr>
                  <a:t>连通图</a:t>
                </a:r>
                <a:r>
                  <a:rPr lang="zh-CN" altLang="zh-CN" sz="2400" b="1" dirty="0">
                    <a:solidFill>
                      <a:schemeClr val="tx1"/>
                    </a:solidFill>
                  </a:rPr>
                  <a:t>，则</a:t>
                </a:r>
                <a:r>
                  <a:rPr lang="zh-CN" altLang="en-US" sz="2400" b="1" dirty="0">
                    <a:solidFill>
                      <a:schemeClr val="tx1"/>
                    </a:solidFill>
                  </a:rPr>
                  <a:t>规定：</a:t>
                </a:r>
                <a:endParaRPr lang="en-US" altLang="zh-CN" sz="2400" b="1" dirty="0">
                  <a:solidFill>
                    <a:schemeClr val="tx1"/>
                  </a:solidFill>
                </a:endParaRPr>
              </a:p>
              <a:p>
                <a:pPr algn="ctr">
                  <a:spcBef>
                    <a:spcPts val="1200"/>
                  </a:spcBef>
                </a:pPr>
                <a14:m>
                  <m:oMathPara xmlns:m="http://schemas.openxmlformats.org/officeDocument/2006/math">
                    <m:oMathParaPr>
                      <m:jc m:val="centerGroup"/>
                    </m:oMathParaPr>
                    <m:oMath xmlns:m="http://schemas.openxmlformats.org/officeDocument/2006/math">
                      <m:r>
                        <a:rPr lang="zh-CN" altLang="zh-CN" sz="2400" b="1" smtClean="0">
                          <a:solidFill>
                            <a:srgbClr val="0000FF"/>
                          </a:solidFill>
                          <a:latin typeface="Cambria Math" panose="02040503050406030204" pitchFamily="18" charset="0"/>
                        </a:rPr>
                        <m:t> </m:t>
                      </m:r>
                      <m:r>
                        <a:rPr lang="en-US" altLang="zh-CN" sz="2400" b="1" i="1">
                          <a:solidFill>
                            <a:srgbClr val="0000FF"/>
                          </a:solidFill>
                          <a:latin typeface="Cambria Math" panose="02040503050406030204" pitchFamily="18" charset="0"/>
                        </a:rPr>
                        <m:t>𝜿</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𝑮</m:t>
                          </m:r>
                        </m:e>
                      </m:d>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𝝀</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𝑮</m:t>
                          </m:r>
                        </m:e>
                      </m:d>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𝟎</m:t>
                      </m:r>
                    </m:oMath>
                  </m:oMathPara>
                </a14:m>
                <a:endParaRPr lang="en-US" altLang="zh-CN" sz="2400" b="1" dirty="0">
                  <a:solidFill>
                    <a:srgbClr val="0000FF"/>
                  </a:solidFill>
                </a:endParaRPr>
              </a:p>
              <a:p>
                <a:pPr algn="ctr"/>
                <a:r>
                  <a:rPr lang="zh-CN" altLang="zh-CN" sz="2400" b="1" dirty="0">
                    <a:solidFill>
                      <a:schemeClr val="tx1"/>
                    </a:solidFill>
                  </a:rPr>
                  <a:t> </a:t>
                </a:r>
              </a:p>
              <a:p>
                <a:pPr>
                  <a:spcAft>
                    <a:spcPts val="1200"/>
                  </a:spcAft>
                </a:pPr>
                <a:r>
                  <a:rPr lang="zh-CN" altLang="zh-CN" sz="2400" b="1" dirty="0">
                    <a:solidFill>
                      <a:schemeClr val="tx1"/>
                    </a:solidFill>
                  </a:rPr>
                  <a:t>（</a:t>
                </a:r>
                <a:r>
                  <a:rPr lang="en-US" altLang="zh-CN" sz="2400" b="1" dirty="0">
                    <a:solidFill>
                      <a:schemeClr val="tx1"/>
                    </a:solidFill>
                  </a:rPr>
                  <a:t>2</a:t>
                </a:r>
                <a:r>
                  <a:rPr lang="zh-CN" altLang="zh-CN" sz="2400" b="1" dirty="0">
                    <a:solidFill>
                      <a:schemeClr val="tx1"/>
                    </a:solidFill>
                  </a:rPr>
                  <a:t>）如果</a:t>
                </a:r>
                <a14:m>
                  <m:oMath xmlns:m="http://schemas.openxmlformats.org/officeDocument/2006/math">
                    <m:r>
                      <a:rPr lang="en-US" altLang="zh-CN" sz="2400" b="1" i="1">
                        <a:solidFill>
                          <a:schemeClr val="tx1"/>
                        </a:solidFill>
                        <a:latin typeface="Cambria Math" panose="02040503050406030204" pitchFamily="18" charset="0"/>
                      </a:rPr>
                      <m:t>𝑮</m:t>
                    </m:r>
                    <m:r>
                      <a:rPr lang="en-US" altLang="zh-CN" sz="2400" b="1">
                        <a:solidFill>
                          <a:schemeClr val="tx1"/>
                        </a:solidFill>
                        <a:latin typeface="Cambria Math" panose="02040503050406030204" pitchFamily="18" charset="0"/>
                      </a:rPr>
                      <m:t> </m:t>
                    </m:r>
                    <m:r>
                      <a:rPr lang="zh-CN" altLang="zh-CN" sz="2400" b="1">
                        <a:solidFill>
                          <a:schemeClr val="tx1"/>
                        </a:solidFill>
                        <a:latin typeface="Cambria Math" panose="02040503050406030204" pitchFamily="18" charset="0"/>
                      </a:rPr>
                      <m:t>是</m:t>
                    </m:r>
                  </m:oMath>
                </a14:m>
                <a:r>
                  <a:rPr lang="zh-CN" altLang="zh-CN" sz="2400" b="1" dirty="0">
                    <a:solidFill>
                      <a:srgbClr val="0000FF"/>
                    </a:solidFill>
                  </a:rPr>
                  <a:t>完全图</a:t>
                </a:r>
                <a14:m>
                  <m:oMath xmlns:m="http://schemas.openxmlformats.org/officeDocument/2006/math">
                    <m:r>
                      <a:rPr lang="zh-CN" altLang="zh-CN" sz="2400" b="1">
                        <a:solidFill>
                          <a:srgbClr val="0000FF"/>
                        </a:solidFill>
                        <a:latin typeface="Cambria Math" panose="02040503050406030204" pitchFamily="18" charset="0"/>
                      </a:rPr>
                      <m:t> </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𝑲</m:t>
                        </m:r>
                      </m:e>
                      <m:sub>
                        <m:r>
                          <a:rPr lang="en-US" altLang="zh-CN" sz="2400" b="1" i="1">
                            <a:solidFill>
                              <a:srgbClr val="0000FF"/>
                            </a:solidFill>
                            <a:latin typeface="Cambria Math" panose="02040503050406030204" pitchFamily="18" charset="0"/>
                          </a:rPr>
                          <m:t>𝒏</m:t>
                        </m:r>
                      </m:sub>
                    </m:sSub>
                    <m:r>
                      <a:rPr lang="en-US" altLang="zh-CN" sz="2400" b="1" i="1">
                        <a:solidFill>
                          <a:srgbClr val="0000FF"/>
                        </a:solidFill>
                        <a:latin typeface="Cambria Math" panose="02040503050406030204" pitchFamily="18" charset="0"/>
                      </a:rPr>
                      <m:t> </m:t>
                    </m:r>
                  </m:oMath>
                </a14:m>
                <a:r>
                  <a:rPr lang="zh-CN" altLang="zh-CN" sz="2400" b="1" dirty="0">
                    <a:solidFill>
                      <a:schemeClr val="tx1"/>
                    </a:solidFill>
                  </a:rPr>
                  <a:t>，由于</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中无点割集，当删除</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oMath>
                </a14:m>
                <a:r>
                  <a:rPr lang="zh-CN" altLang="zh-CN" sz="2400" b="1" dirty="0">
                    <a:solidFill>
                      <a:schemeClr val="tx1"/>
                    </a:solidFill>
                  </a:rPr>
                  <a:t>个</a:t>
                </a:r>
                <a:r>
                  <a:rPr lang="zh-CN" altLang="en-US" sz="2400" b="1" dirty="0">
                    <a:solidFill>
                      <a:schemeClr val="tx1"/>
                    </a:solidFill>
                  </a:rPr>
                  <a:t>结</a:t>
                </a:r>
                <a:r>
                  <a:rPr lang="zh-CN" altLang="zh-CN" sz="2400" b="1" dirty="0">
                    <a:solidFill>
                      <a:schemeClr val="tx1"/>
                    </a:solidFill>
                  </a:rPr>
                  <a:t>点后，</a:t>
                </a:r>
                <a14:m>
                  <m:oMath xmlns:m="http://schemas.openxmlformats.org/officeDocument/2006/math">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为平凡图，故</a:t>
                </a:r>
                <a:r>
                  <a:rPr lang="zh-CN" altLang="en-US" sz="2400" b="1" dirty="0">
                    <a:solidFill>
                      <a:schemeClr val="tx1"/>
                    </a:solidFill>
                  </a:rPr>
                  <a:t>有：</a:t>
                </a:r>
                <a:endParaRPr lang="en-US" altLang="zh-CN" sz="2400" b="1" dirty="0">
                  <a:solidFill>
                    <a:schemeClr val="tx1"/>
                  </a:solidFill>
                </a:endParaRPr>
              </a:p>
              <a:p>
                <a:pPr algn="ctr"/>
                <a14:m>
                  <m:oMathPara xmlns:m="http://schemas.openxmlformats.org/officeDocument/2006/math">
                    <m:oMathParaPr>
                      <m:jc m:val="centerGroup"/>
                    </m:oMathParaPr>
                    <m:oMath xmlns:m="http://schemas.openxmlformats.org/officeDocument/2006/math">
                      <m:r>
                        <a:rPr lang="zh-CN" altLang="zh-CN" sz="2400" b="1" smtClean="0">
                          <a:solidFill>
                            <a:srgbClr val="0000FF"/>
                          </a:solidFill>
                          <a:latin typeface="Cambria Math" panose="02040503050406030204" pitchFamily="18" charset="0"/>
                        </a:rPr>
                        <m:t> </m:t>
                      </m:r>
                      <m:r>
                        <a:rPr lang="en-US" altLang="zh-CN" sz="2400" b="1" i="1">
                          <a:solidFill>
                            <a:srgbClr val="0000FF"/>
                          </a:solidFill>
                          <a:latin typeface="Cambria Math" panose="02040503050406030204" pitchFamily="18" charset="0"/>
                        </a:rPr>
                        <m:t>𝜿</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𝑮</m:t>
                          </m:r>
                        </m:e>
                      </m:d>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𝒏</m:t>
                      </m:r>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oMath>
                  </m:oMathPara>
                </a14:m>
                <a:endParaRPr lang="en-US" altLang="zh-CN" sz="2400" b="1" dirty="0">
                  <a:solidFill>
                    <a:srgbClr val="0000FF"/>
                  </a:solidFill>
                </a:endParaRPr>
              </a:p>
              <a:p>
                <a:pPr algn="ctr"/>
                <a:endParaRPr lang="zh-CN" altLang="zh-CN" sz="2400" b="1" dirty="0">
                  <a:solidFill>
                    <a:schemeClr val="tx1"/>
                  </a:solidFill>
                </a:endParaRPr>
              </a:p>
              <a:p>
                <a:r>
                  <a:rPr lang="zh-CN" altLang="zh-CN" sz="2400" b="1" dirty="0">
                    <a:solidFill>
                      <a:schemeClr val="tx1"/>
                    </a:solidFill>
                  </a:rPr>
                  <a:t>（</a:t>
                </a:r>
                <a:r>
                  <a:rPr lang="en-US" altLang="zh-CN" sz="2400" b="1" dirty="0">
                    <a:solidFill>
                      <a:schemeClr val="tx1"/>
                    </a:solidFill>
                  </a:rPr>
                  <a:t>3</a:t>
                </a:r>
                <a:r>
                  <a:rPr lang="zh-CN" altLang="zh-CN" sz="2400" b="1" dirty="0">
                    <a:solidFill>
                      <a:schemeClr val="tx1"/>
                    </a:solidFill>
                  </a:rPr>
                  <a:t>）如果</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中存在割点，则</a:t>
                </a:r>
                <a:r>
                  <a:rPr lang="zh-CN" altLang="en-US" sz="2400" b="1" dirty="0">
                    <a:solidFill>
                      <a:schemeClr val="tx1"/>
                    </a:solidFill>
                  </a:rPr>
                  <a:t>有</a:t>
                </a:r>
                <a14:m>
                  <m:oMath xmlns:m="http://schemas.openxmlformats.org/officeDocument/2006/math">
                    <m:r>
                      <a:rPr lang="zh-CN" altLang="en-US" sz="2400" b="1" i="1" dirty="0">
                        <a:solidFill>
                          <a:schemeClr val="tx1"/>
                        </a:solidFill>
                        <a:latin typeface="Cambria Math" panose="02040503050406030204" pitchFamily="18" charset="0"/>
                      </a:rPr>
                      <m:t>：</m:t>
                    </m:r>
                    <m:r>
                      <a:rPr lang="zh-CN" altLang="zh-CN" sz="2400" b="1">
                        <a:solidFill>
                          <a:schemeClr val="tx1"/>
                        </a:solidFill>
                        <a:latin typeface="Cambria Math" panose="02040503050406030204" pitchFamily="18" charset="0"/>
                      </a:rPr>
                      <m:t> </m:t>
                    </m:r>
                    <m:r>
                      <a:rPr lang="en-US" altLang="zh-CN" sz="2400" b="1" i="1" smtClean="0">
                        <a:solidFill>
                          <a:srgbClr val="0000FF"/>
                        </a:solidFill>
                        <a:latin typeface="Cambria Math" panose="02040503050406030204" pitchFamily="18" charset="0"/>
                      </a:rPr>
                      <m:t>𝜿</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𝑮</m:t>
                        </m:r>
                      </m:e>
                    </m:d>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oMath>
                </a14:m>
                <a:r>
                  <a:rPr lang="zh-CN" altLang="zh-CN" sz="2400" b="1" dirty="0">
                    <a:solidFill>
                      <a:schemeClr val="tx1"/>
                    </a:solidFill>
                  </a:rPr>
                  <a:t>；</a:t>
                </a:r>
                <a:endParaRPr lang="en-US" altLang="zh-CN" sz="2400" b="1" dirty="0">
                  <a:solidFill>
                    <a:schemeClr val="tx1"/>
                  </a:solidFill>
                </a:endParaRPr>
              </a:p>
              <a:p>
                <a:r>
                  <a:rPr lang="en-US" altLang="zh-CN" sz="2400" b="1" dirty="0">
                    <a:solidFill>
                      <a:schemeClr val="tx1"/>
                    </a:solidFill>
                  </a:rPr>
                  <a:t>     </a:t>
                </a:r>
                <a:r>
                  <a:rPr lang="zh-CN" altLang="zh-CN" sz="2400" b="1" dirty="0">
                    <a:solidFill>
                      <a:schemeClr val="tx1"/>
                    </a:solidFill>
                  </a:rPr>
                  <a:t>如果</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中存在割边，则</a:t>
                </a:r>
                <a:r>
                  <a:rPr lang="zh-CN" altLang="en-US" sz="2400" b="1" dirty="0">
                    <a:solidFill>
                      <a:schemeClr val="tx1"/>
                    </a:solidFill>
                  </a:rPr>
                  <a:t>有</a:t>
                </a:r>
                <a14:m>
                  <m:oMath xmlns:m="http://schemas.openxmlformats.org/officeDocument/2006/math">
                    <m:r>
                      <a:rPr lang="zh-CN" altLang="en-US" sz="2400" b="1" i="1" dirty="0">
                        <a:solidFill>
                          <a:schemeClr val="tx1"/>
                        </a:solidFill>
                        <a:latin typeface="Cambria Math" panose="02040503050406030204" pitchFamily="18" charset="0"/>
                      </a:rPr>
                      <m:t>：</m:t>
                    </m:r>
                    <m:r>
                      <a:rPr lang="zh-CN" altLang="zh-CN" sz="2400" b="1">
                        <a:solidFill>
                          <a:schemeClr val="tx1"/>
                        </a:solidFill>
                        <a:latin typeface="Cambria Math" panose="02040503050406030204" pitchFamily="18" charset="0"/>
                      </a:rPr>
                      <m:t> </m:t>
                    </m:r>
                    <m:r>
                      <a:rPr lang="en-US" altLang="zh-CN" sz="2400" b="1" i="1" smtClean="0">
                        <a:solidFill>
                          <a:srgbClr val="0000FF"/>
                        </a:solidFill>
                        <a:latin typeface="Cambria Math" panose="02040503050406030204" pitchFamily="18" charset="0"/>
                      </a:rPr>
                      <m:t>𝝀</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𝑮</m:t>
                        </m:r>
                      </m:e>
                    </m:d>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oMath>
                </a14:m>
                <a:r>
                  <a:rPr lang="zh-CN" altLang="zh-CN" sz="2400" b="1" dirty="0">
                    <a:solidFill>
                      <a:schemeClr val="tx1"/>
                    </a:solidFill>
                  </a:rPr>
                  <a:t>。</a:t>
                </a:r>
                <a:endParaRPr lang="en-US" altLang="zh-CN" sz="2400" dirty="0">
                  <a:solidFill>
                    <a:srgbClr val="800080"/>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684213" y="2173742"/>
                <a:ext cx="7831298" cy="3724096"/>
              </a:xfrm>
              <a:prstGeom prst="rect">
                <a:avLst/>
              </a:prstGeom>
              <a:blipFill>
                <a:blip r:embed="rId4"/>
                <a:stretch>
                  <a:fillRect l="-1167" t="-1803" b="-2459"/>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1007813775"/>
      </p:ext>
    </p:extLst>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FAF4BFAA-C02F-44E8-A9EC-883D3FEF7C98}"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285191" name="Rectangle 71"/>
          <p:cNvSpPr>
            <a:spLocks noChangeArrowheads="1"/>
          </p:cNvSpPr>
          <p:nvPr/>
        </p:nvSpPr>
        <p:spPr bwMode="auto">
          <a:xfrm>
            <a:off x="1475656" y="1988840"/>
            <a:ext cx="6410622" cy="1135054"/>
          </a:xfrm>
          <a:prstGeom prst="rect">
            <a:avLst/>
          </a:prstGeom>
          <a:solidFill>
            <a:schemeClr val="accent5"/>
          </a:solidFill>
          <a:ln>
            <a:noFill/>
          </a:ln>
          <a:effectLst/>
        </p:spPr>
        <p:txBody>
          <a:bodyPr wrap="square">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buClr>
                <a:srgbClr val="FF3300"/>
              </a:buClr>
              <a:buFont typeface="Wingdings" panose="05000000000000000000" pitchFamily="2" charset="2"/>
              <a:buNone/>
              <a:defRPr/>
            </a:pPr>
            <a:r>
              <a:rPr lang="en-US" altLang="zh-CN" sz="2400" b="1" i="1" dirty="0">
                <a:solidFill>
                  <a:srgbClr val="000000"/>
                </a:solidFill>
                <a:latin typeface="+mj-lt"/>
                <a:ea typeface="楷体_GB2312" pitchFamily="49" charset="-122"/>
              </a:rPr>
              <a:t>G</a:t>
            </a:r>
            <a:r>
              <a:rPr lang="en-US" altLang="zh-CN" sz="2400" b="1" baseline="-25000" dirty="0">
                <a:solidFill>
                  <a:srgbClr val="000000"/>
                </a:solidFill>
                <a:latin typeface="+mj-lt"/>
                <a:ea typeface="楷体_GB2312" pitchFamily="49" charset="-122"/>
              </a:rPr>
              <a:t>1</a:t>
            </a:r>
            <a:r>
              <a:rPr lang="zh-CN" altLang="en-US" sz="2400" b="1" dirty="0">
                <a:solidFill>
                  <a:srgbClr val="000000"/>
                </a:solidFill>
                <a:latin typeface="+mj-lt"/>
                <a:ea typeface="楷体_GB2312" pitchFamily="49" charset="-122"/>
              </a:rPr>
              <a:t>的点连通度为</a:t>
            </a:r>
            <a:r>
              <a:rPr lang="en-US" altLang="zh-CN" sz="2400" b="1" dirty="0">
                <a:solidFill>
                  <a:srgbClr val="000000"/>
                </a:solidFill>
                <a:latin typeface="+mj-lt"/>
                <a:ea typeface="楷体_GB2312" pitchFamily="49" charset="-122"/>
              </a:rPr>
              <a:t>1</a:t>
            </a:r>
            <a:r>
              <a:rPr lang="zh-CN" altLang="en-US" sz="2400" b="1" dirty="0">
                <a:solidFill>
                  <a:srgbClr val="000000"/>
                </a:solidFill>
                <a:latin typeface="+mj-lt"/>
                <a:ea typeface="楷体_GB2312" pitchFamily="49" charset="-122"/>
              </a:rPr>
              <a:t>，边连通度为</a:t>
            </a:r>
            <a:r>
              <a:rPr lang="en-US" altLang="zh-CN" sz="2400" b="1" dirty="0">
                <a:solidFill>
                  <a:srgbClr val="000000"/>
                </a:solidFill>
                <a:latin typeface="+mj-lt"/>
                <a:ea typeface="楷体_GB2312" pitchFamily="49" charset="-122"/>
              </a:rPr>
              <a:t>1</a:t>
            </a:r>
            <a:r>
              <a:rPr lang="zh-CN" altLang="en-US" sz="2400" b="1" dirty="0">
                <a:solidFill>
                  <a:srgbClr val="000000"/>
                </a:solidFill>
                <a:latin typeface="+mj-lt"/>
                <a:ea typeface="楷体_GB2312" pitchFamily="49" charset="-122"/>
              </a:rPr>
              <a:t>。</a:t>
            </a:r>
          </a:p>
          <a:p>
            <a:pPr algn="just" eaLnBrk="1" hangingPunct="1">
              <a:lnSpc>
                <a:spcPct val="150000"/>
              </a:lnSpc>
              <a:buClr>
                <a:srgbClr val="FF3300"/>
              </a:buClr>
              <a:buFont typeface="Wingdings" panose="05000000000000000000" pitchFamily="2" charset="2"/>
              <a:buNone/>
              <a:defRPr/>
            </a:pPr>
            <a:r>
              <a:rPr lang="en-US" altLang="zh-CN" sz="2400" b="1" i="1" dirty="0">
                <a:solidFill>
                  <a:srgbClr val="0000FF"/>
                </a:solidFill>
                <a:latin typeface="+mj-lt"/>
                <a:ea typeface="楷体_GB2312" pitchFamily="49" charset="-122"/>
              </a:rPr>
              <a:t>G</a:t>
            </a:r>
            <a:r>
              <a:rPr lang="en-US" altLang="zh-CN" sz="2400" b="1" baseline="-25000" dirty="0">
                <a:solidFill>
                  <a:srgbClr val="0000FF"/>
                </a:solidFill>
                <a:latin typeface="+mj-lt"/>
              </a:rPr>
              <a:t>2</a:t>
            </a:r>
            <a:r>
              <a:rPr lang="zh-CN" altLang="en-US" sz="2400" b="1" dirty="0">
                <a:solidFill>
                  <a:srgbClr val="0000FF"/>
                </a:solidFill>
                <a:latin typeface="+mj-lt"/>
                <a:ea typeface="楷体_GB2312" pitchFamily="49" charset="-122"/>
              </a:rPr>
              <a:t>，</a:t>
            </a:r>
            <a:r>
              <a:rPr lang="en-US" altLang="zh-CN" sz="2400" b="1" i="1" dirty="0">
                <a:solidFill>
                  <a:srgbClr val="0000FF"/>
                </a:solidFill>
                <a:latin typeface="+mj-lt"/>
                <a:ea typeface="楷体_GB2312" pitchFamily="49" charset="-122"/>
              </a:rPr>
              <a:t>G</a:t>
            </a:r>
            <a:r>
              <a:rPr lang="en-US" altLang="zh-CN" sz="2400" b="1" baseline="-25000" dirty="0">
                <a:solidFill>
                  <a:srgbClr val="0000FF"/>
                </a:solidFill>
                <a:latin typeface="+mj-lt"/>
              </a:rPr>
              <a:t>3</a:t>
            </a:r>
            <a:r>
              <a:rPr lang="zh-CN" altLang="en-US" sz="2400" b="1" dirty="0">
                <a:solidFill>
                  <a:srgbClr val="0000FF"/>
                </a:solidFill>
                <a:latin typeface="+mj-lt"/>
                <a:ea typeface="楷体_GB2312" pitchFamily="49" charset="-122"/>
              </a:rPr>
              <a:t>的点连通度，边连通度各是多少？</a:t>
            </a:r>
            <a:endParaRPr lang="en-US" altLang="zh-CN" sz="2400" b="1" dirty="0">
              <a:solidFill>
                <a:srgbClr val="0000FF"/>
              </a:solidFill>
              <a:latin typeface="+mj-lt"/>
              <a:ea typeface="楷体_GB2312" pitchFamily="49" charset="-122"/>
            </a:endParaRPr>
          </a:p>
        </p:txBody>
      </p:sp>
      <p:sp>
        <p:nvSpPr>
          <p:cNvPr id="178180" name="Text Box 2"/>
          <p:cNvSpPr txBox="1">
            <a:spLocks noChangeArrowheads="1"/>
          </p:cNvSpPr>
          <p:nvPr/>
        </p:nvSpPr>
        <p:spPr bwMode="auto">
          <a:xfrm>
            <a:off x="1403350" y="804863"/>
            <a:ext cx="6337300"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例  题</a:t>
            </a:r>
            <a:endParaRPr lang="en-US" altLang="zh-CN" sz="4800" b="1">
              <a:solidFill>
                <a:schemeClr val="bg1"/>
              </a:solidFill>
              <a:latin typeface="宋体" panose="02010600030101010101" pitchFamily="2" charset="-122"/>
              <a:ea typeface="宋体" panose="02010600030101010101" pitchFamily="2" charset="-122"/>
            </a:endParaRPr>
          </a:p>
        </p:txBody>
      </p:sp>
      <p:pic>
        <p:nvPicPr>
          <p:cNvPr id="17818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1D513AFB-AEED-40C0-B26B-502B6241643E}"/>
              </a:ext>
            </a:extLst>
          </p:cNvPr>
          <p:cNvPicPr>
            <a:picLocks noChangeAspect="1"/>
          </p:cNvPicPr>
          <p:nvPr/>
        </p:nvPicPr>
        <p:blipFill>
          <a:blip r:embed="rId4"/>
          <a:stretch>
            <a:fillRect/>
          </a:stretch>
        </p:blipFill>
        <p:spPr>
          <a:xfrm>
            <a:off x="284581" y="3559694"/>
            <a:ext cx="8574838" cy="2399112"/>
          </a:xfrm>
          <a:prstGeom prst="rect">
            <a:avLst/>
          </a:prstGeom>
        </p:spPr>
      </p:pic>
    </p:spTree>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3609F1F1-435E-4DB0-AFC1-311E3BD6473B}"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77155" name="Text Box 2"/>
          <p:cNvSpPr txBox="1">
            <a:spLocks noChangeArrowheads="1"/>
          </p:cNvSpPr>
          <p:nvPr/>
        </p:nvSpPr>
        <p:spPr bwMode="auto">
          <a:xfrm>
            <a:off x="1403350" y="804863"/>
            <a:ext cx="6337300"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连通度的度量</a:t>
            </a:r>
            <a:endParaRPr lang="en-US" altLang="zh-CN" sz="4800" b="1" dirty="0">
              <a:solidFill>
                <a:schemeClr val="bg1"/>
              </a:solidFill>
              <a:latin typeface="宋体" panose="02010600030101010101" pitchFamily="2" charset="-122"/>
              <a:ea typeface="宋体" panose="02010600030101010101" pitchFamily="2" charset="-122"/>
            </a:endParaRPr>
          </a:p>
        </p:txBody>
      </p:sp>
      <p:pic>
        <p:nvPicPr>
          <p:cNvPr id="17715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684213" y="1941259"/>
                <a:ext cx="8064896" cy="1200329"/>
              </a:xfrm>
              <a:prstGeom prst="rect">
                <a:avLst/>
              </a:prstGeom>
              <a:solidFill>
                <a:schemeClr val="accent5"/>
              </a:solidFill>
              <a:ln w="19050">
                <a:noFill/>
              </a:ln>
            </p:spPr>
            <p:txBody>
              <a:bodyPr wrap="square" rtlCol="0">
                <a:spAutoFit/>
              </a:bodyPr>
              <a:lstStyle/>
              <a:p>
                <a:pPr>
                  <a:lnSpc>
                    <a:spcPct val="150000"/>
                  </a:lnSpc>
                </a:pPr>
                <a:r>
                  <a:rPr lang="en-US" altLang="zh-CN" sz="2400" b="1" dirty="0"/>
                  <a:t>  </a:t>
                </a:r>
                <a:r>
                  <a:rPr lang="zh-CN" altLang="zh-CN" sz="2400" b="1" dirty="0"/>
                  <a:t>【定</a:t>
                </a:r>
                <a:r>
                  <a:rPr lang="zh-CN" altLang="en-US" sz="2400" b="1" dirty="0"/>
                  <a:t>理</a:t>
                </a:r>
                <a:r>
                  <a:rPr lang="zh-CN" altLang="zh-CN" sz="2400" b="1" dirty="0"/>
                  <a:t>】</a:t>
                </a:r>
                <a:r>
                  <a:rPr lang="zh-CN" altLang="zh-CN" sz="2400" b="1" dirty="0">
                    <a:solidFill>
                      <a:schemeClr val="tx1"/>
                    </a:solidFill>
                  </a:rPr>
                  <a:t>对于</a:t>
                </a:r>
                <a:r>
                  <a:rPr lang="zh-CN" altLang="en-US" sz="2400" b="1" dirty="0">
                    <a:solidFill>
                      <a:schemeClr val="tx1"/>
                    </a:solidFill>
                  </a:rPr>
                  <a:t>任意</a:t>
                </a:r>
                <a:r>
                  <a:rPr lang="zh-CN" altLang="zh-CN" sz="2400" b="1" dirty="0">
                    <a:solidFill>
                      <a:schemeClr val="tx1"/>
                    </a:solidFill>
                  </a:rPr>
                  <a:t>无向图</a:t>
                </a:r>
                <a14:m>
                  <m:oMath xmlns:m="http://schemas.openxmlformats.org/officeDocument/2006/math">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𝑽</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𝑬</m:t>
                        </m:r>
                      </m:e>
                    </m:d>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，成立下列不等式：</a:t>
                </a:r>
              </a:p>
              <a:p>
                <a:pPr>
                  <a:lnSpc>
                    <a:spcPct val="1500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rPr>
                        <m:t>𝜿</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𝝀</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𝛅</m:t>
                      </m:r>
                      <m:r>
                        <a:rPr lang="en-US"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m:t>
                      </m:r>
                    </m:oMath>
                  </m:oMathPara>
                </a14:m>
                <a:endParaRPr lang="zh-CN" altLang="zh-CN" sz="2400" b="1" dirty="0">
                  <a:solidFill>
                    <a:schemeClr val="tx1"/>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684213" y="1941259"/>
                <a:ext cx="8064896" cy="1200329"/>
              </a:xfrm>
              <a:prstGeom prst="rect">
                <a:avLst/>
              </a:prstGeom>
              <a:blipFill>
                <a:blip r:embed="rId4"/>
                <a:stretch>
                  <a:fillRect r="-529"/>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539552" y="3429000"/>
                <a:ext cx="8316279" cy="2812373"/>
              </a:xfrm>
              <a:prstGeom prst="rect">
                <a:avLst/>
              </a:prstGeom>
              <a:solidFill>
                <a:schemeClr val="accent3">
                  <a:lumMod val="85000"/>
                </a:schemeClr>
              </a:solidFill>
            </p:spPr>
            <p:txBody>
              <a:bodyPr wrap="square" rtlCol="0">
                <a:spAutoFit/>
              </a:bodyPr>
              <a:lstStyle/>
              <a:p>
                <a:pPr>
                  <a:lnSpc>
                    <a:spcPts val="3600"/>
                  </a:lnSpc>
                </a:pPr>
                <a:r>
                  <a:rPr lang="en-US" altLang="zh-CN" sz="2400" dirty="0">
                    <a:solidFill>
                      <a:schemeClr val="accent2"/>
                    </a:solidFill>
                  </a:rPr>
                  <a:t>   </a:t>
                </a:r>
                <a:r>
                  <a:rPr lang="en-US" altLang="zh-CN" sz="2400" b="1" dirty="0">
                    <a:solidFill>
                      <a:schemeClr val="accent2"/>
                    </a:solidFill>
                  </a:rPr>
                  <a:t>【</a:t>
                </a:r>
                <a:r>
                  <a:rPr lang="zh-CN" altLang="en-US" sz="2400" b="1" dirty="0">
                    <a:solidFill>
                      <a:schemeClr val="accent2"/>
                    </a:solidFill>
                  </a:rPr>
                  <a:t>证明</a:t>
                </a:r>
                <a:r>
                  <a:rPr lang="en-US" altLang="zh-CN" sz="2400" b="1" dirty="0">
                    <a:solidFill>
                      <a:schemeClr val="accent2"/>
                    </a:solidFill>
                  </a:rPr>
                  <a:t>】</a:t>
                </a:r>
                <a:r>
                  <a:rPr lang="zh-CN" altLang="zh-CN" sz="2400" b="1" dirty="0">
                    <a:solidFill>
                      <a:schemeClr val="tx1"/>
                    </a:solidFill>
                  </a:rPr>
                  <a:t>（</a:t>
                </a:r>
                <a:r>
                  <a:rPr lang="en-US" altLang="zh-CN" sz="2400" b="1" dirty="0">
                    <a:solidFill>
                      <a:schemeClr val="tx1"/>
                    </a:solidFill>
                  </a:rPr>
                  <a:t>1</a:t>
                </a:r>
                <a:r>
                  <a:rPr lang="zh-CN" altLang="zh-CN" sz="2400" b="1" dirty="0">
                    <a:solidFill>
                      <a:schemeClr val="tx1"/>
                    </a:solidFill>
                  </a:rPr>
                  <a:t>）若</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en-US" sz="2400" b="1" dirty="0">
                    <a:solidFill>
                      <a:schemeClr val="tx1"/>
                    </a:solidFill>
                  </a:rPr>
                  <a:t>为</a:t>
                </a:r>
                <a:r>
                  <a:rPr lang="zh-CN" altLang="zh-CN" sz="2400" b="1" dirty="0">
                    <a:solidFill>
                      <a:schemeClr val="tx1"/>
                    </a:solidFill>
                  </a:rPr>
                  <a:t>平凡图或非连通图，则有</a:t>
                </a:r>
                <a:r>
                  <a:rPr lang="zh-CN" altLang="en-US" sz="2400" b="1" dirty="0">
                    <a:solidFill>
                      <a:schemeClr val="tx1"/>
                    </a:solidFill>
                  </a:rPr>
                  <a:t>：</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𝜿</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𝝀</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𝟎</m:t>
                    </m:r>
                  </m:oMath>
                </a14:m>
                <a:r>
                  <a:rPr lang="zh-CN" altLang="zh-CN" sz="2400" b="1" dirty="0">
                    <a:solidFill>
                      <a:schemeClr val="tx1"/>
                    </a:solidFill>
                  </a:rPr>
                  <a:t>，所以上式成立。</a:t>
                </a:r>
              </a:p>
              <a:p>
                <a:pPr>
                  <a:lnSpc>
                    <a:spcPts val="3600"/>
                  </a:lnSpc>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2</a:t>
                </a:r>
                <a:r>
                  <a:rPr lang="zh-CN" altLang="zh-CN" sz="2400" b="1" dirty="0">
                    <a:solidFill>
                      <a:schemeClr val="tx1"/>
                    </a:solidFill>
                  </a:rPr>
                  <a:t>）若</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是非平凡连通图，可分两步证明：</a:t>
                </a:r>
              </a:p>
              <a:p>
                <a:pPr>
                  <a:lnSpc>
                    <a:spcPts val="3600"/>
                  </a:lnSpc>
                </a:pPr>
                <a:r>
                  <a:rPr lang="en-US" altLang="zh-CN" sz="2400" b="1" dirty="0">
                    <a:solidFill>
                      <a:schemeClr val="tx1"/>
                    </a:solidFill>
                  </a:rPr>
                  <a:t>   </a:t>
                </a:r>
                <a:r>
                  <a:rPr lang="zh-CN" altLang="zh-CN" sz="2400" b="1" dirty="0">
                    <a:solidFill>
                      <a:srgbClr val="CC00FF"/>
                    </a:solidFill>
                  </a:rPr>
                  <a:t>先证</a:t>
                </a:r>
                <a14:m>
                  <m:oMath xmlns:m="http://schemas.openxmlformats.org/officeDocument/2006/math">
                    <m:r>
                      <a:rPr lang="zh-CN" altLang="zh-CN" sz="2400" b="1">
                        <a:solidFill>
                          <a:srgbClr val="CC00FF"/>
                        </a:solidFill>
                        <a:latin typeface="Cambria Math" panose="02040503050406030204" pitchFamily="18" charset="0"/>
                      </a:rPr>
                      <m:t> </m:t>
                    </m:r>
                    <m:r>
                      <a:rPr lang="en-US" altLang="zh-CN" sz="2400" b="1" i="1">
                        <a:solidFill>
                          <a:srgbClr val="CC00FF"/>
                        </a:solidFill>
                        <a:latin typeface="Cambria Math" panose="02040503050406030204" pitchFamily="18" charset="0"/>
                      </a:rPr>
                      <m:t>𝝀</m:t>
                    </m:r>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𝑮</m:t>
                    </m:r>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𝜹</m:t>
                    </m:r>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𝑮</m:t>
                    </m:r>
                    <m:r>
                      <a:rPr lang="en-US" altLang="zh-CN" sz="2400" b="1" i="1">
                        <a:solidFill>
                          <a:srgbClr val="CC00FF"/>
                        </a:solidFill>
                        <a:latin typeface="Cambria Math" panose="02040503050406030204" pitchFamily="18" charset="0"/>
                      </a:rPr>
                      <m:t>)</m:t>
                    </m:r>
                  </m:oMath>
                </a14:m>
                <a:r>
                  <a:rPr lang="zh-CN" altLang="zh-CN" sz="2400" b="1" dirty="0">
                    <a:solidFill>
                      <a:srgbClr val="CC00FF"/>
                    </a:solidFill>
                  </a:rPr>
                  <a:t>：</a:t>
                </a:r>
                <a:endParaRPr lang="en-US" altLang="zh-CN" sz="2400" b="1" dirty="0">
                  <a:solidFill>
                    <a:srgbClr val="CC00FF"/>
                  </a:solidFill>
                </a:endParaRPr>
              </a:p>
              <a:p>
                <a:pPr>
                  <a:lnSpc>
                    <a:spcPts val="3600"/>
                  </a:lnSpc>
                </a:pPr>
                <a:r>
                  <a:rPr lang="en-US" altLang="zh-CN" sz="2400" b="1" dirty="0">
                    <a:solidFill>
                      <a:schemeClr val="tx1"/>
                    </a:solidFill>
                  </a:rPr>
                  <a:t>   </a:t>
                </a:r>
                <a:r>
                  <a:rPr lang="zh-CN" altLang="zh-CN" sz="2400" b="1" dirty="0">
                    <a:solidFill>
                      <a:schemeClr val="tx1"/>
                    </a:solidFill>
                  </a:rPr>
                  <a:t>由于每个顶点的关联集都必包含一个边割集，故最小度数顶点的关联集也包含一个边割集</a:t>
                </a:r>
                <a14:m>
                  <m:oMath xmlns:m="http://schemas.openxmlformats.org/officeDocument/2006/math">
                    <m:r>
                      <a:rPr lang="en-US"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𝐞</m:t>
                    </m:r>
                    <m:r>
                      <a:rPr lang="en-US" altLang="zh-CN" sz="2400" b="1">
                        <a:solidFill>
                          <a:schemeClr val="tx1"/>
                        </a:solidFill>
                        <a:latin typeface="Cambria Math" panose="02040503050406030204" pitchFamily="18" charset="0"/>
                      </a:rPr>
                      <m:t> </m:t>
                    </m:r>
                  </m:oMath>
                </a14:m>
                <a:r>
                  <a:rPr lang="zh-CN" altLang="zh-CN" sz="2400" b="1" dirty="0">
                    <a:solidFill>
                      <a:schemeClr val="tx1"/>
                    </a:solidFill>
                  </a:rPr>
                  <a:t>，即有</a:t>
                </a:r>
                <a14:m>
                  <m:oMath xmlns:m="http://schemas.openxmlformats.org/officeDocument/2006/math">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𝒆</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𝜹</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m:t>
                    </m:r>
                  </m:oMath>
                </a14:m>
                <a:r>
                  <a:rPr lang="zh-CN" altLang="en-US" sz="2400" b="1" dirty="0">
                    <a:solidFill>
                      <a:schemeClr val="tx1"/>
                    </a:solidFill>
                  </a:rPr>
                  <a:t>。</a:t>
                </a:r>
                <a:endParaRPr lang="zh-CN" altLang="en-US" sz="2400" b="1" dirty="0"/>
              </a:p>
            </p:txBody>
          </p:sp>
        </mc:Choice>
        <mc:Fallback xmlns="">
          <p:sp>
            <p:nvSpPr>
              <p:cNvPr id="3" name="文本框 2"/>
              <p:cNvSpPr txBox="1">
                <a:spLocks noRot="1" noChangeAspect="1" noMove="1" noResize="1" noEditPoints="1" noAdjustHandles="1" noChangeArrowheads="1" noChangeShapeType="1" noTextEdit="1"/>
              </p:cNvSpPr>
              <p:nvPr/>
            </p:nvSpPr>
            <p:spPr>
              <a:xfrm>
                <a:off x="539552" y="3429000"/>
                <a:ext cx="8316279" cy="2812373"/>
              </a:xfrm>
              <a:prstGeom prst="rect">
                <a:avLst/>
              </a:prstGeom>
              <a:blipFill>
                <a:blip r:embed="rId5"/>
                <a:stretch>
                  <a:fillRect l="-1173" t="-868" r="-953" b="-32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94193451"/>
      </p:ext>
    </p:extLst>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3609F1F1-435E-4DB0-AFC1-311E3BD6473B}"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77155" name="Text Box 2"/>
          <p:cNvSpPr txBox="1">
            <a:spLocks noChangeArrowheads="1"/>
          </p:cNvSpPr>
          <p:nvPr/>
        </p:nvSpPr>
        <p:spPr bwMode="auto">
          <a:xfrm>
            <a:off x="1403350" y="804863"/>
            <a:ext cx="6337300"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连通度的度量</a:t>
            </a:r>
            <a:endParaRPr lang="en-US" altLang="zh-CN" sz="4800" b="1">
              <a:solidFill>
                <a:schemeClr val="bg1"/>
              </a:solidFill>
              <a:latin typeface="宋体" panose="02010600030101010101" pitchFamily="2" charset="-122"/>
              <a:ea typeface="宋体" panose="02010600030101010101" pitchFamily="2" charset="-122"/>
            </a:endParaRPr>
          </a:p>
        </p:txBody>
      </p:sp>
      <p:pic>
        <p:nvPicPr>
          <p:cNvPr id="17715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287016" y="1994949"/>
                <a:ext cx="8856984" cy="4197367"/>
              </a:xfrm>
              <a:prstGeom prst="rect">
                <a:avLst/>
              </a:prstGeom>
              <a:solidFill>
                <a:schemeClr val="accent3">
                  <a:lumMod val="85000"/>
                </a:schemeClr>
              </a:solidFill>
            </p:spPr>
            <p:txBody>
              <a:bodyPr wrap="square" rtlCol="0">
                <a:spAutoFit/>
              </a:bodyPr>
              <a:lstStyle/>
              <a:p>
                <a:pPr>
                  <a:lnSpc>
                    <a:spcPts val="3600"/>
                  </a:lnSpc>
                </a:pPr>
                <a:r>
                  <a:rPr lang="en-US" altLang="zh-CN" sz="2400" dirty="0">
                    <a:solidFill>
                      <a:schemeClr val="accent2"/>
                    </a:solidFill>
                  </a:rPr>
                  <a:t>   </a:t>
                </a:r>
                <a:r>
                  <a:rPr lang="en-US" altLang="zh-CN" sz="2400" b="1" dirty="0">
                    <a:solidFill>
                      <a:schemeClr val="accent2"/>
                    </a:solidFill>
                  </a:rPr>
                  <a:t>【</a:t>
                </a:r>
                <a:r>
                  <a:rPr lang="zh-CN" altLang="en-US" sz="2400" b="1" dirty="0">
                    <a:solidFill>
                      <a:schemeClr val="accent2"/>
                    </a:solidFill>
                  </a:rPr>
                  <a:t>证明（续）</a:t>
                </a:r>
                <a:r>
                  <a:rPr lang="en-US" altLang="zh-CN" sz="2400" b="1" dirty="0">
                    <a:solidFill>
                      <a:schemeClr val="accent2"/>
                    </a:solidFill>
                  </a:rPr>
                  <a:t>】</a:t>
                </a:r>
                <a:r>
                  <a:rPr lang="zh-CN" altLang="en-US" sz="2400" b="1" dirty="0">
                    <a:solidFill>
                      <a:schemeClr val="tx1"/>
                    </a:solidFill>
                  </a:rPr>
                  <a:t>又</a:t>
                </a:r>
                <a14:m>
                  <m:oMath xmlns:m="http://schemas.openxmlformats.org/officeDocument/2006/math">
                    <m:r>
                      <a:rPr lang="zh-CN" altLang="en-US" sz="2400" b="1" i="1" dirty="0">
                        <a:solidFill>
                          <a:schemeClr val="tx1"/>
                        </a:solidFill>
                        <a:latin typeface="Cambria Math" panose="02040503050406030204" pitchFamily="18" charset="0"/>
                      </a:rPr>
                      <m:t>因</m:t>
                    </m:r>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𝝀</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i="1">
                        <a:solidFill>
                          <a:schemeClr val="tx1"/>
                        </a:solidFill>
                        <a:latin typeface="Cambria Math" panose="02040503050406030204" pitchFamily="18" charset="0"/>
                      </a:rPr>
                      <m:t> </m:t>
                    </m:r>
                  </m:oMath>
                </a14:m>
                <a:r>
                  <a:rPr lang="zh-CN" altLang="en-US" sz="2400" b="1" dirty="0">
                    <a:solidFill>
                      <a:schemeClr val="tx1"/>
                    </a:solidFill>
                  </a:rPr>
                  <a:t>不大于</a:t>
                </a:r>
                <a:r>
                  <a:rPr lang="zh-CN" altLang="zh-CN" sz="2400" b="1" dirty="0">
                    <a:solidFill>
                      <a:schemeClr val="tx1"/>
                    </a:solidFill>
                  </a:rPr>
                  <a:t>所有边割集的边</a:t>
                </a:r>
                <a:r>
                  <a:rPr lang="zh-CN" altLang="en-US" sz="2400" b="1" dirty="0">
                    <a:solidFill>
                      <a:schemeClr val="tx1"/>
                    </a:solidFill>
                  </a:rPr>
                  <a:t>数，即：</a:t>
                </a:r>
                <a14:m>
                  <m:oMath xmlns:m="http://schemas.openxmlformats.org/officeDocument/2006/math">
                    <m:r>
                      <a:rPr lang="en-US" altLang="zh-CN" sz="2400" b="1" i="1">
                        <a:solidFill>
                          <a:schemeClr val="tx1"/>
                        </a:solidFill>
                        <a:latin typeface="Cambria Math" panose="02040503050406030204" pitchFamily="18" charset="0"/>
                      </a:rPr>
                      <m:t>𝝀</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𝒆</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，故有</a:t>
                </a:r>
                <a14:m>
                  <m:oMath xmlns:m="http://schemas.openxmlformats.org/officeDocument/2006/math">
                    <m:r>
                      <a:rPr lang="zh-CN" altLang="zh-CN" sz="2400" b="1" i="1">
                        <a:solidFill>
                          <a:schemeClr val="tx1"/>
                        </a:solidFill>
                        <a:latin typeface="Cambria Math" panose="02040503050406030204" pitchFamily="18" charset="0"/>
                      </a:rPr>
                      <m:t> </m:t>
                    </m:r>
                    <m:r>
                      <a:rPr lang="en-US" altLang="zh-CN" sz="2400" b="1" i="1" smtClean="0">
                        <a:solidFill>
                          <a:srgbClr val="CC00FF"/>
                        </a:solidFill>
                        <a:latin typeface="Cambria Math" panose="02040503050406030204" pitchFamily="18" charset="0"/>
                      </a:rPr>
                      <m:t>𝝀</m:t>
                    </m:r>
                    <m:d>
                      <m:dPr>
                        <m:ctrlPr>
                          <a:rPr lang="zh-CN" altLang="zh-CN" sz="2400" b="1" i="1">
                            <a:solidFill>
                              <a:srgbClr val="CC00FF"/>
                            </a:solidFill>
                            <a:latin typeface="Cambria Math" panose="02040503050406030204" pitchFamily="18" charset="0"/>
                          </a:rPr>
                        </m:ctrlPr>
                      </m:dPr>
                      <m:e>
                        <m:r>
                          <a:rPr lang="en-US" altLang="zh-CN" sz="2400" b="1" i="1">
                            <a:solidFill>
                              <a:srgbClr val="CC00FF"/>
                            </a:solidFill>
                            <a:latin typeface="Cambria Math" panose="02040503050406030204" pitchFamily="18" charset="0"/>
                          </a:rPr>
                          <m:t>𝑮</m:t>
                        </m:r>
                      </m:e>
                    </m:d>
                    <m:r>
                      <a:rPr lang="zh-CN"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𝛅</m:t>
                    </m:r>
                    <m:d>
                      <m:dPr>
                        <m:ctrlPr>
                          <a:rPr lang="zh-CN" altLang="zh-CN" sz="2400" b="1" i="1">
                            <a:solidFill>
                              <a:srgbClr val="CC00FF"/>
                            </a:solidFill>
                            <a:latin typeface="Cambria Math" panose="02040503050406030204" pitchFamily="18" charset="0"/>
                          </a:rPr>
                        </m:ctrlPr>
                      </m:dPr>
                      <m:e>
                        <m:r>
                          <a:rPr lang="en-US" altLang="zh-CN" sz="2400" b="1" i="1">
                            <a:solidFill>
                              <a:srgbClr val="CC00FF"/>
                            </a:solidFill>
                            <a:latin typeface="Cambria Math" panose="02040503050406030204" pitchFamily="18" charset="0"/>
                          </a:rPr>
                          <m:t>𝑮</m:t>
                        </m:r>
                      </m:e>
                    </m:d>
                  </m:oMath>
                </a14:m>
                <a:r>
                  <a:rPr lang="zh-CN" altLang="zh-CN" sz="2400" b="1" dirty="0">
                    <a:solidFill>
                      <a:schemeClr val="tx1"/>
                    </a:solidFill>
                  </a:rPr>
                  <a:t>。</a:t>
                </a:r>
                <a:endParaRPr lang="en-US" altLang="zh-CN" sz="2400" b="1" dirty="0">
                  <a:solidFill>
                    <a:schemeClr val="accent2"/>
                  </a:solidFill>
                </a:endParaRPr>
              </a:p>
              <a:p>
                <a:pPr>
                  <a:lnSpc>
                    <a:spcPts val="3600"/>
                  </a:lnSpc>
                  <a:spcAft>
                    <a:spcPts val="0"/>
                  </a:spcAft>
                </a:pPr>
                <a:r>
                  <a:rPr lang="zh-CN" altLang="en-US" sz="2400" b="1" dirty="0">
                    <a:solidFill>
                      <a:schemeClr val="tx1"/>
                    </a:solidFill>
                  </a:rPr>
                  <a:t>    </a:t>
                </a:r>
                <a:r>
                  <a:rPr lang="zh-CN" altLang="en-US" sz="2400" b="1" dirty="0">
                    <a:solidFill>
                      <a:srgbClr val="CC00FF"/>
                    </a:solidFill>
                  </a:rPr>
                  <a:t>再</a:t>
                </a:r>
                <a:r>
                  <a:rPr lang="zh-CN" altLang="zh-CN" sz="2400" b="1" dirty="0">
                    <a:solidFill>
                      <a:srgbClr val="CC00FF"/>
                    </a:solidFill>
                  </a:rPr>
                  <a:t>证</a:t>
                </a:r>
                <a14:m>
                  <m:oMath xmlns:m="http://schemas.openxmlformats.org/officeDocument/2006/math">
                    <m:r>
                      <a:rPr lang="zh-CN" altLang="zh-CN" sz="2400" b="1">
                        <a:solidFill>
                          <a:srgbClr val="CC00FF"/>
                        </a:solidFill>
                        <a:latin typeface="Cambria Math" panose="02040503050406030204" pitchFamily="18" charset="0"/>
                      </a:rPr>
                      <m:t> </m:t>
                    </m:r>
                    <m:r>
                      <a:rPr lang="en-US" altLang="zh-CN" sz="2400" b="1" i="1">
                        <a:solidFill>
                          <a:srgbClr val="CC00FF"/>
                        </a:solidFill>
                        <a:latin typeface="Cambria Math" panose="02040503050406030204" pitchFamily="18" charset="0"/>
                      </a:rPr>
                      <m:t>𝜿</m:t>
                    </m:r>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𝑮</m:t>
                    </m:r>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𝝀</m:t>
                    </m:r>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𝑮</m:t>
                    </m:r>
                    <m:r>
                      <a:rPr lang="en-US" altLang="zh-CN" sz="2400" b="1" i="1">
                        <a:solidFill>
                          <a:srgbClr val="CC00FF"/>
                        </a:solidFill>
                        <a:latin typeface="Cambria Math" panose="02040503050406030204" pitchFamily="18" charset="0"/>
                      </a:rPr>
                      <m:t>)</m:t>
                    </m:r>
                  </m:oMath>
                </a14:m>
                <a:r>
                  <a:rPr lang="zh-CN" altLang="zh-CN" sz="2400" b="1" dirty="0">
                    <a:solidFill>
                      <a:srgbClr val="CC00FF"/>
                    </a:solidFill>
                  </a:rPr>
                  <a:t>：</a:t>
                </a:r>
                <a:endParaRPr lang="en-US" altLang="zh-CN" sz="2400" b="1" dirty="0">
                  <a:solidFill>
                    <a:srgbClr val="CC00FF"/>
                  </a:solidFill>
                </a:endParaRPr>
              </a:p>
              <a:p>
                <a:pPr>
                  <a:lnSpc>
                    <a:spcPts val="3600"/>
                  </a:lnSpc>
                </a:pPr>
                <a:r>
                  <a:rPr lang="en-US" altLang="zh-CN" sz="2400" b="1" dirty="0">
                    <a:solidFill>
                      <a:schemeClr val="tx1"/>
                    </a:solidFill>
                  </a:rPr>
                  <a:t>    </a:t>
                </a:r>
                <a:r>
                  <a:rPr lang="zh-CN" altLang="zh-CN" sz="2400" b="1" dirty="0">
                    <a:solidFill>
                      <a:schemeClr val="tx1"/>
                    </a:solidFill>
                  </a:rPr>
                  <a:t>设</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𝑮</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的最小边割集为</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𝑺</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a:t>
                </a:r>
                <a:r>
                  <a:rPr lang="zh-CN" altLang="en-US" sz="2400" b="1" dirty="0">
                    <a:solidFill>
                      <a:schemeClr val="tx1"/>
                    </a:solidFill>
                  </a:rPr>
                  <a:t>则有</a:t>
                </a:r>
                <a14:m>
                  <m:oMath xmlns:m="http://schemas.openxmlformats.org/officeDocument/2006/math">
                    <m:d>
                      <m:dPr>
                        <m:begChr m:val="|"/>
                        <m:endChr m:val="|"/>
                        <m:ctrlPr>
                          <a:rPr lang="zh-CN" altLang="zh-CN" sz="2400" b="1" i="1" smtClean="0">
                            <a:solidFill>
                              <a:srgbClr val="CC00FF"/>
                            </a:solidFill>
                            <a:latin typeface="Cambria Math" panose="02040503050406030204" pitchFamily="18" charset="0"/>
                          </a:rPr>
                        </m:ctrlPr>
                      </m:dPr>
                      <m:e>
                        <m:r>
                          <a:rPr lang="en-US" altLang="zh-CN" sz="2400" b="1" i="1">
                            <a:solidFill>
                              <a:srgbClr val="CC00FF"/>
                            </a:solidFill>
                            <a:latin typeface="Cambria Math" panose="02040503050406030204" pitchFamily="18" charset="0"/>
                          </a:rPr>
                          <m:t>𝑺</m:t>
                        </m:r>
                      </m:e>
                    </m:d>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𝝀</m:t>
                    </m:r>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𝑮</m:t>
                    </m:r>
                    <m:r>
                      <a:rPr lang="en-US" altLang="zh-CN" sz="2400" b="1" i="1">
                        <a:solidFill>
                          <a:srgbClr val="CC00FF"/>
                        </a:solidFill>
                        <a:latin typeface="Cambria Math" panose="02040503050406030204" pitchFamily="18" charset="0"/>
                      </a:rPr>
                      <m:t>)</m:t>
                    </m:r>
                    <m:r>
                      <a:rPr lang="zh-CN" altLang="en-US" sz="2400" b="1" i="1">
                        <a:solidFill>
                          <a:schemeClr val="tx1"/>
                        </a:solidFill>
                        <a:latin typeface="Cambria Math" panose="02040503050406030204" pitchFamily="18" charset="0"/>
                      </a:rPr>
                      <m:t>。</m:t>
                    </m:r>
                  </m:oMath>
                </a14:m>
                <a:r>
                  <a:rPr lang="zh-CN" altLang="zh-CN" sz="2400" b="1" dirty="0">
                    <a:solidFill>
                      <a:schemeClr val="tx1"/>
                    </a:solidFill>
                  </a:rPr>
                  <a:t>减去</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𝑺</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中每条边的一个结点，至少可以减去这条边，</a:t>
                </a:r>
                <a:r>
                  <a:rPr lang="zh-CN" altLang="zh-CN" sz="2400" b="1" dirty="0">
                    <a:solidFill>
                      <a:srgbClr val="FF0000"/>
                    </a:solidFill>
                  </a:rPr>
                  <a:t>当在</a:t>
                </a:r>
                <a14:m>
                  <m:oMath xmlns:m="http://schemas.openxmlformats.org/officeDocument/2006/math">
                    <m:r>
                      <a:rPr lang="zh-CN" altLang="zh-CN" sz="2400" b="1">
                        <a:solidFill>
                          <a:srgbClr val="FF0000"/>
                        </a:solidFill>
                        <a:latin typeface="Cambria Math" panose="02040503050406030204" pitchFamily="18" charset="0"/>
                      </a:rPr>
                      <m:t> </m:t>
                    </m:r>
                    <m:r>
                      <a:rPr lang="en-US" altLang="zh-CN" sz="2400" b="1" i="1">
                        <a:solidFill>
                          <a:srgbClr val="FF0000"/>
                        </a:solidFill>
                        <a:latin typeface="Cambria Math" panose="02040503050406030204" pitchFamily="18" charset="0"/>
                      </a:rPr>
                      <m:t>𝑮</m:t>
                    </m:r>
                    <m:r>
                      <a:rPr lang="en-US" altLang="zh-CN" sz="2400" b="1" i="1">
                        <a:solidFill>
                          <a:srgbClr val="FF0000"/>
                        </a:solidFill>
                        <a:latin typeface="Cambria Math" panose="02040503050406030204" pitchFamily="18" charset="0"/>
                      </a:rPr>
                      <m:t> </m:t>
                    </m:r>
                  </m:oMath>
                </a14:m>
                <a:r>
                  <a:rPr lang="zh-CN" altLang="zh-CN" sz="2400" b="1" dirty="0">
                    <a:solidFill>
                      <a:srgbClr val="FF0000"/>
                    </a:solidFill>
                  </a:rPr>
                  <a:t>上至多减去</a:t>
                </a:r>
                <a14:m>
                  <m:oMath xmlns:m="http://schemas.openxmlformats.org/officeDocument/2006/math">
                    <m:r>
                      <a:rPr lang="zh-CN" altLang="zh-CN" sz="2400" b="1" i="1">
                        <a:solidFill>
                          <a:srgbClr val="FF0000"/>
                        </a:solidFill>
                        <a:latin typeface="Cambria Math" panose="02040503050406030204" pitchFamily="18" charset="0"/>
                      </a:rPr>
                      <m:t> </m:t>
                    </m:r>
                    <m:r>
                      <a:rPr lang="en-US" altLang="zh-CN" sz="2400" b="1" i="1">
                        <a:solidFill>
                          <a:srgbClr val="FF0000"/>
                        </a:solidFill>
                        <a:latin typeface="Cambria Math" panose="02040503050406030204" pitchFamily="18" charset="0"/>
                      </a:rPr>
                      <m:t>𝑺</m:t>
                    </m:r>
                    <m:r>
                      <a:rPr lang="en-US" altLang="zh-CN" sz="2400" b="1" i="1">
                        <a:solidFill>
                          <a:srgbClr val="FF0000"/>
                        </a:solidFill>
                        <a:latin typeface="Cambria Math" panose="02040503050406030204" pitchFamily="18" charset="0"/>
                      </a:rPr>
                      <m:t> </m:t>
                    </m:r>
                  </m:oMath>
                </a14:m>
                <a:r>
                  <a:rPr lang="zh-CN" altLang="zh-CN" sz="2400" b="1" dirty="0">
                    <a:solidFill>
                      <a:srgbClr val="FF0000"/>
                    </a:solidFill>
                  </a:rPr>
                  <a:t>上每条边所关联的一个结点时，可带走</a:t>
                </a:r>
                <a14:m>
                  <m:oMath xmlns:m="http://schemas.openxmlformats.org/officeDocument/2006/math">
                    <m:r>
                      <a:rPr lang="zh-CN" altLang="zh-CN" sz="2400" b="1">
                        <a:solidFill>
                          <a:srgbClr val="FF0000"/>
                        </a:solidFill>
                        <a:latin typeface="Cambria Math" panose="02040503050406030204" pitchFamily="18" charset="0"/>
                      </a:rPr>
                      <m:t> </m:t>
                    </m:r>
                    <m:r>
                      <a:rPr lang="en-US" altLang="zh-CN" sz="2400" b="1" i="1">
                        <a:solidFill>
                          <a:srgbClr val="FF0000"/>
                        </a:solidFill>
                        <a:latin typeface="Cambria Math" panose="02040503050406030204" pitchFamily="18" charset="0"/>
                      </a:rPr>
                      <m:t>𝝀</m:t>
                    </m:r>
                    <m:d>
                      <m:dPr>
                        <m:ctrlPr>
                          <a:rPr lang="zh-CN" altLang="zh-CN" sz="2400" b="1" i="1">
                            <a:solidFill>
                              <a:srgbClr val="FF0000"/>
                            </a:solidFill>
                            <a:latin typeface="Cambria Math" panose="02040503050406030204" pitchFamily="18" charset="0"/>
                          </a:rPr>
                        </m:ctrlPr>
                      </m:dPr>
                      <m:e>
                        <m:r>
                          <a:rPr lang="en-US" altLang="zh-CN" sz="2400" b="1" i="1">
                            <a:solidFill>
                              <a:srgbClr val="FF0000"/>
                            </a:solidFill>
                            <a:latin typeface="Cambria Math" panose="02040503050406030204" pitchFamily="18" charset="0"/>
                          </a:rPr>
                          <m:t>𝑮</m:t>
                        </m:r>
                      </m:e>
                    </m:d>
                  </m:oMath>
                </a14:m>
                <a:r>
                  <a:rPr lang="zh-CN" altLang="zh-CN" sz="2400" b="1" dirty="0">
                    <a:solidFill>
                      <a:srgbClr val="FF0000"/>
                    </a:solidFill>
                  </a:rPr>
                  <a:t>条边，此时</a:t>
                </a:r>
                <a14:m>
                  <m:oMath xmlns:m="http://schemas.openxmlformats.org/officeDocument/2006/math">
                    <m:r>
                      <a:rPr lang="zh-CN" altLang="zh-CN" sz="2400" b="1">
                        <a:solidFill>
                          <a:srgbClr val="FF0000"/>
                        </a:solidFill>
                        <a:latin typeface="Cambria Math" panose="02040503050406030204" pitchFamily="18" charset="0"/>
                      </a:rPr>
                      <m:t> </m:t>
                    </m:r>
                    <m:r>
                      <a:rPr lang="en-US" altLang="zh-CN" sz="2400" b="1" i="1">
                        <a:solidFill>
                          <a:srgbClr val="FF0000"/>
                        </a:solidFill>
                        <a:latin typeface="Cambria Math" panose="02040503050406030204" pitchFamily="18" charset="0"/>
                      </a:rPr>
                      <m:t>𝑮</m:t>
                    </m:r>
                    <m:r>
                      <a:rPr lang="en-US" altLang="zh-CN" sz="2400" b="1" i="1">
                        <a:solidFill>
                          <a:srgbClr val="FF0000"/>
                        </a:solidFill>
                        <a:latin typeface="Cambria Math" panose="02040503050406030204" pitchFamily="18" charset="0"/>
                      </a:rPr>
                      <m:t> </m:t>
                    </m:r>
                  </m:oMath>
                </a14:m>
                <a:r>
                  <a:rPr lang="zh-CN" altLang="en-US" sz="2400" b="1" dirty="0">
                    <a:solidFill>
                      <a:srgbClr val="FF0000"/>
                    </a:solidFill>
                  </a:rPr>
                  <a:t>为</a:t>
                </a:r>
                <a:r>
                  <a:rPr lang="zh-CN" altLang="zh-CN" sz="2400" b="1" dirty="0">
                    <a:solidFill>
                      <a:srgbClr val="FF0000"/>
                    </a:solidFill>
                  </a:rPr>
                  <a:t>不连通，</a:t>
                </a:r>
                <a:r>
                  <a:rPr lang="zh-CN" altLang="zh-CN" sz="2400" b="1" dirty="0">
                    <a:solidFill>
                      <a:schemeClr val="tx1"/>
                    </a:solidFill>
                  </a:rPr>
                  <a:t>故在这些</a:t>
                </a:r>
                <a:r>
                  <a:rPr lang="zh-CN" altLang="en-US" sz="2400" b="1" dirty="0">
                    <a:solidFill>
                      <a:schemeClr val="tx1"/>
                    </a:solidFill>
                  </a:rPr>
                  <a:t>结</a:t>
                </a:r>
                <a:r>
                  <a:rPr lang="zh-CN" altLang="zh-CN" sz="2400" b="1" dirty="0">
                    <a:solidFill>
                      <a:schemeClr val="tx1"/>
                    </a:solidFill>
                  </a:rPr>
                  <a:t>点中必含有一个点割集，不妨设为</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𝑻</m:t>
                    </m:r>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，则有</a:t>
                </a:r>
                <a:r>
                  <a:rPr lang="zh-CN" altLang="en-US" sz="2400" b="1" dirty="0">
                    <a:solidFill>
                      <a:schemeClr val="tx1"/>
                    </a:solidFill>
                  </a:rPr>
                  <a:t>：</a:t>
                </a:r>
                <a:endParaRPr lang="en-US" altLang="zh-CN" sz="2400" b="1" dirty="0">
                  <a:solidFill>
                    <a:schemeClr val="tx1"/>
                  </a:solidFill>
                  <a:latin typeface="Cambria Math" panose="02040503050406030204" pitchFamily="18" charset="0"/>
                </a:endParaRPr>
              </a:p>
              <a:p>
                <a:pPr algn="ctr">
                  <a:lnSpc>
                    <a:spcPts val="3600"/>
                  </a:lnSpc>
                </a:pPr>
                <a14:m>
                  <m:oMath xmlns:m="http://schemas.openxmlformats.org/officeDocument/2006/math">
                    <m:r>
                      <a:rPr lang="zh-CN" altLang="zh-CN" sz="2400" b="1" smtClean="0">
                        <a:solidFill>
                          <a:srgbClr val="CC00FF"/>
                        </a:solidFill>
                        <a:latin typeface="Cambria Math" panose="02040503050406030204" pitchFamily="18" charset="0"/>
                      </a:rPr>
                      <m:t> </m:t>
                    </m:r>
                    <m:d>
                      <m:dPr>
                        <m:begChr m:val="|"/>
                        <m:endChr m:val="|"/>
                        <m:ctrlPr>
                          <a:rPr lang="zh-CN" altLang="zh-CN" sz="2400" b="1" i="1">
                            <a:solidFill>
                              <a:srgbClr val="CC00FF"/>
                            </a:solidFill>
                            <a:latin typeface="Cambria Math" panose="02040503050406030204" pitchFamily="18" charset="0"/>
                          </a:rPr>
                        </m:ctrlPr>
                      </m:dPr>
                      <m:e>
                        <m:r>
                          <a:rPr lang="en-US" altLang="zh-CN" sz="2400" b="1" i="1">
                            <a:solidFill>
                              <a:srgbClr val="CC00FF"/>
                            </a:solidFill>
                            <a:latin typeface="Cambria Math" panose="02040503050406030204" pitchFamily="18" charset="0"/>
                          </a:rPr>
                          <m:t>𝑻</m:t>
                        </m:r>
                      </m:e>
                    </m:d>
                    <m:r>
                      <a:rPr lang="zh-CN"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𝝀</m:t>
                    </m:r>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𝑮</m:t>
                    </m:r>
                    <m:r>
                      <a:rPr lang="en-US" altLang="zh-CN" sz="2400" b="1" i="1">
                        <a:solidFill>
                          <a:srgbClr val="CC00FF"/>
                        </a:solidFill>
                        <a:latin typeface="Cambria Math" panose="02040503050406030204" pitchFamily="18" charset="0"/>
                      </a:rPr>
                      <m:t>)</m:t>
                    </m:r>
                  </m:oMath>
                </a14:m>
                <a:r>
                  <a:rPr lang="zh-CN" altLang="zh-CN" sz="2400" b="1" dirty="0">
                    <a:solidFill>
                      <a:srgbClr val="CC00FF"/>
                    </a:solidFill>
                  </a:rPr>
                  <a:t>，</a:t>
                </a:r>
                <a14:m>
                  <m:oMath xmlns:m="http://schemas.openxmlformats.org/officeDocument/2006/math">
                    <m:r>
                      <a:rPr lang="en-US" altLang="zh-CN" sz="2400" b="1" i="1">
                        <a:solidFill>
                          <a:srgbClr val="CC00FF"/>
                        </a:solidFill>
                        <a:latin typeface="Cambria Math" panose="02040503050406030204" pitchFamily="18" charset="0"/>
                      </a:rPr>
                      <m:t>𝜿</m:t>
                    </m:r>
                    <m:r>
                      <a:rPr lang="en-US" altLang="zh-CN" sz="2400" b="1" i="1">
                        <a:solidFill>
                          <a:srgbClr val="CC00FF"/>
                        </a:solidFill>
                        <a:latin typeface="Cambria Math" panose="02040503050406030204" pitchFamily="18" charset="0"/>
                      </a:rPr>
                      <m:t>(</m:t>
                    </m:r>
                    <m:r>
                      <a:rPr lang="en-US" altLang="zh-CN" sz="2400" b="1" i="1">
                        <a:solidFill>
                          <a:srgbClr val="CC00FF"/>
                        </a:solidFill>
                        <a:latin typeface="Cambria Math" panose="02040503050406030204" pitchFamily="18" charset="0"/>
                      </a:rPr>
                      <m:t>𝑮</m:t>
                    </m:r>
                    <m:r>
                      <a:rPr lang="en-US" altLang="zh-CN" sz="2400" b="1" i="1">
                        <a:solidFill>
                          <a:srgbClr val="CC00FF"/>
                        </a:solidFill>
                        <a:latin typeface="Cambria Math" panose="02040503050406030204" pitchFamily="18" charset="0"/>
                      </a:rPr>
                      <m:t>)≤</m:t>
                    </m:r>
                    <m:d>
                      <m:dPr>
                        <m:begChr m:val="|"/>
                        <m:endChr m:val="|"/>
                        <m:ctrlPr>
                          <a:rPr lang="zh-CN" altLang="zh-CN" sz="2400" b="1" i="1">
                            <a:solidFill>
                              <a:srgbClr val="CC00FF"/>
                            </a:solidFill>
                            <a:latin typeface="Cambria Math" panose="02040503050406030204" pitchFamily="18" charset="0"/>
                          </a:rPr>
                        </m:ctrlPr>
                      </m:dPr>
                      <m:e>
                        <m:r>
                          <a:rPr lang="en-US" altLang="zh-CN" sz="2400" b="1" i="1">
                            <a:solidFill>
                              <a:srgbClr val="CC00FF"/>
                            </a:solidFill>
                            <a:latin typeface="Cambria Math" panose="02040503050406030204" pitchFamily="18" charset="0"/>
                          </a:rPr>
                          <m:t>𝑻</m:t>
                        </m:r>
                      </m:e>
                    </m:d>
                  </m:oMath>
                </a14:m>
                <a:endParaRPr lang="en-US" altLang="zh-CN" sz="2400" b="1" dirty="0">
                  <a:solidFill>
                    <a:srgbClr val="CC00FF"/>
                  </a:solidFill>
                </a:endParaRPr>
              </a:p>
              <a:p>
                <a:pPr>
                  <a:lnSpc>
                    <a:spcPts val="3600"/>
                  </a:lnSpc>
                </a:pPr>
                <a:r>
                  <a:rPr lang="zh-CN" altLang="zh-CN" sz="2400" b="1" dirty="0">
                    <a:solidFill>
                      <a:schemeClr val="tx1"/>
                    </a:solidFill>
                  </a:rPr>
                  <a:t>即有</a:t>
                </a:r>
                <a14:m>
                  <m:oMath xmlns:m="http://schemas.openxmlformats.org/officeDocument/2006/math">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𝜿</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zh-CN" altLang="zh-CN" sz="2400" b="1" i="1">
                        <a:solidFill>
                          <a:schemeClr val="tx1"/>
                        </a:solidFill>
                        <a:latin typeface="Cambria Math" panose="02040503050406030204" pitchFamily="18" charset="0"/>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𝑻</m:t>
                        </m:r>
                      </m:e>
                    </m:d>
                    <m:r>
                      <a:rPr lang="zh-CN"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𝝀</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成立，故</a:t>
                </a:r>
                <a:r>
                  <a:rPr lang="zh-CN" altLang="en-US" sz="2400" b="1" dirty="0">
                    <a:solidFill>
                      <a:schemeClr val="tx1"/>
                    </a:solidFill>
                  </a:rPr>
                  <a:t>有</a:t>
                </a:r>
                <a14:m>
                  <m:oMath xmlns:m="http://schemas.openxmlformats.org/officeDocument/2006/math">
                    <m:r>
                      <a:rPr lang="zh-CN" altLang="en-US" sz="2400" b="1" i="1" dirty="0">
                        <a:solidFill>
                          <a:schemeClr val="tx1"/>
                        </a:solidFill>
                        <a:latin typeface="Cambria Math" panose="02040503050406030204" pitchFamily="18" charset="0"/>
                      </a:rPr>
                      <m:t>：</m:t>
                    </m:r>
                    <m:r>
                      <a:rPr lang="zh-CN" altLang="zh-CN" sz="2400" b="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𝜿</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zh-CN"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𝝀</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𝑮</m:t>
                        </m:r>
                      </m:e>
                    </m:d>
                    <m:r>
                      <a:rPr lang="en-US" altLang="zh-CN" sz="2400" b="1" i="1">
                        <a:solidFill>
                          <a:schemeClr val="tx1"/>
                        </a:solidFill>
                        <a:latin typeface="Cambria Math" panose="02040503050406030204" pitchFamily="18" charset="0"/>
                      </a:rPr>
                      <m:t> </m:t>
                    </m:r>
                  </m:oMath>
                </a14:m>
                <a:r>
                  <a:rPr lang="zh-CN" altLang="zh-CN" sz="2400" b="1" dirty="0">
                    <a:solidFill>
                      <a:schemeClr val="tx1"/>
                    </a:solidFill>
                  </a:rPr>
                  <a:t>。</a:t>
                </a:r>
                <a:endParaRPr lang="zh-CN" altLang="en-US" sz="2400" b="1" dirty="0">
                  <a:solidFill>
                    <a:srgbClr val="0000FF"/>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287016" y="1994949"/>
                <a:ext cx="8856984" cy="4197367"/>
              </a:xfrm>
              <a:prstGeom prst="rect">
                <a:avLst/>
              </a:prstGeom>
              <a:blipFill>
                <a:blip r:embed="rId4"/>
                <a:stretch>
                  <a:fillRect l="-1032" t="-581" r="-344" b="-18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58406948"/>
      </p:ext>
    </p:extLst>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1115616" y="4412430"/>
                <a:ext cx="7293382" cy="1681294"/>
              </a:xfrm>
              <a:prstGeom prst="rect">
                <a:avLst/>
              </a:prstGeom>
              <a:solidFill>
                <a:schemeClr val="accent5"/>
              </a:solidFill>
              <a:ln w="19050">
                <a:noFill/>
              </a:ln>
            </p:spPr>
            <p:txBody>
              <a:bodyPr wrap="square" rtlCol="0">
                <a:spAutoFit/>
              </a:bodyPr>
              <a:lstStyle/>
              <a:p>
                <a:pPr>
                  <a:lnSpc>
                    <a:spcPct val="150000"/>
                  </a:lnSpc>
                </a:pPr>
                <a:r>
                  <a:rPr lang="zh-CN" altLang="en-US" sz="2400" dirty="0"/>
                  <a:t>   </a:t>
                </a:r>
                <a:r>
                  <a:rPr lang="zh-CN" altLang="en-US" sz="2400" b="1" dirty="0">
                    <a:solidFill>
                      <a:schemeClr val="tx1"/>
                    </a:solidFill>
                  </a:rPr>
                  <a:t>对于上图，显然有：</a:t>
                </a:r>
                <a:endParaRPr lang="en-US" altLang="zh-CN" sz="2400" b="1" dirty="0">
                  <a:solidFill>
                    <a:schemeClr val="tx1"/>
                  </a:solidFill>
                </a:endParaRPr>
              </a:p>
              <a:p>
                <a:pPr algn="ctr">
                  <a:lnSpc>
                    <a:spcPct val="150000"/>
                  </a:lnSpc>
                </a:pPr>
                <a:r>
                  <a:rPr lang="en-US" altLang="zh-CN" sz="2400" b="1" dirty="0">
                    <a:solidFill>
                      <a:schemeClr val="tx1"/>
                    </a:solidFill>
                  </a:rPr>
                  <a:t>  </a:t>
                </a:r>
                <a14:m>
                  <m:oMath xmlns:m="http://schemas.openxmlformats.org/officeDocument/2006/math">
                    <m:r>
                      <a:rPr lang="en-US" altLang="zh-CN" sz="2400" b="1" i="1" smtClean="0">
                        <a:solidFill>
                          <a:schemeClr val="tx1"/>
                        </a:solidFill>
                        <a:latin typeface="Cambria Math" panose="02040503050406030204" pitchFamily="18" charset="0"/>
                      </a:rPr>
                      <m:t>𝜿</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𝑮</m:t>
                    </m:r>
                    <m:r>
                      <a:rPr lang="en-US" altLang="zh-CN" sz="2400" b="1" i="1" smtClean="0">
                        <a:solidFill>
                          <a:schemeClr val="tx1"/>
                        </a:solidFill>
                        <a:latin typeface="Cambria Math" panose="02040503050406030204" pitchFamily="18" charset="0"/>
                      </a:rPr>
                      <m:t>)</m:t>
                    </m:r>
                    <m:r>
                      <a:rPr lang="en-US" altLang="zh-CN" sz="2400" b="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𝟏</m:t>
                    </m:r>
                  </m:oMath>
                </a14:m>
                <a:r>
                  <a:rPr lang="zh-CN" altLang="zh-CN" sz="2400" b="1" dirty="0">
                    <a:solidFill>
                      <a:schemeClr val="tx1"/>
                    </a:solidFill>
                  </a:rPr>
                  <a:t>，</a:t>
                </a:r>
                <a14:m>
                  <m:oMath xmlns:m="http://schemas.openxmlformats.org/officeDocument/2006/math">
                    <m:r>
                      <a:rPr lang="en-US" altLang="zh-CN" sz="2400" b="1" i="1" smtClean="0">
                        <a:solidFill>
                          <a:schemeClr val="tx1"/>
                        </a:solidFill>
                        <a:latin typeface="Cambria Math" panose="02040503050406030204" pitchFamily="18" charset="0"/>
                      </a:rPr>
                      <m:t>𝝀</m:t>
                    </m:r>
                    <m:d>
                      <m:dPr>
                        <m:ctrlPr>
                          <a:rPr lang="zh-CN" altLang="zh-CN" sz="2400" b="1" i="1">
                            <a:solidFill>
                              <a:schemeClr val="tx1"/>
                            </a:solidFill>
                            <a:latin typeface="Cambria Math" panose="02040503050406030204" pitchFamily="18" charset="0"/>
                          </a:rPr>
                        </m:ctrlPr>
                      </m:dPr>
                      <m:e>
                        <m:r>
                          <a:rPr lang="en-US" altLang="zh-CN" sz="2400" b="1" i="1" smtClean="0">
                            <a:solidFill>
                              <a:schemeClr val="tx1"/>
                            </a:solidFill>
                            <a:latin typeface="Cambria Math" panose="02040503050406030204" pitchFamily="18" charset="0"/>
                          </a:rPr>
                          <m:t>𝑮</m:t>
                        </m:r>
                      </m:e>
                    </m:d>
                    <m:r>
                      <a:rPr lang="en-US" altLang="zh-CN" sz="2400" b="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𝜹</m:t>
                    </m:r>
                    <m:d>
                      <m:dPr>
                        <m:ctrlPr>
                          <a:rPr lang="zh-CN" altLang="zh-CN" sz="2400" b="1" i="1">
                            <a:solidFill>
                              <a:schemeClr val="tx1"/>
                            </a:solidFill>
                            <a:latin typeface="Cambria Math" panose="02040503050406030204" pitchFamily="18" charset="0"/>
                          </a:rPr>
                        </m:ctrlPr>
                      </m:dPr>
                      <m:e>
                        <m:r>
                          <a:rPr lang="en-US" altLang="zh-CN" sz="2400" b="1" i="1" smtClean="0">
                            <a:solidFill>
                              <a:schemeClr val="tx1"/>
                            </a:solidFill>
                            <a:latin typeface="Cambria Math" panose="02040503050406030204" pitchFamily="18" charset="0"/>
                          </a:rPr>
                          <m:t>𝑮</m:t>
                        </m:r>
                      </m:e>
                    </m:d>
                    <m:r>
                      <a:rPr lang="en-US" altLang="zh-CN" sz="2400" b="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𝟐</m:t>
                    </m:r>
                  </m:oMath>
                </a14:m>
                <a:r>
                  <a:rPr lang="zh-CN" altLang="zh-CN" sz="2400" b="1" dirty="0">
                    <a:solidFill>
                      <a:schemeClr val="tx1"/>
                    </a:solidFill>
                  </a:rPr>
                  <a:t>， </a:t>
                </a:r>
                <a:endParaRPr lang="en-US" altLang="zh-CN" sz="2400" b="1" dirty="0">
                  <a:solidFill>
                    <a:schemeClr val="tx1"/>
                  </a:solidFill>
                </a:endParaRPr>
              </a:p>
              <a:p>
                <a:pPr algn="ctr">
                  <a:lnSpc>
                    <a:spcPct val="150000"/>
                  </a:lnSpc>
                </a:pPr>
                <a:r>
                  <a:rPr lang="en-US" altLang="zh-CN" sz="2400" b="1" dirty="0">
                    <a:solidFill>
                      <a:schemeClr val="tx1"/>
                    </a:solidFill>
                  </a:rPr>
                  <a:t>  </a:t>
                </a:r>
                <a14:m>
                  <m:oMath xmlns:m="http://schemas.openxmlformats.org/officeDocument/2006/math">
                    <m:r>
                      <a:rPr lang="en-US" altLang="zh-CN" sz="2400" b="1" i="1" smtClean="0">
                        <a:solidFill>
                          <a:schemeClr val="tx1"/>
                        </a:solidFill>
                        <a:latin typeface="Cambria Math" panose="02040503050406030204" pitchFamily="18" charset="0"/>
                      </a:rPr>
                      <m:t>𝜿</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𝑮</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𝝀</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𝑮</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𝜹</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𝑮</m:t>
                    </m:r>
                    <m:r>
                      <a:rPr lang="en-US" altLang="zh-CN" sz="2400" b="1" i="1" smtClean="0">
                        <a:solidFill>
                          <a:schemeClr val="tx1"/>
                        </a:solidFill>
                        <a:latin typeface="Cambria Math" panose="02040503050406030204" pitchFamily="18" charset="0"/>
                      </a:rPr>
                      <m:t>)</m:t>
                    </m:r>
                  </m:oMath>
                </a14:m>
                <a:endParaRPr lang="en-US" altLang="zh-CN" sz="2400" b="1" dirty="0">
                  <a:solidFill>
                    <a:schemeClr val="tx1"/>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1115616" y="4412430"/>
                <a:ext cx="7293382" cy="1681294"/>
              </a:xfrm>
              <a:prstGeom prst="rect">
                <a:avLst/>
              </a:prstGeom>
              <a:blipFill>
                <a:blip r:embed="rId4"/>
                <a:stretch>
                  <a:fillRect b="-5072"/>
                </a:stretch>
              </a:blipFill>
              <a:ln w="19050">
                <a:noFill/>
              </a:ln>
            </p:spPr>
            <p:txBody>
              <a:bodyPr/>
              <a:lstStyle/>
              <a:p>
                <a:r>
                  <a:rPr lang="zh-CN" altLang="en-US">
                    <a:noFill/>
                  </a:rPr>
                  <a:t> </a:t>
                </a:r>
              </a:p>
            </p:txBody>
          </p:sp>
        </mc:Fallback>
      </mc:AlternateContent>
      <p:pic>
        <p:nvPicPr>
          <p:cNvPr id="4" name="图片 3"/>
          <p:cNvPicPr>
            <a:picLocks noChangeAspect="1"/>
          </p:cNvPicPr>
          <p:nvPr/>
        </p:nvPicPr>
        <p:blipFill>
          <a:blip r:embed="rId5"/>
          <a:stretch>
            <a:fillRect/>
          </a:stretch>
        </p:blipFill>
        <p:spPr>
          <a:xfrm>
            <a:off x="2051720" y="1946529"/>
            <a:ext cx="5349166" cy="2202597"/>
          </a:xfrm>
          <a:prstGeom prst="rect">
            <a:avLst/>
          </a:prstGeom>
        </p:spPr>
      </p:pic>
    </p:spTree>
    <p:extLst>
      <p:ext uri="{BB962C8B-B14F-4D97-AF65-F5344CB8AC3E}">
        <p14:creationId xmlns:p14="http://schemas.microsoft.com/office/powerpoint/2010/main" val="1556374515"/>
      </p:ext>
    </p:extLst>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75</a:t>
            </a:fld>
            <a:endParaRPr lang="en-US" altLang="zh-CN" sz="1400" b="1">
              <a:latin typeface="Times New Roman" panose="02020603050405020304" pitchFamily="18" charset="0"/>
              <a:ea typeface="宋体" panose="02010600030101010101" pitchFamily="2" charset="-122"/>
            </a:endParaRPr>
          </a:p>
        </p:txBody>
      </p:sp>
      <p:sp>
        <p:nvSpPr>
          <p:cNvPr id="34821" name="Text Box 2"/>
          <p:cNvSpPr txBox="1">
            <a:spLocks noChangeArrowheads="1"/>
          </p:cNvSpPr>
          <p:nvPr/>
        </p:nvSpPr>
        <p:spPr bwMode="auto">
          <a:xfrm>
            <a:off x="1371600" y="969655"/>
            <a:ext cx="70866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mj-ea"/>
                <a:ea typeface="+mj-ea"/>
              </a:rPr>
              <a:t> 图的通路与连通性</a:t>
            </a:r>
          </a:p>
        </p:txBody>
      </p:sp>
      <p:sp>
        <p:nvSpPr>
          <p:cNvPr id="34822" name="Rectangle 3"/>
          <p:cNvSpPr>
            <a:spLocks noGrp="1" noChangeArrowheads="1"/>
          </p:cNvSpPr>
          <p:nvPr>
            <p:ph type="body" idx="4294967295"/>
          </p:nvPr>
        </p:nvSpPr>
        <p:spPr>
          <a:xfrm>
            <a:off x="2589213" y="2204864"/>
            <a:ext cx="4537075" cy="3529012"/>
          </a:xfrm>
          <a:noFill/>
        </p:spPr>
        <p:txBody>
          <a:bodyPr lIns="92075" tIns="46038" rIns="92075" bIns="46038"/>
          <a:lstStyle/>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通路的基本知识</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可达性及其判定</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无向图的连通性</a:t>
            </a:r>
            <a:endParaRPr lang="en-US" altLang="zh-CN" sz="3600" b="1" dirty="0">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J"/>
            </a:pPr>
            <a:r>
              <a:rPr lang="en-US" altLang="zh-CN" sz="3600" b="1" dirty="0">
                <a:solidFill>
                  <a:schemeClr val="accent6"/>
                </a:solidFill>
                <a:effectLst/>
                <a:latin typeface="黑体" panose="02010609060101010101" pitchFamily="49" charset="-122"/>
                <a:ea typeface="黑体" panose="02010609060101010101" pitchFamily="49" charset="-122"/>
                <a:cs typeface="楷体_GB2312" pitchFamily="49" charset="-122"/>
              </a:rPr>
              <a:t> </a:t>
            </a:r>
            <a:r>
              <a:rPr lang="zh-CN" altLang="en-US" sz="3600" b="1" dirty="0">
                <a:solidFill>
                  <a:schemeClr val="accent6"/>
                </a:solidFill>
                <a:effectLst/>
                <a:latin typeface="黑体" panose="02010609060101010101" pitchFamily="49" charset="-122"/>
                <a:ea typeface="黑体" panose="02010609060101010101" pitchFamily="49" charset="-122"/>
                <a:cs typeface="楷体_GB2312" pitchFamily="49" charset="-122"/>
              </a:rPr>
              <a:t>有向图的连通性</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5669153"/>
      </p:ext>
    </p:extLst>
  </p:cSld>
  <p:clrMapOvr>
    <a:masterClrMapping/>
  </p:clrMapOvr>
  <p:transition spd="med">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D487F58D-1410-4CC7-B57E-2F65E7EA8013}"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0228" name="Text Box 2"/>
          <p:cNvSpPr txBox="1">
            <a:spLocks noChangeArrowheads="1"/>
          </p:cNvSpPr>
          <p:nvPr/>
        </p:nvSpPr>
        <p:spPr bwMode="auto">
          <a:xfrm>
            <a:off x="1403350" y="765175"/>
            <a:ext cx="6265863"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有向图的连通性</a:t>
            </a:r>
          </a:p>
        </p:txBody>
      </p:sp>
      <p:pic>
        <p:nvPicPr>
          <p:cNvPr id="18022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532570"/>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FC03D7BC-CB33-4A75-904B-639661FEF641}"/>
                  </a:ext>
                </a:extLst>
              </p:cNvPr>
              <p:cNvSpPr/>
              <p:nvPr/>
            </p:nvSpPr>
            <p:spPr>
              <a:xfrm>
                <a:off x="251520" y="1844824"/>
                <a:ext cx="8568952" cy="4461093"/>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【定义】设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𝑬</m:t>
                        </m:r>
                      </m:e>
                    </m:d>
                  </m:oMath>
                </a14:m>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任意给定的一个</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有向图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，则有：</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1</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如果图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中任意两个结点之间都是</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相互可达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的，则称</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强连通图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如果</a:t>
                </a:r>
                <a14:m>
                  <m:oMath xmlns:m="http://schemas.openxmlformats.org/officeDocument/2006/math">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图</m:t>
                    </m:r>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中任意两个结点中</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至少有一个结点到另一个结点可达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，则称</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单向连通图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，简称为</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单连通图</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3</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略去</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有向</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图</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中各边方向</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而</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得到的</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无向图</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称为</a:t>
                </a:r>
                <a14:m>
                  <m:oMath xmlns:m="http://schemas.openxmlformats.org/officeDocument/2006/math">
                    <m:r>
                      <a:rPr lang="en-US" altLang="zh-CN" sz="2400" b="1" i="1" kern="100" smtClean="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smtClean="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的伴随无向图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，如果</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是无向连通图，则称</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有</a:t>
                </a:r>
                <a14:m>
                  <m:oMath xmlns:m="http://schemas.openxmlformats.org/officeDocument/2006/math">
                    <m:r>
                      <m:rPr>
                        <m:nor/>
                      </m:rP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m:t>向图</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一个</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弱连通图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，简称为</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连通图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p>
            </p:txBody>
          </p:sp>
        </mc:Choice>
        <mc:Fallback xmlns="">
          <p:sp>
            <p:nvSpPr>
              <p:cNvPr id="3" name="矩形 2">
                <a:extLst>
                  <a:ext uri="{FF2B5EF4-FFF2-40B4-BE49-F238E27FC236}">
                    <a16:creationId xmlns:a16="http://schemas.microsoft.com/office/drawing/2014/main" id="{FC03D7BC-CB33-4A75-904B-639661FEF641}"/>
                  </a:ext>
                </a:extLst>
              </p:cNvPr>
              <p:cNvSpPr>
                <a:spLocks noRot="1" noChangeAspect="1" noMove="1" noResize="1" noEditPoints="1" noAdjustHandles="1" noChangeArrowheads="1" noChangeShapeType="1" noTextEdit="1"/>
              </p:cNvSpPr>
              <p:nvPr/>
            </p:nvSpPr>
            <p:spPr>
              <a:xfrm>
                <a:off x="251520" y="1844824"/>
                <a:ext cx="8568952" cy="4461093"/>
              </a:xfrm>
              <a:prstGeom prst="rect">
                <a:avLst/>
              </a:prstGeom>
              <a:blipFill>
                <a:blip r:embed="rId4"/>
                <a:stretch>
                  <a:fillRect l="-1067" r="-1138" b="-1778"/>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D487F58D-1410-4CC7-B57E-2F65E7EA8013}"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0228" name="Text Box 2"/>
          <p:cNvSpPr txBox="1">
            <a:spLocks noChangeArrowheads="1"/>
          </p:cNvSpPr>
          <p:nvPr/>
        </p:nvSpPr>
        <p:spPr bwMode="auto">
          <a:xfrm>
            <a:off x="1403350" y="765175"/>
            <a:ext cx="6265863"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有向图的连通性</a:t>
            </a:r>
          </a:p>
        </p:txBody>
      </p:sp>
      <p:pic>
        <p:nvPicPr>
          <p:cNvPr id="18022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41CB5457-1D1E-43E2-A8EC-4345C9197219}"/>
                  </a:ext>
                </a:extLst>
              </p:cNvPr>
              <p:cNvSpPr/>
              <p:nvPr/>
            </p:nvSpPr>
            <p:spPr>
              <a:xfrm>
                <a:off x="425420" y="2037161"/>
                <a:ext cx="8293160" cy="3896516"/>
              </a:xfrm>
              <a:prstGeom prst="rect">
                <a:avLst/>
              </a:prstGeom>
              <a:solidFill>
                <a:schemeClr val="accent5"/>
              </a:solidFill>
            </p:spPr>
            <p:txBody>
              <a:bodyPr wrap="square">
                <a:spAutoFit/>
              </a:bodyPr>
              <a:lstStyle/>
              <a:p>
                <a:pPr indent="333375" algn="just">
                  <a:lnSpc>
                    <a:spcPct val="150000"/>
                  </a:lnSpc>
                  <a:spcAft>
                    <a:spcPts val="0"/>
                  </a:spcAft>
                </a:pPr>
                <a:r>
                  <a:rPr lang="en-US"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在没有特别说明的情况下，连通的有向图</a:t>
                </a:r>
                <a:r>
                  <a:rPr lang="zh-CN" altLang="en-US"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通常是</a:t>
                </a:r>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指</a:t>
                </a:r>
                <a:r>
                  <a:rPr lang="zh-CN" altLang="zh-CN" sz="28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弱连通的有向图</a:t>
                </a:r>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indent="333375" algn="just">
                  <a:lnSpc>
                    <a:spcPct val="150000"/>
                  </a:lnSpc>
                  <a:spcAft>
                    <a:spcPts val="0"/>
                  </a:spcAft>
                </a:pPr>
                <a:r>
                  <a:rPr lang="en-US"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显然，如果一个有向图</a:t>
                </a:r>
                <a14:m>
                  <m:oMath xmlns:m="http://schemas.openxmlformats.org/officeDocument/2006/math">
                    <m:r>
                      <a:rPr lang="zh-CN" altLang="zh-CN" sz="2800" b="1" kern="10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800" b="1" i="1" kern="10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800" b="1" kern="10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是强连通</a:t>
                </a:r>
                <a:r>
                  <a:rPr lang="zh-CN" altLang="en-US"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图</a:t>
                </a:r>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，那么它一定是单连通</a:t>
                </a:r>
                <a:r>
                  <a:rPr lang="zh-CN" altLang="en-US"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图</a:t>
                </a:r>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，反之不然；</a:t>
                </a:r>
                <a:endParaRPr lang="en-US"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indent="333375" algn="just">
                  <a:lnSpc>
                    <a:spcPct val="150000"/>
                  </a:lnSpc>
                  <a:spcAft>
                    <a:spcPts val="0"/>
                  </a:spcAft>
                </a:pPr>
                <a:r>
                  <a:rPr lang="en-US"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如果一个有向图</a:t>
                </a:r>
                <a14:m>
                  <m:oMath xmlns:m="http://schemas.openxmlformats.org/officeDocument/2006/math">
                    <m:r>
                      <a:rPr lang="zh-CN" altLang="zh-CN" sz="2800" b="1" kern="10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800" b="1" i="1" kern="10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800" b="1" i="1" kern="10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是单连通图，那么它一定是弱连通</a:t>
                </a:r>
                <a:r>
                  <a:rPr lang="zh-CN" altLang="en-US"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图</a:t>
                </a:r>
                <a:r>
                  <a:rPr lang="zh-CN" altLang="zh-CN" sz="28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，反之不然。</a:t>
                </a:r>
              </a:p>
            </p:txBody>
          </p:sp>
        </mc:Choice>
        <mc:Fallback xmlns="">
          <p:sp>
            <p:nvSpPr>
              <p:cNvPr id="2" name="矩形 1">
                <a:extLst>
                  <a:ext uri="{FF2B5EF4-FFF2-40B4-BE49-F238E27FC236}">
                    <a16:creationId xmlns:a16="http://schemas.microsoft.com/office/drawing/2014/main" id="{41CB5457-1D1E-43E2-A8EC-4345C9197219}"/>
                  </a:ext>
                </a:extLst>
              </p:cNvPr>
              <p:cNvSpPr>
                <a:spLocks noRot="1" noChangeAspect="1" noMove="1" noResize="1" noEditPoints="1" noAdjustHandles="1" noChangeArrowheads="1" noChangeShapeType="1" noTextEdit="1"/>
              </p:cNvSpPr>
              <p:nvPr/>
            </p:nvSpPr>
            <p:spPr>
              <a:xfrm>
                <a:off x="425420" y="2037161"/>
                <a:ext cx="8293160" cy="3896516"/>
              </a:xfrm>
              <a:prstGeom prst="rect">
                <a:avLst/>
              </a:prstGeom>
              <a:blipFill>
                <a:blip r:embed="rId4"/>
                <a:stretch>
                  <a:fillRect l="-1544" r="-1471" b="-28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2993166"/>
      </p:ext>
    </p:extLst>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171" name="Rectangle 3"/>
          <p:cNvSpPr>
            <a:spLocks noGrp="1" noChangeArrowheads="1"/>
          </p:cNvSpPr>
          <p:nvPr>
            <p:ph idx="1"/>
          </p:nvPr>
        </p:nvSpPr>
        <p:spPr>
          <a:xfrm>
            <a:off x="611188" y="1433513"/>
            <a:ext cx="8064500" cy="604837"/>
          </a:xfrm>
          <a:solidFill>
            <a:schemeClr val="accent5"/>
          </a:solidFill>
        </p:spPr>
        <p:txBody>
          <a:bodyPr/>
          <a:lstStyle/>
          <a:p>
            <a:pPr marL="0" indent="0" eaLnBrk="1" hangingPunct="1">
              <a:lnSpc>
                <a:spcPct val="150000"/>
              </a:lnSpc>
              <a:buFontTx/>
              <a:buNone/>
              <a:defRPr/>
            </a:pPr>
            <a:r>
              <a:rPr lang="zh-CN" altLang="en-US" b="1" dirty="0">
                <a:solidFill>
                  <a:srgbClr val="FF0000"/>
                </a:solidFill>
              </a:rPr>
              <a:t>例：</a:t>
            </a:r>
            <a:r>
              <a:rPr lang="zh-CN" altLang="en-US" b="1" dirty="0"/>
              <a:t>判断下图中</a:t>
            </a:r>
            <a:r>
              <a:rPr lang="en-US" altLang="zh-CN" b="1" dirty="0"/>
              <a:t>4</a:t>
            </a:r>
            <a:r>
              <a:rPr lang="zh-CN" altLang="en-US" b="1" dirty="0"/>
              <a:t>个图的连通性。</a:t>
            </a:r>
          </a:p>
        </p:txBody>
      </p:sp>
      <p:sp>
        <p:nvSpPr>
          <p:cNvPr id="181251"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C8EDF4AC-7DFC-4950-9535-0EAAA24B1306}"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1253" name="Rectangle 60"/>
          <p:cNvSpPr>
            <a:spLocks noChangeArrowheads="1"/>
          </p:cNvSpPr>
          <p:nvPr/>
        </p:nvSpPr>
        <p:spPr bwMode="auto">
          <a:xfrm>
            <a:off x="125412" y="3789953"/>
            <a:ext cx="8893175" cy="2501900"/>
          </a:xfrm>
          <a:prstGeom prst="rect">
            <a:avLst/>
          </a:prstGeom>
          <a:solidFill>
            <a:schemeClr val="accent3">
              <a:lumMod val="85000"/>
            </a:schemeClr>
          </a:solidFill>
          <a:ln>
            <a:noFill/>
          </a:ln>
          <a:effec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lnSpc>
                <a:spcPct val="110000"/>
              </a:lnSpc>
              <a:buClr>
                <a:srgbClr val="FF3300"/>
              </a:buClr>
              <a:buFont typeface="Wingdings" panose="05000000000000000000" pitchFamily="2" charset="2"/>
              <a:buNone/>
            </a:pPr>
            <a:r>
              <a:rPr kumimoji="0" lang="en-US" altLang="zh-CN" b="1" dirty="0">
                <a:solidFill>
                  <a:srgbClr val="FF0000"/>
                </a:solidFill>
                <a:latin typeface="黑体" panose="02010609060101010101" pitchFamily="49" charset="-122"/>
                <a:ea typeface="黑体" panose="02010609060101010101" pitchFamily="49" charset="-122"/>
              </a:rPr>
              <a:t>【</a:t>
            </a:r>
            <a:r>
              <a:rPr kumimoji="0" lang="zh-CN" altLang="en-US" b="1" dirty="0">
                <a:solidFill>
                  <a:srgbClr val="FF0000"/>
                </a:solidFill>
                <a:latin typeface="黑体" panose="02010609060101010101" pitchFamily="49" charset="-122"/>
                <a:ea typeface="黑体" panose="02010609060101010101" pitchFamily="49" charset="-122"/>
              </a:rPr>
              <a:t>分析</a:t>
            </a:r>
            <a:r>
              <a:rPr kumimoji="0" lang="en-US" altLang="zh-CN" b="1" dirty="0">
                <a:solidFill>
                  <a:srgbClr val="FF0000"/>
                </a:solidFill>
                <a:latin typeface="黑体" panose="02010609060101010101" pitchFamily="49" charset="-122"/>
                <a:ea typeface="黑体" panose="02010609060101010101" pitchFamily="49" charset="-122"/>
              </a:rPr>
              <a:t>】</a:t>
            </a:r>
            <a:r>
              <a:rPr kumimoji="0" lang="zh-CN" altLang="en-US" b="1" dirty="0">
                <a:solidFill>
                  <a:srgbClr val="000000"/>
                </a:solidFill>
                <a:latin typeface="黑体" panose="02010609060101010101" pitchFamily="49" charset="-122"/>
                <a:ea typeface="黑体" panose="02010609060101010101" pitchFamily="49" charset="-122"/>
              </a:rPr>
              <a:t>容易看出</a:t>
            </a:r>
            <a:r>
              <a:rPr kumimoji="0" lang="en-US" altLang="zh-CN" b="1" dirty="0">
                <a:solidFill>
                  <a:srgbClr val="000000"/>
                </a:solidFill>
                <a:latin typeface="黑体" panose="02010609060101010101" pitchFamily="49" charset="-122"/>
                <a:ea typeface="黑体" panose="02010609060101010101" pitchFamily="49" charset="-122"/>
              </a:rPr>
              <a:t>G</a:t>
            </a:r>
            <a:r>
              <a:rPr kumimoji="0" lang="en-US" altLang="zh-CN" b="1" baseline="-25000" dirty="0">
                <a:solidFill>
                  <a:srgbClr val="000000"/>
                </a:solidFill>
                <a:latin typeface="黑体" panose="02010609060101010101" pitchFamily="49" charset="-122"/>
                <a:ea typeface="黑体" panose="02010609060101010101" pitchFamily="49" charset="-122"/>
              </a:rPr>
              <a:t>1</a:t>
            </a:r>
            <a:r>
              <a:rPr kumimoji="0" lang="zh-CN" altLang="en-US" b="1" dirty="0">
                <a:solidFill>
                  <a:srgbClr val="000000"/>
                </a:solidFill>
                <a:latin typeface="黑体" panose="02010609060101010101" pitchFamily="49" charset="-122"/>
                <a:ea typeface="黑体" panose="02010609060101010101" pitchFamily="49" charset="-122"/>
              </a:rPr>
              <a:t>、</a:t>
            </a:r>
            <a:r>
              <a:rPr kumimoji="0" lang="en-US" altLang="zh-CN" b="1" dirty="0">
                <a:solidFill>
                  <a:srgbClr val="000000"/>
                </a:solidFill>
                <a:latin typeface="黑体" panose="02010609060101010101" pitchFamily="49" charset="-122"/>
                <a:ea typeface="黑体" panose="02010609060101010101" pitchFamily="49" charset="-122"/>
              </a:rPr>
              <a:t>G</a:t>
            </a:r>
            <a:r>
              <a:rPr kumimoji="0" lang="en-US" altLang="zh-CN" b="1" baseline="-25000" dirty="0">
                <a:solidFill>
                  <a:srgbClr val="000000"/>
                </a:solidFill>
                <a:latin typeface="黑体" panose="02010609060101010101" pitchFamily="49" charset="-122"/>
                <a:ea typeface="黑体" panose="02010609060101010101" pitchFamily="49" charset="-122"/>
              </a:rPr>
              <a:t>2</a:t>
            </a:r>
            <a:r>
              <a:rPr kumimoji="0" lang="zh-CN" altLang="en-US" b="1" dirty="0">
                <a:solidFill>
                  <a:srgbClr val="000000"/>
                </a:solidFill>
                <a:latin typeface="黑体" panose="02010609060101010101" pitchFamily="49" charset="-122"/>
                <a:ea typeface="黑体" panose="02010609060101010101" pitchFamily="49" charset="-122"/>
              </a:rPr>
              <a:t>、</a:t>
            </a:r>
            <a:r>
              <a:rPr kumimoji="0" lang="en-US" altLang="zh-CN" b="1" dirty="0">
                <a:solidFill>
                  <a:srgbClr val="000000"/>
                </a:solidFill>
                <a:latin typeface="黑体" panose="02010609060101010101" pitchFamily="49" charset="-122"/>
                <a:ea typeface="黑体" panose="02010609060101010101" pitchFamily="49" charset="-122"/>
              </a:rPr>
              <a:t>G</a:t>
            </a:r>
            <a:r>
              <a:rPr kumimoji="0" lang="en-US" altLang="zh-CN" b="1" baseline="-25000" dirty="0">
                <a:solidFill>
                  <a:srgbClr val="000000"/>
                </a:solidFill>
                <a:latin typeface="黑体" panose="02010609060101010101" pitchFamily="49" charset="-122"/>
                <a:ea typeface="黑体" panose="02010609060101010101" pitchFamily="49" charset="-122"/>
              </a:rPr>
              <a:t>3</a:t>
            </a:r>
            <a:r>
              <a:rPr kumimoji="0" lang="zh-CN" altLang="en-US" b="1" dirty="0">
                <a:solidFill>
                  <a:srgbClr val="000000"/>
                </a:solidFill>
                <a:latin typeface="黑体" panose="02010609060101010101" pitchFamily="49" charset="-122"/>
                <a:ea typeface="黑体" panose="02010609060101010101" pitchFamily="49" charset="-122"/>
              </a:rPr>
              <a:t>是连通的有向图，</a:t>
            </a:r>
            <a:r>
              <a:rPr kumimoji="0" lang="en-US" altLang="zh-CN" b="1" dirty="0">
                <a:solidFill>
                  <a:srgbClr val="000000"/>
                </a:solidFill>
                <a:latin typeface="黑体" panose="02010609060101010101" pitchFamily="49" charset="-122"/>
                <a:ea typeface="黑体" panose="02010609060101010101" pitchFamily="49" charset="-122"/>
              </a:rPr>
              <a:t>G</a:t>
            </a:r>
            <a:r>
              <a:rPr kumimoji="0" lang="en-US" altLang="zh-CN" b="1" baseline="-25000" dirty="0">
                <a:solidFill>
                  <a:srgbClr val="000000"/>
                </a:solidFill>
                <a:latin typeface="黑体" panose="02010609060101010101" pitchFamily="49" charset="-122"/>
                <a:ea typeface="黑体" panose="02010609060101010101" pitchFamily="49" charset="-122"/>
              </a:rPr>
              <a:t>4</a:t>
            </a:r>
            <a:r>
              <a:rPr kumimoji="0" lang="zh-CN" altLang="en-US" b="1" dirty="0">
                <a:solidFill>
                  <a:srgbClr val="000000"/>
                </a:solidFill>
                <a:latin typeface="黑体" panose="02010609060101010101" pitchFamily="49" charset="-122"/>
                <a:ea typeface="黑体" panose="02010609060101010101" pitchFamily="49" charset="-122"/>
              </a:rPr>
              <a:t>是非连通的有向图。再看有向连通图中结点间的可达情况，</a:t>
            </a:r>
            <a:r>
              <a:rPr kumimoji="0" lang="en-US" altLang="zh-CN" b="1" dirty="0">
                <a:solidFill>
                  <a:srgbClr val="0000FF"/>
                </a:solidFill>
                <a:latin typeface="黑体" panose="02010609060101010101" pitchFamily="49" charset="-122"/>
                <a:ea typeface="黑体" panose="02010609060101010101" pitchFamily="49" charset="-122"/>
              </a:rPr>
              <a:t>G</a:t>
            </a:r>
            <a:r>
              <a:rPr kumimoji="0" lang="en-US" altLang="zh-CN" b="1" baseline="-25000" dirty="0">
                <a:solidFill>
                  <a:srgbClr val="0000FF"/>
                </a:solidFill>
                <a:latin typeface="黑体" panose="02010609060101010101" pitchFamily="49" charset="-122"/>
                <a:ea typeface="黑体" panose="02010609060101010101" pitchFamily="49" charset="-122"/>
              </a:rPr>
              <a:t>1</a:t>
            </a:r>
            <a:r>
              <a:rPr kumimoji="0" lang="zh-CN" altLang="en-US" b="1" dirty="0">
                <a:solidFill>
                  <a:srgbClr val="0000FF"/>
                </a:solidFill>
                <a:latin typeface="黑体" panose="02010609060101010101" pitchFamily="49" charset="-122"/>
                <a:ea typeface="黑体" panose="02010609060101010101" pitchFamily="49" charset="-122"/>
              </a:rPr>
              <a:t>中</a:t>
            </a:r>
            <a:r>
              <a:rPr kumimoji="0" lang="en-US" altLang="zh-CN" b="1" dirty="0">
                <a:solidFill>
                  <a:srgbClr val="0000FF"/>
                </a:solidFill>
                <a:latin typeface="黑体" panose="02010609060101010101" pitchFamily="49" charset="-122"/>
                <a:ea typeface="黑体" panose="02010609060101010101" pitchFamily="49" charset="-122"/>
              </a:rPr>
              <a:t>v</a:t>
            </a:r>
            <a:r>
              <a:rPr kumimoji="0" lang="en-US" altLang="zh-CN" b="1" baseline="-25000" dirty="0">
                <a:solidFill>
                  <a:srgbClr val="0000FF"/>
                </a:solidFill>
                <a:latin typeface="黑体" panose="02010609060101010101" pitchFamily="49" charset="-122"/>
                <a:ea typeface="黑体" panose="02010609060101010101" pitchFamily="49" charset="-122"/>
              </a:rPr>
              <a:t>1</a:t>
            </a:r>
            <a:r>
              <a:rPr kumimoji="0" lang="zh-CN" altLang="en-US" b="1" dirty="0">
                <a:solidFill>
                  <a:srgbClr val="0000FF"/>
                </a:solidFill>
                <a:latin typeface="黑体" panose="02010609060101010101" pitchFamily="49" charset="-122"/>
                <a:ea typeface="黑体" panose="02010609060101010101" pitchFamily="49" charset="-122"/>
              </a:rPr>
              <a:t>到</a:t>
            </a:r>
            <a:r>
              <a:rPr kumimoji="0" lang="en-US" altLang="zh-CN" b="1" dirty="0">
                <a:solidFill>
                  <a:srgbClr val="0000FF"/>
                </a:solidFill>
                <a:latin typeface="黑体" panose="02010609060101010101" pitchFamily="49" charset="-122"/>
                <a:ea typeface="黑体" panose="02010609060101010101" pitchFamily="49" charset="-122"/>
              </a:rPr>
              <a:t>v</a:t>
            </a:r>
            <a:r>
              <a:rPr kumimoji="0" lang="en-US" altLang="zh-CN" b="1" baseline="-25000" dirty="0">
                <a:solidFill>
                  <a:srgbClr val="0000FF"/>
                </a:solidFill>
                <a:latin typeface="黑体" panose="02010609060101010101" pitchFamily="49" charset="-122"/>
                <a:ea typeface="黑体" panose="02010609060101010101" pitchFamily="49" charset="-122"/>
              </a:rPr>
              <a:t>4</a:t>
            </a:r>
            <a:r>
              <a:rPr kumimoji="0" lang="zh-CN" altLang="en-US" b="1" dirty="0">
                <a:solidFill>
                  <a:srgbClr val="0000FF"/>
                </a:solidFill>
                <a:latin typeface="黑体" panose="02010609060101010101" pitchFamily="49" charset="-122"/>
                <a:ea typeface="黑体" panose="02010609060101010101" pitchFamily="49" charset="-122"/>
              </a:rPr>
              <a:t>不可达，</a:t>
            </a:r>
            <a:r>
              <a:rPr kumimoji="0" lang="en-US" altLang="zh-CN" b="1" dirty="0">
                <a:solidFill>
                  <a:srgbClr val="0000FF"/>
                </a:solidFill>
                <a:latin typeface="黑体" panose="02010609060101010101" pitchFamily="49" charset="-122"/>
                <a:ea typeface="黑体" panose="02010609060101010101" pitchFamily="49" charset="-122"/>
              </a:rPr>
              <a:t>v</a:t>
            </a:r>
            <a:r>
              <a:rPr kumimoji="0" lang="en-US" altLang="zh-CN" b="1" baseline="-25000" dirty="0">
                <a:solidFill>
                  <a:srgbClr val="0000FF"/>
                </a:solidFill>
                <a:latin typeface="黑体" panose="02010609060101010101" pitchFamily="49" charset="-122"/>
                <a:ea typeface="黑体" panose="02010609060101010101" pitchFamily="49" charset="-122"/>
              </a:rPr>
              <a:t>4</a:t>
            </a:r>
            <a:r>
              <a:rPr kumimoji="0" lang="zh-CN" altLang="en-US" b="1" dirty="0">
                <a:solidFill>
                  <a:srgbClr val="0000FF"/>
                </a:solidFill>
                <a:latin typeface="黑体" panose="02010609060101010101" pitchFamily="49" charset="-122"/>
                <a:ea typeface="黑体" panose="02010609060101010101" pitchFamily="49" charset="-122"/>
              </a:rPr>
              <a:t>到</a:t>
            </a:r>
            <a:r>
              <a:rPr kumimoji="0" lang="en-US" altLang="zh-CN" b="1" dirty="0">
                <a:solidFill>
                  <a:srgbClr val="0000FF"/>
                </a:solidFill>
                <a:latin typeface="黑体" panose="02010609060101010101" pitchFamily="49" charset="-122"/>
                <a:ea typeface="黑体" panose="02010609060101010101" pitchFamily="49" charset="-122"/>
              </a:rPr>
              <a:t>v</a:t>
            </a:r>
            <a:r>
              <a:rPr kumimoji="0" lang="en-US" altLang="zh-CN" b="1" baseline="-25000" dirty="0">
                <a:solidFill>
                  <a:srgbClr val="0000FF"/>
                </a:solidFill>
                <a:latin typeface="黑体" panose="02010609060101010101" pitchFamily="49" charset="-122"/>
                <a:ea typeface="黑体" panose="02010609060101010101" pitchFamily="49" charset="-122"/>
              </a:rPr>
              <a:t>1</a:t>
            </a:r>
            <a:r>
              <a:rPr kumimoji="0" lang="zh-CN" altLang="en-US" b="1" dirty="0">
                <a:solidFill>
                  <a:srgbClr val="0000FF"/>
                </a:solidFill>
                <a:latin typeface="黑体" panose="02010609060101010101" pitchFamily="49" charset="-122"/>
                <a:ea typeface="黑体" panose="02010609060101010101" pitchFamily="49" charset="-122"/>
              </a:rPr>
              <a:t>不可达，所以</a:t>
            </a:r>
            <a:r>
              <a:rPr kumimoji="0" lang="en-US" altLang="zh-CN" b="1" dirty="0">
                <a:solidFill>
                  <a:srgbClr val="0000FF"/>
                </a:solidFill>
                <a:latin typeface="黑体" panose="02010609060101010101" pitchFamily="49" charset="-122"/>
                <a:ea typeface="黑体" panose="02010609060101010101" pitchFamily="49" charset="-122"/>
              </a:rPr>
              <a:t>G</a:t>
            </a:r>
            <a:r>
              <a:rPr kumimoji="0" lang="en-US" altLang="zh-CN" b="1" baseline="-25000" dirty="0">
                <a:solidFill>
                  <a:srgbClr val="0000FF"/>
                </a:solidFill>
                <a:latin typeface="黑体" panose="02010609060101010101" pitchFamily="49" charset="-122"/>
                <a:ea typeface="黑体" panose="02010609060101010101" pitchFamily="49" charset="-122"/>
              </a:rPr>
              <a:t>1</a:t>
            </a:r>
            <a:r>
              <a:rPr kumimoji="0" lang="zh-CN" altLang="en-US" b="1" dirty="0">
                <a:solidFill>
                  <a:srgbClr val="0000FF"/>
                </a:solidFill>
                <a:latin typeface="黑体" panose="02010609060101010101" pitchFamily="49" charset="-122"/>
                <a:ea typeface="黑体" panose="02010609060101010101" pitchFamily="49" charset="-122"/>
              </a:rPr>
              <a:t>是弱连通图；</a:t>
            </a:r>
            <a:r>
              <a:rPr kumimoji="0" lang="en-US" altLang="zh-CN" b="1" dirty="0">
                <a:solidFill>
                  <a:srgbClr val="000000"/>
                </a:solidFill>
                <a:latin typeface="黑体" panose="02010609060101010101" pitchFamily="49" charset="-122"/>
                <a:ea typeface="黑体" panose="02010609060101010101" pitchFamily="49" charset="-122"/>
              </a:rPr>
              <a:t>G</a:t>
            </a:r>
            <a:r>
              <a:rPr kumimoji="0" lang="en-US" altLang="zh-CN" b="1" baseline="-25000" dirty="0">
                <a:solidFill>
                  <a:srgbClr val="000000"/>
                </a:solidFill>
                <a:latin typeface="黑体" panose="02010609060101010101" pitchFamily="49" charset="-122"/>
                <a:ea typeface="黑体" panose="02010609060101010101" pitchFamily="49" charset="-122"/>
              </a:rPr>
              <a:t>2</a:t>
            </a:r>
            <a:r>
              <a:rPr kumimoji="0" lang="zh-CN" altLang="en-US" b="1" dirty="0">
                <a:solidFill>
                  <a:srgbClr val="000000"/>
                </a:solidFill>
                <a:latin typeface="黑体" panose="02010609060101010101" pitchFamily="49" charset="-122"/>
                <a:ea typeface="黑体" panose="02010609060101010101" pitchFamily="49" charset="-122"/>
              </a:rPr>
              <a:t>中任何一对结点之间至少有一个结点到另一个结点是可达的，所以</a:t>
            </a:r>
            <a:r>
              <a:rPr kumimoji="0" lang="en-US" altLang="zh-CN" b="1" dirty="0">
                <a:solidFill>
                  <a:srgbClr val="000000"/>
                </a:solidFill>
                <a:latin typeface="黑体" panose="02010609060101010101" pitchFamily="49" charset="-122"/>
                <a:ea typeface="黑体" panose="02010609060101010101" pitchFamily="49" charset="-122"/>
              </a:rPr>
              <a:t>G</a:t>
            </a:r>
            <a:r>
              <a:rPr kumimoji="0" lang="en-US" altLang="zh-CN" b="1" baseline="-25000" dirty="0">
                <a:solidFill>
                  <a:srgbClr val="000000"/>
                </a:solidFill>
                <a:latin typeface="黑体" panose="02010609060101010101" pitchFamily="49" charset="-122"/>
                <a:ea typeface="黑体" panose="02010609060101010101" pitchFamily="49" charset="-122"/>
              </a:rPr>
              <a:t>2</a:t>
            </a:r>
            <a:r>
              <a:rPr kumimoji="0" lang="zh-CN" altLang="en-US" b="1" dirty="0">
                <a:solidFill>
                  <a:srgbClr val="000000"/>
                </a:solidFill>
                <a:latin typeface="黑体" panose="02010609060101010101" pitchFamily="49" charset="-122"/>
                <a:ea typeface="黑体" panose="02010609060101010101" pitchFamily="49" charset="-122"/>
              </a:rPr>
              <a:t>是单向连通图（当然它也是弱连通图）；</a:t>
            </a:r>
            <a:r>
              <a:rPr kumimoji="0" lang="en-US" altLang="zh-CN" b="1" dirty="0">
                <a:solidFill>
                  <a:srgbClr val="0000FF"/>
                </a:solidFill>
                <a:latin typeface="黑体" panose="02010609060101010101" pitchFamily="49" charset="-122"/>
                <a:ea typeface="黑体" panose="02010609060101010101" pitchFamily="49" charset="-122"/>
              </a:rPr>
              <a:t>G</a:t>
            </a:r>
            <a:r>
              <a:rPr kumimoji="0" lang="en-US" altLang="zh-CN" b="1" baseline="-25000" dirty="0">
                <a:solidFill>
                  <a:srgbClr val="0000FF"/>
                </a:solidFill>
                <a:latin typeface="黑体" panose="02010609060101010101" pitchFamily="49" charset="-122"/>
                <a:ea typeface="黑体" panose="02010609060101010101" pitchFamily="49" charset="-122"/>
              </a:rPr>
              <a:t>3</a:t>
            </a:r>
            <a:r>
              <a:rPr kumimoji="0" lang="zh-CN" altLang="en-US" b="1" dirty="0">
                <a:solidFill>
                  <a:srgbClr val="0000FF"/>
                </a:solidFill>
                <a:latin typeface="黑体" panose="02010609060101010101" pitchFamily="49" charset="-122"/>
                <a:ea typeface="黑体" panose="02010609060101010101" pitchFamily="49" charset="-122"/>
              </a:rPr>
              <a:t>中中任何一对结点之间至少有一个结点到另一个结点是可达的，所以</a:t>
            </a:r>
            <a:r>
              <a:rPr kumimoji="0" lang="en-US" altLang="zh-CN" b="1" dirty="0">
                <a:solidFill>
                  <a:srgbClr val="0000FF"/>
                </a:solidFill>
                <a:latin typeface="黑体" panose="02010609060101010101" pitchFamily="49" charset="-122"/>
                <a:ea typeface="黑体" panose="02010609060101010101" pitchFamily="49" charset="-122"/>
              </a:rPr>
              <a:t>G</a:t>
            </a:r>
            <a:r>
              <a:rPr kumimoji="0" lang="en-US" altLang="zh-CN" b="1" baseline="-25000" dirty="0">
                <a:solidFill>
                  <a:srgbClr val="0000FF"/>
                </a:solidFill>
                <a:latin typeface="黑体" panose="02010609060101010101" pitchFamily="49" charset="-122"/>
                <a:ea typeface="黑体" panose="02010609060101010101" pitchFamily="49" charset="-122"/>
              </a:rPr>
              <a:t>3</a:t>
            </a:r>
            <a:r>
              <a:rPr kumimoji="0" lang="zh-CN" altLang="en-US" b="1" dirty="0">
                <a:solidFill>
                  <a:srgbClr val="0000FF"/>
                </a:solidFill>
                <a:latin typeface="黑体" panose="02010609060101010101" pitchFamily="49" charset="-122"/>
                <a:ea typeface="黑体" panose="02010609060101010101" pitchFamily="49" charset="-122"/>
              </a:rPr>
              <a:t>是强连通图；</a:t>
            </a:r>
            <a:r>
              <a:rPr kumimoji="0" lang="en-US" altLang="zh-CN" b="1" dirty="0">
                <a:solidFill>
                  <a:srgbClr val="0000FF"/>
                </a:solidFill>
                <a:latin typeface="黑体" panose="02010609060101010101" pitchFamily="49" charset="-122"/>
                <a:ea typeface="黑体" panose="02010609060101010101" pitchFamily="49" charset="-122"/>
              </a:rPr>
              <a:t> G</a:t>
            </a:r>
            <a:r>
              <a:rPr kumimoji="0" lang="en-US" altLang="zh-CN" b="1" baseline="-25000" dirty="0">
                <a:solidFill>
                  <a:srgbClr val="0000FF"/>
                </a:solidFill>
                <a:latin typeface="黑体" panose="02010609060101010101" pitchFamily="49" charset="-122"/>
                <a:ea typeface="黑体" panose="02010609060101010101" pitchFamily="49" charset="-122"/>
              </a:rPr>
              <a:t>4</a:t>
            </a:r>
            <a:r>
              <a:rPr kumimoji="0" lang="zh-CN" altLang="en-US" b="1" dirty="0">
                <a:solidFill>
                  <a:srgbClr val="0000FF"/>
                </a:solidFill>
                <a:latin typeface="黑体" panose="02010609060101010101" pitchFamily="49" charset="-122"/>
                <a:ea typeface="黑体" panose="02010609060101010101" pitchFamily="49" charset="-122"/>
              </a:rPr>
              <a:t>显然为不连通图。</a:t>
            </a:r>
          </a:p>
        </p:txBody>
      </p:sp>
      <p:sp>
        <p:nvSpPr>
          <p:cNvPr id="181254" name="Text Box 2"/>
          <p:cNvSpPr txBox="1">
            <a:spLocks noChangeArrowheads="1"/>
          </p:cNvSpPr>
          <p:nvPr/>
        </p:nvSpPr>
        <p:spPr bwMode="auto">
          <a:xfrm>
            <a:off x="1403350" y="549275"/>
            <a:ext cx="6265863"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例  题</a:t>
            </a:r>
          </a:p>
        </p:txBody>
      </p:sp>
      <p:pic>
        <p:nvPicPr>
          <p:cNvPr id="18125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88A9F962-9274-4DA2-BC17-7A2645AE0766}"/>
              </a:ext>
            </a:extLst>
          </p:cNvPr>
          <p:cNvPicPr>
            <a:picLocks noChangeAspect="1"/>
          </p:cNvPicPr>
          <p:nvPr/>
        </p:nvPicPr>
        <p:blipFill>
          <a:blip r:embed="rId4"/>
          <a:stretch>
            <a:fillRect/>
          </a:stretch>
        </p:blipFill>
        <p:spPr>
          <a:xfrm>
            <a:off x="1403350" y="2166949"/>
            <a:ext cx="6423537" cy="1493491"/>
          </a:xfrm>
          <a:prstGeom prst="rect">
            <a:avLst/>
          </a:prstGeom>
        </p:spPr>
      </p:pic>
    </p:spTree>
  </p:cSld>
  <p:clrMapOvr>
    <a:masterClrMapping/>
  </p:clrMapOvr>
  <p:transition spd="med">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9"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3DE075-166B-493D-8B2F-91B7D5E14A7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3300" name="Text Box 2"/>
          <p:cNvSpPr txBox="1">
            <a:spLocks noChangeArrowheads="1"/>
          </p:cNvSpPr>
          <p:nvPr/>
        </p:nvSpPr>
        <p:spPr bwMode="auto">
          <a:xfrm>
            <a:off x="1367631" y="662891"/>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连通性的矩阵判定</a:t>
            </a:r>
          </a:p>
        </p:txBody>
      </p:sp>
      <p:pic>
        <p:nvPicPr>
          <p:cNvPr id="18330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48256" y="476251"/>
            <a:ext cx="1095744" cy="11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6F3534E2-875B-416B-9CA9-EBC85D253D5D}"/>
                  </a:ext>
                </a:extLst>
              </p:cNvPr>
              <p:cNvSpPr/>
              <p:nvPr/>
            </p:nvSpPr>
            <p:spPr>
              <a:xfrm>
                <a:off x="179512" y="1700808"/>
                <a:ext cx="8640960" cy="4656018"/>
              </a:xfrm>
              <a:prstGeom prst="rect">
                <a:avLst/>
              </a:prstGeom>
              <a:solidFill>
                <a:schemeClr val="accent6">
                  <a:lumMod val="75000"/>
                </a:schemeClr>
              </a:solidFill>
            </p:spPr>
            <p:txBody>
              <a:bodyPr wrap="square">
                <a:spAutoFit/>
              </a:bodyPr>
              <a:lstStyle/>
              <a:p>
                <a:pPr indent="266700" algn="just">
                  <a:lnSpc>
                    <a:spcPts val="40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对于一个有向图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，可用其邻接矩阵</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𝑨</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和可达性矩阵</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𝑷</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的性质判断其连通性：</a:t>
                </a:r>
              </a:p>
              <a:p>
                <a:pPr indent="200025" algn="just">
                  <a:lnSpc>
                    <a:spcPts val="40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）有向图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强连通图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当且仅当其</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可达性矩阵</a:t>
                </a:r>
                <a14:m>
                  <m:oMath xmlns:m="http://schemas.openxmlformats.org/officeDocument/2006/math">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𝑷</m:t>
                    </m:r>
                  </m:oMath>
                </a14:m>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的所有元素均为</a:t>
                </a:r>
                <a:r>
                  <a:rPr lang="en-US"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p>
              <a:p>
                <a:pPr indent="200025" algn="just">
                  <a:lnSpc>
                    <a:spcPts val="40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）有向图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单连通图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当且仅当其可达性矩阵</a:t>
                </a:r>
                <a14:m>
                  <m:oMath xmlns:m="http://schemas.openxmlformats.org/officeDocument/2006/math">
                    <m:r>
                      <a:rPr lang="en-US" altLang="zh-CN" sz="2400" b="1" i="1" kern="100" smtClean="0">
                        <a:solidFill>
                          <a:srgbClr val="FFFF66"/>
                        </a:solidFill>
                        <a:latin typeface="Cambria Math" panose="02040503050406030204" pitchFamily="18" charset="0"/>
                        <a:ea typeface="宋体" panose="02010600030101010101" pitchFamily="2" charset="-122"/>
                        <a:cs typeface="Times New Roman" panose="02020603050405020304" pitchFamily="18" charset="0"/>
                      </a:rPr>
                      <m:t>𝑷</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及转置矩阵</a:t>
                </a:r>
                <a14:m>
                  <m:oMath xmlns:m="http://schemas.openxmlformats.org/officeDocument/2006/math">
                    <m:sSup>
                      <m:sSupPr>
                        <m:ctrlPr>
                          <a:rPr lang="zh-CN" altLang="zh-CN" sz="2400" b="1" i="1" kern="100" smtClean="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𝑷</m:t>
                        </m:r>
                      </m:e>
                      <m:sup>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𝑻</m:t>
                        </m:r>
                      </m:sup>
                    </m:sSup>
                  </m:oMath>
                </a14:m>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布尔</a:t>
                </a:r>
                <a:r>
                  <a:rPr lang="zh-CN" altLang="en-US"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或</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矩阵</a:t>
                </a:r>
                <a14:m>
                  <m:oMath xmlns:m="http://schemas.openxmlformats.org/officeDocument/2006/math">
                    <m:sSup>
                      <m:sSup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𝑷</m:t>
                        </m:r>
                      </m:e>
                      <m:sup>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𝑷</m:t>
                    </m:r>
                    <m:r>
                      <a:rPr lang="zh-CN"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𝑷</m:t>
                        </m:r>
                      </m:e>
                      <m:sup>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𝑻</m:t>
                        </m:r>
                      </m:sup>
                    </m:sSup>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中</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所有</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元素均为</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p>
              <a:p>
                <a:pPr indent="200025" algn="just">
                  <a:lnSpc>
                    <a:spcPts val="40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3</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）有向图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弱连通图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当且仅当</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以</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其邻接矩阵</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𝑨</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及转置矩阵</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𝑨</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𝑻</m:t>
                        </m:r>
                      </m:sup>
                    </m:sSup>
                  </m:oMath>
                </a14:m>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布尔矩阵</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𝑨</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𝑨</m:t>
                    </m:r>
                    <m:r>
                      <a:rPr lang="zh-CN"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𝑨</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𝑻</m:t>
                        </m:r>
                      </m:sup>
                    </m:sSup>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为邻接矩阵</a:t>
                </a:r>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而求得的可达性矩阵</a:t>
                </a:r>
                <a14:m>
                  <m:oMath xmlns:m="http://schemas.openxmlformats.org/officeDocument/2006/math">
                    <m:sSup>
                      <m:sSupPr>
                        <m:ctrlPr>
                          <a:rPr lang="zh-CN" altLang="zh-CN" sz="2400" b="1" i="1" kern="100">
                            <a:solidFill>
                              <a:srgbClr val="FFFF66"/>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𝑷</m:t>
                        </m:r>
                      </m:e>
                      <m:sup>
                        <m:r>
                          <a:rPr lang="en-US" altLang="zh-CN" sz="2400" b="1" i="1" kern="100">
                            <a:solidFill>
                              <a:srgbClr val="FFFF66"/>
                            </a:solidFill>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中所有元素均为</a:t>
                </a:r>
                <a:r>
                  <a:rPr lang="en-US" altLang="zh-CN" sz="24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p>
            </p:txBody>
          </p:sp>
        </mc:Choice>
        <mc:Fallback xmlns="">
          <p:sp>
            <p:nvSpPr>
              <p:cNvPr id="3" name="矩形 2">
                <a:extLst>
                  <a:ext uri="{FF2B5EF4-FFF2-40B4-BE49-F238E27FC236}">
                    <a16:creationId xmlns:a16="http://schemas.microsoft.com/office/drawing/2014/main" id="{6F3534E2-875B-416B-9CA9-EBC85D253D5D}"/>
                  </a:ext>
                </a:extLst>
              </p:cNvPr>
              <p:cNvSpPr>
                <a:spLocks noRot="1" noChangeAspect="1" noMove="1" noResize="1" noEditPoints="1" noAdjustHandles="1" noChangeArrowheads="1" noChangeShapeType="1" noTextEdit="1"/>
              </p:cNvSpPr>
              <p:nvPr/>
            </p:nvSpPr>
            <p:spPr>
              <a:xfrm>
                <a:off x="179512" y="1700808"/>
                <a:ext cx="8640960" cy="4656018"/>
              </a:xfrm>
              <a:prstGeom prst="rect">
                <a:avLst/>
              </a:prstGeom>
              <a:blipFill>
                <a:blip r:embed="rId4"/>
                <a:stretch>
                  <a:fillRect l="-1058" r="-1058" b="-2094"/>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10FB3D36-0D95-4DBF-B35C-A82586693198}"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2277" name="Text Box 2"/>
          <p:cNvSpPr txBox="1">
            <a:spLocks noChangeArrowheads="1"/>
          </p:cNvSpPr>
          <p:nvPr/>
        </p:nvSpPr>
        <p:spPr bwMode="auto">
          <a:xfrm>
            <a:off x="1403350" y="549275"/>
            <a:ext cx="6265863"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连通性定理</a:t>
            </a:r>
          </a:p>
        </p:txBody>
      </p:sp>
      <p:pic>
        <p:nvPicPr>
          <p:cNvPr id="18227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66510AE6-43FC-40CA-B9D5-1977FB469011}"/>
                  </a:ext>
                </a:extLst>
              </p:cNvPr>
              <p:cNvSpPr/>
              <p:nvPr/>
            </p:nvSpPr>
            <p:spPr>
              <a:xfrm>
                <a:off x="179512" y="1543048"/>
                <a:ext cx="8564935" cy="4668842"/>
              </a:xfrm>
              <a:prstGeom prst="rect">
                <a:avLst/>
              </a:prstGeom>
              <a:solidFill>
                <a:schemeClr val="accent6">
                  <a:lumMod val="75000"/>
                </a:schemeClr>
              </a:solidFill>
            </p:spPr>
            <p:txBody>
              <a:bodyPr wrap="square">
                <a:spAutoFit/>
              </a:bodyPr>
              <a:lstStyle/>
              <a:p>
                <a:pPr indent="266700" algn="just">
                  <a:lnSpc>
                    <a:spcPts val="36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【定理】有向图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是强连通图的充要条件是</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存在一条经过图</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所有结点的</a:t>
                </a:r>
                <a:r>
                  <a:rPr lang="zh-CN" altLang="zh-CN" sz="2400" b="1" kern="100" dirty="0">
                    <a:solidFill>
                      <a:srgbClr val="00B0F0"/>
                    </a:solidFill>
                    <a:cs typeface="Times New Roman" panose="02020603050405020304" pitchFamily="18" charset="0"/>
                  </a:rPr>
                  <a:t>回路</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；有向图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是单连通图的充要条件是</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存在一条经过图</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所有结点的</a:t>
                </a:r>
                <a:r>
                  <a:rPr lang="zh-CN" altLang="zh-CN" sz="2400" b="1" kern="100" dirty="0">
                    <a:solidFill>
                      <a:srgbClr val="00B0F0"/>
                    </a:solidFill>
                    <a:cs typeface="Times New Roman" panose="02020603050405020304" pitchFamily="18" charset="0"/>
                  </a:rPr>
                  <a:t>通路</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p>
              <a:p>
                <a:pPr indent="266700" algn="just">
                  <a:lnSpc>
                    <a:spcPts val="36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【证明】</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首先证明必要性</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是强连通图，则</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中任意两个结点之间均</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相互双向可达</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，故从任意一个结点开始逐个连接其它尚未连接的结点，便可构成</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上一个经过所有结点的回路。 </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6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然后证明充分性</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上存在一条经过所有结点的回路，则</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上任意两个</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结</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点在回路上相互可达，故</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是强连通的。 </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可类似证明单连通图的情形。</a:t>
                </a:r>
              </a:p>
            </p:txBody>
          </p:sp>
        </mc:Choice>
        <mc:Fallback xmlns="">
          <p:sp>
            <p:nvSpPr>
              <p:cNvPr id="3" name="矩形 2">
                <a:extLst>
                  <a:ext uri="{FF2B5EF4-FFF2-40B4-BE49-F238E27FC236}">
                    <a16:creationId xmlns:a16="http://schemas.microsoft.com/office/drawing/2014/main" id="{66510AE6-43FC-40CA-B9D5-1977FB469011}"/>
                  </a:ext>
                </a:extLst>
              </p:cNvPr>
              <p:cNvSpPr>
                <a:spLocks noRot="1" noChangeAspect="1" noMove="1" noResize="1" noEditPoints="1" noAdjustHandles="1" noChangeArrowheads="1" noChangeShapeType="1" noTextEdit="1"/>
              </p:cNvSpPr>
              <p:nvPr/>
            </p:nvSpPr>
            <p:spPr>
              <a:xfrm>
                <a:off x="179512" y="1543048"/>
                <a:ext cx="8564935" cy="4668842"/>
              </a:xfrm>
              <a:prstGeom prst="rect">
                <a:avLst/>
              </a:prstGeom>
              <a:blipFill>
                <a:blip r:embed="rId4"/>
                <a:stretch>
                  <a:fillRect l="-1068" t="-522" r="-1139" b="-1436"/>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BC3303E2-8675-44CC-ADF8-67833D4A38AC}"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4326" name="Text Box 2"/>
          <p:cNvSpPr txBox="1">
            <a:spLocks noChangeArrowheads="1"/>
          </p:cNvSpPr>
          <p:nvPr/>
        </p:nvSpPr>
        <p:spPr bwMode="auto">
          <a:xfrm>
            <a:off x="1295772" y="760074"/>
            <a:ext cx="6552455"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强（单、弱）分图</a:t>
            </a:r>
          </a:p>
        </p:txBody>
      </p:sp>
      <p:pic>
        <p:nvPicPr>
          <p:cNvPr id="18432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3F74846-F1ED-4323-A027-1B1013B43D08}"/>
                  </a:ext>
                </a:extLst>
              </p:cNvPr>
              <p:cNvSpPr/>
              <p:nvPr/>
            </p:nvSpPr>
            <p:spPr>
              <a:xfrm>
                <a:off x="697108" y="2060848"/>
                <a:ext cx="7776864" cy="3883755"/>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400" b="1" kern="100" dirty="0">
                    <a:solidFill>
                      <a:schemeClr val="bg1"/>
                    </a:solidFill>
                    <a:cs typeface="Times New Roman" panose="02020603050405020304" pitchFamily="18" charset="0"/>
                  </a:rPr>
                  <a:t>【定义】设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𝑬</m:t>
                        </m:r>
                      </m:e>
                    </m:d>
                  </m:oMath>
                </a14:m>
                <a:r>
                  <a:rPr lang="zh-CN" altLang="en-US" sz="2400" b="1" kern="100" dirty="0">
                    <a:solidFill>
                      <a:schemeClr val="bg1"/>
                    </a:solidFill>
                    <a:cs typeface="Times New Roman" panose="02020603050405020304" pitchFamily="18" charset="0"/>
                  </a:rPr>
                  <a:t>是</a:t>
                </a:r>
                <a:r>
                  <a:rPr lang="zh-CN" altLang="zh-CN" sz="2400" b="1" kern="100" dirty="0">
                    <a:solidFill>
                      <a:schemeClr val="bg1"/>
                    </a:solidFill>
                    <a:cs typeface="Times New Roman" panose="02020603050405020304" pitchFamily="18" charset="0"/>
                  </a:rPr>
                  <a:t>任意给定的一个有向图，</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400" b="1" kern="100" dirty="0">
                    <a:solidFill>
                      <a:schemeClr val="bg1"/>
                    </a:solidFill>
                    <a:cs typeface="Times New Roman" panose="02020603050405020304" pitchFamily="18" charset="0"/>
                  </a:rPr>
                  <a:t>是</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cs typeface="Times New Roman" panose="02020603050405020304" pitchFamily="18" charset="0"/>
                  </a:rPr>
                  <a:t>的</a:t>
                </a:r>
                <a:r>
                  <a:rPr lang="zh-CN" altLang="en-US" sz="2400" b="1" kern="100" dirty="0">
                    <a:solidFill>
                      <a:schemeClr val="bg1"/>
                    </a:solidFill>
                    <a:cs typeface="Times New Roman" panose="02020603050405020304" pitchFamily="18" charset="0"/>
                  </a:rPr>
                  <a:t>某</a:t>
                </a:r>
                <a:r>
                  <a:rPr lang="zh-CN" altLang="zh-CN" sz="2400" b="1" kern="100" dirty="0">
                    <a:solidFill>
                      <a:schemeClr val="bg1"/>
                    </a:solidFill>
                    <a:cs typeface="Times New Roman" panose="02020603050405020304" pitchFamily="18" charset="0"/>
                  </a:rPr>
                  <a:t>个子图，如果</a:t>
                </a:r>
                <a:r>
                  <a:rPr lang="zh-CN" altLang="en-US" sz="2400" b="1" kern="100" dirty="0">
                    <a:solidFill>
                      <a:schemeClr val="bg1"/>
                    </a:solidFill>
                    <a:cs typeface="Times New Roman" panose="02020603050405020304" pitchFamily="18" charset="0"/>
                  </a:rPr>
                  <a:t>满足：</a:t>
                </a:r>
                <a:endParaRPr lang="en-US" altLang="zh-CN" sz="2400" b="1" kern="100" dirty="0">
                  <a:solidFill>
                    <a:schemeClr val="bg1"/>
                  </a:solidFill>
                  <a:cs typeface="Times New Roman" panose="02020603050405020304" pitchFamily="18" charset="0"/>
                </a:endParaRPr>
              </a:p>
              <a:p>
                <a:pPr indent="266700" algn="just">
                  <a:lnSpc>
                    <a:spcPct val="150000"/>
                  </a:lnSpc>
                  <a:spcAft>
                    <a:spcPts val="0"/>
                  </a:spcAft>
                </a:pPr>
                <a:r>
                  <a:rPr lang="zh-CN" altLang="en-US" sz="2400" b="1" kern="100" dirty="0">
                    <a:solidFill>
                      <a:schemeClr val="bg1"/>
                    </a:solidFill>
                    <a:ea typeface="Cambria Math" panose="02040503050406030204" pitchFamily="18" charset="0"/>
                    <a:cs typeface="Times New Roman" panose="02020603050405020304" pitchFamily="18" charset="0"/>
                  </a:rPr>
                  <a:t>（</a:t>
                </a:r>
                <a:r>
                  <a:rPr lang="en-US" altLang="zh-CN" sz="2400" b="1" kern="100" dirty="0">
                    <a:solidFill>
                      <a:schemeClr val="bg1"/>
                    </a:solidFill>
                    <a:ea typeface="Cambria Math" panose="02040503050406030204" pitchFamily="18" charset="0"/>
                    <a:cs typeface="Times New Roman" panose="02020603050405020304" pitchFamily="18" charset="0"/>
                  </a:rPr>
                  <a:t>1</a:t>
                </a:r>
                <a:r>
                  <a:rPr lang="zh-CN" altLang="en-US" sz="2400" b="1" kern="100" dirty="0">
                    <a:solidFill>
                      <a:schemeClr val="bg1"/>
                    </a:solidFill>
                    <a:ea typeface="Cambria Math" panose="02040503050406030204" pitchFamily="18" charset="0"/>
                    <a:cs typeface="Times New Roman" panose="02020603050405020304" pitchFamily="18" charset="0"/>
                  </a:rPr>
                  <a:t>）</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𝑮</m:t>
                        </m:r>
                      </m:e>
                      <m:sup>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400" b="1" kern="100" dirty="0">
                    <a:solidFill>
                      <a:schemeClr val="bg1"/>
                    </a:solidFill>
                    <a:cs typeface="Times New Roman" panose="02020603050405020304" pitchFamily="18" charset="0"/>
                  </a:rPr>
                  <a:t>是</a:t>
                </a:r>
                <a:r>
                  <a:rPr lang="zh-CN" altLang="zh-CN" sz="2400" b="1" kern="100" dirty="0">
                    <a:solidFill>
                      <a:srgbClr val="FFFF00"/>
                    </a:solidFill>
                    <a:cs typeface="Times New Roman" panose="02020603050405020304" pitchFamily="18" charset="0"/>
                  </a:rPr>
                  <a:t>强连通的</a:t>
                </a:r>
                <a:r>
                  <a:rPr lang="zh-CN" altLang="zh-CN" sz="2400" b="1" kern="100" dirty="0">
                    <a:solidFill>
                      <a:schemeClr val="bg1"/>
                    </a:solidFill>
                    <a:cs typeface="Times New Roman" panose="02020603050405020304" pitchFamily="18" charset="0"/>
                  </a:rPr>
                  <a:t>（</a:t>
                </a:r>
                <a:r>
                  <a:rPr lang="zh-CN" altLang="zh-CN" sz="2400" b="1" kern="100" dirty="0">
                    <a:solidFill>
                      <a:schemeClr val="accent5"/>
                    </a:solidFill>
                    <a:cs typeface="Times New Roman" panose="02020603050405020304" pitchFamily="18" charset="0"/>
                  </a:rPr>
                  <a:t>单向连通的、弱连通的</a:t>
                </a:r>
                <a:r>
                  <a:rPr lang="zh-CN" altLang="zh-CN" sz="2400" b="1" kern="100" dirty="0">
                    <a:solidFill>
                      <a:schemeClr val="bg1"/>
                    </a:solidFill>
                    <a:cs typeface="Times New Roman" panose="02020603050405020304" pitchFamily="18" charset="0"/>
                  </a:rPr>
                  <a:t>）</a:t>
                </a:r>
                <a:endParaRPr lang="en-US" altLang="zh-CN" sz="2400" b="1" kern="100" dirty="0">
                  <a:solidFill>
                    <a:schemeClr val="bg1"/>
                  </a:solidFill>
                  <a:cs typeface="Times New Roman" panose="02020603050405020304" pitchFamily="18" charset="0"/>
                </a:endParaRPr>
              </a:p>
              <a:p>
                <a:pPr indent="266700" algn="just">
                  <a:lnSpc>
                    <a:spcPct val="150000"/>
                  </a:lnSpc>
                  <a:spcAft>
                    <a:spcPts val="0"/>
                  </a:spcAft>
                </a:pPr>
                <a:r>
                  <a:rPr lang="zh-CN" altLang="en-US" sz="2400" b="1" kern="100" dirty="0">
                    <a:solidFill>
                      <a:schemeClr val="bg1"/>
                    </a:solidFill>
                    <a:cs typeface="Times New Roman" panose="02020603050405020304" pitchFamily="18" charset="0"/>
                  </a:rPr>
                  <a:t>（</a:t>
                </a:r>
                <a:r>
                  <a:rPr lang="en-US" altLang="zh-CN" sz="2400" b="1" kern="100" dirty="0">
                    <a:solidFill>
                      <a:schemeClr val="bg1"/>
                    </a:solidFill>
                    <a:cs typeface="Times New Roman" panose="02020603050405020304" pitchFamily="18" charset="0"/>
                  </a:rPr>
                  <a:t>2</a:t>
                </a:r>
                <a:r>
                  <a:rPr lang="zh-CN" altLang="en-US" sz="2400" b="1" kern="100" dirty="0">
                    <a:solidFill>
                      <a:schemeClr val="bg1"/>
                    </a:solidFill>
                    <a:cs typeface="Times New Roman" panose="02020603050405020304" pitchFamily="18" charset="0"/>
                  </a:rPr>
                  <a:t>）</a:t>
                </a:r>
                <a:r>
                  <a:rPr lang="zh-CN" altLang="zh-CN" sz="2400" b="1" kern="100" dirty="0">
                    <a:solidFill>
                      <a:srgbClr val="FFFF00"/>
                    </a:solidFill>
                    <a:cs typeface="Times New Roman" panose="02020603050405020304" pitchFamily="18" charset="0"/>
                  </a:rPr>
                  <a:t>对</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𝑮</m:t>
                        </m:r>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rgbClr val="FFFF00"/>
                    </a:solidFill>
                    <a:cs typeface="Times New Roman" panose="02020603050405020304" pitchFamily="18" charset="0"/>
                  </a:rPr>
                  <a:t>，若</a:t>
                </a:r>
                <a14:m>
                  <m:oMath xmlns:m="http://schemas.openxmlformats.org/officeDocument/2006/math">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𝑮</m:t>
                        </m:r>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𝑮</m:t>
                        </m:r>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400" b="1" kern="100" dirty="0">
                    <a:solidFill>
                      <a:srgbClr val="FFFF00"/>
                    </a:solidFill>
                    <a:cs typeface="Times New Roman" panose="02020603050405020304" pitchFamily="18" charset="0"/>
                  </a:rPr>
                  <a:t>，则</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𝑮</m:t>
                        </m:r>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sup>
                    </m:sSup>
                  </m:oMath>
                </a14:m>
                <a:r>
                  <a:rPr lang="zh-CN" altLang="zh-CN" sz="2400" b="1" kern="100" dirty="0">
                    <a:solidFill>
                      <a:srgbClr val="FFFF00"/>
                    </a:solidFill>
                    <a:cs typeface="Times New Roman" panose="02020603050405020304" pitchFamily="18" charset="0"/>
                  </a:rPr>
                  <a:t>不是强连通的</a:t>
                </a:r>
                <a:r>
                  <a:rPr lang="zh-CN" altLang="zh-CN" sz="2400" b="1" kern="100" dirty="0">
                    <a:solidFill>
                      <a:schemeClr val="bg1"/>
                    </a:solidFill>
                    <a:cs typeface="Times New Roman" panose="02020603050405020304" pitchFamily="18" charset="0"/>
                  </a:rPr>
                  <a:t>（</a:t>
                </a:r>
                <a:r>
                  <a:rPr lang="zh-CN" altLang="zh-CN" sz="2400" b="1" kern="100" dirty="0">
                    <a:solidFill>
                      <a:schemeClr val="accent5"/>
                    </a:solidFill>
                    <a:cs typeface="Times New Roman" panose="02020603050405020304" pitchFamily="18" charset="0"/>
                  </a:rPr>
                  <a:t>单向连通的、弱连通的</a:t>
                </a:r>
                <a:r>
                  <a:rPr lang="zh-CN" altLang="zh-CN" sz="2400" b="1" kern="100" dirty="0">
                    <a:solidFill>
                      <a:schemeClr val="bg1"/>
                    </a:solidFill>
                    <a:cs typeface="Times New Roman" panose="02020603050405020304" pitchFamily="18" charset="0"/>
                  </a:rPr>
                  <a:t>）</a:t>
                </a:r>
                <a:endParaRPr lang="en-US" altLang="zh-CN" sz="2400" b="1" kern="100" dirty="0">
                  <a:solidFill>
                    <a:schemeClr val="bg1"/>
                  </a:solidFill>
                  <a:cs typeface="Times New Roman" panose="02020603050405020304" pitchFamily="18" charset="0"/>
                </a:endParaRPr>
              </a:p>
              <a:p>
                <a:pPr indent="266700" algn="just">
                  <a:lnSpc>
                    <a:spcPct val="150000"/>
                  </a:lnSpc>
                  <a:spcAft>
                    <a:spcPts val="0"/>
                  </a:spcAft>
                </a:pPr>
                <a:r>
                  <a:rPr lang="en-US" altLang="zh-CN" sz="2400" b="1" kern="100" dirty="0">
                    <a:solidFill>
                      <a:schemeClr val="bg1"/>
                    </a:solidFill>
                    <a:cs typeface="Times New Roman" panose="02020603050405020304" pitchFamily="18" charset="0"/>
                  </a:rPr>
                  <a:t>  </a:t>
                </a:r>
                <a:r>
                  <a:rPr lang="zh-CN" altLang="zh-CN" sz="2400" b="1" kern="100" dirty="0">
                    <a:solidFill>
                      <a:schemeClr val="bg1"/>
                    </a:solidFill>
                    <a:cs typeface="Times New Roman" panose="02020603050405020304" pitchFamily="18" charset="0"/>
                  </a:rPr>
                  <a:t>则称</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2400" b="1" i="1" kern="100" smtClean="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𝑮</m:t>
                        </m:r>
                      </m:e>
                      <m: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cs typeface="Times New Roman" panose="02020603050405020304" pitchFamily="18" charset="0"/>
                  </a:rPr>
                  <a:t>为</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rgbClr val="FFFF00"/>
                    </a:solidFill>
                    <a:cs typeface="Times New Roman" panose="02020603050405020304" pitchFamily="18" charset="0"/>
                  </a:rPr>
                  <a:t>的强连通分支</a:t>
                </a:r>
                <a:r>
                  <a:rPr lang="zh-CN" altLang="zh-CN" sz="2400" b="1" kern="100" dirty="0">
                    <a:solidFill>
                      <a:schemeClr val="bg1"/>
                    </a:solidFill>
                    <a:cs typeface="Times New Roman" panose="02020603050405020304" pitchFamily="18" charset="0"/>
                  </a:rPr>
                  <a:t>（</a:t>
                </a:r>
                <a:r>
                  <a:rPr lang="zh-CN" altLang="zh-CN" sz="2400" b="1" kern="100" dirty="0">
                    <a:solidFill>
                      <a:schemeClr val="accent5"/>
                    </a:solidFill>
                    <a:cs typeface="Times New Roman" panose="02020603050405020304" pitchFamily="18" charset="0"/>
                  </a:rPr>
                  <a:t>单向连通分支、弱连通分支</a:t>
                </a:r>
                <a:r>
                  <a:rPr lang="zh-CN" altLang="zh-CN" sz="2400" b="1" kern="100" dirty="0">
                    <a:solidFill>
                      <a:schemeClr val="bg1"/>
                    </a:solidFill>
                    <a:cs typeface="Times New Roman" panose="02020603050405020304" pitchFamily="18" charset="0"/>
                  </a:rPr>
                  <a:t>），简称为</a:t>
                </a:r>
                <a:r>
                  <a:rPr lang="zh-CN" altLang="zh-CN" sz="2400" b="1" kern="100" dirty="0">
                    <a:solidFill>
                      <a:srgbClr val="FFFF00"/>
                    </a:solidFill>
                    <a:cs typeface="Times New Roman" panose="02020603050405020304" pitchFamily="18" charset="0"/>
                  </a:rPr>
                  <a:t>强分图</a:t>
                </a:r>
                <a:r>
                  <a:rPr lang="zh-CN" altLang="zh-CN" sz="2400" b="1" kern="100" dirty="0">
                    <a:solidFill>
                      <a:schemeClr val="bg1"/>
                    </a:solidFill>
                    <a:cs typeface="Times New Roman" panose="02020603050405020304" pitchFamily="18" charset="0"/>
                  </a:rPr>
                  <a:t>（</a:t>
                </a:r>
                <a:r>
                  <a:rPr lang="zh-CN" altLang="zh-CN" sz="2400" b="1" kern="100" dirty="0">
                    <a:solidFill>
                      <a:schemeClr val="accent5"/>
                    </a:solidFill>
                    <a:cs typeface="Times New Roman" panose="02020603050405020304" pitchFamily="18" charset="0"/>
                  </a:rPr>
                  <a:t>单分图、弱分图</a:t>
                </a:r>
                <a:r>
                  <a:rPr lang="zh-CN" altLang="zh-CN" sz="2400" b="1" kern="100" dirty="0">
                    <a:solidFill>
                      <a:schemeClr val="bg1"/>
                    </a:solidFill>
                    <a:cs typeface="Times New Roman" panose="02020603050405020304" pitchFamily="18" charset="0"/>
                  </a:rPr>
                  <a:t>）。</a:t>
                </a:r>
              </a:p>
            </p:txBody>
          </p:sp>
        </mc:Choice>
        <mc:Fallback xmlns="">
          <p:sp>
            <p:nvSpPr>
              <p:cNvPr id="3" name="矩形 2">
                <a:extLst>
                  <a:ext uri="{FF2B5EF4-FFF2-40B4-BE49-F238E27FC236}">
                    <a16:creationId xmlns:a16="http://schemas.microsoft.com/office/drawing/2014/main" id="{D3F74846-F1ED-4323-A027-1B1013B43D08}"/>
                  </a:ext>
                </a:extLst>
              </p:cNvPr>
              <p:cNvSpPr>
                <a:spLocks noRot="1" noChangeAspect="1" noMove="1" noResize="1" noEditPoints="1" noAdjustHandles="1" noChangeArrowheads="1" noChangeShapeType="1" noTextEdit="1"/>
              </p:cNvSpPr>
              <p:nvPr/>
            </p:nvSpPr>
            <p:spPr>
              <a:xfrm>
                <a:off x="697108" y="2060848"/>
                <a:ext cx="7776864" cy="3883755"/>
              </a:xfrm>
              <a:prstGeom prst="rect">
                <a:avLst/>
              </a:prstGeom>
              <a:blipFill>
                <a:blip r:embed="rId4"/>
                <a:stretch>
                  <a:fillRect l="-1176" r="-1254" b="-2669"/>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1267" name="Rectangle 3"/>
              <p:cNvSpPr>
                <a:spLocks noGrp="1" noChangeArrowheads="1"/>
              </p:cNvSpPr>
              <p:nvPr>
                <p:ph idx="1"/>
              </p:nvPr>
            </p:nvSpPr>
            <p:spPr>
              <a:xfrm>
                <a:off x="441197" y="1772816"/>
                <a:ext cx="8190168" cy="4536504"/>
              </a:xfrm>
              <a:solidFill>
                <a:schemeClr val="accent5"/>
              </a:solidFill>
              <a:ln>
                <a:noFill/>
              </a:ln>
            </p:spPr>
            <p:txBody>
              <a:bodyPr/>
              <a:lstStyle/>
              <a:p>
                <a:pPr marL="0" indent="0" eaLnBrk="1" hangingPunct="1">
                  <a:lnSpc>
                    <a:spcPts val="3200"/>
                  </a:lnSpc>
                  <a:buFontTx/>
                  <a:buNone/>
                  <a:defRPr/>
                </a:pPr>
                <a:r>
                  <a:rPr lang="zh-CN" altLang="en-US" b="1" dirty="0">
                    <a:effectLst/>
                    <a:cs typeface="楷体_GB2312" pitchFamily="49" charset="-122"/>
                  </a:rPr>
                  <a:t>       </a:t>
                </a:r>
                <a:r>
                  <a:rPr lang="zh-CN" altLang="en-US" b="1" dirty="0">
                    <a:effectLst/>
                    <a:latin typeface="黑体" panose="02010609060101010101" pitchFamily="49" charset="-122"/>
                    <a:ea typeface="黑体" panose="02010609060101010101" pitchFamily="49" charset="-122"/>
                    <a:cs typeface="楷体_GB2312" pitchFamily="49" charset="-122"/>
                  </a:rPr>
                  <a:t>一、如果</a:t>
                </a:r>
                <a:r>
                  <a:rPr lang="zh-CN" altLang="en-US" b="1" dirty="0">
                    <a:solidFill>
                      <a:srgbClr val="0000FF"/>
                    </a:solidFill>
                    <a:effectLst/>
                    <a:latin typeface="黑体" panose="02010609060101010101" pitchFamily="49" charset="-122"/>
                    <a:ea typeface="黑体" panose="02010609060101010101" pitchFamily="49" charset="-122"/>
                    <a:cs typeface="楷体_GB2312" pitchFamily="49" charset="-122"/>
                  </a:rPr>
                  <a:t>不考虑边的方向</a:t>
                </a:r>
                <a:r>
                  <a:rPr lang="zh-CN" altLang="en-US" b="1" dirty="0">
                    <a:effectLst/>
                    <a:latin typeface="黑体" panose="02010609060101010101" pitchFamily="49" charset="-122"/>
                    <a:ea typeface="黑体" panose="02010609060101010101" pitchFamily="49" charset="-122"/>
                    <a:cs typeface="楷体_GB2312" pitchFamily="49" charset="-122"/>
                  </a:rPr>
                  <a:t>，弱连通分支对应相应的无向图的连通分支。</a:t>
                </a:r>
              </a:p>
              <a:p>
                <a:pPr marL="0" indent="0" eaLnBrk="1" hangingPunct="1">
                  <a:lnSpc>
                    <a:spcPts val="3200"/>
                  </a:lnSpc>
                  <a:buFont typeface="Wingdings" pitchFamily="2" charset="2"/>
                  <a:buNone/>
                  <a:defRPr/>
                </a:pPr>
                <a:r>
                  <a:rPr lang="zh-CN" altLang="en-US" b="1" dirty="0">
                    <a:effectLst/>
                    <a:latin typeface="黑体" panose="02010609060101010101" pitchFamily="49" charset="-122"/>
                    <a:ea typeface="黑体" panose="02010609060101010101" pitchFamily="49" charset="-122"/>
                    <a:cs typeface="楷体_GB2312" pitchFamily="49" charset="-122"/>
                  </a:rPr>
                  <a:t>    二、注意把握（强、单、弱）连通分支的</a:t>
                </a:r>
                <a:r>
                  <a:rPr lang="zh-CN" altLang="en-US" b="1" dirty="0">
                    <a:solidFill>
                      <a:srgbClr val="0000FF"/>
                    </a:solidFill>
                    <a:effectLst/>
                    <a:latin typeface="黑体" panose="02010609060101010101" pitchFamily="49" charset="-122"/>
                    <a:ea typeface="黑体" panose="02010609060101010101" pitchFamily="49" charset="-122"/>
                    <a:cs typeface="楷体_GB2312" pitchFamily="49" charset="-122"/>
                  </a:rPr>
                  <a:t>极大性特点，</a:t>
                </a:r>
                <a:r>
                  <a:rPr lang="zh-CN" altLang="en-US" b="1" dirty="0">
                    <a:effectLst/>
                    <a:latin typeface="黑体" panose="02010609060101010101" pitchFamily="49" charset="-122"/>
                    <a:ea typeface="黑体" panose="02010609060101010101" pitchFamily="49" charset="-122"/>
                    <a:cs typeface="楷体_GB2312" pitchFamily="49" charset="-122"/>
                  </a:rPr>
                  <a:t>即任意增加一个结点或一条边就不再是（强、单、弱）连通分支。</a:t>
                </a:r>
                <a:endParaRPr lang="en-US" altLang="zh-CN" b="1" dirty="0">
                  <a:effectLst/>
                  <a:latin typeface="黑体" panose="02010609060101010101" pitchFamily="49" charset="-122"/>
                  <a:ea typeface="黑体" panose="02010609060101010101" pitchFamily="49" charset="-122"/>
                  <a:cs typeface="楷体_GB2312" pitchFamily="49" charset="-122"/>
                </a:endParaRPr>
              </a:p>
              <a:p>
                <a:pPr marL="0" indent="0" eaLnBrk="1" hangingPunct="1">
                  <a:lnSpc>
                    <a:spcPts val="3200"/>
                  </a:lnSpc>
                  <a:buNone/>
                  <a:defRPr/>
                </a:pPr>
                <a:r>
                  <a:rPr lang="zh-CN" altLang="en-US" b="1" dirty="0">
                    <a:effectLst/>
                    <a:latin typeface="黑体" panose="02010609060101010101" pitchFamily="49" charset="-122"/>
                    <a:ea typeface="黑体" panose="02010609060101010101" pitchFamily="49" charset="-122"/>
                    <a:cs typeface="楷体_GB2312" pitchFamily="49" charset="-122"/>
                  </a:rPr>
                  <a:t>    三、</a:t>
                </a:r>
                <a:r>
                  <a:rPr lang="zh-CN" altLang="zh-CN" b="1" dirty="0">
                    <a:effectLst/>
                    <a:latin typeface="黑体" panose="02010609060101010101" pitchFamily="49" charset="-122"/>
                    <a:ea typeface="黑体" panose="02010609060101010101" pitchFamily="49" charset="-122"/>
                    <a:cs typeface="楷体_GB2312" pitchFamily="49" charset="-122"/>
                  </a:rPr>
                  <a:t>强分图、单分图、弱分图都是</a:t>
                </a:r>
                <a14:m>
                  <m:oMath xmlns:m="http://schemas.openxmlformats.org/officeDocument/2006/math">
                    <m:r>
                      <a:rPr lang="zh-CN" altLang="zh-CN" b="1">
                        <a:effectLst/>
                        <a:latin typeface="Cambria Math" panose="02040503050406030204" pitchFamily="18" charset="0"/>
                        <a:ea typeface="黑体" panose="02010609060101010101" pitchFamily="49" charset="-122"/>
                        <a:cs typeface="楷体_GB2312" pitchFamily="49" charset="-122"/>
                      </a:rPr>
                      <m:t> </m:t>
                    </m:r>
                    <m:r>
                      <a:rPr lang="en-US" altLang="zh-CN" b="1" smtClean="0">
                        <a:solidFill>
                          <a:srgbClr val="0000FF"/>
                        </a:solidFill>
                        <a:effectLst/>
                        <a:latin typeface="Cambria Math" panose="02040503050406030204" pitchFamily="18" charset="0"/>
                        <a:ea typeface="黑体" panose="02010609060101010101" pitchFamily="49" charset="-122"/>
                        <a:cs typeface="楷体_GB2312" pitchFamily="49" charset="-122"/>
                      </a:rPr>
                      <m:t>𝐺</m:t>
                    </m:r>
                    <m:r>
                      <a:rPr lang="en-US" altLang="zh-CN" b="1" smtClean="0">
                        <a:solidFill>
                          <a:srgbClr val="0000FF"/>
                        </a:solidFill>
                        <a:effectLst/>
                        <a:latin typeface="Cambria Math" panose="02040503050406030204" pitchFamily="18" charset="0"/>
                        <a:ea typeface="黑体" panose="02010609060101010101" pitchFamily="49" charset="-122"/>
                        <a:cs typeface="楷体_GB2312" pitchFamily="49" charset="-122"/>
                      </a:rPr>
                      <m:t> </m:t>
                    </m:r>
                  </m:oMath>
                </a14:m>
                <a:r>
                  <a:rPr lang="zh-CN" altLang="zh-CN" b="1" dirty="0">
                    <a:solidFill>
                      <a:srgbClr val="0000FF"/>
                    </a:solidFill>
                    <a:effectLst/>
                    <a:latin typeface="黑体" panose="02010609060101010101" pitchFamily="49" charset="-122"/>
                    <a:ea typeface="黑体" panose="02010609060101010101" pitchFamily="49" charset="-122"/>
                    <a:cs typeface="楷体_GB2312" pitchFamily="49" charset="-122"/>
                  </a:rPr>
                  <a:t>的子图</a:t>
                </a:r>
                <a:r>
                  <a:rPr lang="zh-CN" altLang="zh-CN" b="1" dirty="0">
                    <a:effectLst/>
                    <a:latin typeface="黑体" panose="02010609060101010101" pitchFamily="49" charset="-122"/>
                    <a:ea typeface="黑体" panose="02010609060101010101" pitchFamily="49" charset="-122"/>
                    <a:cs typeface="楷体_GB2312" pitchFamily="49" charset="-122"/>
                  </a:rPr>
                  <a:t>，可以用结点集</a:t>
                </a:r>
                <a14:m>
                  <m:oMath xmlns:m="http://schemas.openxmlformats.org/officeDocument/2006/math">
                    <m:r>
                      <a:rPr lang="en-US" altLang="zh-CN" b="1">
                        <a:effectLst/>
                        <a:latin typeface="Cambria Math" panose="02040503050406030204" pitchFamily="18" charset="0"/>
                        <a:ea typeface="黑体" panose="02010609060101010101" pitchFamily="49" charset="-122"/>
                        <a:cs typeface="楷体_GB2312" pitchFamily="49" charset="-122"/>
                      </a:rPr>
                      <m:t>𝑉</m:t>
                    </m:r>
                  </m:oMath>
                </a14:m>
                <a:r>
                  <a:rPr lang="zh-CN" altLang="zh-CN" b="1" dirty="0">
                    <a:effectLst/>
                    <a:latin typeface="黑体" panose="02010609060101010101" pitchFamily="49" charset="-122"/>
                    <a:ea typeface="黑体" panose="02010609060101010101" pitchFamily="49" charset="-122"/>
                    <a:cs typeface="楷体_GB2312" pitchFamily="49" charset="-122"/>
                  </a:rPr>
                  <a:t>的子集导出。 </a:t>
                </a:r>
                <a:endParaRPr lang="en-US" altLang="zh-CN" b="1" dirty="0">
                  <a:effectLst/>
                  <a:latin typeface="黑体" panose="02010609060101010101" pitchFamily="49" charset="-122"/>
                  <a:ea typeface="黑体" panose="02010609060101010101" pitchFamily="49" charset="-122"/>
                  <a:cs typeface="楷体_GB2312" pitchFamily="49" charset="-122"/>
                </a:endParaRPr>
              </a:p>
              <a:p>
                <a:pPr marL="0" indent="0" eaLnBrk="1" hangingPunct="1">
                  <a:lnSpc>
                    <a:spcPts val="3200"/>
                  </a:lnSpc>
                  <a:buNone/>
                  <a:defRPr/>
                </a:pPr>
                <a:r>
                  <a:rPr lang="zh-CN" altLang="en-US" b="1" dirty="0">
                    <a:effectLst/>
                    <a:latin typeface="黑体" panose="02010609060101010101" pitchFamily="49" charset="-122"/>
                    <a:ea typeface="黑体" panose="02010609060101010101" pitchFamily="49" charset="-122"/>
                    <a:cs typeface="楷体_GB2312" pitchFamily="49" charset="-122"/>
                  </a:rPr>
                  <a:t>    四、</a:t>
                </a:r>
                <a:r>
                  <a:rPr lang="zh-CN" altLang="zh-CN" b="1" dirty="0">
                    <a:effectLst/>
                    <a:latin typeface="黑体" panose="02010609060101010101" pitchFamily="49" charset="-122"/>
                    <a:ea typeface="黑体" panose="02010609060101010101" pitchFamily="49" charset="-122"/>
                    <a:cs typeface="楷体_GB2312" pitchFamily="49" charset="-122"/>
                  </a:rPr>
                  <a:t>强分图</a:t>
                </a:r>
                <a:r>
                  <a:rPr lang="zh-CN" altLang="en-US" b="1" dirty="0">
                    <a:effectLst/>
                    <a:latin typeface="黑体" panose="02010609060101010101" pitchFamily="49" charset="-122"/>
                    <a:ea typeface="黑体" panose="02010609060101010101" pitchFamily="49" charset="-122"/>
                    <a:cs typeface="楷体_GB2312" pitchFamily="49" charset="-122"/>
                  </a:rPr>
                  <a:t>一定</a:t>
                </a:r>
                <a:r>
                  <a:rPr lang="zh-CN" altLang="zh-CN" b="1" dirty="0">
                    <a:effectLst/>
                    <a:latin typeface="黑体" panose="02010609060101010101" pitchFamily="49" charset="-122"/>
                    <a:ea typeface="黑体" panose="02010609060101010101" pitchFamily="49" charset="-122"/>
                    <a:cs typeface="楷体_GB2312" pitchFamily="49" charset="-122"/>
                  </a:rPr>
                  <a:t>是</a:t>
                </a:r>
                <a:r>
                  <a:rPr lang="zh-CN" altLang="zh-CN" b="1" dirty="0">
                    <a:solidFill>
                      <a:srgbClr val="0000FF"/>
                    </a:solidFill>
                    <a:effectLst/>
                    <a:latin typeface="黑体" panose="02010609060101010101" pitchFamily="49" charset="-122"/>
                    <a:ea typeface="黑体" panose="02010609060101010101" pitchFamily="49" charset="-122"/>
                    <a:cs typeface="楷体_GB2312" pitchFamily="49" charset="-122"/>
                  </a:rPr>
                  <a:t>单分图和弱分图</a:t>
                </a:r>
                <a:r>
                  <a:rPr lang="zh-CN" altLang="zh-CN" b="1" dirty="0">
                    <a:effectLst/>
                    <a:latin typeface="黑体" panose="02010609060101010101" pitchFamily="49" charset="-122"/>
                    <a:ea typeface="黑体" panose="02010609060101010101" pitchFamily="49" charset="-122"/>
                    <a:cs typeface="楷体_GB2312" pitchFamily="49" charset="-122"/>
                  </a:rPr>
                  <a:t>，</a:t>
                </a:r>
                <a:r>
                  <a:rPr lang="zh-CN" altLang="zh-CN" b="1" dirty="0">
                    <a:solidFill>
                      <a:srgbClr val="0000FF"/>
                    </a:solidFill>
                    <a:effectLst/>
                    <a:latin typeface="黑体" panose="02010609060101010101" pitchFamily="49" charset="-122"/>
                    <a:ea typeface="黑体" panose="02010609060101010101" pitchFamily="49" charset="-122"/>
                    <a:cs typeface="楷体_GB2312" pitchFamily="49" charset="-122"/>
                  </a:rPr>
                  <a:t>单分图一定是弱分图</a:t>
                </a:r>
                <a:r>
                  <a:rPr lang="zh-CN" altLang="zh-CN" b="1" dirty="0">
                    <a:effectLst/>
                    <a:latin typeface="黑体" panose="02010609060101010101" pitchFamily="49" charset="-122"/>
                    <a:ea typeface="黑体" panose="02010609060101010101" pitchFamily="49" charset="-122"/>
                    <a:cs typeface="楷体_GB2312" pitchFamily="49" charset="-122"/>
                  </a:rPr>
                  <a:t>，但是为了强调它们之间的差异性，</a:t>
                </a:r>
                <a:r>
                  <a:rPr lang="zh-CN" altLang="zh-CN" b="1" dirty="0">
                    <a:solidFill>
                      <a:srgbClr val="FF0000"/>
                    </a:solidFill>
                    <a:effectLst/>
                    <a:latin typeface="黑体" panose="02010609060101010101" pitchFamily="49" charset="-122"/>
                    <a:ea typeface="黑体" panose="02010609060101010101" pitchFamily="49" charset="-122"/>
                    <a:cs typeface="楷体_GB2312" pitchFamily="49" charset="-122"/>
                  </a:rPr>
                  <a:t>一般不再将强分图称为单分图或弱分图，也不再将单分图称为弱分图</a:t>
                </a:r>
                <a:r>
                  <a:rPr lang="zh-CN" altLang="zh-CN" b="1" dirty="0">
                    <a:effectLst/>
                    <a:latin typeface="黑体" panose="02010609060101010101" pitchFamily="49" charset="-122"/>
                    <a:ea typeface="黑体" panose="02010609060101010101" pitchFamily="49" charset="-122"/>
                    <a:cs typeface="楷体_GB2312" pitchFamily="49" charset="-122"/>
                  </a:rPr>
                  <a:t>。 </a:t>
                </a:r>
              </a:p>
              <a:p>
                <a:pPr marL="0" indent="0" eaLnBrk="1" hangingPunct="1">
                  <a:buFont typeface="Wingdings" pitchFamily="2" charset="2"/>
                  <a:buNone/>
                  <a:defRPr/>
                </a:pPr>
                <a:endParaRPr lang="zh-CN" altLang="en-US" b="1" dirty="0">
                  <a:effectLst/>
                  <a:latin typeface="黑体" panose="02010609060101010101" pitchFamily="49" charset="-122"/>
                  <a:ea typeface="黑体" panose="02010609060101010101" pitchFamily="49" charset="-122"/>
                  <a:cs typeface="楷体_GB2312" pitchFamily="49" charset="-122"/>
                </a:endParaRPr>
              </a:p>
            </p:txBody>
          </p:sp>
        </mc:Choice>
        <mc:Fallback xmlns="">
          <p:sp>
            <p:nvSpPr>
              <p:cNvPr id="1291267" name="Rectangle 3"/>
              <p:cNvSpPr>
                <a:spLocks noGrp="1" noRot="1" noChangeAspect="1" noMove="1" noResize="1" noEditPoints="1" noAdjustHandles="1" noChangeArrowheads="1" noChangeShapeType="1" noTextEdit="1"/>
              </p:cNvSpPr>
              <p:nvPr>
                <p:ph idx="1"/>
              </p:nvPr>
            </p:nvSpPr>
            <p:spPr>
              <a:xfrm>
                <a:off x="441197" y="1772816"/>
                <a:ext cx="8190168" cy="4536504"/>
              </a:xfrm>
              <a:blipFill>
                <a:blip r:embed="rId2"/>
                <a:stretch>
                  <a:fillRect l="-1116" t="-1344" r="-1116"/>
                </a:stretch>
              </a:blipFill>
              <a:ln>
                <a:noFill/>
              </a:ln>
            </p:spPr>
            <p:txBody>
              <a:bodyPr/>
              <a:lstStyle/>
              <a:p>
                <a:r>
                  <a:rPr lang="zh-CN" altLang="en-US">
                    <a:noFill/>
                  </a:rPr>
                  <a:t> </a:t>
                </a:r>
              </a:p>
            </p:txBody>
          </p:sp>
        </mc:Fallback>
      </mc:AlternateContent>
      <p:sp>
        <p:nvSpPr>
          <p:cNvPr id="185347"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DA84F547-FA66-4A65-ADF5-D8C9D994AED7}"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5348" name="Text Box 2"/>
          <p:cNvSpPr txBox="1">
            <a:spLocks noChangeArrowheads="1"/>
          </p:cNvSpPr>
          <p:nvPr/>
        </p:nvSpPr>
        <p:spPr bwMode="auto">
          <a:xfrm>
            <a:off x="1367631" y="764704"/>
            <a:ext cx="64087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概念理解要点</a:t>
            </a:r>
          </a:p>
        </p:txBody>
      </p:sp>
      <p:pic>
        <p:nvPicPr>
          <p:cNvPr id="185349"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97283" name="Text Box 2"/>
          <p:cNvSpPr txBox="1">
            <a:spLocks noChangeArrowheads="1"/>
          </p:cNvSpPr>
          <p:nvPr/>
        </p:nvSpPr>
        <p:spPr bwMode="auto">
          <a:xfrm>
            <a:off x="1404938" y="714375"/>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文本框 22"/>
          <p:cNvSpPr txBox="1"/>
          <p:nvPr/>
        </p:nvSpPr>
        <p:spPr>
          <a:xfrm>
            <a:off x="251520" y="1850582"/>
            <a:ext cx="8496944" cy="461665"/>
          </a:xfrm>
          <a:prstGeom prst="rect">
            <a:avLst/>
          </a:prstGeom>
          <a:solidFill>
            <a:schemeClr val="accent5"/>
          </a:solidFill>
          <a:ln w="19050">
            <a:noFill/>
          </a:ln>
        </p:spPr>
        <p:txBody>
          <a:bodyPr wrap="square" rtlCol="0">
            <a:spAutoFit/>
          </a:bodyPr>
          <a:lstStyle/>
          <a:p>
            <a:r>
              <a:rPr lang="en-US" altLang="zh-CN" sz="2400" dirty="0"/>
              <a:t>  </a:t>
            </a:r>
            <a:r>
              <a:rPr lang="zh-CN" altLang="zh-CN" sz="2400" b="1" dirty="0"/>
              <a:t>【例题】</a:t>
            </a:r>
            <a:r>
              <a:rPr lang="zh-CN" altLang="zh-CN" sz="2400" b="1" dirty="0">
                <a:solidFill>
                  <a:schemeClr val="tx1"/>
                </a:solidFill>
              </a:rPr>
              <a:t>写出</a:t>
            </a:r>
            <a:r>
              <a:rPr lang="zh-CN" altLang="en-US" sz="2400" b="1" dirty="0">
                <a:solidFill>
                  <a:schemeClr val="tx1"/>
                </a:solidFill>
              </a:rPr>
              <a:t>下面</a:t>
            </a:r>
            <a:r>
              <a:rPr lang="zh-CN" altLang="zh-CN" sz="2400" b="1" dirty="0">
                <a:solidFill>
                  <a:schemeClr val="tx1"/>
                </a:solidFill>
              </a:rPr>
              <a:t>所示三个图的强分图、单分图和弱分图。</a:t>
            </a:r>
            <a:endParaRPr lang="en-US" altLang="zh-CN" sz="2400" b="1" dirty="0">
              <a:solidFill>
                <a:schemeClr val="tx1"/>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6590FC9-8A63-4751-983B-9406ADFA6237}"/>
                  </a:ext>
                </a:extLst>
              </p:cNvPr>
              <p:cNvSpPr txBox="1"/>
              <p:nvPr/>
            </p:nvSpPr>
            <p:spPr>
              <a:xfrm>
                <a:off x="179512" y="4437112"/>
                <a:ext cx="8856984" cy="1875513"/>
              </a:xfrm>
              <a:prstGeom prst="rect">
                <a:avLst/>
              </a:prstGeom>
              <a:solidFill>
                <a:schemeClr val="accent5"/>
              </a:solidFill>
              <a:ln w="19050">
                <a:noFill/>
              </a:ln>
            </p:spPr>
            <p:txBody>
              <a:bodyPr wrap="square" rtlCol="0">
                <a:spAutoFit/>
              </a:bodyPr>
              <a:lstStyle/>
              <a:p>
                <a:pPr>
                  <a:lnSpc>
                    <a:spcPts val="3600"/>
                  </a:lnSpc>
                </a:pPr>
                <a:r>
                  <a:rPr lang="en-US" altLang="zh-CN" sz="2400" dirty="0">
                    <a:solidFill>
                      <a:schemeClr val="accent2"/>
                    </a:solidFill>
                  </a:rPr>
                  <a:t>   </a:t>
                </a:r>
                <a:r>
                  <a:rPr lang="zh-CN" altLang="zh-CN" sz="2400" b="1" dirty="0">
                    <a:solidFill>
                      <a:schemeClr val="accent2"/>
                    </a:solidFill>
                    <a:latin typeface="+mj-ea"/>
                    <a:ea typeface="+mj-ea"/>
                  </a:rPr>
                  <a:t>【解】</a:t>
                </a:r>
                <a:r>
                  <a:rPr lang="en-US" altLang="zh-CN" sz="2400" b="1" dirty="0">
                    <a:solidFill>
                      <a:schemeClr val="tx1"/>
                    </a:solidFill>
                    <a:latin typeface="+mj-ea"/>
                    <a:ea typeface="+mj-ea"/>
                  </a:rPr>
                  <a:t>(a)</a:t>
                </a:r>
                <a:r>
                  <a:rPr lang="zh-CN" altLang="zh-CN" sz="2400" b="1" dirty="0">
                    <a:solidFill>
                      <a:schemeClr val="tx1"/>
                    </a:solidFill>
                    <a:latin typeface="+mj-ea"/>
                    <a:ea typeface="+mj-ea"/>
                  </a:rPr>
                  <a:t>中</a:t>
                </a:r>
                <a14:m>
                  <m:oMath xmlns:m="http://schemas.openxmlformats.org/officeDocument/2006/math">
                    <m:d>
                      <m:dPr>
                        <m:begChr m:val="{"/>
                        <m:endChr m:val="}"/>
                        <m:ctrlPr>
                          <a:rPr lang="zh-CN" altLang="zh-CN" sz="2400" b="1" i="1" smtClean="0">
                            <a:solidFill>
                              <a:srgbClr val="CC00FF"/>
                            </a:solidFill>
                            <a:latin typeface="Cambria Math" panose="02040503050406030204" pitchFamily="18" charset="0"/>
                            <a:ea typeface="+mj-ea"/>
                          </a:rPr>
                        </m:ctrlPr>
                      </m:dPr>
                      <m:e>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𝟏</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𝟐</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𝟒</m:t>
                            </m:r>
                          </m:sub>
                        </m:sSub>
                        <m:r>
                          <a:rPr lang="en-US" altLang="zh-CN" sz="2400" b="1" i="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𝟓</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𝟔</m:t>
                            </m:r>
                          </m:sub>
                        </m:sSub>
                      </m:e>
                    </m:d>
                  </m:oMath>
                </a14:m>
                <a:r>
                  <a:rPr lang="zh-CN" altLang="zh-CN" sz="2400" b="1" dirty="0">
                    <a:solidFill>
                      <a:schemeClr val="tx1"/>
                    </a:solidFill>
                    <a:latin typeface="+mj-ea"/>
                    <a:ea typeface="+mj-ea"/>
                  </a:rPr>
                  <a:t>的导出子图是强分图；</a:t>
                </a:r>
                <a:r>
                  <a:rPr lang="en-US" altLang="zh-CN" sz="2400" b="1" dirty="0">
                    <a:solidFill>
                      <a:schemeClr val="tx1"/>
                    </a:solidFill>
                    <a:latin typeface="+mj-ea"/>
                    <a:ea typeface="+mj-ea"/>
                  </a:rPr>
                  <a:t>(b)</a:t>
                </a:r>
                <a:r>
                  <a:rPr lang="zh-CN" altLang="zh-CN" sz="2400" b="1" dirty="0">
                    <a:solidFill>
                      <a:schemeClr val="tx1"/>
                    </a:solidFill>
                    <a:latin typeface="+mj-ea"/>
                    <a:ea typeface="+mj-ea"/>
                  </a:rPr>
                  <a:t>中</a:t>
                </a:r>
                <a14:m>
                  <m:oMath xmlns:m="http://schemas.openxmlformats.org/officeDocument/2006/math">
                    <m:d>
                      <m:dPr>
                        <m:begChr m:val="{"/>
                        <m:endChr m:val="}"/>
                        <m:ctrlPr>
                          <a:rPr lang="zh-CN" altLang="zh-CN" sz="2400" b="1" i="1" smtClean="0">
                            <a:solidFill>
                              <a:srgbClr val="CC00FF"/>
                            </a:solidFill>
                            <a:latin typeface="Cambria Math" panose="02040503050406030204" pitchFamily="18" charset="0"/>
                            <a:ea typeface="+mj-ea"/>
                          </a:rPr>
                        </m:ctrlPr>
                      </m:dPr>
                      <m:e>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𝟏</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𝟐</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𝟒</m:t>
                            </m:r>
                          </m:sub>
                        </m:sSub>
                      </m:e>
                    </m:d>
                  </m:oMath>
                </a14:m>
                <a:r>
                  <a:rPr lang="zh-CN" altLang="zh-CN" sz="2400" b="1" dirty="0">
                    <a:solidFill>
                      <a:srgbClr val="CC00FF"/>
                    </a:solidFill>
                    <a:latin typeface="+mj-ea"/>
                    <a:ea typeface="+mj-ea"/>
                  </a:rPr>
                  <a:t>，</a:t>
                </a:r>
                <a14:m>
                  <m:oMath xmlns:m="http://schemas.openxmlformats.org/officeDocument/2006/math">
                    <m:d>
                      <m:dPr>
                        <m:begChr m:val="{"/>
                        <m:endChr m:val="}"/>
                        <m:ctrlPr>
                          <a:rPr lang="zh-CN" altLang="zh-CN" sz="2400" b="1" i="1">
                            <a:solidFill>
                              <a:srgbClr val="CC00FF"/>
                            </a:solidFill>
                            <a:latin typeface="Cambria Math" panose="02040503050406030204" pitchFamily="18" charset="0"/>
                            <a:ea typeface="+mj-ea"/>
                          </a:rPr>
                        </m:ctrlPr>
                      </m:dPr>
                      <m:e>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𝟐</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𝟑</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𝟒</m:t>
                            </m:r>
                          </m:sub>
                        </m:sSub>
                      </m:e>
                    </m:d>
                  </m:oMath>
                </a14:m>
                <a:r>
                  <a:rPr lang="zh-CN" altLang="zh-CN" sz="2400" b="1" dirty="0">
                    <a:solidFill>
                      <a:schemeClr val="tx1"/>
                    </a:solidFill>
                    <a:latin typeface="+mj-ea"/>
                    <a:ea typeface="+mj-ea"/>
                  </a:rPr>
                  <a:t>的导出子图为单分图</a:t>
                </a:r>
                <a:r>
                  <a:rPr lang="zh-CN" altLang="en-US" sz="2400" b="1" dirty="0">
                    <a:solidFill>
                      <a:schemeClr val="tx1"/>
                    </a:solidFill>
                    <a:latin typeface="+mj-ea"/>
                    <a:ea typeface="+mj-ea"/>
                  </a:rPr>
                  <a:t>，</a:t>
                </a:r>
                <a14:m>
                  <m:oMath xmlns:m="http://schemas.openxmlformats.org/officeDocument/2006/math">
                    <m:d>
                      <m:dPr>
                        <m:begChr m:val="{"/>
                        <m:endChr m:val="}"/>
                        <m:ctrlPr>
                          <a:rPr lang="zh-CN" altLang="zh-CN" sz="2400" b="1" i="1">
                            <a:solidFill>
                              <a:srgbClr val="CC00FF"/>
                            </a:solidFill>
                            <a:latin typeface="Cambria Math" panose="02040503050406030204" pitchFamily="18" charset="0"/>
                          </a:rPr>
                        </m:ctrlPr>
                      </m:dPr>
                      <m:e>
                        <m:sSub>
                          <m:sSubPr>
                            <m:ctrlPr>
                              <a:rPr lang="zh-CN" altLang="zh-CN" sz="2400" b="1" i="1">
                                <a:solidFill>
                                  <a:srgbClr val="CC00FF"/>
                                </a:solidFill>
                                <a:latin typeface="Cambria Math" panose="02040503050406030204" pitchFamily="18" charset="0"/>
                              </a:rPr>
                            </m:ctrlPr>
                          </m:sSubPr>
                          <m:e>
                            <m:r>
                              <a:rPr lang="en-US" altLang="zh-CN" sz="2400" b="1" i="1">
                                <a:solidFill>
                                  <a:srgbClr val="CC00FF"/>
                                </a:solidFill>
                                <a:latin typeface="Cambria Math" panose="02040503050406030204" pitchFamily="18" charset="0"/>
                              </a:rPr>
                              <m:t>𝒗</m:t>
                            </m:r>
                          </m:e>
                          <m:sub>
                            <m:r>
                              <a:rPr lang="en-US" altLang="zh-CN" sz="2400" b="1" i="1">
                                <a:solidFill>
                                  <a:srgbClr val="CC00FF"/>
                                </a:solidFill>
                                <a:latin typeface="Cambria Math" panose="02040503050406030204" pitchFamily="18" charset="0"/>
                              </a:rPr>
                              <m:t>𝟏</m:t>
                            </m:r>
                          </m:sub>
                        </m:sSub>
                        <m:r>
                          <a:rPr lang="en-US" altLang="zh-CN" sz="2400" b="1">
                            <a:solidFill>
                              <a:srgbClr val="CC00FF"/>
                            </a:solidFill>
                            <a:latin typeface="Cambria Math" panose="02040503050406030204" pitchFamily="18" charset="0"/>
                          </a:rPr>
                          <m:t>,</m:t>
                        </m:r>
                        <m:sSub>
                          <m:sSubPr>
                            <m:ctrlPr>
                              <a:rPr lang="zh-CN" altLang="zh-CN" sz="2400" b="1" i="1">
                                <a:solidFill>
                                  <a:srgbClr val="CC00FF"/>
                                </a:solidFill>
                                <a:latin typeface="Cambria Math" panose="02040503050406030204" pitchFamily="18" charset="0"/>
                              </a:rPr>
                            </m:ctrlPr>
                          </m:sSubPr>
                          <m:e>
                            <m:r>
                              <a:rPr lang="en-US" altLang="zh-CN" sz="2400" b="1" i="1">
                                <a:solidFill>
                                  <a:srgbClr val="CC00FF"/>
                                </a:solidFill>
                                <a:latin typeface="Cambria Math" panose="02040503050406030204" pitchFamily="18" charset="0"/>
                              </a:rPr>
                              <m:t>𝒗</m:t>
                            </m:r>
                          </m:e>
                          <m:sub>
                            <m:r>
                              <a:rPr lang="en-US" altLang="zh-CN" sz="2400" b="1" i="1">
                                <a:solidFill>
                                  <a:srgbClr val="CC00FF"/>
                                </a:solidFill>
                                <a:latin typeface="Cambria Math" panose="02040503050406030204" pitchFamily="18" charset="0"/>
                              </a:rPr>
                              <m:t>𝟐</m:t>
                            </m:r>
                          </m:sub>
                        </m:sSub>
                        <m:r>
                          <a:rPr lang="en-US" altLang="zh-CN" sz="2400" b="1">
                            <a:solidFill>
                              <a:srgbClr val="CC00FF"/>
                            </a:solidFill>
                            <a:latin typeface="Cambria Math" panose="02040503050406030204" pitchFamily="18" charset="0"/>
                          </a:rPr>
                          <m:t>,</m:t>
                        </m:r>
                        <m:sSub>
                          <m:sSubPr>
                            <m:ctrlPr>
                              <a:rPr lang="zh-CN" altLang="zh-CN" sz="2400" b="1" i="1">
                                <a:solidFill>
                                  <a:srgbClr val="CC00FF"/>
                                </a:solidFill>
                                <a:latin typeface="Cambria Math" panose="02040503050406030204" pitchFamily="18" charset="0"/>
                              </a:rPr>
                            </m:ctrlPr>
                          </m:sSubPr>
                          <m:e>
                            <m:r>
                              <a:rPr lang="en-US" altLang="zh-CN" sz="2400" b="1" i="1">
                                <a:solidFill>
                                  <a:srgbClr val="CC00FF"/>
                                </a:solidFill>
                                <a:latin typeface="Cambria Math" panose="02040503050406030204" pitchFamily="18" charset="0"/>
                              </a:rPr>
                              <m:t>𝒗</m:t>
                            </m:r>
                          </m:e>
                          <m:sub>
                            <m:r>
                              <a:rPr lang="en-US" altLang="zh-CN" sz="2400" b="1" i="1">
                                <a:solidFill>
                                  <a:srgbClr val="CC00FF"/>
                                </a:solidFill>
                                <a:latin typeface="Cambria Math" panose="02040503050406030204" pitchFamily="18" charset="0"/>
                              </a:rPr>
                              <m:t>𝟑</m:t>
                            </m:r>
                          </m:sub>
                        </m:sSub>
                        <m:r>
                          <a:rPr lang="en-US" altLang="zh-CN" sz="2400" b="1">
                            <a:solidFill>
                              <a:srgbClr val="CC00FF"/>
                            </a:solidFill>
                            <a:latin typeface="Cambria Math" panose="02040503050406030204" pitchFamily="18" charset="0"/>
                          </a:rPr>
                          <m:t>,</m:t>
                        </m:r>
                        <m:sSub>
                          <m:sSubPr>
                            <m:ctrlPr>
                              <a:rPr lang="zh-CN" altLang="zh-CN" sz="2400" b="1" i="1">
                                <a:solidFill>
                                  <a:srgbClr val="CC00FF"/>
                                </a:solidFill>
                                <a:latin typeface="Cambria Math" panose="02040503050406030204" pitchFamily="18" charset="0"/>
                              </a:rPr>
                            </m:ctrlPr>
                          </m:sSubPr>
                          <m:e>
                            <m:r>
                              <a:rPr lang="en-US" altLang="zh-CN" sz="2400" b="1" i="1">
                                <a:solidFill>
                                  <a:srgbClr val="CC00FF"/>
                                </a:solidFill>
                                <a:latin typeface="Cambria Math" panose="02040503050406030204" pitchFamily="18" charset="0"/>
                              </a:rPr>
                              <m:t>𝒗</m:t>
                            </m:r>
                          </m:e>
                          <m:sub>
                            <m:r>
                              <a:rPr lang="en-US" altLang="zh-CN" sz="2400" b="1" i="1">
                                <a:solidFill>
                                  <a:srgbClr val="CC00FF"/>
                                </a:solidFill>
                                <a:latin typeface="Cambria Math" panose="02040503050406030204" pitchFamily="18" charset="0"/>
                              </a:rPr>
                              <m:t>𝟒</m:t>
                            </m:r>
                          </m:sub>
                        </m:sSub>
                      </m:e>
                    </m:d>
                    <m:r>
                      <a:rPr lang="en-US" altLang="zh-CN" sz="2400" b="1" i="1" smtClean="0">
                        <a:solidFill>
                          <a:srgbClr val="CC00FF"/>
                        </a:solidFill>
                        <a:latin typeface="Cambria Math" panose="02040503050406030204" pitchFamily="18" charset="0"/>
                      </a:rPr>
                      <m:t> </m:t>
                    </m:r>
                  </m:oMath>
                </a14:m>
                <a:r>
                  <a:rPr lang="zh-CN" altLang="en-US" sz="2400" b="1" dirty="0">
                    <a:solidFill>
                      <a:schemeClr val="tx1"/>
                    </a:solidFill>
                    <a:latin typeface="+mj-ea"/>
                    <a:ea typeface="+mj-ea"/>
                  </a:rPr>
                  <a:t>的导出子图为弱分图</a:t>
                </a:r>
                <a:r>
                  <a:rPr lang="zh-CN" altLang="zh-CN" sz="2400" b="1" dirty="0">
                    <a:solidFill>
                      <a:schemeClr val="tx1"/>
                    </a:solidFill>
                    <a:latin typeface="+mj-ea"/>
                    <a:ea typeface="+mj-ea"/>
                  </a:rPr>
                  <a:t>； </a:t>
                </a:r>
                <a:r>
                  <a:rPr lang="en-US" altLang="zh-CN" sz="2400" b="1" dirty="0">
                    <a:solidFill>
                      <a:schemeClr val="tx1"/>
                    </a:solidFill>
                    <a:latin typeface="+mj-ea"/>
                    <a:ea typeface="+mj-ea"/>
                  </a:rPr>
                  <a:t>(c)</a:t>
                </a:r>
                <a:r>
                  <a:rPr lang="zh-CN" altLang="zh-CN" sz="2400" b="1" dirty="0">
                    <a:solidFill>
                      <a:schemeClr val="tx1"/>
                    </a:solidFill>
                    <a:latin typeface="+mj-ea"/>
                    <a:ea typeface="+mj-ea"/>
                  </a:rPr>
                  <a:t>中</a:t>
                </a:r>
                <a14:m>
                  <m:oMath xmlns:m="http://schemas.openxmlformats.org/officeDocument/2006/math">
                    <m:d>
                      <m:dPr>
                        <m:begChr m:val="{"/>
                        <m:endChr m:val="}"/>
                        <m:ctrlPr>
                          <a:rPr lang="zh-CN" altLang="zh-CN" sz="2400" b="1" i="1" smtClean="0">
                            <a:solidFill>
                              <a:srgbClr val="CC00FF"/>
                            </a:solidFill>
                            <a:latin typeface="Cambria Math" panose="02040503050406030204" pitchFamily="18" charset="0"/>
                            <a:ea typeface="+mj-ea"/>
                          </a:rPr>
                        </m:ctrlPr>
                      </m:dPr>
                      <m:e>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𝟏</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𝟐</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𝟑</m:t>
                            </m:r>
                          </m:sub>
                        </m:sSub>
                        <m:r>
                          <a:rPr lang="en-US" altLang="zh-CN" sz="2400" b="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𝟒</m:t>
                            </m:r>
                          </m:sub>
                        </m:sSub>
                      </m:e>
                    </m:d>
                  </m:oMath>
                </a14:m>
                <a:r>
                  <a:rPr lang="zh-CN" altLang="zh-CN" sz="2400" b="1" dirty="0">
                    <a:solidFill>
                      <a:srgbClr val="CC00FF"/>
                    </a:solidFill>
                    <a:latin typeface="+mj-ea"/>
                    <a:ea typeface="+mj-ea"/>
                  </a:rPr>
                  <a:t>，</a:t>
                </a:r>
                <a14:m>
                  <m:oMath xmlns:m="http://schemas.openxmlformats.org/officeDocument/2006/math">
                    <m:d>
                      <m:dPr>
                        <m:begChr m:val="{"/>
                        <m:endChr m:val="}"/>
                        <m:ctrlPr>
                          <a:rPr lang="zh-CN" altLang="zh-CN" sz="2400" b="1" i="1">
                            <a:solidFill>
                              <a:srgbClr val="CC00FF"/>
                            </a:solidFill>
                            <a:latin typeface="Cambria Math" panose="02040503050406030204" pitchFamily="18" charset="0"/>
                            <a:ea typeface="+mj-ea"/>
                          </a:rPr>
                        </m:ctrlPr>
                      </m:dPr>
                      <m:e>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𝟓</m:t>
                            </m:r>
                          </m:sub>
                        </m:sSub>
                        <m:r>
                          <a:rPr lang="en-US" altLang="zh-CN" sz="2400" b="1" i="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𝟔</m:t>
                            </m:r>
                          </m:sub>
                        </m:sSub>
                        <m:r>
                          <a:rPr lang="en-US" altLang="zh-CN" sz="2400" b="1" i="1">
                            <a:solidFill>
                              <a:srgbClr val="CC00FF"/>
                            </a:solidFill>
                            <a:latin typeface="Cambria Math" panose="02040503050406030204" pitchFamily="18" charset="0"/>
                            <a:ea typeface="+mj-ea"/>
                          </a:rPr>
                          <m:t>,</m:t>
                        </m:r>
                        <m:sSub>
                          <m:sSubPr>
                            <m:ctrlPr>
                              <a:rPr lang="zh-CN" altLang="zh-CN" sz="2400" b="1" i="1">
                                <a:solidFill>
                                  <a:srgbClr val="CC00FF"/>
                                </a:solidFill>
                                <a:latin typeface="Cambria Math" panose="02040503050406030204" pitchFamily="18" charset="0"/>
                                <a:ea typeface="+mj-ea"/>
                              </a:rPr>
                            </m:ctrlPr>
                          </m:sSubPr>
                          <m:e>
                            <m:r>
                              <a:rPr lang="en-US" altLang="zh-CN" sz="2400" b="1" i="1">
                                <a:solidFill>
                                  <a:srgbClr val="CC00FF"/>
                                </a:solidFill>
                                <a:latin typeface="Cambria Math" panose="02040503050406030204" pitchFamily="18" charset="0"/>
                                <a:ea typeface="+mj-ea"/>
                              </a:rPr>
                              <m:t>𝒗</m:t>
                            </m:r>
                          </m:e>
                          <m:sub>
                            <m:r>
                              <a:rPr lang="en-US" altLang="zh-CN" sz="2400" b="1" i="1">
                                <a:solidFill>
                                  <a:srgbClr val="CC00FF"/>
                                </a:solidFill>
                                <a:latin typeface="Cambria Math" panose="02040503050406030204" pitchFamily="18" charset="0"/>
                                <a:ea typeface="+mj-ea"/>
                              </a:rPr>
                              <m:t>𝟕</m:t>
                            </m:r>
                          </m:sub>
                        </m:sSub>
                      </m:e>
                    </m:d>
                  </m:oMath>
                </a14:m>
                <a:r>
                  <a:rPr lang="zh-CN" altLang="zh-CN" sz="2400" b="1" dirty="0">
                    <a:solidFill>
                      <a:schemeClr val="tx1"/>
                    </a:solidFill>
                    <a:latin typeface="+mj-ea"/>
                    <a:ea typeface="+mj-ea"/>
                  </a:rPr>
                  <a:t>的导出子图均为弱分图。</a:t>
                </a:r>
                <a:endParaRPr lang="en-US" altLang="zh-CN" sz="2400" b="1" dirty="0">
                  <a:solidFill>
                    <a:schemeClr val="tx1"/>
                  </a:solidFill>
                  <a:latin typeface="+mj-ea"/>
                  <a:ea typeface="+mj-ea"/>
                </a:endParaRPr>
              </a:p>
            </p:txBody>
          </p:sp>
        </mc:Choice>
        <mc:Fallback xmlns="">
          <p:sp>
            <p:nvSpPr>
              <p:cNvPr id="9" name="文本框 8">
                <a:extLst>
                  <a:ext uri="{FF2B5EF4-FFF2-40B4-BE49-F238E27FC236}">
                    <a16:creationId xmlns:a16="http://schemas.microsoft.com/office/drawing/2014/main" id="{E6590FC9-8A63-4751-983B-9406ADFA6237}"/>
                  </a:ext>
                </a:extLst>
              </p:cNvPr>
              <p:cNvSpPr txBox="1">
                <a:spLocks noRot="1" noChangeAspect="1" noMove="1" noResize="1" noEditPoints="1" noAdjustHandles="1" noChangeArrowheads="1" noChangeShapeType="1" noTextEdit="1"/>
              </p:cNvSpPr>
              <p:nvPr/>
            </p:nvSpPr>
            <p:spPr>
              <a:xfrm>
                <a:off x="179512" y="4437112"/>
                <a:ext cx="8856984" cy="1875513"/>
              </a:xfrm>
              <a:prstGeom prst="rect">
                <a:avLst/>
              </a:prstGeom>
              <a:blipFill>
                <a:blip r:embed="rId4"/>
                <a:stretch>
                  <a:fillRect l="-1032" t="-1299" b="-6169"/>
                </a:stretch>
              </a:blipFill>
              <a:ln w="19050">
                <a:noFill/>
              </a:ln>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511FE252-4E33-45A9-83DA-5657D5D951B3}"/>
              </a:ext>
            </a:extLst>
          </p:cNvPr>
          <p:cNvPicPr>
            <a:picLocks noChangeAspect="1"/>
          </p:cNvPicPr>
          <p:nvPr/>
        </p:nvPicPr>
        <p:blipFill>
          <a:blip r:embed="rId5"/>
          <a:stretch>
            <a:fillRect/>
          </a:stretch>
        </p:blipFill>
        <p:spPr>
          <a:xfrm>
            <a:off x="251520" y="2455217"/>
            <a:ext cx="8632942" cy="1875513"/>
          </a:xfrm>
          <a:prstGeom prst="rect">
            <a:avLst/>
          </a:prstGeom>
        </p:spPr>
      </p:pic>
    </p:spTree>
    <p:extLst>
      <p:ext uri="{BB962C8B-B14F-4D97-AF65-F5344CB8AC3E}">
        <p14:creationId xmlns:p14="http://schemas.microsoft.com/office/powerpoint/2010/main" val="3062513985"/>
      </p:ext>
    </p:extLst>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C367E4B6-7823-4C09-AED5-E5548DECA8AF}"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pic>
        <p:nvPicPr>
          <p:cNvPr id="972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文本框 22"/>
              <p:cNvSpPr txBox="1"/>
              <p:nvPr/>
            </p:nvSpPr>
            <p:spPr>
              <a:xfrm>
                <a:off x="179512" y="3967160"/>
                <a:ext cx="5616624" cy="2339808"/>
              </a:xfrm>
              <a:prstGeom prst="rect">
                <a:avLst/>
              </a:prstGeom>
              <a:solidFill>
                <a:schemeClr val="accent3">
                  <a:lumMod val="95000"/>
                </a:schemeClr>
              </a:solidFill>
              <a:ln w="19050">
                <a:noFill/>
              </a:ln>
            </p:spPr>
            <p:txBody>
              <a:bodyPr wrap="square" rtlCol="0">
                <a:spAutoFit/>
              </a:bodyPr>
              <a:lstStyle/>
              <a:p>
                <a:pPr>
                  <a:lnSpc>
                    <a:spcPct val="150000"/>
                  </a:lnSpc>
                  <a:spcAft>
                    <a:spcPts val="0"/>
                  </a:spcAft>
                </a:pPr>
                <a:r>
                  <a:rPr lang="en-US" altLang="zh-CN" sz="2000" dirty="0">
                    <a:solidFill>
                      <a:schemeClr val="accent2"/>
                    </a:solidFill>
                  </a:rPr>
                  <a:t>  </a:t>
                </a:r>
                <a:r>
                  <a:rPr lang="zh-CN" altLang="zh-CN" sz="2000" b="1" dirty="0">
                    <a:solidFill>
                      <a:schemeClr val="accent2"/>
                    </a:solidFill>
                  </a:rPr>
                  <a:t>【解】</a:t>
                </a:r>
                <a:r>
                  <a:rPr lang="zh-CN" altLang="en-US" sz="2000" b="1" dirty="0">
                    <a:solidFill>
                      <a:schemeClr val="tx1"/>
                    </a:solidFill>
                  </a:rPr>
                  <a:t>该图的</a:t>
                </a:r>
                <a14:m>
                  <m:oMath xmlns:m="http://schemas.openxmlformats.org/officeDocument/2006/math">
                    <m:d>
                      <m:dPr>
                        <m:begChr m:val="{"/>
                        <m:endChr m:val="}"/>
                        <m:ctrlPr>
                          <a:rPr lang="zh-CN" altLang="zh-CN" sz="2000" b="1" i="1">
                            <a:solidFill>
                              <a:schemeClr val="tx1"/>
                            </a:solidFill>
                            <a:latin typeface="Cambria Math" panose="02040503050406030204" pitchFamily="18" charset="0"/>
                          </a:rPr>
                        </m:ctrlPr>
                      </m:dPr>
                      <m:e>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𝟐</m:t>
                            </m:r>
                          </m:sub>
                        </m:sSub>
                      </m:e>
                    </m:d>
                  </m:oMath>
                </a14:m>
                <a:r>
                  <a:rPr lang="zh-CN" altLang="zh-CN" sz="2000" b="1" dirty="0">
                    <a:solidFill>
                      <a:schemeClr val="tx1"/>
                    </a:solidFill>
                  </a:rPr>
                  <a:t>，</a:t>
                </a:r>
                <a14:m>
                  <m:oMath xmlns:m="http://schemas.openxmlformats.org/officeDocument/2006/math">
                    <m:d>
                      <m:dPr>
                        <m:begChr m:val="{"/>
                        <m:endChr m:val="}"/>
                        <m:ctrlPr>
                          <a:rPr lang="zh-CN" altLang="zh-CN" sz="2000" b="1" i="1">
                            <a:solidFill>
                              <a:schemeClr val="tx1"/>
                            </a:solidFill>
                            <a:latin typeface="Cambria Math" panose="02040503050406030204" pitchFamily="18" charset="0"/>
                          </a:rPr>
                        </m:ctrlPr>
                      </m:dPr>
                      <m:e>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𝟔</m:t>
                            </m:r>
                          </m:sub>
                        </m:sSub>
                      </m:e>
                    </m:d>
                  </m:oMath>
                </a14:m>
                <a:r>
                  <a:rPr lang="zh-CN" altLang="zh-CN" sz="2000" b="1" dirty="0">
                    <a:solidFill>
                      <a:schemeClr val="tx1"/>
                    </a:solidFill>
                  </a:rPr>
                  <a:t>和</a:t>
                </a:r>
                <a14:m>
                  <m:oMath xmlns:m="http://schemas.openxmlformats.org/officeDocument/2006/math">
                    <m:d>
                      <m:dPr>
                        <m:begChr m:val="{"/>
                        <m:endChr m:val="}"/>
                        <m:ctrlPr>
                          <a:rPr lang="zh-CN" altLang="zh-CN" sz="2000" b="1" i="1">
                            <a:solidFill>
                              <a:schemeClr val="tx1"/>
                            </a:solidFill>
                            <a:latin typeface="Cambria Math" panose="02040503050406030204" pitchFamily="18" charset="0"/>
                          </a:rPr>
                        </m:ctrlPr>
                      </m:dPr>
                      <m:e>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𝟏</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𝟑</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𝟒</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𝟓</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𝟕</m:t>
                            </m:r>
                          </m:sub>
                        </m:sSub>
                      </m:e>
                    </m:d>
                  </m:oMath>
                </a14:m>
                <a:r>
                  <a:rPr lang="zh-CN" altLang="zh-CN" sz="2000" b="1" dirty="0">
                    <a:solidFill>
                      <a:schemeClr val="tx1"/>
                    </a:solidFill>
                  </a:rPr>
                  <a:t>导出的子图都是</a:t>
                </a:r>
                <a:r>
                  <a:rPr lang="zh-CN" altLang="zh-CN" sz="2000" b="1" dirty="0">
                    <a:solidFill>
                      <a:srgbClr val="0000FF"/>
                    </a:solidFill>
                  </a:rPr>
                  <a:t>强分图，见图</a:t>
                </a:r>
                <a:r>
                  <a:rPr lang="en-US" altLang="zh-CN" sz="2000" b="1" dirty="0">
                    <a:solidFill>
                      <a:srgbClr val="0000FF"/>
                    </a:solidFill>
                  </a:rPr>
                  <a:t>(d)</a:t>
                </a:r>
                <a:r>
                  <a:rPr lang="zh-CN" altLang="en-US" sz="2000" b="1" dirty="0">
                    <a:solidFill>
                      <a:srgbClr val="0000FF"/>
                    </a:solidFill>
                  </a:rPr>
                  <a:t>。</a:t>
                </a:r>
                <a:endParaRPr lang="en-US" altLang="zh-CN" sz="2000" b="1" dirty="0">
                  <a:solidFill>
                    <a:srgbClr val="0000FF"/>
                  </a:solidFill>
                </a:endParaRPr>
              </a:p>
              <a:p>
                <a:pPr>
                  <a:lnSpc>
                    <a:spcPct val="150000"/>
                  </a:lnSpc>
                  <a:spcAft>
                    <a:spcPts val="0"/>
                  </a:spcAft>
                </a:pPr>
                <a:r>
                  <a:rPr lang="en-US" altLang="zh-CN" sz="2000" b="1" dirty="0">
                    <a:solidFill>
                      <a:schemeClr val="tx1"/>
                    </a:solidFill>
                  </a:rPr>
                  <a:t>  </a:t>
                </a:r>
                <a14:m>
                  <m:oMath xmlns:m="http://schemas.openxmlformats.org/officeDocument/2006/math">
                    <m:d>
                      <m:dPr>
                        <m:begChr m:val="{"/>
                        <m:endChr m:val="}"/>
                        <m:ctrlPr>
                          <a:rPr lang="zh-CN" altLang="zh-CN" sz="2000" b="1" i="1">
                            <a:solidFill>
                              <a:schemeClr val="tx1"/>
                            </a:solidFill>
                            <a:latin typeface="Cambria Math" panose="02040503050406030204" pitchFamily="18" charset="0"/>
                          </a:rPr>
                        </m:ctrlPr>
                      </m:dPr>
                      <m:e>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𝟏</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𝟐</m:t>
                                </m:r>
                              </m:sub>
                            </m:sSub>
                            <m:r>
                              <a:rPr lang="en-US" altLang="zh-CN" sz="2000" b="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𝟑</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𝟒</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𝟓</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𝟕</m:t>
                            </m:r>
                          </m:sub>
                        </m:sSub>
                      </m:e>
                    </m:d>
                  </m:oMath>
                </a14:m>
                <a:r>
                  <a:rPr lang="zh-CN" altLang="zh-CN" sz="2000" b="1" dirty="0">
                    <a:solidFill>
                      <a:schemeClr val="tx1"/>
                    </a:solidFill>
                  </a:rPr>
                  <a:t>和</a:t>
                </a:r>
                <a14:m>
                  <m:oMath xmlns:m="http://schemas.openxmlformats.org/officeDocument/2006/math">
                    <m:d>
                      <m:dPr>
                        <m:begChr m:val="{"/>
                        <m:endChr m:val="}"/>
                        <m:ctrlPr>
                          <a:rPr lang="zh-CN" altLang="zh-CN" sz="2000" b="1" i="1">
                            <a:solidFill>
                              <a:schemeClr val="tx1"/>
                            </a:solidFill>
                            <a:latin typeface="Cambria Math" panose="02040503050406030204" pitchFamily="18" charset="0"/>
                          </a:rPr>
                        </m:ctrlPr>
                      </m:dPr>
                      <m:e>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𝟏</m:t>
                            </m:r>
                          </m:sub>
                        </m:sSub>
                        <m:sSub>
                          <m:sSubPr>
                            <m:ctrlPr>
                              <a:rPr lang="zh-CN" altLang="zh-CN" sz="2000" b="1" i="1">
                                <a:solidFill>
                                  <a:schemeClr val="tx1"/>
                                </a:solidFill>
                                <a:latin typeface="Cambria Math" panose="02040503050406030204" pitchFamily="18" charset="0"/>
                              </a:rPr>
                            </m:ctrlPr>
                          </m:sSubPr>
                          <m:e>
                            <m:r>
                              <a:rPr lang="en-US" altLang="zh-CN" sz="2000" b="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𝟑</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𝟒</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𝟓</m:t>
                            </m:r>
                          </m:sub>
                        </m:sSub>
                        <m:r>
                          <a:rPr lang="en-US" altLang="zh-CN" sz="2000" b="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𝟔</m:t>
                            </m:r>
                          </m:sub>
                        </m:sSub>
                        <m:r>
                          <a:rPr lang="en-US" altLang="zh-CN" sz="2000" b="1" i="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𝒗</m:t>
                            </m:r>
                          </m:e>
                          <m:sub>
                            <m:r>
                              <a:rPr lang="en-US" altLang="zh-CN" sz="2000" b="1" i="1">
                                <a:solidFill>
                                  <a:schemeClr val="tx1"/>
                                </a:solidFill>
                                <a:latin typeface="Cambria Math" panose="02040503050406030204" pitchFamily="18" charset="0"/>
                              </a:rPr>
                              <m:t>𝟕</m:t>
                            </m:r>
                          </m:sub>
                        </m:sSub>
                      </m:e>
                    </m:d>
                  </m:oMath>
                </a14:m>
                <a:r>
                  <a:rPr lang="zh-CN" altLang="zh-CN" sz="2000" b="1" dirty="0">
                    <a:solidFill>
                      <a:schemeClr val="tx1"/>
                    </a:solidFill>
                  </a:rPr>
                  <a:t>导出的子图都是</a:t>
                </a:r>
                <a:r>
                  <a:rPr lang="zh-CN" altLang="zh-CN" sz="2000" b="1" dirty="0">
                    <a:solidFill>
                      <a:srgbClr val="0000FF"/>
                    </a:solidFill>
                  </a:rPr>
                  <a:t>单分图，见图</a:t>
                </a:r>
                <a:r>
                  <a:rPr lang="en-US" altLang="zh-CN" sz="2000" b="1" dirty="0">
                    <a:solidFill>
                      <a:srgbClr val="0000FF"/>
                    </a:solidFill>
                  </a:rPr>
                  <a:t> (e)</a:t>
                </a:r>
                <a:r>
                  <a:rPr lang="zh-CN" altLang="zh-CN" sz="2000" b="1" dirty="0">
                    <a:solidFill>
                      <a:srgbClr val="0000FF"/>
                    </a:solidFill>
                  </a:rPr>
                  <a:t>和图</a:t>
                </a:r>
                <a:r>
                  <a:rPr lang="en-US" altLang="zh-CN" sz="2000" b="1" dirty="0">
                    <a:solidFill>
                      <a:srgbClr val="0000FF"/>
                    </a:solidFill>
                  </a:rPr>
                  <a:t> (f)</a:t>
                </a:r>
                <a:r>
                  <a:rPr lang="zh-CN" altLang="en-US" sz="2000" b="1" dirty="0">
                    <a:solidFill>
                      <a:srgbClr val="0000FF"/>
                    </a:solidFill>
                  </a:rPr>
                  <a:t>。</a:t>
                </a:r>
                <a:endParaRPr lang="en-US" altLang="zh-CN" sz="2000" b="1" dirty="0">
                  <a:solidFill>
                    <a:srgbClr val="0000FF"/>
                  </a:solidFill>
                </a:endParaRPr>
              </a:p>
              <a:p>
                <a:pPr>
                  <a:lnSpc>
                    <a:spcPct val="150000"/>
                  </a:lnSpc>
                  <a:spcAft>
                    <a:spcPts val="0"/>
                  </a:spcAft>
                </a:pPr>
                <a:r>
                  <a:rPr lang="en-US" altLang="zh-CN" sz="2000" b="1" dirty="0">
                    <a:solidFill>
                      <a:srgbClr val="0000FF"/>
                    </a:solidFill>
                  </a:rPr>
                  <a:t>   </a:t>
                </a:r>
                <a14:m>
                  <m:oMath xmlns:m="http://schemas.openxmlformats.org/officeDocument/2006/math">
                    <m:sSub>
                      <m:sSubPr>
                        <m:ctrlPr>
                          <a:rPr lang="zh-CN" altLang="zh-CN" sz="2000" b="1" i="1" smtClean="0">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𝑮</m:t>
                        </m:r>
                      </m:e>
                      <m:sub>
                        <m:r>
                          <a:rPr lang="en-US" altLang="zh-CN" sz="2000" b="1" i="1">
                            <a:solidFill>
                              <a:schemeClr val="tx1"/>
                            </a:solidFill>
                            <a:latin typeface="Cambria Math" panose="02040503050406030204" pitchFamily="18" charset="0"/>
                          </a:rPr>
                          <m:t>𝟐</m:t>
                        </m:r>
                      </m:sub>
                    </m:sSub>
                  </m:oMath>
                </a14:m>
                <a:r>
                  <a:rPr lang="zh-CN" altLang="zh-CN" sz="2000" b="1" dirty="0">
                    <a:solidFill>
                      <a:schemeClr val="tx1"/>
                    </a:solidFill>
                  </a:rPr>
                  <a:t>本身为</a:t>
                </a:r>
                <a:r>
                  <a:rPr lang="zh-CN" altLang="zh-CN" sz="2000" b="1" dirty="0">
                    <a:solidFill>
                      <a:srgbClr val="0000FF"/>
                    </a:solidFill>
                  </a:rPr>
                  <a:t>弱分图</a:t>
                </a:r>
                <a:r>
                  <a:rPr lang="zh-CN" altLang="en-US" sz="2000" b="1" dirty="0">
                    <a:solidFill>
                      <a:srgbClr val="0000FF"/>
                    </a:solidFill>
                  </a:rPr>
                  <a:t>。</a:t>
                </a:r>
                <a:endParaRPr lang="en-US" altLang="zh-CN" sz="2000" b="1" dirty="0">
                  <a:solidFill>
                    <a:srgbClr val="0000FF"/>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179512" y="3967160"/>
                <a:ext cx="5616624" cy="2339808"/>
              </a:xfrm>
              <a:prstGeom prst="rect">
                <a:avLst/>
              </a:prstGeom>
              <a:blipFill>
                <a:blip r:embed="rId4"/>
                <a:stretch>
                  <a:fillRect l="-1085" b="-3125"/>
                </a:stretch>
              </a:blipFill>
              <a:ln w="19050">
                <a:noFill/>
              </a:ln>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E0681C95-DBED-4F4E-BC99-B9CE03A1413D}"/>
              </a:ext>
            </a:extLst>
          </p:cNvPr>
          <p:cNvSpPr/>
          <p:nvPr/>
        </p:nvSpPr>
        <p:spPr>
          <a:xfrm>
            <a:off x="539552" y="1673946"/>
            <a:ext cx="6675225" cy="461665"/>
          </a:xfrm>
          <a:prstGeom prst="rect">
            <a:avLst/>
          </a:prstGeom>
          <a:solidFill>
            <a:schemeClr val="accent5"/>
          </a:solidFill>
        </p:spPr>
        <p:txBody>
          <a:bodyPr wrap="none">
            <a:spAutoFit/>
          </a:bodyPr>
          <a:lstStyle/>
          <a:p>
            <a:r>
              <a:rPr lang="zh-CN" altLang="zh-CN" sz="2400" dirty="0"/>
              <a:t>【例题】</a:t>
            </a:r>
            <a:r>
              <a:rPr lang="zh-CN" altLang="zh-CN" sz="2400" b="1" dirty="0">
                <a:solidFill>
                  <a:schemeClr val="tx1"/>
                </a:solidFill>
              </a:rPr>
              <a:t>画出</a:t>
            </a:r>
            <a:r>
              <a:rPr lang="zh-CN" altLang="en-US" sz="2400" b="1" dirty="0">
                <a:solidFill>
                  <a:schemeClr val="tx1"/>
                </a:solidFill>
              </a:rPr>
              <a:t>下</a:t>
            </a:r>
            <a:r>
              <a:rPr lang="zh-CN" altLang="zh-CN" sz="2400" b="1" dirty="0">
                <a:solidFill>
                  <a:schemeClr val="tx1"/>
                </a:solidFill>
              </a:rPr>
              <a:t>图</a:t>
            </a:r>
            <a:r>
              <a:rPr lang="zh-CN" altLang="en-US" sz="2400" b="1" dirty="0">
                <a:solidFill>
                  <a:schemeClr val="tx1"/>
                </a:solidFill>
              </a:rPr>
              <a:t>的</a:t>
            </a:r>
            <a:r>
              <a:rPr lang="zh-CN" altLang="zh-CN" sz="2400" b="1" dirty="0">
                <a:solidFill>
                  <a:schemeClr val="tx1"/>
                </a:solidFill>
              </a:rPr>
              <a:t>强分图、单分图和弱分图。</a:t>
            </a:r>
            <a:endParaRPr lang="en-US" altLang="zh-CN" sz="2400" b="1" dirty="0">
              <a:solidFill>
                <a:srgbClr val="0000FF"/>
              </a:solidFill>
            </a:endParaRPr>
          </a:p>
        </p:txBody>
      </p:sp>
      <p:sp>
        <p:nvSpPr>
          <p:cNvPr id="15" name="Text Box 2">
            <a:extLst>
              <a:ext uri="{FF2B5EF4-FFF2-40B4-BE49-F238E27FC236}">
                <a16:creationId xmlns:a16="http://schemas.microsoft.com/office/drawing/2014/main" id="{246BAD0F-3BCD-41A3-BB2D-E019AE877745}"/>
              </a:ext>
            </a:extLst>
          </p:cNvPr>
          <p:cNvSpPr txBox="1">
            <a:spLocks noChangeArrowheads="1"/>
          </p:cNvSpPr>
          <p:nvPr/>
        </p:nvSpPr>
        <p:spPr bwMode="auto">
          <a:xfrm>
            <a:off x="1331640" y="565403"/>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例 题</a:t>
            </a:r>
          </a:p>
        </p:txBody>
      </p:sp>
      <p:pic>
        <p:nvPicPr>
          <p:cNvPr id="3" name="图片 2">
            <a:extLst>
              <a:ext uri="{FF2B5EF4-FFF2-40B4-BE49-F238E27FC236}">
                <a16:creationId xmlns:a16="http://schemas.microsoft.com/office/drawing/2014/main" id="{7B6BE61F-E403-4E2B-9A9D-6AFFF91E20B6}"/>
              </a:ext>
            </a:extLst>
          </p:cNvPr>
          <p:cNvPicPr>
            <a:picLocks noChangeAspect="1"/>
          </p:cNvPicPr>
          <p:nvPr/>
        </p:nvPicPr>
        <p:blipFill>
          <a:blip r:embed="rId5"/>
          <a:stretch>
            <a:fillRect/>
          </a:stretch>
        </p:blipFill>
        <p:spPr>
          <a:xfrm>
            <a:off x="5923801" y="2299655"/>
            <a:ext cx="3190098" cy="4048816"/>
          </a:xfrm>
          <a:prstGeom prst="rect">
            <a:avLst/>
          </a:prstGeom>
        </p:spPr>
      </p:pic>
      <p:pic>
        <p:nvPicPr>
          <p:cNvPr id="4" name="图片 3">
            <a:extLst>
              <a:ext uri="{FF2B5EF4-FFF2-40B4-BE49-F238E27FC236}">
                <a16:creationId xmlns:a16="http://schemas.microsoft.com/office/drawing/2014/main" id="{A4648005-CDEC-4B4D-A316-C0700A4E8F58}"/>
              </a:ext>
            </a:extLst>
          </p:cNvPr>
          <p:cNvPicPr>
            <a:picLocks noChangeAspect="1"/>
          </p:cNvPicPr>
          <p:nvPr/>
        </p:nvPicPr>
        <p:blipFill>
          <a:blip r:embed="rId6"/>
          <a:stretch>
            <a:fillRect/>
          </a:stretch>
        </p:blipFill>
        <p:spPr>
          <a:xfrm>
            <a:off x="1729137" y="2195500"/>
            <a:ext cx="3190098" cy="1698893"/>
          </a:xfrm>
          <a:prstGeom prst="rect">
            <a:avLst/>
          </a:prstGeom>
        </p:spPr>
      </p:pic>
    </p:spTree>
    <p:extLst>
      <p:ext uri="{BB962C8B-B14F-4D97-AF65-F5344CB8AC3E}">
        <p14:creationId xmlns:p14="http://schemas.microsoft.com/office/powerpoint/2010/main" val="3923531519"/>
      </p:ext>
    </p:extLst>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77787755-ADE0-402B-9520-199A974DBF60}"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9445" name="Text Box 2"/>
          <p:cNvSpPr txBox="1">
            <a:spLocks noChangeArrowheads="1"/>
          </p:cNvSpPr>
          <p:nvPr/>
        </p:nvSpPr>
        <p:spPr bwMode="auto">
          <a:xfrm>
            <a:off x="1331640" y="764704"/>
            <a:ext cx="6401718"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有向图结点划分</a:t>
            </a:r>
            <a:r>
              <a:rPr lang="en-US" altLang="zh-CN" sz="4800" b="1" dirty="0">
                <a:solidFill>
                  <a:schemeClr val="bg1"/>
                </a:solidFill>
                <a:latin typeface="宋体" panose="02010600030101010101" pitchFamily="2" charset="-122"/>
                <a:ea typeface="宋体" panose="02010600030101010101" pitchFamily="2" charset="-122"/>
              </a:rPr>
              <a:t>(1)</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894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12EE7A78-5738-48F5-B7B5-980CD4E740D9}"/>
              </a:ext>
            </a:extLst>
          </p:cNvPr>
          <p:cNvSpPr/>
          <p:nvPr/>
        </p:nvSpPr>
        <p:spPr>
          <a:xfrm>
            <a:off x="467544" y="2119906"/>
            <a:ext cx="8424936" cy="3896516"/>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1</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）有向图结点之间的强连通关系显然满足</a:t>
            </a:r>
            <a:r>
              <a:rPr lang="zh-CN" altLang="zh-CN"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自反性、对称性和传递性</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，因此</a:t>
            </a:r>
            <a:r>
              <a:rPr lang="zh-CN" altLang="en-US"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强连通关系是一种</a:t>
            </a:r>
            <a:r>
              <a:rPr lang="zh-CN" altLang="zh-CN"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等价关系</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，可由此</a:t>
            </a:r>
            <a:r>
              <a:rPr lang="zh-CN" altLang="en-US"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关系</a:t>
            </a:r>
            <a:r>
              <a:rPr lang="zh-CN" altLang="zh-CN"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实现对图中所有结点的划分</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显然，</a:t>
            </a:r>
            <a:r>
              <a:rPr lang="zh-CN" altLang="zh-CN"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每个强分图就是一个等价类或者划分块</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，图中所有</a:t>
            </a:r>
            <a:r>
              <a:rPr lang="zh-CN" altLang="en-US"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强分图构成了所有的划分块。 因此，有向图的任何一个结点属于且仅属于一个强分图。</a:t>
            </a:r>
          </a:p>
        </p:txBody>
      </p:sp>
    </p:spTree>
  </p:cSld>
  <p:clrMapOvr>
    <a:masterClrMapping/>
  </p:clrMapOvr>
  <p:transition spd="med">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77787755-ADE0-402B-9520-199A974DBF60}"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9445" name="Text Box 2"/>
          <p:cNvSpPr txBox="1">
            <a:spLocks noChangeArrowheads="1"/>
          </p:cNvSpPr>
          <p:nvPr/>
        </p:nvSpPr>
        <p:spPr bwMode="auto">
          <a:xfrm>
            <a:off x="1331640" y="764704"/>
            <a:ext cx="6401718"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结点划分实例</a:t>
            </a:r>
          </a:p>
        </p:txBody>
      </p:sp>
      <p:pic>
        <p:nvPicPr>
          <p:cNvPr id="1894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ED0E1A1F-3AA9-4E02-87A1-AEE0AB093785}"/>
              </a:ext>
            </a:extLst>
          </p:cNvPr>
          <p:cNvPicPr>
            <a:picLocks noChangeAspect="1"/>
          </p:cNvPicPr>
          <p:nvPr/>
        </p:nvPicPr>
        <p:blipFill>
          <a:blip r:embed="rId4"/>
          <a:stretch>
            <a:fillRect/>
          </a:stretch>
        </p:blipFill>
        <p:spPr>
          <a:xfrm>
            <a:off x="827584" y="1988840"/>
            <a:ext cx="7704856" cy="4255106"/>
          </a:xfrm>
          <a:prstGeom prst="rect">
            <a:avLst/>
          </a:prstGeom>
        </p:spPr>
      </p:pic>
    </p:spTree>
    <p:extLst>
      <p:ext uri="{BB962C8B-B14F-4D97-AF65-F5344CB8AC3E}">
        <p14:creationId xmlns:p14="http://schemas.microsoft.com/office/powerpoint/2010/main" val="773112064"/>
      </p:ext>
    </p:extLst>
  </p:cSld>
  <p:clrMapOvr>
    <a:masterClrMapping/>
  </p:clrMapOvr>
  <p:transition spd="med">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77787755-ADE0-402B-9520-199A974DBF60}"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9445" name="Text Box 2"/>
          <p:cNvSpPr txBox="1">
            <a:spLocks noChangeArrowheads="1"/>
          </p:cNvSpPr>
          <p:nvPr/>
        </p:nvSpPr>
        <p:spPr bwMode="auto">
          <a:xfrm>
            <a:off x="1331640" y="764704"/>
            <a:ext cx="6401718"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有向图结点划分</a:t>
            </a:r>
            <a:r>
              <a:rPr lang="en-US" altLang="zh-CN" sz="4800" b="1" dirty="0">
                <a:solidFill>
                  <a:schemeClr val="bg1"/>
                </a:solidFill>
                <a:latin typeface="宋体" panose="02010600030101010101" pitchFamily="2" charset="-122"/>
                <a:ea typeface="宋体" panose="02010600030101010101" pitchFamily="2" charset="-122"/>
              </a:rPr>
              <a:t>(2)</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894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C126B1B-9A3D-44E7-993E-8D2083FA8D6C}"/>
              </a:ext>
            </a:extLst>
          </p:cNvPr>
          <p:cNvSpPr/>
          <p:nvPr/>
        </p:nvSpPr>
        <p:spPr>
          <a:xfrm>
            <a:off x="431540" y="2074600"/>
            <a:ext cx="8280920" cy="3896516"/>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）对于由弱连通关系产生的弱分图，可类似于无向图的方法进行讨论。</a:t>
            </a: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不难看出，弱分图就是有向图所导出无向图的连通分支</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因此，</a:t>
            </a:r>
            <a:r>
              <a:rPr lang="zh-CN" altLang="zh-CN" sz="2800" b="1" kern="100" dirty="0">
                <a:solidFill>
                  <a:srgbClr val="FFFF66"/>
                </a:solidFill>
                <a:latin typeface="Calibri" panose="020F0502020204030204" pitchFamily="34" charset="0"/>
                <a:ea typeface="宋体" panose="02010600030101010101" pitchFamily="2" charset="-122"/>
                <a:cs typeface="Times New Roman" panose="02020603050405020304" pitchFamily="18" charset="0"/>
              </a:rPr>
              <a:t>所有的弱分图也构成了有向图中所有结点的一种划分</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，有向图的任何一个结点属于且仅属于一个</a:t>
            </a:r>
            <a:r>
              <a:rPr lang="zh-CN" altLang="en-US"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弱</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分图。</a:t>
            </a:r>
          </a:p>
        </p:txBody>
      </p:sp>
    </p:spTree>
    <p:extLst>
      <p:ext uri="{BB962C8B-B14F-4D97-AF65-F5344CB8AC3E}">
        <p14:creationId xmlns:p14="http://schemas.microsoft.com/office/powerpoint/2010/main" val="3946441517"/>
      </p:ext>
    </p:extLst>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77787755-ADE0-402B-9520-199A974DBF60}"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9445" name="Text Box 2"/>
          <p:cNvSpPr txBox="1">
            <a:spLocks noChangeArrowheads="1"/>
          </p:cNvSpPr>
          <p:nvPr/>
        </p:nvSpPr>
        <p:spPr bwMode="auto">
          <a:xfrm>
            <a:off x="1331640" y="764704"/>
            <a:ext cx="6401718"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有向图结点划分</a:t>
            </a:r>
            <a:r>
              <a:rPr lang="en-US" altLang="zh-CN" sz="4800" b="1" dirty="0">
                <a:solidFill>
                  <a:schemeClr val="bg1"/>
                </a:solidFill>
                <a:latin typeface="宋体" panose="02010600030101010101" pitchFamily="2" charset="-122"/>
                <a:ea typeface="宋体" panose="02010600030101010101" pitchFamily="2" charset="-122"/>
              </a:rPr>
              <a:t>(3)</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894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01CF01C1-4116-42E1-87F0-74CCC18F1267}"/>
              </a:ext>
            </a:extLst>
          </p:cNvPr>
          <p:cNvSpPr/>
          <p:nvPr/>
        </p:nvSpPr>
        <p:spPr>
          <a:xfrm>
            <a:off x="359532" y="1746535"/>
            <a:ext cx="8424936" cy="4542847"/>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3</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）不难证明，有向图结点之间的单连通关系满足自反性、对称性，但</a:t>
            </a:r>
            <a:r>
              <a:rPr lang="zh-CN" altLang="zh-CN"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不</a:t>
            </a:r>
            <a:r>
              <a:rPr lang="zh-CN" altLang="en-US"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一定</a:t>
            </a:r>
            <a:r>
              <a:rPr lang="zh-CN" altLang="zh-CN"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满足传递性</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，因而是一种</a:t>
            </a:r>
            <a:r>
              <a:rPr lang="zh-CN" altLang="zh-CN"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相容关系</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。可由此相容关系</a:t>
            </a:r>
            <a:r>
              <a:rPr lang="zh-CN" altLang="en-US"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产生</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对图中所有结点的</a:t>
            </a:r>
            <a:r>
              <a:rPr lang="zh-CN" altLang="en-US"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一个</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最大覆盖。</a:t>
            </a:r>
            <a:endPar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显然，</a:t>
            </a:r>
            <a:r>
              <a:rPr lang="zh-CN" altLang="zh-CN"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每个</a:t>
            </a:r>
            <a:r>
              <a:rPr lang="zh-CN" altLang="en-US"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单</a:t>
            </a:r>
            <a:r>
              <a:rPr lang="zh-CN" altLang="zh-CN" sz="28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分图就是一个最大相容类</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，所有单</a:t>
            </a:r>
            <a:r>
              <a:rPr lang="zh-CN" altLang="en-US"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分图构成了所有的最大相容类。因此，有向图的任何一个结点至少属于一个强分图。</a:t>
            </a:r>
          </a:p>
        </p:txBody>
      </p:sp>
    </p:spTree>
    <p:extLst>
      <p:ext uri="{BB962C8B-B14F-4D97-AF65-F5344CB8AC3E}">
        <p14:creationId xmlns:p14="http://schemas.microsoft.com/office/powerpoint/2010/main" val="1331739601"/>
      </p:ext>
    </p:extLst>
  </p:cSld>
  <p:clrMapOvr>
    <a:masterClrMapping/>
  </p:clrMapOvr>
  <p:transition spd="med">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77787755-ADE0-402B-9520-199A974DBF60}"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9445" name="Text Box 2"/>
          <p:cNvSpPr txBox="1">
            <a:spLocks noChangeArrowheads="1"/>
          </p:cNvSpPr>
          <p:nvPr/>
        </p:nvSpPr>
        <p:spPr bwMode="auto">
          <a:xfrm>
            <a:off x="1331640" y="764704"/>
            <a:ext cx="6401718"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有向图边的划分</a:t>
            </a:r>
          </a:p>
        </p:txBody>
      </p:sp>
      <p:pic>
        <p:nvPicPr>
          <p:cNvPr id="1894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01CF01C1-4116-42E1-87F0-74CCC18F1267}"/>
              </a:ext>
            </a:extLst>
          </p:cNvPr>
          <p:cNvSpPr/>
          <p:nvPr/>
        </p:nvSpPr>
        <p:spPr>
          <a:xfrm>
            <a:off x="323528" y="2060848"/>
            <a:ext cx="8712968" cy="3869329"/>
          </a:xfrm>
          <a:prstGeom prst="rect">
            <a:avLst/>
          </a:prstGeom>
          <a:solidFill>
            <a:schemeClr val="accent6">
              <a:lumMod val="75000"/>
            </a:schemeClr>
          </a:solidFill>
        </p:spPr>
        <p:txBody>
          <a:bodyPr wrap="square">
            <a:spAutoFit/>
          </a:bodyPr>
          <a:lstStyle/>
          <a:p>
            <a:pPr>
              <a:lnSpc>
                <a:spcPct val="150000"/>
              </a:lnSpc>
            </a:pP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4</a:t>
            </a:r>
            <a:r>
              <a:rPr lang="zh-CN" altLang="zh-CN" sz="28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800" b="1" dirty="0">
                <a:solidFill>
                  <a:schemeClr val="bg1"/>
                </a:solidFill>
                <a:latin typeface="+mj-ea"/>
                <a:ea typeface="+mj-ea"/>
              </a:rPr>
              <a:t>类似地，可分别通过强分图、单分图、弱分图的概念对</a:t>
            </a:r>
            <a:r>
              <a:rPr lang="zh-CN" altLang="zh-CN" sz="2800" b="1" dirty="0">
                <a:solidFill>
                  <a:srgbClr val="FFFF66"/>
                </a:solidFill>
                <a:latin typeface="+mj-ea"/>
                <a:ea typeface="+mj-ea"/>
              </a:rPr>
              <a:t>有向图中所有边进行分组</a:t>
            </a:r>
            <a:r>
              <a:rPr lang="zh-CN" altLang="zh-CN" sz="2800" b="1" dirty="0">
                <a:solidFill>
                  <a:schemeClr val="bg1"/>
                </a:solidFill>
                <a:latin typeface="+mj-ea"/>
                <a:ea typeface="+mj-ea"/>
              </a:rPr>
              <a:t>。 </a:t>
            </a:r>
            <a:endParaRPr lang="en-US" altLang="zh-CN" sz="2800" b="1" dirty="0">
              <a:solidFill>
                <a:schemeClr val="bg1"/>
              </a:solidFill>
              <a:latin typeface="+mj-ea"/>
              <a:ea typeface="+mj-ea"/>
            </a:endParaRPr>
          </a:p>
          <a:p>
            <a:pPr>
              <a:lnSpc>
                <a:spcPct val="150000"/>
              </a:lnSpc>
            </a:pPr>
            <a:r>
              <a:rPr lang="en-US" altLang="zh-CN" sz="2800" b="1" dirty="0">
                <a:solidFill>
                  <a:schemeClr val="bg1"/>
                </a:solidFill>
                <a:latin typeface="+mj-ea"/>
                <a:ea typeface="+mj-ea"/>
              </a:rPr>
              <a:t>   </a:t>
            </a:r>
            <a:r>
              <a:rPr lang="zh-CN" altLang="zh-CN" sz="2800" b="1" dirty="0">
                <a:solidFill>
                  <a:schemeClr val="bg1"/>
                </a:solidFill>
                <a:latin typeface="+mj-ea"/>
                <a:ea typeface="+mj-ea"/>
              </a:rPr>
              <a:t>不难发现：</a:t>
            </a:r>
            <a:endParaRPr lang="en-US" altLang="zh-CN" sz="2800" b="1" dirty="0">
              <a:solidFill>
                <a:schemeClr val="bg1"/>
              </a:solidFill>
              <a:latin typeface="+mj-ea"/>
              <a:ea typeface="+mj-ea"/>
            </a:endParaRPr>
          </a:p>
          <a:p>
            <a:pPr>
              <a:lnSpc>
                <a:spcPct val="150000"/>
              </a:lnSpc>
            </a:pPr>
            <a:r>
              <a:rPr lang="en-US" altLang="zh-CN" sz="2800" b="1" dirty="0">
                <a:solidFill>
                  <a:schemeClr val="bg1"/>
                </a:solidFill>
                <a:latin typeface="+mj-ea"/>
                <a:ea typeface="+mj-ea"/>
              </a:rPr>
              <a:t>   </a:t>
            </a:r>
            <a:r>
              <a:rPr lang="zh-CN" altLang="zh-CN" sz="2800" b="1" dirty="0">
                <a:solidFill>
                  <a:schemeClr val="bg1"/>
                </a:solidFill>
                <a:latin typeface="+mj-ea"/>
                <a:ea typeface="+mj-ea"/>
              </a:rPr>
              <a:t>对于任何一个给定的有向图，它的每条边</a:t>
            </a:r>
            <a:r>
              <a:rPr lang="zh-CN" altLang="zh-CN" sz="2800" b="1" dirty="0">
                <a:solidFill>
                  <a:srgbClr val="FFFF00"/>
                </a:solidFill>
                <a:latin typeface="+mj-ea"/>
                <a:ea typeface="+mj-ea"/>
              </a:rPr>
              <a:t>至多</a:t>
            </a:r>
            <a:r>
              <a:rPr lang="zh-CN" altLang="zh-CN" sz="2800" b="1" dirty="0">
                <a:solidFill>
                  <a:schemeClr val="bg1"/>
                </a:solidFill>
                <a:latin typeface="+mj-ea"/>
                <a:ea typeface="+mj-ea"/>
              </a:rPr>
              <a:t>属于</a:t>
            </a:r>
            <a:r>
              <a:rPr lang="zh-CN" altLang="en-US" sz="2800" b="1" dirty="0">
                <a:solidFill>
                  <a:schemeClr val="bg1"/>
                </a:solidFill>
                <a:latin typeface="+mj-ea"/>
                <a:ea typeface="+mj-ea"/>
              </a:rPr>
              <a:t>该图的</a:t>
            </a:r>
            <a:r>
              <a:rPr lang="zh-CN" altLang="zh-CN" sz="2800" b="1" dirty="0">
                <a:solidFill>
                  <a:schemeClr val="bg1"/>
                </a:solidFill>
                <a:latin typeface="+mj-ea"/>
                <a:ea typeface="+mj-ea"/>
              </a:rPr>
              <a:t>一个强分图，</a:t>
            </a:r>
            <a:r>
              <a:rPr lang="zh-CN" altLang="zh-CN" sz="2800" b="1" dirty="0">
                <a:solidFill>
                  <a:srgbClr val="FFFF00"/>
                </a:solidFill>
                <a:latin typeface="+mj-ea"/>
                <a:ea typeface="+mj-ea"/>
              </a:rPr>
              <a:t>至少</a:t>
            </a:r>
            <a:r>
              <a:rPr lang="zh-CN" altLang="zh-CN" sz="2800" b="1" dirty="0">
                <a:solidFill>
                  <a:schemeClr val="bg1"/>
                </a:solidFill>
                <a:latin typeface="+mj-ea"/>
                <a:ea typeface="+mj-ea"/>
              </a:rPr>
              <a:t>属于</a:t>
            </a:r>
            <a:r>
              <a:rPr lang="zh-CN" altLang="en-US" sz="2800" b="1" dirty="0">
                <a:solidFill>
                  <a:schemeClr val="bg1"/>
                </a:solidFill>
                <a:latin typeface="+mj-ea"/>
                <a:ea typeface="+mj-ea"/>
              </a:rPr>
              <a:t>该图的</a:t>
            </a:r>
            <a:r>
              <a:rPr lang="zh-CN" altLang="zh-CN" sz="2800" b="1" dirty="0">
                <a:solidFill>
                  <a:schemeClr val="bg1"/>
                </a:solidFill>
                <a:latin typeface="+mj-ea"/>
                <a:ea typeface="+mj-ea"/>
              </a:rPr>
              <a:t>一个其单分图，</a:t>
            </a:r>
            <a:r>
              <a:rPr lang="zh-CN" altLang="zh-CN" sz="2800" b="1" dirty="0">
                <a:solidFill>
                  <a:srgbClr val="FFFF00"/>
                </a:solidFill>
                <a:latin typeface="+mj-ea"/>
                <a:ea typeface="+mj-ea"/>
              </a:rPr>
              <a:t>属于且仅属于</a:t>
            </a:r>
            <a:r>
              <a:rPr lang="zh-CN" altLang="en-US" sz="2800" b="1" dirty="0">
                <a:solidFill>
                  <a:schemeClr val="bg1"/>
                </a:solidFill>
                <a:latin typeface="+mj-ea"/>
                <a:ea typeface="+mj-ea"/>
              </a:rPr>
              <a:t>该图的</a:t>
            </a:r>
            <a:r>
              <a:rPr lang="zh-CN" altLang="zh-CN" sz="2800" b="1" dirty="0">
                <a:solidFill>
                  <a:schemeClr val="bg1"/>
                </a:solidFill>
                <a:latin typeface="+mj-ea"/>
                <a:ea typeface="+mj-ea"/>
              </a:rPr>
              <a:t>一个弱分图。 </a:t>
            </a:r>
          </a:p>
        </p:txBody>
      </p:sp>
    </p:spTree>
    <p:extLst>
      <p:ext uri="{BB962C8B-B14F-4D97-AF65-F5344CB8AC3E}">
        <p14:creationId xmlns:p14="http://schemas.microsoft.com/office/powerpoint/2010/main" val="4203982462"/>
      </p:ext>
    </p:extLst>
  </p:cSld>
  <p:clrMapOvr>
    <a:masterClrMapping/>
  </p:clrMapOvr>
  <p:transition spd="med">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日期占位符 3">
            <a:extLst>
              <a:ext uri="{FF2B5EF4-FFF2-40B4-BE49-F238E27FC236}">
                <a16:creationId xmlns:a16="http://schemas.microsoft.com/office/drawing/2014/main" id="{32C20FF9-526D-4ADD-9165-60EA25B01336}"/>
              </a:ext>
            </a:extLst>
          </p:cNvPr>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B264CD44-5128-4B08-9CCA-9921AA79DD33}"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88068" name="Text Box 2">
            <a:extLst>
              <a:ext uri="{FF2B5EF4-FFF2-40B4-BE49-F238E27FC236}">
                <a16:creationId xmlns:a16="http://schemas.microsoft.com/office/drawing/2014/main" id="{5F7B0272-F2A5-4CBB-856D-7CF063089AC9}"/>
              </a:ext>
            </a:extLst>
          </p:cNvPr>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本章内容</a:t>
            </a:r>
            <a:r>
              <a:rPr lang="en-US" altLang="zh-CN" sz="5400" b="1" dirty="0">
                <a:solidFill>
                  <a:schemeClr val="bg1"/>
                </a:solidFill>
                <a:latin typeface="宋体" panose="02010600030101010101" pitchFamily="2" charset="-122"/>
                <a:ea typeface="宋体" panose="02010600030101010101" pitchFamily="2" charset="-122"/>
              </a:rPr>
              <a:t>(</a:t>
            </a:r>
            <a:r>
              <a:rPr lang="zh-CN" altLang="en-US" sz="5400" b="1" dirty="0">
                <a:solidFill>
                  <a:schemeClr val="bg1"/>
                </a:solidFill>
                <a:latin typeface="宋体" panose="02010600030101010101" pitchFamily="2" charset="-122"/>
                <a:ea typeface="宋体" panose="02010600030101010101" pitchFamily="2" charset="-122"/>
              </a:rPr>
              <a:t>下</a:t>
            </a:r>
            <a:r>
              <a:rPr lang="en-US" altLang="zh-CN" sz="5400" b="1" dirty="0">
                <a:solidFill>
                  <a:schemeClr val="bg1"/>
                </a:solidFill>
                <a:latin typeface="宋体" panose="02010600030101010101" pitchFamily="2" charset="-122"/>
                <a:ea typeface="宋体" panose="02010600030101010101" pitchFamily="2" charset="-122"/>
              </a:rPr>
              <a:t>)</a:t>
            </a:r>
            <a:endParaRPr lang="en-US" altLang="zh-CN" sz="2800" dirty="0">
              <a:latin typeface="Times New Roman" panose="02020603050405020304" pitchFamily="18" charset="0"/>
              <a:ea typeface="宋体" panose="02010600030101010101" pitchFamily="2" charset="-122"/>
            </a:endParaRPr>
          </a:p>
        </p:txBody>
      </p:sp>
      <p:grpSp>
        <p:nvGrpSpPr>
          <p:cNvPr id="3" name="组合 2">
            <a:extLst>
              <a:ext uri="{FF2B5EF4-FFF2-40B4-BE49-F238E27FC236}">
                <a16:creationId xmlns:a16="http://schemas.microsoft.com/office/drawing/2014/main" id="{6AE398B1-F987-4915-813E-27A6598E2137}"/>
              </a:ext>
            </a:extLst>
          </p:cNvPr>
          <p:cNvGrpSpPr/>
          <p:nvPr/>
        </p:nvGrpSpPr>
        <p:grpSpPr>
          <a:xfrm>
            <a:off x="2483768" y="2564904"/>
            <a:ext cx="4730180" cy="3113310"/>
            <a:chOff x="2477988" y="2636912"/>
            <a:chExt cx="4730180" cy="3113310"/>
          </a:xfrm>
        </p:grpSpPr>
        <p:sp>
          <p:nvSpPr>
            <p:cNvPr id="1170441" name="AutoShape 9">
              <a:extLst>
                <a:ext uri="{FF2B5EF4-FFF2-40B4-BE49-F238E27FC236}">
                  <a16:creationId xmlns:a16="http://schemas.microsoft.com/office/drawing/2014/main" id="{5F827A36-B2E3-4F12-9D48-E718CE641FCA}"/>
                </a:ext>
              </a:extLst>
            </p:cNvPr>
            <p:cNvSpPr>
              <a:spLocks noChangeArrowheads="1"/>
            </p:cNvSpPr>
            <p:nvPr/>
          </p:nvSpPr>
          <p:spPr bwMode="gray">
            <a:xfrm>
              <a:off x="2869793" y="2794075"/>
              <a:ext cx="4303713" cy="606425"/>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88074" name="AutoShape 10">
              <a:extLst>
                <a:ext uri="{FF2B5EF4-FFF2-40B4-BE49-F238E27FC236}">
                  <a16:creationId xmlns:a16="http://schemas.microsoft.com/office/drawing/2014/main" id="{826487C7-45AF-435D-9A1D-C5481BD5D6F6}"/>
                </a:ext>
              </a:extLst>
            </p:cNvPr>
            <p:cNvSpPr>
              <a:spLocks noChangeArrowheads="1"/>
            </p:cNvSpPr>
            <p:nvPr/>
          </p:nvSpPr>
          <p:spPr bwMode="gray">
            <a:xfrm>
              <a:off x="2491968" y="2636912"/>
              <a:ext cx="679450" cy="909638"/>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88075" name="Text Box 11">
              <a:extLst>
                <a:ext uri="{FF2B5EF4-FFF2-40B4-BE49-F238E27FC236}">
                  <a16:creationId xmlns:a16="http://schemas.microsoft.com/office/drawing/2014/main" id="{FF95D0FB-37EA-488D-B960-CA57B7E6664D}"/>
                </a:ext>
              </a:extLst>
            </p:cNvPr>
            <p:cNvSpPr txBox="1">
              <a:spLocks noChangeArrowheads="1"/>
            </p:cNvSpPr>
            <p:nvPr/>
          </p:nvSpPr>
          <p:spPr bwMode="gray">
            <a:xfrm>
              <a:off x="3241268" y="2868687"/>
              <a:ext cx="36385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ea typeface="黑体" panose="02010609060101010101" pitchFamily="49" charset="-122"/>
                </a:rPr>
                <a:t>通路与连通性</a:t>
              </a:r>
            </a:p>
          </p:txBody>
        </p:sp>
        <p:sp>
          <p:nvSpPr>
            <p:cNvPr id="88076" name="Text Box 12">
              <a:extLst>
                <a:ext uri="{FF2B5EF4-FFF2-40B4-BE49-F238E27FC236}">
                  <a16:creationId xmlns:a16="http://schemas.microsoft.com/office/drawing/2014/main" id="{67452711-9210-4F34-98B7-291C6E3979AC}"/>
                </a:ext>
              </a:extLst>
            </p:cNvPr>
            <p:cNvSpPr txBox="1">
              <a:spLocks noChangeArrowheads="1"/>
            </p:cNvSpPr>
            <p:nvPr/>
          </p:nvSpPr>
          <p:spPr bwMode="gray">
            <a:xfrm>
              <a:off x="2633256" y="2829000"/>
              <a:ext cx="3651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dirty="0">
                  <a:solidFill>
                    <a:schemeClr val="bg1"/>
                  </a:solidFill>
                  <a:latin typeface="黑体" panose="02010609060101010101" pitchFamily="49" charset="-122"/>
                </a:rPr>
                <a:t>4</a:t>
              </a:r>
            </a:p>
          </p:txBody>
        </p:sp>
        <p:sp>
          <p:nvSpPr>
            <p:cNvPr id="88077" name="AutoShape 19">
              <a:extLst>
                <a:ext uri="{FF2B5EF4-FFF2-40B4-BE49-F238E27FC236}">
                  <a16:creationId xmlns:a16="http://schemas.microsoft.com/office/drawing/2014/main" id="{004AAC40-62F2-47D5-B4F5-006EDC751C9D}"/>
                </a:ext>
              </a:extLst>
            </p:cNvPr>
            <p:cNvSpPr>
              <a:spLocks noChangeArrowheads="1"/>
            </p:cNvSpPr>
            <p:nvPr/>
          </p:nvSpPr>
          <p:spPr bwMode="gray">
            <a:xfrm>
              <a:off x="2864768" y="3905251"/>
              <a:ext cx="4343400" cy="593725"/>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88078" name="AutoShape 20">
              <a:extLst>
                <a:ext uri="{FF2B5EF4-FFF2-40B4-BE49-F238E27FC236}">
                  <a16:creationId xmlns:a16="http://schemas.microsoft.com/office/drawing/2014/main" id="{BC8F22A3-F57C-4434-B756-119817FCEF57}"/>
                </a:ext>
              </a:extLst>
            </p:cNvPr>
            <p:cNvSpPr>
              <a:spLocks noChangeArrowheads="1"/>
            </p:cNvSpPr>
            <p:nvPr/>
          </p:nvSpPr>
          <p:spPr bwMode="gray">
            <a:xfrm>
              <a:off x="2483768" y="3751263"/>
              <a:ext cx="685800" cy="890588"/>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88079" name="Text Box 21">
              <a:extLst>
                <a:ext uri="{FF2B5EF4-FFF2-40B4-BE49-F238E27FC236}">
                  <a16:creationId xmlns:a16="http://schemas.microsoft.com/office/drawing/2014/main" id="{A2686609-957A-4D2A-BF36-D370F27D2C22}"/>
                </a:ext>
              </a:extLst>
            </p:cNvPr>
            <p:cNvSpPr txBox="1">
              <a:spLocks noChangeArrowheads="1"/>
            </p:cNvSpPr>
            <p:nvPr/>
          </p:nvSpPr>
          <p:spPr bwMode="gray">
            <a:xfrm>
              <a:off x="3371181" y="3937001"/>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ea typeface="黑体" panose="02010609060101010101" pitchFamily="49" charset="-122"/>
                </a:rPr>
                <a:t>图的基本算法</a:t>
              </a:r>
            </a:p>
          </p:txBody>
        </p:sp>
        <p:sp>
          <p:nvSpPr>
            <p:cNvPr id="88080" name="Text Box 22">
              <a:extLst>
                <a:ext uri="{FF2B5EF4-FFF2-40B4-BE49-F238E27FC236}">
                  <a16:creationId xmlns:a16="http://schemas.microsoft.com/office/drawing/2014/main" id="{E3AD3B37-7671-4F3C-8163-04744958020D}"/>
                </a:ext>
              </a:extLst>
            </p:cNvPr>
            <p:cNvSpPr txBox="1">
              <a:spLocks noChangeArrowheads="1"/>
            </p:cNvSpPr>
            <p:nvPr/>
          </p:nvSpPr>
          <p:spPr bwMode="gray">
            <a:xfrm>
              <a:off x="2626643" y="3878263"/>
              <a:ext cx="3651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dirty="0">
                  <a:solidFill>
                    <a:schemeClr val="bg1"/>
                  </a:solidFill>
                  <a:latin typeface="黑体" panose="02010609060101010101" pitchFamily="49" charset="-122"/>
                </a:rPr>
                <a:t>5</a:t>
              </a:r>
            </a:p>
          </p:txBody>
        </p:sp>
        <p:sp>
          <p:nvSpPr>
            <p:cNvPr id="13" name="AutoShape 14">
              <a:extLst>
                <a:ext uri="{FF2B5EF4-FFF2-40B4-BE49-F238E27FC236}">
                  <a16:creationId xmlns:a16="http://schemas.microsoft.com/office/drawing/2014/main" id="{9B7E98F4-E078-4151-AFCC-05E9E0E9FF10}"/>
                </a:ext>
              </a:extLst>
            </p:cNvPr>
            <p:cNvSpPr>
              <a:spLocks noChangeArrowheads="1"/>
            </p:cNvSpPr>
            <p:nvPr/>
          </p:nvSpPr>
          <p:spPr bwMode="gray">
            <a:xfrm>
              <a:off x="2820888" y="5015210"/>
              <a:ext cx="4343400" cy="590550"/>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88070" name="AutoShape 15">
              <a:extLst>
                <a:ext uri="{FF2B5EF4-FFF2-40B4-BE49-F238E27FC236}">
                  <a16:creationId xmlns:a16="http://schemas.microsoft.com/office/drawing/2014/main" id="{C690F097-0B90-4967-BEC2-39426E963B38}"/>
                </a:ext>
              </a:extLst>
            </p:cNvPr>
            <p:cNvSpPr>
              <a:spLocks noChangeArrowheads="1"/>
            </p:cNvSpPr>
            <p:nvPr/>
          </p:nvSpPr>
          <p:spPr bwMode="gray">
            <a:xfrm>
              <a:off x="2477988" y="4869160"/>
              <a:ext cx="685800" cy="881062"/>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88071" name="Text Box 17">
              <a:extLst>
                <a:ext uri="{FF2B5EF4-FFF2-40B4-BE49-F238E27FC236}">
                  <a16:creationId xmlns:a16="http://schemas.microsoft.com/office/drawing/2014/main" id="{937BE961-6296-4DE6-B4A1-163917FABCCB}"/>
                </a:ext>
              </a:extLst>
            </p:cNvPr>
            <p:cNvSpPr txBox="1">
              <a:spLocks noChangeArrowheads="1"/>
            </p:cNvSpPr>
            <p:nvPr/>
          </p:nvSpPr>
          <p:spPr bwMode="gray">
            <a:xfrm>
              <a:off x="2637985" y="5029497"/>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dirty="0">
                  <a:solidFill>
                    <a:schemeClr val="bg1"/>
                  </a:solidFill>
                  <a:latin typeface="黑体" panose="02010609060101010101" pitchFamily="49" charset="-122"/>
                </a:rPr>
                <a:t>6</a:t>
              </a:r>
            </a:p>
          </p:txBody>
        </p:sp>
        <p:sp>
          <p:nvSpPr>
            <p:cNvPr id="88072" name="Text Box 21">
              <a:extLst>
                <a:ext uri="{FF2B5EF4-FFF2-40B4-BE49-F238E27FC236}">
                  <a16:creationId xmlns:a16="http://schemas.microsoft.com/office/drawing/2014/main" id="{8D746670-1280-4DF6-80BA-9DD855B54510}"/>
                </a:ext>
              </a:extLst>
            </p:cNvPr>
            <p:cNvSpPr txBox="1">
              <a:spLocks noChangeArrowheads="1"/>
            </p:cNvSpPr>
            <p:nvPr/>
          </p:nvSpPr>
          <p:spPr bwMode="gray">
            <a:xfrm>
              <a:off x="3259038" y="5050135"/>
              <a:ext cx="342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ea typeface="黑体" panose="02010609060101010101" pitchFamily="49" charset="-122"/>
                </a:rPr>
                <a:t> 图模型的应用</a:t>
              </a:r>
            </a:p>
          </p:txBody>
        </p:sp>
      </p:grpSp>
    </p:spTree>
  </p:cSld>
  <p:clrMapOvr>
    <a:masterClrMapping/>
  </p:clrMapOvr>
  <p:transition spd="med">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0EF63B95-CEEE-452F-A1BF-6F35335C22F2}"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379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379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087295F5-B732-4FA7-8470-0A815CEF7876}"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91</a:t>
            </a:fld>
            <a:endParaRPr lang="en-US" altLang="zh-CN" sz="1400" b="1">
              <a:latin typeface="Times New Roman" panose="02020603050405020304" pitchFamily="18" charset="0"/>
              <a:ea typeface="宋体" panose="02010600030101010101" pitchFamily="2" charset="-122"/>
            </a:endParaRPr>
          </a:p>
        </p:txBody>
      </p:sp>
      <p:sp>
        <p:nvSpPr>
          <p:cNvPr id="33797" name="Rectangle 4"/>
          <p:cNvSpPr>
            <a:spLocks noGrp="1" noChangeArrowheads="1"/>
          </p:cNvSpPr>
          <p:nvPr>
            <p:ph type="ctrTitle" idx="4294967295"/>
          </p:nvPr>
        </p:nvSpPr>
        <p:spPr>
          <a:xfrm>
            <a:off x="1190625" y="2565400"/>
            <a:ext cx="7197725" cy="1439863"/>
          </a:xfrm>
          <a:solidFill>
            <a:srgbClr val="0000FF"/>
          </a:solidFill>
        </p:spPr>
        <p:txBody>
          <a:bodyPr/>
          <a:lstStyle/>
          <a:p>
            <a:pPr eaLnBrk="1" hangingPunct="1"/>
            <a:r>
              <a:rPr lang="zh-CN" altLang="en-US" sz="6600" b="1" dirty="0">
                <a:solidFill>
                  <a:schemeClr val="bg1"/>
                </a:solidFill>
              </a:rPr>
              <a:t>图的基本算法</a:t>
            </a:r>
          </a:p>
        </p:txBody>
      </p:sp>
      <p:pic>
        <p:nvPicPr>
          <p:cNvPr id="33798"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2898584"/>
      </p:ext>
    </p:extLst>
  </p:cSld>
  <p:clrMapOvr>
    <a:masterClrMapping/>
  </p:clrMapOvr>
  <p:transition spd="med">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92</a:t>
            </a:fld>
            <a:endParaRPr lang="en-US" altLang="zh-CN" sz="1400" b="1">
              <a:latin typeface="Times New Roman" panose="02020603050405020304" pitchFamily="18" charset="0"/>
              <a:ea typeface="宋体" panose="02010600030101010101" pitchFamily="2" charset="-122"/>
            </a:endParaRPr>
          </a:p>
        </p:txBody>
      </p:sp>
      <p:sp>
        <p:nvSpPr>
          <p:cNvPr id="34821"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图的基本算法</a:t>
            </a:r>
          </a:p>
        </p:txBody>
      </p:sp>
      <p:sp>
        <p:nvSpPr>
          <p:cNvPr id="34822" name="Rectangle 3"/>
          <p:cNvSpPr>
            <a:spLocks noGrp="1" noChangeArrowheads="1"/>
          </p:cNvSpPr>
          <p:nvPr>
            <p:ph type="body" idx="4294967295"/>
          </p:nvPr>
        </p:nvSpPr>
        <p:spPr>
          <a:xfrm>
            <a:off x="2627784" y="2277654"/>
            <a:ext cx="3935263" cy="3552055"/>
          </a:xfrm>
          <a:noFill/>
        </p:spPr>
        <p:txBody>
          <a:bodyPr lIns="92075" tIns="46038" rIns="92075" bIns="46038"/>
          <a:lstStyle/>
          <a:p>
            <a:pPr eaLnBrk="1" hangingPunct="1">
              <a:lnSpc>
                <a:spcPct val="140000"/>
              </a:lnSpc>
              <a:buFont typeface="Wingdings" panose="05000000000000000000" pitchFamily="2" charset="2"/>
              <a:buChar char="J"/>
            </a:pPr>
            <a:r>
              <a:rPr lang="en-US" altLang="zh-CN" sz="3600" b="1" dirty="0">
                <a:solidFill>
                  <a:srgbClr val="0000FF"/>
                </a:solidFill>
                <a:effectLst/>
                <a:latin typeface="黑体" panose="02010609060101010101" pitchFamily="49" charset="-122"/>
                <a:ea typeface="黑体" panose="02010609060101010101" pitchFamily="49" charset="-122"/>
                <a:cs typeface="楷体_GB2312" pitchFamily="49" charset="-122"/>
              </a:rPr>
              <a:t> </a:t>
            </a:r>
            <a:r>
              <a:rPr lang="zh-CN" altLang="en-US" sz="3600" b="1" dirty="0">
                <a:solidFill>
                  <a:srgbClr val="0000FF"/>
                </a:solidFill>
                <a:effectLst/>
                <a:latin typeface="黑体" panose="02010609060101010101" pitchFamily="49" charset="-122"/>
                <a:ea typeface="黑体" panose="02010609060101010101" pitchFamily="49" charset="-122"/>
                <a:cs typeface="楷体_GB2312" pitchFamily="49" charset="-122"/>
              </a:rPr>
              <a:t>深度优先遍历</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广度优先遍历 </a:t>
            </a:r>
            <a:endParaRPr lang="en-US" altLang="zh-CN" sz="3600" b="1" dirty="0">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单源最短路径</a:t>
            </a:r>
            <a:endParaRPr lang="en-US" altLang="zh-CN" sz="3600" b="1" dirty="0">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多源最短路径</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9596621"/>
      </p:ext>
    </p:extLst>
  </p:cSld>
  <p:clrMapOvr>
    <a:masterClrMapping/>
  </p:clrMapOvr>
  <p:transition spd="med">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8435" name="Rectangle 3"/>
          <p:cNvSpPr>
            <a:spLocks noGrp="1" noChangeArrowheads="1"/>
          </p:cNvSpPr>
          <p:nvPr>
            <p:ph idx="1"/>
          </p:nvPr>
        </p:nvSpPr>
        <p:spPr>
          <a:xfrm>
            <a:off x="576262" y="1864405"/>
            <a:ext cx="8118283" cy="2088827"/>
          </a:xfrm>
          <a:solidFill>
            <a:schemeClr val="accent5"/>
          </a:solidFill>
          <a:ln>
            <a:noFill/>
          </a:ln>
        </p:spPr>
        <p:txBody>
          <a:bodyPr/>
          <a:lstStyle/>
          <a:p>
            <a:pPr marL="0" indent="0">
              <a:lnSpc>
                <a:spcPts val="3600"/>
              </a:lnSpc>
              <a:buNone/>
            </a:pPr>
            <a:r>
              <a:rPr lang="en-US" altLang="zh-CN" dirty="0">
                <a:effectLst/>
              </a:rPr>
              <a:t>        </a:t>
            </a:r>
            <a:r>
              <a:rPr lang="zh-CN" altLang="zh-CN" b="1" dirty="0">
                <a:effectLst/>
              </a:rPr>
              <a:t>图</a:t>
            </a:r>
            <a:r>
              <a:rPr lang="zh-CN" altLang="en-US" b="1" dirty="0">
                <a:effectLst/>
              </a:rPr>
              <a:t>模型</a:t>
            </a:r>
            <a:r>
              <a:rPr lang="zh-CN" altLang="zh-CN" b="1" dirty="0">
                <a:effectLst/>
              </a:rPr>
              <a:t>的遍历是指从图中的任一结点出发，按照一定的搜索方式对图中的所有结点进行访问，每个结点访问一次且仅一次。图的遍历是关于图的一种最基本的操作，图的许多其他操作都是建立在图的遍历基础之上。</a:t>
            </a:r>
            <a:endParaRPr lang="en-US" altLang="zh-CN" b="1" dirty="0">
              <a:effectLst/>
            </a:endParaRPr>
          </a:p>
          <a:p>
            <a:pPr marL="0" indent="0">
              <a:buNone/>
            </a:pPr>
            <a:endParaRPr lang="en-US" altLang="zh-CN" sz="1600" b="1" dirty="0">
              <a:solidFill>
                <a:srgbClr val="993366"/>
              </a:solidFill>
              <a:effectLst/>
            </a:endParaRPr>
          </a:p>
        </p:txBody>
      </p:sp>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图模型遍历算法</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C68A33A7-4823-4D8A-B574-C861320591C9}"/>
              </a:ext>
            </a:extLst>
          </p:cNvPr>
          <p:cNvPicPr>
            <a:picLocks noChangeAspect="1"/>
          </p:cNvPicPr>
          <p:nvPr/>
        </p:nvPicPr>
        <p:blipFill>
          <a:blip r:embed="rId4"/>
          <a:stretch>
            <a:fillRect/>
          </a:stretch>
        </p:blipFill>
        <p:spPr>
          <a:xfrm>
            <a:off x="576262" y="4218406"/>
            <a:ext cx="8118283" cy="1925363"/>
          </a:xfrm>
          <a:prstGeom prst="rect">
            <a:avLst/>
          </a:prstGeom>
        </p:spPr>
      </p:pic>
    </p:spTree>
  </p:cSld>
  <p:clrMapOvr>
    <a:masterClrMapping/>
  </p:clrMapOvr>
  <p:transition spd="med">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547664" y="60471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71EB1DDE-41C1-4B6F-947E-CE9572493876}"/>
              </a:ext>
            </a:extLst>
          </p:cNvPr>
          <p:cNvPicPr>
            <a:picLocks noChangeAspect="1"/>
          </p:cNvPicPr>
          <p:nvPr/>
        </p:nvPicPr>
        <p:blipFill>
          <a:blip r:embed="rId4"/>
          <a:stretch>
            <a:fillRect/>
          </a:stretch>
        </p:blipFill>
        <p:spPr>
          <a:xfrm>
            <a:off x="653008" y="1593019"/>
            <a:ext cx="7735416" cy="4660271"/>
          </a:xfrm>
          <a:prstGeom prst="rect">
            <a:avLst/>
          </a:prstGeom>
        </p:spPr>
      </p:pic>
    </p:spTree>
    <p:extLst>
      <p:ext uri="{BB962C8B-B14F-4D97-AF65-F5344CB8AC3E}">
        <p14:creationId xmlns:p14="http://schemas.microsoft.com/office/powerpoint/2010/main" val="1135502678"/>
      </p:ext>
    </p:extLst>
  </p:cSld>
  <p:clrMapOvr>
    <a:masterClrMapping/>
  </p:clrMapOvr>
  <p:transition spd="med">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547664" y="620688"/>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2400" y="476251"/>
            <a:ext cx="971600" cy="10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3A2A2D41-74D0-41FD-9F84-FCF34C0B7214}"/>
              </a:ext>
            </a:extLst>
          </p:cNvPr>
          <p:cNvPicPr>
            <a:picLocks noChangeAspect="1"/>
          </p:cNvPicPr>
          <p:nvPr/>
        </p:nvPicPr>
        <p:blipFill>
          <a:blip r:embed="rId4"/>
          <a:stretch>
            <a:fillRect/>
          </a:stretch>
        </p:blipFill>
        <p:spPr>
          <a:xfrm>
            <a:off x="925908" y="1697610"/>
            <a:ext cx="7534524" cy="4576980"/>
          </a:xfrm>
          <a:prstGeom prst="rect">
            <a:avLst/>
          </a:prstGeom>
        </p:spPr>
      </p:pic>
    </p:spTree>
    <p:extLst>
      <p:ext uri="{BB962C8B-B14F-4D97-AF65-F5344CB8AC3E}">
        <p14:creationId xmlns:p14="http://schemas.microsoft.com/office/powerpoint/2010/main" val="3291524933"/>
      </p:ext>
    </p:extLst>
  </p:cSld>
  <p:clrMapOvr>
    <a:masterClrMapping/>
  </p:clrMapOvr>
  <p:transition spd="med">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251520" y="1844824"/>
                <a:ext cx="8712968" cy="4104456"/>
              </a:xfrm>
              <a:solidFill>
                <a:schemeClr val="accent5"/>
              </a:solidFill>
              <a:ln>
                <a:noFill/>
              </a:ln>
            </p:spPr>
            <p:txBody>
              <a:bodyPr/>
              <a:lstStyle/>
              <a:p>
                <a:pPr marL="0" indent="0">
                  <a:buNone/>
                </a:pPr>
                <a:r>
                  <a:rPr lang="zh-CN" altLang="en-US" b="1" dirty="0">
                    <a:solidFill>
                      <a:srgbClr val="0000FF"/>
                    </a:solidFill>
                    <a:effectLst/>
                    <a:latin typeface="+mn-ea"/>
                  </a:rPr>
                  <a:t>深度优先</a:t>
                </a:r>
                <a:r>
                  <a:rPr lang="zh-CN" altLang="zh-CN" b="1" dirty="0">
                    <a:solidFill>
                      <a:srgbClr val="0000FF"/>
                    </a:solidFill>
                    <a:effectLst/>
                    <a:latin typeface="+mn-ea"/>
                  </a:rPr>
                  <a:t>算法</a:t>
                </a:r>
                <a:r>
                  <a:rPr lang="zh-CN" altLang="en-US" b="1" dirty="0">
                    <a:solidFill>
                      <a:srgbClr val="0000FF"/>
                    </a:solidFill>
                    <a:effectLst/>
                    <a:latin typeface="+mn-ea"/>
                  </a:rPr>
                  <a:t>步骤</a:t>
                </a:r>
                <a:r>
                  <a:rPr lang="zh-CN" altLang="zh-CN" b="1" dirty="0">
                    <a:solidFill>
                      <a:srgbClr val="0000FF"/>
                    </a:solidFill>
                    <a:effectLst/>
                    <a:latin typeface="+mn-ea"/>
                  </a:rPr>
                  <a:t>：</a:t>
                </a:r>
              </a:p>
              <a:p>
                <a:pPr marL="0" indent="0">
                  <a:lnSpc>
                    <a:spcPct val="150000"/>
                  </a:lnSpc>
                  <a:buNone/>
                </a:pPr>
                <a:r>
                  <a:rPr lang="en-US" altLang="zh-CN" b="1" dirty="0">
                    <a:solidFill>
                      <a:srgbClr val="993366"/>
                    </a:solidFill>
                    <a:effectLst/>
                    <a:latin typeface="+mj-ea"/>
                    <a:ea typeface="+mj-ea"/>
                  </a:rPr>
                  <a:t>   </a:t>
                </a:r>
                <a:r>
                  <a:rPr lang="zh-CN" altLang="zh-CN" b="1" dirty="0">
                    <a:solidFill>
                      <a:srgbClr val="993366"/>
                    </a:solidFill>
                    <a:effectLst/>
                    <a:latin typeface="+mj-ea"/>
                    <a:ea typeface="+mj-ea"/>
                  </a:rPr>
                  <a:t>（</a:t>
                </a:r>
                <a:r>
                  <a:rPr lang="en-US" altLang="zh-CN" b="1" dirty="0">
                    <a:solidFill>
                      <a:srgbClr val="993366"/>
                    </a:solidFill>
                    <a:effectLst/>
                    <a:latin typeface="+mj-ea"/>
                    <a:ea typeface="+mj-ea"/>
                  </a:rPr>
                  <a:t>1</a:t>
                </a:r>
                <a:r>
                  <a:rPr lang="zh-CN" altLang="zh-CN" b="1" dirty="0">
                    <a:solidFill>
                      <a:srgbClr val="993366"/>
                    </a:solidFill>
                    <a:effectLst/>
                    <a:latin typeface="+mj-ea"/>
                    <a:ea typeface="+mj-ea"/>
                  </a:rPr>
                  <a:t>）首先确定一个出发点</a:t>
                </a:r>
                <a14:m>
                  <m:oMath xmlns:m="http://schemas.openxmlformats.org/officeDocument/2006/math">
                    <m:sSub>
                      <m:sSubPr>
                        <m:ctrlPr>
                          <a:rPr lang="zh-CN" altLang="zh-CN" b="1" i="1">
                            <a:solidFill>
                              <a:srgbClr val="993366"/>
                            </a:solidFill>
                            <a:effectLst/>
                            <a:latin typeface="Cambria Math" panose="02040503050406030204" pitchFamily="18" charset="0"/>
                            <a:ea typeface="+mj-ea"/>
                          </a:rPr>
                        </m:ctrlPr>
                      </m:sSubPr>
                      <m:e>
                        <m:r>
                          <a:rPr lang="en-US" altLang="zh-CN" b="1" i="1" smtClean="0">
                            <a:solidFill>
                              <a:srgbClr val="993366"/>
                            </a:solidFill>
                            <a:effectLst/>
                            <a:latin typeface="Cambria Math" panose="02040503050406030204" pitchFamily="18" charset="0"/>
                            <a:ea typeface="+mj-ea"/>
                          </a:rPr>
                          <m:t>𝒗</m:t>
                        </m:r>
                      </m:e>
                      <m:sub>
                        <m:r>
                          <a:rPr lang="en-US" altLang="zh-CN" b="1" i="1" smtClean="0">
                            <a:solidFill>
                              <a:srgbClr val="993366"/>
                            </a:solidFill>
                            <a:effectLst/>
                            <a:latin typeface="Cambria Math" panose="02040503050406030204" pitchFamily="18" charset="0"/>
                            <a:ea typeface="+mj-ea"/>
                          </a:rPr>
                          <m:t>𝒊</m:t>
                        </m:r>
                      </m:sub>
                    </m:sSub>
                  </m:oMath>
                </a14:m>
                <a:r>
                  <a:rPr lang="zh-CN" altLang="zh-CN" b="1" dirty="0">
                    <a:solidFill>
                      <a:srgbClr val="993366"/>
                    </a:solidFill>
                    <a:effectLst/>
                    <a:latin typeface="+mj-ea"/>
                    <a:ea typeface="+mj-ea"/>
                  </a:rPr>
                  <a:t>，访问</a:t>
                </a:r>
                <a:r>
                  <a:rPr lang="zh-CN" altLang="en-US" b="1" dirty="0">
                    <a:solidFill>
                      <a:srgbClr val="993366"/>
                    </a:solidFill>
                    <a:effectLst/>
                    <a:latin typeface="+mj-ea"/>
                    <a:ea typeface="+mj-ea"/>
                  </a:rPr>
                  <a:t>该结点</a:t>
                </a:r>
                <a:r>
                  <a:rPr lang="zh-CN" altLang="zh-CN" b="1" dirty="0">
                    <a:solidFill>
                      <a:srgbClr val="993366"/>
                    </a:solidFill>
                    <a:effectLst/>
                    <a:latin typeface="+mj-ea"/>
                    <a:ea typeface="+mj-ea"/>
                  </a:rPr>
                  <a:t>并将其标记为已访问</a:t>
                </a:r>
                <a:r>
                  <a:rPr lang="zh-CN" altLang="en-US" b="1" dirty="0">
                    <a:solidFill>
                      <a:srgbClr val="993366"/>
                    </a:solidFill>
                    <a:effectLst/>
                    <a:latin typeface="+mj-ea"/>
                    <a:ea typeface="+mj-ea"/>
                  </a:rPr>
                  <a:t>结点</a:t>
                </a:r>
                <a:r>
                  <a:rPr lang="zh-CN" altLang="zh-CN" b="1" dirty="0">
                    <a:solidFill>
                      <a:srgbClr val="993366"/>
                    </a:solidFill>
                    <a:effectLst/>
                    <a:latin typeface="+mj-ea"/>
                    <a:ea typeface="+mj-ea"/>
                  </a:rPr>
                  <a:t>。</a:t>
                </a:r>
              </a:p>
              <a:p>
                <a:pPr marL="0" indent="0">
                  <a:lnSpc>
                    <a:spcPct val="150000"/>
                  </a:lnSpc>
                  <a:buNone/>
                </a:pPr>
                <a:r>
                  <a:rPr lang="en-US" altLang="zh-CN" b="1" dirty="0">
                    <a:solidFill>
                      <a:srgbClr val="0000FF"/>
                    </a:solidFill>
                    <a:effectLst/>
                    <a:latin typeface="+mj-ea"/>
                    <a:ea typeface="+mj-ea"/>
                  </a:rPr>
                  <a:t>   </a:t>
                </a:r>
                <a:r>
                  <a:rPr lang="zh-CN" altLang="zh-CN" b="1" dirty="0">
                    <a:solidFill>
                      <a:srgbClr val="0000FF"/>
                    </a:solidFill>
                    <a:effectLst/>
                    <a:latin typeface="+mj-ea"/>
                    <a:ea typeface="+mj-ea"/>
                  </a:rPr>
                  <a:t>（</a:t>
                </a:r>
                <a:r>
                  <a:rPr lang="en-US" altLang="zh-CN" b="1" dirty="0">
                    <a:solidFill>
                      <a:srgbClr val="0000FF"/>
                    </a:solidFill>
                    <a:effectLst/>
                    <a:latin typeface="+mj-ea"/>
                    <a:ea typeface="+mj-ea"/>
                  </a:rPr>
                  <a:t>2</a:t>
                </a:r>
                <a:r>
                  <a:rPr lang="zh-CN" altLang="zh-CN" b="1" dirty="0">
                    <a:solidFill>
                      <a:srgbClr val="0000FF"/>
                    </a:solidFill>
                    <a:effectLst/>
                    <a:latin typeface="+mj-ea"/>
                    <a:ea typeface="+mj-ea"/>
                  </a:rPr>
                  <a:t>）找出与结点</a:t>
                </a:r>
                <a14:m>
                  <m:oMath xmlns:m="http://schemas.openxmlformats.org/officeDocument/2006/math">
                    <m:sSub>
                      <m:sSubPr>
                        <m:ctrlPr>
                          <a:rPr lang="zh-CN" altLang="zh-CN" b="1" i="1">
                            <a:solidFill>
                              <a:srgbClr val="0000FF"/>
                            </a:solidFill>
                            <a:effectLst/>
                            <a:latin typeface="Cambria Math" panose="02040503050406030204" pitchFamily="18" charset="0"/>
                            <a:ea typeface="+mj-ea"/>
                          </a:rPr>
                        </m:ctrlPr>
                      </m:sSubPr>
                      <m:e>
                        <m:r>
                          <a:rPr lang="en-US" altLang="zh-CN" b="1" i="1" smtClean="0">
                            <a:solidFill>
                              <a:srgbClr val="0000FF"/>
                            </a:solidFill>
                            <a:effectLst/>
                            <a:latin typeface="Cambria Math" panose="02040503050406030204" pitchFamily="18" charset="0"/>
                            <a:ea typeface="+mj-ea"/>
                          </a:rPr>
                          <m:t>𝒗</m:t>
                        </m:r>
                      </m:e>
                      <m:sub>
                        <m:r>
                          <a:rPr lang="en-US" altLang="zh-CN" b="1" i="1" smtClean="0">
                            <a:solidFill>
                              <a:srgbClr val="0000FF"/>
                            </a:solidFill>
                            <a:effectLst/>
                            <a:latin typeface="Cambria Math" panose="02040503050406030204" pitchFamily="18" charset="0"/>
                            <a:ea typeface="+mj-ea"/>
                          </a:rPr>
                          <m:t>𝒊</m:t>
                        </m:r>
                      </m:sub>
                    </m:sSub>
                  </m:oMath>
                </a14:m>
                <a:r>
                  <a:rPr lang="zh-CN" altLang="zh-CN" b="1" dirty="0">
                    <a:solidFill>
                      <a:srgbClr val="0000FF"/>
                    </a:solidFill>
                    <a:effectLst/>
                    <a:latin typeface="+mj-ea"/>
                    <a:ea typeface="+mj-ea"/>
                  </a:rPr>
                  <a:t>相邻且未被访问的</a:t>
                </a:r>
                <a:r>
                  <a:rPr lang="zh-CN" altLang="en-US" b="1" dirty="0">
                    <a:solidFill>
                      <a:srgbClr val="0000FF"/>
                    </a:solidFill>
                    <a:effectLst/>
                    <a:latin typeface="+mj-ea"/>
                    <a:ea typeface="+mj-ea"/>
                  </a:rPr>
                  <a:t>结</a:t>
                </a:r>
                <a:r>
                  <a:rPr lang="zh-CN" altLang="zh-CN" b="1" dirty="0">
                    <a:solidFill>
                      <a:srgbClr val="0000FF"/>
                    </a:solidFill>
                    <a:effectLst/>
                    <a:latin typeface="+mj-ea"/>
                    <a:ea typeface="+mj-ea"/>
                  </a:rPr>
                  <a:t>点</a:t>
                </a:r>
                <a14:m>
                  <m:oMath xmlns:m="http://schemas.openxmlformats.org/officeDocument/2006/math">
                    <m:sSub>
                      <m:sSubPr>
                        <m:ctrlPr>
                          <a:rPr lang="zh-CN" altLang="zh-CN" b="1" i="1">
                            <a:solidFill>
                              <a:srgbClr val="0000FF"/>
                            </a:solidFill>
                            <a:effectLst/>
                            <a:latin typeface="Cambria Math" panose="02040503050406030204" pitchFamily="18" charset="0"/>
                            <a:ea typeface="+mj-ea"/>
                          </a:rPr>
                        </m:ctrlPr>
                      </m:sSubPr>
                      <m:e>
                        <m:r>
                          <a:rPr lang="en-US" altLang="zh-CN" b="1" i="1" smtClean="0">
                            <a:solidFill>
                              <a:srgbClr val="0000FF"/>
                            </a:solidFill>
                            <a:effectLst/>
                            <a:latin typeface="Cambria Math" panose="02040503050406030204" pitchFamily="18" charset="0"/>
                            <a:ea typeface="+mj-ea"/>
                          </a:rPr>
                          <m:t>𝒗</m:t>
                        </m:r>
                      </m:e>
                      <m:sub>
                        <m:r>
                          <a:rPr lang="en-US" altLang="zh-CN" b="1" i="1" smtClean="0">
                            <a:solidFill>
                              <a:srgbClr val="0000FF"/>
                            </a:solidFill>
                            <a:effectLst/>
                            <a:latin typeface="Cambria Math" panose="02040503050406030204" pitchFamily="18" charset="0"/>
                            <a:ea typeface="+mj-ea"/>
                          </a:rPr>
                          <m:t>𝒋</m:t>
                        </m:r>
                      </m:sub>
                    </m:sSub>
                  </m:oMath>
                </a14:m>
                <a:r>
                  <a:rPr lang="zh-CN" altLang="zh-CN" b="1" dirty="0">
                    <a:solidFill>
                      <a:srgbClr val="0000FF"/>
                    </a:solidFill>
                    <a:effectLst/>
                    <a:latin typeface="+mj-ea"/>
                    <a:ea typeface="+mj-ea"/>
                  </a:rPr>
                  <a:t>，访问</a:t>
                </a:r>
                <a:r>
                  <a:rPr lang="zh-CN" altLang="en-US" b="1" dirty="0">
                    <a:solidFill>
                      <a:srgbClr val="0000FF"/>
                    </a:solidFill>
                    <a:effectLst/>
                    <a:latin typeface="+mj-ea"/>
                    <a:ea typeface="+mj-ea"/>
                  </a:rPr>
                  <a:t>结</a:t>
                </a:r>
                <a:r>
                  <a:rPr lang="zh-CN" altLang="zh-CN" b="1" dirty="0">
                    <a:solidFill>
                      <a:srgbClr val="0000FF"/>
                    </a:solidFill>
                    <a:effectLst/>
                    <a:latin typeface="+mj-ea"/>
                    <a:ea typeface="+mj-ea"/>
                  </a:rPr>
                  <a:t>点</a:t>
                </a:r>
                <a14:m>
                  <m:oMath xmlns:m="http://schemas.openxmlformats.org/officeDocument/2006/math">
                    <m:sSub>
                      <m:sSubPr>
                        <m:ctrlPr>
                          <a:rPr lang="zh-CN" altLang="zh-CN" b="1" i="1">
                            <a:solidFill>
                              <a:srgbClr val="0000FF"/>
                            </a:solidFill>
                            <a:effectLst/>
                            <a:latin typeface="Cambria Math" panose="02040503050406030204" pitchFamily="18" charset="0"/>
                            <a:ea typeface="+mj-ea"/>
                          </a:rPr>
                        </m:ctrlPr>
                      </m:sSubPr>
                      <m:e>
                        <m:r>
                          <a:rPr lang="en-US" altLang="zh-CN" b="1" i="1">
                            <a:solidFill>
                              <a:srgbClr val="0000FF"/>
                            </a:solidFill>
                            <a:effectLst/>
                            <a:latin typeface="Cambria Math" panose="02040503050406030204" pitchFamily="18" charset="0"/>
                            <a:ea typeface="+mj-ea"/>
                          </a:rPr>
                          <m:t>𝒗</m:t>
                        </m:r>
                      </m:e>
                      <m:sub>
                        <m:r>
                          <a:rPr lang="en-US" altLang="zh-CN" b="1" i="1">
                            <a:solidFill>
                              <a:srgbClr val="0000FF"/>
                            </a:solidFill>
                            <a:effectLst/>
                            <a:latin typeface="Cambria Math" panose="02040503050406030204" pitchFamily="18" charset="0"/>
                            <a:ea typeface="+mj-ea"/>
                          </a:rPr>
                          <m:t>𝒋</m:t>
                        </m:r>
                      </m:sub>
                    </m:sSub>
                  </m:oMath>
                </a14:m>
                <a:r>
                  <a:rPr lang="zh-CN" altLang="zh-CN" b="1" dirty="0">
                    <a:solidFill>
                      <a:srgbClr val="0000FF"/>
                    </a:solidFill>
                    <a:effectLst/>
                    <a:latin typeface="+mj-ea"/>
                    <a:ea typeface="+mj-ea"/>
                  </a:rPr>
                  <a:t>并</a:t>
                </a:r>
                <a:r>
                  <a:rPr lang="zh-CN" altLang="en-US" b="1" dirty="0">
                    <a:solidFill>
                      <a:srgbClr val="0000FF"/>
                    </a:solidFill>
                    <a:effectLst/>
                    <a:latin typeface="+mj-ea"/>
                    <a:ea typeface="+mj-ea"/>
                  </a:rPr>
                  <a:t>将其</a:t>
                </a:r>
                <a:r>
                  <a:rPr lang="zh-CN" altLang="zh-CN" b="1" dirty="0">
                    <a:solidFill>
                      <a:srgbClr val="0000FF"/>
                    </a:solidFill>
                    <a:effectLst/>
                    <a:latin typeface="+mj-ea"/>
                    <a:ea typeface="+mj-ea"/>
                  </a:rPr>
                  <a:t>标记为已访问</a:t>
                </a:r>
                <a:r>
                  <a:rPr lang="zh-CN" altLang="en-US" b="1" dirty="0">
                    <a:solidFill>
                      <a:srgbClr val="0000FF"/>
                    </a:solidFill>
                    <a:effectLst/>
                    <a:latin typeface="+mj-ea"/>
                    <a:ea typeface="+mj-ea"/>
                  </a:rPr>
                  <a:t>结点</a:t>
                </a:r>
                <a:r>
                  <a:rPr lang="zh-CN" altLang="zh-CN" b="1" dirty="0">
                    <a:solidFill>
                      <a:srgbClr val="0000FF"/>
                    </a:solidFill>
                    <a:effectLst/>
                    <a:latin typeface="+mj-ea"/>
                    <a:ea typeface="+mj-ea"/>
                  </a:rPr>
                  <a:t>，再以</a:t>
                </a:r>
                <a14:m>
                  <m:oMath xmlns:m="http://schemas.openxmlformats.org/officeDocument/2006/math">
                    <m:sSub>
                      <m:sSubPr>
                        <m:ctrlPr>
                          <a:rPr lang="zh-CN" altLang="zh-CN" b="1" i="1">
                            <a:solidFill>
                              <a:srgbClr val="0000FF"/>
                            </a:solidFill>
                            <a:effectLst/>
                            <a:latin typeface="Cambria Math" panose="02040503050406030204" pitchFamily="18" charset="0"/>
                            <a:ea typeface="+mj-ea"/>
                          </a:rPr>
                        </m:ctrlPr>
                      </m:sSubPr>
                      <m:e>
                        <m:r>
                          <a:rPr lang="en-US" altLang="zh-CN" b="1" i="1" smtClean="0">
                            <a:solidFill>
                              <a:srgbClr val="0000FF"/>
                            </a:solidFill>
                            <a:effectLst/>
                            <a:latin typeface="Cambria Math" panose="02040503050406030204" pitchFamily="18" charset="0"/>
                            <a:ea typeface="+mj-ea"/>
                          </a:rPr>
                          <m:t>𝒗</m:t>
                        </m:r>
                      </m:e>
                      <m:sub>
                        <m:r>
                          <a:rPr lang="en-US" altLang="zh-CN" b="1" i="1" smtClean="0">
                            <a:solidFill>
                              <a:srgbClr val="0000FF"/>
                            </a:solidFill>
                            <a:effectLst/>
                            <a:latin typeface="Cambria Math" panose="02040503050406030204" pitchFamily="18" charset="0"/>
                            <a:ea typeface="+mj-ea"/>
                          </a:rPr>
                          <m:t>𝒋</m:t>
                        </m:r>
                      </m:sub>
                    </m:sSub>
                  </m:oMath>
                </a14:m>
                <a:r>
                  <a:rPr lang="zh-CN" altLang="zh-CN" b="1" dirty="0">
                    <a:solidFill>
                      <a:srgbClr val="0000FF"/>
                    </a:solidFill>
                    <a:effectLst/>
                    <a:latin typeface="+mj-ea"/>
                    <a:ea typeface="+mj-ea"/>
                  </a:rPr>
                  <a:t>作为当前遍历点继续访问与</a:t>
                </a:r>
                <a14:m>
                  <m:oMath xmlns:m="http://schemas.openxmlformats.org/officeDocument/2006/math">
                    <m:sSub>
                      <m:sSubPr>
                        <m:ctrlPr>
                          <a:rPr lang="zh-CN" altLang="zh-CN" b="1" i="1">
                            <a:solidFill>
                              <a:srgbClr val="0000FF"/>
                            </a:solidFill>
                            <a:effectLst/>
                            <a:latin typeface="Cambria Math" panose="02040503050406030204" pitchFamily="18" charset="0"/>
                            <a:ea typeface="+mj-ea"/>
                          </a:rPr>
                        </m:ctrlPr>
                      </m:sSubPr>
                      <m:e>
                        <m:r>
                          <a:rPr lang="en-US" altLang="zh-CN" b="1" i="1" smtClean="0">
                            <a:solidFill>
                              <a:srgbClr val="0000FF"/>
                            </a:solidFill>
                            <a:effectLst/>
                            <a:latin typeface="Cambria Math" panose="02040503050406030204" pitchFamily="18" charset="0"/>
                            <a:ea typeface="+mj-ea"/>
                          </a:rPr>
                          <m:t>𝒗</m:t>
                        </m:r>
                      </m:e>
                      <m:sub>
                        <m:r>
                          <a:rPr lang="en-US" altLang="zh-CN" b="1" i="1" smtClean="0">
                            <a:solidFill>
                              <a:srgbClr val="0000FF"/>
                            </a:solidFill>
                            <a:effectLst/>
                            <a:latin typeface="Cambria Math" panose="02040503050406030204" pitchFamily="18" charset="0"/>
                            <a:ea typeface="+mj-ea"/>
                          </a:rPr>
                          <m:t>𝒋</m:t>
                        </m:r>
                      </m:sub>
                    </m:sSub>
                  </m:oMath>
                </a14:m>
                <a:r>
                  <a:rPr lang="zh-CN" altLang="zh-CN" b="1" dirty="0">
                    <a:solidFill>
                      <a:srgbClr val="0000FF"/>
                    </a:solidFill>
                    <a:effectLst/>
                    <a:latin typeface="+mj-ea"/>
                    <a:ea typeface="+mj-ea"/>
                  </a:rPr>
                  <a:t>相邻</a:t>
                </a:r>
                <a:r>
                  <a:rPr lang="zh-CN" altLang="en-US" b="1" dirty="0">
                    <a:solidFill>
                      <a:srgbClr val="0000FF"/>
                    </a:solidFill>
                    <a:effectLst/>
                    <a:latin typeface="+mj-ea"/>
                    <a:ea typeface="+mj-ea"/>
                  </a:rPr>
                  <a:t>且</a:t>
                </a:r>
                <a:r>
                  <a:rPr lang="zh-CN" altLang="zh-CN" b="1" dirty="0">
                    <a:solidFill>
                      <a:srgbClr val="0000FF"/>
                    </a:solidFill>
                    <a:effectLst/>
                    <a:latin typeface="+mj-ea"/>
                    <a:ea typeface="+mj-ea"/>
                  </a:rPr>
                  <a:t>未被访问的</a:t>
                </a:r>
                <a:r>
                  <a:rPr lang="zh-CN" altLang="en-US" b="1" dirty="0">
                    <a:solidFill>
                      <a:srgbClr val="0000FF"/>
                    </a:solidFill>
                    <a:effectLst/>
                    <a:latin typeface="+mj-ea"/>
                    <a:ea typeface="+mj-ea"/>
                  </a:rPr>
                  <a:t>结</a:t>
                </a:r>
                <a:r>
                  <a:rPr lang="zh-CN" altLang="zh-CN" b="1" dirty="0">
                    <a:solidFill>
                      <a:srgbClr val="0000FF"/>
                    </a:solidFill>
                    <a:effectLst/>
                    <a:latin typeface="+mj-ea"/>
                    <a:ea typeface="+mj-ea"/>
                  </a:rPr>
                  <a:t>点。递归重复</a:t>
                </a:r>
                <a:r>
                  <a:rPr lang="zh-CN" altLang="en-US" b="1" dirty="0">
                    <a:solidFill>
                      <a:srgbClr val="0000FF"/>
                    </a:solidFill>
                    <a:effectLst/>
                    <a:latin typeface="+mj-ea"/>
                    <a:ea typeface="+mj-ea"/>
                  </a:rPr>
                  <a:t>这个</a:t>
                </a:r>
                <a:r>
                  <a:rPr lang="zh-CN" altLang="zh-CN" b="1" dirty="0">
                    <a:solidFill>
                      <a:srgbClr val="0000FF"/>
                    </a:solidFill>
                    <a:effectLst/>
                    <a:latin typeface="+mj-ea"/>
                    <a:ea typeface="+mj-ea"/>
                  </a:rPr>
                  <a:t>过程，直到当前遍历点的</a:t>
                </a:r>
                <a:r>
                  <a:rPr lang="zh-CN" altLang="en-US" b="1" dirty="0">
                    <a:solidFill>
                      <a:srgbClr val="0000FF"/>
                    </a:solidFill>
                    <a:effectLst/>
                    <a:latin typeface="+mj-ea"/>
                    <a:ea typeface="+mj-ea"/>
                  </a:rPr>
                  <a:t>没有位</a:t>
                </a:r>
                <a:r>
                  <a:rPr lang="zh-CN" altLang="zh-CN" b="1" dirty="0">
                    <a:solidFill>
                      <a:srgbClr val="0000FF"/>
                    </a:solidFill>
                    <a:effectLst/>
                    <a:latin typeface="+mj-ea"/>
                    <a:ea typeface="+mj-ea"/>
                  </a:rPr>
                  <a:t>被访问</a:t>
                </a:r>
                <a:r>
                  <a:rPr lang="zh-CN" altLang="en-US" b="1" dirty="0">
                    <a:solidFill>
                      <a:srgbClr val="0000FF"/>
                    </a:solidFill>
                    <a:effectLst/>
                    <a:latin typeface="+mj-ea"/>
                    <a:ea typeface="+mj-ea"/>
                  </a:rPr>
                  <a:t>的结点</a:t>
                </a:r>
                <a:r>
                  <a:rPr lang="zh-CN" altLang="zh-CN" b="1" dirty="0">
                    <a:solidFill>
                      <a:srgbClr val="0000FF"/>
                    </a:solidFill>
                    <a:effectLst/>
                    <a:latin typeface="+mj-ea"/>
                    <a:ea typeface="+mj-ea"/>
                  </a:rPr>
                  <a:t>为止。</a:t>
                </a: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251520" y="1844824"/>
                <a:ext cx="8712968" cy="4104456"/>
              </a:xfrm>
              <a:blipFill>
                <a:blip r:embed="rId2"/>
                <a:stretch>
                  <a:fillRect l="-1049" t="-1189" r="-979"/>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8280545"/>
      </p:ext>
    </p:extLst>
  </p:cSld>
  <p:clrMapOvr>
    <a:masterClrMapping/>
  </p:clrMapOvr>
  <p:transition spd="med">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8435" name="Rectangle 3"/>
          <p:cNvSpPr>
            <a:spLocks noGrp="1" noChangeArrowheads="1"/>
          </p:cNvSpPr>
          <p:nvPr>
            <p:ph idx="1"/>
          </p:nvPr>
        </p:nvSpPr>
        <p:spPr>
          <a:xfrm>
            <a:off x="395536" y="1916832"/>
            <a:ext cx="8568952" cy="4016598"/>
          </a:xfrm>
          <a:solidFill>
            <a:schemeClr val="accent5"/>
          </a:solidFill>
          <a:ln>
            <a:noFill/>
          </a:ln>
        </p:spPr>
        <p:txBody>
          <a:bodyPr/>
          <a:lstStyle/>
          <a:p>
            <a:pPr marL="0" indent="0">
              <a:buNone/>
            </a:pPr>
            <a:r>
              <a:rPr lang="zh-CN" altLang="en-US" b="1" dirty="0">
                <a:solidFill>
                  <a:srgbClr val="0000FF"/>
                </a:solidFill>
                <a:effectLst/>
                <a:latin typeface="+mn-ea"/>
              </a:rPr>
              <a:t>深度优先</a:t>
            </a:r>
            <a:r>
              <a:rPr lang="zh-CN" altLang="zh-CN" b="1" dirty="0">
                <a:solidFill>
                  <a:srgbClr val="0000FF"/>
                </a:solidFill>
                <a:effectLst/>
                <a:latin typeface="+mn-ea"/>
              </a:rPr>
              <a:t>算法</a:t>
            </a:r>
            <a:r>
              <a:rPr lang="zh-CN" altLang="en-US" b="1" dirty="0">
                <a:solidFill>
                  <a:srgbClr val="0000FF"/>
                </a:solidFill>
                <a:effectLst/>
                <a:latin typeface="+mn-ea"/>
              </a:rPr>
              <a:t>步骤（续）</a:t>
            </a:r>
            <a:r>
              <a:rPr lang="zh-CN" altLang="zh-CN" b="1" dirty="0">
                <a:solidFill>
                  <a:srgbClr val="0000FF"/>
                </a:solidFill>
                <a:effectLst/>
                <a:latin typeface="+mn-ea"/>
              </a:rPr>
              <a:t>：</a:t>
            </a:r>
          </a:p>
          <a:p>
            <a:pPr marL="0" indent="0">
              <a:lnSpc>
                <a:spcPct val="150000"/>
              </a:lnSpc>
              <a:buNone/>
            </a:pPr>
            <a:r>
              <a:rPr lang="en-US" altLang="zh-CN" b="1" dirty="0">
                <a:solidFill>
                  <a:srgbClr val="993366"/>
                </a:solidFill>
                <a:effectLst/>
                <a:latin typeface="华文仿宋" panose="02010600040101010101" pitchFamily="2" charset="-122"/>
                <a:ea typeface="华文仿宋" panose="02010600040101010101" pitchFamily="2" charset="-122"/>
              </a:rPr>
              <a:t>      </a:t>
            </a:r>
            <a:r>
              <a:rPr lang="zh-CN" altLang="zh-CN" b="1" dirty="0">
                <a:solidFill>
                  <a:srgbClr val="993366"/>
                </a:solidFill>
                <a:effectLst/>
                <a:latin typeface="+mj-ea"/>
                <a:ea typeface="+mj-ea"/>
              </a:rPr>
              <a:t>（</a:t>
            </a:r>
            <a:r>
              <a:rPr lang="en-US" altLang="zh-CN" b="1" dirty="0">
                <a:solidFill>
                  <a:srgbClr val="993366"/>
                </a:solidFill>
                <a:effectLst/>
                <a:latin typeface="+mj-ea"/>
                <a:ea typeface="+mj-ea"/>
              </a:rPr>
              <a:t>3</a:t>
            </a:r>
            <a:r>
              <a:rPr lang="zh-CN" altLang="zh-CN" b="1" dirty="0">
                <a:solidFill>
                  <a:srgbClr val="993366"/>
                </a:solidFill>
                <a:effectLst/>
                <a:latin typeface="+mj-ea"/>
                <a:ea typeface="+mj-ea"/>
              </a:rPr>
              <a:t>）返回上一层访问过的遍历点，若此遍历点仍没有尚未被访问的邻接点，则继续返回上一层直到找到尚有未被访问的邻接点的遍历点，继续执行步骤（</a:t>
            </a:r>
            <a:r>
              <a:rPr lang="en-US" altLang="zh-CN" b="1" dirty="0">
                <a:solidFill>
                  <a:srgbClr val="993366"/>
                </a:solidFill>
                <a:effectLst/>
                <a:latin typeface="+mj-ea"/>
                <a:ea typeface="+mj-ea"/>
              </a:rPr>
              <a:t>2</a:t>
            </a:r>
            <a:r>
              <a:rPr lang="zh-CN" altLang="zh-CN" b="1" dirty="0">
                <a:solidFill>
                  <a:srgbClr val="993366"/>
                </a:solidFill>
                <a:effectLst/>
                <a:latin typeface="+mj-ea"/>
                <a:ea typeface="+mj-ea"/>
              </a:rPr>
              <a:t>），否则执行步骤（</a:t>
            </a:r>
            <a:r>
              <a:rPr lang="en-US" altLang="zh-CN" b="1" dirty="0">
                <a:solidFill>
                  <a:srgbClr val="993366"/>
                </a:solidFill>
                <a:effectLst/>
                <a:latin typeface="+mj-ea"/>
                <a:ea typeface="+mj-ea"/>
              </a:rPr>
              <a:t>4</a:t>
            </a:r>
            <a:r>
              <a:rPr lang="zh-CN" altLang="zh-CN" b="1" dirty="0">
                <a:solidFill>
                  <a:srgbClr val="993366"/>
                </a:solidFill>
                <a:effectLst/>
                <a:latin typeface="+mj-ea"/>
                <a:ea typeface="+mj-ea"/>
              </a:rPr>
              <a:t>）</a:t>
            </a:r>
          </a:p>
          <a:p>
            <a:pPr marL="0" indent="0">
              <a:lnSpc>
                <a:spcPct val="150000"/>
              </a:lnSpc>
              <a:buNone/>
            </a:pPr>
            <a:r>
              <a:rPr lang="en-US" altLang="zh-CN" b="1" dirty="0">
                <a:solidFill>
                  <a:srgbClr val="0000FF"/>
                </a:solidFill>
                <a:effectLst/>
                <a:latin typeface="+mj-ea"/>
                <a:ea typeface="+mj-ea"/>
              </a:rPr>
              <a:t>   </a:t>
            </a:r>
            <a:r>
              <a:rPr lang="zh-CN" altLang="zh-CN" b="1" dirty="0">
                <a:solidFill>
                  <a:srgbClr val="0000FF"/>
                </a:solidFill>
                <a:effectLst/>
                <a:latin typeface="+mj-ea"/>
                <a:ea typeface="+mj-ea"/>
              </a:rPr>
              <a:t>（</a:t>
            </a:r>
            <a:r>
              <a:rPr lang="en-US" altLang="zh-CN" b="1" dirty="0">
                <a:solidFill>
                  <a:srgbClr val="0000FF"/>
                </a:solidFill>
                <a:effectLst/>
                <a:latin typeface="+mj-ea"/>
                <a:ea typeface="+mj-ea"/>
              </a:rPr>
              <a:t>4</a:t>
            </a:r>
            <a:r>
              <a:rPr lang="zh-CN" altLang="zh-CN" b="1" dirty="0">
                <a:solidFill>
                  <a:srgbClr val="0000FF"/>
                </a:solidFill>
                <a:effectLst/>
                <a:latin typeface="+mj-ea"/>
                <a:ea typeface="+mj-ea"/>
              </a:rPr>
              <a:t>）若此时图中还有</a:t>
            </a:r>
            <a:r>
              <a:rPr lang="zh-CN" altLang="en-US" b="1" dirty="0">
                <a:solidFill>
                  <a:srgbClr val="0000FF"/>
                </a:solidFill>
                <a:effectLst/>
                <a:latin typeface="+mj-ea"/>
                <a:ea typeface="+mj-ea"/>
              </a:rPr>
              <a:t>结</a:t>
            </a:r>
            <a:r>
              <a:rPr lang="zh-CN" altLang="zh-CN" b="1" dirty="0">
                <a:solidFill>
                  <a:srgbClr val="0000FF"/>
                </a:solidFill>
                <a:effectLst/>
                <a:latin typeface="+mj-ea"/>
                <a:ea typeface="+mj-ea"/>
              </a:rPr>
              <a:t>点未被访问，则继续选择图中</a:t>
            </a:r>
            <a:r>
              <a:rPr lang="zh-CN" altLang="en-US" b="1" dirty="0">
                <a:solidFill>
                  <a:srgbClr val="0000FF"/>
                </a:solidFill>
                <a:effectLst/>
                <a:latin typeface="+mj-ea"/>
                <a:ea typeface="+mj-ea"/>
              </a:rPr>
              <a:t>某</a:t>
            </a:r>
            <a:r>
              <a:rPr lang="zh-CN" altLang="zh-CN" b="1" dirty="0">
                <a:solidFill>
                  <a:srgbClr val="0000FF"/>
                </a:solidFill>
                <a:effectLst/>
                <a:latin typeface="+mj-ea"/>
                <a:ea typeface="+mj-ea"/>
              </a:rPr>
              <a:t>个未被访问的</a:t>
            </a:r>
            <a:r>
              <a:rPr lang="zh-CN" altLang="en-US" b="1" dirty="0">
                <a:solidFill>
                  <a:srgbClr val="0000FF"/>
                </a:solidFill>
                <a:effectLst/>
                <a:latin typeface="+mj-ea"/>
                <a:ea typeface="+mj-ea"/>
              </a:rPr>
              <a:t>结</a:t>
            </a:r>
            <a:r>
              <a:rPr lang="zh-CN" altLang="zh-CN" b="1" dirty="0">
                <a:solidFill>
                  <a:srgbClr val="0000FF"/>
                </a:solidFill>
                <a:effectLst/>
                <a:latin typeface="+mj-ea"/>
                <a:ea typeface="+mj-ea"/>
              </a:rPr>
              <a:t>点作为起始点，重复上述描述过程，直至图中所有</a:t>
            </a:r>
            <a:r>
              <a:rPr lang="zh-CN" altLang="en-US" b="1" dirty="0">
                <a:solidFill>
                  <a:srgbClr val="0000FF"/>
                </a:solidFill>
                <a:effectLst/>
                <a:latin typeface="+mj-ea"/>
                <a:ea typeface="+mj-ea"/>
              </a:rPr>
              <a:t>结</a:t>
            </a:r>
            <a:r>
              <a:rPr lang="zh-CN" altLang="zh-CN" b="1" dirty="0">
                <a:solidFill>
                  <a:srgbClr val="0000FF"/>
                </a:solidFill>
                <a:effectLst/>
                <a:latin typeface="+mj-ea"/>
                <a:ea typeface="+mj-ea"/>
              </a:rPr>
              <a:t>点均</a:t>
            </a:r>
            <a:r>
              <a:rPr lang="zh-CN" altLang="en-US" b="1" dirty="0">
                <a:solidFill>
                  <a:srgbClr val="0000FF"/>
                </a:solidFill>
                <a:effectLst/>
                <a:latin typeface="+mj-ea"/>
                <a:ea typeface="+mj-ea"/>
              </a:rPr>
              <a:t>为已访问结点</a:t>
            </a:r>
            <a:r>
              <a:rPr lang="zh-CN" altLang="zh-CN" b="1" dirty="0">
                <a:solidFill>
                  <a:srgbClr val="0000FF"/>
                </a:solidFill>
                <a:effectLst/>
                <a:latin typeface="+mj-ea"/>
                <a:ea typeface="+mj-ea"/>
              </a:rPr>
              <a:t>为止。</a:t>
            </a:r>
          </a:p>
        </p:txBody>
      </p:sp>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7366662"/>
      </p:ext>
    </p:extLst>
  </p:cSld>
  <p:clrMapOvr>
    <a:masterClrMapping/>
  </p:clrMapOvr>
  <p:transition spd="med">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A9FD9CD3-16D0-45BD-8D4C-66F1C784E24C}"/>
              </a:ext>
            </a:extLst>
          </p:cNvPr>
          <p:cNvPicPr>
            <a:picLocks noChangeAspect="1"/>
          </p:cNvPicPr>
          <p:nvPr/>
        </p:nvPicPr>
        <p:blipFill>
          <a:blip r:embed="rId4"/>
          <a:stretch>
            <a:fillRect/>
          </a:stretch>
        </p:blipFill>
        <p:spPr>
          <a:xfrm>
            <a:off x="4788024" y="2397936"/>
            <a:ext cx="4294290" cy="3664556"/>
          </a:xfrm>
          <a:prstGeom prst="rect">
            <a:avLst/>
          </a:prstGeom>
        </p:spPr>
      </p:pic>
      <p:pic>
        <p:nvPicPr>
          <p:cNvPr id="7" name="图片 6">
            <a:extLst>
              <a:ext uri="{FF2B5EF4-FFF2-40B4-BE49-F238E27FC236}">
                <a16:creationId xmlns:a16="http://schemas.microsoft.com/office/drawing/2014/main" id="{2DB303ED-25D0-448F-9454-FCA104C3CA14}"/>
              </a:ext>
            </a:extLst>
          </p:cNvPr>
          <p:cNvPicPr>
            <a:picLocks noChangeAspect="1"/>
          </p:cNvPicPr>
          <p:nvPr/>
        </p:nvPicPr>
        <p:blipFill>
          <a:blip r:embed="rId5"/>
          <a:stretch>
            <a:fillRect/>
          </a:stretch>
        </p:blipFill>
        <p:spPr>
          <a:xfrm>
            <a:off x="25402" y="2428740"/>
            <a:ext cx="4629624" cy="3654563"/>
          </a:xfrm>
          <a:prstGeom prst="rect">
            <a:avLst/>
          </a:prstGeom>
        </p:spPr>
      </p:pic>
    </p:spTree>
    <p:extLst>
      <p:ext uri="{BB962C8B-B14F-4D97-AF65-F5344CB8AC3E}">
        <p14:creationId xmlns:p14="http://schemas.microsoft.com/office/powerpoint/2010/main" val="1174375522"/>
      </p:ext>
    </p:extLst>
  </p:cSld>
  <p:clrMapOvr>
    <a:masterClrMapping/>
  </p:clrMapOvr>
  <p:transition spd="med">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287524" y="1916832"/>
                <a:ext cx="8568952" cy="4176464"/>
              </a:xfrm>
              <a:solidFill>
                <a:schemeClr val="accent6">
                  <a:lumMod val="75000"/>
                </a:schemeClr>
              </a:solidFill>
              <a:ln>
                <a:noFill/>
              </a:ln>
            </p:spPr>
            <p:txBody>
              <a:bodyPr/>
              <a:lstStyle/>
              <a:p>
                <a:pPr marL="0" indent="0">
                  <a:lnSpc>
                    <a:spcPts val="3800"/>
                  </a:lnSpc>
                  <a:buNone/>
                </a:pPr>
                <a:r>
                  <a:rPr lang="en-US" altLang="zh-CN" b="1" dirty="0">
                    <a:solidFill>
                      <a:schemeClr val="bg1"/>
                    </a:solidFill>
                    <a:effectLst/>
                    <a:latin typeface="+mj-ea"/>
                    <a:ea typeface="+mj-ea"/>
                  </a:rPr>
                  <a:t>    </a:t>
                </a:r>
                <a:r>
                  <a:rPr lang="zh-CN" altLang="zh-CN" b="1" dirty="0">
                    <a:solidFill>
                      <a:schemeClr val="bg1"/>
                    </a:solidFill>
                    <a:effectLst/>
                    <a:latin typeface="+mj-ea"/>
                    <a:ea typeface="+mj-ea"/>
                  </a:rPr>
                  <a:t>在对图进行深度优先遍历时，按照结点的先后的被访问次序所组成的序列，称为</a:t>
                </a:r>
                <a:r>
                  <a:rPr lang="zh-CN" altLang="zh-CN" b="1" dirty="0">
                    <a:solidFill>
                      <a:srgbClr val="FFFF00"/>
                    </a:solidFill>
                    <a:effectLst/>
                    <a:latin typeface="+mj-ea"/>
                    <a:ea typeface="+mj-ea"/>
                  </a:rPr>
                  <a:t>深度优先搜索序列</a:t>
                </a:r>
                <a:r>
                  <a:rPr lang="zh-CN" altLang="zh-CN" b="1" dirty="0">
                    <a:solidFill>
                      <a:schemeClr val="bg1"/>
                    </a:solidFill>
                    <a:effectLst/>
                    <a:latin typeface="+mj-ea"/>
                    <a:ea typeface="+mj-ea"/>
                  </a:rPr>
                  <a:t>，简称</a:t>
                </a:r>
                <a14:m>
                  <m:oMath xmlns:m="http://schemas.openxmlformats.org/officeDocument/2006/math">
                    <m:r>
                      <a:rPr lang="en-US" altLang="zh-CN" b="1" i="1" smtClean="0">
                        <a:solidFill>
                          <a:srgbClr val="FFFF00"/>
                        </a:solidFill>
                        <a:effectLst/>
                        <a:latin typeface="Cambria Math" panose="02040503050406030204" pitchFamily="18" charset="0"/>
                        <a:ea typeface="+mj-ea"/>
                      </a:rPr>
                      <m:t>𝑫𝑭𝑺</m:t>
                    </m:r>
                  </m:oMath>
                </a14:m>
                <a:r>
                  <a:rPr lang="zh-CN" altLang="zh-CN" b="1" dirty="0">
                    <a:solidFill>
                      <a:srgbClr val="FFFF00"/>
                    </a:solidFill>
                    <a:effectLst/>
                    <a:latin typeface="+mj-ea"/>
                    <a:ea typeface="+mj-ea"/>
                  </a:rPr>
                  <a:t>序列</a:t>
                </a:r>
                <a:r>
                  <a:rPr lang="zh-CN" altLang="zh-CN" b="1" dirty="0">
                    <a:solidFill>
                      <a:schemeClr val="bg1"/>
                    </a:solidFill>
                    <a:effectLst/>
                    <a:latin typeface="+mj-ea"/>
                    <a:ea typeface="+mj-ea"/>
                  </a:rPr>
                  <a:t>。</a:t>
                </a:r>
                <a:endParaRPr lang="en-US" altLang="zh-CN" b="1" dirty="0">
                  <a:solidFill>
                    <a:schemeClr val="bg1"/>
                  </a:solidFill>
                  <a:effectLst/>
                  <a:latin typeface="+mj-ea"/>
                  <a:ea typeface="+mj-ea"/>
                </a:endParaRPr>
              </a:p>
              <a:p>
                <a:pPr marL="0" indent="0">
                  <a:lnSpc>
                    <a:spcPts val="3800"/>
                  </a:lnSpc>
                  <a:buNone/>
                </a:pPr>
                <a:r>
                  <a:rPr lang="en-US" altLang="zh-CN" b="1" dirty="0">
                    <a:solidFill>
                      <a:schemeClr val="bg1"/>
                    </a:solidFill>
                    <a:effectLst/>
                    <a:latin typeface="+mj-ea"/>
                    <a:ea typeface="+mj-ea"/>
                  </a:rPr>
                  <a:t>    </a:t>
                </a:r>
                <a:r>
                  <a:rPr lang="zh-CN" altLang="zh-CN" b="1" dirty="0">
                    <a:solidFill>
                      <a:schemeClr val="bg1"/>
                    </a:solidFill>
                    <a:effectLst/>
                    <a:latin typeface="+mj-ea"/>
                    <a:ea typeface="+mj-ea"/>
                  </a:rPr>
                  <a:t>对于连通图，由深度优先搜索算法进行遍历得到的结点</a:t>
                </a:r>
                <a:r>
                  <a:rPr lang="zh-CN" altLang="zh-CN" b="1" dirty="0">
                    <a:solidFill>
                      <a:srgbClr val="FFFF00"/>
                    </a:solidFill>
                    <a:effectLst/>
                    <a:latin typeface="+mj-ea"/>
                    <a:ea typeface="+mj-ea"/>
                  </a:rPr>
                  <a:t>次序（</a:t>
                </a:r>
                <a14:m>
                  <m:oMath xmlns:m="http://schemas.openxmlformats.org/officeDocument/2006/math">
                    <m:r>
                      <a:rPr lang="en-US" altLang="zh-CN" b="1" i="1">
                        <a:solidFill>
                          <a:srgbClr val="FFFF00"/>
                        </a:solidFill>
                        <a:effectLst/>
                        <a:latin typeface="Cambria Math" panose="02040503050406030204" pitchFamily="18" charset="0"/>
                        <a:ea typeface="+mj-ea"/>
                      </a:rPr>
                      <m:t>𝑫𝑭𝑺</m:t>
                    </m:r>
                  </m:oMath>
                </a14:m>
                <a:r>
                  <a:rPr lang="zh-CN" altLang="zh-CN" b="1" dirty="0">
                    <a:solidFill>
                      <a:srgbClr val="FFFF00"/>
                    </a:solidFill>
                    <a:effectLst/>
                    <a:latin typeface="+mj-ea"/>
                    <a:ea typeface="+mj-ea"/>
                  </a:rPr>
                  <a:t>序列</a:t>
                </a:r>
                <a:r>
                  <a:rPr lang="zh-CN" altLang="zh-CN" b="1" dirty="0">
                    <a:solidFill>
                      <a:schemeClr val="bg1"/>
                    </a:solidFill>
                    <a:effectLst/>
                    <a:latin typeface="+mj-ea"/>
                    <a:ea typeface="+mj-ea"/>
                  </a:rPr>
                  <a:t>），以及相应结点之间的边所构成的图称为</a:t>
                </a:r>
                <a:r>
                  <a:rPr lang="zh-CN" altLang="zh-CN" b="1" dirty="0">
                    <a:solidFill>
                      <a:srgbClr val="FFFF00"/>
                    </a:solidFill>
                    <a:effectLst/>
                    <a:latin typeface="黑体" panose="02010609060101010101" pitchFamily="49" charset="-122"/>
                    <a:ea typeface="黑体" panose="02010609060101010101" pitchFamily="49" charset="-122"/>
                  </a:rPr>
                  <a:t>深度优先生成树</a:t>
                </a:r>
                <a:r>
                  <a:rPr lang="zh-CN" altLang="zh-CN" b="1" dirty="0">
                    <a:solidFill>
                      <a:schemeClr val="bg1"/>
                    </a:solidFill>
                    <a:effectLst/>
                    <a:latin typeface="+mj-ea"/>
                    <a:ea typeface="+mj-ea"/>
                  </a:rPr>
                  <a:t>。</a:t>
                </a:r>
                <a:endParaRPr lang="en-US" altLang="zh-CN" b="1" dirty="0">
                  <a:solidFill>
                    <a:schemeClr val="bg1"/>
                  </a:solidFill>
                  <a:effectLst/>
                  <a:latin typeface="+mj-ea"/>
                  <a:ea typeface="+mj-ea"/>
                </a:endParaRPr>
              </a:p>
              <a:p>
                <a:pPr marL="0" indent="0">
                  <a:lnSpc>
                    <a:spcPts val="3800"/>
                  </a:lnSpc>
                  <a:buNone/>
                </a:pPr>
                <a:r>
                  <a:rPr lang="en-US" altLang="zh-CN" b="1" dirty="0">
                    <a:solidFill>
                      <a:schemeClr val="bg1"/>
                    </a:solidFill>
                    <a:effectLst/>
                    <a:latin typeface="+mj-ea"/>
                    <a:ea typeface="+mj-ea"/>
                  </a:rPr>
                  <a:t>    </a:t>
                </a:r>
                <a:r>
                  <a:rPr lang="zh-CN" altLang="zh-CN" b="1" dirty="0">
                    <a:solidFill>
                      <a:schemeClr val="bg1"/>
                    </a:solidFill>
                    <a:effectLst/>
                    <a:latin typeface="+mj-ea"/>
                    <a:ea typeface="+mj-ea"/>
                  </a:rPr>
                  <a:t>对于非连通图，由深度优先搜索算法进行遍历得到的结点</a:t>
                </a:r>
                <a:r>
                  <a:rPr lang="zh-CN" altLang="zh-CN" b="1" dirty="0">
                    <a:solidFill>
                      <a:srgbClr val="FFFF00"/>
                    </a:solidFill>
                    <a:effectLst/>
                    <a:latin typeface="+mj-ea"/>
                    <a:ea typeface="+mj-ea"/>
                  </a:rPr>
                  <a:t>次序（</a:t>
                </a:r>
                <a14:m>
                  <m:oMath xmlns:m="http://schemas.openxmlformats.org/officeDocument/2006/math">
                    <m:r>
                      <a:rPr lang="en-US" altLang="zh-CN" b="1" i="1">
                        <a:solidFill>
                          <a:srgbClr val="FFFF00"/>
                        </a:solidFill>
                        <a:effectLst/>
                        <a:latin typeface="Cambria Math" panose="02040503050406030204" pitchFamily="18" charset="0"/>
                        <a:ea typeface="+mj-ea"/>
                      </a:rPr>
                      <m:t>𝑫𝑭𝑺</m:t>
                    </m:r>
                  </m:oMath>
                </a14:m>
                <a:r>
                  <a:rPr lang="zh-CN" altLang="zh-CN" b="1" dirty="0">
                    <a:solidFill>
                      <a:srgbClr val="FFFF00"/>
                    </a:solidFill>
                    <a:effectLst/>
                    <a:latin typeface="+mj-ea"/>
                    <a:ea typeface="+mj-ea"/>
                  </a:rPr>
                  <a:t>序列），</a:t>
                </a:r>
                <a:r>
                  <a:rPr lang="zh-CN" altLang="zh-CN" b="1" dirty="0">
                    <a:solidFill>
                      <a:schemeClr val="bg1"/>
                    </a:solidFill>
                    <a:effectLst/>
                    <a:latin typeface="+mj-ea"/>
                    <a:ea typeface="+mj-ea"/>
                  </a:rPr>
                  <a:t>以及相应结点之间的边所构成的图称为</a:t>
                </a:r>
                <a:r>
                  <a:rPr lang="zh-CN" altLang="zh-CN" b="1" dirty="0">
                    <a:solidFill>
                      <a:srgbClr val="FFFF00"/>
                    </a:solidFill>
                    <a:effectLst/>
                    <a:latin typeface="黑体" panose="02010609060101010101" pitchFamily="49" charset="-122"/>
                    <a:ea typeface="黑体" panose="02010609060101010101" pitchFamily="49" charset="-122"/>
                  </a:rPr>
                  <a:t>深度优先生成森林</a:t>
                </a:r>
                <a:r>
                  <a:rPr lang="zh-CN" altLang="zh-CN" b="1" dirty="0">
                    <a:solidFill>
                      <a:schemeClr val="bg1"/>
                    </a:solidFill>
                    <a:effectLst/>
                    <a:latin typeface="+mj-ea"/>
                    <a:ea typeface="+mj-ea"/>
                  </a:rPr>
                  <a:t>。</a:t>
                </a: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287524" y="1916832"/>
                <a:ext cx="8568952" cy="4176464"/>
              </a:xfrm>
              <a:blipFill>
                <a:blip r:embed="rId2"/>
                <a:stretch>
                  <a:fillRect l="-1067" t="-146" r="-71"/>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9650689"/>
      </p:ext>
    </p:extLst>
  </p:cSld>
  <p:clrMapOvr>
    <a:masterClrMapping/>
  </p:clrMapOvr>
  <p:transition spd="med">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674305" y="1705937"/>
                <a:ext cx="8434199" cy="1507039"/>
              </a:xfrm>
              <a:solidFill>
                <a:schemeClr val="accent5"/>
              </a:solidFill>
              <a:ln>
                <a:noFill/>
              </a:ln>
            </p:spPr>
            <p:txBody>
              <a:bodyPr/>
              <a:lstStyle/>
              <a:p>
                <a:pPr marL="0" indent="0">
                  <a:lnSpc>
                    <a:spcPts val="3600"/>
                  </a:lnSpc>
                  <a:buNone/>
                </a:pPr>
                <a:r>
                  <a:rPr lang="en-US" altLang="zh-CN" b="1" dirty="0">
                    <a:solidFill>
                      <a:srgbClr val="FF0000"/>
                    </a:solidFill>
                    <a:effectLst/>
                  </a:rPr>
                  <a:t>    </a:t>
                </a:r>
                <a:r>
                  <a:rPr lang="zh-CN" altLang="zh-CN" b="1" dirty="0">
                    <a:solidFill>
                      <a:srgbClr val="FF0000"/>
                    </a:solidFill>
                    <a:effectLst/>
                  </a:rPr>
                  <a:t>【例题】</a:t>
                </a:r>
                <a:r>
                  <a:rPr lang="zh-CN" altLang="zh-CN" b="1" dirty="0">
                    <a:solidFill>
                      <a:schemeClr val="tx1"/>
                    </a:solidFill>
                    <a:effectLst/>
                  </a:rPr>
                  <a:t>有无向连通图如</a:t>
                </a:r>
                <a:r>
                  <a:rPr lang="zh-CN" altLang="en-US" b="1" dirty="0">
                    <a:solidFill>
                      <a:schemeClr val="tx1"/>
                    </a:solidFill>
                    <a:effectLst/>
                  </a:rPr>
                  <a:t>下图</a:t>
                </a:r>
                <a:r>
                  <a:rPr lang="zh-CN" altLang="zh-CN" b="1" dirty="0">
                    <a:solidFill>
                      <a:schemeClr val="tx1"/>
                    </a:solidFill>
                    <a:effectLst/>
                  </a:rPr>
                  <a:t>所示，假设将结点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𝟏</m:t>
                        </m:r>
                      </m:sub>
                    </m:sSub>
                  </m:oMath>
                </a14:m>
                <a:r>
                  <a:rPr lang="zh-CN" altLang="zh-CN" b="1" dirty="0">
                    <a:solidFill>
                      <a:schemeClr val="tx1"/>
                    </a:solidFill>
                    <a:effectLst/>
                  </a:rPr>
                  <a:t>作为初始遍历点，即出发点，请写出此图的</a:t>
                </a:r>
                <a:r>
                  <a:rPr lang="en-US" altLang="zh-CN" b="1" dirty="0">
                    <a:solidFill>
                      <a:schemeClr val="tx1"/>
                    </a:solidFill>
                    <a:effectLst/>
                  </a:rPr>
                  <a:t>3</a:t>
                </a:r>
                <a:r>
                  <a:rPr lang="zh-CN" altLang="zh-CN" b="1" dirty="0">
                    <a:solidFill>
                      <a:schemeClr val="tx1"/>
                    </a:solidFill>
                    <a:effectLst/>
                  </a:rPr>
                  <a:t>种深度优先搜索序列（</a:t>
                </a:r>
                <a14:m>
                  <m:oMath xmlns:m="http://schemas.openxmlformats.org/officeDocument/2006/math">
                    <m:r>
                      <a:rPr lang="en-US" altLang="zh-CN" b="1" i="1">
                        <a:solidFill>
                          <a:schemeClr val="tx1"/>
                        </a:solidFill>
                        <a:effectLst/>
                        <a:latin typeface="Cambria Math" panose="02040503050406030204" pitchFamily="18" charset="0"/>
                      </a:rPr>
                      <m:t>𝑫𝑭𝑺</m:t>
                    </m:r>
                  </m:oMath>
                </a14:m>
                <a:r>
                  <a:rPr lang="zh-CN" altLang="zh-CN" b="1" dirty="0">
                    <a:solidFill>
                      <a:schemeClr val="tx1"/>
                    </a:solidFill>
                    <a:effectLst/>
                  </a:rPr>
                  <a:t>序列），并画出对应的深度优先搜索生成树。</a:t>
                </a:r>
                <a:endParaRPr lang="zh-CN" altLang="zh-CN" b="1" dirty="0">
                  <a:solidFill>
                    <a:srgbClr val="0000FF"/>
                  </a:solidFill>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674305" y="1705937"/>
                <a:ext cx="8434199" cy="1507039"/>
              </a:xfrm>
              <a:blipFill>
                <a:blip r:embed="rId2"/>
                <a:stretch>
                  <a:fillRect l="-1157" b="-3644"/>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5"/>
          <a:stretch>
            <a:fillRect/>
          </a:stretch>
        </p:blipFill>
        <p:spPr>
          <a:xfrm>
            <a:off x="3095836" y="3293810"/>
            <a:ext cx="2952328" cy="2907370"/>
          </a:xfrm>
          <a:prstGeom prst="rect">
            <a:avLst/>
          </a:prstGeom>
        </p:spPr>
      </p:pic>
    </p:spTree>
    <p:extLst>
      <p:ext uri="{BB962C8B-B14F-4D97-AF65-F5344CB8AC3E}">
        <p14:creationId xmlns:p14="http://schemas.microsoft.com/office/powerpoint/2010/main" val="714177669"/>
      </p:ext>
    </p:extLst>
  </p:cSld>
  <p:clrMapOvr>
    <a:masterClrMapping/>
  </p:clrMapOvr>
  <p:transition spd="med">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539552" y="1772816"/>
                <a:ext cx="8352928" cy="4608934"/>
              </a:xfrm>
              <a:solidFill>
                <a:schemeClr val="accent5"/>
              </a:solidFill>
              <a:ln>
                <a:noFill/>
              </a:ln>
            </p:spPr>
            <p:txBody>
              <a:bodyPr/>
              <a:lstStyle/>
              <a:p>
                <a:pPr marL="0" indent="0">
                  <a:lnSpc>
                    <a:spcPts val="3600"/>
                  </a:lnSpc>
                  <a:buNone/>
                </a:pPr>
                <a:r>
                  <a:rPr lang="en-US" altLang="zh-CN" b="1" dirty="0">
                    <a:solidFill>
                      <a:srgbClr val="FF0000"/>
                    </a:solidFill>
                    <a:effectLst/>
                  </a:rPr>
                  <a:t>     </a:t>
                </a:r>
                <a:r>
                  <a:rPr lang="zh-CN" altLang="zh-CN" b="1" dirty="0">
                    <a:solidFill>
                      <a:srgbClr val="FF0000"/>
                    </a:solidFill>
                    <a:effectLst/>
                  </a:rPr>
                  <a:t>【解】</a:t>
                </a:r>
                <a:r>
                  <a:rPr lang="zh-CN" altLang="zh-CN" b="1" dirty="0">
                    <a:solidFill>
                      <a:schemeClr val="tx1"/>
                    </a:solidFill>
                    <a:effectLst/>
                  </a:rPr>
                  <a:t>从顶点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𝟏</m:t>
                        </m:r>
                      </m:sub>
                    </m:sSub>
                  </m:oMath>
                </a14:m>
                <a:r>
                  <a:rPr lang="zh-CN" altLang="zh-CN" b="1" dirty="0">
                    <a:solidFill>
                      <a:schemeClr val="tx1"/>
                    </a:solidFill>
                    <a:effectLst/>
                  </a:rPr>
                  <a:t>出发进行深度优先遍历，获得的次序为：</a:t>
                </a:r>
              </a:p>
              <a:p>
                <a:pPr marL="0" indent="0">
                  <a:lnSpc>
                    <a:spcPts val="3600"/>
                  </a:lnSpc>
                  <a:buNone/>
                </a:pPr>
                <a:r>
                  <a:rPr lang="en-US" altLang="zh-CN" b="1" dirty="0">
                    <a:solidFill>
                      <a:schemeClr val="tx1"/>
                    </a:solidFill>
                    <a:effectLst/>
                  </a:rPr>
                  <a:t>     </a:t>
                </a:r>
                <a:r>
                  <a:rPr lang="zh-CN" altLang="zh-CN" b="1" dirty="0">
                    <a:solidFill>
                      <a:srgbClr val="CC00FF"/>
                    </a:solidFill>
                    <a:effectLst/>
                  </a:rPr>
                  <a:t>（</a:t>
                </a:r>
                <a:r>
                  <a:rPr lang="en-US" altLang="zh-CN" b="1" dirty="0">
                    <a:solidFill>
                      <a:srgbClr val="CC00FF"/>
                    </a:solidFill>
                    <a:effectLst/>
                  </a:rPr>
                  <a:t>1</a:t>
                </a:r>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𝟗</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𝟏𝟎</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𝟖</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𝟕</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𝟓</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𝟔</m:t>
                        </m:r>
                      </m:sub>
                    </m:sSub>
                  </m:oMath>
                </a14:m>
                <a:endParaRPr lang="zh-CN" altLang="zh-CN" b="1" dirty="0">
                  <a:solidFill>
                    <a:srgbClr val="CC00FF"/>
                  </a:solidFill>
                  <a:effectLst/>
                </a:endParaRPr>
              </a:p>
              <a:p>
                <a:pPr marL="0" indent="0">
                  <a:lnSpc>
                    <a:spcPts val="3600"/>
                  </a:lnSpc>
                  <a:buNone/>
                </a:pPr>
                <a:r>
                  <a:rPr lang="en-US" altLang="zh-CN" b="1" dirty="0">
                    <a:solidFill>
                      <a:srgbClr val="CC00FF"/>
                    </a:solidFill>
                    <a:effectLst/>
                  </a:rPr>
                  <a:t>     </a:t>
                </a:r>
                <a:r>
                  <a:rPr lang="zh-CN" altLang="zh-CN" b="1" dirty="0">
                    <a:solidFill>
                      <a:srgbClr val="CC00FF"/>
                    </a:solidFill>
                    <a:effectLst/>
                  </a:rPr>
                  <a:t>（</a:t>
                </a:r>
                <a:r>
                  <a:rPr lang="en-US" altLang="zh-CN" b="1" dirty="0">
                    <a:solidFill>
                      <a:srgbClr val="CC00FF"/>
                    </a:solidFill>
                    <a:effectLst/>
                  </a:rPr>
                  <a:t>2</a:t>
                </a:r>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𝟗</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𝟓</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𝟔</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𝟕</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𝟖</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𝟏𝟎</m:t>
                        </m:r>
                      </m:sub>
                    </m:sSub>
                  </m:oMath>
                </a14:m>
                <a:endParaRPr lang="zh-CN" altLang="zh-CN" b="1" dirty="0">
                  <a:solidFill>
                    <a:srgbClr val="CC00FF"/>
                  </a:solidFill>
                  <a:effectLst/>
                </a:endParaRPr>
              </a:p>
              <a:p>
                <a:pPr marL="0" indent="0">
                  <a:lnSpc>
                    <a:spcPts val="3600"/>
                  </a:lnSpc>
                  <a:buNone/>
                </a:pPr>
                <a:r>
                  <a:rPr lang="en-US" altLang="zh-CN" b="1" dirty="0">
                    <a:solidFill>
                      <a:srgbClr val="CC00FF"/>
                    </a:solidFill>
                    <a:effectLst/>
                  </a:rPr>
                  <a:t>     </a:t>
                </a:r>
                <a:r>
                  <a:rPr lang="zh-CN" altLang="zh-CN" b="1" dirty="0">
                    <a:solidFill>
                      <a:srgbClr val="CC00FF"/>
                    </a:solidFill>
                    <a:effectLst/>
                  </a:rPr>
                  <a:t>（</a:t>
                </a:r>
                <a:r>
                  <a:rPr lang="en-US" altLang="zh-CN" b="1" dirty="0">
                    <a:solidFill>
                      <a:srgbClr val="CC00FF"/>
                    </a:solidFill>
                    <a:effectLst/>
                  </a:rPr>
                  <a:t>3</a:t>
                </a:r>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𝟖</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𝟏𝟎</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𝟗</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𝟕</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𝟓</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𝟔</m:t>
                        </m:r>
                      </m:sub>
                    </m:sSub>
                  </m:oMath>
                </a14:m>
                <a:endParaRPr lang="zh-CN" altLang="zh-CN" b="1" dirty="0">
                  <a:solidFill>
                    <a:srgbClr val="CC00FF"/>
                  </a:solidFill>
                  <a:effectLst/>
                </a:endParaRPr>
              </a:p>
              <a:p>
                <a:pPr marL="0" indent="0">
                  <a:lnSpc>
                    <a:spcPts val="3600"/>
                  </a:lnSpc>
                  <a:buNone/>
                </a:pPr>
                <a:r>
                  <a:rPr lang="en-US" altLang="zh-CN" b="1" dirty="0">
                    <a:solidFill>
                      <a:schemeClr val="tx1"/>
                    </a:solidFill>
                    <a:effectLst/>
                  </a:rPr>
                  <a:t>       </a:t>
                </a:r>
                <a:r>
                  <a:rPr lang="zh-CN" altLang="zh-CN" b="1" dirty="0">
                    <a:solidFill>
                      <a:schemeClr val="tx1"/>
                    </a:solidFill>
                    <a:effectLst/>
                  </a:rPr>
                  <a:t>上述情形（</a:t>
                </a:r>
                <a:r>
                  <a:rPr lang="en-US" altLang="zh-CN" b="1" dirty="0">
                    <a:solidFill>
                      <a:schemeClr val="tx1"/>
                    </a:solidFill>
                    <a:effectLst/>
                  </a:rPr>
                  <a:t>1</a:t>
                </a:r>
                <a:r>
                  <a:rPr lang="zh-CN" altLang="zh-CN" b="1" dirty="0">
                    <a:solidFill>
                      <a:schemeClr val="tx1"/>
                    </a:solidFill>
                    <a:effectLst/>
                  </a:rPr>
                  <a:t>）、（</a:t>
                </a:r>
                <a:r>
                  <a:rPr lang="en-US" altLang="zh-CN" b="1" dirty="0">
                    <a:solidFill>
                      <a:schemeClr val="tx1"/>
                    </a:solidFill>
                    <a:effectLst/>
                  </a:rPr>
                  <a:t>2</a:t>
                </a:r>
                <a:r>
                  <a:rPr lang="zh-CN" altLang="zh-CN" b="1" dirty="0">
                    <a:solidFill>
                      <a:schemeClr val="tx1"/>
                    </a:solidFill>
                    <a:effectLst/>
                  </a:rPr>
                  <a:t>）（</a:t>
                </a:r>
                <a:r>
                  <a:rPr lang="en-US" altLang="zh-CN" b="1" dirty="0">
                    <a:solidFill>
                      <a:schemeClr val="tx1"/>
                    </a:solidFill>
                    <a:effectLst/>
                  </a:rPr>
                  <a:t>3</a:t>
                </a:r>
                <a:r>
                  <a:rPr lang="zh-CN" altLang="zh-CN" b="1" dirty="0">
                    <a:solidFill>
                      <a:schemeClr val="tx1"/>
                    </a:solidFill>
                    <a:effectLst/>
                  </a:rPr>
                  <a:t>）分别对应的深度优先生成树如图</a:t>
                </a:r>
                <a:r>
                  <a:rPr lang="en-US" altLang="zh-CN" b="1" dirty="0">
                    <a:solidFill>
                      <a:schemeClr val="tx1"/>
                    </a:solidFill>
                    <a:effectLst/>
                  </a:rPr>
                  <a:t>(b)</a:t>
                </a:r>
                <a:r>
                  <a:rPr lang="zh-CN" altLang="zh-CN" b="1" dirty="0">
                    <a:solidFill>
                      <a:schemeClr val="tx1"/>
                    </a:solidFill>
                    <a:effectLst/>
                  </a:rPr>
                  <a:t>、</a:t>
                </a:r>
                <a:r>
                  <a:rPr lang="en-US" altLang="zh-CN" b="1" dirty="0">
                    <a:solidFill>
                      <a:schemeClr val="tx1"/>
                    </a:solidFill>
                    <a:effectLst/>
                  </a:rPr>
                  <a:t>(c)</a:t>
                </a:r>
                <a:r>
                  <a:rPr lang="zh-CN" altLang="zh-CN" b="1" dirty="0">
                    <a:solidFill>
                      <a:schemeClr val="tx1"/>
                    </a:solidFill>
                    <a:effectLst/>
                  </a:rPr>
                  <a:t>、</a:t>
                </a:r>
                <a:r>
                  <a:rPr lang="en-US" altLang="zh-CN" b="1" dirty="0">
                    <a:solidFill>
                      <a:schemeClr val="tx1"/>
                    </a:solidFill>
                    <a:effectLst/>
                  </a:rPr>
                  <a:t>(d)</a:t>
                </a:r>
                <a:r>
                  <a:rPr lang="zh-CN" altLang="zh-CN" b="1" dirty="0">
                    <a:solidFill>
                      <a:schemeClr val="tx1"/>
                    </a:solidFill>
                    <a:effectLst/>
                  </a:rPr>
                  <a:t>。</a:t>
                </a: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539552" y="1772816"/>
                <a:ext cx="8352928" cy="4608934"/>
              </a:xfrm>
              <a:blipFill>
                <a:blip r:embed="rId2"/>
                <a:stretch>
                  <a:fillRect l="-1168" r="-584"/>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7922996"/>
      </p:ext>
    </p:extLst>
  </p:cSld>
  <p:clrMapOvr>
    <a:masterClrMapping/>
  </p:clrMapOvr>
  <p:transition spd="med">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197277" y="2969863"/>
            <a:ext cx="8893462" cy="3096344"/>
          </a:xfrm>
          <a:prstGeom prst="rect">
            <a:avLst/>
          </a:prstGeom>
        </p:spPr>
      </p:pic>
      <p:sp>
        <p:nvSpPr>
          <p:cNvPr id="4" name="矩形 3">
            <a:extLst>
              <a:ext uri="{FF2B5EF4-FFF2-40B4-BE49-F238E27FC236}">
                <a16:creationId xmlns:a16="http://schemas.microsoft.com/office/drawing/2014/main" id="{0B1C2294-6AA4-4352-9183-FDD7DD79F34F}"/>
              </a:ext>
            </a:extLst>
          </p:cNvPr>
          <p:cNvSpPr/>
          <p:nvPr/>
        </p:nvSpPr>
        <p:spPr>
          <a:xfrm>
            <a:off x="467544" y="1700213"/>
            <a:ext cx="8352928" cy="1050609"/>
          </a:xfrm>
          <a:prstGeom prst="rect">
            <a:avLst/>
          </a:prstGeom>
          <a:solidFill>
            <a:schemeClr val="accent5"/>
          </a:solidFill>
        </p:spPr>
        <p:txBody>
          <a:bodyPr wrap="square">
            <a:spAutoFit/>
          </a:bodyPr>
          <a:lstStyle/>
          <a:p>
            <a:pPr>
              <a:lnSpc>
                <a:spcPts val="4000"/>
              </a:lnSpc>
            </a:pPr>
            <a:r>
              <a:rPr lang="en-US" altLang="zh-CN" sz="2800" b="1" dirty="0">
                <a:solidFill>
                  <a:schemeClr val="tx1"/>
                </a:solidFill>
              </a:rPr>
              <a:t>   </a:t>
            </a:r>
            <a:r>
              <a:rPr lang="en-US" altLang="zh-CN" sz="2800" b="1" dirty="0"/>
              <a:t>【</a:t>
            </a:r>
            <a:r>
              <a:rPr lang="zh-CN" altLang="en-US" sz="2800" b="1" dirty="0"/>
              <a:t>解</a:t>
            </a:r>
            <a:r>
              <a:rPr lang="en-US" altLang="zh-CN" sz="2800" b="1" dirty="0"/>
              <a:t>(</a:t>
            </a:r>
            <a:r>
              <a:rPr lang="zh-CN" altLang="en-US" sz="2800" b="1" dirty="0"/>
              <a:t>续</a:t>
            </a:r>
            <a:r>
              <a:rPr lang="en-US" altLang="zh-CN" sz="2800" b="1" dirty="0"/>
              <a:t>)】</a:t>
            </a:r>
            <a:r>
              <a:rPr lang="zh-CN" altLang="zh-CN" sz="2800" b="1" dirty="0">
                <a:solidFill>
                  <a:schemeClr val="tx1"/>
                </a:solidFill>
              </a:rPr>
              <a:t>上述情形（</a:t>
            </a:r>
            <a:r>
              <a:rPr lang="en-US" altLang="zh-CN" sz="2800" b="1" dirty="0">
                <a:solidFill>
                  <a:schemeClr val="tx1"/>
                </a:solidFill>
              </a:rPr>
              <a:t>1</a:t>
            </a:r>
            <a:r>
              <a:rPr lang="zh-CN" altLang="zh-CN" sz="2800" b="1" dirty="0">
                <a:solidFill>
                  <a:schemeClr val="tx1"/>
                </a:solidFill>
              </a:rPr>
              <a:t>）、（</a:t>
            </a:r>
            <a:r>
              <a:rPr lang="en-US" altLang="zh-CN" sz="2800" b="1" dirty="0">
                <a:solidFill>
                  <a:schemeClr val="tx1"/>
                </a:solidFill>
              </a:rPr>
              <a:t>2</a:t>
            </a:r>
            <a:r>
              <a:rPr lang="zh-CN" altLang="zh-CN" sz="2800" b="1" dirty="0">
                <a:solidFill>
                  <a:schemeClr val="tx1"/>
                </a:solidFill>
              </a:rPr>
              <a:t>）（</a:t>
            </a:r>
            <a:r>
              <a:rPr lang="en-US" altLang="zh-CN" sz="2800" b="1" dirty="0">
                <a:solidFill>
                  <a:schemeClr val="tx1"/>
                </a:solidFill>
              </a:rPr>
              <a:t>3</a:t>
            </a:r>
            <a:r>
              <a:rPr lang="zh-CN" altLang="zh-CN" sz="2800" b="1" dirty="0">
                <a:solidFill>
                  <a:schemeClr val="tx1"/>
                </a:solidFill>
              </a:rPr>
              <a:t>）分别对应的深度优先生成树如图</a:t>
            </a:r>
            <a:r>
              <a:rPr lang="en-US" altLang="zh-CN" sz="2800" b="1" dirty="0">
                <a:solidFill>
                  <a:schemeClr val="tx1"/>
                </a:solidFill>
              </a:rPr>
              <a:t>(b)</a:t>
            </a:r>
            <a:r>
              <a:rPr lang="zh-CN" altLang="zh-CN" sz="2800" b="1" dirty="0">
                <a:solidFill>
                  <a:schemeClr val="tx1"/>
                </a:solidFill>
              </a:rPr>
              <a:t>、</a:t>
            </a:r>
            <a:r>
              <a:rPr lang="en-US" altLang="zh-CN" sz="2800" b="1" dirty="0">
                <a:solidFill>
                  <a:schemeClr val="tx1"/>
                </a:solidFill>
              </a:rPr>
              <a:t>(c)</a:t>
            </a:r>
            <a:r>
              <a:rPr lang="zh-CN" altLang="zh-CN" sz="2800" b="1" dirty="0">
                <a:solidFill>
                  <a:schemeClr val="tx1"/>
                </a:solidFill>
              </a:rPr>
              <a:t>、</a:t>
            </a:r>
            <a:r>
              <a:rPr lang="en-US" altLang="zh-CN" sz="2800" b="1" dirty="0">
                <a:solidFill>
                  <a:schemeClr val="tx1"/>
                </a:solidFill>
              </a:rPr>
              <a:t>(d)</a:t>
            </a:r>
            <a:r>
              <a:rPr lang="zh-CN" altLang="zh-CN" sz="2800" b="1" dirty="0">
                <a:solidFill>
                  <a:schemeClr val="tx1"/>
                </a:solidFill>
              </a:rPr>
              <a:t>。</a:t>
            </a:r>
            <a:endParaRPr lang="zh-CN" altLang="en-US" sz="2800" dirty="0"/>
          </a:p>
        </p:txBody>
      </p:sp>
    </p:spTree>
    <p:extLst>
      <p:ext uri="{BB962C8B-B14F-4D97-AF65-F5344CB8AC3E}">
        <p14:creationId xmlns:p14="http://schemas.microsoft.com/office/powerpoint/2010/main" val="3368258562"/>
      </p:ext>
    </p:extLst>
  </p:cSld>
  <p:clrMapOvr>
    <a:masterClrMapping/>
  </p:clrMapOvr>
  <p:transition spd="med">
    <p:wipe dir="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103</a:t>
            </a:fld>
            <a:endParaRPr lang="en-US" altLang="zh-CN" sz="1400" b="1">
              <a:latin typeface="Times New Roman" panose="02020603050405020304" pitchFamily="18" charset="0"/>
              <a:ea typeface="宋体" panose="02010600030101010101" pitchFamily="2" charset="-122"/>
            </a:endParaRPr>
          </a:p>
        </p:txBody>
      </p:sp>
      <p:sp>
        <p:nvSpPr>
          <p:cNvPr id="34821"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图的基本算法</a:t>
            </a:r>
          </a:p>
        </p:txBody>
      </p:sp>
      <p:sp>
        <p:nvSpPr>
          <p:cNvPr id="34822" name="Rectangle 3"/>
          <p:cNvSpPr>
            <a:spLocks noGrp="1" noChangeArrowheads="1"/>
          </p:cNvSpPr>
          <p:nvPr>
            <p:ph type="body" idx="4294967295"/>
          </p:nvPr>
        </p:nvSpPr>
        <p:spPr>
          <a:xfrm>
            <a:off x="2580953" y="2181201"/>
            <a:ext cx="3791247" cy="3552055"/>
          </a:xfrm>
          <a:noFill/>
        </p:spPr>
        <p:txBody>
          <a:bodyPr lIns="92075" tIns="46038" rIns="92075" bIns="46038"/>
          <a:lstStyle/>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深度优先遍历</a:t>
            </a:r>
          </a:p>
          <a:p>
            <a:pPr eaLnBrk="1" hangingPunct="1">
              <a:lnSpc>
                <a:spcPct val="140000"/>
              </a:lnSpc>
              <a:buFont typeface="Wingdings" panose="05000000000000000000" pitchFamily="2" charset="2"/>
              <a:buChar char="J"/>
            </a:pPr>
            <a:r>
              <a:rPr lang="zh-CN" altLang="en-US" sz="3600" b="1" dirty="0">
                <a:solidFill>
                  <a:schemeClr val="accent2"/>
                </a:solidFill>
                <a:effectLst/>
                <a:latin typeface="黑体" panose="02010609060101010101" pitchFamily="49" charset="-122"/>
                <a:ea typeface="黑体" panose="02010609060101010101" pitchFamily="49" charset="-122"/>
                <a:cs typeface="楷体_GB2312" pitchFamily="49" charset="-122"/>
              </a:rPr>
              <a:t> 广度优先遍历 </a:t>
            </a:r>
            <a:endParaRPr lang="en-US" altLang="zh-CN" sz="3600" b="1" dirty="0">
              <a:solidFill>
                <a:schemeClr val="accent2"/>
              </a:solidFill>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单源最短路径</a:t>
            </a:r>
            <a:endParaRPr lang="en-US" altLang="zh-CN" sz="3600" b="1" dirty="0">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多源最短路径</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7276035"/>
      </p:ext>
    </p:extLst>
  </p:cSld>
  <p:clrMapOvr>
    <a:masterClrMapping/>
  </p:clrMapOvr>
  <p:transition spd="med">
    <p:wipe dir="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403648" y="676274"/>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广度优先遍历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87FB4D44-93CD-4F6E-9FA9-575705FF5E23}"/>
              </a:ext>
            </a:extLst>
          </p:cNvPr>
          <p:cNvPicPr>
            <a:picLocks noChangeAspect="1"/>
          </p:cNvPicPr>
          <p:nvPr/>
        </p:nvPicPr>
        <p:blipFill>
          <a:blip r:embed="rId4"/>
          <a:stretch>
            <a:fillRect/>
          </a:stretch>
        </p:blipFill>
        <p:spPr>
          <a:xfrm>
            <a:off x="899592" y="1638537"/>
            <a:ext cx="7482697" cy="4651921"/>
          </a:xfrm>
          <a:prstGeom prst="rect">
            <a:avLst/>
          </a:prstGeom>
        </p:spPr>
      </p:pic>
    </p:spTree>
    <p:extLst>
      <p:ext uri="{BB962C8B-B14F-4D97-AF65-F5344CB8AC3E}">
        <p14:creationId xmlns:p14="http://schemas.microsoft.com/office/powerpoint/2010/main" val="174787653"/>
      </p:ext>
    </p:extLst>
  </p:cSld>
  <p:clrMapOvr>
    <a:masterClrMapping/>
  </p:clrMapOvr>
  <p:transition spd="med">
    <p:wipe dir="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广度优先遍历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68C260EC-562D-4663-BAEC-846CDCE57F69}"/>
              </a:ext>
            </a:extLst>
          </p:cNvPr>
          <p:cNvPicPr>
            <a:picLocks noChangeAspect="1"/>
          </p:cNvPicPr>
          <p:nvPr/>
        </p:nvPicPr>
        <p:blipFill>
          <a:blip r:embed="rId4"/>
          <a:stretch>
            <a:fillRect/>
          </a:stretch>
        </p:blipFill>
        <p:spPr>
          <a:xfrm>
            <a:off x="395536" y="1700213"/>
            <a:ext cx="8280920" cy="4611908"/>
          </a:xfrm>
          <a:prstGeom prst="rect">
            <a:avLst/>
          </a:prstGeom>
        </p:spPr>
      </p:pic>
    </p:spTree>
    <p:extLst>
      <p:ext uri="{BB962C8B-B14F-4D97-AF65-F5344CB8AC3E}">
        <p14:creationId xmlns:p14="http://schemas.microsoft.com/office/powerpoint/2010/main" val="3684434084"/>
      </p:ext>
    </p:extLst>
  </p:cSld>
  <p:clrMapOvr>
    <a:masterClrMapping/>
  </p:clrMapOvr>
  <p:transition spd="med">
    <p:wipe dir="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35496" y="1772816"/>
                <a:ext cx="9108504" cy="4465924"/>
              </a:xfrm>
              <a:solidFill>
                <a:schemeClr val="accent5"/>
              </a:solidFill>
              <a:ln>
                <a:noFill/>
              </a:ln>
            </p:spPr>
            <p:txBody>
              <a:bodyPr/>
              <a:lstStyle/>
              <a:p>
                <a:pPr marL="0" indent="0">
                  <a:lnSpc>
                    <a:spcPts val="3200"/>
                  </a:lnSpc>
                  <a:buNone/>
                </a:pPr>
                <a:r>
                  <a:rPr lang="zh-CN" altLang="en-US" b="1" dirty="0">
                    <a:solidFill>
                      <a:srgbClr val="0000FF"/>
                    </a:solidFill>
                    <a:effectLst/>
                    <a:latin typeface="+mn-ea"/>
                  </a:rPr>
                  <a:t>广度优先</a:t>
                </a:r>
                <a:r>
                  <a:rPr lang="zh-CN" altLang="zh-CN" b="1" dirty="0">
                    <a:solidFill>
                      <a:srgbClr val="0000FF"/>
                    </a:solidFill>
                    <a:effectLst/>
                    <a:latin typeface="+mn-ea"/>
                  </a:rPr>
                  <a:t>算法</a:t>
                </a:r>
                <a:r>
                  <a:rPr lang="zh-CN" altLang="en-US" b="1" dirty="0">
                    <a:solidFill>
                      <a:srgbClr val="0000FF"/>
                    </a:solidFill>
                    <a:effectLst/>
                    <a:latin typeface="+mn-ea"/>
                  </a:rPr>
                  <a:t>步骤</a:t>
                </a:r>
                <a:r>
                  <a:rPr lang="zh-CN" altLang="zh-CN" b="1" dirty="0">
                    <a:solidFill>
                      <a:srgbClr val="0000FF"/>
                    </a:solidFill>
                    <a:effectLst/>
                    <a:latin typeface="+mn-ea"/>
                  </a:rPr>
                  <a:t>：</a:t>
                </a:r>
              </a:p>
              <a:p>
                <a:pPr marL="0" indent="0">
                  <a:lnSpc>
                    <a:spcPts val="3200"/>
                  </a:lnSpc>
                  <a:buNone/>
                </a:pPr>
                <a:r>
                  <a:rPr lang="en-US" altLang="zh-CN" b="1" dirty="0">
                    <a:solidFill>
                      <a:schemeClr val="tx1"/>
                    </a:solidFill>
                    <a:effectLst/>
                    <a:latin typeface="+mn-ea"/>
                  </a:rPr>
                  <a:t>    </a:t>
                </a:r>
                <a:r>
                  <a:rPr lang="zh-CN" altLang="zh-CN" b="1" dirty="0">
                    <a:solidFill>
                      <a:schemeClr val="tx1"/>
                    </a:solidFill>
                    <a:effectLst/>
                    <a:latin typeface="+mn-ea"/>
                  </a:rPr>
                  <a:t>（</a:t>
                </a:r>
                <a:r>
                  <a:rPr lang="en-US" altLang="zh-CN" b="1" dirty="0">
                    <a:solidFill>
                      <a:schemeClr val="tx1"/>
                    </a:solidFill>
                    <a:effectLst/>
                    <a:latin typeface="+mn-ea"/>
                  </a:rPr>
                  <a:t>1</a:t>
                </a:r>
                <a:r>
                  <a:rPr lang="zh-CN" altLang="zh-CN" b="1" dirty="0">
                    <a:solidFill>
                      <a:schemeClr val="tx1"/>
                    </a:solidFill>
                    <a:effectLst/>
                    <a:latin typeface="+mn-ea"/>
                  </a:rPr>
                  <a:t>）首先确定一个出发点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oMath>
                </a14:m>
                <a:r>
                  <a:rPr lang="zh-CN" altLang="zh-CN" b="1" dirty="0">
                    <a:solidFill>
                      <a:schemeClr val="tx1"/>
                    </a:solidFill>
                    <a:effectLst/>
                    <a:latin typeface="+mn-ea"/>
                  </a:rPr>
                  <a:t>，访问并将其标记为已访问</a:t>
                </a:r>
                <a:r>
                  <a:rPr lang="zh-CN" altLang="en-US" b="1" dirty="0">
                    <a:solidFill>
                      <a:schemeClr val="tx1"/>
                    </a:solidFill>
                    <a:effectLst/>
                    <a:latin typeface="+mn-ea"/>
                  </a:rPr>
                  <a:t>；</a:t>
                </a:r>
                <a:endParaRPr lang="zh-CN" altLang="zh-CN" b="1" dirty="0">
                  <a:solidFill>
                    <a:schemeClr val="tx1"/>
                  </a:solidFill>
                  <a:effectLst/>
                  <a:latin typeface="+mn-ea"/>
                </a:endParaRPr>
              </a:p>
              <a:p>
                <a:pPr marL="0" indent="0">
                  <a:lnSpc>
                    <a:spcPts val="3200"/>
                  </a:lnSpc>
                  <a:buNone/>
                </a:pPr>
                <a:r>
                  <a:rPr lang="en-US" altLang="zh-CN" b="1" dirty="0">
                    <a:solidFill>
                      <a:srgbClr val="0000FF"/>
                    </a:solidFill>
                    <a:effectLst/>
                    <a:latin typeface="+mn-ea"/>
                  </a:rPr>
                  <a:t>    </a:t>
                </a:r>
                <a:r>
                  <a:rPr lang="zh-CN" altLang="zh-CN" b="1" dirty="0">
                    <a:solidFill>
                      <a:srgbClr val="0000FF"/>
                    </a:solidFill>
                    <a:effectLst/>
                    <a:latin typeface="+mn-ea"/>
                  </a:rPr>
                  <a:t>（</a:t>
                </a:r>
                <a:r>
                  <a:rPr lang="en-US" altLang="zh-CN" b="1" dirty="0">
                    <a:solidFill>
                      <a:srgbClr val="0000FF"/>
                    </a:solidFill>
                    <a:effectLst/>
                    <a:latin typeface="+mn-ea"/>
                  </a:rPr>
                  <a:t>2</a:t>
                </a:r>
                <a:r>
                  <a:rPr lang="zh-CN" altLang="zh-CN" b="1" dirty="0">
                    <a:solidFill>
                      <a:srgbClr val="0000FF"/>
                    </a:solidFill>
                    <a:effectLst/>
                    <a:latin typeface="+mn-ea"/>
                  </a:rPr>
                  <a:t>）依次访问</a:t>
                </a:r>
                <a14:m>
                  <m:oMath xmlns:m="http://schemas.openxmlformats.org/officeDocument/2006/math">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𝒊</m:t>
                        </m:r>
                      </m:sub>
                    </m:sSub>
                    <m:r>
                      <a:rPr lang="en-US" altLang="zh-CN" b="1" i="1">
                        <a:solidFill>
                          <a:srgbClr val="0000FF"/>
                        </a:solidFill>
                        <a:effectLst/>
                        <a:latin typeface="Cambria Math" panose="02040503050406030204" pitchFamily="18" charset="0"/>
                      </a:rPr>
                      <m:t> </m:t>
                    </m:r>
                  </m:oMath>
                </a14:m>
                <a:r>
                  <a:rPr lang="zh-CN" altLang="zh-CN" b="1" dirty="0">
                    <a:solidFill>
                      <a:srgbClr val="0000FF"/>
                    </a:solidFill>
                    <a:effectLst/>
                    <a:latin typeface="+mn-ea"/>
                  </a:rPr>
                  <a:t>的每个尚未访问邻接点</a:t>
                </a:r>
                <a14:m>
                  <m:oMath xmlns:m="http://schemas.openxmlformats.org/officeDocument/2006/math">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𝒊</m:t>
                        </m:r>
                      </m:sub>
                    </m:sSub>
                    <m:r>
                      <a:rPr lang="en-US" altLang="zh-CN" b="1" i="1">
                        <a:solidFill>
                          <a:srgbClr val="0000FF"/>
                        </a:solidFill>
                        <a:effectLst/>
                        <a:latin typeface="Cambria Math" panose="02040503050406030204" pitchFamily="18" charset="0"/>
                      </a:rPr>
                      <m:t>,</m:t>
                    </m:r>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𝒊</m:t>
                        </m:r>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𝟏</m:t>
                        </m:r>
                      </m:sub>
                    </m:sSub>
                    <m:r>
                      <a:rPr lang="en-US" altLang="zh-CN" b="1" i="1">
                        <a:solidFill>
                          <a:srgbClr val="0000FF"/>
                        </a:solidFill>
                        <a:effectLst/>
                        <a:latin typeface="Cambria Math" panose="02040503050406030204" pitchFamily="18" charset="0"/>
                      </a:rPr>
                      <m:t>,</m:t>
                    </m:r>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𝒊</m:t>
                        </m:r>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𝟐</m:t>
                        </m:r>
                      </m:sub>
                    </m:sSub>
                    <m:r>
                      <a:rPr lang="en-US" altLang="zh-CN" b="1" i="1">
                        <a:solidFill>
                          <a:srgbClr val="0000FF"/>
                        </a:solidFill>
                        <a:effectLst/>
                        <a:latin typeface="Cambria Math" panose="02040503050406030204" pitchFamily="18" charset="0"/>
                      </a:rPr>
                      <m:t>…</m:t>
                    </m:r>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𝒊</m:t>
                        </m:r>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𝒌</m:t>
                        </m:r>
                      </m:sub>
                    </m:sSub>
                  </m:oMath>
                </a14:m>
                <a:r>
                  <a:rPr lang="zh-CN" altLang="en-US" b="1" dirty="0">
                    <a:effectLst/>
                    <a:latin typeface="+mn-ea"/>
                  </a:rPr>
                  <a:t>；</a:t>
                </a:r>
                <a:endParaRPr lang="zh-CN" altLang="zh-CN" b="1" dirty="0">
                  <a:effectLst/>
                  <a:latin typeface="+mn-ea"/>
                </a:endParaRPr>
              </a:p>
              <a:p>
                <a:pPr marL="0" indent="0">
                  <a:lnSpc>
                    <a:spcPts val="3200"/>
                  </a:lnSpc>
                  <a:buNone/>
                </a:pPr>
                <a:r>
                  <a:rPr lang="en-US" altLang="zh-CN" b="1" dirty="0">
                    <a:solidFill>
                      <a:schemeClr val="tx1"/>
                    </a:solidFill>
                    <a:effectLst/>
                    <a:latin typeface="+mn-ea"/>
                  </a:rPr>
                  <a:t>    </a:t>
                </a:r>
                <a:r>
                  <a:rPr lang="zh-CN" altLang="zh-CN" b="1" dirty="0">
                    <a:solidFill>
                      <a:schemeClr val="tx1"/>
                    </a:solidFill>
                    <a:effectLst/>
                    <a:latin typeface="+mn-ea"/>
                  </a:rPr>
                  <a:t>（</a:t>
                </a:r>
                <a:r>
                  <a:rPr lang="en-US" altLang="zh-CN" b="1" dirty="0">
                    <a:solidFill>
                      <a:schemeClr val="tx1"/>
                    </a:solidFill>
                    <a:effectLst/>
                    <a:latin typeface="+mn-ea"/>
                  </a:rPr>
                  <a:t>3</a:t>
                </a:r>
                <a:r>
                  <a:rPr lang="zh-CN" altLang="zh-CN" b="1" dirty="0">
                    <a:solidFill>
                      <a:schemeClr val="tx1"/>
                    </a:solidFill>
                    <a:effectLst/>
                    <a:latin typeface="+mn-ea"/>
                  </a:rPr>
                  <a:t>）分别将这些邻接点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𝟏</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𝟐</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𝒌</m:t>
                        </m:r>
                      </m:sub>
                    </m:sSub>
                  </m:oMath>
                </a14:m>
                <a:r>
                  <a:rPr lang="zh-CN" altLang="zh-CN" b="1" dirty="0">
                    <a:solidFill>
                      <a:schemeClr val="tx1"/>
                    </a:solidFill>
                    <a:effectLst/>
                    <a:latin typeface="+mn-ea"/>
                  </a:rPr>
                  <a:t>作为遍历点，依次访问每个遍历点的尚未访问的邻接点并标记为已访问，同时要记录每个邻接点被访问的顺序，在访问完所有邻接点之后应该按照这个顺序，将这些邻接点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𝟏</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𝟐</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𝒌</m:t>
                        </m:r>
                      </m:sub>
                    </m:sSub>
                  </m:oMath>
                </a14:m>
                <a:r>
                  <a:rPr lang="zh-CN" altLang="zh-CN" b="1" dirty="0">
                    <a:solidFill>
                      <a:schemeClr val="tx1"/>
                    </a:solidFill>
                    <a:effectLst/>
                    <a:latin typeface="+mn-ea"/>
                  </a:rPr>
                  <a:t>分别作为当前遍历点进行广度优先搜索），依次类推，直到所有结点都被访问完为止。</a:t>
                </a:r>
              </a:p>
              <a:p>
                <a:pPr marL="0" indent="0">
                  <a:lnSpc>
                    <a:spcPts val="3200"/>
                  </a:lnSpc>
                  <a:buNone/>
                </a:pPr>
                <a:r>
                  <a:rPr lang="en-US" altLang="zh-CN" b="1" dirty="0">
                    <a:solidFill>
                      <a:srgbClr val="0000FF"/>
                    </a:solidFill>
                    <a:effectLst/>
                    <a:latin typeface="+mn-ea"/>
                  </a:rPr>
                  <a:t>    </a:t>
                </a:r>
                <a:r>
                  <a:rPr lang="zh-CN" altLang="zh-CN" b="1" dirty="0">
                    <a:solidFill>
                      <a:srgbClr val="0000FF"/>
                    </a:solidFill>
                    <a:effectLst/>
                    <a:latin typeface="+mn-ea"/>
                  </a:rPr>
                  <a:t>（</a:t>
                </a:r>
                <a:r>
                  <a:rPr lang="en-US" altLang="zh-CN" b="1" dirty="0">
                    <a:solidFill>
                      <a:srgbClr val="0000FF"/>
                    </a:solidFill>
                    <a:effectLst/>
                    <a:latin typeface="+mn-ea"/>
                  </a:rPr>
                  <a:t>4</a:t>
                </a:r>
                <a:r>
                  <a:rPr lang="zh-CN" altLang="zh-CN" b="1" dirty="0">
                    <a:solidFill>
                      <a:srgbClr val="0000FF"/>
                    </a:solidFill>
                    <a:effectLst/>
                    <a:latin typeface="+mn-ea"/>
                  </a:rPr>
                  <a:t>）若此时还有顶点未被访问，则继续选一个未被访问的顶点作为起始点，重复上述过程，直至所有顶点均被访问过为止</a:t>
                </a:r>
                <a:r>
                  <a:rPr lang="zh-CN" altLang="en-US" b="1" dirty="0">
                    <a:solidFill>
                      <a:srgbClr val="0000FF"/>
                    </a:solidFill>
                    <a:effectLst/>
                    <a:latin typeface="+mn-ea"/>
                  </a:rPr>
                  <a:t>。</a:t>
                </a:r>
                <a:endParaRPr lang="zh-CN" altLang="zh-CN" b="1" dirty="0">
                  <a:solidFill>
                    <a:srgbClr val="0000FF"/>
                  </a:solidFill>
                  <a:effectLst/>
                  <a:latin typeface="+mn-ea"/>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35496" y="1772816"/>
                <a:ext cx="9108504" cy="4465924"/>
              </a:xfrm>
              <a:blipFill>
                <a:blip r:embed="rId2"/>
                <a:stretch>
                  <a:fillRect l="-1071" t="-820" r="-669" b="-2186"/>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403648" y="676274"/>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广度优先遍历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1952682"/>
      </p:ext>
    </p:extLst>
  </p:cSld>
  <p:clrMapOvr>
    <a:masterClrMapping/>
  </p:clrMapOvr>
  <p:transition spd="med">
    <p:wipe dir="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广度优先遍历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112E65CD-04E9-42B6-A56B-C6050D7C329D}"/>
              </a:ext>
            </a:extLst>
          </p:cNvPr>
          <p:cNvPicPr>
            <a:picLocks noChangeAspect="1"/>
          </p:cNvPicPr>
          <p:nvPr/>
        </p:nvPicPr>
        <p:blipFill>
          <a:blip r:embed="rId4"/>
          <a:stretch>
            <a:fillRect/>
          </a:stretch>
        </p:blipFill>
        <p:spPr>
          <a:xfrm>
            <a:off x="4572000" y="2180584"/>
            <a:ext cx="4264976" cy="3719416"/>
          </a:xfrm>
          <a:prstGeom prst="rect">
            <a:avLst/>
          </a:prstGeom>
        </p:spPr>
      </p:pic>
      <p:pic>
        <p:nvPicPr>
          <p:cNvPr id="4" name="图片 3">
            <a:extLst>
              <a:ext uri="{FF2B5EF4-FFF2-40B4-BE49-F238E27FC236}">
                <a16:creationId xmlns:a16="http://schemas.microsoft.com/office/drawing/2014/main" id="{8E0BEFFF-48C5-4964-AF53-ACD5671B8846}"/>
              </a:ext>
            </a:extLst>
          </p:cNvPr>
          <p:cNvPicPr>
            <a:picLocks noChangeAspect="1"/>
          </p:cNvPicPr>
          <p:nvPr/>
        </p:nvPicPr>
        <p:blipFill>
          <a:blip r:embed="rId5"/>
          <a:stretch>
            <a:fillRect/>
          </a:stretch>
        </p:blipFill>
        <p:spPr>
          <a:xfrm>
            <a:off x="179512" y="2206962"/>
            <a:ext cx="4210860" cy="3719416"/>
          </a:xfrm>
          <a:prstGeom prst="rect">
            <a:avLst/>
          </a:prstGeom>
        </p:spPr>
      </p:pic>
    </p:spTree>
    <p:extLst>
      <p:ext uri="{BB962C8B-B14F-4D97-AF65-F5344CB8AC3E}">
        <p14:creationId xmlns:p14="http://schemas.microsoft.com/office/powerpoint/2010/main" val="959218076"/>
      </p:ext>
    </p:extLst>
  </p:cSld>
  <p:clrMapOvr>
    <a:masterClrMapping/>
  </p:clrMapOvr>
  <p:transition spd="med">
    <p:wipe dir="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467544" y="1684336"/>
                <a:ext cx="8207499" cy="4729425"/>
              </a:xfrm>
              <a:solidFill>
                <a:schemeClr val="accent5"/>
              </a:solidFill>
              <a:ln>
                <a:noFill/>
              </a:ln>
            </p:spPr>
            <p:txBody>
              <a:bodyPr/>
              <a:lstStyle/>
              <a:p>
                <a:pPr marL="0" indent="0">
                  <a:lnSpc>
                    <a:spcPts val="3800"/>
                  </a:lnSpc>
                  <a:buNone/>
                </a:pPr>
                <a:r>
                  <a:rPr lang="en-US" altLang="zh-CN" b="1" dirty="0">
                    <a:solidFill>
                      <a:srgbClr val="0000FF"/>
                    </a:solidFill>
                    <a:effectLst/>
                  </a:rPr>
                  <a:t>       </a:t>
                </a:r>
                <a:r>
                  <a:rPr lang="zh-CN" altLang="zh-CN" b="1" dirty="0">
                    <a:effectLst/>
                  </a:rPr>
                  <a:t>在对图</a:t>
                </a:r>
                <a:r>
                  <a:rPr lang="zh-CN" altLang="en-US" b="1" dirty="0">
                    <a:effectLst/>
                  </a:rPr>
                  <a:t>模型</a:t>
                </a:r>
                <a:r>
                  <a:rPr lang="zh-CN" altLang="zh-CN" b="1" dirty="0">
                    <a:effectLst/>
                  </a:rPr>
                  <a:t>进行广度优先遍历时，按照结点的先后的被访问次序所组成的序列，称为</a:t>
                </a:r>
                <a:r>
                  <a:rPr lang="zh-CN" altLang="zh-CN" b="1" dirty="0">
                    <a:solidFill>
                      <a:srgbClr val="CC00FF"/>
                    </a:solidFill>
                    <a:effectLst/>
                  </a:rPr>
                  <a:t>广度优先搜索序列</a:t>
                </a:r>
                <a:r>
                  <a:rPr lang="zh-CN" altLang="zh-CN" b="1" dirty="0">
                    <a:effectLst/>
                  </a:rPr>
                  <a:t>，简称</a:t>
                </a:r>
                <a14:m>
                  <m:oMath xmlns:m="http://schemas.openxmlformats.org/officeDocument/2006/math">
                    <m:r>
                      <a:rPr lang="en-US" altLang="zh-CN" b="1" i="1" smtClean="0">
                        <a:solidFill>
                          <a:srgbClr val="CC00FF"/>
                        </a:solidFill>
                        <a:effectLst/>
                        <a:latin typeface="Cambria Math" panose="02040503050406030204" pitchFamily="18" charset="0"/>
                      </a:rPr>
                      <m:t>𝑩𝑭𝑺</m:t>
                    </m:r>
                  </m:oMath>
                </a14:m>
                <a:r>
                  <a:rPr lang="zh-CN" altLang="zh-CN" b="1" dirty="0">
                    <a:solidFill>
                      <a:srgbClr val="CC00FF"/>
                    </a:solidFill>
                    <a:effectLst/>
                  </a:rPr>
                  <a:t>序列</a:t>
                </a:r>
                <a:r>
                  <a:rPr lang="zh-CN" altLang="zh-CN" b="1" dirty="0">
                    <a:solidFill>
                      <a:srgbClr val="800080"/>
                    </a:solidFill>
                    <a:effectLst/>
                  </a:rPr>
                  <a:t>。</a:t>
                </a:r>
                <a:endParaRPr lang="en-US" altLang="zh-CN" b="1" dirty="0">
                  <a:solidFill>
                    <a:srgbClr val="800080"/>
                  </a:solidFill>
                  <a:effectLst/>
                </a:endParaRPr>
              </a:p>
              <a:p>
                <a:pPr marL="0" indent="0">
                  <a:lnSpc>
                    <a:spcPts val="3800"/>
                  </a:lnSpc>
                  <a:buNone/>
                </a:pPr>
                <a:r>
                  <a:rPr lang="en-US" altLang="zh-CN" b="1" dirty="0">
                    <a:solidFill>
                      <a:srgbClr val="0000FF"/>
                    </a:solidFill>
                    <a:effectLst/>
                  </a:rPr>
                  <a:t>       </a:t>
                </a:r>
                <a:r>
                  <a:rPr lang="zh-CN" altLang="zh-CN" b="1" dirty="0">
                    <a:solidFill>
                      <a:schemeClr val="tx1"/>
                    </a:solidFill>
                    <a:effectLst/>
                  </a:rPr>
                  <a:t>对于连通图，由广度优先搜索算法进行遍历得到的结点次序（</a:t>
                </a:r>
                <a14:m>
                  <m:oMath xmlns:m="http://schemas.openxmlformats.org/officeDocument/2006/math">
                    <m:r>
                      <a:rPr lang="en-US" altLang="zh-CN" b="1" i="1">
                        <a:solidFill>
                          <a:schemeClr val="tx1"/>
                        </a:solidFill>
                        <a:effectLst/>
                        <a:latin typeface="Cambria Math" panose="02040503050406030204" pitchFamily="18" charset="0"/>
                      </a:rPr>
                      <m:t>𝑩𝑭𝑺</m:t>
                    </m:r>
                  </m:oMath>
                </a14:m>
                <a:r>
                  <a:rPr lang="zh-CN" altLang="zh-CN" b="1" dirty="0">
                    <a:solidFill>
                      <a:schemeClr val="tx1"/>
                    </a:solidFill>
                    <a:effectLst/>
                  </a:rPr>
                  <a:t>序列），以及相应结点之间的边所构成的图称为</a:t>
                </a:r>
                <a:r>
                  <a:rPr lang="zh-CN" altLang="zh-CN" b="1" dirty="0">
                    <a:solidFill>
                      <a:srgbClr val="CC00FF"/>
                    </a:solidFill>
                    <a:effectLst/>
                  </a:rPr>
                  <a:t>广度优先生成树</a:t>
                </a:r>
                <a:r>
                  <a:rPr lang="zh-CN" altLang="zh-CN" b="1" dirty="0">
                    <a:solidFill>
                      <a:srgbClr val="0000FF"/>
                    </a:solidFill>
                    <a:effectLst/>
                  </a:rPr>
                  <a:t>。</a:t>
                </a:r>
                <a:endParaRPr lang="en-US" altLang="zh-CN" b="1" dirty="0">
                  <a:solidFill>
                    <a:srgbClr val="0000FF"/>
                  </a:solidFill>
                  <a:effectLst/>
                </a:endParaRPr>
              </a:p>
              <a:p>
                <a:pPr marL="0" indent="0">
                  <a:lnSpc>
                    <a:spcPts val="3800"/>
                  </a:lnSpc>
                  <a:buNone/>
                </a:pPr>
                <a:r>
                  <a:rPr lang="en-US" altLang="zh-CN" b="1" dirty="0">
                    <a:solidFill>
                      <a:schemeClr val="tx1"/>
                    </a:solidFill>
                    <a:effectLst/>
                  </a:rPr>
                  <a:t>       </a:t>
                </a:r>
                <a:r>
                  <a:rPr lang="zh-CN" altLang="zh-CN" b="1" dirty="0">
                    <a:solidFill>
                      <a:schemeClr val="tx1"/>
                    </a:solidFill>
                    <a:effectLst/>
                  </a:rPr>
                  <a:t>对于非连通图，由广度优先搜索算法进行遍历得到的结点次序（</a:t>
                </a:r>
                <a14:m>
                  <m:oMath xmlns:m="http://schemas.openxmlformats.org/officeDocument/2006/math">
                    <m:r>
                      <a:rPr lang="en-US" altLang="zh-CN" b="1" i="1">
                        <a:solidFill>
                          <a:schemeClr val="tx1"/>
                        </a:solidFill>
                        <a:effectLst/>
                        <a:latin typeface="Cambria Math" panose="02040503050406030204" pitchFamily="18" charset="0"/>
                      </a:rPr>
                      <m:t>𝑩𝑭𝑺</m:t>
                    </m:r>
                  </m:oMath>
                </a14:m>
                <a:r>
                  <a:rPr lang="zh-CN" altLang="zh-CN" b="1" dirty="0">
                    <a:solidFill>
                      <a:schemeClr val="tx1"/>
                    </a:solidFill>
                    <a:effectLst/>
                  </a:rPr>
                  <a:t>序列），以及相应结点之间的边所构成的图称为</a:t>
                </a:r>
                <a:r>
                  <a:rPr lang="zh-CN" altLang="zh-CN" b="1" dirty="0">
                    <a:solidFill>
                      <a:srgbClr val="CC00FF"/>
                    </a:solidFill>
                    <a:effectLst/>
                  </a:rPr>
                  <a:t>广度优先生成森林</a:t>
                </a:r>
                <a:r>
                  <a:rPr lang="zh-CN" altLang="zh-CN" b="1" dirty="0">
                    <a:solidFill>
                      <a:srgbClr val="0000FF"/>
                    </a:solidFill>
                    <a:effectLst/>
                  </a:rPr>
                  <a:t>。</a:t>
                </a: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467544" y="1684336"/>
                <a:ext cx="8207499" cy="4729425"/>
              </a:xfrm>
              <a:blipFill>
                <a:blip r:embed="rId2"/>
                <a:stretch>
                  <a:fillRect l="-1189" r="-223"/>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广度优先遍历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079676"/>
      </p:ext>
    </p:extLst>
  </p:cSld>
  <p:clrMapOvr>
    <a:masterClrMapping/>
  </p:clrMapOvr>
  <p:transition spd="med">
    <p:wipe dir="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403648" y="629023"/>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广度优先遍历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5174" y="476251"/>
            <a:ext cx="958826" cy="1008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8F309C29-057D-45EE-9039-0E524FB8C3CF}"/>
              </a:ext>
            </a:extLst>
          </p:cNvPr>
          <p:cNvPicPr>
            <a:picLocks noChangeAspect="1"/>
          </p:cNvPicPr>
          <p:nvPr/>
        </p:nvPicPr>
        <p:blipFill>
          <a:blip r:embed="rId4"/>
          <a:stretch>
            <a:fillRect/>
          </a:stretch>
        </p:blipFill>
        <p:spPr>
          <a:xfrm>
            <a:off x="395536" y="1661673"/>
            <a:ext cx="8496944" cy="4720077"/>
          </a:xfrm>
          <a:prstGeom prst="rect">
            <a:avLst/>
          </a:prstGeom>
        </p:spPr>
      </p:pic>
    </p:spTree>
    <p:extLst>
      <p:ext uri="{BB962C8B-B14F-4D97-AF65-F5344CB8AC3E}">
        <p14:creationId xmlns:p14="http://schemas.microsoft.com/office/powerpoint/2010/main" val="3122103388"/>
      </p:ext>
    </p:extLst>
  </p:cSld>
  <p:clrMapOvr>
    <a:masterClrMapping/>
  </p:clrMapOvr>
  <p:transition spd="med">
    <p:wipe dir="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395536" y="1643900"/>
                <a:ext cx="8568952" cy="1555137"/>
              </a:xfrm>
              <a:solidFill>
                <a:schemeClr val="accent5"/>
              </a:solidFill>
              <a:ln>
                <a:noFill/>
              </a:ln>
            </p:spPr>
            <p:txBody>
              <a:bodyPr/>
              <a:lstStyle/>
              <a:p>
                <a:pPr marL="0" indent="0">
                  <a:lnSpc>
                    <a:spcPts val="4000"/>
                  </a:lnSpc>
                  <a:buNone/>
                </a:pPr>
                <a:r>
                  <a:rPr lang="en-US" altLang="zh-CN" b="1" dirty="0">
                    <a:solidFill>
                      <a:srgbClr val="FF0000"/>
                    </a:solidFill>
                    <a:effectLst/>
                  </a:rPr>
                  <a:t>     </a:t>
                </a:r>
                <a:r>
                  <a:rPr lang="zh-CN" altLang="zh-CN" b="1" dirty="0">
                    <a:solidFill>
                      <a:srgbClr val="FF0000"/>
                    </a:solidFill>
                    <a:effectLst/>
                  </a:rPr>
                  <a:t>【例题】</a:t>
                </a:r>
                <a:r>
                  <a:rPr lang="zh-CN" altLang="zh-CN" b="1" dirty="0">
                    <a:solidFill>
                      <a:schemeClr val="tx1"/>
                    </a:solidFill>
                    <a:effectLst/>
                  </a:rPr>
                  <a:t>如</a:t>
                </a:r>
                <a:r>
                  <a:rPr lang="zh-CN" altLang="en-US" b="1" dirty="0">
                    <a:solidFill>
                      <a:schemeClr val="tx1"/>
                    </a:solidFill>
                    <a:effectLst/>
                  </a:rPr>
                  <a:t>下</a:t>
                </a:r>
                <a:r>
                  <a:rPr lang="zh-CN" altLang="zh-CN" b="1" dirty="0">
                    <a:solidFill>
                      <a:schemeClr val="tx1"/>
                    </a:solidFill>
                    <a:effectLst/>
                  </a:rPr>
                  <a:t>图所示，假设将结点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𝟏</m:t>
                        </m:r>
                      </m:sub>
                    </m:sSub>
                  </m:oMath>
                </a14:m>
                <a:r>
                  <a:rPr lang="zh-CN" altLang="zh-CN" b="1" dirty="0">
                    <a:solidFill>
                      <a:schemeClr val="tx1"/>
                    </a:solidFill>
                    <a:effectLst/>
                  </a:rPr>
                  <a:t>作为初始遍历点，即出发点，请写出此图的</a:t>
                </a:r>
                <a:r>
                  <a:rPr lang="en-US" altLang="zh-CN" b="1" dirty="0">
                    <a:solidFill>
                      <a:schemeClr val="tx1"/>
                    </a:solidFill>
                    <a:effectLst/>
                  </a:rPr>
                  <a:t>3</a:t>
                </a:r>
                <a:r>
                  <a:rPr lang="zh-CN" altLang="zh-CN" b="1" dirty="0">
                    <a:solidFill>
                      <a:schemeClr val="tx1"/>
                    </a:solidFill>
                    <a:effectLst/>
                  </a:rPr>
                  <a:t>种广度优先搜索序列（</a:t>
                </a:r>
                <a14:m>
                  <m:oMath xmlns:m="http://schemas.openxmlformats.org/officeDocument/2006/math">
                    <m:r>
                      <a:rPr lang="en-US" altLang="zh-CN" b="1" i="1">
                        <a:solidFill>
                          <a:schemeClr val="tx1"/>
                        </a:solidFill>
                        <a:effectLst/>
                        <a:latin typeface="Cambria Math" panose="02040503050406030204" pitchFamily="18" charset="0"/>
                      </a:rPr>
                      <m:t>𝑩𝑭𝑺</m:t>
                    </m:r>
                  </m:oMath>
                </a14:m>
                <a:r>
                  <a:rPr lang="zh-CN" altLang="zh-CN" b="1" dirty="0">
                    <a:solidFill>
                      <a:schemeClr val="tx1"/>
                    </a:solidFill>
                    <a:effectLst/>
                  </a:rPr>
                  <a:t>序列），以及画出对应的广度优先搜索生成树。</a:t>
                </a: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395536" y="1643900"/>
                <a:ext cx="8568952" cy="1555137"/>
              </a:xfrm>
              <a:blipFill>
                <a:blip r:embed="rId2"/>
                <a:stretch>
                  <a:fillRect l="-1138" b="-9412"/>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广度优先遍历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5"/>
          <a:stretch>
            <a:fillRect/>
          </a:stretch>
        </p:blipFill>
        <p:spPr>
          <a:xfrm>
            <a:off x="2607414" y="3301253"/>
            <a:ext cx="3260729" cy="2978281"/>
          </a:xfrm>
          <a:prstGeom prst="rect">
            <a:avLst/>
          </a:prstGeom>
        </p:spPr>
      </p:pic>
    </p:spTree>
    <p:extLst>
      <p:ext uri="{BB962C8B-B14F-4D97-AF65-F5344CB8AC3E}">
        <p14:creationId xmlns:p14="http://schemas.microsoft.com/office/powerpoint/2010/main" val="1722283822"/>
      </p:ext>
    </p:extLst>
  </p:cSld>
  <p:clrMapOvr>
    <a:masterClrMapping/>
  </p:clrMapOvr>
  <p:transition spd="med">
    <p:wipe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323528" y="1844824"/>
                <a:ext cx="8820472" cy="4376638"/>
              </a:xfrm>
              <a:solidFill>
                <a:schemeClr val="accent5"/>
              </a:solidFill>
              <a:ln>
                <a:noFill/>
              </a:ln>
            </p:spPr>
            <p:txBody>
              <a:bodyPr/>
              <a:lstStyle/>
              <a:p>
                <a:pPr marL="0" indent="0">
                  <a:lnSpc>
                    <a:spcPct val="150000"/>
                  </a:lnSpc>
                  <a:buNone/>
                </a:pPr>
                <a:r>
                  <a:rPr lang="en-US" altLang="zh-CN" b="1" dirty="0">
                    <a:solidFill>
                      <a:schemeClr val="accent2"/>
                    </a:solidFill>
                    <a:effectLst/>
                  </a:rPr>
                  <a:t>    </a:t>
                </a:r>
                <a:r>
                  <a:rPr lang="zh-CN" altLang="zh-CN" b="1" dirty="0">
                    <a:solidFill>
                      <a:schemeClr val="accent2"/>
                    </a:solidFill>
                    <a:effectLst/>
                  </a:rPr>
                  <a:t>【解】</a:t>
                </a:r>
                <a:r>
                  <a:rPr lang="zh-CN" altLang="zh-CN" b="1" dirty="0">
                    <a:solidFill>
                      <a:schemeClr val="tx1"/>
                    </a:solidFill>
                    <a:effectLst/>
                  </a:rPr>
                  <a:t>从顶点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𝟏</m:t>
                        </m:r>
                      </m:sub>
                    </m:sSub>
                  </m:oMath>
                </a14:m>
                <a:r>
                  <a:rPr lang="zh-CN" altLang="zh-CN" b="1" dirty="0">
                    <a:solidFill>
                      <a:schemeClr val="tx1"/>
                    </a:solidFill>
                    <a:effectLst/>
                  </a:rPr>
                  <a:t>出发进行深度优先遍历，获得的次序为：</a:t>
                </a:r>
              </a:p>
              <a:p>
                <a:pPr marL="0" indent="0">
                  <a:lnSpc>
                    <a:spcPct val="150000"/>
                  </a:lnSpc>
                  <a:buNone/>
                </a:pPr>
                <a:r>
                  <a:rPr lang="en-US" altLang="zh-CN" b="1" dirty="0">
                    <a:solidFill>
                      <a:schemeClr val="tx1"/>
                    </a:solidFill>
                    <a:effectLst/>
                  </a:rPr>
                  <a:t>   </a:t>
                </a:r>
                <a:r>
                  <a:rPr lang="zh-CN" altLang="zh-CN" b="1" dirty="0">
                    <a:solidFill>
                      <a:srgbClr val="CC00FF"/>
                    </a:solidFill>
                    <a:effectLst/>
                  </a:rPr>
                  <a:t>（</a:t>
                </a:r>
                <a:r>
                  <a:rPr lang="en-US" altLang="zh-CN" b="1" dirty="0">
                    <a:solidFill>
                      <a:srgbClr val="CC00FF"/>
                    </a:solidFill>
                    <a:effectLst/>
                  </a:rPr>
                  <a:t>1</a:t>
                </a:r>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𝟗</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𝟖</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𝟕</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𝟏𝟎</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𝟔</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𝟓</m:t>
                        </m:r>
                      </m:sub>
                    </m:sSub>
                  </m:oMath>
                </a14:m>
                <a:r>
                  <a:rPr lang="zh-CN" altLang="en-US" b="1" dirty="0">
                    <a:solidFill>
                      <a:srgbClr val="CC00FF"/>
                    </a:solidFill>
                    <a:effectLst/>
                  </a:rPr>
                  <a:t>；</a:t>
                </a:r>
                <a:endParaRPr lang="zh-CN" altLang="zh-CN" b="1" dirty="0">
                  <a:solidFill>
                    <a:srgbClr val="CC00FF"/>
                  </a:solidFill>
                  <a:effectLst/>
                </a:endParaRPr>
              </a:p>
              <a:p>
                <a:pPr marL="0" indent="0">
                  <a:lnSpc>
                    <a:spcPct val="150000"/>
                  </a:lnSpc>
                  <a:buNone/>
                </a:pPr>
                <a:r>
                  <a:rPr lang="en-US" altLang="zh-CN" b="1" dirty="0">
                    <a:solidFill>
                      <a:srgbClr val="CC00FF"/>
                    </a:solidFill>
                    <a:effectLst/>
                  </a:rPr>
                  <a:t>   </a:t>
                </a:r>
                <a:r>
                  <a:rPr lang="zh-CN" altLang="zh-CN" b="1" dirty="0">
                    <a:solidFill>
                      <a:srgbClr val="CC00FF"/>
                    </a:solidFill>
                    <a:effectLst/>
                  </a:rPr>
                  <a:t>（</a:t>
                </a:r>
                <a:r>
                  <a:rPr lang="en-US" altLang="zh-CN" b="1" dirty="0">
                    <a:solidFill>
                      <a:srgbClr val="CC00FF"/>
                    </a:solidFill>
                    <a:effectLst/>
                  </a:rPr>
                  <a:t>2</a:t>
                </a:r>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𝟖</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𝟗</m:t>
                        </m:r>
                      </m:sub>
                    </m:sSub>
                  </m:oMath>
                </a14:m>
                <a:r>
                  <a:rPr lang="zh-CN" altLang="zh-CN" b="1" dirty="0">
                    <a:solidFill>
                      <a:srgbClr val="CC00FF"/>
                    </a:solidFill>
                    <a:effectLst/>
                  </a:rPr>
                  <a:t>，</a:t>
                </a:r>
                <a14:m>
                  <m:oMath xmlns:m="http://schemas.openxmlformats.org/officeDocument/2006/math">
                    <m:r>
                      <a:rPr lang="zh-CN" altLang="zh-CN" b="1">
                        <a:solidFill>
                          <a:srgbClr val="CC00FF"/>
                        </a:solidFill>
                        <a:effectLst/>
                        <a:latin typeface="Cambria Math" panose="02040503050406030204" pitchFamily="18" charset="0"/>
                      </a:rPr>
                      <m:t> </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𝟕</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𝟔</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𝟏𝟎</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𝟓</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𝟏𝟐</m:t>
                        </m:r>
                      </m:sub>
                    </m:sSub>
                  </m:oMath>
                </a14:m>
                <a:r>
                  <a:rPr lang="zh-CN" altLang="en-US" b="1" dirty="0">
                    <a:solidFill>
                      <a:srgbClr val="CC00FF"/>
                    </a:solidFill>
                    <a:effectLst/>
                  </a:rPr>
                  <a:t>；</a:t>
                </a:r>
                <a:endParaRPr lang="zh-CN" altLang="zh-CN" b="1" dirty="0">
                  <a:solidFill>
                    <a:srgbClr val="CC00FF"/>
                  </a:solidFill>
                  <a:effectLst/>
                </a:endParaRPr>
              </a:p>
              <a:p>
                <a:pPr marL="0" indent="0">
                  <a:lnSpc>
                    <a:spcPct val="150000"/>
                  </a:lnSpc>
                  <a:buNone/>
                </a:pPr>
                <a:r>
                  <a:rPr lang="en-US" altLang="zh-CN" b="1" dirty="0">
                    <a:solidFill>
                      <a:srgbClr val="CC00FF"/>
                    </a:solidFill>
                    <a:effectLst/>
                  </a:rPr>
                  <a:t>   </a:t>
                </a:r>
                <a:r>
                  <a:rPr lang="zh-CN" altLang="zh-CN" b="1" dirty="0">
                    <a:solidFill>
                      <a:srgbClr val="CC00FF"/>
                    </a:solidFill>
                    <a:effectLst/>
                  </a:rPr>
                  <a:t>（</a:t>
                </a:r>
                <a:r>
                  <a:rPr lang="en-US" altLang="zh-CN" b="1" dirty="0">
                    <a:solidFill>
                      <a:srgbClr val="CC00FF"/>
                    </a:solidFill>
                    <a:effectLst/>
                  </a:rPr>
                  <a:t>3</a:t>
                </a:r>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𝟗</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𝟖</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𝟐</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𝟕</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𝟏𝟎</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𝟏𝟒</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𝟔</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𝟏𝟑</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𝟓</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𝟏𝟐</m:t>
                        </m:r>
                      </m:sub>
                    </m:sSub>
                  </m:oMath>
                </a14:m>
                <a:r>
                  <a:rPr lang="zh-CN" altLang="en-US" b="1" dirty="0">
                    <a:solidFill>
                      <a:srgbClr val="CC00FF"/>
                    </a:solidFill>
                    <a:effectLst/>
                  </a:rPr>
                  <a:t>。</a:t>
                </a:r>
                <a:endParaRPr lang="zh-CN" altLang="zh-CN" b="1" dirty="0">
                  <a:solidFill>
                    <a:srgbClr val="CC00FF"/>
                  </a:solidFill>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323528" y="1844824"/>
                <a:ext cx="8820472" cy="4376638"/>
              </a:xfrm>
              <a:blipFill>
                <a:blip r:embed="rId2"/>
                <a:stretch>
                  <a:fillRect r="-1106"/>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广度优先遍历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1893776"/>
      </p:ext>
    </p:extLst>
  </p:cSld>
  <p:clrMapOvr>
    <a:masterClrMapping/>
  </p:clrMapOvr>
  <p:transition spd="med">
    <p:wipe dir="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475581"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广度优先遍历</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5437" y="476250"/>
            <a:ext cx="988563"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stretch>
            <a:fillRect/>
          </a:stretch>
        </p:blipFill>
        <p:spPr>
          <a:xfrm>
            <a:off x="60982" y="3094624"/>
            <a:ext cx="9083018" cy="3045250"/>
          </a:xfrm>
          <a:prstGeom prst="rect">
            <a:avLst/>
          </a:prstGeom>
        </p:spPr>
      </p:pic>
      <p:sp>
        <p:nvSpPr>
          <p:cNvPr id="4" name="矩形 3">
            <a:extLst>
              <a:ext uri="{FF2B5EF4-FFF2-40B4-BE49-F238E27FC236}">
                <a16:creationId xmlns:a16="http://schemas.microsoft.com/office/drawing/2014/main" id="{CA717F50-D6B1-4B04-968B-46A971696498}"/>
              </a:ext>
            </a:extLst>
          </p:cNvPr>
          <p:cNvSpPr/>
          <p:nvPr/>
        </p:nvSpPr>
        <p:spPr>
          <a:xfrm>
            <a:off x="498034" y="1659362"/>
            <a:ext cx="8394445" cy="1284006"/>
          </a:xfrm>
          <a:prstGeom prst="rect">
            <a:avLst/>
          </a:prstGeom>
          <a:solidFill>
            <a:schemeClr val="accent5"/>
          </a:solidFill>
        </p:spPr>
        <p:txBody>
          <a:bodyPr wrap="square">
            <a:spAutoFit/>
          </a:bodyPr>
          <a:lstStyle/>
          <a:p>
            <a:pPr marL="0" indent="0">
              <a:lnSpc>
                <a:spcPct val="150000"/>
              </a:lnSpc>
              <a:buNone/>
            </a:pPr>
            <a:r>
              <a:rPr lang="en-US" altLang="zh-CN" sz="2800" b="1" dirty="0">
                <a:solidFill>
                  <a:schemeClr val="tx1"/>
                </a:solidFill>
              </a:rPr>
              <a:t>   【</a:t>
            </a:r>
            <a:r>
              <a:rPr lang="zh-CN" altLang="en-US" sz="2800" b="1" dirty="0">
                <a:solidFill>
                  <a:schemeClr val="tx1"/>
                </a:solidFill>
              </a:rPr>
              <a:t>解</a:t>
            </a:r>
            <a:r>
              <a:rPr lang="en-US" altLang="zh-CN" sz="2800" b="1" dirty="0">
                <a:solidFill>
                  <a:schemeClr val="tx1"/>
                </a:solidFill>
              </a:rPr>
              <a:t>(</a:t>
            </a:r>
            <a:r>
              <a:rPr lang="zh-CN" altLang="en-US" sz="2800" b="1" dirty="0">
                <a:solidFill>
                  <a:schemeClr val="tx1"/>
                </a:solidFill>
              </a:rPr>
              <a:t>续</a:t>
            </a:r>
            <a:r>
              <a:rPr lang="en-US" altLang="zh-CN" sz="2800" b="1" dirty="0">
                <a:solidFill>
                  <a:schemeClr val="tx1"/>
                </a:solidFill>
              </a:rPr>
              <a:t>)】</a:t>
            </a:r>
            <a:r>
              <a:rPr lang="zh-CN" altLang="zh-CN" sz="2800" b="1" dirty="0">
                <a:solidFill>
                  <a:schemeClr val="tx1"/>
                </a:solidFill>
              </a:rPr>
              <a:t>上述情形（</a:t>
            </a:r>
            <a:r>
              <a:rPr lang="en-US" altLang="zh-CN" sz="2800" b="1" dirty="0">
                <a:solidFill>
                  <a:schemeClr val="tx1"/>
                </a:solidFill>
              </a:rPr>
              <a:t>1</a:t>
            </a:r>
            <a:r>
              <a:rPr lang="zh-CN" altLang="zh-CN" sz="2800" b="1" dirty="0">
                <a:solidFill>
                  <a:schemeClr val="tx1"/>
                </a:solidFill>
              </a:rPr>
              <a:t>）、（</a:t>
            </a:r>
            <a:r>
              <a:rPr lang="en-US" altLang="zh-CN" sz="2800" b="1" dirty="0">
                <a:solidFill>
                  <a:schemeClr val="tx1"/>
                </a:solidFill>
              </a:rPr>
              <a:t>2</a:t>
            </a:r>
            <a:r>
              <a:rPr lang="zh-CN" altLang="zh-CN" sz="2800" b="1" dirty="0">
                <a:solidFill>
                  <a:schemeClr val="tx1"/>
                </a:solidFill>
              </a:rPr>
              <a:t>）、（</a:t>
            </a:r>
            <a:r>
              <a:rPr lang="en-US" altLang="zh-CN" sz="2800" b="1" dirty="0">
                <a:solidFill>
                  <a:schemeClr val="tx1"/>
                </a:solidFill>
              </a:rPr>
              <a:t>3</a:t>
            </a:r>
            <a:r>
              <a:rPr lang="zh-CN" altLang="zh-CN" sz="2800" b="1" dirty="0">
                <a:solidFill>
                  <a:schemeClr val="tx1"/>
                </a:solidFill>
              </a:rPr>
              <a:t>）分别对应的</a:t>
            </a:r>
            <a:r>
              <a:rPr lang="zh-CN" altLang="en-US" sz="2800" b="1" dirty="0">
                <a:solidFill>
                  <a:schemeClr val="tx1"/>
                </a:solidFill>
              </a:rPr>
              <a:t>广</a:t>
            </a:r>
            <a:r>
              <a:rPr lang="zh-CN" altLang="zh-CN" sz="2800" b="1" dirty="0">
                <a:solidFill>
                  <a:schemeClr val="tx1"/>
                </a:solidFill>
              </a:rPr>
              <a:t>度优先生成树如图</a:t>
            </a:r>
            <a:r>
              <a:rPr lang="en-US" altLang="zh-CN" sz="2800" b="1" dirty="0">
                <a:solidFill>
                  <a:schemeClr val="tx1"/>
                </a:solidFill>
              </a:rPr>
              <a:t> (a)</a:t>
            </a:r>
            <a:r>
              <a:rPr lang="zh-CN" altLang="zh-CN" sz="2800" b="1" dirty="0">
                <a:solidFill>
                  <a:schemeClr val="tx1"/>
                </a:solidFill>
              </a:rPr>
              <a:t>、</a:t>
            </a:r>
            <a:r>
              <a:rPr lang="en-US" altLang="zh-CN" sz="2800" b="1" dirty="0">
                <a:solidFill>
                  <a:schemeClr val="tx1"/>
                </a:solidFill>
              </a:rPr>
              <a:t>(b)</a:t>
            </a:r>
            <a:r>
              <a:rPr lang="zh-CN" altLang="zh-CN" sz="2800" b="1" dirty="0">
                <a:solidFill>
                  <a:schemeClr val="tx1"/>
                </a:solidFill>
              </a:rPr>
              <a:t>、</a:t>
            </a:r>
            <a:r>
              <a:rPr lang="en-US" altLang="zh-CN" sz="2800" b="1" dirty="0">
                <a:solidFill>
                  <a:schemeClr val="tx1"/>
                </a:solidFill>
              </a:rPr>
              <a:t>(c)</a:t>
            </a:r>
            <a:r>
              <a:rPr lang="zh-CN" altLang="zh-CN" sz="2800" b="1" dirty="0">
                <a:solidFill>
                  <a:schemeClr val="tx1"/>
                </a:solidFill>
              </a:rPr>
              <a:t>。</a:t>
            </a:r>
          </a:p>
        </p:txBody>
      </p:sp>
    </p:spTree>
    <p:extLst>
      <p:ext uri="{BB962C8B-B14F-4D97-AF65-F5344CB8AC3E}">
        <p14:creationId xmlns:p14="http://schemas.microsoft.com/office/powerpoint/2010/main" val="780594134"/>
      </p:ext>
    </p:extLst>
  </p:cSld>
  <p:clrMapOvr>
    <a:masterClrMapping/>
  </p:clrMapOvr>
  <p:transition spd="med">
    <p:wipe dir="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395536" y="1700213"/>
                <a:ext cx="8632259" cy="1707465"/>
              </a:xfrm>
              <a:solidFill>
                <a:schemeClr val="accent5"/>
              </a:solidFill>
              <a:ln>
                <a:noFill/>
              </a:ln>
            </p:spPr>
            <p:txBody>
              <a:bodyPr/>
              <a:lstStyle/>
              <a:p>
                <a:pPr marL="0" indent="0">
                  <a:lnSpc>
                    <a:spcPct val="150000"/>
                  </a:lnSpc>
                  <a:buNone/>
                </a:pPr>
                <a:r>
                  <a:rPr lang="en-US" altLang="zh-CN" b="1" dirty="0">
                    <a:solidFill>
                      <a:srgbClr val="FF0000"/>
                    </a:solidFill>
                    <a:effectLst/>
                  </a:rPr>
                  <a:t>     </a:t>
                </a:r>
                <a:r>
                  <a:rPr lang="zh-CN" altLang="zh-CN" b="1" dirty="0">
                    <a:solidFill>
                      <a:srgbClr val="FF0000"/>
                    </a:solidFill>
                    <a:effectLst/>
                  </a:rPr>
                  <a:t>【例题】</a:t>
                </a:r>
                <a:r>
                  <a:rPr lang="zh-CN" altLang="en-US" b="1" dirty="0">
                    <a:effectLst/>
                  </a:rPr>
                  <a:t>对于</a:t>
                </a:r>
                <a:r>
                  <a:rPr lang="zh-CN" altLang="zh-CN" b="1" dirty="0">
                    <a:effectLst/>
                    <a:latin typeface="+mn-ea"/>
                  </a:rPr>
                  <a:t>如</a:t>
                </a:r>
                <a:r>
                  <a:rPr lang="zh-CN" altLang="en-US" b="1" dirty="0">
                    <a:effectLst/>
                    <a:latin typeface="+mn-ea"/>
                  </a:rPr>
                  <a:t>下</a:t>
                </a:r>
                <a:r>
                  <a:rPr lang="zh-CN" altLang="zh-CN" b="1" dirty="0">
                    <a:effectLst/>
                    <a:latin typeface="+mn-ea"/>
                  </a:rPr>
                  <a:t>图所示非连通图，分别写出其任意一个深度优先序列（</a:t>
                </a:r>
                <a14:m>
                  <m:oMath xmlns:m="http://schemas.openxmlformats.org/officeDocument/2006/math">
                    <m:r>
                      <a:rPr lang="en-US" altLang="zh-CN" b="1" i="1">
                        <a:effectLst/>
                        <a:latin typeface="Cambria Math" panose="02040503050406030204" pitchFamily="18" charset="0"/>
                      </a:rPr>
                      <m:t>𝑫𝑭𝑺</m:t>
                    </m:r>
                  </m:oMath>
                </a14:m>
                <a:r>
                  <a:rPr lang="zh-CN" altLang="zh-CN" b="1" dirty="0">
                    <a:effectLst/>
                    <a:latin typeface="+mn-ea"/>
                  </a:rPr>
                  <a:t>序列）以及广度优先序列（</a:t>
                </a:r>
                <a14:m>
                  <m:oMath xmlns:m="http://schemas.openxmlformats.org/officeDocument/2006/math">
                    <m:r>
                      <a:rPr lang="en-US" altLang="zh-CN" b="1" i="1">
                        <a:effectLst/>
                        <a:latin typeface="Cambria Math" panose="02040503050406030204" pitchFamily="18" charset="0"/>
                      </a:rPr>
                      <m:t>𝑩𝑭𝑺</m:t>
                    </m:r>
                  </m:oMath>
                </a14:m>
                <a:r>
                  <a:rPr lang="zh-CN" altLang="zh-CN" b="1" dirty="0">
                    <a:effectLst/>
                    <a:latin typeface="+mn-ea"/>
                  </a:rPr>
                  <a:t>序列），并画出相应的生成森林。</a:t>
                </a:r>
                <a:endParaRPr lang="zh-CN" altLang="zh-CN" b="1" dirty="0">
                  <a:solidFill>
                    <a:srgbClr val="0000FF"/>
                  </a:solidFill>
                  <a:effectLst/>
                  <a:latin typeface="+mn-ea"/>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395536" y="1700213"/>
                <a:ext cx="8632259" cy="1707465"/>
              </a:xfrm>
              <a:blipFill>
                <a:blip r:embed="rId2"/>
                <a:stretch>
                  <a:fillRect l="-1130" r="-212" b="-6429"/>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6E8C80AA-ADA8-4D96-B1D5-0BCA30FDEF9A}"/>
              </a:ext>
            </a:extLst>
          </p:cNvPr>
          <p:cNvPicPr>
            <a:picLocks noChangeAspect="1"/>
          </p:cNvPicPr>
          <p:nvPr/>
        </p:nvPicPr>
        <p:blipFill>
          <a:blip r:embed="rId5"/>
          <a:stretch>
            <a:fillRect/>
          </a:stretch>
        </p:blipFill>
        <p:spPr>
          <a:xfrm>
            <a:off x="280669" y="3717032"/>
            <a:ext cx="8753630" cy="2428830"/>
          </a:xfrm>
          <a:prstGeom prst="rect">
            <a:avLst/>
          </a:prstGeom>
        </p:spPr>
      </p:pic>
    </p:spTree>
    <p:extLst>
      <p:ext uri="{BB962C8B-B14F-4D97-AF65-F5344CB8AC3E}">
        <p14:creationId xmlns:p14="http://schemas.microsoft.com/office/powerpoint/2010/main" val="817456690"/>
      </p:ext>
    </p:extLst>
  </p:cSld>
  <p:clrMapOvr>
    <a:masterClrMapping/>
  </p:clrMapOvr>
  <p:transition spd="med">
    <p:wipe dir="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179512" y="1772816"/>
                <a:ext cx="8856984" cy="2232248"/>
              </a:xfrm>
              <a:solidFill>
                <a:schemeClr val="accent5"/>
              </a:solidFill>
              <a:ln>
                <a:noFill/>
              </a:ln>
            </p:spPr>
            <p:txBody>
              <a:bodyPr/>
              <a:lstStyle/>
              <a:p>
                <a:pPr marL="0" indent="0">
                  <a:buNone/>
                </a:pPr>
                <a:r>
                  <a:rPr lang="en-US" altLang="zh-CN" b="1" dirty="0">
                    <a:solidFill>
                      <a:schemeClr val="accent2"/>
                    </a:solidFill>
                    <a:effectLst/>
                  </a:rPr>
                  <a:t>     </a:t>
                </a:r>
                <a:r>
                  <a:rPr lang="zh-CN" altLang="zh-CN" sz="2000" b="1" dirty="0">
                    <a:solidFill>
                      <a:schemeClr val="accent2"/>
                    </a:solidFill>
                    <a:effectLst/>
                  </a:rPr>
                  <a:t>【解】</a:t>
                </a:r>
                <a:r>
                  <a:rPr lang="zh-CN" altLang="zh-CN" sz="2000" b="1" dirty="0">
                    <a:solidFill>
                      <a:schemeClr val="tx1"/>
                    </a:solidFill>
                    <a:effectLst/>
                  </a:rPr>
                  <a:t>假设搜索以上三个连通分支的初始遍历点依次为：</a:t>
                </a:r>
                <a14:m>
                  <m:oMath xmlns:m="http://schemas.openxmlformats.org/officeDocument/2006/math">
                    <m:sSub>
                      <m:sSubPr>
                        <m:ctrlPr>
                          <a:rPr lang="zh-CN" altLang="zh-CN" sz="2000" b="1" i="1">
                            <a:solidFill>
                              <a:schemeClr val="tx1"/>
                            </a:solidFill>
                            <a:effectLst/>
                            <a:latin typeface="Cambria Math" panose="02040503050406030204" pitchFamily="18" charset="0"/>
                          </a:rPr>
                        </m:ctrlPr>
                      </m:sSubPr>
                      <m:e>
                        <m:r>
                          <a:rPr lang="en-US" altLang="zh-CN" sz="2000" b="1" i="1">
                            <a:solidFill>
                              <a:schemeClr val="tx1"/>
                            </a:solidFill>
                            <a:effectLst/>
                            <a:latin typeface="Cambria Math" panose="02040503050406030204" pitchFamily="18" charset="0"/>
                          </a:rPr>
                          <m:t>𝒗</m:t>
                        </m:r>
                      </m:e>
                      <m:sub>
                        <m:r>
                          <a:rPr lang="en-US" altLang="zh-CN" sz="2000" b="1" i="1">
                            <a:solidFill>
                              <a:schemeClr val="tx1"/>
                            </a:solidFill>
                            <a:effectLst/>
                            <a:latin typeface="Cambria Math" panose="02040503050406030204" pitchFamily="18" charset="0"/>
                          </a:rPr>
                          <m:t>𝟏</m:t>
                        </m:r>
                      </m:sub>
                    </m:sSub>
                  </m:oMath>
                </a14:m>
                <a:r>
                  <a:rPr lang="zh-CN" altLang="zh-CN" sz="2000" b="1" dirty="0">
                    <a:solidFill>
                      <a:schemeClr val="tx1"/>
                    </a:solidFill>
                    <a:effectLst/>
                  </a:rPr>
                  <a:t>、</a:t>
                </a:r>
                <a14:m>
                  <m:oMath xmlns:m="http://schemas.openxmlformats.org/officeDocument/2006/math">
                    <m:sSub>
                      <m:sSubPr>
                        <m:ctrlPr>
                          <a:rPr lang="zh-CN" altLang="zh-CN" sz="2000" b="1" i="1">
                            <a:solidFill>
                              <a:schemeClr val="tx1"/>
                            </a:solidFill>
                            <a:effectLst/>
                            <a:latin typeface="Cambria Math" panose="02040503050406030204" pitchFamily="18" charset="0"/>
                          </a:rPr>
                        </m:ctrlPr>
                      </m:sSubPr>
                      <m:e>
                        <m:r>
                          <a:rPr lang="en-US" altLang="zh-CN" sz="2000" b="1" i="1">
                            <a:solidFill>
                              <a:schemeClr val="tx1"/>
                            </a:solidFill>
                            <a:effectLst/>
                            <a:latin typeface="Cambria Math" panose="02040503050406030204" pitchFamily="18" charset="0"/>
                          </a:rPr>
                          <m:t>𝒗</m:t>
                        </m:r>
                      </m:e>
                      <m:sub>
                        <m:r>
                          <a:rPr lang="en-US" altLang="zh-CN" sz="2000" b="1" i="1">
                            <a:solidFill>
                              <a:schemeClr val="tx1"/>
                            </a:solidFill>
                            <a:effectLst/>
                            <a:latin typeface="Cambria Math" panose="02040503050406030204" pitchFamily="18" charset="0"/>
                          </a:rPr>
                          <m:t>𝟏𝟎</m:t>
                        </m:r>
                      </m:sub>
                    </m:sSub>
                  </m:oMath>
                </a14:m>
                <a:r>
                  <a:rPr lang="zh-CN" altLang="zh-CN" sz="2000" b="1" dirty="0">
                    <a:solidFill>
                      <a:schemeClr val="tx1"/>
                    </a:solidFill>
                    <a:effectLst/>
                  </a:rPr>
                  <a:t>、</a:t>
                </a:r>
                <a14:m>
                  <m:oMath xmlns:m="http://schemas.openxmlformats.org/officeDocument/2006/math">
                    <m:sSub>
                      <m:sSubPr>
                        <m:ctrlPr>
                          <a:rPr lang="zh-CN" altLang="zh-CN" sz="2000" b="1" i="1">
                            <a:solidFill>
                              <a:schemeClr val="tx1"/>
                            </a:solidFill>
                            <a:effectLst/>
                            <a:latin typeface="Cambria Math" panose="02040503050406030204" pitchFamily="18" charset="0"/>
                          </a:rPr>
                        </m:ctrlPr>
                      </m:sSubPr>
                      <m:e>
                        <m:r>
                          <a:rPr lang="en-US" altLang="zh-CN" sz="2000" b="1" i="1">
                            <a:solidFill>
                              <a:schemeClr val="tx1"/>
                            </a:solidFill>
                            <a:effectLst/>
                            <a:latin typeface="Cambria Math" panose="02040503050406030204" pitchFamily="18" charset="0"/>
                          </a:rPr>
                          <m:t>𝒗</m:t>
                        </m:r>
                      </m:e>
                      <m:sub>
                        <m:r>
                          <a:rPr lang="en-US" altLang="zh-CN" sz="2000" b="1" i="1">
                            <a:solidFill>
                              <a:schemeClr val="tx1"/>
                            </a:solidFill>
                            <a:effectLst/>
                            <a:latin typeface="Cambria Math" panose="02040503050406030204" pitchFamily="18" charset="0"/>
                          </a:rPr>
                          <m:t>𝟏𝟕</m:t>
                        </m:r>
                      </m:sub>
                    </m:sSub>
                    <m:r>
                      <a:rPr lang="zh-CN" altLang="en-US" sz="2000" b="1" i="1">
                        <a:effectLst/>
                        <a:latin typeface="Cambria Math" panose="02040503050406030204" pitchFamily="18" charset="0"/>
                      </a:rPr>
                      <m:t>，</m:t>
                    </m:r>
                  </m:oMath>
                </a14:m>
                <a:r>
                  <a:rPr lang="zh-CN" altLang="zh-CN" sz="2000" b="1" dirty="0">
                    <a:solidFill>
                      <a:schemeClr val="tx1"/>
                    </a:solidFill>
                    <a:effectLst/>
                  </a:rPr>
                  <a:t>则深度优先搜索序列为：</a:t>
                </a:r>
              </a:p>
              <a:p>
                <a:pPr marL="0" indent="0">
                  <a:buNone/>
                </a:pPr>
                <a14:m>
                  <m:oMath xmlns:m="http://schemas.openxmlformats.org/officeDocument/2006/math">
                    <m:sSub>
                      <m:sSubPr>
                        <m:ctrlPr>
                          <a:rPr lang="zh-CN" altLang="zh-CN" sz="2000" b="1" i="1" smtClean="0">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 </m:t>
                        </m:r>
                        <m:r>
                          <a:rPr lang="en-US" altLang="zh-CN" sz="2000" b="1" i="1" smtClean="0">
                            <a:solidFill>
                              <a:srgbClr val="800080"/>
                            </a:solidFill>
                            <a:effectLst/>
                            <a:latin typeface="Cambria Math" panose="02040503050406030204" pitchFamily="18" charset="0"/>
                          </a:rPr>
                          <m:t>       </m:t>
                        </m:r>
                        <m:r>
                          <a:rPr lang="en-US" altLang="zh-CN" sz="2000" b="1" i="1">
                            <a:solidFill>
                              <a:srgbClr val="800080"/>
                            </a:solidFill>
                            <a:effectLst/>
                            <a:latin typeface="Cambria Math" panose="02040503050406030204" pitchFamily="18" charset="0"/>
                          </a:rPr>
                          <m:t>    </m:t>
                        </m:r>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𝟓</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𝟕</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𝟐</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𝟖</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𝟑</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𝟔</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𝟒</m:t>
                        </m:r>
                      </m:sub>
                    </m:sSub>
                  </m:oMath>
                </a14:m>
                <a:r>
                  <a:rPr lang="zh-CN" altLang="zh-CN" sz="2000" b="1" dirty="0">
                    <a:solidFill>
                      <a:srgbClr val="800080"/>
                    </a:solidFill>
                    <a:effectLst/>
                  </a:rPr>
                  <a:t>，</a:t>
                </a:r>
              </a:p>
              <a:p>
                <a:pPr marL="0" indent="0">
                  <a:buNone/>
                </a:pP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  </m:t>
                        </m:r>
                        <m:r>
                          <a:rPr lang="en-US" altLang="zh-CN" sz="2000" b="1" i="1" smtClean="0">
                            <a:solidFill>
                              <a:srgbClr val="800080"/>
                            </a:solidFill>
                            <a:effectLst/>
                            <a:latin typeface="Cambria Math" panose="02040503050406030204" pitchFamily="18" charset="0"/>
                          </a:rPr>
                          <m:t>       </m:t>
                        </m:r>
                        <m:r>
                          <a:rPr lang="en-US" altLang="zh-CN" sz="2000" b="1" i="1">
                            <a:solidFill>
                              <a:srgbClr val="800080"/>
                            </a:solidFill>
                            <a:effectLst/>
                            <a:latin typeface="Cambria Math" panose="02040503050406030204" pitchFamily="18" charset="0"/>
                          </a:rPr>
                          <m:t>   </m:t>
                        </m:r>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𝟏𝟎</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𝟏𝟏</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𝟏𝟑</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𝟏𝟐</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𝟏𝟒</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𝟏𝟓</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𝟗</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𝟏𝟔</m:t>
                        </m:r>
                      </m:sub>
                    </m:sSub>
                  </m:oMath>
                </a14:m>
                <a:r>
                  <a:rPr lang="zh-CN" altLang="zh-CN" sz="2000" b="1" dirty="0">
                    <a:solidFill>
                      <a:srgbClr val="800080"/>
                    </a:solidFill>
                    <a:effectLst/>
                  </a:rPr>
                  <a:t>，</a:t>
                </a:r>
              </a:p>
              <a:p>
                <a:pPr marL="0" indent="0">
                  <a:buNone/>
                </a:pP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 </m:t>
                        </m:r>
                        <m:r>
                          <a:rPr lang="en-US" altLang="zh-CN" sz="2000" b="1" i="1" smtClean="0">
                            <a:solidFill>
                              <a:srgbClr val="800080"/>
                            </a:solidFill>
                            <a:effectLst/>
                            <a:latin typeface="Cambria Math" panose="02040503050406030204" pitchFamily="18" charset="0"/>
                          </a:rPr>
                          <m:t>       </m:t>
                        </m:r>
                        <m:r>
                          <a:rPr lang="en-US" altLang="zh-CN" sz="2000" b="1" i="1">
                            <a:solidFill>
                              <a:srgbClr val="800080"/>
                            </a:solidFill>
                            <a:effectLst/>
                            <a:latin typeface="Cambria Math" panose="02040503050406030204" pitchFamily="18" charset="0"/>
                          </a:rPr>
                          <m:t>    </m:t>
                        </m:r>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𝟏𝟕</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𝟏𝟖</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𝟐𝟐</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𝟐𝟕</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𝟐𝟓</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𝟐𝟒</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𝟐𝟑</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𝟏𝟗</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𝟐𝟎</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𝟐𝟔</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a:solidFill>
                              <a:srgbClr val="800080"/>
                            </a:solidFill>
                            <a:effectLst/>
                            <a:latin typeface="Cambria Math" panose="02040503050406030204" pitchFamily="18" charset="0"/>
                          </a:rPr>
                          <m:t>𝒗</m:t>
                        </m:r>
                      </m:e>
                      <m:sub>
                        <m:r>
                          <a:rPr lang="en-US" altLang="zh-CN" sz="2000" b="1" i="1">
                            <a:solidFill>
                              <a:srgbClr val="800080"/>
                            </a:solidFill>
                            <a:effectLst/>
                            <a:latin typeface="Cambria Math" panose="02040503050406030204" pitchFamily="18" charset="0"/>
                          </a:rPr>
                          <m:t>𝟐𝟏</m:t>
                        </m:r>
                      </m:sub>
                    </m:sSub>
                  </m:oMath>
                </a14:m>
                <a:r>
                  <a:rPr lang="zh-CN" altLang="zh-CN" sz="2000" b="1" dirty="0">
                    <a:solidFill>
                      <a:srgbClr val="800080"/>
                    </a:solidFill>
                    <a:effectLst/>
                  </a:rPr>
                  <a:t>。</a:t>
                </a:r>
                <a:endParaRPr lang="en-US" altLang="zh-CN" sz="2000" b="1" dirty="0">
                  <a:solidFill>
                    <a:srgbClr val="800080"/>
                  </a:solidFill>
                  <a:effectLst/>
                </a:endParaRPr>
              </a:p>
              <a:p>
                <a:pPr marL="0" indent="0">
                  <a:buNone/>
                </a:pPr>
                <a:r>
                  <a:rPr lang="en-US" altLang="zh-CN" sz="2000" b="1" dirty="0">
                    <a:effectLst/>
                  </a:rPr>
                  <a:t>    </a:t>
                </a:r>
                <a:r>
                  <a:rPr lang="zh-CN" altLang="zh-CN" sz="2000" b="1" dirty="0">
                    <a:effectLst/>
                  </a:rPr>
                  <a:t>对应的深度优先生成森林</a:t>
                </a:r>
                <a:r>
                  <a:rPr lang="zh-CN" altLang="en-US" sz="2000" b="1" dirty="0">
                    <a:effectLst/>
                  </a:rPr>
                  <a:t>如下图</a:t>
                </a:r>
                <a:r>
                  <a:rPr lang="zh-CN" altLang="zh-CN" sz="2000" b="1" dirty="0">
                    <a:effectLst/>
                  </a:rPr>
                  <a:t>所示</a:t>
                </a:r>
                <a:r>
                  <a:rPr lang="zh-CN" altLang="en-US" sz="2000" b="1" dirty="0">
                    <a:effectLst/>
                  </a:rPr>
                  <a:t>：</a:t>
                </a:r>
                <a:endParaRPr lang="zh-CN" altLang="zh-CN" sz="2000" b="1" dirty="0">
                  <a:solidFill>
                    <a:srgbClr val="800080"/>
                  </a:solidFill>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179512" y="1772816"/>
                <a:ext cx="8856984" cy="2232248"/>
              </a:xfrm>
              <a:blipFill>
                <a:blip r:embed="rId2"/>
                <a:stretch>
                  <a:fillRect l="-688" b="-4645"/>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1F16671B-97C5-476B-81A6-01E35C9CC260}"/>
              </a:ext>
            </a:extLst>
          </p:cNvPr>
          <p:cNvPicPr>
            <a:picLocks noChangeAspect="1"/>
          </p:cNvPicPr>
          <p:nvPr/>
        </p:nvPicPr>
        <p:blipFill>
          <a:blip r:embed="rId5"/>
          <a:stretch>
            <a:fillRect/>
          </a:stretch>
        </p:blipFill>
        <p:spPr>
          <a:xfrm>
            <a:off x="467544" y="4076899"/>
            <a:ext cx="8555965" cy="2360412"/>
          </a:xfrm>
          <a:prstGeom prst="rect">
            <a:avLst/>
          </a:prstGeom>
        </p:spPr>
      </p:pic>
    </p:spTree>
    <p:extLst>
      <p:ext uri="{BB962C8B-B14F-4D97-AF65-F5344CB8AC3E}">
        <p14:creationId xmlns:p14="http://schemas.microsoft.com/office/powerpoint/2010/main" val="1478411771"/>
      </p:ext>
    </p:extLst>
  </p:cSld>
  <p:clrMapOvr>
    <a:masterClrMapping/>
  </p:clrMapOvr>
  <p:transition spd="med">
    <p:wipe dir="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467544" y="1772345"/>
                <a:ext cx="8352928" cy="1904677"/>
              </a:xfrm>
              <a:solidFill>
                <a:schemeClr val="accent5"/>
              </a:solidFill>
              <a:ln>
                <a:noFill/>
              </a:ln>
            </p:spPr>
            <p:txBody>
              <a:bodyPr/>
              <a:lstStyle/>
              <a:p>
                <a:pPr marL="0" indent="0">
                  <a:buNone/>
                </a:pPr>
                <a:r>
                  <a:rPr lang="en-US" altLang="zh-CN" sz="2000" b="1" dirty="0">
                    <a:solidFill>
                      <a:schemeClr val="accent2"/>
                    </a:solidFill>
                    <a:effectLst/>
                  </a:rPr>
                  <a:t>    </a:t>
                </a:r>
                <a:r>
                  <a:rPr lang="zh-CN" altLang="zh-CN" sz="2000" b="1" dirty="0">
                    <a:solidFill>
                      <a:schemeClr val="accent2"/>
                    </a:solidFill>
                    <a:effectLst/>
                  </a:rPr>
                  <a:t>【解</a:t>
                </a:r>
                <a:r>
                  <a:rPr lang="en-US" altLang="zh-CN" sz="2000" b="1" dirty="0">
                    <a:solidFill>
                      <a:schemeClr val="accent2"/>
                    </a:solidFill>
                    <a:effectLst/>
                  </a:rPr>
                  <a:t>(</a:t>
                </a:r>
                <a:r>
                  <a:rPr lang="zh-CN" altLang="en-US" sz="2000" b="1" dirty="0">
                    <a:solidFill>
                      <a:schemeClr val="accent2"/>
                    </a:solidFill>
                    <a:effectLst/>
                  </a:rPr>
                  <a:t>续</a:t>
                </a:r>
                <a:r>
                  <a:rPr lang="en-US" altLang="zh-CN" sz="2000" b="1" dirty="0">
                    <a:solidFill>
                      <a:schemeClr val="accent2"/>
                    </a:solidFill>
                    <a:effectLst/>
                  </a:rPr>
                  <a:t>)</a:t>
                </a:r>
                <a:r>
                  <a:rPr lang="zh-CN" altLang="zh-CN" sz="2000" b="1" dirty="0">
                    <a:solidFill>
                      <a:schemeClr val="accent2"/>
                    </a:solidFill>
                    <a:effectLst/>
                  </a:rPr>
                  <a:t>】</a:t>
                </a:r>
                <a:r>
                  <a:rPr lang="zh-CN" altLang="zh-CN" sz="2000" b="1" dirty="0">
                    <a:effectLst/>
                  </a:rPr>
                  <a:t>类似地，广度优先搜索序列为</a:t>
                </a:r>
                <a:r>
                  <a:rPr lang="en-US" altLang="zh-CN" sz="2000" b="1" dirty="0">
                    <a:effectLst/>
                  </a:rPr>
                  <a:t>:</a:t>
                </a:r>
                <a:endParaRPr lang="zh-CN" altLang="zh-CN" sz="2000" b="1" dirty="0">
                  <a:effectLst/>
                </a:endParaRPr>
              </a:p>
              <a:p>
                <a:pPr marL="0" indent="0">
                  <a:buNone/>
                </a:pPr>
                <a14:m>
                  <m:oMath xmlns:m="http://schemas.openxmlformats.org/officeDocument/2006/math">
                    <m:sSub>
                      <m:sSubPr>
                        <m:ctrlPr>
                          <a:rPr lang="zh-CN" altLang="zh-CN" sz="2000" b="1" i="1" smtClean="0">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         </m:t>
                        </m:r>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𝟓</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𝟔</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𝟐</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𝟕</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𝟖</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𝟒</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𝟑</m:t>
                        </m:r>
                      </m:sub>
                    </m:sSub>
                  </m:oMath>
                </a14:m>
                <a:r>
                  <a:rPr lang="zh-CN" altLang="zh-CN" sz="2000" b="1" dirty="0">
                    <a:solidFill>
                      <a:srgbClr val="800080"/>
                    </a:solidFill>
                    <a:effectLst/>
                  </a:rPr>
                  <a:t>，</a:t>
                </a:r>
              </a:p>
              <a:p>
                <a:pPr marL="0" indent="0">
                  <a:buNone/>
                </a:pP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         </m:t>
                        </m:r>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𝟏𝟎</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𝟗</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𝟏𝟏</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𝟏𝟓</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𝟏𝟔</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𝟏𝟐</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𝟏𝟑</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𝟏𝟒</m:t>
                        </m:r>
                      </m:sub>
                    </m:sSub>
                  </m:oMath>
                </a14:m>
                <a:r>
                  <a:rPr lang="zh-CN" altLang="zh-CN" sz="2000" b="1" dirty="0">
                    <a:solidFill>
                      <a:srgbClr val="800080"/>
                    </a:solidFill>
                    <a:effectLst/>
                  </a:rPr>
                  <a:t>，</a:t>
                </a:r>
              </a:p>
              <a:p>
                <a:pPr marL="0" indent="0">
                  <a:buNone/>
                </a:pP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         </m:t>
                        </m:r>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𝟏𝟕</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𝟏𝟖</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𝟐𝟏</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𝟐𝟎</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𝟐𝟐</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𝟐𝟑</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𝟏𝟗</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𝟐𝟔</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𝟐𝟓</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𝟐𝟕</m:t>
                        </m:r>
                      </m:sub>
                    </m:sSub>
                  </m:oMath>
                </a14:m>
                <a:r>
                  <a:rPr lang="zh-CN" altLang="zh-CN" sz="2000" b="1" dirty="0">
                    <a:solidFill>
                      <a:srgbClr val="800080"/>
                    </a:solidFill>
                    <a:effectLst/>
                  </a:rPr>
                  <a:t>，</a:t>
                </a:r>
                <a14:m>
                  <m:oMath xmlns:m="http://schemas.openxmlformats.org/officeDocument/2006/math">
                    <m:sSub>
                      <m:sSubPr>
                        <m:ctrlPr>
                          <a:rPr lang="zh-CN" altLang="zh-CN" sz="2000" b="1" i="1">
                            <a:solidFill>
                              <a:srgbClr val="800080"/>
                            </a:solidFill>
                            <a:effectLst/>
                            <a:latin typeface="Cambria Math" panose="02040503050406030204" pitchFamily="18" charset="0"/>
                          </a:rPr>
                        </m:ctrlPr>
                      </m:sSubPr>
                      <m:e>
                        <m:r>
                          <a:rPr lang="en-US" altLang="zh-CN" sz="2000" b="1" i="1" smtClean="0">
                            <a:solidFill>
                              <a:srgbClr val="800080"/>
                            </a:solidFill>
                            <a:effectLst/>
                            <a:latin typeface="Cambria Math" panose="02040503050406030204" pitchFamily="18" charset="0"/>
                          </a:rPr>
                          <m:t>𝒗</m:t>
                        </m:r>
                      </m:e>
                      <m:sub>
                        <m:r>
                          <a:rPr lang="en-US" altLang="zh-CN" sz="2000" b="1" i="1" smtClean="0">
                            <a:solidFill>
                              <a:srgbClr val="800080"/>
                            </a:solidFill>
                            <a:effectLst/>
                            <a:latin typeface="Cambria Math" panose="02040503050406030204" pitchFamily="18" charset="0"/>
                          </a:rPr>
                          <m:t>𝟐𝟒</m:t>
                        </m:r>
                      </m:sub>
                    </m:sSub>
                  </m:oMath>
                </a14:m>
                <a:endParaRPr lang="zh-CN" altLang="zh-CN" sz="2000" b="1" dirty="0">
                  <a:effectLst/>
                </a:endParaRPr>
              </a:p>
              <a:p>
                <a:pPr marL="0" indent="0">
                  <a:buNone/>
                </a:pPr>
                <a:r>
                  <a:rPr lang="en-US" altLang="zh-CN" sz="2000" b="1" dirty="0">
                    <a:effectLst/>
                  </a:rPr>
                  <a:t>      </a:t>
                </a:r>
                <a:r>
                  <a:rPr lang="zh-CN" altLang="zh-CN" sz="2000" b="1" dirty="0">
                    <a:effectLst/>
                  </a:rPr>
                  <a:t>对应的广度优先生成森林</a:t>
                </a:r>
                <a:r>
                  <a:rPr lang="zh-CN" altLang="en-US" sz="2000" b="1" dirty="0">
                    <a:effectLst/>
                  </a:rPr>
                  <a:t>下图</a:t>
                </a:r>
                <a:r>
                  <a:rPr lang="zh-CN" altLang="zh-CN" sz="2000" b="1" dirty="0">
                    <a:effectLst/>
                  </a:rPr>
                  <a:t>所示</a:t>
                </a:r>
                <a:r>
                  <a:rPr lang="zh-CN" altLang="en-US" sz="2000" b="1" dirty="0">
                    <a:effectLst/>
                  </a:rPr>
                  <a:t>：</a:t>
                </a:r>
                <a:endParaRPr lang="zh-CN" altLang="zh-CN" sz="2000" b="1" dirty="0">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467544" y="1772345"/>
                <a:ext cx="8352928" cy="1904677"/>
              </a:xfrm>
              <a:blipFill>
                <a:blip r:embed="rId2"/>
                <a:stretch>
                  <a:fillRect t="-1923" b="-3526"/>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61CDA0AE-6406-43FB-AA19-63005710076E}"/>
              </a:ext>
            </a:extLst>
          </p:cNvPr>
          <p:cNvPicPr>
            <a:picLocks noChangeAspect="1"/>
          </p:cNvPicPr>
          <p:nvPr/>
        </p:nvPicPr>
        <p:blipFill>
          <a:blip r:embed="rId5"/>
          <a:stretch>
            <a:fillRect/>
          </a:stretch>
        </p:blipFill>
        <p:spPr>
          <a:xfrm>
            <a:off x="251520" y="3749154"/>
            <a:ext cx="8801153" cy="2480692"/>
          </a:xfrm>
          <a:prstGeom prst="rect">
            <a:avLst/>
          </a:prstGeom>
        </p:spPr>
      </p:pic>
    </p:spTree>
    <p:extLst>
      <p:ext uri="{BB962C8B-B14F-4D97-AF65-F5344CB8AC3E}">
        <p14:creationId xmlns:p14="http://schemas.microsoft.com/office/powerpoint/2010/main" val="4071043836"/>
      </p:ext>
    </p:extLst>
  </p:cSld>
  <p:clrMapOvr>
    <a:masterClrMapping/>
  </p:clrMapOvr>
  <p:transition spd="med">
    <p:wipe dir="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116</a:t>
            </a:fld>
            <a:endParaRPr lang="en-US" altLang="zh-CN" sz="1400" b="1">
              <a:latin typeface="Times New Roman" panose="02020603050405020304" pitchFamily="18" charset="0"/>
              <a:ea typeface="宋体" panose="02010600030101010101" pitchFamily="2" charset="-122"/>
            </a:endParaRPr>
          </a:p>
        </p:txBody>
      </p:sp>
      <p:sp>
        <p:nvSpPr>
          <p:cNvPr id="34821"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图的基本算法</a:t>
            </a:r>
          </a:p>
        </p:txBody>
      </p:sp>
      <p:sp>
        <p:nvSpPr>
          <p:cNvPr id="34822" name="Rectangle 3"/>
          <p:cNvSpPr>
            <a:spLocks noGrp="1" noChangeArrowheads="1"/>
          </p:cNvSpPr>
          <p:nvPr>
            <p:ph type="body" idx="4294967295"/>
          </p:nvPr>
        </p:nvSpPr>
        <p:spPr>
          <a:xfrm>
            <a:off x="2580953" y="2181201"/>
            <a:ext cx="3863255" cy="3552055"/>
          </a:xfrm>
          <a:noFill/>
        </p:spPr>
        <p:txBody>
          <a:bodyPr lIns="92075" tIns="46038" rIns="92075" bIns="46038"/>
          <a:lstStyle/>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深度优先遍历</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广度优先遍历 </a:t>
            </a:r>
            <a:endParaRPr lang="en-US" altLang="zh-CN" sz="3600" b="1" dirty="0">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J"/>
            </a:pPr>
            <a:r>
              <a:rPr lang="en-US" altLang="zh-CN" sz="3600" b="1" dirty="0">
                <a:solidFill>
                  <a:schemeClr val="accent2"/>
                </a:solidFill>
                <a:effectLst/>
                <a:latin typeface="黑体" panose="02010609060101010101" pitchFamily="49" charset="-122"/>
                <a:ea typeface="黑体" panose="02010609060101010101" pitchFamily="49" charset="-122"/>
                <a:cs typeface="楷体_GB2312" pitchFamily="49" charset="-122"/>
              </a:rPr>
              <a:t> </a:t>
            </a:r>
            <a:r>
              <a:rPr lang="zh-CN" altLang="en-US" sz="3600" b="1" dirty="0">
                <a:solidFill>
                  <a:schemeClr val="accent2"/>
                </a:solidFill>
                <a:effectLst/>
                <a:latin typeface="黑体" panose="02010609060101010101" pitchFamily="49" charset="-122"/>
                <a:ea typeface="黑体" panose="02010609060101010101" pitchFamily="49" charset="-122"/>
                <a:cs typeface="楷体_GB2312" pitchFamily="49" charset="-122"/>
              </a:rPr>
              <a:t>单源最短路径</a:t>
            </a:r>
            <a:endParaRPr lang="en-US" altLang="zh-CN" sz="3600" b="1" dirty="0">
              <a:solidFill>
                <a:schemeClr val="accent2"/>
              </a:solidFill>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多源最短路径</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4428883"/>
      </p:ext>
    </p:extLst>
  </p:cSld>
  <p:clrMapOvr>
    <a:masterClrMapping/>
  </p:clrMapOvr>
  <p:transition spd="med">
    <p:wipe dir="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04579" name="Rectangle 3"/>
              <p:cNvSpPr>
                <a:spLocks noGrp="1" noChangeArrowheads="1"/>
              </p:cNvSpPr>
              <p:nvPr>
                <p:ph idx="1"/>
              </p:nvPr>
            </p:nvSpPr>
            <p:spPr>
              <a:xfrm>
                <a:off x="251520" y="1752365"/>
                <a:ext cx="8784976" cy="4393083"/>
              </a:xfrm>
              <a:solidFill>
                <a:schemeClr val="accent5"/>
              </a:solidFill>
              <a:ln>
                <a:noFill/>
              </a:ln>
            </p:spPr>
            <p:txBody>
              <a:bodyPr/>
              <a:lstStyle/>
              <a:p>
                <a:pPr marL="0" indent="0" eaLnBrk="1" hangingPunct="1">
                  <a:lnSpc>
                    <a:spcPct val="120000"/>
                  </a:lnSpc>
                  <a:buFontTx/>
                  <a:buNone/>
                  <a:defRPr/>
                </a:pPr>
                <a:r>
                  <a:rPr lang="en-US" altLang="zh-CN" b="1" dirty="0">
                    <a:effectLst/>
                  </a:rPr>
                  <a:t>      </a:t>
                </a:r>
                <a:r>
                  <a:rPr lang="zh-CN" altLang="zh-CN" b="1" dirty="0">
                    <a:solidFill>
                      <a:srgbClr val="0000FF"/>
                    </a:solidFill>
                    <a:effectLst/>
                  </a:rPr>
                  <a:t>最短路径，就是图</a:t>
                </a:r>
                <a:r>
                  <a:rPr lang="zh-CN" altLang="en-US" b="1" dirty="0">
                    <a:solidFill>
                      <a:srgbClr val="0000FF"/>
                    </a:solidFill>
                    <a:effectLst/>
                  </a:rPr>
                  <a:t>模型</a:t>
                </a:r>
                <a:r>
                  <a:rPr lang="zh-CN" altLang="zh-CN" b="1" dirty="0">
                    <a:solidFill>
                      <a:srgbClr val="0000FF"/>
                    </a:solidFill>
                    <a:effectLst/>
                  </a:rPr>
                  <a:t>中一个结点到另一个结点的之间最短的距离。</a:t>
                </a:r>
                <a:endParaRPr lang="en-US" altLang="zh-CN" b="1" dirty="0">
                  <a:solidFill>
                    <a:srgbClr val="0000FF"/>
                  </a:solidFill>
                  <a:effectLst/>
                </a:endParaRPr>
              </a:p>
              <a:p>
                <a:pPr marL="0" indent="0" eaLnBrk="1" hangingPunct="1">
                  <a:lnSpc>
                    <a:spcPct val="120000"/>
                  </a:lnSpc>
                  <a:buFontTx/>
                  <a:buNone/>
                  <a:defRPr/>
                </a:pPr>
                <a:r>
                  <a:rPr lang="en-US" altLang="zh-CN" b="1" dirty="0">
                    <a:effectLst/>
                  </a:rPr>
                  <a:t>      </a:t>
                </a:r>
                <a:r>
                  <a:rPr lang="zh-CN" altLang="zh-CN" b="1" dirty="0">
                    <a:effectLst/>
                  </a:rPr>
                  <a:t>日常生活中涉及到最短路径计算问题的实际案例有很多，比如在地图上查找两地之间最短路径；路由选择中从</a:t>
                </a:r>
                <a:r>
                  <a:rPr lang="zh-CN" altLang="en-US" b="1" dirty="0">
                    <a:effectLst/>
                  </a:rPr>
                  <a:t>某</a:t>
                </a:r>
                <a:r>
                  <a:rPr lang="zh-CN" altLang="zh-CN" b="1" dirty="0">
                    <a:effectLst/>
                  </a:rPr>
                  <a:t>个路由器出发查找距离目的地最近的一条路径等。</a:t>
                </a:r>
                <a:endParaRPr lang="en-US" altLang="zh-CN" b="1" dirty="0">
                  <a:effectLst/>
                </a:endParaRPr>
              </a:p>
              <a:p>
                <a:pPr marL="0" indent="0" eaLnBrk="1" hangingPunct="1">
                  <a:lnSpc>
                    <a:spcPct val="120000"/>
                  </a:lnSpc>
                  <a:buFontTx/>
                  <a:buNone/>
                  <a:defRPr/>
                </a:pPr>
                <a:r>
                  <a:rPr lang="en-US" altLang="zh-CN" b="1" dirty="0">
                    <a:effectLst/>
                  </a:rPr>
                  <a:t>      </a:t>
                </a:r>
                <a:r>
                  <a:rPr lang="zh-CN" altLang="zh-CN" b="1" dirty="0">
                    <a:effectLst/>
                  </a:rPr>
                  <a:t>最短路径的求解主要有两种算法，</a:t>
                </a:r>
                <a:endParaRPr lang="en-US" altLang="zh-CN" b="1" dirty="0">
                  <a:effectLst/>
                </a:endParaRPr>
              </a:p>
              <a:p>
                <a:pPr marL="0" indent="0" eaLnBrk="1" hangingPunct="1">
                  <a:lnSpc>
                    <a:spcPct val="120000"/>
                  </a:lnSpc>
                  <a:buFontTx/>
                  <a:buNone/>
                  <a:defRPr/>
                </a:pPr>
                <a:r>
                  <a:rPr lang="en-US" altLang="zh-CN" b="1" dirty="0">
                    <a:effectLst/>
                  </a:rPr>
                  <a:t>    </a:t>
                </a:r>
                <a:r>
                  <a:rPr lang="zh-CN" altLang="en-US" b="1" dirty="0">
                    <a:effectLst/>
                  </a:rPr>
                  <a:t>（</a:t>
                </a:r>
                <a:r>
                  <a:rPr lang="en-US" altLang="zh-CN" b="1" dirty="0">
                    <a:effectLst/>
                  </a:rPr>
                  <a:t>1</a:t>
                </a:r>
                <a:r>
                  <a:rPr lang="zh-CN" altLang="en-US" b="1" dirty="0">
                    <a:effectLst/>
                  </a:rPr>
                  <a:t>）</a:t>
                </a:r>
                <a:r>
                  <a:rPr lang="zh-CN" altLang="zh-CN" b="1" dirty="0">
                    <a:solidFill>
                      <a:schemeClr val="accent6"/>
                    </a:solidFill>
                    <a:effectLst/>
                  </a:rPr>
                  <a:t>单源最短路径算法</a:t>
                </a:r>
                <a:r>
                  <a:rPr lang="zh-CN" altLang="zh-CN" b="1" dirty="0">
                    <a:effectLst/>
                  </a:rPr>
                  <a:t>，即一个结点到其他所有剩余结点的最短路径，</a:t>
                </a:r>
                <a:r>
                  <a:rPr lang="zh-CN" altLang="zh-CN" b="1" dirty="0">
                    <a:solidFill>
                      <a:schemeClr val="accent6"/>
                    </a:solidFill>
                    <a:effectLst/>
                  </a:rPr>
                  <a:t>迪杰斯特拉算法</a:t>
                </a:r>
                <a:r>
                  <a:rPr lang="zh-CN" altLang="en-US" b="1" dirty="0">
                    <a:effectLst/>
                  </a:rPr>
                  <a:t>为代表</a:t>
                </a:r>
                <a:r>
                  <a:rPr lang="zh-CN" altLang="zh-CN" dirty="0">
                    <a:solidFill>
                      <a:schemeClr val="accent6">
                        <a:lumMod val="50000"/>
                      </a:schemeClr>
                    </a:solidFill>
                    <a:effectLst/>
                  </a:rPr>
                  <a:t>；</a:t>
                </a:r>
                <a:endParaRPr lang="en-US" altLang="zh-CN" dirty="0">
                  <a:solidFill>
                    <a:schemeClr val="accent6">
                      <a:lumMod val="50000"/>
                    </a:schemeClr>
                  </a:solidFill>
                  <a:effectLst/>
                </a:endParaRPr>
              </a:p>
              <a:p>
                <a:pPr marL="0" indent="0" eaLnBrk="1" hangingPunct="1">
                  <a:lnSpc>
                    <a:spcPct val="120000"/>
                  </a:lnSpc>
                  <a:buFontTx/>
                  <a:buNone/>
                  <a:defRPr/>
                </a:pPr>
                <a:r>
                  <a:rPr lang="en-US" altLang="zh-CN" b="1" dirty="0">
                    <a:effectLst/>
                  </a:rPr>
                  <a:t>    </a:t>
                </a:r>
                <a:r>
                  <a:rPr lang="zh-CN" altLang="en-US" b="1" dirty="0">
                    <a:effectLst/>
                  </a:rPr>
                  <a:t>（</a:t>
                </a:r>
                <a:r>
                  <a:rPr lang="en-US" altLang="zh-CN" b="1" dirty="0">
                    <a:effectLst/>
                  </a:rPr>
                  <a:t>2</a:t>
                </a:r>
                <a:r>
                  <a:rPr lang="zh-CN" altLang="en-US" b="1" dirty="0">
                    <a:effectLst/>
                  </a:rPr>
                  <a:t>）</a:t>
                </a:r>
                <a:r>
                  <a:rPr lang="zh-CN" altLang="en-US" b="1" dirty="0">
                    <a:solidFill>
                      <a:schemeClr val="accent6"/>
                    </a:solidFill>
                    <a:effectLst/>
                  </a:rPr>
                  <a:t>多</a:t>
                </a:r>
                <a:r>
                  <a:rPr lang="zh-CN" altLang="zh-CN" b="1" dirty="0">
                    <a:solidFill>
                      <a:schemeClr val="accent6"/>
                    </a:solidFill>
                    <a:effectLst/>
                  </a:rPr>
                  <a:t>源最短路径算法</a:t>
                </a:r>
                <a:r>
                  <a:rPr lang="zh-CN" altLang="zh-CN" b="1" dirty="0">
                    <a:effectLst/>
                  </a:rPr>
                  <a:t>，</a:t>
                </a:r>
                <a:r>
                  <a:rPr lang="zh-CN" altLang="zh-CN" b="1" dirty="0">
                    <a:solidFill>
                      <a:schemeClr val="accent6"/>
                    </a:solidFill>
                    <a:effectLst/>
                  </a:rPr>
                  <a:t>沃舍尔</a:t>
                </a:r>
                <a14:m>
                  <m:oMath xmlns:m="http://schemas.openxmlformats.org/officeDocument/2006/math">
                    <m:r>
                      <a:rPr lang="en-US" altLang="zh-CN" b="1" i="1">
                        <a:solidFill>
                          <a:schemeClr val="accent6"/>
                        </a:solidFill>
                        <a:effectLst/>
                        <a:latin typeface="Cambria Math" panose="02040503050406030204" pitchFamily="18" charset="0"/>
                      </a:rPr>
                      <m:t>∙</m:t>
                    </m:r>
                  </m:oMath>
                </a14:m>
                <a:r>
                  <a:rPr lang="zh-CN" altLang="zh-CN" b="1" dirty="0">
                    <a:solidFill>
                      <a:schemeClr val="accent6"/>
                    </a:solidFill>
                    <a:effectLst/>
                  </a:rPr>
                  <a:t>弗洛伊德</a:t>
                </a:r>
                <a:r>
                  <a:rPr lang="zh-CN" altLang="zh-CN" b="1" dirty="0">
                    <a:effectLst/>
                  </a:rPr>
                  <a:t>算法</a:t>
                </a:r>
                <a:r>
                  <a:rPr lang="zh-CN" altLang="en-US" b="1" dirty="0">
                    <a:effectLst/>
                  </a:rPr>
                  <a:t>为代表</a:t>
                </a:r>
                <a:r>
                  <a:rPr lang="zh-CN" altLang="zh-CN" b="1" dirty="0">
                    <a:effectLst/>
                  </a:rPr>
                  <a:t>。</a:t>
                </a:r>
                <a:endParaRPr lang="zh-CN" altLang="en-US" b="1" dirty="0">
                  <a:cs typeface="楷体_GB2312" pitchFamily="49" charset="-122"/>
                </a:endParaRPr>
              </a:p>
            </p:txBody>
          </p:sp>
        </mc:Choice>
        <mc:Fallback xmlns="">
          <p:sp>
            <p:nvSpPr>
              <p:cNvPr id="1304579" name="Rectangle 3"/>
              <p:cNvSpPr>
                <a:spLocks noGrp="1" noRot="1" noChangeAspect="1" noMove="1" noResize="1" noEditPoints="1" noAdjustHandles="1" noChangeArrowheads="1" noChangeShapeType="1" noTextEdit="1"/>
              </p:cNvSpPr>
              <p:nvPr>
                <p:ph idx="1"/>
              </p:nvPr>
            </p:nvSpPr>
            <p:spPr>
              <a:xfrm>
                <a:off x="251520" y="1752365"/>
                <a:ext cx="8784976" cy="4393083"/>
              </a:xfrm>
              <a:blipFill>
                <a:blip r:embed="rId2"/>
                <a:stretch>
                  <a:fillRect l="-1041" t="-277" r="-347" b="-971"/>
                </a:stretch>
              </a:blipFill>
              <a:ln>
                <a:noFill/>
              </a:ln>
            </p:spPr>
            <p:txBody>
              <a:bodyPr/>
              <a:lstStyle/>
              <a:p>
                <a:r>
                  <a:rPr lang="zh-CN" altLang="en-US">
                    <a:noFill/>
                  </a:rPr>
                  <a:t> </a:t>
                </a:r>
              </a:p>
            </p:txBody>
          </p:sp>
        </mc:Fallback>
      </mc:AlternateContent>
      <p:sp>
        <p:nvSpPr>
          <p:cNvPr id="199683"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5E55E2ED-A6D9-4230-8ECA-5BB5C21F9ED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9684"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最短路径问题</a:t>
            </a:r>
          </a:p>
        </p:txBody>
      </p:sp>
      <p:pic>
        <p:nvPicPr>
          <p:cNvPr id="199685"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55437" y="476250"/>
            <a:ext cx="988563"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6529145"/>
      </p:ext>
    </p:extLst>
  </p:cSld>
  <p:clrMapOvr>
    <a:masterClrMapping/>
  </p:clrMapOvr>
  <p:transition spd="med">
    <p:wipe dir="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ED8DE390-8CDA-48F6-B57C-EFFB20036E51}"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2755"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单源最短路径</a:t>
            </a:r>
          </a:p>
        </p:txBody>
      </p:sp>
      <p:pic>
        <p:nvPicPr>
          <p:cNvPr id="20275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2757" name="Picture 41" descr="QQ截图201509201222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700213"/>
            <a:ext cx="7559675"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6961551"/>
      </p:ext>
    </p:extLst>
  </p:cSld>
  <p:clrMapOvr>
    <a:masterClrMapping/>
  </p:clrMapOvr>
  <p:transition spd="med">
    <p:wipe dir="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6EC7D20-97DB-4AA0-A4B9-5F558FA41239}"/>
              </a:ext>
            </a:extLst>
          </p:cNvPr>
          <p:cNvSpPr txBox="1"/>
          <p:nvPr/>
        </p:nvSpPr>
        <p:spPr>
          <a:xfrm>
            <a:off x="409982" y="1833550"/>
            <a:ext cx="8604448" cy="4392488"/>
          </a:xfrm>
          <a:prstGeom prst="rect">
            <a:avLst/>
          </a:prstGeom>
          <a:solidFill>
            <a:schemeClr val="accent3">
              <a:lumMod val="95000"/>
            </a:schemeClr>
          </a:solidFill>
        </p:spPr>
        <p:txBody>
          <a:bodyPr wrap="square" rtlCol="0">
            <a:spAutoFit/>
          </a:bodyPr>
          <a:lstStyle/>
          <a:p>
            <a:endParaRPr lang="zh-CN" altLang="en-US" dirty="0"/>
          </a:p>
        </p:txBody>
      </p:sp>
      <p:sp>
        <p:nvSpPr>
          <p:cNvPr id="203778"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AE0D1C3-3E5F-4568-88E5-698A487C9DFB}"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grpSp>
        <p:nvGrpSpPr>
          <p:cNvPr id="203779" name="Group 5"/>
          <p:cNvGrpSpPr>
            <a:grpSpLocks noChangeAspect="1"/>
          </p:cNvGrpSpPr>
          <p:nvPr/>
        </p:nvGrpSpPr>
        <p:grpSpPr bwMode="auto">
          <a:xfrm>
            <a:off x="755650" y="3984625"/>
            <a:ext cx="3540125" cy="2036763"/>
            <a:chOff x="1916" y="8429"/>
            <a:chExt cx="2789" cy="1606"/>
          </a:xfrm>
        </p:grpSpPr>
        <p:sp>
          <p:nvSpPr>
            <p:cNvPr id="203808" name="Text Box 6"/>
            <p:cNvSpPr txBox="1">
              <a:spLocks noChangeAspect="1" noChangeArrowheads="1"/>
            </p:cNvSpPr>
            <p:nvPr/>
          </p:nvSpPr>
          <p:spPr bwMode="auto">
            <a:xfrm>
              <a:off x="1916" y="9062"/>
              <a:ext cx="170" cy="28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0</a:t>
              </a:r>
            </a:p>
          </p:txBody>
        </p:sp>
        <p:sp>
          <p:nvSpPr>
            <p:cNvPr id="203809" name="Oval 7"/>
            <p:cNvSpPr>
              <a:spLocks noChangeAspect="1" noChangeArrowheads="1"/>
            </p:cNvSpPr>
            <p:nvPr/>
          </p:nvSpPr>
          <p:spPr bwMode="auto">
            <a:xfrm>
              <a:off x="2110" y="9203"/>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4898" name="Line 8"/>
            <p:cNvSpPr>
              <a:spLocks noChangeAspect="1" noChangeShapeType="1"/>
            </p:cNvSpPr>
            <p:nvPr/>
          </p:nvSpPr>
          <p:spPr bwMode="auto">
            <a:xfrm>
              <a:off x="2172" y="9260"/>
              <a:ext cx="568"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899" name="Line 9"/>
            <p:cNvSpPr>
              <a:spLocks noChangeAspect="1" noChangeShapeType="1"/>
            </p:cNvSpPr>
            <p:nvPr/>
          </p:nvSpPr>
          <p:spPr bwMode="auto">
            <a:xfrm flipV="1">
              <a:off x="2172" y="8748"/>
              <a:ext cx="568" cy="454"/>
            </a:xfrm>
            <a:prstGeom prst="line">
              <a:avLst/>
            </a:prstGeom>
            <a:noFill/>
            <a:ln w="57150">
              <a:solidFill>
                <a:srgbClr val="0070C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900" name="Line 10"/>
            <p:cNvSpPr>
              <a:spLocks noChangeAspect="1" noChangeShapeType="1"/>
            </p:cNvSpPr>
            <p:nvPr/>
          </p:nvSpPr>
          <p:spPr bwMode="auto">
            <a:xfrm>
              <a:off x="3867" y="8769"/>
              <a:ext cx="567"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901" name="Line 11"/>
            <p:cNvSpPr>
              <a:spLocks noChangeAspect="1" noChangeShapeType="1"/>
            </p:cNvSpPr>
            <p:nvPr/>
          </p:nvSpPr>
          <p:spPr bwMode="auto">
            <a:xfrm flipV="1">
              <a:off x="3878" y="9238"/>
              <a:ext cx="567"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3814" name="Oval 12"/>
            <p:cNvSpPr>
              <a:spLocks noChangeAspect="1" noChangeArrowheads="1"/>
            </p:cNvSpPr>
            <p:nvPr/>
          </p:nvSpPr>
          <p:spPr bwMode="auto">
            <a:xfrm>
              <a:off x="2737" y="8726"/>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3815" name="Oval 13"/>
            <p:cNvSpPr>
              <a:spLocks noChangeAspect="1" noChangeArrowheads="1"/>
            </p:cNvSpPr>
            <p:nvPr/>
          </p:nvSpPr>
          <p:spPr bwMode="auto">
            <a:xfrm>
              <a:off x="2737" y="9679"/>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4904" name="Line 14"/>
            <p:cNvSpPr>
              <a:spLocks noChangeAspect="1" noChangeShapeType="1"/>
            </p:cNvSpPr>
            <p:nvPr/>
          </p:nvSpPr>
          <p:spPr bwMode="auto">
            <a:xfrm>
              <a:off x="2791" y="8754"/>
              <a:ext cx="1021"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905" name="Line 15"/>
            <p:cNvSpPr>
              <a:spLocks noChangeAspect="1" noChangeShapeType="1"/>
            </p:cNvSpPr>
            <p:nvPr/>
          </p:nvSpPr>
          <p:spPr bwMode="auto">
            <a:xfrm>
              <a:off x="2791" y="9708"/>
              <a:ext cx="1021"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3818" name="Text Box 16"/>
            <p:cNvSpPr txBox="1">
              <a:spLocks noChangeAspect="1" noChangeArrowheads="1"/>
            </p:cNvSpPr>
            <p:nvPr/>
          </p:nvSpPr>
          <p:spPr bwMode="auto">
            <a:xfrm>
              <a:off x="2650" y="9709"/>
              <a:ext cx="454"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dirty="0">
                  <a:solidFill>
                    <a:srgbClr val="FF0000"/>
                  </a:solidFill>
                  <a:latin typeface="黑体" panose="02010609060101010101" pitchFamily="49" charset="-122"/>
                </a:rPr>
                <a:t>4(v</a:t>
              </a:r>
              <a:r>
                <a:rPr kumimoji="0" lang="en-US" altLang="zh-CN" sz="2000" b="1" baseline="-25000" dirty="0">
                  <a:solidFill>
                    <a:srgbClr val="FF0000"/>
                  </a:solidFill>
                  <a:latin typeface="黑体" panose="02010609060101010101" pitchFamily="49" charset="-122"/>
                </a:rPr>
                <a:t>1</a:t>
              </a:r>
              <a:r>
                <a:rPr kumimoji="0" lang="en-US" altLang="zh-CN" sz="2000" b="1" dirty="0">
                  <a:solidFill>
                    <a:srgbClr val="FF0000"/>
                  </a:solidFill>
                  <a:latin typeface="黑体" panose="02010609060101010101" pitchFamily="49" charset="-122"/>
                </a:rPr>
                <a:t>)</a:t>
              </a:r>
            </a:p>
          </p:txBody>
        </p:sp>
        <p:sp>
          <p:nvSpPr>
            <p:cNvPr id="203819" name="Text Box 17"/>
            <p:cNvSpPr txBox="1">
              <a:spLocks noChangeAspect="1" noChangeArrowheads="1"/>
            </p:cNvSpPr>
            <p:nvPr/>
          </p:nvSpPr>
          <p:spPr bwMode="auto">
            <a:xfrm>
              <a:off x="2643" y="8429"/>
              <a:ext cx="454"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1(v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a:t>
              </a:r>
            </a:p>
          </p:txBody>
        </p:sp>
        <p:sp>
          <p:nvSpPr>
            <p:cNvPr id="203820" name="Oval 18"/>
            <p:cNvSpPr>
              <a:spLocks noChangeAspect="1" noChangeArrowheads="1"/>
            </p:cNvSpPr>
            <p:nvPr/>
          </p:nvSpPr>
          <p:spPr bwMode="auto">
            <a:xfrm>
              <a:off x="3810" y="8726"/>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3821" name="Oval 19"/>
            <p:cNvSpPr>
              <a:spLocks noChangeAspect="1" noChangeArrowheads="1"/>
            </p:cNvSpPr>
            <p:nvPr/>
          </p:nvSpPr>
          <p:spPr bwMode="auto">
            <a:xfrm>
              <a:off x="3810" y="9679"/>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3822" name="Text Box 20"/>
            <p:cNvSpPr txBox="1">
              <a:spLocks noChangeAspect="1" noChangeArrowheads="1"/>
            </p:cNvSpPr>
            <p:nvPr/>
          </p:nvSpPr>
          <p:spPr bwMode="auto">
            <a:xfrm>
              <a:off x="3711" y="9752"/>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zh-CN" altLang="en-US" sz="2000" b="1">
                  <a:solidFill>
                    <a:srgbClr val="FF0000"/>
                  </a:solidFill>
                  <a:latin typeface="黑体" panose="02010609060101010101" pitchFamily="49" charset="-122"/>
                </a:rPr>
                <a:t>∞</a:t>
              </a:r>
            </a:p>
            <a:p>
              <a:pPr eaLnBrk="1" hangingPunct="1">
                <a:spcBef>
                  <a:spcPct val="0"/>
                </a:spcBef>
                <a:buFontTx/>
                <a:buNone/>
              </a:pPr>
              <a:endParaRPr kumimoji="0" lang="zh-CN" altLang="en-US" sz="2000" b="1">
                <a:solidFill>
                  <a:srgbClr val="FF0000"/>
                </a:solidFill>
                <a:latin typeface="黑体" panose="02010609060101010101" pitchFamily="49" charset="-122"/>
              </a:endParaRPr>
            </a:p>
          </p:txBody>
        </p:sp>
        <p:sp>
          <p:nvSpPr>
            <p:cNvPr id="203823" name="Text Box 21"/>
            <p:cNvSpPr txBox="1">
              <a:spLocks noChangeAspect="1" noChangeArrowheads="1"/>
            </p:cNvSpPr>
            <p:nvPr/>
          </p:nvSpPr>
          <p:spPr bwMode="auto">
            <a:xfrm>
              <a:off x="3711" y="8429"/>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zh-CN" altLang="en-US" sz="2000" b="1">
                  <a:solidFill>
                    <a:srgbClr val="FF0000"/>
                  </a:solidFill>
                  <a:latin typeface="黑体" panose="02010609060101010101" pitchFamily="49" charset="-122"/>
                </a:rPr>
                <a:t>∞</a:t>
              </a:r>
            </a:p>
          </p:txBody>
        </p:sp>
        <p:sp>
          <p:nvSpPr>
            <p:cNvPr id="203824" name="Oval 22"/>
            <p:cNvSpPr>
              <a:spLocks noChangeAspect="1" noChangeArrowheads="1"/>
            </p:cNvSpPr>
            <p:nvPr/>
          </p:nvSpPr>
          <p:spPr bwMode="auto">
            <a:xfrm>
              <a:off x="4410" y="9203"/>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4913" name="Line 23"/>
            <p:cNvSpPr>
              <a:spLocks noChangeAspect="1" noChangeShapeType="1"/>
            </p:cNvSpPr>
            <p:nvPr/>
          </p:nvSpPr>
          <p:spPr bwMode="auto">
            <a:xfrm>
              <a:off x="2764" y="8774"/>
              <a:ext cx="0" cy="90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914" name="Line 24"/>
            <p:cNvSpPr>
              <a:spLocks noChangeAspect="1" noChangeShapeType="1"/>
            </p:cNvSpPr>
            <p:nvPr/>
          </p:nvSpPr>
          <p:spPr bwMode="auto">
            <a:xfrm>
              <a:off x="3840" y="8769"/>
              <a:ext cx="0" cy="90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915" name="Line 25"/>
            <p:cNvSpPr>
              <a:spLocks noChangeAspect="1" noChangeShapeType="1"/>
            </p:cNvSpPr>
            <p:nvPr/>
          </p:nvSpPr>
          <p:spPr bwMode="auto">
            <a:xfrm>
              <a:off x="2786" y="8769"/>
              <a:ext cx="1019" cy="90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3828" name="Text Box 26"/>
            <p:cNvSpPr txBox="1">
              <a:spLocks noChangeAspect="1" noChangeArrowheads="1"/>
            </p:cNvSpPr>
            <p:nvPr/>
          </p:nvSpPr>
          <p:spPr bwMode="auto">
            <a:xfrm>
              <a:off x="4478" y="9062"/>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zh-CN" altLang="en-US" sz="2000" b="1">
                  <a:solidFill>
                    <a:srgbClr val="FF0000"/>
                  </a:solidFill>
                  <a:latin typeface="黑体" panose="02010609060101010101" pitchFamily="49" charset="-122"/>
                </a:rPr>
                <a:t>∞</a:t>
              </a:r>
            </a:p>
            <a:p>
              <a:pPr eaLnBrk="1" hangingPunct="1">
                <a:spcBef>
                  <a:spcPct val="0"/>
                </a:spcBef>
                <a:buFontTx/>
                <a:buNone/>
              </a:pPr>
              <a:endParaRPr kumimoji="0" lang="zh-CN" altLang="en-US" sz="2000" b="1">
                <a:solidFill>
                  <a:srgbClr val="FF0000"/>
                </a:solidFill>
                <a:latin typeface="黑体" panose="02010609060101010101" pitchFamily="49" charset="-122"/>
              </a:endParaRPr>
            </a:p>
          </p:txBody>
        </p:sp>
      </p:grpSp>
      <p:sp>
        <p:nvSpPr>
          <p:cNvPr id="1309723" name="Line 27"/>
          <p:cNvSpPr>
            <a:spLocks noChangeAspect="1" noChangeShapeType="1"/>
          </p:cNvSpPr>
          <p:nvPr/>
        </p:nvSpPr>
        <p:spPr bwMode="auto">
          <a:xfrm>
            <a:off x="4352925" y="5013325"/>
            <a:ext cx="358775" cy="0"/>
          </a:xfrm>
          <a:prstGeom prst="line">
            <a:avLst/>
          </a:prstGeom>
          <a:noFill/>
          <a:ln w="76200" cmpd="tri">
            <a:solidFill>
              <a:srgbClr val="0000FF"/>
            </a:solidFill>
            <a:round/>
            <a:headEnd/>
            <a:tailEnd type="stealth" w="lg" len="sm"/>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grpSp>
        <p:nvGrpSpPr>
          <p:cNvPr id="203781" name="Group 28"/>
          <p:cNvGrpSpPr>
            <a:grpSpLocks noChangeAspect="1"/>
          </p:cNvGrpSpPr>
          <p:nvPr/>
        </p:nvGrpSpPr>
        <p:grpSpPr bwMode="auto">
          <a:xfrm>
            <a:off x="4768850" y="4005263"/>
            <a:ext cx="3546475" cy="1981200"/>
            <a:chOff x="5516" y="8428"/>
            <a:chExt cx="2794" cy="1563"/>
          </a:xfrm>
        </p:grpSpPr>
        <p:sp>
          <p:nvSpPr>
            <p:cNvPr id="203786" name="Text Box 29"/>
            <p:cNvSpPr txBox="1">
              <a:spLocks noChangeAspect="1" noChangeArrowheads="1"/>
            </p:cNvSpPr>
            <p:nvPr/>
          </p:nvSpPr>
          <p:spPr bwMode="auto">
            <a:xfrm>
              <a:off x="5516" y="9061"/>
              <a:ext cx="170" cy="28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0</a:t>
              </a:r>
            </a:p>
          </p:txBody>
        </p:sp>
        <p:sp>
          <p:nvSpPr>
            <p:cNvPr id="203787" name="Oval 30"/>
            <p:cNvSpPr>
              <a:spLocks noChangeAspect="1" noChangeArrowheads="1"/>
            </p:cNvSpPr>
            <p:nvPr/>
          </p:nvSpPr>
          <p:spPr bwMode="auto">
            <a:xfrm>
              <a:off x="5710" y="9202"/>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4876" name="Line 31"/>
            <p:cNvSpPr>
              <a:spLocks noChangeAspect="1" noChangeShapeType="1"/>
            </p:cNvSpPr>
            <p:nvPr/>
          </p:nvSpPr>
          <p:spPr bwMode="auto">
            <a:xfrm>
              <a:off x="5772" y="9260"/>
              <a:ext cx="568"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877" name="Line 32"/>
            <p:cNvSpPr>
              <a:spLocks noChangeAspect="1" noChangeShapeType="1"/>
            </p:cNvSpPr>
            <p:nvPr/>
          </p:nvSpPr>
          <p:spPr bwMode="auto">
            <a:xfrm flipV="1">
              <a:off x="5772" y="8747"/>
              <a:ext cx="568" cy="453"/>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878" name="Line 33"/>
            <p:cNvSpPr>
              <a:spLocks noChangeAspect="1" noChangeShapeType="1"/>
            </p:cNvSpPr>
            <p:nvPr/>
          </p:nvSpPr>
          <p:spPr bwMode="auto">
            <a:xfrm>
              <a:off x="7472" y="8769"/>
              <a:ext cx="567" cy="45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879" name="Line 34"/>
            <p:cNvSpPr>
              <a:spLocks noChangeAspect="1" noChangeShapeType="1"/>
            </p:cNvSpPr>
            <p:nvPr/>
          </p:nvSpPr>
          <p:spPr bwMode="auto">
            <a:xfrm flipV="1">
              <a:off x="7483" y="9237"/>
              <a:ext cx="567"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3792" name="Oval 35"/>
            <p:cNvSpPr>
              <a:spLocks noChangeAspect="1" noChangeArrowheads="1"/>
            </p:cNvSpPr>
            <p:nvPr/>
          </p:nvSpPr>
          <p:spPr bwMode="auto">
            <a:xfrm>
              <a:off x="6337" y="8725"/>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3793" name="Oval 36"/>
            <p:cNvSpPr>
              <a:spLocks noChangeAspect="1" noChangeArrowheads="1"/>
            </p:cNvSpPr>
            <p:nvPr/>
          </p:nvSpPr>
          <p:spPr bwMode="auto">
            <a:xfrm>
              <a:off x="6337" y="9678"/>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4882" name="Line 37"/>
            <p:cNvSpPr>
              <a:spLocks noChangeAspect="1" noChangeShapeType="1"/>
            </p:cNvSpPr>
            <p:nvPr/>
          </p:nvSpPr>
          <p:spPr bwMode="auto">
            <a:xfrm>
              <a:off x="6391" y="8754"/>
              <a:ext cx="1021"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883" name="Line 38"/>
            <p:cNvSpPr>
              <a:spLocks noChangeAspect="1" noChangeShapeType="1"/>
            </p:cNvSpPr>
            <p:nvPr/>
          </p:nvSpPr>
          <p:spPr bwMode="auto">
            <a:xfrm>
              <a:off x="6391" y="9707"/>
              <a:ext cx="1021"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3796" name="Text Box 39"/>
            <p:cNvSpPr txBox="1">
              <a:spLocks noChangeAspect="1" noChangeArrowheads="1"/>
            </p:cNvSpPr>
            <p:nvPr/>
          </p:nvSpPr>
          <p:spPr bwMode="auto">
            <a:xfrm>
              <a:off x="6018" y="9708"/>
              <a:ext cx="680"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dirty="0">
                  <a:solidFill>
                    <a:srgbClr val="FF0000"/>
                  </a:solidFill>
                  <a:latin typeface="黑体" panose="02010609060101010101" pitchFamily="49" charset="-122"/>
                </a:rPr>
                <a:t>3(v</a:t>
              </a:r>
              <a:r>
                <a:rPr kumimoji="0" lang="en-US" altLang="zh-CN" sz="2000" b="1" baseline="-25000" dirty="0">
                  <a:solidFill>
                    <a:srgbClr val="FF0000"/>
                  </a:solidFill>
                  <a:latin typeface="黑体" panose="02010609060101010101" pitchFamily="49" charset="-122"/>
                </a:rPr>
                <a:t>1</a:t>
              </a: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2</a:t>
              </a:r>
              <a:r>
                <a:rPr kumimoji="0" lang="en-US" altLang="zh-CN" sz="2000" b="1" dirty="0">
                  <a:solidFill>
                    <a:srgbClr val="FF0000"/>
                  </a:solidFill>
                  <a:latin typeface="黑体" panose="02010609060101010101" pitchFamily="49" charset="-122"/>
                </a:rPr>
                <a:t>)</a:t>
              </a:r>
            </a:p>
          </p:txBody>
        </p:sp>
        <p:sp>
          <p:nvSpPr>
            <p:cNvPr id="203797" name="Text Box 40"/>
            <p:cNvSpPr txBox="1">
              <a:spLocks noChangeAspect="1" noChangeArrowheads="1"/>
            </p:cNvSpPr>
            <p:nvPr/>
          </p:nvSpPr>
          <p:spPr bwMode="auto">
            <a:xfrm>
              <a:off x="6243" y="8428"/>
              <a:ext cx="340"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1</a:t>
              </a:r>
              <a:r>
                <a:rPr kumimoji="0" lang="en-US" altLang="zh-CN" sz="2000" b="1" dirty="0">
                  <a:solidFill>
                    <a:srgbClr val="FF0000"/>
                  </a:solidFill>
                  <a:latin typeface="黑体" panose="02010609060101010101" pitchFamily="49" charset="-122"/>
                </a:rPr>
                <a:t>)</a:t>
              </a:r>
            </a:p>
          </p:txBody>
        </p:sp>
        <p:sp>
          <p:nvSpPr>
            <p:cNvPr id="203798" name="Oval 41"/>
            <p:cNvSpPr>
              <a:spLocks noChangeAspect="1" noChangeArrowheads="1"/>
            </p:cNvSpPr>
            <p:nvPr/>
          </p:nvSpPr>
          <p:spPr bwMode="auto">
            <a:xfrm>
              <a:off x="7415" y="8725"/>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3799" name="Oval 42"/>
            <p:cNvSpPr>
              <a:spLocks noChangeAspect="1" noChangeArrowheads="1"/>
            </p:cNvSpPr>
            <p:nvPr/>
          </p:nvSpPr>
          <p:spPr bwMode="auto">
            <a:xfrm>
              <a:off x="7415" y="9678"/>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3800" name="Oval 43"/>
            <p:cNvSpPr>
              <a:spLocks noChangeAspect="1" noChangeArrowheads="1"/>
            </p:cNvSpPr>
            <p:nvPr/>
          </p:nvSpPr>
          <p:spPr bwMode="auto">
            <a:xfrm>
              <a:off x="8015" y="9202"/>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4889" name="Line 44"/>
            <p:cNvSpPr>
              <a:spLocks noChangeAspect="1" noChangeShapeType="1"/>
            </p:cNvSpPr>
            <p:nvPr/>
          </p:nvSpPr>
          <p:spPr bwMode="auto">
            <a:xfrm>
              <a:off x="6364" y="8772"/>
              <a:ext cx="0" cy="908"/>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890" name="Line 45"/>
            <p:cNvSpPr>
              <a:spLocks noChangeAspect="1" noChangeShapeType="1"/>
            </p:cNvSpPr>
            <p:nvPr/>
          </p:nvSpPr>
          <p:spPr bwMode="auto">
            <a:xfrm>
              <a:off x="7445" y="8769"/>
              <a:ext cx="0" cy="90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4891" name="Line 46"/>
            <p:cNvSpPr>
              <a:spLocks noChangeAspect="1" noChangeShapeType="1"/>
            </p:cNvSpPr>
            <p:nvPr/>
          </p:nvSpPr>
          <p:spPr bwMode="auto">
            <a:xfrm>
              <a:off x="6386" y="8769"/>
              <a:ext cx="1019" cy="90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3804" name="Text Box 47"/>
            <p:cNvSpPr txBox="1">
              <a:spLocks noChangeAspect="1" noChangeArrowheads="1"/>
            </p:cNvSpPr>
            <p:nvPr/>
          </p:nvSpPr>
          <p:spPr bwMode="auto">
            <a:xfrm>
              <a:off x="8083" y="9061"/>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zh-CN" altLang="en-US" sz="2000" b="1">
                  <a:solidFill>
                    <a:srgbClr val="FF0000"/>
                  </a:solidFill>
                  <a:latin typeface="黑体" panose="02010609060101010101" pitchFamily="49" charset="-122"/>
                </a:rPr>
                <a:t>∞</a:t>
              </a:r>
            </a:p>
            <a:p>
              <a:pPr eaLnBrk="1" hangingPunct="1">
                <a:spcBef>
                  <a:spcPct val="0"/>
                </a:spcBef>
                <a:buFontTx/>
                <a:buNone/>
              </a:pPr>
              <a:endParaRPr kumimoji="0" lang="zh-CN" altLang="en-US" sz="2000" b="1">
                <a:solidFill>
                  <a:srgbClr val="FF0000"/>
                </a:solidFill>
                <a:latin typeface="黑体" panose="02010609060101010101" pitchFamily="49" charset="-122"/>
              </a:endParaRPr>
            </a:p>
          </p:txBody>
        </p:sp>
        <p:sp>
          <p:nvSpPr>
            <p:cNvPr id="203805" name="Text Box 48"/>
            <p:cNvSpPr txBox="1">
              <a:spLocks noChangeAspect="1" noChangeArrowheads="1"/>
            </p:cNvSpPr>
            <p:nvPr/>
          </p:nvSpPr>
          <p:spPr bwMode="auto">
            <a:xfrm>
              <a:off x="7094" y="9708"/>
              <a:ext cx="680"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6(v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a:t>
              </a:r>
            </a:p>
          </p:txBody>
        </p:sp>
        <p:sp>
          <p:nvSpPr>
            <p:cNvPr id="203806" name="Text Box 49"/>
            <p:cNvSpPr txBox="1">
              <a:spLocks noChangeAspect="1" noChangeArrowheads="1"/>
            </p:cNvSpPr>
            <p:nvPr/>
          </p:nvSpPr>
          <p:spPr bwMode="auto">
            <a:xfrm>
              <a:off x="7094" y="8428"/>
              <a:ext cx="680"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8(v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a:t>
              </a:r>
            </a:p>
          </p:txBody>
        </p:sp>
        <p:sp>
          <p:nvSpPr>
            <p:cNvPr id="203807" name="Text Box 50"/>
            <p:cNvSpPr txBox="1">
              <a:spLocks noChangeAspect="1" noChangeArrowheads="1"/>
            </p:cNvSpPr>
            <p:nvPr/>
          </p:nvSpPr>
          <p:spPr bwMode="auto">
            <a:xfrm>
              <a:off x="6094" y="8428"/>
              <a:ext cx="170" cy="28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dirty="0">
                  <a:solidFill>
                    <a:srgbClr val="FF0000"/>
                  </a:solidFill>
                  <a:latin typeface="黑体" panose="02010609060101010101" pitchFamily="49" charset="-122"/>
                </a:rPr>
                <a:t>1</a:t>
              </a:r>
            </a:p>
          </p:txBody>
        </p:sp>
      </p:grpSp>
      <p:sp>
        <p:nvSpPr>
          <p:cNvPr id="1309748" name="Line 52"/>
          <p:cNvSpPr>
            <a:spLocks noChangeAspect="1" noChangeShapeType="1"/>
          </p:cNvSpPr>
          <p:nvPr/>
        </p:nvSpPr>
        <p:spPr bwMode="auto">
          <a:xfrm>
            <a:off x="8389938" y="4941888"/>
            <a:ext cx="358775" cy="0"/>
          </a:xfrm>
          <a:prstGeom prst="line">
            <a:avLst/>
          </a:prstGeom>
          <a:noFill/>
          <a:ln w="76200" cmpd="tri">
            <a:solidFill>
              <a:srgbClr val="0000FF"/>
            </a:solidFill>
            <a:round/>
            <a:headEnd/>
            <a:tailEnd type="stealth" w="lg" len="sm"/>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3783"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例 题</a:t>
            </a:r>
          </a:p>
        </p:txBody>
      </p:sp>
      <p:pic>
        <p:nvPicPr>
          <p:cNvPr id="20378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3785" name="Picture 55" descr="QQ截图201509201230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1706" y="1853661"/>
            <a:ext cx="4148137" cy="203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文本框 82">
            <a:extLst>
              <a:ext uri="{FF2B5EF4-FFF2-40B4-BE49-F238E27FC236}">
                <a16:creationId xmlns:a16="http://schemas.microsoft.com/office/drawing/2014/main" id="{B0CE9414-D0E9-424E-A65F-BC4F46CAD146}"/>
              </a:ext>
            </a:extLst>
          </p:cNvPr>
          <p:cNvSpPr txBox="1"/>
          <p:nvPr/>
        </p:nvSpPr>
        <p:spPr>
          <a:xfrm>
            <a:off x="35496" y="1833550"/>
            <a:ext cx="9108504" cy="4392488"/>
          </a:xfrm>
          <a:prstGeom prst="rect">
            <a:avLst/>
          </a:prstGeom>
          <a:solidFill>
            <a:schemeClr val="accent3">
              <a:lumMod val="95000"/>
            </a:schemeClr>
          </a:solidFill>
        </p:spPr>
        <p:txBody>
          <a:bodyPr wrap="square" rtlCol="0">
            <a:spAutoFit/>
          </a:bodyPr>
          <a:lstStyle/>
          <a:p>
            <a:endParaRPr lang="zh-CN" altLang="en-US" dirty="0"/>
          </a:p>
        </p:txBody>
      </p:sp>
      <p:sp>
        <p:nvSpPr>
          <p:cNvPr id="204802"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1F8376E2-20C5-40F3-A3E1-37CA3B706B21}"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grpSp>
        <p:nvGrpSpPr>
          <p:cNvPr id="204803" name="Group 5"/>
          <p:cNvGrpSpPr>
            <a:grpSpLocks noChangeAspect="1"/>
          </p:cNvGrpSpPr>
          <p:nvPr/>
        </p:nvGrpSpPr>
        <p:grpSpPr bwMode="auto">
          <a:xfrm>
            <a:off x="179388" y="1876425"/>
            <a:ext cx="3538537" cy="1984375"/>
            <a:chOff x="2015" y="10300"/>
            <a:chExt cx="2787" cy="1563"/>
          </a:xfrm>
        </p:grpSpPr>
        <p:sp>
          <p:nvSpPr>
            <p:cNvPr id="204860" name="Text Box 6"/>
            <p:cNvSpPr txBox="1">
              <a:spLocks noChangeAspect="1" noChangeArrowheads="1"/>
            </p:cNvSpPr>
            <p:nvPr/>
          </p:nvSpPr>
          <p:spPr bwMode="auto">
            <a:xfrm>
              <a:off x="2015" y="10933"/>
              <a:ext cx="170" cy="28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0</a:t>
              </a:r>
            </a:p>
          </p:txBody>
        </p:sp>
        <p:sp>
          <p:nvSpPr>
            <p:cNvPr id="204861" name="Oval 7"/>
            <p:cNvSpPr>
              <a:spLocks noChangeAspect="1" noChangeArrowheads="1"/>
            </p:cNvSpPr>
            <p:nvPr/>
          </p:nvSpPr>
          <p:spPr bwMode="auto">
            <a:xfrm>
              <a:off x="2209" y="11074"/>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5950" name="Line 8"/>
            <p:cNvSpPr>
              <a:spLocks noChangeAspect="1" noChangeShapeType="1"/>
            </p:cNvSpPr>
            <p:nvPr/>
          </p:nvSpPr>
          <p:spPr bwMode="auto">
            <a:xfrm>
              <a:off x="2273" y="11132"/>
              <a:ext cx="566"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51" name="Line 9"/>
            <p:cNvSpPr>
              <a:spLocks noChangeAspect="1" noChangeShapeType="1"/>
            </p:cNvSpPr>
            <p:nvPr/>
          </p:nvSpPr>
          <p:spPr bwMode="auto">
            <a:xfrm flipV="1">
              <a:off x="2273" y="10619"/>
              <a:ext cx="566" cy="454"/>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52" name="Line 10"/>
            <p:cNvSpPr>
              <a:spLocks noChangeAspect="1" noChangeShapeType="1"/>
            </p:cNvSpPr>
            <p:nvPr/>
          </p:nvSpPr>
          <p:spPr bwMode="auto">
            <a:xfrm>
              <a:off x="3964" y="10641"/>
              <a:ext cx="566"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53" name="Line 11"/>
            <p:cNvSpPr>
              <a:spLocks noChangeAspect="1" noChangeShapeType="1"/>
            </p:cNvSpPr>
            <p:nvPr/>
          </p:nvSpPr>
          <p:spPr bwMode="auto">
            <a:xfrm flipV="1">
              <a:off x="3976" y="11109"/>
              <a:ext cx="566"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4866" name="Oval 12"/>
            <p:cNvSpPr>
              <a:spLocks noChangeAspect="1" noChangeArrowheads="1"/>
            </p:cNvSpPr>
            <p:nvPr/>
          </p:nvSpPr>
          <p:spPr bwMode="auto">
            <a:xfrm>
              <a:off x="2836" y="10597"/>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4867" name="Oval 13"/>
            <p:cNvSpPr>
              <a:spLocks noChangeAspect="1" noChangeArrowheads="1"/>
            </p:cNvSpPr>
            <p:nvPr/>
          </p:nvSpPr>
          <p:spPr bwMode="auto">
            <a:xfrm>
              <a:off x="2836" y="11550"/>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5956" name="Line 14"/>
            <p:cNvSpPr>
              <a:spLocks noChangeAspect="1" noChangeShapeType="1"/>
            </p:cNvSpPr>
            <p:nvPr/>
          </p:nvSpPr>
          <p:spPr bwMode="auto">
            <a:xfrm>
              <a:off x="2891" y="10625"/>
              <a:ext cx="1019"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57" name="Line 15"/>
            <p:cNvSpPr>
              <a:spLocks noChangeAspect="1" noChangeShapeType="1"/>
            </p:cNvSpPr>
            <p:nvPr/>
          </p:nvSpPr>
          <p:spPr bwMode="auto">
            <a:xfrm>
              <a:off x="2891" y="11579"/>
              <a:ext cx="1019" cy="0"/>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4870" name="Text Box 16"/>
            <p:cNvSpPr txBox="1">
              <a:spLocks noChangeAspect="1" noChangeArrowheads="1"/>
            </p:cNvSpPr>
            <p:nvPr/>
          </p:nvSpPr>
          <p:spPr bwMode="auto">
            <a:xfrm>
              <a:off x="2697" y="11580"/>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1</a:t>
              </a: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2</a:t>
              </a:r>
              <a:r>
                <a:rPr kumimoji="0" lang="en-US" altLang="zh-CN" sz="2000" b="1" dirty="0">
                  <a:solidFill>
                    <a:srgbClr val="FF0000"/>
                  </a:solidFill>
                  <a:latin typeface="黑体" panose="02010609060101010101" pitchFamily="49" charset="-122"/>
                </a:rPr>
                <a:t>)</a:t>
              </a:r>
            </a:p>
          </p:txBody>
        </p:sp>
        <p:sp>
          <p:nvSpPr>
            <p:cNvPr id="204871" name="Text Box 17"/>
            <p:cNvSpPr txBox="1">
              <a:spLocks noChangeAspect="1" noChangeArrowheads="1"/>
            </p:cNvSpPr>
            <p:nvPr/>
          </p:nvSpPr>
          <p:spPr bwMode="auto">
            <a:xfrm>
              <a:off x="2742" y="10300"/>
              <a:ext cx="340"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a:t>
              </a:r>
            </a:p>
          </p:txBody>
        </p:sp>
        <p:sp>
          <p:nvSpPr>
            <p:cNvPr id="204872" name="Oval 18"/>
            <p:cNvSpPr>
              <a:spLocks noChangeAspect="1" noChangeArrowheads="1"/>
            </p:cNvSpPr>
            <p:nvPr/>
          </p:nvSpPr>
          <p:spPr bwMode="auto">
            <a:xfrm>
              <a:off x="3907" y="10597"/>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4873" name="Oval 19"/>
            <p:cNvSpPr>
              <a:spLocks noChangeAspect="1" noChangeArrowheads="1"/>
            </p:cNvSpPr>
            <p:nvPr/>
          </p:nvSpPr>
          <p:spPr bwMode="auto">
            <a:xfrm>
              <a:off x="3907" y="11550"/>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4874" name="Oval 20"/>
            <p:cNvSpPr>
              <a:spLocks noChangeAspect="1" noChangeArrowheads="1"/>
            </p:cNvSpPr>
            <p:nvPr/>
          </p:nvSpPr>
          <p:spPr bwMode="auto">
            <a:xfrm>
              <a:off x="4507" y="11074"/>
              <a:ext cx="57" cy="57"/>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5963" name="Line 21"/>
            <p:cNvSpPr>
              <a:spLocks noChangeAspect="1" noChangeShapeType="1"/>
            </p:cNvSpPr>
            <p:nvPr/>
          </p:nvSpPr>
          <p:spPr bwMode="auto">
            <a:xfrm>
              <a:off x="2863" y="10645"/>
              <a:ext cx="0" cy="907"/>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64" name="Line 22"/>
            <p:cNvSpPr>
              <a:spLocks noChangeAspect="1" noChangeShapeType="1"/>
            </p:cNvSpPr>
            <p:nvPr/>
          </p:nvSpPr>
          <p:spPr bwMode="auto">
            <a:xfrm>
              <a:off x="3936" y="10641"/>
              <a:ext cx="0" cy="90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65" name="Line 23"/>
            <p:cNvSpPr>
              <a:spLocks noChangeAspect="1" noChangeShapeType="1"/>
            </p:cNvSpPr>
            <p:nvPr/>
          </p:nvSpPr>
          <p:spPr bwMode="auto">
            <a:xfrm>
              <a:off x="2885" y="10641"/>
              <a:ext cx="1020" cy="90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4878" name="Text Box 24"/>
            <p:cNvSpPr txBox="1">
              <a:spLocks noChangeAspect="1" noChangeArrowheads="1"/>
            </p:cNvSpPr>
            <p:nvPr/>
          </p:nvSpPr>
          <p:spPr bwMode="auto">
            <a:xfrm>
              <a:off x="4575" y="10933"/>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zh-CN" altLang="en-US" sz="2000" b="1">
                  <a:solidFill>
                    <a:srgbClr val="FF0000"/>
                  </a:solidFill>
                  <a:latin typeface="黑体" panose="02010609060101010101" pitchFamily="49" charset="-122"/>
                </a:rPr>
                <a:t>∞</a:t>
              </a:r>
            </a:p>
            <a:p>
              <a:pPr eaLnBrk="1" hangingPunct="1">
                <a:spcBef>
                  <a:spcPct val="0"/>
                </a:spcBef>
                <a:buFontTx/>
                <a:buNone/>
              </a:pPr>
              <a:endParaRPr kumimoji="0" lang="zh-CN" altLang="en-US" sz="2000" b="1">
                <a:solidFill>
                  <a:srgbClr val="FF0000"/>
                </a:solidFill>
                <a:latin typeface="黑体" panose="02010609060101010101" pitchFamily="49" charset="-122"/>
              </a:endParaRPr>
            </a:p>
          </p:txBody>
        </p:sp>
        <p:sp>
          <p:nvSpPr>
            <p:cNvPr id="204879" name="Text Box 25"/>
            <p:cNvSpPr txBox="1">
              <a:spLocks noChangeAspect="1" noChangeArrowheads="1"/>
            </p:cNvSpPr>
            <p:nvPr/>
          </p:nvSpPr>
          <p:spPr bwMode="auto">
            <a:xfrm>
              <a:off x="3586" y="11580"/>
              <a:ext cx="101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4(v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3</a:t>
              </a:r>
              <a:r>
                <a:rPr kumimoji="0" lang="en-US" altLang="zh-CN" sz="2000" b="1">
                  <a:solidFill>
                    <a:srgbClr val="FF0000"/>
                  </a:solidFill>
                  <a:latin typeface="黑体" panose="02010609060101010101" pitchFamily="49" charset="-122"/>
                </a:rPr>
                <a:t>)</a:t>
              </a:r>
            </a:p>
          </p:txBody>
        </p:sp>
        <p:sp>
          <p:nvSpPr>
            <p:cNvPr id="204880" name="Text Box 26"/>
            <p:cNvSpPr txBox="1">
              <a:spLocks noChangeAspect="1" noChangeArrowheads="1"/>
            </p:cNvSpPr>
            <p:nvPr/>
          </p:nvSpPr>
          <p:spPr bwMode="auto">
            <a:xfrm>
              <a:off x="3586" y="10300"/>
              <a:ext cx="680"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8(v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a:t>
              </a:r>
            </a:p>
          </p:txBody>
        </p:sp>
        <p:sp>
          <p:nvSpPr>
            <p:cNvPr id="204881" name="Text Box 27"/>
            <p:cNvSpPr txBox="1">
              <a:spLocks noChangeAspect="1" noChangeArrowheads="1"/>
            </p:cNvSpPr>
            <p:nvPr/>
          </p:nvSpPr>
          <p:spPr bwMode="auto">
            <a:xfrm>
              <a:off x="2593" y="10300"/>
              <a:ext cx="170" cy="28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1</a:t>
              </a:r>
            </a:p>
          </p:txBody>
        </p:sp>
        <p:sp>
          <p:nvSpPr>
            <p:cNvPr id="204882" name="Text Box 28"/>
            <p:cNvSpPr txBox="1">
              <a:spLocks noChangeAspect="1" noChangeArrowheads="1"/>
            </p:cNvSpPr>
            <p:nvPr/>
          </p:nvSpPr>
          <p:spPr bwMode="auto">
            <a:xfrm>
              <a:off x="2550" y="11580"/>
              <a:ext cx="170" cy="28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3</a:t>
              </a:r>
            </a:p>
          </p:txBody>
        </p:sp>
      </p:grpSp>
      <p:grpSp>
        <p:nvGrpSpPr>
          <p:cNvPr id="204804" name="Group 84"/>
          <p:cNvGrpSpPr>
            <a:grpSpLocks/>
          </p:cNvGrpSpPr>
          <p:nvPr/>
        </p:nvGrpSpPr>
        <p:grpSpPr bwMode="auto">
          <a:xfrm>
            <a:off x="4211638" y="1847850"/>
            <a:ext cx="4841875" cy="2012950"/>
            <a:chOff x="2642" y="868"/>
            <a:chExt cx="3050" cy="1268"/>
          </a:xfrm>
        </p:grpSpPr>
        <p:sp>
          <p:nvSpPr>
            <p:cNvPr id="204836" name="Text Box 31"/>
            <p:cNvSpPr txBox="1">
              <a:spLocks noChangeAspect="1" noChangeArrowheads="1"/>
            </p:cNvSpPr>
            <p:nvPr/>
          </p:nvSpPr>
          <p:spPr bwMode="auto">
            <a:xfrm>
              <a:off x="2642" y="1374"/>
              <a:ext cx="136" cy="22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0</a:t>
              </a:r>
            </a:p>
          </p:txBody>
        </p:sp>
        <p:sp>
          <p:nvSpPr>
            <p:cNvPr id="204837" name="Oval 32"/>
            <p:cNvSpPr>
              <a:spLocks noChangeAspect="1" noChangeArrowheads="1"/>
            </p:cNvSpPr>
            <p:nvPr/>
          </p:nvSpPr>
          <p:spPr bwMode="auto">
            <a:xfrm>
              <a:off x="2797" y="1487"/>
              <a:ext cx="46" cy="46"/>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5926" name="Line 33"/>
            <p:cNvSpPr>
              <a:spLocks noChangeAspect="1" noChangeShapeType="1"/>
            </p:cNvSpPr>
            <p:nvPr/>
          </p:nvSpPr>
          <p:spPr bwMode="auto">
            <a:xfrm>
              <a:off x="2848" y="1533"/>
              <a:ext cx="453" cy="3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27" name="Line 34"/>
            <p:cNvSpPr>
              <a:spLocks noChangeAspect="1" noChangeShapeType="1"/>
            </p:cNvSpPr>
            <p:nvPr/>
          </p:nvSpPr>
          <p:spPr bwMode="auto">
            <a:xfrm flipV="1">
              <a:off x="2848" y="1123"/>
              <a:ext cx="453" cy="363"/>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28" name="Line 35"/>
            <p:cNvSpPr>
              <a:spLocks noChangeAspect="1" noChangeShapeType="1"/>
            </p:cNvSpPr>
            <p:nvPr/>
          </p:nvSpPr>
          <p:spPr bwMode="auto">
            <a:xfrm>
              <a:off x="4201" y="1141"/>
              <a:ext cx="454" cy="3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29" name="Line 36"/>
            <p:cNvSpPr>
              <a:spLocks noChangeAspect="1" noChangeShapeType="1"/>
            </p:cNvSpPr>
            <p:nvPr/>
          </p:nvSpPr>
          <p:spPr bwMode="auto">
            <a:xfrm flipV="1">
              <a:off x="4210" y="1515"/>
              <a:ext cx="454" cy="3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4842" name="Oval 37"/>
            <p:cNvSpPr>
              <a:spLocks noChangeAspect="1" noChangeArrowheads="1"/>
            </p:cNvSpPr>
            <p:nvPr/>
          </p:nvSpPr>
          <p:spPr bwMode="auto">
            <a:xfrm>
              <a:off x="3299" y="1106"/>
              <a:ext cx="45" cy="45"/>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4843" name="Oval 38"/>
            <p:cNvSpPr>
              <a:spLocks noChangeAspect="1" noChangeArrowheads="1"/>
            </p:cNvSpPr>
            <p:nvPr/>
          </p:nvSpPr>
          <p:spPr bwMode="auto">
            <a:xfrm>
              <a:off x="3299" y="1868"/>
              <a:ext cx="45" cy="46"/>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5932" name="Line 39"/>
            <p:cNvSpPr>
              <a:spLocks noChangeAspect="1" noChangeShapeType="1"/>
            </p:cNvSpPr>
            <p:nvPr/>
          </p:nvSpPr>
          <p:spPr bwMode="auto">
            <a:xfrm>
              <a:off x="3343" y="1128"/>
              <a:ext cx="816"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33" name="Line 40"/>
            <p:cNvSpPr>
              <a:spLocks noChangeAspect="1" noChangeShapeType="1"/>
            </p:cNvSpPr>
            <p:nvPr/>
          </p:nvSpPr>
          <p:spPr bwMode="auto">
            <a:xfrm>
              <a:off x="3343" y="1891"/>
              <a:ext cx="816" cy="0"/>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4846" name="Text Box 41"/>
            <p:cNvSpPr txBox="1">
              <a:spLocks noChangeAspect="1" noChangeArrowheads="1"/>
            </p:cNvSpPr>
            <p:nvPr/>
          </p:nvSpPr>
          <p:spPr bwMode="auto">
            <a:xfrm>
              <a:off x="3188" y="1910"/>
              <a:ext cx="453"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1</a:t>
              </a: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2</a:t>
              </a:r>
              <a:r>
                <a:rPr kumimoji="0" lang="en-US" altLang="zh-CN" sz="2000" b="1" dirty="0">
                  <a:solidFill>
                    <a:srgbClr val="FF0000"/>
                  </a:solidFill>
                  <a:latin typeface="黑体" panose="02010609060101010101" pitchFamily="49" charset="-122"/>
                </a:rPr>
                <a:t>)</a:t>
              </a:r>
            </a:p>
          </p:txBody>
        </p:sp>
        <p:sp>
          <p:nvSpPr>
            <p:cNvPr id="204847" name="Text Box 42"/>
            <p:cNvSpPr txBox="1">
              <a:spLocks noChangeAspect="1" noChangeArrowheads="1"/>
            </p:cNvSpPr>
            <p:nvPr/>
          </p:nvSpPr>
          <p:spPr bwMode="auto">
            <a:xfrm>
              <a:off x="3224" y="868"/>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a:t>
              </a:r>
            </a:p>
          </p:txBody>
        </p:sp>
        <p:sp>
          <p:nvSpPr>
            <p:cNvPr id="204848" name="Oval 43"/>
            <p:cNvSpPr>
              <a:spLocks noChangeAspect="1" noChangeArrowheads="1"/>
            </p:cNvSpPr>
            <p:nvPr/>
          </p:nvSpPr>
          <p:spPr bwMode="auto">
            <a:xfrm>
              <a:off x="4156" y="1106"/>
              <a:ext cx="45" cy="45"/>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4849" name="Oval 44"/>
            <p:cNvSpPr>
              <a:spLocks noChangeAspect="1" noChangeArrowheads="1"/>
            </p:cNvSpPr>
            <p:nvPr/>
          </p:nvSpPr>
          <p:spPr bwMode="auto">
            <a:xfrm>
              <a:off x="4156" y="1868"/>
              <a:ext cx="45" cy="46"/>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4850" name="Oval 45"/>
            <p:cNvSpPr>
              <a:spLocks noChangeAspect="1" noChangeArrowheads="1"/>
            </p:cNvSpPr>
            <p:nvPr/>
          </p:nvSpPr>
          <p:spPr bwMode="auto">
            <a:xfrm>
              <a:off x="4636" y="1487"/>
              <a:ext cx="45" cy="46"/>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5939" name="Line 46"/>
            <p:cNvSpPr>
              <a:spLocks noChangeAspect="1" noChangeShapeType="1"/>
            </p:cNvSpPr>
            <p:nvPr/>
          </p:nvSpPr>
          <p:spPr bwMode="auto">
            <a:xfrm>
              <a:off x="3320" y="1144"/>
              <a:ext cx="0" cy="726"/>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40" name="Line 47"/>
            <p:cNvSpPr>
              <a:spLocks noChangeAspect="1" noChangeShapeType="1"/>
            </p:cNvSpPr>
            <p:nvPr/>
          </p:nvSpPr>
          <p:spPr bwMode="auto">
            <a:xfrm>
              <a:off x="4179" y="1141"/>
              <a:ext cx="0" cy="725"/>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41" name="Line 48"/>
            <p:cNvSpPr>
              <a:spLocks noChangeAspect="1" noChangeShapeType="1"/>
            </p:cNvSpPr>
            <p:nvPr/>
          </p:nvSpPr>
          <p:spPr bwMode="auto">
            <a:xfrm>
              <a:off x="3338" y="1141"/>
              <a:ext cx="816" cy="72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4854" name="Text Box 49"/>
            <p:cNvSpPr txBox="1">
              <a:spLocks noChangeAspect="1" noChangeArrowheads="1"/>
            </p:cNvSpPr>
            <p:nvPr/>
          </p:nvSpPr>
          <p:spPr bwMode="auto">
            <a:xfrm>
              <a:off x="3899" y="1910"/>
              <a:ext cx="84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zh-CN" altLang="en-US" sz="2000" b="1">
                  <a:solidFill>
                    <a:srgbClr val="FF0000"/>
                  </a:solidFill>
                  <a:latin typeface="黑体" panose="02010609060101010101" pitchFamily="49" charset="-122"/>
                </a:rPr>
                <a:t> </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3</a:t>
              </a:r>
              <a:r>
                <a:rPr kumimoji="0" lang="en-US" altLang="zh-CN" sz="2000" b="1">
                  <a:solidFill>
                    <a:srgbClr val="FF0000"/>
                  </a:solidFill>
                  <a:latin typeface="黑体" panose="02010609060101010101" pitchFamily="49" charset="-122"/>
                </a:rPr>
                <a:t>)</a:t>
              </a:r>
            </a:p>
          </p:txBody>
        </p:sp>
        <p:sp>
          <p:nvSpPr>
            <p:cNvPr id="204855" name="Text Box 50"/>
            <p:cNvSpPr txBox="1">
              <a:spLocks noChangeAspect="1" noChangeArrowheads="1"/>
            </p:cNvSpPr>
            <p:nvPr/>
          </p:nvSpPr>
          <p:spPr bwMode="auto">
            <a:xfrm>
              <a:off x="3899" y="868"/>
              <a:ext cx="102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7(v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3</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5</a:t>
              </a:r>
              <a:r>
                <a:rPr kumimoji="0" lang="en-US" altLang="zh-CN" sz="2000" b="1">
                  <a:solidFill>
                    <a:srgbClr val="FF0000"/>
                  </a:solidFill>
                  <a:latin typeface="黑体" panose="02010609060101010101" pitchFamily="49" charset="-122"/>
                </a:rPr>
                <a:t>)</a:t>
              </a:r>
            </a:p>
          </p:txBody>
        </p:sp>
        <p:sp>
          <p:nvSpPr>
            <p:cNvPr id="204856" name="Text Box 51"/>
            <p:cNvSpPr txBox="1">
              <a:spLocks noChangeAspect="1" noChangeArrowheads="1"/>
            </p:cNvSpPr>
            <p:nvPr/>
          </p:nvSpPr>
          <p:spPr bwMode="auto">
            <a:xfrm>
              <a:off x="3104" y="868"/>
              <a:ext cx="136" cy="2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1</a:t>
              </a:r>
            </a:p>
          </p:txBody>
        </p:sp>
        <p:sp>
          <p:nvSpPr>
            <p:cNvPr id="204857" name="Text Box 52"/>
            <p:cNvSpPr txBox="1">
              <a:spLocks noChangeAspect="1" noChangeArrowheads="1"/>
            </p:cNvSpPr>
            <p:nvPr/>
          </p:nvSpPr>
          <p:spPr bwMode="auto">
            <a:xfrm>
              <a:off x="3070" y="1910"/>
              <a:ext cx="136" cy="2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3</a:t>
              </a:r>
            </a:p>
          </p:txBody>
        </p:sp>
        <p:sp>
          <p:nvSpPr>
            <p:cNvPr id="204858" name="Text Box 53"/>
            <p:cNvSpPr txBox="1">
              <a:spLocks noChangeAspect="1" noChangeArrowheads="1"/>
            </p:cNvSpPr>
            <p:nvPr/>
          </p:nvSpPr>
          <p:spPr bwMode="auto">
            <a:xfrm>
              <a:off x="3864" y="1910"/>
              <a:ext cx="136" cy="2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4</a:t>
              </a:r>
            </a:p>
          </p:txBody>
        </p:sp>
        <p:sp>
          <p:nvSpPr>
            <p:cNvPr id="204859" name="Text Box 54"/>
            <p:cNvSpPr txBox="1">
              <a:spLocks noChangeAspect="1" noChangeArrowheads="1"/>
            </p:cNvSpPr>
            <p:nvPr/>
          </p:nvSpPr>
          <p:spPr bwMode="auto">
            <a:xfrm>
              <a:off x="4712" y="1368"/>
              <a:ext cx="9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FontTx/>
                <a:buNone/>
              </a:pPr>
              <a:r>
                <a:rPr kumimoji="0" lang="en-US" altLang="zh-CN" sz="2000" b="1">
                  <a:solidFill>
                    <a:srgbClr val="FF0000"/>
                  </a:solidFill>
                  <a:latin typeface="黑体" panose="02010609060101010101" pitchFamily="49" charset="-122"/>
                </a:rPr>
                <a:t>10</a:t>
              </a:r>
            </a:p>
            <a:p>
              <a:pPr algn="just" eaLnBrk="1" hangingPunct="1">
                <a:spcBef>
                  <a:spcPct val="0"/>
                </a:spcBef>
                <a:buFontTx/>
                <a:buNone/>
              </a:pP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3</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5</a:t>
              </a:r>
              <a:r>
                <a:rPr kumimoji="0" lang="en-US" altLang="zh-CN" sz="2000" b="1">
                  <a:solidFill>
                    <a:srgbClr val="FF0000"/>
                  </a:solidFill>
                  <a:latin typeface="黑体" panose="02010609060101010101" pitchFamily="49" charset="-122"/>
                </a:rPr>
                <a:t>)</a:t>
              </a:r>
            </a:p>
          </p:txBody>
        </p:sp>
      </p:grpSp>
      <p:grpSp>
        <p:nvGrpSpPr>
          <p:cNvPr id="204805" name="Group 87"/>
          <p:cNvGrpSpPr>
            <a:grpSpLocks/>
          </p:cNvGrpSpPr>
          <p:nvPr/>
        </p:nvGrpSpPr>
        <p:grpSpPr bwMode="auto">
          <a:xfrm>
            <a:off x="1042988" y="4076700"/>
            <a:ext cx="5256212" cy="2011363"/>
            <a:chOff x="385" y="2659"/>
            <a:chExt cx="3311" cy="1267"/>
          </a:xfrm>
        </p:grpSpPr>
        <p:sp>
          <p:nvSpPr>
            <p:cNvPr id="204811" name="Text Box 58"/>
            <p:cNvSpPr txBox="1">
              <a:spLocks noChangeAspect="1" noChangeArrowheads="1"/>
            </p:cNvSpPr>
            <p:nvPr/>
          </p:nvSpPr>
          <p:spPr bwMode="auto">
            <a:xfrm>
              <a:off x="385" y="3165"/>
              <a:ext cx="136" cy="2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0</a:t>
              </a:r>
            </a:p>
          </p:txBody>
        </p:sp>
        <p:sp>
          <p:nvSpPr>
            <p:cNvPr id="204812" name="Oval 59"/>
            <p:cNvSpPr>
              <a:spLocks noChangeAspect="1" noChangeArrowheads="1"/>
            </p:cNvSpPr>
            <p:nvPr/>
          </p:nvSpPr>
          <p:spPr bwMode="auto">
            <a:xfrm>
              <a:off x="540" y="3278"/>
              <a:ext cx="46" cy="45"/>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5901" name="Line 60"/>
            <p:cNvSpPr>
              <a:spLocks noChangeAspect="1" noChangeShapeType="1"/>
            </p:cNvSpPr>
            <p:nvPr/>
          </p:nvSpPr>
          <p:spPr bwMode="auto">
            <a:xfrm>
              <a:off x="591" y="3323"/>
              <a:ext cx="453" cy="3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02" name="Line 61"/>
            <p:cNvSpPr>
              <a:spLocks noChangeAspect="1" noChangeShapeType="1"/>
            </p:cNvSpPr>
            <p:nvPr/>
          </p:nvSpPr>
          <p:spPr bwMode="auto">
            <a:xfrm flipV="1">
              <a:off x="591" y="2914"/>
              <a:ext cx="453" cy="363"/>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03" name="Line 62"/>
            <p:cNvSpPr>
              <a:spLocks noChangeAspect="1" noChangeShapeType="1"/>
            </p:cNvSpPr>
            <p:nvPr/>
          </p:nvSpPr>
          <p:spPr bwMode="auto">
            <a:xfrm>
              <a:off x="1944" y="2932"/>
              <a:ext cx="454" cy="363"/>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04" name="Line 63"/>
            <p:cNvSpPr>
              <a:spLocks noChangeAspect="1" noChangeShapeType="1"/>
            </p:cNvSpPr>
            <p:nvPr/>
          </p:nvSpPr>
          <p:spPr bwMode="auto">
            <a:xfrm flipV="1">
              <a:off x="1953" y="3306"/>
              <a:ext cx="454" cy="3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4817" name="Oval 64"/>
            <p:cNvSpPr>
              <a:spLocks noChangeAspect="1" noChangeArrowheads="1"/>
            </p:cNvSpPr>
            <p:nvPr/>
          </p:nvSpPr>
          <p:spPr bwMode="auto">
            <a:xfrm>
              <a:off x="1042" y="2896"/>
              <a:ext cx="45" cy="46"/>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4818" name="Oval 65"/>
            <p:cNvSpPr>
              <a:spLocks noChangeAspect="1" noChangeArrowheads="1"/>
            </p:cNvSpPr>
            <p:nvPr/>
          </p:nvSpPr>
          <p:spPr bwMode="auto">
            <a:xfrm>
              <a:off x="1042" y="3658"/>
              <a:ext cx="45" cy="46"/>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5907" name="Line 66"/>
            <p:cNvSpPr>
              <a:spLocks noChangeAspect="1" noChangeShapeType="1"/>
            </p:cNvSpPr>
            <p:nvPr/>
          </p:nvSpPr>
          <p:spPr bwMode="auto">
            <a:xfrm>
              <a:off x="1086" y="2919"/>
              <a:ext cx="816"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08" name="Line 67"/>
            <p:cNvSpPr>
              <a:spLocks noChangeAspect="1" noChangeShapeType="1"/>
            </p:cNvSpPr>
            <p:nvPr/>
          </p:nvSpPr>
          <p:spPr bwMode="auto">
            <a:xfrm>
              <a:off x="1086" y="3681"/>
              <a:ext cx="816" cy="0"/>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4821" name="Text Box 68"/>
            <p:cNvSpPr txBox="1">
              <a:spLocks noChangeAspect="1" noChangeArrowheads="1"/>
            </p:cNvSpPr>
            <p:nvPr/>
          </p:nvSpPr>
          <p:spPr bwMode="auto">
            <a:xfrm>
              <a:off x="931" y="3700"/>
              <a:ext cx="453"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a:t>
              </a:r>
            </a:p>
          </p:txBody>
        </p:sp>
        <p:sp>
          <p:nvSpPr>
            <p:cNvPr id="204822" name="Text Box 69"/>
            <p:cNvSpPr txBox="1">
              <a:spLocks noChangeAspect="1" noChangeArrowheads="1"/>
            </p:cNvSpPr>
            <p:nvPr/>
          </p:nvSpPr>
          <p:spPr bwMode="auto">
            <a:xfrm>
              <a:off x="967" y="2659"/>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a:t>
              </a:r>
            </a:p>
          </p:txBody>
        </p:sp>
        <p:sp>
          <p:nvSpPr>
            <p:cNvPr id="204823" name="Oval 70"/>
            <p:cNvSpPr>
              <a:spLocks noChangeAspect="1" noChangeArrowheads="1"/>
            </p:cNvSpPr>
            <p:nvPr/>
          </p:nvSpPr>
          <p:spPr bwMode="auto">
            <a:xfrm>
              <a:off x="1899" y="2896"/>
              <a:ext cx="45" cy="46"/>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4824" name="Oval 71"/>
            <p:cNvSpPr>
              <a:spLocks noChangeAspect="1" noChangeArrowheads="1"/>
            </p:cNvSpPr>
            <p:nvPr/>
          </p:nvSpPr>
          <p:spPr bwMode="auto">
            <a:xfrm>
              <a:off x="1899" y="3658"/>
              <a:ext cx="45" cy="46"/>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4825" name="Oval 72"/>
            <p:cNvSpPr>
              <a:spLocks noChangeAspect="1" noChangeArrowheads="1"/>
            </p:cNvSpPr>
            <p:nvPr/>
          </p:nvSpPr>
          <p:spPr bwMode="auto">
            <a:xfrm>
              <a:off x="2379" y="3278"/>
              <a:ext cx="45" cy="45"/>
            </a:xfrm>
            <a:prstGeom prst="ellipse">
              <a:avLst/>
            </a:prstGeom>
            <a:solidFill>
              <a:srgbClr val="FFFFFF"/>
            </a:solidFill>
            <a:ln w="25400">
              <a:solidFill>
                <a:srgbClr val="000000"/>
              </a:solidFill>
              <a:round/>
              <a:headEnd/>
              <a:tailEnd/>
            </a:ln>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5914" name="Line 73"/>
            <p:cNvSpPr>
              <a:spLocks noChangeAspect="1" noChangeShapeType="1"/>
            </p:cNvSpPr>
            <p:nvPr/>
          </p:nvSpPr>
          <p:spPr bwMode="auto">
            <a:xfrm>
              <a:off x="1063" y="2935"/>
              <a:ext cx="0" cy="725"/>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15" name="Line 74"/>
            <p:cNvSpPr>
              <a:spLocks noChangeAspect="1" noChangeShapeType="1"/>
            </p:cNvSpPr>
            <p:nvPr/>
          </p:nvSpPr>
          <p:spPr bwMode="auto">
            <a:xfrm>
              <a:off x="1922" y="2932"/>
              <a:ext cx="0" cy="725"/>
            </a:xfrm>
            <a:prstGeom prst="line">
              <a:avLst/>
            </a:prstGeom>
            <a:noFill/>
            <a:ln w="57150">
              <a:solidFill>
                <a:schemeClr val="accent6"/>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65916" name="Line 75"/>
            <p:cNvSpPr>
              <a:spLocks noChangeAspect="1" noChangeShapeType="1"/>
            </p:cNvSpPr>
            <p:nvPr/>
          </p:nvSpPr>
          <p:spPr bwMode="auto">
            <a:xfrm>
              <a:off x="1081" y="2932"/>
              <a:ext cx="816" cy="72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204829" name="Text Box 76"/>
            <p:cNvSpPr txBox="1">
              <a:spLocks noChangeAspect="1" noChangeArrowheads="1"/>
            </p:cNvSpPr>
            <p:nvPr/>
          </p:nvSpPr>
          <p:spPr bwMode="auto">
            <a:xfrm>
              <a:off x="1642" y="3700"/>
              <a:ext cx="72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zh-CN" altLang="en-US" sz="2000" b="1">
                  <a:solidFill>
                    <a:srgbClr val="FF0000"/>
                  </a:solidFill>
                  <a:latin typeface="黑体" panose="02010609060101010101" pitchFamily="49" charset="-122"/>
                </a:rPr>
                <a:t> </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3</a:t>
              </a:r>
              <a:r>
                <a:rPr kumimoji="0" lang="en-US" altLang="zh-CN" sz="2000" b="1">
                  <a:solidFill>
                    <a:srgbClr val="FF0000"/>
                  </a:solidFill>
                  <a:latin typeface="黑体" panose="02010609060101010101" pitchFamily="49" charset="-122"/>
                </a:rPr>
                <a:t>)</a:t>
              </a:r>
            </a:p>
          </p:txBody>
        </p:sp>
        <p:sp>
          <p:nvSpPr>
            <p:cNvPr id="204830" name="Text Box 77"/>
            <p:cNvSpPr txBox="1">
              <a:spLocks noChangeAspect="1" noChangeArrowheads="1"/>
            </p:cNvSpPr>
            <p:nvPr/>
          </p:nvSpPr>
          <p:spPr bwMode="auto">
            <a:xfrm>
              <a:off x="1712" y="2661"/>
              <a:ext cx="98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1</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2</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3</a:t>
              </a:r>
              <a:r>
                <a:rPr kumimoji="0" lang="en-US" altLang="zh-CN" sz="2000" b="1">
                  <a:solidFill>
                    <a:srgbClr val="FF0000"/>
                  </a:solidFill>
                  <a:latin typeface="黑体" panose="02010609060101010101" pitchFamily="49" charset="-122"/>
                </a:rPr>
                <a:t>,v</a:t>
              </a:r>
              <a:r>
                <a:rPr kumimoji="0" lang="en-US" altLang="zh-CN" sz="2000" b="1" baseline="-25000">
                  <a:solidFill>
                    <a:srgbClr val="FF0000"/>
                  </a:solidFill>
                  <a:latin typeface="黑体" panose="02010609060101010101" pitchFamily="49" charset="-122"/>
                </a:rPr>
                <a:t>5</a:t>
              </a:r>
              <a:r>
                <a:rPr kumimoji="0" lang="en-US" altLang="zh-CN" sz="2000" b="1">
                  <a:solidFill>
                    <a:srgbClr val="FF0000"/>
                  </a:solidFill>
                  <a:latin typeface="黑体" panose="02010609060101010101" pitchFamily="49" charset="-122"/>
                </a:rPr>
                <a:t>)</a:t>
              </a:r>
            </a:p>
          </p:txBody>
        </p:sp>
        <p:sp>
          <p:nvSpPr>
            <p:cNvPr id="204831" name="Text Box 78"/>
            <p:cNvSpPr txBox="1">
              <a:spLocks noChangeAspect="1" noChangeArrowheads="1"/>
            </p:cNvSpPr>
            <p:nvPr/>
          </p:nvSpPr>
          <p:spPr bwMode="auto">
            <a:xfrm>
              <a:off x="847" y="2659"/>
              <a:ext cx="136" cy="2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1</a:t>
              </a:r>
            </a:p>
          </p:txBody>
        </p:sp>
        <p:sp>
          <p:nvSpPr>
            <p:cNvPr id="204832" name="Text Box 79"/>
            <p:cNvSpPr txBox="1">
              <a:spLocks noChangeAspect="1" noChangeArrowheads="1"/>
            </p:cNvSpPr>
            <p:nvPr/>
          </p:nvSpPr>
          <p:spPr bwMode="auto">
            <a:xfrm>
              <a:off x="813" y="3700"/>
              <a:ext cx="136" cy="2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3</a:t>
              </a:r>
            </a:p>
          </p:txBody>
        </p:sp>
        <p:sp>
          <p:nvSpPr>
            <p:cNvPr id="204833" name="Text Box 80"/>
            <p:cNvSpPr txBox="1">
              <a:spLocks noChangeAspect="1" noChangeArrowheads="1"/>
            </p:cNvSpPr>
            <p:nvPr/>
          </p:nvSpPr>
          <p:spPr bwMode="auto">
            <a:xfrm>
              <a:off x="1607" y="3700"/>
              <a:ext cx="136" cy="2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4</a:t>
              </a:r>
            </a:p>
          </p:txBody>
        </p:sp>
        <p:sp>
          <p:nvSpPr>
            <p:cNvPr id="204834" name="Text Box 81"/>
            <p:cNvSpPr txBox="1">
              <a:spLocks noChangeAspect="1" noChangeArrowheads="1"/>
            </p:cNvSpPr>
            <p:nvPr/>
          </p:nvSpPr>
          <p:spPr bwMode="auto">
            <a:xfrm>
              <a:off x="2473" y="3165"/>
              <a:ext cx="1223"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dirty="0">
                  <a:solidFill>
                    <a:srgbClr val="FF0000"/>
                  </a:solidFill>
                  <a:latin typeface="黑体" panose="02010609060101010101" pitchFamily="49" charset="-122"/>
                </a:rPr>
                <a:t>9(v</a:t>
              </a:r>
              <a:r>
                <a:rPr kumimoji="0" lang="en-US" altLang="zh-CN" sz="2000" b="1" baseline="-25000" dirty="0">
                  <a:solidFill>
                    <a:srgbClr val="FF0000"/>
                  </a:solidFill>
                  <a:latin typeface="黑体" panose="02010609060101010101" pitchFamily="49" charset="-122"/>
                </a:rPr>
                <a:t>1</a:t>
              </a: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2</a:t>
              </a: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3</a:t>
              </a: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5</a:t>
              </a:r>
              <a:r>
                <a:rPr kumimoji="0" lang="en-US" altLang="zh-CN" sz="2000" b="1" dirty="0">
                  <a:solidFill>
                    <a:srgbClr val="FF0000"/>
                  </a:solidFill>
                  <a:latin typeface="黑体" panose="02010609060101010101" pitchFamily="49" charset="-122"/>
                </a:rPr>
                <a:t>,v</a:t>
              </a:r>
              <a:r>
                <a:rPr kumimoji="0" lang="en-US" altLang="zh-CN" sz="2000" b="1" baseline="-25000" dirty="0">
                  <a:solidFill>
                    <a:srgbClr val="FF0000"/>
                  </a:solidFill>
                  <a:latin typeface="黑体" panose="02010609060101010101" pitchFamily="49" charset="-122"/>
                </a:rPr>
                <a:t>4</a:t>
              </a:r>
              <a:r>
                <a:rPr kumimoji="0" lang="en-US" altLang="zh-CN" sz="2000" b="1" dirty="0">
                  <a:solidFill>
                    <a:srgbClr val="FF0000"/>
                  </a:solidFill>
                  <a:latin typeface="黑体" panose="02010609060101010101" pitchFamily="49" charset="-122"/>
                </a:rPr>
                <a:t>)</a:t>
              </a:r>
            </a:p>
          </p:txBody>
        </p:sp>
        <p:sp>
          <p:nvSpPr>
            <p:cNvPr id="204835" name="Text Box 82"/>
            <p:cNvSpPr txBox="1">
              <a:spLocks noChangeAspect="1" noChangeArrowheads="1"/>
            </p:cNvSpPr>
            <p:nvPr/>
          </p:nvSpPr>
          <p:spPr bwMode="auto">
            <a:xfrm>
              <a:off x="1586" y="2659"/>
              <a:ext cx="136" cy="2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kumimoji="0" lang="en-US" altLang="zh-CN" sz="2000" b="1">
                  <a:solidFill>
                    <a:srgbClr val="FF0000"/>
                  </a:solidFill>
                  <a:latin typeface="黑体" panose="02010609060101010101" pitchFamily="49" charset="-122"/>
                </a:rPr>
                <a:t>7</a:t>
              </a:r>
            </a:p>
          </p:txBody>
        </p:sp>
      </p:grpSp>
      <p:sp>
        <p:nvSpPr>
          <p:cNvPr id="1310803" name="Line 83"/>
          <p:cNvSpPr>
            <a:spLocks noChangeAspect="1" noChangeShapeType="1"/>
          </p:cNvSpPr>
          <p:nvPr/>
        </p:nvSpPr>
        <p:spPr bwMode="auto">
          <a:xfrm>
            <a:off x="3781425" y="2565400"/>
            <a:ext cx="358775" cy="0"/>
          </a:xfrm>
          <a:prstGeom prst="line">
            <a:avLst/>
          </a:prstGeom>
          <a:noFill/>
          <a:ln w="76200" cmpd="tri">
            <a:solidFill>
              <a:srgbClr val="0000FF"/>
            </a:solidFill>
            <a:round/>
            <a:headEnd/>
            <a:tailEnd type="stealth" w="lg" len="sm"/>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310806" name="Line 86"/>
          <p:cNvSpPr>
            <a:spLocks noChangeAspect="1" noChangeShapeType="1"/>
          </p:cNvSpPr>
          <p:nvPr/>
        </p:nvSpPr>
        <p:spPr bwMode="auto">
          <a:xfrm>
            <a:off x="611188" y="5013325"/>
            <a:ext cx="358775" cy="0"/>
          </a:xfrm>
          <a:prstGeom prst="line">
            <a:avLst/>
          </a:prstGeom>
          <a:noFill/>
          <a:ln w="76200" cmpd="tri">
            <a:solidFill>
              <a:srgbClr val="0000FF"/>
            </a:solidFill>
            <a:round/>
            <a:headEnd/>
            <a:tailEnd type="stealth" w="lg" len="sm"/>
          </a:ln>
          <a:extLst>
            <a:ext uri="{909E8E84-426E-40DD-AFC4-6F175D3DCCD1}">
              <a14:hiddenFill xmlns:a14="http://schemas.microsoft.com/office/drawing/2010/main">
                <a:noFill/>
              </a14:hiddenFill>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pic>
        <p:nvPicPr>
          <p:cNvPr id="204808" name="Picture 82" descr="QQ截图201509201230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4471988"/>
            <a:ext cx="25654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9"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例 题</a:t>
            </a:r>
          </a:p>
        </p:txBody>
      </p:sp>
      <p:pic>
        <p:nvPicPr>
          <p:cNvPr id="204810"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D5FB2E1F-23DE-4C1E-AC26-BB9140E09A94}"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pic>
        <p:nvPicPr>
          <p:cNvPr id="19866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48256" y="476251"/>
            <a:ext cx="1095744" cy="11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9D32FB4-0B47-4C0F-92B8-01DE627307D0}"/>
                  </a:ext>
                </a:extLst>
              </p:cNvPr>
              <p:cNvSpPr/>
              <p:nvPr/>
            </p:nvSpPr>
            <p:spPr>
              <a:xfrm>
                <a:off x="107504" y="1701674"/>
                <a:ext cx="9036496" cy="4524315"/>
              </a:xfrm>
              <a:prstGeom prst="rect">
                <a:avLst/>
              </a:prstGeom>
              <a:solidFill>
                <a:schemeClr val="accent5"/>
              </a:solidFill>
            </p:spPr>
            <p:txBody>
              <a:bodyPr wrap="square">
                <a:spAutoFit/>
              </a:bodyPr>
              <a:lstStyle/>
              <a:p>
                <a:pPr indent="266700" algn="just">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给定简单无向赋权图</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𝑮</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𝑽</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𝑬</m:t>
                        </m:r>
                      </m:e>
                    </m:d>
                    <m:r>
                      <a:rPr lang="en-US" altLang="zh-CN" sz="2400" b="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计算</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从</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结</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点</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𝒏</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最短路径</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的</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迪杰斯特拉算法思想如下：</a:t>
                </a:r>
              </a:p>
              <a:p>
                <a:pPr indent="266700" algn="just">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设</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有</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两个集合</a:t>
                </a:r>
                <a14:m>
                  <m:oMath xmlns:m="http://schemas.openxmlformats.org/officeDocument/2006/math">
                    <m:r>
                      <a:rPr lang="zh-CN"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和</a:t>
                </a:r>
                <a14:m>
                  <m:oMath xmlns:m="http://schemas.openxmlformats.org/officeDocument/2006/math">
                    <m:r>
                      <a:rPr lang="zh-CN"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集合</a:t>
                </a:r>
                <a14:m>
                  <m:oMath xmlns:m="http://schemas.openxmlformats.org/officeDocument/2006/math">
                    <m:r>
                      <a:rPr lang="en-US" altLang="zh-CN" sz="2400" b="1" i="1" kern="100" smtClean="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𝑨</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存放已</a:t>
                </a:r>
                <a:r>
                  <a:rPr lang="zh-CN" altLang="en-US"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确定</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最短路径的结点</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en-US" altLang="zh-CN" sz="2400" b="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集合</a:t>
                </a:r>
                <a14:m>
                  <m:oMath xmlns:m="http://schemas.openxmlformats.org/officeDocument/2006/math">
                    <m:r>
                      <a:rPr lang="en-US" altLang="zh-CN" sz="2400" b="1" i="1" kern="100" smtClean="0">
                        <a:solidFill>
                          <a:srgbClr val="CC00FF"/>
                        </a:solidFill>
                        <a:latin typeface="Cambria Math" panose="02040503050406030204" pitchFamily="18" charset="0"/>
                        <a:ea typeface="宋体" panose="02010600030101010101" pitchFamily="2" charset="-122"/>
                        <a:cs typeface="Times New Roman" panose="02020603050405020304" pitchFamily="18" charset="0"/>
                      </a:rPr>
                      <m:t>𝑩</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存放剩余结点</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最初</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，集合</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中包含默认源点</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，从集合</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中选取到</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距离</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𝟏</m:t>
                        </m:r>
                      </m:sub>
                    </m:sSub>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最近的结点，</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不妨</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记为</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𝟐</m:t>
                        </m:r>
                      </m:sub>
                    </m:sSub>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，将</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放入</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中，并对</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𝟐</m:t>
                        </m:r>
                      </m:sub>
                    </m:sSub>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𝟏</m:t>
                        </m:r>
                      </m:sub>
                    </m:sSub>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的距离进行永久性标注</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然后</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以</a:t>
                </a:r>
                <a14:m>
                  <m:oMath xmlns:m="http://schemas.openxmlformats.org/officeDocument/2006/math">
                    <m:r>
                      <a:rPr lang="zh-CN"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为中介点，更新</a:t>
                </a:r>
                <a14:m>
                  <m:oMath xmlns:m="http://schemas.openxmlformats.org/officeDocument/2006/math">
                    <m:r>
                      <a:rPr lang="zh-CN"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到剩余结点的最短路径临时值</a:t>
                </a:r>
                <a:r>
                  <a:rPr lang="zh-CN" altLang="en-US"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再从</a:t>
                </a:r>
                <a14:m>
                  <m:oMath xmlns:m="http://schemas.openxmlformats.org/officeDocument/2006/math">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𝑩</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中选取最近的结点</a:t>
                </a:r>
                <a:r>
                  <a:rPr lang="zh-CN" altLang="en-US"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加</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入集合</a:t>
                </a:r>
                <a14:m>
                  <m:oMath xmlns:m="http://schemas.openxmlformats.org/officeDocument/2006/math">
                    <m:r>
                      <a:rPr lang="zh-CN"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中，并对该结点到</a:t>
                </a:r>
                <a14:m>
                  <m:oMath xmlns:m="http://schemas.openxmlformats.org/officeDocument/2006/math">
                    <m:sSub>
                      <m:sSubPr>
                        <m:ctrlPr>
                          <a:rPr lang="zh-CN" altLang="zh-CN" sz="2400" b="1" i="1" kern="100">
                            <a:solidFill>
                              <a:srgbClr val="CC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CC00FF"/>
                            </a:solidFill>
                            <a:latin typeface="Cambria Math" panose="02040503050406030204" pitchFamily="18" charset="0"/>
                            <a:ea typeface="宋体" panose="02010600030101010101" pitchFamily="2" charset="-122"/>
                            <a:cs typeface="Times New Roman" panose="02020603050405020304" pitchFamily="18" charset="0"/>
                          </a:rPr>
                          <m:t>𝟏</m:t>
                        </m:r>
                      </m:sub>
                    </m:sSub>
                  </m:oMath>
                </a14:m>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的最短路径临时值进行永久性标注，</a:t>
                </a:r>
                <a:r>
                  <a:rPr lang="zh-CN" altLang="en-US"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将</a:t>
                </a:r>
                <a:r>
                  <a:rPr lang="zh-CN"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该临时值变成永久值</a:t>
                </a:r>
                <a:r>
                  <a:rPr lang="zh-CN" altLang="en-US"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solidFill>
                    <a:srgbClr val="CC00FF"/>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重复以上过程，直到将集合</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𝑩</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中所有结点全部</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加</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入集合</a:t>
                </a:r>
                <a14:m>
                  <m:oMath xmlns:m="http://schemas.openxmlformats.org/officeDocument/2006/math">
                    <m:r>
                      <a:rPr lang="zh-CN"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中并</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完成</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永久性标注。</a:t>
                </a:r>
              </a:p>
            </p:txBody>
          </p:sp>
        </mc:Choice>
        <mc:Fallback xmlns="">
          <p:sp>
            <p:nvSpPr>
              <p:cNvPr id="2" name="矩形 1">
                <a:extLst>
                  <a:ext uri="{FF2B5EF4-FFF2-40B4-BE49-F238E27FC236}">
                    <a16:creationId xmlns:a16="http://schemas.microsoft.com/office/drawing/2014/main" id="{39D32FB4-0B47-4C0F-92B8-01DE627307D0}"/>
                  </a:ext>
                </a:extLst>
              </p:cNvPr>
              <p:cNvSpPr>
                <a:spLocks noRot="1" noChangeAspect="1" noMove="1" noResize="1" noEditPoints="1" noAdjustHandles="1" noChangeArrowheads="1" noChangeShapeType="1" noTextEdit="1"/>
              </p:cNvSpPr>
              <p:nvPr/>
            </p:nvSpPr>
            <p:spPr>
              <a:xfrm>
                <a:off x="107504" y="1701674"/>
                <a:ext cx="9036496" cy="4524315"/>
              </a:xfrm>
              <a:prstGeom prst="rect">
                <a:avLst/>
              </a:prstGeom>
              <a:blipFill>
                <a:blip r:embed="rId4"/>
                <a:stretch>
                  <a:fillRect l="-1080" t="-1617" r="-1012" b="-1617"/>
                </a:stretch>
              </a:blipFill>
            </p:spPr>
            <p:txBody>
              <a:bodyPr/>
              <a:lstStyle/>
              <a:p>
                <a:r>
                  <a:rPr lang="zh-CN" altLang="en-US">
                    <a:noFill/>
                  </a:rPr>
                  <a:t> </a:t>
                </a:r>
              </a:p>
            </p:txBody>
          </p:sp>
        </mc:Fallback>
      </mc:AlternateContent>
      <p:sp>
        <p:nvSpPr>
          <p:cNvPr id="9" name="Text Box 2">
            <a:extLst>
              <a:ext uri="{FF2B5EF4-FFF2-40B4-BE49-F238E27FC236}">
                <a16:creationId xmlns:a16="http://schemas.microsoft.com/office/drawing/2014/main" id="{3708D70A-CEF3-43BA-8C63-F577C22CF16F}"/>
              </a:ext>
            </a:extLst>
          </p:cNvPr>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Dijkstra</a:t>
            </a:r>
            <a:r>
              <a:rPr lang="zh-CN" altLang="en-US" sz="4800" b="1">
                <a:solidFill>
                  <a:schemeClr val="bg1"/>
                </a:solidFill>
                <a:latin typeface="宋体" panose="02010600030101010101" pitchFamily="2" charset="-122"/>
                <a:ea typeface="宋体" panose="02010600030101010101" pitchFamily="2" charset="-122"/>
              </a:rPr>
              <a:t>算法思想</a:t>
            </a:r>
          </a:p>
        </p:txBody>
      </p:sp>
    </p:spTree>
  </p:cSld>
  <p:clrMapOvr>
    <a:masterClrMapping/>
  </p:clrMapOvr>
  <p:transition spd="med">
    <p:wipe dir="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4579" name="Rectangle 3"/>
          <p:cNvSpPr>
            <a:spLocks noGrp="1" noChangeArrowheads="1"/>
          </p:cNvSpPr>
          <p:nvPr>
            <p:ph idx="1"/>
          </p:nvPr>
        </p:nvSpPr>
        <p:spPr>
          <a:xfrm>
            <a:off x="755650" y="1773238"/>
            <a:ext cx="8135938" cy="4464050"/>
          </a:xfrm>
          <a:solidFill>
            <a:schemeClr val="accent5"/>
          </a:solidFill>
        </p:spPr>
        <p:txBody>
          <a:bodyPr/>
          <a:lstStyle/>
          <a:p>
            <a:pPr marL="0" indent="0" eaLnBrk="1" hangingPunct="1">
              <a:lnSpc>
                <a:spcPct val="120000"/>
              </a:lnSpc>
              <a:buFontTx/>
              <a:buNone/>
              <a:defRPr/>
            </a:pPr>
            <a:r>
              <a:rPr lang="zh-CN" altLang="en-US" b="1" dirty="0">
                <a:effectLst/>
                <a:cs typeface="楷体_GB2312" pitchFamily="49" charset="-122"/>
              </a:rPr>
              <a:t>       将节点分为</a:t>
            </a:r>
            <a:r>
              <a:rPr lang="zh-CN" altLang="en-US" b="1" dirty="0">
                <a:solidFill>
                  <a:srgbClr val="0000FF"/>
                </a:solidFill>
                <a:effectLst/>
                <a:cs typeface="楷体_GB2312" pitchFamily="49" charset="-122"/>
              </a:rPr>
              <a:t>具有</a:t>
            </a:r>
            <a:r>
              <a:rPr lang="en-US" altLang="zh-CN" b="1" dirty="0">
                <a:solidFill>
                  <a:srgbClr val="0000FF"/>
                </a:solidFill>
                <a:effectLst/>
                <a:cs typeface="楷体_GB2312" pitchFamily="49" charset="-122"/>
              </a:rPr>
              <a:t>P</a:t>
            </a:r>
            <a:r>
              <a:rPr lang="zh-CN" altLang="en-US" b="1" dirty="0">
                <a:effectLst/>
                <a:cs typeface="楷体_GB2312" pitchFamily="49" charset="-122"/>
              </a:rPr>
              <a:t>（</a:t>
            </a:r>
            <a:r>
              <a:rPr lang="zh-CN" altLang="en-US" b="1" dirty="0">
                <a:solidFill>
                  <a:srgbClr val="800080"/>
                </a:solidFill>
                <a:effectLst/>
                <a:cs typeface="楷体_GB2312" pitchFamily="49" charset="-122"/>
              </a:rPr>
              <a:t>永久性</a:t>
            </a:r>
            <a:r>
              <a:rPr lang="zh-CN" altLang="en-US" b="1" dirty="0">
                <a:effectLst/>
                <a:cs typeface="楷体_GB2312" pitchFamily="49" charset="-122"/>
              </a:rPr>
              <a:t>）</a:t>
            </a:r>
            <a:r>
              <a:rPr lang="zh-CN" altLang="en-US" b="1" dirty="0">
                <a:solidFill>
                  <a:srgbClr val="0000FF"/>
                </a:solidFill>
                <a:effectLst/>
                <a:cs typeface="楷体_GB2312" pitchFamily="49" charset="-122"/>
              </a:rPr>
              <a:t>标号的集合</a:t>
            </a:r>
            <a:r>
              <a:rPr lang="zh-CN" altLang="en-US" b="1" dirty="0">
                <a:effectLst/>
                <a:cs typeface="楷体_GB2312" pitchFamily="49" charset="-122"/>
              </a:rPr>
              <a:t>和</a:t>
            </a:r>
            <a:r>
              <a:rPr lang="zh-CN" altLang="en-US" b="1" dirty="0">
                <a:solidFill>
                  <a:srgbClr val="0000FF"/>
                </a:solidFill>
                <a:effectLst/>
                <a:cs typeface="楷体_GB2312" pitchFamily="49" charset="-122"/>
              </a:rPr>
              <a:t>具有</a:t>
            </a:r>
            <a:r>
              <a:rPr lang="en-US" altLang="zh-CN" b="1" dirty="0">
                <a:solidFill>
                  <a:srgbClr val="0000FF"/>
                </a:solidFill>
                <a:effectLst/>
                <a:cs typeface="楷体_GB2312" pitchFamily="49" charset="-122"/>
              </a:rPr>
              <a:t>T</a:t>
            </a:r>
            <a:r>
              <a:rPr lang="zh-CN" altLang="en-US" b="1" dirty="0">
                <a:effectLst/>
                <a:cs typeface="楷体_GB2312" pitchFamily="49" charset="-122"/>
              </a:rPr>
              <a:t>（</a:t>
            </a:r>
            <a:r>
              <a:rPr lang="zh-CN" altLang="en-US" b="1" dirty="0">
                <a:solidFill>
                  <a:srgbClr val="800080"/>
                </a:solidFill>
                <a:effectLst/>
                <a:cs typeface="楷体_GB2312" pitchFamily="49" charset="-122"/>
              </a:rPr>
              <a:t>暂时性</a:t>
            </a:r>
            <a:r>
              <a:rPr lang="zh-CN" altLang="en-US" b="1" dirty="0">
                <a:effectLst/>
                <a:cs typeface="楷体_GB2312" pitchFamily="49" charset="-122"/>
              </a:rPr>
              <a:t>）</a:t>
            </a:r>
            <a:r>
              <a:rPr lang="zh-CN" altLang="en-US" b="1" dirty="0">
                <a:solidFill>
                  <a:srgbClr val="0000FF"/>
                </a:solidFill>
                <a:effectLst/>
                <a:cs typeface="楷体_GB2312" pitchFamily="49" charset="-122"/>
              </a:rPr>
              <a:t>标号的集合这</a:t>
            </a:r>
            <a:r>
              <a:rPr lang="zh-CN" altLang="en-US" b="1" dirty="0">
                <a:effectLst/>
                <a:cs typeface="楷体_GB2312" pitchFamily="49" charset="-122"/>
              </a:rPr>
              <a:t>两个部分。</a:t>
            </a:r>
          </a:p>
          <a:p>
            <a:pPr marL="0" indent="0" eaLnBrk="1" hangingPunct="1">
              <a:lnSpc>
                <a:spcPct val="120000"/>
              </a:lnSpc>
              <a:buFontTx/>
              <a:buNone/>
              <a:defRPr/>
            </a:pPr>
            <a:r>
              <a:rPr lang="zh-CN" altLang="en-US" b="1" dirty="0">
                <a:solidFill>
                  <a:srgbClr val="FF0000"/>
                </a:solidFill>
                <a:effectLst/>
                <a:cs typeface="楷体_GB2312" pitchFamily="49" charset="-122"/>
              </a:rPr>
              <a:t>       结点</a:t>
            </a:r>
            <a:r>
              <a:rPr lang="en-US" altLang="zh-CN" b="1" dirty="0">
                <a:solidFill>
                  <a:srgbClr val="0000FF"/>
                </a:solidFill>
                <a:effectLst/>
                <a:cs typeface="楷体_GB2312" pitchFamily="49" charset="-122"/>
              </a:rPr>
              <a:t>u</a:t>
            </a:r>
            <a:r>
              <a:rPr lang="zh-CN" altLang="en-US" b="1" dirty="0">
                <a:solidFill>
                  <a:srgbClr val="FF0000"/>
                </a:solidFill>
                <a:effectLst/>
                <a:cs typeface="楷体_GB2312" pitchFamily="49" charset="-122"/>
              </a:rPr>
              <a:t>的</a:t>
            </a:r>
            <a:r>
              <a:rPr lang="en-US" altLang="zh-CN" b="1" dirty="0">
                <a:solidFill>
                  <a:srgbClr val="0000FF"/>
                </a:solidFill>
                <a:effectLst/>
                <a:cs typeface="楷体_GB2312" pitchFamily="49" charset="-122"/>
              </a:rPr>
              <a:t>P</a:t>
            </a:r>
            <a:r>
              <a:rPr lang="zh-CN" altLang="en-US" b="1" dirty="0">
                <a:solidFill>
                  <a:srgbClr val="FF0000"/>
                </a:solidFill>
                <a:effectLst/>
                <a:cs typeface="楷体_GB2312" pitchFamily="49" charset="-122"/>
              </a:rPr>
              <a:t>标号：</a:t>
            </a:r>
          </a:p>
          <a:p>
            <a:pPr marL="0" indent="0" eaLnBrk="1" hangingPunct="1">
              <a:lnSpc>
                <a:spcPct val="120000"/>
              </a:lnSpc>
              <a:buFontTx/>
              <a:buNone/>
              <a:defRPr/>
            </a:pPr>
            <a:r>
              <a:rPr lang="zh-CN" altLang="en-US" b="1" dirty="0">
                <a:solidFill>
                  <a:schemeClr val="accent1"/>
                </a:solidFill>
                <a:effectLst/>
                <a:cs typeface="楷体_GB2312" pitchFamily="49" charset="-122"/>
              </a:rPr>
              <a:t>               </a:t>
            </a:r>
            <a:r>
              <a:rPr lang="zh-CN" altLang="en-US" b="1" dirty="0">
                <a:effectLst/>
                <a:cs typeface="楷体_GB2312" pitchFamily="49" charset="-122"/>
              </a:rPr>
              <a:t>是指</a:t>
            </a:r>
            <a:r>
              <a:rPr lang="zh-CN" altLang="en-US" b="1" dirty="0">
                <a:solidFill>
                  <a:srgbClr val="0000FF"/>
                </a:solidFill>
                <a:effectLst/>
                <a:cs typeface="楷体_GB2312" pitchFamily="49" charset="-122"/>
              </a:rPr>
              <a:t>从</a:t>
            </a:r>
            <a:r>
              <a:rPr lang="en-US" altLang="zh-CN" b="1" dirty="0">
                <a:solidFill>
                  <a:srgbClr val="0000FF"/>
                </a:solidFill>
                <a:effectLst/>
                <a:cs typeface="楷体_GB2312" pitchFamily="49" charset="-122"/>
              </a:rPr>
              <a:t>v</a:t>
            </a:r>
            <a:r>
              <a:rPr lang="en-US" altLang="zh-CN" b="1" baseline="-25000" dirty="0">
                <a:solidFill>
                  <a:srgbClr val="0000FF"/>
                </a:solidFill>
                <a:effectLst/>
                <a:cs typeface="楷体_GB2312" pitchFamily="49" charset="-122"/>
              </a:rPr>
              <a:t>1</a:t>
            </a:r>
            <a:r>
              <a:rPr lang="zh-CN" altLang="en-US" b="1" dirty="0">
                <a:solidFill>
                  <a:srgbClr val="0000FF"/>
                </a:solidFill>
                <a:effectLst/>
                <a:cs typeface="楷体_GB2312" pitchFamily="49" charset="-122"/>
              </a:rPr>
              <a:t>到</a:t>
            </a:r>
            <a:r>
              <a:rPr lang="en-US" altLang="zh-CN" b="1" dirty="0">
                <a:solidFill>
                  <a:srgbClr val="0000FF"/>
                </a:solidFill>
                <a:effectLst/>
                <a:cs typeface="楷体_GB2312" pitchFamily="49" charset="-122"/>
              </a:rPr>
              <a:t>u</a:t>
            </a:r>
            <a:r>
              <a:rPr lang="zh-CN" altLang="en-US" b="1" dirty="0">
                <a:solidFill>
                  <a:srgbClr val="0000FF"/>
                </a:solidFill>
                <a:effectLst/>
                <a:cs typeface="楷体_GB2312" pitchFamily="49" charset="-122"/>
              </a:rPr>
              <a:t>的最短通路的长度</a:t>
            </a:r>
            <a:r>
              <a:rPr lang="zh-CN" altLang="en-US" b="1" dirty="0">
                <a:effectLst/>
                <a:cs typeface="楷体_GB2312" pitchFamily="49" charset="-122"/>
              </a:rPr>
              <a:t>；</a:t>
            </a:r>
          </a:p>
          <a:p>
            <a:pPr marL="0" indent="0" eaLnBrk="1" hangingPunct="1">
              <a:lnSpc>
                <a:spcPct val="120000"/>
              </a:lnSpc>
              <a:buFontTx/>
              <a:buNone/>
              <a:defRPr/>
            </a:pPr>
            <a:r>
              <a:rPr lang="zh-CN" altLang="en-US" b="1" dirty="0">
                <a:solidFill>
                  <a:srgbClr val="FF0000"/>
                </a:solidFill>
                <a:effectLst/>
                <a:cs typeface="楷体_GB2312" pitchFamily="49" charset="-122"/>
              </a:rPr>
              <a:t>      结点</a:t>
            </a:r>
            <a:r>
              <a:rPr lang="en-US" altLang="zh-CN" b="1" dirty="0">
                <a:solidFill>
                  <a:srgbClr val="0000FF"/>
                </a:solidFill>
                <a:effectLst/>
                <a:cs typeface="楷体_GB2312" pitchFamily="49" charset="-122"/>
              </a:rPr>
              <a:t>u</a:t>
            </a:r>
            <a:r>
              <a:rPr lang="zh-CN" altLang="en-US" b="1" dirty="0">
                <a:solidFill>
                  <a:srgbClr val="FF0000"/>
                </a:solidFill>
                <a:effectLst/>
                <a:cs typeface="楷体_GB2312" pitchFamily="49" charset="-122"/>
              </a:rPr>
              <a:t>的</a:t>
            </a:r>
            <a:r>
              <a:rPr lang="en-US" altLang="zh-CN" b="1" dirty="0">
                <a:solidFill>
                  <a:srgbClr val="0000FF"/>
                </a:solidFill>
                <a:effectLst/>
                <a:cs typeface="楷体_GB2312" pitchFamily="49" charset="-122"/>
              </a:rPr>
              <a:t>T</a:t>
            </a:r>
            <a:r>
              <a:rPr lang="zh-CN" altLang="en-US" b="1" dirty="0">
                <a:solidFill>
                  <a:srgbClr val="FF0000"/>
                </a:solidFill>
                <a:effectLst/>
                <a:cs typeface="楷体_GB2312" pitchFamily="49" charset="-122"/>
              </a:rPr>
              <a:t>标号：</a:t>
            </a:r>
          </a:p>
          <a:p>
            <a:pPr marL="0" indent="0" eaLnBrk="1" hangingPunct="1">
              <a:lnSpc>
                <a:spcPct val="120000"/>
              </a:lnSpc>
              <a:buFontTx/>
              <a:buNone/>
              <a:defRPr/>
            </a:pPr>
            <a:r>
              <a:rPr lang="zh-CN" altLang="en-US" b="1" dirty="0">
                <a:solidFill>
                  <a:schemeClr val="accent1"/>
                </a:solidFill>
                <a:effectLst/>
                <a:cs typeface="楷体_GB2312" pitchFamily="49" charset="-122"/>
              </a:rPr>
              <a:t>               </a:t>
            </a:r>
            <a:r>
              <a:rPr lang="zh-CN" altLang="en-US" b="1" dirty="0">
                <a:effectLst/>
                <a:cs typeface="楷体_GB2312" pitchFamily="49" charset="-122"/>
              </a:rPr>
              <a:t>是指</a:t>
            </a:r>
            <a:r>
              <a:rPr lang="zh-CN" altLang="en-US" b="1" dirty="0">
                <a:solidFill>
                  <a:srgbClr val="0000FF"/>
                </a:solidFill>
                <a:effectLst/>
                <a:cs typeface="楷体_GB2312" pitchFamily="49" charset="-122"/>
              </a:rPr>
              <a:t>从</a:t>
            </a:r>
            <a:r>
              <a:rPr lang="en-US" altLang="zh-CN" b="1" dirty="0">
                <a:solidFill>
                  <a:srgbClr val="0000FF"/>
                </a:solidFill>
                <a:effectLst/>
                <a:cs typeface="楷体_GB2312" pitchFamily="49" charset="-122"/>
              </a:rPr>
              <a:t>v</a:t>
            </a:r>
            <a:r>
              <a:rPr lang="en-US" altLang="zh-CN" b="1" baseline="-25000" dirty="0">
                <a:solidFill>
                  <a:srgbClr val="0000FF"/>
                </a:solidFill>
                <a:effectLst/>
                <a:cs typeface="楷体_GB2312" pitchFamily="49" charset="-122"/>
              </a:rPr>
              <a:t>1</a:t>
            </a:r>
            <a:r>
              <a:rPr lang="zh-CN" altLang="en-US" b="1" dirty="0">
                <a:solidFill>
                  <a:srgbClr val="0000FF"/>
                </a:solidFill>
                <a:effectLst/>
                <a:cs typeface="楷体_GB2312" pitchFamily="49" charset="-122"/>
              </a:rPr>
              <a:t>到</a:t>
            </a:r>
            <a:r>
              <a:rPr lang="en-US" altLang="zh-CN" b="1" dirty="0">
                <a:solidFill>
                  <a:srgbClr val="0000FF"/>
                </a:solidFill>
                <a:effectLst/>
                <a:cs typeface="楷体_GB2312" pitchFamily="49" charset="-122"/>
              </a:rPr>
              <a:t>u</a:t>
            </a:r>
            <a:r>
              <a:rPr lang="zh-CN" altLang="en-US" b="1" dirty="0">
                <a:solidFill>
                  <a:srgbClr val="0000FF"/>
                </a:solidFill>
                <a:effectLst/>
                <a:cs typeface="楷体_GB2312" pitchFamily="49" charset="-122"/>
              </a:rPr>
              <a:t>的某条通路的长度</a:t>
            </a:r>
            <a:r>
              <a:rPr lang="zh-CN" altLang="en-US" b="1" dirty="0">
                <a:effectLst/>
                <a:cs typeface="楷体_GB2312" pitchFamily="49" charset="-122"/>
              </a:rPr>
              <a:t>。</a:t>
            </a:r>
          </a:p>
          <a:p>
            <a:pPr marL="0" indent="0" eaLnBrk="1" hangingPunct="1">
              <a:lnSpc>
                <a:spcPct val="120000"/>
              </a:lnSpc>
              <a:buFontTx/>
              <a:buNone/>
              <a:defRPr/>
            </a:pPr>
            <a:r>
              <a:rPr lang="zh-CN" altLang="en-US" b="1" dirty="0">
                <a:effectLst/>
                <a:cs typeface="楷体_GB2312" pitchFamily="49" charset="-122"/>
              </a:rPr>
              <a:t>       </a:t>
            </a:r>
            <a:r>
              <a:rPr lang="zh-CN" altLang="en-US" b="1" dirty="0">
                <a:solidFill>
                  <a:srgbClr val="800080"/>
                </a:solidFill>
                <a:effectLst/>
                <a:cs typeface="楷体_GB2312" pitchFamily="49" charset="-122"/>
              </a:rPr>
              <a:t>首先将</a:t>
            </a:r>
            <a:r>
              <a:rPr lang="en-US" altLang="zh-CN" b="1" dirty="0">
                <a:solidFill>
                  <a:srgbClr val="800080"/>
                </a:solidFill>
                <a:effectLst/>
                <a:cs typeface="楷体_GB2312" pitchFamily="49" charset="-122"/>
              </a:rPr>
              <a:t>v</a:t>
            </a:r>
            <a:r>
              <a:rPr lang="en-US" altLang="zh-CN" b="1" baseline="-25000" dirty="0">
                <a:solidFill>
                  <a:srgbClr val="800080"/>
                </a:solidFill>
                <a:effectLst/>
                <a:cs typeface="楷体_GB2312" pitchFamily="49" charset="-122"/>
              </a:rPr>
              <a:t>1</a:t>
            </a:r>
            <a:r>
              <a:rPr lang="zh-CN" altLang="en-US" b="1" dirty="0">
                <a:solidFill>
                  <a:srgbClr val="800080"/>
                </a:solidFill>
                <a:effectLst/>
                <a:cs typeface="楷体_GB2312" pitchFamily="49" charset="-122"/>
              </a:rPr>
              <a:t>取为</a:t>
            </a:r>
            <a:r>
              <a:rPr lang="en-US" altLang="zh-CN" b="1" dirty="0">
                <a:solidFill>
                  <a:srgbClr val="800080"/>
                </a:solidFill>
                <a:effectLst/>
                <a:cs typeface="楷体_GB2312" pitchFamily="49" charset="-122"/>
              </a:rPr>
              <a:t>P</a:t>
            </a:r>
            <a:r>
              <a:rPr lang="zh-CN" altLang="en-US" b="1" dirty="0">
                <a:solidFill>
                  <a:srgbClr val="800080"/>
                </a:solidFill>
                <a:effectLst/>
                <a:cs typeface="楷体_GB2312" pitchFamily="49" charset="-122"/>
              </a:rPr>
              <a:t>标号，其余结点为</a:t>
            </a:r>
            <a:r>
              <a:rPr lang="en-US" altLang="zh-CN" b="1" dirty="0">
                <a:solidFill>
                  <a:srgbClr val="800080"/>
                </a:solidFill>
                <a:effectLst/>
                <a:cs typeface="楷体_GB2312" pitchFamily="49" charset="-122"/>
              </a:rPr>
              <a:t>T</a:t>
            </a:r>
            <a:r>
              <a:rPr lang="zh-CN" altLang="en-US" b="1" dirty="0">
                <a:solidFill>
                  <a:srgbClr val="800080"/>
                </a:solidFill>
                <a:effectLst/>
                <a:cs typeface="楷体_GB2312" pitchFamily="49" charset="-122"/>
              </a:rPr>
              <a:t>标号，然后逐步将具有</a:t>
            </a:r>
            <a:r>
              <a:rPr lang="en-US" altLang="zh-CN" b="1" dirty="0">
                <a:solidFill>
                  <a:srgbClr val="800080"/>
                </a:solidFill>
                <a:effectLst/>
                <a:cs typeface="楷体_GB2312" pitchFamily="49" charset="-122"/>
              </a:rPr>
              <a:t>T</a:t>
            </a:r>
            <a:r>
              <a:rPr lang="zh-CN" altLang="en-US" b="1" dirty="0">
                <a:solidFill>
                  <a:srgbClr val="800080"/>
                </a:solidFill>
                <a:effectLst/>
                <a:cs typeface="楷体_GB2312" pitchFamily="49" charset="-122"/>
              </a:rPr>
              <a:t>标号的结点改为</a:t>
            </a:r>
            <a:r>
              <a:rPr lang="en-US" altLang="zh-CN" b="1" dirty="0">
                <a:solidFill>
                  <a:srgbClr val="800080"/>
                </a:solidFill>
                <a:effectLst/>
                <a:cs typeface="楷体_GB2312" pitchFamily="49" charset="-122"/>
              </a:rPr>
              <a:t>P</a:t>
            </a:r>
            <a:r>
              <a:rPr lang="zh-CN" altLang="en-US" b="1" dirty="0">
                <a:solidFill>
                  <a:srgbClr val="800080"/>
                </a:solidFill>
                <a:effectLst/>
                <a:cs typeface="楷体_GB2312" pitchFamily="49" charset="-122"/>
              </a:rPr>
              <a:t>标号。当结点</a:t>
            </a:r>
            <a:r>
              <a:rPr lang="en-US" altLang="zh-CN" b="1" dirty="0" err="1">
                <a:solidFill>
                  <a:srgbClr val="800080"/>
                </a:solidFill>
                <a:effectLst/>
                <a:cs typeface="楷体_GB2312" pitchFamily="49" charset="-122"/>
              </a:rPr>
              <a:t>v</a:t>
            </a:r>
            <a:r>
              <a:rPr lang="en-US" altLang="zh-CN" b="1" baseline="-25000" dirty="0" err="1">
                <a:solidFill>
                  <a:srgbClr val="800080"/>
                </a:solidFill>
                <a:effectLst/>
                <a:cs typeface="楷体_GB2312" pitchFamily="49" charset="-122"/>
              </a:rPr>
              <a:t>n</a:t>
            </a:r>
            <a:r>
              <a:rPr lang="zh-CN" altLang="en-US" b="1" dirty="0">
                <a:solidFill>
                  <a:srgbClr val="800080"/>
                </a:solidFill>
                <a:effectLst/>
                <a:cs typeface="楷体_GB2312" pitchFamily="49" charset="-122"/>
              </a:rPr>
              <a:t>也被改为</a:t>
            </a:r>
            <a:r>
              <a:rPr lang="en-US" altLang="zh-CN" b="1" dirty="0">
                <a:solidFill>
                  <a:srgbClr val="800080"/>
                </a:solidFill>
                <a:effectLst/>
                <a:cs typeface="楷体_GB2312" pitchFamily="49" charset="-122"/>
              </a:rPr>
              <a:t>P</a:t>
            </a:r>
            <a:r>
              <a:rPr lang="zh-CN" altLang="en-US" b="1" dirty="0">
                <a:solidFill>
                  <a:srgbClr val="800080"/>
                </a:solidFill>
                <a:effectLst/>
                <a:cs typeface="楷体_GB2312" pitchFamily="49" charset="-122"/>
              </a:rPr>
              <a:t>标号时，则找到了从</a:t>
            </a:r>
            <a:r>
              <a:rPr lang="en-US" altLang="zh-CN" b="1" dirty="0">
                <a:solidFill>
                  <a:srgbClr val="800080"/>
                </a:solidFill>
                <a:effectLst/>
                <a:cs typeface="楷体_GB2312" pitchFamily="49" charset="-122"/>
              </a:rPr>
              <a:t>v</a:t>
            </a:r>
            <a:r>
              <a:rPr lang="en-US" altLang="zh-CN" b="1" baseline="-25000" dirty="0">
                <a:solidFill>
                  <a:srgbClr val="800080"/>
                </a:solidFill>
                <a:effectLst/>
                <a:cs typeface="楷体_GB2312" pitchFamily="49" charset="-122"/>
              </a:rPr>
              <a:t>1</a:t>
            </a:r>
            <a:r>
              <a:rPr lang="zh-CN" altLang="en-US" b="1" dirty="0">
                <a:solidFill>
                  <a:srgbClr val="800080"/>
                </a:solidFill>
                <a:effectLst/>
                <a:cs typeface="楷体_GB2312" pitchFamily="49" charset="-122"/>
              </a:rPr>
              <a:t>到</a:t>
            </a:r>
            <a:r>
              <a:rPr lang="en-US" altLang="zh-CN" b="1" dirty="0" err="1">
                <a:solidFill>
                  <a:srgbClr val="800080"/>
                </a:solidFill>
                <a:effectLst/>
                <a:cs typeface="楷体_GB2312" pitchFamily="49" charset="-122"/>
              </a:rPr>
              <a:t>v</a:t>
            </a:r>
            <a:r>
              <a:rPr lang="en-US" altLang="zh-CN" b="1" baseline="-25000" dirty="0" err="1">
                <a:solidFill>
                  <a:srgbClr val="800080"/>
                </a:solidFill>
                <a:effectLst/>
                <a:cs typeface="楷体_GB2312" pitchFamily="49" charset="-122"/>
              </a:rPr>
              <a:t>n</a:t>
            </a:r>
            <a:r>
              <a:rPr lang="zh-CN" altLang="en-US" b="1" dirty="0">
                <a:solidFill>
                  <a:srgbClr val="800080"/>
                </a:solidFill>
                <a:effectLst/>
                <a:cs typeface="楷体_GB2312" pitchFamily="49" charset="-122"/>
              </a:rPr>
              <a:t>的一条最短通路。</a:t>
            </a:r>
            <a:r>
              <a:rPr lang="zh-CN" altLang="en-US" b="1" dirty="0">
                <a:effectLst/>
                <a:cs typeface="楷体_GB2312" pitchFamily="49" charset="-122"/>
              </a:rPr>
              <a:t> </a:t>
            </a:r>
          </a:p>
        </p:txBody>
      </p:sp>
      <p:sp>
        <p:nvSpPr>
          <p:cNvPr id="199683"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5E55E2ED-A6D9-4230-8ECA-5BB5C21F9ED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9684"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Dijkstra</a:t>
            </a:r>
            <a:r>
              <a:rPr lang="zh-CN" altLang="en-US" sz="4800" b="1">
                <a:solidFill>
                  <a:schemeClr val="bg1"/>
                </a:solidFill>
                <a:latin typeface="宋体" panose="02010600030101010101" pitchFamily="2" charset="-122"/>
                <a:ea typeface="宋体" panose="02010600030101010101" pitchFamily="2" charset="-122"/>
              </a:rPr>
              <a:t>算法思想</a:t>
            </a:r>
          </a:p>
        </p:txBody>
      </p:sp>
      <p:pic>
        <p:nvPicPr>
          <p:cNvPr id="19968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9C2596F4-4FF6-4A32-BD74-F8EE487BDE90}"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0710"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Dijkstra</a:t>
            </a:r>
            <a:r>
              <a:rPr lang="zh-CN" altLang="en-US" sz="4800" b="1">
                <a:solidFill>
                  <a:schemeClr val="bg1"/>
                </a:solidFill>
                <a:latin typeface="宋体" panose="02010600030101010101" pitchFamily="2" charset="-122"/>
                <a:ea typeface="宋体" panose="02010600030101010101" pitchFamily="2" charset="-122"/>
              </a:rPr>
              <a:t>算法流程</a:t>
            </a:r>
          </a:p>
        </p:txBody>
      </p:sp>
      <p:pic>
        <p:nvPicPr>
          <p:cNvPr id="20071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2F9070D-8F98-4D0A-86EA-CB95921001CB}"/>
                  </a:ext>
                </a:extLst>
              </p:cNvPr>
              <p:cNvSpPr/>
              <p:nvPr/>
            </p:nvSpPr>
            <p:spPr>
              <a:xfrm>
                <a:off x="71500" y="1936464"/>
                <a:ext cx="9001000" cy="4045338"/>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初始化</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𝑨</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sub>
                        </m:sSub>
                      </m:e>
                    </m:d>
                    <m:r>
                      <a:rPr lang="zh-CN"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𝒅</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𝟎</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𝑩</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𝑽</m:t>
                        </m:r>
                        <m:r>
                          <a:rPr lang="zh-CN"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r>
                          <a:rPr lang="zh-CN"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e>
                    </m:d>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，即</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𝑽</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𝑨</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，且有</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e>
                      </m:d>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𝝎</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e>
                              </m:d>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e>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e>
                          </m:eqArr>
                        </m:e>
                      </m:d>
                      <m:f>
                        <m:fPr>
                          <m:type m:val="noBa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若</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𝑬</m:t>
                          </m:r>
                        </m:num>
                        <m:den>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若</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kern="100">
                              <a:solidFill>
                                <a:schemeClr val="bg1"/>
                              </a:solidFill>
                              <a:latin typeface="Cambria Math" panose="02040503050406030204" pitchFamily="18" charset="0"/>
                              <a:ea typeface="微软雅黑" panose="020B0503020204020204" pitchFamily="34" charset="-122"/>
                              <a:cs typeface="MS Gothic" panose="020B0609070205080204" pitchFamily="49" charset="-128"/>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𝑬</m:t>
                          </m:r>
                        </m:den>
                      </m:f>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m:oMathPara>
                </a14:m>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找最近</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：在</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集合中寻找离</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结</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点</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最近的结点。</a:t>
                </a:r>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若为</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，则将</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添加到集合</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中，并在</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集合中删除</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，即</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𝑨</m:t>
                    </m:r>
                    <m:r>
                      <a:rPr lang="zh-CN"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𝑩</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𝑩</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p>
            </p:txBody>
          </p:sp>
        </mc:Choice>
        <mc:Fallback xmlns="">
          <p:sp>
            <p:nvSpPr>
              <p:cNvPr id="5" name="矩形 4">
                <a:extLst>
                  <a:ext uri="{FF2B5EF4-FFF2-40B4-BE49-F238E27FC236}">
                    <a16:creationId xmlns:a16="http://schemas.microsoft.com/office/drawing/2014/main" id="{D2F9070D-8F98-4D0A-86EA-CB95921001CB}"/>
                  </a:ext>
                </a:extLst>
              </p:cNvPr>
              <p:cNvSpPr>
                <a:spLocks noRot="1" noChangeAspect="1" noMove="1" noResize="1" noEditPoints="1" noAdjustHandles="1" noChangeArrowheads="1" noChangeShapeType="1" noTextEdit="1"/>
              </p:cNvSpPr>
              <p:nvPr/>
            </p:nvSpPr>
            <p:spPr>
              <a:xfrm>
                <a:off x="71500" y="1936464"/>
                <a:ext cx="9001000" cy="4045338"/>
              </a:xfrm>
              <a:prstGeom prst="rect">
                <a:avLst/>
              </a:prstGeom>
              <a:blipFill>
                <a:blip r:embed="rId4"/>
                <a:stretch>
                  <a:fillRect l="-1084" r="-1016" b="-1961"/>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C116F21D-BC8D-44A5-8809-455C27AA5E40}"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1734"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Dijkstra</a:t>
            </a:r>
            <a:r>
              <a:rPr lang="zh-CN" altLang="en-US" sz="4800" b="1">
                <a:solidFill>
                  <a:schemeClr val="bg1"/>
                </a:solidFill>
                <a:latin typeface="宋体" panose="02010600030101010101" pitchFamily="2" charset="-122"/>
                <a:ea typeface="宋体" panose="02010600030101010101" pitchFamily="2" charset="-122"/>
              </a:rPr>
              <a:t>算法流程</a:t>
            </a:r>
          </a:p>
        </p:txBody>
      </p:sp>
      <p:pic>
        <p:nvPicPr>
          <p:cNvPr id="20173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3F249928-8EB1-4D73-B739-5231A0960385}"/>
                  </a:ext>
                </a:extLst>
              </p:cNvPr>
              <p:cNvSpPr/>
              <p:nvPr/>
            </p:nvSpPr>
            <p:spPr>
              <a:xfrm>
                <a:off x="223281" y="2060848"/>
                <a:ext cx="8697437" cy="4045338"/>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3</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更新</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：以</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为中介点，更新</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中剩余结点的最短路径长度。</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即对</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𝑩</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有：</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e>
                      </m:d>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e>
                              </m:d>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𝝎</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e>
                              </m:d>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e>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e>
                              </m:d>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e>
                          </m:eqArr>
                        </m:e>
                      </m:d>
                      <m:f>
                        <m:fPr>
                          <m:type m:val="noBa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若</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e>
                          </m:d>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𝝎</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e>
                          </m:d>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&lt;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𝒅</m:t>
                          </m:r>
                          <m:d>
                            <m:d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𝒊</m:t>
                                  </m:r>
                                </m:sub>
                              </m:sSub>
                            </m:e>
                          </m:d>
                        </m:num>
                        <m:den>
                          <m:r>
                            <a:rPr lang="zh-CN"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否则</m:t>
                          </m:r>
                          <m:r>
                            <a:rPr lang="en-US" altLang="zh-CN" sz="2400" b="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den>
                      </m:f>
                    </m:oMath>
                  </m:oMathPara>
                </a14:m>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4</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重复（</a:t>
                </a:r>
                <a:r>
                  <a:rPr lang="en-US"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2</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）和（</a:t>
                </a:r>
                <a:r>
                  <a:rPr lang="en-US"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3</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），直到</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集合为空为止</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p>
              <a:p>
                <a:pPr indent="266700" algn="just">
                  <a:lnSpc>
                    <a:spcPct val="150000"/>
                  </a:lnSpc>
                  <a:spcAft>
                    <a:spcPts val="0"/>
                  </a:spcAft>
                </a:pP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事实上</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，当</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𝒏</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归入</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且</a:t>
                </a:r>
                <a14:m>
                  <m:oMath xmlns:m="http://schemas.openxmlformats.org/officeDocument/2006/math">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𝑨</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𝑽</m:t>
                    </m:r>
                    <m:r>
                      <a:rPr lang="en-US"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时</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不仅求出了从</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𝒏</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的最短路径，而且求出了从</a:t>
                </a:r>
                <a14:m>
                  <m:oMath xmlns:m="http://schemas.openxmlformats.org/officeDocument/2006/math">
                    <m:r>
                      <a:rPr lang="zh-CN" altLang="zh-CN" sz="2400" b="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到</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图中</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所有</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结</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点的最短路径。</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3F249928-8EB1-4D73-B739-5231A0960385}"/>
                  </a:ext>
                </a:extLst>
              </p:cNvPr>
              <p:cNvSpPr>
                <a:spLocks noRot="1" noChangeAspect="1" noMove="1" noResize="1" noEditPoints="1" noAdjustHandles="1" noChangeArrowheads="1" noChangeShapeType="1" noTextEdit="1"/>
              </p:cNvSpPr>
              <p:nvPr/>
            </p:nvSpPr>
            <p:spPr>
              <a:xfrm>
                <a:off x="223281" y="2060848"/>
                <a:ext cx="8697437" cy="4045338"/>
              </a:xfrm>
              <a:prstGeom prst="rect">
                <a:avLst/>
              </a:prstGeom>
              <a:blipFill>
                <a:blip r:embed="rId4"/>
                <a:stretch>
                  <a:fillRect l="-1122" r="-1122" b="-1807"/>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C116F21D-BC8D-44A5-8809-455C27AA5E40}"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1734"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例 题</a:t>
            </a:r>
          </a:p>
        </p:txBody>
      </p:sp>
      <p:pic>
        <p:nvPicPr>
          <p:cNvPr id="20173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5AD2F52-263D-4FCF-B64F-32202FF40899}"/>
                  </a:ext>
                </a:extLst>
              </p:cNvPr>
              <p:cNvSpPr/>
              <p:nvPr/>
            </p:nvSpPr>
            <p:spPr>
              <a:xfrm>
                <a:off x="287524" y="1772816"/>
                <a:ext cx="8568952" cy="1200329"/>
              </a:xfrm>
              <a:prstGeom prst="rect">
                <a:avLst/>
              </a:prstGeom>
              <a:solidFill>
                <a:schemeClr val="accent5"/>
              </a:solidFill>
            </p:spPr>
            <p:txBody>
              <a:bodyPr wrap="square">
                <a:spAutoFit/>
              </a:bodyPr>
              <a:lstStyle/>
              <a:p>
                <a:pPr indent="266700" algn="just">
                  <a:spcAft>
                    <a:spcPts val="0"/>
                  </a:spcAft>
                </a:pP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【例题】在公交网络中，从某起始站出发到达目的站点的路径往往不止一条，例如，某城市的公交网络如</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下</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图所示，边权如表所示，求从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𝑨</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的最短距离及相应路径。</a:t>
                </a:r>
              </a:p>
            </p:txBody>
          </p:sp>
        </mc:Choice>
        <mc:Fallback xmlns="">
          <p:sp>
            <p:nvSpPr>
              <p:cNvPr id="2" name="矩形 1">
                <a:extLst>
                  <a:ext uri="{FF2B5EF4-FFF2-40B4-BE49-F238E27FC236}">
                    <a16:creationId xmlns:a16="http://schemas.microsoft.com/office/drawing/2014/main" id="{75AD2F52-263D-4FCF-B64F-32202FF40899}"/>
                  </a:ext>
                </a:extLst>
              </p:cNvPr>
              <p:cNvSpPr>
                <a:spLocks noRot="1" noChangeAspect="1" noMove="1" noResize="1" noEditPoints="1" noAdjustHandles="1" noChangeArrowheads="1" noChangeShapeType="1" noTextEdit="1"/>
              </p:cNvSpPr>
              <p:nvPr/>
            </p:nvSpPr>
            <p:spPr>
              <a:xfrm>
                <a:off x="287524" y="1772816"/>
                <a:ext cx="8568952" cy="1200329"/>
              </a:xfrm>
              <a:prstGeom prst="rect">
                <a:avLst/>
              </a:prstGeom>
              <a:blipFill>
                <a:blip r:embed="rId4"/>
                <a:stretch>
                  <a:fillRect l="-1067" t="-6091" r="-1138" b="-8629"/>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45F16CCF-25F1-4819-934D-60A5B8F4650F}"/>
              </a:ext>
            </a:extLst>
          </p:cNvPr>
          <p:cNvPicPr>
            <a:picLocks noChangeAspect="1"/>
          </p:cNvPicPr>
          <p:nvPr/>
        </p:nvPicPr>
        <p:blipFill>
          <a:blip r:embed="rId5"/>
          <a:stretch>
            <a:fillRect/>
          </a:stretch>
        </p:blipFill>
        <p:spPr>
          <a:xfrm>
            <a:off x="179512" y="3121671"/>
            <a:ext cx="4464496" cy="3070244"/>
          </a:xfrm>
          <a:prstGeom prst="rect">
            <a:avLst/>
          </a:prstGeom>
        </p:spPr>
      </p:pic>
      <p:pic>
        <p:nvPicPr>
          <p:cNvPr id="4" name="图片 3">
            <a:extLst>
              <a:ext uri="{FF2B5EF4-FFF2-40B4-BE49-F238E27FC236}">
                <a16:creationId xmlns:a16="http://schemas.microsoft.com/office/drawing/2014/main" id="{C045EC68-C86B-4C26-B00A-C8F0EC5EDA6A}"/>
              </a:ext>
            </a:extLst>
          </p:cNvPr>
          <p:cNvPicPr>
            <a:picLocks noChangeAspect="1"/>
          </p:cNvPicPr>
          <p:nvPr/>
        </p:nvPicPr>
        <p:blipFill>
          <a:blip r:embed="rId6"/>
          <a:stretch>
            <a:fillRect/>
          </a:stretch>
        </p:blipFill>
        <p:spPr>
          <a:xfrm>
            <a:off x="4716016" y="3121671"/>
            <a:ext cx="4321502" cy="3125442"/>
          </a:xfrm>
          <a:prstGeom prst="rect">
            <a:avLst/>
          </a:prstGeom>
        </p:spPr>
      </p:pic>
    </p:spTree>
    <p:extLst>
      <p:ext uri="{BB962C8B-B14F-4D97-AF65-F5344CB8AC3E}">
        <p14:creationId xmlns:p14="http://schemas.microsoft.com/office/powerpoint/2010/main" val="493973515"/>
      </p:ext>
    </p:extLst>
  </p:cSld>
  <p:clrMapOvr>
    <a:masterClrMapping/>
  </p:clrMapOvr>
  <p:transition spd="med">
    <p:wipe dir="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C116F21D-BC8D-44A5-8809-455C27AA5E40}"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1734"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例 题</a:t>
            </a:r>
          </a:p>
        </p:txBody>
      </p:sp>
      <p:pic>
        <p:nvPicPr>
          <p:cNvPr id="20173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09D677C-CE83-464D-A904-49261CFE5DF0}"/>
                  </a:ext>
                </a:extLst>
              </p:cNvPr>
              <p:cNvSpPr/>
              <p:nvPr/>
            </p:nvSpPr>
            <p:spPr>
              <a:xfrm>
                <a:off x="179512" y="1628800"/>
                <a:ext cx="8748464" cy="1938992"/>
              </a:xfrm>
              <a:prstGeom prst="rect">
                <a:avLst/>
              </a:prstGeom>
              <a:solidFill>
                <a:schemeClr val="accent5"/>
              </a:solidFill>
            </p:spPr>
            <p:txBody>
              <a:bodyPr wrap="square">
                <a:spAutoFit/>
              </a:bodyPr>
              <a:lstStyle/>
              <a:p>
                <a:pPr indent="266700" algn="just">
                  <a:spcAft>
                    <a:spcPts val="0"/>
                  </a:spcAft>
                </a:pP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【分析】从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𝑨</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的最短距离的最短路径问题，显然可以利用迪杰斯特拉算法求解。</a:t>
                </a:r>
              </a:p>
              <a:p>
                <a:pPr indent="266700" algn="just">
                  <a:spcAft>
                    <a:spcPts val="0"/>
                  </a:spcAft>
                </a:pP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【解】采用标号法，如</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下</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表所示。通过</a:t>
                </a: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6</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次迭代可以求得</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𝑨</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最短距离为</a:t>
                </a:r>
                <a:r>
                  <a:rPr lang="en-US"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11</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a:t>
                </a:r>
                <a:r>
                  <a:rPr lang="zh-CN" altLang="en-US" sz="2400" b="1" kern="100" dirty="0">
                    <a:solidFill>
                      <a:schemeClr val="accent2"/>
                    </a:solidFill>
                    <a:latin typeface="Calibri" panose="020F0502020204030204" pitchFamily="34" charset="0"/>
                    <a:ea typeface="宋体" panose="02010600030101010101" pitchFamily="2" charset="-122"/>
                    <a:cs typeface="Times New Roman" panose="02020603050405020304" pitchFamily="18" charset="0"/>
                  </a:rPr>
                  <a:t>所求</a:t>
                </a:r>
                <a:r>
                  <a:rPr lang="zh-CN" altLang="zh-CN" sz="2400" b="1" kern="100" dirty="0">
                    <a:solidFill>
                      <a:schemeClr val="accent2"/>
                    </a:solidFill>
                    <a:latin typeface="Calibri" panose="020F0502020204030204" pitchFamily="34" charset="0"/>
                    <a:ea typeface="宋体" panose="02010600030101010101" pitchFamily="2" charset="-122"/>
                    <a:cs typeface="Times New Roman" panose="02020603050405020304" pitchFamily="18" charset="0"/>
                  </a:rPr>
                  <a:t>公交路线（</a:t>
                </a:r>
                <a14:m>
                  <m:oMath xmlns:m="http://schemas.openxmlformats.org/officeDocument/2006/math">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𝑨</m:t>
                    </m:r>
                  </m:oMath>
                </a14:m>
                <a:r>
                  <a:rPr lang="zh-CN" altLang="zh-CN" sz="2400" b="1" kern="100" dirty="0">
                    <a:solidFill>
                      <a:schemeClr val="accent2"/>
                    </a:solidFill>
                    <a:latin typeface="Calibri" panose="020F0502020204030204" pitchFamily="34" charset="0"/>
                    <a:ea typeface="宋体" panose="02010600030101010101" pitchFamily="2" charset="-122"/>
                    <a:cs typeface="Times New Roman" panose="02020603050405020304" pitchFamily="18" charset="0"/>
                  </a:rPr>
                  <a:t>到</a:t>
                </a:r>
                <a14:m>
                  <m:oMath xmlns:m="http://schemas.openxmlformats.org/officeDocument/2006/math">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accent2"/>
                    </a:solidFill>
                    <a:latin typeface="Calibri" panose="020F0502020204030204" pitchFamily="34" charset="0"/>
                    <a:ea typeface="宋体" panose="02010600030101010101" pitchFamily="2" charset="-122"/>
                    <a:cs typeface="Times New Roman" panose="02020603050405020304" pitchFamily="18" charset="0"/>
                  </a:rPr>
                  <a:t>的最短路径）为</a:t>
                </a:r>
                <a14:m>
                  <m:oMath xmlns:m="http://schemas.openxmlformats.org/officeDocument/2006/math">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𝑨</m:t>
                    </m:r>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𝑪</m:t>
                    </m:r>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𝑬</m:t>
                    </m:r>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𝑭</m:t>
                    </m:r>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accent2"/>
                        </a:solidFill>
                        <a:latin typeface="Cambria Math" panose="02040503050406030204" pitchFamily="18" charset="0"/>
                        <a:ea typeface="宋体" panose="02010600030101010101" pitchFamily="2" charset="-122"/>
                        <a:cs typeface="Times New Roman" panose="02020603050405020304" pitchFamily="18" charset="0"/>
                      </a:rPr>
                      <m:t>𝑮</m:t>
                    </m:r>
                  </m:oMath>
                </a14:m>
                <a:r>
                  <a:rPr lang="zh-CN" altLang="zh-CN" sz="2400" b="1" kern="100" dirty="0">
                    <a:solidFill>
                      <a:schemeClr val="accent2"/>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如</a:t>
                </a:r>
                <a:r>
                  <a:rPr lang="zh-CN" altLang="en-US"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下</a:t>
                </a:r>
                <a:r>
                  <a:rPr lang="zh-CN" altLang="zh-CN" sz="24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图所示。</a:t>
                </a:r>
              </a:p>
            </p:txBody>
          </p:sp>
        </mc:Choice>
        <mc:Fallback xmlns="">
          <p:sp>
            <p:nvSpPr>
              <p:cNvPr id="5" name="矩形 4">
                <a:extLst>
                  <a:ext uri="{FF2B5EF4-FFF2-40B4-BE49-F238E27FC236}">
                    <a16:creationId xmlns:a16="http://schemas.microsoft.com/office/drawing/2014/main" id="{109D677C-CE83-464D-A904-49261CFE5DF0}"/>
                  </a:ext>
                </a:extLst>
              </p:cNvPr>
              <p:cNvSpPr>
                <a:spLocks noRot="1" noChangeAspect="1" noMove="1" noResize="1" noEditPoints="1" noAdjustHandles="1" noChangeArrowheads="1" noChangeShapeType="1" noTextEdit="1"/>
              </p:cNvSpPr>
              <p:nvPr/>
            </p:nvSpPr>
            <p:spPr>
              <a:xfrm>
                <a:off x="179512" y="1628800"/>
                <a:ext cx="8748464" cy="1938992"/>
              </a:xfrm>
              <a:prstGeom prst="rect">
                <a:avLst/>
              </a:prstGeom>
              <a:blipFill>
                <a:blip r:embed="rId4"/>
                <a:stretch>
                  <a:fillRect l="-1045" t="-3459" r="-1045" b="-5031"/>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C7A3F022-F24A-4A4F-BDB5-7FCD74F683B8}"/>
              </a:ext>
            </a:extLst>
          </p:cNvPr>
          <p:cNvPicPr>
            <a:picLocks noChangeAspect="1"/>
          </p:cNvPicPr>
          <p:nvPr/>
        </p:nvPicPr>
        <p:blipFill>
          <a:blip r:embed="rId5"/>
          <a:stretch>
            <a:fillRect/>
          </a:stretch>
        </p:blipFill>
        <p:spPr>
          <a:xfrm>
            <a:off x="107504" y="3697358"/>
            <a:ext cx="3333465" cy="2528425"/>
          </a:xfrm>
          <a:prstGeom prst="rect">
            <a:avLst/>
          </a:prstGeom>
        </p:spPr>
      </p:pic>
      <p:pic>
        <p:nvPicPr>
          <p:cNvPr id="11" name="图片 10">
            <a:extLst>
              <a:ext uri="{FF2B5EF4-FFF2-40B4-BE49-F238E27FC236}">
                <a16:creationId xmlns:a16="http://schemas.microsoft.com/office/drawing/2014/main" id="{54102EB7-2CCE-4B8C-8A71-64FCAD34B467}"/>
              </a:ext>
            </a:extLst>
          </p:cNvPr>
          <p:cNvPicPr>
            <a:picLocks noChangeAspect="1"/>
          </p:cNvPicPr>
          <p:nvPr/>
        </p:nvPicPr>
        <p:blipFill>
          <a:blip r:embed="rId6"/>
          <a:stretch>
            <a:fillRect/>
          </a:stretch>
        </p:blipFill>
        <p:spPr>
          <a:xfrm>
            <a:off x="3512062" y="3680529"/>
            <a:ext cx="5599692" cy="2580000"/>
          </a:xfrm>
          <a:prstGeom prst="rect">
            <a:avLst/>
          </a:prstGeom>
        </p:spPr>
      </p:pic>
    </p:spTree>
    <p:extLst>
      <p:ext uri="{BB962C8B-B14F-4D97-AF65-F5344CB8AC3E}">
        <p14:creationId xmlns:p14="http://schemas.microsoft.com/office/powerpoint/2010/main" val="171907742"/>
      </p:ext>
    </p:extLst>
  </p:cSld>
  <p:clrMapOvr>
    <a:masterClrMapping/>
  </p:clrMapOvr>
  <p:transition spd="med">
    <p:wipe dir="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127</a:t>
            </a:fld>
            <a:endParaRPr lang="en-US" altLang="zh-CN" sz="1400" b="1">
              <a:latin typeface="Times New Roman" panose="02020603050405020304" pitchFamily="18" charset="0"/>
              <a:ea typeface="宋体" panose="02010600030101010101" pitchFamily="2" charset="-122"/>
            </a:endParaRPr>
          </a:p>
        </p:txBody>
      </p:sp>
      <p:sp>
        <p:nvSpPr>
          <p:cNvPr id="34821"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图的基本算法</a:t>
            </a:r>
          </a:p>
        </p:txBody>
      </p:sp>
      <p:sp>
        <p:nvSpPr>
          <p:cNvPr id="34822" name="Rectangle 3"/>
          <p:cNvSpPr>
            <a:spLocks noGrp="1" noChangeArrowheads="1"/>
          </p:cNvSpPr>
          <p:nvPr>
            <p:ph type="body" idx="4294967295"/>
          </p:nvPr>
        </p:nvSpPr>
        <p:spPr>
          <a:xfrm>
            <a:off x="2580953" y="2181201"/>
            <a:ext cx="4007271" cy="3552055"/>
          </a:xfrm>
          <a:noFill/>
        </p:spPr>
        <p:txBody>
          <a:bodyPr lIns="92075" tIns="46038" rIns="92075" bIns="46038"/>
          <a:lstStyle/>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深度优先遍历</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广度优先遍历 </a:t>
            </a:r>
            <a:endParaRPr lang="en-US" altLang="zh-CN" sz="3600" b="1" dirty="0">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单源最短路径</a:t>
            </a:r>
            <a:endParaRPr lang="en-US" altLang="zh-CN" sz="3600" b="1" dirty="0">
              <a:effectLst/>
              <a:latin typeface="黑体" panose="02010609060101010101" pitchFamily="49" charset="-122"/>
              <a:ea typeface="黑体" panose="02010609060101010101" pitchFamily="49" charset="-122"/>
              <a:cs typeface="楷体_GB2312" pitchFamily="49" charset="-122"/>
            </a:endParaRPr>
          </a:p>
          <a:p>
            <a:pPr eaLnBrk="1" hangingPunct="1">
              <a:lnSpc>
                <a:spcPct val="140000"/>
              </a:lnSpc>
              <a:buFont typeface="Wingdings" panose="05000000000000000000" pitchFamily="2" charset="2"/>
              <a:buChar char="J"/>
            </a:pPr>
            <a:r>
              <a:rPr lang="en-US" altLang="zh-CN" sz="3600" b="1" dirty="0">
                <a:solidFill>
                  <a:srgbClr val="0000FF"/>
                </a:solidFill>
                <a:effectLst/>
                <a:latin typeface="黑体" panose="02010609060101010101" pitchFamily="49" charset="-122"/>
                <a:ea typeface="黑体" panose="02010609060101010101" pitchFamily="49" charset="-122"/>
                <a:cs typeface="楷体_GB2312" pitchFamily="49" charset="-122"/>
              </a:rPr>
              <a:t> </a:t>
            </a:r>
            <a:r>
              <a:rPr lang="zh-CN" altLang="en-US" sz="3600" b="1" dirty="0">
                <a:solidFill>
                  <a:srgbClr val="0000FF"/>
                </a:solidFill>
                <a:effectLst/>
                <a:latin typeface="黑体" panose="02010609060101010101" pitchFamily="49" charset="-122"/>
                <a:ea typeface="黑体" panose="02010609060101010101" pitchFamily="49" charset="-122"/>
                <a:cs typeface="楷体_GB2312" pitchFamily="49" charset="-122"/>
              </a:rPr>
              <a:t>多源最短路径</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2341183"/>
      </p:ext>
    </p:extLst>
  </p:cSld>
  <p:clrMapOvr>
    <a:masterClrMapping/>
  </p:clrMapOvr>
  <p:transition spd="med">
    <p:wipe dir="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11747" name="Rectangle 3"/>
              <p:cNvSpPr>
                <a:spLocks noGrp="1" noChangeArrowheads="1"/>
              </p:cNvSpPr>
              <p:nvPr>
                <p:ph idx="1"/>
              </p:nvPr>
            </p:nvSpPr>
            <p:spPr>
              <a:xfrm>
                <a:off x="317800" y="1838870"/>
                <a:ext cx="8496300" cy="1800200"/>
              </a:xfrm>
              <a:solidFill>
                <a:schemeClr val="accent5"/>
              </a:solidFill>
            </p:spPr>
            <p:txBody>
              <a:bodyPr/>
              <a:lstStyle/>
              <a:p>
                <a:pPr marL="0" indent="0" eaLnBrk="1" hangingPunct="1">
                  <a:lnSpc>
                    <a:spcPct val="150000"/>
                  </a:lnSpc>
                  <a:spcBef>
                    <a:spcPct val="0"/>
                  </a:spcBef>
                  <a:buFontTx/>
                  <a:buNone/>
                  <a:defRPr/>
                </a:pPr>
                <a:r>
                  <a:rPr lang="en-US" altLang="zh-CN" b="1" dirty="0">
                    <a:solidFill>
                      <a:schemeClr val="tx1"/>
                    </a:solidFill>
                    <a:effectLst/>
                  </a:rPr>
                  <a:t>       </a:t>
                </a:r>
                <a:r>
                  <a:rPr lang="zh-CN" altLang="zh-CN" b="1" dirty="0">
                    <a:solidFill>
                      <a:srgbClr val="0000FF"/>
                    </a:solidFill>
                    <a:effectLst/>
                  </a:rPr>
                  <a:t>迪杰斯特拉算法</a:t>
                </a:r>
                <a:r>
                  <a:rPr lang="zh-CN" altLang="zh-CN" dirty="0">
                    <a:solidFill>
                      <a:schemeClr val="tx1"/>
                    </a:solidFill>
                    <a:effectLst/>
                  </a:rPr>
                  <a:t>解决的是单源最短路径问题，只能求出单独某个源点到其它结点最短路径，然而</a:t>
                </a:r>
                <a:r>
                  <a:rPr lang="zh-CN" altLang="zh-CN" b="1" dirty="0">
                    <a:solidFill>
                      <a:srgbClr val="0000FF"/>
                    </a:solidFill>
                    <a:effectLst/>
                  </a:rPr>
                  <a:t>沃舍尔</a:t>
                </a:r>
                <a14:m>
                  <m:oMath xmlns:m="http://schemas.openxmlformats.org/officeDocument/2006/math">
                    <m:r>
                      <a:rPr lang="en-US" altLang="zh-CN" b="1" i="1">
                        <a:solidFill>
                          <a:srgbClr val="0000FF"/>
                        </a:solidFill>
                        <a:effectLst/>
                        <a:latin typeface="Cambria Math" panose="02040503050406030204" pitchFamily="18" charset="0"/>
                      </a:rPr>
                      <m:t>∙</m:t>
                    </m:r>
                  </m:oMath>
                </a14:m>
                <a:r>
                  <a:rPr lang="zh-CN" altLang="zh-CN" b="1" dirty="0">
                    <a:solidFill>
                      <a:srgbClr val="0000FF"/>
                    </a:solidFill>
                    <a:effectLst/>
                  </a:rPr>
                  <a:t>弗洛伊德算法</a:t>
                </a:r>
                <a:r>
                  <a:rPr lang="zh-CN" altLang="zh-CN" dirty="0">
                    <a:solidFill>
                      <a:schemeClr val="tx1"/>
                    </a:solidFill>
                    <a:effectLst/>
                  </a:rPr>
                  <a:t>则是求得图中</a:t>
                </a:r>
                <a:r>
                  <a:rPr lang="zh-CN" altLang="zh-CN" b="1" dirty="0">
                    <a:solidFill>
                      <a:srgbClr val="0000FF"/>
                    </a:solidFill>
                    <a:effectLst/>
                  </a:rPr>
                  <a:t>任意对结点之间的最短路径</a:t>
                </a:r>
                <a:r>
                  <a:rPr lang="zh-CN" altLang="zh-CN" dirty="0">
                    <a:solidFill>
                      <a:schemeClr val="tx1"/>
                    </a:solidFill>
                    <a:effectLst/>
                  </a:rPr>
                  <a:t>。</a:t>
                </a:r>
                <a:endParaRPr lang="zh-CN" altLang="en-US" b="1" dirty="0">
                  <a:solidFill>
                    <a:schemeClr val="tx1"/>
                  </a:solidFill>
                  <a:cs typeface="楷体_GB2312" pitchFamily="49" charset="-122"/>
                </a:endParaRPr>
              </a:p>
            </p:txBody>
          </p:sp>
        </mc:Choice>
        <mc:Fallback xmlns="">
          <p:sp>
            <p:nvSpPr>
              <p:cNvPr id="1311747" name="Rectangle 3"/>
              <p:cNvSpPr>
                <a:spLocks noGrp="1" noRot="1" noChangeAspect="1" noMove="1" noResize="1" noEditPoints="1" noAdjustHandles="1" noChangeArrowheads="1" noChangeShapeType="1" noTextEdit="1"/>
              </p:cNvSpPr>
              <p:nvPr>
                <p:ph idx="1"/>
              </p:nvPr>
            </p:nvSpPr>
            <p:spPr>
              <a:xfrm>
                <a:off x="317800" y="1838870"/>
                <a:ext cx="8496300" cy="1800200"/>
              </a:xfrm>
              <a:blipFill>
                <a:blip r:embed="rId2"/>
                <a:stretch>
                  <a:fillRect l="-1076" r="-430" b="-1017"/>
                </a:stretch>
              </a:blipFill>
            </p:spPr>
            <p:txBody>
              <a:bodyPr/>
              <a:lstStyle/>
              <a:p>
                <a:r>
                  <a:rPr lang="zh-CN" altLang="en-US">
                    <a:noFill/>
                  </a:rPr>
                  <a:t> </a:t>
                </a:r>
              </a:p>
            </p:txBody>
          </p:sp>
        </mc:Fallback>
      </mc:AlternateContent>
      <p:sp>
        <p:nvSpPr>
          <p:cNvPr id="205827"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759D38-C94B-40F0-AC42-66741DB5AE34}"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5828"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5834"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Floyd</a:t>
            </a:r>
            <a:r>
              <a:rPr lang="zh-CN" altLang="en-US" sz="4800" b="1">
                <a:solidFill>
                  <a:schemeClr val="bg1"/>
                </a:solidFill>
                <a:latin typeface="宋体" panose="02010600030101010101" pitchFamily="2" charset="-122"/>
                <a:ea typeface="宋体" panose="02010600030101010101" pitchFamily="2" charset="-122"/>
              </a:rPr>
              <a:t>算法思想 </a:t>
            </a:r>
          </a:p>
        </p:txBody>
      </p:sp>
      <p:pic>
        <p:nvPicPr>
          <p:cNvPr id="205835"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28384" y="563835"/>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2751065-358A-4DE2-90BA-0EEF04F7207C}"/>
                  </a:ext>
                </a:extLst>
              </p:cNvPr>
              <p:cNvSpPr/>
              <p:nvPr/>
            </p:nvSpPr>
            <p:spPr>
              <a:xfrm>
                <a:off x="311750" y="3977725"/>
                <a:ext cx="8508400" cy="1930337"/>
              </a:xfrm>
              <a:prstGeom prst="rect">
                <a:avLst/>
              </a:prstGeom>
              <a:solidFill>
                <a:schemeClr val="accent6">
                  <a:lumMod val="75000"/>
                </a:schemeClr>
              </a:solidFill>
            </p:spPr>
            <p:txBody>
              <a:bodyPr wrap="square">
                <a:spAutoFit/>
              </a:bodyPr>
              <a:lstStyle/>
              <a:p>
                <a:pPr>
                  <a:lnSpc>
                    <a:spcPct val="150000"/>
                  </a:lnSpc>
                </a:pPr>
                <a:r>
                  <a:rPr lang="en-US" altLang="zh-CN" sz="2800" b="1" dirty="0">
                    <a:latin typeface="Calibri" panose="020F0502020204030204" pitchFamily="34" charset="0"/>
                    <a:ea typeface="宋体" panose="02010600030101010101" pitchFamily="2" charset="-122"/>
                    <a:cs typeface="Times New Roman" panose="02020603050405020304" pitchFamily="18" charset="0"/>
                  </a:rPr>
                  <a:t>        </a:t>
                </a:r>
                <a:r>
                  <a:rPr lang="zh-CN" altLang="zh-CN" sz="28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沃舍尔</a:t>
                </a:r>
                <a14:m>
                  <m:oMath xmlns:m="http://schemas.openxmlformats.org/officeDocument/2006/math">
                    <m:r>
                      <a:rPr lang="en-US" altLang="zh-CN" sz="2800" b="1" i="1">
                        <a:solidFill>
                          <a:schemeClr val="bg1"/>
                        </a:solidFill>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800" b="1" dirty="0">
                    <a:solidFill>
                      <a:schemeClr val="bg1"/>
                    </a:solidFill>
                    <a:latin typeface="Calibri" panose="020F0502020204030204" pitchFamily="34" charset="0"/>
                    <a:ea typeface="宋体" panose="02010600030101010101" pitchFamily="2" charset="-122"/>
                    <a:cs typeface="Times New Roman" panose="02020603050405020304" pitchFamily="18" charset="0"/>
                  </a:rPr>
                  <a:t>弗洛伊德算法</a:t>
                </a:r>
                <a:r>
                  <a:rPr lang="zh-CN" altLang="zh-CN" sz="2800" b="1" dirty="0">
                    <a:solidFill>
                      <a:schemeClr val="bg1"/>
                    </a:solidFill>
                    <a:ea typeface="宋体" panose="02010600030101010101" pitchFamily="2" charset="-122"/>
                    <a:cs typeface="宋体" panose="02010600030101010101" pitchFamily="2" charset="-122"/>
                  </a:rPr>
                  <a:t>的基本思想</a:t>
                </a:r>
                <a:r>
                  <a:rPr lang="zh-CN" altLang="en-US" sz="2800" b="1" dirty="0">
                    <a:solidFill>
                      <a:schemeClr val="bg1"/>
                    </a:solidFill>
                    <a:ea typeface="宋体" panose="02010600030101010101" pitchFamily="2" charset="-122"/>
                    <a:cs typeface="宋体" panose="02010600030101010101" pitchFamily="2" charset="-122"/>
                  </a:rPr>
                  <a:t>：</a:t>
                </a:r>
                <a:r>
                  <a:rPr lang="zh-CN" altLang="zh-CN" sz="2800" b="1" dirty="0">
                    <a:solidFill>
                      <a:srgbClr val="FFFF66"/>
                    </a:solidFill>
                    <a:ea typeface="宋体" panose="02010600030101010101" pitchFamily="2" charset="-122"/>
                    <a:cs typeface="宋体" panose="02010600030101010101" pitchFamily="2" charset="-122"/>
                  </a:rPr>
                  <a:t>通过逐次增加中介结点的</a:t>
                </a:r>
                <a:r>
                  <a:rPr lang="zh-CN" altLang="en-US" sz="2800" b="1" dirty="0">
                    <a:solidFill>
                      <a:srgbClr val="FFFF66"/>
                    </a:solidFill>
                    <a:ea typeface="宋体" panose="02010600030101010101" pitchFamily="2" charset="-122"/>
                    <a:cs typeface="宋体" panose="02010600030101010101" pitchFamily="2" charset="-122"/>
                  </a:rPr>
                  <a:t>方式</a:t>
                </a:r>
                <a:r>
                  <a:rPr lang="zh-CN" altLang="zh-CN" sz="2800" b="1" dirty="0">
                    <a:solidFill>
                      <a:srgbClr val="FFFF66"/>
                    </a:solidFill>
                    <a:ea typeface="宋体" panose="02010600030101010101" pitchFamily="2" charset="-122"/>
                    <a:cs typeface="宋体" panose="02010600030101010101" pitchFamily="2" charset="-122"/>
                  </a:rPr>
                  <a:t>，不断优化和更新图中每对结点之间的路径长度。</a:t>
                </a:r>
                <a:endParaRPr lang="zh-CN" altLang="en-US" sz="2800" b="1" dirty="0"/>
              </a:p>
            </p:txBody>
          </p:sp>
        </mc:Choice>
        <mc:Fallback xmlns="">
          <p:sp>
            <p:nvSpPr>
              <p:cNvPr id="2" name="矩形 1">
                <a:extLst>
                  <a:ext uri="{FF2B5EF4-FFF2-40B4-BE49-F238E27FC236}">
                    <a16:creationId xmlns:a16="http://schemas.microsoft.com/office/drawing/2014/main" id="{A2751065-358A-4DE2-90BA-0EEF04F7207C}"/>
                  </a:ext>
                </a:extLst>
              </p:cNvPr>
              <p:cNvSpPr>
                <a:spLocks noRot="1" noChangeAspect="1" noMove="1" noResize="1" noEditPoints="1" noAdjustHandles="1" noChangeArrowheads="1" noChangeShapeType="1" noTextEdit="1"/>
              </p:cNvSpPr>
              <p:nvPr/>
            </p:nvSpPr>
            <p:spPr>
              <a:xfrm>
                <a:off x="311750" y="3977725"/>
                <a:ext cx="8508400" cy="1930337"/>
              </a:xfrm>
              <a:prstGeom prst="rect">
                <a:avLst/>
              </a:prstGeom>
              <a:blipFill>
                <a:blip r:embed="rId5"/>
                <a:stretch>
                  <a:fillRect l="-1433" r="-788" b="-8228"/>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759D38-C94B-40F0-AC42-66741DB5AE34}"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5828"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5834"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Floyd</a:t>
            </a:r>
            <a:r>
              <a:rPr lang="zh-CN" altLang="en-US" sz="4800" b="1">
                <a:solidFill>
                  <a:schemeClr val="bg1"/>
                </a:solidFill>
                <a:latin typeface="宋体" panose="02010600030101010101" pitchFamily="2" charset="-122"/>
                <a:ea typeface="宋体" panose="02010600030101010101" pitchFamily="2" charset="-122"/>
              </a:rPr>
              <a:t>算法思想 </a:t>
            </a:r>
          </a:p>
        </p:txBody>
      </p:sp>
      <p:pic>
        <p:nvPicPr>
          <p:cNvPr id="20583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5CE60871-880A-40CB-A51A-8CA346972261}"/>
                  </a:ext>
                </a:extLst>
              </p:cNvPr>
              <p:cNvSpPr/>
              <p:nvPr/>
            </p:nvSpPr>
            <p:spPr>
              <a:xfrm>
                <a:off x="125760" y="1748579"/>
                <a:ext cx="8892480" cy="4431598"/>
              </a:xfrm>
              <a:prstGeom prst="rect">
                <a:avLst/>
              </a:prstGeom>
              <a:solidFill>
                <a:schemeClr val="accent6">
                  <a:lumMod val="75000"/>
                </a:schemeClr>
              </a:solidFill>
            </p:spPr>
            <p:txBody>
              <a:bodyPr wrap="square">
                <a:spAutoFit/>
              </a:bodyPr>
              <a:lstStyle/>
              <a:p>
                <a:pPr indent="266700" algn="just">
                  <a:lnSpc>
                    <a:spcPts val="38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首先，将</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oMath>
                </a14:m>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作为中介结点，据此更新图中仅以</a:t>
                </a: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oMath>
                </a14:m>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作为中介结点的</a:t>
                </a:r>
                <a:r>
                  <a:rPr lang="zh-CN" altLang="zh-CN" sz="2400" b="1" kern="0" dirty="0">
                    <a:solidFill>
                      <a:srgbClr val="FFFF66"/>
                    </a:solidFill>
                    <a:latin typeface="Calibri" panose="020F0502020204030204" pitchFamily="34" charset="0"/>
                    <a:ea typeface="宋体" panose="02010600030101010101" pitchFamily="2" charset="-122"/>
                    <a:cs typeface="宋体" panose="02010600030101010101" pitchFamily="2" charset="-122"/>
                  </a:rPr>
                  <a:t>路径长度</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以及相应的</a:t>
                </a:r>
                <a:r>
                  <a:rPr lang="zh-CN" altLang="zh-CN" sz="2400" b="1" kern="0" dirty="0">
                    <a:solidFill>
                      <a:srgbClr val="FFFF66"/>
                    </a:solidFill>
                    <a:latin typeface="Calibri" panose="020F0502020204030204" pitchFamily="34" charset="0"/>
                    <a:ea typeface="宋体" panose="02010600030101010101" pitchFamily="2" charset="-122"/>
                    <a:cs typeface="宋体" panose="02010600030101010101" pitchFamily="2" charset="-122"/>
                  </a:rPr>
                  <a:t>路径记录</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a:t>
                </a:r>
                <a:endParaRPr lang="en-US"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endParaRPr>
              </a:p>
              <a:p>
                <a:pPr indent="266700" algn="just">
                  <a:lnSpc>
                    <a:spcPts val="3800"/>
                  </a:lnSpc>
                  <a:spcAft>
                    <a:spcPts val="0"/>
                  </a:spcAft>
                </a:pPr>
                <a:r>
                  <a:rPr lang="en-US"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然后</a:t>
                </a:r>
                <a:r>
                  <a:rPr lang="zh-CN" altLang="en-US"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在</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oMath>
                </a14:m>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的基础上，进一步引入</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作为新增的中介结点，并</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更新图中仅以</a:t>
                </a: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作为</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中介结点的</a:t>
                </a:r>
                <a:r>
                  <a:rPr lang="zh-CN" altLang="zh-CN" sz="2400" b="1" kern="0" dirty="0">
                    <a:solidFill>
                      <a:srgbClr val="FFFF00"/>
                    </a:solidFill>
                    <a:latin typeface="Calibri" panose="020F0502020204030204" pitchFamily="34" charset="0"/>
                    <a:ea typeface="宋体" panose="02010600030101010101" pitchFamily="2" charset="-122"/>
                    <a:cs typeface="宋体" panose="02010600030101010101" pitchFamily="2" charset="-122"/>
                  </a:rPr>
                  <a:t>路径长度</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和</a:t>
                </a:r>
                <a:r>
                  <a:rPr lang="zh-CN" altLang="zh-CN" sz="2400" b="1" kern="0" dirty="0">
                    <a:solidFill>
                      <a:srgbClr val="FFFF00"/>
                    </a:solidFill>
                    <a:latin typeface="Calibri" panose="020F0502020204030204" pitchFamily="34" charset="0"/>
                    <a:ea typeface="宋体" panose="02010600030101010101" pitchFamily="2" charset="-122"/>
                    <a:cs typeface="宋体" panose="02010600030101010101" pitchFamily="2" charset="-122"/>
                  </a:rPr>
                  <a:t>路径记录</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800"/>
                  </a:lnSpc>
                  <a:spcAft>
                    <a:spcPts val="0"/>
                  </a:spcAft>
                </a:pPr>
                <a:r>
                  <a:rPr lang="en-US"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依次类推，</a:t>
                </a:r>
                <a:r>
                  <a:rPr lang="zh-CN" altLang="zh-CN" sz="2400" b="1" kern="0" dirty="0">
                    <a:solidFill>
                      <a:srgbClr val="FFFF00"/>
                    </a:solidFill>
                    <a:latin typeface="Calibri" panose="020F0502020204030204" pitchFamily="34" charset="0"/>
                    <a:ea typeface="宋体" panose="02010600030101010101" pitchFamily="2" charset="-122"/>
                    <a:cs typeface="宋体" panose="02010600030101010101" pitchFamily="2" charset="-122"/>
                  </a:rPr>
                  <a:t>在</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𝟑</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oMath>
                </a14:m>
                <a:r>
                  <a:rPr lang="zh-CN" altLang="zh-CN" sz="2400" b="1" kern="0" dirty="0">
                    <a:solidFill>
                      <a:srgbClr val="FFFF00"/>
                    </a:solidFill>
                    <a:latin typeface="Calibri" panose="020F0502020204030204" pitchFamily="34" charset="0"/>
                    <a:ea typeface="宋体" panose="02010600030101010101" pitchFamily="2" charset="-122"/>
                    <a:cs typeface="宋体" panose="02010600030101010101" pitchFamily="2" charset="-122"/>
                  </a:rPr>
                  <a:t>作为中介结点的基础上，以</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𝒌</m:t>
                        </m:r>
                      </m:sub>
                    </m:sSub>
                  </m:oMath>
                </a14:m>
                <a:r>
                  <a:rPr lang="zh-CN" altLang="zh-CN" sz="2400" b="1" kern="0" dirty="0">
                    <a:solidFill>
                      <a:srgbClr val="FFFF00"/>
                    </a:solidFill>
                    <a:latin typeface="Calibri" panose="020F0502020204030204" pitchFamily="34" charset="0"/>
                    <a:ea typeface="宋体" panose="02010600030101010101" pitchFamily="2" charset="-122"/>
                    <a:cs typeface="宋体" panose="02010600030101010101" pitchFamily="2" charset="-122"/>
                  </a:rPr>
                  <a:t>作为新增中介结点计算并更新图中以</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𝟑</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𝒌</m:t>
                        </m:r>
                      </m:sub>
                    </m:sSub>
                  </m:oMath>
                </a14:m>
                <a:r>
                  <a:rPr lang="zh-CN" altLang="zh-CN" sz="2400" b="1" kern="0" dirty="0">
                    <a:solidFill>
                      <a:srgbClr val="FFFF00"/>
                    </a:solidFill>
                    <a:latin typeface="Calibri" panose="020F0502020204030204" pitchFamily="34" charset="0"/>
                    <a:ea typeface="宋体" panose="02010600030101010101" pitchFamily="2" charset="-122"/>
                    <a:cs typeface="宋体" panose="02010600030101010101" pitchFamily="2" charset="-122"/>
                  </a:rPr>
                  <a:t>为中介结点</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的每对结点之间路径长度和路径记录。</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800"/>
                  </a:lnSpc>
                  <a:spcAft>
                    <a:spcPts val="0"/>
                  </a:spcAft>
                </a:pPr>
                <a:r>
                  <a:rPr lang="en-US"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这样当</a:t>
                </a:r>
                <a14:m>
                  <m:oMath xmlns:m="http://schemas.openxmlformats.org/officeDocument/2006/math">
                    <m:r>
                      <a:rPr lang="en-US" altLang="zh-CN" sz="2400" b="1" i="1" kern="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bg1"/>
                        </a:solidFill>
                        <a:latin typeface="Cambria Math" panose="02040503050406030204" pitchFamily="18" charset="0"/>
                        <a:ea typeface="宋体" panose="02010600030101010101" pitchFamily="2" charset="-122"/>
                        <a:cs typeface="宋体" panose="02010600030101010101" pitchFamily="2" charset="-122"/>
                      </a:rPr>
                      <m:t>𝒏</m:t>
                    </m:r>
                  </m:oMath>
                </a14:m>
                <a:r>
                  <a:rPr lang="en-US" altLang="zh-CN" sz="2400" b="1" kern="0" dirty="0">
                    <a:solidFill>
                      <a:schemeClr val="bg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400" b="1" i="1" kern="0">
                        <a:solidFill>
                          <a:schemeClr val="bg1"/>
                        </a:solidFill>
                        <a:latin typeface="Cambria Math" panose="02040503050406030204" pitchFamily="18" charset="0"/>
                        <a:ea typeface="宋体" panose="02010600030101010101" pitchFamily="2" charset="-122"/>
                        <a:cs typeface="宋体" panose="02010600030101010101" pitchFamily="2" charset="-122"/>
                      </a:rPr>
                      <m:t>𝒏</m:t>
                    </m:r>
                  </m:oMath>
                </a14:m>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为结点个数</a:t>
                </a:r>
                <a:r>
                  <a:rPr lang="en-US"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a:t>
                </a:r>
                <a:r>
                  <a:rPr lang="zh-CN" altLang="zh-CN" sz="2400" b="1" kern="0" dirty="0">
                    <a:solidFill>
                      <a:schemeClr val="bg1"/>
                    </a:solidFill>
                    <a:latin typeface="Calibri" panose="020F0502020204030204" pitchFamily="34" charset="0"/>
                    <a:ea typeface="宋体" panose="02010600030101010101" pitchFamily="2" charset="-122"/>
                    <a:cs typeface="宋体" panose="02010600030101010101" pitchFamily="2" charset="-122"/>
                  </a:rPr>
                  <a:t>时，便可求出图中每对结点的最短路径长度及其相应的路径记录。</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5CE60871-880A-40CB-A51A-8CA346972261}"/>
                  </a:ext>
                </a:extLst>
              </p:cNvPr>
              <p:cNvSpPr>
                <a:spLocks noRot="1" noChangeAspect="1" noMove="1" noResize="1" noEditPoints="1" noAdjustHandles="1" noChangeArrowheads="1" noChangeShapeType="1" noTextEdit="1"/>
              </p:cNvSpPr>
              <p:nvPr/>
            </p:nvSpPr>
            <p:spPr>
              <a:xfrm>
                <a:off x="125760" y="1748579"/>
                <a:ext cx="8892480" cy="4431598"/>
              </a:xfrm>
              <a:prstGeom prst="rect">
                <a:avLst/>
              </a:prstGeom>
              <a:blipFill>
                <a:blip r:embed="rId4"/>
                <a:stretch>
                  <a:fillRect l="-1097" t="-138" r="-1097" b="-16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38868717"/>
      </p:ext>
    </p:extLst>
  </p:cSld>
  <p:clrMapOvr>
    <a:masterClrMapping/>
  </p:clrMapOvr>
  <p:transition spd="med">
    <p:wipe dir="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759D38-C94B-40F0-AC42-66741DB5AE34}"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5828"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5834" name="Text Box 2"/>
          <p:cNvSpPr txBox="1">
            <a:spLocks noChangeArrowheads="1"/>
          </p:cNvSpPr>
          <p:nvPr/>
        </p:nvSpPr>
        <p:spPr bwMode="auto">
          <a:xfrm>
            <a:off x="1331640" y="727331"/>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Floyd</a:t>
            </a:r>
            <a:r>
              <a:rPr lang="zh-CN" altLang="en-US" sz="4800" b="1">
                <a:solidFill>
                  <a:schemeClr val="bg1"/>
                </a:solidFill>
                <a:latin typeface="宋体" panose="02010600030101010101" pitchFamily="2" charset="-122"/>
                <a:ea typeface="宋体" panose="02010600030101010101" pitchFamily="2" charset="-122"/>
              </a:rPr>
              <a:t>算法思想 </a:t>
            </a:r>
          </a:p>
        </p:txBody>
      </p:sp>
      <p:pic>
        <p:nvPicPr>
          <p:cNvPr id="20583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3C99157-BAE5-4D15-BA0B-C76EF8E31417}"/>
                  </a:ext>
                </a:extLst>
              </p:cNvPr>
              <p:cNvSpPr/>
              <p:nvPr/>
            </p:nvSpPr>
            <p:spPr>
              <a:xfrm>
                <a:off x="305526" y="1844824"/>
                <a:ext cx="8532948" cy="4217821"/>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有</a:t>
                </a:r>
                <a:r>
                  <a:rPr lang="zh-CN" altLang="zh-CN" sz="2400" b="1" kern="100" dirty="0">
                    <a:solidFill>
                      <a:srgbClr val="FFFF66"/>
                    </a:solidFill>
                    <a:latin typeface="Calibri" panose="020F0502020204030204" pitchFamily="34" charset="0"/>
                    <a:ea typeface="宋体" panose="02010600030101010101" pitchFamily="2" charset="-122"/>
                    <a:cs typeface="宋体" panose="02010600030101010101" pitchFamily="2" charset="-122"/>
                  </a:rPr>
                  <a:t>两点</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非常</a:t>
                </a:r>
                <a:r>
                  <a:rPr lang="zh-CN" altLang="en-US"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关键</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：一是对</a:t>
                </a:r>
                <a:r>
                  <a:rPr lang="zh-CN" altLang="zh-CN" sz="2400" b="1" kern="100" dirty="0">
                    <a:solidFill>
                      <a:srgbClr val="FFFF66"/>
                    </a:solidFill>
                    <a:latin typeface="Calibri" panose="020F0502020204030204" pitchFamily="34" charset="0"/>
                    <a:ea typeface="宋体" panose="02010600030101010101" pitchFamily="2" charset="-122"/>
                    <a:cs typeface="宋体" panose="02010600030101010101" pitchFamily="2" charset="-122"/>
                  </a:rPr>
                  <a:t>路径长度的表示</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，另一是对</a:t>
                </a:r>
                <a:r>
                  <a:rPr lang="zh-CN" altLang="zh-CN" sz="2400" b="1" kern="100" dirty="0">
                    <a:solidFill>
                      <a:srgbClr val="FFFF66"/>
                    </a:solidFill>
                    <a:latin typeface="Calibri" panose="020F0502020204030204" pitchFamily="34" charset="0"/>
                    <a:ea typeface="宋体" panose="02010600030101010101" pitchFamily="2" charset="-122"/>
                    <a:cs typeface="宋体" panose="02010600030101010101" pitchFamily="2" charset="-122"/>
                  </a:rPr>
                  <a:t>具体路径的记录</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a:t>
                </a:r>
                <a:r>
                  <a:rPr lang="zh-CN" altLang="en-US"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需要</a:t>
                </a:r>
                <a:r>
                  <a:rPr lang="zh-CN" altLang="zh-CN" sz="2400" b="1" kern="100" dirty="0">
                    <a:solidFill>
                      <a:srgbClr val="FFFF66"/>
                    </a:solidFill>
                    <a:latin typeface="Calibri" panose="020F0502020204030204" pitchFamily="34" charset="0"/>
                    <a:ea typeface="宋体" panose="02010600030101010101" pitchFamily="2" charset="-122"/>
                    <a:cs typeface="宋体" panose="02010600030101010101" pitchFamily="2" charset="-122"/>
                  </a:rPr>
                  <a:t>定义两个矩阵</a:t>
                </a:r>
                <a:r>
                  <a:rPr lang="zh-CN" altLang="en-US"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分别</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用于记录上述数据：</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en-US" altLang="zh-CN" sz="2400" b="1" kern="100" dirty="0">
                    <a:solidFill>
                      <a:schemeClr val="bg1"/>
                    </a:solidFill>
                    <a:ea typeface="Cambria Math" panose="02040503050406030204" pitchFamily="18" charset="0"/>
                    <a:cs typeface="宋体" panose="02010600030101010101" pitchFamily="2" charset="-122"/>
                  </a:rPr>
                  <a:t>  </a:t>
                </a:r>
                <a:r>
                  <a:rPr lang="zh-CN" altLang="en-US" sz="2400" b="1" kern="100" dirty="0">
                    <a:solidFill>
                      <a:schemeClr val="bg1"/>
                    </a:solidFill>
                    <a:ea typeface="Cambria Math" panose="02040503050406030204" pitchFamily="18" charset="0"/>
                    <a:cs typeface="宋体" panose="02010600030101010101" pitchFamily="2" charset="-122"/>
                  </a:rPr>
                  <a:t>矩阵元素</a:t>
                </a:r>
                <a14:m>
                  <m:oMath xmlns:m="http://schemas.openxmlformats.org/officeDocument/2006/math">
                    <m:sSup>
                      <m:sSupPr>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𝒌</m:t>
                            </m:r>
                          </m:e>
                        </m:d>
                      </m:sup>
                    </m:sSup>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𝒋</m:t>
                        </m:r>
                      </m:sub>
                    </m:s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表示在</a:t>
                </a: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𝟑</m:t>
                        </m:r>
                      </m:sub>
                    </m:s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𝒌</m:t>
                        </m:r>
                      </m:sub>
                    </m:sSub>
                  </m:oMath>
                </a14:m>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作为中介结点</a:t>
                </a:r>
                <a:r>
                  <a:rPr lang="zh-CN" altLang="en-US"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的</a:t>
                </a:r>
                <a:r>
                  <a:rPr lang="zh-CN" altLang="en-US"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时候</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，结点</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与</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的当前最短路径长度</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名为</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距离矩阵</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a:t>
                </a:r>
                <a:endPar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en-US" altLang="zh-CN" sz="2400" b="1" kern="100" dirty="0">
                    <a:solidFill>
                      <a:srgbClr val="FFFF00"/>
                    </a:solidFill>
                    <a:ea typeface="Cambria Math" panose="02040503050406030204" pitchFamily="18" charset="0"/>
                    <a:cs typeface="宋体" panose="02010600030101010101" pitchFamily="2" charset="-122"/>
                  </a:rPr>
                  <a:t>  </a:t>
                </a:r>
                <a:r>
                  <a:rPr lang="zh-CN" altLang="en-US" sz="2400" b="1" kern="100" dirty="0">
                    <a:solidFill>
                      <a:schemeClr val="bg1"/>
                    </a:solidFill>
                    <a:ea typeface="Cambria Math" panose="02040503050406030204" pitchFamily="18" charset="0"/>
                    <a:cs typeface="宋体" panose="02010600030101010101" pitchFamily="2" charset="-122"/>
                  </a:rPr>
                  <a:t>矩阵元素</a:t>
                </a:r>
                <a14:m>
                  <m:oMath xmlns:m="http://schemas.openxmlformats.org/officeDocument/2006/math">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𝒌</m:t>
                            </m:r>
                          </m:e>
                        </m:d>
                      </m:sup>
                    </m:sSup>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𝒋</m:t>
                        </m:r>
                      </m:sub>
                    </m:s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oMath>
                </a14:m>
                <a:r>
                  <a:rPr lang="en-US" altLang="zh-CN" sz="2400" b="1" kern="100" dirty="0">
                    <a:solidFill>
                      <a:srgbClr val="FFFF00"/>
                    </a:solidFill>
                    <a:latin typeface="宋体" panose="02010600030101010101" pitchFamily="2" charset="-122"/>
                    <a:ea typeface="宋体" panose="02010600030101010101" pitchFamily="2" charset="-122"/>
                    <a:cs typeface="宋体" panose="02010600030101010101" pitchFamily="2" charset="-122"/>
                  </a:rPr>
                  <a:t> </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表示</a:t>
                </a:r>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在</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𝟑</m:t>
                        </m:r>
                      </m:sub>
                    </m:s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𝒌</m:t>
                        </m:r>
                      </m:sub>
                    </m:sSub>
                  </m:oMath>
                </a14:m>
                <a:r>
                  <a:rPr lang="zh-CN" altLang="zh-CN" sz="2400" b="1" kern="100" dirty="0">
                    <a:solidFill>
                      <a:srgbClr val="FFFF00"/>
                    </a:solidFill>
                    <a:latin typeface="Calibri" panose="020F0502020204030204" pitchFamily="34" charset="0"/>
                    <a:ea typeface="宋体" panose="02010600030101010101" pitchFamily="2" charset="-122"/>
                    <a:cs typeface="宋体" panose="02010600030101010101" pitchFamily="2" charset="-122"/>
                  </a:rPr>
                  <a:t>作为中介结点</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的</a:t>
                </a:r>
                <a:r>
                  <a:rPr lang="zh-CN" altLang="en-US"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时候</a:t>
                </a:r>
                <a:r>
                  <a:rPr lang="zh-CN" altLang="zh-CN" sz="2400" b="1" kern="100" dirty="0">
                    <a:solidFill>
                      <a:schemeClr val="bg1"/>
                    </a:solidFill>
                    <a:latin typeface="Calibri" panose="020F0502020204030204" pitchFamily="34" charset="0"/>
                    <a:ea typeface="宋体" panose="02010600030101010101" pitchFamily="2" charset="-122"/>
                    <a:cs typeface="宋体" panose="02010600030101010101" pitchFamily="2" charset="-122"/>
                  </a:rPr>
                  <a:t>，结点</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与</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oMath>
                </a14:m>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的当前最短路径长度中必经的一个中间点</a:t>
                </a:r>
                <a:r>
                  <a:rPr lang="zh-CN" altLang="en-US"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的下标，</a:t>
                </a:r>
                <a:r>
                  <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名为</a:t>
                </a:r>
                <a:r>
                  <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路径矩阵</a:t>
                </a:r>
                <a:r>
                  <a:rPr lang="zh-CN" altLang="en-US"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rPr>
                  <a:t>。</a:t>
                </a:r>
                <a:endParaRPr lang="zh-CN" altLang="zh-CN" sz="2400" b="1" kern="100" dirty="0">
                  <a:solidFill>
                    <a:srgbClr val="FFFF00"/>
                  </a:solidFill>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93C99157-BAE5-4D15-BA0B-C76EF8E31417}"/>
                  </a:ext>
                </a:extLst>
              </p:cNvPr>
              <p:cNvSpPr>
                <a:spLocks noRot="1" noChangeAspect="1" noMove="1" noResize="1" noEditPoints="1" noAdjustHandles="1" noChangeArrowheads="1" noChangeShapeType="1" noTextEdit="1"/>
              </p:cNvSpPr>
              <p:nvPr/>
            </p:nvSpPr>
            <p:spPr>
              <a:xfrm>
                <a:off x="305526" y="1844824"/>
                <a:ext cx="8532948" cy="4217821"/>
              </a:xfrm>
              <a:prstGeom prst="rect">
                <a:avLst/>
              </a:prstGeom>
              <a:blipFill>
                <a:blip r:embed="rId4"/>
                <a:stretch>
                  <a:fillRect l="-1071" r="-1143" b="-17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23469798"/>
      </p:ext>
    </p:extLst>
  </p:cSld>
  <p:clrMapOvr>
    <a:masterClrMapping/>
  </p:clrMapOvr>
  <p:transition spd="med">
    <p:wipe dir="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7BC2F8A6-673B-43E1-A592-18FB2732092C}"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206852" name="Text Box 2"/>
          <p:cNvSpPr txBox="1">
            <a:spLocks noChangeArrowheads="1"/>
          </p:cNvSpPr>
          <p:nvPr/>
        </p:nvSpPr>
        <p:spPr bwMode="auto">
          <a:xfrm>
            <a:off x="1475581" y="618767"/>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Floyd</a:t>
            </a:r>
            <a:r>
              <a:rPr lang="zh-CN" altLang="en-US" sz="4800" b="1">
                <a:solidFill>
                  <a:schemeClr val="bg1"/>
                </a:solidFill>
                <a:latin typeface="宋体" panose="02010600030101010101" pitchFamily="2" charset="-122"/>
                <a:ea typeface="宋体" panose="02010600030101010101" pitchFamily="2" charset="-122"/>
              </a:rPr>
              <a:t>算法要领 </a:t>
            </a:r>
          </a:p>
        </p:txBody>
      </p:sp>
      <p:pic>
        <p:nvPicPr>
          <p:cNvPr id="206853"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1860078-D446-4646-B0F7-7689079D4EE4}"/>
              </a:ext>
            </a:extLst>
          </p:cNvPr>
          <p:cNvSpPr txBox="1"/>
          <p:nvPr/>
        </p:nvSpPr>
        <p:spPr>
          <a:xfrm>
            <a:off x="6660232" y="5753686"/>
            <a:ext cx="360040" cy="461665"/>
          </a:xfrm>
          <a:prstGeom prst="rect">
            <a:avLst/>
          </a:prstGeom>
          <a:noFill/>
        </p:spPr>
        <p:txBody>
          <a:bodyPr wrap="square" rtlCol="0">
            <a:spAutoFit/>
          </a:bodyPr>
          <a:lstStyle/>
          <a:p>
            <a:r>
              <a:rPr lang="en-US" altLang="zh-CN" sz="2400" b="1" dirty="0"/>
              <a:t>/</a:t>
            </a:r>
            <a:endParaRPr lang="zh-CN" altLang="en-US" sz="2400" b="1" dirty="0"/>
          </a:p>
        </p:txBody>
      </p:sp>
      <p:pic>
        <p:nvPicPr>
          <p:cNvPr id="4" name="图片 3">
            <a:extLst>
              <a:ext uri="{FF2B5EF4-FFF2-40B4-BE49-F238E27FC236}">
                <a16:creationId xmlns:a16="http://schemas.microsoft.com/office/drawing/2014/main" id="{B09629E8-2EB3-46DF-ACE4-D66E0D3EE75C}"/>
              </a:ext>
            </a:extLst>
          </p:cNvPr>
          <p:cNvPicPr>
            <a:picLocks noChangeAspect="1"/>
          </p:cNvPicPr>
          <p:nvPr/>
        </p:nvPicPr>
        <p:blipFill>
          <a:blip r:embed="rId4"/>
          <a:stretch>
            <a:fillRect/>
          </a:stretch>
        </p:blipFill>
        <p:spPr>
          <a:xfrm>
            <a:off x="971600" y="1593692"/>
            <a:ext cx="7416824" cy="4682318"/>
          </a:xfrm>
          <a:prstGeom prst="rect">
            <a:avLst/>
          </a:prstGeom>
        </p:spPr>
      </p:pic>
    </p:spTree>
  </p:cSld>
  <p:clrMapOvr>
    <a:masterClrMapping/>
  </p:clrMapOvr>
  <p:transition spd="med">
    <p:wipe dir="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日期占位符 4"/>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E289EC00-FC65-49C7-BE79-0631B50CA32C}"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7875" name="Text Box 2"/>
          <p:cNvSpPr txBox="1">
            <a:spLocks noChangeArrowheads="1"/>
          </p:cNvSpPr>
          <p:nvPr/>
        </p:nvSpPr>
        <p:spPr bwMode="auto">
          <a:xfrm>
            <a:off x="1259681" y="648043"/>
            <a:ext cx="66246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求距离矩阵</a:t>
            </a:r>
          </a:p>
        </p:txBody>
      </p:sp>
      <p:pic>
        <p:nvPicPr>
          <p:cNvPr id="20787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A0FA0442-F932-41C8-9AE1-A5E99CBED020}"/>
              </a:ext>
            </a:extLst>
          </p:cNvPr>
          <p:cNvPicPr>
            <a:picLocks noChangeAspect="1"/>
          </p:cNvPicPr>
          <p:nvPr/>
        </p:nvPicPr>
        <p:blipFill>
          <a:blip r:embed="rId4"/>
          <a:stretch>
            <a:fillRect/>
          </a:stretch>
        </p:blipFill>
        <p:spPr>
          <a:xfrm>
            <a:off x="797912" y="1646297"/>
            <a:ext cx="7764269" cy="4651178"/>
          </a:xfrm>
          <a:prstGeom prst="rect">
            <a:avLst/>
          </a:prstGeom>
        </p:spPr>
      </p:pic>
    </p:spTree>
  </p:cSld>
  <p:clrMapOvr>
    <a:masterClrMapping/>
  </p:clrMapOvr>
  <p:transition spd="med">
    <p:wipe dir="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DE99D2A2-BD49-4097-BBC9-C2358E02FEF4}"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pic>
        <p:nvPicPr>
          <p:cNvPr id="20889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5174" y="476251"/>
            <a:ext cx="958826" cy="1008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0" name="Text Box 2"/>
          <p:cNvSpPr txBox="1">
            <a:spLocks noChangeArrowheads="1"/>
          </p:cNvSpPr>
          <p:nvPr/>
        </p:nvSpPr>
        <p:spPr bwMode="auto">
          <a:xfrm>
            <a:off x="1355726" y="518763"/>
            <a:ext cx="66246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求路径矩阵</a:t>
            </a:r>
          </a:p>
        </p:txBody>
      </p:sp>
      <p:pic>
        <p:nvPicPr>
          <p:cNvPr id="208901" name="Picture 7" descr="无标题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1515274"/>
            <a:ext cx="7344816" cy="480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77B521A9-EFA2-4BA7-8C01-F9F82825A906}"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9923" name="Text Box 2"/>
          <p:cNvSpPr txBox="1">
            <a:spLocks noChangeArrowheads="1"/>
          </p:cNvSpPr>
          <p:nvPr/>
        </p:nvSpPr>
        <p:spPr bwMode="auto">
          <a:xfrm>
            <a:off x="1295685" y="620688"/>
            <a:ext cx="66246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求最短路径</a:t>
            </a:r>
          </a:p>
        </p:txBody>
      </p:sp>
      <p:pic>
        <p:nvPicPr>
          <p:cNvPr id="20992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16">
            <a:extLst>
              <a:ext uri="{FF2B5EF4-FFF2-40B4-BE49-F238E27FC236}">
                <a16:creationId xmlns:a16="http://schemas.microsoft.com/office/drawing/2014/main" id="{BEB6523D-F7D8-4479-A5CB-CB26D31DCC4D}"/>
              </a:ext>
            </a:extLst>
          </p:cNvPr>
          <p:cNvPicPr>
            <a:picLocks noChangeAspect="1"/>
          </p:cNvPicPr>
          <p:nvPr/>
        </p:nvPicPr>
        <p:blipFill>
          <a:blip r:embed="rId4"/>
          <a:stretch>
            <a:fillRect/>
          </a:stretch>
        </p:blipFill>
        <p:spPr>
          <a:xfrm>
            <a:off x="467544" y="1676982"/>
            <a:ext cx="8532948" cy="4578758"/>
          </a:xfrm>
          <a:prstGeom prst="rect">
            <a:avLst/>
          </a:prstGeom>
        </p:spPr>
      </p:pic>
    </p:spTree>
  </p:cSld>
  <p:clrMapOvr>
    <a:masterClrMapping/>
  </p:clrMapOvr>
  <p:transition spd="med">
    <p:wipe dir="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8C92DC4D-84BF-4477-8988-5F99F172F61F}"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10947" name="Rectangle 6"/>
          <p:cNvSpPr>
            <a:spLocks noChangeArrowheads="1"/>
          </p:cNvSpPr>
          <p:nvPr/>
        </p:nvSpPr>
        <p:spPr bwMode="auto">
          <a:xfrm>
            <a:off x="0" y="1935163"/>
            <a:ext cx="9144000" cy="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10948" name="Text Box 2"/>
          <p:cNvSpPr txBox="1">
            <a:spLocks noChangeArrowheads="1"/>
          </p:cNvSpPr>
          <p:nvPr/>
        </p:nvSpPr>
        <p:spPr bwMode="auto">
          <a:xfrm>
            <a:off x="1331913" y="620713"/>
            <a:ext cx="6337300"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例 题</a:t>
            </a:r>
          </a:p>
        </p:txBody>
      </p:sp>
      <p:pic>
        <p:nvPicPr>
          <p:cNvPr id="21094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2400" y="601478"/>
            <a:ext cx="964251" cy="101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0950" name="Picture 11" descr="QQ截图20150920132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1619224"/>
            <a:ext cx="7488832" cy="4633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3"/>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1971" name="Rectangle 5"/>
          <p:cNvSpPr>
            <a:spLocks noChangeArrowheads="1"/>
          </p:cNvSpPr>
          <p:nvPr/>
        </p:nvSpPr>
        <p:spPr bwMode="auto">
          <a:xfrm>
            <a:off x="0" y="2540000"/>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1972" name="Rectangle 9"/>
          <p:cNvSpPr>
            <a:spLocks noChangeArrowheads="1"/>
          </p:cNvSpPr>
          <p:nvPr/>
        </p:nvSpPr>
        <p:spPr bwMode="auto">
          <a:xfrm>
            <a:off x="0" y="2540000"/>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173061" name="Line 15"/>
          <p:cNvSpPr>
            <a:spLocks noChangeShapeType="1"/>
          </p:cNvSpPr>
          <p:nvPr/>
        </p:nvSpPr>
        <p:spPr bwMode="auto">
          <a:xfrm flipV="1">
            <a:off x="6059488" y="-73025"/>
            <a:ext cx="431800" cy="2428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zh-CN" altLang="en-US">
              <a:effectLst>
                <a:outerShdw blurRad="38100" dist="38100" dir="2700000" algn="tl">
                  <a:srgbClr val="000000">
                    <a:alpha val="43137"/>
                  </a:srgbClr>
                </a:outerShdw>
              </a:effectLst>
            </a:endParaRPr>
          </a:p>
        </p:txBody>
      </p:sp>
      <p:pic>
        <p:nvPicPr>
          <p:cNvPr id="211974" name="Picture 21" descr="QQ截图201509201354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96" y="447675"/>
            <a:ext cx="9144000" cy="641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3"/>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2995" name="Rectangle 4"/>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2996"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2997" name="Rectangle 8"/>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2998" name="Rectangle 10"/>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2999" name="Rectangle 12"/>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3000" name="Rectangle 14"/>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pic>
        <p:nvPicPr>
          <p:cNvPr id="213001" name="Picture 25" descr="QQ截图201509201359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48680"/>
            <a:ext cx="9144000" cy="584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3"/>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4019" name="Rectangle 4"/>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4020"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4021" name="Rectangle 7"/>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4022" name="Rectangle 8"/>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4023" name="Rectangle 9"/>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4024" name="Rectangle 10"/>
          <p:cNvSpPr>
            <a:spLocks noChangeArrowheads="1"/>
          </p:cNvSpPr>
          <p:nvPr/>
        </p:nvSpPr>
        <p:spPr bwMode="auto">
          <a:xfrm>
            <a:off x="0" y="2708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pic>
        <p:nvPicPr>
          <p:cNvPr id="214025" name="Picture 19" descr="QQ截图201509201402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26256"/>
            <a:ext cx="9144000" cy="580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3"/>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43" name="Rectangle 4"/>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44"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45" name="Rectangle 7"/>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46" name="Rectangle 8"/>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47" name="Rectangle 9"/>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48" name="Rectangle 10"/>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49" name="Rectangle 13"/>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50" name="Rectangle 15"/>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51" name="Rectangle 17"/>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5052" name="Rectangle 20"/>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pic>
        <p:nvPicPr>
          <p:cNvPr id="215053" name="Picture 24" descr="QQ截图201509201403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 y="610393"/>
            <a:ext cx="9144000" cy="586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3"/>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67" name="Rectangle 4"/>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68"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69" name="Rectangle 7"/>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70" name="Rectangle 8"/>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71" name="Rectangle 9"/>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72" name="Rectangle 10"/>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73" name="Rectangle 12"/>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74" name="Rectangle 14"/>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75" name="Rectangle 15"/>
          <p:cNvSpPr>
            <a:spLocks noChangeArrowheads="1"/>
          </p:cNvSpPr>
          <p:nvPr/>
        </p:nvSpPr>
        <p:spPr bwMode="auto">
          <a:xfrm>
            <a:off x="0" y="3116263"/>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76" name="Rectangle 17"/>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6077" name="Rectangle 19"/>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pic>
        <p:nvPicPr>
          <p:cNvPr id="216078" name="Picture 23" descr="QQ截图201509201405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636588"/>
            <a:ext cx="7427913"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3"/>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091" name="Rectangle 4"/>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092"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093" name="Rectangle 6"/>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094" name="Rectangle 7"/>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095" name="Rectangle 8"/>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096" name="Rectangle 9"/>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097" name="Rectangle 10"/>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098" name="Rectangle 11"/>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099" name="Rectangle 13"/>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100" name="Rectangle 15"/>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sp>
        <p:nvSpPr>
          <p:cNvPr id="217101"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buClr>
                <a:schemeClr val="bg1"/>
              </a:buClr>
              <a:buFontTx/>
              <a:buChar char="•"/>
            </a:pPr>
            <a:endParaRPr lang="zh-CN" altLang="en-US" sz="1600">
              <a:solidFill>
                <a:srgbClr val="000000"/>
              </a:solidFill>
              <a:latin typeface="Times New Roman" panose="02020603050405020304" pitchFamily="18" charset="0"/>
            </a:endParaRPr>
          </a:p>
        </p:txBody>
      </p:sp>
      <p:pic>
        <p:nvPicPr>
          <p:cNvPr id="217102" name="Picture 37" descr="QQ截图201509201407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98" y="476683"/>
            <a:ext cx="9117545" cy="584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759D38-C94B-40F0-AC42-66741DB5AE34}"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5834" name="Text Box 2"/>
          <p:cNvSpPr txBox="1">
            <a:spLocks noChangeArrowheads="1"/>
          </p:cNvSpPr>
          <p:nvPr/>
        </p:nvSpPr>
        <p:spPr bwMode="auto">
          <a:xfrm>
            <a:off x="1367272" y="619092"/>
            <a:ext cx="6624463"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Floyd</a:t>
            </a:r>
            <a:r>
              <a:rPr lang="zh-CN" altLang="en-US" sz="4800" b="1" dirty="0">
                <a:solidFill>
                  <a:schemeClr val="bg1"/>
                </a:solidFill>
                <a:latin typeface="宋体" panose="02010600030101010101" pitchFamily="2" charset="-122"/>
                <a:ea typeface="宋体" panose="02010600030101010101" pitchFamily="2" charset="-122"/>
              </a:rPr>
              <a:t>算法基本步骤 </a:t>
            </a:r>
          </a:p>
        </p:txBody>
      </p:sp>
      <p:pic>
        <p:nvPicPr>
          <p:cNvPr id="20583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6E47192B-18DE-44A1-9654-64DFD89DC73D}"/>
              </a:ext>
            </a:extLst>
          </p:cNvPr>
          <p:cNvPicPr>
            <a:picLocks noChangeAspect="1"/>
          </p:cNvPicPr>
          <p:nvPr/>
        </p:nvPicPr>
        <p:blipFill>
          <a:blip r:embed="rId4"/>
          <a:stretch>
            <a:fillRect/>
          </a:stretch>
        </p:blipFill>
        <p:spPr>
          <a:xfrm>
            <a:off x="182253" y="1675436"/>
            <a:ext cx="8779494" cy="4563472"/>
          </a:xfrm>
          <a:prstGeom prst="rect">
            <a:avLst/>
          </a:prstGeom>
        </p:spPr>
      </p:pic>
    </p:spTree>
    <p:extLst>
      <p:ext uri="{BB962C8B-B14F-4D97-AF65-F5344CB8AC3E}">
        <p14:creationId xmlns:p14="http://schemas.microsoft.com/office/powerpoint/2010/main" val="498596549"/>
      </p:ext>
    </p:extLst>
  </p:cSld>
  <p:clrMapOvr>
    <a:masterClrMapping/>
  </p:clrMapOvr>
  <p:transition spd="med">
    <p:wipe dir="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759D38-C94B-40F0-AC42-66741DB5AE34}"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5828"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5834" name="Text Box 2"/>
          <p:cNvSpPr txBox="1">
            <a:spLocks noChangeArrowheads="1"/>
          </p:cNvSpPr>
          <p:nvPr/>
        </p:nvSpPr>
        <p:spPr bwMode="auto">
          <a:xfrm>
            <a:off x="1331640" y="601023"/>
            <a:ext cx="6624463"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Floyd</a:t>
            </a:r>
            <a:r>
              <a:rPr lang="zh-CN" altLang="en-US" sz="4800" b="1" dirty="0">
                <a:solidFill>
                  <a:schemeClr val="bg1"/>
                </a:solidFill>
                <a:latin typeface="宋体" panose="02010600030101010101" pitchFamily="2" charset="-122"/>
                <a:ea typeface="宋体" panose="02010600030101010101" pitchFamily="2" charset="-122"/>
              </a:rPr>
              <a:t>算法基本步骤 </a:t>
            </a:r>
          </a:p>
        </p:txBody>
      </p:sp>
      <p:pic>
        <p:nvPicPr>
          <p:cNvPr id="20583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1213E68A-85C8-4B91-BE0F-75E0673449B8}"/>
              </a:ext>
            </a:extLst>
          </p:cNvPr>
          <p:cNvSpPr txBox="1"/>
          <p:nvPr/>
        </p:nvSpPr>
        <p:spPr>
          <a:xfrm>
            <a:off x="7236296" y="3840548"/>
            <a:ext cx="360040" cy="523220"/>
          </a:xfrm>
          <a:prstGeom prst="rect">
            <a:avLst/>
          </a:prstGeom>
          <a:noFill/>
        </p:spPr>
        <p:txBody>
          <a:bodyPr wrap="square" rtlCol="0">
            <a:spAutoFit/>
          </a:bodyPr>
          <a:lstStyle/>
          <a:p>
            <a:r>
              <a:rPr lang="en-US" altLang="zh-CN" sz="2800" b="1" dirty="0">
                <a:solidFill>
                  <a:schemeClr val="bg1"/>
                </a:solidFill>
              </a:rPr>
              <a:t>\</a:t>
            </a:r>
            <a:endParaRPr lang="zh-CN" altLang="en-US" sz="2800" b="1" dirty="0">
              <a:solidFill>
                <a:schemeClr val="bg1"/>
              </a:solidFill>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13FA4F9-4D80-416C-A42D-C096AACF4D63}"/>
                  </a:ext>
                </a:extLst>
              </p:cNvPr>
              <p:cNvSpPr/>
              <p:nvPr/>
            </p:nvSpPr>
            <p:spPr>
              <a:xfrm>
                <a:off x="100195" y="1628800"/>
                <a:ext cx="9036496" cy="4708981"/>
              </a:xfrm>
              <a:prstGeom prst="rect">
                <a:avLst/>
              </a:prstGeom>
              <a:solidFill>
                <a:schemeClr val="accent6">
                  <a:lumMod val="75000"/>
                </a:schemeClr>
              </a:solidFill>
            </p:spPr>
            <p:txBody>
              <a:bodyPr wrap="square">
                <a:spAutoFit/>
              </a:bodyPr>
              <a:lstStyle/>
              <a:p>
                <a:pPr indent="266700" algn="just">
                  <a:lnSpc>
                    <a:spcPts val="3600"/>
                  </a:lnSpc>
                  <a:spcAft>
                    <a:spcPts val="0"/>
                  </a:spcAft>
                </a:pPr>
                <a:r>
                  <a:rPr lang="en-US"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  </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2400" b="1" kern="100" dirty="0">
                    <a:solidFill>
                      <a:schemeClr val="bg1"/>
                    </a:solidFill>
                    <a:latin typeface="Calibri" panose="020F0502020204030204" pitchFamily="34" charset="0"/>
                    <a:ea typeface="宋体" panose="02010600030101010101" pitchFamily="2" charset="-122"/>
                    <a:cs typeface="Calibri" panose="020F0502020204030204" pitchFamily="34" charset="0"/>
                  </a:rPr>
                  <a:t>2</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）按</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下列</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原则，</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依次</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将图中每个结点</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𝟐</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纳入</a:t>
                </a:r>
                <a:r>
                  <a:rPr lang="zh-CN" altLang="zh-CN" sz="2400" b="1" kern="100" dirty="0">
                    <a:solidFill>
                      <a:srgbClr val="FFFF00"/>
                    </a:solidFill>
                    <a:latin typeface="Arial" panose="020B0604020202020204" pitchFamily="34" charset="0"/>
                    <a:ea typeface="宋体" panose="02010600030101010101" pitchFamily="2" charset="-122"/>
                    <a:cs typeface="Arial" panose="020B0604020202020204" pitchFamily="34" charset="0"/>
                  </a:rPr>
                  <a:t>中介结点</a:t>
                </a:r>
                <a:r>
                  <a:rPr lang="zh-CN" altLang="en-US" sz="2400" b="1" kern="100" dirty="0">
                    <a:solidFill>
                      <a:srgbClr val="FFFF00"/>
                    </a:solidFill>
                    <a:latin typeface="Arial" panose="020B0604020202020204" pitchFamily="34" charset="0"/>
                    <a:ea typeface="宋体" panose="02010600030101010101" pitchFamily="2" charset="-122"/>
                    <a:cs typeface="Arial" panose="020B0604020202020204" pitchFamily="34" charset="0"/>
                  </a:rPr>
                  <a:t>集合</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迭代</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更新</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距离矩阵</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𝑫</m:t>
                    </m:r>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和</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路径</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矩阵，获得</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各个</a:t>
                </a:r>
                <a14:m>
                  <m:oMath xmlns:m="http://schemas.openxmlformats.org/officeDocument/2006/math">
                    <m:sSup>
                      <m:sSupPr>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e>
                        </m:d>
                      </m:sup>
                    </m:sSup>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e>
                        </m:d>
                      </m:sup>
                    </m:sSup>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𝒏</m:t>
                            </m:r>
                          </m:e>
                        </m:d>
                      </m:sup>
                    </m:sSup>
                  </m:oMath>
                </a14:m>
                <a:r>
                  <a:rPr lang="zh-CN" altLang="zh-CN" sz="2400" b="1" kern="100" dirty="0">
                    <a:solidFill>
                      <a:srgbClr val="FFFF00"/>
                    </a:solidFill>
                    <a:latin typeface="Arial" panose="020B0604020202020204" pitchFamily="34" charset="0"/>
                    <a:ea typeface="宋体" panose="02010600030101010101" pitchFamily="2" charset="-122"/>
                    <a:cs typeface="Arial" panose="020B0604020202020204" pitchFamily="34" charset="0"/>
                  </a:rPr>
                  <a:t>和</a:t>
                </a:r>
                <a14:m>
                  <m:oMath xmlns:m="http://schemas.openxmlformats.org/officeDocument/2006/math">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e>
                        </m:d>
                      </m:sup>
                    </m:sSup>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e>
                        </m:d>
                      </m:sup>
                    </m:sSup>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𝒏</m:t>
                            </m:r>
                          </m:e>
                        </m:d>
                      </m:sup>
                    </m:sSup>
                  </m:oMath>
                </a14:m>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600"/>
                  </a:lnSpc>
                  <a:spcBef>
                    <a:spcPts val="1800"/>
                  </a:spcBef>
                  <a:spcAft>
                    <a:spcPts val="0"/>
                  </a:spcAft>
                </a:pPr>
                <a:r>
                  <a:rPr lang="en-US" altLang="zh-CN" sz="2400" b="1" kern="100" dirty="0">
                    <a:solidFill>
                      <a:schemeClr val="bg1"/>
                    </a:solidFill>
                    <a:latin typeface="Arial" panose="020B0604020202020204" pitchFamily="34" charset="0"/>
                    <a:ea typeface="宋体" panose="02010600030101010101" pitchFamily="2" charset="-122"/>
                    <a:cs typeface="Times New Roman" panose="02020603050405020304" pitchFamily="18" charset="0"/>
                  </a:rPr>
                  <a:t>    (</a:t>
                </a:r>
                <a:r>
                  <a:rPr lang="en-US" altLang="zh-CN" sz="2400" b="1" kern="100" dirty="0" err="1">
                    <a:solidFill>
                      <a:schemeClr val="bg1"/>
                    </a:solidFill>
                    <a:latin typeface="Arial" panose="020B0604020202020204" pitchFamily="34" charset="0"/>
                    <a:ea typeface="宋体" panose="02010600030101010101" pitchFamily="2" charset="-122"/>
                    <a:cs typeface="Times New Roman" panose="02020603050405020304" pitchFamily="18" charset="0"/>
                  </a:rPr>
                  <a:t>i</a:t>
                </a:r>
                <a:r>
                  <a:rPr lang="en-US" altLang="zh-CN" sz="2400" b="1" kern="100" dirty="0">
                    <a:solidFill>
                      <a:schemeClr val="bg1"/>
                    </a:solidFill>
                    <a:latin typeface="Arial" panose="020B060402020202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sSup>
                      <m:sSupPr>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𝒋</m:t>
                            </m:r>
                          </m:sub>
                        </m:sSub>
                      </m:e>
                    </m:d>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&gt;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sub>
                        </m:sSub>
                      </m:e>
                    </m:d>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𝒋</m:t>
                            </m:r>
                          </m:sub>
                        </m:sSub>
                      </m:e>
                    </m:d>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，则</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有：</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marL="266700" indent="266700" algn="just">
                  <a:lnSpc>
                    <a:spcPts val="3600"/>
                  </a:lnSpc>
                  <a:spcAft>
                    <a:spcPts val="0"/>
                  </a:spcAft>
                </a:pPr>
                <a:r>
                  <a:rPr lang="en-US" altLang="zh-CN" sz="2400" b="1" kern="100" dirty="0">
                    <a:solidFill>
                      <a:schemeClr val="bg1"/>
                    </a:solidFill>
                    <a:ea typeface="Cambria Math" panose="02040503050406030204" pitchFamily="18" charset="0"/>
                    <a:cs typeface="宋体" panose="02010600030101010101" pitchFamily="2" charset="-122"/>
                  </a:rPr>
                  <a:t>       </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e>
                    </m:d>
                  </m:oMath>
                </a14:m>
                <a:r>
                  <a:rPr lang="en-US" altLang="zh-CN" sz="2400" b="1" kern="100" dirty="0">
                    <a:solidFill>
                      <a:schemeClr val="bg1"/>
                    </a:solidFill>
                    <a:latin typeface="Arial" panose="020B0604020202020204" pitchFamily="34" charset="0"/>
                    <a:ea typeface="宋体" panose="02010600030101010101" pitchFamily="2" charset="-122"/>
                    <a:cs typeface="Times New Roman" panose="02020603050405020304" pitchFamily="18" charset="0"/>
                  </a:rPr>
                  <a:t>=</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e>
                    </m:d>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e>
                    </m:d>
                  </m:oMath>
                </a14:m>
                <a:endParaRPr lang="en-US"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endParaRPr>
              </a:p>
              <a:p>
                <a:pPr marL="266700" indent="266700" algn="just">
                  <a:lnSpc>
                    <a:spcPts val="3600"/>
                  </a:lnSpc>
                  <a:spcAft>
                    <a:spcPts val="0"/>
                  </a:spcAft>
                </a:pPr>
                <a14:m>
                  <m:oMathPara xmlns:m="http://schemas.openxmlformats.org/officeDocument/2006/math">
                    <m:oMathParaPr>
                      <m:jc m:val="centerGroup"/>
                    </m:oMathParaPr>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e>
                      </m:d>
                      <m:r>
                        <a:rPr lang="en-US" altLang="zh-CN" sz="2400" b="1" kern="100">
                          <a:solidFill>
                            <a:schemeClr val="bg1"/>
                          </a:solidFill>
                          <a:latin typeface="Cambria Math" panose="02040503050406030204" pitchFamily="18" charset="0"/>
                          <a:ea typeface="宋体" panose="02010600030101010101" pitchFamily="2" charset="-122"/>
                          <a:cs typeface="Arial" panose="020B0604020202020204" pitchFamily="34" charset="0"/>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chemeClr val="bg1"/>
                              </a:solidFill>
                              <a:latin typeface="Cambria Math" panose="02040503050406030204" pitchFamily="18" charset="0"/>
                              <a:ea typeface="宋体" panose="02010600030101010101" pitchFamily="2" charset="-122"/>
                              <a:cs typeface="Times New Roman" panose="02020603050405020304" pitchFamily="18" charset="0"/>
                            </a:rPr>
                            <m:t>𝒌</m:t>
                          </m:r>
                        </m:sub>
                      </m:sSub>
                    </m:oMath>
                  </m:oMathPara>
                </a14:m>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3600"/>
                  </a:lnSpc>
                  <a:spcBef>
                    <a:spcPts val="1800"/>
                  </a:spcBef>
                  <a:spcAft>
                    <a:spcPts val="0"/>
                  </a:spcAft>
                </a:pPr>
                <a:r>
                  <a:rPr lang="en-US" altLang="zh-CN" sz="2400" b="1" kern="100" dirty="0">
                    <a:solidFill>
                      <a:schemeClr val="bg1"/>
                    </a:solidFill>
                    <a:latin typeface="Arial" panose="020B0604020202020204" pitchFamily="34" charset="0"/>
                    <a:ea typeface="宋体" panose="02010600030101010101" pitchFamily="2" charset="-122"/>
                    <a:cs typeface="Times New Roman" panose="02020603050405020304" pitchFamily="18" charset="0"/>
                  </a:rPr>
                  <a:t>   (ii) </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sSup>
                      <m:sSupPr>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𝒋</m:t>
                            </m:r>
                          </m:sub>
                        </m:sSub>
                      </m:e>
                    </m:d>
                    <m:r>
                      <a:rPr lang="en-US" altLang="zh-CN" sz="2400" b="1" kern="100">
                        <a:solidFill>
                          <a:srgbClr val="FFFF00"/>
                        </a:solidFill>
                        <a:latin typeface="Cambria Math" panose="02040503050406030204" pitchFamily="18" charset="0"/>
                        <a:ea typeface="宋体" panose="02010600030101010101" pitchFamily="2" charset="-122"/>
                        <a:cs typeface="Arial" panose="020B0604020202020204" pitchFamily="34" charset="0"/>
                      </a:rPr>
                      <m:t>≤</m:t>
                    </m:r>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𝒋</m:t>
                            </m:r>
                          </m:sub>
                        </m:sSub>
                      </m:e>
                    </m:d>
                    <m:sSup>
                      <m:sSup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𝒗</m:t>
                            </m:r>
                          </m:e>
                          <m:sub>
                            <m:r>
                              <a:rPr lang="en-US" altLang="zh-CN" sz="2400" b="1" i="1" kern="100">
                                <a:solidFill>
                                  <a:srgbClr val="FFFF00"/>
                                </a:solidFill>
                                <a:latin typeface="Cambria Math" panose="02040503050406030204" pitchFamily="18" charset="0"/>
                                <a:ea typeface="宋体" panose="02010600030101010101" pitchFamily="2" charset="-122"/>
                                <a:cs typeface="Times New Roman" panose="02020603050405020304" pitchFamily="18" charset="0"/>
                              </a:rPr>
                              <m:t>𝒌</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𝒋</m:t>
                            </m:r>
                          </m:sub>
                        </m:sSub>
                      </m:e>
                    </m:d>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，则</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有：</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marL="266700" indent="266700" algn="just">
                  <a:lnSpc>
                    <a:spcPts val="3600"/>
                  </a:lnSpc>
                  <a:spcAft>
                    <a:spcPts val="0"/>
                  </a:spcAft>
                </a:pPr>
                <a:r>
                  <a:rPr lang="en-US" altLang="zh-CN" sz="2400" b="1" kern="100" dirty="0">
                    <a:solidFill>
                      <a:schemeClr val="bg1"/>
                    </a:solidFill>
                    <a:ea typeface="Cambria Math" panose="02040503050406030204" pitchFamily="18" charset="0"/>
                    <a:cs typeface="宋体" panose="02010600030101010101" pitchFamily="2" charset="-122"/>
                  </a:rPr>
                  <a:t>            </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e>
                    </m:d>
                  </m:oMath>
                </a14:m>
                <a:r>
                  <a:rPr lang="en-US" altLang="zh-CN" sz="2400" b="1" kern="100" dirty="0">
                    <a:solidFill>
                      <a:schemeClr val="bg1"/>
                    </a:solidFill>
                    <a:latin typeface="Arial" panose="020B0604020202020204" pitchFamily="34" charset="0"/>
                    <a:ea typeface="宋体" panose="02010600030101010101" pitchFamily="2" charset="-122"/>
                    <a:cs typeface="Times New Roman" panose="02020603050405020304" pitchFamily="18" charset="0"/>
                  </a:rPr>
                  <a:t>=</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e>
                    </m:d>
                  </m:oMath>
                </a14:m>
                <a:endParaRPr lang="en-US"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endParaRPr>
              </a:p>
              <a:p>
                <a:pPr marL="266700" indent="266700" algn="just">
                  <a:lnSpc>
                    <a:spcPts val="3600"/>
                  </a:lnSpc>
                  <a:spcAft>
                    <a:spcPts val="0"/>
                  </a:spcAft>
                </a:pPr>
                <a14:m>
                  <m:oMathPara xmlns:m="http://schemas.openxmlformats.org/officeDocument/2006/math">
                    <m:oMathParaPr>
                      <m:jc m:val="centerGroup"/>
                    </m:oMathParaPr>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e>
                      </m:d>
                      <m:r>
                        <a:rPr lang="en-US" altLang="zh-CN" sz="2400" b="1" kern="100">
                          <a:solidFill>
                            <a:schemeClr val="bg1"/>
                          </a:solidFill>
                          <a:latin typeface="Cambria Math" panose="02040503050406030204" pitchFamily="18" charset="0"/>
                          <a:ea typeface="宋体" panose="02010600030101010101" pitchFamily="2" charset="-122"/>
                          <a:cs typeface="Arial" panose="020B0604020202020204" pitchFamily="34" charset="0"/>
                        </a:rPr>
                        <m:t>=</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e>
                      </m:d>
                    </m:oMath>
                  </m:oMathPara>
                </a14:m>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613FA4F9-4D80-416C-A42D-C096AACF4D63}"/>
                  </a:ext>
                </a:extLst>
              </p:cNvPr>
              <p:cNvSpPr>
                <a:spLocks noRot="1" noChangeAspect="1" noMove="1" noResize="1" noEditPoints="1" noAdjustHandles="1" noChangeArrowheads="1" noChangeShapeType="1" noTextEdit="1"/>
              </p:cNvSpPr>
              <p:nvPr/>
            </p:nvSpPr>
            <p:spPr>
              <a:xfrm>
                <a:off x="100195" y="1628800"/>
                <a:ext cx="9036496" cy="4708981"/>
              </a:xfrm>
              <a:prstGeom prst="rect">
                <a:avLst/>
              </a:prstGeom>
              <a:blipFill>
                <a:blip r:embed="rId4"/>
                <a:stretch>
                  <a:fillRect l="-1011" t="-517" r="-10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30928550"/>
      </p:ext>
    </p:extLst>
  </p:cSld>
  <p:clrMapOvr>
    <a:masterClrMapping/>
  </p:clrMapOvr>
  <p:transition spd="med">
    <p:wipe dir="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759D38-C94B-40F0-AC42-66741DB5AE34}"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205828" name="Rectangle 5"/>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205834" name="Text Box 2"/>
          <p:cNvSpPr txBox="1">
            <a:spLocks noChangeArrowheads="1"/>
          </p:cNvSpPr>
          <p:nvPr/>
        </p:nvSpPr>
        <p:spPr bwMode="auto">
          <a:xfrm>
            <a:off x="1331640" y="601023"/>
            <a:ext cx="6624463"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Floyd</a:t>
            </a:r>
            <a:r>
              <a:rPr lang="zh-CN" altLang="en-US" sz="4800" b="1" dirty="0">
                <a:solidFill>
                  <a:schemeClr val="bg1"/>
                </a:solidFill>
                <a:latin typeface="宋体" panose="02010600030101010101" pitchFamily="2" charset="-122"/>
                <a:ea typeface="宋体" panose="02010600030101010101" pitchFamily="2" charset="-122"/>
              </a:rPr>
              <a:t>算法基本步骤 </a:t>
            </a:r>
          </a:p>
        </p:txBody>
      </p:sp>
      <p:pic>
        <p:nvPicPr>
          <p:cNvPr id="20583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6715" y="476251"/>
            <a:ext cx="1027285"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1213E68A-85C8-4B91-BE0F-75E0673449B8}"/>
              </a:ext>
            </a:extLst>
          </p:cNvPr>
          <p:cNvSpPr txBox="1"/>
          <p:nvPr/>
        </p:nvSpPr>
        <p:spPr>
          <a:xfrm>
            <a:off x="7236296" y="3840548"/>
            <a:ext cx="360040" cy="523220"/>
          </a:xfrm>
          <a:prstGeom prst="rect">
            <a:avLst/>
          </a:prstGeom>
          <a:noFill/>
        </p:spPr>
        <p:txBody>
          <a:bodyPr wrap="square" rtlCol="0">
            <a:spAutoFit/>
          </a:bodyPr>
          <a:lstStyle/>
          <a:p>
            <a:r>
              <a:rPr lang="en-US" altLang="zh-CN" sz="2800" b="1" dirty="0">
                <a:solidFill>
                  <a:schemeClr val="bg1"/>
                </a:solidFill>
              </a:rPr>
              <a:t>\</a:t>
            </a:r>
            <a:endParaRPr lang="zh-CN" altLang="en-US" sz="2800" b="1" dirty="0">
              <a:solidFill>
                <a:schemeClr val="bg1"/>
              </a:solidFill>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F696A2F-0876-413F-B591-472095BADBAC}"/>
                  </a:ext>
                </a:extLst>
              </p:cNvPr>
              <p:cNvSpPr/>
              <p:nvPr/>
            </p:nvSpPr>
            <p:spPr>
              <a:xfrm>
                <a:off x="107504" y="1585825"/>
                <a:ext cx="8568952" cy="4543360"/>
              </a:xfrm>
              <a:prstGeom prst="rect">
                <a:avLst/>
              </a:prstGeom>
              <a:solidFill>
                <a:schemeClr val="accent6">
                  <a:lumMod val="75000"/>
                </a:schemeClr>
              </a:solidFill>
            </p:spPr>
            <p:txBody>
              <a:bodyPr wrap="square">
                <a:spAutoFit/>
              </a:bodyPr>
              <a:lstStyle/>
              <a:p>
                <a:pPr indent="228600" algn="just">
                  <a:spcAft>
                    <a:spcPts val="0"/>
                  </a:spcAft>
                </a:pPr>
                <a:r>
                  <a:rPr lang="en-US"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   </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2400" b="1" kern="100" dirty="0">
                    <a:solidFill>
                      <a:schemeClr val="bg1"/>
                    </a:solidFill>
                    <a:latin typeface="Calibri" panose="020F0502020204030204" pitchFamily="34" charset="0"/>
                    <a:ea typeface="宋体" panose="02010600030101010101" pitchFamily="2" charset="-122"/>
                    <a:cs typeface="Calibri" panose="020F0502020204030204" pitchFamily="34" charset="0"/>
                  </a:rPr>
                  <a:t>3</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）根据矩阵</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𝑫</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𝒏</m:t>
                            </m:r>
                          </m:e>
                        </m:d>
                      </m:sup>
                    </m:sSup>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和</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𝒏</m:t>
                            </m:r>
                          </m:e>
                        </m:d>
                      </m:sup>
                    </m:sSup>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，计算任意结点之间的最短路径长度和路径序列。</a:t>
                </a:r>
                <a:r>
                  <a:rPr lang="zh-CN" altLang="zh-CN" sz="2400" b="1" kern="100" dirty="0">
                    <a:solidFill>
                      <a:srgbClr val="FFFF00"/>
                    </a:solidFill>
                    <a:latin typeface="Arial" panose="020B0604020202020204" pitchFamily="34" charset="0"/>
                    <a:ea typeface="宋体" panose="02010600030101010101" pitchFamily="2" charset="-122"/>
                    <a:cs typeface="Arial" panose="020B0604020202020204" pitchFamily="34" charset="0"/>
                  </a:rPr>
                  <a:t>以</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𝒊</m:t>
                        </m:r>
                      </m:sub>
                    </m:sSub>
                    <m:r>
                      <a:rPr lang="zh-CN" altLang="zh-CN" sz="2400" b="1" kern="100">
                        <a:solidFill>
                          <a:srgbClr val="FFFF00"/>
                        </a:solidFill>
                        <a:latin typeface="Cambria Math" panose="02040503050406030204" pitchFamily="18" charset="0"/>
                        <a:ea typeface="宋体" panose="02010600030101010101" pitchFamily="2" charset="-122"/>
                        <a:cs typeface="宋体" panose="02010600030101010101" pitchFamily="2" charset="-122"/>
                      </a:rPr>
                      <m:t>和</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𝒋</m:t>
                        </m:r>
                      </m:sub>
                    </m:sSub>
                  </m:oMath>
                </a14:m>
                <a:r>
                  <a:rPr lang="zh-CN" altLang="zh-CN" sz="2400" b="1" kern="100" dirty="0">
                    <a:solidFill>
                      <a:srgbClr val="FFFF00"/>
                    </a:solidFill>
                    <a:latin typeface="Arial" panose="020B0604020202020204" pitchFamily="34" charset="0"/>
                    <a:ea typeface="宋体" panose="02010600030101010101" pitchFamily="2" charset="-122"/>
                    <a:cs typeface="Arial" panose="020B0604020202020204" pitchFamily="34" charset="0"/>
                  </a:rPr>
                  <a:t>为例计算两者的最短路径序列</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a:t>
                </a:r>
                <a:endParaRPr lang="en-US"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endParaRPr>
              </a:p>
              <a:p>
                <a:pPr indent="228600" algn="just">
                  <a:spcAft>
                    <a:spcPts val="0"/>
                  </a:spcAft>
                </a:pPr>
                <a:r>
                  <a:rPr lang="en-US"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     </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𝒏</m:t>
                            </m:r>
                          </m:e>
                        </m:d>
                      </m:sup>
                    </m:sSup>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sub>
                    </m:sSub>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，则在</a:t>
                </a:r>
                <a14:m>
                  <m:oMath xmlns:m="http://schemas.openxmlformats.org/officeDocument/2006/math">
                    <m:sSub>
                      <m:sSubPr>
                        <m:ctrlPr>
                          <a:rPr lang="zh-CN" altLang="zh-CN" sz="2400" b="1" i="1" kern="100" smtClean="0">
                            <a:solidFill>
                              <a:srgbClr val="FFFF66"/>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𝒊</m:t>
                        </m:r>
                      </m:sub>
                    </m:sSub>
                    <m:r>
                      <m:rPr>
                        <m:nor/>
                      </m:rPr>
                      <a:rPr lang="zh-CN" altLang="zh-CN" sz="2400" b="1" kern="100" dirty="0">
                        <a:solidFill>
                          <a:srgbClr val="FFFF66"/>
                        </a:solidFill>
                        <a:latin typeface="Arial" panose="020B0604020202020204" pitchFamily="34" charset="0"/>
                        <a:ea typeface="宋体" panose="02010600030101010101" pitchFamily="2" charset="-122"/>
                        <a:cs typeface="Arial" panose="020B0604020202020204" pitchFamily="34" charset="0"/>
                      </a:rPr>
                      <m:t>到</m:t>
                    </m:r>
                    <m:sSub>
                      <m:sSubPr>
                        <m:ctrlPr>
                          <a:rPr lang="zh-CN" altLang="zh-CN" sz="2400" b="1" i="1" kern="100">
                            <a:solidFill>
                              <a:srgbClr val="FFFF66"/>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𝒋</m:t>
                        </m:r>
                      </m:sub>
                    </m:sSub>
                  </m:oMath>
                </a14:m>
                <a:r>
                  <a:rPr lang="zh-CN" altLang="zh-CN" sz="2400" b="1" kern="100" dirty="0">
                    <a:solidFill>
                      <a:srgbClr val="FFFF66"/>
                    </a:solidFill>
                    <a:latin typeface="Arial" panose="020B0604020202020204" pitchFamily="34" charset="0"/>
                    <a:ea typeface="宋体" panose="02010600030101010101" pitchFamily="2" charset="-122"/>
                    <a:cs typeface="Arial" panose="020B0604020202020204" pitchFamily="34" charset="0"/>
                  </a:rPr>
                  <a:t>的最短路径中必有中间结点</a:t>
                </a:r>
                <a14:m>
                  <m:oMath xmlns:m="http://schemas.openxmlformats.org/officeDocument/2006/math">
                    <m:sSub>
                      <m:sSubPr>
                        <m:ctrlPr>
                          <a:rPr lang="zh-CN" altLang="zh-CN" sz="2400" b="1" i="1" kern="100">
                            <a:solidFill>
                              <a:srgbClr val="FFFF66"/>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𝒌</m:t>
                        </m:r>
                      </m:sub>
                    </m:sSub>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则</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根据</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下列</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规则分别向</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sub>
                    </m:sSub>
                  </m:oMath>
                </a14:m>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的</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两头追溯</a:t>
                </a:r>
                <a:r>
                  <a:rPr lang="zh-CN" altLang="en-US"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可以</a:t>
                </a:r>
                <a:r>
                  <a:rPr lang="zh-CN" altLang="zh-CN" sz="2400" b="1" kern="100" dirty="0">
                    <a:solidFill>
                      <a:srgbClr val="FFFF66"/>
                    </a:solidFill>
                    <a:latin typeface="Arial" panose="020B0604020202020204" pitchFamily="34" charset="0"/>
                    <a:ea typeface="宋体" panose="02010600030101010101" pitchFamily="2" charset="-122"/>
                    <a:cs typeface="Arial" panose="020B0604020202020204" pitchFamily="34" charset="0"/>
                  </a:rPr>
                  <a:t>得到</a:t>
                </a:r>
                <a:r>
                  <a:rPr lang="zh-CN" altLang="en-US" sz="2400" b="1" kern="100" dirty="0">
                    <a:solidFill>
                      <a:srgbClr val="FFFF66"/>
                    </a:solidFill>
                    <a:latin typeface="Arial" panose="020B0604020202020204" pitchFamily="34" charset="0"/>
                    <a:ea typeface="宋体" panose="02010600030101010101" pitchFamily="2" charset="-122"/>
                    <a:cs typeface="Arial" panose="020B0604020202020204" pitchFamily="34" charset="0"/>
                  </a:rPr>
                  <a:t>从</a:t>
                </a:r>
                <a14:m>
                  <m:oMath xmlns:m="http://schemas.openxmlformats.org/officeDocument/2006/math">
                    <m:sSub>
                      <m:sSubPr>
                        <m:ctrlPr>
                          <a:rPr lang="zh-CN" altLang="zh-CN" sz="2400" b="1" i="1" kern="100">
                            <a:solidFill>
                              <a:srgbClr val="FFFF66"/>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𝒊</m:t>
                        </m:r>
                      </m:sub>
                    </m:sSub>
                    <m:r>
                      <m:rPr>
                        <m:nor/>
                      </m:rPr>
                      <a:rPr lang="zh-CN" altLang="zh-CN" sz="2400" b="1" kern="100" dirty="0">
                        <a:solidFill>
                          <a:srgbClr val="FFFF66"/>
                        </a:solidFill>
                        <a:latin typeface="Arial" panose="020B0604020202020204" pitchFamily="34" charset="0"/>
                        <a:ea typeface="宋体" panose="02010600030101010101" pitchFamily="2" charset="-122"/>
                        <a:cs typeface="Arial" panose="020B0604020202020204" pitchFamily="34" charset="0"/>
                      </a:rPr>
                      <m:t>到</m:t>
                    </m:r>
                    <m:sSub>
                      <m:sSubPr>
                        <m:ctrlPr>
                          <a:rPr lang="zh-CN" altLang="zh-CN" sz="2400" b="1" i="1" kern="100">
                            <a:solidFill>
                              <a:srgbClr val="FFFF66"/>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rgbClr val="FFFF66"/>
                            </a:solidFill>
                            <a:latin typeface="Cambria Math" panose="02040503050406030204" pitchFamily="18" charset="0"/>
                            <a:ea typeface="宋体" panose="02010600030101010101" pitchFamily="2" charset="-122"/>
                            <a:cs typeface="宋体" panose="02010600030101010101" pitchFamily="2" charset="-122"/>
                          </a:rPr>
                          <m:t>𝒋</m:t>
                        </m:r>
                      </m:sub>
                    </m:sSub>
                  </m:oMath>
                </a14:m>
                <a:r>
                  <a:rPr lang="zh-CN" altLang="zh-CN" sz="2400" b="1" kern="100" dirty="0">
                    <a:solidFill>
                      <a:srgbClr val="FFFF66"/>
                    </a:solidFill>
                    <a:latin typeface="Arial" panose="020B0604020202020204" pitchFamily="34" charset="0"/>
                    <a:ea typeface="宋体" panose="02010600030101010101" pitchFamily="2" charset="-122"/>
                    <a:cs typeface="Arial" panose="020B0604020202020204" pitchFamily="34" charset="0"/>
                  </a:rPr>
                  <a:t>的最短路径</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spcAft>
                    <a:spcPts val="0"/>
                  </a:spcAft>
                </a:pPr>
                <a:r>
                  <a:rPr lang="en-US" altLang="zh-CN" sz="2400" b="1" kern="100" dirty="0">
                    <a:solidFill>
                      <a:schemeClr val="bg1"/>
                    </a:solidFill>
                    <a:latin typeface="Arial" panose="020B0604020202020204" pitchFamily="34" charset="0"/>
                    <a:ea typeface="宋体" panose="02010600030101010101" pitchFamily="2" charset="-122"/>
                    <a:cs typeface="Times New Roman" panose="02020603050405020304" pitchFamily="18" charset="0"/>
                  </a:rPr>
                  <a:t>    (</a:t>
                </a:r>
                <a:r>
                  <a:rPr lang="en-US" altLang="zh-CN" sz="2400" b="1" kern="100" dirty="0" err="1">
                    <a:solidFill>
                      <a:schemeClr val="bg1"/>
                    </a:solidFill>
                    <a:latin typeface="Arial" panose="020B0604020202020204" pitchFamily="34" charset="0"/>
                    <a:ea typeface="宋体" panose="02010600030101010101" pitchFamily="2" charset="-122"/>
                    <a:cs typeface="Times New Roman" panose="02020603050405020304" pitchFamily="18" charset="0"/>
                  </a:rPr>
                  <a:t>i</a:t>
                </a:r>
                <a:r>
                  <a:rPr lang="en-US" altLang="zh-CN" sz="2400" b="1" kern="100" dirty="0">
                    <a:solidFill>
                      <a:schemeClr val="bg1"/>
                    </a:solidFill>
                    <a:latin typeface="Arial" panose="020B0604020202020204" pitchFamily="34" charset="0"/>
                    <a:ea typeface="宋体" panose="02010600030101010101" pitchFamily="2" charset="-122"/>
                    <a:cs typeface="Times New Roman" panose="02020603050405020304" pitchFamily="18" charset="0"/>
                  </a:rPr>
                  <a:t>) </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向点</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方向追溯可以得到：</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𝒏</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oMath>
                </a14:m>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altLang="zh-CN" sz="2400" b="1" kern="100" dirty="0">
                    <a:solidFill>
                      <a:schemeClr val="bg1"/>
                    </a:solidFill>
                    <a:ea typeface="宋体" panose="02010600030101010101" pitchFamily="2" charset="-122"/>
                    <a:cs typeface="宋体" panose="02010600030101010101" pitchFamily="2" charset="-122"/>
                  </a:rPr>
                  <a:t>             </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oMath>
                </a14:m>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 ,</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 </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𝒏</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𝒎</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oMath>
                </a14:m>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spcAft>
                    <a:spcPts val="0"/>
                  </a:spcAft>
                </a:pPr>
                <a:r>
                  <a:rPr lang="en-US" altLang="zh-CN" sz="2400" b="1" kern="100" dirty="0">
                    <a:solidFill>
                      <a:schemeClr val="bg1"/>
                    </a:solidFill>
                    <a:latin typeface="Arial" panose="020B0604020202020204" pitchFamily="34" charset="0"/>
                    <a:ea typeface="宋体" panose="02010600030101010101" pitchFamily="2" charset="-122"/>
                    <a:cs typeface="Times New Roman" panose="02020603050405020304" pitchFamily="18" charset="0"/>
                  </a:rPr>
                  <a:t>   (ii) </a:t>
                </a:r>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向点</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oMath>
                </a14:m>
                <a:r>
                  <a:rPr lang="zh-CN" altLang="zh-CN" sz="2400" b="1" kern="100" dirty="0">
                    <a:solidFill>
                      <a:schemeClr val="bg1"/>
                    </a:solidFill>
                    <a:latin typeface="Arial" panose="020B0604020202020204" pitchFamily="34" charset="0"/>
                    <a:ea typeface="宋体" panose="02010600030101010101" pitchFamily="2" charset="-122"/>
                    <a:cs typeface="Arial" panose="020B0604020202020204" pitchFamily="34" charset="0"/>
                  </a:rPr>
                  <a:t>方向追溯可以得到：</a:t>
                </a:r>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𝒏</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oMath>
                </a14:m>
                <a:endPar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altLang="zh-CN" sz="2400" b="1" kern="100" dirty="0">
                    <a:solidFill>
                      <a:schemeClr val="bg1"/>
                    </a:solidFill>
                    <a:ea typeface="宋体" panose="02010600030101010101" pitchFamily="2" charset="-122"/>
                    <a:cs typeface="宋体" panose="02010600030101010101" pitchFamily="2" charset="-122"/>
                  </a:rPr>
                  <a:t>           </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 </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𝒏</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oMath>
                </a14:m>
                <a:r>
                  <a:rPr lang="en-US"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 ,</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 </m:t>
                    </m:r>
                    <m:sSup>
                      <m:sSup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𝑹</m:t>
                        </m:r>
                      </m:e>
                      <m: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𝒏</m:t>
                            </m:r>
                          </m:e>
                        </m:d>
                      </m:sup>
                    </m:sSup>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𝒔</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𝒗</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sub>
                    </m:sSub>
                  </m:oMath>
                </a14:m>
                <a:endParaRPr lang="zh-CN" altLang="zh-CN" sz="24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9F696A2F-0876-413F-B591-472095BADBAC}"/>
                  </a:ext>
                </a:extLst>
              </p:cNvPr>
              <p:cNvSpPr>
                <a:spLocks noRot="1" noChangeAspect="1" noMove="1" noResize="1" noEditPoints="1" noAdjustHandles="1" noChangeArrowheads="1" noChangeShapeType="1" noTextEdit="1"/>
              </p:cNvSpPr>
              <p:nvPr/>
            </p:nvSpPr>
            <p:spPr>
              <a:xfrm>
                <a:off x="107504" y="1585825"/>
                <a:ext cx="8568952" cy="4543360"/>
              </a:xfrm>
              <a:prstGeom prst="rect">
                <a:avLst/>
              </a:prstGeom>
              <a:blipFill>
                <a:blip r:embed="rId4"/>
                <a:stretch>
                  <a:fillRect l="-1139" t="-1208" r="-1139" b="-13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0939670"/>
      </p:ext>
    </p:extLst>
  </p:cSld>
  <p:clrMapOvr>
    <a:masterClrMapping/>
  </p:clrMapOvr>
  <p:transition spd="med">
    <p:wipe dir="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475839" y="1628800"/>
                <a:ext cx="8676455" cy="1664173"/>
              </a:xfrm>
              <a:solidFill>
                <a:schemeClr val="accent5"/>
              </a:solidFill>
              <a:ln>
                <a:noFill/>
              </a:ln>
            </p:spPr>
            <p:txBody>
              <a:bodyPr/>
              <a:lstStyle/>
              <a:p>
                <a:pPr marL="0" indent="0">
                  <a:lnSpc>
                    <a:spcPts val="3200"/>
                  </a:lnSpc>
                  <a:buNone/>
                </a:pPr>
                <a:r>
                  <a:rPr lang="en-US" altLang="zh-CN" b="1" dirty="0">
                    <a:solidFill>
                      <a:srgbClr val="FF0000"/>
                    </a:solidFill>
                    <a:effectLst/>
                  </a:rPr>
                  <a:t>    </a:t>
                </a:r>
                <a:r>
                  <a:rPr lang="zh-CN" altLang="zh-CN" b="1" dirty="0">
                    <a:solidFill>
                      <a:srgbClr val="FF0000"/>
                    </a:solidFill>
                    <a:effectLst/>
                  </a:rPr>
                  <a:t>【例题】</a:t>
                </a:r>
                <a:r>
                  <a:rPr lang="zh-CN" altLang="zh-CN" b="1" dirty="0">
                    <a:solidFill>
                      <a:schemeClr val="tx1"/>
                    </a:solidFill>
                    <a:effectLst/>
                    <a:latin typeface="+mn-ea"/>
                  </a:rPr>
                  <a:t>某城市的开发区中要建一个消防站，该开发区的示意图如</a:t>
                </a:r>
                <a:r>
                  <a:rPr lang="zh-CN" altLang="en-US" b="1" dirty="0">
                    <a:solidFill>
                      <a:schemeClr val="tx1"/>
                    </a:solidFill>
                    <a:effectLst/>
                    <a:latin typeface="+mn-ea"/>
                  </a:rPr>
                  <a:t>下</a:t>
                </a:r>
                <a:r>
                  <a:rPr lang="zh-CN" altLang="zh-CN" b="1" dirty="0">
                    <a:solidFill>
                      <a:schemeClr val="tx1"/>
                    </a:solidFill>
                    <a:effectLst/>
                    <a:latin typeface="+mn-ea"/>
                  </a:rPr>
                  <a:t>图所示，其中</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𝟏</m:t>
                        </m:r>
                      </m:sub>
                    </m:sSub>
                    <m:r>
                      <a:rPr lang="en-US" altLang="zh-CN" b="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𝟐</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𝟏𝟎</m:t>
                        </m:r>
                      </m:sub>
                    </m:sSub>
                  </m:oMath>
                </a14:m>
                <a:r>
                  <a:rPr lang="zh-CN" altLang="zh-CN" b="1" dirty="0">
                    <a:solidFill>
                      <a:schemeClr val="tx1"/>
                    </a:solidFill>
                    <a:effectLst/>
                    <a:latin typeface="+mn-ea"/>
                  </a:rPr>
                  <a:t>表示开发区中</a:t>
                </a:r>
                <a:r>
                  <a:rPr lang="en-US" altLang="zh-CN" b="1" dirty="0">
                    <a:solidFill>
                      <a:schemeClr val="tx1"/>
                    </a:solidFill>
                    <a:effectLst/>
                    <a:latin typeface="+mn-ea"/>
                  </a:rPr>
                  <a:t>10</a:t>
                </a:r>
                <a:r>
                  <a:rPr lang="zh-CN" altLang="zh-CN" b="1" dirty="0">
                    <a:solidFill>
                      <a:schemeClr val="tx1"/>
                    </a:solidFill>
                    <a:effectLst/>
                    <a:latin typeface="+mn-ea"/>
                  </a:rPr>
                  <a:t>个消防重点单位，考虑到交通路况，部分单位之间往返的距离不完全相同，分析消防站选址问题。</a:t>
                </a:r>
                <a:endParaRPr lang="zh-CN" altLang="zh-CN" b="1" dirty="0">
                  <a:solidFill>
                    <a:schemeClr val="accent6"/>
                  </a:solidFill>
                  <a:effectLst/>
                  <a:latin typeface="+mn-ea"/>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475839" y="1628800"/>
                <a:ext cx="8676455" cy="1664173"/>
              </a:xfrm>
              <a:blipFill>
                <a:blip r:embed="rId2"/>
                <a:stretch>
                  <a:fillRect l="-1054" t="-2198" b="-9890"/>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BB775391-F89F-42C5-80F6-B861DBDAF76D}"/>
              </a:ext>
            </a:extLst>
          </p:cNvPr>
          <p:cNvPicPr>
            <a:picLocks noChangeAspect="1"/>
          </p:cNvPicPr>
          <p:nvPr/>
        </p:nvPicPr>
        <p:blipFill>
          <a:blip r:embed="rId5"/>
          <a:stretch>
            <a:fillRect/>
          </a:stretch>
        </p:blipFill>
        <p:spPr>
          <a:xfrm>
            <a:off x="2267744" y="3352150"/>
            <a:ext cx="4896544" cy="2970111"/>
          </a:xfrm>
          <a:prstGeom prst="rect">
            <a:avLst/>
          </a:prstGeom>
        </p:spPr>
      </p:pic>
    </p:spTree>
    <p:extLst>
      <p:ext uri="{BB962C8B-B14F-4D97-AF65-F5344CB8AC3E}">
        <p14:creationId xmlns:p14="http://schemas.microsoft.com/office/powerpoint/2010/main" val="868877794"/>
      </p:ext>
    </p:extLst>
  </p:cSld>
  <p:clrMapOvr>
    <a:masterClrMapping/>
  </p:clrMapOvr>
  <p:transition spd="med">
    <p:wipe dir="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539552" y="1851102"/>
                <a:ext cx="8352928" cy="4248472"/>
              </a:xfrm>
              <a:solidFill>
                <a:schemeClr val="accent5"/>
              </a:solidFill>
              <a:ln>
                <a:noFill/>
              </a:ln>
            </p:spPr>
            <p:txBody>
              <a:bodyPr/>
              <a:lstStyle/>
              <a:p>
                <a:pPr marL="0" indent="0">
                  <a:lnSpc>
                    <a:spcPct val="150000"/>
                  </a:lnSpc>
                  <a:buNone/>
                </a:pPr>
                <a:r>
                  <a:rPr lang="en-US" altLang="zh-CN" b="1" dirty="0">
                    <a:solidFill>
                      <a:schemeClr val="accent2"/>
                    </a:solidFill>
                    <a:effectLst/>
                  </a:rPr>
                  <a:t>     </a:t>
                </a:r>
                <a:r>
                  <a:rPr lang="zh-CN" altLang="zh-CN" b="1" dirty="0">
                    <a:solidFill>
                      <a:schemeClr val="accent2"/>
                    </a:solidFill>
                    <a:effectLst/>
                  </a:rPr>
                  <a:t>【</a:t>
                </a:r>
                <a:r>
                  <a:rPr lang="zh-CN" altLang="en-US" b="1" dirty="0">
                    <a:solidFill>
                      <a:schemeClr val="accent2"/>
                    </a:solidFill>
                    <a:effectLst/>
                  </a:rPr>
                  <a:t>解</a:t>
                </a:r>
                <a:r>
                  <a:rPr lang="zh-CN" altLang="zh-CN" b="1" dirty="0">
                    <a:solidFill>
                      <a:schemeClr val="accent2"/>
                    </a:solidFill>
                    <a:effectLst/>
                  </a:rPr>
                  <a:t>】</a:t>
                </a:r>
                <a:r>
                  <a:rPr lang="zh-CN" altLang="zh-CN" b="1" dirty="0">
                    <a:solidFill>
                      <a:schemeClr val="tx1"/>
                    </a:solidFill>
                    <a:effectLst/>
                  </a:rPr>
                  <a:t>在图中任取一点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r>
                      <a:rPr lang="en-US" altLang="zh-CN" b="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𝐕</m:t>
                    </m:r>
                  </m:oMath>
                </a14:m>
                <a:r>
                  <a:rPr lang="zh-CN" altLang="zh-CN" b="1" dirty="0">
                    <a:solidFill>
                      <a:schemeClr val="tx1"/>
                    </a:solidFill>
                    <a:effectLst/>
                  </a:rPr>
                  <a:t>，考虑</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oMath>
                </a14:m>
                <a:r>
                  <a:rPr lang="zh-CN" altLang="zh-CN" b="1" dirty="0">
                    <a:solidFill>
                      <a:schemeClr val="tx1"/>
                    </a:solidFill>
                    <a:effectLst/>
                  </a:rPr>
                  <a:t>与</a:t>
                </a:r>
                <a14:m>
                  <m:oMath xmlns:m="http://schemas.openxmlformats.org/officeDocument/2006/math">
                    <m:r>
                      <a:rPr lang="en-US" altLang="zh-CN" b="1" i="1">
                        <a:solidFill>
                          <a:schemeClr val="tx1"/>
                        </a:solidFill>
                        <a:effectLst/>
                        <a:latin typeface="Cambria Math" panose="02040503050406030204" pitchFamily="18" charset="0"/>
                      </a:rPr>
                      <m:t>𝐕</m:t>
                    </m:r>
                  </m:oMath>
                </a14:m>
                <a:r>
                  <a:rPr lang="zh-CN" altLang="zh-CN" b="1" dirty="0">
                    <a:solidFill>
                      <a:schemeClr val="tx1"/>
                    </a:solidFill>
                    <a:effectLst/>
                  </a:rPr>
                  <a:t>中其它</a:t>
                </a:r>
                <a:r>
                  <a:rPr lang="zh-CN" altLang="en-US" b="1" dirty="0">
                    <a:solidFill>
                      <a:schemeClr val="tx1"/>
                    </a:solidFill>
                    <a:effectLst/>
                  </a:rPr>
                  <a:t>结</a:t>
                </a:r>
                <a:r>
                  <a:rPr lang="zh-CN" altLang="zh-CN" b="1" dirty="0">
                    <a:solidFill>
                      <a:schemeClr val="tx1"/>
                    </a:solidFill>
                    <a:effectLst/>
                  </a:rPr>
                  <a:t>点之间的距离：</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b="1" i="1">
                          <a:solidFill>
                            <a:srgbClr val="0000FF"/>
                          </a:solidFill>
                          <a:effectLst/>
                          <a:latin typeface="Cambria Math" panose="02040503050406030204" pitchFamily="18" charset="0"/>
                        </a:rPr>
                        <m:t>𝒅</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𝒊</m:t>
                              </m:r>
                            </m:sub>
                          </m:sSub>
                          <m:r>
                            <a:rPr lang="en-US" altLang="zh-CN" b="1" i="1">
                              <a:solidFill>
                                <a:srgbClr val="0000FF"/>
                              </a:solidFill>
                              <a:effectLst/>
                              <a:latin typeface="Cambria Math" panose="02040503050406030204" pitchFamily="18" charset="0"/>
                            </a:rPr>
                            <m:t>,</m:t>
                          </m:r>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𝟏</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𝒅</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𝒊</m:t>
                              </m:r>
                            </m:sub>
                          </m:sSub>
                          <m:r>
                            <a:rPr lang="en-US" altLang="zh-CN" b="1" i="1">
                              <a:solidFill>
                                <a:srgbClr val="0000FF"/>
                              </a:solidFill>
                              <a:effectLst/>
                              <a:latin typeface="Cambria Math" panose="02040503050406030204" pitchFamily="18" charset="0"/>
                            </a:rPr>
                            <m:t>,</m:t>
                          </m:r>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𝟐</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𝒅</m:t>
                      </m:r>
                      <m:r>
                        <a:rPr lang="en-US" altLang="zh-CN" b="1" i="1">
                          <a:solidFill>
                            <a:srgbClr val="0000FF"/>
                          </a:solidFill>
                          <a:effectLst/>
                          <a:latin typeface="Cambria Math" panose="02040503050406030204" pitchFamily="18" charset="0"/>
                        </a:rPr>
                        <m:t>(</m:t>
                      </m:r>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𝒊</m:t>
                          </m:r>
                        </m:sub>
                      </m:sSub>
                      <m:r>
                        <a:rPr lang="en-US" altLang="zh-CN" b="1" i="1">
                          <a:solidFill>
                            <a:srgbClr val="0000FF"/>
                          </a:solidFill>
                          <a:effectLst/>
                          <a:latin typeface="Cambria Math" panose="02040503050406030204" pitchFamily="18" charset="0"/>
                        </a:rPr>
                        <m:t>,</m:t>
                      </m:r>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𝒏</m:t>
                          </m:r>
                        </m:sub>
                      </m:sSub>
                      <m:r>
                        <a:rPr lang="en-US" altLang="zh-CN" b="1" i="1">
                          <a:solidFill>
                            <a:srgbClr val="0000FF"/>
                          </a:solidFill>
                          <a:effectLst/>
                          <a:latin typeface="Cambria Math" panose="02040503050406030204" pitchFamily="18" charset="0"/>
                        </a:rPr>
                        <m:t>)</m:t>
                      </m:r>
                    </m:oMath>
                  </m:oMathPara>
                </a14:m>
                <a:endParaRPr lang="zh-CN" altLang="zh-CN" b="1" dirty="0">
                  <a:solidFill>
                    <a:srgbClr val="0000FF"/>
                  </a:solidFill>
                  <a:effectLst/>
                </a:endParaRPr>
              </a:p>
              <a:p>
                <a:pPr marL="0" indent="0">
                  <a:lnSpc>
                    <a:spcPct val="150000"/>
                  </a:lnSpc>
                  <a:buNone/>
                </a:pPr>
                <a:r>
                  <a:rPr lang="en-US" altLang="zh-CN" b="1" dirty="0">
                    <a:solidFill>
                      <a:schemeClr val="tx1"/>
                    </a:solidFill>
                    <a:effectLst/>
                  </a:rPr>
                  <a:t>       </a:t>
                </a:r>
                <a:r>
                  <a:rPr lang="zh-CN" altLang="zh-CN" b="1" dirty="0">
                    <a:solidFill>
                      <a:schemeClr val="tx1"/>
                    </a:solidFill>
                    <a:effectLst/>
                  </a:rPr>
                  <a:t>把这</a:t>
                </a:r>
                <a14:m>
                  <m:oMath xmlns:m="http://schemas.openxmlformats.org/officeDocument/2006/math">
                    <m:r>
                      <a:rPr lang="en-US" altLang="zh-CN" b="1" i="1">
                        <a:solidFill>
                          <a:schemeClr val="tx1"/>
                        </a:solidFill>
                        <a:effectLst/>
                        <a:latin typeface="Cambria Math" panose="02040503050406030204" pitchFamily="18" charset="0"/>
                      </a:rPr>
                      <m:t>𝒏</m:t>
                    </m:r>
                  </m:oMath>
                </a14:m>
                <a:r>
                  <a:rPr lang="zh-CN" altLang="zh-CN" b="1" dirty="0">
                    <a:solidFill>
                      <a:schemeClr val="tx1"/>
                    </a:solidFill>
                    <a:effectLst/>
                  </a:rPr>
                  <a:t>个距离中的最大数称为顶点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oMath>
                </a14:m>
                <a:r>
                  <a:rPr lang="zh-CN" altLang="zh-CN" b="1" dirty="0">
                    <a:solidFill>
                      <a:schemeClr val="tx1"/>
                    </a:solidFill>
                    <a:effectLst/>
                  </a:rPr>
                  <a:t>的</a:t>
                </a:r>
                <a:r>
                  <a:rPr lang="zh-CN" altLang="zh-CN" b="1" dirty="0">
                    <a:solidFill>
                      <a:srgbClr val="0000FF"/>
                    </a:solidFill>
                    <a:effectLst/>
                  </a:rPr>
                  <a:t>最大服务距离</a:t>
                </a:r>
                <a:r>
                  <a:rPr lang="zh-CN" altLang="zh-CN" b="1" dirty="0">
                    <a:solidFill>
                      <a:schemeClr val="tx1"/>
                    </a:solidFill>
                    <a:effectLst/>
                  </a:rPr>
                  <a:t>，记为</a:t>
                </a:r>
                <a14:m>
                  <m:oMath xmlns:m="http://schemas.openxmlformats.org/officeDocument/2006/math">
                    <m:r>
                      <a:rPr lang="en-US" altLang="zh-CN" b="1" i="1">
                        <a:solidFill>
                          <a:schemeClr val="tx1"/>
                        </a:solidFill>
                        <a:effectLst/>
                        <a:latin typeface="Cambria Math" panose="02040503050406030204" pitchFamily="18" charset="0"/>
                      </a:rPr>
                      <m:t>𝒆</m:t>
                    </m:r>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m:t>
                    </m:r>
                  </m:oMath>
                </a14:m>
                <a:r>
                  <a:rPr lang="zh-CN" altLang="zh-CN" b="1" dirty="0">
                    <a:solidFill>
                      <a:schemeClr val="tx1"/>
                    </a:solidFill>
                    <a:effectLst/>
                  </a:rPr>
                  <a:t>。</a:t>
                </a:r>
                <a:r>
                  <a:rPr lang="zh-CN" altLang="zh-CN" b="1" dirty="0">
                    <a:solidFill>
                      <a:srgbClr val="0000FF"/>
                    </a:solidFill>
                    <a:effectLst/>
                  </a:rPr>
                  <a:t>要使消防车到达各个点的距离尽可能的短，应该选取最大服务距离最小的点</a:t>
                </a:r>
                <a:r>
                  <a:rPr lang="zh-CN" altLang="zh-CN" b="1" dirty="0">
                    <a:solidFill>
                      <a:schemeClr val="tx1"/>
                    </a:solidFill>
                    <a:effectLst/>
                  </a:rPr>
                  <a:t>，即</a:t>
                </a:r>
                <a:r>
                  <a:rPr lang="zh-CN" altLang="en-US" b="1" dirty="0">
                    <a:solidFill>
                      <a:schemeClr val="tx1"/>
                    </a:solidFill>
                    <a:effectLst/>
                  </a:rPr>
                  <a:t>有</a:t>
                </a:r>
                <a:r>
                  <a:rPr lang="zh-CN" altLang="zh-CN" b="1" dirty="0">
                    <a:solidFill>
                      <a:schemeClr val="tx1"/>
                    </a:solidFill>
                    <a:effectLst/>
                  </a:rPr>
                  <a:t>：</a:t>
                </a:r>
              </a:p>
              <a:p>
                <a:pPr marL="0" indent="0" algn="ctr">
                  <a:lnSpc>
                    <a:spcPct val="150000"/>
                  </a:lnSpc>
                  <a:buNone/>
                </a:pPr>
                <a14:m>
                  <m:oMath xmlns:m="http://schemas.openxmlformats.org/officeDocument/2006/math">
                    <m:r>
                      <a:rPr lang="en-US" altLang="zh-CN" b="1" i="1">
                        <a:solidFill>
                          <a:srgbClr val="0000FF"/>
                        </a:solidFill>
                        <a:effectLst/>
                        <a:latin typeface="Cambria Math" panose="02040503050406030204" pitchFamily="18" charset="0"/>
                      </a:rPr>
                      <m:t>𝒆</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𝒊</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𝐦𝐢𝐧</m:t>
                    </m:r>
                    <m:r>
                      <a:rPr lang="en-US" altLang="zh-CN" b="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𝒆</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𝟏</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𝒆</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𝟐</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𝒆</m:t>
                    </m:r>
                    <m:r>
                      <a:rPr lang="en-US" altLang="zh-CN" b="1" i="1">
                        <a:solidFill>
                          <a:srgbClr val="0000FF"/>
                        </a:solidFill>
                        <a:effectLst/>
                        <a:latin typeface="Cambria Math" panose="02040503050406030204" pitchFamily="18" charset="0"/>
                      </a:rPr>
                      <m:t>(</m:t>
                    </m:r>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𝟏𝟎</m:t>
                        </m:r>
                      </m:sub>
                    </m:sSub>
                    <m:r>
                      <a:rPr lang="en-US" altLang="zh-CN" b="1" i="1">
                        <a:solidFill>
                          <a:srgbClr val="0000FF"/>
                        </a:solidFill>
                        <a:effectLst/>
                        <a:latin typeface="Cambria Math" panose="02040503050406030204" pitchFamily="18" charset="0"/>
                      </a:rPr>
                      <m:t>)}</m:t>
                    </m:r>
                  </m:oMath>
                </a14:m>
                <a:r>
                  <a:rPr lang="en-US" altLang="zh-CN" b="1" dirty="0">
                    <a:solidFill>
                      <a:srgbClr val="0000FF"/>
                    </a:solidFill>
                    <a:effectLst/>
                  </a:rPr>
                  <a:t> </a:t>
                </a:r>
                <a:endParaRPr lang="zh-CN" altLang="zh-CN" b="1" dirty="0">
                  <a:solidFill>
                    <a:srgbClr val="0000FF"/>
                  </a:solidFill>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539552" y="1851102"/>
                <a:ext cx="8352928" cy="4248472"/>
              </a:xfrm>
              <a:blipFill>
                <a:blip r:embed="rId2"/>
                <a:stretch>
                  <a:fillRect l="-1168" r="-1022"/>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4073931"/>
      </p:ext>
    </p:extLst>
  </p:cSld>
  <p:clrMapOvr>
    <a:masterClrMapping/>
  </p:clrMapOvr>
  <p:transition spd="med">
    <p:wipe dir="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539552" y="1885899"/>
                <a:ext cx="8208267" cy="4248472"/>
              </a:xfrm>
              <a:solidFill>
                <a:schemeClr val="accent5"/>
              </a:solidFill>
              <a:ln>
                <a:noFill/>
              </a:ln>
            </p:spPr>
            <p:txBody>
              <a:bodyPr/>
              <a:lstStyle/>
              <a:p>
                <a:pPr marL="0" indent="0">
                  <a:buNone/>
                </a:pPr>
                <a:r>
                  <a:rPr lang="zh-CN" altLang="zh-CN" b="1" dirty="0">
                    <a:effectLst/>
                  </a:rPr>
                  <a:t>【</a:t>
                </a:r>
                <a:r>
                  <a:rPr lang="zh-CN" altLang="en-US" b="1" dirty="0">
                    <a:effectLst/>
                  </a:rPr>
                  <a:t>解</a:t>
                </a:r>
                <a:r>
                  <a:rPr lang="zh-CN" altLang="zh-CN" b="1" dirty="0">
                    <a:effectLst/>
                  </a:rPr>
                  <a:t>】</a:t>
                </a:r>
                <a:r>
                  <a:rPr lang="zh-CN" altLang="en-US" b="1" dirty="0">
                    <a:effectLst/>
                  </a:rPr>
                  <a:t>由题意知边权矩阵为：</a:t>
                </a:r>
                <a:endParaRPr lang="en-US" altLang="zh-CN" dirty="0">
                  <a:effectLst/>
                </a:endParaRPr>
              </a:p>
              <a:p>
                <a:pPr marL="0" indent="0" algn="ctr">
                  <a:buNone/>
                </a:pPr>
                <a:r>
                  <a:rPr lang="en-US" altLang="zh-CN" dirty="0">
                    <a:solidFill>
                      <a:schemeClr val="tx1"/>
                    </a:solidFill>
                    <a:effectLst/>
                  </a:rPr>
                  <a:t>      </a:t>
                </a:r>
                <a14:m>
                  <m:oMath xmlns:m="http://schemas.openxmlformats.org/officeDocument/2006/math">
                    <m:r>
                      <a:rPr lang="en-US" altLang="zh-CN">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1</m:t>
                        </m:r>
                      </m:sub>
                    </m:sSub>
                    <m:r>
                      <a:rPr lang="en-US" altLang="zh-CN" i="1">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2</m:t>
                        </m:r>
                      </m:sub>
                    </m:sSub>
                    <m:r>
                      <a:rPr lang="en-US" altLang="zh-CN" i="1">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3</m:t>
                        </m:r>
                      </m:sub>
                    </m:sSub>
                    <m:r>
                      <a:rPr lang="en-US" altLang="zh-CN" i="1">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4</m:t>
                        </m:r>
                      </m:sub>
                    </m:sSub>
                    <m:r>
                      <a:rPr lang="en-US" altLang="zh-CN" i="1">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5</m:t>
                        </m:r>
                      </m:sub>
                    </m:sSub>
                    <m:r>
                      <a:rPr lang="en-US" altLang="zh-CN">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6</m:t>
                        </m:r>
                      </m:sub>
                    </m:sSub>
                    <m:r>
                      <a:rPr lang="en-US" altLang="zh-CN" i="1">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7</m:t>
                        </m:r>
                      </m:sub>
                    </m:sSub>
                    <m:r>
                      <a:rPr lang="en-US" altLang="zh-CN" i="1">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8</m:t>
                        </m:r>
                      </m:sub>
                    </m:sSub>
                    <m:r>
                      <a:rPr lang="en-US" altLang="zh-CN">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9</m:t>
                        </m:r>
                      </m:sub>
                    </m:sSub>
                    <m:r>
                      <a:rPr lang="en-US" altLang="zh-CN" i="1">
                        <a:solidFill>
                          <a:schemeClr val="tx1"/>
                        </a:solidFill>
                        <a:effectLst/>
                        <a:latin typeface="Cambria Math" panose="02040503050406030204" pitchFamily="18" charset="0"/>
                      </a:rPr>
                      <m:t>    </m:t>
                    </m:r>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10</m:t>
                        </m:r>
                      </m:sub>
                    </m:sSub>
                  </m:oMath>
                </a14:m>
                <a:endParaRPr lang="zh-CN" altLang="zh-CN" dirty="0">
                  <a:solidFill>
                    <a:schemeClr val="tx1"/>
                  </a:solidFill>
                  <a:effectLst/>
                </a:endParaRPr>
              </a:p>
              <a:p>
                <a:pPr marL="0" indent="0">
                  <a:buNone/>
                </a:pPr>
                <a14:m>
                  <m:oMathPara xmlns:m="http://schemas.openxmlformats.org/officeDocument/2006/math">
                    <m:oMathParaPr>
                      <m:jc m:val="centerGroup"/>
                    </m:oMathParaPr>
                    <m:oMath xmlns:m="http://schemas.openxmlformats.org/officeDocument/2006/math">
                      <m:r>
                        <m:rPr>
                          <m:sty m:val="p"/>
                        </m:rPr>
                        <a:rPr lang="en-US" altLang="zh-CN">
                          <a:solidFill>
                            <a:schemeClr val="tx1"/>
                          </a:solidFill>
                          <a:effectLst/>
                          <a:latin typeface="Cambria Math" panose="02040503050406030204" pitchFamily="18" charset="0"/>
                        </a:rPr>
                        <m:t>A</m:t>
                      </m:r>
                      <m:r>
                        <a:rPr lang="en-US" altLang="zh-CN">
                          <a:solidFill>
                            <a:schemeClr val="tx1"/>
                          </a:solidFill>
                          <a:effectLst/>
                          <a:latin typeface="Cambria Math" panose="02040503050406030204" pitchFamily="18" charset="0"/>
                        </a:rPr>
                        <m:t>=</m:t>
                      </m:r>
                      <m:m>
                        <m:mPr>
                          <m:mcs>
                            <m:mc>
                              <m:mcPr>
                                <m:count m:val="1"/>
                                <m:mcJc m:val="center"/>
                              </m:mcPr>
                            </m:mc>
                          </m:mcs>
                          <m:ctrlPr>
                            <a:rPr lang="zh-CN" altLang="zh-CN" i="1">
                              <a:solidFill>
                                <a:schemeClr val="tx1"/>
                              </a:solidFill>
                              <a:effectLst/>
                              <a:latin typeface="Cambria Math" panose="02040503050406030204" pitchFamily="18" charset="0"/>
                            </a:rPr>
                          </m:ctrlPr>
                        </m:mPr>
                        <m:mr>
                          <m:e>
                            <m:m>
                              <m:mPr>
                                <m:mcs>
                                  <m:mc>
                                    <m:mcPr>
                                      <m:count m:val="1"/>
                                      <m:mcJc m:val="center"/>
                                    </m:mcPr>
                                  </m:mc>
                                </m:mcs>
                                <m:ctrlPr>
                                  <a:rPr lang="zh-CN" altLang="zh-CN" i="1">
                                    <a:solidFill>
                                      <a:schemeClr val="tx1"/>
                                    </a:solidFill>
                                    <a:effectLst/>
                                    <a:latin typeface="Cambria Math" panose="02040503050406030204" pitchFamily="18" charset="0"/>
                                  </a:rPr>
                                </m:ctrlPr>
                              </m:mPr>
                              <m:mr>
                                <m:e>
                                  <m:m>
                                    <m:mPr>
                                      <m:mcs>
                                        <m:mc>
                                          <m:mcPr>
                                            <m:count m:val="1"/>
                                            <m:mcJc m:val="center"/>
                                          </m:mcPr>
                                        </m:mc>
                                      </m:mcs>
                                      <m:ctrlPr>
                                        <a:rPr lang="zh-CN" altLang="zh-CN" i="1">
                                          <a:solidFill>
                                            <a:schemeClr val="tx1"/>
                                          </a:solidFill>
                                          <a:effectLst/>
                                          <a:latin typeface="Cambria Math" panose="02040503050406030204" pitchFamily="18" charset="0"/>
                                        </a:rPr>
                                      </m:ctrlPr>
                                    </m:mP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1</m:t>
                                            </m:r>
                                          </m:sub>
                                        </m:sSub>
                                      </m:e>
                                    </m:m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2</m:t>
                                            </m:r>
                                          </m:sub>
                                        </m:sSub>
                                      </m:e>
                                    </m:mr>
                                  </m:m>
                                </m:e>
                              </m:m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3</m:t>
                                      </m:r>
                                    </m:sub>
                                  </m:sSub>
                                </m:e>
                              </m:m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4</m:t>
                                      </m:r>
                                    </m:sub>
                                  </m:sSub>
                                </m:e>
                              </m:mr>
                            </m:m>
                          </m:e>
                        </m:m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5</m:t>
                                </m:r>
                              </m:sub>
                            </m:sSub>
                          </m:e>
                        </m:mr>
                        <m:mr>
                          <m:e>
                            <m:m>
                              <m:mPr>
                                <m:mcs>
                                  <m:mc>
                                    <m:mcPr>
                                      <m:count m:val="1"/>
                                      <m:mcJc m:val="center"/>
                                    </m:mcPr>
                                  </m:mc>
                                </m:mcs>
                                <m:ctrlPr>
                                  <a:rPr lang="zh-CN" altLang="zh-CN" i="1">
                                    <a:solidFill>
                                      <a:schemeClr val="tx1"/>
                                    </a:solidFill>
                                    <a:effectLst/>
                                    <a:latin typeface="Cambria Math" panose="02040503050406030204" pitchFamily="18" charset="0"/>
                                  </a:rPr>
                                </m:ctrlPr>
                              </m:mP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6</m:t>
                                      </m:r>
                                    </m:sub>
                                  </m:sSub>
                                </m:e>
                              </m:m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7</m:t>
                                      </m:r>
                                    </m:sub>
                                  </m:sSub>
                                </m:e>
                              </m:mr>
                              <m:mr>
                                <m:e>
                                  <m:m>
                                    <m:mPr>
                                      <m:mcs>
                                        <m:mc>
                                          <m:mcPr>
                                            <m:count m:val="1"/>
                                            <m:mcJc m:val="center"/>
                                          </m:mcPr>
                                        </m:mc>
                                      </m:mcs>
                                      <m:ctrlPr>
                                        <a:rPr lang="zh-CN" altLang="zh-CN" i="1">
                                          <a:solidFill>
                                            <a:schemeClr val="tx1"/>
                                          </a:solidFill>
                                          <a:effectLst/>
                                          <a:latin typeface="Cambria Math" panose="02040503050406030204" pitchFamily="18" charset="0"/>
                                        </a:rPr>
                                      </m:ctrlPr>
                                    </m:mP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8</m:t>
                                            </m:r>
                                          </m:sub>
                                        </m:sSub>
                                      </m:e>
                                    </m:m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9</m:t>
                                            </m:r>
                                          </m:sub>
                                        </m:sSub>
                                      </m:e>
                                    </m:mr>
                                    <m:mr>
                                      <m:e>
                                        <m:sSub>
                                          <m:sSubPr>
                                            <m:ctrlPr>
                                              <a:rPr lang="zh-CN" altLang="zh-CN" i="1">
                                                <a:solidFill>
                                                  <a:schemeClr val="tx1"/>
                                                </a:solidFill>
                                                <a:effectLst/>
                                                <a:latin typeface="Cambria Math" panose="02040503050406030204" pitchFamily="18" charset="0"/>
                                              </a:rPr>
                                            </m:ctrlPr>
                                          </m:sSubPr>
                                          <m:e>
                                            <m:r>
                                              <a:rPr lang="en-US" altLang="zh-CN" i="1">
                                                <a:solidFill>
                                                  <a:schemeClr val="tx1"/>
                                                </a:solidFill>
                                                <a:effectLst/>
                                                <a:latin typeface="Cambria Math" panose="02040503050406030204" pitchFamily="18" charset="0"/>
                                              </a:rPr>
                                              <m:t>𝑣</m:t>
                                            </m:r>
                                          </m:e>
                                          <m:sub>
                                            <m:r>
                                              <a:rPr lang="en-US" altLang="zh-CN" i="1">
                                                <a:solidFill>
                                                  <a:schemeClr val="tx1"/>
                                                </a:solidFill>
                                                <a:effectLst/>
                                                <a:latin typeface="Cambria Math" panose="02040503050406030204" pitchFamily="18" charset="0"/>
                                              </a:rPr>
                                              <m:t>10</m:t>
                                            </m:r>
                                          </m:sub>
                                        </m:sSub>
                                      </m:e>
                                    </m:mr>
                                  </m:m>
                                </m:e>
                              </m:mr>
                            </m:m>
                          </m:e>
                        </m:mr>
                      </m:m>
                      <m:d>
                        <m:dPr>
                          <m:ctrlPr>
                            <a:rPr lang="zh-CN" altLang="zh-CN" i="1">
                              <a:solidFill>
                                <a:schemeClr val="tx1"/>
                              </a:solidFill>
                              <a:effectLst/>
                              <a:latin typeface="Cambria Math" panose="02040503050406030204" pitchFamily="18" charset="0"/>
                            </a:rPr>
                          </m:ctrlPr>
                        </m:dPr>
                        <m:e>
                          <m:m>
                            <m:mPr>
                              <m:mcs>
                                <m:mc>
                                  <m:mcPr>
                                    <m:count m:val="2"/>
                                    <m:mcJc m:val="center"/>
                                  </m:mcPr>
                                </m:mc>
                              </m:mcs>
                              <m:ctrlPr>
                                <a:rPr lang="zh-CN" altLang="zh-CN" i="1">
                                  <a:solidFill>
                                    <a:schemeClr val="tx1"/>
                                  </a:solidFill>
                                  <a:effectLst/>
                                  <a:latin typeface="Cambria Math" panose="02040503050406030204" pitchFamily="18" charset="0"/>
                                </a:rPr>
                              </m:ctrlPr>
                            </m:mPr>
                            <m:mr>
                              <m:e>
                                <m:m>
                                  <m:mPr>
                                    <m:mcs>
                                      <m:mc>
                                        <m:mcPr>
                                          <m:count m:val="3"/>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  0</m:t>
                                      </m:r>
                                    </m:e>
                                    <m:e>
                                      <m:r>
                                        <a:rPr lang="en-US" altLang="zh-CN" i="1">
                                          <a:solidFill>
                                            <a:schemeClr val="tx1"/>
                                          </a:solidFill>
                                          <a:effectLst/>
                                          <a:latin typeface="Cambria Math" panose="02040503050406030204" pitchFamily="18" charset="0"/>
                                        </a:rPr>
                                        <m:t> 9</m:t>
                                      </m:r>
                                    </m:e>
                                    <m:e>
                                      <m:r>
                                        <a:rPr lang="en-US" altLang="zh-CN" i="1">
                                          <a:solidFill>
                                            <a:schemeClr val="tx1"/>
                                          </a:solidFill>
                                          <a:effectLst/>
                                          <a:latin typeface="Cambria Math" panose="02040503050406030204" pitchFamily="18" charset="0"/>
                                        </a:rPr>
                                        <m:t> 3</m:t>
                                      </m:r>
                                    </m:e>
                                  </m:mr>
                                </m:m>
                              </m:e>
                              <m:e>
                                <m:m>
                                  <m:mPr>
                                    <m:mcs>
                                      <m:mc>
                                        <m:mcPr>
                                          <m:count m:val="3"/>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e>
                                      <m:r>
                                        <a:rPr lang="en-US" altLang="zh-CN" i="1">
                                          <a:solidFill>
                                            <a:schemeClr val="tx1"/>
                                          </a:solidFill>
                                          <a:effectLst/>
                                          <a:latin typeface="Cambria Math" panose="02040503050406030204" pitchFamily="18" charset="0"/>
                                        </a:rPr>
                                        <m:t>∞</m:t>
                                      </m:r>
                                    </m:e>
                                    <m:e>
                                      <m:m>
                                        <m:mPr>
                                          <m:mcs>
                                            <m:mc>
                                              <m:mcPr>
                                                <m:count m:val="3"/>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e>
                                            <m:r>
                                              <a:rPr lang="en-US" altLang="zh-CN" i="1">
                                                <a:solidFill>
                                                  <a:schemeClr val="tx1"/>
                                                </a:solidFill>
                                                <a:effectLst/>
                                                <a:latin typeface="Cambria Math" panose="02040503050406030204" pitchFamily="18" charset="0"/>
                                              </a:rPr>
                                              <m:t>∞</m:t>
                                            </m:r>
                                          </m:e>
                                          <m:e>
                                            <m:m>
                                              <m:mPr>
                                                <m:mcs>
                                                  <m:mc>
                                                    <m:mcPr>
                                                      <m:count m:val="3"/>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e>
                                                  <m:r>
                                                    <a:rPr lang="en-US" altLang="zh-CN" i="1">
                                                      <a:solidFill>
                                                        <a:schemeClr val="tx1"/>
                                                      </a:solidFill>
                                                      <a:effectLst/>
                                                      <a:latin typeface="Cambria Math" panose="02040503050406030204" pitchFamily="18" charset="0"/>
                                                    </a:rPr>
                                                    <m:t>∞</m:t>
                                                  </m:r>
                                                </m:e>
                                                <m:e>
                                                  <m:r>
                                                    <a:rPr lang="en-US" altLang="zh-CN" i="1">
                                                      <a:solidFill>
                                                        <a:schemeClr val="tx1"/>
                                                      </a:solidFill>
                                                      <a:effectLst/>
                                                      <a:latin typeface="Cambria Math" panose="02040503050406030204" pitchFamily="18" charset="0"/>
                                                    </a:rPr>
                                                    <m:t>∞</m:t>
                                                  </m:r>
                                                </m:e>
                                              </m:mr>
                                            </m:m>
                                          </m:e>
                                        </m:mr>
                                      </m:m>
                                    </m:e>
                                  </m:mr>
                                </m:m>
                              </m:e>
                            </m:mr>
                            <m:mr>
                              <m:e>
                                <m:m>
                                  <m:mPr>
                                    <m:mcs>
                                      <m:mc>
                                        <m:mcPr>
                                          <m:count m:val="3"/>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  </m:t>
                                      </m:r>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9</m:t>
                                            </m:r>
                                          </m:e>
                                        </m:mr>
                                        <m:mr>
                                          <m:e>
                                            <m:r>
                                              <a:rPr lang="en-US" altLang="zh-CN" i="1">
                                                <a:solidFill>
                                                  <a:schemeClr val="tx1"/>
                                                </a:solidFill>
                                                <a:effectLst/>
                                                <a:latin typeface="Cambria Math" panose="02040503050406030204" pitchFamily="18" charset="0"/>
                                              </a:rPr>
                                              <m:t>3</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
                                                      </m:e>
                                                    </m:mr>
                                                  </m:m>
                                                </m:e>
                                              </m:mr>
                                            </m:m>
                                          </m:e>
                                        </m:mr>
                                      </m:m>
                                    </m:e>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0</m:t>
                                            </m:r>
                                          </m:e>
                                        </m:mr>
                                        <m:mr>
                                          <m:e>
                                            <m:r>
                                              <a:rPr lang="en-US" altLang="zh-CN" i="1">
                                                <a:solidFill>
                                                  <a:schemeClr val="tx1"/>
                                                </a:solidFill>
                                                <a:effectLst/>
                                                <a:latin typeface="Cambria Math" panose="02040503050406030204" pitchFamily="18" charset="0"/>
                                              </a:rPr>
                                              <m:t>2</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1</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
                                                      </m:e>
                                                    </m:mr>
                                                  </m:m>
                                                </m:e>
                                              </m:mr>
                                            </m:m>
                                          </m:e>
                                        </m:mr>
                                      </m:m>
                                    </m:e>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0</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8</m:t>
                                                  </m:r>
                                                </m:e>
                                              </m:mr>
                                              <m:mr>
                                                <m:e>
                                                  <m:r>
                                                    <a:rPr lang="en-US" altLang="zh-CN" i="1">
                                                      <a:solidFill>
                                                        <a:schemeClr val="tx1"/>
                                                      </a:solidFill>
                                                      <a:effectLst/>
                                                      <a:latin typeface="Cambria Math" panose="02040503050406030204" pitchFamily="18" charset="0"/>
                                                    </a:rPr>
                                                    <m:t>2</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7</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
                                                      </m:e>
                                                    </m:mr>
                                                  </m:m>
                                                </m:e>
                                              </m:mr>
                                            </m:m>
                                          </m:e>
                                        </m:mr>
                                      </m:m>
                                    </m:e>
                                  </m:mr>
                                </m:m>
                              </m:e>
                              <m:e>
                                <m:m>
                                  <m:mPr>
                                    <m:mcs>
                                      <m:mc>
                                        <m:mcPr>
                                          <m:count m:val="3"/>
                                          <m:mcJc m:val="center"/>
                                        </m:mcPr>
                                      </m:mc>
                                    </m:mcs>
                                    <m:ctrlPr>
                                      <a:rPr lang="zh-CN" altLang="zh-CN" i="1">
                                        <a:solidFill>
                                          <a:schemeClr val="tx1"/>
                                        </a:solidFill>
                                        <a:effectLst/>
                                        <a:latin typeface="Cambria Math" panose="02040503050406030204" pitchFamily="18" charset="0"/>
                                      </a:rPr>
                                    </m:ctrlPr>
                                  </m:mP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4</m:t>
                                            </m:r>
                                          </m:e>
                                        </m:mr>
                                        <m:mr>
                                          <m:e>
                                            <m:r>
                                              <a:rPr lang="en-US" altLang="zh-CN" i="1">
                                                <a:solidFill>
                                                  <a:schemeClr val="tx1"/>
                                                </a:solidFill>
                                                <a:effectLst/>
                                                <a:latin typeface="Cambria Math" panose="02040503050406030204" pitchFamily="18" charset="0"/>
                                              </a:rPr>
                                              <m:t>8</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0</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5</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
                                                      </m:e>
                                                    </m:mr>
                                                  </m:m>
                                                </m:e>
                                              </m:mr>
                                            </m:m>
                                          </m:e>
                                        </m:mr>
                                      </m:m>
                                    </m:e>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2</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0</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9</m:t>
                                                        </m:r>
                                                      </m:e>
                                                    </m:mr>
                                                    <m:mr>
                                                      <m:e>
                                                        <m:r>
                                                          <a:rPr lang="en-US" altLang="zh-CN" i="1">
                                                            <a:solidFill>
                                                              <a:schemeClr val="tx1"/>
                                                            </a:solidFill>
                                                            <a:effectLst/>
                                                            <a:latin typeface="Cambria Math" panose="02040503050406030204" pitchFamily="18" charset="0"/>
                                                          </a:rPr>
                                                          <m:t>6</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4</m:t>
                                                              </m:r>
                                                            </m:e>
                                                          </m:m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
                                                      </m:e>
                                                    </m:mr>
                                                  </m:m>
                                                </m:e>
                                              </m:mr>
                                            </m:m>
                                          </m:e>
                                        </m:mr>
                                      </m:m>
                                    </m:e>
                                    <m:e>
                                      <m:m>
                                        <m:mPr>
                                          <m:mcs>
                                            <m:mc>
                                              <m:mcPr>
                                                <m:count m:val="3"/>
                                                <m:mcJc m:val="center"/>
                                              </m:mcPr>
                                            </m:mc>
                                          </m:mcs>
                                          <m:ctrlPr>
                                            <a:rPr lang="zh-CN" altLang="zh-CN" i="1">
                                              <a:solidFill>
                                                <a:schemeClr val="tx1"/>
                                              </a:solidFill>
                                              <a:effectLst/>
                                              <a:latin typeface="Cambria Math" panose="02040503050406030204" pitchFamily="18" charset="0"/>
                                            </a:rPr>
                                          </m:ctrlPr>
                                        </m:mP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7</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8</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0</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1</m:t>
                                                                    </m:r>
                                                                  </m:e>
                                                                </m:m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
                                                            </m:e>
                                                          </m:mr>
                                                        </m:m>
                                                      </m:e>
                                                    </m:mr>
                                                  </m:m>
                                                </m:e>
                                              </m:mr>
                                            </m:m>
                                          </m:e>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5</m:t>
                                                        </m:r>
                                                      </m:e>
                                                    </m:mr>
                                                    <m:mr>
                                                      <m:e>
                                                        <m:r>
                                                          <a:rPr lang="en-US" altLang="zh-CN" i="1">
                                                            <a:solidFill>
                                                              <a:schemeClr val="tx1"/>
                                                            </a:solidFill>
                                                            <a:effectLst/>
                                                            <a:latin typeface="Cambria Math" panose="02040503050406030204" pitchFamily="18" charset="0"/>
                                                          </a:rPr>
                                                          <m:t>6</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0</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3</m:t>
                                                                    </m:r>
                                                                  </m:e>
                                                                </m:mr>
                                                                <m:mr>
                                                                  <m:e>
                                                                    <m:r>
                                                                      <a:rPr lang="en-US" altLang="zh-CN" i="1">
                                                                        <a:solidFill>
                                                                          <a:schemeClr val="tx1"/>
                                                                        </a:solidFill>
                                                                        <a:effectLst/>
                                                                        <a:latin typeface="Cambria Math" panose="02040503050406030204" pitchFamily="18" charset="0"/>
                                                                      </a:rPr>
                                                                      <m:t>2</m:t>
                                                                    </m:r>
                                                                  </m:e>
                                                                </m:mr>
                                                                <m:mr>
                                                                  <m:e>
                                                                    <m:r>
                                                                      <a:rPr lang="en-US" altLang="zh-CN" i="1">
                                                                        <a:solidFill>
                                                                          <a:schemeClr val="tx1"/>
                                                                        </a:solidFill>
                                                                        <a:effectLst/>
                                                                        <a:latin typeface="Cambria Math" panose="02040503050406030204" pitchFamily="18" charset="0"/>
                                                                      </a:rPr>
                                                                      <m:t>3</m:t>
                                                                    </m:r>
                                                                  </m:e>
                                                                </m:mr>
                                                              </m:m>
                                                            </m:e>
                                                          </m:mr>
                                                        </m:m>
                                                      </m:e>
                                                    </m:mr>
                                                  </m:m>
                                                </m:e>
                                              </m:mr>
                                            </m:m>
                                          </m:e>
                                          <m:e>
                                            <m:m>
                                              <m:mPr>
                                                <m:mcs>
                                                  <m:mc>
                                                    <m:mcPr>
                                                      <m:count m:val="3"/>
                                                      <m:mcJc m:val="center"/>
                                                    </m:mcPr>
                                                  </m:mc>
                                                </m:mcs>
                                                <m:ctrlPr>
                                                  <a:rPr lang="zh-CN" altLang="zh-CN" i="1">
                                                    <a:solidFill>
                                                      <a:schemeClr val="tx1"/>
                                                    </a:solidFill>
                                                    <a:effectLst/>
                                                    <a:latin typeface="Cambria Math" panose="02040503050406030204" pitchFamily="18" charset="0"/>
                                                  </a:rPr>
                                                </m:ctrlPr>
                                              </m:mP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4</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2</m:t>
                                                                    </m:r>
                                                                  </m:e>
                                                                </m:mr>
                                                                <m:mr>
                                                                  <m:e>
                                                                    <m:r>
                                                                      <a:rPr lang="en-US" altLang="zh-CN" i="1">
                                                                        <a:solidFill>
                                                                          <a:schemeClr val="tx1"/>
                                                                        </a:solidFill>
                                                                        <a:effectLst/>
                                                                        <a:latin typeface="Cambria Math" panose="02040503050406030204" pitchFamily="18" charset="0"/>
                                                                      </a:rPr>
                                                                      <m:t>1</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0</m:t>
                                                                          </m:r>
                                                                        </m:e>
                                                                      </m:mr>
                                                                      <m:mr>
                                                                        <m:e>
                                                                          <m:r>
                                                                            <a:rPr lang="en-US" altLang="zh-CN" i="1">
                                                                              <a:solidFill>
                                                                                <a:schemeClr val="tx1"/>
                                                                              </a:solidFill>
                                                                              <a:effectLst/>
                                                                              <a:latin typeface="Cambria Math" panose="02040503050406030204" pitchFamily="18" charset="0"/>
                                                                            </a:rPr>
                                                                            <m:t>6</m:t>
                                                                          </m:r>
                                                                        </m:e>
                                                                      </m:mr>
                                                                      <m:mr>
                                                                        <m:e>
                                                                          <m:r>
                                                                            <a:rPr lang="en-US" altLang="zh-CN" i="1">
                                                                              <a:solidFill>
                                                                                <a:schemeClr val="tx1"/>
                                                                              </a:solidFill>
                                                                              <a:effectLst/>
                                                                              <a:latin typeface="Cambria Math" panose="02040503050406030204" pitchFamily="18" charset="0"/>
                                                                            </a:rPr>
                                                                            <m:t>∞</m:t>
                                                                          </m:r>
                                                                        </m:e>
                                                                      </m:mr>
                                                                    </m:m>
                                                                  </m:e>
                                                                </m:mr>
                                                              </m:m>
                                                            </m:e>
                                                          </m:mr>
                                                        </m:m>
                                                      </m:e>
                                                    </m:mr>
                                                  </m:m>
                                                </m:e>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2</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6</m:t>
                                                                          </m:r>
                                                                        </m:e>
                                                                      </m:mr>
                                                                      <m:mr>
                                                                        <m:e>
                                                                          <m:r>
                                                                            <a:rPr lang="en-US" altLang="zh-CN" i="1">
                                                                              <a:solidFill>
                                                                                <a:schemeClr val="tx1"/>
                                                                              </a:solidFill>
                                                                              <a:effectLst/>
                                                                              <a:latin typeface="Cambria Math" panose="02040503050406030204" pitchFamily="18" charset="0"/>
                                                                            </a:rPr>
                                                                            <m:t>0</m:t>
                                                                          </m:r>
                                                                        </m:e>
                                                                      </m:mr>
                                                                      <m:mr>
                                                                        <m:e>
                                                                          <m:r>
                                                                            <a:rPr lang="en-US" altLang="zh-CN" i="1">
                                                                              <a:solidFill>
                                                                                <a:schemeClr val="tx1"/>
                                                                              </a:solidFill>
                                                                              <a:effectLst/>
                                                                              <a:latin typeface="Cambria Math" panose="02040503050406030204" pitchFamily="18" charset="0"/>
                                                                            </a:rPr>
                                                                            <m:t>5</m:t>
                                                                          </m:r>
                                                                        </m:e>
                                                                      </m:mr>
                                                                    </m:m>
                                                                  </m:e>
                                                                </m:mr>
                                                              </m:m>
                                                            </m:e>
                                                          </m:mr>
                                                        </m:m>
                                                      </m:e>
                                                    </m:mr>
                                                  </m:m>
                                                </m:e>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9</m:t>
                                                              </m:r>
                                                            </m:e>
                                                          </m:mr>
                                                          <m:mr>
                                                            <m:e>
                                                              <m:r>
                                                                <a:rPr lang="en-US" altLang="zh-CN" i="1">
                                                                  <a:solidFill>
                                                                    <a:schemeClr val="tx1"/>
                                                                  </a:solidFill>
                                                                  <a:effectLst/>
                                                                  <a:latin typeface="Cambria Math" panose="02040503050406030204" pitchFamily="18" charset="0"/>
                                                                </a:rPr>
                                                                <m:t>∞</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3</m:t>
                                                                    </m:r>
                                                                  </m:e>
                                                                </m:mr>
                                                                <m:mr>
                                                                  <m:e>
                                                                    <m:m>
                                                                      <m:mPr>
                                                                        <m:mcs>
                                                                          <m:mc>
                                                                            <m:mcPr>
                                                                              <m:count m:val="1"/>
                                                                              <m:mcJc m:val="center"/>
                                                                            </m:mcPr>
                                                                          </m:mc>
                                                                        </m:mcs>
                                                                        <m:ctrlPr>
                                                                          <a:rPr lang="zh-CN" altLang="zh-CN" i="1">
                                                                            <a:solidFill>
                                                                              <a:schemeClr val="tx1"/>
                                                                            </a:solidFill>
                                                                            <a:effectLst/>
                                                                            <a:latin typeface="Cambria Math" panose="02040503050406030204" pitchFamily="18" charset="0"/>
                                                                          </a:rPr>
                                                                        </m:ctrlPr>
                                                                      </m:mPr>
                                                                      <m:mr>
                                                                        <m:e>
                                                                          <m:r>
                                                                            <a:rPr lang="en-US" altLang="zh-CN" i="1">
                                                                              <a:solidFill>
                                                                                <a:schemeClr val="tx1"/>
                                                                              </a:solidFill>
                                                                              <a:effectLst/>
                                                                              <a:latin typeface="Cambria Math" panose="02040503050406030204" pitchFamily="18" charset="0"/>
                                                                            </a:rPr>
                                                                            <m:t>∞</m:t>
                                                                          </m:r>
                                                                        </m:e>
                                                                      </m:mr>
                                                                      <m:mr>
                                                                        <m:e>
                                                                          <m:r>
                                                                            <a:rPr lang="en-US" altLang="zh-CN" i="1">
                                                                              <a:solidFill>
                                                                                <a:schemeClr val="tx1"/>
                                                                              </a:solidFill>
                                                                              <a:effectLst/>
                                                                              <a:latin typeface="Cambria Math" panose="02040503050406030204" pitchFamily="18" charset="0"/>
                                                                            </a:rPr>
                                                                            <m:t>5</m:t>
                                                                          </m:r>
                                                                        </m:e>
                                                                      </m:mr>
                                                                      <m:mr>
                                                                        <m:e>
                                                                          <m:r>
                                                                            <a:rPr lang="en-US" altLang="zh-CN" i="1">
                                                                              <a:solidFill>
                                                                                <a:schemeClr val="tx1"/>
                                                                              </a:solidFill>
                                                                              <a:effectLst/>
                                                                              <a:latin typeface="Cambria Math" panose="02040503050406030204" pitchFamily="18" charset="0"/>
                                                                            </a:rPr>
                                                                            <m:t>0</m:t>
                                                                          </m:r>
                                                                        </m:e>
                                                                      </m:mr>
                                                                    </m:m>
                                                                  </m:e>
                                                                </m:mr>
                                                              </m:m>
                                                            </m:e>
                                                          </m:mr>
                                                        </m:m>
                                                      </m:e>
                                                    </m:mr>
                                                  </m:m>
                                                </m:e>
                                              </m:mr>
                                            </m:m>
                                          </m:e>
                                        </m:mr>
                                      </m:m>
                                    </m:e>
                                  </m:mr>
                                </m:m>
                              </m:e>
                            </m:mr>
                          </m:m>
                          <m:r>
                            <a:rPr lang="en-US" altLang="zh-CN" i="1">
                              <a:solidFill>
                                <a:schemeClr val="tx1"/>
                              </a:solidFill>
                              <a:effectLst/>
                              <a:latin typeface="Cambria Math" panose="02040503050406030204" pitchFamily="18" charset="0"/>
                            </a:rPr>
                            <m:t>  </m:t>
                          </m:r>
                        </m:e>
                      </m:d>
                    </m:oMath>
                  </m:oMathPara>
                </a14:m>
                <a:endParaRPr lang="zh-CN" altLang="zh-CN" b="1" dirty="0">
                  <a:solidFill>
                    <a:srgbClr val="0000FF"/>
                  </a:solidFill>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539552" y="1885899"/>
                <a:ext cx="8208267" cy="4248472"/>
              </a:xfrm>
              <a:blipFill>
                <a:blip r:embed="rId2"/>
                <a:stretch>
                  <a:fillRect l="-1189" t="-1148"/>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0814054"/>
      </p:ext>
    </p:extLst>
  </p:cSld>
  <p:clrMapOvr>
    <a:masterClrMapping/>
  </p:clrMapOvr>
  <p:transition spd="med">
    <p:wipe dir="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467866" y="1628800"/>
                <a:ext cx="8208267" cy="4608512"/>
              </a:xfrm>
              <a:solidFill>
                <a:schemeClr val="bg1"/>
              </a:solidFill>
              <a:ln>
                <a:noFill/>
              </a:ln>
            </p:spPr>
            <p:txBody>
              <a:bodyPr/>
              <a:lstStyle/>
              <a:p>
                <a:pPr marL="0" indent="0">
                  <a:lnSpc>
                    <a:spcPct val="150000"/>
                  </a:lnSpc>
                  <a:buNone/>
                </a:pPr>
                <a:r>
                  <a:rPr lang="en-US" altLang="zh-CN" b="1" dirty="0">
                    <a:solidFill>
                      <a:schemeClr val="tx1"/>
                    </a:solidFill>
                    <a:effectLst/>
                  </a:rPr>
                  <a:t>       </a:t>
                </a:r>
                <a:r>
                  <a:rPr lang="zh-CN" altLang="en-US" b="1" dirty="0">
                    <a:solidFill>
                      <a:schemeClr val="tx1"/>
                    </a:solidFill>
                    <a:effectLst/>
                  </a:rPr>
                  <a:t>使</a:t>
                </a:r>
                <a:r>
                  <a:rPr lang="zh-CN" altLang="zh-CN" b="1" dirty="0">
                    <a:solidFill>
                      <a:schemeClr val="tx1"/>
                    </a:solidFill>
                    <a:effectLst/>
                  </a:rPr>
                  <a:t>用沃舍尔</a:t>
                </a:r>
                <a14:m>
                  <m:oMath xmlns:m="http://schemas.openxmlformats.org/officeDocument/2006/math">
                    <m:r>
                      <a:rPr lang="en-US" altLang="zh-CN" b="1" i="1">
                        <a:solidFill>
                          <a:schemeClr val="tx1"/>
                        </a:solidFill>
                        <a:effectLst/>
                        <a:latin typeface="Cambria Math" panose="02040503050406030204" pitchFamily="18" charset="0"/>
                      </a:rPr>
                      <m:t>∙</m:t>
                    </m:r>
                  </m:oMath>
                </a14:m>
                <a:r>
                  <a:rPr lang="zh-CN" altLang="zh-CN" b="1" dirty="0">
                    <a:solidFill>
                      <a:schemeClr val="tx1"/>
                    </a:solidFill>
                    <a:effectLst/>
                  </a:rPr>
                  <a:t>弗洛伊德算法进行计算，得各个顶点的最短通路距离如</a:t>
                </a:r>
                <a:r>
                  <a:rPr lang="zh-CN" altLang="zh-CN" b="1" dirty="0">
                    <a:solidFill>
                      <a:srgbClr val="0000FF"/>
                    </a:solidFill>
                    <a:effectLst/>
                  </a:rPr>
                  <a:t>表</a:t>
                </a:r>
                <a:r>
                  <a:rPr lang="en-US" altLang="zh-CN" b="1" dirty="0">
                    <a:solidFill>
                      <a:srgbClr val="0000FF"/>
                    </a:solidFill>
                    <a:effectLst/>
                  </a:rPr>
                  <a:t>1</a:t>
                </a:r>
                <a:r>
                  <a:rPr lang="zh-CN" altLang="zh-CN" b="1" dirty="0">
                    <a:solidFill>
                      <a:schemeClr val="tx1"/>
                    </a:solidFill>
                    <a:effectLst/>
                  </a:rPr>
                  <a:t>所示，其中任意两点之间距离的最短的具体路线如</a:t>
                </a:r>
                <a:r>
                  <a:rPr lang="zh-CN" altLang="zh-CN" b="1" dirty="0">
                    <a:solidFill>
                      <a:srgbClr val="0000FF"/>
                    </a:solidFill>
                    <a:effectLst/>
                  </a:rPr>
                  <a:t>表</a:t>
                </a:r>
                <a:r>
                  <a:rPr lang="en-US" altLang="zh-CN" b="1" dirty="0">
                    <a:solidFill>
                      <a:srgbClr val="0000FF"/>
                    </a:solidFill>
                    <a:effectLst/>
                  </a:rPr>
                  <a:t>2</a:t>
                </a:r>
                <a:r>
                  <a:rPr lang="zh-CN" altLang="zh-CN" b="1" dirty="0">
                    <a:solidFill>
                      <a:schemeClr val="tx1"/>
                    </a:solidFill>
                    <a:effectLst/>
                  </a:rPr>
                  <a:t>所示。由表</a:t>
                </a:r>
                <a:r>
                  <a:rPr lang="en-US" altLang="zh-CN" b="1" dirty="0">
                    <a:solidFill>
                      <a:schemeClr val="tx1"/>
                    </a:solidFill>
                    <a:effectLst/>
                  </a:rPr>
                  <a:t>1</a:t>
                </a:r>
                <a:r>
                  <a:rPr lang="zh-CN" altLang="zh-CN" b="1" dirty="0">
                    <a:solidFill>
                      <a:schemeClr val="tx1"/>
                    </a:solidFill>
                    <a:effectLst/>
                  </a:rPr>
                  <a:t>知</a:t>
                </a:r>
                <a:r>
                  <a:rPr lang="zh-CN" altLang="en-US" b="1" dirty="0">
                    <a:solidFill>
                      <a:schemeClr val="tx1"/>
                    </a:solidFill>
                    <a:effectLst/>
                  </a:rPr>
                  <a:t>：</a:t>
                </a:r>
                <a:endParaRPr lang="en-US" altLang="zh-CN" dirty="0">
                  <a:solidFill>
                    <a:srgbClr val="0000FF"/>
                  </a:solidFill>
                  <a:effectLst/>
                  <a:latin typeface="Cambria Math" panose="02040503050406030204" pitchFamily="18" charset="0"/>
                </a:endParaRPr>
              </a:p>
              <a:p>
                <a:pPr marL="0" indent="0" algn="ctr">
                  <a:lnSpc>
                    <a:spcPct val="150000"/>
                  </a:lnSpc>
                  <a:buNone/>
                </a:pPr>
                <a14:m>
                  <m:oMathPara xmlns:m="http://schemas.openxmlformats.org/officeDocument/2006/math">
                    <m:oMathParaPr>
                      <m:jc m:val="centerGroup"/>
                    </m:oMathParaPr>
                    <m:oMath xmlns:m="http://schemas.openxmlformats.org/officeDocument/2006/math">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𝟏</m:t>
                              </m:r>
                            </m:sub>
                          </m:sSub>
                        </m:e>
                      </m:d>
                      <m:r>
                        <a:rPr lang="en-US" altLang="zh-CN" b="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𝟏𝟒</m:t>
                      </m:r>
                      <m:r>
                        <a:rPr lang="zh-CN" altLang="zh-CN" b="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𝟐</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𝟏𝟐</m:t>
                      </m:r>
                      <m:r>
                        <a:rPr lang="zh-CN" altLang="zh-CN" b="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𝟑</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𝟏𝟏</m:t>
                      </m:r>
                      <m:r>
                        <a:rPr lang="zh-CN" altLang="zh-CN" b="1">
                          <a:solidFill>
                            <a:srgbClr val="0000FF"/>
                          </a:solidFill>
                          <a:effectLst/>
                          <a:latin typeface="Cambria Math" panose="02040503050406030204" pitchFamily="18" charset="0"/>
                        </a:rPr>
                        <m:t>，</m:t>
                      </m:r>
                    </m:oMath>
                  </m:oMathPara>
                </a14:m>
                <a:endParaRPr lang="en-US" altLang="zh-CN" b="1" dirty="0">
                  <a:solidFill>
                    <a:srgbClr val="0000FF"/>
                  </a:solidFill>
                  <a:effectLst/>
                  <a:latin typeface="Cambria Math" panose="02040503050406030204" pitchFamily="18" charset="0"/>
                </a:endParaRPr>
              </a:p>
              <a:p>
                <a:pPr marL="0" indent="0" algn="ctr">
                  <a:lnSpc>
                    <a:spcPct val="150000"/>
                  </a:lnSpc>
                  <a:buNone/>
                </a:pPr>
                <a14:m>
                  <m:oMath xmlns:m="http://schemas.openxmlformats.org/officeDocument/2006/math">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𝟒</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𝟖</m:t>
                    </m:r>
                    <m:r>
                      <a:rPr lang="zh-CN" altLang="zh-CN" b="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𝟓</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𝟗</m:t>
                    </m:r>
                    <m:r>
                      <a:rPr lang="zh-CN" altLang="zh-CN" b="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𝟔</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𝟏𝟎</m:t>
                    </m:r>
                  </m:oMath>
                </a14:m>
                <a:r>
                  <a:rPr lang="zh-CN" altLang="zh-CN" b="1" dirty="0">
                    <a:solidFill>
                      <a:srgbClr val="0000FF"/>
                    </a:solidFill>
                    <a:effectLst/>
                  </a:rPr>
                  <a:t>，</a:t>
                </a:r>
                <a:endParaRPr lang="en-US" altLang="zh-CN" b="1" dirty="0">
                  <a:solidFill>
                    <a:srgbClr val="0000FF"/>
                  </a:solidFill>
                  <a:effectLst/>
                </a:endParaRPr>
              </a:p>
              <a:p>
                <a:pPr marL="0" indent="0" algn="ctr">
                  <a:lnSpc>
                    <a:spcPct val="150000"/>
                  </a:lnSpc>
                  <a:buNone/>
                </a:pPr>
                <a14:m>
                  <m:oMathPara xmlns:m="http://schemas.openxmlformats.org/officeDocument/2006/math">
                    <m:oMathParaPr>
                      <m:jc m:val="centerGroup"/>
                    </m:oMathParaPr>
                    <m:oMath xmlns:m="http://schemas.openxmlformats.org/officeDocument/2006/math">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𝟕</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𝟏𝟎</m:t>
                      </m:r>
                      <m:r>
                        <a:rPr lang="zh-CN" altLang="zh-CN" b="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𝟖</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𝟗</m:t>
                      </m:r>
                      <m:r>
                        <a:rPr lang="zh-CN" altLang="zh-CN" b="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𝟗</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𝟏𝟐</m:t>
                      </m:r>
                      <m:r>
                        <a:rPr lang="zh-CN" altLang="zh-CN" b="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𝐞</m:t>
                      </m:r>
                      <m:d>
                        <m:dPr>
                          <m:ctrlPr>
                            <a:rPr lang="zh-CN" altLang="zh-CN" b="1" i="1">
                              <a:solidFill>
                                <a:srgbClr val="0000FF"/>
                              </a:solidFill>
                              <a:effectLst/>
                              <a:latin typeface="Cambria Math" panose="02040503050406030204" pitchFamily="18" charset="0"/>
                            </a:rPr>
                          </m:ctrlPr>
                        </m:dPr>
                        <m:e>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𝟏𝟎</m:t>
                              </m:r>
                            </m:sub>
                          </m:sSub>
                        </m:e>
                      </m:d>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𝟏𝟑</m:t>
                      </m:r>
                    </m:oMath>
                  </m:oMathPara>
                </a14:m>
                <a:endParaRPr lang="en-US" altLang="zh-CN" b="1" dirty="0">
                  <a:solidFill>
                    <a:schemeClr val="tx1"/>
                  </a:solidFill>
                  <a:effectLst/>
                </a:endParaRPr>
              </a:p>
              <a:p>
                <a:pPr marL="0" indent="0">
                  <a:lnSpc>
                    <a:spcPct val="150000"/>
                  </a:lnSpc>
                  <a:buNone/>
                </a:pPr>
                <a:r>
                  <a:rPr lang="en-US" altLang="zh-CN" b="1" dirty="0">
                    <a:effectLst/>
                  </a:rPr>
                  <a:t>       </a:t>
                </a:r>
                <a:r>
                  <a:rPr lang="zh-CN" altLang="zh-CN" b="1" dirty="0">
                    <a:solidFill>
                      <a:schemeClr val="tx1"/>
                    </a:solidFill>
                    <a:effectLst/>
                  </a:rPr>
                  <a:t>易知，</a:t>
                </a:r>
                <a:r>
                  <a:rPr lang="zh-CN" altLang="en-US" b="1" dirty="0">
                    <a:solidFill>
                      <a:srgbClr val="0000FF"/>
                    </a:solidFill>
                    <a:effectLst/>
                  </a:rPr>
                  <a:t>结</a:t>
                </a:r>
                <a:r>
                  <a:rPr lang="zh-CN" altLang="zh-CN" b="1" dirty="0">
                    <a:solidFill>
                      <a:srgbClr val="0000FF"/>
                    </a:solidFill>
                    <a:effectLst/>
                  </a:rPr>
                  <a:t>点</a:t>
                </a:r>
                <a14:m>
                  <m:oMath xmlns:m="http://schemas.openxmlformats.org/officeDocument/2006/math">
                    <m:sSub>
                      <m:sSubPr>
                        <m:ctrlPr>
                          <a:rPr lang="zh-CN" altLang="zh-CN" b="1" i="1">
                            <a:solidFill>
                              <a:srgbClr val="0000FF"/>
                            </a:solidFill>
                            <a:effectLst/>
                            <a:latin typeface="Cambria Math" panose="02040503050406030204" pitchFamily="18" charset="0"/>
                          </a:rPr>
                        </m:ctrlPr>
                      </m:sSubPr>
                      <m:e>
                        <m:r>
                          <a:rPr lang="en-US" altLang="zh-CN" b="1" i="1">
                            <a:solidFill>
                              <a:srgbClr val="0000FF"/>
                            </a:solidFill>
                            <a:effectLst/>
                            <a:latin typeface="Cambria Math" panose="02040503050406030204" pitchFamily="18" charset="0"/>
                          </a:rPr>
                          <m:t>𝒗</m:t>
                        </m:r>
                      </m:e>
                      <m:sub>
                        <m:r>
                          <a:rPr lang="en-US" altLang="zh-CN" b="1" i="1">
                            <a:solidFill>
                              <a:srgbClr val="0000FF"/>
                            </a:solidFill>
                            <a:effectLst/>
                            <a:latin typeface="Cambria Math" panose="02040503050406030204" pitchFamily="18" charset="0"/>
                          </a:rPr>
                          <m:t>𝟒</m:t>
                        </m:r>
                      </m:sub>
                    </m:sSub>
                  </m:oMath>
                </a14:m>
                <a:r>
                  <a:rPr lang="zh-CN" altLang="zh-CN" b="1" dirty="0">
                    <a:solidFill>
                      <a:srgbClr val="0000FF"/>
                    </a:solidFill>
                    <a:effectLst/>
                  </a:rPr>
                  <a:t>具有最小的最大服务距离</a:t>
                </a:r>
                <a:r>
                  <a:rPr lang="zh-CN" altLang="en-US" b="1" dirty="0">
                    <a:effectLst/>
                  </a:rPr>
                  <a:t>。</a:t>
                </a:r>
                <a:r>
                  <a:rPr lang="zh-CN" altLang="zh-CN" b="1" dirty="0">
                    <a:solidFill>
                      <a:schemeClr val="tx1"/>
                    </a:solidFill>
                    <a:effectLst/>
                  </a:rPr>
                  <a:t>因此，消防站选址应选在</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𝟒</m:t>
                        </m:r>
                      </m:sub>
                    </m:sSub>
                  </m:oMath>
                </a14:m>
                <a:r>
                  <a:rPr lang="zh-CN" altLang="zh-CN" b="1" dirty="0">
                    <a:solidFill>
                      <a:schemeClr val="tx1"/>
                    </a:solidFill>
                    <a:effectLst/>
                  </a:rPr>
                  <a:t>出最为合理，</a:t>
                </a:r>
                <a:r>
                  <a:rPr lang="zh-CN" altLang="zh-CN" b="1" dirty="0">
                    <a:solidFill>
                      <a:srgbClr val="0000FF"/>
                    </a:solidFill>
                    <a:effectLst/>
                  </a:rPr>
                  <a:t>如</a:t>
                </a:r>
                <a:r>
                  <a:rPr lang="zh-CN" altLang="en-US" b="1" dirty="0">
                    <a:solidFill>
                      <a:srgbClr val="0000FF"/>
                    </a:solidFill>
                    <a:effectLst/>
                  </a:rPr>
                  <a:t>下</a:t>
                </a:r>
                <a:r>
                  <a:rPr lang="zh-CN" altLang="zh-CN" b="1" dirty="0">
                    <a:solidFill>
                      <a:srgbClr val="0000FF"/>
                    </a:solidFill>
                    <a:effectLst/>
                  </a:rPr>
                  <a:t>图所示</a:t>
                </a:r>
                <a:r>
                  <a:rPr lang="zh-CN" altLang="zh-CN" b="1" dirty="0">
                    <a:solidFill>
                      <a:schemeClr val="tx1"/>
                    </a:solidFill>
                    <a:effectLst/>
                  </a:rPr>
                  <a:t>。</a:t>
                </a:r>
                <a:endParaRPr lang="zh-CN" altLang="zh-CN" b="1" dirty="0">
                  <a:solidFill>
                    <a:srgbClr val="0000FF"/>
                  </a:solidFill>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467866" y="1628800"/>
                <a:ext cx="8208267" cy="4608512"/>
              </a:xfrm>
              <a:blipFill>
                <a:blip r:embed="rId2"/>
                <a:stretch>
                  <a:fillRect l="-1189" r="-520" b="-2116"/>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3169504"/>
      </p:ext>
    </p:extLst>
  </p:cSld>
  <p:clrMapOvr>
    <a:masterClrMapping/>
  </p:clrMapOvr>
  <p:transition spd="med">
    <p:wipe dir="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6F150927-9669-43E2-9758-B43578285AF9}"/>
              </a:ext>
            </a:extLst>
          </p:cNvPr>
          <p:cNvPicPr>
            <a:picLocks noChangeAspect="1"/>
          </p:cNvPicPr>
          <p:nvPr/>
        </p:nvPicPr>
        <p:blipFill>
          <a:blip r:embed="rId4"/>
          <a:stretch>
            <a:fillRect/>
          </a:stretch>
        </p:blipFill>
        <p:spPr>
          <a:xfrm>
            <a:off x="428968" y="1751478"/>
            <a:ext cx="8698130" cy="4427900"/>
          </a:xfrm>
          <a:prstGeom prst="rect">
            <a:avLst/>
          </a:prstGeom>
        </p:spPr>
      </p:pic>
    </p:spTree>
    <p:extLst>
      <p:ext uri="{BB962C8B-B14F-4D97-AF65-F5344CB8AC3E}">
        <p14:creationId xmlns:p14="http://schemas.microsoft.com/office/powerpoint/2010/main" val="2090634400"/>
      </p:ext>
    </p:extLst>
  </p:cSld>
  <p:clrMapOvr>
    <a:masterClrMapping/>
  </p:clrMapOvr>
  <p:transition spd="med">
    <p:wipe dir="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52662" y="476673"/>
            <a:ext cx="1095343" cy="1152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6168564C-783A-43E7-9B81-ED117387A9D7}"/>
              </a:ext>
            </a:extLst>
          </p:cNvPr>
          <p:cNvPicPr>
            <a:picLocks noChangeAspect="1"/>
          </p:cNvPicPr>
          <p:nvPr/>
        </p:nvPicPr>
        <p:blipFill>
          <a:blip r:embed="rId4"/>
          <a:stretch>
            <a:fillRect/>
          </a:stretch>
        </p:blipFill>
        <p:spPr>
          <a:xfrm>
            <a:off x="363652" y="1772816"/>
            <a:ext cx="8553311" cy="4508289"/>
          </a:xfrm>
          <a:prstGeom prst="rect">
            <a:avLst/>
          </a:prstGeom>
        </p:spPr>
      </p:pic>
    </p:spTree>
    <p:extLst>
      <p:ext uri="{BB962C8B-B14F-4D97-AF65-F5344CB8AC3E}">
        <p14:creationId xmlns:p14="http://schemas.microsoft.com/office/powerpoint/2010/main" val="1312860175"/>
      </p:ext>
    </p:extLst>
  </p:cSld>
  <p:clrMapOvr>
    <a:masterClrMapping/>
  </p:clrMapOvr>
  <p:transition spd="med">
    <p:wipe dir="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例  题</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0753FB06-DD84-45A2-812B-5DDFA178C6F7}"/>
              </a:ext>
            </a:extLst>
          </p:cNvPr>
          <p:cNvPicPr>
            <a:picLocks noChangeAspect="1"/>
          </p:cNvPicPr>
          <p:nvPr/>
        </p:nvPicPr>
        <p:blipFill>
          <a:blip r:embed="rId4"/>
          <a:stretch>
            <a:fillRect/>
          </a:stretch>
        </p:blipFill>
        <p:spPr>
          <a:xfrm>
            <a:off x="1603806" y="1760532"/>
            <a:ext cx="5887615" cy="4304795"/>
          </a:xfrm>
          <a:prstGeom prst="rect">
            <a:avLst/>
          </a:prstGeom>
        </p:spPr>
      </p:pic>
    </p:spTree>
    <p:extLst>
      <p:ext uri="{BB962C8B-B14F-4D97-AF65-F5344CB8AC3E}">
        <p14:creationId xmlns:p14="http://schemas.microsoft.com/office/powerpoint/2010/main" val="2200472631"/>
      </p:ext>
    </p:extLst>
  </p:cSld>
  <p:clrMapOvr>
    <a:masterClrMapping/>
  </p:clrMapOvr>
  <p:transition spd="med">
    <p:wipe dir="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日期占位符 3">
            <a:extLst>
              <a:ext uri="{FF2B5EF4-FFF2-40B4-BE49-F238E27FC236}">
                <a16:creationId xmlns:a16="http://schemas.microsoft.com/office/drawing/2014/main" id="{56FAC4DB-F9D7-48FC-9A4E-76FC33D42E17}"/>
              </a:ext>
            </a:extLst>
          </p:cNvPr>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79394543-BB75-4076-8E79-ADD241C42375}"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68966" name="Text Box 2">
            <a:extLst>
              <a:ext uri="{FF2B5EF4-FFF2-40B4-BE49-F238E27FC236}">
                <a16:creationId xmlns:a16="http://schemas.microsoft.com/office/drawing/2014/main" id="{460AC9C8-69EA-45F5-A914-8D8E39D11A16}"/>
              </a:ext>
            </a:extLst>
          </p:cNvPr>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本章内容</a:t>
            </a:r>
            <a:r>
              <a:rPr lang="en-US" altLang="zh-CN" sz="5400" b="1" dirty="0">
                <a:solidFill>
                  <a:schemeClr val="bg1"/>
                </a:solidFill>
                <a:latin typeface="宋体" panose="02010600030101010101" pitchFamily="2" charset="-122"/>
                <a:ea typeface="宋体" panose="02010600030101010101" pitchFamily="2" charset="-122"/>
              </a:rPr>
              <a:t>(</a:t>
            </a:r>
            <a:r>
              <a:rPr lang="zh-CN" altLang="en-US" sz="5400" b="1" dirty="0">
                <a:solidFill>
                  <a:schemeClr val="bg1"/>
                </a:solidFill>
                <a:latin typeface="宋体" panose="02010600030101010101" pitchFamily="2" charset="-122"/>
                <a:ea typeface="宋体" panose="02010600030101010101" pitchFamily="2" charset="-122"/>
              </a:rPr>
              <a:t>下</a:t>
            </a:r>
            <a:r>
              <a:rPr lang="en-US" altLang="zh-CN" sz="5400" b="1" dirty="0">
                <a:solidFill>
                  <a:schemeClr val="bg1"/>
                </a:solidFill>
                <a:latin typeface="宋体" panose="02010600030101010101" pitchFamily="2" charset="-122"/>
                <a:ea typeface="宋体" panose="02010600030101010101" pitchFamily="2" charset="-122"/>
              </a:rPr>
              <a:t>)</a:t>
            </a:r>
            <a:endParaRPr lang="en-US" altLang="zh-CN" sz="2800" dirty="0">
              <a:latin typeface="Times New Roman" panose="02020603050405020304" pitchFamily="18" charset="0"/>
              <a:ea typeface="宋体" panose="02010600030101010101" pitchFamily="2" charset="-122"/>
            </a:endParaRPr>
          </a:p>
        </p:txBody>
      </p:sp>
      <p:grpSp>
        <p:nvGrpSpPr>
          <p:cNvPr id="2" name="组合 1">
            <a:extLst>
              <a:ext uri="{FF2B5EF4-FFF2-40B4-BE49-F238E27FC236}">
                <a16:creationId xmlns:a16="http://schemas.microsoft.com/office/drawing/2014/main" id="{4205FCC8-6EDB-413C-A468-15C1B685FF9C}"/>
              </a:ext>
            </a:extLst>
          </p:cNvPr>
          <p:cNvGrpSpPr/>
          <p:nvPr/>
        </p:nvGrpSpPr>
        <p:grpSpPr>
          <a:xfrm>
            <a:off x="2555776" y="2420888"/>
            <a:ext cx="4652963" cy="3127375"/>
            <a:chOff x="2503489" y="2717800"/>
            <a:chExt cx="4652963" cy="3127375"/>
          </a:xfrm>
        </p:grpSpPr>
        <p:sp>
          <p:nvSpPr>
            <p:cNvPr id="13" name="AutoShape 14">
              <a:extLst>
                <a:ext uri="{FF2B5EF4-FFF2-40B4-BE49-F238E27FC236}">
                  <a16:creationId xmlns:a16="http://schemas.microsoft.com/office/drawing/2014/main" id="{23BBA3B6-67EC-43E3-8DC2-B68BD729785F}"/>
                </a:ext>
              </a:extLst>
            </p:cNvPr>
            <p:cNvSpPr>
              <a:spLocks noChangeArrowheads="1"/>
            </p:cNvSpPr>
            <p:nvPr/>
          </p:nvSpPr>
          <p:spPr bwMode="gray">
            <a:xfrm>
              <a:off x="2808288" y="4002088"/>
              <a:ext cx="4343400" cy="590550"/>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168963" name="AutoShape 15">
              <a:extLst>
                <a:ext uri="{FF2B5EF4-FFF2-40B4-BE49-F238E27FC236}">
                  <a16:creationId xmlns:a16="http://schemas.microsoft.com/office/drawing/2014/main" id="{DBE527ED-36E0-4684-A4C2-78A85DF36F67}"/>
                </a:ext>
              </a:extLst>
            </p:cNvPr>
            <p:cNvSpPr>
              <a:spLocks noChangeArrowheads="1"/>
            </p:cNvSpPr>
            <p:nvPr/>
          </p:nvSpPr>
          <p:spPr bwMode="gray">
            <a:xfrm>
              <a:off x="2515913" y="3837125"/>
              <a:ext cx="685800" cy="881063"/>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grpSp>
          <p:nvGrpSpPr>
            <p:cNvPr id="168965" name="Group 18">
              <a:extLst>
                <a:ext uri="{FF2B5EF4-FFF2-40B4-BE49-F238E27FC236}">
                  <a16:creationId xmlns:a16="http://schemas.microsoft.com/office/drawing/2014/main" id="{AF2D0104-9A43-4C70-B978-3573277AA24C}"/>
                </a:ext>
              </a:extLst>
            </p:cNvPr>
            <p:cNvGrpSpPr>
              <a:grpSpLocks/>
            </p:cNvGrpSpPr>
            <p:nvPr/>
          </p:nvGrpSpPr>
          <p:grpSpPr bwMode="auto">
            <a:xfrm>
              <a:off x="2503489" y="2717800"/>
              <a:ext cx="4652963" cy="3127375"/>
              <a:chOff x="1540" y="1661"/>
              <a:chExt cx="2931" cy="1970"/>
            </a:xfrm>
          </p:grpSpPr>
          <p:sp>
            <p:nvSpPr>
              <p:cNvPr id="1170441" name="AutoShape 9">
                <a:extLst>
                  <a:ext uri="{FF2B5EF4-FFF2-40B4-BE49-F238E27FC236}">
                    <a16:creationId xmlns:a16="http://schemas.microsoft.com/office/drawing/2014/main" id="{2303DCF8-1F78-4FE9-8FB0-1301F5173605}"/>
                  </a:ext>
                </a:extLst>
              </p:cNvPr>
              <p:cNvSpPr>
                <a:spLocks noChangeArrowheads="1"/>
              </p:cNvSpPr>
              <p:nvPr/>
            </p:nvSpPr>
            <p:spPr bwMode="gray">
              <a:xfrm>
                <a:off x="1760" y="1760"/>
                <a:ext cx="2711"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168970" name="AutoShape 10">
                <a:extLst>
                  <a:ext uri="{FF2B5EF4-FFF2-40B4-BE49-F238E27FC236}">
                    <a16:creationId xmlns:a16="http://schemas.microsoft.com/office/drawing/2014/main" id="{2CDE2144-2F7E-484C-BA0C-206EB0468332}"/>
                  </a:ext>
                </a:extLst>
              </p:cNvPr>
              <p:cNvSpPr>
                <a:spLocks noChangeArrowheads="1"/>
              </p:cNvSpPr>
              <p:nvPr/>
            </p:nvSpPr>
            <p:spPr bwMode="gray">
              <a:xfrm>
                <a:off x="1540" y="1661"/>
                <a:ext cx="428" cy="573"/>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8971" name="Text Box 11">
                <a:extLst>
                  <a:ext uri="{FF2B5EF4-FFF2-40B4-BE49-F238E27FC236}">
                    <a16:creationId xmlns:a16="http://schemas.microsoft.com/office/drawing/2014/main" id="{603E9E4A-BE60-4517-AEA2-7486900D4ADA}"/>
                  </a:ext>
                </a:extLst>
              </p:cNvPr>
              <p:cNvSpPr txBox="1">
                <a:spLocks noChangeArrowheads="1"/>
              </p:cNvSpPr>
              <p:nvPr/>
            </p:nvSpPr>
            <p:spPr bwMode="gray">
              <a:xfrm>
                <a:off x="1994" y="1807"/>
                <a:ext cx="22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ea typeface="黑体" panose="02010609060101010101" pitchFamily="49" charset="-122"/>
                  </a:rPr>
                  <a:t>通路与连通性</a:t>
                </a:r>
              </a:p>
            </p:txBody>
          </p:sp>
          <p:sp>
            <p:nvSpPr>
              <p:cNvPr id="168972" name="Text Box 12">
                <a:extLst>
                  <a:ext uri="{FF2B5EF4-FFF2-40B4-BE49-F238E27FC236}">
                    <a16:creationId xmlns:a16="http://schemas.microsoft.com/office/drawing/2014/main" id="{21C2AB06-AE6D-456D-9035-BC311103D83D}"/>
                  </a:ext>
                </a:extLst>
              </p:cNvPr>
              <p:cNvSpPr txBox="1">
                <a:spLocks noChangeArrowheads="1"/>
              </p:cNvSpPr>
              <p:nvPr/>
            </p:nvSpPr>
            <p:spPr bwMode="gray">
              <a:xfrm>
                <a:off x="1643" y="1782"/>
                <a:ext cx="226"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dirty="0">
                    <a:solidFill>
                      <a:schemeClr val="bg1"/>
                    </a:solidFill>
                    <a:latin typeface="黑体" panose="02010609060101010101" pitchFamily="49" charset="-122"/>
                  </a:rPr>
                  <a:t>1</a:t>
                </a:r>
              </a:p>
            </p:txBody>
          </p:sp>
          <p:sp>
            <p:nvSpPr>
              <p:cNvPr id="168973" name="AutoShape 19">
                <a:extLst>
                  <a:ext uri="{FF2B5EF4-FFF2-40B4-BE49-F238E27FC236}">
                    <a16:creationId xmlns:a16="http://schemas.microsoft.com/office/drawing/2014/main" id="{5BCF8AB8-78D1-4F9B-B667-1E1CF6CD5AC8}"/>
                  </a:ext>
                </a:extLst>
              </p:cNvPr>
              <p:cNvSpPr>
                <a:spLocks noChangeArrowheads="1"/>
              </p:cNvSpPr>
              <p:nvPr/>
            </p:nvSpPr>
            <p:spPr bwMode="gray">
              <a:xfrm>
                <a:off x="1725" y="3169"/>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8974" name="AutoShape 20">
                <a:extLst>
                  <a:ext uri="{FF2B5EF4-FFF2-40B4-BE49-F238E27FC236}">
                    <a16:creationId xmlns:a16="http://schemas.microsoft.com/office/drawing/2014/main" id="{394C39E8-2769-44D2-BB72-E81ED14999A0}"/>
                  </a:ext>
                </a:extLst>
              </p:cNvPr>
              <p:cNvSpPr>
                <a:spLocks noChangeArrowheads="1"/>
              </p:cNvSpPr>
              <p:nvPr/>
            </p:nvSpPr>
            <p:spPr bwMode="gray">
              <a:xfrm>
                <a:off x="1545" y="3070"/>
                <a:ext cx="432" cy="561"/>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68975" name="Text Box 21">
                <a:extLst>
                  <a:ext uri="{FF2B5EF4-FFF2-40B4-BE49-F238E27FC236}">
                    <a16:creationId xmlns:a16="http://schemas.microsoft.com/office/drawing/2014/main" id="{F5B24090-E809-4FB9-871B-18850E23C8E8}"/>
                  </a:ext>
                </a:extLst>
              </p:cNvPr>
              <p:cNvSpPr txBox="1">
                <a:spLocks noChangeArrowheads="1"/>
              </p:cNvSpPr>
              <p:nvPr/>
            </p:nvSpPr>
            <p:spPr bwMode="gray">
              <a:xfrm>
                <a:off x="2066" y="2474"/>
                <a:ext cx="21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ea typeface="黑体" panose="02010609060101010101" pitchFamily="49" charset="-122"/>
                  </a:rPr>
                  <a:t>图的基本算法</a:t>
                </a:r>
              </a:p>
            </p:txBody>
          </p:sp>
          <p:sp>
            <p:nvSpPr>
              <p:cNvPr id="168976" name="Text Box 22">
                <a:extLst>
                  <a:ext uri="{FF2B5EF4-FFF2-40B4-BE49-F238E27FC236}">
                    <a16:creationId xmlns:a16="http://schemas.microsoft.com/office/drawing/2014/main" id="{82F85AD7-59E6-4312-8CD2-4AF28BB247E2}"/>
                  </a:ext>
                </a:extLst>
              </p:cNvPr>
              <p:cNvSpPr txBox="1">
                <a:spLocks noChangeArrowheads="1"/>
              </p:cNvSpPr>
              <p:nvPr/>
            </p:nvSpPr>
            <p:spPr bwMode="gray">
              <a:xfrm>
                <a:off x="1659" y="2448"/>
                <a:ext cx="226"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2</a:t>
                </a:r>
              </a:p>
            </p:txBody>
          </p:sp>
        </p:grpSp>
        <p:sp>
          <p:nvSpPr>
            <p:cNvPr id="168967" name="Text Box 17">
              <a:extLst>
                <a:ext uri="{FF2B5EF4-FFF2-40B4-BE49-F238E27FC236}">
                  <a16:creationId xmlns:a16="http://schemas.microsoft.com/office/drawing/2014/main" id="{E08B5CC6-87BB-4E69-AB64-24BD39D6B523}"/>
                </a:ext>
              </a:extLst>
            </p:cNvPr>
            <p:cNvSpPr txBox="1">
              <a:spLocks noChangeArrowheads="1"/>
            </p:cNvSpPr>
            <p:nvPr/>
          </p:nvSpPr>
          <p:spPr bwMode="gray">
            <a:xfrm>
              <a:off x="2670175" y="507365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3</a:t>
              </a:r>
            </a:p>
          </p:txBody>
        </p:sp>
        <p:sp>
          <p:nvSpPr>
            <p:cNvPr id="168968" name="Text Box 21">
              <a:extLst>
                <a:ext uri="{FF2B5EF4-FFF2-40B4-BE49-F238E27FC236}">
                  <a16:creationId xmlns:a16="http://schemas.microsoft.com/office/drawing/2014/main" id="{463A5723-97A2-4576-B336-6CA51F28CA4F}"/>
                </a:ext>
              </a:extLst>
            </p:cNvPr>
            <p:cNvSpPr txBox="1">
              <a:spLocks noChangeArrowheads="1"/>
            </p:cNvSpPr>
            <p:nvPr/>
          </p:nvSpPr>
          <p:spPr bwMode="gray">
            <a:xfrm>
              <a:off x="3227388" y="5110163"/>
              <a:ext cx="342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ea typeface="黑体" panose="02010609060101010101" pitchFamily="49" charset="-122"/>
                </a:rPr>
                <a:t> 图模型的应用</a:t>
              </a:r>
            </a:p>
          </p:txBody>
        </p:sp>
      </p:grpSp>
    </p:spTree>
  </p:cSld>
  <p:clrMapOvr>
    <a:masterClrMapping/>
  </p:clrMapOvr>
  <p:transition spd="med">
    <p:wipe dir="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0EF63B95-CEEE-452F-A1BF-6F35335C22F2}"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379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379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087295F5-B732-4FA7-8470-0A815CEF7876}"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153</a:t>
            </a:fld>
            <a:endParaRPr lang="en-US" altLang="zh-CN" sz="1400" b="1">
              <a:latin typeface="Times New Roman" panose="02020603050405020304" pitchFamily="18" charset="0"/>
              <a:ea typeface="宋体" panose="02010600030101010101" pitchFamily="2" charset="-122"/>
            </a:endParaRPr>
          </a:p>
        </p:txBody>
      </p:sp>
      <p:sp>
        <p:nvSpPr>
          <p:cNvPr id="33797" name="Rectangle 4"/>
          <p:cNvSpPr>
            <a:spLocks noGrp="1" noChangeArrowheads="1"/>
          </p:cNvSpPr>
          <p:nvPr>
            <p:ph type="ctrTitle" idx="4294967295"/>
          </p:nvPr>
        </p:nvSpPr>
        <p:spPr>
          <a:xfrm>
            <a:off x="1190625" y="2565400"/>
            <a:ext cx="7197725" cy="1439863"/>
          </a:xfrm>
          <a:solidFill>
            <a:srgbClr val="0000FF"/>
          </a:solidFill>
        </p:spPr>
        <p:txBody>
          <a:bodyPr/>
          <a:lstStyle/>
          <a:p>
            <a:pPr eaLnBrk="1" hangingPunct="1"/>
            <a:r>
              <a:rPr lang="zh-CN" altLang="en-US" sz="6600" b="1" dirty="0">
                <a:solidFill>
                  <a:schemeClr val="bg1"/>
                </a:solidFill>
              </a:rPr>
              <a:t>图模型的应用</a:t>
            </a:r>
          </a:p>
        </p:txBody>
      </p:sp>
      <p:pic>
        <p:nvPicPr>
          <p:cNvPr id="33798"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3553465"/>
      </p:ext>
    </p:extLst>
  </p:cSld>
  <p:clrMapOvr>
    <a:masterClrMapping/>
  </p:clrMapOvr>
  <p:transition spd="med">
    <p:wipe dir="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154</a:t>
            </a:fld>
            <a:endParaRPr lang="en-US" altLang="zh-CN" sz="1400" b="1">
              <a:latin typeface="Times New Roman" panose="02020603050405020304" pitchFamily="18" charset="0"/>
              <a:ea typeface="宋体" panose="02010600030101010101" pitchFamily="2" charset="-122"/>
            </a:endParaRPr>
          </a:p>
        </p:txBody>
      </p:sp>
      <p:sp>
        <p:nvSpPr>
          <p:cNvPr id="34821" name="Text Box 2"/>
          <p:cNvSpPr txBox="1">
            <a:spLocks noChangeArrowheads="1"/>
          </p:cNvSpPr>
          <p:nvPr/>
        </p:nvSpPr>
        <p:spPr bwMode="auto">
          <a:xfrm>
            <a:off x="1403350" y="836613"/>
            <a:ext cx="70866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mj-ea"/>
                <a:ea typeface="+mj-ea"/>
              </a:rPr>
              <a:t> 图模型的应用</a:t>
            </a:r>
          </a:p>
        </p:txBody>
      </p:sp>
      <p:sp>
        <p:nvSpPr>
          <p:cNvPr id="34822" name="Rectangle 3"/>
          <p:cNvSpPr>
            <a:spLocks noGrp="1" noChangeArrowheads="1"/>
          </p:cNvSpPr>
          <p:nvPr>
            <p:ph type="body" idx="4294967295"/>
          </p:nvPr>
        </p:nvSpPr>
        <p:spPr>
          <a:xfrm>
            <a:off x="2617916" y="2639836"/>
            <a:ext cx="4537075" cy="2750145"/>
          </a:xfrm>
          <a:noFill/>
        </p:spPr>
        <p:txBody>
          <a:bodyPr lIns="92075" tIns="46038" rIns="92075" bIns="46038"/>
          <a:lstStyle/>
          <a:p>
            <a:pPr eaLnBrk="1" hangingPunct="1">
              <a:lnSpc>
                <a:spcPct val="140000"/>
              </a:lnSpc>
              <a:buFont typeface="Wingdings" panose="05000000000000000000" pitchFamily="2" charset="2"/>
              <a:buChar char="J"/>
            </a:pPr>
            <a:r>
              <a:rPr lang="en-US" altLang="zh-CN" sz="3600" b="1" dirty="0">
                <a:solidFill>
                  <a:srgbClr val="0000FF"/>
                </a:solidFill>
                <a:effectLst/>
                <a:latin typeface="黑体" panose="02010609060101010101" pitchFamily="49" charset="-122"/>
                <a:ea typeface="黑体" panose="02010609060101010101" pitchFamily="49" charset="-122"/>
                <a:cs typeface="楷体_GB2312" pitchFamily="49" charset="-122"/>
              </a:rPr>
              <a:t> </a:t>
            </a:r>
            <a:r>
              <a:rPr lang="zh-CN" altLang="en-US" sz="3600" b="1" dirty="0">
                <a:solidFill>
                  <a:srgbClr val="0000FF"/>
                </a:solidFill>
                <a:effectLst/>
                <a:latin typeface="黑体" panose="02010609060101010101" pitchFamily="49" charset="-122"/>
                <a:ea typeface="黑体" panose="02010609060101010101" pitchFamily="49" charset="-122"/>
                <a:cs typeface="楷体_GB2312" pitchFamily="49" charset="-122"/>
              </a:rPr>
              <a:t>交通灯相位问题</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作业规划问题</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机器学习的图模型</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3142356"/>
      </p:ext>
    </p:extLst>
  </p:cSld>
  <p:clrMapOvr>
    <a:masterClrMapping/>
  </p:clrMapOvr>
  <p:transition spd="med">
    <p:wipe dir="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219" name="Rectangle 3"/>
          <p:cNvSpPr>
            <a:spLocks noGrp="1" noChangeArrowheads="1"/>
          </p:cNvSpPr>
          <p:nvPr>
            <p:ph idx="1"/>
          </p:nvPr>
        </p:nvSpPr>
        <p:spPr>
          <a:xfrm>
            <a:off x="539551" y="1772816"/>
            <a:ext cx="8352929" cy="4392488"/>
          </a:xfrm>
          <a:solidFill>
            <a:schemeClr val="accent5"/>
          </a:solidFill>
          <a:ln w="19050">
            <a:noFill/>
          </a:ln>
        </p:spPr>
        <p:txBody>
          <a:bodyPr/>
          <a:lstStyle/>
          <a:p>
            <a:pPr marL="0" indent="0">
              <a:lnSpc>
                <a:spcPts val="3600"/>
              </a:lnSpc>
              <a:spcBef>
                <a:spcPts val="1200"/>
              </a:spcBef>
              <a:buNone/>
            </a:pPr>
            <a:r>
              <a:rPr lang="en-US" altLang="zh-CN" b="1" dirty="0">
                <a:solidFill>
                  <a:srgbClr val="FF0000"/>
                </a:solidFill>
                <a:latin typeface="Times New Roman" panose="02020603050405020304" pitchFamily="18" charset="0"/>
                <a:cs typeface="楷体_GB2312" pitchFamily="49" charset="-122"/>
              </a:rPr>
              <a:t>     </a:t>
            </a:r>
            <a:r>
              <a:rPr lang="en-US" altLang="zh-CN" b="1" dirty="0">
                <a:solidFill>
                  <a:srgbClr val="FF0000"/>
                </a:solidFill>
                <a:effectLst/>
                <a:latin typeface="Times New Roman" panose="02020603050405020304" pitchFamily="18" charset="0"/>
                <a:cs typeface="楷体_GB2312" pitchFamily="49" charset="-122"/>
              </a:rPr>
              <a:t>【</a:t>
            </a:r>
            <a:r>
              <a:rPr lang="zh-CN" altLang="en-US" b="1" dirty="0">
                <a:solidFill>
                  <a:srgbClr val="FF0000"/>
                </a:solidFill>
                <a:effectLst/>
                <a:latin typeface="Times New Roman" panose="02020603050405020304" pitchFamily="18" charset="0"/>
                <a:cs typeface="楷体_GB2312" pitchFamily="49" charset="-122"/>
              </a:rPr>
              <a:t>问题描述</a:t>
            </a:r>
            <a:r>
              <a:rPr lang="en-US" altLang="zh-CN" b="1" dirty="0">
                <a:solidFill>
                  <a:srgbClr val="FF0000"/>
                </a:solidFill>
                <a:effectLst/>
                <a:latin typeface="Times New Roman" panose="02020603050405020304" pitchFamily="18" charset="0"/>
                <a:cs typeface="楷体_GB2312" pitchFamily="49" charset="-122"/>
              </a:rPr>
              <a:t>】</a:t>
            </a:r>
            <a:r>
              <a:rPr lang="zh-CN" altLang="zh-CN" b="1" dirty="0">
                <a:solidFill>
                  <a:schemeClr val="accent6">
                    <a:lumMod val="50000"/>
                  </a:schemeClr>
                </a:solidFill>
                <a:effectLst/>
              </a:rPr>
              <a:t>现实生活中，为了避免不同方向交通流之间的相互冲突，可以通过在时间上给各个方向交通流分配相应的通行权。例如，为了放行东西向的直行车流且同时避免南北向的直行、左转车流与其发生冲突，可以通过启亮东西向的绿色直行箭头灯将路口的通行权赋予东西向的直行车流，启亮南北向的红灯消除南北向直行、左转车流对东西向直行车流通行的影响。</a:t>
            </a:r>
          </a:p>
          <a:p>
            <a:pPr marL="0" indent="0">
              <a:lnSpc>
                <a:spcPts val="3600"/>
              </a:lnSpc>
              <a:spcBef>
                <a:spcPts val="1200"/>
              </a:spcBef>
              <a:buNone/>
            </a:pPr>
            <a:r>
              <a:rPr lang="en-US" altLang="zh-CN" dirty="0">
                <a:solidFill>
                  <a:schemeClr val="accent2"/>
                </a:solidFill>
                <a:effectLst/>
              </a:rPr>
              <a:t>        </a:t>
            </a:r>
            <a:r>
              <a:rPr lang="zh-CN" altLang="zh-CN" dirty="0">
                <a:solidFill>
                  <a:schemeClr val="accent2"/>
                </a:solidFill>
                <a:effectLst/>
              </a:rPr>
              <a:t>对于一组互不冲突的交通流同时获得通行权所对应的信号显示状态，我们将其称之为</a:t>
            </a:r>
            <a:r>
              <a:rPr lang="zh-CN" altLang="zh-CN" b="1" dirty="0">
                <a:solidFill>
                  <a:schemeClr val="accent2"/>
                </a:solidFill>
                <a:effectLst/>
              </a:rPr>
              <a:t>信号相位</a:t>
            </a:r>
            <a:r>
              <a:rPr lang="zh-CN" altLang="zh-CN" dirty="0">
                <a:solidFill>
                  <a:schemeClr val="accent2"/>
                </a:solidFill>
                <a:effectLst/>
              </a:rPr>
              <a:t>，简称为</a:t>
            </a:r>
            <a:r>
              <a:rPr lang="zh-CN" altLang="zh-CN" b="1" dirty="0">
                <a:solidFill>
                  <a:schemeClr val="accent2"/>
                </a:solidFill>
                <a:effectLst/>
              </a:rPr>
              <a:t>相位</a:t>
            </a:r>
            <a:r>
              <a:rPr lang="zh-CN" altLang="zh-CN" dirty="0">
                <a:solidFill>
                  <a:schemeClr val="accent2"/>
                </a:solidFill>
                <a:effectLst/>
              </a:rPr>
              <a:t>。</a:t>
            </a:r>
            <a:endParaRPr lang="zh-CN" altLang="en-US" b="1" dirty="0">
              <a:solidFill>
                <a:schemeClr val="accent2"/>
              </a:solidFill>
              <a:effectLst/>
              <a:latin typeface="Times New Roman" panose="02020603050405020304" pitchFamily="18" charset="0"/>
              <a:cs typeface="楷体_GB2312" pitchFamily="49" charset="-122"/>
            </a:endParaRPr>
          </a:p>
        </p:txBody>
      </p:sp>
      <p:sp>
        <p:nvSpPr>
          <p:cNvPr id="183299"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3DE075-166B-493D-8B2F-91B7D5E14A7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3300" name="Text Box 2"/>
          <p:cNvSpPr txBox="1">
            <a:spLocks noChangeArrowheads="1"/>
          </p:cNvSpPr>
          <p:nvPr/>
        </p:nvSpPr>
        <p:spPr bwMode="auto">
          <a:xfrm>
            <a:off x="1331913" y="836613"/>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交通灯相位问题</a:t>
            </a:r>
          </a:p>
        </p:txBody>
      </p:sp>
      <p:pic>
        <p:nvPicPr>
          <p:cNvPr id="18330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6236623"/>
      </p:ext>
    </p:extLst>
  </p:cSld>
  <p:clrMapOvr>
    <a:masterClrMapping/>
  </p:clrMapOvr>
  <p:transition spd="med">
    <p:wipe dir="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219" name="Rectangle 3"/>
          <p:cNvSpPr>
            <a:spLocks noGrp="1" noChangeArrowheads="1"/>
          </p:cNvSpPr>
          <p:nvPr>
            <p:ph idx="1"/>
          </p:nvPr>
        </p:nvSpPr>
        <p:spPr>
          <a:xfrm>
            <a:off x="539552" y="1916832"/>
            <a:ext cx="8209408" cy="2016224"/>
          </a:xfrm>
          <a:solidFill>
            <a:schemeClr val="accent5">
              <a:lumMod val="20000"/>
              <a:lumOff val="80000"/>
            </a:schemeClr>
          </a:solidFill>
          <a:ln w="19050">
            <a:noFill/>
          </a:ln>
        </p:spPr>
        <p:txBody>
          <a:bodyPr/>
          <a:lstStyle/>
          <a:p>
            <a:pPr marL="0" indent="0">
              <a:buNone/>
            </a:pPr>
            <a:r>
              <a:rPr lang="en-US" altLang="zh-CN" sz="2000" b="1" dirty="0">
                <a:effectLst/>
                <a:latin typeface="Times New Roman" panose="02020603050405020304" pitchFamily="18" charset="0"/>
                <a:cs typeface="楷体_GB2312" pitchFamily="49" charset="-122"/>
              </a:rPr>
              <a:t>【</a:t>
            </a:r>
            <a:r>
              <a:rPr lang="zh-CN" altLang="en-US" sz="2000" b="1" dirty="0">
                <a:effectLst/>
                <a:latin typeface="Times New Roman" panose="02020603050405020304" pitchFamily="18" charset="0"/>
                <a:cs typeface="楷体_GB2312" pitchFamily="49" charset="-122"/>
              </a:rPr>
              <a:t>问题描述</a:t>
            </a:r>
            <a:r>
              <a:rPr lang="en-US" altLang="zh-CN" sz="2000" b="1" dirty="0">
                <a:effectLst/>
                <a:latin typeface="Times New Roman" panose="02020603050405020304" pitchFamily="18" charset="0"/>
                <a:cs typeface="楷体_GB2312" pitchFamily="49" charset="-122"/>
              </a:rPr>
              <a:t>】</a:t>
            </a:r>
            <a:r>
              <a:rPr lang="zh-CN" altLang="en-US" sz="2000" b="1" dirty="0">
                <a:effectLst/>
                <a:latin typeface="楷体" panose="02010609060101010101" pitchFamily="49" charset="-122"/>
                <a:ea typeface="楷体" panose="02010609060101010101" pitchFamily="49" charset="-122"/>
                <a:cs typeface="楷体_GB2312" pitchFamily="49" charset="-122"/>
              </a:rPr>
              <a:t>下</a:t>
            </a:r>
            <a:r>
              <a:rPr lang="zh-CN" altLang="zh-CN" sz="2000" b="1" dirty="0">
                <a:effectLst/>
                <a:latin typeface="楷体" panose="02010609060101010101" pitchFamily="49" charset="-122"/>
                <a:ea typeface="楷体" panose="02010609060101010101" pitchFamily="49" charset="-122"/>
              </a:rPr>
              <a:t>图就是一个采用</a:t>
            </a:r>
            <a:r>
              <a:rPr lang="en-US" altLang="zh-CN" sz="2000" b="1" dirty="0">
                <a:effectLst/>
                <a:latin typeface="楷体" panose="02010609060101010101" pitchFamily="49" charset="-122"/>
                <a:ea typeface="楷体" panose="02010609060101010101" pitchFamily="49" charset="-122"/>
              </a:rPr>
              <a:t>4</a:t>
            </a:r>
            <a:r>
              <a:rPr lang="zh-CN" altLang="zh-CN" sz="2000" b="1" dirty="0">
                <a:effectLst/>
                <a:latin typeface="楷体" panose="02010609060101010101" pitchFamily="49" charset="-122"/>
                <a:ea typeface="楷体" panose="02010609060101010101" pitchFamily="49" charset="-122"/>
              </a:rPr>
              <a:t>相位信号控制的控制方案。一个路口采用几相位的信号控制应由该路口的实际交通流状况决定，</a:t>
            </a:r>
            <a:r>
              <a:rPr lang="zh-CN" altLang="zh-CN" sz="2000" b="1" dirty="0">
                <a:solidFill>
                  <a:srgbClr val="CC00FF"/>
                </a:solidFill>
                <a:effectLst/>
                <a:latin typeface="楷体" panose="02010609060101010101" pitchFamily="49" charset="-122"/>
                <a:ea typeface="楷体" panose="02010609060101010101" pitchFamily="49" charset="-122"/>
              </a:rPr>
              <a:t>十字路口通常采用</a:t>
            </a:r>
            <a:r>
              <a:rPr lang="en-US" altLang="zh-CN" sz="2000" b="1" dirty="0">
                <a:solidFill>
                  <a:srgbClr val="CC00FF"/>
                </a:solidFill>
                <a:effectLst/>
                <a:latin typeface="楷体" panose="02010609060101010101" pitchFamily="49" charset="-122"/>
                <a:ea typeface="楷体" panose="02010609060101010101" pitchFamily="49" charset="-122"/>
              </a:rPr>
              <a:t>2</a:t>
            </a:r>
            <a:r>
              <a:rPr lang="zh-CN" altLang="zh-CN" sz="2000" b="1" dirty="0">
                <a:solidFill>
                  <a:srgbClr val="CC00FF"/>
                </a:solidFill>
                <a:effectLst/>
                <a:latin typeface="楷体" panose="02010609060101010101" pitchFamily="49" charset="-122"/>
                <a:ea typeface="楷体" panose="02010609060101010101" pitchFamily="49" charset="-122"/>
              </a:rPr>
              <a:t>到</a:t>
            </a:r>
            <a:r>
              <a:rPr lang="en-US" altLang="zh-CN" sz="2000" b="1" dirty="0">
                <a:solidFill>
                  <a:srgbClr val="CC00FF"/>
                </a:solidFill>
                <a:effectLst/>
                <a:latin typeface="楷体" panose="02010609060101010101" pitchFamily="49" charset="-122"/>
                <a:ea typeface="楷体" panose="02010609060101010101" pitchFamily="49" charset="-122"/>
              </a:rPr>
              <a:t>4</a:t>
            </a:r>
            <a:r>
              <a:rPr lang="zh-CN" altLang="zh-CN" sz="2000" b="1" dirty="0">
                <a:solidFill>
                  <a:srgbClr val="CC00FF"/>
                </a:solidFill>
                <a:effectLst/>
                <a:latin typeface="楷体" panose="02010609060101010101" pitchFamily="49" charset="-122"/>
                <a:ea typeface="楷体" panose="02010609060101010101" pitchFamily="49" charset="-122"/>
              </a:rPr>
              <a:t>个相位</a:t>
            </a:r>
            <a:r>
              <a:rPr lang="zh-CN" altLang="zh-CN" sz="2000" b="1" dirty="0">
                <a:effectLst/>
                <a:latin typeface="楷体" panose="02010609060101010101" pitchFamily="49" charset="-122"/>
                <a:ea typeface="楷体" panose="02010609060101010101" pitchFamily="49" charset="-122"/>
              </a:rPr>
              <a:t>。如果相位数设计的太少，则不能有效的分配好路口通行权，路口很容易出现交通混乱，交通安全下降；如果相位数设计的太多，虽然路口的交通次序与安全性得到了改善，过多的相位数会导致路口的通行能力下降，延长司机在路口的等待时间。</a:t>
            </a:r>
            <a:endParaRPr lang="en-US" altLang="zh-CN" sz="2000" b="1" dirty="0">
              <a:effectLst/>
              <a:latin typeface="楷体" panose="02010609060101010101" pitchFamily="49" charset="-122"/>
              <a:ea typeface="楷体" panose="02010609060101010101" pitchFamily="49" charset="-122"/>
            </a:endParaRPr>
          </a:p>
          <a:p>
            <a:pPr marL="0" indent="0">
              <a:buNone/>
            </a:pPr>
            <a:endParaRPr lang="en-US" altLang="zh-CN" sz="2000" dirty="0">
              <a:solidFill>
                <a:schemeClr val="accent2"/>
              </a:solidFill>
              <a:effectLst/>
              <a:latin typeface="微软雅黑" panose="020B0503020204020204" pitchFamily="34" charset="-122"/>
              <a:ea typeface="微软雅黑" panose="020B0503020204020204" pitchFamily="34" charset="-122"/>
              <a:cs typeface="楷体_GB2312" pitchFamily="49" charset="-122"/>
            </a:endParaRPr>
          </a:p>
          <a:p>
            <a:pPr marL="0" indent="0">
              <a:buNone/>
            </a:pPr>
            <a:endParaRPr lang="zh-CN" altLang="en-US" sz="2000" dirty="0">
              <a:solidFill>
                <a:schemeClr val="accent2"/>
              </a:solidFill>
              <a:latin typeface="微软雅黑" panose="020B0503020204020204" pitchFamily="34" charset="-122"/>
              <a:ea typeface="微软雅黑" panose="020B0503020204020204" pitchFamily="34" charset="-122"/>
              <a:cs typeface="楷体_GB2312" pitchFamily="49" charset="-122"/>
            </a:endParaRPr>
          </a:p>
        </p:txBody>
      </p:sp>
      <p:sp>
        <p:nvSpPr>
          <p:cNvPr id="183299"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3DE075-166B-493D-8B2F-91B7D5E14A7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3300" name="Text Box 2"/>
          <p:cNvSpPr txBox="1">
            <a:spLocks noChangeArrowheads="1"/>
          </p:cNvSpPr>
          <p:nvPr/>
        </p:nvSpPr>
        <p:spPr bwMode="auto">
          <a:xfrm>
            <a:off x="1331913" y="836613"/>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交通灯相位问题</a:t>
            </a:r>
          </a:p>
        </p:txBody>
      </p:sp>
      <p:pic>
        <p:nvPicPr>
          <p:cNvPr id="18330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598218" y="4148907"/>
            <a:ext cx="8092076" cy="2133463"/>
          </a:xfrm>
          <a:prstGeom prst="rect">
            <a:avLst/>
          </a:prstGeom>
        </p:spPr>
      </p:pic>
    </p:spTree>
    <p:extLst>
      <p:ext uri="{BB962C8B-B14F-4D97-AF65-F5344CB8AC3E}">
        <p14:creationId xmlns:p14="http://schemas.microsoft.com/office/powerpoint/2010/main" val="1049729297"/>
      </p:ext>
    </p:extLst>
  </p:cSld>
  <p:clrMapOvr>
    <a:masterClrMapping/>
  </p:clrMapOvr>
  <p:transition spd="med">
    <p:wipe dir="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539552" y="1772816"/>
                <a:ext cx="8424936" cy="1512168"/>
              </a:xfrm>
              <a:solidFill>
                <a:schemeClr val="accent5"/>
              </a:solidFill>
              <a:ln>
                <a:noFill/>
              </a:ln>
            </p:spPr>
            <p:txBody>
              <a:bodyPr/>
              <a:lstStyle/>
              <a:p>
                <a:pPr marL="0" indent="0">
                  <a:buNone/>
                </a:pPr>
                <a:r>
                  <a:rPr lang="en-US" altLang="zh-CN" b="1" dirty="0">
                    <a:solidFill>
                      <a:srgbClr val="FF0000"/>
                    </a:solidFill>
                    <a:effectLst/>
                  </a:rPr>
                  <a:t>     </a:t>
                </a:r>
                <a:r>
                  <a:rPr lang="zh-CN" altLang="zh-CN" b="1" dirty="0">
                    <a:solidFill>
                      <a:srgbClr val="FF0000"/>
                    </a:solidFill>
                    <a:effectLst/>
                    <a:latin typeface="黑体" panose="02010609060101010101" pitchFamily="49" charset="-122"/>
                    <a:ea typeface="黑体" panose="02010609060101010101" pitchFamily="49" charset="-122"/>
                  </a:rPr>
                  <a:t>【例题】</a:t>
                </a:r>
                <a:r>
                  <a:rPr lang="zh-CN" altLang="en-US" b="1" dirty="0">
                    <a:solidFill>
                      <a:schemeClr val="tx1"/>
                    </a:solidFill>
                    <a:effectLst/>
                    <a:latin typeface="黑体" panose="02010609060101010101" pitchFamily="49" charset="-122"/>
                    <a:ea typeface="黑体" panose="02010609060101010101" pitchFamily="49" charset="-122"/>
                  </a:rPr>
                  <a:t>下</a:t>
                </a:r>
                <a:r>
                  <a:rPr lang="zh-CN" altLang="zh-CN" b="1" dirty="0">
                    <a:solidFill>
                      <a:schemeClr val="tx1"/>
                    </a:solidFill>
                    <a:effectLst/>
                    <a:latin typeface="黑体" panose="02010609060101010101" pitchFamily="49" charset="-122"/>
                    <a:ea typeface="黑体" panose="02010609060101010101" pitchFamily="49" charset="-122"/>
                  </a:rPr>
                  <a:t>图</a:t>
                </a:r>
                <a:r>
                  <a:rPr lang="zh-CN" altLang="en-US" b="1" dirty="0">
                    <a:solidFill>
                      <a:schemeClr val="tx1"/>
                    </a:solidFill>
                    <a:effectLst/>
                    <a:latin typeface="黑体" panose="02010609060101010101" pitchFamily="49" charset="-122"/>
                    <a:ea typeface="黑体" panose="02010609060101010101" pitchFamily="49" charset="-122"/>
                  </a:rPr>
                  <a:t>为某个复杂</a:t>
                </a:r>
                <a:r>
                  <a:rPr lang="zh-CN" altLang="zh-CN" b="1" dirty="0">
                    <a:solidFill>
                      <a:schemeClr val="tx1"/>
                    </a:solidFill>
                    <a:effectLst/>
                    <a:latin typeface="黑体" panose="02010609060101010101" pitchFamily="49" charset="-122"/>
                    <a:ea typeface="黑体" panose="02010609060101010101" pitchFamily="49" charset="-122"/>
                  </a:rPr>
                  <a:t>路口交通车道 </a:t>
                </a:r>
                <a14:m>
                  <m:oMath xmlns:m="http://schemas.openxmlformats.org/officeDocument/2006/math">
                    <m:sSub>
                      <m:sSubPr>
                        <m:ctrlPr>
                          <a:rPr lang="zh-CN" altLang="zh-CN" b="1" i="1">
                            <a:solidFill>
                              <a:schemeClr val="tx1"/>
                            </a:solidFill>
                            <a:effectLst/>
                            <a:latin typeface="Cambria Math" panose="02040503050406030204" pitchFamily="18" charset="0"/>
                            <a:ea typeface="+mj-ea"/>
                          </a:rPr>
                        </m:ctrlPr>
                      </m:sSubPr>
                      <m:e>
                        <m:r>
                          <a:rPr lang="en-US" altLang="zh-CN" b="1" i="1">
                            <a:solidFill>
                              <a:schemeClr val="tx1"/>
                            </a:solidFill>
                            <a:effectLst/>
                            <a:latin typeface="Cambria Math" panose="02040503050406030204" pitchFamily="18" charset="0"/>
                            <a:ea typeface="+mj-ea"/>
                          </a:rPr>
                          <m:t>𝑳</m:t>
                        </m:r>
                      </m:e>
                      <m:sub>
                        <m:r>
                          <a:rPr lang="en-US" altLang="zh-CN" b="1" i="1">
                            <a:solidFill>
                              <a:schemeClr val="tx1"/>
                            </a:solidFill>
                            <a:effectLst/>
                            <a:latin typeface="Cambria Math" panose="02040503050406030204" pitchFamily="18" charset="0"/>
                            <a:ea typeface="+mj-ea"/>
                          </a:rPr>
                          <m:t>𝟏</m:t>
                        </m:r>
                      </m:sub>
                    </m:sSub>
                    <m:r>
                      <a:rPr lang="en-US" altLang="zh-CN" b="1" i="1">
                        <a:solidFill>
                          <a:schemeClr val="tx1"/>
                        </a:solidFill>
                        <a:effectLst/>
                        <a:latin typeface="Cambria Math" panose="02040503050406030204" pitchFamily="18" charset="0"/>
                        <a:ea typeface="+mj-ea"/>
                      </a:rPr>
                      <m:t>,</m:t>
                    </m:r>
                    <m:sSub>
                      <m:sSubPr>
                        <m:ctrlPr>
                          <a:rPr lang="zh-CN" altLang="zh-CN" b="1" i="1">
                            <a:solidFill>
                              <a:schemeClr val="tx1"/>
                            </a:solidFill>
                            <a:effectLst/>
                            <a:latin typeface="Cambria Math" panose="02040503050406030204" pitchFamily="18" charset="0"/>
                            <a:ea typeface="+mj-ea"/>
                          </a:rPr>
                        </m:ctrlPr>
                      </m:sSubPr>
                      <m:e>
                        <m:r>
                          <a:rPr lang="en-US" altLang="zh-CN" b="1" i="1">
                            <a:solidFill>
                              <a:schemeClr val="tx1"/>
                            </a:solidFill>
                            <a:effectLst/>
                            <a:latin typeface="Cambria Math" panose="02040503050406030204" pitchFamily="18" charset="0"/>
                            <a:ea typeface="+mj-ea"/>
                          </a:rPr>
                          <m:t>𝑳</m:t>
                        </m:r>
                      </m:e>
                      <m:sub>
                        <m:r>
                          <a:rPr lang="en-US" altLang="zh-CN" b="1" i="1">
                            <a:solidFill>
                              <a:schemeClr val="tx1"/>
                            </a:solidFill>
                            <a:effectLst/>
                            <a:latin typeface="Cambria Math" panose="02040503050406030204" pitchFamily="18" charset="0"/>
                            <a:ea typeface="+mj-ea"/>
                          </a:rPr>
                          <m:t>𝟐</m:t>
                        </m:r>
                      </m:sub>
                    </m:sSub>
                    <m:r>
                      <a:rPr lang="en-US" altLang="zh-CN" b="1" i="1">
                        <a:solidFill>
                          <a:schemeClr val="tx1"/>
                        </a:solidFill>
                        <a:effectLst/>
                        <a:latin typeface="Cambria Math" panose="02040503050406030204" pitchFamily="18" charset="0"/>
                        <a:ea typeface="+mj-ea"/>
                      </a:rPr>
                      <m:t>,</m:t>
                    </m:r>
                    <m:sSub>
                      <m:sSubPr>
                        <m:ctrlPr>
                          <a:rPr lang="zh-CN" altLang="zh-CN" b="1" i="1">
                            <a:solidFill>
                              <a:schemeClr val="tx1"/>
                            </a:solidFill>
                            <a:effectLst/>
                            <a:latin typeface="Cambria Math" panose="02040503050406030204" pitchFamily="18" charset="0"/>
                            <a:ea typeface="+mj-ea"/>
                          </a:rPr>
                        </m:ctrlPr>
                      </m:sSubPr>
                      <m:e>
                        <m:r>
                          <a:rPr lang="en-US" altLang="zh-CN" b="1" i="1">
                            <a:solidFill>
                              <a:schemeClr val="tx1"/>
                            </a:solidFill>
                            <a:effectLst/>
                            <a:latin typeface="Cambria Math" panose="02040503050406030204" pitchFamily="18" charset="0"/>
                            <a:ea typeface="+mj-ea"/>
                          </a:rPr>
                          <m:t>𝑳</m:t>
                        </m:r>
                      </m:e>
                      <m:sub>
                        <m:r>
                          <a:rPr lang="en-US" altLang="zh-CN" b="1" i="1">
                            <a:solidFill>
                              <a:schemeClr val="tx1"/>
                            </a:solidFill>
                            <a:effectLst/>
                            <a:latin typeface="Cambria Math" panose="02040503050406030204" pitchFamily="18" charset="0"/>
                            <a:ea typeface="+mj-ea"/>
                          </a:rPr>
                          <m:t>𝟑</m:t>
                        </m:r>
                      </m:sub>
                    </m:sSub>
                    <m:r>
                      <a:rPr lang="en-US" altLang="zh-CN" b="1" i="1">
                        <a:solidFill>
                          <a:schemeClr val="tx1"/>
                        </a:solidFill>
                        <a:effectLst/>
                        <a:latin typeface="Cambria Math" panose="02040503050406030204" pitchFamily="18" charset="0"/>
                        <a:ea typeface="+mj-ea"/>
                      </a:rPr>
                      <m:t>,…,</m:t>
                    </m:r>
                    <m:sSub>
                      <m:sSubPr>
                        <m:ctrlPr>
                          <a:rPr lang="zh-CN" altLang="zh-CN" b="1" i="1">
                            <a:solidFill>
                              <a:schemeClr val="tx1"/>
                            </a:solidFill>
                            <a:effectLst/>
                            <a:latin typeface="Cambria Math" panose="02040503050406030204" pitchFamily="18" charset="0"/>
                            <a:ea typeface="+mj-ea"/>
                          </a:rPr>
                        </m:ctrlPr>
                      </m:sSubPr>
                      <m:e>
                        <m:r>
                          <a:rPr lang="en-US" altLang="zh-CN" b="1" i="1">
                            <a:solidFill>
                              <a:schemeClr val="tx1"/>
                            </a:solidFill>
                            <a:effectLst/>
                            <a:latin typeface="Cambria Math" panose="02040503050406030204" pitchFamily="18" charset="0"/>
                            <a:ea typeface="+mj-ea"/>
                          </a:rPr>
                          <m:t>𝑳</m:t>
                        </m:r>
                      </m:e>
                      <m:sub>
                        <m:r>
                          <a:rPr lang="en-US" altLang="zh-CN" b="1" i="1">
                            <a:solidFill>
                              <a:schemeClr val="tx1"/>
                            </a:solidFill>
                            <a:effectLst/>
                            <a:latin typeface="Cambria Math" panose="02040503050406030204" pitchFamily="18" charset="0"/>
                            <a:ea typeface="+mj-ea"/>
                          </a:rPr>
                          <m:t>𝟗</m:t>
                        </m:r>
                      </m:sub>
                    </m:sSub>
                  </m:oMath>
                </a14:m>
                <a:r>
                  <a:rPr lang="zh-CN" altLang="zh-CN" b="1" dirty="0">
                    <a:solidFill>
                      <a:schemeClr val="tx1"/>
                    </a:solidFill>
                    <a:effectLst/>
                    <a:latin typeface="黑体" panose="02010609060101010101" pitchFamily="49" charset="-122"/>
                    <a:ea typeface="黑体" panose="02010609060101010101" pitchFamily="49" charset="-122"/>
                  </a:rPr>
                  <a:t>。当交通灯处于某个相位时，亮绿灯车道上车辆就可以安全通过路口。为使所有车辆都能安全通过路口，</a:t>
                </a:r>
                <a:r>
                  <a:rPr lang="zh-CN" altLang="zh-CN" b="1" dirty="0">
                    <a:solidFill>
                      <a:srgbClr val="FF0000"/>
                    </a:solidFill>
                    <a:effectLst/>
                    <a:latin typeface="黑体" panose="02010609060101010101" pitchFamily="49" charset="-122"/>
                    <a:ea typeface="黑体" panose="02010609060101010101" pitchFamily="49" charset="-122"/>
                  </a:rPr>
                  <a:t>至少需要多少个交通灯相位？</a:t>
                </a: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539552" y="1772816"/>
                <a:ext cx="8424936" cy="1512168"/>
              </a:xfrm>
              <a:blipFill>
                <a:blip r:embed="rId2"/>
                <a:stretch>
                  <a:fillRect l="-1158" t="-4435" b="-12097"/>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5"/>
          <a:stretch>
            <a:fillRect/>
          </a:stretch>
        </p:blipFill>
        <p:spPr>
          <a:xfrm>
            <a:off x="2411760" y="3284984"/>
            <a:ext cx="3888432" cy="3000016"/>
          </a:xfrm>
          <a:prstGeom prst="rect">
            <a:avLst/>
          </a:prstGeom>
        </p:spPr>
      </p:pic>
    </p:spTree>
    <p:extLst>
      <p:ext uri="{BB962C8B-B14F-4D97-AF65-F5344CB8AC3E}">
        <p14:creationId xmlns:p14="http://schemas.microsoft.com/office/powerpoint/2010/main" val="1763623869"/>
      </p:ext>
    </p:extLst>
  </p:cSld>
  <p:clrMapOvr>
    <a:masterClrMapping/>
  </p:clrMapOvr>
  <p:transition spd="med">
    <p:wipe dir="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215008" y="1772221"/>
                <a:ext cx="8928992" cy="1762300"/>
              </a:xfrm>
              <a:solidFill>
                <a:schemeClr val="bg1"/>
              </a:solidFill>
              <a:ln>
                <a:noFill/>
              </a:ln>
            </p:spPr>
            <p:txBody>
              <a:bodyPr/>
              <a:lstStyle/>
              <a:p>
                <a:pPr marL="0" indent="0">
                  <a:buNone/>
                </a:pPr>
                <a:r>
                  <a:rPr lang="en-US" altLang="zh-CN" b="1" dirty="0">
                    <a:solidFill>
                      <a:srgbClr val="FF0000"/>
                    </a:solidFill>
                    <a:effectLst/>
                  </a:rPr>
                  <a:t>    </a:t>
                </a:r>
                <a:r>
                  <a:rPr lang="zh-CN" altLang="zh-CN" b="1" dirty="0">
                    <a:solidFill>
                      <a:schemeClr val="tx1"/>
                    </a:solidFill>
                    <a:effectLst/>
                  </a:rPr>
                  <a:t>【</a:t>
                </a:r>
                <a:r>
                  <a:rPr lang="zh-CN" altLang="en-US" b="1" dirty="0">
                    <a:solidFill>
                      <a:schemeClr val="tx1"/>
                    </a:solidFill>
                    <a:effectLst/>
                  </a:rPr>
                  <a:t>解</a:t>
                </a:r>
                <a:r>
                  <a:rPr lang="zh-CN" altLang="zh-CN" b="1" dirty="0">
                    <a:solidFill>
                      <a:schemeClr val="tx1"/>
                    </a:solidFill>
                    <a:effectLst/>
                  </a:rPr>
                  <a:t>】</a:t>
                </a:r>
                <a:r>
                  <a:rPr lang="zh-CN" altLang="zh-CN" b="1" dirty="0">
                    <a:solidFill>
                      <a:schemeClr val="tx1"/>
                    </a:solidFill>
                    <a:effectLst/>
                    <a:latin typeface="+mn-ea"/>
                  </a:rPr>
                  <a:t>首先构建一个图模型</a:t>
                </a:r>
                <a14:m>
                  <m:oMath xmlns:m="http://schemas.openxmlformats.org/officeDocument/2006/math">
                    <m:r>
                      <a:rPr lang="zh-CN" altLang="zh-CN" b="1">
                        <a:solidFill>
                          <a:schemeClr val="tx1"/>
                        </a:solidFill>
                        <a:effectLst/>
                        <a:latin typeface="Cambria Math" panose="02040503050406030204" pitchFamily="18" charset="0"/>
                      </a:rPr>
                      <m:t> </m:t>
                    </m:r>
                    <m:r>
                      <a:rPr lang="en-US" altLang="zh-CN" b="1" i="1">
                        <a:solidFill>
                          <a:schemeClr val="tx1"/>
                        </a:solidFill>
                        <a:effectLst/>
                        <a:latin typeface="Cambria Math" panose="02040503050406030204" pitchFamily="18" charset="0"/>
                      </a:rPr>
                      <m:t>𝑮</m:t>
                    </m:r>
                  </m:oMath>
                </a14:m>
                <a:r>
                  <a:rPr lang="zh-CN" altLang="zh-CN" b="1" dirty="0">
                    <a:solidFill>
                      <a:schemeClr val="tx1"/>
                    </a:solidFill>
                    <a:effectLst/>
                    <a:latin typeface="+mn-ea"/>
                  </a:rPr>
                  <a:t>，结点集为</a:t>
                </a:r>
                <a14:m>
                  <m:oMath xmlns:m="http://schemas.openxmlformats.org/officeDocument/2006/math">
                    <m:r>
                      <a:rPr lang="en-US" altLang="zh-CN" b="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𝟏</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𝟐</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𝟑</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𝟗</m:t>
                        </m:r>
                      </m:sub>
                    </m:sSub>
                    <m:r>
                      <a:rPr lang="en-US" altLang="zh-CN" b="1">
                        <a:solidFill>
                          <a:schemeClr val="tx1"/>
                        </a:solidFill>
                        <a:effectLst/>
                        <a:latin typeface="Cambria Math" panose="02040503050406030204" pitchFamily="18" charset="0"/>
                      </a:rPr>
                      <m:t>}</m:t>
                    </m:r>
                  </m:oMath>
                </a14:m>
                <a:r>
                  <a:rPr lang="zh-CN" altLang="zh-CN" b="1" dirty="0">
                    <a:solidFill>
                      <a:schemeClr val="tx1"/>
                    </a:solidFill>
                    <a:effectLst/>
                    <a:latin typeface="+mn-ea"/>
                  </a:rPr>
                  <a:t>，结点</a:t>
                </a:r>
                <a14:m>
                  <m:oMath xmlns:m="http://schemas.openxmlformats.org/officeDocument/2006/math">
                    <m:r>
                      <a:rPr lang="zh-CN" altLang="zh-CN" b="1">
                        <a:solidFill>
                          <a:schemeClr val="tx1"/>
                        </a:solidFill>
                        <a:effectLst/>
                        <a:latin typeface="Cambria Math" panose="02040503050406030204" pitchFamily="18" charset="0"/>
                      </a:rPr>
                      <m:t> </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 </m:t>
                    </m:r>
                  </m:oMath>
                </a14:m>
                <a:r>
                  <a:rPr lang="zh-CN" altLang="zh-CN" b="1" dirty="0">
                    <a:solidFill>
                      <a:schemeClr val="tx1"/>
                    </a:solidFill>
                    <a:effectLst/>
                    <a:latin typeface="+mn-ea"/>
                  </a:rPr>
                  <a:t>和</a:t>
                </a:r>
                <a14:m>
                  <m:oMath xmlns:m="http://schemas.openxmlformats.org/officeDocument/2006/math">
                    <m:r>
                      <a:rPr lang="zh-CN" altLang="zh-CN" b="1">
                        <a:solidFill>
                          <a:schemeClr val="tx1"/>
                        </a:solidFill>
                        <a:effectLst/>
                        <a:latin typeface="Cambria Math" panose="02040503050406030204" pitchFamily="18" charset="0"/>
                      </a:rPr>
                      <m:t> </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𝒋</m:t>
                        </m:r>
                      </m:sub>
                    </m:sSub>
                    <m:r>
                      <a:rPr lang="en-US" altLang="zh-CN" b="1">
                        <a:solidFill>
                          <a:schemeClr val="tx1"/>
                        </a:solidFill>
                        <a:effectLst/>
                        <a:latin typeface="Cambria Math" panose="02040503050406030204" pitchFamily="18" charset="0"/>
                      </a:rPr>
                      <m:t> </m:t>
                    </m:r>
                  </m:oMath>
                </a14:m>
                <a:r>
                  <a:rPr lang="zh-CN" altLang="zh-CN" b="1" dirty="0">
                    <a:solidFill>
                      <a:schemeClr val="tx1"/>
                    </a:solidFill>
                    <a:effectLst/>
                    <a:latin typeface="+mn-ea"/>
                  </a:rPr>
                  <a:t>相连当且仅当两个车道上在路口有交叉。</a:t>
                </a:r>
                <a:r>
                  <a:rPr lang="zh-CN" altLang="zh-CN" b="1" dirty="0">
                    <a:solidFill>
                      <a:schemeClr val="accent6"/>
                    </a:solidFill>
                    <a:effectLst/>
                    <a:latin typeface="+mn-ea"/>
                  </a:rPr>
                  <a:t>现在给图</a:t>
                </a:r>
                <a14:m>
                  <m:oMath xmlns:m="http://schemas.openxmlformats.org/officeDocument/2006/math">
                    <m:r>
                      <a:rPr lang="en-US" altLang="zh-CN" b="1" i="1">
                        <a:solidFill>
                          <a:schemeClr val="accent6"/>
                        </a:solidFill>
                        <a:effectLst/>
                        <a:latin typeface="Cambria Math" panose="02040503050406030204" pitchFamily="18" charset="0"/>
                      </a:rPr>
                      <m:t>𝑮</m:t>
                    </m:r>
                  </m:oMath>
                </a14:m>
                <a:r>
                  <a:rPr lang="zh-CN" altLang="zh-CN" b="1" dirty="0">
                    <a:solidFill>
                      <a:schemeClr val="accent6"/>
                    </a:solidFill>
                    <a:effectLst/>
                    <a:latin typeface="+mn-ea"/>
                  </a:rPr>
                  <a:t>进行顶点着色，使得</a:t>
                </a:r>
                <a14:m>
                  <m:oMath xmlns:m="http://schemas.openxmlformats.org/officeDocument/2006/math">
                    <m:r>
                      <a:rPr lang="en-US" altLang="zh-CN" b="1" i="1">
                        <a:solidFill>
                          <a:schemeClr val="accent6"/>
                        </a:solidFill>
                        <a:effectLst/>
                        <a:latin typeface="Cambria Math" panose="02040503050406030204" pitchFamily="18" charset="0"/>
                      </a:rPr>
                      <m:t>𝑮</m:t>
                    </m:r>
                  </m:oMath>
                </a14:m>
                <a:r>
                  <a:rPr lang="zh-CN" altLang="zh-CN" b="1" dirty="0">
                    <a:solidFill>
                      <a:schemeClr val="accent6"/>
                    </a:solidFill>
                    <a:effectLst/>
                    <a:latin typeface="+mn-ea"/>
                  </a:rPr>
                  <a:t>的任何两个相邻的顶点都有不同的颜色。着色所需要的颜色数目就是至少需要的交通灯相位数目。</a:t>
                </a:r>
                <a:endParaRPr lang="zh-CN" altLang="zh-CN" b="1" dirty="0">
                  <a:solidFill>
                    <a:srgbClr val="FF0000"/>
                  </a:solidFill>
                  <a:effectLst/>
                  <a:latin typeface="+mn-ea"/>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215008" y="1772221"/>
                <a:ext cx="8928992" cy="1762300"/>
              </a:xfrm>
              <a:blipFill>
                <a:blip r:embed="rId2"/>
                <a:stretch>
                  <a:fillRect l="-1024" t="-2768" r="-1024"/>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深度优先遍历</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FB3C6373-AA50-4FAF-8660-D2CF77ABAD19}"/>
              </a:ext>
            </a:extLst>
          </p:cNvPr>
          <p:cNvPicPr>
            <a:picLocks noChangeAspect="1"/>
          </p:cNvPicPr>
          <p:nvPr/>
        </p:nvPicPr>
        <p:blipFill>
          <a:blip r:embed="rId5"/>
          <a:stretch>
            <a:fillRect/>
          </a:stretch>
        </p:blipFill>
        <p:spPr>
          <a:xfrm>
            <a:off x="618766" y="3570253"/>
            <a:ext cx="8121475" cy="2679905"/>
          </a:xfrm>
          <a:prstGeom prst="rect">
            <a:avLst/>
          </a:prstGeom>
        </p:spPr>
      </p:pic>
    </p:spTree>
    <p:extLst>
      <p:ext uri="{BB962C8B-B14F-4D97-AF65-F5344CB8AC3E}">
        <p14:creationId xmlns:p14="http://schemas.microsoft.com/office/powerpoint/2010/main" val="4172922997"/>
      </p:ext>
    </p:extLst>
  </p:cSld>
  <p:clrMapOvr>
    <a:masterClrMapping/>
  </p:clrMapOvr>
  <p:transition spd="med">
    <p:wipe dir="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159</a:t>
            </a:fld>
            <a:endParaRPr lang="en-US" altLang="zh-CN" sz="1400" b="1">
              <a:latin typeface="Times New Roman" panose="02020603050405020304" pitchFamily="18" charset="0"/>
              <a:ea typeface="宋体" panose="02010600030101010101" pitchFamily="2" charset="-122"/>
            </a:endParaRPr>
          </a:p>
        </p:txBody>
      </p:sp>
      <p:sp>
        <p:nvSpPr>
          <p:cNvPr id="34822" name="Rectangle 3"/>
          <p:cNvSpPr>
            <a:spLocks noGrp="1" noChangeArrowheads="1"/>
          </p:cNvSpPr>
          <p:nvPr>
            <p:ph type="body" idx="4294967295"/>
          </p:nvPr>
        </p:nvSpPr>
        <p:spPr>
          <a:xfrm>
            <a:off x="2555776" y="2652734"/>
            <a:ext cx="4537075" cy="2809279"/>
          </a:xfrm>
          <a:noFill/>
        </p:spPr>
        <p:txBody>
          <a:bodyPr lIns="92075" tIns="46038" rIns="92075" bIns="46038"/>
          <a:lstStyle/>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交通灯相位问题</a:t>
            </a:r>
          </a:p>
          <a:p>
            <a:pPr eaLnBrk="1" hangingPunct="1">
              <a:lnSpc>
                <a:spcPct val="140000"/>
              </a:lnSpc>
              <a:buFont typeface="Wingdings" panose="05000000000000000000" pitchFamily="2" charset="2"/>
              <a:buChar char="J"/>
            </a:pPr>
            <a:r>
              <a:rPr lang="zh-CN" altLang="en-US" sz="3600" b="1" dirty="0">
                <a:solidFill>
                  <a:schemeClr val="accent2"/>
                </a:solidFill>
                <a:effectLst/>
                <a:latin typeface="黑体" panose="02010609060101010101" pitchFamily="49" charset="-122"/>
                <a:ea typeface="黑体" panose="02010609060101010101" pitchFamily="49" charset="-122"/>
                <a:cs typeface="楷体_GB2312" pitchFamily="49" charset="-122"/>
              </a:rPr>
              <a:t> 作业规划问题</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机器学习的图模型</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2">
            <a:extLst>
              <a:ext uri="{FF2B5EF4-FFF2-40B4-BE49-F238E27FC236}">
                <a16:creationId xmlns:a16="http://schemas.microsoft.com/office/drawing/2014/main" id="{ABF9F13A-433C-4B0D-A193-EF77D5E17665}"/>
              </a:ext>
            </a:extLst>
          </p:cNvPr>
          <p:cNvSpPr txBox="1">
            <a:spLocks noChangeArrowheads="1"/>
          </p:cNvSpPr>
          <p:nvPr/>
        </p:nvSpPr>
        <p:spPr bwMode="auto">
          <a:xfrm>
            <a:off x="1403350" y="836613"/>
            <a:ext cx="70866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mj-ea"/>
                <a:ea typeface="+mj-ea"/>
              </a:rPr>
              <a:t> 图模型的应用</a:t>
            </a:r>
          </a:p>
        </p:txBody>
      </p:sp>
    </p:spTree>
    <p:extLst>
      <p:ext uri="{BB962C8B-B14F-4D97-AF65-F5344CB8AC3E}">
        <p14:creationId xmlns:p14="http://schemas.microsoft.com/office/powerpoint/2010/main" val="2227779381"/>
      </p:ext>
    </p:extLst>
  </p:cSld>
  <p:clrMapOvr>
    <a:masterClrMapping/>
  </p:clrMapOvr>
  <p:transition spd="med">
    <p:wipe dir="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219" name="Rectangle 3"/>
          <p:cNvSpPr>
            <a:spLocks noGrp="1" noChangeArrowheads="1"/>
          </p:cNvSpPr>
          <p:nvPr>
            <p:ph idx="1"/>
          </p:nvPr>
        </p:nvSpPr>
        <p:spPr>
          <a:xfrm>
            <a:off x="467544" y="1916832"/>
            <a:ext cx="8640960" cy="4176464"/>
          </a:xfrm>
          <a:solidFill>
            <a:schemeClr val="accent3">
              <a:lumMod val="95000"/>
            </a:schemeClr>
          </a:solidFill>
          <a:ln w="19050">
            <a:noFill/>
          </a:ln>
        </p:spPr>
        <p:txBody>
          <a:bodyPr/>
          <a:lstStyle/>
          <a:p>
            <a:pPr marL="0" indent="0">
              <a:lnSpc>
                <a:spcPct val="150000"/>
              </a:lnSpc>
              <a:buNone/>
            </a:pPr>
            <a:r>
              <a:rPr lang="en-US" altLang="zh-CN" b="1" dirty="0">
                <a:solidFill>
                  <a:srgbClr val="FF0000"/>
                </a:solidFill>
                <a:latin typeface="Times New Roman" panose="02020603050405020304" pitchFamily="18" charset="0"/>
                <a:cs typeface="楷体_GB2312" pitchFamily="49" charset="-122"/>
              </a:rPr>
              <a:t>      </a:t>
            </a:r>
            <a:r>
              <a:rPr lang="en-US" altLang="zh-CN" b="1" dirty="0">
                <a:solidFill>
                  <a:srgbClr val="FF0000"/>
                </a:solidFill>
                <a:effectLst/>
                <a:latin typeface="Times New Roman" panose="02020603050405020304" pitchFamily="18" charset="0"/>
                <a:cs typeface="楷体_GB2312" pitchFamily="49" charset="-122"/>
              </a:rPr>
              <a:t>【</a:t>
            </a:r>
            <a:r>
              <a:rPr lang="zh-CN" altLang="en-US" b="1" dirty="0">
                <a:solidFill>
                  <a:srgbClr val="FF0000"/>
                </a:solidFill>
                <a:effectLst/>
                <a:latin typeface="Times New Roman" panose="02020603050405020304" pitchFamily="18" charset="0"/>
                <a:cs typeface="楷体_GB2312" pitchFamily="49" charset="-122"/>
              </a:rPr>
              <a:t>问题描述</a:t>
            </a:r>
            <a:r>
              <a:rPr lang="en-US" altLang="zh-CN" b="1" dirty="0">
                <a:solidFill>
                  <a:srgbClr val="FF0000"/>
                </a:solidFill>
                <a:effectLst/>
                <a:latin typeface="Times New Roman" panose="02020603050405020304" pitchFamily="18" charset="0"/>
                <a:cs typeface="楷体_GB2312" pitchFamily="49" charset="-122"/>
              </a:rPr>
              <a:t>】</a:t>
            </a:r>
            <a:r>
              <a:rPr lang="zh-CN" altLang="zh-CN" dirty="0">
                <a:effectLst/>
              </a:rPr>
              <a:t>在一个软件开发项目中，包括以下几个阶段：</a:t>
            </a:r>
            <a:r>
              <a:rPr lang="zh-CN" altLang="zh-CN" b="1" dirty="0">
                <a:solidFill>
                  <a:srgbClr val="CC00FF"/>
                </a:solidFill>
                <a:effectLst/>
              </a:rPr>
              <a:t>需求分析，系统设计，模块代码编写，单元测试，软件维护</a:t>
            </a:r>
            <a:r>
              <a:rPr lang="zh-CN" altLang="zh-CN" dirty="0">
                <a:effectLst/>
              </a:rPr>
              <a:t>。其中代码编写和单元测试可以同时进行，但是代码编写却一定要在需求分析和系统设计完成之后才行，需求分析和系统设计构成了代码编写的准备工作。</a:t>
            </a:r>
            <a:endParaRPr lang="en-US" altLang="zh-CN" dirty="0">
              <a:effectLst/>
            </a:endParaRPr>
          </a:p>
          <a:p>
            <a:pPr marL="0" indent="0">
              <a:lnSpc>
                <a:spcPct val="150000"/>
              </a:lnSpc>
              <a:buNone/>
            </a:pPr>
            <a:r>
              <a:rPr lang="en-US" altLang="zh-CN" dirty="0">
                <a:solidFill>
                  <a:schemeClr val="accent2"/>
                </a:solidFill>
                <a:effectLst/>
              </a:rPr>
              <a:t>      </a:t>
            </a:r>
            <a:r>
              <a:rPr lang="zh-CN" altLang="zh-CN" dirty="0">
                <a:solidFill>
                  <a:schemeClr val="accent2"/>
                </a:solidFill>
                <a:effectLst/>
              </a:rPr>
              <a:t>在一项很复杂的工程中，</a:t>
            </a:r>
            <a:r>
              <a:rPr lang="zh-CN" altLang="zh-CN" b="1" dirty="0">
                <a:solidFill>
                  <a:srgbClr val="FF0000"/>
                </a:solidFill>
                <a:effectLst/>
              </a:rPr>
              <a:t>如何合理的安排活动的进行，能够使得整个工程完成时间最早呢？</a:t>
            </a:r>
            <a:endParaRPr lang="zh-CN" altLang="en-US" b="1" dirty="0">
              <a:solidFill>
                <a:srgbClr val="FF0000"/>
              </a:solidFill>
              <a:effectLst/>
              <a:latin typeface="Times New Roman" panose="02020603050405020304" pitchFamily="18" charset="0"/>
              <a:cs typeface="楷体_GB2312" pitchFamily="49" charset="-122"/>
            </a:endParaRPr>
          </a:p>
        </p:txBody>
      </p:sp>
      <p:sp>
        <p:nvSpPr>
          <p:cNvPr id="183299"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3DE075-166B-493D-8B2F-91B7D5E14A7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3300" name="Text Box 2"/>
          <p:cNvSpPr txBox="1">
            <a:spLocks noChangeArrowheads="1"/>
          </p:cNvSpPr>
          <p:nvPr/>
        </p:nvSpPr>
        <p:spPr bwMode="auto">
          <a:xfrm>
            <a:off x="1331913" y="836613"/>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作业规划问题</a:t>
            </a:r>
          </a:p>
        </p:txBody>
      </p:sp>
      <p:pic>
        <p:nvPicPr>
          <p:cNvPr id="18330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7563625"/>
      </p:ext>
    </p:extLst>
  </p:cSld>
  <p:clrMapOvr>
    <a:masterClrMapping/>
  </p:clrMapOvr>
  <p:transition spd="med">
    <p:wipe dir="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89219" name="Rectangle 3"/>
              <p:cNvSpPr>
                <a:spLocks noGrp="1" noChangeArrowheads="1"/>
              </p:cNvSpPr>
              <p:nvPr>
                <p:ph idx="1"/>
              </p:nvPr>
            </p:nvSpPr>
            <p:spPr>
              <a:xfrm>
                <a:off x="251520" y="1906115"/>
                <a:ext cx="8640960" cy="4248473"/>
              </a:xfrm>
              <a:solidFill>
                <a:schemeClr val="bg1"/>
              </a:solidFill>
              <a:ln w="19050">
                <a:noFill/>
              </a:ln>
            </p:spPr>
            <p:txBody>
              <a:bodyPr/>
              <a:lstStyle/>
              <a:p>
                <a:pPr marL="0" indent="0">
                  <a:buNone/>
                </a:pPr>
                <a:r>
                  <a:rPr lang="en-US" altLang="zh-CN" b="1" dirty="0">
                    <a:solidFill>
                      <a:srgbClr val="FF0000"/>
                    </a:solidFill>
                    <a:latin typeface="Times New Roman" panose="02020603050405020304" pitchFamily="18" charset="0"/>
                    <a:cs typeface="楷体_GB2312" pitchFamily="49" charset="-122"/>
                  </a:rPr>
                  <a:t>    【</a:t>
                </a:r>
                <a:r>
                  <a:rPr lang="en-US" altLang="zh-CN" b="1" dirty="0">
                    <a:solidFill>
                      <a:srgbClr val="FF0000"/>
                    </a:solidFill>
                    <a:effectLst/>
                  </a:rPr>
                  <a:t>PERT</a:t>
                </a:r>
                <a:r>
                  <a:rPr lang="zh-CN" altLang="zh-CN" b="1" dirty="0">
                    <a:solidFill>
                      <a:srgbClr val="FF0000"/>
                    </a:solidFill>
                    <a:effectLst/>
                  </a:rPr>
                  <a:t>图</a:t>
                </a:r>
                <a:r>
                  <a:rPr lang="en-US" altLang="zh-CN" b="1" dirty="0">
                    <a:solidFill>
                      <a:srgbClr val="FF0000"/>
                    </a:solidFill>
                    <a:latin typeface="Times New Roman" panose="02020603050405020304" pitchFamily="18" charset="0"/>
                    <a:cs typeface="楷体_GB2312" pitchFamily="49" charset="-122"/>
                  </a:rPr>
                  <a:t>】</a:t>
                </a:r>
                <a:r>
                  <a:rPr lang="en-US" altLang="zh-CN" b="1" dirty="0">
                    <a:solidFill>
                      <a:srgbClr val="0000FF"/>
                    </a:solidFill>
                    <a:effectLst/>
                  </a:rPr>
                  <a:t>PERT</a:t>
                </a:r>
                <a:r>
                  <a:rPr lang="zh-CN" altLang="zh-CN" b="1" dirty="0">
                    <a:solidFill>
                      <a:srgbClr val="0000FF"/>
                    </a:solidFill>
                    <a:effectLst/>
                  </a:rPr>
                  <a:t>图是一个有向连通图</a:t>
                </a:r>
                <a14:m>
                  <m:oMath xmlns:m="http://schemas.openxmlformats.org/officeDocument/2006/math">
                    <m:r>
                      <a:rPr lang="en-US" altLang="zh-CN" b="1" i="1">
                        <a:solidFill>
                          <a:srgbClr val="0000FF"/>
                        </a:solidFill>
                        <a:effectLst/>
                        <a:latin typeface="Cambria Math" panose="02040503050406030204" pitchFamily="18" charset="0"/>
                      </a:rPr>
                      <m:t>𝑮</m:t>
                    </m:r>
                    <m:r>
                      <a:rPr lang="en-US" altLang="zh-CN" b="1" i="1">
                        <a:solidFill>
                          <a:srgbClr val="0000FF"/>
                        </a:solidFill>
                        <a:effectLst/>
                        <a:latin typeface="Cambria Math" panose="02040503050406030204" pitchFamily="18" charset="0"/>
                      </a:rPr>
                      <m:t>=</m:t>
                    </m:r>
                    <m:d>
                      <m:dPr>
                        <m:begChr m:val="〈"/>
                        <m:endChr m:val="〉"/>
                        <m:ctrlPr>
                          <a:rPr lang="zh-CN" altLang="zh-CN" b="1" i="1">
                            <a:solidFill>
                              <a:srgbClr val="0000FF"/>
                            </a:solidFill>
                            <a:effectLst/>
                            <a:latin typeface="Cambria Math" panose="02040503050406030204" pitchFamily="18" charset="0"/>
                          </a:rPr>
                        </m:ctrlPr>
                      </m:dPr>
                      <m:e>
                        <m:r>
                          <a:rPr lang="en-US" altLang="zh-CN" b="1" i="1">
                            <a:solidFill>
                              <a:srgbClr val="0000FF"/>
                            </a:solidFill>
                            <a:effectLst/>
                            <a:latin typeface="Cambria Math" panose="02040503050406030204" pitchFamily="18" charset="0"/>
                          </a:rPr>
                          <m:t>𝑽</m:t>
                        </m:r>
                        <m:r>
                          <a:rPr lang="en-US" altLang="zh-CN" b="1" i="1">
                            <a:solidFill>
                              <a:srgbClr val="0000FF"/>
                            </a:solidFill>
                            <a:effectLst/>
                            <a:latin typeface="Cambria Math" panose="02040503050406030204" pitchFamily="18" charset="0"/>
                          </a:rPr>
                          <m:t>,</m:t>
                        </m:r>
                        <m:r>
                          <a:rPr lang="en-US" altLang="zh-CN" b="1" i="1">
                            <a:solidFill>
                              <a:srgbClr val="0000FF"/>
                            </a:solidFill>
                            <a:effectLst/>
                            <a:latin typeface="Cambria Math" panose="02040503050406030204" pitchFamily="18" charset="0"/>
                          </a:rPr>
                          <m:t>𝑬</m:t>
                        </m:r>
                      </m:e>
                    </m:d>
                  </m:oMath>
                </a14:m>
                <a:r>
                  <a:rPr lang="zh-CN" altLang="zh-CN" dirty="0">
                    <a:effectLst/>
                  </a:rPr>
                  <a:t>，且</a:t>
                </a:r>
              </a:p>
              <a:p>
                <a:pPr marL="0" indent="0">
                  <a:buNone/>
                </a:pPr>
                <a:r>
                  <a:rPr lang="en-US" altLang="zh-CN" b="1" dirty="0">
                    <a:solidFill>
                      <a:srgbClr val="800080"/>
                    </a:solidFill>
                    <a:effectLst/>
                    <a:latin typeface="+mn-ea"/>
                  </a:rPr>
                  <a:t>   </a:t>
                </a:r>
                <a:r>
                  <a:rPr lang="zh-CN" altLang="zh-CN" b="1" dirty="0">
                    <a:solidFill>
                      <a:srgbClr val="800080"/>
                    </a:solidFill>
                    <a:effectLst/>
                    <a:latin typeface="+mn-ea"/>
                  </a:rPr>
                  <a:t>（</a:t>
                </a:r>
                <a:r>
                  <a:rPr lang="en-US" altLang="zh-CN" b="1" dirty="0">
                    <a:solidFill>
                      <a:srgbClr val="800080"/>
                    </a:solidFill>
                    <a:effectLst/>
                    <a:latin typeface="+mn-ea"/>
                  </a:rPr>
                  <a:t>1</a:t>
                </a:r>
                <a:r>
                  <a:rPr lang="zh-CN" altLang="zh-CN" b="1" dirty="0">
                    <a:solidFill>
                      <a:srgbClr val="800080"/>
                    </a:solidFill>
                    <a:effectLst/>
                    <a:latin typeface="+mn-ea"/>
                  </a:rPr>
                  <a:t>）每条边表示一个作业（工序），边的非负实数权表示完成该作业所需的时间；</a:t>
                </a:r>
              </a:p>
              <a:p>
                <a:pPr marL="0" indent="0">
                  <a:buNone/>
                </a:pPr>
                <a:r>
                  <a:rPr lang="en-US" altLang="zh-CN" b="1" dirty="0">
                    <a:solidFill>
                      <a:srgbClr val="800080"/>
                    </a:solidFill>
                    <a:effectLst/>
                    <a:latin typeface="+mn-ea"/>
                  </a:rPr>
                  <a:t>   </a:t>
                </a:r>
                <a:r>
                  <a:rPr lang="zh-CN" altLang="zh-CN" b="1" dirty="0">
                    <a:solidFill>
                      <a:srgbClr val="800080"/>
                    </a:solidFill>
                    <a:effectLst/>
                    <a:latin typeface="+mn-ea"/>
                  </a:rPr>
                  <a:t>（</a:t>
                </a:r>
                <a:r>
                  <a:rPr lang="en-US" altLang="zh-CN" b="1" dirty="0">
                    <a:solidFill>
                      <a:srgbClr val="800080"/>
                    </a:solidFill>
                    <a:effectLst/>
                    <a:latin typeface="+mn-ea"/>
                  </a:rPr>
                  <a:t>2</a:t>
                </a:r>
                <a:r>
                  <a:rPr lang="zh-CN" altLang="zh-CN" b="1" dirty="0">
                    <a:solidFill>
                      <a:srgbClr val="800080"/>
                    </a:solidFill>
                    <a:effectLst/>
                    <a:latin typeface="+mn-ea"/>
                  </a:rPr>
                  <a:t>）每个</a:t>
                </a:r>
                <a:r>
                  <a:rPr lang="zh-CN" altLang="en-US" b="1" dirty="0">
                    <a:solidFill>
                      <a:srgbClr val="800080"/>
                    </a:solidFill>
                    <a:effectLst/>
                    <a:latin typeface="+mn-ea"/>
                  </a:rPr>
                  <a:t>结</a:t>
                </a:r>
                <a:r>
                  <a:rPr lang="zh-CN" altLang="zh-CN" b="1" dirty="0">
                    <a:solidFill>
                      <a:srgbClr val="800080"/>
                    </a:solidFill>
                    <a:effectLst/>
                    <a:latin typeface="+mn-ea"/>
                  </a:rPr>
                  <a:t>点表示以该</a:t>
                </a:r>
                <a:r>
                  <a:rPr lang="zh-CN" altLang="en-US" b="1" dirty="0">
                    <a:solidFill>
                      <a:srgbClr val="800080"/>
                    </a:solidFill>
                    <a:effectLst/>
                    <a:latin typeface="+mn-ea"/>
                  </a:rPr>
                  <a:t>结</a:t>
                </a:r>
                <a:r>
                  <a:rPr lang="zh-CN" altLang="zh-CN" b="1" dirty="0">
                    <a:solidFill>
                      <a:srgbClr val="800080"/>
                    </a:solidFill>
                    <a:effectLst/>
                    <a:latin typeface="+mn-ea"/>
                  </a:rPr>
                  <a:t>点为起点的作业开始，也表示以该顶点为终点的作业结束；</a:t>
                </a:r>
              </a:p>
              <a:p>
                <a:pPr marL="0" indent="0">
                  <a:buNone/>
                </a:pPr>
                <a:r>
                  <a:rPr lang="en-US" altLang="zh-CN" b="1" dirty="0">
                    <a:solidFill>
                      <a:srgbClr val="800080"/>
                    </a:solidFill>
                    <a:effectLst/>
                    <a:latin typeface="+mn-ea"/>
                  </a:rPr>
                  <a:t>   </a:t>
                </a:r>
                <a:r>
                  <a:rPr lang="zh-CN" altLang="zh-CN" b="1" dirty="0">
                    <a:solidFill>
                      <a:srgbClr val="800080"/>
                    </a:solidFill>
                    <a:effectLst/>
                    <a:latin typeface="+mn-ea"/>
                  </a:rPr>
                  <a:t>（</a:t>
                </a:r>
                <a:r>
                  <a:rPr lang="en-US" altLang="zh-CN" b="1" dirty="0">
                    <a:solidFill>
                      <a:srgbClr val="800080"/>
                    </a:solidFill>
                    <a:effectLst/>
                    <a:latin typeface="+mn-ea"/>
                  </a:rPr>
                  <a:t>3</a:t>
                </a:r>
                <a:r>
                  <a:rPr lang="zh-CN" altLang="zh-CN" b="1" dirty="0">
                    <a:solidFill>
                      <a:srgbClr val="800080"/>
                    </a:solidFill>
                    <a:effectLst/>
                    <a:latin typeface="+mn-ea"/>
                  </a:rPr>
                  <a:t>）作业开始条件：某条有向边</a:t>
                </a:r>
                <a14:m>
                  <m:oMath xmlns:m="http://schemas.openxmlformats.org/officeDocument/2006/math">
                    <m:r>
                      <a:rPr lang="en-US" altLang="zh-CN" b="1" i="1">
                        <a:solidFill>
                          <a:srgbClr val="800080"/>
                        </a:solidFill>
                        <a:effectLst/>
                        <a:latin typeface="Cambria Math" panose="02040503050406030204" pitchFamily="18" charset="0"/>
                      </a:rPr>
                      <m:t>𝒆</m:t>
                    </m:r>
                    <m:r>
                      <a:rPr lang="en-US" altLang="zh-CN" b="1" i="1">
                        <a:solidFill>
                          <a:srgbClr val="800080"/>
                        </a:solidFill>
                        <a:effectLst/>
                        <a:latin typeface="Cambria Math" panose="02040503050406030204" pitchFamily="18" charset="0"/>
                      </a:rPr>
                      <m:t>=</m:t>
                    </m:r>
                    <m:d>
                      <m:dPr>
                        <m:begChr m:val="〈"/>
                        <m:endChr m:val="〉"/>
                        <m:ctrlPr>
                          <a:rPr lang="zh-CN" altLang="zh-CN" b="1" i="1">
                            <a:solidFill>
                              <a:srgbClr val="800080"/>
                            </a:solidFill>
                            <a:effectLst/>
                            <a:latin typeface="Cambria Math" panose="02040503050406030204" pitchFamily="18" charset="0"/>
                          </a:rPr>
                        </m:ctrlPr>
                      </m:dPr>
                      <m:e>
                        <m:r>
                          <a:rPr lang="en-US" altLang="zh-CN" b="1" i="1">
                            <a:solidFill>
                              <a:srgbClr val="800080"/>
                            </a:solidFill>
                            <a:effectLst/>
                            <a:latin typeface="Cambria Math" panose="02040503050406030204" pitchFamily="18" charset="0"/>
                          </a:rPr>
                          <m:t>𝒗</m:t>
                        </m:r>
                        <m:r>
                          <a:rPr lang="en-US" altLang="zh-CN" b="1" i="1">
                            <a:solidFill>
                              <a:srgbClr val="800080"/>
                            </a:solidFill>
                            <a:effectLst/>
                            <a:latin typeface="Cambria Math" panose="02040503050406030204" pitchFamily="18" charset="0"/>
                          </a:rPr>
                          <m:t>,</m:t>
                        </m:r>
                        <m:r>
                          <a:rPr lang="en-US" altLang="zh-CN" b="1" i="1">
                            <a:solidFill>
                              <a:srgbClr val="800080"/>
                            </a:solidFill>
                            <a:effectLst/>
                            <a:latin typeface="Cambria Math" panose="02040503050406030204" pitchFamily="18" charset="0"/>
                          </a:rPr>
                          <m:t>𝒖</m:t>
                        </m:r>
                      </m:e>
                    </m:d>
                  </m:oMath>
                </a14:m>
                <a:r>
                  <a:rPr lang="zh-CN" altLang="zh-CN" b="1" dirty="0">
                    <a:solidFill>
                      <a:srgbClr val="800080"/>
                    </a:solidFill>
                    <a:effectLst/>
                    <a:latin typeface="+mn-ea"/>
                  </a:rPr>
                  <a:t>所代表的作业可以开始</a:t>
                </a:r>
                <a:r>
                  <a:rPr lang="zh-CN" altLang="zh-CN" b="1" dirty="0">
                    <a:solidFill>
                      <a:srgbClr val="0000FF"/>
                    </a:solidFill>
                    <a:effectLst/>
                    <a:latin typeface="+mn-ea"/>
                  </a:rPr>
                  <a:t>当且仅当以</a:t>
                </a:r>
                <a14:m>
                  <m:oMath xmlns:m="http://schemas.openxmlformats.org/officeDocument/2006/math">
                    <m:r>
                      <a:rPr lang="en-US" altLang="zh-CN" b="1" i="1">
                        <a:solidFill>
                          <a:srgbClr val="0000FF"/>
                        </a:solidFill>
                        <a:effectLst/>
                        <a:latin typeface="Cambria Math" panose="02040503050406030204" pitchFamily="18" charset="0"/>
                      </a:rPr>
                      <m:t>𝐯</m:t>
                    </m:r>
                  </m:oMath>
                </a14:m>
                <a:r>
                  <a:rPr lang="zh-CN" altLang="zh-CN" b="1" dirty="0">
                    <a:solidFill>
                      <a:srgbClr val="0000FF"/>
                    </a:solidFill>
                    <a:effectLst/>
                    <a:latin typeface="+mn-ea"/>
                  </a:rPr>
                  <a:t>为终点的有向边所代表的作业全部完成</a:t>
                </a:r>
                <a:r>
                  <a:rPr lang="zh-CN" altLang="zh-CN" b="1" dirty="0">
                    <a:solidFill>
                      <a:srgbClr val="800080"/>
                    </a:solidFill>
                    <a:effectLst/>
                    <a:latin typeface="+mn-ea"/>
                  </a:rPr>
                  <a:t>；</a:t>
                </a:r>
              </a:p>
              <a:p>
                <a:pPr marL="0" indent="0">
                  <a:buNone/>
                </a:pPr>
                <a:r>
                  <a:rPr lang="en-US" altLang="zh-CN" b="1" dirty="0">
                    <a:solidFill>
                      <a:srgbClr val="800080"/>
                    </a:solidFill>
                    <a:effectLst/>
                    <a:latin typeface="+mn-ea"/>
                  </a:rPr>
                  <a:t>   </a:t>
                </a:r>
                <a:r>
                  <a:rPr lang="zh-CN" altLang="zh-CN" b="1" dirty="0">
                    <a:solidFill>
                      <a:srgbClr val="800080"/>
                    </a:solidFill>
                    <a:effectLst/>
                    <a:latin typeface="+mn-ea"/>
                  </a:rPr>
                  <a:t>（</a:t>
                </a:r>
                <a:r>
                  <a:rPr lang="en-US" altLang="zh-CN" b="1" dirty="0">
                    <a:solidFill>
                      <a:srgbClr val="800080"/>
                    </a:solidFill>
                    <a:effectLst/>
                    <a:latin typeface="+mn-ea"/>
                  </a:rPr>
                  <a:t>4</a:t>
                </a:r>
                <a:r>
                  <a:rPr lang="zh-CN" altLang="zh-CN" b="1" dirty="0">
                    <a:solidFill>
                      <a:srgbClr val="800080"/>
                    </a:solidFill>
                    <a:effectLst/>
                    <a:latin typeface="+mn-ea"/>
                  </a:rPr>
                  <a:t>）</a:t>
                </a:r>
                <a14:m>
                  <m:oMath xmlns:m="http://schemas.openxmlformats.org/officeDocument/2006/math">
                    <m:r>
                      <a:rPr lang="en-US" altLang="zh-CN" b="1" i="1">
                        <a:solidFill>
                          <a:srgbClr val="800080"/>
                        </a:solidFill>
                        <a:effectLst/>
                        <a:latin typeface="Cambria Math" panose="02040503050406030204" pitchFamily="18" charset="0"/>
                      </a:rPr>
                      <m:t>𝐆</m:t>
                    </m:r>
                  </m:oMath>
                </a14:m>
                <a:r>
                  <a:rPr lang="zh-CN" altLang="zh-CN" b="1" dirty="0">
                    <a:solidFill>
                      <a:srgbClr val="800080"/>
                    </a:solidFill>
                    <a:effectLst/>
                    <a:latin typeface="+mn-ea"/>
                  </a:rPr>
                  <a:t>没有有向回路，也没有环；</a:t>
                </a:r>
              </a:p>
              <a:p>
                <a:pPr marL="0" indent="0">
                  <a:buNone/>
                </a:pPr>
                <a:r>
                  <a:rPr lang="en-US" altLang="zh-CN" b="1" dirty="0">
                    <a:solidFill>
                      <a:srgbClr val="800080"/>
                    </a:solidFill>
                    <a:effectLst/>
                    <a:latin typeface="+mn-ea"/>
                  </a:rPr>
                  <a:t>   </a:t>
                </a:r>
                <a:r>
                  <a:rPr lang="zh-CN" altLang="zh-CN" b="1" dirty="0">
                    <a:solidFill>
                      <a:srgbClr val="800080"/>
                    </a:solidFill>
                    <a:effectLst/>
                    <a:latin typeface="+mn-ea"/>
                  </a:rPr>
                  <a:t>（</a:t>
                </a:r>
                <a:r>
                  <a:rPr lang="en-US" altLang="zh-CN" b="1" dirty="0">
                    <a:solidFill>
                      <a:srgbClr val="800080"/>
                    </a:solidFill>
                    <a:effectLst/>
                    <a:latin typeface="+mn-ea"/>
                  </a:rPr>
                  <a:t>5</a:t>
                </a:r>
                <a:r>
                  <a:rPr lang="zh-CN" altLang="zh-CN" b="1" dirty="0">
                    <a:solidFill>
                      <a:srgbClr val="800080"/>
                    </a:solidFill>
                    <a:effectLst/>
                    <a:latin typeface="+mn-ea"/>
                  </a:rPr>
                  <a:t>）</a:t>
                </a:r>
                <a14:m>
                  <m:oMath xmlns:m="http://schemas.openxmlformats.org/officeDocument/2006/math">
                    <m:r>
                      <a:rPr lang="en-US" altLang="zh-CN" b="1" i="1">
                        <a:solidFill>
                          <a:srgbClr val="800080"/>
                        </a:solidFill>
                        <a:effectLst/>
                        <a:latin typeface="Cambria Math" panose="02040503050406030204" pitchFamily="18" charset="0"/>
                      </a:rPr>
                      <m:t>𝐆</m:t>
                    </m:r>
                  </m:oMath>
                </a14:m>
                <a:r>
                  <a:rPr lang="zh-CN" altLang="zh-CN" b="1" dirty="0">
                    <a:solidFill>
                      <a:srgbClr val="800080"/>
                    </a:solidFill>
                    <a:effectLst/>
                    <a:latin typeface="+mn-ea"/>
                  </a:rPr>
                  <a:t>中有且仅有一个</a:t>
                </a:r>
                <a:r>
                  <a:rPr lang="zh-CN" altLang="en-US" b="1" dirty="0">
                    <a:solidFill>
                      <a:srgbClr val="800080"/>
                    </a:solidFill>
                    <a:effectLst/>
                    <a:latin typeface="+mn-ea"/>
                  </a:rPr>
                  <a:t>结</a:t>
                </a:r>
                <a:r>
                  <a:rPr lang="zh-CN" altLang="zh-CN" b="1" dirty="0">
                    <a:solidFill>
                      <a:srgbClr val="800080"/>
                    </a:solidFill>
                    <a:effectLst/>
                    <a:latin typeface="+mn-ea"/>
                  </a:rPr>
                  <a:t>点的入度为</a:t>
                </a:r>
                <a:r>
                  <a:rPr lang="en-US" altLang="zh-CN" b="1" dirty="0">
                    <a:solidFill>
                      <a:srgbClr val="800080"/>
                    </a:solidFill>
                    <a:effectLst/>
                    <a:latin typeface="+mn-ea"/>
                  </a:rPr>
                  <a:t>0</a:t>
                </a:r>
                <a:r>
                  <a:rPr lang="zh-CN" altLang="zh-CN" b="1" dirty="0">
                    <a:solidFill>
                      <a:srgbClr val="800080"/>
                    </a:solidFill>
                    <a:effectLst/>
                    <a:latin typeface="+mn-ea"/>
                  </a:rPr>
                  <a:t>，称该</a:t>
                </a:r>
                <a:r>
                  <a:rPr lang="zh-CN" altLang="en-US" b="1" dirty="0">
                    <a:solidFill>
                      <a:srgbClr val="800080"/>
                    </a:solidFill>
                    <a:effectLst/>
                    <a:latin typeface="+mn-ea"/>
                  </a:rPr>
                  <a:t>结</a:t>
                </a:r>
                <a:r>
                  <a:rPr lang="zh-CN" altLang="zh-CN" b="1" dirty="0">
                    <a:solidFill>
                      <a:srgbClr val="800080"/>
                    </a:solidFill>
                    <a:effectLst/>
                    <a:latin typeface="+mn-ea"/>
                  </a:rPr>
                  <a:t>点为</a:t>
                </a:r>
                <a:r>
                  <a:rPr lang="zh-CN" altLang="zh-CN" b="1" dirty="0">
                    <a:solidFill>
                      <a:srgbClr val="0000FF"/>
                    </a:solidFill>
                    <a:effectLst/>
                    <a:latin typeface="+mn-ea"/>
                  </a:rPr>
                  <a:t>源点</a:t>
                </a:r>
                <a:r>
                  <a:rPr lang="zh-CN" altLang="zh-CN" b="1" dirty="0">
                    <a:solidFill>
                      <a:srgbClr val="800080"/>
                    </a:solidFill>
                    <a:effectLst/>
                    <a:latin typeface="+mn-ea"/>
                  </a:rPr>
                  <a:t>；同时</a:t>
                </a:r>
                <a14:m>
                  <m:oMath xmlns:m="http://schemas.openxmlformats.org/officeDocument/2006/math">
                    <m:r>
                      <a:rPr lang="en-US" altLang="zh-CN" b="1" i="1">
                        <a:solidFill>
                          <a:srgbClr val="800080"/>
                        </a:solidFill>
                        <a:effectLst/>
                        <a:latin typeface="Cambria Math" panose="02040503050406030204" pitchFamily="18" charset="0"/>
                      </a:rPr>
                      <m:t>𝐆</m:t>
                    </m:r>
                  </m:oMath>
                </a14:m>
                <a:r>
                  <a:rPr lang="zh-CN" altLang="zh-CN" b="1" dirty="0">
                    <a:solidFill>
                      <a:srgbClr val="800080"/>
                    </a:solidFill>
                    <a:effectLst/>
                    <a:latin typeface="+mn-ea"/>
                  </a:rPr>
                  <a:t>中有且</a:t>
                </a:r>
                <a:r>
                  <a:rPr lang="zh-CN" altLang="en-US" b="1" dirty="0">
                    <a:solidFill>
                      <a:srgbClr val="800080"/>
                    </a:solidFill>
                    <a:effectLst/>
                    <a:latin typeface="+mn-ea"/>
                  </a:rPr>
                  <a:t>仅有</a:t>
                </a:r>
                <a:r>
                  <a:rPr lang="zh-CN" altLang="zh-CN" b="1" dirty="0">
                    <a:solidFill>
                      <a:srgbClr val="800080"/>
                    </a:solidFill>
                    <a:effectLst/>
                    <a:latin typeface="+mn-ea"/>
                  </a:rPr>
                  <a:t>一个</a:t>
                </a:r>
                <a:r>
                  <a:rPr lang="zh-CN" altLang="en-US" b="1" dirty="0">
                    <a:solidFill>
                      <a:srgbClr val="800080"/>
                    </a:solidFill>
                    <a:effectLst/>
                    <a:latin typeface="+mn-ea"/>
                  </a:rPr>
                  <a:t>结</a:t>
                </a:r>
                <a:r>
                  <a:rPr lang="zh-CN" altLang="zh-CN" b="1" dirty="0">
                    <a:solidFill>
                      <a:srgbClr val="800080"/>
                    </a:solidFill>
                    <a:effectLst/>
                    <a:latin typeface="+mn-ea"/>
                  </a:rPr>
                  <a:t>点的出度为</a:t>
                </a:r>
                <a:r>
                  <a:rPr lang="en-US" altLang="zh-CN" b="1" dirty="0">
                    <a:solidFill>
                      <a:srgbClr val="800080"/>
                    </a:solidFill>
                    <a:effectLst/>
                    <a:latin typeface="+mn-ea"/>
                  </a:rPr>
                  <a:t>0</a:t>
                </a:r>
                <a:r>
                  <a:rPr lang="zh-CN" altLang="zh-CN" b="1" dirty="0">
                    <a:solidFill>
                      <a:srgbClr val="800080"/>
                    </a:solidFill>
                    <a:effectLst/>
                    <a:latin typeface="+mn-ea"/>
                  </a:rPr>
                  <a:t>，称该</a:t>
                </a:r>
                <a:r>
                  <a:rPr lang="zh-CN" altLang="en-US" b="1" dirty="0">
                    <a:solidFill>
                      <a:srgbClr val="800080"/>
                    </a:solidFill>
                    <a:effectLst/>
                    <a:latin typeface="+mn-ea"/>
                  </a:rPr>
                  <a:t>结</a:t>
                </a:r>
                <a:r>
                  <a:rPr lang="zh-CN" altLang="zh-CN" b="1" dirty="0">
                    <a:solidFill>
                      <a:srgbClr val="800080"/>
                    </a:solidFill>
                    <a:effectLst/>
                    <a:latin typeface="+mn-ea"/>
                  </a:rPr>
                  <a:t>点为</a:t>
                </a:r>
                <a:r>
                  <a:rPr lang="zh-CN" altLang="zh-CN" b="1" dirty="0">
                    <a:solidFill>
                      <a:srgbClr val="0000FF"/>
                    </a:solidFill>
                    <a:effectLst/>
                    <a:latin typeface="+mn-ea"/>
                  </a:rPr>
                  <a:t>汇点</a:t>
                </a:r>
                <a:r>
                  <a:rPr lang="zh-CN" altLang="zh-CN" b="1" dirty="0">
                    <a:solidFill>
                      <a:srgbClr val="800080"/>
                    </a:solidFill>
                    <a:effectLst/>
                    <a:latin typeface="+mn-ea"/>
                  </a:rPr>
                  <a:t>。</a:t>
                </a:r>
                <a:endParaRPr lang="zh-CN" altLang="en-US" b="1" dirty="0">
                  <a:solidFill>
                    <a:srgbClr val="800080"/>
                  </a:solidFill>
                  <a:latin typeface="+mn-ea"/>
                  <a:cs typeface="楷体_GB2312" pitchFamily="49" charset="-122"/>
                </a:endParaRPr>
              </a:p>
            </p:txBody>
          </p:sp>
        </mc:Choice>
        <mc:Fallback xmlns="">
          <p:sp>
            <p:nvSpPr>
              <p:cNvPr id="1289219" name="Rectangle 3"/>
              <p:cNvSpPr>
                <a:spLocks noGrp="1" noRot="1" noChangeAspect="1" noMove="1" noResize="1" noEditPoints="1" noAdjustHandles="1" noChangeArrowheads="1" noChangeShapeType="1" noTextEdit="1"/>
              </p:cNvSpPr>
              <p:nvPr>
                <p:ph idx="1"/>
              </p:nvPr>
            </p:nvSpPr>
            <p:spPr>
              <a:xfrm>
                <a:off x="251520" y="1906115"/>
                <a:ext cx="8640960" cy="4248473"/>
              </a:xfrm>
              <a:blipFill>
                <a:blip r:embed="rId2"/>
                <a:stretch>
                  <a:fillRect l="-1058" t="-1291" r="-917" b="-143"/>
                </a:stretch>
              </a:blipFill>
              <a:ln w="19050">
                <a:noFill/>
              </a:ln>
            </p:spPr>
            <p:txBody>
              <a:bodyPr/>
              <a:lstStyle/>
              <a:p>
                <a:r>
                  <a:rPr lang="zh-CN" altLang="en-US">
                    <a:noFill/>
                  </a:rPr>
                  <a:t> </a:t>
                </a:r>
              </a:p>
            </p:txBody>
          </p:sp>
        </mc:Fallback>
      </mc:AlternateContent>
      <p:sp>
        <p:nvSpPr>
          <p:cNvPr id="183299"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3DE075-166B-493D-8B2F-91B7D5E14A7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dirty="0">
              <a:solidFill>
                <a:srgbClr val="FF0000"/>
              </a:solidFill>
              <a:latin typeface="黑体" panose="02010609060101010101" pitchFamily="49" charset="-122"/>
            </a:endParaRPr>
          </a:p>
        </p:txBody>
      </p:sp>
      <p:sp>
        <p:nvSpPr>
          <p:cNvPr id="183300" name="Text Box 2"/>
          <p:cNvSpPr txBox="1">
            <a:spLocks noChangeArrowheads="1"/>
          </p:cNvSpPr>
          <p:nvPr/>
        </p:nvSpPr>
        <p:spPr bwMode="auto">
          <a:xfrm>
            <a:off x="1331640" y="764704"/>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作业规划问题</a:t>
            </a:r>
          </a:p>
        </p:txBody>
      </p:sp>
      <p:pic>
        <p:nvPicPr>
          <p:cNvPr id="183301"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6555276"/>
      </p:ext>
    </p:extLst>
  </p:cSld>
  <p:clrMapOvr>
    <a:masterClrMapping/>
  </p:clrMapOvr>
  <p:transition spd="med">
    <p:wipe dir="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89219" name="Rectangle 3"/>
              <p:cNvSpPr>
                <a:spLocks noGrp="1" noChangeArrowheads="1"/>
              </p:cNvSpPr>
              <p:nvPr>
                <p:ph idx="1"/>
              </p:nvPr>
            </p:nvSpPr>
            <p:spPr>
              <a:xfrm>
                <a:off x="251520" y="1628800"/>
                <a:ext cx="8712968" cy="4536504"/>
              </a:xfrm>
              <a:solidFill>
                <a:schemeClr val="accent6">
                  <a:lumMod val="75000"/>
                </a:schemeClr>
              </a:solidFill>
              <a:ln w="19050">
                <a:noFill/>
              </a:ln>
            </p:spPr>
            <p:txBody>
              <a:bodyPr/>
              <a:lstStyle/>
              <a:p>
                <a:pPr marL="0" indent="0">
                  <a:lnSpc>
                    <a:spcPts val="3600"/>
                  </a:lnSpc>
                  <a:buNone/>
                </a:pPr>
                <a:r>
                  <a:rPr lang="en-US" altLang="zh-CN" sz="2200" b="1" dirty="0">
                    <a:solidFill>
                      <a:schemeClr val="bg1"/>
                    </a:solidFill>
                    <a:latin typeface="Times New Roman" panose="02020603050405020304" pitchFamily="18" charset="0"/>
                    <a:cs typeface="楷体_GB2312" pitchFamily="49" charset="-122"/>
                  </a:rPr>
                  <a:t>【</a:t>
                </a:r>
                <a:r>
                  <a:rPr lang="zh-CN" altLang="en-US" sz="2200" b="1" dirty="0">
                    <a:solidFill>
                      <a:schemeClr val="bg1"/>
                    </a:solidFill>
                    <a:effectLst/>
                    <a:cs typeface="楷体_GB2312" pitchFamily="49" charset="-122"/>
                  </a:rPr>
                  <a:t>定义</a:t>
                </a:r>
                <a:r>
                  <a:rPr lang="en-US" altLang="zh-CN" sz="2200" b="1" dirty="0">
                    <a:solidFill>
                      <a:schemeClr val="bg1"/>
                    </a:solidFill>
                    <a:latin typeface="Times New Roman" panose="02020603050405020304" pitchFamily="18" charset="0"/>
                    <a:cs typeface="楷体_GB2312" pitchFamily="49" charset="-122"/>
                  </a:rPr>
                  <a:t>】</a:t>
                </a:r>
                <a:r>
                  <a:rPr lang="zh-CN" altLang="zh-CN" sz="2200" b="1" dirty="0">
                    <a:solidFill>
                      <a:schemeClr val="bg1"/>
                    </a:solidFill>
                    <a:effectLst/>
                  </a:rPr>
                  <a:t>关于</a:t>
                </a:r>
                <a:r>
                  <a:rPr lang="en-US" altLang="zh-CN" sz="2200" b="1" dirty="0">
                    <a:solidFill>
                      <a:schemeClr val="bg1"/>
                    </a:solidFill>
                    <a:effectLst/>
                  </a:rPr>
                  <a:t>PERT</a:t>
                </a:r>
                <a:r>
                  <a:rPr lang="zh-CN" altLang="zh-CN" sz="2200" b="1" dirty="0">
                    <a:solidFill>
                      <a:schemeClr val="bg1"/>
                    </a:solidFill>
                    <a:effectLst/>
                  </a:rPr>
                  <a:t>图，有如下定义：</a:t>
                </a:r>
              </a:p>
              <a:p>
                <a:pPr>
                  <a:lnSpc>
                    <a:spcPts val="3600"/>
                  </a:lnSpc>
                </a:pPr>
                <a:r>
                  <a:rPr lang="zh-CN" altLang="zh-CN" sz="2200" b="1" dirty="0">
                    <a:solidFill>
                      <a:srgbClr val="FFFF66"/>
                    </a:solidFill>
                    <a:effectLst/>
                  </a:rPr>
                  <a:t>关键路径</a:t>
                </a:r>
                <a:r>
                  <a:rPr lang="zh-CN" altLang="zh-CN" sz="2200" b="1" dirty="0">
                    <a:solidFill>
                      <a:schemeClr val="bg1"/>
                    </a:solidFill>
                    <a:effectLst/>
                  </a:rPr>
                  <a:t>：从源点到汇点最长带权路径称为关键路径。关键路径的长度</a:t>
                </a:r>
                <a14:m>
                  <m:oMath xmlns:m="http://schemas.openxmlformats.org/officeDocument/2006/math">
                    <m:r>
                      <a:rPr lang="en-US" altLang="zh-CN" sz="2200" b="1" i="1">
                        <a:solidFill>
                          <a:schemeClr val="bg1"/>
                        </a:solidFill>
                        <a:effectLst/>
                        <a:latin typeface="Cambria Math" panose="02040503050406030204" pitchFamily="18" charset="0"/>
                      </a:rPr>
                      <m:t>𝐓</m:t>
                    </m:r>
                  </m:oMath>
                </a14:m>
                <a:r>
                  <a:rPr lang="zh-CN" altLang="zh-CN" sz="2200" b="1" dirty="0">
                    <a:solidFill>
                      <a:schemeClr val="bg1"/>
                    </a:solidFill>
                    <a:effectLst/>
                  </a:rPr>
                  <a:t>为</a:t>
                </a:r>
                <a:r>
                  <a:rPr lang="zh-CN" altLang="zh-CN" sz="2200" b="1" dirty="0">
                    <a:solidFill>
                      <a:srgbClr val="FFFF66"/>
                    </a:solidFill>
                    <a:effectLst/>
                  </a:rPr>
                  <a:t>完成整个任务（即包括所有作业）所必需的最少时间</a:t>
                </a:r>
                <a:r>
                  <a:rPr lang="zh-CN" altLang="zh-CN" sz="2200" b="1" dirty="0">
                    <a:solidFill>
                      <a:schemeClr val="bg1"/>
                    </a:solidFill>
                    <a:effectLst/>
                  </a:rPr>
                  <a:t>。</a:t>
                </a:r>
              </a:p>
              <a:p>
                <a:pPr>
                  <a:lnSpc>
                    <a:spcPts val="3600"/>
                  </a:lnSpc>
                </a:pPr>
                <a:r>
                  <a:rPr lang="zh-CN" altLang="zh-CN" sz="2200" b="1" dirty="0">
                    <a:solidFill>
                      <a:srgbClr val="FFFF66"/>
                    </a:solidFill>
                    <a:effectLst/>
                  </a:rPr>
                  <a:t>关键作业</a:t>
                </a:r>
                <a:r>
                  <a:rPr lang="zh-CN" altLang="zh-CN" sz="2200" b="1" dirty="0">
                    <a:solidFill>
                      <a:schemeClr val="bg1"/>
                    </a:solidFill>
                    <a:effectLst/>
                  </a:rPr>
                  <a:t>：关键路径上的边所代表的作业称为关键作业。</a:t>
                </a:r>
              </a:p>
              <a:p>
                <a:pPr>
                  <a:lnSpc>
                    <a:spcPts val="3600"/>
                  </a:lnSpc>
                </a:pPr>
                <a:r>
                  <a:rPr lang="zh-CN" altLang="zh-CN" sz="2200" b="1" dirty="0">
                    <a:solidFill>
                      <a:srgbClr val="FFFF66"/>
                    </a:solidFill>
                    <a:effectLst/>
                  </a:rPr>
                  <a:t>最早启动时间</a:t>
                </a:r>
                <a:r>
                  <a:rPr lang="zh-CN" altLang="zh-CN" sz="2200" b="1" dirty="0">
                    <a:solidFill>
                      <a:schemeClr val="bg1"/>
                    </a:solidFill>
                    <a:effectLst/>
                  </a:rPr>
                  <a:t>：对于某个作业</a:t>
                </a:r>
                <a14:m>
                  <m:oMath xmlns:m="http://schemas.openxmlformats.org/officeDocument/2006/math">
                    <m:r>
                      <a:rPr lang="en-US" altLang="zh-CN" sz="2200" b="1" i="1" smtClean="0">
                        <a:solidFill>
                          <a:schemeClr val="bg1"/>
                        </a:solidFill>
                        <a:effectLst/>
                        <a:latin typeface="Cambria Math" panose="02040503050406030204" pitchFamily="18" charset="0"/>
                      </a:rPr>
                      <m:t>𝒆</m:t>
                    </m:r>
                    <m:r>
                      <a:rPr lang="en-US" altLang="zh-CN" sz="2200" b="1" i="1" smtClean="0">
                        <a:solidFill>
                          <a:schemeClr val="bg1"/>
                        </a:solidFill>
                        <a:effectLst/>
                        <a:latin typeface="Cambria Math" panose="02040503050406030204" pitchFamily="18" charset="0"/>
                      </a:rPr>
                      <m:t>=</m:t>
                    </m:r>
                    <m:d>
                      <m:dPr>
                        <m:begChr m:val="〈"/>
                        <m:endChr m:val="〉"/>
                        <m:ctrlPr>
                          <a:rPr lang="zh-CN" altLang="zh-CN" sz="2200" b="1" i="1">
                            <a:solidFill>
                              <a:schemeClr val="bg1"/>
                            </a:solidFill>
                            <a:effectLst/>
                            <a:latin typeface="Cambria Math" panose="02040503050406030204" pitchFamily="18" charset="0"/>
                          </a:rPr>
                        </m:ctrlPr>
                      </m:dPr>
                      <m:e>
                        <m:sSub>
                          <m:sSubPr>
                            <m:ctrlPr>
                              <a:rPr lang="zh-CN" altLang="zh-CN" sz="2200" b="1" i="1">
                                <a:solidFill>
                                  <a:schemeClr val="bg1"/>
                                </a:solidFill>
                                <a:effectLst/>
                                <a:latin typeface="Cambria Math" panose="02040503050406030204" pitchFamily="18" charset="0"/>
                              </a:rPr>
                            </m:ctrlPr>
                          </m:sSubPr>
                          <m:e>
                            <m:r>
                              <a:rPr lang="en-US" altLang="zh-CN" sz="2200" b="1" i="1">
                                <a:solidFill>
                                  <a:schemeClr val="bg1"/>
                                </a:solidFill>
                                <a:effectLst/>
                                <a:latin typeface="Cambria Math" panose="02040503050406030204" pitchFamily="18" charset="0"/>
                              </a:rPr>
                              <m:t>𝒗</m:t>
                            </m:r>
                          </m:e>
                          <m:sub>
                            <m:r>
                              <a:rPr lang="en-US" altLang="zh-CN" sz="2200" b="1" i="1">
                                <a:solidFill>
                                  <a:schemeClr val="bg1"/>
                                </a:solidFill>
                                <a:effectLst/>
                                <a:latin typeface="Cambria Math" panose="02040503050406030204" pitchFamily="18" charset="0"/>
                              </a:rPr>
                              <m:t>𝒊</m:t>
                            </m:r>
                          </m:sub>
                        </m:sSub>
                        <m:r>
                          <a:rPr lang="en-US" altLang="zh-CN" sz="2200" b="1" i="1">
                            <a:solidFill>
                              <a:schemeClr val="bg1"/>
                            </a:solidFill>
                            <a:effectLst/>
                            <a:latin typeface="Cambria Math" panose="02040503050406030204" pitchFamily="18" charset="0"/>
                          </a:rPr>
                          <m:t>,−</m:t>
                        </m:r>
                      </m:e>
                    </m:d>
                  </m:oMath>
                </a14:m>
                <a:r>
                  <a:rPr lang="zh-CN" altLang="zh-CN" sz="2200" b="1" dirty="0">
                    <a:solidFill>
                      <a:schemeClr val="bg1"/>
                    </a:solidFill>
                    <a:effectLst/>
                  </a:rPr>
                  <a:t>，源点到该作业起点</a:t>
                </a:r>
                <a14:m>
                  <m:oMath xmlns:m="http://schemas.openxmlformats.org/officeDocument/2006/math">
                    <m:sSub>
                      <m:sSubPr>
                        <m:ctrlPr>
                          <a:rPr lang="zh-CN" altLang="zh-CN" sz="2200" b="1" i="1">
                            <a:solidFill>
                              <a:schemeClr val="bg1"/>
                            </a:solidFill>
                            <a:effectLst/>
                            <a:latin typeface="Cambria Math" panose="02040503050406030204" pitchFamily="18" charset="0"/>
                          </a:rPr>
                        </m:ctrlPr>
                      </m:sSubPr>
                      <m:e>
                        <m:r>
                          <a:rPr lang="en-US" altLang="zh-CN" sz="2200" b="1" i="1">
                            <a:solidFill>
                              <a:schemeClr val="bg1"/>
                            </a:solidFill>
                            <a:effectLst/>
                            <a:latin typeface="Cambria Math" panose="02040503050406030204" pitchFamily="18" charset="0"/>
                          </a:rPr>
                          <m:t>𝒗</m:t>
                        </m:r>
                      </m:e>
                      <m:sub>
                        <m:r>
                          <a:rPr lang="en-US" altLang="zh-CN" sz="2200" b="1" i="1">
                            <a:solidFill>
                              <a:schemeClr val="bg1"/>
                            </a:solidFill>
                            <a:effectLst/>
                            <a:latin typeface="Cambria Math" panose="02040503050406030204" pitchFamily="18" charset="0"/>
                          </a:rPr>
                          <m:t>𝒊</m:t>
                        </m:r>
                      </m:sub>
                    </m:sSub>
                  </m:oMath>
                </a14:m>
                <a:r>
                  <a:rPr lang="zh-CN" altLang="zh-CN" sz="2200" b="1" dirty="0">
                    <a:solidFill>
                      <a:schemeClr val="bg1"/>
                    </a:solidFill>
                    <a:effectLst/>
                  </a:rPr>
                  <a:t>的最长路径长度</a:t>
                </a:r>
                <a14:m>
                  <m:oMath xmlns:m="http://schemas.openxmlformats.org/officeDocument/2006/math">
                    <m:sSub>
                      <m:sSubPr>
                        <m:ctrlPr>
                          <a:rPr lang="zh-CN" altLang="zh-CN" sz="2200" b="1" i="1">
                            <a:solidFill>
                              <a:schemeClr val="bg1"/>
                            </a:solidFill>
                            <a:effectLst/>
                            <a:latin typeface="Cambria Math" panose="02040503050406030204" pitchFamily="18" charset="0"/>
                          </a:rPr>
                        </m:ctrlPr>
                      </m:sSubPr>
                      <m:e>
                        <m:r>
                          <a:rPr lang="en-US" altLang="zh-CN" sz="2200" b="1" i="1">
                            <a:solidFill>
                              <a:schemeClr val="bg1"/>
                            </a:solidFill>
                            <a:effectLst/>
                            <a:latin typeface="Cambria Math" panose="02040503050406030204" pitchFamily="18" charset="0"/>
                          </a:rPr>
                          <m:t>𝝅</m:t>
                        </m:r>
                      </m:e>
                      <m:sub>
                        <m:r>
                          <a:rPr lang="en-US" altLang="zh-CN" sz="2200" b="1" i="1">
                            <a:solidFill>
                              <a:schemeClr val="bg1"/>
                            </a:solidFill>
                            <a:effectLst/>
                            <a:latin typeface="Cambria Math" panose="02040503050406030204" pitchFamily="18" charset="0"/>
                          </a:rPr>
                          <m:t>𝒊</m:t>
                        </m:r>
                      </m:sub>
                    </m:sSub>
                  </m:oMath>
                </a14:m>
                <a:r>
                  <a:rPr lang="zh-CN" altLang="zh-CN" sz="2200" b="1" dirty="0">
                    <a:solidFill>
                      <a:schemeClr val="bg1"/>
                    </a:solidFill>
                    <a:effectLst/>
                  </a:rPr>
                  <a:t>称为该作业的</a:t>
                </a:r>
                <a:r>
                  <a:rPr lang="zh-CN" altLang="zh-CN" sz="2200" b="1" dirty="0">
                    <a:solidFill>
                      <a:srgbClr val="FFFF00"/>
                    </a:solidFill>
                    <a:effectLst/>
                  </a:rPr>
                  <a:t>最早启动时间</a:t>
                </a:r>
                <a:r>
                  <a:rPr lang="zh-CN" altLang="zh-CN" sz="2200" b="1" dirty="0">
                    <a:solidFill>
                      <a:schemeClr val="bg1"/>
                    </a:solidFill>
                    <a:effectLst/>
                  </a:rPr>
                  <a:t>。</a:t>
                </a:r>
              </a:p>
              <a:p>
                <a:pPr>
                  <a:lnSpc>
                    <a:spcPts val="3600"/>
                  </a:lnSpc>
                </a:pPr>
                <a:r>
                  <a:rPr lang="zh-CN" altLang="zh-CN" sz="2200" b="1" dirty="0">
                    <a:solidFill>
                      <a:srgbClr val="FFFF66"/>
                    </a:solidFill>
                    <a:effectLst/>
                  </a:rPr>
                  <a:t>最晚启动时间</a:t>
                </a:r>
                <a:r>
                  <a:rPr lang="zh-CN" altLang="zh-CN" sz="2200" b="1" dirty="0">
                    <a:solidFill>
                      <a:schemeClr val="bg1"/>
                    </a:solidFill>
                    <a:effectLst/>
                  </a:rPr>
                  <a:t>：设</a:t>
                </a:r>
                <a14:m>
                  <m:oMath xmlns:m="http://schemas.openxmlformats.org/officeDocument/2006/math">
                    <m:sSub>
                      <m:sSubPr>
                        <m:ctrlPr>
                          <a:rPr lang="zh-CN" altLang="zh-CN" sz="2200" b="1" i="1" smtClean="0">
                            <a:solidFill>
                              <a:schemeClr val="bg1"/>
                            </a:solidFill>
                            <a:effectLst/>
                            <a:latin typeface="Cambria Math" panose="02040503050406030204" pitchFamily="18" charset="0"/>
                          </a:rPr>
                        </m:ctrlPr>
                      </m:sSubPr>
                      <m:e>
                        <m:r>
                          <a:rPr lang="en-US" altLang="zh-CN" sz="2200" b="1" i="1">
                            <a:solidFill>
                              <a:schemeClr val="bg1"/>
                            </a:solidFill>
                            <a:effectLst/>
                            <a:latin typeface="Cambria Math" panose="02040503050406030204" pitchFamily="18" charset="0"/>
                          </a:rPr>
                          <m:t>𝒗</m:t>
                        </m:r>
                      </m:e>
                      <m:sub>
                        <m:r>
                          <a:rPr lang="en-US" altLang="zh-CN" sz="2200" b="1" i="1">
                            <a:solidFill>
                              <a:schemeClr val="bg1"/>
                            </a:solidFill>
                            <a:effectLst/>
                            <a:latin typeface="Cambria Math" panose="02040503050406030204" pitchFamily="18" charset="0"/>
                          </a:rPr>
                          <m:t>𝒊</m:t>
                        </m:r>
                      </m:sub>
                    </m:sSub>
                  </m:oMath>
                </a14:m>
                <a:r>
                  <a:rPr lang="zh-CN" altLang="zh-CN" sz="2200" b="1" dirty="0">
                    <a:solidFill>
                      <a:schemeClr val="bg1"/>
                    </a:solidFill>
                    <a:effectLst/>
                  </a:rPr>
                  <a:t>到汇点</a:t>
                </a:r>
                <a14:m>
                  <m:oMath xmlns:m="http://schemas.openxmlformats.org/officeDocument/2006/math">
                    <m:sSub>
                      <m:sSubPr>
                        <m:ctrlPr>
                          <a:rPr lang="zh-CN" altLang="zh-CN" sz="2200" b="1" i="1">
                            <a:solidFill>
                              <a:schemeClr val="bg1"/>
                            </a:solidFill>
                            <a:effectLst/>
                            <a:latin typeface="Cambria Math" panose="02040503050406030204" pitchFamily="18" charset="0"/>
                          </a:rPr>
                        </m:ctrlPr>
                      </m:sSubPr>
                      <m:e>
                        <m:r>
                          <a:rPr lang="en-US" altLang="zh-CN" sz="2200" b="1" i="1">
                            <a:solidFill>
                              <a:schemeClr val="bg1"/>
                            </a:solidFill>
                            <a:effectLst/>
                            <a:latin typeface="Cambria Math" panose="02040503050406030204" pitchFamily="18" charset="0"/>
                          </a:rPr>
                          <m:t>𝒗</m:t>
                        </m:r>
                      </m:e>
                      <m:sub>
                        <m:r>
                          <a:rPr lang="en-US" altLang="zh-CN" sz="2200" b="1" i="1">
                            <a:solidFill>
                              <a:schemeClr val="bg1"/>
                            </a:solidFill>
                            <a:effectLst/>
                            <a:latin typeface="Cambria Math" panose="02040503050406030204" pitchFamily="18" charset="0"/>
                          </a:rPr>
                          <m:t>𝒏</m:t>
                        </m:r>
                      </m:sub>
                    </m:sSub>
                  </m:oMath>
                </a14:m>
                <a:r>
                  <a:rPr lang="zh-CN" altLang="zh-CN" sz="2200" b="1" dirty="0">
                    <a:solidFill>
                      <a:schemeClr val="bg1"/>
                    </a:solidFill>
                    <a:effectLst/>
                  </a:rPr>
                  <a:t>的最长路径长度为</a:t>
                </a:r>
                <a14:m>
                  <m:oMath xmlns:m="http://schemas.openxmlformats.org/officeDocument/2006/math">
                    <m:sSubSup>
                      <m:sSubSupPr>
                        <m:ctrlPr>
                          <a:rPr lang="zh-CN" altLang="zh-CN" sz="2200" b="1" i="1">
                            <a:solidFill>
                              <a:schemeClr val="bg1"/>
                            </a:solidFill>
                            <a:effectLst/>
                            <a:latin typeface="Cambria Math" panose="02040503050406030204" pitchFamily="18" charset="0"/>
                          </a:rPr>
                        </m:ctrlPr>
                      </m:sSubSupPr>
                      <m:e>
                        <m:r>
                          <a:rPr lang="en-US" altLang="zh-CN" sz="2200" b="1" i="1">
                            <a:solidFill>
                              <a:schemeClr val="bg1"/>
                            </a:solidFill>
                            <a:effectLst/>
                            <a:latin typeface="Cambria Math" panose="02040503050406030204" pitchFamily="18" charset="0"/>
                          </a:rPr>
                          <m:t>𝝅</m:t>
                        </m:r>
                      </m:e>
                      <m:sub>
                        <m:r>
                          <a:rPr lang="en-US" altLang="zh-CN" sz="2200" b="1" i="1">
                            <a:solidFill>
                              <a:schemeClr val="bg1"/>
                            </a:solidFill>
                            <a:effectLst/>
                            <a:latin typeface="Cambria Math" panose="02040503050406030204" pitchFamily="18" charset="0"/>
                          </a:rPr>
                          <m:t>𝒊</m:t>
                        </m:r>
                      </m:sub>
                      <m:sup>
                        <m:r>
                          <a:rPr lang="en-US" altLang="zh-CN" sz="2200" b="1" i="1">
                            <a:solidFill>
                              <a:schemeClr val="bg1"/>
                            </a:solidFill>
                            <a:effectLst/>
                            <a:latin typeface="Cambria Math" panose="02040503050406030204" pitchFamily="18" charset="0"/>
                          </a:rPr>
                          <m:t>′</m:t>
                        </m:r>
                      </m:sup>
                    </m:sSubSup>
                  </m:oMath>
                </a14:m>
                <a:r>
                  <a:rPr lang="zh-CN" altLang="zh-CN" sz="2200" b="1" dirty="0">
                    <a:solidFill>
                      <a:schemeClr val="bg1"/>
                    </a:solidFill>
                    <a:effectLst/>
                  </a:rPr>
                  <a:t>，则该作业可最晚于</a:t>
                </a:r>
                <a14:m>
                  <m:oMath xmlns:m="http://schemas.openxmlformats.org/officeDocument/2006/math">
                    <m:sSub>
                      <m:sSubPr>
                        <m:ctrlPr>
                          <a:rPr lang="zh-CN" altLang="zh-CN" sz="2200" b="1" i="1">
                            <a:solidFill>
                              <a:schemeClr val="bg1"/>
                            </a:solidFill>
                            <a:effectLst/>
                            <a:latin typeface="Cambria Math" panose="02040503050406030204" pitchFamily="18" charset="0"/>
                          </a:rPr>
                        </m:ctrlPr>
                      </m:sSubPr>
                      <m:e>
                        <m:r>
                          <a:rPr lang="en-US" altLang="zh-CN" sz="2200" b="1" i="1">
                            <a:solidFill>
                              <a:schemeClr val="bg1"/>
                            </a:solidFill>
                            <a:effectLst/>
                            <a:latin typeface="Cambria Math" panose="02040503050406030204" pitchFamily="18" charset="0"/>
                          </a:rPr>
                          <m:t>𝝉</m:t>
                        </m:r>
                      </m:e>
                      <m:sub>
                        <m:r>
                          <a:rPr lang="en-US" altLang="zh-CN" sz="2200" b="1" i="1">
                            <a:solidFill>
                              <a:schemeClr val="bg1"/>
                            </a:solidFill>
                            <a:effectLst/>
                            <a:latin typeface="Cambria Math" panose="02040503050406030204" pitchFamily="18" charset="0"/>
                          </a:rPr>
                          <m:t>𝒊</m:t>
                        </m:r>
                      </m:sub>
                    </m:sSub>
                    <m:r>
                      <a:rPr lang="en-US" altLang="zh-CN" sz="2200" b="1">
                        <a:solidFill>
                          <a:schemeClr val="bg1"/>
                        </a:solidFill>
                        <a:effectLst/>
                        <a:latin typeface="Cambria Math" panose="02040503050406030204" pitchFamily="18" charset="0"/>
                      </a:rPr>
                      <m:t>=</m:t>
                    </m:r>
                    <m:r>
                      <a:rPr lang="en-US" altLang="zh-CN" sz="2200" b="1" i="1">
                        <a:solidFill>
                          <a:schemeClr val="bg1"/>
                        </a:solidFill>
                        <a:effectLst/>
                        <a:latin typeface="Cambria Math" panose="02040503050406030204" pitchFamily="18" charset="0"/>
                      </a:rPr>
                      <m:t>𝑻</m:t>
                    </m:r>
                    <m:r>
                      <a:rPr lang="en-US" altLang="zh-CN" sz="2200" b="1" i="1">
                        <a:solidFill>
                          <a:schemeClr val="bg1"/>
                        </a:solidFill>
                        <a:effectLst/>
                        <a:latin typeface="Cambria Math" panose="02040503050406030204" pitchFamily="18" charset="0"/>
                      </a:rPr>
                      <m:t>−</m:t>
                    </m:r>
                    <m:sSubSup>
                      <m:sSubSupPr>
                        <m:ctrlPr>
                          <a:rPr lang="zh-CN" altLang="zh-CN" sz="2200" b="1" i="1">
                            <a:solidFill>
                              <a:schemeClr val="bg1"/>
                            </a:solidFill>
                            <a:effectLst/>
                            <a:latin typeface="Cambria Math" panose="02040503050406030204" pitchFamily="18" charset="0"/>
                          </a:rPr>
                        </m:ctrlPr>
                      </m:sSubSupPr>
                      <m:e>
                        <m:r>
                          <a:rPr lang="en-US" altLang="zh-CN" sz="2200" b="1" i="1">
                            <a:solidFill>
                              <a:schemeClr val="bg1"/>
                            </a:solidFill>
                            <a:effectLst/>
                            <a:latin typeface="Cambria Math" panose="02040503050406030204" pitchFamily="18" charset="0"/>
                          </a:rPr>
                          <m:t>𝝅</m:t>
                        </m:r>
                      </m:e>
                      <m:sub>
                        <m:r>
                          <a:rPr lang="en-US" altLang="zh-CN" sz="2200" b="1" i="1">
                            <a:solidFill>
                              <a:schemeClr val="bg1"/>
                            </a:solidFill>
                            <a:effectLst/>
                            <a:latin typeface="Cambria Math" panose="02040503050406030204" pitchFamily="18" charset="0"/>
                          </a:rPr>
                          <m:t>𝒊</m:t>
                        </m:r>
                      </m:sub>
                      <m:sup>
                        <m:r>
                          <a:rPr lang="en-US" altLang="zh-CN" sz="2200" b="1" i="1">
                            <a:solidFill>
                              <a:schemeClr val="bg1"/>
                            </a:solidFill>
                            <a:effectLst/>
                            <a:latin typeface="Cambria Math" panose="02040503050406030204" pitchFamily="18" charset="0"/>
                          </a:rPr>
                          <m:t>′</m:t>
                        </m:r>
                      </m:sup>
                    </m:sSubSup>
                  </m:oMath>
                </a14:m>
                <a:r>
                  <a:rPr lang="zh-CN" altLang="zh-CN" sz="2200" b="1" dirty="0">
                    <a:solidFill>
                      <a:schemeClr val="bg1"/>
                    </a:solidFill>
                    <a:effectLst/>
                  </a:rPr>
                  <a:t>时间启动而不影响整个任务完成的预期时间</a:t>
                </a:r>
                <a14:m>
                  <m:oMath xmlns:m="http://schemas.openxmlformats.org/officeDocument/2006/math">
                    <m:r>
                      <a:rPr lang="en-US" altLang="zh-CN" sz="2200" b="1" i="1">
                        <a:solidFill>
                          <a:schemeClr val="bg1"/>
                        </a:solidFill>
                        <a:effectLst/>
                        <a:latin typeface="Cambria Math" panose="02040503050406030204" pitchFamily="18" charset="0"/>
                      </a:rPr>
                      <m:t>𝐓</m:t>
                    </m:r>
                  </m:oMath>
                </a14:m>
                <a:r>
                  <a:rPr lang="zh-CN" altLang="zh-CN" sz="2200" b="1" dirty="0">
                    <a:solidFill>
                      <a:schemeClr val="bg1"/>
                    </a:solidFill>
                    <a:effectLst/>
                  </a:rPr>
                  <a:t>，</a:t>
                </a:r>
                <a14:m>
                  <m:oMath xmlns:m="http://schemas.openxmlformats.org/officeDocument/2006/math">
                    <m:sSub>
                      <m:sSubPr>
                        <m:ctrlPr>
                          <a:rPr lang="zh-CN" altLang="zh-CN" sz="2200" b="1" i="1">
                            <a:solidFill>
                              <a:schemeClr val="bg1"/>
                            </a:solidFill>
                            <a:effectLst/>
                            <a:latin typeface="Cambria Math" panose="02040503050406030204" pitchFamily="18" charset="0"/>
                          </a:rPr>
                        </m:ctrlPr>
                      </m:sSubPr>
                      <m:e>
                        <m:r>
                          <a:rPr lang="en-US" altLang="zh-CN" sz="2200" b="1" i="1">
                            <a:solidFill>
                              <a:schemeClr val="bg1"/>
                            </a:solidFill>
                            <a:effectLst/>
                            <a:latin typeface="Cambria Math" panose="02040503050406030204" pitchFamily="18" charset="0"/>
                          </a:rPr>
                          <m:t>𝝉</m:t>
                        </m:r>
                      </m:e>
                      <m:sub>
                        <m:r>
                          <a:rPr lang="en-US" altLang="zh-CN" sz="2200" b="1" i="1">
                            <a:solidFill>
                              <a:schemeClr val="bg1"/>
                            </a:solidFill>
                            <a:effectLst/>
                            <a:latin typeface="Cambria Math" panose="02040503050406030204" pitchFamily="18" charset="0"/>
                          </a:rPr>
                          <m:t>𝒊</m:t>
                        </m:r>
                      </m:sub>
                    </m:sSub>
                  </m:oMath>
                </a14:m>
                <a:r>
                  <a:rPr lang="zh-CN" altLang="zh-CN" sz="2200" b="1" dirty="0">
                    <a:solidFill>
                      <a:schemeClr val="bg1"/>
                    </a:solidFill>
                    <a:effectLst/>
                  </a:rPr>
                  <a:t>称为该作业的</a:t>
                </a:r>
                <a:r>
                  <a:rPr lang="zh-CN" altLang="zh-CN" sz="2200" b="1" dirty="0">
                    <a:solidFill>
                      <a:srgbClr val="FFFF00"/>
                    </a:solidFill>
                    <a:effectLst/>
                  </a:rPr>
                  <a:t>最晚启动时间</a:t>
                </a:r>
                <a:r>
                  <a:rPr lang="zh-CN" altLang="zh-CN" sz="2200" b="1" dirty="0">
                    <a:solidFill>
                      <a:schemeClr val="bg1"/>
                    </a:solidFill>
                    <a:effectLst/>
                  </a:rPr>
                  <a:t>。</a:t>
                </a:r>
                <a:endParaRPr lang="zh-CN" altLang="en-US" sz="2200" b="1" dirty="0">
                  <a:solidFill>
                    <a:srgbClr val="800080"/>
                  </a:solidFill>
                  <a:latin typeface="Times New Roman" panose="02020603050405020304" pitchFamily="18" charset="0"/>
                  <a:cs typeface="楷体_GB2312" pitchFamily="49" charset="-122"/>
                </a:endParaRPr>
              </a:p>
            </p:txBody>
          </p:sp>
        </mc:Choice>
        <mc:Fallback xmlns="">
          <p:sp>
            <p:nvSpPr>
              <p:cNvPr id="1289219" name="Rectangle 3"/>
              <p:cNvSpPr>
                <a:spLocks noGrp="1" noRot="1" noChangeAspect="1" noMove="1" noResize="1" noEditPoints="1" noAdjustHandles="1" noChangeArrowheads="1" noChangeShapeType="1" noTextEdit="1"/>
              </p:cNvSpPr>
              <p:nvPr>
                <p:ph idx="1"/>
              </p:nvPr>
            </p:nvSpPr>
            <p:spPr>
              <a:xfrm>
                <a:off x="251520" y="1628800"/>
                <a:ext cx="8712968" cy="4536504"/>
              </a:xfrm>
              <a:blipFill>
                <a:blip r:embed="rId2"/>
                <a:stretch>
                  <a:fillRect l="-979" r="-210" b="-403"/>
                </a:stretch>
              </a:blipFill>
              <a:ln w="19050">
                <a:noFill/>
              </a:ln>
            </p:spPr>
            <p:txBody>
              <a:bodyPr/>
              <a:lstStyle/>
              <a:p>
                <a:r>
                  <a:rPr lang="zh-CN" altLang="en-US">
                    <a:noFill/>
                  </a:rPr>
                  <a:t> </a:t>
                </a:r>
              </a:p>
            </p:txBody>
          </p:sp>
        </mc:Fallback>
      </mc:AlternateContent>
      <p:sp>
        <p:nvSpPr>
          <p:cNvPr id="183299"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3DE075-166B-493D-8B2F-91B7D5E14A7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dirty="0">
              <a:solidFill>
                <a:srgbClr val="FF0000"/>
              </a:solidFill>
              <a:latin typeface="黑体" panose="02010609060101010101" pitchFamily="49" charset="-122"/>
            </a:endParaRPr>
          </a:p>
        </p:txBody>
      </p:sp>
      <p:sp>
        <p:nvSpPr>
          <p:cNvPr id="183300" name="Text Box 2"/>
          <p:cNvSpPr txBox="1">
            <a:spLocks noChangeArrowheads="1"/>
          </p:cNvSpPr>
          <p:nvPr/>
        </p:nvSpPr>
        <p:spPr bwMode="auto">
          <a:xfrm>
            <a:off x="1403635" y="622793"/>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作业规划问题</a:t>
            </a:r>
          </a:p>
        </p:txBody>
      </p:sp>
      <p:pic>
        <p:nvPicPr>
          <p:cNvPr id="183301"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44408" y="476250"/>
            <a:ext cx="899592" cy="946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3436325"/>
      </p:ext>
    </p:extLst>
  </p:cSld>
  <p:clrMapOvr>
    <a:masterClrMapping/>
  </p:clrMapOvr>
  <p:transition spd="med">
    <p:wipe dir="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89219" name="Rectangle 3"/>
              <p:cNvSpPr>
                <a:spLocks noGrp="1" noChangeArrowheads="1"/>
              </p:cNvSpPr>
              <p:nvPr>
                <p:ph idx="1"/>
              </p:nvPr>
            </p:nvSpPr>
            <p:spPr>
              <a:xfrm>
                <a:off x="323528" y="1628800"/>
                <a:ext cx="8784976" cy="4679776"/>
              </a:xfrm>
              <a:solidFill>
                <a:schemeClr val="accent3">
                  <a:lumMod val="85000"/>
                </a:schemeClr>
              </a:solidFill>
              <a:ln w="19050">
                <a:noFill/>
              </a:ln>
            </p:spPr>
            <p:txBody>
              <a:bodyPr/>
              <a:lstStyle/>
              <a:p>
                <a:pPr marL="0" indent="0">
                  <a:buNone/>
                </a:pPr>
                <a:r>
                  <a:rPr lang="en-US" altLang="zh-CN" b="1" dirty="0">
                    <a:solidFill>
                      <a:srgbClr val="FF0000"/>
                    </a:solidFill>
                    <a:latin typeface="Times New Roman" panose="02020603050405020304" pitchFamily="18" charset="0"/>
                    <a:cs typeface="楷体_GB2312" pitchFamily="49" charset="-122"/>
                  </a:rPr>
                  <a:t>      【</a:t>
                </a:r>
                <a:r>
                  <a:rPr lang="zh-CN" altLang="en-US" b="1" dirty="0">
                    <a:solidFill>
                      <a:srgbClr val="FF0000"/>
                    </a:solidFill>
                    <a:latin typeface="Times New Roman" panose="02020603050405020304" pitchFamily="18" charset="0"/>
                    <a:cs typeface="楷体_GB2312" pitchFamily="49" charset="-122"/>
                  </a:rPr>
                  <a:t>问题建模</a:t>
                </a:r>
                <a:r>
                  <a:rPr lang="en-US" altLang="zh-CN" b="1" dirty="0">
                    <a:solidFill>
                      <a:srgbClr val="FF0000"/>
                    </a:solidFill>
                    <a:latin typeface="Times New Roman" panose="02020603050405020304" pitchFamily="18" charset="0"/>
                    <a:cs typeface="楷体_GB2312" pitchFamily="49" charset="-122"/>
                  </a:rPr>
                  <a:t>】</a:t>
                </a:r>
                <a:r>
                  <a:rPr lang="zh-CN" altLang="zh-CN" b="1" dirty="0">
                    <a:solidFill>
                      <a:schemeClr val="tx1"/>
                    </a:solidFill>
                    <a:effectLst/>
                  </a:rPr>
                  <a:t>设</a:t>
                </a:r>
                <a:r>
                  <a:rPr lang="en-US" altLang="zh-CN" b="1" dirty="0">
                    <a:solidFill>
                      <a:schemeClr val="tx1"/>
                    </a:solidFill>
                    <a:effectLst/>
                  </a:rPr>
                  <a:t>PERT</a:t>
                </a:r>
                <a:r>
                  <a:rPr lang="zh-CN" altLang="zh-CN" b="1" dirty="0">
                    <a:solidFill>
                      <a:schemeClr val="tx1"/>
                    </a:solidFill>
                    <a:effectLst/>
                  </a:rPr>
                  <a:t>图</a:t>
                </a:r>
                <a14:m>
                  <m:oMath xmlns:m="http://schemas.openxmlformats.org/officeDocument/2006/math">
                    <m:r>
                      <a:rPr lang="en-US" altLang="zh-CN" b="1" i="1">
                        <a:solidFill>
                          <a:schemeClr val="tx1"/>
                        </a:solidFill>
                        <a:effectLst/>
                        <a:latin typeface="Cambria Math" panose="02040503050406030204" pitchFamily="18" charset="0"/>
                      </a:rPr>
                      <m:t>𝑮</m:t>
                    </m:r>
                    <m:r>
                      <a:rPr lang="en-US" altLang="zh-CN" b="1">
                        <a:solidFill>
                          <a:schemeClr val="tx1"/>
                        </a:solidFill>
                        <a:effectLst/>
                        <a:latin typeface="Cambria Math" panose="02040503050406030204" pitchFamily="18" charset="0"/>
                      </a:rPr>
                      <m:t>=</m:t>
                    </m:r>
                    <m:d>
                      <m:dPr>
                        <m:begChr m:val="〈"/>
                        <m:endChr m:val="〉"/>
                        <m:ctrlPr>
                          <a:rPr lang="zh-CN" altLang="zh-CN" b="1" i="1">
                            <a:solidFill>
                              <a:schemeClr val="tx1"/>
                            </a:solidFill>
                            <a:effectLst/>
                            <a:latin typeface="Cambria Math" panose="02040503050406030204" pitchFamily="18" charset="0"/>
                          </a:rPr>
                        </m:ctrlPr>
                      </m:dPr>
                      <m:e>
                        <m:r>
                          <a:rPr lang="en-US" altLang="zh-CN" b="1" i="1">
                            <a:solidFill>
                              <a:schemeClr val="tx1"/>
                            </a:solidFill>
                            <a:effectLst/>
                            <a:latin typeface="Cambria Math" panose="02040503050406030204" pitchFamily="18" charset="0"/>
                          </a:rPr>
                          <m:t>𝑽</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𝑬</m:t>
                        </m:r>
                      </m:e>
                    </m:d>
                  </m:oMath>
                </a14:m>
                <a:r>
                  <a:rPr lang="zh-CN" altLang="zh-CN" b="1" dirty="0">
                    <a:solidFill>
                      <a:schemeClr val="tx1"/>
                    </a:solidFill>
                    <a:effectLst/>
                  </a:rPr>
                  <a:t>的</a:t>
                </a:r>
                <a:r>
                  <a:rPr lang="zh-CN" altLang="en-US" b="1" dirty="0">
                    <a:solidFill>
                      <a:schemeClr val="tx1"/>
                    </a:solidFill>
                    <a:effectLst/>
                  </a:rPr>
                  <a:t>结</a:t>
                </a:r>
                <a:r>
                  <a:rPr lang="zh-CN" altLang="zh-CN" b="1" dirty="0">
                    <a:solidFill>
                      <a:schemeClr val="tx1"/>
                    </a:solidFill>
                    <a:effectLst/>
                  </a:rPr>
                  <a:t>点编号</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𝟏</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𝟐</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𝒏</m:t>
                        </m:r>
                      </m:sub>
                    </m:sSub>
                  </m:oMath>
                </a14:m>
                <a:r>
                  <a:rPr lang="zh-CN" altLang="zh-CN" b="1" dirty="0">
                    <a:solidFill>
                      <a:schemeClr val="tx1"/>
                    </a:solidFill>
                    <a:effectLst/>
                  </a:rPr>
                  <a:t>，使得边</a:t>
                </a:r>
                <a14:m>
                  <m:oMath xmlns:m="http://schemas.openxmlformats.org/officeDocument/2006/math">
                    <m:r>
                      <a:rPr lang="en-US" altLang="zh-CN" b="1" i="1">
                        <a:solidFill>
                          <a:schemeClr val="tx1"/>
                        </a:solidFill>
                        <a:effectLst/>
                        <a:latin typeface="Cambria Math" panose="02040503050406030204" pitchFamily="18" charset="0"/>
                      </a:rPr>
                      <m:t>𝒆</m:t>
                    </m:r>
                    <m:r>
                      <a:rPr lang="en-US" altLang="zh-CN" b="1">
                        <a:solidFill>
                          <a:schemeClr val="tx1"/>
                        </a:solidFill>
                        <a:effectLst/>
                        <a:latin typeface="Cambria Math" panose="02040503050406030204" pitchFamily="18" charset="0"/>
                      </a:rPr>
                      <m:t>=</m:t>
                    </m:r>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𝒋</m:t>
                            </m:r>
                          </m:sub>
                        </m:sSub>
                      </m:e>
                    </m:d>
                    <m:r>
                      <a:rPr lang="en-US" altLang="zh-CN" b="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𝑬</m:t>
                    </m:r>
                  </m:oMath>
                </a14:m>
                <a:r>
                  <a:rPr lang="zh-CN" altLang="zh-CN" b="1" dirty="0">
                    <a:solidFill>
                      <a:schemeClr val="tx1"/>
                    </a:solidFill>
                    <a:effectLst/>
                  </a:rPr>
                  <a:t>蕴含</a:t>
                </a:r>
                <a14:m>
                  <m:oMath xmlns:m="http://schemas.openxmlformats.org/officeDocument/2006/math">
                    <m:r>
                      <a:rPr lang="en-US" altLang="zh-CN" b="1" i="1">
                        <a:solidFill>
                          <a:schemeClr val="tx1"/>
                        </a:solidFill>
                        <a:effectLst/>
                        <a:latin typeface="Cambria Math" panose="02040503050406030204" pitchFamily="18" charset="0"/>
                      </a:rPr>
                      <m:t>𝒊</m:t>
                    </m:r>
                    <m:r>
                      <a:rPr lang="en-US" altLang="zh-CN" b="1" i="1">
                        <a:solidFill>
                          <a:schemeClr val="tx1"/>
                        </a:solidFill>
                        <a:effectLst/>
                        <a:latin typeface="Cambria Math" panose="02040503050406030204" pitchFamily="18" charset="0"/>
                      </a:rPr>
                      <m:t>&lt;</m:t>
                    </m:r>
                    <m:r>
                      <a:rPr lang="en-US" altLang="zh-CN" b="1" i="1">
                        <a:solidFill>
                          <a:schemeClr val="tx1"/>
                        </a:solidFill>
                        <a:effectLst/>
                        <a:latin typeface="Cambria Math" panose="02040503050406030204" pitchFamily="18" charset="0"/>
                      </a:rPr>
                      <m:t>𝒋</m:t>
                    </m:r>
                  </m:oMath>
                </a14:m>
                <a:r>
                  <a:rPr lang="zh-CN" altLang="zh-CN" b="1" dirty="0">
                    <a:solidFill>
                      <a:schemeClr val="tx1"/>
                    </a:solidFill>
                    <a:effectLst/>
                  </a:rPr>
                  <a:t>。令</a:t>
                </a:r>
                <a:r>
                  <a:rPr lang="zh-CN" altLang="en-US" b="1" dirty="0">
                    <a:solidFill>
                      <a:schemeClr val="tx1"/>
                    </a:solidFill>
                    <a:effectLst/>
                  </a:rPr>
                  <a:t>：</a:t>
                </a:r>
                <a:endParaRPr lang="en-US" altLang="zh-CN" b="1" i="1" dirty="0">
                  <a:solidFill>
                    <a:schemeClr val="tx1"/>
                  </a:solidFill>
                  <a:effectLst/>
                  <a:latin typeface="Cambria Math" panose="02040503050406030204" pitchFamily="18" charset="0"/>
                </a:endParaRPr>
              </a:p>
              <a:p>
                <a:pPr marL="0" indent="0" algn="ctr">
                  <a:buNone/>
                </a:pPr>
                <a14:m>
                  <m:oMath xmlns:m="http://schemas.openxmlformats.org/officeDocument/2006/math">
                    <m:sSub>
                      <m:sSubPr>
                        <m:ctrlPr>
                          <a:rPr lang="zh-CN" altLang="zh-CN" b="1" i="1" smtClean="0">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𝝅</m:t>
                        </m:r>
                      </m:e>
                      <m:sub>
                        <m:r>
                          <a:rPr lang="en-US" altLang="zh-CN" b="1" i="1">
                            <a:solidFill>
                              <a:srgbClr val="CC00FF"/>
                            </a:solidFill>
                            <a:effectLst/>
                            <a:latin typeface="Cambria Math" panose="02040503050406030204" pitchFamily="18" charset="0"/>
                          </a:rPr>
                          <m:t>𝟏</m:t>
                        </m:r>
                      </m:sub>
                    </m:sSub>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𝟎</m:t>
                    </m:r>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𝝅</m:t>
                        </m:r>
                      </m:e>
                      <m:sub>
                        <m:r>
                          <a:rPr lang="en-US" altLang="zh-CN" b="1" i="1">
                            <a:solidFill>
                              <a:srgbClr val="CC00FF"/>
                            </a:solidFill>
                            <a:effectLst/>
                            <a:latin typeface="Cambria Math" panose="02040503050406030204" pitchFamily="18" charset="0"/>
                          </a:rPr>
                          <m:t>𝒋</m:t>
                        </m:r>
                      </m:sub>
                    </m:sSub>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𝒎𝒂𝒙</m:t>
                    </m:r>
                    <m:r>
                      <a:rPr lang="en-US" altLang="zh-CN" b="1" i="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𝝅</m:t>
                        </m:r>
                      </m:e>
                      <m:sub>
                        <m:r>
                          <a:rPr lang="en-US" altLang="zh-CN" b="1" i="1">
                            <a:solidFill>
                              <a:srgbClr val="CC00FF"/>
                            </a:solidFill>
                            <a:effectLst/>
                            <a:latin typeface="Cambria Math" panose="02040503050406030204" pitchFamily="18" charset="0"/>
                          </a:rPr>
                          <m:t>𝒎</m:t>
                        </m:r>
                      </m:sub>
                    </m:sSub>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𝒘</m:t>
                    </m:r>
                    <m:r>
                      <a:rPr lang="en-US" altLang="zh-CN" b="1" i="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𝒎</m:t>
                        </m:r>
                      </m:sub>
                    </m:sSub>
                    <m:r>
                      <a:rPr lang="en-US" altLang="zh-CN" b="1" i="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𝒋</m:t>
                        </m:r>
                      </m:sub>
                    </m:sSub>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𝟏</m:t>
                    </m:r>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𝒎</m:t>
                    </m:r>
                    <m:r>
                      <a:rPr lang="en-US" altLang="zh-CN" b="1" i="1">
                        <a:solidFill>
                          <a:srgbClr val="CC00FF"/>
                        </a:solidFill>
                        <a:effectLst/>
                        <a:latin typeface="Cambria Math" panose="02040503050406030204" pitchFamily="18" charset="0"/>
                      </a:rPr>
                      <m:t>&lt;</m:t>
                    </m:r>
                    <m:r>
                      <a:rPr lang="en-US" altLang="zh-CN" b="1" i="1">
                        <a:solidFill>
                          <a:srgbClr val="CC00FF"/>
                        </a:solidFill>
                        <a:effectLst/>
                        <a:latin typeface="Cambria Math" panose="02040503050406030204" pitchFamily="18" charset="0"/>
                      </a:rPr>
                      <m:t>𝒋</m:t>
                    </m:r>
                    <m:r>
                      <a:rPr lang="en-US" altLang="zh-CN" b="1" i="1">
                        <a:solidFill>
                          <a:srgbClr val="CC00FF"/>
                        </a:solidFill>
                        <a:effectLst/>
                        <a:latin typeface="Cambria Math" panose="02040503050406030204" pitchFamily="18" charset="0"/>
                      </a:rPr>
                      <m:t>}</m:t>
                    </m:r>
                  </m:oMath>
                </a14:m>
                <a:endParaRPr lang="en-US" altLang="zh-CN" b="1" dirty="0">
                  <a:solidFill>
                    <a:srgbClr val="CC00FF"/>
                  </a:solidFill>
                  <a:effectLst/>
                </a:endParaRPr>
              </a:p>
              <a:p>
                <a:pPr marL="0" indent="0">
                  <a:buNone/>
                </a:pPr>
                <a:r>
                  <a:rPr lang="zh-CN" altLang="zh-CN" b="1" dirty="0">
                    <a:solidFill>
                      <a:schemeClr val="tx1"/>
                    </a:solidFill>
                    <a:effectLst/>
                  </a:rPr>
                  <a:t>则</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𝝅</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𝟏</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𝒊</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𝒏</m:t>
                    </m:r>
                    <m:r>
                      <a:rPr lang="en-US" altLang="zh-CN" b="1">
                        <a:solidFill>
                          <a:schemeClr val="tx1"/>
                        </a:solidFill>
                        <a:effectLst/>
                        <a:latin typeface="Cambria Math" panose="02040503050406030204" pitchFamily="18" charset="0"/>
                      </a:rPr>
                      <m:t>)</m:t>
                    </m:r>
                  </m:oMath>
                </a14:m>
                <a:r>
                  <a:rPr lang="zh-CN" altLang="zh-CN" b="1" dirty="0">
                    <a:solidFill>
                      <a:schemeClr val="tx1"/>
                    </a:solidFill>
                    <a:effectLst/>
                  </a:rPr>
                  <a:t>是作业</a:t>
                </a:r>
                <a14:m>
                  <m:oMath xmlns:m="http://schemas.openxmlformats.org/officeDocument/2006/math">
                    <m:r>
                      <a:rPr lang="en-US" altLang="zh-CN" b="1" i="1">
                        <a:solidFill>
                          <a:schemeClr val="tx1"/>
                        </a:solidFill>
                        <a:effectLst/>
                        <a:latin typeface="Cambria Math" panose="02040503050406030204" pitchFamily="18" charset="0"/>
                      </a:rPr>
                      <m:t>𝒆</m:t>
                    </m:r>
                    <m:r>
                      <a:rPr lang="en-US" altLang="zh-CN" b="1">
                        <a:solidFill>
                          <a:schemeClr val="tx1"/>
                        </a:solidFill>
                        <a:effectLst/>
                        <a:latin typeface="Cambria Math" panose="02040503050406030204" pitchFamily="18" charset="0"/>
                      </a:rPr>
                      <m:t>=</m:t>
                    </m:r>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𝒋</m:t>
                            </m:r>
                          </m:sub>
                        </m:sSub>
                      </m:e>
                    </m:d>
                  </m:oMath>
                </a14:m>
                <a:r>
                  <a:rPr lang="zh-CN" altLang="zh-CN" b="1" dirty="0">
                    <a:solidFill>
                      <a:schemeClr val="tx1"/>
                    </a:solidFill>
                    <a:effectLst/>
                  </a:rPr>
                  <a:t>的</a:t>
                </a:r>
                <a:r>
                  <a:rPr lang="zh-CN" altLang="zh-CN" b="1" dirty="0">
                    <a:solidFill>
                      <a:srgbClr val="CC00FF"/>
                    </a:solidFill>
                    <a:effectLst/>
                  </a:rPr>
                  <a:t>最早启动时间</a:t>
                </a:r>
                <a:r>
                  <a:rPr lang="zh-CN" altLang="zh-CN" b="1" dirty="0">
                    <a:solidFill>
                      <a:schemeClr val="tx1"/>
                    </a:solidFill>
                    <a:effectLst/>
                  </a:rPr>
                  <a:t>。</a:t>
                </a:r>
                <a14:m>
                  <m:oMath xmlns:m="http://schemas.openxmlformats.org/officeDocument/2006/math">
                    <m:r>
                      <a:rPr lang="en-US" altLang="zh-CN" b="1" i="1">
                        <a:solidFill>
                          <a:schemeClr val="tx1"/>
                        </a:solidFill>
                        <a:effectLst/>
                        <a:latin typeface="Cambria Math" panose="02040503050406030204" pitchFamily="18" charset="0"/>
                      </a:rPr>
                      <m:t>𝒘</m:t>
                    </m:r>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𝒎</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𝒋</m:t>
                        </m:r>
                      </m:sub>
                    </m:sSub>
                    <m:r>
                      <a:rPr lang="en-US" altLang="zh-CN" b="1" i="1">
                        <a:solidFill>
                          <a:schemeClr val="tx1"/>
                        </a:solidFill>
                        <a:effectLst/>
                        <a:latin typeface="Cambria Math" panose="02040503050406030204" pitchFamily="18" charset="0"/>
                      </a:rPr>
                      <m:t>)</m:t>
                    </m:r>
                  </m:oMath>
                </a14:m>
                <a:r>
                  <a:rPr lang="zh-CN" altLang="zh-CN" b="1" dirty="0">
                    <a:solidFill>
                      <a:schemeClr val="tx1"/>
                    </a:solidFill>
                    <a:effectLst/>
                  </a:rPr>
                  <a:t>定义为：</a:t>
                </a:r>
              </a:p>
              <a:p>
                <a:pPr marL="0" indent="0">
                  <a:buNone/>
                </a:pPr>
                <a14:m>
                  <m:oMathPara xmlns:m="http://schemas.openxmlformats.org/officeDocument/2006/math">
                    <m:oMathParaPr>
                      <m:jc m:val="centerGroup"/>
                    </m:oMathParaPr>
                    <m:oMath xmlns:m="http://schemas.openxmlformats.org/officeDocument/2006/math">
                      <m:r>
                        <a:rPr lang="en-US" altLang="zh-CN" b="1" i="1" smtClean="0">
                          <a:solidFill>
                            <a:schemeClr val="accent2"/>
                          </a:solidFill>
                          <a:effectLst/>
                          <a:latin typeface="Cambria Math" panose="02040503050406030204" pitchFamily="18" charset="0"/>
                        </a:rPr>
                        <m:t>𝒘</m:t>
                      </m:r>
                      <m:d>
                        <m:dPr>
                          <m:ctrlPr>
                            <a:rPr lang="zh-CN" altLang="zh-CN" b="1" i="1">
                              <a:solidFill>
                                <a:schemeClr val="accent2"/>
                              </a:solidFill>
                              <a:effectLst/>
                              <a:latin typeface="Cambria Math" panose="02040503050406030204" pitchFamily="18" charset="0"/>
                            </a:rPr>
                          </m:ctrlPr>
                        </m:dPr>
                        <m:e>
                          <m:sSub>
                            <m:sSubPr>
                              <m:ctrlPr>
                                <a:rPr lang="zh-CN" altLang="zh-CN" b="1" i="1">
                                  <a:solidFill>
                                    <a:schemeClr val="accent2"/>
                                  </a:solidFill>
                                  <a:effectLst/>
                                  <a:latin typeface="Cambria Math" panose="02040503050406030204" pitchFamily="18" charset="0"/>
                                </a:rPr>
                              </m:ctrlPr>
                            </m:sSubPr>
                            <m:e>
                              <m:r>
                                <a:rPr lang="en-US" altLang="zh-CN" b="1" i="1">
                                  <a:solidFill>
                                    <a:schemeClr val="accent2"/>
                                  </a:solidFill>
                                  <a:effectLst/>
                                  <a:latin typeface="Cambria Math" panose="02040503050406030204" pitchFamily="18" charset="0"/>
                                </a:rPr>
                                <m:t>𝒗</m:t>
                              </m:r>
                            </m:e>
                            <m:sub>
                              <m:r>
                                <a:rPr lang="en-US" altLang="zh-CN" b="1" i="1">
                                  <a:solidFill>
                                    <a:schemeClr val="accent2"/>
                                  </a:solidFill>
                                  <a:effectLst/>
                                  <a:latin typeface="Cambria Math" panose="02040503050406030204" pitchFamily="18" charset="0"/>
                                </a:rPr>
                                <m:t>𝒎</m:t>
                              </m:r>
                            </m:sub>
                          </m:sSub>
                          <m:r>
                            <a:rPr lang="en-US" altLang="zh-CN" b="1" i="1">
                              <a:solidFill>
                                <a:schemeClr val="accent2"/>
                              </a:solidFill>
                              <a:effectLst/>
                              <a:latin typeface="Cambria Math" panose="02040503050406030204" pitchFamily="18" charset="0"/>
                            </a:rPr>
                            <m:t>,</m:t>
                          </m:r>
                          <m:sSub>
                            <m:sSubPr>
                              <m:ctrlPr>
                                <a:rPr lang="zh-CN" altLang="zh-CN" b="1" i="1">
                                  <a:solidFill>
                                    <a:schemeClr val="accent2"/>
                                  </a:solidFill>
                                  <a:effectLst/>
                                  <a:latin typeface="Cambria Math" panose="02040503050406030204" pitchFamily="18" charset="0"/>
                                </a:rPr>
                              </m:ctrlPr>
                            </m:sSubPr>
                            <m:e>
                              <m:r>
                                <a:rPr lang="en-US" altLang="zh-CN" b="1" i="1">
                                  <a:solidFill>
                                    <a:schemeClr val="accent2"/>
                                  </a:solidFill>
                                  <a:effectLst/>
                                  <a:latin typeface="Cambria Math" panose="02040503050406030204" pitchFamily="18" charset="0"/>
                                </a:rPr>
                                <m:t>𝒗</m:t>
                              </m:r>
                            </m:e>
                            <m:sub>
                              <m:r>
                                <a:rPr lang="en-US" altLang="zh-CN" b="1" i="1">
                                  <a:solidFill>
                                    <a:schemeClr val="accent2"/>
                                  </a:solidFill>
                                  <a:effectLst/>
                                  <a:latin typeface="Cambria Math" panose="02040503050406030204" pitchFamily="18" charset="0"/>
                                </a:rPr>
                                <m:t>𝒋</m:t>
                              </m:r>
                            </m:sub>
                          </m:sSub>
                        </m:e>
                      </m:d>
                      <m:r>
                        <a:rPr lang="en-US" altLang="zh-CN" b="1">
                          <a:solidFill>
                            <a:schemeClr val="accent2"/>
                          </a:solidFill>
                          <a:effectLst/>
                          <a:latin typeface="Cambria Math" panose="02040503050406030204" pitchFamily="18" charset="0"/>
                        </a:rPr>
                        <m:t>=</m:t>
                      </m:r>
                      <m:d>
                        <m:dPr>
                          <m:begChr m:val="{"/>
                          <m:endChr m:val=""/>
                          <m:ctrlPr>
                            <a:rPr lang="zh-CN" altLang="zh-CN" b="1" i="1">
                              <a:solidFill>
                                <a:schemeClr val="accent2"/>
                              </a:solidFill>
                              <a:effectLst/>
                              <a:latin typeface="Cambria Math" panose="02040503050406030204" pitchFamily="18" charset="0"/>
                            </a:rPr>
                          </m:ctrlPr>
                        </m:dPr>
                        <m:e>
                          <m:eqArr>
                            <m:eqArrPr>
                              <m:ctrlPr>
                                <a:rPr lang="zh-CN" altLang="zh-CN" b="1" i="1">
                                  <a:solidFill>
                                    <a:schemeClr val="accent2"/>
                                  </a:solidFill>
                                  <a:effectLst/>
                                  <a:latin typeface="Cambria Math" panose="02040503050406030204" pitchFamily="18" charset="0"/>
                                </a:rPr>
                              </m:ctrlPr>
                            </m:eqArrPr>
                            <m:e>
                              <m:r>
                                <a:rPr lang="zh-CN" altLang="zh-CN" b="1">
                                  <a:solidFill>
                                    <a:schemeClr val="accent2"/>
                                  </a:solidFill>
                                  <a:effectLst/>
                                  <a:latin typeface="Cambria Math" panose="02040503050406030204" pitchFamily="18" charset="0"/>
                                </a:rPr>
                                <m:t>边</m:t>
                              </m:r>
                              <m:d>
                                <m:dPr>
                                  <m:begChr m:val="〈"/>
                                  <m:endChr m:val="〉"/>
                                  <m:ctrlPr>
                                    <a:rPr lang="zh-CN" altLang="zh-CN" b="1" i="1">
                                      <a:solidFill>
                                        <a:schemeClr val="accent2"/>
                                      </a:solidFill>
                                      <a:effectLst/>
                                      <a:latin typeface="Cambria Math" panose="02040503050406030204" pitchFamily="18" charset="0"/>
                                    </a:rPr>
                                  </m:ctrlPr>
                                </m:dPr>
                                <m:e>
                                  <m:sSub>
                                    <m:sSubPr>
                                      <m:ctrlPr>
                                        <a:rPr lang="zh-CN" altLang="zh-CN" b="1" i="1">
                                          <a:solidFill>
                                            <a:schemeClr val="accent2"/>
                                          </a:solidFill>
                                          <a:effectLst/>
                                          <a:latin typeface="Cambria Math" panose="02040503050406030204" pitchFamily="18" charset="0"/>
                                        </a:rPr>
                                      </m:ctrlPr>
                                    </m:sSubPr>
                                    <m:e>
                                      <m:r>
                                        <a:rPr lang="en-US" altLang="zh-CN" b="1" i="1">
                                          <a:solidFill>
                                            <a:schemeClr val="accent2"/>
                                          </a:solidFill>
                                          <a:effectLst/>
                                          <a:latin typeface="Cambria Math" panose="02040503050406030204" pitchFamily="18" charset="0"/>
                                        </a:rPr>
                                        <m:t>𝒗</m:t>
                                      </m:r>
                                    </m:e>
                                    <m:sub>
                                      <m:r>
                                        <a:rPr lang="en-US" altLang="zh-CN" b="1" i="1">
                                          <a:solidFill>
                                            <a:schemeClr val="accent2"/>
                                          </a:solidFill>
                                          <a:effectLst/>
                                          <a:latin typeface="Cambria Math" panose="02040503050406030204" pitchFamily="18" charset="0"/>
                                        </a:rPr>
                                        <m:t>𝒎</m:t>
                                      </m:r>
                                    </m:sub>
                                  </m:sSub>
                                  <m:r>
                                    <a:rPr lang="en-US" altLang="zh-CN" b="1" i="1">
                                      <a:solidFill>
                                        <a:schemeClr val="accent2"/>
                                      </a:solidFill>
                                      <a:effectLst/>
                                      <a:latin typeface="Cambria Math" panose="02040503050406030204" pitchFamily="18" charset="0"/>
                                    </a:rPr>
                                    <m:t>,</m:t>
                                  </m:r>
                                  <m:sSub>
                                    <m:sSubPr>
                                      <m:ctrlPr>
                                        <a:rPr lang="zh-CN" altLang="zh-CN" b="1" i="1">
                                          <a:solidFill>
                                            <a:schemeClr val="accent2"/>
                                          </a:solidFill>
                                          <a:effectLst/>
                                          <a:latin typeface="Cambria Math" panose="02040503050406030204" pitchFamily="18" charset="0"/>
                                        </a:rPr>
                                      </m:ctrlPr>
                                    </m:sSubPr>
                                    <m:e>
                                      <m:r>
                                        <a:rPr lang="en-US" altLang="zh-CN" b="1" i="1">
                                          <a:solidFill>
                                            <a:schemeClr val="accent2"/>
                                          </a:solidFill>
                                          <a:effectLst/>
                                          <a:latin typeface="Cambria Math" panose="02040503050406030204" pitchFamily="18" charset="0"/>
                                        </a:rPr>
                                        <m:t>𝒗</m:t>
                                      </m:r>
                                    </m:e>
                                    <m:sub>
                                      <m:r>
                                        <a:rPr lang="en-US" altLang="zh-CN" b="1" i="1">
                                          <a:solidFill>
                                            <a:schemeClr val="accent2"/>
                                          </a:solidFill>
                                          <a:effectLst/>
                                          <a:latin typeface="Cambria Math" panose="02040503050406030204" pitchFamily="18" charset="0"/>
                                        </a:rPr>
                                        <m:t>𝒋</m:t>
                                      </m:r>
                                    </m:sub>
                                  </m:sSub>
                                </m:e>
                              </m:d>
                              <m:r>
                                <a:rPr lang="zh-CN" altLang="zh-CN" b="1">
                                  <a:solidFill>
                                    <a:schemeClr val="accent2"/>
                                  </a:solidFill>
                                  <a:effectLst/>
                                  <a:latin typeface="Cambria Math" panose="02040503050406030204" pitchFamily="18" charset="0"/>
                                </a:rPr>
                                <m:t>的非负实数权，</m:t>
                              </m:r>
                            </m:e>
                            <m:e>
                              <m:r>
                                <a:rPr lang="en-US" altLang="zh-CN" b="1" i="1">
                                  <a:solidFill>
                                    <a:schemeClr val="accent2"/>
                                  </a:solidFill>
                                  <a:effectLst/>
                                  <a:latin typeface="Cambria Math" panose="02040503050406030204" pitchFamily="18" charset="0"/>
                                </a:rPr>
                                <m:t>−∞</m:t>
                              </m:r>
                              <m:r>
                                <a:rPr lang="zh-CN" altLang="zh-CN" b="1">
                                  <a:solidFill>
                                    <a:schemeClr val="accent2"/>
                                  </a:solidFill>
                                  <a:effectLst/>
                                  <a:latin typeface="Cambria Math" panose="02040503050406030204" pitchFamily="18" charset="0"/>
                                </a:rPr>
                                <m:t>，</m:t>
                              </m:r>
                            </m:e>
                          </m:eqArr>
                          <m:f>
                            <m:fPr>
                              <m:type m:val="noBar"/>
                              <m:ctrlPr>
                                <a:rPr lang="zh-CN" altLang="zh-CN" b="1" i="1">
                                  <a:solidFill>
                                    <a:schemeClr val="accent2"/>
                                  </a:solidFill>
                                  <a:effectLst/>
                                  <a:latin typeface="Cambria Math" panose="02040503050406030204" pitchFamily="18" charset="0"/>
                                </a:rPr>
                              </m:ctrlPr>
                            </m:fPr>
                            <m:num>
                              <m:r>
                                <a:rPr lang="zh-CN" altLang="zh-CN" b="1">
                                  <a:solidFill>
                                    <a:schemeClr val="accent2"/>
                                  </a:solidFill>
                                  <a:effectLst/>
                                  <a:latin typeface="Cambria Math" panose="02040503050406030204" pitchFamily="18" charset="0"/>
                                </a:rPr>
                                <m:t>若</m:t>
                              </m:r>
                              <m:d>
                                <m:dPr>
                                  <m:begChr m:val="〈"/>
                                  <m:endChr m:val="〉"/>
                                  <m:ctrlPr>
                                    <a:rPr lang="zh-CN" altLang="zh-CN" b="1" i="1">
                                      <a:solidFill>
                                        <a:schemeClr val="accent2"/>
                                      </a:solidFill>
                                      <a:effectLst/>
                                      <a:latin typeface="Cambria Math" panose="02040503050406030204" pitchFamily="18" charset="0"/>
                                    </a:rPr>
                                  </m:ctrlPr>
                                </m:dPr>
                                <m:e>
                                  <m:sSub>
                                    <m:sSubPr>
                                      <m:ctrlPr>
                                        <a:rPr lang="zh-CN" altLang="zh-CN" b="1" i="1">
                                          <a:solidFill>
                                            <a:schemeClr val="accent2"/>
                                          </a:solidFill>
                                          <a:effectLst/>
                                          <a:latin typeface="Cambria Math" panose="02040503050406030204" pitchFamily="18" charset="0"/>
                                        </a:rPr>
                                      </m:ctrlPr>
                                    </m:sSubPr>
                                    <m:e>
                                      <m:r>
                                        <a:rPr lang="en-US" altLang="zh-CN" b="1" i="1">
                                          <a:solidFill>
                                            <a:schemeClr val="accent2"/>
                                          </a:solidFill>
                                          <a:effectLst/>
                                          <a:latin typeface="Cambria Math" panose="02040503050406030204" pitchFamily="18" charset="0"/>
                                        </a:rPr>
                                        <m:t>𝒗</m:t>
                                      </m:r>
                                    </m:e>
                                    <m:sub>
                                      <m:r>
                                        <a:rPr lang="en-US" altLang="zh-CN" b="1" i="1">
                                          <a:solidFill>
                                            <a:schemeClr val="accent2"/>
                                          </a:solidFill>
                                          <a:effectLst/>
                                          <a:latin typeface="Cambria Math" panose="02040503050406030204" pitchFamily="18" charset="0"/>
                                        </a:rPr>
                                        <m:t>𝒎</m:t>
                                      </m:r>
                                    </m:sub>
                                  </m:sSub>
                                  <m:r>
                                    <a:rPr lang="en-US" altLang="zh-CN" b="1" i="1">
                                      <a:solidFill>
                                        <a:schemeClr val="accent2"/>
                                      </a:solidFill>
                                      <a:effectLst/>
                                      <a:latin typeface="Cambria Math" panose="02040503050406030204" pitchFamily="18" charset="0"/>
                                    </a:rPr>
                                    <m:t>,</m:t>
                                  </m:r>
                                  <m:sSub>
                                    <m:sSubPr>
                                      <m:ctrlPr>
                                        <a:rPr lang="zh-CN" altLang="zh-CN" b="1" i="1">
                                          <a:solidFill>
                                            <a:schemeClr val="accent2"/>
                                          </a:solidFill>
                                          <a:effectLst/>
                                          <a:latin typeface="Cambria Math" panose="02040503050406030204" pitchFamily="18" charset="0"/>
                                        </a:rPr>
                                      </m:ctrlPr>
                                    </m:sSubPr>
                                    <m:e>
                                      <m:r>
                                        <a:rPr lang="en-US" altLang="zh-CN" b="1" i="1">
                                          <a:solidFill>
                                            <a:schemeClr val="accent2"/>
                                          </a:solidFill>
                                          <a:effectLst/>
                                          <a:latin typeface="Cambria Math" panose="02040503050406030204" pitchFamily="18" charset="0"/>
                                        </a:rPr>
                                        <m:t>𝒗</m:t>
                                      </m:r>
                                    </m:e>
                                    <m:sub>
                                      <m:r>
                                        <a:rPr lang="en-US" altLang="zh-CN" b="1" i="1">
                                          <a:solidFill>
                                            <a:schemeClr val="accent2"/>
                                          </a:solidFill>
                                          <a:effectLst/>
                                          <a:latin typeface="Cambria Math" panose="02040503050406030204" pitchFamily="18" charset="0"/>
                                        </a:rPr>
                                        <m:t>𝒋</m:t>
                                      </m:r>
                                    </m:sub>
                                  </m:sSub>
                                </m:e>
                              </m:d>
                              <m:r>
                                <a:rPr lang="en-US" altLang="zh-CN" b="1" i="1">
                                  <a:solidFill>
                                    <a:schemeClr val="accent2"/>
                                  </a:solidFill>
                                  <a:effectLst/>
                                  <a:latin typeface="Cambria Math" panose="02040503050406030204" pitchFamily="18" charset="0"/>
                                </a:rPr>
                                <m:t>∈</m:t>
                              </m:r>
                              <m:r>
                                <a:rPr lang="en-US" altLang="zh-CN" b="1" i="1">
                                  <a:solidFill>
                                    <a:schemeClr val="accent2"/>
                                  </a:solidFill>
                                  <a:effectLst/>
                                  <a:latin typeface="Cambria Math" panose="02040503050406030204" pitchFamily="18" charset="0"/>
                                </a:rPr>
                                <m:t>𝑬</m:t>
                              </m:r>
                              <m:r>
                                <a:rPr lang="zh-CN" altLang="zh-CN" b="1">
                                  <a:solidFill>
                                    <a:schemeClr val="accent2"/>
                                  </a:solidFill>
                                  <a:effectLst/>
                                  <a:latin typeface="Cambria Math" panose="02040503050406030204" pitchFamily="18" charset="0"/>
                                </a:rPr>
                                <m:t>；</m:t>
                              </m:r>
                            </m:num>
                            <m:den>
                              <m:r>
                                <a:rPr lang="zh-CN" altLang="zh-CN" b="1">
                                  <a:solidFill>
                                    <a:schemeClr val="accent2"/>
                                  </a:solidFill>
                                  <a:effectLst/>
                                  <a:latin typeface="Cambria Math" panose="02040503050406030204" pitchFamily="18" charset="0"/>
                                </a:rPr>
                                <m:t>否则</m:t>
                              </m:r>
                            </m:den>
                          </m:f>
                        </m:e>
                      </m:d>
                    </m:oMath>
                  </m:oMathPara>
                </a14:m>
                <a:endParaRPr lang="en-US" altLang="zh-CN" b="1" dirty="0">
                  <a:solidFill>
                    <a:schemeClr val="tx1"/>
                  </a:solidFill>
                  <a:effectLst/>
                </a:endParaRPr>
              </a:p>
              <a:p>
                <a:pPr marL="0" indent="0">
                  <a:buNone/>
                </a:pPr>
                <a:r>
                  <a:rPr lang="en-US" altLang="zh-CN" b="1" dirty="0">
                    <a:solidFill>
                      <a:schemeClr val="tx1"/>
                    </a:solidFill>
                    <a:effectLst/>
                  </a:rPr>
                  <a:t>       </a:t>
                </a:r>
                <a:r>
                  <a:rPr lang="zh-CN" altLang="zh-CN" b="1" dirty="0">
                    <a:solidFill>
                      <a:schemeClr val="tx1"/>
                    </a:solidFill>
                    <a:effectLst/>
                  </a:rPr>
                  <a:t>令</a:t>
                </a:r>
                <a:r>
                  <a:rPr lang="zh-CN" altLang="en-US" b="1" dirty="0">
                    <a:solidFill>
                      <a:schemeClr val="tx1"/>
                    </a:solidFill>
                    <a:effectLst/>
                  </a:rPr>
                  <a:t>：</a:t>
                </a:r>
                <a:endParaRPr lang="en-US" altLang="zh-CN" b="1" i="1" dirty="0">
                  <a:solidFill>
                    <a:schemeClr val="tx1"/>
                  </a:solidFill>
                  <a:effectLst/>
                  <a:latin typeface="Cambria Math" panose="02040503050406030204" pitchFamily="18" charset="0"/>
                </a:endParaRPr>
              </a:p>
              <a:p>
                <a:pPr marL="0" indent="0" algn="ctr">
                  <a:buNone/>
                </a:pPr>
                <a14:m>
                  <m:oMath xmlns:m="http://schemas.openxmlformats.org/officeDocument/2006/math">
                    <m:sSub>
                      <m:sSubPr>
                        <m:ctrlPr>
                          <a:rPr lang="zh-CN" altLang="zh-CN" b="1" i="1" smtClean="0">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𝝉</m:t>
                        </m:r>
                      </m:e>
                      <m:sub>
                        <m:r>
                          <a:rPr lang="en-US" altLang="zh-CN" b="1" i="1">
                            <a:solidFill>
                              <a:srgbClr val="CC00FF"/>
                            </a:solidFill>
                            <a:effectLst/>
                            <a:latin typeface="Cambria Math" panose="02040503050406030204" pitchFamily="18" charset="0"/>
                          </a:rPr>
                          <m:t>𝒏</m:t>
                        </m:r>
                      </m:sub>
                    </m:sSub>
                    <m:r>
                      <a:rPr lang="en-US" altLang="zh-CN" b="1" i="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𝝅</m:t>
                        </m:r>
                      </m:e>
                      <m:sub>
                        <m:r>
                          <a:rPr lang="en-US" altLang="zh-CN" b="1" i="1">
                            <a:solidFill>
                              <a:srgbClr val="CC00FF"/>
                            </a:solidFill>
                            <a:effectLst/>
                            <a:latin typeface="Cambria Math" panose="02040503050406030204" pitchFamily="18" charset="0"/>
                          </a:rPr>
                          <m:t>𝒏</m:t>
                        </m:r>
                      </m:sub>
                    </m:sSub>
                  </m:oMath>
                </a14:m>
                <a:r>
                  <a:rPr lang="zh-CN" altLang="zh-CN" b="1" dirty="0">
                    <a:solidFill>
                      <a:srgbClr val="CC00FF"/>
                    </a:solidFill>
                    <a:effectLst/>
                  </a:rPr>
                  <a:t>，</a:t>
                </a:r>
                <a14:m>
                  <m:oMath xmlns:m="http://schemas.openxmlformats.org/officeDocument/2006/math">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𝝉</m:t>
                        </m:r>
                      </m:e>
                      <m:sub>
                        <m:r>
                          <a:rPr lang="en-US" altLang="zh-CN" b="1" i="1">
                            <a:solidFill>
                              <a:srgbClr val="CC00FF"/>
                            </a:solidFill>
                            <a:effectLst/>
                            <a:latin typeface="Cambria Math" panose="02040503050406030204" pitchFamily="18" charset="0"/>
                          </a:rPr>
                          <m:t>𝒌</m:t>
                        </m:r>
                      </m:sub>
                    </m:sSub>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𝒎𝒂𝒙</m:t>
                    </m:r>
                    <m:r>
                      <a:rPr lang="en-US" altLang="zh-CN" b="1" i="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𝝉</m:t>
                        </m:r>
                      </m:e>
                      <m:sub>
                        <m:r>
                          <a:rPr lang="en-US" altLang="zh-CN" b="1" i="1">
                            <a:solidFill>
                              <a:srgbClr val="CC00FF"/>
                            </a:solidFill>
                            <a:effectLst/>
                            <a:latin typeface="Cambria Math" panose="02040503050406030204" pitchFamily="18" charset="0"/>
                          </a:rPr>
                          <m:t>𝒌</m:t>
                        </m:r>
                      </m:sub>
                    </m:sSub>
                    <m:r>
                      <a:rPr lang="en-US" altLang="zh-CN" b="1" i="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𝝉</m:t>
                        </m:r>
                      </m:e>
                      <m:sub>
                        <m:r>
                          <a:rPr lang="en-US" altLang="zh-CN" b="1" i="1">
                            <a:solidFill>
                              <a:srgbClr val="CC00FF"/>
                            </a:solidFill>
                            <a:effectLst/>
                            <a:latin typeface="Cambria Math" panose="02040503050406030204" pitchFamily="18" charset="0"/>
                          </a:rPr>
                          <m:t>𝒌</m:t>
                        </m:r>
                      </m:sub>
                    </m:sSub>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𝒘</m:t>
                    </m:r>
                    <m:r>
                      <a:rPr lang="en-US" altLang="zh-CN" b="1" i="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𝒌</m:t>
                        </m:r>
                      </m:sub>
                    </m:sSub>
                    <m:r>
                      <a:rPr lang="en-US" altLang="zh-CN" b="1" i="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𝒎</m:t>
                        </m:r>
                      </m:sub>
                    </m:sSub>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𝒌</m:t>
                    </m:r>
                    <m:r>
                      <a:rPr lang="en-US" altLang="zh-CN" b="1" i="1">
                        <a:solidFill>
                          <a:srgbClr val="CC00FF"/>
                        </a:solidFill>
                        <a:effectLst/>
                        <a:latin typeface="Cambria Math" panose="02040503050406030204" pitchFamily="18" charset="0"/>
                      </a:rPr>
                      <m:t>&lt;</m:t>
                    </m:r>
                    <m:r>
                      <a:rPr lang="en-US" altLang="zh-CN" b="1" i="1">
                        <a:solidFill>
                          <a:srgbClr val="CC00FF"/>
                        </a:solidFill>
                        <a:effectLst/>
                        <a:latin typeface="Cambria Math" panose="02040503050406030204" pitchFamily="18" charset="0"/>
                      </a:rPr>
                      <m:t>𝒎</m:t>
                    </m:r>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𝒏</m:t>
                    </m:r>
                    <m:r>
                      <a:rPr lang="en-US" altLang="zh-CN" b="1" i="1">
                        <a:solidFill>
                          <a:srgbClr val="CC00FF"/>
                        </a:solidFill>
                        <a:effectLst/>
                        <a:latin typeface="Cambria Math" panose="02040503050406030204" pitchFamily="18" charset="0"/>
                      </a:rPr>
                      <m:t>}</m:t>
                    </m:r>
                  </m:oMath>
                </a14:m>
                <a:endParaRPr lang="en-US" altLang="zh-CN" b="1" dirty="0">
                  <a:solidFill>
                    <a:srgbClr val="CC00FF"/>
                  </a:solidFill>
                  <a:effectLst/>
                </a:endParaRPr>
              </a:p>
              <a:p>
                <a:pPr marL="0" indent="0">
                  <a:buNone/>
                </a:pPr>
                <a:r>
                  <a:rPr lang="zh-CN" altLang="zh-CN" b="1" dirty="0">
                    <a:solidFill>
                      <a:schemeClr val="tx1"/>
                    </a:solidFill>
                    <a:effectLst/>
                  </a:rPr>
                  <a:t>则</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𝝉</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𝟏</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𝒊</m:t>
                    </m:r>
                    <m:r>
                      <a:rPr lang="en-US" altLang="zh-CN" b="1" i="1">
                        <a:solidFill>
                          <a:schemeClr val="tx1"/>
                        </a:solidFill>
                        <a:effectLst/>
                        <a:latin typeface="Cambria Math" panose="02040503050406030204" pitchFamily="18" charset="0"/>
                      </a:rPr>
                      <m:t>≤</m:t>
                    </m:r>
                    <m:r>
                      <a:rPr lang="en-US" altLang="zh-CN" b="1" i="1">
                        <a:solidFill>
                          <a:schemeClr val="tx1"/>
                        </a:solidFill>
                        <a:effectLst/>
                        <a:latin typeface="Cambria Math" panose="02040503050406030204" pitchFamily="18" charset="0"/>
                      </a:rPr>
                      <m:t>𝒏</m:t>
                    </m:r>
                    <m:r>
                      <a:rPr lang="en-US" altLang="zh-CN" b="1" i="1">
                        <a:solidFill>
                          <a:schemeClr val="tx1"/>
                        </a:solidFill>
                        <a:effectLst/>
                        <a:latin typeface="Cambria Math" panose="02040503050406030204" pitchFamily="18" charset="0"/>
                      </a:rPr>
                      <m:t>)</m:t>
                    </m:r>
                  </m:oMath>
                </a14:m>
                <a:r>
                  <a:rPr lang="zh-CN" altLang="zh-CN" b="1" dirty="0">
                    <a:solidFill>
                      <a:schemeClr val="tx1"/>
                    </a:solidFill>
                    <a:effectLst/>
                  </a:rPr>
                  <a:t>是作业</a:t>
                </a:r>
                <a14:m>
                  <m:oMath xmlns:m="http://schemas.openxmlformats.org/officeDocument/2006/math">
                    <m:r>
                      <a:rPr lang="en-US" altLang="zh-CN" b="1" i="1">
                        <a:solidFill>
                          <a:schemeClr val="tx1"/>
                        </a:solidFill>
                        <a:effectLst/>
                        <a:latin typeface="Cambria Math" panose="02040503050406030204" pitchFamily="18" charset="0"/>
                      </a:rPr>
                      <m:t>𝒆</m:t>
                    </m:r>
                    <m:r>
                      <a:rPr lang="en-US" altLang="zh-CN" b="1">
                        <a:solidFill>
                          <a:schemeClr val="tx1"/>
                        </a:solidFill>
                        <a:effectLst/>
                        <a:latin typeface="Cambria Math" panose="02040503050406030204" pitchFamily="18" charset="0"/>
                      </a:rPr>
                      <m:t>=</m:t>
                    </m:r>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𝒋</m:t>
                            </m:r>
                          </m:sub>
                        </m:sSub>
                      </m:e>
                    </m:d>
                  </m:oMath>
                </a14:m>
                <a:r>
                  <a:rPr lang="zh-CN" altLang="zh-CN" b="1" dirty="0">
                    <a:solidFill>
                      <a:schemeClr val="tx1"/>
                    </a:solidFill>
                    <a:effectLst/>
                  </a:rPr>
                  <a:t>的</a:t>
                </a:r>
                <a:r>
                  <a:rPr lang="zh-CN" altLang="zh-CN" b="1" dirty="0">
                    <a:solidFill>
                      <a:srgbClr val="CC00FF"/>
                    </a:solidFill>
                    <a:effectLst/>
                  </a:rPr>
                  <a:t>最晚启动时间</a:t>
                </a:r>
                <a:r>
                  <a:rPr lang="zh-CN" altLang="zh-CN" b="1" dirty="0">
                    <a:solidFill>
                      <a:schemeClr val="tx1"/>
                    </a:solidFill>
                    <a:effectLst/>
                  </a:rPr>
                  <a:t>。</a:t>
                </a:r>
                <a:endParaRPr lang="zh-CN" altLang="en-US" b="1" dirty="0">
                  <a:solidFill>
                    <a:schemeClr val="accent6"/>
                  </a:solidFill>
                  <a:latin typeface="Times New Roman" panose="02020603050405020304" pitchFamily="18" charset="0"/>
                  <a:cs typeface="楷体_GB2312" pitchFamily="49" charset="-122"/>
                </a:endParaRPr>
              </a:p>
            </p:txBody>
          </p:sp>
        </mc:Choice>
        <mc:Fallback xmlns="">
          <p:sp>
            <p:nvSpPr>
              <p:cNvPr id="1289219" name="Rectangle 3"/>
              <p:cNvSpPr>
                <a:spLocks noGrp="1" noRot="1" noChangeAspect="1" noMove="1" noResize="1" noEditPoints="1" noAdjustHandles="1" noChangeArrowheads="1" noChangeShapeType="1" noTextEdit="1"/>
              </p:cNvSpPr>
              <p:nvPr>
                <p:ph idx="1"/>
              </p:nvPr>
            </p:nvSpPr>
            <p:spPr>
              <a:xfrm>
                <a:off x="323528" y="1628800"/>
                <a:ext cx="8784976" cy="4679776"/>
              </a:xfrm>
              <a:blipFill>
                <a:blip r:embed="rId2"/>
                <a:stretch>
                  <a:fillRect l="-1041" t="-1172" r="-625"/>
                </a:stretch>
              </a:blipFill>
              <a:ln w="19050">
                <a:noFill/>
              </a:ln>
            </p:spPr>
            <p:txBody>
              <a:bodyPr/>
              <a:lstStyle/>
              <a:p>
                <a:r>
                  <a:rPr lang="zh-CN" altLang="en-US">
                    <a:noFill/>
                  </a:rPr>
                  <a:t> </a:t>
                </a:r>
              </a:p>
            </p:txBody>
          </p:sp>
        </mc:Fallback>
      </mc:AlternateContent>
      <p:sp>
        <p:nvSpPr>
          <p:cNvPr id="183299"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3DE075-166B-493D-8B2F-91B7D5E14A7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83300" name="Text Box 2"/>
          <p:cNvSpPr txBox="1">
            <a:spLocks noChangeArrowheads="1"/>
          </p:cNvSpPr>
          <p:nvPr/>
        </p:nvSpPr>
        <p:spPr bwMode="auto">
          <a:xfrm>
            <a:off x="1367631" y="620688"/>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作业规划问题</a:t>
            </a:r>
          </a:p>
        </p:txBody>
      </p:sp>
      <p:pic>
        <p:nvPicPr>
          <p:cNvPr id="183301"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7400388"/>
      </p:ext>
    </p:extLst>
  </p:cSld>
  <p:clrMapOvr>
    <a:masterClrMapping/>
  </p:clrMapOvr>
  <p:transition spd="med">
    <p:wipe dir="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8435" name="Rectangle 3"/>
          <p:cNvSpPr>
            <a:spLocks noGrp="1" noChangeArrowheads="1"/>
          </p:cNvSpPr>
          <p:nvPr>
            <p:ph idx="1"/>
          </p:nvPr>
        </p:nvSpPr>
        <p:spPr>
          <a:xfrm>
            <a:off x="611560" y="2060848"/>
            <a:ext cx="7776864" cy="517694"/>
          </a:xfrm>
          <a:solidFill>
            <a:schemeClr val="accent5"/>
          </a:solidFill>
          <a:ln>
            <a:noFill/>
          </a:ln>
        </p:spPr>
        <p:txBody>
          <a:bodyPr/>
          <a:lstStyle/>
          <a:p>
            <a:pPr marL="0" indent="0">
              <a:buNone/>
            </a:pPr>
            <a:r>
              <a:rPr lang="zh-CN" altLang="zh-CN" b="1" dirty="0">
                <a:solidFill>
                  <a:srgbClr val="FF0000"/>
                </a:solidFill>
                <a:effectLst/>
              </a:rPr>
              <a:t>【例题】</a:t>
            </a:r>
            <a:r>
              <a:rPr lang="zh-CN" altLang="zh-CN" b="1" dirty="0">
                <a:effectLst/>
              </a:rPr>
              <a:t>如</a:t>
            </a:r>
            <a:r>
              <a:rPr lang="zh-CN" altLang="en-US" b="1" dirty="0">
                <a:effectLst/>
              </a:rPr>
              <a:t>下</a:t>
            </a:r>
            <a:r>
              <a:rPr lang="zh-CN" altLang="zh-CN" b="1" dirty="0">
                <a:effectLst/>
              </a:rPr>
              <a:t>图所示的</a:t>
            </a:r>
            <a:r>
              <a:rPr lang="en-US" altLang="zh-CN" b="1" dirty="0">
                <a:effectLst/>
              </a:rPr>
              <a:t>PERT</a:t>
            </a:r>
            <a:r>
              <a:rPr lang="zh-CN" altLang="zh-CN" b="1" dirty="0">
                <a:effectLst/>
              </a:rPr>
              <a:t>图，求其关键路径。</a:t>
            </a:r>
          </a:p>
        </p:txBody>
      </p:sp>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作业规划问题</a:t>
            </a: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4"/>
          <a:stretch>
            <a:fillRect/>
          </a:stretch>
        </p:blipFill>
        <p:spPr>
          <a:xfrm>
            <a:off x="1637812" y="2733270"/>
            <a:ext cx="5976664" cy="3398104"/>
          </a:xfrm>
          <a:prstGeom prst="rect">
            <a:avLst/>
          </a:prstGeom>
        </p:spPr>
      </p:pic>
    </p:spTree>
    <p:extLst>
      <p:ext uri="{BB962C8B-B14F-4D97-AF65-F5344CB8AC3E}">
        <p14:creationId xmlns:p14="http://schemas.microsoft.com/office/powerpoint/2010/main" val="1692950091"/>
      </p:ext>
    </p:extLst>
  </p:cSld>
  <p:clrMapOvr>
    <a:masterClrMapping/>
  </p:clrMapOvr>
  <p:transition spd="med">
    <p:wipe dir="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323528" y="2060848"/>
                <a:ext cx="8568952" cy="3672408"/>
              </a:xfrm>
              <a:solidFill>
                <a:schemeClr val="accent3">
                  <a:lumMod val="95000"/>
                </a:schemeClr>
              </a:solidFill>
              <a:ln>
                <a:noFill/>
              </a:ln>
            </p:spPr>
            <p:txBody>
              <a:bodyPr/>
              <a:lstStyle/>
              <a:p>
                <a:pPr marL="0" indent="0">
                  <a:lnSpc>
                    <a:spcPct val="150000"/>
                  </a:lnSpc>
                  <a:buNone/>
                </a:pPr>
                <a:r>
                  <a:rPr lang="zh-CN" altLang="zh-CN" b="1" dirty="0">
                    <a:solidFill>
                      <a:srgbClr val="FF0000"/>
                    </a:solidFill>
                    <a:effectLst/>
                  </a:rPr>
                  <a:t>【</a:t>
                </a:r>
                <a:r>
                  <a:rPr lang="zh-CN" altLang="en-US" b="1" dirty="0">
                    <a:solidFill>
                      <a:srgbClr val="FF0000"/>
                    </a:solidFill>
                    <a:effectLst/>
                  </a:rPr>
                  <a:t>解</a:t>
                </a:r>
                <a:r>
                  <a:rPr lang="zh-CN" altLang="zh-CN" b="1" dirty="0">
                    <a:solidFill>
                      <a:srgbClr val="FF0000"/>
                    </a:solidFill>
                    <a:effectLst/>
                  </a:rPr>
                  <a:t>】</a:t>
                </a:r>
                <a:r>
                  <a:rPr lang="zh-CN" altLang="zh-CN" b="1" dirty="0">
                    <a:solidFill>
                      <a:srgbClr val="7030A0"/>
                    </a:solidFill>
                    <a:effectLst/>
                  </a:rPr>
                  <a:t>（</a:t>
                </a:r>
                <a:r>
                  <a:rPr lang="en-US" altLang="zh-CN" b="1" dirty="0">
                    <a:solidFill>
                      <a:srgbClr val="7030A0"/>
                    </a:solidFill>
                    <a:effectLst/>
                  </a:rPr>
                  <a:t>1</a:t>
                </a:r>
                <a:r>
                  <a:rPr lang="zh-CN" altLang="zh-CN" b="1" dirty="0">
                    <a:solidFill>
                      <a:srgbClr val="7030A0"/>
                    </a:solidFill>
                    <a:effectLst/>
                  </a:rPr>
                  <a:t>）</a:t>
                </a:r>
                <a:r>
                  <a:rPr lang="zh-CN" altLang="zh-CN" b="1" dirty="0">
                    <a:solidFill>
                      <a:schemeClr val="tx1"/>
                    </a:solidFill>
                    <a:effectLst/>
                  </a:rPr>
                  <a:t>先计算每个</a:t>
                </a:r>
                <a:r>
                  <a:rPr lang="zh-CN" altLang="en-US" b="1" dirty="0">
                    <a:solidFill>
                      <a:schemeClr val="tx1"/>
                    </a:solidFill>
                    <a:effectLst/>
                  </a:rPr>
                  <a:t>结</a:t>
                </a:r>
                <a:r>
                  <a:rPr lang="zh-CN" altLang="zh-CN" b="1" dirty="0">
                    <a:solidFill>
                      <a:schemeClr val="tx1"/>
                    </a:solidFill>
                    <a:effectLst/>
                  </a:rPr>
                  <a:t>点的最早启动时间。</a:t>
                </a:r>
                <a:endParaRPr lang="en-US" altLang="zh-CN" b="1" dirty="0">
                  <a:solidFill>
                    <a:schemeClr val="tx1"/>
                  </a:solidFill>
                  <a:effectLst/>
                </a:endParaRPr>
              </a:p>
              <a:p>
                <a:pPr marL="0" indent="0">
                  <a:lnSpc>
                    <a:spcPct val="150000"/>
                  </a:lnSpc>
                  <a:buNone/>
                </a:pPr>
                <a:r>
                  <a:rPr lang="en-US" altLang="zh-CN" b="1" dirty="0">
                    <a:effectLst/>
                  </a:rPr>
                  <a:t>     </a:t>
                </a:r>
                <a:r>
                  <a:rPr lang="zh-CN" altLang="zh-CN" b="1" dirty="0">
                    <a:solidFill>
                      <a:schemeClr val="tx1"/>
                    </a:solidFill>
                    <a:effectLst/>
                  </a:rPr>
                  <a:t>从源点开始计算，源点的最早启动时间为</a:t>
                </a:r>
                <a:r>
                  <a:rPr lang="en-US" altLang="zh-CN" b="1" dirty="0">
                    <a:solidFill>
                      <a:schemeClr val="tx1"/>
                    </a:solidFill>
                    <a:effectLst/>
                  </a:rPr>
                  <a:t>0</a:t>
                </a:r>
                <a:r>
                  <a:rPr lang="zh-CN" altLang="zh-CN" b="1" dirty="0">
                    <a:solidFill>
                      <a:schemeClr val="tx1"/>
                    </a:solidFill>
                    <a:effectLst/>
                  </a:rPr>
                  <a:t>；</a:t>
                </a:r>
                <a:endParaRPr lang="en-US" altLang="zh-CN" b="1" dirty="0">
                  <a:solidFill>
                    <a:schemeClr val="tx1"/>
                  </a:solidFill>
                  <a:effectLst/>
                </a:endParaRPr>
              </a:p>
              <a:p>
                <a:pPr marL="0" indent="0">
                  <a:lnSpc>
                    <a:spcPct val="150000"/>
                  </a:lnSpc>
                  <a:buNone/>
                </a:pPr>
                <a:r>
                  <a:rPr lang="en-US" altLang="zh-CN" b="1" dirty="0">
                    <a:effectLst/>
                  </a:rPr>
                  <a:t>     </a:t>
                </a:r>
                <a:r>
                  <a:rPr lang="zh-CN" altLang="zh-CN" b="1" dirty="0">
                    <a:solidFill>
                      <a:schemeClr val="tx1"/>
                    </a:solidFill>
                    <a:effectLst/>
                  </a:rPr>
                  <a:t>对于顶点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𝒊</m:t>
                        </m:r>
                      </m:sub>
                    </m:sSub>
                  </m:oMath>
                </a14:m>
                <a:r>
                  <a:rPr lang="zh-CN" altLang="zh-CN" b="1" dirty="0">
                    <a:solidFill>
                      <a:schemeClr val="tx1"/>
                    </a:solidFill>
                    <a:effectLst/>
                  </a:rPr>
                  <a:t>，只有在所有以</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𝒊</m:t>
                        </m:r>
                      </m:sub>
                    </m:sSub>
                  </m:oMath>
                </a14:m>
                <a:r>
                  <a:rPr lang="zh-CN" altLang="zh-CN" b="1" dirty="0">
                    <a:solidFill>
                      <a:schemeClr val="tx1"/>
                    </a:solidFill>
                    <a:effectLst/>
                  </a:rPr>
                  <a:t>为终点的边</a:t>
                </a:r>
                <a14:m>
                  <m:oMath xmlns:m="http://schemas.openxmlformats.org/officeDocument/2006/math">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𝒗</m:t>
                            </m:r>
                          </m:e>
                          <m:sub>
                            <m:r>
                              <a:rPr lang="en-US" altLang="zh-CN" b="1" i="1" smtClean="0">
                                <a:solidFill>
                                  <a:schemeClr val="tx1"/>
                                </a:solidFill>
                                <a:effectLst/>
                                <a:latin typeface="Cambria Math" panose="02040503050406030204" pitchFamily="18" charset="0"/>
                              </a:rPr>
                              <m:t>𝒋</m:t>
                            </m:r>
                          </m:sub>
                        </m:sSub>
                        <m:r>
                          <a:rPr lang="en-US" altLang="zh-CN" b="1" i="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𝒗</m:t>
                            </m:r>
                          </m:e>
                          <m:sub>
                            <m:r>
                              <a:rPr lang="en-US" altLang="zh-CN" b="1" i="1" smtClean="0">
                                <a:solidFill>
                                  <a:schemeClr val="tx1"/>
                                </a:solidFill>
                                <a:effectLst/>
                                <a:latin typeface="Cambria Math" panose="02040503050406030204" pitchFamily="18" charset="0"/>
                              </a:rPr>
                              <m:t>𝒊</m:t>
                            </m:r>
                          </m:sub>
                        </m:sSub>
                      </m:e>
                    </m:d>
                  </m:oMath>
                </a14:m>
                <a:r>
                  <a:rPr lang="zh-CN" altLang="zh-CN" b="1" dirty="0">
                    <a:solidFill>
                      <a:schemeClr val="tx1"/>
                    </a:solidFill>
                    <a:effectLst/>
                  </a:rPr>
                  <a:t>的起点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𝒗</m:t>
                        </m:r>
                      </m:e>
                      <m:sub>
                        <m:r>
                          <a:rPr lang="en-US" altLang="zh-CN" b="1" i="1" smtClean="0">
                            <a:solidFill>
                              <a:schemeClr val="tx1"/>
                            </a:solidFill>
                            <a:effectLst/>
                            <a:latin typeface="Cambria Math" panose="02040503050406030204" pitchFamily="18" charset="0"/>
                          </a:rPr>
                          <m:t>𝒋</m:t>
                        </m:r>
                      </m:sub>
                    </m:sSub>
                  </m:oMath>
                </a14:m>
                <a:r>
                  <a:rPr lang="zh-CN" altLang="zh-CN" b="1" dirty="0">
                    <a:solidFill>
                      <a:schemeClr val="tx1"/>
                    </a:solidFill>
                    <a:effectLst/>
                  </a:rPr>
                  <a:t>的最早启动时间都计算出来之后，才能计算</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𝒊</m:t>
                        </m:r>
                      </m:sub>
                    </m:sSub>
                  </m:oMath>
                </a14:m>
                <a:r>
                  <a:rPr lang="zh-CN" altLang="zh-CN" b="1" dirty="0">
                    <a:solidFill>
                      <a:schemeClr val="tx1"/>
                    </a:solidFill>
                    <a:effectLst/>
                  </a:rPr>
                  <a:t>的最早启动时间，且</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𝒊</m:t>
                        </m:r>
                      </m:sub>
                    </m:sSub>
                  </m:oMath>
                </a14:m>
                <a:r>
                  <a:rPr lang="zh-CN" altLang="zh-CN" b="1" dirty="0">
                    <a:solidFill>
                      <a:schemeClr val="tx1"/>
                    </a:solidFill>
                    <a:effectLst/>
                  </a:rPr>
                  <a:t>的</a:t>
                </a:r>
                <a:r>
                  <a:rPr lang="zh-CN" altLang="zh-CN" b="1" dirty="0">
                    <a:solidFill>
                      <a:srgbClr val="CC00FF"/>
                    </a:solidFill>
                    <a:effectLst/>
                  </a:rPr>
                  <a:t>最早启动时间</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𝛑</m:t>
                        </m:r>
                      </m:e>
                      <m:sub>
                        <m:r>
                          <a:rPr lang="en-US" altLang="zh-CN" b="1" i="1" smtClean="0">
                            <a:solidFill>
                              <a:schemeClr val="tx1"/>
                            </a:solidFill>
                            <a:effectLst/>
                            <a:latin typeface="Cambria Math" panose="02040503050406030204" pitchFamily="18" charset="0"/>
                          </a:rPr>
                          <m:t>𝒊</m:t>
                        </m:r>
                      </m:sub>
                    </m:sSub>
                  </m:oMath>
                </a14:m>
                <a:r>
                  <a:rPr lang="zh-CN" altLang="zh-CN" b="1" dirty="0">
                    <a:solidFill>
                      <a:schemeClr val="tx1"/>
                    </a:solidFill>
                    <a:effectLst/>
                  </a:rPr>
                  <a:t>为：</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b="1" i="1" smtClean="0">
                              <a:solidFill>
                                <a:srgbClr val="CC00FF"/>
                              </a:solidFill>
                              <a:effectLst/>
                              <a:latin typeface="Cambria Math" panose="02040503050406030204" pitchFamily="18" charset="0"/>
                            </a:rPr>
                          </m:ctrlPr>
                        </m:sSubPr>
                        <m:e>
                          <m:r>
                            <a:rPr lang="en-US" altLang="zh-CN" b="1" i="1" smtClean="0">
                              <a:solidFill>
                                <a:srgbClr val="CC00FF"/>
                              </a:solidFill>
                              <a:effectLst/>
                              <a:latin typeface="Cambria Math" panose="02040503050406030204" pitchFamily="18" charset="0"/>
                            </a:rPr>
                            <m:t>𝝅</m:t>
                          </m:r>
                        </m:e>
                        <m:sub>
                          <m:r>
                            <a:rPr lang="en-US" altLang="zh-CN" b="1" i="1" smtClean="0">
                              <a:solidFill>
                                <a:srgbClr val="CC00FF"/>
                              </a:solidFill>
                              <a:effectLst/>
                              <a:latin typeface="Cambria Math" panose="02040503050406030204" pitchFamily="18" charset="0"/>
                            </a:rPr>
                            <m:t>𝒊</m:t>
                          </m:r>
                        </m:sub>
                      </m:sSub>
                      <m:r>
                        <a:rPr lang="en-US" altLang="zh-CN" b="1" i="1" smtClean="0">
                          <a:solidFill>
                            <a:srgbClr val="CC00FF"/>
                          </a:solidFill>
                          <a:effectLst/>
                          <a:latin typeface="Cambria Math" panose="02040503050406030204" pitchFamily="18" charset="0"/>
                        </a:rPr>
                        <m:t>=</m:t>
                      </m:r>
                      <m:r>
                        <m:rPr>
                          <m:nor/>
                        </m:rPr>
                        <a:rPr lang="en-US" altLang="zh-CN" b="1">
                          <a:solidFill>
                            <a:srgbClr val="CC00FF"/>
                          </a:solidFill>
                          <a:effectLst/>
                        </a:rPr>
                        <m:t>max</m:t>
                      </m:r>
                      <m:r>
                        <a:rPr lang="en-US" altLang="zh-CN" b="1" i="1" smtClean="0">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smtClean="0">
                              <a:solidFill>
                                <a:srgbClr val="CC00FF"/>
                              </a:solidFill>
                              <a:effectLst/>
                              <a:latin typeface="Cambria Math" panose="02040503050406030204" pitchFamily="18" charset="0"/>
                            </a:rPr>
                            <m:t>𝝅</m:t>
                          </m:r>
                        </m:e>
                        <m:sub>
                          <m:r>
                            <a:rPr lang="en-US" altLang="zh-CN" b="1" i="1" smtClean="0">
                              <a:solidFill>
                                <a:srgbClr val="CC00FF"/>
                              </a:solidFill>
                              <a:effectLst/>
                              <a:latin typeface="Cambria Math" panose="02040503050406030204" pitchFamily="18" charset="0"/>
                            </a:rPr>
                            <m:t>𝒋</m:t>
                          </m:r>
                        </m:sub>
                      </m:sSub>
                      <m:r>
                        <a:rPr lang="en-US" altLang="zh-CN" b="1" i="1" smtClean="0">
                          <a:solidFill>
                            <a:srgbClr val="CC00FF"/>
                          </a:solidFill>
                          <a:effectLst/>
                          <a:latin typeface="Cambria Math" panose="02040503050406030204" pitchFamily="18" charset="0"/>
                        </a:rPr>
                        <m:t>+</m:t>
                      </m:r>
                      <m:r>
                        <a:rPr lang="en-US" altLang="zh-CN" b="1" i="1" smtClean="0">
                          <a:solidFill>
                            <a:srgbClr val="CC00FF"/>
                          </a:solidFill>
                          <a:effectLst/>
                          <a:latin typeface="Cambria Math" panose="02040503050406030204" pitchFamily="18" charset="0"/>
                        </a:rPr>
                        <m:t>𝒘</m:t>
                      </m:r>
                      <m:r>
                        <a:rPr lang="en-US" altLang="zh-CN" b="1" i="1" smtClean="0">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smtClean="0">
                              <a:solidFill>
                                <a:srgbClr val="CC00FF"/>
                              </a:solidFill>
                              <a:effectLst/>
                              <a:latin typeface="Cambria Math" panose="02040503050406030204" pitchFamily="18" charset="0"/>
                            </a:rPr>
                            <m:t>𝒗</m:t>
                          </m:r>
                        </m:e>
                        <m:sub>
                          <m:r>
                            <a:rPr lang="en-US" altLang="zh-CN" b="1" i="1" smtClean="0">
                              <a:solidFill>
                                <a:srgbClr val="CC00FF"/>
                              </a:solidFill>
                              <a:effectLst/>
                              <a:latin typeface="Cambria Math" panose="02040503050406030204" pitchFamily="18" charset="0"/>
                            </a:rPr>
                            <m:t>𝒋</m:t>
                          </m:r>
                        </m:sub>
                      </m:sSub>
                      <m:r>
                        <a:rPr lang="en-US" altLang="zh-CN" b="1" i="1" smtClean="0">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smtClean="0">
                              <a:solidFill>
                                <a:srgbClr val="CC00FF"/>
                              </a:solidFill>
                              <a:effectLst/>
                              <a:latin typeface="Cambria Math" panose="02040503050406030204" pitchFamily="18" charset="0"/>
                            </a:rPr>
                            <m:t>𝒗</m:t>
                          </m:r>
                        </m:e>
                        <m:sub>
                          <m:r>
                            <a:rPr lang="en-US" altLang="zh-CN" b="1" i="1" smtClean="0">
                              <a:solidFill>
                                <a:srgbClr val="CC00FF"/>
                              </a:solidFill>
                              <a:effectLst/>
                              <a:latin typeface="Cambria Math" panose="02040503050406030204" pitchFamily="18" charset="0"/>
                            </a:rPr>
                            <m:t>𝒊</m:t>
                          </m:r>
                        </m:sub>
                      </m:sSub>
                      <m:r>
                        <a:rPr lang="en-US" altLang="zh-CN" b="1" i="1" smtClean="0">
                          <a:solidFill>
                            <a:srgbClr val="CC00FF"/>
                          </a:solidFill>
                          <a:effectLst/>
                          <a:latin typeface="Cambria Math" panose="02040503050406030204" pitchFamily="18" charset="0"/>
                        </a:rPr>
                        <m:t>)|</m:t>
                      </m:r>
                      <m:d>
                        <m:dPr>
                          <m:begChr m:val="〈"/>
                          <m:endChr m:val="〉"/>
                          <m:ctrlPr>
                            <a:rPr lang="zh-CN" altLang="zh-CN" b="1" i="1">
                              <a:solidFill>
                                <a:srgbClr val="CC00FF"/>
                              </a:solidFill>
                              <a:effectLst/>
                              <a:latin typeface="Cambria Math" panose="02040503050406030204" pitchFamily="18" charset="0"/>
                            </a:rPr>
                          </m:ctrlPr>
                        </m:dPr>
                        <m:e>
                          <m:sSub>
                            <m:sSubPr>
                              <m:ctrlPr>
                                <a:rPr lang="zh-CN" altLang="zh-CN" b="1" i="1">
                                  <a:solidFill>
                                    <a:srgbClr val="CC00FF"/>
                                  </a:solidFill>
                                  <a:effectLst/>
                                  <a:latin typeface="Cambria Math" panose="02040503050406030204" pitchFamily="18" charset="0"/>
                                </a:rPr>
                              </m:ctrlPr>
                            </m:sSubPr>
                            <m:e>
                              <m:r>
                                <a:rPr lang="en-US" altLang="zh-CN" b="1" i="1" smtClean="0">
                                  <a:solidFill>
                                    <a:srgbClr val="CC00FF"/>
                                  </a:solidFill>
                                  <a:effectLst/>
                                  <a:latin typeface="Cambria Math" panose="02040503050406030204" pitchFamily="18" charset="0"/>
                                </a:rPr>
                                <m:t>𝒗</m:t>
                              </m:r>
                            </m:e>
                            <m:sub>
                              <m:r>
                                <a:rPr lang="en-US" altLang="zh-CN" b="1" i="1" smtClean="0">
                                  <a:solidFill>
                                    <a:srgbClr val="CC00FF"/>
                                  </a:solidFill>
                                  <a:effectLst/>
                                  <a:latin typeface="Cambria Math" panose="02040503050406030204" pitchFamily="18" charset="0"/>
                                </a:rPr>
                                <m:t>𝒋</m:t>
                              </m:r>
                            </m:sub>
                          </m:sSub>
                          <m:r>
                            <a:rPr lang="en-US" altLang="zh-CN" b="1" i="1" smtClean="0">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smtClean="0">
                                  <a:solidFill>
                                    <a:srgbClr val="CC00FF"/>
                                  </a:solidFill>
                                  <a:effectLst/>
                                  <a:latin typeface="Cambria Math" panose="02040503050406030204" pitchFamily="18" charset="0"/>
                                </a:rPr>
                                <m:t>𝒗</m:t>
                              </m:r>
                            </m:e>
                            <m:sub>
                              <m:r>
                                <a:rPr lang="en-US" altLang="zh-CN" b="1" i="1" smtClean="0">
                                  <a:solidFill>
                                    <a:srgbClr val="CC00FF"/>
                                  </a:solidFill>
                                  <a:effectLst/>
                                  <a:latin typeface="Cambria Math" panose="02040503050406030204" pitchFamily="18" charset="0"/>
                                </a:rPr>
                                <m:t>𝒊</m:t>
                              </m:r>
                            </m:sub>
                          </m:sSub>
                        </m:e>
                      </m:d>
                      <m:r>
                        <a:rPr lang="en-US" altLang="zh-CN" b="1" i="1" smtClean="0">
                          <a:solidFill>
                            <a:srgbClr val="CC00FF"/>
                          </a:solidFill>
                          <a:effectLst/>
                          <a:latin typeface="Cambria Math" panose="02040503050406030204" pitchFamily="18" charset="0"/>
                        </a:rPr>
                        <m:t>∈</m:t>
                      </m:r>
                      <m:r>
                        <a:rPr lang="en-US" altLang="zh-CN" b="1" i="1" smtClean="0">
                          <a:solidFill>
                            <a:srgbClr val="CC00FF"/>
                          </a:solidFill>
                          <a:effectLst/>
                          <a:latin typeface="Cambria Math" panose="02040503050406030204" pitchFamily="18" charset="0"/>
                        </a:rPr>
                        <m:t>𝑬</m:t>
                      </m:r>
                      <m:r>
                        <a:rPr lang="en-US" altLang="zh-CN" b="1" i="1" smtClean="0">
                          <a:solidFill>
                            <a:srgbClr val="CC00FF"/>
                          </a:solidFill>
                          <a:effectLst/>
                          <a:latin typeface="Cambria Math" panose="02040503050406030204" pitchFamily="18" charset="0"/>
                        </a:rPr>
                        <m:t>}</m:t>
                      </m:r>
                    </m:oMath>
                  </m:oMathPara>
                </a14:m>
                <a:endParaRPr lang="zh-CN" altLang="zh-CN" b="1" dirty="0">
                  <a:solidFill>
                    <a:srgbClr val="CC00FF"/>
                  </a:solidFill>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323528" y="2060848"/>
                <a:ext cx="8568952" cy="3672408"/>
              </a:xfrm>
              <a:blipFill>
                <a:blip r:embed="rId2"/>
                <a:stretch>
                  <a:fillRect l="-1067"/>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作业规划问题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4506421"/>
      </p:ext>
    </p:extLst>
  </p:cSld>
  <p:clrMapOvr>
    <a:masterClrMapping/>
  </p:clrMapOvr>
  <p:transition spd="med">
    <p:wipe dir="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36512" y="1628800"/>
                <a:ext cx="9289032" cy="4752950"/>
              </a:xfrm>
              <a:solidFill>
                <a:schemeClr val="accent3">
                  <a:lumMod val="95000"/>
                </a:schemeClr>
              </a:solidFill>
              <a:ln>
                <a:noFill/>
              </a:ln>
            </p:spPr>
            <p:txBody>
              <a:bodyPr/>
              <a:lstStyle/>
              <a:p>
                <a:pPr marL="0" indent="0">
                  <a:lnSpc>
                    <a:spcPts val="3200"/>
                  </a:lnSpc>
                  <a:buNone/>
                </a:pPr>
                <a:r>
                  <a:rPr lang="en-US" altLang="zh-CN" sz="2200" b="1" dirty="0">
                    <a:solidFill>
                      <a:srgbClr val="FF0000"/>
                    </a:solidFill>
                    <a:effectLst/>
                  </a:rPr>
                  <a:t>   </a:t>
                </a:r>
                <a:r>
                  <a:rPr lang="zh-CN" altLang="zh-CN" sz="2200" b="1" dirty="0">
                    <a:solidFill>
                      <a:srgbClr val="FF0000"/>
                    </a:solidFill>
                    <a:effectLst/>
                  </a:rPr>
                  <a:t>【</a:t>
                </a:r>
                <a:r>
                  <a:rPr lang="zh-CN" altLang="en-US" sz="2200" b="1" dirty="0">
                    <a:solidFill>
                      <a:srgbClr val="FF0000"/>
                    </a:solidFill>
                    <a:effectLst/>
                  </a:rPr>
                  <a:t>解</a:t>
                </a:r>
                <a:r>
                  <a:rPr lang="en-US" altLang="zh-CN" sz="2200" b="1" dirty="0">
                    <a:solidFill>
                      <a:srgbClr val="FF0000"/>
                    </a:solidFill>
                    <a:effectLst/>
                  </a:rPr>
                  <a:t>(</a:t>
                </a:r>
                <a:r>
                  <a:rPr lang="zh-CN" altLang="en-US" sz="2200" b="1" dirty="0">
                    <a:solidFill>
                      <a:srgbClr val="FF0000"/>
                    </a:solidFill>
                    <a:effectLst/>
                  </a:rPr>
                  <a:t>续</a:t>
                </a:r>
                <a:r>
                  <a:rPr lang="en-US" altLang="zh-CN" sz="2200" b="1" dirty="0">
                    <a:solidFill>
                      <a:srgbClr val="FF0000"/>
                    </a:solidFill>
                    <a:effectLst/>
                  </a:rPr>
                  <a:t>)</a:t>
                </a:r>
                <a:r>
                  <a:rPr lang="zh-CN" altLang="zh-CN" sz="2200" b="1" dirty="0">
                    <a:solidFill>
                      <a:srgbClr val="FF0000"/>
                    </a:solidFill>
                    <a:effectLst/>
                  </a:rPr>
                  <a:t>】</a:t>
                </a:r>
                <a:r>
                  <a:rPr lang="zh-CN" altLang="zh-CN" sz="2200" b="1" dirty="0">
                    <a:solidFill>
                      <a:schemeClr val="tx1"/>
                    </a:solidFill>
                    <a:effectLst/>
                  </a:rPr>
                  <a:t>那么</a:t>
                </a:r>
                <a:r>
                  <a:rPr lang="zh-CN" altLang="en-US" sz="2200" b="1" dirty="0">
                    <a:solidFill>
                      <a:schemeClr val="tx1"/>
                    </a:solidFill>
                    <a:effectLst/>
                  </a:rPr>
                  <a:t>：</a:t>
                </a:r>
                <a:endParaRPr lang="en-US" altLang="zh-CN" sz="2200" b="1" i="1" dirty="0">
                  <a:solidFill>
                    <a:schemeClr val="tx1"/>
                  </a:solidFill>
                  <a:effectLst/>
                  <a:latin typeface="Cambria Math" panose="02040503050406030204" pitchFamily="18" charset="0"/>
                </a:endParaRPr>
              </a:p>
              <a:p>
                <a:pPr marL="0" indent="0">
                  <a:lnSpc>
                    <a:spcPts val="3200"/>
                  </a:lnSpc>
                  <a:buNone/>
                </a:pPr>
                <a:r>
                  <a:rPr lang="en-US" altLang="zh-CN" sz="2200" b="1" dirty="0">
                    <a:solidFill>
                      <a:schemeClr val="tx1"/>
                    </a:solidFill>
                    <a:effectLst/>
                  </a:rPr>
                  <a:t>   </a:t>
                </a:r>
                <a14:m>
                  <m:oMath xmlns:m="http://schemas.openxmlformats.org/officeDocument/2006/math">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𝝅</m:t>
                        </m:r>
                      </m:e>
                      <m:sub>
                        <m:r>
                          <a:rPr lang="en-US" altLang="zh-CN" sz="2200" b="1" i="1" smtClean="0">
                            <a:solidFill>
                              <a:schemeClr val="tx1"/>
                            </a:solidFill>
                            <a:effectLst/>
                            <a:latin typeface="Cambria Math" panose="02040503050406030204" pitchFamily="18" charset="0"/>
                          </a:rPr>
                          <m:t>𝟏</m:t>
                        </m:r>
                      </m:sub>
                    </m:sSub>
                    <m:r>
                      <a:rPr lang="en-US" altLang="zh-CN" sz="2200" b="1" i="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𝟎</m:t>
                    </m:r>
                  </m:oMath>
                </a14:m>
                <a:r>
                  <a:rPr lang="zh-CN" altLang="zh-CN" sz="2200" b="1" dirty="0">
                    <a:solidFill>
                      <a:schemeClr val="tx1"/>
                    </a:solidFill>
                    <a:effectLst/>
                  </a:rPr>
                  <a:t>，</a:t>
                </a:r>
                <a14:m>
                  <m:oMath xmlns:m="http://schemas.openxmlformats.org/officeDocument/2006/math">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𝝅</m:t>
                        </m:r>
                      </m:e>
                      <m:sub>
                        <m:r>
                          <a:rPr lang="en-US" altLang="zh-CN" sz="2200" b="1" i="1" smtClean="0">
                            <a:solidFill>
                              <a:schemeClr val="tx1"/>
                            </a:solidFill>
                            <a:effectLst/>
                            <a:latin typeface="Cambria Math" panose="02040503050406030204" pitchFamily="18" charset="0"/>
                          </a:rPr>
                          <m:t>𝟑</m:t>
                        </m:r>
                      </m:sub>
                    </m:sSub>
                    <m:r>
                      <a:rPr lang="en-US" altLang="zh-CN" sz="2200" b="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𝒎𝒂𝒙</m:t>
                        </m:r>
                      </m:fName>
                      <m:e>
                        <m:d>
                          <m:dPr>
                            <m:begChr m:val="{"/>
                            <m:endChr m:val="}"/>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𝝅</m:t>
                                </m:r>
                              </m:e>
                              <m:sub>
                                <m:r>
                                  <a:rPr lang="en-US" altLang="zh-CN" sz="2200" b="1" i="1" smtClean="0">
                                    <a:solidFill>
                                      <a:schemeClr val="tx1"/>
                                    </a:solidFill>
                                    <a:effectLst/>
                                    <a:latin typeface="Cambria Math" panose="02040503050406030204" pitchFamily="18" charset="0"/>
                                  </a:rPr>
                                  <m:t>𝟏</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𝒘</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𝒗</m:t>
                                    </m:r>
                                  </m:e>
                                  <m:sub>
                                    <m:r>
                                      <a:rPr lang="en-US" altLang="zh-CN" sz="2200" b="1" i="1" smtClean="0">
                                        <a:solidFill>
                                          <a:schemeClr val="tx1"/>
                                        </a:solidFill>
                                        <a:effectLst/>
                                        <a:latin typeface="Cambria Math" panose="02040503050406030204" pitchFamily="18" charset="0"/>
                                      </a:rPr>
                                      <m:t>𝟏</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𝒗</m:t>
                                    </m:r>
                                  </m:e>
                                  <m:sub>
                                    <m:r>
                                      <a:rPr lang="en-US" altLang="zh-CN" sz="2200" b="1" i="1" smtClean="0">
                                        <a:solidFill>
                                          <a:schemeClr val="tx1"/>
                                        </a:solidFill>
                                        <a:effectLst/>
                                        <a:latin typeface="Cambria Math" panose="02040503050406030204" pitchFamily="18" charset="0"/>
                                      </a:rPr>
                                      <m:t>𝟑</m:t>
                                    </m:r>
                                  </m:sub>
                                </m:sSub>
                              </m:e>
                            </m:d>
                          </m:e>
                        </m:d>
                      </m:e>
                    </m:func>
                    <m:r>
                      <a:rPr lang="en-US" altLang="zh-CN" sz="2200" b="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𝒎𝒂𝒙</m:t>
                        </m:r>
                      </m:fName>
                      <m:e>
                        <m:d>
                          <m:dPr>
                            <m:begChr m:val="{"/>
                            <m:endChr m:val="}"/>
                            <m:ctrlPr>
                              <a:rPr lang="zh-CN" altLang="zh-CN" sz="2200" b="1" i="1">
                                <a:solidFill>
                                  <a:schemeClr val="tx1"/>
                                </a:solidFill>
                                <a:effectLst/>
                                <a:latin typeface="Cambria Math" panose="02040503050406030204" pitchFamily="18" charset="0"/>
                              </a:rPr>
                            </m:ctrlPr>
                          </m:dPr>
                          <m:e>
                            <m:r>
                              <a:rPr lang="en-US" altLang="zh-CN" sz="2200" b="1" i="1" smtClean="0">
                                <a:solidFill>
                                  <a:schemeClr val="tx1"/>
                                </a:solidFill>
                                <a:effectLst/>
                                <a:latin typeface="Cambria Math" panose="02040503050406030204" pitchFamily="18" charset="0"/>
                              </a:rPr>
                              <m:t>𝟎</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𝟓</m:t>
                            </m:r>
                          </m:e>
                        </m:d>
                      </m:e>
                    </m:func>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𝟓</m:t>
                    </m:r>
                  </m:oMath>
                </a14:m>
                <a:r>
                  <a:rPr lang="zh-CN" altLang="zh-CN" sz="2200" b="1" dirty="0">
                    <a:solidFill>
                      <a:schemeClr val="tx1"/>
                    </a:solidFill>
                    <a:effectLst/>
                  </a:rPr>
                  <a:t>；</a:t>
                </a:r>
              </a:p>
              <a:p>
                <a:pPr marL="0" indent="0">
                  <a:lnSpc>
                    <a:spcPts val="3200"/>
                  </a:lnSpc>
                  <a:buNone/>
                </a:pPr>
                <a:r>
                  <a:rPr lang="en-US" altLang="zh-CN" sz="2200" b="1" dirty="0">
                    <a:solidFill>
                      <a:schemeClr val="tx1"/>
                    </a:solidFill>
                    <a:effectLst/>
                  </a:rPr>
                  <a:t>   </a:t>
                </a:r>
                <a14:m>
                  <m:oMath xmlns:m="http://schemas.openxmlformats.org/officeDocument/2006/math">
                    <m:sSub>
                      <m:sSubPr>
                        <m:ctrlPr>
                          <a:rPr lang="zh-CN" altLang="zh-CN" sz="2200" b="1" i="1" smtClean="0">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𝟐</m:t>
                        </m:r>
                      </m:sub>
                    </m:sSub>
                    <m:r>
                      <a:rPr lang="en-US" altLang="zh-CN" sz="2200" b="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𝟏</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𝟏</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𝟐</m:t>
                                    </m:r>
                                  </m:sub>
                                </m:sSub>
                              </m:e>
                            </m:d>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𝟑</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𝟑</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𝟐</m:t>
                                    </m:r>
                                  </m:sub>
                                </m:sSub>
                              </m:e>
                            </m:d>
                          </m:e>
                        </m:d>
                      </m:e>
                    </m:func>
                    <m:r>
                      <a:rPr lang="en-US" altLang="zh-CN" sz="2200" b="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r>
                              <a:rPr lang="en-US" altLang="zh-CN" sz="2200" b="1" i="1" smtClean="0">
                                <a:solidFill>
                                  <a:schemeClr val="tx1"/>
                                </a:solidFill>
                                <a:effectLst/>
                                <a:latin typeface="Cambria Math" panose="02040503050406030204" pitchFamily="18" charset="0"/>
                              </a:rPr>
                              <m:t>𝟎</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𝟒</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𝟓</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𝟑</m:t>
                            </m:r>
                          </m:e>
                        </m:d>
                      </m:e>
                    </m:func>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𝟖</m:t>
                    </m:r>
                  </m:oMath>
                </a14:m>
                <a:r>
                  <a:rPr lang="zh-CN" altLang="zh-CN" sz="2200" b="1" dirty="0">
                    <a:solidFill>
                      <a:schemeClr val="tx1"/>
                    </a:solidFill>
                    <a:effectLst/>
                  </a:rPr>
                  <a:t>；</a:t>
                </a:r>
              </a:p>
              <a:p>
                <a:pPr marL="0" indent="0">
                  <a:lnSpc>
                    <a:spcPts val="3200"/>
                  </a:lnSpc>
                  <a:buNone/>
                </a:pPr>
                <a:r>
                  <a:rPr lang="en-US" altLang="zh-CN" sz="2200" b="1" dirty="0">
                    <a:solidFill>
                      <a:schemeClr val="tx1"/>
                    </a:solidFill>
                    <a:effectLst/>
                  </a:rPr>
                  <a:t>   </a:t>
                </a:r>
                <a14:m>
                  <m:oMath xmlns:m="http://schemas.openxmlformats.org/officeDocument/2006/math">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𝟒</m:t>
                        </m:r>
                      </m:sub>
                    </m:sSub>
                    <m:r>
                      <a:rPr lang="en-US" altLang="zh-CN" sz="2200" b="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𝟏</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𝟏</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𝟒</m:t>
                                    </m:r>
                                  </m:sub>
                                </m:sSub>
                              </m:e>
                            </m:d>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𝟑</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𝟑</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𝟒</m:t>
                                    </m:r>
                                  </m:sub>
                                </m:sSub>
                              </m:e>
                            </m:d>
                          </m:e>
                        </m:d>
                      </m:e>
                    </m:func>
                    <m:r>
                      <a:rPr lang="en-US" altLang="zh-CN" sz="2200" b="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r>
                              <a:rPr lang="en-US" altLang="zh-CN" sz="2200" b="1" i="1" smtClean="0">
                                <a:solidFill>
                                  <a:schemeClr val="tx1"/>
                                </a:solidFill>
                                <a:effectLst/>
                                <a:latin typeface="Cambria Math" panose="02040503050406030204" pitchFamily="18" charset="0"/>
                              </a:rPr>
                              <m:t>𝟎</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𝟐</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𝟓</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𝟏</m:t>
                            </m:r>
                          </m:e>
                        </m:d>
                      </m:e>
                    </m:func>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𝟔</m:t>
                    </m:r>
                  </m:oMath>
                </a14:m>
                <a:r>
                  <a:rPr lang="zh-CN" altLang="zh-CN" sz="2200" b="1" dirty="0">
                    <a:solidFill>
                      <a:schemeClr val="tx1"/>
                    </a:solidFill>
                    <a:effectLst/>
                  </a:rPr>
                  <a:t>；</a:t>
                </a:r>
              </a:p>
              <a:p>
                <a:pPr marL="0" indent="0">
                  <a:lnSpc>
                    <a:spcPts val="3200"/>
                  </a:lnSpc>
                  <a:buNone/>
                </a:pPr>
                <a:r>
                  <a:rPr lang="en-US" altLang="zh-CN" sz="2200" b="1" dirty="0">
                    <a:solidFill>
                      <a:schemeClr val="tx1"/>
                    </a:solidFill>
                    <a:effectLst/>
                  </a:rPr>
                  <a:t>   </a:t>
                </a:r>
                <a14:m>
                  <m:oMath xmlns:m="http://schemas.openxmlformats.org/officeDocument/2006/math">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𝟓</m:t>
                        </m:r>
                      </m:sub>
                    </m:sSub>
                    <m:r>
                      <a:rPr lang="en-US" altLang="zh-CN" sz="2200" b="1" i="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𝟐</m:t>
                                </m:r>
                              </m:sub>
                            </m:sSub>
                            <m:r>
                              <a:rPr lang="en-US" altLang="zh-CN" sz="2200" b="1" i="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𝟐</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𝟓</m:t>
                                    </m:r>
                                  </m:sub>
                                </m:sSub>
                              </m:e>
                            </m:d>
                            <m:r>
                              <a:rPr lang="en-US" altLang="zh-CN" sz="2200" b="1" i="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𝟑</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𝟑</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𝟓</m:t>
                                    </m:r>
                                  </m:sub>
                                </m:sSub>
                              </m:e>
                            </m:d>
                          </m:e>
                        </m:d>
                      </m:e>
                    </m:func>
                    <m:r>
                      <a:rPr lang="en-US" altLang="zh-CN" sz="2200" b="1" i="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r>
                              <a:rPr lang="en-US" altLang="zh-CN" sz="2200" b="1" i="1" smtClean="0">
                                <a:solidFill>
                                  <a:schemeClr val="tx1"/>
                                </a:solidFill>
                                <a:effectLst/>
                                <a:latin typeface="Cambria Math" panose="02040503050406030204" pitchFamily="18" charset="0"/>
                              </a:rPr>
                              <m:t>𝟖</m:t>
                            </m:r>
                            <m:r>
                              <a:rPr lang="en-US" altLang="zh-CN" sz="2200" b="1" i="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𝟓</m:t>
                            </m:r>
                            <m:r>
                              <a:rPr lang="en-US" altLang="zh-CN" sz="2200" b="1" i="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𝟓</m:t>
                            </m:r>
                            <m:r>
                              <a:rPr lang="en-US" altLang="zh-CN" sz="2200" b="1" i="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𝟑</m:t>
                            </m:r>
                          </m:e>
                        </m:d>
                      </m:e>
                    </m:func>
                    <m:r>
                      <a:rPr lang="en-US" altLang="zh-CN" sz="2200" b="1" i="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𝟏𝟑</m:t>
                    </m:r>
                  </m:oMath>
                </a14:m>
                <a:r>
                  <a:rPr lang="zh-CN" altLang="zh-CN" sz="2200" b="1" dirty="0">
                    <a:solidFill>
                      <a:schemeClr val="tx1"/>
                    </a:solidFill>
                    <a:effectLst/>
                  </a:rPr>
                  <a:t>；</a:t>
                </a:r>
              </a:p>
              <a:p>
                <a:pPr marL="0" indent="0">
                  <a:lnSpc>
                    <a:spcPts val="3200"/>
                  </a:lnSpc>
                  <a:buNone/>
                </a:pPr>
                <a:r>
                  <a:rPr lang="en-US" altLang="zh-CN" sz="2200" b="1" dirty="0">
                    <a:solidFill>
                      <a:schemeClr val="tx1"/>
                    </a:solidFill>
                    <a:effectLst/>
                  </a:rPr>
                  <a:t>   </a:t>
                </a:r>
                <a14:m>
                  <m:oMath xmlns:m="http://schemas.openxmlformats.org/officeDocument/2006/math">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𝟔</m:t>
                        </m:r>
                      </m:sub>
                    </m:sSub>
                    <m:r>
                      <a:rPr lang="en-US" altLang="zh-CN" sz="2200" b="1" i="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𝟐</m:t>
                                </m:r>
                              </m:sub>
                            </m:sSub>
                            <m:r>
                              <a:rPr lang="en-US" altLang="zh-CN" sz="2200" b="1" i="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𝟐</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𝟔</m:t>
                                    </m:r>
                                  </m:sub>
                                </m:sSub>
                              </m:e>
                            </m:d>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𝟓</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𝟓</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𝟔</m:t>
                                    </m:r>
                                  </m:sub>
                                </m:sSub>
                              </m:e>
                            </m:d>
                          </m:e>
                        </m:d>
                      </m:e>
                    </m:func>
                    <m:r>
                      <a:rPr lang="en-US" altLang="zh-CN" sz="2200" b="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r>
                              <a:rPr lang="en-US" altLang="zh-CN" sz="2200" b="1" i="1" smtClean="0">
                                <a:solidFill>
                                  <a:schemeClr val="tx1"/>
                                </a:solidFill>
                                <a:effectLst/>
                                <a:latin typeface="Cambria Math" panose="02040503050406030204" pitchFamily="18" charset="0"/>
                              </a:rPr>
                              <m:t>𝟖</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𝟒</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𝟏𝟑</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𝟒</m:t>
                            </m:r>
                          </m:e>
                        </m:d>
                      </m:e>
                    </m:func>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𝟏𝟕</m:t>
                    </m:r>
                  </m:oMath>
                </a14:m>
                <a:r>
                  <a:rPr lang="zh-CN" altLang="zh-CN" sz="2200" b="1" dirty="0">
                    <a:solidFill>
                      <a:schemeClr val="tx1"/>
                    </a:solidFill>
                    <a:effectLst/>
                  </a:rPr>
                  <a:t>；</a:t>
                </a:r>
              </a:p>
              <a:p>
                <a:pPr marL="0" indent="0">
                  <a:lnSpc>
                    <a:spcPts val="3200"/>
                  </a:lnSpc>
                  <a:buNone/>
                </a:pPr>
                <a:r>
                  <a:rPr lang="en-US" altLang="zh-CN" sz="2200" b="1" dirty="0">
                    <a:solidFill>
                      <a:schemeClr val="tx1"/>
                    </a:solidFill>
                    <a:effectLst/>
                  </a:rPr>
                  <a:t>   </a:t>
                </a:r>
                <a14:m>
                  <m:oMath xmlns:m="http://schemas.openxmlformats.org/officeDocument/2006/math">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𝟕</m:t>
                        </m:r>
                      </m:sub>
                    </m:sSub>
                    <m:r>
                      <a:rPr lang="en-US" altLang="zh-CN" sz="2200" b="1" i="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𝟒</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𝟒</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𝟕</m:t>
                                    </m:r>
                                  </m:sub>
                                </m:sSub>
                              </m:e>
                            </m:d>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𝟓</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𝟓</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𝟕</m:t>
                                    </m:r>
                                  </m:sub>
                                </m:sSub>
                              </m:e>
                            </m:d>
                          </m:e>
                        </m:d>
                      </m:e>
                    </m:func>
                    <m:r>
                      <a:rPr lang="en-US" altLang="zh-CN" sz="2200" b="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r>
                              <a:rPr lang="en-US" altLang="zh-CN" sz="2200" b="1" i="1" smtClean="0">
                                <a:solidFill>
                                  <a:schemeClr val="tx1"/>
                                </a:solidFill>
                                <a:effectLst/>
                                <a:latin typeface="Cambria Math" panose="02040503050406030204" pitchFamily="18" charset="0"/>
                              </a:rPr>
                              <m:t>𝟔</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𝟐</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𝟏𝟑</m:t>
                            </m:r>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𝟐</m:t>
                            </m:r>
                          </m:e>
                        </m:d>
                      </m:e>
                    </m:func>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𝟏𝟓</m:t>
                    </m:r>
                  </m:oMath>
                </a14:m>
                <a:r>
                  <a:rPr lang="zh-CN" altLang="zh-CN" sz="2200" b="1" dirty="0">
                    <a:solidFill>
                      <a:schemeClr val="tx1"/>
                    </a:solidFill>
                    <a:effectLst/>
                  </a:rPr>
                  <a:t>；</a:t>
                </a:r>
              </a:p>
              <a:p>
                <a:pPr marL="0" indent="0">
                  <a:lnSpc>
                    <a:spcPts val="3200"/>
                  </a:lnSpc>
                  <a:buNone/>
                </a:pPr>
                <a:r>
                  <a:rPr lang="en-US" altLang="zh-CN" sz="2200" b="1" dirty="0">
                    <a:solidFill>
                      <a:schemeClr val="tx1"/>
                    </a:solidFill>
                    <a:effectLst/>
                  </a:rPr>
                  <a:t>   </a:t>
                </a:r>
                <a14:m>
                  <m:oMath xmlns:m="http://schemas.openxmlformats.org/officeDocument/2006/math">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𝟖</m:t>
                        </m:r>
                      </m:sub>
                    </m:sSub>
                    <m:r>
                      <a:rPr lang="en-US" altLang="zh-CN" sz="2200" b="1" i="1" smtClean="0">
                        <a:solidFill>
                          <a:schemeClr val="tx1"/>
                        </a:solidFill>
                        <a:effectLst/>
                        <a:latin typeface="Cambria Math" panose="02040503050406030204" pitchFamily="18" charset="0"/>
                      </a:rPr>
                      <m:t>=</m:t>
                    </m:r>
                    <m:func>
                      <m:funcPr>
                        <m:ctrlPr>
                          <a:rPr lang="zh-CN" altLang="zh-CN" sz="2200" b="1" i="1">
                            <a:solidFill>
                              <a:schemeClr val="tx1"/>
                            </a:solidFill>
                            <a:effectLst/>
                            <a:latin typeface="Cambria Math" panose="02040503050406030204" pitchFamily="18" charset="0"/>
                          </a:rPr>
                        </m:ctrlPr>
                      </m:funcPr>
                      <m:fName>
                        <m:r>
                          <a:rPr lang="en-US" altLang="zh-CN" sz="2200" b="1" i="1" smtClean="0">
                            <a:solidFill>
                              <a:schemeClr val="tx1"/>
                            </a:solidFill>
                            <a:effectLst/>
                            <a:latin typeface="Cambria Math" panose="02040503050406030204" pitchFamily="18" charset="0"/>
                          </a:rPr>
                          <m:t>𝐦𝐚𝐱</m:t>
                        </m:r>
                      </m:fName>
                      <m:e>
                        <m:d>
                          <m:dPr>
                            <m:begChr m:val="{"/>
                            <m:endChr m:val="}"/>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𝟓</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𝟓</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𝟖</m:t>
                                    </m:r>
                                  </m:sub>
                                </m:sSub>
                              </m:e>
                            </m:d>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𝟔</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𝟔</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𝟖</m:t>
                                    </m:r>
                                  </m:sub>
                                </m:sSub>
                              </m:e>
                            </m:d>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𝛑</m:t>
                                </m:r>
                              </m:e>
                              <m:sub>
                                <m:r>
                                  <a:rPr lang="en-US" altLang="zh-CN" sz="2200" b="1" i="1" smtClean="0">
                                    <a:solidFill>
                                      <a:schemeClr val="tx1"/>
                                    </a:solidFill>
                                    <a:effectLst/>
                                    <a:latin typeface="Cambria Math" panose="02040503050406030204" pitchFamily="18" charset="0"/>
                                  </a:rPr>
                                  <m:t>𝟕</m:t>
                                </m:r>
                              </m:sub>
                            </m:sSub>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𝐰</m:t>
                            </m:r>
                            <m:d>
                              <m:dPr>
                                <m:ctrlPr>
                                  <a:rPr lang="zh-CN" altLang="zh-CN" sz="2200" b="1" i="1">
                                    <a:solidFill>
                                      <a:schemeClr val="tx1"/>
                                    </a:solidFill>
                                    <a:effectLst/>
                                    <a:latin typeface="Cambria Math" panose="02040503050406030204" pitchFamily="18" charset="0"/>
                                  </a:rPr>
                                </m:ctrlPr>
                              </m:dPr>
                              <m:e>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𝟕</m:t>
                                    </m:r>
                                  </m:sub>
                                </m:sSub>
                                <m:r>
                                  <a:rPr lang="en-US" altLang="zh-CN" sz="2200" b="1" smtClean="0">
                                    <a:solidFill>
                                      <a:schemeClr val="tx1"/>
                                    </a:solidFill>
                                    <a:effectLst/>
                                    <a:latin typeface="Cambria Math" panose="02040503050406030204" pitchFamily="18" charset="0"/>
                                  </a:rPr>
                                  <m:t>,</m:t>
                                </m:r>
                                <m:sSub>
                                  <m:sSubPr>
                                    <m:ctrlPr>
                                      <a:rPr lang="zh-CN" altLang="zh-CN" sz="2200" b="1" i="1">
                                        <a:solidFill>
                                          <a:schemeClr val="tx1"/>
                                        </a:solidFill>
                                        <a:effectLst/>
                                        <a:latin typeface="Cambria Math" panose="02040503050406030204" pitchFamily="18" charset="0"/>
                                      </a:rPr>
                                    </m:ctrlPr>
                                  </m:sSubPr>
                                  <m:e>
                                    <m:r>
                                      <a:rPr lang="en-US" altLang="zh-CN" sz="2200" b="1" i="1" smtClean="0">
                                        <a:solidFill>
                                          <a:schemeClr val="tx1"/>
                                        </a:solidFill>
                                        <a:effectLst/>
                                        <a:latin typeface="Cambria Math" panose="02040503050406030204" pitchFamily="18" charset="0"/>
                                      </a:rPr>
                                      <m:t>𝐯</m:t>
                                    </m:r>
                                  </m:e>
                                  <m:sub>
                                    <m:r>
                                      <a:rPr lang="en-US" altLang="zh-CN" sz="2200" b="1" i="1" smtClean="0">
                                        <a:solidFill>
                                          <a:schemeClr val="tx1"/>
                                        </a:solidFill>
                                        <a:effectLst/>
                                        <a:latin typeface="Cambria Math" panose="02040503050406030204" pitchFamily="18" charset="0"/>
                                      </a:rPr>
                                      <m:t>𝟖</m:t>
                                    </m:r>
                                  </m:sub>
                                </m:sSub>
                              </m:e>
                            </m:d>
                          </m:e>
                        </m:d>
                      </m:e>
                    </m:func>
                    <m:r>
                      <a:rPr lang="en-US" altLang="zh-CN" sz="2200" b="1" smtClean="0">
                        <a:solidFill>
                          <a:schemeClr val="tx1"/>
                        </a:solidFill>
                        <a:effectLst/>
                        <a:latin typeface="Cambria Math" panose="02040503050406030204" pitchFamily="18" charset="0"/>
                      </a:rPr>
                      <m:t>=</m:t>
                    </m:r>
                    <m:r>
                      <a:rPr lang="en-US" altLang="zh-CN" sz="2200" b="1" i="1" smtClean="0">
                        <a:solidFill>
                          <a:schemeClr val="tx1"/>
                        </a:solidFill>
                        <a:effectLst/>
                        <a:latin typeface="Cambria Math" panose="02040503050406030204" pitchFamily="18" charset="0"/>
                      </a:rPr>
                      <m:t>𝟐𝟐</m:t>
                    </m:r>
                  </m:oMath>
                </a14:m>
                <a:r>
                  <a:rPr lang="zh-CN" altLang="zh-CN" sz="2200" b="1" dirty="0">
                    <a:solidFill>
                      <a:schemeClr val="tx1"/>
                    </a:solidFill>
                    <a:effectLst/>
                  </a:rPr>
                  <a:t>；</a:t>
                </a:r>
              </a:p>
              <a:p>
                <a:pPr marL="0" indent="0">
                  <a:lnSpc>
                    <a:spcPts val="3200"/>
                  </a:lnSpc>
                  <a:buNone/>
                </a:pPr>
                <a:r>
                  <a:rPr lang="en-US" altLang="zh-CN" sz="2200" b="1" dirty="0">
                    <a:solidFill>
                      <a:schemeClr val="tx1"/>
                    </a:solidFill>
                    <a:effectLst/>
                  </a:rPr>
                  <a:t>      </a:t>
                </a:r>
                <a:r>
                  <a:rPr lang="zh-CN" altLang="zh-CN" sz="2200" b="1" dirty="0">
                    <a:solidFill>
                      <a:schemeClr val="tx1"/>
                    </a:solidFill>
                    <a:effectLst/>
                  </a:rPr>
                  <a:t>得到源点</a:t>
                </a:r>
                <a14:m>
                  <m:oMath xmlns:m="http://schemas.openxmlformats.org/officeDocument/2006/math">
                    <m:sSub>
                      <m:sSubPr>
                        <m:ctrlPr>
                          <a:rPr lang="zh-CN" altLang="zh-CN" sz="2200" b="1" i="1">
                            <a:solidFill>
                              <a:schemeClr val="tx1"/>
                            </a:solidFill>
                            <a:effectLst/>
                            <a:latin typeface="Cambria Math" panose="02040503050406030204" pitchFamily="18" charset="0"/>
                          </a:rPr>
                        </m:ctrlPr>
                      </m:sSubPr>
                      <m:e>
                        <m:r>
                          <a:rPr lang="en-US" altLang="zh-CN" sz="2200" b="1" i="1">
                            <a:solidFill>
                              <a:schemeClr val="tx1"/>
                            </a:solidFill>
                            <a:effectLst/>
                            <a:latin typeface="Cambria Math" panose="02040503050406030204" pitchFamily="18" charset="0"/>
                          </a:rPr>
                          <m:t>𝒗</m:t>
                        </m:r>
                      </m:e>
                      <m:sub>
                        <m:r>
                          <a:rPr lang="en-US" altLang="zh-CN" sz="2200" b="1" i="1">
                            <a:solidFill>
                              <a:schemeClr val="tx1"/>
                            </a:solidFill>
                            <a:effectLst/>
                            <a:latin typeface="Cambria Math" panose="02040503050406030204" pitchFamily="18" charset="0"/>
                          </a:rPr>
                          <m:t>𝟏</m:t>
                        </m:r>
                      </m:sub>
                    </m:sSub>
                  </m:oMath>
                </a14:m>
                <a:r>
                  <a:rPr lang="zh-CN" altLang="zh-CN" sz="2200" b="1" dirty="0">
                    <a:solidFill>
                      <a:schemeClr val="tx1"/>
                    </a:solidFill>
                    <a:effectLst/>
                  </a:rPr>
                  <a:t>到汇点</a:t>
                </a:r>
                <a14:m>
                  <m:oMath xmlns:m="http://schemas.openxmlformats.org/officeDocument/2006/math">
                    <m:sSub>
                      <m:sSubPr>
                        <m:ctrlPr>
                          <a:rPr lang="zh-CN" altLang="zh-CN" sz="2200" b="1" i="1">
                            <a:solidFill>
                              <a:schemeClr val="tx1"/>
                            </a:solidFill>
                            <a:effectLst/>
                            <a:latin typeface="Cambria Math" panose="02040503050406030204" pitchFamily="18" charset="0"/>
                          </a:rPr>
                        </m:ctrlPr>
                      </m:sSubPr>
                      <m:e>
                        <m:r>
                          <a:rPr lang="en-US" altLang="zh-CN" sz="2200" b="1" i="1">
                            <a:solidFill>
                              <a:schemeClr val="tx1"/>
                            </a:solidFill>
                            <a:effectLst/>
                            <a:latin typeface="Cambria Math" panose="02040503050406030204" pitchFamily="18" charset="0"/>
                          </a:rPr>
                          <m:t>𝒗</m:t>
                        </m:r>
                      </m:e>
                      <m:sub>
                        <m:r>
                          <a:rPr lang="en-US" altLang="zh-CN" sz="2200" b="1" i="1">
                            <a:solidFill>
                              <a:schemeClr val="tx1"/>
                            </a:solidFill>
                            <a:effectLst/>
                            <a:latin typeface="Cambria Math" panose="02040503050406030204" pitchFamily="18" charset="0"/>
                          </a:rPr>
                          <m:t>𝟖</m:t>
                        </m:r>
                      </m:sub>
                    </m:sSub>
                  </m:oMath>
                </a14:m>
                <a:r>
                  <a:rPr lang="zh-CN" altLang="zh-CN" sz="2200" b="1" dirty="0">
                    <a:solidFill>
                      <a:schemeClr val="tx1"/>
                    </a:solidFill>
                    <a:effectLst/>
                  </a:rPr>
                  <a:t>的最长带权路径长度为</a:t>
                </a:r>
                <a:r>
                  <a:rPr lang="en-US" altLang="zh-CN" sz="2200" b="1" dirty="0">
                    <a:solidFill>
                      <a:schemeClr val="tx1"/>
                    </a:solidFill>
                    <a:effectLst/>
                  </a:rPr>
                  <a:t>22</a:t>
                </a:r>
                <a:r>
                  <a:rPr lang="zh-CN" altLang="zh-CN" sz="2200" b="1" dirty="0">
                    <a:solidFill>
                      <a:schemeClr val="tx1"/>
                    </a:solidFill>
                    <a:effectLst/>
                  </a:rPr>
                  <a:t>，这是完成整个任务的必需时间；</a:t>
                </a: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36512" y="1628800"/>
                <a:ext cx="9289032" cy="4752950"/>
              </a:xfrm>
              <a:blipFill>
                <a:blip r:embed="rId2"/>
                <a:stretch>
                  <a:fillRect l="-853" t="-128" b="-641"/>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dirty="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作业规划问题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6902807"/>
      </p:ext>
    </p:extLst>
  </p:cSld>
  <p:clrMapOvr>
    <a:masterClrMapping/>
  </p:clrMapOvr>
  <p:transition spd="med">
    <p:wipe dir="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467544" y="2076698"/>
                <a:ext cx="8496944" cy="3744416"/>
              </a:xfrm>
              <a:solidFill>
                <a:schemeClr val="accent3">
                  <a:lumMod val="95000"/>
                </a:schemeClr>
              </a:solidFill>
              <a:ln>
                <a:noFill/>
              </a:ln>
            </p:spPr>
            <p:txBody>
              <a:bodyPr/>
              <a:lstStyle/>
              <a:p>
                <a:pPr marL="0" indent="0">
                  <a:lnSpc>
                    <a:spcPct val="150000"/>
                  </a:lnSpc>
                  <a:buNone/>
                </a:pPr>
                <a:r>
                  <a:rPr lang="zh-CN" altLang="en-US" b="1" dirty="0">
                    <a:solidFill>
                      <a:srgbClr val="FF0000"/>
                    </a:solidFill>
                    <a:effectLst/>
                  </a:rPr>
                  <a:t>     </a:t>
                </a:r>
                <a:r>
                  <a:rPr lang="en-US" altLang="zh-CN" b="1" dirty="0">
                    <a:solidFill>
                      <a:srgbClr val="FF0000"/>
                    </a:solidFill>
                    <a:effectLst/>
                  </a:rPr>
                  <a:t>【</a:t>
                </a:r>
                <a:r>
                  <a:rPr lang="zh-CN" altLang="en-US" b="1" dirty="0">
                    <a:solidFill>
                      <a:srgbClr val="FF0000"/>
                    </a:solidFill>
                    <a:effectLst/>
                  </a:rPr>
                  <a:t>解</a:t>
                </a:r>
                <a:r>
                  <a:rPr lang="en-US" altLang="zh-CN" b="1" dirty="0">
                    <a:solidFill>
                      <a:srgbClr val="FF0000"/>
                    </a:solidFill>
                    <a:effectLst/>
                  </a:rPr>
                  <a:t>(</a:t>
                </a:r>
                <a:r>
                  <a:rPr lang="zh-CN" altLang="en-US" b="1" dirty="0">
                    <a:solidFill>
                      <a:srgbClr val="FF0000"/>
                    </a:solidFill>
                    <a:effectLst/>
                  </a:rPr>
                  <a:t>续</a:t>
                </a:r>
                <a:r>
                  <a:rPr lang="en-US" altLang="zh-CN" b="1" dirty="0">
                    <a:solidFill>
                      <a:srgbClr val="FF0000"/>
                    </a:solidFill>
                    <a:effectLst/>
                  </a:rPr>
                  <a:t>) 】</a:t>
                </a:r>
                <a:r>
                  <a:rPr lang="zh-CN" altLang="zh-CN" b="1" dirty="0">
                    <a:solidFill>
                      <a:schemeClr val="accent2"/>
                    </a:solidFill>
                    <a:effectLst/>
                  </a:rPr>
                  <a:t>（</a:t>
                </a:r>
                <a:r>
                  <a:rPr lang="en-US" altLang="zh-CN" b="1" dirty="0">
                    <a:solidFill>
                      <a:schemeClr val="accent2"/>
                    </a:solidFill>
                    <a:effectLst/>
                  </a:rPr>
                  <a:t>2</a:t>
                </a:r>
                <a:r>
                  <a:rPr lang="zh-CN" altLang="zh-CN" b="1" dirty="0">
                    <a:solidFill>
                      <a:schemeClr val="accent2"/>
                    </a:solidFill>
                    <a:effectLst/>
                  </a:rPr>
                  <a:t>）</a:t>
                </a:r>
                <a:r>
                  <a:rPr lang="zh-CN" altLang="zh-CN" b="1" dirty="0">
                    <a:solidFill>
                      <a:schemeClr val="tx1"/>
                    </a:solidFill>
                    <a:effectLst/>
                  </a:rPr>
                  <a:t>再求每个</a:t>
                </a:r>
                <a:r>
                  <a:rPr lang="zh-CN" altLang="en-US" b="1" dirty="0">
                    <a:solidFill>
                      <a:schemeClr val="tx1"/>
                    </a:solidFill>
                    <a:effectLst/>
                  </a:rPr>
                  <a:t>结</a:t>
                </a:r>
                <a:r>
                  <a:rPr lang="zh-CN" altLang="zh-CN" b="1" dirty="0">
                    <a:solidFill>
                      <a:schemeClr val="tx1"/>
                    </a:solidFill>
                    <a:effectLst/>
                  </a:rPr>
                  <a:t>点的最晚启动时间。从汇点开始计算，汇点的最晚启动时间等于其最早启动时间，对于</a:t>
                </a:r>
                <a:r>
                  <a:rPr lang="zh-CN" altLang="en-US" b="1" dirty="0">
                    <a:solidFill>
                      <a:schemeClr val="tx1"/>
                    </a:solidFill>
                    <a:effectLst/>
                  </a:rPr>
                  <a:t>结</a:t>
                </a:r>
                <a:r>
                  <a:rPr lang="zh-CN" altLang="zh-CN" b="1" dirty="0">
                    <a:solidFill>
                      <a:schemeClr val="tx1"/>
                    </a:solidFill>
                    <a:effectLst/>
                  </a:rPr>
                  <a:t>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oMath>
                </a14:m>
                <a:r>
                  <a:rPr lang="zh-CN" altLang="zh-CN" b="1" dirty="0">
                    <a:solidFill>
                      <a:schemeClr val="tx1"/>
                    </a:solidFill>
                    <a:effectLst/>
                  </a:rPr>
                  <a:t>，只有在所有以</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oMath>
                </a14:m>
                <a:r>
                  <a:rPr lang="zh-CN" altLang="zh-CN" b="1" dirty="0">
                    <a:solidFill>
                      <a:schemeClr val="tx1"/>
                    </a:solidFill>
                    <a:effectLst/>
                  </a:rPr>
                  <a:t>为起点的边</a:t>
                </a:r>
                <a14:m>
                  <m:oMath xmlns:m="http://schemas.openxmlformats.org/officeDocument/2006/math">
                    <m:r>
                      <a:rPr lang="en-US" altLang="zh-CN" b="1">
                        <a:solidFill>
                          <a:schemeClr val="tx1"/>
                        </a:solidFill>
                        <a:effectLst/>
                        <a:latin typeface="Cambria Math" panose="02040503050406030204" pitchFamily="18" charset="0"/>
                      </a:rPr>
                      <m:t>&lt;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r>
                      <a:rPr lang="en-US" altLang="zh-CN" b="1" i="1">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𝒋</m:t>
                        </m:r>
                      </m:sub>
                    </m:sSub>
                    <m:r>
                      <a:rPr lang="en-US" altLang="zh-CN" b="1">
                        <a:solidFill>
                          <a:schemeClr val="tx1"/>
                        </a:solidFill>
                        <a:effectLst/>
                        <a:latin typeface="Cambria Math" panose="02040503050406030204" pitchFamily="18" charset="0"/>
                      </a:rPr>
                      <m:t>&gt;</m:t>
                    </m:r>
                  </m:oMath>
                </a14:m>
                <a:r>
                  <a:rPr lang="zh-CN" altLang="zh-CN" b="1" dirty="0">
                    <a:solidFill>
                      <a:schemeClr val="tx1"/>
                    </a:solidFill>
                    <a:effectLst/>
                  </a:rPr>
                  <a:t>的终点</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𝒋</m:t>
                        </m:r>
                      </m:sub>
                    </m:sSub>
                  </m:oMath>
                </a14:m>
                <a:r>
                  <a:rPr lang="zh-CN" altLang="zh-CN" b="1" dirty="0">
                    <a:solidFill>
                      <a:schemeClr val="tx1"/>
                    </a:solidFill>
                    <a:effectLst/>
                  </a:rPr>
                  <a:t>的最晚启动时间都计算出来之后，才能计算</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oMath>
                </a14:m>
                <a:r>
                  <a:rPr lang="zh-CN" altLang="zh-CN" b="1" dirty="0">
                    <a:solidFill>
                      <a:schemeClr val="tx1"/>
                    </a:solidFill>
                    <a:effectLst/>
                  </a:rPr>
                  <a:t>的最晚启动时间，而且</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𝒗</m:t>
                        </m:r>
                      </m:e>
                      <m:sub>
                        <m:r>
                          <a:rPr lang="en-US" altLang="zh-CN" b="1" i="1">
                            <a:solidFill>
                              <a:schemeClr val="tx1"/>
                            </a:solidFill>
                            <a:effectLst/>
                            <a:latin typeface="Cambria Math" panose="02040503050406030204" pitchFamily="18" charset="0"/>
                          </a:rPr>
                          <m:t>𝒊</m:t>
                        </m:r>
                      </m:sub>
                    </m:sSub>
                  </m:oMath>
                </a14:m>
                <a:r>
                  <a:rPr lang="zh-CN" altLang="zh-CN" b="1" dirty="0">
                    <a:solidFill>
                      <a:schemeClr val="tx1"/>
                    </a:solidFill>
                    <a:effectLst/>
                  </a:rPr>
                  <a:t>的</a:t>
                </a:r>
                <a:r>
                  <a:rPr lang="zh-CN" altLang="zh-CN" b="1" dirty="0">
                    <a:solidFill>
                      <a:srgbClr val="CC00FF"/>
                    </a:solidFill>
                    <a:effectLst/>
                  </a:rPr>
                  <a:t>最晚启动时间</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a:solidFill>
                              <a:schemeClr val="tx1"/>
                            </a:solidFill>
                            <a:effectLst/>
                            <a:latin typeface="Cambria Math" panose="02040503050406030204" pitchFamily="18" charset="0"/>
                          </a:rPr>
                          <m:t>𝝉</m:t>
                        </m:r>
                      </m:e>
                      <m:sub>
                        <m:r>
                          <a:rPr lang="en-US" altLang="zh-CN" b="1" i="1">
                            <a:solidFill>
                              <a:schemeClr val="tx1"/>
                            </a:solidFill>
                            <a:effectLst/>
                            <a:latin typeface="Cambria Math" panose="02040503050406030204" pitchFamily="18" charset="0"/>
                          </a:rPr>
                          <m:t>𝒊</m:t>
                        </m:r>
                      </m:sub>
                    </m:sSub>
                  </m:oMath>
                </a14:m>
                <a:r>
                  <a:rPr lang="zh-CN" altLang="zh-CN" b="1" dirty="0">
                    <a:solidFill>
                      <a:schemeClr val="tx1"/>
                    </a:solidFill>
                    <a:effectLst/>
                  </a:rPr>
                  <a:t>为：</a:t>
                </a:r>
              </a:p>
              <a:p>
                <a:pPr marL="0" indent="0" algn="ctr">
                  <a:lnSpc>
                    <a:spcPct val="150000"/>
                  </a:lnSpc>
                  <a:buNone/>
                </a:pPr>
                <a14:m>
                  <m:oMath xmlns:m="http://schemas.openxmlformats.org/officeDocument/2006/math">
                    <m:sSub>
                      <m:sSubPr>
                        <m:ctrlPr>
                          <a:rPr lang="zh-CN" altLang="zh-CN" b="1" i="1" smtClean="0">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𝝉</m:t>
                        </m:r>
                      </m:e>
                      <m:sub>
                        <m:r>
                          <a:rPr lang="en-US" altLang="zh-CN" b="1" i="1">
                            <a:solidFill>
                              <a:srgbClr val="CC00FF"/>
                            </a:solidFill>
                            <a:effectLst/>
                            <a:latin typeface="Cambria Math" panose="02040503050406030204" pitchFamily="18" charset="0"/>
                          </a:rPr>
                          <m:t>𝒊</m:t>
                        </m:r>
                      </m:sub>
                    </m:sSub>
                    <m:r>
                      <a:rPr lang="en-US" altLang="zh-CN" b="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𝒎𝒂𝒙</m:t>
                    </m:r>
                    <m:r>
                      <a:rPr lang="en-US" altLang="zh-CN" b="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𝝉</m:t>
                        </m:r>
                      </m:e>
                      <m:sub>
                        <m:r>
                          <a:rPr lang="en-US" altLang="zh-CN" b="1" i="1">
                            <a:solidFill>
                              <a:srgbClr val="CC00FF"/>
                            </a:solidFill>
                            <a:effectLst/>
                            <a:latin typeface="Cambria Math" panose="02040503050406030204" pitchFamily="18" charset="0"/>
                          </a:rPr>
                          <m:t>𝒋</m:t>
                        </m:r>
                      </m:sub>
                    </m:sSub>
                    <m:r>
                      <a:rPr lang="en-US" altLang="zh-CN" b="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𝝉</m:t>
                        </m:r>
                      </m:e>
                      <m:sub>
                        <m:r>
                          <a:rPr lang="en-US" altLang="zh-CN" b="1" i="1">
                            <a:solidFill>
                              <a:srgbClr val="CC00FF"/>
                            </a:solidFill>
                            <a:effectLst/>
                            <a:latin typeface="Cambria Math" panose="02040503050406030204" pitchFamily="18" charset="0"/>
                          </a:rPr>
                          <m:t>𝒋</m:t>
                        </m:r>
                      </m:sub>
                    </m:sSub>
                    <m:r>
                      <a:rPr lang="en-US" altLang="zh-CN" b="1" i="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𝒘</m:t>
                    </m:r>
                    <m:r>
                      <a:rPr lang="en-US" altLang="zh-CN" b="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𝒊</m:t>
                        </m:r>
                      </m:sub>
                    </m:sSub>
                    <m:r>
                      <a:rPr lang="en-US" altLang="zh-CN" b="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𝒋</m:t>
                        </m:r>
                      </m:sub>
                    </m:sSub>
                    <m:r>
                      <a:rPr lang="en-US" altLang="zh-CN" b="1">
                        <a:solidFill>
                          <a:srgbClr val="CC00FF"/>
                        </a:solidFill>
                        <a:effectLst/>
                        <a:latin typeface="Cambria Math" panose="02040503050406030204" pitchFamily="18" charset="0"/>
                      </a:rPr>
                      <m:t>)|</m:t>
                    </m:r>
                    <m:d>
                      <m:dPr>
                        <m:begChr m:val="〈"/>
                        <m:endChr m:val="〉"/>
                        <m:ctrlPr>
                          <a:rPr lang="zh-CN" altLang="zh-CN" b="1" i="1">
                            <a:solidFill>
                              <a:srgbClr val="CC00FF"/>
                            </a:solidFill>
                            <a:effectLst/>
                            <a:latin typeface="Cambria Math" panose="02040503050406030204" pitchFamily="18" charset="0"/>
                          </a:rPr>
                        </m:ctrlPr>
                      </m:dPr>
                      <m:e>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𝒊</m:t>
                            </m:r>
                          </m:sub>
                        </m:sSub>
                        <m:r>
                          <a:rPr lang="en-US" altLang="zh-CN" b="1" i="1">
                            <a:solidFill>
                              <a:srgbClr val="CC00FF"/>
                            </a:solidFill>
                            <a:effectLst/>
                            <a:latin typeface="Cambria Math" panose="02040503050406030204" pitchFamily="18" charset="0"/>
                          </a:rPr>
                          <m:t>,</m:t>
                        </m:r>
                        <m:sSub>
                          <m:sSubPr>
                            <m:ctrlPr>
                              <a:rPr lang="zh-CN" altLang="zh-CN" b="1" i="1">
                                <a:solidFill>
                                  <a:srgbClr val="CC00FF"/>
                                </a:solidFill>
                                <a:effectLst/>
                                <a:latin typeface="Cambria Math" panose="02040503050406030204" pitchFamily="18" charset="0"/>
                              </a:rPr>
                            </m:ctrlPr>
                          </m:sSubPr>
                          <m:e>
                            <m:r>
                              <a:rPr lang="en-US" altLang="zh-CN" b="1" i="1">
                                <a:solidFill>
                                  <a:srgbClr val="CC00FF"/>
                                </a:solidFill>
                                <a:effectLst/>
                                <a:latin typeface="Cambria Math" panose="02040503050406030204" pitchFamily="18" charset="0"/>
                              </a:rPr>
                              <m:t>𝒗</m:t>
                            </m:r>
                          </m:e>
                          <m:sub>
                            <m:r>
                              <a:rPr lang="en-US" altLang="zh-CN" b="1" i="1">
                                <a:solidFill>
                                  <a:srgbClr val="CC00FF"/>
                                </a:solidFill>
                                <a:effectLst/>
                                <a:latin typeface="Cambria Math" panose="02040503050406030204" pitchFamily="18" charset="0"/>
                              </a:rPr>
                              <m:t>𝒋</m:t>
                            </m:r>
                          </m:sub>
                        </m:sSub>
                      </m:e>
                    </m:d>
                    <m:r>
                      <a:rPr lang="en-US" altLang="zh-CN" b="1">
                        <a:solidFill>
                          <a:srgbClr val="CC00FF"/>
                        </a:solidFill>
                        <a:effectLst/>
                        <a:latin typeface="Cambria Math" panose="02040503050406030204" pitchFamily="18" charset="0"/>
                      </a:rPr>
                      <m:t>∈</m:t>
                    </m:r>
                    <m:r>
                      <a:rPr lang="en-US" altLang="zh-CN" b="1" i="1">
                        <a:solidFill>
                          <a:srgbClr val="CC00FF"/>
                        </a:solidFill>
                        <a:effectLst/>
                        <a:latin typeface="Cambria Math" panose="02040503050406030204" pitchFamily="18" charset="0"/>
                      </a:rPr>
                      <m:t>𝑬</m:t>
                    </m:r>
                    <m:r>
                      <a:rPr lang="en-US" altLang="zh-CN" b="1">
                        <a:solidFill>
                          <a:srgbClr val="CC00FF"/>
                        </a:solidFill>
                        <a:effectLst/>
                        <a:latin typeface="Cambria Math" panose="02040503050406030204" pitchFamily="18" charset="0"/>
                      </a:rPr>
                      <m:t>}</m:t>
                    </m:r>
                  </m:oMath>
                </a14:m>
                <a:r>
                  <a:rPr lang="en-US" altLang="zh-CN" b="1" dirty="0">
                    <a:solidFill>
                      <a:srgbClr val="CC00FF"/>
                    </a:solidFill>
                    <a:effectLst/>
                  </a:rPr>
                  <a:t> </a:t>
                </a:r>
                <a:endParaRPr lang="zh-CN" altLang="zh-CN" b="1" dirty="0">
                  <a:solidFill>
                    <a:srgbClr val="800080"/>
                  </a:solidFill>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467544" y="2076698"/>
                <a:ext cx="8496944" cy="3744416"/>
              </a:xfrm>
              <a:blipFill>
                <a:blip r:embed="rId2"/>
                <a:stretch>
                  <a:fillRect l="-1148" r="-717"/>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作业规划问题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9145762"/>
      </p:ext>
    </p:extLst>
  </p:cSld>
  <p:clrMapOvr>
    <a:masterClrMapping/>
  </p:clrMapOvr>
  <p:transition spd="med">
    <p:wipe dir="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323528" y="1772816"/>
                <a:ext cx="8820472" cy="4320480"/>
              </a:xfrm>
              <a:solidFill>
                <a:schemeClr val="accent3">
                  <a:lumMod val="95000"/>
                </a:schemeClr>
              </a:solidFill>
              <a:ln>
                <a:noFill/>
              </a:ln>
            </p:spPr>
            <p:txBody>
              <a:bodyPr/>
              <a:lstStyle/>
              <a:p>
                <a:pPr marL="0" indent="0">
                  <a:lnSpc>
                    <a:spcPts val="3600"/>
                  </a:lnSpc>
                  <a:buNone/>
                </a:pPr>
                <a:r>
                  <a:rPr lang="zh-CN" altLang="en-US" b="1" dirty="0">
                    <a:solidFill>
                      <a:srgbClr val="FF0000"/>
                    </a:solidFill>
                    <a:effectLst/>
                  </a:rPr>
                  <a:t>解</a:t>
                </a:r>
                <a:r>
                  <a:rPr lang="en-US" altLang="zh-CN" b="1" dirty="0">
                    <a:solidFill>
                      <a:srgbClr val="FF0000"/>
                    </a:solidFill>
                    <a:effectLst/>
                  </a:rPr>
                  <a:t>(</a:t>
                </a:r>
                <a:r>
                  <a:rPr lang="zh-CN" altLang="en-US" b="1" dirty="0">
                    <a:solidFill>
                      <a:srgbClr val="FF0000"/>
                    </a:solidFill>
                    <a:effectLst/>
                  </a:rPr>
                  <a:t>续</a:t>
                </a:r>
                <a:r>
                  <a:rPr lang="en-US" altLang="zh-CN" b="1" dirty="0">
                    <a:solidFill>
                      <a:srgbClr val="FF0000"/>
                    </a:solidFill>
                    <a:effectLst/>
                  </a:rPr>
                  <a:t>)</a:t>
                </a:r>
                <a:r>
                  <a:rPr lang="zh-CN" altLang="zh-CN" b="1" dirty="0">
                    <a:solidFill>
                      <a:srgbClr val="FF0000"/>
                    </a:solidFill>
                    <a:effectLst/>
                  </a:rPr>
                  <a:t>】</a:t>
                </a:r>
                <a:r>
                  <a:rPr lang="zh-CN" altLang="zh-CN" b="1" dirty="0">
                    <a:solidFill>
                      <a:schemeClr val="tx1"/>
                    </a:solidFill>
                    <a:effectLst/>
                  </a:rPr>
                  <a:t>那么：</a:t>
                </a:r>
                <a:endParaRPr lang="en-US" altLang="zh-CN" b="1" dirty="0">
                  <a:solidFill>
                    <a:schemeClr val="tx1"/>
                  </a:solidFill>
                  <a:effectLst/>
                </a:endParaRPr>
              </a:p>
              <a:p>
                <a:pPr marL="0" indent="0">
                  <a:lnSpc>
                    <a:spcPts val="3600"/>
                  </a:lnSpc>
                  <a:buNone/>
                </a:pPr>
                <a:r>
                  <a:rPr lang="en-US" altLang="zh-CN" b="1" dirty="0">
                    <a:solidFill>
                      <a:schemeClr val="tx1"/>
                    </a:solidFill>
                    <a:effectLst/>
                  </a:rPr>
                  <a:t>  </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𝟖</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𝛑</m:t>
                        </m:r>
                      </m:e>
                      <m:sub>
                        <m:r>
                          <a:rPr lang="en-US" altLang="zh-CN" b="1" i="1" smtClean="0">
                            <a:solidFill>
                              <a:schemeClr val="tx1"/>
                            </a:solidFill>
                            <a:effectLst/>
                            <a:latin typeface="Cambria Math" panose="02040503050406030204" pitchFamily="18" charset="0"/>
                          </a:rPr>
                          <m:t>𝟖</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𝟐𝟐</m:t>
                    </m:r>
                  </m:oMath>
                </a14:m>
                <a:r>
                  <a:rPr lang="zh-CN" altLang="zh-CN" b="1" dirty="0">
                    <a:solidFill>
                      <a:schemeClr val="tx1"/>
                    </a:solidFill>
                    <a:effectLst/>
                  </a:rPr>
                  <a:t>；</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𝟔</m:t>
                        </m:r>
                      </m:sub>
                    </m:sSub>
                    <m:r>
                      <a:rPr lang="en-US" altLang="zh-CN" b="1" smtClean="0">
                        <a:solidFill>
                          <a:schemeClr val="tx1"/>
                        </a:solidFill>
                        <a:effectLst/>
                        <a:latin typeface="Cambria Math" panose="02040503050406030204" pitchFamily="18" charset="0"/>
                      </a:rPr>
                      <m:t>=</m:t>
                    </m:r>
                    <m:func>
                      <m:funcPr>
                        <m:ctrlPr>
                          <a:rPr lang="zh-CN" altLang="zh-CN" b="1" i="1">
                            <a:solidFill>
                              <a:schemeClr val="tx1"/>
                            </a:solidFill>
                            <a:effectLst/>
                            <a:latin typeface="Cambria Math" panose="02040503050406030204" pitchFamily="18" charset="0"/>
                          </a:rPr>
                        </m:ctrlPr>
                      </m:funcPr>
                      <m:fName>
                        <m:r>
                          <a:rPr lang="en-US" altLang="zh-CN" b="1" i="1" smtClean="0">
                            <a:solidFill>
                              <a:schemeClr val="tx1"/>
                            </a:solidFill>
                            <a:effectLst/>
                            <a:latin typeface="Cambria Math" panose="02040503050406030204" pitchFamily="18" charset="0"/>
                          </a:rPr>
                          <m:t>𝐦𝐢𝐧</m:t>
                        </m:r>
                      </m:fName>
                      <m:e>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𝟖</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𝟔</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𝟖</m:t>
                                    </m:r>
                                  </m:sub>
                                </m:sSub>
                              </m:e>
                            </m:d>
                          </m:e>
                        </m:d>
                      </m:e>
                    </m:func>
                    <m:r>
                      <a:rPr lang="en-US" altLang="zh-CN" b="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𝟏𝟕</m:t>
                    </m:r>
                  </m:oMath>
                </a14:m>
                <a:r>
                  <a:rPr lang="zh-CN" altLang="zh-CN" b="1" dirty="0">
                    <a:solidFill>
                      <a:schemeClr val="tx1"/>
                    </a:solidFill>
                    <a:effectLst/>
                  </a:rPr>
                  <a:t>；</a:t>
                </a:r>
                <a:endParaRPr lang="en-US" altLang="zh-CN" b="1" dirty="0">
                  <a:solidFill>
                    <a:schemeClr val="tx1"/>
                  </a:solidFill>
                  <a:effectLst/>
                </a:endParaRPr>
              </a:p>
              <a:p>
                <a:pPr marL="0" indent="0">
                  <a:lnSpc>
                    <a:spcPts val="3600"/>
                  </a:lnSpc>
                  <a:buNone/>
                </a:pPr>
                <a:r>
                  <a:rPr lang="en-US" altLang="zh-CN" b="1" dirty="0">
                    <a:solidFill>
                      <a:schemeClr val="tx1"/>
                    </a:solidFill>
                    <a:effectLst/>
                  </a:rPr>
                  <a:t>  </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𝟕</m:t>
                        </m:r>
                      </m:sub>
                    </m:sSub>
                    <m:r>
                      <a:rPr lang="en-US" altLang="zh-CN" b="1" smtClean="0">
                        <a:solidFill>
                          <a:schemeClr val="tx1"/>
                        </a:solidFill>
                        <a:effectLst/>
                        <a:latin typeface="Cambria Math" panose="02040503050406030204" pitchFamily="18" charset="0"/>
                      </a:rPr>
                      <m:t>=</m:t>
                    </m:r>
                    <m:func>
                      <m:funcPr>
                        <m:ctrlPr>
                          <a:rPr lang="zh-CN" altLang="zh-CN" b="1" i="1">
                            <a:solidFill>
                              <a:schemeClr val="tx1"/>
                            </a:solidFill>
                            <a:effectLst/>
                            <a:latin typeface="Cambria Math" panose="02040503050406030204" pitchFamily="18" charset="0"/>
                          </a:rPr>
                        </m:ctrlPr>
                      </m:funcPr>
                      <m:fName>
                        <m:r>
                          <a:rPr lang="en-US" altLang="zh-CN" b="1" i="1" smtClean="0">
                            <a:solidFill>
                              <a:schemeClr val="tx1"/>
                            </a:solidFill>
                            <a:effectLst/>
                            <a:latin typeface="Cambria Math" panose="02040503050406030204" pitchFamily="18" charset="0"/>
                          </a:rPr>
                          <m:t>𝐦𝐢𝐧</m:t>
                        </m:r>
                      </m:fName>
                      <m:e>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𝟖</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𝟕</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𝟖</m:t>
                                    </m:r>
                                  </m:sub>
                                </m:sSub>
                              </m:e>
                            </m:d>
                          </m:e>
                        </m:d>
                      </m:e>
                    </m:func>
                    <m:r>
                      <a:rPr lang="en-US" altLang="zh-CN" b="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𝟏𝟗</m:t>
                    </m:r>
                  </m:oMath>
                </a14:m>
                <a:r>
                  <a:rPr lang="zh-CN" altLang="zh-CN" b="1" dirty="0">
                    <a:solidFill>
                      <a:schemeClr val="tx1"/>
                    </a:solidFill>
                    <a:effectLst/>
                  </a:rPr>
                  <a:t>；</a:t>
                </a:r>
              </a:p>
              <a:p>
                <a:pPr marL="0" indent="0">
                  <a:lnSpc>
                    <a:spcPts val="3600"/>
                  </a:lnSpc>
                  <a:buNone/>
                </a:pPr>
                <a:r>
                  <a:rPr lang="en-US" altLang="zh-CN" b="1" dirty="0">
                    <a:solidFill>
                      <a:schemeClr val="tx1"/>
                    </a:solidFill>
                    <a:effectLst/>
                  </a:rPr>
                  <a:t>  </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𝟓</m:t>
                        </m:r>
                      </m:sub>
                    </m:sSub>
                    <m:r>
                      <a:rPr lang="en-US" altLang="zh-CN" b="1" smtClean="0">
                        <a:solidFill>
                          <a:schemeClr val="tx1"/>
                        </a:solidFill>
                        <a:effectLst/>
                        <a:latin typeface="Cambria Math" panose="02040503050406030204" pitchFamily="18" charset="0"/>
                      </a:rPr>
                      <m:t>=</m:t>
                    </m:r>
                    <m:func>
                      <m:funcPr>
                        <m:ctrlPr>
                          <a:rPr lang="zh-CN" altLang="zh-CN" b="1" i="1">
                            <a:solidFill>
                              <a:schemeClr val="tx1"/>
                            </a:solidFill>
                            <a:effectLst/>
                            <a:latin typeface="Cambria Math" panose="02040503050406030204" pitchFamily="18" charset="0"/>
                          </a:rPr>
                        </m:ctrlPr>
                      </m:funcPr>
                      <m:fName>
                        <m:r>
                          <a:rPr lang="en-US" altLang="zh-CN" b="1" i="1" smtClean="0">
                            <a:solidFill>
                              <a:schemeClr val="tx1"/>
                            </a:solidFill>
                            <a:effectLst/>
                            <a:latin typeface="Cambria Math" panose="02040503050406030204" pitchFamily="18" charset="0"/>
                          </a:rPr>
                          <m:t>𝐦𝐢𝐧</m:t>
                        </m:r>
                      </m:fName>
                      <m:e>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𝟔</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𝟓</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𝟔</m:t>
                                    </m:r>
                                  </m:sub>
                                </m:sSub>
                              </m:e>
                            </m:d>
                            <m:r>
                              <a:rPr lang="en-US" altLang="zh-CN" b="1" i="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𝟕</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𝟓</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𝟕</m:t>
                                    </m:r>
                                  </m:sub>
                                </m:sSub>
                              </m:e>
                            </m:d>
                            <m:r>
                              <a:rPr lang="en-US" altLang="zh-CN" b="1" i="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𝟖</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𝟓</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𝟖</m:t>
                                    </m:r>
                                  </m:sub>
                                </m:sSub>
                              </m:e>
                            </m:d>
                          </m:e>
                        </m:d>
                      </m:e>
                    </m:func>
                    <m:r>
                      <a:rPr lang="en-US" altLang="zh-CN" b="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𝟏𝟑</m:t>
                    </m:r>
                  </m:oMath>
                </a14:m>
                <a:r>
                  <a:rPr lang="zh-CN" altLang="zh-CN" b="1" dirty="0">
                    <a:solidFill>
                      <a:schemeClr val="tx1"/>
                    </a:solidFill>
                    <a:effectLst/>
                  </a:rPr>
                  <a:t>；</a:t>
                </a:r>
              </a:p>
              <a:p>
                <a:pPr marL="0" indent="0">
                  <a:lnSpc>
                    <a:spcPts val="3600"/>
                  </a:lnSpc>
                  <a:buNone/>
                </a:pPr>
                <a:r>
                  <a:rPr lang="en-US" altLang="zh-CN" b="1" dirty="0">
                    <a:solidFill>
                      <a:schemeClr val="tx1"/>
                    </a:solidFill>
                    <a:effectLst/>
                  </a:rPr>
                  <a:t>  </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𝟐</m:t>
                        </m:r>
                      </m:sub>
                    </m:sSub>
                    <m:r>
                      <a:rPr lang="en-US" altLang="zh-CN" b="1" smtClean="0">
                        <a:solidFill>
                          <a:schemeClr val="tx1"/>
                        </a:solidFill>
                        <a:effectLst/>
                        <a:latin typeface="Cambria Math" panose="02040503050406030204" pitchFamily="18" charset="0"/>
                      </a:rPr>
                      <m:t>=</m:t>
                    </m:r>
                    <m:func>
                      <m:funcPr>
                        <m:ctrlPr>
                          <a:rPr lang="zh-CN" altLang="zh-CN" b="1" i="1">
                            <a:solidFill>
                              <a:schemeClr val="tx1"/>
                            </a:solidFill>
                            <a:effectLst/>
                            <a:latin typeface="Cambria Math" panose="02040503050406030204" pitchFamily="18" charset="0"/>
                          </a:rPr>
                        </m:ctrlPr>
                      </m:funcPr>
                      <m:fName>
                        <m:r>
                          <a:rPr lang="en-US" altLang="zh-CN" b="1" i="1" smtClean="0">
                            <a:solidFill>
                              <a:schemeClr val="tx1"/>
                            </a:solidFill>
                            <a:effectLst/>
                            <a:latin typeface="Cambria Math" panose="02040503050406030204" pitchFamily="18" charset="0"/>
                          </a:rPr>
                          <m:t>𝐦𝐢𝐧</m:t>
                        </m:r>
                      </m:fName>
                      <m:e>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𝟔</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𝟐</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𝟔</m:t>
                                    </m:r>
                                  </m:sub>
                                </m:sSub>
                              </m:e>
                            </m:d>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𝟓</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𝟐</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𝟓</m:t>
                                    </m:r>
                                  </m:sub>
                                </m:sSub>
                              </m:e>
                            </m:d>
                          </m:e>
                        </m:d>
                      </m:e>
                    </m:func>
                    <m:r>
                      <a:rPr lang="en-US" altLang="zh-CN" b="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𝟖</m:t>
                    </m:r>
                  </m:oMath>
                </a14:m>
                <a:r>
                  <a:rPr lang="zh-CN" altLang="zh-CN" b="1" dirty="0">
                    <a:solidFill>
                      <a:schemeClr val="tx1"/>
                    </a:solidFill>
                    <a:effectLst/>
                  </a:rPr>
                  <a:t>；</a:t>
                </a:r>
                <a:endParaRPr lang="en-US" altLang="zh-CN" b="1" dirty="0">
                  <a:solidFill>
                    <a:schemeClr val="tx1"/>
                  </a:solidFill>
                  <a:effectLst/>
                </a:endParaRPr>
              </a:p>
              <a:p>
                <a:pPr marL="0" indent="0">
                  <a:lnSpc>
                    <a:spcPts val="3600"/>
                  </a:lnSpc>
                  <a:buNone/>
                </a:pPr>
                <a:r>
                  <a:rPr lang="en-US" altLang="zh-CN" b="1" dirty="0">
                    <a:solidFill>
                      <a:schemeClr val="tx1"/>
                    </a:solidFill>
                    <a:effectLst/>
                  </a:rPr>
                  <a:t>  </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𝟒</m:t>
                        </m:r>
                      </m:sub>
                    </m:sSub>
                    <m:r>
                      <a:rPr lang="en-US" altLang="zh-CN" b="1" smtClean="0">
                        <a:solidFill>
                          <a:schemeClr val="tx1"/>
                        </a:solidFill>
                        <a:effectLst/>
                        <a:latin typeface="Cambria Math" panose="02040503050406030204" pitchFamily="18" charset="0"/>
                      </a:rPr>
                      <m:t>=</m:t>
                    </m:r>
                    <m:func>
                      <m:funcPr>
                        <m:ctrlPr>
                          <a:rPr lang="zh-CN" altLang="zh-CN" b="1" i="1">
                            <a:solidFill>
                              <a:schemeClr val="tx1"/>
                            </a:solidFill>
                            <a:effectLst/>
                            <a:latin typeface="Cambria Math" panose="02040503050406030204" pitchFamily="18" charset="0"/>
                          </a:rPr>
                        </m:ctrlPr>
                      </m:funcPr>
                      <m:fName>
                        <m:r>
                          <a:rPr lang="en-US" altLang="zh-CN" b="1" i="1" smtClean="0">
                            <a:solidFill>
                              <a:schemeClr val="tx1"/>
                            </a:solidFill>
                            <a:effectLst/>
                            <a:latin typeface="Cambria Math" panose="02040503050406030204" pitchFamily="18" charset="0"/>
                          </a:rPr>
                          <m:t>𝐦𝐢𝐧</m:t>
                        </m:r>
                      </m:fName>
                      <m:e>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𝟕</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𝟒</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𝟕</m:t>
                                    </m:r>
                                  </m:sub>
                                </m:sSub>
                              </m:e>
                            </m:d>
                          </m:e>
                        </m:d>
                      </m:e>
                    </m:func>
                    <m:r>
                      <a:rPr lang="en-US" altLang="zh-CN" b="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𝟏𝟕</m:t>
                    </m:r>
                  </m:oMath>
                </a14:m>
                <a:r>
                  <a:rPr lang="zh-CN" altLang="zh-CN" b="1" dirty="0">
                    <a:solidFill>
                      <a:schemeClr val="tx1"/>
                    </a:solidFill>
                    <a:effectLst/>
                  </a:rPr>
                  <a:t>；</a:t>
                </a:r>
              </a:p>
              <a:p>
                <a:pPr marL="0" indent="0">
                  <a:lnSpc>
                    <a:spcPts val="3600"/>
                  </a:lnSpc>
                  <a:buNone/>
                </a:pPr>
                <a:r>
                  <a:rPr lang="en-US" altLang="zh-CN" b="1" dirty="0">
                    <a:solidFill>
                      <a:schemeClr val="tx1"/>
                    </a:solidFill>
                    <a:effectLst/>
                  </a:rPr>
                  <a:t>  </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𝟑</m:t>
                        </m:r>
                      </m:sub>
                    </m:sSub>
                    <m:r>
                      <a:rPr lang="en-US" altLang="zh-CN" b="1" smtClean="0">
                        <a:solidFill>
                          <a:schemeClr val="tx1"/>
                        </a:solidFill>
                        <a:effectLst/>
                        <a:latin typeface="Cambria Math" panose="02040503050406030204" pitchFamily="18" charset="0"/>
                      </a:rPr>
                      <m:t>=</m:t>
                    </m:r>
                    <m:func>
                      <m:funcPr>
                        <m:ctrlPr>
                          <a:rPr lang="zh-CN" altLang="zh-CN" b="1" i="1">
                            <a:solidFill>
                              <a:schemeClr val="tx1"/>
                            </a:solidFill>
                            <a:effectLst/>
                            <a:latin typeface="Cambria Math" panose="02040503050406030204" pitchFamily="18" charset="0"/>
                          </a:rPr>
                        </m:ctrlPr>
                      </m:funcPr>
                      <m:fName>
                        <m:r>
                          <a:rPr lang="en-US" altLang="zh-CN" b="1" i="1" smtClean="0">
                            <a:solidFill>
                              <a:schemeClr val="tx1"/>
                            </a:solidFill>
                            <a:effectLst/>
                            <a:latin typeface="Cambria Math" panose="02040503050406030204" pitchFamily="18" charset="0"/>
                          </a:rPr>
                          <m:t>𝐦𝐢𝐧</m:t>
                        </m:r>
                      </m:fName>
                      <m:e>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𝟐</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𝟑</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𝟐</m:t>
                                    </m:r>
                                  </m:sub>
                                </m:sSub>
                              </m:e>
                            </m:d>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𝟒</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𝟑</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𝟒</m:t>
                                    </m:r>
                                  </m:sub>
                                </m:sSub>
                              </m:e>
                            </m:d>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𝟓</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𝟑</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𝟓</m:t>
                                    </m:r>
                                  </m:sub>
                                </m:sSub>
                              </m:e>
                            </m:d>
                          </m:e>
                        </m:d>
                      </m:e>
                    </m:func>
                    <m:r>
                      <a:rPr lang="en-US" altLang="zh-CN" b="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𝟓</m:t>
                    </m:r>
                  </m:oMath>
                </a14:m>
                <a:r>
                  <a:rPr lang="zh-CN" altLang="zh-CN" b="1" dirty="0">
                    <a:solidFill>
                      <a:schemeClr val="tx1"/>
                    </a:solidFill>
                    <a:effectLst/>
                  </a:rPr>
                  <a:t>；</a:t>
                </a:r>
              </a:p>
              <a:p>
                <a:pPr marL="0" indent="0">
                  <a:lnSpc>
                    <a:spcPts val="3600"/>
                  </a:lnSpc>
                  <a:buNone/>
                </a:pPr>
                <a:r>
                  <a:rPr lang="en-US" altLang="zh-CN" b="1" dirty="0">
                    <a:solidFill>
                      <a:schemeClr val="tx1"/>
                    </a:solidFill>
                    <a:effectLst/>
                  </a:rPr>
                  <a:t>  </a:t>
                </a:r>
                <a14:m>
                  <m:oMath xmlns:m="http://schemas.openxmlformats.org/officeDocument/2006/math">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𝟏</m:t>
                        </m:r>
                      </m:sub>
                    </m:sSub>
                    <m:r>
                      <a:rPr lang="en-US" altLang="zh-CN" b="1" smtClean="0">
                        <a:solidFill>
                          <a:schemeClr val="tx1"/>
                        </a:solidFill>
                        <a:effectLst/>
                        <a:latin typeface="Cambria Math" panose="02040503050406030204" pitchFamily="18" charset="0"/>
                      </a:rPr>
                      <m:t>=</m:t>
                    </m:r>
                    <m:func>
                      <m:funcPr>
                        <m:ctrlPr>
                          <a:rPr lang="zh-CN" altLang="zh-CN" b="1" i="1">
                            <a:solidFill>
                              <a:schemeClr val="tx1"/>
                            </a:solidFill>
                            <a:effectLst/>
                            <a:latin typeface="Cambria Math" panose="02040503050406030204" pitchFamily="18" charset="0"/>
                          </a:rPr>
                        </m:ctrlPr>
                      </m:funcPr>
                      <m:fName>
                        <m:r>
                          <a:rPr lang="en-US" altLang="zh-CN" b="1" i="1" smtClean="0">
                            <a:solidFill>
                              <a:schemeClr val="tx1"/>
                            </a:solidFill>
                            <a:effectLst/>
                            <a:latin typeface="Cambria Math" panose="02040503050406030204" pitchFamily="18" charset="0"/>
                          </a:rPr>
                          <m:t>𝐦𝐢𝐧</m:t>
                        </m:r>
                      </m:fName>
                      <m:e>
                        <m:d>
                          <m:dPr>
                            <m:begChr m:val="{"/>
                            <m:endChr m:val="}"/>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𝟐</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𝟏</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𝟐</m:t>
                                    </m:r>
                                  </m:sub>
                                </m:sSub>
                              </m:e>
                            </m:d>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𝟑</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𝟏</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𝟑</m:t>
                                    </m:r>
                                  </m:sub>
                                </m:sSub>
                              </m:e>
                            </m:d>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𝛕</m:t>
                                </m:r>
                              </m:e>
                              <m:sub>
                                <m:r>
                                  <a:rPr lang="en-US" altLang="zh-CN" b="1" i="1" smtClean="0">
                                    <a:solidFill>
                                      <a:schemeClr val="tx1"/>
                                    </a:solidFill>
                                    <a:effectLst/>
                                    <a:latin typeface="Cambria Math" panose="02040503050406030204" pitchFamily="18" charset="0"/>
                                  </a:rPr>
                                  <m:t>𝟒</m:t>
                                </m:r>
                              </m:sub>
                            </m:sSub>
                            <m:r>
                              <a:rPr lang="en-US" altLang="zh-CN" b="1" i="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𝐰</m:t>
                            </m:r>
                            <m:d>
                              <m:dPr>
                                <m:ctrlPr>
                                  <a:rPr lang="zh-CN" altLang="zh-CN" b="1" i="1">
                                    <a:solidFill>
                                      <a:schemeClr val="tx1"/>
                                    </a:solidFill>
                                    <a:effectLst/>
                                    <a:latin typeface="Cambria Math" panose="02040503050406030204" pitchFamily="18" charset="0"/>
                                  </a:rPr>
                                </m:ctrlPr>
                              </m:dPr>
                              <m:e>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𝟏</m:t>
                                    </m:r>
                                  </m:sub>
                                </m:sSub>
                                <m:r>
                                  <a:rPr lang="en-US" altLang="zh-CN" b="1" smtClean="0">
                                    <a:solidFill>
                                      <a:schemeClr val="tx1"/>
                                    </a:solidFill>
                                    <a:effectLst/>
                                    <a:latin typeface="Cambria Math" panose="02040503050406030204" pitchFamily="18" charset="0"/>
                                  </a:rPr>
                                  <m:t>,</m:t>
                                </m:r>
                                <m:sSub>
                                  <m:sSubPr>
                                    <m:ctrlPr>
                                      <a:rPr lang="zh-CN" altLang="zh-CN" b="1" i="1">
                                        <a:solidFill>
                                          <a:schemeClr val="tx1"/>
                                        </a:solidFill>
                                        <a:effectLst/>
                                        <a:latin typeface="Cambria Math" panose="02040503050406030204" pitchFamily="18" charset="0"/>
                                      </a:rPr>
                                    </m:ctrlPr>
                                  </m:sSubPr>
                                  <m:e>
                                    <m:r>
                                      <a:rPr lang="en-US" altLang="zh-CN" b="1" i="1" smtClean="0">
                                        <a:solidFill>
                                          <a:schemeClr val="tx1"/>
                                        </a:solidFill>
                                        <a:effectLst/>
                                        <a:latin typeface="Cambria Math" panose="02040503050406030204" pitchFamily="18" charset="0"/>
                                      </a:rPr>
                                      <m:t>𝐯</m:t>
                                    </m:r>
                                  </m:e>
                                  <m:sub>
                                    <m:r>
                                      <a:rPr lang="en-US" altLang="zh-CN" b="1" i="1" smtClean="0">
                                        <a:solidFill>
                                          <a:schemeClr val="tx1"/>
                                        </a:solidFill>
                                        <a:effectLst/>
                                        <a:latin typeface="Cambria Math" panose="02040503050406030204" pitchFamily="18" charset="0"/>
                                      </a:rPr>
                                      <m:t>𝟒</m:t>
                                    </m:r>
                                  </m:sub>
                                </m:sSub>
                              </m:e>
                            </m:d>
                          </m:e>
                        </m:d>
                      </m:e>
                    </m:func>
                    <m:r>
                      <a:rPr lang="en-US" altLang="zh-CN" b="1" smtClean="0">
                        <a:solidFill>
                          <a:schemeClr val="tx1"/>
                        </a:solidFill>
                        <a:effectLst/>
                        <a:latin typeface="Cambria Math" panose="02040503050406030204" pitchFamily="18" charset="0"/>
                      </a:rPr>
                      <m:t>=</m:t>
                    </m:r>
                    <m:r>
                      <a:rPr lang="en-US" altLang="zh-CN" b="1" i="1" smtClean="0">
                        <a:solidFill>
                          <a:schemeClr val="tx1"/>
                        </a:solidFill>
                        <a:effectLst/>
                        <a:latin typeface="Cambria Math" panose="02040503050406030204" pitchFamily="18" charset="0"/>
                      </a:rPr>
                      <m:t>𝟎</m:t>
                    </m:r>
                  </m:oMath>
                </a14:m>
                <a:r>
                  <a:rPr lang="zh-CN" altLang="zh-CN" b="1" dirty="0">
                    <a:solidFill>
                      <a:schemeClr val="tx1"/>
                    </a:solidFill>
                    <a:effectLst/>
                  </a:rPr>
                  <a:t>；</a:t>
                </a: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323528" y="1772816"/>
                <a:ext cx="8820472" cy="4320480"/>
              </a:xfrm>
              <a:blipFill>
                <a:blip r:embed="rId2"/>
                <a:stretch>
                  <a:fillRect l="-1037" r="-346" b="-846"/>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作业规划问题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6499207"/>
      </p:ext>
    </p:extLst>
  </p:cSld>
  <p:clrMapOvr>
    <a:masterClrMapping/>
  </p:clrMapOvr>
  <p:transition spd="med">
    <p:wipe dir="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98435" name="Rectangle 3"/>
              <p:cNvSpPr>
                <a:spLocks noGrp="1" noChangeArrowheads="1"/>
              </p:cNvSpPr>
              <p:nvPr>
                <p:ph idx="1"/>
              </p:nvPr>
            </p:nvSpPr>
            <p:spPr>
              <a:xfrm>
                <a:off x="359532" y="1573573"/>
                <a:ext cx="8676964" cy="2088827"/>
              </a:xfrm>
              <a:solidFill>
                <a:schemeClr val="accent5">
                  <a:lumMod val="40000"/>
                  <a:lumOff val="60000"/>
                </a:schemeClr>
              </a:solidFill>
              <a:ln>
                <a:noFill/>
              </a:ln>
            </p:spPr>
            <p:txBody>
              <a:bodyPr/>
              <a:lstStyle/>
              <a:p>
                <a:pPr marL="0" indent="0">
                  <a:buNone/>
                </a:pPr>
                <a:r>
                  <a:rPr lang="en-US" altLang="zh-CN" b="1" dirty="0">
                    <a:solidFill>
                      <a:srgbClr val="FF0000"/>
                    </a:solidFill>
                    <a:effectLst/>
                  </a:rPr>
                  <a:t>  </a:t>
                </a:r>
                <a:r>
                  <a:rPr lang="zh-CN" altLang="zh-CN" b="1" dirty="0">
                    <a:solidFill>
                      <a:srgbClr val="FF0000"/>
                    </a:solidFill>
                    <a:effectLst/>
                  </a:rPr>
                  <a:t>【</a:t>
                </a:r>
                <a:r>
                  <a:rPr lang="zh-CN" altLang="en-US" b="1" dirty="0">
                    <a:solidFill>
                      <a:srgbClr val="FF0000"/>
                    </a:solidFill>
                    <a:effectLst/>
                  </a:rPr>
                  <a:t>解</a:t>
                </a:r>
                <a:r>
                  <a:rPr lang="en-US" altLang="zh-CN" b="1" dirty="0">
                    <a:solidFill>
                      <a:srgbClr val="FF0000"/>
                    </a:solidFill>
                    <a:effectLst/>
                  </a:rPr>
                  <a:t>(</a:t>
                </a:r>
                <a:r>
                  <a:rPr lang="zh-CN" altLang="en-US" b="1" dirty="0">
                    <a:solidFill>
                      <a:srgbClr val="FF0000"/>
                    </a:solidFill>
                    <a:effectLst/>
                  </a:rPr>
                  <a:t>续</a:t>
                </a:r>
                <a:r>
                  <a:rPr lang="en-US" altLang="zh-CN" b="1" dirty="0">
                    <a:solidFill>
                      <a:srgbClr val="FF0000"/>
                    </a:solidFill>
                    <a:effectLst/>
                  </a:rPr>
                  <a:t>)</a:t>
                </a:r>
                <a:r>
                  <a:rPr lang="zh-CN" altLang="zh-CN" b="1" dirty="0">
                    <a:solidFill>
                      <a:srgbClr val="FF0000"/>
                    </a:solidFill>
                    <a:effectLst/>
                  </a:rPr>
                  <a:t>】</a:t>
                </a:r>
                <a:r>
                  <a:rPr lang="zh-CN" altLang="zh-CN" b="1" dirty="0">
                    <a:effectLst/>
                  </a:rPr>
                  <a:t>（</a:t>
                </a:r>
                <a:r>
                  <a:rPr lang="en-US" altLang="zh-CN" b="1" dirty="0">
                    <a:effectLst/>
                  </a:rPr>
                  <a:t>3</a:t>
                </a:r>
                <a:r>
                  <a:rPr lang="zh-CN" altLang="zh-CN" b="1" dirty="0">
                    <a:effectLst/>
                  </a:rPr>
                  <a:t>）再求各</a:t>
                </a:r>
                <a:r>
                  <a:rPr lang="zh-CN" altLang="en-US" b="1" dirty="0">
                    <a:effectLst/>
                  </a:rPr>
                  <a:t>结</a:t>
                </a:r>
                <a:r>
                  <a:rPr lang="zh-CN" altLang="zh-CN" b="1" dirty="0">
                    <a:effectLst/>
                  </a:rPr>
                  <a:t>点的缓冲时间</a:t>
                </a:r>
                <a14:m>
                  <m:oMath xmlns:m="http://schemas.openxmlformats.org/officeDocument/2006/math">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𝑺</m:t>
                        </m:r>
                      </m:e>
                      <m:sub>
                        <m:r>
                          <a:rPr lang="en-US" altLang="zh-CN" b="1" i="1">
                            <a:effectLst/>
                            <a:latin typeface="Cambria Math" panose="02040503050406030204" pitchFamily="18" charset="0"/>
                          </a:rPr>
                          <m:t>𝒌</m:t>
                        </m:r>
                      </m:sub>
                    </m:sSub>
                  </m:oMath>
                </a14:m>
                <a:r>
                  <a:rPr lang="zh-CN" altLang="zh-CN" b="1" dirty="0">
                    <a:effectLst/>
                  </a:rPr>
                  <a:t>：</a:t>
                </a:r>
              </a:p>
              <a:p>
                <a:pPr marL="0" indent="0" algn="ctr">
                  <a:buNone/>
                </a:pPr>
                <a14:m>
                  <m:oMath xmlns:m="http://schemas.openxmlformats.org/officeDocument/2006/math">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𝑺</m:t>
                        </m:r>
                      </m:e>
                      <m:sub>
                        <m:r>
                          <a:rPr lang="en-US" altLang="zh-CN" b="1" i="1">
                            <a:effectLst/>
                            <a:latin typeface="Cambria Math" panose="02040503050406030204" pitchFamily="18" charset="0"/>
                          </a:rPr>
                          <m:t>𝟏</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𝑺</m:t>
                        </m:r>
                      </m:e>
                      <m:sub>
                        <m:r>
                          <a:rPr lang="en-US" altLang="zh-CN" b="1" i="1">
                            <a:effectLst/>
                            <a:latin typeface="Cambria Math" panose="02040503050406030204" pitchFamily="18" charset="0"/>
                          </a:rPr>
                          <m:t>𝟐</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𝑺</m:t>
                        </m:r>
                      </m:e>
                      <m:sub>
                        <m:r>
                          <a:rPr lang="en-US" altLang="zh-CN" b="1" i="1">
                            <a:effectLst/>
                            <a:latin typeface="Cambria Math" panose="02040503050406030204" pitchFamily="18" charset="0"/>
                          </a:rPr>
                          <m:t>𝟑</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𝑺</m:t>
                        </m:r>
                      </m:e>
                      <m:sub>
                        <m:r>
                          <a:rPr lang="en-US" altLang="zh-CN" b="1" i="1">
                            <a:effectLst/>
                            <a:latin typeface="Cambria Math" panose="02040503050406030204" pitchFamily="18" charset="0"/>
                          </a:rPr>
                          <m:t>𝟓</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𝑺</m:t>
                        </m:r>
                      </m:e>
                      <m:sub>
                        <m:r>
                          <a:rPr lang="en-US" altLang="zh-CN" b="1" i="1">
                            <a:effectLst/>
                            <a:latin typeface="Cambria Math" panose="02040503050406030204" pitchFamily="18" charset="0"/>
                          </a:rPr>
                          <m:t>𝟔</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𝑺</m:t>
                        </m:r>
                      </m:e>
                      <m:sub>
                        <m:r>
                          <a:rPr lang="en-US" altLang="zh-CN" b="1" i="1">
                            <a:effectLst/>
                            <a:latin typeface="Cambria Math" panose="02040503050406030204" pitchFamily="18" charset="0"/>
                          </a:rPr>
                          <m:t>𝟖</m:t>
                        </m:r>
                      </m:sub>
                    </m:sSub>
                    <m:r>
                      <a:rPr lang="en-US" altLang="zh-CN" b="1" i="1">
                        <a:effectLst/>
                        <a:latin typeface="Cambria Math" panose="02040503050406030204" pitchFamily="18" charset="0"/>
                      </a:rPr>
                      <m:t>=</m:t>
                    </m:r>
                    <m:r>
                      <a:rPr lang="en-US" altLang="zh-CN" b="1" i="1">
                        <a:effectLst/>
                        <a:latin typeface="Cambria Math" panose="02040503050406030204" pitchFamily="18" charset="0"/>
                      </a:rPr>
                      <m:t>𝟎</m:t>
                    </m:r>
                  </m:oMath>
                </a14:m>
                <a:r>
                  <a:rPr lang="zh-CN" altLang="zh-CN" b="1" dirty="0">
                    <a:effectLst/>
                  </a:rPr>
                  <a:t>；</a:t>
                </a:r>
                <a:endParaRPr lang="en-US" altLang="zh-CN" b="1" dirty="0">
                  <a:effectLst/>
                </a:endParaRPr>
              </a:p>
              <a:p>
                <a:pPr marL="0" indent="0" algn="ctr">
                  <a:buNone/>
                </a:pPr>
                <a14:m>
                  <m:oMath xmlns:m="http://schemas.openxmlformats.org/officeDocument/2006/math">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𝑺</m:t>
                        </m:r>
                      </m:e>
                      <m:sub>
                        <m:r>
                          <a:rPr lang="en-US" altLang="zh-CN" b="1" i="1">
                            <a:effectLst/>
                            <a:latin typeface="Cambria Math" panose="02040503050406030204" pitchFamily="18" charset="0"/>
                          </a:rPr>
                          <m:t>𝟒</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𝝉</m:t>
                        </m:r>
                      </m:e>
                      <m:sub>
                        <m:r>
                          <a:rPr lang="en-US" altLang="zh-CN" b="1" i="1">
                            <a:effectLst/>
                            <a:latin typeface="Cambria Math" panose="02040503050406030204" pitchFamily="18" charset="0"/>
                          </a:rPr>
                          <m:t>𝟒</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𝝅</m:t>
                        </m:r>
                      </m:e>
                      <m:sub>
                        <m:r>
                          <a:rPr lang="en-US" altLang="zh-CN" b="1" i="1">
                            <a:effectLst/>
                            <a:latin typeface="Cambria Math" panose="02040503050406030204" pitchFamily="18" charset="0"/>
                          </a:rPr>
                          <m:t>𝟒</m:t>
                        </m:r>
                      </m:sub>
                    </m:sSub>
                    <m:r>
                      <a:rPr lang="en-US" altLang="zh-CN" b="1" i="1">
                        <a:effectLst/>
                        <a:latin typeface="Cambria Math" panose="02040503050406030204" pitchFamily="18" charset="0"/>
                      </a:rPr>
                      <m:t>=</m:t>
                    </m:r>
                    <m:r>
                      <a:rPr lang="en-US" altLang="zh-CN" b="1" i="1">
                        <a:effectLst/>
                        <a:latin typeface="Cambria Math" panose="02040503050406030204" pitchFamily="18" charset="0"/>
                      </a:rPr>
                      <m:t>𝟏𝟏</m:t>
                    </m:r>
                  </m:oMath>
                </a14:m>
                <a:r>
                  <a:rPr lang="zh-CN" altLang="zh-CN" b="1" dirty="0">
                    <a:effectLst/>
                  </a:rPr>
                  <a:t>；</a:t>
                </a:r>
                <a14:m>
                  <m:oMath xmlns:m="http://schemas.openxmlformats.org/officeDocument/2006/math">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𝑺</m:t>
                        </m:r>
                      </m:e>
                      <m:sub>
                        <m:r>
                          <a:rPr lang="en-US" altLang="zh-CN" b="1" i="1">
                            <a:effectLst/>
                            <a:latin typeface="Cambria Math" panose="02040503050406030204" pitchFamily="18" charset="0"/>
                          </a:rPr>
                          <m:t>𝟕</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𝝉</m:t>
                        </m:r>
                      </m:e>
                      <m:sub>
                        <m:r>
                          <a:rPr lang="en-US" altLang="zh-CN" b="1" i="1">
                            <a:effectLst/>
                            <a:latin typeface="Cambria Math" panose="02040503050406030204" pitchFamily="18" charset="0"/>
                          </a:rPr>
                          <m:t>𝟕</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𝝅</m:t>
                        </m:r>
                      </m:e>
                      <m:sub>
                        <m:r>
                          <a:rPr lang="en-US" altLang="zh-CN" b="1" i="1">
                            <a:effectLst/>
                            <a:latin typeface="Cambria Math" panose="02040503050406030204" pitchFamily="18" charset="0"/>
                          </a:rPr>
                          <m:t>𝟕</m:t>
                        </m:r>
                      </m:sub>
                    </m:sSub>
                    <m:r>
                      <a:rPr lang="en-US" altLang="zh-CN" b="1" i="1">
                        <a:effectLst/>
                        <a:latin typeface="Cambria Math" panose="02040503050406030204" pitchFamily="18" charset="0"/>
                      </a:rPr>
                      <m:t>=</m:t>
                    </m:r>
                    <m:r>
                      <a:rPr lang="en-US" altLang="zh-CN" b="1" i="1">
                        <a:effectLst/>
                        <a:latin typeface="Cambria Math" panose="02040503050406030204" pitchFamily="18" charset="0"/>
                      </a:rPr>
                      <m:t>𝟒</m:t>
                    </m:r>
                  </m:oMath>
                </a14:m>
                <a:r>
                  <a:rPr lang="zh-CN" altLang="zh-CN" b="1" dirty="0">
                    <a:effectLst/>
                  </a:rPr>
                  <a:t>；</a:t>
                </a:r>
              </a:p>
              <a:p>
                <a:pPr marL="0" indent="0">
                  <a:buNone/>
                </a:pPr>
                <a:r>
                  <a:rPr lang="en-US" altLang="zh-CN" b="1" dirty="0">
                    <a:effectLst/>
                  </a:rPr>
                  <a:t>  </a:t>
                </a:r>
                <a:r>
                  <a:rPr lang="zh-CN" altLang="zh-CN" b="1" dirty="0">
                    <a:effectLst/>
                  </a:rPr>
                  <a:t>（</a:t>
                </a:r>
                <a:r>
                  <a:rPr lang="en-US" altLang="zh-CN" b="1" dirty="0">
                    <a:effectLst/>
                  </a:rPr>
                  <a:t>4</a:t>
                </a:r>
                <a:r>
                  <a:rPr lang="zh-CN" altLang="zh-CN" b="1" dirty="0">
                    <a:effectLst/>
                  </a:rPr>
                  <a:t>）最终得到关键路径：</a:t>
                </a:r>
                <a14:m>
                  <m:oMath xmlns:m="http://schemas.openxmlformats.org/officeDocument/2006/math">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𝒗</m:t>
                        </m:r>
                      </m:e>
                      <m:sub>
                        <m:r>
                          <a:rPr lang="en-US" altLang="zh-CN" b="1" i="1">
                            <a:effectLst/>
                            <a:latin typeface="Cambria Math" panose="02040503050406030204" pitchFamily="18" charset="0"/>
                          </a:rPr>
                          <m:t>𝟏</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𝒗</m:t>
                        </m:r>
                      </m:e>
                      <m:sub>
                        <m:r>
                          <a:rPr lang="en-US" altLang="zh-CN" b="1" i="1">
                            <a:effectLst/>
                            <a:latin typeface="Cambria Math" panose="02040503050406030204" pitchFamily="18" charset="0"/>
                          </a:rPr>
                          <m:t>𝟑</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𝒗</m:t>
                        </m:r>
                      </m:e>
                      <m:sub>
                        <m:r>
                          <a:rPr lang="en-US" altLang="zh-CN" b="1" i="1">
                            <a:effectLst/>
                            <a:latin typeface="Cambria Math" panose="02040503050406030204" pitchFamily="18" charset="0"/>
                          </a:rPr>
                          <m:t>𝟐</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𝒗</m:t>
                        </m:r>
                      </m:e>
                      <m:sub>
                        <m:r>
                          <a:rPr lang="en-US" altLang="zh-CN" b="1" i="1">
                            <a:effectLst/>
                            <a:latin typeface="Cambria Math" panose="02040503050406030204" pitchFamily="18" charset="0"/>
                          </a:rPr>
                          <m:t>𝟓</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𝒗</m:t>
                        </m:r>
                      </m:e>
                      <m:sub>
                        <m:r>
                          <a:rPr lang="en-US" altLang="zh-CN" b="1" i="1">
                            <a:effectLst/>
                            <a:latin typeface="Cambria Math" panose="02040503050406030204" pitchFamily="18" charset="0"/>
                          </a:rPr>
                          <m:t>𝟔</m:t>
                        </m:r>
                      </m:sub>
                    </m:sSub>
                    <m:r>
                      <a:rPr lang="en-US" altLang="zh-CN" b="1" i="1">
                        <a:effectLst/>
                        <a:latin typeface="Cambria Math" panose="02040503050406030204" pitchFamily="18" charset="0"/>
                      </a:rPr>
                      <m:t>→</m:t>
                    </m:r>
                    <m:sSub>
                      <m:sSubPr>
                        <m:ctrlPr>
                          <a:rPr lang="zh-CN" altLang="zh-CN" b="1" i="1">
                            <a:effectLst/>
                            <a:latin typeface="Cambria Math" panose="02040503050406030204" pitchFamily="18" charset="0"/>
                          </a:rPr>
                        </m:ctrlPr>
                      </m:sSubPr>
                      <m:e>
                        <m:r>
                          <a:rPr lang="en-US" altLang="zh-CN" b="1" i="1">
                            <a:effectLst/>
                            <a:latin typeface="Cambria Math" panose="02040503050406030204" pitchFamily="18" charset="0"/>
                          </a:rPr>
                          <m:t>𝒗</m:t>
                        </m:r>
                      </m:e>
                      <m:sub>
                        <m:r>
                          <a:rPr lang="en-US" altLang="zh-CN" b="1" i="1">
                            <a:effectLst/>
                            <a:latin typeface="Cambria Math" panose="02040503050406030204" pitchFamily="18" charset="0"/>
                          </a:rPr>
                          <m:t>𝟖</m:t>
                        </m:r>
                      </m:sub>
                    </m:sSub>
                  </m:oMath>
                </a14:m>
                <a:r>
                  <a:rPr lang="zh-CN" altLang="zh-CN" b="1" dirty="0">
                    <a:effectLst/>
                  </a:rPr>
                  <a:t>，如</a:t>
                </a:r>
                <a:r>
                  <a:rPr lang="zh-CN" altLang="en-US" b="1" dirty="0">
                    <a:effectLst/>
                  </a:rPr>
                  <a:t>下图</a:t>
                </a:r>
                <a:r>
                  <a:rPr lang="zh-CN" altLang="zh-CN" b="1" dirty="0">
                    <a:effectLst/>
                  </a:rPr>
                  <a:t>所示，此时关键路径长度为</a:t>
                </a:r>
                <a:r>
                  <a:rPr lang="en-US" altLang="zh-CN" b="1" dirty="0">
                    <a:effectLst/>
                  </a:rPr>
                  <a:t>22</a:t>
                </a:r>
                <a:r>
                  <a:rPr lang="zh-CN" altLang="zh-CN" b="1" dirty="0">
                    <a:effectLst/>
                  </a:rPr>
                  <a:t>。</a:t>
                </a:r>
                <a:endParaRPr lang="en-US" altLang="zh-CN" b="1" dirty="0">
                  <a:effectLst/>
                </a:endParaRPr>
              </a:p>
              <a:p>
                <a:pPr marL="0" indent="0">
                  <a:buNone/>
                </a:pPr>
                <a:endParaRPr lang="zh-CN" altLang="zh-CN" dirty="0">
                  <a:solidFill>
                    <a:srgbClr val="800080"/>
                  </a:solidFill>
                  <a:effectLst/>
                </a:endParaRPr>
              </a:p>
            </p:txBody>
          </p:sp>
        </mc:Choice>
        <mc:Fallback xmlns="">
          <p:sp>
            <p:nvSpPr>
              <p:cNvPr id="1298435" name="Rectangle 3"/>
              <p:cNvSpPr>
                <a:spLocks noGrp="1" noRot="1" noChangeAspect="1" noMove="1" noResize="1" noEditPoints="1" noAdjustHandles="1" noChangeArrowheads="1" noChangeShapeType="1" noTextEdit="1"/>
              </p:cNvSpPr>
              <p:nvPr>
                <p:ph idx="1"/>
              </p:nvPr>
            </p:nvSpPr>
            <p:spPr>
              <a:xfrm>
                <a:off x="359532" y="1573573"/>
                <a:ext cx="8676964" cy="2088827"/>
              </a:xfrm>
              <a:blipFill>
                <a:blip r:embed="rId2"/>
                <a:stretch>
                  <a:fillRect l="-1124" t="-2332" r="-351" b="-9038"/>
                </a:stretch>
              </a:blipFill>
              <a:ln>
                <a:noFill/>
              </a:ln>
            </p:spPr>
            <p:txBody>
              <a:bodyPr/>
              <a:lstStyle/>
              <a:p>
                <a:r>
                  <a:rPr lang="zh-CN" altLang="en-US">
                    <a:noFill/>
                  </a:rPr>
                  <a:t> </a:t>
                </a:r>
              </a:p>
            </p:txBody>
          </p:sp>
        </mc:Fallback>
      </mc:AlternateContent>
      <p:sp>
        <p:nvSpPr>
          <p:cNvPr id="192515" name="日期占位符 3"/>
          <p:cNvSpPr>
            <a:spLocks noGrp="1"/>
          </p:cNvSpPr>
          <p:nvPr>
            <p:ph type="dt" sz="quarter" idx="10"/>
          </p:nvPr>
        </p:nvSpPr>
        <p:spPr>
          <a:noFill/>
        </p:spPr>
        <p:txBody>
          <a:bodyPr/>
          <a:lstStyle>
            <a:lvl1pPr>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sp>
        <p:nvSpPr>
          <p:cNvPr id="192516" name="Text Box 2"/>
          <p:cNvSpPr txBox="1">
            <a:spLocks noChangeArrowheads="1"/>
          </p:cNvSpPr>
          <p:nvPr/>
        </p:nvSpPr>
        <p:spPr bwMode="auto">
          <a:xfrm>
            <a:off x="1331913" y="692150"/>
            <a:ext cx="61928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作业规划问题</a:t>
            </a:r>
          </a:p>
        </p:txBody>
      </p:sp>
      <p:pic>
        <p:nvPicPr>
          <p:cNvPr id="192517"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5"/>
          <a:stretch>
            <a:fillRect/>
          </a:stretch>
        </p:blipFill>
        <p:spPr>
          <a:xfrm>
            <a:off x="2411760" y="3719910"/>
            <a:ext cx="4680520" cy="2551534"/>
          </a:xfrm>
          <a:prstGeom prst="rect">
            <a:avLst/>
          </a:prstGeom>
        </p:spPr>
      </p:pic>
    </p:spTree>
    <p:extLst>
      <p:ext uri="{BB962C8B-B14F-4D97-AF65-F5344CB8AC3E}">
        <p14:creationId xmlns:p14="http://schemas.microsoft.com/office/powerpoint/2010/main" val="1197898914"/>
      </p:ext>
    </p:extLst>
  </p:cSld>
  <p:clrMapOvr>
    <a:masterClrMapping/>
  </p:clrMapOvr>
  <p:transition spd="med">
    <p:wipe dir="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FontTx/>
              <a:buNone/>
            </a:pPr>
            <a:fld id="{BE4466D0-807A-4BE1-802C-407627961677}"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0"/>
              </a:spcBef>
              <a:buFontTx/>
              <a:buNone/>
            </a:pPr>
            <a:fld id="{A6A502F4-5142-4EA4-B936-3FE286B537F5}"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170</a:t>
            </a:fld>
            <a:endParaRPr lang="en-US" altLang="zh-CN" sz="1400" b="1">
              <a:latin typeface="Times New Roman" panose="02020603050405020304" pitchFamily="18" charset="0"/>
              <a:ea typeface="宋体" panose="02010600030101010101" pitchFamily="2" charset="-122"/>
            </a:endParaRPr>
          </a:p>
        </p:txBody>
      </p:sp>
      <p:sp>
        <p:nvSpPr>
          <p:cNvPr id="34822" name="Rectangle 3"/>
          <p:cNvSpPr>
            <a:spLocks noGrp="1" noChangeArrowheads="1"/>
          </p:cNvSpPr>
          <p:nvPr>
            <p:ph type="body" idx="4294967295"/>
          </p:nvPr>
        </p:nvSpPr>
        <p:spPr>
          <a:xfrm>
            <a:off x="2411760" y="2676811"/>
            <a:ext cx="4797321" cy="2737271"/>
          </a:xfrm>
          <a:noFill/>
        </p:spPr>
        <p:txBody>
          <a:bodyPr lIns="92075" tIns="46038" rIns="92075" bIns="46038"/>
          <a:lstStyle/>
          <a:p>
            <a:pPr eaLnBrk="1" hangingPunct="1">
              <a:lnSpc>
                <a:spcPct val="140000"/>
              </a:lnSpc>
              <a:buFont typeface="Wingdings" panose="05000000000000000000" pitchFamily="2" charset="2"/>
              <a:buChar char="4"/>
            </a:pPr>
            <a:r>
              <a:rPr lang="en-US" altLang="zh-CN" sz="3600" b="1" dirty="0">
                <a:effectLst/>
                <a:latin typeface="黑体" panose="02010609060101010101" pitchFamily="49" charset="-122"/>
                <a:ea typeface="黑体" panose="02010609060101010101" pitchFamily="49" charset="-122"/>
                <a:cs typeface="楷体_GB2312" pitchFamily="49" charset="-122"/>
              </a:rPr>
              <a:t> </a:t>
            </a:r>
            <a:r>
              <a:rPr lang="zh-CN" altLang="en-US" sz="3600" b="1" dirty="0">
                <a:effectLst/>
                <a:latin typeface="黑体" panose="02010609060101010101" pitchFamily="49" charset="-122"/>
                <a:ea typeface="黑体" panose="02010609060101010101" pitchFamily="49" charset="-122"/>
                <a:cs typeface="楷体_GB2312" pitchFamily="49" charset="-122"/>
              </a:rPr>
              <a:t>交通灯相位问题</a:t>
            </a:r>
          </a:p>
          <a:p>
            <a:pPr eaLnBrk="1" hangingPunct="1">
              <a:lnSpc>
                <a:spcPct val="140000"/>
              </a:lnSpc>
              <a:buFont typeface="Wingdings" panose="05000000000000000000" pitchFamily="2" charset="2"/>
              <a:buChar char="4"/>
            </a:pPr>
            <a:r>
              <a:rPr lang="zh-CN" altLang="en-US" sz="3600" b="1" dirty="0">
                <a:effectLst/>
                <a:latin typeface="黑体" panose="02010609060101010101" pitchFamily="49" charset="-122"/>
                <a:ea typeface="黑体" panose="02010609060101010101" pitchFamily="49" charset="-122"/>
                <a:cs typeface="楷体_GB2312" pitchFamily="49" charset="-122"/>
              </a:rPr>
              <a:t> 作业规划问题</a:t>
            </a:r>
          </a:p>
          <a:p>
            <a:pPr eaLnBrk="1" hangingPunct="1">
              <a:lnSpc>
                <a:spcPct val="140000"/>
              </a:lnSpc>
              <a:buFont typeface="Wingdings" panose="05000000000000000000" pitchFamily="2" charset="2"/>
              <a:buChar char="J"/>
            </a:pPr>
            <a:r>
              <a:rPr lang="zh-CN" altLang="en-US" sz="3600" b="1" dirty="0">
                <a:solidFill>
                  <a:schemeClr val="accent6"/>
                </a:solidFill>
                <a:effectLst/>
                <a:latin typeface="黑体" panose="02010609060101010101" pitchFamily="49" charset="-122"/>
                <a:ea typeface="黑体" panose="02010609060101010101" pitchFamily="49" charset="-122"/>
                <a:cs typeface="楷体_GB2312" pitchFamily="49" charset="-122"/>
              </a:rPr>
              <a:t> 机器学习的图模型</a:t>
            </a:r>
          </a:p>
        </p:txBody>
      </p:sp>
      <p:pic>
        <p:nvPicPr>
          <p:cNvPr id="34823"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2">
            <a:extLst>
              <a:ext uri="{FF2B5EF4-FFF2-40B4-BE49-F238E27FC236}">
                <a16:creationId xmlns:a16="http://schemas.microsoft.com/office/drawing/2014/main" id="{9F21C57B-53A0-4599-BA3A-16E72D928B71}"/>
              </a:ext>
            </a:extLst>
          </p:cNvPr>
          <p:cNvSpPr txBox="1">
            <a:spLocks noChangeArrowheads="1"/>
          </p:cNvSpPr>
          <p:nvPr/>
        </p:nvSpPr>
        <p:spPr bwMode="auto">
          <a:xfrm>
            <a:off x="1403350" y="836613"/>
            <a:ext cx="70866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mj-ea"/>
                <a:ea typeface="+mj-ea"/>
              </a:rPr>
              <a:t> 图模型的应用</a:t>
            </a:r>
          </a:p>
        </p:txBody>
      </p:sp>
    </p:spTree>
    <p:extLst>
      <p:ext uri="{BB962C8B-B14F-4D97-AF65-F5344CB8AC3E}">
        <p14:creationId xmlns:p14="http://schemas.microsoft.com/office/powerpoint/2010/main" val="2865854432"/>
      </p:ext>
    </p:extLst>
  </p:cSld>
  <p:clrMapOvr>
    <a:masterClrMapping/>
  </p:clrMapOvr>
  <p:transition spd="med">
    <p:wipe dir="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219" name="Rectangle 3"/>
          <p:cNvSpPr>
            <a:spLocks noGrp="1" noChangeArrowheads="1"/>
          </p:cNvSpPr>
          <p:nvPr>
            <p:ph idx="1"/>
          </p:nvPr>
        </p:nvSpPr>
        <p:spPr>
          <a:xfrm>
            <a:off x="683568" y="2276872"/>
            <a:ext cx="8280920" cy="3600400"/>
          </a:xfrm>
          <a:solidFill>
            <a:schemeClr val="accent5">
              <a:lumMod val="40000"/>
              <a:lumOff val="60000"/>
            </a:schemeClr>
          </a:solidFill>
          <a:ln w="19050">
            <a:noFill/>
          </a:ln>
        </p:spPr>
        <p:txBody>
          <a:bodyPr/>
          <a:lstStyle/>
          <a:p>
            <a:pPr marL="0" indent="0">
              <a:lnSpc>
                <a:spcPct val="150000"/>
              </a:lnSpc>
              <a:buNone/>
            </a:pPr>
            <a:r>
              <a:rPr lang="en-US" altLang="zh-CN" b="1" dirty="0">
                <a:solidFill>
                  <a:srgbClr val="FF0000"/>
                </a:solidFill>
                <a:effectLst/>
                <a:latin typeface="Times New Roman" panose="02020603050405020304" pitchFamily="18" charset="0"/>
                <a:cs typeface="楷体_GB2312" pitchFamily="49" charset="-122"/>
              </a:rPr>
              <a:t>      【</a:t>
            </a:r>
            <a:r>
              <a:rPr lang="zh-CN" altLang="en-US" b="1" dirty="0">
                <a:solidFill>
                  <a:srgbClr val="FF0000"/>
                </a:solidFill>
                <a:effectLst/>
                <a:latin typeface="Times New Roman" panose="02020603050405020304" pitchFamily="18" charset="0"/>
                <a:cs typeface="楷体_GB2312" pitchFamily="49" charset="-122"/>
              </a:rPr>
              <a:t>问题前沿</a:t>
            </a:r>
            <a:r>
              <a:rPr lang="en-US" altLang="zh-CN" b="1" dirty="0">
                <a:solidFill>
                  <a:srgbClr val="FF0000"/>
                </a:solidFill>
                <a:effectLst/>
                <a:latin typeface="Times New Roman" panose="02020603050405020304" pitchFamily="18" charset="0"/>
                <a:cs typeface="楷体_GB2312" pitchFamily="49" charset="-122"/>
              </a:rPr>
              <a:t>】</a:t>
            </a:r>
            <a:r>
              <a:rPr lang="zh-CN" altLang="zh-CN" b="1" dirty="0">
                <a:solidFill>
                  <a:schemeClr val="accent6"/>
                </a:solidFill>
                <a:effectLst/>
              </a:rPr>
              <a:t>所谓机器学习，就是数学模型或求解算法中具有似于人类的学习机制，能够从实际问题中采集适当样本数据，根据样本数据自动算出参数值，并随着样本数据的变化自动调整参数取值，使得数学模型和求解算法具有良好的普适性和自适应性。按机器学习的模型结构层次来分，机器学习经历了两次浪潮，分别是</a:t>
            </a:r>
            <a:r>
              <a:rPr lang="zh-CN" altLang="zh-CN" b="1" dirty="0">
                <a:solidFill>
                  <a:srgbClr val="FF0000"/>
                </a:solidFill>
                <a:effectLst/>
              </a:rPr>
              <a:t>浅层学习</a:t>
            </a:r>
            <a:r>
              <a:rPr lang="zh-CN" altLang="zh-CN" b="1" dirty="0">
                <a:solidFill>
                  <a:schemeClr val="accent6"/>
                </a:solidFill>
                <a:effectLst/>
              </a:rPr>
              <a:t>和</a:t>
            </a:r>
            <a:r>
              <a:rPr lang="zh-CN" altLang="zh-CN" b="1" dirty="0">
                <a:solidFill>
                  <a:srgbClr val="FF0000"/>
                </a:solidFill>
                <a:effectLst/>
              </a:rPr>
              <a:t>深度学习</a:t>
            </a:r>
            <a:r>
              <a:rPr lang="zh-CN" altLang="zh-CN" b="1" dirty="0">
                <a:solidFill>
                  <a:schemeClr val="accent6"/>
                </a:solidFill>
                <a:effectLst/>
              </a:rPr>
              <a:t>。</a:t>
            </a:r>
            <a:endParaRPr lang="zh-CN" altLang="en-US" b="1" dirty="0">
              <a:solidFill>
                <a:schemeClr val="accent6"/>
              </a:solidFill>
              <a:effectLst/>
              <a:latin typeface="Times New Roman" panose="02020603050405020304" pitchFamily="18" charset="0"/>
              <a:cs typeface="楷体_GB2312" pitchFamily="49" charset="-122"/>
            </a:endParaRPr>
          </a:p>
        </p:txBody>
      </p:sp>
      <p:sp>
        <p:nvSpPr>
          <p:cNvPr id="183299"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263DE075-166B-493D-8B2F-91B7D5E14A72}"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pic>
        <p:nvPicPr>
          <p:cNvPr id="18330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
            <a:extLst>
              <a:ext uri="{FF2B5EF4-FFF2-40B4-BE49-F238E27FC236}">
                <a16:creationId xmlns:a16="http://schemas.microsoft.com/office/drawing/2014/main" id="{0FE243E8-3764-413D-B8B9-771C12D10344}"/>
              </a:ext>
            </a:extLst>
          </p:cNvPr>
          <p:cNvSpPr txBox="1">
            <a:spLocks noChangeArrowheads="1"/>
          </p:cNvSpPr>
          <p:nvPr/>
        </p:nvSpPr>
        <p:spPr bwMode="auto">
          <a:xfrm>
            <a:off x="1331640" y="764704"/>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机器学习图模型</a:t>
            </a:r>
          </a:p>
        </p:txBody>
      </p:sp>
    </p:spTree>
    <p:extLst>
      <p:ext uri="{BB962C8B-B14F-4D97-AF65-F5344CB8AC3E}">
        <p14:creationId xmlns:p14="http://schemas.microsoft.com/office/powerpoint/2010/main" val="2900197926"/>
      </p:ext>
    </p:extLst>
  </p:cSld>
  <p:clrMapOvr>
    <a:masterClrMapping/>
  </p:clrMapOvr>
  <p:transition spd="med">
    <p:wipe dir="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6389ABED-E92A-48C6-AF40-ED483B31B512}"/>
              </a:ext>
            </a:extLst>
          </p:cNvPr>
          <p:cNvPicPr>
            <a:picLocks noChangeAspect="1"/>
          </p:cNvPicPr>
          <p:nvPr/>
        </p:nvPicPr>
        <p:blipFill>
          <a:blip r:embed="rId4"/>
          <a:stretch>
            <a:fillRect/>
          </a:stretch>
        </p:blipFill>
        <p:spPr>
          <a:xfrm>
            <a:off x="684213" y="1844824"/>
            <a:ext cx="7920235" cy="4344555"/>
          </a:xfrm>
          <a:prstGeom prst="rect">
            <a:avLst/>
          </a:prstGeom>
        </p:spPr>
      </p:pic>
      <p:sp>
        <p:nvSpPr>
          <p:cNvPr id="6" name="Text Box 2">
            <a:extLst>
              <a:ext uri="{FF2B5EF4-FFF2-40B4-BE49-F238E27FC236}">
                <a16:creationId xmlns:a16="http://schemas.microsoft.com/office/drawing/2014/main" id="{AF20EACE-531F-465D-868E-7DCDB5BBB52D}"/>
              </a:ext>
            </a:extLst>
          </p:cNvPr>
          <p:cNvSpPr txBox="1">
            <a:spLocks noChangeArrowheads="1"/>
          </p:cNvSpPr>
          <p:nvPr/>
        </p:nvSpPr>
        <p:spPr bwMode="auto">
          <a:xfrm>
            <a:off x="1331640" y="764704"/>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机器学习图模型</a:t>
            </a:r>
          </a:p>
        </p:txBody>
      </p:sp>
    </p:spTree>
    <p:extLst>
      <p:ext uri="{BB962C8B-B14F-4D97-AF65-F5344CB8AC3E}">
        <p14:creationId xmlns:p14="http://schemas.microsoft.com/office/powerpoint/2010/main" val="2318738583"/>
      </p:ext>
    </p:extLst>
  </p:cSld>
  <p:clrMapOvr>
    <a:masterClrMapping/>
  </p:clrMapOvr>
  <p:transition spd="med">
    <p:wipe dir="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6984" y="683729"/>
            <a:ext cx="1125905"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2">
            <a:extLst>
              <a:ext uri="{FF2B5EF4-FFF2-40B4-BE49-F238E27FC236}">
                <a16:creationId xmlns:a16="http://schemas.microsoft.com/office/drawing/2014/main" id="{BB60F592-2820-4261-867A-788B1B20604C}"/>
              </a:ext>
            </a:extLst>
          </p:cNvPr>
          <p:cNvSpPr txBox="1">
            <a:spLocks noChangeArrowheads="1"/>
          </p:cNvSpPr>
          <p:nvPr/>
        </p:nvSpPr>
        <p:spPr bwMode="auto">
          <a:xfrm>
            <a:off x="1331640" y="764704"/>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机器学习图模型</a:t>
            </a:r>
          </a:p>
        </p:txBody>
      </p:sp>
      <p:pic>
        <p:nvPicPr>
          <p:cNvPr id="4" name="图片 3">
            <a:extLst>
              <a:ext uri="{FF2B5EF4-FFF2-40B4-BE49-F238E27FC236}">
                <a16:creationId xmlns:a16="http://schemas.microsoft.com/office/drawing/2014/main" id="{1ECDBD75-E4D0-4025-8A36-49613406149C}"/>
              </a:ext>
            </a:extLst>
          </p:cNvPr>
          <p:cNvPicPr>
            <a:picLocks noChangeAspect="1"/>
          </p:cNvPicPr>
          <p:nvPr/>
        </p:nvPicPr>
        <p:blipFill>
          <a:blip r:embed="rId4"/>
          <a:stretch>
            <a:fillRect/>
          </a:stretch>
        </p:blipFill>
        <p:spPr>
          <a:xfrm>
            <a:off x="539552" y="2060848"/>
            <a:ext cx="8573337" cy="4128058"/>
          </a:xfrm>
          <a:prstGeom prst="rect">
            <a:avLst/>
          </a:prstGeom>
        </p:spPr>
      </p:pic>
    </p:spTree>
    <p:extLst>
      <p:ext uri="{BB962C8B-B14F-4D97-AF65-F5344CB8AC3E}">
        <p14:creationId xmlns:p14="http://schemas.microsoft.com/office/powerpoint/2010/main" val="127866104"/>
      </p:ext>
    </p:extLst>
  </p:cSld>
  <p:clrMapOvr>
    <a:masterClrMapping/>
  </p:clrMapOvr>
  <p:transition spd="med">
    <p:wipe dir="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日期占位符 3"/>
          <p:cNvSpPr>
            <a:spLocks noGrp="1"/>
          </p:cNvSpPr>
          <p:nvPr>
            <p:ph type="dt" sz="quarter" idx="10"/>
          </p:nvPr>
        </p:nvSpPr>
        <p:spPr>
          <a:noFill/>
        </p:spPr>
        <p:txBody>
          <a:bodyPr/>
          <a:lstStyle>
            <a:lvl1pPr>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FontTx/>
              <a:buNone/>
            </a:pPr>
            <a:fld id="{A42F8508-333B-4BDE-9036-562085F3F015}" type="datetime1">
              <a:rPr kumimoji="0" lang="zh-CN" altLang="en-US" sz="1400" smtClean="0">
                <a:solidFill>
                  <a:srgbClr val="FF0000"/>
                </a:solidFill>
                <a:latin typeface="黑体" panose="02010609060101010101" pitchFamily="49" charset="-122"/>
              </a:rPr>
              <a:pPr>
                <a:spcBef>
                  <a:spcPct val="0"/>
                </a:spcBef>
                <a:buFontTx/>
                <a:buNone/>
              </a:pPr>
              <a:t>2020/9/7</a:t>
            </a:fld>
            <a:endParaRPr kumimoji="0" lang="en-US" altLang="zh-CN" sz="1400">
              <a:solidFill>
                <a:srgbClr val="FF0000"/>
              </a:solidFill>
              <a:latin typeface="黑体" panose="02010609060101010101" pitchFamily="49" charset="-122"/>
            </a:endParaRPr>
          </a:p>
        </p:txBody>
      </p:sp>
      <p:pic>
        <p:nvPicPr>
          <p:cNvPr id="19251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DD3D8065-9944-4479-BF3E-A8AFF926B3BA}"/>
              </a:ext>
            </a:extLst>
          </p:cNvPr>
          <p:cNvPicPr>
            <a:picLocks noChangeAspect="1"/>
          </p:cNvPicPr>
          <p:nvPr/>
        </p:nvPicPr>
        <p:blipFill>
          <a:blip r:embed="rId4"/>
          <a:stretch>
            <a:fillRect/>
          </a:stretch>
        </p:blipFill>
        <p:spPr>
          <a:xfrm>
            <a:off x="395536" y="1844824"/>
            <a:ext cx="8604448" cy="4478682"/>
          </a:xfrm>
          <a:prstGeom prst="rect">
            <a:avLst/>
          </a:prstGeom>
        </p:spPr>
      </p:pic>
      <p:sp>
        <p:nvSpPr>
          <p:cNvPr id="6" name="Text Box 2">
            <a:extLst>
              <a:ext uri="{FF2B5EF4-FFF2-40B4-BE49-F238E27FC236}">
                <a16:creationId xmlns:a16="http://schemas.microsoft.com/office/drawing/2014/main" id="{E0EEE791-0128-43A8-8676-986D940888A6}"/>
              </a:ext>
            </a:extLst>
          </p:cNvPr>
          <p:cNvSpPr txBox="1">
            <a:spLocks noChangeArrowheads="1"/>
          </p:cNvSpPr>
          <p:nvPr/>
        </p:nvSpPr>
        <p:spPr bwMode="auto">
          <a:xfrm>
            <a:off x="1331640" y="764704"/>
            <a:ext cx="6408737"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机器学习图模型</a:t>
            </a:r>
          </a:p>
        </p:txBody>
      </p:sp>
    </p:spTree>
    <p:extLst>
      <p:ext uri="{BB962C8B-B14F-4D97-AF65-F5344CB8AC3E}">
        <p14:creationId xmlns:p14="http://schemas.microsoft.com/office/powerpoint/2010/main" val="213626737"/>
      </p:ext>
    </p:extLst>
  </p:cSld>
  <p:clrMapOvr>
    <a:masterClrMapping/>
  </p:clrMapOvr>
  <p:transition spd="med">
    <p:wipe dir="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日期占位符 3">
            <a:extLst>
              <a:ext uri="{FF2B5EF4-FFF2-40B4-BE49-F238E27FC236}">
                <a16:creationId xmlns:a16="http://schemas.microsoft.com/office/drawing/2014/main" id="{E9DEAC2B-9A4B-45BB-848B-9C234DEE8636}"/>
              </a:ext>
            </a:extLst>
          </p:cNvPr>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a:ea typeface="楷体_GB2312"/>
                <a:cs typeface="楷体_GB231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0"/>
              </a:spcBef>
              <a:buFontTx/>
              <a:buNone/>
            </a:pPr>
            <a:fld id="{95254934-0C39-4267-8B95-3F40AD5EB362}" type="datetime1">
              <a:rPr kumimoji="0" lang="zh-CN" altLang="en-US" sz="1400" b="1">
                <a:solidFill>
                  <a:srgbClr val="FF0000"/>
                </a:solidFill>
                <a:latin typeface="黑体" panose="02010609060101010101" pitchFamily="49" charset="-122"/>
                <a:ea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a typeface="黑体" panose="02010609060101010101" pitchFamily="49" charset="-122"/>
            </a:endParaRPr>
          </a:p>
        </p:txBody>
      </p:sp>
      <p:sp>
        <p:nvSpPr>
          <p:cNvPr id="80899" name="Text Box 2">
            <a:extLst>
              <a:ext uri="{FF2B5EF4-FFF2-40B4-BE49-F238E27FC236}">
                <a16:creationId xmlns:a16="http://schemas.microsoft.com/office/drawing/2014/main" id="{BBB78957-511A-4215-80BD-406A1601F92C}"/>
              </a:ext>
            </a:extLst>
          </p:cNvPr>
          <p:cNvSpPr txBox="1">
            <a:spLocks noChangeArrowheads="1"/>
          </p:cNvSpPr>
          <p:nvPr/>
        </p:nvSpPr>
        <p:spPr bwMode="auto">
          <a:xfrm>
            <a:off x="1692275" y="1412875"/>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a:ea typeface="楷体_GB2312"/>
                <a:cs typeface="楷体_GB231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a:defRPr>
            </a:lvl9pPr>
          </a:lstStyle>
          <a:p>
            <a:pPr eaLnBrk="1" hangingPunct="1">
              <a:spcBef>
                <a:spcPct val="50000"/>
              </a:spcBef>
              <a:buClr>
                <a:schemeClr val="bg1"/>
              </a:buClr>
              <a:buFont typeface="Wingdings" panose="05000000000000000000" pitchFamily="2" charset="2"/>
              <a:buNone/>
            </a:pPr>
            <a:r>
              <a:rPr lang="zh-CN" altLang="en-US" sz="5400" dirty="0">
                <a:solidFill>
                  <a:schemeClr val="bg1"/>
                </a:solidFill>
                <a:latin typeface="宋体" panose="02010600030101010101" pitchFamily="2" charset="-122"/>
                <a:ea typeface="宋体" panose="02010600030101010101" pitchFamily="2" charset="-122"/>
              </a:rPr>
              <a:t> 本章内容到此结束</a:t>
            </a:r>
            <a:endParaRPr lang="en-US" altLang="zh-CN" sz="5400" dirty="0">
              <a:solidFill>
                <a:schemeClr val="bg1"/>
              </a:solidFill>
              <a:latin typeface="宋体" panose="02010600030101010101" pitchFamily="2" charset="-122"/>
              <a:ea typeface="宋体" panose="02010600030101010101" pitchFamily="2" charset="-122"/>
            </a:endParaRPr>
          </a:p>
        </p:txBody>
      </p:sp>
      <p:sp>
        <p:nvSpPr>
          <p:cNvPr id="80900" name="WordArt 6">
            <a:extLst>
              <a:ext uri="{FF2B5EF4-FFF2-40B4-BE49-F238E27FC236}">
                <a16:creationId xmlns:a16="http://schemas.microsoft.com/office/drawing/2014/main" id="{501CC8AA-ED62-43C1-8670-518D4FB1B269}"/>
              </a:ext>
            </a:extLst>
          </p:cNvPr>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58" lon="1080000" rev="0"/>
              </a:camera>
              <a:lightRig rig="legacyHarsh2" dir="b"/>
            </a:scene3d>
            <a:sp3d extrusionH="430200" prstMaterial="legacyMatte">
              <a:extrusionClr>
                <a:srgbClr val="FF6600"/>
              </a:extrusionClr>
              <a:contourClr>
                <a:srgbClr val="FFE701"/>
              </a:contourClr>
            </a:sp3d>
          </a:bodyPr>
          <a:lstStyle/>
          <a:p>
            <a:r>
              <a:rPr lang="zh-CN" altLang="en-US" sz="3600" kern="10">
                <a:ln w="9525">
                  <a:round/>
                  <a:headEnd/>
                  <a:tailEnd/>
                </a:ln>
                <a:gradFill rotWithShape="1">
                  <a:gsLst>
                    <a:gs pos="0">
                      <a:srgbClr val="FFE701"/>
                    </a:gs>
                    <a:gs pos="100000">
                      <a:srgbClr val="FE3E02"/>
                    </a:gs>
                  </a:gsLst>
                  <a:lin ang="5400000" scaled="1"/>
                </a:gradFill>
                <a:latin typeface="宋体" panose="02010600030101010101" pitchFamily="2" charset="-122"/>
                <a:ea typeface="宋体" panose="02010600030101010101" pitchFamily="2" charset="-122"/>
              </a:rPr>
              <a:t>谢谢大家！</a:t>
            </a:r>
          </a:p>
        </p:txBody>
      </p:sp>
    </p:spTree>
  </p:cSld>
  <p:clrMapOvr>
    <a:masterClrMapping/>
  </p:clrMapOvr>
  <p:transition spd="med">
    <p:wipe dir="r"/>
  </p:transition>
</p:sld>
</file>

<file path=ppt/theme/theme1.xml><?xml version="1.0" encoding="utf-8"?>
<a:theme xmlns:a="http://schemas.openxmlformats.org/drawingml/2006/main" name="张勇-硕士答辩">
  <a:themeElements>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张勇-硕士答辩">
      <a:majorFont>
        <a:latin typeface="Times New Roman"/>
        <a:ea typeface="宋体"/>
        <a:cs typeface=""/>
      </a:majorFont>
      <a:minorFont>
        <a:latin typeface="楷体_GB2312"/>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张勇-硕士答辩">
  <a:themeElements>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1_张勇-硕士答辩">
      <a:majorFont>
        <a:latin typeface="Times New Roman"/>
        <a:ea typeface="宋体"/>
        <a:cs typeface=""/>
      </a:majorFont>
      <a:minorFont>
        <a:latin typeface="楷体_GB2312"/>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第6章_二元关系</Template>
  <TotalTime>6542</TotalTime>
  <Words>17714</Words>
  <Application>Microsoft Office PowerPoint</Application>
  <PresentationFormat>全屏显示(4:3)</PresentationFormat>
  <Paragraphs>895</Paragraphs>
  <Slides>175</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175</vt:i4>
      </vt:variant>
    </vt:vector>
  </HeadingPairs>
  <TitlesOfParts>
    <vt:vector size="193" baseType="lpstr">
      <vt:lpstr>MS Gothic</vt:lpstr>
      <vt:lpstr>黑体</vt:lpstr>
      <vt:lpstr>华文仿宋</vt:lpstr>
      <vt:lpstr>华文行楷</vt:lpstr>
      <vt:lpstr>华文细黑</vt:lpstr>
      <vt:lpstr>楷体</vt:lpstr>
      <vt:lpstr>楷体_GB2312</vt:lpstr>
      <vt:lpstr>隶书</vt:lpstr>
      <vt:lpstr>宋体</vt:lpstr>
      <vt:lpstr>微软雅黑</vt:lpstr>
      <vt:lpstr>Arial</vt:lpstr>
      <vt:lpstr>Calibri</vt:lpstr>
      <vt:lpstr>Cambria Math</vt:lpstr>
      <vt:lpstr>Times New Roman</vt:lpstr>
      <vt:lpstr>Wingdings</vt:lpstr>
      <vt:lpstr>Wingdings 2</vt:lpstr>
      <vt:lpstr>张勇-硕士答辩</vt:lpstr>
      <vt:lpstr>1_张勇-硕士答辩</vt:lpstr>
      <vt:lpstr>PowerPoint 演示文稿</vt:lpstr>
      <vt:lpstr>第8章 图基本理论 与算法(下) </vt:lpstr>
      <vt:lpstr>PowerPoint 演示文稿</vt:lpstr>
      <vt:lpstr>通路与连通性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图的基本算法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图模型的应用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UESTC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汪荣贵</dc:creator>
  <cp:lastModifiedBy>Windows 用户</cp:lastModifiedBy>
  <cp:revision>398</cp:revision>
  <dcterms:created xsi:type="dcterms:W3CDTF">2008-02-21T03:51:14Z</dcterms:created>
  <dcterms:modified xsi:type="dcterms:W3CDTF">2020-09-07T02:20:15Z</dcterms:modified>
</cp:coreProperties>
</file>