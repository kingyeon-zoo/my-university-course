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  <p:sldMasterId id="2147483680" r:id="rId2"/>
  </p:sldMasterIdLst>
  <p:notesMasterIdLst>
    <p:notesMasterId r:id="rId93"/>
  </p:notesMasterIdLst>
  <p:sldIdLst>
    <p:sldId id="1192" r:id="rId3"/>
    <p:sldId id="1193" r:id="rId4"/>
    <p:sldId id="1511" r:id="rId5"/>
    <p:sldId id="1535" r:id="rId6"/>
    <p:sldId id="1536" r:id="rId7"/>
    <p:sldId id="1205" r:id="rId8"/>
    <p:sldId id="1615" r:id="rId9"/>
    <p:sldId id="1611" r:id="rId10"/>
    <p:sldId id="1612" r:id="rId11"/>
    <p:sldId id="1613" r:id="rId12"/>
    <p:sldId id="1614" r:id="rId13"/>
    <p:sldId id="1616" r:id="rId14"/>
    <p:sldId id="1618" r:id="rId15"/>
    <p:sldId id="1617" r:id="rId16"/>
    <p:sldId id="1620" r:id="rId17"/>
    <p:sldId id="1619" r:id="rId18"/>
    <p:sldId id="1622" r:id="rId19"/>
    <p:sldId id="1621" r:id="rId20"/>
    <p:sldId id="1623" r:id="rId21"/>
    <p:sldId id="1624" r:id="rId22"/>
    <p:sldId id="1625" r:id="rId23"/>
    <p:sldId id="1626" r:id="rId24"/>
    <p:sldId id="1627" r:id="rId25"/>
    <p:sldId id="1628" r:id="rId26"/>
    <p:sldId id="1629" r:id="rId27"/>
    <p:sldId id="1630" r:id="rId28"/>
    <p:sldId id="1631" r:id="rId29"/>
    <p:sldId id="1632" r:id="rId30"/>
    <p:sldId id="1633" r:id="rId31"/>
    <p:sldId id="1610" r:id="rId32"/>
    <p:sldId id="1634" r:id="rId33"/>
    <p:sldId id="1635" r:id="rId34"/>
    <p:sldId id="1636" r:id="rId35"/>
    <p:sldId id="1552" r:id="rId36"/>
    <p:sldId id="1637" r:id="rId37"/>
    <p:sldId id="1638" r:id="rId38"/>
    <p:sldId id="1639" r:id="rId39"/>
    <p:sldId id="1640" r:id="rId40"/>
    <p:sldId id="1641" r:id="rId41"/>
    <p:sldId id="1642" r:id="rId42"/>
    <p:sldId id="1643" r:id="rId43"/>
    <p:sldId id="1644" r:id="rId44"/>
    <p:sldId id="1645" r:id="rId45"/>
    <p:sldId id="1646" r:id="rId46"/>
    <p:sldId id="1647" r:id="rId47"/>
    <p:sldId id="1648" r:id="rId48"/>
    <p:sldId id="1649" r:id="rId49"/>
    <p:sldId id="1650" r:id="rId50"/>
    <p:sldId id="1651" r:id="rId51"/>
    <p:sldId id="1652" r:id="rId52"/>
    <p:sldId id="1653" r:id="rId53"/>
    <p:sldId id="1654" r:id="rId54"/>
    <p:sldId id="1655" r:id="rId55"/>
    <p:sldId id="1533" r:id="rId56"/>
    <p:sldId id="1569" r:id="rId57"/>
    <p:sldId id="1570" r:id="rId58"/>
    <p:sldId id="1657" r:id="rId59"/>
    <p:sldId id="1656" r:id="rId60"/>
    <p:sldId id="1658" r:id="rId61"/>
    <p:sldId id="1659" r:id="rId62"/>
    <p:sldId id="1660" r:id="rId63"/>
    <p:sldId id="1662" r:id="rId64"/>
    <p:sldId id="1578" r:id="rId65"/>
    <p:sldId id="1573" r:id="rId66"/>
    <p:sldId id="1574" r:id="rId67"/>
    <p:sldId id="1661" r:id="rId68"/>
    <p:sldId id="1581" r:id="rId69"/>
    <p:sldId id="1576" r:id="rId70"/>
    <p:sldId id="1663" r:id="rId71"/>
    <p:sldId id="1664" r:id="rId72"/>
    <p:sldId id="1665" r:id="rId73"/>
    <p:sldId id="1666" r:id="rId74"/>
    <p:sldId id="1667" r:id="rId75"/>
    <p:sldId id="1587" r:id="rId76"/>
    <p:sldId id="1669" r:id="rId77"/>
    <p:sldId id="1582" r:id="rId78"/>
    <p:sldId id="1668" r:id="rId79"/>
    <p:sldId id="1670" r:id="rId80"/>
    <p:sldId id="1681" r:id="rId81"/>
    <p:sldId id="1588" r:id="rId82"/>
    <p:sldId id="1672" r:id="rId83"/>
    <p:sldId id="1673" r:id="rId84"/>
    <p:sldId id="1674" r:id="rId85"/>
    <p:sldId id="1675" r:id="rId86"/>
    <p:sldId id="1676" r:id="rId87"/>
    <p:sldId id="1677" r:id="rId88"/>
    <p:sldId id="1678" r:id="rId89"/>
    <p:sldId id="1679" r:id="rId90"/>
    <p:sldId id="1680" r:id="rId91"/>
    <p:sldId id="1609" r:id="rId9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rgbClr val="FF0000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FF0000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FF0000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FF0000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FF0000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2400" kern="1200">
        <a:solidFill>
          <a:srgbClr val="FF0000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2400" kern="1200">
        <a:solidFill>
          <a:srgbClr val="FF0000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2400" kern="1200">
        <a:solidFill>
          <a:srgbClr val="FF0000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2400" kern="1200">
        <a:solidFill>
          <a:srgbClr val="FF0000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66"/>
    <a:srgbClr val="0000FF"/>
    <a:srgbClr val="800080"/>
    <a:srgbClr val="99FFCC"/>
    <a:srgbClr val="FF0000"/>
    <a:srgbClr val="008000"/>
    <a:srgbClr val="000000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36" autoAdjust="0"/>
    <p:restoredTop sz="95479" autoAdjust="0"/>
  </p:normalViewPr>
  <p:slideViewPr>
    <p:cSldViewPr>
      <p:cViewPr varScale="1">
        <p:scale>
          <a:sx n="87" d="100"/>
          <a:sy n="87" d="100"/>
        </p:scale>
        <p:origin x="1224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viewProps" Target="viewProps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tableStyles" Target="tableStyle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EF14C5E-47F9-478C-A0B4-85599E67ED7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2AB9B76-CB42-45C6-8D67-83EBB16D57A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78DD0676-3698-49ED-BEA3-55642C19C13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C1CE3A8E-4DC4-4B12-BF7F-7A4970E9886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39434AA3-E353-438A-98D1-E2244A2629D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7" name="Rectangle 7">
            <a:extLst>
              <a:ext uri="{FF2B5EF4-FFF2-40B4-BE49-F238E27FC236}">
                <a16:creationId xmlns:a16="http://schemas.microsoft.com/office/drawing/2014/main" id="{F9D02383-2236-4E76-853D-98F0A77CF1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E9240A37-1315-447E-BB87-7728C5B56164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475C06C-008D-411D-8714-DA4A284C9A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BBC0EA-1379-4D50-81F0-85AFF6853A64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8CE1B7E-E6D2-4BC8-8068-92C0DDC962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02EB1DBC-98B9-4AF5-AF01-259CB642E9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50</a:t>
            </a:r>
            <a:r>
              <a:rPr lang="zh-CN" altLang="en-US"/>
              <a:t>－</a:t>
            </a:r>
            <a:fld id="{2152D56B-447A-4DD0-BCF9-8D4F2882D2B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7636591"/>
      </p:ext>
    </p:extLst>
  </p:cSld>
  <p:clrMapOvr>
    <a:masterClrMapping/>
  </p:clrMapOvr>
  <p:transition/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FFA75A1-8828-4C92-A627-8CF06B99D0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4F0F37-7AE3-4EE9-A9A9-2D0F00963D2C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3B239F1-1428-4AB9-A472-CF61FE9CB9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9EC6BCF0-39B7-4286-B973-771D7848A0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50</a:t>
            </a:r>
            <a:r>
              <a:rPr lang="zh-CN" altLang="en-US"/>
              <a:t>－</a:t>
            </a:r>
            <a:fld id="{40540E07-511E-4D15-9814-0A0A2389638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5758219"/>
      </p:ext>
    </p:extLst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BECDFDB-31F0-44FE-9032-0C551A5308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80DE5A-0B6B-43CD-B7C2-7BF4A6D52546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E67AC99-24FA-422D-99D7-DB61B27002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E69EA700-7C1E-4E62-8D1D-7495A1893B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50</a:t>
            </a:r>
            <a:r>
              <a:rPr lang="zh-CN" altLang="en-US"/>
              <a:t>－</a:t>
            </a:r>
            <a:fld id="{9E3971D1-FCC9-46D0-860E-380C5CC95ED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1728255"/>
      </p:ext>
    </p:extLst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4213" y="198913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98913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86DF34B-2C9E-483C-ABD6-6D10CFFFAB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05939B-795F-4DE6-9082-F5CA185F2439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C93927A-0733-4E85-961C-B1E1D47650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E6FC7071-BA9D-4DBB-8933-4D623B5A52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50</a:t>
            </a:r>
            <a:r>
              <a:rPr lang="zh-CN" altLang="en-US"/>
              <a:t>－</a:t>
            </a:r>
            <a:fld id="{BE17DCAF-006E-47C9-992F-F25C31AC0D6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0313614"/>
      </p:ext>
    </p:extLst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F02EAB0-4776-4DEB-9826-D2A55153D8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A596C2-4A31-44BD-8B3B-D8D5E9815CDF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BBA0985D-2F46-4CA6-9727-7AC541F35E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54093E15-D29A-4806-8DAC-BF0B10177E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50</a:t>
            </a:r>
            <a:r>
              <a:rPr lang="zh-CN" altLang="en-US"/>
              <a:t>－</a:t>
            </a:r>
            <a:fld id="{31B20454-A06E-40C5-8915-2009F9141EF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7265398"/>
      </p:ext>
    </p:extLst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162AA31-2FD8-4F5D-AD6C-05CA871AFB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538943-3AA7-4378-8792-01525B7142BC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9A4E90D-7244-4FB3-B839-82A8B54390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2B1DEEA2-5F1A-4C6B-8BEB-861C273244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50</a:t>
            </a:r>
            <a:r>
              <a:rPr lang="zh-CN" altLang="en-US"/>
              <a:t>－</a:t>
            </a:r>
            <a:fld id="{D6EC912F-0C4A-45F0-BFA2-137FC9B2D5B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8468688"/>
      </p:ext>
    </p:extLst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1640987C-8F23-42DD-82EE-78A9DD0916F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22F83C-5D13-4622-8D20-FCA2A75633B9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027E1109-E92D-44FB-BA1B-0D8055A2A0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B8E00F0B-0974-4771-9AFD-6D1DB1B1EA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50</a:t>
            </a:r>
            <a:r>
              <a:rPr lang="zh-CN" altLang="en-US"/>
              <a:t>－</a:t>
            </a:r>
            <a:fld id="{8284679A-9538-4C87-803D-9BE8F945F50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2191551"/>
      </p:ext>
    </p:extLst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BB6081E-E45B-44C2-B3FE-2213D9495A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FFCDF3-3736-4153-9249-FAE3916DF811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DB69059-8665-4AEC-9C9C-971374CCFE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96A7F460-4163-4E6A-B82A-015E825E88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50</a:t>
            </a:r>
            <a:r>
              <a:rPr lang="zh-CN" altLang="en-US"/>
              <a:t>－</a:t>
            </a:r>
            <a:fld id="{5C2A4F58-1454-4DD5-9CB0-9592278CE17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2884165"/>
      </p:ext>
    </p:extLst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2B3BFD3-DE5D-41D2-91EA-CBC912EE31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EBC05A-2942-42BC-810D-8FEBA0D9A189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98E27DA-2BE7-4401-A51B-191D9A69F0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500AFCF6-6580-4123-BE74-6AA884879E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50</a:t>
            </a:r>
            <a:r>
              <a:rPr lang="zh-CN" altLang="en-US"/>
              <a:t>－</a:t>
            </a:r>
            <a:fld id="{88FC229F-E99E-4DE9-A3DD-448A3AD5C54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8115234"/>
      </p:ext>
    </p:extLst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B5913BE-ABE9-44B4-8F6B-720326F87B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864EFB-6967-4D74-8C03-ECCCD8CE6159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21BF1F0-FD2E-497B-915A-DCF4659BBC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1979D9E8-D44A-426E-9E8E-C656FB5E6D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50</a:t>
            </a:r>
            <a:r>
              <a:rPr lang="zh-CN" altLang="en-US"/>
              <a:t>－</a:t>
            </a:r>
            <a:fld id="{B749BA69-5198-4DEA-9848-A2C8F4803AF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1228408"/>
      </p:ext>
    </p:extLst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943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4213" y="609600"/>
            <a:ext cx="5678487" cy="54943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9FF670D-F16B-4C7F-B284-EE547C3828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DA3B59-D681-4CBB-B8D4-B7578CD84D3C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D04528A-8782-44C8-AF87-8C23496B56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8590958-180C-4DAD-BE9A-AAE3221186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50</a:t>
            </a:r>
            <a:r>
              <a:rPr lang="zh-CN" altLang="en-US"/>
              <a:t>－</a:t>
            </a:r>
            <a:fld id="{C6145BC3-6F65-4C3E-B92B-963C9306E6C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6685758"/>
      </p:ext>
    </p:extLst>
  </p:cSld>
  <p:clrMapOvr>
    <a:masterClrMapping/>
  </p:clrMapOvr>
  <p:transition/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4213" y="609600"/>
            <a:ext cx="7773987" cy="5494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2050896-072E-4C2B-A1F2-28F7812D69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D6D54D-A0D1-4E2C-A3B0-E63752AE3C17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971C0E6-2037-4641-AED0-773B707C97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2B03DDB-0CEC-49DC-91B4-A2BC102FEC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50</a:t>
            </a:r>
            <a:r>
              <a:rPr lang="zh-CN" altLang="en-US"/>
              <a:t>－</a:t>
            </a:r>
            <a:fld id="{F1F42551-A9CB-4402-A9D2-B0EBB80882A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8198877"/>
      </p:ext>
    </p:extLst>
  </p:cSld>
  <p:clrMapOvr>
    <a:masterClrMapping/>
  </p:clrMapOvr>
  <p:transition spd="med">
    <p:wipe dir="r"/>
  </p:transition>
  <p:hf sldNum="0"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1188" y="696913"/>
            <a:ext cx="8064500" cy="9239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11188" y="1795463"/>
            <a:ext cx="3956050" cy="45862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719638" y="1795463"/>
            <a:ext cx="3956050" cy="22161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719638" y="4164013"/>
            <a:ext cx="3956050" cy="22177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B22A5132-9E8A-4B8D-9D3D-4FDD9E2777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0825" y="6405563"/>
            <a:ext cx="1512888" cy="3365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1B6017-E438-4B0B-8508-AE7F4031242E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CB867B-EFDF-4EB4-BA0B-32370F0494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947025" y="6405563"/>
            <a:ext cx="1162050" cy="33655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50</a:t>
            </a:r>
            <a:r>
              <a:rPr lang="zh-CN" altLang="en-US"/>
              <a:t>－</a:t>
            </a:r>
            <a:fld id="{F2605030-8494-4B7D-B26E-81FF6609E6E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9984871"/>
      </p:ext>
    </p:extLst>
  </p:cSld>
  <p:clrMapOvr>
    <a:masterClrMapping/>
  </p:clrMapOvr>
  <p:transition spd="med">
    <p:wipe dir="r"/>
  </p:transition>
  <p:hf sldNum="0"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BAC63CC-B0CC-4C78-9683-6F43E2C726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E0C8C2-3B6C-45A4-9B47-16D642D23950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21CBA53-AD45-473A-9DFE-69ACCBC86E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37CB5F9-D11D-46A9-9AC8-51C5F1C16E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EFC350-4E94-4BE8-934C-E98C86845AD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86037283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A3CB341-8FFD-4846-83A8-6DDAB18488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9E126A-D2C1-4B2C-8355-A3FB8993AAFE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F841FA9-DCF9-4B07-B285-31681DF2A3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E71045E-F424-4CEE-8F5C-E8264B96FC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CA702C-6FC8-4DDB-B4D8-AADCCC2E43D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2760917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A9B9CF6-85D7-4CE8-9A6E-59E48AF633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7BD372-C7C4-471E-8EA1-9DA826E9342B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677B169-0405-4DC0-B819-674E20E862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7175FA2-B326-4A08-9D12-53A068C8A5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7368CE-E9B2-4FBE-8EF3-2CA8E0B2D2E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9988737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4213" y="198913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98913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798E76-1A6F-4F82-80AA-C44273DC0C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B6B86A-F7EB-48F4-B3B6-277E58B55A46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6E21AD-BBCC-4346-8886-133FAA90D4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D07D58-CA1E-4729-88F3-A51A4E412C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38CC4-2718-4D83-9F6E-FB09A13F614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2922265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D2B68D2-615F-49F4-887F-01821FC687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49D65B-ED40-4A0D-AE0E-CD1BD196CAE1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140ECEB-2120-49D5-9A7E-D25F704F7D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09DA573-7CD6-4969-9009-15BEAA5F5E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694558-3170-47C8-A132-9294C475071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9892949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0F236CB-65BB-4702-B809-EE8C192414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0CDA4E-B173-49B4-8B72-1B685EC4854E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4DDE16D-0E0D-4403-A10A-270B04EA09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A95F469-67DD-43EE-8077-AF2462517F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8AD269-4704-4E27-A580-61D31EFBFBF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4464928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97AA0E3-9D1B-44AD-9800-9AA1B9DA65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C3F32F-6938-4D42-9357-D06529BCABAE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85C050A-8B1E-4FB0-A7C1-AB9E5A1B1C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0081E97-A989-49F6-B8AC-001D5F5D64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93548C-8BD4-4AA1-BEFF-64AF529EEDE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2896337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730F46-0446-430E-A385-E22AE5AA8D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C228A3-E85B-44BB-A96C-26BD5F9AAB86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93C323-238A-46B4-A427-8051259DDA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BDF23B-97EC-4BAC-8D54-DDDE0FFE8D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F8F11A-1076-41FF-90CB-B0C33262A7C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1960448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336893-19EC-4C6C-92B1-E065832695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F88B3-C26F-499F-BA46-11A59C8D0495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54541C-3296-4EA7-B59E-69F4131DBF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69CC3C-07BA-49EE-878D-E4FCE50CE3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6BFF92-603D-41B8-B4A0-DD185ED7F51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5361118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B854C3B-DFAD-40FF-8CE5-386C0951BD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29B3D5-BAEB-4387-A6A3-61315B55CEFF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992DF34-4B56-4DC3-B48E-545FAF1727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2C25A9A-A434-483E-ABD5-2C87CC8011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104441-1C6F-4DC3-8074-3078AEDA936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0402057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943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4213" y="609600"/>
            <a:ext cx="5678487" cy="54943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2CC50CC-050F-4BFB-BDD4-87C2971308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60E82F-46EB-48BE-A33B-659BD42FD47A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5081F4D-C81E-44A3-A12D-735C3D7DAFF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695FEF2-6060-45C0-BD0C-75CBF6ED87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137529-299A-4799-AE91-1A1771116EC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038736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>
            <a:extLst>
              <a:ext uri="{FF2B5EF4-FFF2-40B4-BE49-F238E27FC236}">
                <a16:creationId xmlns:a16="http://schemas.microsoft.com/office/drawing/2014/main" id="{02097A90-8C84-4071-B5CF-B046A1DC38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7492E837-3054-4603-A5DE-2AAC01EEB0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989138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04E7EA0-12D0-4E3B-8019-4D4C8910786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400" b="1">
                <a:latin typeface="黑体" pitchFamily="49" charset="-122"/>
                <a:ea typeface="黑体" pitchFamily="49" charset="-122"/>
              </a:defRPr>
            </a:lvl1pPr>
          </a:lstStyle>
          <a:p>
            <a:pPr>
              <a:defRPr/>
            </a:pPr>
            <a:fld id="{92C7BF58-2867-4942-B6ED-026BE30CBBDF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1FD69DDA-78D1-48F0-9BAE-CDCC0CDE20C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400" b="1">
                <a:latin typeface="黑体" pitchFamily="49" charset="-122"/>
                <a:ea typeface="黑体" pitchFamily="49" charset="-122"/>
              </a:defRPr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E78B4B60-D394-4BF8-9A48-67BE7F48134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1"/>
            </a:lvl1pPr>
          </a:lstStyle>
          <a:p>
            <a:r>
              <a:rPr lang="en-US" altLang="zh-CN"/>
              <a:t>50</a:t>
            </a:r>
            <a:r>
              <a:rPr lang="zh-CN" altLang="en-US"/>
              <a:t>－</a:t>
            </a:r>
            <a:fld id="{6C4A4107-94BB-4463-BB59-C40A57D982B1}" type="slidenum">
              <a:rPr lang="en-US" altLang="zh-CN"/>
              <a:pPr/>
              <a:t>‹#›</a:t>
            </a:fld>
            <a:endParaRPr lang="en-US" altLang="zh-CN"/>
          </a:p>
        </p:txBody>
      </p:sp>
      <p:pic>
        <p:nvPicPr>
          <p:cNvPr id="1031" name="Picture 10" descr="12副本1">
            <a:extLst>
              <a:ext uri="{FF2B5EF4-FFF2-40B4-BE49-F238E27FC236}">
                <a16:creationId xmlns:a16="http://schemas.microsoft.com/office/drawing/2014/main" id="{FEAFA350-936A-48A4-BFF8-5B880C100A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8" y="658813"/>
            <a:ext cx="996950" cy="969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22" r:id="rId1"/>
    <p:sldLayoutId id="2147484123" r:id="rId2"/>
    <p:sldLayoutId id="2147484124" r:id="rId3"/>
    <p:sldLayoutId id="2147484125" r:id="rId4"/>
    <p:sldLayoutId id="2147484126" r:id="rId5"/>
    <p:sldLayoutId id="2147484127" r:id="rId6"/>
    <p:sldLayoutId id="2147484128" r:id="rId7"/>
    <p:sldLayoutId id="2147484129" r:id="rId8"/>
    <p:sldLayoutId id="2147484130" r:id="rId9"/>
    <p:sldLayoutId id="2147484131" r:id="rId10"/>
    <p:sldLayoutId id="2147484132" r:id="rId11"/>
    <p:sldLayoutId id="2147484133" r:id="rId12"/>
    <p:sldLayoutId id="2147484134" r:id="rId13"/>
  </p:sldLayoutIdLst>
  <p:transition advClick="0"/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7"/>
        </a:buBlip>
        <a:defRPr kumimoji="1" sz="24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7"/>
        </a:buBlip>
        <a:defRPr kumimoji="1" sz="2000" kern="1200">
          <a:solidFill>
            <a:schemeClr val="tx1"/>
          </a:solidFill>
          <a:latin typeface="+mj-lt"/>
          <a:ea typeface="+mj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kern="1200">
          <a:solidFill>
            <a:schemeClr val="tx1"/>
          </a:solidFill>
          <a:latin typeface="+mj-lt"/>
          <a:ea typeface="+mj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1600" kern="1200">
          <a:solidFill>
            <a:schemeClr val="tx1"/>
          </a:solidFill>
          <a:latin typeface="+mj-lt"/>
          <a:ea typeface="+mj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1600" kern="1200">
          <a:solidFill>
            <a:schemeClr val="tx1"/>
          </a:solidFill>
          <a:latin typeface="+mj-lt"/>
          <a:ea typeface="+mj-ea"/>
          <a:cs typeface="楷体_GB231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070DE92-DEB7-4AA7-8EA9-FCCDC303F0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724995" name="Rectangle 3">
            <a:extLst>
              <a:ext uri="{FF2B5EF4-FFF2-40B4-BE49-F238E27FC236}">
                <a16:creationId xmlns:a16="http://schemas.microsoft.com/office/drawing/2014/main" id="{847D2639-3F99-4DC5-9745-51A25BADE7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989138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24996" name="Rectangle 4">
            <a:extLst>
              <a:ext uri="{FF2B5EF4-FFF2-40B4-BE49-F238E27FC236}">
                <a16:creationId xmlns:a16="http://schemas.microsoft.com/office/drawing/2014/main" id="{E85DDBB5-FA80-43CB-87E1-C0AD12A5727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400" b="1">
                <a:latin typeface="黑体" pitchFamily="49" charset="-122"/>
                <a:ea typeface="黑体" pitchFamily="49" charset="-122"/>
              </a:defRPr>
            </a:lvl1pPr>
          </a:lstStyle>
          <a:p>
            <a:pPr>
              <a:defRPr/>
            </a:pPr>
            <a:fld id="{48460BA9-1FD6-415A-8E96-3343AE4B8263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724997" name="Rectangle 5">
            <a:extLst>
              <a:ext uri="{FF2B5EF4-FFF2-40B4-BE49-F238E27FC236}">
                <a16:creationId xmlns:a16="http://schemas.microsoft.com/office/drawing/2014/main" id="{9CBA6D21-05F7-4BE9-BB4E-9D2D774455C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400" b="1">
                <a:latin typeface="黑体" pitchFamily="49" charset="-122"/>
                <a:ea typeface="黑体" pitchFamily="49" charset="-122"/>
              </a:defRPr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24998" name="Rectangle 6">
            <a:extLst>
              <a:ext uri="{FF2B5EF4-FFF2-40B4-BE49-F238E27FC236}">
                <a16:creationId xmlns:a16="http://schemas.microsoft.com/office/drawing/2014/main" id="{AAA48CA3-3279-4F11-823B-B6B6830AE33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1"/>
            </a:lvl1pPr>
          </a:lstStyle>
          <a:p>
            <a:fld id="{1AF70BB2-F9D5-46EC-8053-63EB8200AAA2}" type="slidenum">
              <a:rPr lang="en-US" altLang="zh-CN"/>
              <a:pPr/>
              <a:t>‹#›</a:t>
            </a:fld>
            <a:endParaRPr lang="en-US" altLang="zh-CN"/>
          </a:p>
        </p:txBody>
      </p:sp>
      <p:pic>
        <p:nvPicPr>
          <p:cNvPr id="2055" name="Picture 7" descr="12副本1">
            <a:extLst>
              <a:ext uri="{FF2B5EF4-FFF2-40B4-BE49-F238E27FC236}">
                <a16:creationId xmlns:a16="http://schemas.microsoft.com/office/drawing/2014/main" id="{B8BA3ECB-9E66-4F22-82B9-E7E9CC956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8" y="658813"/>
            <a:ext cx="996950" cy="969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35" r:id="rId1"/>
    <p:sldLayoutId id="2147484136" r:id="rId2"/>
    <p:sldLayoutId id="2147484137" r:id="rId3"/>
    <p:sldLayoutId id="2147484138" r:id="rId4"/>
    <p:sldLayoutId id="2147484139" r:id="rId5"/>
    <p:sldLayoutId id="2147484140" r:id="rId6"/>
    <p:sldLayoutId id="2147484141" r:id="rId7"/>
    <p:sldLayoutId id="2147484142" r:id="rId8"/>
    <p:sldLayoutId id="2147484143" r:id="rId9"/>
    <p:sldLayoutId id="2147484144" r:id="rId10"/>
    <p:sldLayoutId id="2147484145" r:id="rId11"/>
  </p:sldLayoutIdLst>
  <p:transition advClick="0"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5"/>
        </a:buBlip>
        <a:defRPr sz="24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5"/>
        </a:buBlip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3.png"/><Relationship Id="rId4" Type="http://schemas.openxmlformats.org/officeDocument/2006/relationships/image" Target="../media/image5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.png"/><Relationship Id="rId4" Type="http://schemas.openxmlformats.org/officeDocument/2006/relationships/image" Target="../media/image67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8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4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7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9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4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7.pn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日期占位符 1">
            <a:extLst>
              <a:ext uri="{FF2B5EF4-FFF2-40B4-BE49-F238E27FC236}">
                <a16:creationId xmlns:a16="http://schemas.microsoft.com/office/drawing/2014/main" id="{A56FAD87-F0A5-48E6-B787-C1742551061E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8FE4BD6-8E50-40B6-8EFA-7CE7CFE11D3C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675" name="页脚占位符 2">
            <a:extLst>
              <a:ext uri="{FF2B5EF4-FFF2-40B4-BE49-F238E27FC236}">
                <a16:creationId xmlns:a16="http://schemas.microsoft.com/office/drawing/2014/main" id="{66DDCFC1-9AE5-408C-9947-DDE0C6664E5D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28676" name="灯片编号占位符 3">
            <a:extLst>
              <a:ext uri="{FF2B5EF4-FFF2-40B4-BE49-F238E27FC236}">
                <a16:creationId xmlns:a16="http://schemas.microsoft.com/office/drawing/2014/main" id="{009253D4-8DE6-47C0-8A6A-CA388B2EC89A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01D7AEB-0078-4348-B034-4AFF03D317CE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677" name="页脚占位符 3">
            <a:extLst>
              <a:ext uri="{FF2B5EF4-FFF2-40B4-BE49-F238E27FC236}">
                <a16:creationId xmlns:a16="http://schemas.microsoft.com/office/drawing/2014/main" id="{F38C5AA1-987D-4CE1-934C-9CBDB32D4A23}"/>
              </a:ext>
            </a:extLst>
          </p:cNvPr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1E3AFE08-FF98-43F8-AD0A-91D2EC79ED6A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1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23939" name="Rectangle 3">
            <a:extLst>
              <a:ext uri="{FF2B5EF4-FFF2-40B4-BE49-F238E27FC236}">
                <a16:creationId xmlns:a16="http://schemas.microsoft.com/office/drawing/2014/main" id="{ED961737-0703-4A10-B442-46DC77FFC8A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4213" y="1412875"/>
            <a:ext cx="7826375" cy="2514600"/>
          </a:xfrm>
        </p:spPr>
        <p:txBody>
          <a:bodyPr/>
          <a:lstStyle/>
          <a:p>
            <a:pPr marL="400050" indent="-400050" algn="ctr" eaLnBrk="1" hangingPunct="1">
              <a:buFontTx/>
              <a:buNone/>
              <a:defRPr/>
            </a:pPr>
            <a:r>
              <a:rPr lang="zh-CN" altLang="en-US" sz="8000" b="1">
                <a:solidFill>
                  <a:schemeClr val="accent2"/>
                </a:solidFill>
                <a:effectLst/>
                <a:ea typeface="隶书" panose="02010509060101010101" pitchFamily="49" charset="-122"/>
                <a:cs typeface="楷体_GB2312" pitchFamily="49" charset="-122"/>
              </a:rPr>
              <a:t>离散数学</a:t>
            </a:r>
            <a:endParaRPr lang="zh-CN" altLang="en-US" sz="6600" b="1">
              <a:solidFill>
                <a:schemeClr val="accent2"/>
              </a:solidFill>
              <a:effectLst/>
              <a:ea typeface="隶书" panose="02010509060101010101" pitchFamily="49" charset="-122"/>
              <a:cs typeface="楷体_GB2312" pitchFamily="49" charset="-122"/>
            </a:endParaRPr>
          </a:p>
          <a:p>
            <a:pPr marL="400050" indent="-400050" algn="ctr" eaLnBrk="1" hangingPunct="1">
              <a:buFontTx/>
              <a:buNone/>
              <a:defRPr/>
            </a:pPr>
            <a:r>
              <a:rPr lang="en-US" altLang="zh-CN" sz="660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华文行楷" panose="02010800040101010101" pitchFamily="2" charset="-122"/>
                <a:cs typeface="楷体_GB2312" pitchFamily="49" charset="-122"/>
              </a:rPr>
              <a:t>Discrete Mathematics</a:t>
            </a:r>
            <a:r>
              <a:rPr lang="en-US" altLang="zh-CN" sz="3600" b="1">
                <a:solidFill>
                  <a:schemeClr val="accent2"/>
                </a:solidFill>
                <a:ea typeface="宋体" panose="02010600030101010101" pitchFamily="2" charset="-122"/>
                <a:cs typeface="楷体_GB2312" pitchFamily="49" charset="-122"/>
              </a:rPr>
              <a:t> </a:t>
            </a:r>
          </a:p>
        </p:txBody>
      </p:sp>
      <p:sp>
        <p:nvSpPr>
          <p:cNvPr id="28679" name="Text Box 4">
            <a:extLst>
              <a:ext uri="{FF2B5EF4-FFF2-40B4-BE49-F238E27FC236}">
                <a16:creationId xmlns:a16="http://schemas.microsoft.com/office/drawing/2014/main" id="{45BB9173-A88B-434A-AF96-526041C0EF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9988" y="4343400"/>
            <a:ext cx="6858000" cy="13295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CBCBCB"/>
                    </a:gs>
                    <a:gs pos="13000">
                      <a:srgbClr val="5F5F5F"/>
                    </a:gs>
                    <a:gs pos="21001">
                      <a:srgbClr val="5F5F5F"/>
                    </a:gs>
                    <a:gs pos="63000">
                      <a:srgbClr val="FFFFFF"/>
                    </a:gs>
                    <a:gs pos="67000">
                      <a:srgbClr val="B2B2B2"/>
                    </a:gs>
                    <a:gs pos="69000">
                      <a:srgbClr val="292929"/>
                    </a:gs>
                    <a:gs pos="82001">
                      <a:srgbClr val="777777"/>
                    </a:gs>
                    <a:gs pos="100000">
                      <a:srgbClr val="EAEAEA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00050" indent="-4000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buNone/>
            </a:pPr>
            <a:r>
              <a:rPr kumimoji="0"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杨娟 博士</a:t>
            </a:r>
            <a:endParaRPr kumimoji="0" lang="en-US" altLang="zh-CN" sz="3200" b="1" dirty="0" smtClean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algn="ctr" eaLnBrk="1" hangingPunct="1">
              <a:spcBef>
                <a:spcPct val="5000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buNone/>
            </a:pPr>
            <a:r>
              <a:rPr kumimoji="0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合肥工业大学</a:t>
            </a:r>
            <a:r>
              <a:rPr kumimoji="0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计算机与信息学院</a:t>
            </a:r>
          </a:p>
        </p:txBody>
      </p:sp>
      <p:pic>
        <p:nvPicPr>
          <p:cNvPr id="2868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E7ADD293-AABD-48CE-9766-11DA0074F2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188" y="549275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日期占位符 3">
            <a:extLst>
              <a:ext uri="{FF2B5EF4-FFF2-40B4-BE49-F238E27FC236}">
                <a16:creationId xmlns:a16="http://schemas.microsoft.com/office/drawing/2014/main" id="{C3095490-B5A2-4FF6-AFDC-1DB80399F725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5C364CD-F718-45E3-92E5-15BE19C83E22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699" name="页脚占位符 4">
            <a:extLst>
              <a:ext uri="{FF2B5EF4-FFF2-40B4-BE49-F238E27FC236}">
                <a16:creationId xmlns:a16="http://schemas.microsoft.com/office/drawing/2014/main" id="{3DCA2A06-2B25-4075-9CDD-C9F3A2EDD5AB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29700" name="灯片编号占位符 5">
            <a:extLst>
              <a:ext uri="{FF2B5EF4-FFF2-40B4-BE49-F238E27FC236}">
                <a16:creationId xmlns:a16="http://schemas.microsoft.com/office/drawing/2014/main" id="{5F07BC3B-FF72-49BA-8872-E7EF62B82E00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3D91A152-9684-4D58-AEEA-E4053E1C9AAE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01" name="Rectangle 2">
            <a:extLst>
              <a:ext uri="{FF2B5EF4-FFF2-40B4-BE49-F238E27FC236}">
                <a16:creationId xmlns:a16="http://schemas.microsoft.com/office/drawing/2014/main" id="{43216AD1-0128-48CB-AC14-056CD416D244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503238" y="1943100"/>
            <a:ext cx="8137525" cy="2808288"/>
          </a:xfrm>
        </p:spPr>
        <p:txBody>
          <a:bodyPr/>
          <a:lstStyle/>
          <a:p>
            <a:pPr eaLnBrk="1" hangingPunct="1"/>
            <a:r>
              <a:rPr lang="zh-CN" altLang="en-US" sz="66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66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66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章 特殊图模型与算法</a:t>
            </a:r>
            <a:r>
              <a:rPr lang="en-US" altLang="zh-CN" sz="66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66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下</a:t>
            </a:r>
            <a:r>
              <a:rPr lang="en-US" altLang="zh-CN" sz="66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5400" b="1" dirty="0">
              <a:solidFill>
                <a:schemeClr val="accent2"/>
              </a:solidFill>
            </a:endParaRPr>
          </a:p>
        </p:txBody>
      </p:sp>
      <p:pic>
        <p:nvPicPr>
          <p:cNvPr id="29702" name="Picture 7" descr="C:\Program Files\Microsoft Office\MEDIA\CAGCAT10\j0292982.wmf">
            <a:extLst>
              <a:ext uri="{FF2B5EF4-FFF2-40B4-BE49-F238E27FC236}">
                <a16:creationId xmlns:a16="http://schemas.microsoft.com/office/drawing/2014/main" id="{D9C33A80-774D-4FC0-8BF8-C57E791A6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575" y="4738688"/>
            <a:ext cx="137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日期占位符 3">
            <a:extLst>
              <a:ext uri="{FF2B5EF4-FFF2-40B4-BE49-F238E27FC236}">
                <a16:creationId xmlns:a16="http://schemas.microsoft.com/office/drawing/2014/main" id="{85706847-08D7-4CF0-A5E2-7E1A8CCFD280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13D40D3-F889-40B6-B612-122C0ABEFC5F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30723" name="Text Box 2">
            <a:extLst>
              <a:ext uri="{FF2B5EF4-FFF2-40B4-BE49-F238E27FC236}">
                <a16:creationId xmlns:a16="http://schemas.microsoft.com/office/drawing/2014/main" id="{B7C360A7-B3DC-40B8-BE57-92DB0AB14C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640" y="1004784"/>
            <a:ext cx="70866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本章内容（下）</a:t>
            </a:r>
            <a:endParaRPr lang="zh-CN" altLang="en-US" sz="4800" b="1" dirty="0">
              <a:ea typeface="宋体" panose="02010600030101010101" pitchFamily="2" charset="-122"/>
            </a:endParaRPr>
          </a:p>
        </p:txBody>
      </p:sp>
      <p:grpSp>
        <p:nvGrpSpPr>
          <p:cNvPr id="30724" name="Group 4">
            <a:extLst>
              <a:ext uri="{FF2B5EF4-FFF2-40B4-BE49-F238E27FC236}">
                <a16:creationId xmlns:a16="http://schemas.microsoft.com/office/drawing/2014/main" id="{47F2A36C-848C-4F13-AF19-BFCA5E1CAFE0}"/>
              </a:ext>
            </a:extLst>
          </p:cNvPr>
          <p:cNvGrpSpPr>
            <a:grpSpLocks/>
          </p:cNvGrpSpPr>
          <p:nvPr/>
        </p:nvGrpSpPr>
        <p:grpSpPr bwMode="auto">
          <a:xfrm>
            <a:off x="2411760" y="2852936"/>
            <a:ext cx="4724400" cy="2255838"/>
            <a:chOff x="1474" y="2281"/>
            <a:chExt cx="2976" cy="1421"/>
          </a:xfrm>
        </p:grpSpPr>
        <p:sp>
          <p:nvSpPr>
            <p:cNvPr id="30729" name="AutoShape 29">
              <a:extLst>
                <a:ext uri="{FF2B5EF4-FFF2-40B4-BE49-F238E27FC236}">
                  <a16:creationId xmlns:a16="http://schemas.microsoft.com/office/drawing/2014/main" id="{E2A14C12-ABF6-4651-87BB-721ECE9EB8D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714" y="3252"/>
              <a:ext cx="2736" cy="363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3366FF"/>
                </a:gs>
                <a:gs pos="50000">
                  <a:srgbClr val="D4DFFF"/>
                </a:gs>
                <a:gs pos="100000">
                  <a:srgbClr val="3366FF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99190" dir="238833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30730" name="AutoShape 30">
              <a:extLst>
                <a:ext uri="{FF2B5EF4-FFF2-40B4-BE49-F238E27FC236}">
                  <a16:creationId xmlns:a16="http://schemas.microsoft.com/office/drawing/2014/main" id="{F0FCFFFF-B176-4083-97E3-C059D3FD19D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4" y="3158"/>
              <a:ext cx="432" cy="544"/>
            </a:xfrm>
            <a:prstGeom prst="diamond">
              <a:avLst/>
            </a:prstGeom>
            <a:solidFill>
              <a:srgbClr val="3366FF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30731" name="Text Box 31">
              <a:extLst>
                <a:ext uri="{FF2B5EF4-FFF2-40B4-BE49-F238E27FC236}">
                  <a16:creationId xmlns:a16="http://schemas.microsoft.com/office/drawing/2014/main" id="{D2DA95A1-4D12-43C8-8276-8C71F22B76E8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836" y="3253"/>
              <a:ext cx="250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特殊图模型的应用</a:t>
              </a:r>
            </a:p>
          </p:txBody>
        </p:sp>
        <p:sp>
          <p:nvSpPr>
            <p:cNvPr id="30732" name="Text Box 32">
              <a:extLst>
                <a:ext uri="{FF2B5EF4-FFF2-40B4-BE49-F238E27FC236}">
                  <a16:creationId xmlns:a16="http://schemas.microsoft.com/office/drawing/2014/main" id="{5CA85F1A-DA4C-4296-A68C-E7EB125A3D37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567" y="3239"/>
              <a:ext cx="23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 dirty="0">
                  <a:solidFill>
                    <a:schemeClr val="bg1"/>
                  </a:solidFill>
                  <a:latin typeface="黑体" panose="02010609060101010101" pitchFamily="49" charset="-122"/>
                </a:rPr>
                <a:t>5</a:t>
              </a:r>
            </a:p>
          </p:txBody>
        </p:sp>
        <p:sp>
          <p:nvSpPr>
            <p:cNvPr id="30733" name="AutoShape 19">
              <a:extLst>
                <a:ext uri="{FF2B5EF4-FFF2-40B4-BE49-F238E27FC236}">
                  <a16:creationId xmlns:a16="http://schemas.microsoft.com/office/drawing/2014/main" id="{C818A9F8-CE3C-4B6F-9EBC-21D18A813A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714" y="2376"/>
              <a:ext cx="2736" cy="374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765E00"/>
                </a:gs>
                <a:gs pos="50000">
                  <a:srgbClr val="FFCC00"/>
                </a:gs>
                <a:gs pos="100000">
                  <a:srgbClr val="765E00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99190" dir="238833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30734" name="AutoShape 20">
              <a:extLst>
                <a:ext uri="{FF2B5EF4-FFF2-40B4-BE49-F238E27FC236}">
                  <a16:creationId xmlns:a16="http://schemas.microsoft.com/office/drawing/2014/main" id="{97950A86-949D-4A66-BA8A-2F8F1FB83E5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4" y="2281"/>
              <a:ext cx="432" cy="561"/>
            </a:xfrm>
            <a:prstGeom prst="diamond">
              <a:avLst/>
            </a:prstGeom>
            <a:solidFill>
              <a:srgbClr val="CC9900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30735" name="Text Box 21">
              <a:extLst>
                <a:ext uri="{FF2B5EF4-FFF2-40B4-BE49-F238E27FC236}">
                  <a16:creationId xmlns:a16="http://schemas.microsoft.com/office/drawing/2014/main" id="{57C80CE0-7000-462D-B62F-5C240120140C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876" y="2407"/>
              <a:ext cx="247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网络流图及其优化</a:t>
              </a:r>
            </a:p>
          </p:txBody>
        </p:sp>
        <p:sp>
          <p:nvSpPr>
            <p:cNvPr id="30736" name="Text Box 22">
              <a:extLst>
                <a:ext uri="{FF2B5EF4-FFF2-40B4-BE49-F238E27FC236}">
                  <a16:creationId xmlns:a16="http://schemas.microsoft.com/office/drawing/2014/main" id="{2A829687-0F5F-455B-8C81-EC9739A764C5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585" y="2376"/>
              <a:ext cx="21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 dirty="0">
                  <a:solidFill>
                    <a:schemeClr val="bg1"/>
                  </a:solidFill>
                  <a:latin typeface="黑体" panose="02010609060101010101" pitchFamily="49" charset="-122"/>
                </a:rPr>
                <a:t>4</a:t>
              </a:r>
            </a:p>
          </p:txBody>
        </p:sp>
      </p:grp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日期占位符 3">
            <a:extLst>
              <a:ext uri="{FF2B5EF4-FFF2-40B4-BE49-F238E27FC236}">
                <a16:creationId xmlns:a16="http://schemas.microsoft.com/office/drawing/2014/main" id="{CBD1089A-78B7-4603-9CD7-EE5121FB92E5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EA82FB1-005E-4EE4-A735-EE30744B84E2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7523" name="页脚占位符 4">
            <a:extLst>
              <a:ext uri="{FF2B5EF4-FFF2-40B4-BE49-F238E27FC236}">
                <a16:creationId xmlns:a16="http://schemas.microsoft.com/office/drawing/2014/main" id="{EFFB77F2-1C8F-4BB4-9440-78CDC71E3EF9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107524" name="灯片编号占位符 5">
            <a:extLst>
              <a:ext uri="{FF2B5EF4-FFF2-40B4-BE49-F238E27FC236}">
                <a16:creationId xmlns:a16="http://schemas.microsoft.com/office/drawing/2014/main" id="{EF26C3D3-A00C-41F3-84AB-0009C4D1DCE1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641DE31A-BB39-44C1-A8EB-639DE669EE97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7525" name="Rectangle 4">
            <a:extLst>
              <a:ext uri="{FF2B5EF4-FFF2-40B4-BE49-F238E27FC236}">
                <a16:creationId xmlns:a16="http://schemas.microsoft.com/office/drawing/2014/main" id="{EFBF5712-EA55-4D53-9F4D-340EE2F362F5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1043609" y="2565400"/>
            <a:ext cx="7344742" cy="1909763"/>
          </a:xfrm>
          <a:solidFill>
            <a:srgbClr val="0000FF"/>
          </a:solidFill>
        </p:spPr>
        <p:txBody>
          <a:bodyPr/>
          <a:lstStyle/>
          <a:p>
            <a:pPr eaLnBrk="1" hangingPunct="1"/>
            <a:r>
              <a:rPr lang="zh-CN" altLang="en-US" sz="6600" b="1" dirty="0">
                <a:solidFill>
                  <a:schemeClr val="bg1"/>
                </a:solidFill>
              </a:rPr>
              <a:t>网络流图及其优化</a:t>
            </a:r>
          </a:p>
        </p:txBody>
      </p:sp>
      <p:pic>
        <p:nvPicPr>
          <p:cNvPr id="107526" name="Picture 7" descr="C:\Program Files\Microsoft Office\MEDIA\CAGCAT10\j0292982.wmf">
            <a:extLst>
              <a:ext uri="{FF2B5EF4-FFF2-40B4-BE49-F238E27FC236}">
                <a16:creationId xmlns:a16="http://schemas.microsoft.com/office/drawing/2014/main" id="{D384E70D-31F5-4CAB-85DA-1F6376C8FB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575" y="4738688"/>
            <a:ext cx="137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日期占位符 3">
            <a:extLst>
              <a:ext uri="{FF2B5EF4-FFF2-40B4-BE49-F238E27FC236}">
                <a16:creationId xmlns:a16="http://schemas.microsoft.com/office/drawing/2014/main" id="{4423CDE6-4D1A-4FD8-AF03-0153C6993AD1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BE48E2A-76F3-4D90-BE17-C5B9CCB720DF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8547" name="页脚占位符 4">
            <a:extLst>
              <a:ext uri="{FF2B5EF4-FFF2-40B4-BE49-F238E27FC236}">
                <a16:creationId xmlns:a16="http://schemas.microsoft.com/office/drawing/2014/main" id="{E4A98D63-1608-464A-A779-40A96FA419BE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108548" name="灯片编号占位符 5">
            <a:extLst>
              <a:ext uri="{FF2B5EF4-FFF2-40B4-BE49-F238E27FC236}">
                <a16:creationId xmlns:a16="http://schemas.microsoft.com/office/drawing/2014/main" id="{DB48124E-982B-47B2-B858-4262E9FA5C70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97E10FA0-2C19-4D69-BE98-2B960E0DD000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8549" name="Text Box 2">
            <a:extLst>
              <a:ext uri="{FF2B5EF4-FFF2-40B4-BE49-F238E27FC236}">
                <a16:creationId xmlns:a16="http://schemas.microsoft.com/office/drawing/2014/main" id="{EDA75375-1B44-4870-8448-4C38DAB67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836613"/>
            <a:ext cx="7129463" cy="83026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网络流图及其优化</a:t>
            </a:r>
          </a:p>
        </p:txBody>
      </p:sp>
      <p:sp>
        <p:nvSpPr>
          <p:cNvPr id="108550" name="Rectangle 3">
            <a:extLst>
              <a:ext uri="{FF2B5EF4-FFF2-40B4-BE49-F238E27FC236}">
                <a16:creationId xmlns:a16="http://schemas.microsoft.com/office/drawing/2014/main" id="{46F277D4-6C27-452B-9B55-E887C8339C9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339752" y="2420888"/>
            <a:ext cx="4535487" cy="3025105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J"/>
            </a:pPr>
            <a:r>
              <a:rPr lang="zh-CN" altLang="en-US" sz="3600" b="1" dirty="0"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流网络基本概念</a:t>
            </a:r>
            <a:endParaRPr lang="en-US" altLang="zh-CN" sz="3600" b="1" dirty="0">
              <a:solidFill>
                <a:srgbClr val="0000FF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楷体_GB2312" pitchFamily="49" charset="-122"/>
            </a:endParaRPr>
          </a:p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4"/>
            </a:pPr>
            <a:r>
              <a:rPr lang="zh-CN" altLang="en-US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最大流与最小割</a:t>
            </a:r>
            <a:endParaRPr lang="en-US" altLang="zh-CN" sz="3600" b="1" dirty="0"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4"/>
            </a:pPr>
            <a:r>
              <a:rPr lang="zh-CN" altLang="en-US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最大流求解算法</a:t>
            </a:r>
          </a:p>
        </p:txBody>
      </p:sp>
      <p:pic>
        <p:nvPicPr>
          <p:cNvPr id="108551" name="Picture 7" descr="C:\Program Files\Microsoft Office\MEDIA\CAGCAT10\j0292982.wmf">
            <a:extLst>
              <a:ext uri="{FF2B5EF4-FFF2-40B4-BE49-F238E27FC236}">
                <a16:creationId xmlns:a16="http://schemas.microsoft.com/office/drawing/2014/main" id="{DB77FC21-083D-4812-8C0C-DE7303D132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575" y="4738688"/>
            <a:ext cx="137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>
            <a:extLst>
              <a:ext uri="{FF2B5EF4-FFF2-40B4-BE49-F238E27FC236}">
                <a16:creationId xmlns:a16="http://schemas.microsoft.com/office/drawing/2014/main" id="{7C54AF5C-D077-4911-AEC8-3DC1E10514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642938"/>
            <a:ext cx="63373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流网络模型</a:t>
            </a:r>
            <a:endParaRPr lang="zh-CN" altLang="en-US" sz="4800" b="1" dirty="0">
              <a:ea typeface="宋体" panose="02010600030101010101" pitchFamily="2" charset="-122"/>
            </a:endParaRPr>
          </a:p>
        </p:txBody>
      </p:sp>
      <p:pic>
        <p:nvPicPr>
          <p:cNvPr id="38915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829E2EAC-18FC-49D7-9C38-5BED99ABC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9113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67F54AB-F2BB-4203-AB35-21841E63D2A7}"/>
              </a:ext>
            </a:extLst>
          </p:cNvPr>
          <p:cNvSpPr/>
          <p:nvPr/>
        </p:nvSpPr>
        <p:spPr>
          <a:xfrm>
            <a:off x="179512" y="1916832"/>
            <a:ext cx="8856984" cy="4145366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algn="just">
              <a:lnSpc>
                <a:spcPts val="3200"/>
              </a:lnSpc>
            </a:pPr>
            <a:r>
              <a:rPr lang="en-US" altLang="zh-CN" b="1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</a:t>
            </a:r>
            <a:r>
              <a:rPr lang="zh-CN" altLang="zh-CN" b="1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对交通运输、网络通信和管道运输等实际问题的建模，不仅需要图模型，而且涉及车流、水流、人流、信息流等</a:t>
            </a:r>
            <a:r>
              <a:rPr lang="zh-CN" altLang="zh-CN" b="1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流的概念与计算</a:t>
            </a:r>
            <a:r>
              <a:rPr lang="zh-CN" altLang="zh-CN" b="1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。将</a:t>
            </a:r>
            <a:r>
              <a:rPr lang="zh-CN" altLang="zh-CN" b="1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图模型与流</a:t>
            </a:r>
            <a:r>
              <a:rPr lang="zh-CN" altLang="en-US" b="1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的概念</a:t>
            </a:r>
            <a:r>
              <a:rPr lang="zh-CN" altLang="zh-CN" b="1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进行整合，形成了一个新的数学模型——</a:t>
            </a:r>
            <a:r>
              <a:rPr lang="zh-CN" altLang="en-US" b="1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流</a:t>
            </a:r>
            <a:r>
              <a:rPr lang="zh-CN" altLang="zh-CN" b="1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网络模型</a:t>
            </a:r>
            <a:r>
              <a:rPr lang="zh-CN" altLang="zh-CN" b="1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b="1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ts val="3200"/>
              </a:lnSpc>
            </a:pPr>
            <a:r>
              <a:rPr lang="en-US" altLang="zh-CN" b="1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</a:t>
            </a:r>
            <a:r>
              <a:rPr lang="zh-CN" altLang="zh-CN" b="1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该模型是一种</a:t>
            </a:r>
            <a:r>
              <a:rPr lang="zh-CN" altLang="zh-CN" b="1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有向</a:t>
            </a:r>
            <a:r>
              <a:rPr lang="zh-CN" altLang="en-US" b="1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赋</a:t>
            </a:r>
            <a:r>
              <a:rPr lang="zh-CN" altLang="zh-CN" b="1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权图</a:t>
            </a:r>
            <a:r>
              <a:rPr lang="zh-CN" altLang="zh-CN" b="1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，要求每条边都有一定</a:t>
            </a:r>
            <a:r>
              <a:rPr lang="zh-CN" altLang="zh-CN" b="1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容量限制</a:t>
            </a:r>
            <a:r>
              <a:rPr lang="zh-CN" altLang="zh-CN" b="1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，边的流量数不能超过其容量，而且除源点和汇点外，每道流</a:t>
            </a:r>
            <a:r>
              <a:rPr lang="zh-CN" altLang="zh-CN" b="1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进入</a:t>
            </a:r>
            <a:r>
              <a:rPr lang="zh-CN" altLang="zh-CN" b="1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某结点的流量数必须</a:t>
            </a:r>
            <a:r>
              <a:rPr lang="zh-CN" altLang="zh-CN" b="1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等于离开</a:t>
            </a:r>
            <a:r>
              <a:rPr lang="zh-CN" altLang="zh-CN" b="1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该结点的流量数。</a:t>
            </a:r>
            <a:endParaRPr lang="en-US" altLang="zh-CN" b="1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ts val="3200"/>
              </a:lnSpc>
            </a:pPr>
            <a:r>
              <a:rPr lang="en-US" altLang="zh-CN" b="1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</a:t>
            </a:r>
            <a:r>
              <a:rPr lang="zh-CN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目前，随着增益流、多终端流、多商品流以及各种网络流的出现，</a:t>
            </a:r>
            <a:r>
              <a:rPr lang="zh-CN" alt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流</a:t>
            </a:r>
            <a:r>
              <a:rPr lang="zh-CN" altLang="zh-CN" b="1" dirty="0">
                <a:solidFill>
                  <a:srgbClr val="0000FF"/>
                </a:solidFill>
                <a:cs typeface="Times New Roman" panose="02020603050405020304" pitchFamily="18" charset="0"/>
              </a:rPr>
              <a:t>网络模型及</a:t>
            </a:r>
            <a:r>
              <a:rPr lang="zh-CN" alt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其</a:t>
            </a:r>
            <a:r>
              <a:rPr lang="zh-CN" altLang="zh-CN" b="1" dirty="0">
                <a:solidFill>
                  <a:srgbClr val="0000FF"/>
                </a:solidFill>
                <a:cs typeface="Times New Roman" panose="02020603050405020304" pitchFamily="18" charset="0"/>
              </a:rPr>
              <a:t>算法</a:t>
            </a:r>
            <a:r>
              <a:rPr lang="zh-CN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已普遍应用到通讯、运输、电力、工程规划、任务分派、设备更新等诸多领域</a:t>
            </a:r>
            <a:r>
              <a:rPr lang="zh-CN" altLang="zh-CN" b="1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>
            <a:extLst>
              <a:ext uri="{FF2B5EF4-FFF2-40B4-BE49-F238E27FC236}">
                <a16:creationId xmlns:a16="http://schemas.microsoft.com/office/drawing/2014/main" id="{7C54AF5C-D077-4911-AEC8-3DC1E10514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044" y="815057"/>
            <a:ext cx="648072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流网络模型</a:t>
            </a:r>
            <a:endParaRPr lang="zh-CN" altLang="en-US" sz="4800" b="1" dirty="0">
              <a:ea typeface="宋体" panose="02010600030101010101" pitchFamily="2" charset="-122"/>
            </a:endParaRPr>
          </a:p>
        </p:txBody>
      </p:sp>
      <p:pic>
        <p:nvPicPr>
          <p:cNvPr id="38915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829E2EAC-18FC-49D7-9C38-5BED99ABC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9113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2042307-D007-4B29-9139-34325497A9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5656" y="2276872"/>
            <a:ext cx="6409308" cy="3586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921042"/>
      </p:ext>
    </p:extLst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>
            <a:extLst>
              <a:ext uri="{FF2B5EF4-FFF2-40B4-BE49-F238E27FC236}">
                <a16:creationId xmlns:a16="http://schemas.microsoft.com/office/drawing/2014/main" id="{7C54AF5C-D077-4911-AEC8-3DC1E10514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648" y="726341"/>
            <a:ext cx="6553026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流网络基本概念</a:t>
            </a:r>
            <a:endParaRPr lang="zh-CN" altLang="en-US" sz="4800" b="1" dirty="0">
              <a:ea typeface="宋体" panose="02010600030101010101" pitchFamily="2" charset="-122"/>
            </a:endParaRPr>
          </a:p>
        </p:txBody>
      </p:sp>
      <p:pic>
        <p:nvPicPr>
          <p:cNvPr id="38915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829E2EAC-18FC-49D7-9C38-5BED99ABC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9113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7381FDD5-D5AA-4C19-A399-16C1B3B04882}"/>
                  </a:ext>
                </a:extLst>
              </p:cNvPr>
              <p:cNvSpPr/>
              <p:nvPr/>
            </p:nvSpPr>
            <p:spPr>
              <a:xfrm>
                <a:off x="251520" y="1988840"/>
                <a:ext cx="8640960" cy="390709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indent="26797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【定义】设有向图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</m:d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𝑽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中包含一个</a:t>
                </a:r>
                <a:r>
                  <a:rPr lang="zh-CN" altLang="zh-CN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源结点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𝒔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和一个</a:t>
                </a:r>
                <a:r>
                  <a:rPr lang="zh-CN" altLang="zh-CN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汇结点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𝒕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，且每条边</a:t>
                </a:r>
                <a14:m>
                  <m:oMath xmlns:m="http://schemas.openxmlformats.org/officeDocument/2006/math">
                    <m:r>
                      <a:rPr lang="en-US" altLang="zh-CN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𝒖</m:t>
                    </m:r>
                    <m:r>
                      <a:rPr lang="en-US" altLang="zh-CN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  <m:r>
                      <a:rPr lang="en-US" altLang="zh-CN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)∈</m:t>
                    </m:r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𝑬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均有一个非负容量</a:t>
                </a:r>
                <a14:m>
                  <m:oMath xmlns:m="http://schemas.openxmlformats.org/officeDocument/2006/math">
                    <m:r>
                      <a:rPr lang="en-US" altLang="zh-CN" b="1" i="1" kern="1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𝒄</m:t>
                    </m:r>
                    <m:r>
                      <a:rPr lang="en-US" altLang="zh-CN" b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𝒖</m:t>
                    </m:r>
                    <m:r>
                      <a:rPr lang="en-US" altLang="zh-CN" b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  <m:r>
                      <a:rPr lang="en-US" altLang="zh-CN" b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)≥</m:t>
                    </m:r>
                    <m:r>
                      <a:rPr lang="en-US" altLang="zh-CN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，若</a:t>
                </a:r>
                <a14:m>
                  <m:oMath xmlns:m="http://schemas.openxmlformats.org/officeDocument/2006/math">
                    <m:r>
                      <a:rPr lang="en-US" altLang="zh-CN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𝒖</m:t>
                    </m:r>
                    <m:r>
                      <a:rPr lang="en-US" altLang="zh-CN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  <m:r>
                      <a:rPr lang="en-US" altLang="zh-CN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∉</m:t>
                    </m:r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𝑬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，则规定其容量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𝒄</m:t>
                    </m:r>
                    <m:d>
                      <m:dPr>
                        <m:begChr m:val="（"/>
                        <m:endChr m:val="）"/>
                        <m:ctrlPr>
                          <a:rPr lang="zh-CN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𝒖</m:t>
                        </m:r>
                        <m:r>
                          <a:rPr lang="en-US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</m:d>
                    <m:r>
                      <a:rPr lang="en-US" altLang="zh-CN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，此时称有向图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是一个</a:t>
                </a:r>
                <a:r>
                  <a:rPr lang="zh-CN" altLang="zh-CN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网络流图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，简称为</a:t>
                </a:r>
                <a:r>
                  <a:rPr lang="zh-CN" altLang="zh-CN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流网络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或</a:t>
                </a:r>
                <a:r>
                  <a:rPr lang="zh-CN" altLang="zh-CN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网络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797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</a:t>
                </a:r>
                <a:r>
                  <a:rPr lang="zh-CN" altLang="en-US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称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源结点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𝒔</m:t>
                    </m:r>
                    <m:r>
                      <a:rPr lang="zh-CN" altLang="en-US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为</m:t>
                    </m:r>
                  </m:oMath>
                </a14:m>
                <a:r>
                  <a:rPr lang="zh-CN" altLang="en-US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网络</a:t>
                </a:r>
                <a:r>
                  <a:rPr lang="zh-CN" altLang="zh-CN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起点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，汇结点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𝒕</m:t>
                    </m:r>
                  </m:oMath>
                </a14:m>
                <a:r>
                  <a:rPr lang="zh-CN" altLang="en-US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为网络</a:t>
                </a:r>
                <a:r>
                  <a:rPr lang="zh-CN" altLang="zh-CN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终点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797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</a:t>
                </a:r>
                <a:r>
                  <a:rPr lang="zh-CN" altLang="zh-CN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网络流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是定义在网络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中关于边的一个实函数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𝒇</m:t>
                    </m:r>
                    <m:r>
                      <a:rPr lang="en-US" altLang="zh-CN" b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𝒖</m:t>
                    </m:r>
                    <m:r>
                      <a:rPr lang="en-US" altLang="zh-CN" b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  <m:r>
                      <a:rPr lang="en-US" altLang="zh-CN" b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表示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表示</a:t>
                </a:r>
                <a:r>
                  <a:rPr lang="zh-CN" altLang="zh-CN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有向边</a:t>
                </a:r>
                <a14:m>
                  <m:oMath xmlns:m="http://schemas.openxmlformats.org/officeDocument/2006/math">
                    <m:r>
                      <a:rPr lang="en-US" altLang="zh-CN" b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𝒖</m:t>
                    </m:r>
                    <m:r>
                      <a:rPr lang="en-US" altLang="zh-CN" b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  <m:r>
                      <a:rPr lang="en-US" altLang="zh-CN" b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)∈</m:t>
                    </m:r>
                    <m:r>
                      <a:rPr lang="en-US" altLang="zh-CN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𝑬</m:t>
                    </m:r>
                  </m:oMath>
                </a14:m>
                <a:r>
                  <a:rPr lang="zh-CN" altLang="zh-CN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上结点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𝒖</m:t>
                    </m:r>
                  </m:oMath>
                </a14:m>
                <a:r>
                  <a:rPr lang="zh-CN" altLang="zh-CN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到结点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</m:oMath>
                </a14:m>
                <a:r>
                  <a:rPr lang="zh-CN" altLang="zh-CN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en-US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净</a:t>
                </a:r>
                <a:r>
                  <a:rPr lang="zh-CN" altLang="zh-CN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流</a:t>
                </a:r>
                <a:r>
                  <a:rPr lang="zh-CN" altLang="en-US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量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7381FDD5-D5AA-4C19-A399-16C1B3B048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988840"/>
                <a:ext cx="8640960" cy="3907095"/>
              </a:xfrm>
              <a:prstGeom prst="rect">
                <a:avLst/>
              </a:prstGeom>
              <a:blipFill>
                <a:blip r:embed="rId4"/>
                <a:stretch>
                  <a:fillRect l="-1058" r="-1058" b="-20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2676255"/>
      </p:ext>
    </p:extLst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5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829E2EAC-18FC-49D7-9C38-5BED99ABC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9113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6DCAAFAD-8B2E-4C0E-97D9-E036B1C58024}"/>
                  </a:ext>
                </a:extLst>
              </p:cNvPr>
              <p:cNvSpPr/>
              <p:nvPr/>
            </p:nvSpPr>
            <p:spPr>
              <a:xfrm>
                <a:off x="575556" y="1988840"/>
                <a:ext cx="8100900" cy="3896516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8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</a:t>
                </a:r>
                <a:r>
                  <a:rPr lang="zh-CN" altLang="zh-CN" sz="28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净流</a:t>
                </a:r>
                <a:r>
                  <a:rPr lang="zh-CN" altLang="en-US" sz="28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含义</a:t>
                </a:r>
                <a:r>
                  <a:rPr lang="zh-CN" altLang="zh-CN" sz="28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</a:t>
                </a:r>
                <a:r>
                  <a:rPr lang="zh-CN" altLang="zh-CN" sz="28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实际通过的流量矢量和</a:t>
                </a:r>
                <a:r>
                  <a:rPr lang="zh-CN" altLang="zh-CN" sz="28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，可</a:t>
                </a:r>
                <a:r>
                  <a:rPr lang="zh-CN" altLang="en-US" sz="28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以将其与</a:t>
                </a:r>
                <a:r>
                  <a:rPr lang="zh-CN" altLang="zh-CN" sz="28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合力</a:t>
                </a:r>
                <a:r>
                  <a:rPr lang="zh-CN" altLang="zh-CN" sz="28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的概念</a:t>
                </a:r>
                <a:r>
                  <a:rPr lang="zh-CN" altLang="en-US" sz="28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进行类比</a:t>
                </a:r>
                <a:r>
                  <a:rPr lang="zh-CN" altLang="zh-CN" sz="28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2800" b="1" kern="100" dirty="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8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</a:t>
                </a:r>
                <a:r>
                  <a:rPr lang="zh-CN" altLang="zh-CN" sz="28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例如，如果</a:t>
                </a:r>
                <a14:m>
                  <m:oMath xmlns:m="http://schemas.openxmlformats.org/officeDocument/2006/math">
                    <m:r>
                      <a:rPr lang="en-US" altLang="zh-CN" sz="2800" b="1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𝒖</m:t>
                    </m:r>
                  </m:oMath>
                </a14:m>
                <a:r>
                  <a:rPr lang="zh-CN" altLang="zh-CN" sz="28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800" b="1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</m:oMath>
                </a14:m>
                <a:r>
                  <a:rPr lang="zh-CN" altLang="zh-CN" sz="28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有</a:t>
                </a:r>
                <a:r>
                  <a:rPr lang="en-US" altLang="zh-CN" sz="28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6</a:t>
                </a:r>
                <a:r>
                  <a:rPr lang="zh-CN" altLang="zh-CN" sz="28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个单位的实际流，且</a:t>
                </a:r>
                <a14:m>
                  <m:oMath xmlns:m="http://schemas.openxmlformats.org/officeDocument/2006/math">
                    <m:r>
                      <a:rPr lang="en-US" altLang="zh-CN" sz="2800" b="1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</m:oMath>
                </a14:m>
                <a:r>
                  <a:rPr lang="zh-CN" altLang="zh-CN" sz="28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800" b="1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𝒖</m:t>
                    </m:r>
                  </m:oMath>
                </a14:m>
                <a:r>
                  <a:rPr lang="zh-CN" altLang="zh-CN" sz="28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有</a:t>
                </a:r>
                <a:r>
                  <a:rPr lang="en-US" altLang="zh-CN" sz="28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4</a:t>
                </a:r>
                <a:r>
                  <a:rPr lang="zh-CN" altLang="zh-CN" sz="28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个单位的实际流，</a:t>
                </a:r>
                <a:r>
                  <a:rPr lang="zh-CN" altLang="en-US" sz="28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则</a:t>
                </a:r>
                <a14:m>
                  <m:oMath xmlns:m="http://schemas.openxmlformats.org/officeDocument/2006/math">
                    <m:r>
                      <a:rPr lang="zh-CN" altLang="en-US" sz="2800" b="1" i="1" kern="1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有：</m:t>
                    </m:r>
                  </m:oMath>
                </a14:m>
                <a:endParaRPr lang="en-US" altLang="zh-CN" sz="2800" b="1" i="1" kern="100" dirty="0">
                  <a:solidFill>
                    <a:schemeClr val="tx1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kern="10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𝒇</m:t>
                      </m:r>
                      <m:d>
                        <m:dPr>
                          <m:begChr m:val="（"/>
                          <m:endChr m:val="）"/>
                          <m:ctrlPr>
                            <a:rPr lang="zh-CN" altLang="zh-CN" sz="2800" b="1" i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kern="10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𝒖</m:t>
                          </m:r>
                          <m:r>
                            <a:rPr lang="en-US" altLang="zh-CN" sz="2800" b="1" kern="10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2800" b="1" i="1" kern="10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𝒗</m:t>
                          </m:r>
                        </m:e>
                      </m:d>
                      <m:r>
                        <a:rPr lang="en-US" altLang="zh-CN" sz="2800" b="1" kern="10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800" b="1" i="0" kern="10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𝟐</m:t>
                      </m:r>
                      <m:r>
                        <a:rPr lang="zh-CN" altLang="zh-CN" sz="2800" b="1" kern="10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，</m:t>
                      </m:r>
                      <m:r>
                        <a:rPr lang="en-US" altLang="zh-CN" sz="2800" b="1" i="1" kern="10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𝒇</m:t>
                      </m:r>
                      <m:d>
                        <m:dPr>
                          <m:begChr m:val="（"/>
                          <m:endChr m:val="）"/>
                          <m:ctrlPr>
                            <a:rPr lang="zh-CN" altLang="zh-CN" sz="2800" b="1" i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kern="10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𝒗</m:t>
                          </m:r>
                          <m:r>
                            <a:rPr lang="en-US" altLang="zh-CN" sz="2800" b="1" kern="10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2800" b="1" i="1" kern="10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𝒖</m:t>
                          </m:r>
                        </m:e>
                      </m:d>
                      <m:r>
                        <a:rPr lang="en-US" altLang="zh-CN" sz="2800" b="1" kern="10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800" b="1" i="1" kern="10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800" b="1" i="0" kern="10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𝟐</m:t>
                      </m:r>
                    </m:oMath>
                  </m:oMathPara>
                </a14:m>
                <a:endParaRPr lang="en-US" altLang="zh-CN" sz="2800" b="1" kern="100" dirty="0">
                  <a:solidFill>
                    <a:srgbClr val="0000FF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en-US" sz="28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它们是</a:t>
                </a:r>
                <a:r>
                  <a:rPr lang="zh-CN" altLang="zh-CN" sz="28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互为相反数</a:t>
                </a:r>
                <a:r>
                  <a:rPr lang="zh-CN" altLang="zh-CN" sz="28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2800" b="1" kern="100" dirty="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6DCAAFAD-8B2E-4C0E-97D9-E036B1C580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556" y="1988840"/>
                <a:ext cx="8100900" cy="3896516"/>
              </a:xfrm>
              <a:prstGeom prst="rect">
                <a:avLst/>
              </a:prstGeom>
              <a:blipFill>
                <a:blip r:embed="rId3"/>
                <a:stretch>
                  <a:fillRect l="-1505" r="-1580" b="-28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2">
            <a:extLst>
              <a:ext uri="{FF2B5EF4-FFF2-40B4-BE49-F238E27FC236}">
                <a16:creationId xmlns:a16="http://schemas.microsoft.com/office/drawing/2014/main" id="{F7BF30B5-0663-4517-9356-471650D12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648" y="726341"/>
            <a:ext cx="6553026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流网络基本概念</a:t>
            </a:r>
            <a:endParaRPr lang="zh-CN" altLang="en-US" sz="4800" b="1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87700188"/>
      </p:ext>
    </p:extLst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5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829E2EAC-18FC-49D7-9C38-5BED99ABC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9113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F7BF30B5-0663-4517-9356-471650D12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648" y="637807"/>
            <a:ext cx="6553026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可行流的概念</a:t>
            </a:r>
            <a:endParaRPr lang="zh-CN" altLang="en-US" sz="4800" b="1" dirty="0"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95E8CD7E-BD67-4CEC-8680-04C30ECC30A6}"/>
                  </a:ext>
                </a:extLst>
              </p:cNvPr>
              <p:cNvSpPr/>
              <p:nvPr/>
            </p:nvSpPr>
            <p:spPr>
              <a:xfrm>
                <a:off x="107504" y="1892045"/>
                <a:ext cx="8784976" cy="4312271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spcAft>
                    <a:spcPts val="0"/>
                  </a:spcAft>
                </a:pPr>
                <a:r>
                  <a:rPr lang="en-US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满足以下三个性质的网络流</a:t>
                </a:r>
                <a:r>
                  <a:rPr lang="en-US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b="1" i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f 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称为</a:t>
                </a:r>
                <a:r>
                  <a:rPr lang="zh-CN" altLang="zh-CN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可行流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</a:t>
                </a:r>
              </a:p>
              <a:p>
                <a:pPr indent="266700" algn="just">
                  <a:spcAft>
                    <a:spcPts val="0"/>
                  </a:spcAft>
                </a:pPr>
                <a:r>
                  <a:rPr lang="en-US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zh-CN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容量限制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：对所有的</a:t>
                </a:r>
                <a14:m>
                  <m:oMath xmlns:m="http://schemas.openxmlformats.org/officeDocument/2006/math">
                    <m:r>
                      <a:rPr lang="en-US" altLang="zh-CN" b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𝒖</m:t>
                    </m:r>
                    <m:r>
                      <a:rPr lang="en-US" altLang="zh-CN" b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  <m:r>
                      <a:rPr lang="en-US" altLang="zh-CN" b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)∈</m:t>
                    </m:r>
                    <m:r>
                      <a:rPr lang="en-US" altLang="zh-CN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𝑬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均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有</a:t>
                </a:r>
                <a:r>
                  <a:rPr lang="zh-CN" altLang="en-US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:endParaRPr lang="en-US" altLang="zh-CN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kern="1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𝒇</m:t>
                      </m:r>
                      <m:d>
                        <m:dPr>
                          <m:begChr m:val="（"/>
                          <m:endChr m:val="）"/>
                          <m:ctrlPr>
                            <a:rPr lang="zh-CN" altLang="zh-CN" b="1" i="1" kern="1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kern="1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𝒖</m:t>
                          </m:r>
                          <m:r>
                            <a:rPr lang="en-US" altLang="zh-CN" b="1" kern="1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b="1" i="1" kern="1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𝒗</m:t>
                          </m:r>
                        </m:e>
                      </m:d>
                      <m:r>
                        <a:rPr lang="en-US" altLang="zh-CN" b="1" i="1" kern="1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US" altLang="zh-CN" b="1" i="1" kern="1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𝒄</m:t>
                      </m:r>
                      <m:r>
                        <a:rPr lang="en-US" altLang="zh-CN" b="1" kern="1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b="1" i="1" kern="1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𝒖</m:t>
                      </m:r>
                      <m:r>
                        <a:rPr lang="zh-CN" altLang="zh-CN" b="1" kern="1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，</m:t>
                      </m:r>
                      <m:r>
                        <a:rPr lang="en-US" altLang="zh-CN" b="1" i="1" kern="1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𝒗</m:t>
                      </m:r>
                      <m:r>
                        <a:rPr lang="en-US" altLang="zh-CN" b="1" kern="1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b="1" kern="100" dirty="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spcAft>
                    <a:spcPts val="0"/>
                  </a:spcAft>
                </a:pPr>
                <a:r>
                  <a:rPr lang="en-US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即一条边的流不能超过它的容量。</a:t>
                </a:r>
                <a:endParaRPr lang="en-US" altLang="zh-CN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spcAft>
                    <a:spcPts val="0"/>
                  </a:spcAft>
                </a:pPr>
                <a:r>
                  <a:rPr lang="en-US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zh-CN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斜对称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：对所有</a:t>
                </a:r>
                <a14:m>
                  <m:oMath xmlns:m="http://schemas.openxmlformats.org/officeDocument/2006/math">
                    <m:r>
                      <a:rPr lang="en-US" altLang="zh-CN" b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𝒖</m:t>
                    </m:r>
                    <m:r>
                      <a:rPr lang="en-US" altLang="zh-CN" b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  <m:r>
                      <a:rPr lang="en-US" altLang="zh-CN" b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)∈</m:t>
                    </m:r>
                    <m:r>
                      <a:rPr lang="en-US" altLang="zh-CN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𝑬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均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有</a:t>
                </a:r>
                <a:r>
                  <a:rPr lang="zh-CN" altLang="en-US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:endParaRPr lang="en-US" altLang="zh-CN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kern="1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𝒇</m:t>
                      </m:r>
                      <m:d>
                        <m:dPr>
                          <m:begChr m:val="（"/>
                          <m:endChr m:val="）"/>
                          <m:ctrlPr>
                            <a:rPr lang="zh-CN" altLang="zh-CN" b="1" i="1" kern="1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kern="1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𝒖</m:t>
                          </m:r>
                          <m:r>
                            <a:rPr lang="en-US" altLang="zh-CN" b="1" kern="1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b="1" i="1" kern="1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𝒗</m:t>
                          </m:r>
                        </m:e>
                      </m:d>
                      <m:r>
                        <a:rPr lang="en-US" altLang="zh-CN" b="1" i="1" kern="1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=−</m:t>
                      </m:r>
                      <m:r>
                        <a:rPr lang="en-US" altLang="zh-CN" b="1" i="1" kern="1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𝒇</m:t>
                      </m:r>
                      <m:r>
                        <a:rPr lang="en-US" altLang="zh-CN" b="1" kern="1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b="1" i="1" kern="1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𝒗</m:t>
                      </m:r>
                      <m:r>
                        <a:rPr lang="en-US" altLang="zh-CN" b="1" kern="1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b="1" i="1" kern="1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𝒖</m:t>
                      </m:r>
                      <m:r>
                        <a:rPr lang="en-US" altLang="zh-CN" b="1" kern="1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b="1" kern="100" dirty="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spcAft>
                    <a:spcPts val="0"/>
                  </a:spcAft>
                </a:pPr>
                <a:r>
                  <a:rPr lang="en-US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即点</a:t>
                </a:r>
                <a14:m>
                  <m:oMath xmlns:m="http://schemas.openxmlformats.org/officeDocument/2006/math">
                    <m:r>
                      <a:rPr lang="en-US" altLang="zh-CN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𝒖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的净流必须与点</a:t>
                </a:r>
                <a14:m>
                  <m:oMath xmlns:m="http://schemas.openxmlformats.org/officeDocument/2006/math">
                    <m:r>
                      <a:rPr lang="en-US" altLang="zh-CN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𝒖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的净流相反。</a:t>
                </a:r>
                <a:endParaRPr lang="en-US" altLang="zh-CN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spcAft>
                    <a:spcPts val="0"/>
                  </a:spcAft>
                </a:pPr>
                <a:r>
                  <a:rPr lang="en-US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zh-CN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流守恒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：对所有</a:t>
                </a:r>
                <a14:m>
                  <m:oMath xmlns:m="http://schemas.openxmlformats.org/officeDocument/2006/math">
                    <m:r>
                      <a:rPr lang="en-US" altLang="zh-CN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𝒖</m:t>
                    </m:r>
                    <m:r>
                      <a:rPr lang="en-US" altLang="zh-CN" b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CN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𝑽</m:t>
                    </m:r>
                    <m:r>
                      <a:rPr lang="en-US" altLang="zh-CN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b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{</m:t>
                    </m:r>
                    <m:r>
                      <a:rPr lang="en-US" altLang="zh-CN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𝒔</m:t>
                    </m:r>
                    <m:r>
                      <a:rPr lang="en-US" altLang="zh-CN" b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𝒕</m:t>
                    </m:r>
                    <m:r>
                      <a:rPr lang="en-US" altLang="zh-CN" b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均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有</a:t>
                </a:r>
                <a:r>
                  <a:rPr lang="zh-CN" altLang="en-US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:endParaRPr lang="en-US" altLang="zh-CN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zh-CN" altLang="zh-CN" b="1" i="1" kern="1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b="1" i="1" kern="1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𝒗</m:t>
                          </m:r>
                          <m:r>
                            <a:rPr lang="en-US" altLang="zh-CN" b="1" i="1" kern="1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a:rPr lang="en-US" altLang="zh-CN" b="1" i="1" kern="1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𝑽</m:t>
                          </m:r>
                        </m:sub>
                        <m:sup/>
                        <m:e>
                          <m:r>
                            <a:rPr lang="en-US" altLang="zh-CN" b="1" i="1" kern="1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𝒇</m:t>
                          </m:r>
                          <m:r>
                            <a:rPr lang="en-US" altLang="zh-CN" b="1" kern="1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b="1" i="1" kern="1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𝒖</m:t>
                          </m:r>
                          <m:r>
                            <a:rPr lang="en-US" altLang="zh-CN" b="1" kern="1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b="1" i="1" kern="1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𝒗</m:t>
                          </m:r>
                          <m:r>
                            <a:rPr lang="en-US" altLang="zh-CN" b="1" kern="1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b="1" i="1" kern="1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b="1" i="1" kern="1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𝟎</m:t>
                      </m:r>
                    </m:oMath>
                  </m:oMathPara>
                </a14:m>
                <a:endParaRPr lang="en-US" altLang="zh-CN" b="1" kern="100" dirty="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spcAft>
                    <a:spcPts val="0"/>
                  </a:spcAft>
                </a:pP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即除源结点</a:t>
                </a:r>
                <a14:m>
                  <m:oMath xmlns:m="http://schemas.openxmlformats.org/officeDocument/2006/math">
                    <m:r>
                      <a:rPr lang="en-US" altLang="zh-CN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𝒔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和汇结点</a:t>
                </a:r>
                <a14:m>
                  <m:oMath xmlns:m="http://schemas.openxmlformats.org/officeDocument/2006/math">
                    <m:r>
                      <a:rPr lang="en-US" altLang="zh-CN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𝒕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外，</a:t>
                </a:r>
                <a:r>
                  <a:rPr lang="zh-CN" altLang="zh-CN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其余每个结点的净流之和为</a:t>
                </a:r>
                <a:r>
                  <a:rPr lang="en-US" altLang="zh-CN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95E8CD7E-BD67-4CEC-8680-04C30ECC30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1892045"/>
                <a:ext cx="8784976" cy="4312271"/>
              </a:xfrm>
              <a:prstGeom prst="rect">
                <a:avLst/>
              </a:prstGeom>
              <a:blipFill>
                <a:blip r:embed="rId4"/>
                <a:stretch>
                  <a:fillRect t="-1695" b="-22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7113023"/>
      </p:ext>
    </p:extLst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5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829E2EAC-18FC-49D7-9C38-5BED99ABC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9113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F7BF30B5-0663-4517-9356-471650D12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648" y="637807"/>
            <a:ext cx="6553026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流网络与可行流</a:t>
            </a:r>
            <a:endParaRPr lang="zh-CN" altLang="en-US" sz="4800" b="1" dirty="0">
              <a:ea typeface="宋体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4C52070-40AD-48FA-AD1D-AFEA3DE363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648" y="2060848"/>
            <a:ext cx="6951489" cy="388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102401"/>
      </p:ext>
    </p:extLst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5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829E2EAC-18FC-49D7-9C38-5BED99ABC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9113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F7BF30B5-0663-4517-9356-471650D12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87" y="836712"/>
            <a:ext cx="6553026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流网络边的类型</a:t>
            </a:r>
            <a:endParaRPr lang="zh-CN" altLang="en-US" sz="4800" b="1" dirty="0"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BB91EEFE-EE42-4370-8A14-02F5E223DB09}"/>
                  </a:ext>
                </a:extLst>
              </p:cNvPr>
              <p:cNvSpPr/>
              <p:nvPr/>
            </p:nvSpPr>
            <p:spPr>
              <a:xfrm>
                <a:off x="611560" y="2060848"/>
                <a:ext cx="7794717" cy="4207177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根据容量与流的大小关系</a:t>
                </a:r>
                <a:r>
                  <a:rPr lang="zh-CN" altLang="en-US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对边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进行分类：</a:t>
                </a:r>
              </a:p>
              <a:p>
                <a:pPr indent="333375"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）满足</a:t>
                </a:r>
                <a14:m>
                  <m:oMath xmlns:m="http://schemas.openxmlformats.org/officeDocument/2006/math">
                    <m:r>
                      <a:rPr lang="en-US" altLang="zh-CN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𝒇</m:t>
                    </m:r>
                    <m:d>
                      <m:dPr>
                        <m:begChr m:val="（"/>
                        <m:endChr m:val="）"/>
                        <m:ctrlPr>
                          <a:rPr lang="zh-CN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𝒖</m:t>
                        </m:r>
                        <m:r>
                          <a:rPr lang="en-US" altLang="zh-CN" b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</m:d>
                    <m:r>
                      <a:rPr lang="en-US" altLang="zh-CN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𝒄</m:t>
                    </m:r>
                    <m:r>
                      <a:rPr lang="en-US" altLang="zh-CN" b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𝒖</m:t>
                    </m:r>
                    <m:r>
                      <a:rPr lang="en-US" altLang="zh-CN" b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  <m:r>
                      <a:rPr lang="en-US" altLang="zh-CN" b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的边称为</a:t>
                </a:r>
                <a:r>
                  <a:rPr lang="zh-CN" altLang="zh-CN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饱和边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，如边</a:t>
                </a:r>
                <a14:m>
                  <m:oMath xmlns:m="http://schemas.openxmlformats.org/officeDocument/2006/math">
                    <m:r>
                      <a:rPr lang="en-US" altLang="zh-CN" b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altLang="zh-CN" b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US" altLang="zh-CN" b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b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(</m:t>
                    </m:r>
                    <m:r>
                      <a:rPr lang="en-US" altLang="zh-CN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US" altLang="zh-CN" b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𝟑</m:t>
                    </m:r>
                    <m:r>
                      <a:rPr lang="en-US" altLang="zh-CN" b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</a:p>
              <a:p>
                <a:pPr indent="333375"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）满足</a:t>
                </a:r>
                <a14:m>
                  <m:oMath xmlns:m="http://schemas.openxmlformats.org/officeDocument/2006/math">
                    <m:r>
                      <a:rPr lang="en-US" altLang="zh-CN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𝒇</m:t>
                    </m:r>
                    <m:d>
                      <m:dPr>
                        <m:begChr m:val="（"/>
                        <m:endChr m:val="）"/>
                        <m:ctrlPr>
                          <a:rPr lang="zh-CN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𝒖</m:t>
                        </m:r>
                        <m:r>
                          <a:rPr lang="en-US" altLang="zh-CN" b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</m:d>
                    <m:r>
                      <a:rPr lang="en-US" altLang="zh-CN" b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zh-CN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𝒄</m:t>
                    </m:r>
                    <m:r>
                      <a:rPr lang="en-US" altLang="zh-CN" b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𝒖</m:t>
                    </m:r>
                    <m:r>
                      <a:rPr lang="en-US" altLang="zh-CN" b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  <m:r>
                      <a:rPr lang="en-US" altLang="zh-CN" b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的边称为</a:t>
                </a:r>
                <a:r>
                  <a:rPr lang="zh-CN" altLang="zh-CN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非饱和边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，如边</a:t>
                </a:r>
                <a14:m>
                  <m:oMath xmlns:m="http://schemas.openxmlformats.org/officeDocument/2006/math">
                    <m:r>
                      <a:rPr lang="en-US" altLang="zh-CN" b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US" altLang="zh-CN" b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𝟒</m:t>
                    </m:r>
                    <m:r>
                      <a:rPr lang="en-US" altLang="zh-CN" b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</a:p>
              <a:p>
                <a:pPr indent="333375"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）满足</a:t>
                </a:r>
                <a14:m>
                  <m:oMath xmlns:m="http://schemas.openxmlformats.org/officeDocument/2006/math">
                    <m:r>
                      <a:rPr lang="en-US" altLang="zh-CN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𝒇</m:t>
                    </m:r>
                    <m:d>
                      <m:dPr>
                        <m:begChr m:val="（"/>
                        <m:endChr m:val="）"/>
                        <m:ctrlPr>
                          <a:rPr lang="zh-CN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𝒖</m:t>
                        </m:r>
                        <m:r>
                          <a:rPr lang="en-US" altLang="zh-CN" b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</m:d>
                    <m:r>
                      <a:rPr lang="en-US" altLang="zh-CN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的边称为</a:t>
                </a:r>
                <a:r>
                  <a:rPr lang="zh-CN" altLang="zh-CN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零流边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，如边</a:t>
                </a:r>
                <a14:m>
                  <m:oMath xmlns:m="http://schemas.openxmlformats.org/officeDocument/2006/math">
                    <m:r>
                      <a:rPr lang="en-US" altLang="zh-CN" b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𝟑</m:t>
                    </m:r>
                    <m:r>
                      <a:rPr lang="en-US" altLang="zh-CN" b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𝟒</m:t>
                    </m:r>
                    <m:r>
                      <a:rPr lang="en-US" altLang="zh-CN" b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；满足</a:t>
                </a:r>
                <a14:m>
                  <m:oMath xmlns:m="http://schemas.openxmlformats.org/officeDocument/2006/math">
                    <m:r>
                      <a:rPr lang="en-US" altLang="zh-CN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𝒇</m:t>
                    </m:r>
                    <m:d>
                      <m:dPr>
                        <m:begChr m:val="（"/>
                        <m:endChr m:val="）"/>
                        <m:ctrlPr>
                          <a:rPr lang="zh-CN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𝒖</m:t>
                        </m:r>
                        <m:r>
                          <a:rPr lang="en-US" altLang="zh-CN" b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</m:d>
                    <m:r>
                      <a:rPr lang="en-US" altLang="zh-CN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altLang="zh-CN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的边称为</a:t>
                </a:r>
                <a:r>
                  <a:rPr lang="zh-CN" altLang="zh-CN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非零流边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，如边</a:t>
                </a:r>
                <a14:m>
                  <m:oMath xmlns:m="http://schemas.openxmlformats.org/officeDocument/2006/math">
                    <m:r>
                      <a:rPr lang="en-US" altLang="zh-CN" b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𝟓</m:t>
                    </m:r>
                    <m:r>
                      <a:rPr lang="en-US" altLang="zh-CN" b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𝟒</m:t>
                    </m:r>
                    <m:r>
                      <a:rPr lang="en-US" altLang="zh-CN" b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</a:p>
              <a:p>
                <a:pPr indent="333375"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4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）既不是零流边也不是饱和边的边，称为</a:t>
                </a:r>
                <a:r>
                  <a:rPr lang="zh-CN" altLang="zh-CN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弱流边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，如边</a:t>
                </a:r>
                <a14:m>
                  <m:oMath xmlns:m="http://schemas.openxmlformats.org/officeDocument/2006/math">
                    <m:r>
                      <a:rPr lang="en-US" altLang="zh-CN" b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𝟓</m:t>
                    </m:r>
                    <m:r>
                      <a:rPr lang="en-US" altLang="zh-CN" b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𝟔</m:t>
                    </m:r>
                    <m:r>
                      <a:rPr lang="en-US" altLang="zh-CN" b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BB91EEFE-EE42-4370-8A14-02F5E223D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2060848"/>
                <a:ext cx="7794717" cy="4207177"/>
              </a:xfrm>
              <a:prstGeom prst="rect">
                <a:avLst/>
              </a:prstGeom>
              <a:blipFill>
                <a:blip r:embed="rId4"/>
                <a:stretch>
                  <a:fillRect l="-1173" t="-580" r="-1173" b="-17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8086437"/>
      </p:ext>
    </p:extLst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日期占位符 3">
            <a:extLst>
              <a:ext uri="{FF2B5EF4-FFF2-40B4-BE49-F238E27FC236}">
                <a16:creationId xmlns:a16="http://schemas.microsoft.com/office/drawing/2014/main" id="{4423CDE6-4D1A-4FD8-AF03-0153C6993AD1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BE48E2A-76F3-4D90-BE17-C5B9CCB720DF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8547" name="页脚占位符 4">
            <a:extLst>
              <a:ext uri="{FF2B5EF4-FFF2-40B4-BE49-F238E27FC236}">
                <a16:creationId xmlns:a16="http://schemas.microsoft.com/office/drawing/2014/main" id="{E4A98D63-1608-464A-A779-40A96FA419BE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108548" name="灯片编号占位符 5">
            <a:extLst>
              <a:ext uri="{FF2B5EF4-FFF2-40B4-BE49-F238E27FC236}">
                <a16:creationId xmlns:a16="http://schemas.microsoft.com/office/drawing/2014/main" id="{DB48124E-982B-47B2-B858-4262E9FA5C70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97E10FA0-2C19-4D69-BE98-2B960E0DD000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8549" name="Text Box 2">
            <a:extLst>
              <a:ext uri="{FF2B5EF4-FFF2-40B4-BE49-F238E27FC236}">
                <a16:creationId xmlns:a16="http://schemas.microsoft.com/office/drawing/2014/main" id="{EDA75375-1B44-4870-8448-4C38DAB67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836613"/>
            <a:ext cx="7129463" cy="83026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网络流图及其优化</a:t>
            </a:r>
          </a:p>
        </p:txBody>
      </p:sp>
      <p:sp>
        <p:nvSpPr>
          <p:cNvPr id="108550" name="Rectangle 3">
            <a:extLst>
              <a:ext uri="{FF2B5EF4-FFF2-40B4-BE49-F238E27FC236}">
                <a16:creationId xmlns:a16="http://schemas.microsoft.com/office/drawing/2014/main" id="{46F277D4-6C27-452B-9B55-E887C8339C9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339752" y="2420888"/>
            <a:ext cx="4535487" cy="3025105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4"/>
            </a:pPr>
            <a:r>
              <a:rPr lang="zh-CN" altLang="en-US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流网络基本概念</a:t>
            </a:r>
            <a:endParaRPr lang="en-US" altLang="zh-CN" sz="3600" b="1" dirty="0"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J"/>
            </a:pPr>
            <a:r>
              <a:rPr lang="zh-CN" altLang="en-US" sz="3600" b="1" dirty="0"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最大流与最小割</a:t>
            </a:r>
            <a:endParaRPr lang="en-US" altLang="zh-CN" sz="3600" b="1" dirty="0">
              <a:solidFill>
                <a:srgbClr val="0000FF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4"/>
            </a:pPr>
            <a:r>
              <a:rPr lang="zh-CN" altLang="en-US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最大流求解算法</a:t>
            </a:r>
          </a:p>
        </p:txBody>
      </p:sp>
      <p:pic>
        <p:nvPicPr>
          <p:cNvPr id="108551" name="Picture 7" descr="C:\Program Files\Microsoft Office\MEDIA\CAGCAT10\j0292982.wmf">
            <a:extLst>
              <a:ext uri="{FF2B5EF4-FFF2-40B4-BE49-F238E27FC236}">
                <a16:creationId xmlns:a16="http://schemas.microsoft.com/office/drawing/2014/main" id="{DB77FC21-083D-4812-8C0C-DE7303D132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575" y="4738688"/>
            <a:ext cx="137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93366686"/>
      </p:ext>
    </p:extLst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5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829E2EAC-18FC-49D7-9C38-5BED99ABC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9113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F7BF30B5-0663-4517-9356-471650D12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648" y="764704"/>
            <a:ext cx="6553026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最大流问题</a:t>
            </a:r>
            <a:endParaRPr lang="zh-CN" altLang="en-US" sz="5400" b="1" dirty="0"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771A9948-B84D-45F1-99F0-A77DB80D9A7B}"/>
                  </a:ext>
                </a:extLst>
              </p:cNvPr>
              <p:cNvSpPr/>
              <p:nvPr/>
            </p:nvSpPr>
            <p:spPr>
              <a:xfrm>
                <a:off x="287673" y="1916832"/>
                <a:ext cx="8784976" cy="1706493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ts val="3200"/>
                  </a:lnSpc>
                  <a:spcAft>
                    <a:spcPts val="0"/>
                  </a:spcAft>
                </a:pPr>
                <a:r>
                  <a:rPr lang="en-US" altLang="zh-CN" b="1" kern="100" dirty="0"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</a:t>
                </a:r>
                <a:r>
                  <a:rPr lang="zh-CN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如果把</a:t>
                </a:r>
                <a:r>
                  <a:rPr lang="zh-CN" altLang="en-US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下</a:t>
                </a:r>
                <a:r>
                  <a:rPr lang="zh-CN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图看作一个输油管网，结点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zh-CN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表示为发送点，结点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𝟔</m:t>
                    </m:r>
                  </m:oMath>
                </a14:m>
                <a:r>
                  <a:rPr lang="zh-CN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表示为接收点，其它点表示中转站，各边的权数表示该段管道的最大运输油量。那么如何安排输油线路才能使从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zh-CN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𝟔</m:t>
                    </m:r>
                  </m:oMath>
                </a14:m>
                <a:r>
                  <a:rPr lang="zh-CN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的总运输量最大。这类问题就是</a:t>
                </a:r>
                <a:r>
                  <a:rPr lang="zh-CN" altLang="zh-CN" b="1" kern="100" dirty="0">
                    <a:solidFill>
                      <a:schemeClr val="accent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最大流问题</a:t>
                </a:r>
                <a:r>
                  <a:rPr lang="zh-CN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zh-CN" altLang="zh-CN" b="1" kern="100" dirty="0"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771A9948-B84D-45F1-99F0-A77DB80D9A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673" y="1916832"/>
                <a:ext cx="8784976" cy="1706493"/>
              </a:xfrm>
              <a:prstGeom prst="rect">
                <a:avLst/>
              </a:prstGeom>
              <a:blipFill>
                <a:blip r:embed="rId4"/>
                <a:stretch>
                  <a:fillRect l="-1041" t="-3571" r="-1110" b="-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CEEBC45D-89BE-4340-8644-B0C8AC4CCF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3768" y="3699869"/>
            <a:ext cx="4556157" cy="2549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407357"/>
      </p:ext>
    </p:extLst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5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829E2EAC-18FC-49D7-9C38-5BED99ABC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9113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F7BF30B5-0663-4517-9356-471650D12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648" y="764704"/>
            <a:ext cx="6553026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最大流问题的定义</a:t>
            </a:r>
            <a:endParaRPr lang="zh-CN" altLang="en-US" sz="4800" b="1" dirty="0"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4AC77C71-5AB3-4943-AAB5-E72E96FAD534}"/>
                  </a:ext>
                </a:extLst>
              </p:cNvPr>
              <p:cNvSpPr/>
              <p:nvPr/>
            </p:nvSpPr>
            <p:spPr>
              <a:xfrm>
                <a:off x="647713" y="1988840"/>
                <a:ext cx="8064896" cy="1898853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indent="266700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【定义】设有向图</a:t>
                </a:r>
                <a14:m>
                  <m:oMath xmlns:m="http://schemas.openxmlformats.org/officeDocument/2006/math">
                    <m:r>
                      <a:rPr lang="en-US" altLang="zh-CN" b="1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𝑮</m:t>
                    </m:r>
                    <m:r>
                      <a:rPr lang="en-US" altLang="zh-CN" b="1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</m:d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是任意给定的一个网络流图，若</a:t>
                </a:r>
                <a:r>
                  <a:rPr lang="en-US" altLang="zh-CN" b="1" i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f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</a:t>
                </a:r>
                <a:r>
                  <a:rPr lang="en-US" altLang="zh-CN" b="1" i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G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中流量最大的的可行流，则称该可行流</a:t>
                </a:r>
                <a:r>
                  <a:rPr lang="en-US" altLang="zh-CN" b="1" i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f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</a:t>
                </a:r>
                <a:r>
                  <a:rPr lang="en-US" altLang="zh-CN" b="1" i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G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zh-CN" b="1" kern="10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最大流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，构造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网络流图</a:t>
                </a:r>
                <a:r>
                  <a:rPr lang="en-US" altLang="zh-CN" b="1" i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G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中最大流的问题，就称为网络流图的</a:t>
                </a:r>
                <a:r>
                  <a:rPr lang="zh-CN" altLang="zh-CN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最大流问题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4AC77C71-5AB3-4943-AAB5-E72E96FAD5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13" y="1988840"/>
                <a:ext cx="8064896" cy="1898853"/>
              </a:xfrm>
              <a:prstGeom prst="rect">
                <a:avLst/>
              </a:prstGeom>
              <a:blipFill>
                <a:blip r:embed="rId4"/>
                <a:stretch>
                  <a:fillRect l="-1134" t="-1282" r="-1209" b="-48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8D7906BC-23E5-4637-BA6E-14A328ADED96}"/>
              </a:ext>
            </a:extLst>
          </p:cNvPr>
          <p:cNvSpPr/>
          <p:nvPr/>
        </p:nvSpPr>
        <p:spPr>
          <a:xfrm>
            <a:off x="575705" y="4236014"/>
            <a:ext cx="8136904" cy="1875513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altLang="zh-CN" b="1" dirty="0">
                <a:solidFill>
                  <a:srgbClr val="000000"/>
                </a:solidFill>
                <a:latin typeface="Helvetica" panose="020B0604020202020204" pitchFamily="34" charset="0"/>
                <a:ea typeface="宋体" panose="02010600030101010101" pitchFamily="2" charset="-122"/>
                <a:cs typeface="Helvetica" panose="020B0604020202020204" pitchFamily="34" charset="0"/>
              </a:rPr>
              <a:t>        </a:t>
            </a:r>
            <a:r>
              <a:rPr lang="zh-CN" altLang="zh-CN" b="1" dirty="0">
                <a:solidFill>
                  <a:srgbClr val="000000"/>
                </a:solidFill>
                <a:latin typeface="Helvetica" panose="020B0604020202020204" pitchFamily="34" charset="0"/>
                <a:ea typeface="宋体" panose="02010600030101010101" pitchFamily="2" charset="-122"/>
                <a:cs typeface="Helvetica" panose="020B0604020202020204" pitchFamily="34" charset="0"/>
              </a:rPr>
              <a:t>最大流问题是网络优化中的一个典型的问题，简单地说，就是在满足容量约束的前提下将尽可能多的流从源结点流向汇结点。因此，</a:t>
            </a:r>
            <a:r>
              <a:rPr lang="zh-CN" altLang="zh-CN" b="1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最大流问题就是求流网络</a:t>
            </a:r>
            <a:r>
              <a:rPr lang="en-US" altLang="zh-CN" b="1" i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zh-CN" b="1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中使其流量</a:t>
            </a:r>
            <a:r>
              <a:rPr lang="en-US" altLang="zh-CN" b="1" i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zh-CN" altLang="zh-CN" b="1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达到最大的一个可行流。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2434279"/>
      </p:ext>
    </p:extLst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5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829E2EAC-18FC-49D7-9C38-5BED99ABC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9113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2">
            <a:extLst>
              <a:ext uri="{FF2B5EF4-FFF2-40B4-BE49-F238E27FC236}">
                <a16:creationId xmlns:a16="http://schemas.microsoft.com/office/drawing/2014/main" id="{FF792E1E-79E9-4889-AD11-B761C078BE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714375"/>
            <a:ext cx="63373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残留网络的概念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4DD40717-46E8-4712-B998-03EC484D1C76}"/>
                  </a:ext>
                </a:extLst>
              </p:cNvPr>
              <p:cNvSpPr/>
              <p:nvPr/>
            </p:nvSpPr>
            <p:spPr>
              <a:xfrm>
                <a:off x="400936" y="3501008"/>
                <a:ext cx="8298922" cy="238501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【定义】设有向图</a:t>
                </a:r>
                <a14:m>
                  <m:oMath xmlns:m="http://schemas.openxmlformats.org/officeDocument/2006/math">
                    <m:r>
                      <a:rPr lang="en-US" altLang="zh-CN" b="1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𝑮</m:t>
                    </m:r>
                    <m:r>
                      <a:rPr lang="en-US" altLang="zh-CN" b="1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</m:d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是任意网络流图，</a:t>
                </a:r>
                <a14:m>
                  <m:oMath xmlns:m="http://schemas.openxmlformats.org/officeDocument/2006/math">
                    <m:r>
                      <a:rPr lang="zh-CN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𝒇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的一个流，</a:t>
                </a:r>
                <a:r>
                  <a:rPr lang="zh-CN" altLang="en-US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图中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边</a:t>
                </a:r>
                <a14:m>
                  <m:oMath xmlns:m="http://schemas.openxmlformats.org/officeDocument/2006/math">
                    <m:r>
                      <a:rPr lang="en-US" altLang="zh-CN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𝒖</m:t>
                    </m:r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  <m:r>
                      <a:rPr lang="en-US" altLang="zh-CN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在不超过容量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𝒄</m:t>
                    </m:r>
                    <m:r>
                      <a:rPr lang="en-US" altLang="zh-CN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𝒖</m:t>
                    </m:r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  <m:r>
                      <a:rPr lang="en-US" altLang="zh-CN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条件下，从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𝒖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可压入的额外流量，称为</a:t>
                </a:r>
                <a:r>
                  <a:rPr lang="zh-CN" altLang="en-US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该边</a:t>
                </a:r>
                <a14:m>
                  <m:oMath xmlns:m="http://schemas.openxmlformats.org/officeDocument/2006/math">
                    <m:r>
                      <a:rPr lang="en-US" altLang="zh-CN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𝒖</m:t>
                    </m:r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  <m:r>
                      <a:rPr lang="en-US" altLang="zh-CN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zh-CN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残留容量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由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</a:t>
                </a:r>
                <a:r>
                  <a:rPr lang="zh-CN" altLang="zh-CN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所有边残留容量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构成的</a:t>
                </a:r>
                <a:r>
                  <a:rPr lang="zh-CN" altLang="en-US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赋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权有向图称为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zh-CN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残留网络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1" i="1" kern="100" smtClean="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𝒇</m:t>
                        </m:r>
                      </m:sub>
                    </m:sSub>
                    <m:r>
                      <a:rPr lang="en-US" altLang="zh-CN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b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b="1" i="1" kern="100">
                                <a:solidFill>
                                  <a:srgbClr val="FFFF6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kern="100">
                                <a:solidFill>
                                  <a:srgbClr val="FFFF66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altLang="zh-CN" b="1" i="1" kern="100">
                                <a:solidFill>
                                  <a:srgbClr val="FFFF66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𝒇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4DD40717-46E8-4712-B998-03EC484D1C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936" y="3501008"/>
                <a:ext cx="8298922" cy="2385012"/>
              </a:xfrm>
              <a:prstGeom prst="rect">
                <a:avLst/>
              </a:prstGeom>
              <a:blipFill>
                <a:blip r:embed="rId4"/>
                <a:stretch>
                  <a:fillRect l="-1176" t="-1020" r="-1102" b="-25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A7A24323-8ADB-4EC8-9873-7FF5471745C0}"/>
              </a:ext>
            </a:extLst>
          </p:cNvPr>
          <p:cNvSpPr/>
          <p:nvPr/>
        </p:nvSpPr>
        <p:spPr>
          <a:xfrm>
            <a:off x="400936" y="1916832"/>
            <a:ext cx="8491544" cy="1137106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zh-CN" altLang="zh-CN" b="1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为实现对最大流问题的求解，必须对网络流图中的增流空间进行合理的度量，</a:t>
            </a:r>
            <a:r>
              <a:rPr lang="zh-CN" altLang="en-US" b="1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有此产生如下</a:t>
            </a:r>
            <a:r>
              <a:rPr lang="zh-CN" altLang="zh-CN" b="1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残留网络模型</a:t>
            </a:r>
            <a:r>
              <a:rPr lang="zh-CN" altLang="en-US" b="1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的概念。</a:t>
            </a:r>
            <a:r>
              <a:rPr lang="en-US" altLang="zh-CN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endParaRPr lang="zh-CN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2634918"/>
      </p:ext>
    </p:extLst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5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829E2EAC-18FC-49D7-9C38-5BED99ABC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682042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2">
            <a:extLst>
              <a:ext uri="{FF2B5EF4-FFF2-40B4-BE49-F238E27FC236}">
                <a16:creationId xmlns:a16="http://schemas.microsoft.com/office/drawing/2014/main" id="{FF792E1E-79E9-4889-AD11-B761C078BE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656" y="764704"/>
            <a:ext cx="63373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残留网络示例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B94CCFB-BA42-4FE1-B12D-81BB14AA4F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802" y="2245753"/>
            <a:ext cx="8583096" cy="867902"/>
          </a:xfrm>
          <a:prstGeom prst="rect">
            <a:avLst/>
          </a:prstGeom>
        </p:spPr>
      </p:pic>
      <p:pic>
        <p:nvPicPr>
          <p:cNvPr id="6" name="图片 2">
            <a:extLst>
              <a:ext uri="{FF2B5EF4-FFF2-40B4-BE49-F238E27FC236}">
                <a16:creationId xmlns:a16="http://schemas.microsoft.com/office/drawing/2014/main" id="{571E9D33-AA0A-4DD6-8B0E-3C67B223E0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1" y="3573016"/>
            <a:ext cx="8558370" cy="2231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5112179"/>
      </p:ext>
    </p:extLst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5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829E2EAC-18FC-49D7-9C38-5BED99ABC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52072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2">
            <a:extLst>
              <a:ext uri="{FF2B5EF4-FFF2-40B4-BE49-F238E27FC236}">
                <a16:creationId xmlns:a16="http://schemas.microsoft.com/office/drawing/2014/main" id="{FF792E1E-79E9-4889-AD11-B761C078BE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664" y="620688"/>
            <a:ext cx="63373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残留网络的性质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F3C54B40-5E64-4377-A748-E737ED2A034C}"/>
                  </a:ext>
                </a:extLst>
              </p:cNvPr>
              <p:cNvSpPr/>
              <p:nvPr/>
            </p:nvSpPr>
            <p:spPr>
              <a:xfrm>
                <a:off x="179512" y="1660426"/>
                <a:ext cx="8712968" cy="4645502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:r>
                  <a:rPr lang="zh-CN" altLang="en-US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en-US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zh-CN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𝒇</m:t>
                        </m:r>
                      </m:sub>
                    </m:sSub>
                    <m:r>
                      <a:rPr lang="en-US" altLang="zh-CN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𝒖</m:t>
                    </m:r>
                    <m:r>
                      <a:rPr lang="en-US" altLang="zh-CN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  <m:r>
                      <a:rPr lang="en-US" altLang="zh-CN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为残留网络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𝒇</m:t>
                        </m:r>
                      </m:sub>
                    </m:sSub>
                  </m:oMath>
                </a14:m>
                <a:r>
                  <a:rPr lang="zh-CN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中边</a:t>
                </a:r>
                <a14:m>
                  <m:oMath xmlns:m="http://schemas.openxmlformats.org/officeDocument/2006/math">
                    <m:r>
                      <a:rPr lang="en-US" altLang="zh-CN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𝒖</m:t>
                    </m:r>
                    <m:r>
                      <a:rPr lang="en-US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  <m:r>
                      <a:rPr lang="en-US" altLang="zh-CN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的残留容量，且边</a:t>
                </a:r>
                <a14:m>
                  <m:oMath xmlns:m="http://schemas.openxmlformats.org/officeDocument/2006/math">
                    <m:r>
                      <a:rPr lang="en-US" altLang="zh-CN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𝒖</m:t>
                    </m:r>
                    <m:r>
                      <a:rPr lang="en-US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  <m:r>
                      <a:rPr lang="en-US" altLang="zh-CN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r>
                      <a:rPr lang="zh-CN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𝑬</m:t>
                    </m:r>
                  </m:oMath>
                </a14:m>
                <a:r>
                  <a:rPr lang="zh-CN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或边</a:t>
                </a:r>
                <a14:m>
                  <m:oMath xmlns:m="http://schemas.openxmlformats.org/officeDocument/2006/math">
                    <m:r>
                      <a:rPr lang="en-US" altLang="zh-CN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  <m:r>
                      <a:rPr lang="en-US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𝒖</m:t>
                    </m:r>
                    <m:r>
                      <a:rPr lang="en-US" altLang="zh-CN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r>
                      <a:rPr lang="zh-CN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𝑬</m:t>
                    </m:r>
                  </m:oMath>
                </a14:m>
                <a:r>
                  <a:rPr lang="zh-CN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，则</a:t>
                </a:r>
                <a:r>
                  <a:rPr lang="zh-CN" altLang="en-US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有</a:t>
                </a:r>
                <a14:m>
                  <m:oMath xmlns:m="http://schemas.openxmlformats.org/officeDocument/2006/math">
                    <m:r>
                      <a:rPr lang="zh-CN" altLang="en-US" b="1" i="1" kern="1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：</m:t>
                    </m:r>
                  </m:oMath>
                </a14:m>
                <a:endParaRPr lang="en-US" altLang="zh-CN" b="1" i="1" kern="100" dirty="0">
                  <a:solidFill>
                    <a:schemeClr val="tx1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ctr">
                  <a:lnSpc>
                    <a:spcPts val="36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altLang="zh-CN" b="1" kern="1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𝒖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  <m:r>
                      <a:rPr lang="en-US" altLang="zh-CN" b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r>
                      <a:rPr lang="zh-CN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∈</m:t>
                    </m:r>
                    <m:sSub>
                      <m:sSubPr>
                        <m:ctrlPr>
                          <a:rPr lang="zh-CN" altLang="zh-CN" b="1" i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  <m:sub>
                        <m:r>
                          <a:rPr lang="en-US" altLang="zh-CN" b="1" i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𝒇</m:t>
                        </m:r>
                      </m:sub>
                    </m:sSub>
                  </m:oMath>
                </a14:m>
                <a:r>
                  <a:rPr lang="zh-CN" altLang="zh-CN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1" i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zh-CN" b="1" i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𝒇</m:t>
                        </m:r>
                      </m:sub>
                    </m:sSub>
                    <m:d>
                      <m:dPr>
                        <m:begChr m:val="（"/>
                        <m:endChr m:val="）"/>
                        <m:ctrlPr>
                          <a:rPr lang="zh-CN" altLang="zh-CN" b="1" i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𝒖</m:t>
                        </m:r>
                        <m:r>
                          <a:rPr lang="en-US" altLang="zh-CN" b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b="1" i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</m:d>
                    <m:r>
                      <a:rPr lang="en-US" altLang="zh-CN" b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𝒄</m:t>
                    </m:r>
                    <m:d>
                      <m:dPr>
                        <m:ctrlPr>
                          <a:rPr lang="zh-CN" altLang="zh-CN" b="1" i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𝒖</m:t>
                        </m:r>
                        <m:r>
                          <a:rPr lang="en-US" altLang="zh-CN" b="1" i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b="1" i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</m:d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MS Gothic" panose="020B0609070205080204" pitchFamily="49" charset="-128"/>
                      </a:rPr>
                      <m:t>−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𝒇</m:t>
                    </m:r>
                    <m:d>
                      <m:dPr>
                        <m:begChr m:val="（"/>
                        <m:endChr m:val="）"/>
                        <m:ctrlPr>
                          <a:rPr lang="zh-CN" altLang="zh-CN" b="1" i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𝒖</m:t>
                        </m:r>
                        <m:r>
                          <a:rPr lang="en-US" altLang="zh-CN" b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b="1" i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</m:d>
                  </m:oMath>
                </a14:m>
                <a:endParaRPr lang="en-US" altLang="zh-CN" b="1" kern="100" dirty="0">
                  <a:solidFill>
                    <a:srgbClr val="0000FF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例如，若设</a:t>
                </a:r>
                <a14:m>
                  <m:oMath xmlns:m="http://schemas.openxmlformats.org/officeDocument/2006/math">
                    <m:r>
                      <a:rPr lang="en-US" altLang="zh-CN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𝒖</m:t>
                    </m:r>
                    <m:r>
                      <a:rPr lang="en-US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  <m:r>
                      <a:rPr lang="en-US" altLang="zh-CN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当前流量为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𝟒</m:t>
                        </m:r>
                        <m:r>
                          <a:rPr lang="en-US" altLang="zh-CN" b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𝟑</m:t>
                        </m:r>
                      </m:e>
                    </m:d>
                  </m:oMath>
                </a14:m>
                <a:r>
                  <a:rPr lang="zh-CN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，此时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𝒄</m:t>
                    </m:r>
                    <m:d>
                      <m:dPr>
                        <m:ctrlPr>
                          <a:rPr lang="zh-CN" altLang="zh-CN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𝒖</m:t>
                        </m:r>
                        <m:r>
                          <a:rPr lang="en-US" altLang="zh-CN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</m:d>
                    <m:r>
                      <a:rPr lang="en-US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𝟒</m:t>
                    </m:r>
                  </m:oMath>
                </a14:m>
                <a:r>
                  <a:rPr lang="zh-CN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𝒇</m:t>
                    </m:r>
                    <m:r>
                      <a:rPr lang="en-US" altLang="zh-CN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𝒖</m:t>
                    </m:r>
                    <m:r>
                      <a:rPr lang="en-US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  <m:r>
                      <a:rPr lang="zh-CN" altLang="zh-CN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）</m:t>
                    </m:r>
                    <m:r>
                      <a:rPr lang="en-US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𝟑</m:t>
                    </m:r>
                  </m:oMath>
                </a14:m>
                <a:r>
                  <a:rPr lang="zh-CN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，则有：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zh-CN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𝒇</m:t>
                        </m:r>
                      </m:sub>
                    </m:sSub>
                    <m:d>
                      <m:dPr>
                        <m:begChr m:val="（"/>
                        <m:endChr m:val="）"/>
                        <m:ctrlPr>
                          <a:rPr lang="zh-CN" altLang="zh-CN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𝒖</m:t>
                        </m:r>
                        <m:r>
                          <a:rPr lang="en-US" altLang="zh-CN" b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</m:d>
                    <m:r>
                      <a:rPr lang="en-US" altLang="zh-CN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zh-CN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</a:p>
              <a:p>
                <a:pPr>
                  <a:lnSpc>
                    <a:spcPts val="3600"/>
                  </a:lnSpc>
                </a:pPr>
                <a:r>
                  <a:rPr lang="zh-CN" altLang="en-US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  （</a:t>
                </a:r>
                <a:r>
                  <a:rPr lang="en-US" altLang="zh-CN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en-US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zh-CN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假设从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𝒖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已经有了</a:t>
                </a:r>
                <a:r>
                  <a:rPr lang="en-US" altLang="zh-CN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zh-CN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个单位流量，那么</a:t>
                </a:r>
                <a:r>
                  <a:rPr lang="zh-CN" altLang="zh-CN" b="1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从反方向上看，从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  <m:r>
                      <a:rPr lang="en-US" altLang="zh-CN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b="1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𝒖</m:t>
                    </m:r>
                    <m:r>
                      <a:rPr lang="en-US" altLang="zh-CN" b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b="1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就有了</a:t>
                </a:r>
                <a:r>
                  <a:rPr lang="en-US" altLang="zh-CN" b="1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zh-CN" b="1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个单位的残留容量</a:t>
                </a:r>
                <a:r>
                  <a:rPr lang="zh-CN" altLang="zh-CN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此</a:t>
                </a:r>
                <a:r>
                  <a:rPr lang="zh-CN" altLang="zh-CN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𝒇</m:t>
                        </m:r>
                      </m:sub>
                    </m:sSub>
                    <m:d>
                      <m:dPr>
                        <m:ctrlPr>
                          <a:rPr lang="zh-CN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𝒖</m:t>
                        </m:r>
                      </m:e>
                    </m:d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𝟑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。换句话说，</a:t>
                </a:r>
                <a:r>
                  <a:rPr lang="zh-CN" altLang="en-US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如果</a:t>
                </a:r>
                <a:r>
                  <a:rPr lang="zh-CN" altLang="zh-CN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从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𝒖</m:t>
                    </m:r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有</a:t>
                </a:r>
                <a:r>
                  <a:rPr lang="en-US" altLang="zh-CN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zh-CN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个单位流量，那么从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𝒖</m:t>
                    </m:r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就有了将这</a:t>
                </a:r>
                <a:r>
                  <a:rPr lang="en-US" altLang="zh-CN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zh-CN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个单位流量压回去的能力。</a:t>
                </a:r>
                <a:r>
                  <a:rPr lang="zh-CN" altLang="zh-CN" b="1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因此，残留网络结点之间通常由双向带权边进行</a:t>
                </a:r>
                <a:r>
                  <a:rPr lang="zh-CN" altLang="en-US" b="1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连接</a:t>
                </a:r>
                <a:r>
                  <a:rPr lang="zh-CN" altLang="zh-CN" b="1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zh-CN" altLang="en-US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F3C54B40-5E64-4377-A748-E737ED2A03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660426"/>
                <a:ext cx="8712968" cy="4645502"/>
              </a:xfrm>
              <a:prstGeom prst="rect">
                <a:avLst/>
              </a:prstGeom>
              <a:blipFill>
                <a:blip r:embed="rId4"/>
                <a:stretch>
                  <a:fillRect l="-1049" t="-525" r="-1049" b="-19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7343688"/>
      </p:ext>
    </p:extLst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5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829E2EAC-18FC-49D7-9C38-5BED99ABC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682042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2">
            <a:extLst>
              <a:ext uri="{FF2B5EF4-FFF2-40B4-BE49-F238E27FC236}">
                <a16:creationId xmlns:a16="http://schemas.microsoft.com/office/drawing/2014/main" id="{FF792E1E-79E9-4889-AD11-B761C078BE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833127"/>
            <a:ext cx="6337300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流量增广路径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6869D94-0562-4939-8484-3EF4DF9BD12E}"/>
                  </a:ext>
                </a:extLst>
              </p:cNvPr>
              <p:cNvSpPr/>
              <p:nvPr/>
            </p:nvSpPr>
            <p:spPr>
              <a:xfrm>
                <a:off x="323528" y="1916832"/>
                <a:ext cx="8208912" cy="4183838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</a:t>
                </a:r>
                <a:r>
                  <a:rPr lang="zh-CN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对于任意网络流图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b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</m:d>
                  </m:oMath>
                </a14:m>
                <a:r>
                  <a:rPr lang="zh-CN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，可以</a:t>
                </a:r>
                <a:r>
                  <a:rPr lang="zh-CN" altLang="zh-CN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通过其残留网络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1" i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b="1" i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𝒇</m:t>
                        </m:r>
                      </m:sub>
                    </m:sSub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b="1" i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b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b="1" i="1" kern="1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kern="1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altLang="zh-CN" b="1" i="1" kern="1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𝒇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求得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的最大流</a:t>
                </a:r>
                <a:r>
                  <a:rPr lang="zh-CN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。基本思路如下：</a:t>
                </a:r>
                <a:endParaRPr lang="en-US" altLang="zh-CN" b="1" kern="100" dirty="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</a:t>
                </a:r>
                <a:r>
                  <a:rPr lang="zh-CN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首先，对所有的结点令初始状态时流的值为</a:t>
                </a:r>
                <a:r>
                  <a:rPr lang="en-US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en-US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，即</a:t>
                </a:r>
                <a:r>
                  <a:rPr lang="zh-CN" altLang="en-US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b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∀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𝒖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  <m:r>
                      <a:rPr lang="zh-CN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𝑽</m:t>
                    </m:r>
                  </m:oMath>
                </a14:m>
                <a:r>
                  <a:rPr lang="zh-CN" altLang="zh-CN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，有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𝒇</m:t>
                    </m:r>
                    <m:r>
                      <a:rPr lang="en-US" altLang="zh-CN" b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𝒖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  <m:r>
                      <a:rPr lang="en-US" altLang="zh-CN" b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zh-CN" altLang="zh-CN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b="1" kern="100" dirty="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</a:t>
                </a:r>
                <a:r>
                  <a:rPr lang="zh-CN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然后，通过迭代方式</a:t>
                </a:r>
                <a:r>
                  <a:rPr lang="zh-CN" altLang="en-US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在</a:t>
                </a:r>
                <a:r>
                  <a:rPr lang="zh-CN" altLang="zh-CN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其残留网络</a:t>
                </a:r>
                <a:r>
                  <a:rPr lang="zh-CN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中不断寻找源点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𝒔</m:t>
                    </m:r>
                  </m:oMath>
                </a14:m>
                <a:r>
                  <a:rPr lang="zh-CN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到汇点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𝒕</m:t>
                    </m:r>
                  </m:oMath>
                </a14:m>
                <a:r>
                  <a:rPr lang="zh-CN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之间的</a:t>
                </a:r>
                <a:r>
                  <a:rPr lang="zh-CN" altLang="zh-CN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流量增广路径</a:t>
                </a:r>
                <a:r>
                  <a:rPr lang="zh-CN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来增加网络流量值，直到残留网络没有这样的增广路径为止。</a:t>
                </a:r>
              </a:p>
              <a:p>
                <a:pPr>
                  <a:lnSpc>
                    <a:spcPts val="3600"/>
                  </a:lnSpc>
                </a:pPr>
                <a:r>
                  <a:rPr lang="en-US" altLang="zh-CN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  </a:t>
                </a:r>
                <a:r>
                  <a:rPr lang="zh-CN" altLang="zh-CN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因此，在残留网络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𝒇</m:t>
                        </m:r>
                      </m:sub>
                    </m:sSub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b="1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𝒇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</a:t>
                </a:r>
                <a:r>
                  <a:rPr lang="zh-CN" altLang="zh-CN" b="1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寻找流量增广路径</a:t>
                </a:r>
                <a:r>
                  <a:rPr lang="zh-CN" altLang="zh-CN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是最大流求解算法的关键。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6869D94-0562-4939-8484-3EF4DF9BD1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1916832"/>
                <a:ext cx="8208912" cy="4183838"/>
              </a:xfrm>
              <a:prstGeom prst="rect">
                <a:avLst/>
              </a:prstGeom>
              <a:blipFill>
                <a:blip r:embed="rId4"/>
                <a:stretch>
                  <a:fillRect l="-1114" t="-582" r="-1114" b="-21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5988508"/>
      </p:ext>
    </p:extLst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5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829E2EAC-18FC-49D7-9C38-5BED99ABC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384" y="526901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2">
            <a:extLst>
              <a:ext uri="{FF2B5EF4-FFF2-40B4-BE49-F238E27FC236}">
                <a16:creationId xmlns:a16="http://schemas.microsoft.com/office/drawing/2014/main" id="{FF792E1E-79E9-4889-AD11-B761C078BE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703967"/>
            <a:ext cx="6337300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增广路径的定义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0BBAB140-6573-45B4-BE35-3BA32298FB43}"/>
                  </a:ext>
                </a:extLst>
              </p:cNvPr>
              <p:cNvSpPr/>
              <p:nvPr/>
            </p:nvSpPr>
            <p:spPr>
              <a:xfrm>
                <a:off x="215516" y="1838014"/>
                <a:ext cx="8712968" cy="1898853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【定义】设有向图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b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</m:d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是任意一个网络流图，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𝒇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的一个流，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𝒇</m:t>
                        </m:r>
                      </m:sub>
                    </m:sSub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b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altLang="zh-CN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𝒇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在流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𝒇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下的一个残留网络，则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𝒇</m:t>
                        </m:r>
                      </m:sub>
                    </m:sSub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b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altLang="zh-CN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𝒇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</a:t>
                </a:r>
                <a:r>
                  <a:rPr lang="zh-CN" altLang="zh-CN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任意一条从源点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𝒔</m:t>
                    </m:r>
                  </m:oMath>
                </a14:m>
                <a:r>
                  <a:rPr lang="zh-CN" altLang="zh-CN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到汇点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𝒕</m:t>
                    </m:r>
                  </m:oMath>
                </a14:m>
                <a:r>
                  <a:rPr lang="zh-CN" altLang="zh-CN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的简单路径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𝒑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称为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b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</m:d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的一条</a:t>
                </a:r>
                <a:r>
                  <a:rPr lang="zh-CN" altLang="zh-CN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流量增广路径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，简称为</a:t>
                </a:r>
                <a:r>
                  <a:rPr lang="zh-CN" altLang="zh-CN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增广路径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0BBAB140-6573-45B4-BE35-3BA32298FB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16" y="1838014"/>
                <a:ext cx="8712968" cy="1898853"/>
              </a:xfrm>
              <a:prstGeom prst="rect">
                <a:avLst/>
              </a:prstGeom>
              <a:blipFill>
                <a:blip r:embed="rId4"/>
                <a:stretch>
                  <a:fillRect l="-1049" t="-1286" r="-1049" b="-51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2">
            <a:extLst>
              <a:ext uri="{FF2B5EF4-FFF2-40B4-BE49-F238E27FC236}">
                <a16:creationId xmlns:a16="http://schemas.microsoft.com/office/drawing/2014/main" id="{556E13CB-B96D-46FA-B5AD-A4D6049CFC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3861048"/>
            <a:ext cx="4176464" cy="2417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0817348"/>
      </p:ext>
    </p:extLst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5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829E2EAC-18FC-49D7-9C38-5BED99ABC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384" y="519052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2">
            <a:extLst>
              <a:ext uri="{FF2B5EF4-FFF2-40B4-BE49-F238E27FC236}">
                <a16:creationId xmlns:a16="http://schemas.microsoft.com/office/drawing/2014/main" id="{FF792E1E-79E9-4889-AD11-B761C078BE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656" y="678662"/>
            <a:ext cx="6337300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增广路径的含义</a:t>
            </a:r>
          </a:p>
        </p:txBody>
      </p:sp>
      <p:pic>
        <p:nvPicPr>
          <p:cNvPr id="6" name="图片 2">
            <a:extLst>
              <a:ext uri="{FF2B5EF4-FFF2-40B4-BE49-F238E27FC236}">
                <a16:creationId xmlns:a16="http://schemas.microsoft.com/office/drawing/2014/main" id="{556E13CB-B96D-46FA-B5AD-A4D6049CFC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403" y="3489429"/>
            <a:ext cx="4727193" cy="2736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6FE01501-B9B8-465F-8C06-11D2DB27BBCC}"/>
                  </a:ext>
                </a:extLst>
              </p:cNvPr>
              <p:cNvSpPr/>
              <p:nvPr/>
            </p:nvSpPr>
            <p:spPr>
              <a:xfrm>
                <a:off x="423262" y="1700808"/>
                <a:ext cx="8442088" cy="1667764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   </a:t>
                </a:r>
                <a:r>
                  <a:rPr lang="zh-CN" altLang="en-US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可</a:t>
                </a:r>
                <a:r>
                  <a:rPr lang="zh-CN" altLang="zh-CN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将增广路径形象地理解为网络流图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中从源点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𝒔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到汇点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𝒕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的一条</a:t>
                </a:r>
                <a:r>
                  <a:rPr lang="zh-CN" altLang="zh-CN" b="1" dirty="0">
                    <a:solidFill>
                      <a:schemeClr val="accent2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不违反流网络边容量限制的路径</a:t>
                </a:r>
                <a:r>
                  <a:rPr lang="zh-CN" altLang="zh-CN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，并向这条路径</a:t>
                </a:r>
                <a:r>
                  <a:rPr lang="zh-CN" altLang="en-US" b="1" dirty="0">
                    <a:solidFill>
                      <a:schemeClr val="accent2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再</a:t>
                </a:r>
                <a:r>
                  <a:rPr lang="zh-CN" altLang="zh-CN" b="1" dirty="0">
                    <a:solidFill>
                      <a:schemeClr val="accent2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压入一定的流量</a:t>
                </a:r>
                <a:r>
                  <a:rPr lang="zh-CN" altLang="zh-CN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b="1" dirty="0">
                    <a:solidFill>
                      <a:schemeClr val="accent2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以增加整个网络的流量值</a:t>
                </a:r>
                <a:r>
                  <a:rPr lang="zh-CN" altLang="zh-CN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6FE01501-B9B8-465F-8C06-11D2DB27BB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262" y="1700808"/>
                <a:ext cx="8442088" cy="1667764"/>
              </a:xfrm>
              <a:prstGeom prst="rect">
                <a:avLst/>
              </a:prstGeom>
              <a:blipFill>
                <a:blip r:embed="rId5"/>
                <a:stretch>
                  <a:fillRect l="-1083" b="-72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8280746"/>
      </p:ext>
    </p:extLst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5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829E2EAC-18FC-49D7-9C38-5BED99ABC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384" y="560416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2">
            <a:extLst>
              <a:ext uri="{FF2B5EF4-FFF2-40B4-BE49-F238E27FC236}">
                <a16:creationId xmlns:a16="http://schemas.microsoft.com/office/drawing/2014/main" id="{FF792E1E-79E9-4889-AD11-B761C078BE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648950"/>
            <a:ext cx="6337300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增广路径的含义</a:t>
            </a:r>
          </a:p>
        </p:txBody>
      </p:sp>
      <p:pic>
        <p:nvPicPr>
          <p:cNvPr id="6" name="图片 2">
            <a:extLst>
              <a:ext uri="{FF2B5EF4-FFF2-40B4-BE49-F238E27FC236}">
                <a16:creationId xmlns:a16="http://schemas.microsoft.com/office/drawing/2014/main" id="{556E13CB-B96D-46FA-B5AD-A4D6049CFC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3717032"/>
            <a:ext cx="4458044" cy="2580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FE01501-B9B8-465F-8C06-11D2DB27BBCC}"/>
              </a:ext>
            </a:extLst>
          </p:cNvPr>
          <p:cNvSpPr/>
          <p:nvPr/>
        </p:nvSpPr>
        <p:spPr>
          <a:xfrm>
            <a:off x="323528" y="1772816"/>
            <a:ext cx="8568952" cy="1875513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</a:pPr>
            <a:r>
              <a:rPr lang="zh-CN" altLang="en-US" b="1" dirty="0">
                <a:solidFill>
                  <a:schemeClr val="tx1"/>
                </a:solidFill>
                <a:latin typeface="+mj-ea"/>
                <a:ea typeface="+mj-ea"/>
                <a:cs typeface="Times New Roman" panose="02020603050405020304" pitchFamily="18" charset="0"/>
              </a:rPr>
              <a:t>    例如下图表明可将</a:t>
            </a:r>
            <a:r>
              <a:rPr lang="zh-CN" altLang="en-US" b="1" dirty="0">
                <a:solidFill>
                  <a:schemeClr val="tx1"/>
                </a:solidFill>
                <a:latin typeface="+mj-ea"/>
                <a:ea typeface="+mj-ea"/>
              </a:rPr>
              <a:t>其</a:t>
            </a:r>
            <a:r>
              <a:rPr lang="zh-CN" altLang="zh-CN" b="1" dirty="0">
                <a:solidFill>
                  <a:schemeClr val="tx1"/>
                </a:solidFill>
                <a:latin typeface="+mj-ea"/>
                <a:ea typeface="+mj-ea"/>
              </a:rPr>
              <a:t>增广路径</a:t>
            </a:r>
            <a:r>
              <a:rPr lang="zh-CN" altLang="en-US" b="1" dirty="0">
                <a:solidFill>
                  <a:schemeClr val="tx1"/>
                </a:solidFill>
                <a:latin typeface="+mj-ea"/>
                <a:ea typeface="+mj-ea"/>
              </a:rPr>
              <a:t>所</a:t>
            </a:r>
            <a:r>
              <a:rPr lang="zh-CN" altLang="zh-CN" b="1" dirty="0">
                <a:solidFill>
                  <a:schemeClr val="tx1"/>
                </a:solidFill>
                <a:latin typeface="+mj-ea"/>
                <a:ea typeface="+mj-ea"/>
              </a:rPr>
              <a:t>在</a:t>
            </a:r>
            <a:r>
              <a:rPr lang="zh-CN" altLang="zh-CN" b="1" dirty="0">
                <a:solidFill>
                  <a:srgbClr val="0000FF"/>
                </a:solidFill>
                <a:latin typeface="+mj-ea"/>
                <a:ea typeface="+mj-ea"/>
              </a:rPr>
              <a:t>流网络所对应每条边的流量增加</a:t>
            </a:r>
            <a:r>
              <a:rPr lang="en-US" altLang="zh-CN" b="1" dirty="0">
                <a:solidFill>
                  <a:srgbClr val="0000FF"/>
                </a:solidFill>
                <a:latin typeface="+mj-ea"/>
                <a:ea typeface="+mj-ea"/>
              </a:rPr>
              <a:t>4</a:t>
            </a:r>
            <a:r>
              <a:rPr lang="zh-CN" altLang="zh-CN" b="1" dirty="0">
                <a:solidFill>
                  <a:srgbClr val="0000FF"/>
                </a:solidFill>
                <a:latin typeface="+mj-ea"/>
                <a:ea typeface="+mj-ea"/>
              </a:rPr>
              <a:t>个单位</a:t>
            </a:r>
            <a:r>
              <a:rPr lang="zh-CN" altLang="zh-CN" b="1" dirty="0">
                <a:solidFill>
                  <a:schemeClr val="tx1"/>
                </a:solidFill>
                <a:latin typeface="+mj-ea"/>
                <a:ea typeface="+mj-ea"/>
              </a:rPr>
              <a:t>，得到一个</a:t>
            </a:r>
            <a:r>
              <a:rPr lang="zh-CN" altLang="zh-CN" b="1" dirty="0">
                <a:solidFill>
                  <a:srgbClr val="0000FF"/>
                </a:solidFill>
                <a:latin typeface="+mj-ea"/>
                <a:ea typeface="+mj-ea"/>
              </a:rPr>
              <a:t>新的流网络</a:t>
            </a:r>
            <a:r>
              <a:rPr lang="zh-CN" altLang="zh-CN" b="1" dirty="0">
                <a:solidFill>
                  <a:schemeClr val="tx1"/>
                </a:solidFill>
                <a:latin typeface="+mj-ea"/>
                <a:ea typeface="+mj-ea"/>
              </a:rPr>
              <a:t>，其流量比原网络</a:t>
            </a:r>
            <a:r>
              <a:rPr lang="zh-CN" altLang="zh-CN" b="1" dirty="0">
                <a:solidFill>
                  <a:srgbClr val="0000FF"/>
                </a:solidFill>
                <a:latin typeface="+mj-ea"/>
                <a:ea typeface="+mj-ea"/>
              </a:rPr>
              <a:t>多</a:t>
            </a:r>
            <a:r>
              <a:rPr lang="en-US" altLang="zh-CN" b="1" dirty="0">
                <a:solidFill>
                  <a:srgbClr val="0000FF"/>
                </a:solidFill>
                <a:latin typeface="+mj-ea"/>
                <a:ea typeface="+mj-ea"/>
              </a:rPr>
              <a:t>4</a:t>
            </a:r>
            <a:r>
              <a:rPr lang="zh-CN" altLang="zh-CN" b="1" dirty="0">
                <a:solidFill>
                  <a:srgbClr val="0000FF"/>
                </a:solidFill>
                <a:latin typeface="+mj-ea"/>
                <a:ea typeface="+mj-ea"/>
              </a:rPr>
              <a:t>个单位</a:t>
            </a:r>
            <a:r>
              <a:rPr lang="zh-CN" altLang="zh-CN" b="1" dirty="0">
                <a:solidFill>
                  <a:schemeClr val="tx1"/>
                </a:solidFill>
                <a:latin typeface="+mj-ea"/>
                <a:ea typeface="+mj-ea"/>
              </a:rPr>
              <a:t>。然后，在新流网络所对应的残留网络中</a:t>
            </a:r>
            <a:r>
              <a:rPr lang="zh-CN" altLang="zh-CN" b="1" dirty="0">
                <a:solidFill>
                  <a:srgbClr val="0000FF"/>
                </a:solidFill>
                <a:latin typeface="+mj-ea"/>
                <a:ea typeface="+mj-ea"/>
              </a:rPr>
              <a:t>继续寻找新增广路径</a:t>
            </a:r>
            <a:r>
              <a:rPr lang="zh-CN" altLang="zh-CN" b="1" dirty="0">
                <a:solidFill>
                  <a:schemeClr val="tx1"/>
                </a:solidFill>
                <a:latin typeface="+mj-ea"/>
                <a:ea typeface="+mj-ea"/>
              </a:rPr>
              <a:t>，直到找不到新增广路径为止。</a:t>
            </a:r>
            <a:endParaRPr lang="zh-CN" altLang="en-US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26940600"/>
      </p:ext>
    </p:extLst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5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829E2EAC-18FC-49D7-9C38-5BED99ABC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682042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2">
            <a:extLst>
              <a:ext uri="{FF2B5EF4-FFF2-40B4-BE49-F238E27FC236}">
                <a16:creationId xmlns:a16="http://schemas.microsoft.com/office/drawing/2014/main" id="{FF792E1E-79E9-4889-AD11-B761C078BE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833127"/>
            <a:ext cx="6337300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切割概念的提出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06CA9F08-6532-42B1-A6C5-31B0CDC7CDE5}"/>
                  </a:ext>
                </a:extLst>
              </p:cNvPr>
              <p:cNvSpPr/>
              <p:nvPr/>
            </p:nvSpPr>
            <p:spPr>
              <a:xfrm>
                <a:off x="683568" y="2276872"/>
                <a:ext cx="8064896" cy="3284297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8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  </a:t>
                </a:r>
                <a:r>
                  <a:rPr lang="zh-CN" altLang="zh-CN" sz="28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如果在残留网络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𝒇</m:t>
                        </m:r>
                      </m:sub>
                    </m:sSub>
                    <m:r>
                      <a:rPr lang="en-US" altLang="zh-CN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8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sz="2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800" b="1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altLang="zh-CN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𝒇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sz="28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中找不到增广路径，此时该残留网络所对应的流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𝒇</m:t>
                    </m:r>
                  </m:oMath>
                </a14:m>
                <a:r>
                  <a:rPr lang="zh-CN" altLang="zh-CN" sz="2800" b="1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是否就是流网络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800" b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8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sz="2800" b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8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</m:d>
                  </m:oMath>
                </a14:m>
                <a:r>
                  <a:rPr lang="zh-CN" altLang="zh-CN" sz="2800" b="1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的最大流</a:t>
                </a:r>
                <a:r>
                  <a:rPr lang="zh-CN" altLang="zh-CN" sz="28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？</a:t>
                </a:r>
                <a:endParaRPr lang="en-US" altLang="zh-CN" sz="2800" b="1" dirty="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  </a:t>
                </a:r>
                <a:r>
                  <a:rPr lang="zh-CN" altLang="zh-CN" sz="28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要解决这个问题，必须进一步引入</a:t>
                </a:r>
                <a:r>
                  <a:rPr lang="zh-CN" altLang="zh-CN" sz="2800" b="1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流网络切割的相关概念</a:t>
                </a:r>
                <a:r>
                  <a:rPr lang="zh-CN" altLang="en-US" sz="28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zh-CN" altLang="en-US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06CA9F08-6532-42B1-A6C5-31B0CDC7CD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2276872"/>
                <a:ext cx="8064896" cy="3284297"/>
              </a:xfrm>
              <a:prstGeom prst="rect">
                <a:avLst/>
              </a:prstGeom>
              <a:blipFill>
                <a:blip r:embed="rId4"/>
                <a:stretch>
                  <a:fillRect l="-1512" r="-1587" b="-44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7271141"/>
      </p:ext>
    </p:extLst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5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829E2EAC-18FC-49D7-9C38-5BED99ABC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682042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2">
            <a:extLst>
              <a:ext uri="{FF2B5EF4-FFF2-40B4-BE49-F238E27FC236}">
                <a16:creationId xmlns:a16="http://schemas.microsoft.com/office/drawing/2014/main" id="{FF792E1E-79E9-4889-AD11-B761C078BE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833127"/>
            <a:ext cx="6337300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流网络切割的定义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7C2A3B6D-4CC3-4CF2-AF47-7EC4FC3CCF32}"/>
                  </a:ext>
                </a:extLst>
              </p:cNvPr>
              <p:cNvSpPr/>
              <p:nvPr/>
            </p:nvSpPr>
            <p:spPr>
              <a:xfrm>
                <a:off x="287524" y="1929822"/>
                <a:ext cx="8568952" cy="2822183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【定义】设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b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</m:d>
                  </m:oMath>
                </a14:m>
                <a:r>
                  <a:rPr lang="zh-CN" altLang="en-US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网络流图，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𝒇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的一个流，如果将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的结点集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𝑽</m:t>
                    </m:r>
                    <m:r>
                      <m:rPr>
                        <m:nor/>
                      </m:rPr>
                      <a:rPr lang="zh-CN" altLang="en-US" b="1" kern="1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划分为</m:t>
                    </m:r>
                    <m:r>
                      <a:rPr lang="en-US" altLang="zh-CN" b="1" i="1" kern="1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𝑺</m:t>
                    </m:r>
                    <m:r>
                      <a:rPr lang="zh-CN" altLang="zh-CN" b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和</m:t>
                    </m:r>
                    <m:r>
                      <a:rPr lang="en-US" altLang="zh-CN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𝑻</m:t>
                    </m:r>
                    <m:r>
                      <a:rPr lang="en-US" altLang="zh-CN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𝑽</m:t>
                    </m:r>
                    <m:r>
                      <a:rPr lang="en-US" altLang="zh-CN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𝑺</m:t>
                    </m:r>
                    <m:r>
                      <m:rPr>
                        <m:nor/>
                      </m:rPr>
                      <a:rPr lang="zh-CN" altLang="en-US" b="1" kern="1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两部分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，使得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b="1" kern="100" dirty="0" smtClean="0">
                        <a:solidFill>
                          <a:srgbClr val="FFFF66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源点</m:t>
                    </m:r>
                    <m:r>
                      <a:rPr lang="en-US" altLang="zh-CN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𝒔</m:t>
                    </m:r>
                    <m:r>
                      <a:rPr lang="en-US" altLang="zh-CN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CN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𝑺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且</a:t>
                </a:r>
                <a:r>
                  <a:rPr lang="zh-CN" altLang="en-US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汇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b="1" kern="1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点</m:t>
                    </m:r>
                    <m:r>
                      <a:rPr lang="en-US" altLang="zh-CN" b="1" i="1" kern="100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𝒕</m:t>
                    </m:r>
                    <m:r>
                      <a:rPr lang="en-US" altLang="zh-CN" b="1" i="1" kern="100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CN" b="1" i="1" kern="100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𝑻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，则称</a:t>
                </a:r>
                <a14:m>
                  <m:oMath xmlns:m="http://schemas.openxmlformats.org/officeDocument/2006/math">
                    <m:r>
                      <a:rPr lang="en-US" altLang="zh-CN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𝑺</m:t>
                    </m:r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𝑻</m:t>
                    </m:r>
                    <m:r>
                      <a:rPr lang="en-US" altLang="zh-CN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b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</m:d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的一个</a:t>
                </a:r>
                <a:r>
                  <a:rPr lang="zh-CN" altLang="zh-CN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切割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，简称为</a:t>
                </a:r>
                <a:r>
                  <a:rPr lang="zh-CN" altLang="zh-CN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割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从集合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𝑺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到集合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𝑻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的所有有向边容量之和称为</a:t>
                </a:r>
                <a:r>
                  <a:rPr lang="zh-CN" altLang="zh-CN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切割</a:t>
                </a:r>
                <a14:m>
                  <m:oMath xmlns:m="http://schemas.openxmlformats.org/officeDocument/2006/math">
                    <m:r>
                      <a:rPr lang="en-US" altLang="zh-CN" b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𝑺</m:t>
                    </m:r>
                    <m:r>
                      <a:rPr lang="en-US" altLang="zh-CN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𝑻</m:t>
                    </m:r>
                    <m:r>
                      <a:rPr lang="en-US" altLang="zh-CN" b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的容量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，穿过切割</a:t>
                </a:r>
                <a14:m>
                  <m:oMath xmlns:m="http://schemas.openxmlformats.org/officeDocument/2006/math">
                    <m:r>
                      <a:rPr lang="en-US" altLang="zh-CN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𝑺</m:t>
                    </m:r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𝑻</m:t>
                    </m:r>
                    <m:r>
                      <a:rPr lang="en-US" altLang="zh-CN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所有边流量的代数和流量称为</a:t>
                </a:r>
                <a:r>
                  <a:rPr lang="zh-CN" altLang="zh-CN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切割</a:t>
                </a:r>
                <a14:m>
                  <m:oMath xmlns:m="http://schemas.openxmlformats.org/officeDocument/2006/math">
                    <m:r>
                      <a:rPr lang="en-US" altLang="zh-CN" b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𝑺</m:t>
                    </m:r>
                    <m:r>
                      <a:rPr lang="en-US" altLang="zh-CN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𝑻</m:t>
                    </m:r>
                    <m:r>
                      <a:rPr lang="en-US" altLang="zh-CN" b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的净流量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，记为</a:t>
                </a:r>
                <a14:m>
                  <m:oMath xmlns:m="http://schemas.openxmlformats.org/officeDocument/2006/math">
                    <m:r>
                      <a:rPr lang="en-US" altLang="zh-CN" b="1" i="1" kern="100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𝒇</m:t>
                    </m:r>
                    <m:r>
                      <a:rPr lang="en-US" altLang="zh-CN" b="1" i="1" kern="100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 kern="100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𝑺</m:t>
                    </m:r>
                    <m:r>
                      <a:rPr lang="en-US" altLang="zh-CN" b="1" i="1" kern="100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1" i="1" kern="100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𝑻</m:t>
                    </m:r>
                    <m:r>
                      <a:rPr lang="en-US" altLang="zh-CN" b="1" i="1" kern="100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7C2A3B6D-4CC3-4CF2-AF47-7EC4FC3CCF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524" y="1929822"/>
                <a:ext cx="8568952" cy="2822183"/>
              </a:xfrm>
              <a:prstGeom prst="rect">
                <a:avLst/>
              </a:prstGeom>
              <a:blipFill>
                <a:blip r:embed="rId4"/>
                <a:stretch>
                  <a:fillRect l="-1067" t="-864" r="-1138" b="-30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EE031EA0-4C19-407F-A010-7A8E4035BB1B}"/>
                  </a:ext>
                </a:extLst>
              </p:cNvPr>
              <p:cNvSpPr/>
              <p:nvPr/>
            </p:nvSpPr>
            <p:spPr>
              <a:xfrm>
                <a:off x="323528" y="4965742"/>
                <a:ext cx="8568952" cy="1127296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b="1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   </a:t>
                </a:r>
                <a:r>
                  <a:rPr lang="zh-CN" altLang="zh-CN" b="1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注意</a:t>
                </a:r>
                <a:r>
                  <a:rPr lang="zh-CN" altLang="en-US" b="1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：</a:t>
                </a:r>
                <a:r>
                  <a:rPr lang="zh-CN" altLang="zh-CN" b="1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定义中边的流量</a:t>
                </a:r>
                <a:r>
                  <a:rPr lang="zh-CN" altLang="zh-CN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带有正负方向</a:t>
                </a:r>
                <a:r>
                  <a:rPr lang="zh-CN" altLang="zh-CN" b="1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，</a:t>
                </a:r>
                <a:r>
                  <a:rPr lang="zh-CN" altLang="zh-CN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从结点</a:t>
                </a:r>
                <a:r>
                  <a:rPr lang="zh-CN" altLang="en-US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集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𝑺</m:t>
                    </m:r>
                  </m:oMath>
                </a14:m>
                <a:r>
                  <a:rPr lang="zh-CN" altLang="zh-CN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流向</a:t>
                </a:r>
                <a:r>
                  <a:rPr lang="zh-CN" altLang="en-US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结点集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𝑻</m:t>
                    </m:r>
                  </m:oMath>
                </a14:m>
                <a:r>
                  <a:rPr lang="zh-CN" altLang="en-US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的</a:t>
                </a:r>
                <a:r>
                  <a:rPr lang="zh-CN" altLang="zh-CN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流量值为正，从结点</a:t>
                </a:r>
                <a:r>
                  <a:rPr lang="zh-CN" altLang="en-US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集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𝑻</m:t>
                    </m:r>
                  </m:oMath>
                </a14:m>
                <a:r>
                  <a:rPr lang="zh-CN" altLang="zh-CN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流向</a:t>
                </a:r>
                <a:r>
                  <a:rPr lang="zh-CN" altLang="en-US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集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𝑺</m:t>
                    </m:r>
                  </m:oMath>
                </a14:m>
                <a:r>
                  <a:rPr lang="zh-CN" altLang="zh-CN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的流量值为负。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EE031EA0-4C19-407F-A010-7A8E4035BB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4965742"/>
                <a:ext cx="8568952" cy="1127296"/>
              </a:xfrm>
              <a:prstGeom prst="rect">
                <a:avLst/>
              </a:prstGeom>
              <a:blipFill>
                <a:blip r:embed="rId5"/>
                <a:stretch>
                  <a:fillRect l="-1067" b="-102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9168215"/>
      </p:ext>
    </p:extLst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5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829E2EAC-18FC-49D7-9C38-5BED99ABC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384" y="548680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2">
            <a:extLst>
              <a:ext uri="{FF2B5EF4-FFF2-40B4-BE49-F238E27FC236}">
                <a16:creationId xmlns:a16="http://schemas.microsoft.com/office/drawing/2014/main" id="{FF792E1E-79E9-4889-AD11-B761C078BE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636" y="637212"/>
            <a:ext cx="6552728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流网络切割的含义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B7C4A60-8D11-43CD-9653-C3FFF8B95487}"/>
                  </a:ext>
                </a:extLst>
              </p:cNvPr>
              <p:cNvSpPr/>
              <p:nvPr/>
            </p:nvSpPr>
            <p:spPr>
              <a:xfrm>
                <a:off x="611560" y="1582248"/>
                <a:ext cx="8149602" cy="1938992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zh-CN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例如，</a:t>
                </a:r>
                <a:r>
                  <a:rPr lang="zh-CN" altLang="en-US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下图</a:t>
                </a:r>
                <a:r>
                  <a:rPr lang="zh-CN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所示的切割</a:t>
                </a:r>
                <a14:m>
                  <m:oMath xmlns:m="http://schemas.openxmlformats.org/officeDocument/2006/math">
                    <m:r>
                      <a:rPr lang="en-US" altLang="zh-CN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𝑺</m:t>
                    </m:r>
                    <m:r>
                      <a:rPr lang="en-US" altLang="zh-CN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𝑻</m:t>
                    </m:r>
                    <m:r>
                      <a:rPr lang="en-US" altLang="zh-CN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，其容量为：</a:t>
                </a:r>
              </a:p>
              <a:p>
                <a:pPr indent="266700" algn="ctr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b="1" kern="100" dirty="0">
                    <a:solidFill>
                      <a:srgbClr val="0000FF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altLang="zh-CN" b="1" i="1" kern="1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𝒄</m:t>
                    </m:r>
                    <m:r>
                      <a:rPr lang="en-US" altLang="zh-CN" b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𝒖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𝒘</m:t>
                    </m:r>
                    <m:r>
                      <a:rPr lang="en-US" altLang="zh-CN" b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𝒄</m:t>
                    </m:r>
                    <m:r>
                      <a:rPr lang="en-US" altLang="zh-CN" b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𝒙</m:t>
                    </m:r>
                    <m:r>
                      <a:rPr lang="en-US" altLang="zh-CN" b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𝟏𝟐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𝟏𝟒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𝟐𝟔</m:t>
                    </m:r>
                  </m:oMath>
                </a14:m>
                <a:endParaRPr lang="zh-CN" altLang="zh-CN" b="1" kern="100" dirty="0">
                  <a:solidFill>
                    <a:srgbClr val="0000FF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zh-CN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穿过该切割的净流量为：</a:t>
                </a:r>
              </a:p>
              <a:p>
                <a:pPr indent="266700" algn="ctr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b="1" kern="100" dirty="0">
                    <a:solidFill>
                      <a:srgbClr val="0000FF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altLang="zh-CN" b="1" i="1" kern="1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𝒇</m:t>
                    </m:r>
                    <m:r>
                      <a:rPr lang="en-US" altLang="zh-CN" b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𝒖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𝒘</m:t>
                    </m:r>
                    <m:r>
                      <a:rPr lang="en-US" altLang="zh-CN" b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𝒇</m:t>
                    </m:r>
                    <m:r>
                      <a:rPr lang="en-US" altLang="zh-CN" b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𝒙</m:t>
                    </m:r>
                    <m:r>
                      <a:rPr lang="en-US" altLang="zh-CN" b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𝒇</m:t>
                    </m:r>
                    <m:r>
                      <a:rPr lang="en-US" altLang="zh-CN" b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𝒘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  <m:r>
                      <a:rPr lang="en-US" altLang="zh-CN" b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𝟏𝟐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𝟏𝟏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𝟒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𝟏𝟗</m:t>
                    </m:r>
                  </m:oMath>
                </a14:m>
                <a:endParaRPr lang="zh-CN" altLang="zh-CN" b="1" kern="100" dirty="0">
                  <a:solidFill>
                    <a:srgbClr val="0000FF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B7C4A60-8D11-43CD-9653-C3FFF8B954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582248"/>
                <a:ext cx="8149602" cy="1938992"/>
              </a:xfrm>
              <a:prstGeom prst="rect">
                <a:avLst/>
              </a:prstGeom>
              <a:blipFill>
                <a:blip r:embed="rId4"/>
                <a:stretch>
                  <a:fillRect t="-1258" b="-15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3">
            <a:extLst>
              <a:ext uri="{FF2B5EF4-FFF2-40B4-BE49-F238E27FC236}">
                <a16:creationId xmlns:a16="http://schemas.microsoft.com/office/drawing/2014/main" id="{A766F89F-E59C-4D4D-BD12-93FD600E6F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3546745"/>
            <a:ext cx="5190463" cy="2675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9790080"/>
      </p:ext>
    </p:extLst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5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829E2EAC-18FC-49D7-9C38-5BED99ABC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682042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02C07241-5A69-42BA-AFD3-8E6E13AC2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656" y="770941"/>
            <a:ext cx="6335713" cy="83026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最大流最小割定理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D5D5799-2788-4D5C-8C97-27ED933EDB01}"/>
              </a:ext>
            </a:extLst>
          </p:cNvPr>
          <p:cNvSpPr/>
          <p:nvPr/>
        </p:nvSpPr>
        <p:spPr>
          <a:xfrm>
            <a:off x="683568" y="2204864"/>
            <a:ext cx="8136904" cy="3353097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  </a:t>
            </a:r>
            <a:r>
              <a:rPr lang="zh-CN" altLang="zh-CN" b="1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显然，对于任意一个</a:t>
            </a:r>
            <a:r>
              <a:rPr lang="zh-CN" altLang="en-US" b="1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流网络</a:t>
            </a:r>
            <a:r>
              <a:rPr lang="zh-CN" altLang="zh-CN" b="1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切割，穿过该切割净流量</a:t>
            </a:r>
            <a:r>
              <a:rPr lang="zh-CN" altLang="en-US" b="1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lang="zh-CN" altLang="zh-CN" b="1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上界就是</a:t>
            </a:r>
            <a:r>
              <a:rPr lang="zh-CN" altLang="zh-CN" b="1" kern="100" dirty="0">
                <a:solidFill>
                  <a:srgbClr val="0000FF"/>
                </a:solidFill>
                <a:cs typeface="Times New Roman" panose="02020603050405020304" pitchFamily="18" charset="0"/>
              </a:rPr>
              <a:t>该切割的容量</a:t>
            </a:r>
            <a:r>
              <a:rPr lang="zh-CN" altLang="zh-CN" b="1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，即</a:t>
            </a:r>
            <a:r>
              <a:rPr lang="zh-CN" altLang="zh-CN" b="1" kern="100" dirty="0">
                <a:solidFill>
                  <a:srgbClr val="0000FF"/>
                </a:solidFill>
                <a:cs typeface="Times New Roman" panose="02020603050405020304" pitchFamily="18" charset="0"/>
              </a:rPr>
              <a:t>穿过切割的净流量不可能超过</a:t>
            </a:r>
            <a:r>
              <a:rPr lang="zh-CN" altLang="en-US" b="1" kern="100" dirty="0">
                <a:solidFill>
                  <a:srgbClr val="0000FF"/>
                </a:solidFill>
                <a:cs typeface="Times New Roman" panose="02020603050405020304" pitchFamily="18" charset="0"/>
              </a:rPr>
              <a:t>该切</a:t>
            </a:r>
            <a:r>
              <a:rPr lang="zh-CN" altLang="zh-CN" b="1" kern="100" dirty="0">
                <a:solidFill>
                  <a:srgbClr val="0000FF"/>
                </a:solidFill>
                <a:cs typeface="Times New Roman" panose="02020603050405020304" pitchFamily="18" charset="0"/>
              </a:rPr>
              <a:t>割的容量</a:t>
            </a:r>
            <a:r>
              <a:rPr lang="zh-CN" altLang="zh-CN" b="1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。</a:t>
            </a:r>
            <a:endParaRPr lang="en-US" altLang="zh-CN" b="1" kern="1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  </a:t>
            </a:r>
            <a:r>
              <a:rPr lang="zh-CN" altLang="zh-CN" b="1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由于流网络中所有切割的流</a:t>
            </a:r>
            <a:r>
              <a:rPr lang="zh-CN" altLang="en-US" b="1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量</a:t>
            </a:r>
            <a:r>
              <a:rPr lang="zh-CN" altLang="zh-CN" b="1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都相等</a:t>
            </a:r>
            <a:r>
              <a:rPr lang="zh-CN" altLang="en-US" b="1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zh-CN" altLang="zh-CN" b="1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并且</a:t>
            </a:r>
            <a:r>
              <a:rPr lang="zh-CN" altLang="en-US" b="1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就</a:t>
            </a:r>
            <a:r>
              <a:rPr lang="zh-CN" altLang="zh-CN" b="1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等于</a:t>
            </a:r>
            <a:r>
              <a:rPr lang="zh-CN" altLang="en-US" b="1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整个</a:t>
            </a:r>
            <a:r>
              <a:rPr lang="zh-CN" altLang="zh-CN" b="1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网络的流</a:t>
            </a:r>
            <a:r>
              <a:rPr lang="zh-CN" altLang="en-US" b="1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量。</a:t>
            </a:r>
            <a:r>
              <a:rPr lang="zh-CN" altLang="zh-CN" b="1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因此，</a:t>
            </a:r>
            <a:r>
              <a:rPr lang="zh-CN" altLang="zh-CN" b="1" kern="100" dirty="0">
                <a:solidFill>
                  <a:srgbClr val="0000FF"/>
                </a:solidFill>
                <a:cs typeface="Times New Roman" panose="02020603050405020304" pitchFamily="18" charset="0"/>
              </a:rPr>
              <a:t>网络最大流必然无法超过网络的最小割</a:t>
            </a:r>
            <a:r>
              <a:rPr lang="zh-CN" altLang="en-US" b="1" kern="100" dirty="0">
                <a:solidFill>
                  <a:srgbClr val="0000FF"/>
                </a:solidFill>
                <a:cs typeface="Times New Roman" panose="02020603050405020304" pitchFamily="18" charset="0"/>
              </a:rPr>
              <a:t>容量</a:t>
            </a:r>
            <a:r>
              <a:rPr lang="zh-CN" altLang="zh-CN" b="1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。由此</a:t>
            </a:r>
            <a:r>
              <a:rPr lang="zh-CN" altLang="en-US" b="1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可得到著名的</a:t>
            </a:r>
            <a:r>
              <a:rPr lang="zh-CN" altLang="zh-CN" b="1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最大流最小割定理</a:t>
            </a:r>
            <a:r>
              <a:rPr lang="zh-CN" altLang="en-US" b="1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。</a:t>
            </a:r>
            <a:endParaRPr lang="zh-CN" altLang="zh-CN" b="1" kern="1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815326"/>
      </p:ext>
    </p:extLst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5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829E2EAC-18FC-49D7-9C38-5BED99ABC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682042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02C07241-5A69-42BA-AFD3-8E6E13AC2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656" y="770941"/>
            <a:ext cx="6335713" cy="83026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最大流最小割定理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49495BE-AB82-4672-A96A-14F1F10A3ADE}"/>
                  </a:ext>
                </a:extLst>
              </p:cNvPr>
              <p:cNvSpPr/>
              <p:nvPr/>
            </p:nvSpPr>
            <p:spPr>
              <a:xfrm>
                <a:off x="323032" y="1856161"/>
                <a:ext cx="8640960" cy="419602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indent="267970" algn="just">
                  <a:lnSpc>
                    <a:spcPts val="4000"/>
                  </a:lnSpc>
                  <a:spcAft>
                    <a:spcPts val="0"/>
                  </a:spcAft>
                </a:pPr>
                <a:r>
                  <a:rPr lang="en-US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【定理】（</a:t>
                </a:r>
                <a:r>
                  <a:rPr lang="zh-CN" altLang="zh-CN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最大流最小割定理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）设有向图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b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</m:d>
                  </m:oMath>
                </a14:m>
                <a:r>
                  <a:rPr lang="zh-CN" altLang="en-US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网络流图，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b="1" kern="1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结点</m:t>
                    </m:r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𝒔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𝒕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分别为其</a:t>
                </a:r>
                <a:r>
                  <a:rPr lang="zh-CN" altLang="zh-CN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源点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:r>
                  <a:rPr lang="zh-CN" altLang="zh-CN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汇点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b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</m:d>
                    <m:r>
                      <m:rPr>
                        <m:nor/>
                      </m:rPr>
                      <a:rPr lang="zh-CN" altLang="en-US" b="1" kern="1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的</m:t>
                    </m:r>
                  </m:oMath>
                </a14:m>
                <a:r>
                  <a:rPr lang="zh-CN" altLang="zh-CN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最大流量等于其最小切割的容量</a:t>
                </a:r>
                <a:r>
                  <a:rPr lang="zh-CN" altLang="en-US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，且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对于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b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</m:d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上的任意一个</a:t>
                </a:r>
                <a:r>
                  <a:rPr lang="zh-CN" altLang="zh-CN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流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𝒇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，以下三个结论彼此等价</a:t>
                </a:r>
                <a:r>
                  <a:rPr lang="zh-CN" altLang="en-US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:endParaRPr lang="en-US" altLang="zh-CN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7970" algn="just">
                  <a:lnSpc>
                    <a:spcPts val="4000"/>
                  </a:lnSpc>
                  <a:spcAft>
                    <a:spcPts val="0"/>
                  </a:spcAft>
                </a:pPr>
                <a:r>
                  <a:rPr lang="zh-CN" altLang="en-US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（</a:t>
                </a:r>
                <a:r>
                  <a:rPr lang="en-US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𝒇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是流网络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𝑮</m:t>
                    </m:r>
                    <m:r>
                      <a:rPr lang="en-US" altLang="zh-CN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  <m:r>
                          <a:rPr lang="en-US" altLang="zh-CN" b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r>
                          <a:rPr lang="en-US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𝑬</m:t>
                        </m:r>
                      </m:e>
                    </m:d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的一个</a:t>
                </a:r>
                <a:r>
                  <a:rPr lang="zh-CN" altLang="zh-CN" b="1" kern="100" dirty="0">
                    <a:solidFill>
                      <a:srgbClr val="FFFF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最大流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；</a:t>
                </a:r>
                <a:endParaRPr lang="en-US" altLang="zh-CN" b="1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lvl="0" algn="just">
                  <a:lnSpc>
                    <a:spcPts val="4000"/>
                  </a:lnSpc>
                  <a:spcAft>
                    <a:spcPts val="0"/>
                  </a:spcAft>
                </a:pPr>
                <a:r>
                  <a:rPr lang="zh-CN" altLang="en-US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（</a:t>
                </a:r>
                <a:r>
                  <a:rPr lang="en-US" altLang="zh-CN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r>
                  <a:rPr lang="zh-CN" altLang="en-US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）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流网络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𝑮</m:t>
                    </m:r>
                    <m:r>
                      <a:rPr lang="en-US" altLang="zh-CN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  <m:r>
                          <a:rPr lang="en-US" altLang="zh-CN" b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r>
                          <a:rPr lang="en-US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𝑬</m:t>
                        </m:r>
                      </m:e>
                    </m:d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的残留网络</a:t>
                </a:r>
                <a:r>
                  <a:rPr lang="zh-CN" altLang="zh-CN" b="1" kern="100" dirty="0">
                    <a:solidFill>
                      <a:srgbClr val="FFFF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中不</a:t>
                </a:r>
                <a:r>
                  <a:rPr lang="zh-CN" altLang="en-US" b="1" kern="100" dirty="0">
                    <a:solidFill>
                      <a:srgbClr val="FFFF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存在</a:t>
                </a:r>
                <a:r>
                  <a:rPr lang="zh-CN" altLang="zh-CN" b="1" kern="100" dirty="0">
                    <a:solidFill>
                      <a:srgbClr val="FFFF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任何增广路径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；</a:t>
                </a:r>
              </a:p>
              <a:p>
                <a:pPr lvl="0" algn="just">
                  <a:lnSpc>
                    <a:spcPts val="4000"/>
                  </a:lnSpc>
                  <a:spcAft>
                    <a:spcPts val="0"/>
                  </a:spcAft>
                </a:pPr>
                <a:r>
                  <a:rPr lang="zh-CN" altLang="en-US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（</a:t>
                </a:r>
                <a:r>
                  <a:rPr lang="en-US" altLang="zh-CN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  <a:r>
                  <a:rPr lang="zh-CN" altLang="en-US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）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存在流网络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𝑮</m:t>
                    </m:r>
                    <m:r>
                      <a:rPr lang="en-US" altLang="zh-CN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  <m:r>
                          <a:rPr lang="en-US" altLang="zh-CN" b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r>
                          <a:rPr lang="en-US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𝑬</m:t>
                        </m:r>
                      </m:e>
                    </m:d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的某个切割</a:t>
                </a:r>
                <a14:m>
                  <m:oMath xmlns:m="http://schemas.openxmlformats.org/officeDocument/2006/math">
                    <m:r>
                      <a:rPr lang="en-US" altLang="zh-CN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𝑺</m:t>
                    </m:r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𝑻</m:t>
                    </m:r>
                    <m:r>
                      <a:rPr lang="en-US" altLang="zh-CN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，满足：</a:t>
                </a:r>
              </a:p>
              <a:p>
                <a:pPr marL="533400" indent="266700" algn="ctr">
                  <a:lnSpc>
                    <a:spcPts val="4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kern="100" smtClean="0">
                          <a:solidFill>
                            <a:srgbClr val="FFFF66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𝒇</m:t>
                      </m:r>
                      <m:r>
                        <a:rPr lang="en-US" altLang="zh-CN" b="1" kern="100">
                          <a:solidFill>
                            <a:srgbClr val="FFFF66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</m:t>
                      </m:r>
                      <m:r>
                        <a:rPr lang="en-US" altLang="zh-CN" b="1" i="1" kern="100">
                          <a:solidFill>
                            <a:srgbClr val="FFFF66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𝑺</m:t>
                      </m:r>
                      <m:r>
                        <a:rPr lang="en-US" altLang="zh-CN" b="1" i="1" kern="100">
                          <a:solidFill>
                            <a:srgbClr val="FFFF66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,</m:t>
                      </m:r>
                      <m:r>
                        <a:rPr lang="en-US" altLang="zh-CN" b="1" i="1" kern="100">
                          <a:solidFill>
                            <a:srgbClr val="FFFF66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𝑻</m:t>
                      </m:r>
                      <m:r>
                        <a:rPr lang="en-US" altLang="zh-CN" b="1" kern="100">
                          <a:solidFill>
                            <a:srgbClr val="FFFF66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)</m:t>
                      </m:r>
                      <m:r>
                        <a:rPr lang="en-US" altLang="zh-CN" b="1" i="1" kern="100">
                          <a:solidFill>
                            <a:srgbClr val="FFFF66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r>
                        <a:rPr lang="en-US" altLang="zh-CN" b="1" i="1" kern="100">
                          <a:solidFill>
                            <a:srgbClr val="FFFF66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𝒄</m:t>
                      </m:r>
                      <m:r>
                        <a:rPr lang="en-US" altLang="zh-CN" b="1" kern="100">
                          <a:solidFill>
                            <a:srgbClr val="FFFF66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</m:t>
                      </m:r>
                      <m:r>
                        <a:rPr lang="en-US" altLang="zh-CN" b="1" i="1" kern="100">
                          <a:solidFill>
                            <a:srgbClr val="FFFF66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𝑺</m:t>
                      </m:r>
                      <m:r>
                        <a:rPr lang="en-US" altLang="zh-CN" b="1" i="1" kern="100">
                          <a:solidFill>
                            <a:srgbClr val="FFFF66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,</m:t>
                      </m:r>
                      <m:r>
                        <a:rPr lang="en-US" altLang="zh-CN" b="1" i="1" kern="100">
                          <a:solidFill>
                            <a:srgbClr val="FFFF66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𝑻</m:t>
                      </m:r>
                      <m:r>
                        <a:rPr lang="en-US" altLang="zh-CN" b="1" kern="100">
                          <a:solidFill>
                            <a:srgbClr val="FFFF66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)</m:t>
                      </m:r>
                    </m:oMath>
                  </m:oMathPara>
                </a14:m>
                <a:endParaRPr lang="zh-CN" altLang="zh-CN" b="1" kern="100" dirty="0">
                  <a:solidFill>
                    <a:srgbClr val="FFFF66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49495BE-AB82-4672-A96A-14F1F10A3A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32" y="1856161"/>
                <a:ext cx="8640960" cy="4196020"/>
              </a:xfrm>
              <a:prstGeom prst="rect">
                <a:avLst/>
              </a:prstGeom>
              <a:blipFill>
                <a:blip r:embed="rId4"/>
                <a:stretch>
                  <a:fillRect l="-1129" r="-10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114329"/>
      </p:ext>
    </p:extLst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5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829E2EAC-18FC-49D7-9C38-5BED99ABC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682042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02C07241-5A69-42BA-AFD3-8E6E13AC2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656" y="770941"/>
            <a:ext cx="6335713" cy="83026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最大流最小割定理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68277304-0F9C-4B6F-812B-AF9AACE71B85}"/>
                  </a:ext>
                </a:extLst>
              </p:cNvPr>
              <p:cNvSpPr/>
              <p:nvPr/>
            </p:nvSpPr>
            <p:spPr>
              <a:xfrm>
                <a:off x="395536" y="1988840"/>
                <a:ext cx="8352928" cy="4197367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【证明】采用循环论证法证明：</a:t>
                </a:r>
              </a:p>
              <a:p>
                <a:pPr indent="267970"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zh-CN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）推出（</a:t>
                </a:r>
                <a:r>
                  <a:rPr lang="en-US" altLang="zh-CN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zh-CN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：用反证法。设</a:t>
                </a:r>
                <a14:m>
                  <m:oMath xmlns:m="http://schemas.openxmlformats.org/officeDocument/2006/math">
                    <m:r>
                      <a:rPr lang="en-US" altLang="zh-CN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𝒇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的最大流，但是其残留网络中包含增广路径</a:t>
                </a:r>
                <a14:m>
                  <m:oMath xmlns:m="http://schemas.openxmlformats.org/officeDocument/2006/math">
                    <m:r>
                      <a:rPr lang="en-US" altLang="zh-CN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𝑷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。显然此时沿着增广路径可以继续增大网络的流，则</a:t>
                </a:r>
                <a14:m>
                  <m:oMath xmlns:m="http://schemas.openxmlformats.org/officeDocument/2006/math">
                    <m:r>
                      <a:rPr lang="en-US" altLang="zh-CN" b="1" i="1" kern="100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𝒇</m:t>
                    </m:r>
                  </m:oMath>
                </a14:m>
                <a:r>
                  <a:rPr lang="zh-CN" altLang="zh-CN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不是</a:t>
                </a:r>
                <a14:m>
                  <m:oMath xmlns:m="http://schemas.openxmlformats.org/officeDocument/2006/math">
                    <m:r>
                      <a:rPr lang="en-US" altLang="zh-CN" b="1" i="1" kern="100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的最大流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与条件矛盾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</a:p>
              <a:p>
                <a:pPr>
                  <a:lnSpc>
                    <a:spcPts val="3600"/>
                  </a:lnSpc>
                </a:pPr>
                <a:r>
                  <a:rPr lang="en-US" altLang="zh-CN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</a:t>
                </a:r>
                <a:r>
                  <a:rPr lang="zh-CN" altLang="zh-CN" b="1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b="1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zh-CN" b="1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）推出（</a:t>
                </a:r>
                <a:r>
                  <a:rPr lang="en-US" altLang="zh-CN" b="1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zh-CN" b="1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zh-CN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：设其残留网络中不包含增广路径，即残留网络中</a:t>
                </a:r>
                <a:r>
                  <a:rPr lang="zh-CN" altLang="zh-CN" b="1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不包含从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𝒔</m:t>
                    </m:r>
                  </m:oMath>
                </a14:m>
                <a:r>
                  <a:rPr lang="zh-CN" altLang="zh-CN" b="1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𝒕</m:t>
                    </m:r>
                  </m:oMath>
                </a14:m>
                <a:r>
                  <a:rPr lang="zh-CN" altLang="zh-CN" b="1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的路径</a:t>
                </a:r>
                <a:r>
                  <a:rPr lang="zh-CN" altLang="zh-CN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r>
                  <a:rPr lang="en-US" altLang="zh-CN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令：</a:t>
                </a:r>
                <a:endParaRPr lang="en-US" altLang="zh-CN" b="1" i="1" dirty="0">
                  <a:solidFill>
                    <a:schemeClr val="bg1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>
                  <a:lnSpc>
                    <a:spcPts val="3600"/>
                  </a:lnSpc>
                </a:pP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𝑺</m:t>
                    </m:r>
                    <m:r>
                      <a:rPr lang="en-US" altLang="zh-CN" b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={</m:t>
                    </m:r>
                    <m:r>
                      <a:rPr lang="en-US" altLang="zh-CN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  <m:r>
                      <a:rPr lang="en-US" altLang="zh-CN" b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𝑽</m:t>
                    </m:r>
                  </m:oMath>
                </a14:m>
                <a:r>
                  <a:rPr lang="zh-CN" altLang="zh-CN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：残留网络中包含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𝒔</m:t>
                    </m:r>
                  </m:oMath>
                </a14:m>
                <a:r>
                  <a:rPr lang="zh-CN" altLang="zh-CN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</m:oMath>
                </a14:m>
                <a:r>
                  <a:rPr lang="zh-CN" altLang="zh-CN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的路径</a:t>
                </a:r>
                <a:r>
                  <a:rPr lang="en-US" altLang="zh-CN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}</a:t>
                </a:r>
                <a:r>
                  <a:rPr lang="zh-CN" altLang="zh-CN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𝑻</m:t>
                    </m:r>
                    <m:r>
                      <a:rPr lang="en-US" altLang="zh-CN" b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𝑽</m:t>
                    </m:r>
                    <m:r>
                      <a:rPr lang="en-US" altLang="zh-CN" b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–</m:t>
                    </m:r>
                    <m:r>
                      <a:rPr lang="en-US" altLang="zh-CN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𝑺</m:t>
                    </m:r>
                  </m:oMath>
                </a14:m>
                <a:endParaRPr lang="en-US" altLang="zh-CN" b="1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ts val="3600"/>
                  </a:lnSpc>
                </a:pPr>
                <a:r>
                  <a:rPr lang="en-US" altLang="zh-CN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</a:t>
                </a:r>
                <a:r>
                  <a:rPr lang="zh-CN" altLang="zh-CN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由于残留网络中不存在从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𝒔</m:t>
                    </m:r>
                  </m:oMath>
                </a14:m>
                <a:r>
                  <a:rPr lang="zh-CN" altLang="zh-CN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𝒕</m:t>
                    </m:r>
                  </m:oMath>
                </a14:m>
                <a:r>
                  <a:rPr lang="zh-CN" altLang="zh-CN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的路径，即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𝒕</m:t>
                    </m:r>
                    <m:r>
                      <a:rPr lang="en-US" altLang="zh-CN" b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∉</m:t>
                    </m:r>
                    <m:r>
                      <a:rPr lang="en-US" altLang="zh-CN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𝑺</m:t>
                    </m:r>
                  </m:oMath>
                </a14:m>
                <a:r>
                  <a:rPr lang="zh-CN" altLang="zh-CN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，故</a:t>
                </a:r>
                <a:r>
                  <a:rPr lang="zh-CN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可由此</a:t>
                </a:r>
                <a:r>
                  <a:rPr lang="zh-CN" altLang="zh-CN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得到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的一个</a:t>
                </a:r>
                <a:r>
                  <a:rPr lang="zh-CN" altLang="en-US" b="1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切</a:t>
                </a:r>
                <a:r>
                  <a:rPr lang="zh-CN" altLang="zh-CN" b="1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割</a:t>
                </a:r>
                <a14:m>
                  <m:oMath xmlns:m="http://schemas.openxmlformats.org/officeDocument/2006/math">
                    <m:r>
                      <a:rPr lang="en-US" altLang="zh-CN" b="1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𝑺</m:t>
                    </m:r>
                    <m:r>
                      <a:rPr lang="en-US" altLang="zh-CN" b="1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CN" b="1" i="1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𝑻</m:t>
                    </m:r>
                    <m:r>
                      <a:rPr lang="en-US" altLang="zh-CN" b="1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68277304-0F9C-4B6F-812B-AF9AACE71B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988840"/>
                <a:ext cx="8352928" cy="4197367"/>
              </a:xfrm>
              <a:prstGeom prst="rect">
                <a:avLst/>
              </a:prstGeom>
              <a:blipFill>
                <a:blip r:embed="rId4"/>
                <a:stretch>
                  <a:fillRect l="-1168" t="-581" r="-1095" b="-18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2207789"/>
      </p:ext>
    </p:extLst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5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829E2EAC-18FC-49D7-9C38-5BED99ABC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682042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02C07241-5A69-42BA-AFD3-8E6E13AC2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656" y="770941"/>
            <a:ext cx="6335713" cy="83026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最大流最小割定理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4328547A-338A-4CC2-B7E4-2D2E7C5FDE87}"/>
                  </a:ext>
                </a:extLst>
              </p:cNvPr>
              <p:cNvSpPr/>
              <p:nvPr/>
            </p:nvSpPr>
            <p:spPr>
              <a:xfrm>
                <a:off x="179512" y="1981174"/>
                <a:ext cx="8856984" cy="416870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indent="266700">
                  <a:lnSpc>
                    <a:spcPts val="3200"/>
                  </a:lnSpc>
                  <a:spcAft>
                    <a:spcPts val="0"/>
                  </a:spcAft>
                </a:pPr>
                <a:r>
                  <a:rPr lang="en-US" altLang="zh-CN" b="1" dirty="0"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zh-CN" b="1" kern="100" dirty="0">
                    <a:solidFill>
                      <a:srgbClr val="FFC0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【证明</a:t>
                </a:r>
                <a:r>
                  <a:rPr lang="en-US" altLang="zh-CN" b="1" kern="100" dirty="0">
                    <a:solidFill>
                      <a:srgbClr val="FFC0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en-US" b="1" kern="100" dirty="0">
                    <a:solidFill>
                      <a:srgbClr val="FFC0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续</a:t>
                </a:r>
                <a:r>
                  <a:rPr lang="en-US" altLang="zh-CN" b="1" kern="100" dirty="0">
                    <a:solidFill>
                      <a:srgbClr val="FFC0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b="1" kern="100" dirty="0">
                    <a:solidFill>
                      <a:srgbClr val="FFC0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】</a:t>
                </a:r>
                <a:r>
                  <a:rPr lang="zh-CN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对任意满足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𝒖</m:t>
                    </m:r>
                    <m:r>
                      <a:rPr lang="en-US" altLang="zh-CN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CN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𝑺</m:t>
                    </m:r>
                    <m:r>
                      <a:rPr lang="zh-CN" altLang="zh-CN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  <m:r>
                      <a:rPr lang="en-US" altLang="zh-CN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CN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𝑻</m:t>
                    </m:r>
                  </m:oMath>
                </a14:m>
                <a:r>
                  <a:rPr lang="zh-CN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的结点</a:t>
                </a:r>
                <a:r>
                  <a:rPr lang="zh-CN" altLang="zh-CN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，必</a:t>
                </a:r>
                <a:r>
                  <a:rPr lang="zh-CN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有：</a:t>
                </a:r>
                <a:endParaRPr lang="en-US" altLang="zh-CN" b="1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>
                  <a:lnSpc>
                    <a:spcPts val="32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𝒇</m:t>
                      </m:r>
                      <m:r>
                        <a:rPr lang="en-US" altLang="zh-CN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𝒖</m:t>
                      </m:r>
                      <m:r>
                        <a:rPr lang="en-US" altLang="zh-CN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𝒗</m:t>
                      </m:r>
                      <m:r>
                        <a:rPr lang="en-US" altLang="zh-CN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US" altLang="zh-CN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𝒄</m:t>
                      </m:r>
                      <m:r>
                        <a:rPr lang="en-US" altLang="zh-CN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𝒖</m:t>
                      </m:r>
                      <m:r>
                        <a:rPr lang="en-US" altLang="zh-CN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𝒗</m:t>
                      </m:r>
                      <m:r>
                        <a:rPr lang="en-US" altLang="zh-CN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b="1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>
                  <a:lnSpc>
                    <a:spcPts val="3200"/>
                  </a:lnSpc>
                  <a:spcAft>
                    <a:spcPts val="0"/>
                  </a:spcAft>
                </a:pPr>
                <a:r>
                  <a:rPr lang="en-US" altLang="zh-CN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</a:t>
                </a:r>
                <a:r>
                  <a:rPr lang="zh-CN" altLang="zh-CN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否则边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𝒖</m:t>
                    </m:r>
                    <m:r>
                      <a:rPr lang="en-US" altLang="zh-CN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CN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  <m:r>
                      <a:rPr lang="en-US" altLang="zh-CN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就会</a:t>
                </a:r>
                <a:r>
                  <a:rPr lang="zh-CN" altLang="zh-CN" b="1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存在于其残留网络的边集中</a:t>
                </a:r>
                <a:r>
                  <a:rPr lang="zh-CN" altLang="zh-CN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，那么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</m:oMath>
                </a14:m>
                <a:r>
                  <a:rPr lang="zh-CN" altLang="zh-CN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就应当属于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𝑺</m:t>
                    </m:r>
                  </m:oMath>
                </a14:m>
                <a:r>
                  <a:rPr lang="zh-CN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zh-CN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而事实上是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  <m:r>
                      <a:rPr lang="en-US" altLang="zh-CN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CN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𝑻</m:t>
                    </m:r>
                  </m:oMath>
                </a14:m>
                <a:r>
                  <a:rPr lang="zh-CN" altLang="zh-CN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得到</a:t>
                </a:r>
                <a:r>
                  <a:rPr lang="zh-CN" altLang="zh-CN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矛盾</a:t>
                </a:r>
                <a:r>
                  <a:rPr lang="zh-CN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zh-CN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故有</a:t>
                </a:r>
                <a:r>
                  <a:rPr lang="zh-CN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:endParaRPr lang="en-US" altLang="zh-CN" b="1" i="1" dirty="0">
                  <a:solidFill>
                    <a:schemeClr val="bg1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>
                  <a:lnSpc>
                    <a:spcPts val="32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𝒇</m:t>
                      </m:r>
                      <m:r>
                        <a:rPr lang="en-US" altLang="zh-CN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𝑺</m:t>
                      </m:r>
                      <m:r>
                        <a:rPr lang="en-US" altLang="zh-CN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altLang="zh-CN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𝑻</m:t>
                      </m:r>
                      <m:r>
                        <a:rPr lang="en-US" altLang="zh-CN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 = </m:t>
                      </m:r>
                      <m:r>
                        <a:rPr lang="en-US" altLang="zh-CN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𝒄</m:t>
                      </m:r>
                      <m:r>
                        <a:rPr lang="en-US" altLang="zh-CN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𝑺</m:t>
                      </m:r>
                      <m:r>
                        <a:rPr lang="en-US" altLang="zh-CN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altLang="zh-CN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𝑻</m:t>
                      </m:r>
                      <m:r>
                        <a:rPr lang="en-US" altLang="zh-CN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3200" b="1" dirty="0">
                  <a:solidFill>
                    <a:schemeClr val="bg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indent="266700">
                  <a:lnSpc>
                    <a:spcPts val="3200"/>
                  </a:lnSpc>
                  <a:spcAft>
                    <a:spcPts val="0"/>
                  </a:spcAft>
                </a:pPr>
                <a:r>
                  <a:rPr lang="en-US" altLang="zh-CN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zh-CN" b="1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b="1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zh-CN" b="1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）推出（</a:t>
                </a:r>
                <a:r>
                  <a:rPr lang="en-US" altLang="zh-CN" b="1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b="1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zh-CN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：已知流网络中任何流值都不大于任何割的容量</a:t>
                </a:r>
                <a:r>
                  <a:rPr lang="zh-CN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zh-CN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若存在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的某个</a:t>
                </a:r>
                <a:r>
                  <a:rPr lang="zh-CN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切</a:t>
                </a:r>
                <a:r>
                  <a:rPr lang="zh-CN" altLang="zh-CN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割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𝑺</m:t>
                    </m:r>
                    <m:r>
                      <a:rPr lang="en-US" altLang="zh-CN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CN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𝑻</m:t>
                    </m:r>
                    <m:r>
                      <a:rPr lang="en-US" altLang="zh-CN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，满足</a:t>
                </a:r>
                <a:r>
                  <a:rPr lang="zh-CN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:endParaRPr lang="en-US" altLang="zh-CN" b="1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>
                  <a:lnSpc>
                    <a:spcPts val="32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𝒇</m:t>
                      </m:r>
                      <m:d>
                        <m:dPr>
                          <m:ctrlPr>
                            <a:rPr lang="zh-CN" altLang="zh-CN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𝑺</m:t>
                          </m:r>
                          <m:r>
                            <a:rPr lang="en-US" altLang="zh-CN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zh-CN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𝑻</m:t>
                          </m:r>
                        </m:e>
                      </m:d>
                      <m:r>
                        <a:rPr lang="en-US" altLang="zh-CN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𝒄</m:t>
                      </m:r>
                      <m:r>
                        <a:rPr lang="en-US" altLang="zh-CN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𝑺</m:t>
                      </m:r>
                      <m:r>
                        <a:rPr lang="en-US" altLang="zh-CN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altLang="zh-CN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𝑻</m:t>
                      </m:r>
                      <m:r>
                        <a:rPr lang="en-US" altLang="zh-CN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b="1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>
                  <a:lnSpc>
                    <a:spcPts val="3200"/>
                  </a:lnSpc>
                  <a:spcAft>
                    <a:spcPts val="0"/>
                  </a:spcAft>
                </a:pPr>
                <a:r>
                  <a:rPr lang="zh-CN" altLang="zh-CN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则说明</a:t>
                </a:r>
                <a:r>
                  <a:rPr lang="zh-CN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切</a:t>
                </a:r>
                <a:r>
                  <a:rPr lang="zh-CN" altLang="zh-CN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割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𝑺</m:t>
                    </m:r>
                    <m:r>
                      <a:rPr lang="en-US" altLang="zh-CN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CN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𝑻</m:t>
                    </m:r>
                    <m:r>
                      <a:rPr lang="en-US" altLang="zh-CN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的流</a:t>
                </a:r>
                <a:r>
                  <a:rPr lang="zh-CN" altLang="en-US" b="1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已达</a:t>
                </a:r>
                <a:r>
                  <a:rPr lang="zh-CN" altLang="zh-CN" b="1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网络流的上界，</a:t>
                </a:r>
                <a:r>
                  <a:rPr lang="zh-CN" altLang="en-US" b="1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故</a:t>
                </a:r>
                <a:r>
                  <a:rPr lang="zh-CN" altLang="zh-CN" b="1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必</a:t>
                </a:r>
                <a:r>
                  <a:rPr lang="zh-CN" altLang="en-US" b="1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</a:t>
                </a:r>
                <a:r>
                  <a:rPr lang="zh-CN" altLang="zh-CN" b="1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最大流。</a:t>
                </a:r>
              </a:p>
              <a:p>
                <a:pPr indent="266700" algn="just">
                  <a:lnSpc>
                    <a:spcPts val="3200"/>
                  </a:lnSpc>
                  <a:spcAft>
                    <a:spcPts val="0"/>
                  </a:spcAft>
                </a:pPr>
                <a:r>
                  <a:rPr lang="en-US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综上所述，定理得证。</a:t>
                </a: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4328547A-338A-4CC2-B7E4-2D2E7C5FDE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981174"/>
                <a:ext cx="8856984" cy="4168705"/>
              </a:xfrm>
              <a:prstGeom prst="rect">
                <a:avLst/>
              </a:prstGeom>
              <a:blipFill>
                <a:blip r:embed="rId4"/>
                <a:stretch>
                  <a:fillRect l="-1032" t="-1462" r="-275" b="-1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9641667"/>
      </p:ext>
    </p:extLst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日期占位符 3">
            <a:extLst>
              <a:ext uri="{FF2B5EF4-FFF2-40B4-BE49-F238E27FC236}">
                <a16:creationId xmlns:a16="http://schemas.microsoft.com/office/drawing/2014/main" id="{4423CDE6-4D1A-4FD8-AF03-0153C6993AD1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BE48E2A-76F3-4D90-BE17-C5B9CCB720DF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8547" name="页脚占位符 4">
            <a:extLst>
              <a:ext uri="{FF2B5EF4-FFF2-40B4-BE49-F238E27FC236}">
                <a16:creationId xmlns:a16="http://schemas.microsoft.com/office/drawing/2014/main" id="{E4A98D63-1608-464A-A779-40A96FA419BE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108548" name="灯片编号占位符 5">
            <a:extLst>
              <a:ext uri="{FF2B5EF4-FFF2-40B4-BE49-F238E27FC236}">
                <a16:creationId xmlns:a16="http://schemas.microsoft.com/office/drawing/2014/main" id="{DB48124E-982B-47B2-B858-4262E9FA5C70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97E10FA0-2C19-4D69-BE98-2B960E0DD000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30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8549" name="Text Box 2">
            <a:extLst>
              <a:ext uri="{FF2B5EF4-FFF2-40B4-BE49-F238E27FC236}">
                <a16:creationId xmlns:a16="http://schemas.microsoft.com/office/drawing/2014/main" id="{EDA75375-1B44-4870-8448-4C38DAB67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836613"/>
            <a:ext cx="7129463" cy="83026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网络流图及其优化</a:t>
            </a:r>
          </a:p>
        </p:txBody>
      </p:sp>
      <p:sp>
        <p:nvSpPr>
          <p:cNvPr id="108550" name="Rectangle 3">
            <a:extLst>
              <a:ext uri="{FF2B5EF4-FFF2-40B4-BE49-F238E27FC236}">
                <a16:creationId xmlns:a16="http://schemas.microsoft.com/office/drawing/2014/main" id="{46F277D4-6C27-452B-9B55-E887C8339C9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339752" y="2420888"/>
            <a:ext cx="4535487" cy="3025105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4"/>
            </a:pPr>
            <a:r>
              <a:rPr lang="zh-CN" altLang="en-US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流网络基本概念</a:t>
            </a:r>
            <a:endParaRPr lang="en-US" altLang="zh-CN" sz="3600" b="1" dirty="0"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4"/>
            </a:pPr>
            <a:r>
              <a:rPr lang="zh-CN" altLang="en-US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最大流与最小割</a:t>
            </a:r>
            <a:endParaRPr lang="en-US" altLang="zh-CN" sz="3600" b="1" dirty="0"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J"/>
            </a:pPr>
            <a:r>
              <a:rPr lang="zh-CN" altLang="en-US" sz="3600" b="1" dirty="0"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最大流求解算法</a:t>
            </a:r>
          </a:p>
        </p:txBody>
      </p:sp>
      <p:pic>
        <p:nvPicPr>
          <p:cNvPr id="108551" name="Picture 7" descr="C:\Program Files\Microsoft Office\MEDIA\CAGCAT10\j0292982.wmf">
            <a:extLst>
              <a:ext uri="{FF2B5EF4-FFF2-40B4-BE49-F238E27FC236}">
                <a16:creationId xmlns:a16="http://schemas.microsoft.com/office/drawing/2014/main" id="{DB77FC21-083D-4812-8C0C-DE7303D132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575" y="4738688"/>
            <a:ext cx="137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6785247"/>
      </p:ext>
    </p:extLst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5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829E2EAC-18FC-49D7-9C38-5BED99ABC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682042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02C07241-5A69-42BA-AFD3-8E6E13AC2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656" y="770941"/>
            <a:ext cx="6335713" cy="83026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最大流求解算法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493F10E-C61C-4619-B675-1016CBA3DB8B}"/>
              </a:ext>
            </a:extLst>
          </p:cNvPr>
          <p:cNvSpPr/>
          <p:nvPr/>
        </p:nvSpPr>
        <p:spPr>
          <a:xfrm>
            <a:off x="755576" y="2060848"/>
            <a:ext cx="7848872" cy="4075411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indent="266700" algn="just">
              <a:lnSpc>
                <a:spcPts val="4500"/>
              </a:lnSpc>
              <a:spcAft>
                <a:spcPts val="0"/>
              </a:spcAft>
            </a:pPr>
            <a:r>
              <a:rPr lang="en-US" altLang="zh-CN" sz="2800" b="1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zh-CN" altLang="zh-CN" sz="2800" b="1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网络流理论证明了</a:t>
            </a:r>
            <a:r>
              <a:rPr lang="zh-CN" altLang="zh-CN" sz="28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最大流量一定等于最小割容量</a:t>
            </a:r>
            <a:r>
              <a:rPr lang="zh-CN" altLang="zh-CN" sz="2800" b="1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这个重要结论</a:t>
            </a:r>
            <a:r>
              <a:rPr lang="zh-CN" altLang="en-US" sz="2800" b="1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。可</a:t>
            </a:r>
            <a:r>
              <a:rPr lang="zh-CN" altLang="zh-CN" sz="2800" b="1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根据这一结论设计并实现了多种最大流的算法</a:t>
            </a:r>
            <a:r>
              <a:rPr lang="zh-CN" altLang="en-US" sz="2800" b="1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2800" b="1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经典</a:t>
            </a:r>
            <a:r>
              <a:rPr lang="zh-CN" altLang="en-US" sz="2800" b="1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算法主要</a:t>
            </a:r>
            <a:r>
              <a:rPr lang="zh-CN" altLang="zh-CN" sz="2800" b="1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有</a:t>
            </a:r>
            <a:r>
              <a:rPr lang="zh-CN" altLang="en-US" sz="2800" b="1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800" b="1" kern="1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ts val="4500"/>
              </a:lnSpc>
              <a:spcAft>
                <a:spcPts val="0"/>
              </a:spcAft>
            </a:pPr>
            <a:r>
              <a:rPr lang="en-US" altLang="zh-CN" sz="28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Ford-Fulkerson</a:t>
            </a:r>
            <a:r>
              <a:rPr lang="zh-CN" altLang="zh-CN" sz="28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算法</a:t>
            </a:r>
            <a:r>
              <a:rPr lang="zh-CN" altLang="en-US" sz="28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2F</a:t>
            </a:r>
            <a:r>
              <a:rPr lang="zh-CN" altLang="en-US" sz="28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算法）</a:t>
            </a:r>
            <a:endParaRPr lang="en-US" altLang="zh-CN" sz="2800" b="1" kern="10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ts val="4500"/>
              </a:lnSpc>
              <a:spcAft>
                <a:spcPts val="0"/>
              </a:spcAft>
            </a:pPr>
            <a:r>
              <a:rPr lang="en-US" altLang="zh-CN" sz="28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Edmonds-Karp</a:t>
            </a:r>
            <a:r>
              <a:rPr lang="zh-CN" altLang="zh-CN" sz="28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算法</a:t>
            </a:r>
            <a:r>
              <a:rPr lang="zh-CN" altLang="en-US" sz="28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EP</a:t>
            </a:r>
            <a:r>
              <a:rPr lang="zh-CN" altLang="en-US" sz="28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算法）</a:t>
            </a:r>
            <a:endParaRPr lang="en-US" altLang="zh-CN" sz="2800" b="1" kern="10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ts val="4500"/>
              </a:lnSpc>
              <a:spcAft>
                <a:spcPts val="0"/>
              </a:spcAft>
            </a:pPr>
            <a:r>
              <a:rPr lang="en-US" altLang="zh-CN" sz="28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</a:t>
            </a:r>
            <a:r>
              <a:rPr lang="en-US" altLang="zh-CN" sz="2800" b="1" kern="100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Dinic</a:t>
            </a:r>
            <a:r>
              <a:rPr lang="zh-CN" altLang="zh-CN" sz="28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算法</a:t>
            </a:r>
            <a:endParaRPr lang="en-US" altLang="zh-CN" sz="2800" b="1" kern="10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ts val="4500"/>
              </a:lnSpc>
              <a:spcAft>
                <a:spcPts val="0"/>
              </a:spcAft>
            </a:pPr>
            <a:r>
              <a:rPr lang="en-US" altLang="zh-CN" sz="28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</a:t>
            </a:r>
            <a:r>
              <a:rPr lang="zh-CN" altLang="zh-CN" sz="28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预流推进算法</a:t>
            </a:r>
            <a:endParaRPr lang="zh-CN" altLang="zh-CN" sz="2800" b="1" kern="100" dirty="0">
              <a:solidFill>
                <a:srgbClr val="0000FF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0748500"/>
      </p:ext>
    </p:extLst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5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829E2EAC-18FC-49D7-9C38-5BED99ABC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682042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2">
            <a:extLst>
              <a:ext uri="{FF2B5EF4-FFF2-40B4-BE49-F238E27FC236}">
                <a16:creationId xmlns:a16="http://schemas.microsoft.com/office/drawing/2014/main" id="{9B8BA7DF-5FFD-4144-8525-CEF9B98D04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656" y="598182"/>
            <a:ext cx="6335713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2F</a:t>
            </a: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算法基本思路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8C87763A-43CA-4444-9347-15826B9E9060}"/>
                  </a:ext>
                </a:extLst>
              </p:cNvPr>
              <p:cNvSpPr/>
              <p:nvPr/>
            </p:nvSpPr>
            <p:spPr>
              <a:xfrm>
                <a:off x="89756" y="1690105"/>
                <a:ext cx="8964488" cy="4569713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ts val="2700"/>
                  </a:lnSpc>
                  <a:spcAft>
                    <a:spcPts val="0"/>
                  </a:spcAft>
                </a:pPr>
                <a:r>
                  <a:rPr lang="en-US" altLang="zh-CN" sz="2000" b="1" kern="1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2F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算法</a:t>
                </a:r>
                <a:r>
                  <a:rPr lang="zh-CN" altLang="en-US" sz="2000" b="1" kern="1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迭代算法，基本思路如下：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首先，对所有结点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𝒖</m:t>
                    </m:r>
                    <m:r>
                      <a:rPr lang="en-US" altLang="zh-CN" sz="2000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  <m:r>
                      <a:rPr lang="en-US" altLang="zh-CN" sz="2000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𝑽</m:t>
                    </m:r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𝒇</m:t>
                    </m:r>
                    <m:r>
                      <a:rPr lang="en-US" altLang="zh-CN" sz="2000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𝒖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  <m:r>
                      <a:rPr lang="en-US" altLang="zh-CN" sz="2000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zh-CN" altLang="en-US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然后，通过迭代方式</a:t>
                </a:r>
                <a:r>
                  <a:rPr lang="zh-CN" altLang="zh-CN" sz="20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不断在残留网络中寻找一个增广路径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来增加流值，直到</a:t>
                </a:r>
                <a:r>
                  <a:rPr lang="zh-CN" altLang="zh-CN" sz="20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残留网络中不包括增广路径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为止。具体地说：</a:t>
                </a:r>
                <a:endParaRPr lang="en-US" altLang="zh-CN" sz="2000" b="1" kern="100" dirty="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ts val="2700"/>
                  </a:lnSpc>
                  <a:spcAft>
                    <a:spcPts val="0"/>
                  </a:spcAft>
                </a:pPr>
                <a:r>
                  <a:rPr lang="en-US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首先，</a:t>
                </a:r>
                <a:r>
                  <a:rPr lang="zh-CN" altLang="zh-CN" sz="2000" b="1" kern="105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初始化一条容量为</a:t>
                </a:r>
                <a:r>
                  <a:rPr lang="en-US" altLang="zh-CN" sz="2000" b="1" kern="105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zh-CN" sz="2000" b="1" kern="105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的流</a:t>
                </a:r>
                <a14:m>
                  <m:oMath xmlns:m="http://schemas.openxmlformats.org/officeDocument/2006/math">
                    <m:r>
                      <a:rPr lang="en-US" altLang="zh-CN" sz="2000" b="1" i="1" kern="10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𝒇</m:t>
                    </m:r>
                  </m:oMath>
                </a14:m>
                <a:r>
                  <a:rPr lang="zh-CN" altLang="zh-CN" sz="2000" b="1" kern="105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和一个残余网络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b="1" i="1" kern="10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000" b="1" i="1" kern="10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𝒇</m:t>
                        </m:r>
                      </m:sub>
                    </m:sSub>
                  </m:oMath>
                </a14:m>
                <a:r>
                  <a:rPr lang="zh-CN" altLang="zh-CN" sz="2000" b="1" kern="105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，第一个残余网络为原图</a:t>
                </a:r>
                <a14:m>
                  <m:oMath xmlns:m="http://schemas.openxmlformats.org/officeDocument/2006/math">
                    <m:r>
                      <a:rPr lang="en-US" altLang="zh-CN" sz="2000" b="1" i="1" kern="10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000" b="1" kern="105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2000" b="1" kern="105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每条边的残留容量初始化为每条边的初始容量</a:t>
                </a:r>
                <a:r>
                  <a:rPr lang="zh-CN" altLang="en-US" sz="2000" b="1" kern="105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:endParaRPr lang="en-US" altLang="zh-CN" sz="2000" b="1" kern="1050" dirty="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ts val="27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000" b="1" i="1" kern="10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000" b="1" i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𝒇</m:t>
                          </m:r>
                        </m:sub>
                      </m:sSub>
                      <m:d>
                        <m:dPr>
                          <m:begChr m:val="（"/>
                          <m:endChr m:val="）"/>
                          <m:ctrlPr>
                            <a:rPr lang="zh-CN" altLang="zh-CN" sz="2000" b="1" i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𝒖</m:t>
                          </m:r>
                          <m:r>
                            <a:rPr lang="en-US" altLang="zh-CN" sz="2000" b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2000" b="1" i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𝒗</m:t>
                          </m:r>
                        </m:e>
                      </m:d>
                      <m:r>
                        <a:rPr lang="en-US" altLang="zh-CN" sz="2000" b="1" i="1" kern="1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000" b="1" i="1" kern="1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𝒄</m:t>
                      </m:r>
                      <m:d>
                        <m:dPr>
                          <m:begChr m:val="（"/>
                          <m:endChr m:val="）"/>
                          <m:ctrlPr>
                            <a:rPr lang="zh-CN" altLang="zh-CN" sz="2000" b="1" i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𝒖</m:t>
                          </m:r>
                          <m:r>
                            <a:rPr lang="en-US" altLang="zh-CN" sz="2000" b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2000" b="1" i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𝒗</m:t>
                          </m:r>
                        </m:e>
                      </m:d>
                    </m:oMath>
                  </m:oMathPara>
                </a14:m>
                <a:endParaRPr lang="en-US" altLang="zh-CN" sz="2000" b="1" kern="1050" dirty="0">
                  <a:solidFill>
                    <a:srgbClr val="0000FF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ts val="2700"/>
                  </a:lnSpc>
                  <a:spcAft>
                    <a:spcPts val="0"/>
                  </a:spcAft>
                </a:pPr>
                <a:r>
                  <a:rPr lang="en-US" altLang="zh-CN" sz="2000" b="1" kern="105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zh-CN" sz="2000" b="1" kern="105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然后，在</a:t>
                </a:r>
                <a:r>
                  <a:rPr lang="zh-CN" altLang="zh-CN" sz="2000" b="1" kern="105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残留网络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b="1" i="1" kern="105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5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000" b="1" i="1" kern="105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𝒇</m:t>
                        </m:r>
                      </m:sub>
                    </m:sSub>
                  </m:oMath>
                </a14:m>
                <a:r>
                  <a:rPr lang="zh-CN" altLang="zh-CN" sz="2000" b="1" kern="105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中寻找增广路径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𝑷</m:t>
                    </m:r>
                  </m:oMath>
                </a14:m>
                <a:r>
                  <a:rPr lang="zh-CN" altLang="zh-CN" sz="2000" b="1" kern="105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，取增广路径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𝑷</m:t>
                    </m:r>
                  </m:oMath>
                </a14:m>
                <a:r>
                  <a:rPr lang="zh-CN" altLang="zh-CN" sz="2000" b="1" kern="105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中的边的残留容量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𝒇</m:t>
                        </m:r>
                      </m:sub>
                    </m:sSub>
                    <m:d>
                      <m:dPr>
                        <m:begChr m:val="（"/>
                        <m:endChr m:val="）"/>
                        <m:ctrlPr>
                          <a:rPr lang="zh-CN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𝒖</m:t>
                        </m:r>
                        <m:r>
                          <a:rPr lang="en-US" altLang="zh-CN" sz="2000" b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</m:d>
                  </m:oMath>
                </a14:m>
                <a:r>
                  <a:rPr lang="zh-CN" altLang="zh-CN" sz="2000" b="1" kern="105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最小值作为流的增量</a:t>
                </a:r>
                <a14:m>
                  <m:oMath xmlns:m="http://schemas.openxmlformats.org/officeDocument/2006/math">
                    <m:r>
                      <a:rPr lang="en-US" altLang="zh-CN" sz="2000" b="1" kern="10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△</m:t>
                    </m:r>
                    <m:r>
                      <a:rPr lang="en-US" altLang="zh-CN" sz="2000" b="1" i="1" kern="10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𝒇</m:t>
                    </m:r>
                  </m:oMath>
                </a14:m>
                <a:r>
                  <a:rPr lang="zh-CN" altLang="zh-CN" sz="2000" b="1" kern="105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，使得</a:t>
                </a:r>
                <a:r>
                  <a:rPr lang="zh-CN" altLang="en-US" sz="2000" b="1" kern="105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:endParaRPr lang="en-US" altLang="zh-CN" sz="2000" b="1" i="1" kern="1050" dirty="0">
                  <a:solidFill>
                    <a:schemeClr val="tx1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ts val="27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kern="105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𝒇</m:t>
                      </m:r>
                      <m:r>
                        <a:rPr lang="en-US" altLang="zh-CN" sz="2000" b="1" i="1" kern="105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′</m:t>
                      </m:r>
                      <m:r>
                        <a:rPr lang="en-US" altLang="zh-CN" sz="2000" b="1" kern="105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000" b="1" i="1" kern="105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𝒇</m:t>
                      </m:r>
                      <m:r>
                        <a:rPr lang="en-US" altLang="zh-CN" sz="2000" b="1" kern="105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+△</m:t>
                      </m:r>
                      <m:r>
                        <a:rPr lang="en-US" altLang="zh-CN" sz="2000" b="1" i="1" kern="105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𝒇</m:t>
                      </m:r>
                    </m:oMath>
                  </m:oMathPara>
                </a14:m>
                <a:endParaRPr lang="en-US" altLang="zh-CN" sz="2000" b="1" kern="1050" dirty="0">
                  <a:solidFill>
                    <a:srgbClr val="0000FF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ts val="2700"/>
                  </a:lnSpc>
                  <a:spcAft>
                    <a:spcPts val="0"/>
                  </a:spcAft>
                </a:pPr>
                <a:r>
                  <a:rPr lang="zh-CN" altLang="en-US" sz="2000" b="1" kern="105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最后，</a:t>
                </a:r>
                <a:r>
                  <a:rPr lang="zh-CN" altLang="zh-CN" sz="2000" b="1" kern="105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修改剩余图中每条边的容量：</a:t>
                </a:r>
                <a:endParaRPr lang="zh-CN" altLang="zh-CN" sz="2000" b="1" kern="100" dirty="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9875" algn="ctr">
                  <a:lnSpc>
                    <a:spcPts val="27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000" b="1" i="1" kern="10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000" b="1" i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zh-CN" sz="2000" b="1" i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𝒇</m:t>
                        </m:r>
                      </m:sub>
                      <m:sup>
                        <m:r>
                          <a:rPr lang="en-US" altLang="zh-CN" sz="2000" b="1" i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begChr m:val="（"/>
                        <m:endChr m:val="）"/>
                        <m:ctrlPr>
                          <a:rPr lang="zh-CN" altLang="zh-CN" sz="2000" b="1" i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b="1" i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𝒖</m:t>
                        </m:r>
                        <m:r>
                          <a:rPr lang="en-US" altLang="zh-CN" sz="2000" b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000" b="1" i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</m:d>
                    <m:r>
                      <a:rPr lang="en-US" altLang="zh-CN" sz="2000" b="1" kern="105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2000" b="1" i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zh-CN" sz="2000" b="1" i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𝒇</m:t>
                        </m:r>
                      </m:sub>
                    </m:sSub>
                    <m:d>
                      <m:dPr>
                        <m:begChr m:val="（"/>
                        <m:endChr m:val="）"/>
                        <m:ctrlPr>
                          <a:rPr lang="zh-CN" altLang="zh-CN" sz="2000" b="1" i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b="1" i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𝒖</m:t>
                        </m:r>
                        <m:r>
                          <a:rPr lang="en-US" altLang="zh-CN" sz="2000" b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000" b="1" i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</m:d>
                    <m:r>
                      <a:rPr lang="en-US" altLang="zh-CN" sz="2000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000" b="1" kern="105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△</m:t>
                    </m:r>
                    <m:r>
                      <a:rPr lang="en-US" altLang="zh-CN" sz="2000" b="1" i="1" kern="105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𝒇</m:t>
                    </m:r>
                  </m:oMath>
                </a14:m>
                <a:r>
                  <a:rPr lang="en-US" altLang="zh-CN" sz="2000" b="1" kern="105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</a:t>
                </a:r>
              </a:p>
              <a:p>
                <a:pPr indent="269875">
                  <a:lnSpc>
                    <a:spcPts val="2700"/>
                  </a:lnSpc>
                  <a:spcAft>
                    <a:spcPts val="0"/>
                  </a:spcAft>
                </a:pPr>
                <a:r>
                  <a:rPr lang="zh-CN" altLang="zh-CN" sz="2000" b="1" kern="105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得到残留网络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b="1" i="1" kern="10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000" b="1" i="1" kern="10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𝒇</m:t>
                        </m:r>
                      </m:sub>
                    </m:sSub>
                  </m:oMath>
                </a14:m>
                <a:r>
                  <a:rPr lang="zh-CN" altLang="zh-CN" sz="2000" b="1" kern="105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2000" b="1" kern="1050" dirty="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9875">
                  <a:lnSpc>
                    <a:spcPts val="2700"/>
                  </a:lnSpc>
                  <a:spcAft>
                    <a:spcPts val="0"/>
                  </a:spcAft>
                </a:pPr>
                <a:r>
                  <a:rPr lang="zh-CN" altLang="zh-CN" sz="2000" b="1" kern="105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重复上述过程，直到找不到一条增广路径为止。</a:t>
                </a:r>
                <a:endParaRPr lang="zh-CN" altLang="zh-CN" sz="2000" b="1" kern="100" dirty="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8C87763A-43CA-4444-9347-15826B9E90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56" y="1690105"/>
                <a:ext cx="8964488" cy="4569713"/>
              </a:xfrm>
              <a:prstGeom prst="rect">
                <a:avLst/>
              </a:prstGeom>
              <a:blipFill>
                <a:blip r:embed="rId4"/>
                <a:stretch>
                  <a:fillRect l="-748" t="-800" r="-680" b="-9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4071338"/>
      </p:ext>
    </p:extLst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5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829E2EAC-18FC-49D7-9C38-5BED99ABC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682042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A3C90875-005C-46EC-9BDD-E5F4D15CB435}"/>
                  </a:ext>
                </a:extLst>
              </p:cNvPr>
              <p:cNvSpPr/>
              <p:nvPr/>
            </p:nvSpPr>
            <p:spPr>
              <a:xfrm>
                <a:off x="323528" y="1776889"/>
                <a:ext cx="8207943" cy="4431598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ts val="3800"/>
                  </a:lnSpc>
                  <a:spcAft>
                    <a:spcPts val="0"/>
                  </a:spcAft>
                </a:pPr>
                <a:r>
                  <a:rPr lang="en-US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设有向图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b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</m:d>
                  </m:oMath>
                </a14:m>
                <a:r>
                  <a:rPr lang="zh-CN" altLang="en-US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网络流图，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b="1" kern="105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结点</m:t>
                    </m:r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𝒔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𝒕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分别为其源点和汇点，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𝒇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的一个流，则</a:t>
                </a:r>
                <a:r>
                  <a:rPr lang="en-US" altLang="zh-CN" b="1" kern="1050" dirty="0">
                    <a:solidFill>
                      <a:srgbClr val="FFFF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2F</a:t>
                </a:r>
                <a:r>
                  <a:rPr lang="zh-CN" altLang="zh-CN" b="1" kern="105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算法基本</a:t>
                </a:r>
                <a:r>
                  <a:rPr lang="zh-CN" altLang="en-US" b="1" kern="105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流程</a:t>
                </a:r>
                <a:r>
                  <a:rPr lang="zh-CN" altLang="zh-CN" b="1" kern="105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如下：</a:t>
                </a:r>
                <a:endParaRPr lang="zh-CN" altLang="zh-CN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9875" algn="just">
                  <a:lnSpc>
                    <a:spcPts val="3800"/>
                  </a:lnSpc>
                  <a:spcAft>
                    <a:spcPts val="0"/>
                  </a:spcAft>
                </a:pPr>
                <a:r>
                  <a:rPr lang="zh-CN" altLang="en-US" b="1" kern="105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（</a:t>
                </a:r>
                <a:r>
                  <a:rPr lang="en-US" altLang="zh-CN" b="1" kern="105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b="1" kern="105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en-US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初始化</a:t>
                </a:r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网络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b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</m:d>
                  </m:oMath>
                </a14:m>
                <a:r>
                  <a:rPr lang="zh-CN" altLang="zh-CN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，使</a:t>
                </a:r>
                <a:r>
                  <a:rPr lang="zh-CN" altLang="en-US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得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𝒇</m:t>
                    </m:r>
                    <m:r>
                      <a:rPr lang="en-US" altLang="zh-CN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𝒆</m:t>
                    </m:r>
                    <m:r>
                      <a:rPr lang="en-US" altLang="zh-CN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𝟎</m:t>
                    </m:r>
                    <m:r>
                      <a:rPr lang="zh-CN" altLang="zh-CN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𝒆</m:t>
                    </m:r>
                    <m:r>
                      <a:rPr lang="zh-CN" altLang="zh-CN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CN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𝑬</m:t>
                    </m:r>
                  </m:oMath>
                </a14:m>
                <a:r>
                  <a:rPr lang="zh-CN" altLang="zh-CN" b="1" kern="105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 </a:t>
                </a:r>
                <a:endParaRPr lang="zh-CN" altLang="zh-CN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9875" algn="just">
                  <a:lnSpc>
                    <a:spcPts val="3800"/>
                  </a:lnSpc>
                  <a:spcAft>
                    <a:spcPts val="0"/>
                  </a:spcAft>
                </a:pPr>
                <a:r>
                  <a:rPr lang="zh-CN" altLang="en-US" b="1" kern="105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（</a:t>
                </a:r>
                <a:r>
                  <a:rPr lang="en-US" altLang="zh-CN" b="1" kern="105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en-US" b="1" kern="105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zh-CN" b="1" kern="105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给源点</a:t>
                </a:r>
                <a14:m>
                  <m:oMath xmlns:m="http://schemas.openxmlformats.org/officeDocument/2006/math">
                    <m:r>
                      <a:rPr lang="en-US" altLang="zh-CN" b="1" i="1" kern="105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𝒔</m:t>
                    </m:r>
                  </m:oMath>
                </a14:m>
                <a:r>
                  <a:rPr lang="zh-CN" altLang="zh-CN" b="1" kern="105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标号</a:t>
                </a:r>
                <a14:m>
                  <m:oMath xmlns:m="http://schemas.openxmlformats.org/officeDocument/2006/math">
                    <m:r>
                      <a:rPr lang="en-US" altLang="zh-CN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 kern="105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zh-CN" altLang="zh-CN" b="1" kern="105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Arial" panose="020B0604020202020204" pitchFamily="34" charset="0"/>
                      </a:rPr>
                      <m:t>∞</m:t>
                    </m:r>
                    <m:r>
                      <a:rPr lang="en-US" altLang="zh-CN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b="1" kern="105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，其它结点均未标号；</a:t>
                </a:r>
                <a:endParaRPr lang="zh-CN" altLang="zh-CN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9875" algn="just">
                  <a:lnSpc>
                    <a:spcPts val="3800"/>
                  </a:lnSpc>
                  <a:spcAft>
                    <a:spcPts val="0"/>
                  </a:spcAft>
                </a:pPr>
                <a:r>
                  <a:rPr lang="zh-CN" altLang="en-US" b="1" kern="105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（</a:t>
                </a:r>
                <a:r>
                  <a:rPr lang="en-US" altLang="zh-CN" b="1" kern="105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en-US" b="1" kern="105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zh-CN" b="1" kern="105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依次选一个未标号结点，根据其方向进行标号，若当前标号的结点为汇点</a:t>
                </a:r>
                <a14:m>
                  <m:oMath xmlns:m="http://schemas.openxmlformats.org/officeDocument/2006/math">
                    <m:r>
                      <a:rPr lang="en-US" altLang="zh-CN" b="1" i="1" kern="105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𝒕</m:t>
                    </m:r>
                  </m:oMath>
                </a14:m>
                <a:r>
                  <a:rPr lang="zh-CN" altLang="zh-CN" b="1" kern="105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b="1" kern="105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则</a:t>
                </a:r>
                <a:r>
                  <a:rPr lang="zh-CN" altLang="zh-CN" b="1" kern="105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转</a:t>
                </a:r>
                <a:r>
                  <a:rPr lang="zh-CN" altLang="en-US" b="1" kern="105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到（</a:t>
                </a:r>
                <a:r>
                  <a:rPr lang="en-US" altLang="zh-CN" b="1" kern="105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4</a:t>
                </a:r>
                <a:r>
                  <a:rPr lang="zh-CN" altLang="en-US" b="1" kern="105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zh-CN" b="1" kern="105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，否则转</a:t>
                </a:r>
                <a:r>
                  <a:rPr lang="zh-CN" altLang="en-US" b="1" kern="105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到（</a:t>
                </a:r>
                <a:r>
                  <a:rPr lang="en-US" altLang="zh-CN" b="1" kern="105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6</a:t>
                </a:r>
                <a:r>
                  <a:rPr lang="zh-CN" altLang="en-US" b="1" kern="105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zh-CN" b="1" kern="105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:endParaRPr lang="zh-CN" altLang="zh-CN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9875" algn="just">
                  <a:lnSpc>
                    <a:spcPts val="3800"/>
                  </a:lnSpc>
                  <a:spcAft>
                    <a:spcPts val="0"/>
                  </a:spcAft>
                </a:pPr>
                <a:r>
                  <a:rPr lang="zh-CN" altLang="en-US" b="1" kern="105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（</a:t>
                </a:r>
                <a:r>
                  <a:rPr lang="en-US" altLang="zh-CN" b="1" kern="105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4</a:t>
                </a:r>
                <a:r>
                  <a:rPr lang="zh-CN" altLang="en-US" b="1" kern="105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zh-CN" b="1" kern="105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选择一条</a:t>
                </a:r>
                <a:r>
                  <a:rPr lang="zh-CN" altLang="en-US" b="1" kern="105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已经</a:t>
                </a:r>
                <a:r>
                  <a:rPr lang="zh-CN" altLang="zh-CN" b="1" kern="105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标号的增流路径进行增流；</a:t>
                </a:r>
                <a:endParaRPr lang="zh-CN" altLang="zh-CN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9875" algn="just">
                  <a:lnSpc>
                    <a:spcPts val="3800"/>
                  </a:lnSpc>
                  <a:spcAft>
                    <a:spcPts val="0"/>
                  </a:spcAft>
                </a:pPr>
                <a:r>
                  <a:rPr lang="zh-CN" altLang="en-US" b="1" kern="105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（</a:t>
                </a:r>
                <a:r>
                  <a:rPr lang="en-US" altLang="zh-CN" b="1" kern="105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5</a:t>
                </a:r>
                <a:r>
                  <a:rPr lang="zh-CN" altLang="en-US" b="1" kern="105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zh-CN" b="1" kern="105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转</a:t>
                </a:r>
                <a:r>
                  <a:rPr lang="zh-CN" altLang="en-US" b="1" kern="105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到（</a:t>
                </a:r>
                <a:r>
                  <a:rPr lang="en-US" altLang="zh-CN" b="1" kern="105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en-US" b="1" kern="105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zh-CN" b="1" kern="105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:endParaRPr lang="zh-CN" altLang="zh-CN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9875" algn="just">
                  <a:lnSpc>
                    <a:spcPts val="3800"/>
                  </a:lnSpc>
                  <a:spcAft>
                    <a:spcPts val="0"/>
                  </a:spcAft>
                </a:pPr>
                <a:r>
                  <a:rPr lang="zh-CN" altLang="en-US" b="1" kern="105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（</a:t>
                </a:r>
                <a:r>
                  <a:rPr lang="en-US" altLang="zh-CN" b="1" kern="105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6</a:t>
                </a:r>
                <a:r>
                  <a:rPr lang="zh-CN" altLang="en-US" b="1" kern="105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zh-CN" b="1" kern="105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得到最大可行流</a:t>
                </a:r>
                <a14:m>
                  <m:oMath xmlns:m="http://schemas.openxmlformats.org/officeDocument/2006/math">
                    <m:r>
                      <a:rPr lang="en-US" altLang="zh-CN" b="1" i="1" kern="105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𝒇</m:t>
                    </m:r>
                  </m:oMath>
                </a14:m>
                <a:r>
                  <a:rPr lang="zh-CN" altLang="en-US" b="1" kern="105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，算法结束</a:t>
                </a:r>
                <a:r>
                  <a:rPr lang="zh-CN" altLang="zh-CN" b="1" kern="105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zh-CN" altLang="zh-CN" b="1" kern="100" dirty="0"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A3C90875-005C-46EC-9BDD-E5F4D15CB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1776889"/>
                <a:ext cx="8207943" cy="4431598"/>
              </a:xfrm>
              <a:prstGeom prst="rect">
                <a:avLst/>
              </a:prstGeom>
              <a:blipFill>
                <a:blip r:embed="rId3"/>
                <a:stretch>
                  <a:fillRect l="-1114" t="-138" r="-1114" b="-23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2">
            <a:extLst>
              <a:ext uri="{FF2B5EF4-FFF2-40B4-BE49-F238E27FC236}">
                <a16:creationId xmlns:a16="http://schemas.microsoft.com/office/drawing/2014/main" id="{75B7DBA0-28A9-4651-98A0-FCA1983455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656" y="682042"/>
            <a:ext cx="6335713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2F</a:t>
            </a: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算法基本流程</a:t>
            </a:r>
          </a:p>
        </p:txBody>
      </p:sp>
    </p:spTree>
    <p:extLst>
      <p:ext uri="{BB962C8B-B14F-4D97-AF65-F5344CB8AC3E}">
        <p14:creationId xmlns:p14="http://schemas.microsoft.com/office/powerpoint/2010/main" val="70405160"/>
      </p:ext>
    </p:extLst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日期占位符 3">
            <a:extLst>
              <a:ext uri="{FF2B5EF4-FFF2-40B4-BE49-F238E27FC236}">
                <a16:creationId xmlns:a16="http://schemas.microsoft.com/office/drawing/2014/main" id="{974B7D38-149B-4816-B5F4-3C1A65753DDE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6D390EC-4AB0-425A-9DD7-26EC0E37FA98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4931" name="Text Box 2">
            <a:extLst>
              <a:ext uri="{FF2B5EF4-FFF2-40B4-BE49-F238E27FC236}">
                <a16:creationId xmlns:a16="http://schemas.microsoft.com/office/drawing/2014/main" id="{82B033E6-8945-40AC-826D-8FA39BFA09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230" y="634008"/>
            <a:ext cx="6335713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  <p:pic>
        <p:nvPicPr>
          <p:cNvPr id="12493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B1063B96-3D3B-48B8-A860-51E8172D5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4933" name="矩形 1">
            <a:extLst>
              <a:ext uri="{FF2B5EF4-FFF2-40B4-BE49-F238E27FC236}">
                <a16:creationId xmlns:a16="http://schemas.microsoft.com/office/drawing/2014/main" id="{99C683C4-E71A-4F0D-B8CF-8434AA707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1715623"/>
            <a:ext cx="8137054" cy="1113766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kumimoji="0"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kumimoji="0"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例题</a:t>
            </a:r>
            <a:r>
              <a:rPr kumimoji="0"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kumimoji="0"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对于如下图所示为初始网络</a:t>
            </a:r>
            <a:r>
              <a:rPr kumimoji="0"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kumimoji="0"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，其中边上的数字表示对应边的容量。试用</a:t>
            </a:r>
            <a:r>
              <a:rPr kumimoji="0" lang="en-US" altLang="zh-CN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2F</a:t>
            </a:r>
            <a:r>
              <a:rPr kumimoji="0"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算法寻找其最大可行流</a:t>
            </a:r>
            <a:r>
              <a:rPr kumimoji="0"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pic>
        <p:nvPicPr>
          <p:cNvPr id="124934" name="图片 2">
            <a:extLst>
              <a:ext uri="{FF2B5EF4-FFF2-40B4-BE49-F238E27FC236}">
                <a16:creationId xmlns:a16="http://schemas.microsoft.com/office/drawing/2014/main" id="{57318EBB-7AA2-4B12-8E62-B4A8357BF0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2939051"/>
            <a:ext cx="4464496" cy="333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日期占位符 3">
            <a:extLst>
              <a:ext uri="{FF2B5EF4-FFF2-40B4-BE49-F238E27FC236}">
                <a16:creationId xmlns:a16="http://schemas.microsoft.com/office/drawing/2014/main" id="{974B7D38-149B-4816-B5F4-3C1A65753DDE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6D390EC-4AB0-425A-9DD7-26EC0E37FA98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4931" name="Text Box 2">
            <a:extLst>
              <a:ext uri="{FF2B5EF4-FFF2-40B4-BE49-F238E27FC236}">
                <a16:creationId xmlns:a16="http://schemas.microsoft.com/office/drawing/2014/main" id="{82B033E6-8945-40AC-826D-8FA39BFA09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230" y="634008"/>
            <a:ext cx="6335713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  <p:pic>
        <p:nvPicPr>
          <p:cNvPr id="12493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B1063B96-3D3B-48B8-A860-51E8172D5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3">
            <a:extLst>
              <a:ext uri="{FF2B5EF4-FFF2-40B4-BE49-F238E27FC236}">
                <a16:creationId xmlns:a16="http://schemas.microsoft.com/office/drawing/2014/main" id="{185A36B4-68A6-4C09-8890-D05501427E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213" y="2777150"/>
            <a:ext cx="3960440" cy="3350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388678A2-85E9-4DB8-AE4E-4A4D3D2DA7A5}"/>
                  </a:ext>
                </a:extLst>
              </p:cNvPr>
              <p:cNvSpPr/>
              <p:nvPr/>
            </p:nvSpPr>
            <p:spPr>
              <a:xfrm>
                <a:off x="755576" y="1882677"/>
                <a:ext cx="6264696" cy="583108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indent="269875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en-US" b="1" kern="105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 （</a:t>
                </a:r>
                <a:r>
                  <a:rPr lang="en-US" altLang="zh-CN" b="1" kern="105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1</a:t>
                </a:r>
                <a:r>
                  <a:rPr lang="zh-CN" altLang="en-US" b="1" kern="105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）</a:t>
                </a:r>
                <a:r>
                  <a:rPr lang="zh-CN" altLang="zh-CN" b="1" kern="105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初始化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𝒇</m:t>
                    </m:r>
                    <m:r>
                      <a:rPr lang="en-US" altLang="zh-CN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𝒆</m:t>
                    </m:r>
                    <m:r>
                      <a:rPr lang="en-US" altLang="zh-CN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𝟎</m:t>
                    </m:r>
                    <m:r>
                      <a:rPr lang="zh-CN" altLang="zh-CN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𝒆</m:t>
                    </m:r>
                    <m:r>
                      <a:rPr lang="zh-CN" altLang="zh-CN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𝑬</m:t>
                    </m:r>
                  </m:oMath>
                </a14:m>
                <a:r>
                  <a:rPr lang="zh-CN" altLang="en-US" b="1" kern="105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；</a:t>
                </a:r>
                <a:endParaRPr lang="zh-CN" altLang="zh-CN" b="1" kern="100" dirty="0">
                  <a:solidFill>
                    <a:schemeClr val="tx1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388678A2-85E9-4DB8-AE4E-4A4D3D2DA7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1882677"/>
                <a:ext cx="6264696" cy="583108"/>
              </a:xfrm>
              <a:prstGeom prst="rect">
                <a:avLst/>
              </a:prstGeom>
              <a:blipFill>
                <a:blip r:embed="rId5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5782007"/>
      </p:ext>
    </p:extLst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日期占位符 3">
            <a:extLst>
              <a:ext uri="{FF2B5EF4-FFF2-40B4-BE49-F238E27FC236}">
                <a16:creationId xmlns:a16="http://schemas.microsoft.com/office/drawing/2014/main" id="{974B7D38-149B-4816-B5F4-3C1A65753DDE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6D390EC-4AB0-425A-9DD7-26EC0E37FA98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4931" name="Text Box 2">
            <a:extLst>
              <a:ext uri="{FF2B5EF4-FFF2-40B4-BE49-F238E27FC236}">
                <a16:creationId xmlns:a16="http://schemas.microsoft.com/office/drawing/2014/main" id="{82B033E6-8945-40AC-826D-8FA39BFA09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230" y="634008"/>
            <a:ext cx="6335713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  <p:pic>
        <p:nvPicPr>
          <p:cNvPr id="12493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B1063B96-3D3B-48B8-A860-51E8172D5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388678A2-85E9-4DB8-AE4E-4A4D3D2DA7A5}"/>
                  </a:ext>
                </a:extLst>
              </p:cNvPr>
              <p:cNvSpPr/>
              <p:nvPr/>
            </p:nvSpPr>
            <p:spPr>
              <a:xfrm>
                <a:off x="611560" y="1848638"/>
                <a:ext cx="7704856" cy="583108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indent="269875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en-US" b="1" kern="105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 （</a:t>
                </a:r>
                <a:r>
                  <a:rPr lang="en-US" altLang="zh-CN" b="1" kern="105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2</a:t>
                </a:r>
                <a:r>
                  <a:rPr lang="zh-CN" altLang="en-US" b="1" kern="105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）</a:t>
                </a:r>
                <a:r>
                  <a:rPr lang="zh-CN" altLang="zh-CN" b="1" dirty="0">
                    <a:solidFill>
                      <a:schemeClr val="tx1"/>
                    </a:solidFill>
                  </a:rPr>
                  <a:t>给源点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标号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,∞)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，其它结点均未标号</a:t>
                </a:r>
                <a:r>
                  <a:rPr lang="zh-CN" altLang="en-US" b="1" dirty="0">
                    <a:solidFill>
                      <a:schemeClr val="tx1"/>
                    </a:solidFill>
                  </a:rPr>
                  <a:t>；</a:t>
                </a:r>
                <a:endParaRPr lang="zh-CN" altLang="zh-CN" b="1" kern="100" dirty="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388678A2-85E9-4DB8-AE4E-4A4D3D2DA7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848638"/>
                <a:ext cx="7704856" cy="583108"/>
              </a:xfrm>
              <a:prstGeom prst="rect">
                <a:avLst/>
              </a:prstGeom>
              <a:blipFill>
                <a:blip r:embed="rId4"/>
                <a:stretch>
                  <a:fillRect b="-187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2">
            <a:extLst>
              <a:ext uri="{FF2B5EF4-FFF2-40B4-BE49-F238E27FC236}">
                <a16:creationId xmlns:a16="http://schemas.microsoft.com/office/drawing/2014/main" id="{5F06838E-EA25-4BAA-AE08-4B76191DD1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2740108"/>
            <a:ext cx="4896544" cy="3372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8628640"/>
      </p:ext>
    </p:extLst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日期占位符 3">
            <a:extLst>
              <a:ext uri="{FF2B5EF4-FFF2-40B4-BE49-F238E27FC236}">
                <a16:creationId xmlns:a16="http://schemas.microsoft.com/office/drawing/2014/main" id="{974B7D38-149B-4816-B5F4-3C1A65753DDE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6D390EC-4AB0-425A-9DD7-26EC0E37FA98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4931" name="Text Box 2">
            <a:extLst>
              <a:ext uri="{FF2B5EF4-FFF2-40B4-BE49-F238E27FC236}">
                <a16:creationId xmlns:a16="http://schemas.microsoft.com/office/drawing/2014/main" id="{82B033E6-8945-40AC-826D-8FA39BFA09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230" y="634008"/>
            <a:ext cx="6335713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  <p:pic>
        <p:nvPicPr>
          <p:cNvPr id="12493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B1063B96-3D3B-48B8-A860-51E8172D5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388678A2-85E9-4DB8-AE4E-4A4D3D2DA7A5}"/>
                  </a:ext>
                </a:extLst>
              </p:cNvPr>
              <p:cNvSpPr/>
              <p:nvPr/>
            </p:nvSpPr>
            <p:spPr>
              <a:xfrm>
                <a:off x="143508" y="1638965"/>
                <a:ext cx="8856984" cy="1127296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indent="269875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en-US" b="1" kern="105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  （</a:t>
                </a:r>
                <a:r>
                  <a:rPr lang="en-US" altLang="zh-CN" b="1" kern="105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3</a:t>
                </a:r>
                <a:r>
                  <a:rPr lang="zh-CN" altLang="en-US" b="1" kern="105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）</a:t>
                </a:r>
                <a:r>
                  <a:rPr lang="zh-CN" altLang="zh-CN" b="1" dirty="0">
                    <a:solidFill>
                      <a:schemeClr val="tx1"/>
                    </a:solidFill>
                  </a:rPr>
                  <a:t>选可</a:t>
                </a:r>
                <a:r>
                  <a:rPr lang="zh-CN" altLang="en-US" b="1" dirty="0">
                    <a:solidFill>
                      <a:schemeClr val="tx1"/>
                    </a:solidFill>
                  </a:rPr>
                  <a:t>按方向对</a:t>
                </a:r>
                <a:r>
                  <a:rPr lang="zh-CN" altLang="zh-CN" b="1" dirty="0">
                    <a:solidFill>
                      <a:schemeClr val="tx1"/>
                    </a:solidFill>
                  </a:rPr>
                  <a:t>结点进行标号，若当前标号结点为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，则转</a:t>
                </a:r>
                <a:r>
                  <a:rPr lang="zh-CN" altLang="en-US" b="1" dirty="0">
                    <a:solidFill>
                      <a:schemeClr val="tx1"/>
                    </a:solidFill>
                  </a:rPr>
                  <a:t>到（</a:t>
                </a:r>
                <a:r>
                  <a:rPr lang="en-US" altLang="zh-CN" b="1" dirty="0">
                    <a:solidFill>
                      <a:schemeClr val="tx1"/>
                    </a:solidFill>
                  </a:rPr>
                  <a:t>4</a:t>
                </a:r>
                <a:r>
                  <a:rPr lang="zh-CN" altLang="en-US" b="1" dirty="0">
                    <a:solidFill>
                      <a:schemeClr val="tx1"/>
                    </a:solidFill>
                  </a:rPr>
                  <a:t>）</a:t>
                </a:r>
                <a:r>
                  <a:rPr lang="zh-CN" altLang="zh-CN" b="1" dirty="0">
                    <a:solidFill>
                      <a:schemeClr val="tx1"/>
                    </a:solidFill>
                  </a:rPr>
                  <a:t>；若</a:t>
                </a:r>
                <a:r>
                  <a:rPr lang="zh-CN" altLang="en-US" b="1" dirty="0">
                    <a:solidFill>
                      <a:schemeClr val="tx1"/>
                    </a:solidFill>
                  </a:rPr>
                  <a:t>无</a:t>
                </a:r>
                <a:r>
                  <a:rPr lang="zh-CN" altLang="zh-CN" b="1" dirty="0">
                    <a:solidFill>
                      <a:schemeClr val="tx1"/>
                    </a:solidFill>
                  </a:rPr>
                  <a:t>这样的结点可选，则转</a:t>
                </a:r>
                <a:r>
                  <a:rPr lang="zh-CN" altLang="en-US" b="1" dirty="0">
                    <a:solidFill>
                      <a:schemeClr val="tx1"/>
                    </a:solidFill>
                  </a:rPr>
                  <a:t>到（</a:t>
                </a:r>
                <a:r>
                  <a:rPr lang="en-US" altLang="zh-CN" b="1" dirty="0">
                    <a:solidFill>
                      <a:schemeClr val="tx1"/>
                    </a:solidFill>
                  </a:rPr>
                  <a:t>6</a:t>
                </a:r>
                <a:r>
                  <a:rPr lang="zh-CN" altLang="en-US" b="1" dirty="0">
                    <a:solidFill>
                      <a:schemeClr val="tx1"/>
                    </a:solidFill>
                  </a:rPr>
                  <a:t>）；</a:t>
                </a:r>
                <a:endParaRPr lang="zh-CN" altLang="zh-CN" b="1" kern="100" dirty="0">
                  <a:solidFill>
                    <a:schemeClr val="tx1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388678A2-85E9-4DB8-AE4E-4A4D3D2DA7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08" y="1638965"/>
                <a:ext cx="8856984" cy="1127296"/>
              </a:xfrm>
              <a:prstGeom prst="rect">
                <a:avLst/>
              </a:prstGeom>
              <a:blipFill>
                <a:blip r:embed="rId4"/>
                <a:stretch>
                  <a:fillRect l="-1102" r="-1102" b="-102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图片 15">
            <a:extLst>
              <a:ext uri="{FF2B5EF4-FFF2-40B4-BE49-F238E27FC236}">
                <a16:creationId xmlns:a16="http://schemas.microsoft.com/office/drawing/2014/main" id="{40ED54ED-D377-40FB-A2CA-F45E81B9EF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5696" y="2822929"/>
            <a:ext cx="5328592" cy="3502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201563"/>
      </p:ext>
    </p:extLst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日期占位符 3">
            <a:extLst>
              <a:ext uri="{FF2B5EF4-FFF2-40B4-BE49-F238E27FC236}">
                <a16:creationId xmlns:a16="http://schemas.microsoft.com/office/drawing/2014/main" id="{974B7D38-149B-4816-B5F4-3C1A65753DDE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6D390EC-4AB0-425A-9DD7-26EC0E37FA98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4931" name="Text Box 2">
            <a:extLst>
              <a:ext uri="{FF2B5EF4-FFF2-40B4-BE49-F238E27FC236}">
                <a16:creationId xmlns:a16="http://schemas.microsoft.com/office/drawing/2014/main" id="{82B033E6-8945-40AC-826D-8FA39BFA09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230" y="634008"/>
            <a:ext cx="6335713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  <p:pic>
        <p:nvPicPr>
          <p:cNvPr id="12493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B1063B96-3D3B-48B8-A860-51E8172D5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388678A2-85E9-4DB8-AE4E-4A4D3D2DA7A5}"/>
                  </a:ext>
                </a:extLst>
              </p:cNvPr>
              <p:cNvSpPr/>
              <p:nvPr/>
            </p:nvSpPr>
            <p:spPr>
              <a:xfrm>
                <a:off x="256209" y="1688062"/>
                <a:ext cx="8856984" cy="1235338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indent="269875" algn="just">
                  <a:spcAft>
                    <a:spcPts val="0"/>
                  </a:spcAft>
                </a:pPr>
                <a:r>
                  <a:rPr lang="zh-CN" altLang="en-US" b="1" kern="105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 </a:t>
                </a:r>
                <a:r>
                  <a:rPr lang="zh-CN" altLang="en-US" b="1" kern="105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（</a:t>
                </a:r>
                <a:r>
                  <a:rPr lang="en-US" altLang="zh-CN" b="1" kern="105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4</a:t>
                </a:r>
                <a:r>
                  <a:rPr lang="zh-CN" altLang="en-US" b="1" kern="105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）</a:t>
                </a:r>
                <a:r>
                  <a:rPr lang="zh-CN" altLang="zh-CN" b="1" dirty="0">
                    <a:solidFill>
                      <a:schemeClr val="tx1"/>
                    </a:solidFill>
                  </a:rPr>
                  <a:t>当前标号结点为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，对标号过的增流路径进行增流，增流路径为：</a:t>
                </a:r>
                <a14:m>
                  <m:oMath xmlns:m="http://schemas.openxmlformats.org/officeDocument/2006/math">
                    <m:r>
                      <a:rPr lang="en-US" altLang="zh-CN" b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b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，增量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取增广路径中</a:t>
                </a:r>
                <a:r>
                  <a:rPr lang="zh-CN" altLang="zh-CN" b="1" dirty="0">
                    <a:solidFill>
                      <a:srgbClr val="0000FF"/>
                    </a:solidFill>
                  </a:rPr>
                  <a:t>边的残留容量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</m:sSub>
                    <m:d>
                      <m:dPr>
                        <m:begChr m:val="（"/>
                        <m:endChr m:val="）"/>
                        <m:ctrlPr>
                          <a:rPr lang="zh-CN" altLang="zh-CN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US" altLang="zh-CN" b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</m:oMath>
                </a14:m>
                <a:r>
                  <a:rPr lang="zh-CN" altLang="zh-CN" b="1" dirty="0">
                    <a:solidFill>
                      <a:srgbClr val="0000FF"/>
                    </a:solidFill>
                  </a:rPr>
                  <a:t>最小值</a:t>
                </a:r>
                <a:r>
                  <a:rPr lang="en-US" altLang="zh-CN" b="1" dirty="0">
                    <a:solidFill>
                      <a:srgbClr val="0000FF"/>
                    </a:solidFill>
                  </a:rPr>
                  <a:t>2</a:t>
                </a:r>
                <a:r>
                  <a:rPr lang="zh-CN" altLang="en-US" b="1" dirty="0">
                    <a:solidFill>
                      <a:srgbClr val="0000FF"/>
                    </a:solidFill>
                  </a:rPr>
                  <a:t>；</a:t>
                </a:r>
                <a:endParaRPr lang="zh-CN" altLang="zh-CN" b="1" kern="100" dirty="0">
                  <a:solidFill>
                    <a:schemeClr val="tx1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388678A2-85E9-4DB8-AE4E-4A4D3D2DA7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209" y="1688062"/>
                <a:ext cx="8856984" cy="1235338"/>
              </a:xfrm>
              <a:prstGeom prst="rect">
                <a:avLst/>
              </a:prstGeom>
              <a:blipFill>
                <a:blip r:embed="rId4"/>
                <a:stretch>
                  <a:fillRect l="-1032" t="-5419" r="-1101" b="-59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2">
            <a:extLst>
              <a:ext uri="{FF2B5EF4-FFF2-40B4-BE49-F238E27FC236}">
                <a16:creationId xmlns:a16="http://schemas.microsoft.com/office/drawing/2014/main" id="{93C49455-50DB-4B65-9AAD-26266C0407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3054124"/>
            <a:ext cx="4943438" cy="3227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1390204"/>
      </p:ext>
    </p:extLst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日期占位符 3">
            <a:extLst>
              <a:ext uri="{FF2B5EF4-FFF2-40B4-BE49-F238E27FC236}">
                <a16:creationId xmlns:a16="http://schemas.microsoft.com/office/drawing/2014/main" id="{974B7D38-149B-4816-B5F4-3C1A65753DDE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6D390EC-4AB0-425A-9DD7-26EC0E37FA98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4931" name="Text Box 2">
            <a:extLst>
              <a:ext uri="{FF2B5EF4-FFF2-40B4-BE49-F238E27FC236}">
                <a16:creationId xmlns:a16="http://schemas.microsoft.com/office/drawing/2014/main" id="{82B033E6-8945-40AC-826D-8FA39BFA09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230" y="634008"/>
            <a:ext cx="6335713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  <p:pic>
        <p:nvPicPr>
          <p:cNvPr id="12493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B1063B96-3D3B-48B8-A860-51E8172D5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388678A2-85E9-4DB8-AE4E-4A4D3D2DA7A5}"/>
                  </a:ext>
                </a:extLst>
              </p:cNvPr>
              <p:cNvSpPr/>
              <p:nvPr/>
            </p:nvSpPr>
            <p:spPr>
              <a:xfrm>
                <a:off x="107504" y="1844824"/>
                <a:ext cx="9001074" cy="573298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indent="269875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en-US" b="1" kern="105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 （</a:t>
                </a:r>
                <a:r>
                  <a:rPr lang="en-US" altLang="zh-CN" b="1" kern="105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5</a:t>
                </a:r>
                <a:r>
                  <a:rPr lang="zh-CN" altLang="en-US" b="1" kern="105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）</a:t>
                </a:r>
                <a:r>
                  <a:rPr lang="zh-CN" altLang="zh-CN" b="1" dirty="0">
                    <a:solidFill>
                      <a:schemeClr val="tx1"/>
                    </a:solidFill>
                  </a:rPr>
                  <a:t>转到</a:t>
                </a:r>
                <a:r>
                  <a:rPr lang="zh-CN" altLang="en-US" b="1" dirty="0">
                    <a:solidFill>
                      <a:srgbClr val="0000FF"/>
                    </a:solidFill>
                  </a:rPr>
                  <a:t>（</a:t>
                </a:r>
                <a:r>
                  <a:rPr lang="en-US" altLang="zh-CN" b="1" dirty="0">
                    <a:solidFill>
                      <a:srgbClr val="0000FF"/>
                    </a:solidFill>
                  </a:rPr>
                  <a:t>2</a:t>
                </a:r>
                <a:r>
                  <a:rPr lang="zh-CN" altLang="en-US" b="1" dirty="0">
                    <a:solidFill>
                      <a:srgbClr val="0000FF"/>
                    </a:solidFill>
                  </a:rPr>
                  <a:t>）</a:t>
                </a:r>
                <a:r>
                  <a:rPr lang="zh-CN" altLang="zh-CN" b="1" dirty="0">
                    <a:solidFill>
                      <a:schemeClr val="tx1"/>
                    </a:solidFill>
                  </a:rPr>
                  <a:t>，</a:t>
                </a:r>
                <a:r>
                  <a:rPr lang="zh-CN" altLang="en-US" b="1" dirty="0">
                    <a:solidFill>
                      <a:schemeClr val="tx1"/>
                    </a:solidFill>
                  </a:rPr>
                  <a:t>即</a:t>
                </a:r>
                <a:r>
                  <a:rPr lang="zh-CN" altLang="zh-CN" b="1" dirty="0">
                    <a:solidFill>
                      <a:schemeClr val="tx1"/>
                    </a:solidFill>
                  </a:rPr>
                  <a:t>给源点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标号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,∞)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，其它结点均未标号</a:t>
                </a:r>
                <a:r>
                  <a:rPr lang="zh-CN" altLang="en-US" b="1" dirty="0">
                    <a:solidFill>
                      <a:schemeClr val="tx1"/>
                    </a:solidFill>
                  </a:rPr>
                  <a:t>；</a:t>
                </a:r>
                <a:endParaRPr lang="zh-CN" altLang="zh-CN" b="1" kern="100" dirty="0">
                  <a:solidFill>
                    <a:schemeClr val="tx1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388678A2-85E9-4DB8-AE4E-4A4D3D2DA7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1844824"/>
                <a:ext cx="9001074" cy="573298"/>
              </a:xfrm>
              <a:prstGeom prst="rect">
                <a:avLst/>
              </a:prstGeom>
              <a:blipFill>
                <a:blip r:embed="rId4"/>
                <a:stretch>
                  <a:fillRect r="-610" b="-212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3">
            <a:extLst>
              <a:ext uri="{FF2B5EF4-FFF2-40B4-BE49-F238E27FC236}">
                <a16:creationId xmlns:a16="http://schemas.microsoft.com/office/drawing/2014/main" id="{19529C13-0AD4-42DB-8773-E9D211AA61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2664002"/>
            <a:ext cx="4680520" cy="3593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1780340"/>
      </p:ext>
    </p:extLst>
  </p:cSld>
  <p:clrMapOvr>
    <a:masterClrMapping/>
  </p:clrMapOvr>
  <p:transition spd="med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日期占位符 3">
            <a:extLst>
              <a:ext uri="{FF2B5EF4-FFF2-40B4-BE49-F238E27FC236}">
                <a16:creationId xmlns:a16="http://schemas.microsoft.com/office/drawing/2014/main" id="{974B7D38-149B-4816-B5F4-3C1A65753DDE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6D390EC-4AB0-425A-9DD7-26EC0E37FA98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4931" name="Text Box 2">
            <a:extLst>
              <a:ext uri="{FF2B5EF4-FFF2-40B4-BE49-F238E27FC236}">
                <a16:creationId xmlns:a16="http://schemas.microsoft.com/office/drawing/2014/main" id="{82B033E6-8945-40AC-826D-8FA39BFA09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230" y="634008"/>
            <a:ext cx="6335713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  <p:pic>
        <p:nvPicPr>
          <p:cNvPr id="12493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B1063B96-3D3B-48B8-A860-51E8172D5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88678A2-85E9-4DB8-AE4E-4A4D3D2DA7A5}"/>
              </a:ext>
            </a:extLst>
          </p:cNvPr>
          <p:cNvSpPr/>
          <p:nvPr/>
        </p:nvSpPr>
        <p:spPr>
          <a:xfrm>
            <a:off x="467544" y="1885275"/>
            <a:ext cx="6480646" cy="573298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indent="269875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b="1" kern="1050" dirty="0">
                <a:solidFill>
                  <a:srgbClr val="0000FF"/>
                </a:solidFill>
                <a:cs typeface="Times New Roman" panose="02020603050405020304" pitchFamily="18" charset="0"/>
              </a:rPr>
              <a:t>  （</a:t>
            </a:r>
            <a:r>
              <a:rPr lang="en-US" altLang="zh-CN" b="1" kern="1050" dirty="0">
                <a:solidFill>
                  <a:srgbClr val="0000FF"/>
                </a:solidFill>
                <a:cs typeface="Times New Roman" panose="02020603050405020304" pitchFamily="18" charset="0"/>
              </a:rPr>
              <a:t>6</a:t>
            </a:r>
            <a:r>
              <a:rPr lang="zh-CN" altLang="en-US" b="1" kern="1050" dirty="0">
                <a:solidFill>
                  <a:srgbClr val="0000FF"/>
                </a:solidFill>
                <a:cs typeface="Times New Roman" panose="02020603050405020304" pitchFamily="18" charset="0"/>
              </a:rPr>
              <a:t>）</a:t>
            </a:r>
            <a:r>
              <a:rPr lang="zh-CN" altLang="zh-CN" b="1" dirty="0">
                <a:solidFill>
                  <a:schemeClr val="tx1"/>
                </a:solidFill>
              </a:rPr>
              <a:t>类似地，</a:t>
            </a:r>
            <a:r>
              <a:rPr lang="zh-CN" altLang="en-US" b="1" dirty="0">
                <a:solidFill>
                  <a:schemeClr val="tx1"/>
                </a:solidFill>
              </a:rPr>
              <a:t>回到</a:t>
            </a:r>
            <a:r>
              <a:rPr lang="zh-CN" altLang="en-US" b="1" dirty="0">
                <a:solidFill>
                  <a:srgbClr val="0000FF"/>
                </a:solidFill>
              </a:rPr>
              <a:t>（</a:t>
            </a:r>
            <a:r>
              <a:rPr lang="en-US" altLang="zh-CN" b="1" dirty="0">
                <a:solidFill>
                  <a:srgbClr val="0000FF"/>
                </a:solidFill>
              </a:rPr>
              <a:t>3</a:t>
            </a:r>
            <a:r>
              <a:rPr lang="zh-CN" altLang="en-US" b="1" dirty="0">
                <a:solidFill>
                  <a:srgbClr val="0000FF"/>
                </a:solidFill>
              </a:rPr>
              <a:t>）</a:t>
            </a:r>
            <a:r>
              <a:rPr lang="zh-CN" altLang="zh-CN" b="1" dirty="0">
                <a:solidFill>
                  <a:schemeClr val="tx1"/>
                </a:solidFill>
              </a:rPr>
              <a:t>再次进行标号</a:t>
            </a:r>
            <a:r>
              <a:rPr lang="zh-CN" altLang="en-US" b="1" dirty="0">
                <a:solidFill>
                  <a:schemeClr val="tx1"/>
                </a:solidFill>
              </a:rPr>
              <a:t>；</a:t>
            </a:r>
            <a:endParaRPr lang="zh-CN" altLang="zh-CN" b="1" kern="1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5AC2F63-48CE-4FDC-83FB-988CA2F2F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5695" y="2564904"/>
            <a:ext cx="6065213" cy="371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681209"/>
      </p:ext>
    </p:extLst>
  </p:cSld>
  <p:clrMapOvr>
    <a:masterClrMapping/>
  </p:clrMapOvr>
  <p:transition spd="med"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日期占位符 3">
            <a:extLst>
              <a:ext uri="{FF2B5EF4-FFF2-40B4-BE49-F238E27FC236}">
                <a16:creationId xmlns:a16="http://schemas.microsoft.com/office/drawing/2014/main" id="{974B7D38-149B-4816-B5F4-3C1A65753DDE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6D390EC-4AB0-425A-9DD7-26EC0E37FA98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4931" name="Text Box 2">
            <a:extLst>
              <a:ext uri="{FF2B5EF4-FFF2-40B4-BE49-F238E27FC236}">
                <a16:creationId xmlns:a16="http://schemas.microsoft.com/office/drawing/2014/main" id="{82B033E6-8945-40AC-826D-8FA39BFA09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230" y="634008"/>
            <a:ext cx="6335713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  <p:pic>
        <p:nvPicPr>
          <p:cNvPr id="12493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B1063B96-3D3B-48B8-A860-51E8172D5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388678A2-85E9-4DB8-AE4E-4A4D3D2DA7A5}"/>
                  </a:ext>
                </a:extLst>
              </p:cNvPr>
              <p:cNvSpPr/>
              <p:nvPr/>
            </p:nvSpPr>
            <p:spPr>
              <a:xfrm>
                <a:off x="251520" y="1763040"/>
                <a:ext cx="8749046" cy="1235338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indent="269875" algn="just">
                  <a:spcAft>
                    <a:spcPts val="0"/>
                  </a:spcAft>
                </a:pPr>
                <a:r>
                  <a:rPr lang="zh-CN" altLang="en-US" b="1" kern="105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  （</a:t>
                </a:r>
                <a:r>
                  <a:rPr lang="en-US" altLang="zh-CN" b="1" kern="105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7</a:t>
                </a:r>
                <a:r>
                  <a:rPr lang="zh-CN" altLang="en-US" b="1" kern="105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）</a:t>
                </a:r>
                <a:r>
                  <a:rPr lang="zh-CN" altLang="zh-CN" dirty="0">
                    <a:solidFill>
                      <a:schemeClr val="tx1"/>
                    </a:solidFill>
                  </a:rPr>
                  <a:t>当前标号的结点为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zh-CN" dirty="0">
                    <a:solidFill>
                      <a:schemeClr val="tx1"/>
                    </a:solidFill>
                  </a:rPr>
                  <a:t>，对标号过的增流路径进行增流，</a:t>
                </a:r>
                <a:r>
                  <a:rPr lang="zh-CN" altLang="zh-CN" dirty="0">
                    <a:solidFill>
                      <a:srgbClr val="0000FF"/>
                    </a:solidFill>
                  </a:rPr>
                  <a:t>增流路径为 </a:t>
                </a:r>
                <a14:m>
                  <m:oMath xmlns:m="http://schemas.openxmlformats.org/officeDocument/2006/math">
                    <m:r>
                      <a:rPr lang="en-US" altLang="zh-CN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>
                    <a:solidFill>
                      <a:schemeClr val="tx1"/>
                    </a:solidFill>
                  </a:rPr>
                  <a:t>，增量</a:t>
                </a:r>
                <a14:m>
                  <m:oMath xmlns:m="http://schemas.openxmlformats.org/officeDocument/2006/math">
                    <m:r>
                      <a:rPr lang="en-US" altLang="zh-C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zh-CN" dirty="0">
                    <a:solidFill>
                      <a:schemeClr val="tx1"/>
                    </a:solidFill>
                  </a:rPr>
                  <a:t>取</a:t>
                </a:r>
                <a:r>
                  <a:rPr lang="zh-CN" altLang="zh-CN" dirty="0">
                    <a:solidFill>
                      <a:srgbClr val="0000FF"/>
                    </a:solidFill>
                  </a:rPr>
                  <a:t>增广路径中的边的残留容量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d>
                      <m:dPr>
                        <m:begChr m:val="（"/>
                        <m:endChr m:val="）"/>
                        <m:ctrlPr>
                          <a:rPr lang="zh-CN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zh-CN" altLang="zh-CN" dirty="0">
                    <a:solidFill>
                      <a:srgbClr val="0000FF"/>
                    </a:solidFill>
                  </a:rPr>
                  <a:t>最小值</a:t>
                </a:r>
                <a:r>
                  <a:rPr lang="en-US" altLang="zh-CN" dirty="0">
                    <a:solidFill>
                      <a:srgbClr val="0000FF"/>
                    </a:solidFill>
                  </a:rPr>
                  <a:t>6</a:t>
                </a:r>
                <a:r>
                  <a:rPr lang="zh-CN" altLang="en-US" b="1" dirty="0">
                    <a:solidFill>
                      <a:schemeClr val="tx1"/>
                    </a:solidFill>
                  </a:rPr>
                  <a:t>；</a:t>
                </a:r>
                <a:endParaRPr lang="zh-CN" altLang="zh-CN" b="1" kern="100" dirty="0">
                  <a:solidFill>
                    <a:schemeClr val="tx1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388678A2-85E9-4DB8-AE4E-4A4D3D2DA7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763040"/>
                <a:ext cx="8749046" cy="1235338"/>
              </a:xfrm>
              <a:prstGeom prst="rect">
                <a:avLst/>
              </a:prstGeom>
              <a:blipFill>
                <a:blip r:embed="rId4"/>
                <a:stretch>
                  <a:fillRect l="-1045" t="-5419" r="-1115" b="-59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3">
            <a:extLst>
              <a:ext uri="{FF2B5EF4-FFF2-40B4-BE49-F238E27FC236}">
                <a16:creationId xmlns:a16="http://schemas.microsoft.com/office/drawing/2014/main" id="{20F8661C-D81B-4779-869E-A071C4AFAE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3223632"/>
            <a:ext cx="4978945" cy="3090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7671660"/>
      </p:ext>
    </p:extLst>
  </p:cSld>
  <p:clrMapOvr>
    <a:masterClrMapping/>
  </p:clrMapOvr>
  <p:transition spd="med"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日期占位符 3">
            <a:extLst>
              <a:ext uri="{FF2B5EF4-FFF2-40B4-BE49-F238E27FC236}">
                <a16:creationId xmlns:a16="http://schemas.microsoft.com/office/drawing/2014/main" id="{974B7D38-149B-4816-B5F4-3C1A65753DDE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6D390EC-4AB0-425A-9DD7-26EC0E37FA98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4931" name="Text Box 2">
            <a:extLst>
              <a:ext uri="{FF2B5EF4-FFF2-40B4-BE49-F238E27FC236}">
                <a16:creationId xmlns:a16="http://schemas.microsoft.com/office/drawing/2014/main" id="{82B033E6-8945-40AC-826D-8FA39BFA09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230" y="634008"/>
            <a:ext cx="6335713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  <p:pic>
        <p:nvPicPr>
          <p:cNvPr id="12493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B1063B96-3D3B-48B8-A860-51E8172D5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388678A2-85E9-4DB8-AE4E-4A4D3D2DA7A5}"/>
                  </a:ext>
                </a:extLst>
              </p:cNvPr>
              <p:cNvSpPr/>
              <p:nvPr/>
            </p:nvSpPr>
            <p:spPr>
              <a:xfrm>
                <a:off x="359606" y="1763040"/>
                <a:ext cx="8676890" cy="461665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indent="269875" algn="just">
                  <a:spcAft>
                    <a:spcPts val="0"/>
                  </a:spcAft>
                </a:pPr>
                <a:r>
                  <a:rPr lang="zh-CN" altLang="en-US" b="1" kern="105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  （</a:t>
                </a:r>
                <a:r>
                  <a:rPr lang="en-US" altLang="zh-CN" b="1" kern="105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8</a:t>
                </a:r>
                <a:r>
                  <a:rPr lang="zh-CN" altLang="en-US" b="1" kern="105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）</a:t>
                </a:r>
                <a:r>
                  <a:rPr lang="zh-CN" altLang="zh-CN" b="1" dirty="0">
                    <a:solidFill>
                      <a:schemeClr val="tx1"/>
                    </a:solidFill>
                  </a:rPr>
                  <a:t>同理，再对源点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标号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zh-CN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∞)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，其他结点均未标号</a:t>
                </a:r>
                <a:r>
                  <a:rPr lang="zh-CN" altLang="en-US" b="1" dirty="0">
                    <a:solidFill>
                      <a:schemeClr val="tx1"/>
                    </a:solidFill>
                  </a:rPr>
                  <a:t>；</a:t>
                </a:r>
                <a:endParaRPr lang="zh-CN" altLang="zh-CN" b="1" kern="100" dirty="0">
                  <a:solidFill>
                    <a:schemeClr val="tx1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388678A2-85E9-4DB8-AE4E-4A4D3D2DA7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606" y="1763040"/>
                <a:ext cx="8676890" cy="461665"/>
              </a:xfrm>
              <a:prstGeom prst="rect">
                <a:avLst/>
              </a:prstGeom>
              <a:blipFill>
                <a:blip r:embed="rId4"/>
                <a:stretch>
                  <a:fillRect t="-14474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2">
            <a:extLst>
              <a:ext uri="{FF2B5EF4-FFF2-40B4-BE49-F238E27FC236}">
                <a16:creationId xmlns:a16="http://schemas.microsoft.com/office/drawing/2014/main" id="{76B07BD2-66A9-412D-88AB-22A7B752AD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337572"/>
            <a:ext cx="5616624" cy="3972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8039663"/>
      </p:ext>
    </p:extLst>
  </p:cSld>
  <p:clrMapOvr>
    <a:masterClrMapping/>
  </p:clrMapOvr>
  <p:transition spd="med"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日期占位符 3">
            <a:extLst>
              <a:ext uri="{FF2B5EF4-FFF2-40B4-BE49-F238E27FC236}">
                <a16:creationId xmlns:a16="http://schemas.microsoft.com/office/drawing/2014/main" id="{974B7D38-149B-4816-B5F4-3C1A65753DDE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6D390EC-4AB0-425A-9DD7-26EC0E37FA98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4931" name="Text Box 2">
            <a:extLst>
              <a:ext uri="{FF2B5EF4-FFF2-40B4-BE49-F238E27FC236}">
                <a16:creationId xmlns:a16="http://schemas.microsoft.com/office/drawing/2014/main" id="{82B033E6-8945-40AC-826D-8FA39BFA09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230" y="634008"/>
            <a:ext cx="6335713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  <p:pic>
        <p:nvPicPr>
          <p:cNvPr id="12493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B1063B96-3D3B-48B8-A860-51E8172D5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88678A2-85E9-4DB8-AE4E-4A4D3D2DA7A5}"/>
              </a:ext>
            </a:extLst>
          </p:cNvPr>
          <p:cNvSpPr/>
          <p:nvPr/>
        </p:nvSpPr>
        <p:spPr>
          <a:xfrm>
            <a:off x="449579" y="1653209"/>
            <a:ext cx="8244842" cy="461665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indent="269875" algn="just">
              <a:spcAft>
                <a:spcPts val="0"/>
              </a:spcAft>
            </a:pPr>
            <a:r>
              <a:rPr lang="zh-CN" altLang="en-US" b="1" kern="1050" dirty="0">
                <a:solidFill>
                  <a:srgbClr val="0000FF"/>
                </a:solidFill>
                <a:cs typeface="Times New Roman" panose="02020603050405020304" pitchFamily="18" charset="0"/>
              </a:rPr>
              <a:t>  （</a:t>
            </a:r>
            <a:r>
              <a:rPr lang="en-US" altLang="zh-CN" b="1" kern="1050" dirty="0">
                <a:solidFill>
                  <a:srgbClr val="0000FF"/>
                </a:solidFill>
                <a:cs typeface="Times New Roman" panose="02020603050405020304" pitchFamily="18" charset="0"/>
              </a:rPr>
              <a:t>9</a:t>
            </a:r>
            <a:r>
              <a:rPr lang="zh-CN" altLang="en-US" b="1" kern="1050" dirty="0">
                <a:solidFill>
                  <a:srgbClr val="0000FF"/>
                </a:solidFill>
                <a:cs typeface="Times New Roman" panose="02020603050405020304" pitchFamily="18" charset="0"/>
              </a:rPr>
              <a:t>）</a:t>
            </a:r>
            <a:r>
              <a:rPr lang="zh-CN" altLang="en-US" b="1" dirty="0">
                <a:solidFill>
                  <a:schemeClr val="tx1"/>
                </a:solidFill>
              </a:rPr>
              <a:t>回到</a:t>
            </a:r>
            <a:r>
              <a:rPr lang="zh-CN" altLang="en-US" b="1" dirty="0">
                <a:solidFill>
                  <a:srgbClr val="0000FF"/>
                </a:solidFill>
              </a:rPr>
              <a:t>（</a:t>
            </a:r>
            <a:r>
              <a:rPr lang="en-US" altLang="zh-CN" b="1" dirty="0">
                <a:solidFill>
                  <a:srgbClr val="0000FF"/>
                </a:solidFill>
              </a:rPr>
              <a:t>3</a:t>
            </a:r>
            <a:r>
              <a:rPr lang="zh-CN" altLang="en-US" b="1" dirty="0">
                <a:solidFill>
                  <a:srgbClr val="0000FF"/>
                </a:solidFill>
              </a:rPr>
              <a:t>）</a:t>
            </a:r>
            <a:r>
              <a:rPr lang="zh-CN" altLang="zh-CN" b="1" dirty="0">
                <a:solidFill>
                  <a:schemeClr val="tx1"/>
                </a:solidFill>
              </a:rPr>
              <a:t>，再次进行标号</a:t>
            </a:r>
            <a:r>
              <a:rPr lang="zh-CN" altLang="en-US" b="1" dirty="0">
                <a:solidFill>
                  <a:schemeClr val="tx1"/>
                </a:solidFill>
              </a:rPr>
              <a:t>；</a:t>
            </a:r>
            <a:endParaRPr lang="zh-CN" altLang="zh-CN" b="1" kern="1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3B2E00D-454D-4F9A-9E2D-E9DF058C4E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2230" y="2245149"/>
            <a:ext cx="6516154" cy="401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605261"/>
      </p:ext>
    </p:extLst>
  </p:cSld>
  <p:clrMapOvr>
    <a:masterClrMapping/>
  </p:clrMapOvr>
  <p:transition spd="med"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日期占位符 3">
            <a:extLst>
              <a:ext uri="{FF2B5EF4-FFF2-40B4-BE49-F238E27FC236}">
                <a16:creationId xmlns:a16="http://schemas.microsoft.com/office/drawing/2014/main" id="{974B7D38-149B-4816-B5F4-3C1A65753DDE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6D390EC-4AB0-425A-9DD7-26EC0E37FA98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4931" name="Text Box 2">
            <a:extLst>
              <a:ext uri="{FF2B5EF4-FFF2-40B4-BE49-F238E27FC236}">
                <a16:creationId xmlns:a16="http://schemas.microsoft.com/office/drawing/2014/main" id="{82B033E6-8945-40AC-826D-8FA39BFA09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230" y="634008"/>
            <a:ext cx="6335713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  <p:pic>
        <p:nvPicPr>
          <p:cNvPr id="12493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B1063B96-3D3B-48B8-A860-51E8172D5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388678A2-85E9-4DB8-AE4E-4A4D3D2DA7A5}"/>
                  </a:ext>
                </a:extLst>
              </p:cNvPr>
              <p:cNvSpPr/>
              <p:nvPr/>
            </p:nvSpPr>
            <p:spPr>
              <a:xfrm>
                <a:off x="359606" y="1763040"/>
                <a:ext cx="8676890" cy="1235338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indent="269875" algn="just">
                  <a:spcAft>
                    <a:spcPts val="0"/>
                  </a:spcAft>
                </a:pPr>
                <a:r>
                  <a:rPr lang="zh-CN" altLang="en-US" b="1" kern="105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  （</a:t>
                </a:r>
                <a:r>
                  <a:rPr lang="en-US" altLang="zh-CN" b="1" kern="105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10</a:t>
                </a:r>
                <a:r>
                  <a:rPr lang="zh-CN" altLang="en-US" b="1" kern="105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）</a:t>
                </a:r>
                <a:r>
                  <a:rPr lang="zh-CN" altLang="zh-CN" b="1" dirty="0">
                    <a:solidFill>
                      <a:schemeClr val="tx1"/>
                    </a:solidFill>
                  </a:rPr>
                  <a:t>前标号的结点为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，对标号过的增流路径进行增流，增流路径为</a:t>
                </a:r>
                <a14:m>
                  <m:oMath xmlns:m="http://schemas.openxmlformats.org/officeDocument/2006/math">
                    <m:r>
                      <a:rPr lang="en-US" altLang="zh-CN" b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b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，</a:t>
                </a:r>
                <a:r>
                  <a:rPr lang="zh-CN" altLang="zh-CN" b="1" dirty="0">
                    <a:solidFill>
                      <a:srgbClr val="0000FF"/>
                    </a:solidFill>
                  </a:rPr>
                  <a:t>增量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US" altLang="zh-CN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zh-CN" b="1" dirty="0">
                    <a:solidFill>
                      <a:srgbClr val="0000FF"/>
                    </a:solidFill>
                  </a:rPr>
                  <a:t>取</a:t>
                </a:r>
                <a:r>
                  <a:rPr lang="zh-CN" altLang="zh-CN" b="1" dirty="0">
                    <a:solidFill>
                      <a:schemeClr val="tx1"/>
                    </a:solidFill>
                  </a:rPr>
                  <a:t>增广路径中的边的残留容量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</m:sSub>
                    <m:d>
                      <m:dPr>
                        <m:begChr m:val="（"/>
                        <m:endChr m:val="）"/>
                        <m:ctrlPr>
                          <a:rPr lang="zh-CN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US" altLang="zh-CN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</m:oMath>
                </a14:m>
                <a:r>
                  <a:rPr lang="zh-CN" altLang="zh-CN" b="1" dirty="0">
                    <a:solidFill>
                      <a:srgbClr val="0000FF"/>
                    </a:solidFill>
                  </a:rPr>
                  <a:t>最小值</a:t>
                </a:r>
                <a:r>
                  <a:rPr lang="en-US" altLang="zh-CN" b="1" dirty="0">
                    <a:solidFill>
                      <a:srgbClr val="0000FF"/>
                    </a:solidFill>
                  </a:rPr>
                  <a:t>2</a:t>
                </a:r>
                <a:r>
                  <a:rPr lang="zh-CN" altLang="en-US" b="1" dirty="0">
                    <a:solidFill>
                      <a:schemeClr val="tx1"/>
                    </a:solidFill>
                  </a:rPr>
                  <a:t>；</a:t>
                </a:r>
                <a:endParaRPr lang="zh-CN" altLang="zh-CN" b="1" kern="100" dirty="0">
                  <a:solidFill>
                    <a:schemeClr val="tx1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388678A2-85E9-4DB8-AE4E-4A4D3D2DA7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606" y="1763040"/>
                <a:ext cx="8676890" cy="1235338"/>
              </a:xfrm>
              <a:prstGeom prst="rect">
                <a:avLst/>
              </a:prstGeom>
              <a:blipFill>
                <a:blip r:embed="rId4"/>
                <a:stretch>
                  <a:fillRect l="-1124" t="-5419" r="-1054" b="-59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2">
            <a:extLst>
              <a:ext uri="{FF2B5EF4-FFF2-40B4-BE49-F238E27FC236}">
                <a16:creationId xmlns:a16="http://schemas.microsoft.com/office/drawing/2014/main" id="{FAEFBD3E-E917-4AC7-8D8A-43EEADABA1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3174004"/>
            <a:ext cx="4983144" cy="3077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4468859"/>
      </p:ext>
    </p:extLst>
  </p:cSld>
  <p:clrMapOvr>
    <a:masterClrMapping/>
  </p:clrMapOvr>
  <p:transition spd="med"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日期占位符 3">
            <a:extLst>
              <a:ext uri="{FF2B5EF4-FFF2-40B4-BE49-F238E27FC236}">
                <a16:creationId xmlns:a16="http://schemas.microsoft.com/office/drawing/2014/main" id="{974B7D38-149B-4816-B5F4-3C1A65753DDE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6D390EC-4AB0-425A-9DD7-26EC0E37FA98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4931" name="Text Box 2">
            <a:extLst>
              <a:ext uri="{FF2B5EF4-FFF2-40B4-BE49-F238E27FC236}">
                <a16:creationId xmlns:a16="http://schemas.microsoft.com/office/drawing/2014/main" id="{82B033E6-8945-40AC-826D-8FA39BFA09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230" y="634008"/>
            <a:ext cx="6335713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  <p:pic>
        <p:nvPicPr>
          <p:cNvPr id="12493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B1063B96-3D3B-48B8-A860-51E8172D5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388678A2-85E9-4DB8-AE4E-4A4D3D2DA7A5}"/>
                  </a:ext>
                </a:extLst>
              </p:cNvPr>
              <p:cNvSpPr/>
              <p:nvPr/>
            </p:nvSpPr>
            <p:spPr>
              <a:xfrm>
                <a:off x="251520" y="1763040"/>
                <a:ext cx="8712968" cy="1127296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indent="269875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en-US" b="1" kern="105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  （</a:t>
                </a:r>
                <a:r>
                  <a:rPr lang="en-US" altLang="zh-CN" b="1" kern="105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11</a:t>
                </a:r>
                <a:r>
                  <a:rPr lang="zh-CN" altLang="en-US" b="1" kern="105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）</a:t>
                </a:r>
                <a:r>
                  <a:rPr lang="zh-CN" altLang="en-US" b="1" kern="105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同理，</a:t>
                </a:r>
                <a:r>
                  <a:rPr lang="zh-CN" altLang="zh-CN" b="1" dirty="0">
                    <a:solidFill>
                      <a:schemeClr val="tx1"/>
                    </a:solidFill>
                  </a:rPr>
                  <a:t>再对源点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标号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zh-CN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∞)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，其他结点均未标号，类似</a:t>
                </a:r>
                <a:r>
                  <a:rPr lang="zh-CN" altLang="en-US" b="1" dirty="0">
                    <a:solidFill>
                      <a:schemeClr val="tx1"/>
                    </a:solidFill>
                  </a:rPr>
                  <a:t>地</a:t>
                </a:r>
                <a:r>
                  <a:rPr lang="zh-CN" altLang="zh-CN" b="1" dirty="0">
                    <a:solidFill>
                      <a:schemeClr val="tx1"/>
                    </a:solidFill>
                  </a:rPr>
                  <a:t>，增流路径为</a:t>
                </a:r>
                <a14:m>
                  <m:oMath xmlns:m="http://schemas.openxmlformats.org/officeDocument/2006/math">
                    <m:r>
                      <a:rPr lang="en-US" altLang="zh-CN" b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b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b="1" dirty="0">
                    <a:solidFill>
                      <a:srgbClr val="0000FF"/>
                    </a:solidFill>
                  </a:rPr>
                  <a:t>，增量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US" altLang="zh-CN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zh-CN" b="1" dirty="0">
                    <a:solidFill>
                      <a:srgbClr val="0000FF"/>
                    </a:solidFill>
                  </a:rPr>
                  <a:t>取</a:t>
                </a:r>
                <a:r>
                  <a:rPr lang="en-US" altLang="zh-CN" b="1" dirty="0">
                    <a:solidFill>
                      <a:srgbClr val="0000FF"/>
                    </a:solidFill>
                  </a:rPr>
                  <a:t>1</a:t>
                </a:r>
                <a:r>
                  <a:rPr lang="zh-CN" altLang="en-US" b="1" dirty="0">
                    <a:solidFill>
                      <a:schemeClr val="tx1"/>
                    </a:solidFill>
                  </a:rPr>
                  <a:t>；</a:t>
                </a:r>
                <a:endParaRPr lang="zh-CN" altLang="zh-CN" b="1" kern="100" dirty="0">
                  <a:solidFill>
                    <a:schemeClr val="tx1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388678A2-85E9-4DB8-AE4E-4A4D3D2DA7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763040"/>
                <a:ext cx="8712968" cy="1127296"/>
              </a:xfrm>
              <a:prstGeom prst="rect">
                <a:avLst/>
              </a:prstGeom>
              <a:blipFill>
                <a:blip r:embed="rId4"/>
                <a:stretch>
                  <a:fillRect l="-1049" r="-1049" b="-102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>
            <a:extLst>
              <a:ext uri="{FF2B5EF4-FFF2-40B4-BE49-F238E27FC236}">
                <a16:creationId xmlns:a16="http://schemas.microsoft.com/office/drawing/2014/main" id="{45A7D361-0A52-4C86-95C2-C9AC1F2769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9766" y="2984908"/>
            <a:ext cx="5760640" cy="3270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252468"/>
      </p:ext>
    </p:extLst>
  </p:cSld>
  <p:clrMapOvr>
    <a:masterClrMapping/>
  </p:clrMapOvr>
  <p:transition spd="med"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日期占位符 3">
            <a:extLst>
              <a:ext uri="{FF2B5EF4-FFF2-40B4-BE49-F238E27FC236}">
                <a16:creationId xmlns:a16="http://schemas.microsoft.com/office/drawing/2014/main" id="{974B7D38-149B-4816-B5F4-3C1A65753DDE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6D390EC-4AB0-425A-9DD7-26EC0E37FA98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4931" name="Text Box 2">
            <a:extLst>
              <a:ext uri="{FF2B5EF4-FFF2-40B4-BE49-F238E27FC236}">
                <a16:creationId xmlns:a16="http://schemas.microsoft.com/office/drawing/2014/main" id="{82B033E6-8945-40AC-826D-8FA39BFA09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230" y="634008"/>
            <a:ext cx="6335713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  <p:pic>
        <p:nvPicPr>
          <p:cNvPr id="12493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B1063B96-3D3B-48B8-A860-51E8172D5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388678A2-85E9-4DB8-AE4E-4A4D3D2DA7A5}"/>
                  </a:ext>
                </a:extLst>
              </p:cNvPr>
              <p:cNvSpPr/>
              <p:nvPr/>
            </p:nvSpPr>
            <p:spPr>
              <a:xfrm>
                <a:off x="251520" y="1763040"/>
                <a:ext cx="8712968" cy="1127296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indent="269875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en-US" b="1" kern="105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  （</a:t>
                </a:r>
                <a:r>
                  <a:rPr lang="en-US" altLang="zh-CN" b="1" kern="105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12</a:t>
                </a:r>
                <a:r>
                  <a:rPr lang="zh-CN" altLang="en-US" b="1" kern="105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）</a:t>
                </a:r>
                <a:r>
                  <a:rPr lang="zh-CN" altLang="zh-CN" b="1" dirty="0">
                    <a:solidFill>
                      <a:schemeClr val="tx1"/>
                    </a:solidFill>
                  </a:rPr>
                  <a:t>同理，再对源点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标号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zh-CN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∞)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，其它结点均未标号，类似地，</a:t>
                </a:r>
                <a:r>
                  <a:rPr lang="zh-CN" altLang="zh-CN" b="1" dirty="0">
                    <a:solidFill>
                      <a:srgbClr val="0000FF"/>
                    </a:solidFill>
                  </a:rPr>
                  <a:t>增流路径为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b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b="1" dirty="0">
                    <a:solidFill>
                      <a:srgbClr val="0000FF"/>
                    </a:solidFill>
                  </a:rPr>
                  <a:t>，增量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US" altLang="zh-CN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zh-CN" b="1" dirty="0">
                    <a:solidFill>
                      <a:srgbClr val="0000FF"/>
                    </a:solidFill>
                  </a:rPr>
                  <a:t>取</a:t>
                </a:r>
                <a:r>
                  <a:rPr lang="en-US" altLang="zh-CN" b="1" dirty="0">
                    <a:solidFill>
                      <a:srgbClr val="0000FF"/>
                    </a:solidFill>
                  </a:rPr>
                  <a:t>2</a:t>
                </a:r>
                <a:r>
                  <a:rPr lang="zh-CN" altLang="en-US" b="1" dirty="0">
                    <a:solidFill>
                      <a:schemeClr val="tx1"/>
                    </a:solidFill>
                  </a:rPr>
                  <a:t>；</a:t>
                </a:r>
                <a:endParaRPr lang="zh-CN" altLang="zh-CN" b="1" kern="100" dirty="0">
                  <a:solidFill>
                    <a:schemeClr val="tx1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388678A2-85E9-4DB8-AE4E-4A4D3D2DA7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763040"/>
                <a:ext cx="8712968" cy="1127296"/>
              </a:xfrm>
              <a:prstGeom prst="rect">
                <a:avLst/>
              </a:prstGeom>
              <a:blipFill>
                <a:blip r:embed="rId4"/>
                <a:stretch>
                  <a:fillRect l="-1049" r="-1049" b="-102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2">
            <a:extLst>
              <a:ext uri="{FF2B5EF4-FFF2-40B4-BE49-F238E27FC236}">
                <a16:creationId xmlns:a16="http://schemas.microsoft.com/office/drawing/2014/main" id="{DE962068-F613-4927-9E79-73E4432540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3106747"/>
            <a:ext cx="5400600" cy="3141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5605592"/>
      </p:ext>
    </p:extLst>
  </p:cSld>
  <p:clrMapOvr>
    <a:masterClrMapping/>
  </p:clrMapOvr>
  <p:transition spd="med">
    <p:wipe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日期占位符 3">
            <a:extLst>
              <a:ext uri="{FF2B5EF4-FFF2-40B4-BE49-F238E27FC236}">
                <a16:creationId xmlns:a16="http://schemas.microsoft.com/office/drawing/2014/main" id="{974B7D38-149B-4816-B5F4-3C1A65753DDE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6D390EC-4AB0-425A-9DD7-26EC0E37FA98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4931" name="Text Box 2">
            <a:extLst>
              <a:ext uri="{FF2B5EF4-FFF2-40B4-BE49-F238E27FC236}">
                <a16:creationId xmlns:a16="http://schemas.microsoft.com/office/drawing/2014/main" id="{82B033E6-8945-40AC-826D-8FA39BFA09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230" y="634008"/>
            <a:ext cx="6335713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  <p:pic>
        <p:nvPicPr>
          <p:cNvPr id="12493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B1063B96-3D3B-48B8-A860-51E8172D5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388678A2-85E9-4DB8-AE4E-4A4D3D2DA7A5}"/>
                  </a:ext>
                </a:extLst>
              </p:cNvPr>
              <p:cNvSpPr/>
              <p:nvPr/>
            </p:nvSpPr>
            <p:spPr>
              <a:xfrm>
                <a:off x="251520" y="1628800"/>
                <a:ext cx="8712968" cy="1200329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indent="269875" algn="just">
                  <a:spcAft>
                    <a:spcPts val="0"/>
                  </a:spcAft>
                </a:pPr>
                <a:r>
                  <a:rPr lang="zh-CN" altLang="en-US" b="1" kern="105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 </a:t>
                </a:r>
                <a:r>
                  <a:rPr lang="zh-CN" altLang="en-US" b="1" kern="105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（</a:t>
                </a:r>
                <a:r>
                  <a:rPr lang="en-US" altLang="zh-CN" b="1" kern="105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13</a:t>
                </a:r>
                <a:r>
                  <a:rPr lang="zh-CN" altLang="en-US" b="1" kern="105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）</a:t>
                </a:r>
                <a:r>
                  <a:rPr lang="zh-CN" altLang="zh-CN" b="1" dirty="0">
                    <a:solidFill>
                      <a:schemeClr val="tx1"/>
                    </a:solidFill>
                  </a:rPr>
                  <a:t>同理，再对源点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标号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zh-CN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∞)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，其它结点均未标号，类似地，增流路径为</a:t>
                </a:r>
                <a14:m>
                  <m:oMath xmlns:m="http://schemas.openxmlformats.org/officeDocument/2006/math">
                    <m:r>
                      <a:rPr lang="en-US" altLang="zh-CN" b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，此时当前结点为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，算法结束，</a:t>
                </a:r>
                <a:r>
                  <a:rPr lang="zh-CN" altLang="zh-CN" b="1" dirty="0">
                    <a:solidFill>
                      <a:srgbClr val="0000FF"/>
                    </a:solidFill>
                  </a:rPr>
                  <a:t>所得可行流即为所求最大流</a:t>
                </a:r>
                <a:r>
                  <a:rPr lang="zh-CN" altLang="en-US" b="1" dirty="0">
                    <a:solidFill>
                      <a:schemeClr val="tx1"/>
                    </a:solidFill>
                  </a:rPr>
                  <a:t>。</a:t>
                </a:r>
                <a:endParaRPr lang="zh-CN" altLang="zh-CN" b="1" kern="100" dirty="0">
                  <a:solidFill>
                    <a:schemeClr val="tx1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388678A2-85E9-4DB8-AE4E-4A4D3D2DA7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628800"/>
                <a:ext cx="8712968" cy="1200329"/>
              </a:xfrm>
              <a:prstGeom prst="rect">
                <a:avLst/>
              </a:prstGeom>
              <a:blipFill>
                <a:blip r:embed="rId4"/>
                <a:stretch>
                  <a:fillRect l="-1049" t="-5584" r="-1049" b="-10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2">
            <a:extLst>
              <a:ext uri="{FF2B5EF4-FFF2-40B4-BE49-F238E27FC236}">
                <a16:creationId xmlns:a16="http://schemas.microsoft.com/office/drawing/2014/main" id="{DE962068-F613-4927-9E79-73E4432540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889636"/>
            <a:ext cx="5832648" cy="3392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7114793"/>
      </p:ext>
    </p:extLst>
  </p:cSld>
  <p:clrMapOvr>
    <a:masterClrMapping/>
  </p:clrMapOvr>
  <p:transition spd="med">
    <p:wipe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日期占位符 3">
            <a:extLst>
              <a:ext uri="{FF2B5EF4-FFF2-40B4-BE49-F238E27FC236}">
                <a16:creationId xmlns:a16="http://schemas.microsoft.com/office/drawing/2014/main" id="{974B7D38-149B-4816-B5F4-3C1A65753DDE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6D390EC-4AB0-425A-9DD7-26EC0E37FA98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4931" name="Text Box 2">
            <a:extLst>
              <a:ext uri="{FF2B5EF4-FFF2-40B4-BE49-F238E27FC236}">
                <a16:creationId xmlns:a16="http://schemas.microsoft.com/office/drawing/2014/main" id="{82B033E6-8945-40AC-826D-8FA39BFA09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664" y="557128"/>
            <a:ext cx="6335713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  <p:pic>
        <p:nvPicPr>
          <p:cNvPr id="12493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B1063B96-3D3B-48B8-A860-51E8172D5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80CBEBF7-E195-4033-88D0-AFE52E4958C9}"/>
                  </a:ext>
                </a:extLst>
              </p:cNvPr>
              <p:cNvSpPr/>
              <p:nvPr/>
            </p:nvSpPr>
            <p:spPr>
              <a:xfrm>
                <a:off x="251520" y="1598240"/>
                <a:ext cx="8424936" cy="4656275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【例题】某货运车站</a:t>
                </a:r>
                <a:r>
                  <a:rPr lang="zh-CN" altLang="zh-CN" sz="20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𝒏</m:t>
                    </m:r>
                  </m:oMath>
                </a14:m>
                <a:r>
                  <a:rPr lang="zh-CN" altLang="zh-CN" sz="20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个车道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，由于车道长度有限，</a:t>
                </a:r>
                <a:r>
                  <a:rPr lang="zh-CN" altLang="zh-CN" sz="20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每个车道在某时刻最多只能停靠一列货运列车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。车站正常运行后，</a:t>
                </a:r>
                <a:r>
                  <a:rPr lang="zh-CN" altLang="zh-CN" sz="20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每天有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𝒎</m:t>
                    </m:r>
                  </m:oMath>
                </a14:m>
                <a:r>
                  <a:rPr lang="zh-CN" altLang="zh-CN" sz="20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列货运列车从车站经过，其中第</a:t>
                </a:r>
                <a:r>
                  <a:rPr lang="en-US" altLang="zh-CN" sz="2000" b="1" i="1" kern="1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lang="zh-CN" altLang="zh-CN" sz="20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列列车到达车站的时间为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𝑹𝒆𝒂𝒄𝒉</m:t>
                    </m:r>
                    <m:r>
                      <a:rPr lang="en-US" altLang="zh-CN" sz="2000" b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CN" sz="2000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𝒊</m:t>
                    </m:r>
                    <m:r>
                      <a:rPr lang="en-US" altLang="zh-CN" sz="2000" b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zh-CN" altLang="zh-CN" sz="20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，列车上装有价值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𝑪𝒐𝒔𝒕</m:t>
                    </m:r>
                    <m:r>
                      <a:rPr lang="en-US" altLang="zh-CN" sz="2000" b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CN" sz="2000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𝒊</m:t>
                    </m:r>
                    <m:r>
                      <a:rPr lang="en-US" altLang="zh-CN" sz="2000" b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zh-CN" altLang="zh-CN" sz="20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的货物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2000" b="1" kern="100" dirty="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如果准许列车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𝒊</m:t>
                    </m:r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进站，则车站将获得</a:t>
                </a:r>
                <a14:m>
                  <m:oMath xmlns:m="http://schemas.openxmlformats.org/officeDocument/2006/math">
                    <m:r>
                      <a:rPr lang="en-US" altLang="zh-CN" sz="2000" b="1" i="1" kern="1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𝟏𝟎</m:t>
                    </m:r>
                    <m:r>
                      <a:rPr lang="en-US" altLang="zh-CN" sz="2000" b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%</m:t>
                    </m:r>
                    <m:r>
                      <a:rPr lang="zh-CN" altLang="zh-CN" sz="2000" b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zh-CN" sz="2000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𝑪𝒐𝒔𝒕</m:t>
                    </m:r>
                    <m:r>
                      <a:rPr lang="en-US" altLang="zh-CN" sz="2000" b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CN" sz="2000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𝒊</m:t>
                    </m:r>
                    <m:r>
                      <a:rPr lang="en-US" altLang="zh-CN" sz="2000" b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的收益，受到货物搬运时间制约，列车在站停留时间长度为</a:t>
                </a:r>
                <a14:m>
                  <m:oMath xmlns:m="http://schemas.openxmlformats.org/officeDocument/2006/math">
                    <m:r>
                      <a:rPr lang="en-US" altLang="zh-CN" sz="2000" b="1" i="1" kern="1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𝑺𝒕𝒂𝒚</m:t>
                    </m:r>
                    <m:r>
                      <a:rPr lang="en-US" altLang="zh-CN" sz="2000" b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CN" sz="2000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𝒊</m:t>
                    </m:r>
                    <m:r>
                      <a:rPr lang="en-US" altLang="zh-CN" sz="2000" b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。这段时间内，列车将占用车站某个车道；</a:t>
                </a:r>
                <a:r>
                  <a:rPr lang="zh-CN" altLang="zh-CN" sz="20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若不允许某列车进站，则该列车直接出站，此时车站无任何收益。</a:t>
                </a:r>
                <a:endParaRPr lang="en-US" altLang="zh-CN" sz="2000" b="1" kern="100" dirty="0">
                  <a:solidFill>
                    <a:srgbClr val="0000FF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现有</a:t>
                </a:r>
                <a:r>
                  <a:rPr lang="en-US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个车道，</a:t>
                </a:r>
                <a:r>
                  <a:rPr lang="en-US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5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列列车，列车进站时间、停车价值、停留时间如表</a:t>
                </a:r>
                <a:r>
                  <a:rPr lang="en-US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所示，如何合理安排列车的进站与出站，才能使得</a:t>
                </a:r>
                <a:r>
                  <a:rPr lang="zh-CN" altLang="zh-CN" sz="20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车站的总收益最大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？</a:t>
                </a: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80CBEBF7-E195-4033-88D0-AFE52E4958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598240"/>
                <a:ext cx="8424936" cy="4656275"/>
              </a:xfrm>
              <a:prstGeom prst="rect">
                <a:avLst/>
              </a:prstGeom>
              <a:blipFill>
                <a:blip r:embed="rId4"/>
                <a:stretch>
                  <a:fillRect l="-724" r="-796" b="-9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264104"/>
      </p:ext>
    </p:extLst>
  </p:cSld>
  <p:clrMapOvr>
    <a:masterClrMapping/>
  </p:clrMapOvr>
  <p:transition spd="med">
    <p:wipe dir="r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日期占位符 3">
            <a:extLst>
              <a:ext uri="{FF2B5EF4-FFF2-40B4-BE49-F238E27FC236}">
                <a16:creationId xmlns:a16="http://schemas.microsoft.com/office/drawing/2014/main" id="{974B7D38-149B-4816-B5F4-3C1A65753DDE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6D390EC-4AB0-425A-9DD7-26EC0E37FA98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4931" name="Text Box 2">
            <a:extLst>
              <a:ext uri="{FF2B5EF4-FFF2-40B4-BE49-F238E27FC236}">
                <a16:creationId xmlns:a16="http://schemas.microsoft.com/office/drawing/2014/main" id="{82B033E6-8945-40AC-826D-8FA39BFA09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664" y="557128"/>
            <a:ext cx="6335713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  <p:pic>
        <p:nvPicPr>
          <p:cNvPr id="12493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B1063B96-3D3B-48B8-A860-51E8172D5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C04C20E3-9ADF-43D0-97B0-6C07E71B9E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701" y="1802389"/>
            <a:ext cx="8734597" cy="425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980496"/>
      </p:ext>
    </p:extLst>
  </p:cSld>
  <p:clrMapOvr>
    <a:masterClrMapping/>
  </p:clrMapOvr>
  <p:transition spd="med">
    <p:wipe dir="r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日期占位符 3">
            <a:extLst>
              <a:ext uri="{FF2B5EF4-FFF2-40B4-BE49-F238E27FC236}">
                <a16:creationId xmlns:a16="http://schemas.microsoft.com/office/drawing/2014/main" id="{974B7D38-149B-4816-B5F4-3C1A65753DDE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6D390EC-4AB0-425A-9DD7-26EC0E37FA98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4931" name="Text Box 2">
            <a:extLst>
              <a:ext uri="{FF2B5EF4-FFF2-40B4-BE49-F238E27FC236}">
                <a16:creationId xmlns:a16="http://schemas.microsoft.com/office/drawing/2014/main" id="{82B033E6-8945-40AC-826D-8FA39BFA09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664" y="557128"/>
            <a:ext cx="6335713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  <p:pic>
        <p:nvPicPr>
          <p:cNvPr id="12493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B1063B96-3D3B-48B8-A860-51E8172D5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07548BFD-490B-43A2-BBAB-B66E6BB29FDC}"/>
                  </a:ext>
                </a:extLst>
              </p:cNvPr>
              <p:cNvSpPr/>
              <p:nvPr/>
            </p:nvSpPr>
            <p:spPr>
              <a:xfrm>
                <a:off x="179512" y="1776830"/>
                <a:ext cx="8856984" cy="4366003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ts val="2800"/>
                  </a:lnSpc>
                  <a:spcAft>
                    <a:spcPts val="0"/>
                  </a:spcAft>
                </a:pPr>
                <a:r>
                  <a:rPr lang="en-US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【解】可用一个</a:t>
                </a:r>
                <a:r>
                  <a:rPr lang="zh-CN" altLang="zh-CN" sz="20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流网络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对该问题进行建模，具体过程如下：</a:t>
                </a:r>
              </a:p>
              <a:p>
                <a:pPr indent="266700" algn="just">
                  <a:lnSpc>
                    <a:spcPts val="2800"/>
                  </a:lnSpc>
                  <a:spcAft>
                    <a:spcPts val="0"/>
                  </a:spcAft>
                </a:pPr>
                <a:r>
                  <a:rPr lang="en-US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</a:t>
                </a:r>
                <a:r>
                  <a:rPr lang="zh-CN" altLang="en-US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将</a:t>
                </a:r>
                <a:r>
                  <a:rPr lang="zh-CN" altLang="zh-CN" sz="20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每列列车看成是联结两个结点的一条带权边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，如第</a:t>
                </a:r>
                <a14:m>
                  <m:oMath xmlns:m="http://schemas.openxmlformats.org/officeDocument/2006/math">
                    <m:r>
                      <a:rPr lang="en-US" altLang="zh-CN" sz="2000" b="1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𝒊</m:t>
                    </m:r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列列车</a:t>
                </a:r>
                <a:r>
                  <a:rPr lang="zh-CN" altLang="zh-CN" sz="20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拆成点</a:t>
                </a:r>
                <a14:m>
                  <m:oMath xmlns:m="http://schemas.openxmlformats.org/officeDocument/2006/math">
                    <m:r>
                      <a:rPr lang="en-US" altLang="zh-CN" sz="2000" b="1" i="1" kern="1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𝒊</m:t>
                    </m:r>
                  </m:oMath>
                </a14:m>
                <a:r>
                  <a:rPr lang="zh-CN" altLang="zh-CN" sz="20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1" kern="1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𝒊</m:t>
                    </m:r>
                    <m:r>
                      <a:rPr lang="en-US" altLang="zh-CN" sz="2000" b="1" i="1" kern="1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000" b="1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𝒊</m:t>
                    </m:r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000" b="1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𝒊</m:t>
                    </m:r>
                    <m:r>
                      <a:rPr lang="en-US" altLang="zh-CN" sz="2000" b="1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之间加一条</a:t>
                </a:r>
                <a:r>
                  <a:rPr lang="zh-CN" altLang="zh-CN" sz="20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容量为</a:t>
                </a:r>
                <a:r>
                  <a:rPr lang="en-US" altLang="zh-CN" sz="20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0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，费用为</a:t>
                </a:r>
                <a14:m>
                  <m:oMath xmlns:m="http://schemas.openxmlformats.org/officeDocument/2006/math">
                    <m:r>
                      <a:rPr lang="en-US" altLang="zh-CN" sz="2000" b="1" i="1" kern="1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𝟏𝟎</m:t>
                    </m:r>
                    <m:r>
                      <a:rPr lang="en-US" altLang="zh-CN" sz="2000" b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%×</m:t>
                    </m:r>
                    <m:r>
                      <a:rPr lang="en-US" altLang="zh-CN" sz="2000" b="1" i="1" kern="1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𝑪𝒐𝒔𝒕</m:t>
                    </m:r>
                    <m:r>
                      <a:rPr lang="en-US" altLang="zh-CN" sz="2000" b="1" kern="1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CN" sz="2000" b="1" i="1" kern="1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𝒊</m:t>
                    </m:r>
                    <m:r>
                      <a:rPr lang="en-US" altLang="zh-CN" sz="2000" b="1" kern="1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的边</a:t>
                </a:r>
                <a14:m>
                  <m:oMath xmlns:m="http://schemas.openxmlformats.org/officeDocument/2006/math">
                    <m:r>
                      <a:rPr lang="en-US" altLang="zh-CN" sz="2000" b="1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𝒊</m:t>
                    </m:r>
                    <m:r>
                      <a:rPr lang="en-US" altLang="zh-CN" sz="2000" b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sz="2000" b="1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𝒊</m:t>
                    </m:r>
                    <m:r>
                      <a:rPr lang="en-US" altLang="zh-CN" sz="2000" b="1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；若</a:t>
                </a:r>
                <a14:m>
                  <m:oMath xmlns:m="http://schemas.openxmlformats.org/officeDocument/2006/math">
                    <m:r>
                      <a:rPr lang="en-US" altLang="zh-CN" sz="2000" b="1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𝒊</m:t>
                    </m:r>
                    <m:r>
                      <a:rPr lang="en-US" altLang="zh-CN" sz="2000" b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sz="2000" b="1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𝒊</m:t>
                    </m:r>
                    <m:r>
                      <a:rPr lang="en-US" altLang="zh-CN" sz="2000" b="1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zh-CN" sz="20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边的流量为</a:t>
                </a:r>
                <a:r>
                  <a:rPr lang="en-US" altLang="zh-CN" sz="20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，则表示该列火车进站，并获得</a:t>
                </a:r>
                <a14:m>
                  <m:oMath xmlns:m="http://schemas.openxmlformats.org/officeDocument/2006/math">
                    <m:r>
                      <a:rPr lang="en-US" altLang="zh-CN" sz="2000" b="1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𝟏𝟎</m:t>
                    </m:r>
                    <m:r>
                      <a:rPr lang="en-US" altLang="zh-CN" sz="2000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%×</m:t>
                    </m:r>
                    <m:r>
                      <a:rPr lang="en-US" altLang="zh-CN" sz="2000" b="1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𝑪𝒐𝒔𝒕</m:t>
                    </m:r>
                    <m:r>
                      <a:rPr lang="en-US" altLang="zh-CN" sz="2000" b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CN" sz="2000" b="1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𝒊</m:t>
                    </m:r>
                    <m:r>
                      <a:rPr lang="en-US" altLang="zh-CN" sz="2000" b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</a:p>
              <a:p>
                <a:pPr indent="266700" algn="just">
                  <a:lnSpc>
                    <a:spcPts val="2800"/>
                  </a:lnSpc>
                  <a:spcAft>
                    <a:spcPts val="0"/>
                  </a:spcAft>
                </a:pPr>
                <a:r>
                  <a:rPr lang="zh-CN" altLang="en-US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（</a:t>
                </a:r>
                <a:r>
                  <a:rPr lang="en-US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en-US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增加一个</a:t>
                </a:r>
                <a:r>
                  <a:rPr lang="zh-CN" altLang="zh-CN" sz="20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源点</a:t>
                </a:r>
                <a14:m>
                  <m:oMath xmlns:m="http://schemas.openxmlformats.org/officeDocument/2006/math">
                    <m:r>
                      <a:rPr lang="en-US" altLang="zh-CN" sz="2000" b="1" i="1" kern="1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𝑺</m:t>
                    </m:r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000" b="1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𝑺</m:t>
                    </m:r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与每个点</a:t>
                </a:r>
                <a14:m>
                  <m:oMath xmlns:m="http://schemas.openxmlformats.org/officeDocument/2006/math">
                    <m:r>
                      <a:rPr lang="en-US" altLang="zh-CN" sz="2000" b="1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𝒊</m:t>
                    </m:r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连</a:t>
                </a:r>
                <a:r>
                  <a:rPr lang="zh-CN" altLang="zh-CN" sz="20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一条容量为</a:t>
                </a:r>
                <a:r>
                  <a:rPr lang="en-US" altLang="zh-CN" sz="20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0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费用为</a:t>
                </a:r>
                <a:r>
                  <a:rPr lang="en-US" altLang="zh-CN" sz="20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zh-CN" sz="20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的边</a:t>
                </a:r>
                <a14:m>
                  <m:oMath xmlns:m="http://schemas.openxmlformats.org/officeDocument/2006/math">
                    <m:r>
                      <a:rPr lang="en-US" altLang="zh-CN" sz="2000" b="1" i="1" kern="1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𝑺</m:t>
                    </m:r>
                    <m:r>
                      <a:rPr lang="en-US" altLang="zh-CN" sz="2000" b="1" kern="1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zh-CN" sz="2000" b="1" i="1" kern="1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；如果</a:t>
                </a:r>
                <a14:m>
                  <m:oMath xmlns:m="http://schemas.openxmlformats.org/officeDocument/2006/math">
                    <m:r>
                      <a:rPr lang="en-US" altLang="zh-CN" sz="2000" b="1" i="1" kern="1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𝑺</m:t>
                    </m:r>
                    <m:r>
                      <a:rPr lang="en-US" altLang="zh-CN" sz="2000" b="1" kern="1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zh-CN" sz="2000" b="1" i="1" kern="1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lang="zh-CN" altLang="zh-CN" sz="20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的流量为</a:t>
                </a:r>
                <a:r>
                  <a:rPr lang="en-US" altLang="zh-CN" sz="20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，则表示</a:t>
                </a:r>
                <a:r>
                  <a:rPr lang="zh-CN" altLang="zh-CN" sz="20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列车</a:t>
                </a:r>
                <a14:m>
                  <m:oMath xmlns:m="http://schemas.openxmlformats.org/officeDocument/2006/math">
                    <m:r>
                      <a:rPr lang="en-US" altLang="zh-CN" sz="2000" b="1" i="1" kern="1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𝒊</m:t>
                    </m:r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作为某个车道的第一列入站的列车</a:t>
                </a:r>
              </a:p>
              <a:p>
                <a:pPr indent="266700" algn="just">
                  <a:lnSpc>
                    <a:spcPts val="2800"/>
                  </a:lnSpc>
                  <a:spcAft>
                    <a:spcPts val="0"/>
                  </a:spcAft>
                </a:pPr>
                <a:r>
                  <a:rPr lang="zh-CN" altLang="en-US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（</a:t>
                </a:r>
                <a:r>
                  <a:rPr lang="en-US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en-US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再增加</a:t>
                </a:r>
                <a:r>
                  <a:rPr lang="zh-CN" altLang="zh-CN" sz="20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一个源点</a:t>
                </a:r>
                <a14:m>
                  <m:oMath xmlns:m="http://schemas.openxmlformats.org/officeDocument/2006/math">
                    <m:r>
                      <a:rPr lang="en-US" altLang="zh-CN" sz="2000" b="1" i="1" kern="1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𝑺</m:t>
                    </m:r>
                    <m:r>
                      <a:rPr lang="en-US" altLang="zh-CN" sz="2000" b="1" kern="1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’</m:t>
                    </m:r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000" b="1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𝑺</m:t>
                    </m:r>
                    <m:r>
                      <a:rPr lang="en-US" altLang="zh-CN" sz="2000" b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’→</m:t>
                    </m:r>
                  </m:oMath>
                </a14:m>
                <a:r>
                  <a:rPr lang="en-US" altLang="zh-CN" sz="2000" b="1" i="1" kern="1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S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的容量为</a:t>
                </a:r>
                <a14:m>
                  <m:oMath xmlns:m="http://schemas.openxmlformats.org/officeDocument/2006/math">
                    <m:r>
                      <a:rPr lang="en-US" altLang="zh-CN" sz="2000" b="1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𝒏</m:t>
                    </m:r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，表示</a:t>
                </a:r>
                <a:r>
                  <a:rPr lang="zh-CN" altLang="zh-CN" sz="20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2000" b="1" i="1" kern="1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𝒏</m:t>
                    </m:r>
                  </m:oMath>
                </a14:m>
                <a:r>
                  <a:rPr lang="zh-CN" altLang="zh-CN" sz="20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个车道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</a:t>
                </a:r>
              </a:p>
              <a:p>
                <a:pPr indent="266700" algn="just">
                  <a:lnSpc>
                    <a:spcPts val="2800"/>
                  </a:lnSpc>
                  <a:spcAft>
                    <a:spcPts val="0"/>
                  </a:spcAft>
                </a:pPr>
                <a:r>
                  <a:rPr lang="zh-CN" altLang="en-US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（</a:t>
                </a:r>
                <a:r>
                  <a:rPr lang="en-US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4</a:t>
                </a:r>
                <a:r>
                  <a:rPr lang="zh-CN" altLang="en-US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增加</a:t>
                </a:r>
                <a:r>
                  <a:rPr lang="zh-CN" altLang="zh-CN" sz="20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一个汇点</a:t>
                </a:r>
                <a14:m>
                  <m:oMath xmlns:m="http://schemas.openxmlformats.org/officeDocument/2006/math">
                    <m:r>
                      <a:rPr lang="en-US" altLang="zh-CN" sz="2000" b="1" i="1" kern="1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𝑻</m:t>
                    </m:r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，每个点</a:t>
                </a:r>
                <a14:m>
                  <m:oMath xmlns:m="http://schemas.openxmlformats.org/officeDocument/2006/math">
                    <m:r>
                      <a:rPr lang="en-US" altLang="zh-CN" sz="2000" b="1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𝒊</m:t>
                    </m:r>
                    <m:r>
                      <a:rPr lang="en-US" altLang="zh-CN" sz="2000" b="1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000" b="1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𝑻</m:t>
                    </m:r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连一条容量为</a:t>
                </a:r>
                <a:r>
                  <a:rPr lang="en-US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费用为</a:t>
                </a:r>
                <a:r>
                  <a:rPr lang="en-US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的边</a:t>
                </a:r>
                <a14:m>
                  <m:oMath xmlns:m="http://schemas.openxmlformats.org/officeDocument/2006/math">
                    <m:r>
                      <a:rPr lang="en-US" altLang="zh-CN" sz="2000" b="1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𝒊</m:t>
                    </m:r>
                    <m:r>
                      <a:rPr lang="en-US" altLang="zh-CN" sz="2000" b="1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′</m:t>
                    </m:r>
                    <m:r>
                      <a:rPr lang="en-US" altLang="zh-CN" sz="2000" b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sz="2000" b="1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𝑻</m:t>
                    </m:r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；如果</a:t>
                </a:r>
                <a14:m>
                  <m:oMath xmlns:m="http://schemas.openxmlformats.org/officeDocument/2006/math">
                    <m:r>
                      <a:rPr lang="en-US" altLang="zh-CN" sz="2000" b="1" i="1" kern="1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𝒊</m:t>
                    </m:r>
                    <m:r>
                      <a:rPr lang="en-US" altLang="zh-CN" sz="2000" b="1" kern="1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’ →</m:t>
                    </m:r>
                    <m:r>
                      <a:rPr lang="en-US" altLang="zh-CN" sz="2000" b="1" i="1" kern="1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𝑻</m:t>
                    </m:r>
                  </m:oMath>
                </a14:m>
                <a:r>
                  <a:rPr lang="zh-CN" altLang="zh-CN" sz="20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的流量为</a:t>
                </a:r>
                <a:r>
                  <a:rPr lang="en-US" altLang="zh-CN" sz="20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，则表示列车</a:t>
                </a:r>
                <a14:m>
                  <m:oMath xmlns:m="http://schemas.openxmlformats.org/officeDocument/2006/math">
                    <m:r>
                      <a:rPr lang="en-US" altLang="zh-CN" sz="2000" b="1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𝒊</m:t>
                    </m:r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作为某个车道的</a:t>
                </a:r>
                <a:r>
                  <a:rPr lang="zh-CN" altLang="zh-CN" sz="20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最后一列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入站的列车；</a:t>
                </a:r>
              </a:p>
              <a:p>
                <a:pPr algn="just">
                  <a:lnSpc>
                    <a:spcPts val="2800"/>
                  </a:lnSpc>
                </a:pPr>
                <a:r>
                  <a:rPr lang="zh-CN" altLang="en-US" sz="20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  （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5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zh-CN" sz="20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对于所有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𝒊</m:t>
                    </m:r>
                  </m:oMath>
                </a14:m>
                <a:r>
                  <a:rPr lang="zh-CN" altLang="zh-CN" sz="20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𝒋</m:t>
                    </m:r>
                    <m:r>
                      <a:rPr lang="en-US" altLang="zh-CN" sz="2000" b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𝒊</m:t>
                    </m:r>
                    <m:r>
                      <a:rPr lang="zh-CN" altLang="zh-CN" sz="2000" b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𝒋</m:t>
                    </m:r>
                    <m:r>
                      <a:rPr lang="en-US" altLang="zh-CN" sz="2000" b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20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，如果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𝑹𝒆𝒂𝒄𝒉</m:t>
                    </m:r>
                    <m:r>
                      <a:rPr lang="en-US" altLang="zh-CN" sz="2000" b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𝒊</m:t>
                    </m:r>
                    <m:r>
                      <a:rPr lang="en-US" altLang="zh-CN" sz="2000" b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]+</m:t>
                    </m:r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𝑺𝒕𝒂𝒚</m:t>
                    </m:r>
                    <m:r>
                      <a:rPr lang="en-US" altLang="zh-CN" sz="2000" b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𝒊</m:t>
                    </m:r>
                    <m:r>
                      <a:rPr lang="en-US" altLang="zh-CN" sz="2000" b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]&lt;</m:t>
                    </m:r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𝑹𝒆𝒂𝒄𝒉</m:t>
                    </m:r>
                    <m:r>
                      <a:rPr lang="en-US" altLang="zh-CN" sz="2000" b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𝒋</m:t>
                    </m:r>
                    <m:r>
                      <a:rPr lang="en-US" altLang="zh-CN" sz="2000" b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zh-CN" altLang="zh-CN" sz="20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，则在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𝒊</m:t>
                    </m:r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zh-CN" altLang="zh-CN" sz="20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𝒋</m:t>
                    </m:r>
                  </m:oMath>
                </a14:m>
                <a:r>
                  <a:rPr lang="zh-CN" altLang="zh-CN" sz="20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之间连一条容量为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0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，费用为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zh-CN" sz="20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边，表示可以在某一个车道先停入列车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𝒊</m:t>
                    </m:r>
                  </m:oMath>
                </a14:m>
                <a:r>
                  <a:rPr lang="zh-CN" altLang="zh-CN" sz="20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𝒊</m:t>
                    </m:r>
                  </m:oMath>
                </a14:m>
                <a:r>
                  <a:rPr lang="zh-CN" altLang="zh-CN" sz="20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出站后再停入列车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𝒋</m:t>
                    </m:r>
                  </m:oMath>
                </a14:m>
                <a:r>
                  <a:rPr lang="zh-CN" altLang="zh-CN" sz="20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zh-CN" altLang="en-U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07548BFD-490B-43A2-BBAB-B66E6BB29F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776830"/>
                <a:ext cx="8856984" cy="4366003"/>
              </a:xfrm>
              <a:prstGeom prst="rect">
                <a:avLst/>
              </a:prstGeom>
              <a:blipFill>
                <a:blip r:embed="rId4"/>
                <a:stretch>
                  <a:fillRect l="-688" t="-558" r="-757" b="-11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9151917"/>
      </p:ext>
    </p:extLst>
  </p:cSld>
  <p:clrMapOvr>
    <a:masterClrMapping/>
  </p:clrMapOvr>
  <p:transition spd="med">
    <p:wipe dir="r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Text Box 2">
            <a:extLst>
              <a:ext uri="{FF2B5EF4-FFF2-40B4-BE49-F238E27FC236}">
                <a16:creationId xmlns:a16="http://schemas.microsoft.com/office/drawing/2014/main" id="{82B033E6-8945-40AC-826D-8FA39BFA09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664" y="557128"/>
            <a:ext cx="6335713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  <p:pic>
        <p:nvPicPr>
          <p:cNvPr id="12493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B1063B96-3D3B-48B8-A860-51E8172D5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D5FC3AB-6E0B-432C-88E4-5E1B7BCD0BC7}"/>
              </a:ext>
            </a:extLst>
          </p:cNvPr>
          <p:cNvSpPr/>
          <p:nvPr/>
        </p:nvSpPr>
        <p:spPr>
          <a:xfrm>
            <a:off x="395536" y="1700808"/>
            <a:ext cx="8712968" cy="962956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indent="266700" algn="just">
              <a:lnSpc>
                <a:spcPts val="3600"/>
              </a:lnSpc>
              <a:spcAft>
                <a:spcPts val="0"/>
              </a:spcAft>
            </a:pPr>
            <a:r>
              <a:rPr lang="en-US" altLang="zh-CN" sz="2000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2000" b="1" kern="100" dirty="0">
                <a:solidFill>
                  <a:srgbClr val="0070C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000" b="1" kern="100" dirty="0">
                <a:solidFill>
                  <a:srgbClr val="0070C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解</a:t>
            </a:r>
            <a:r>
              <a:rPr lang="en-US" altLang="zh-CN" sz="2000" b="1" kern="100" dirty="0">
                <a:solidFill>
                  <a:srgbClr val="0070C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000" b="1" kern="100" dirty="0">
                <a:solidFill>
                  <a:srgbClr val="0070C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续</a:t>
            </a:r>
            <a:r>
              <a:rPr lang="en-US" altLang="zh-CN" sz="2000" b="1" kern="100" dirty="0">
                <a:solidFill>
                  <a:srgbClr val="0070C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)】</a:t>
            </a:r>
            <a:r>
              <a:rPr lang="zh-CN" altLang="en-US" sz="20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下</a:t>
            </a:r>
            <a:r>
              <a:rPr lang="zh-CN" altLang="zh-CN" sz="20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图所示的流网络为列车调度的流量网络模型，其中粗线箭头上的数字表示</a:t>
            </a:r>
            <a:r>
              <a:rPr lang="zh-CN" altLang="en-US" sz="20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收益</a:t>
            </a:r>
            <a:r>
              <a:rPr lang="zh-CN" altLang="zh-CN" sz="20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，未标数字的</a:t>
            </a:r>
            <a:r>
              <a:rPr lang="zh-CN" altLang="en-US" sz="20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边</a:t>
            </a:r>
            <a:r>
              <a:rPr lang="zh-CN" altLang="zh-CN" sz="20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0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收益</a:t>
            </a:r>
            <a:r>
              <a:rPr lang="zh-CN" altLang="zh-CN" sz="20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0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20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，未标明容量的</a:t>
            </a:r>
            <a:r>
              <a:rPr lang="zh-CN" altLang="en-US" sz="20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边</a:t>
            </a:r>
            <a:r>
              <a:rPr lang="zh-CN" altLang="zh-CN" sz="20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的容量为</a:t>
            </a:r>
            <a:r>
              <a:rPr lang="en-US" altLang="zh-CN" sz="20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20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546DEB9-E3A1-4569-8499-B8AEB776B6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60" y="2835363"/>
            <a:ext cx="8064896" cy="343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948149"/>
      </p:ext>
    </p:extLst>
  </p:cSld>
  <p:clrMapOvr>
    <a:masterClrMapping/>
  </p:clrMapOvr>
  <p:transition spd="med">
    <p:wipe dir="r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日期占位符 3">
            <a:extLst>
              <a:ext uri="{FF2B5EF4-FFF2-40B4-BE49-F238E27FC236}">
                <a16:creationId xmlns:a16="http://schemas.microsoft.com/office/drawing/2014/main" id="{974B7D38-149B-4816-B5F4-3C1A65753DDE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6D390EC-4AB0-425A-9DD7-26EC0E37FA98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4931" name="Text Box 2">
            <a:extLst>
              <a:ext uri="{FF2B5EF4-FFF2-40B4-BE49-F238E27FC236}">
                <a16:creationId xmlns:a16="http://schemas.microsoft.com/office/drawing/2014/main" id="{82B033E6-8945-40AC-826D-8FA39BFA09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4143" y="623007"/>
            <a:ext cx="6335713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  <p:pic>
        <p:nvPicPr>
          <p:cNvPr id="12493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B1063B96-3D3B-48B8-A860-51E8172D5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D5FC3AB-6E0B-432C-88E4-5E1B7BCD0BC7}"/>
              </a:ext>
            </a:extLst>
          </p:cNvPr>
          <p:cNvSpPr/>
          <p:nvPr/>
        </p:nvSpPr>
        <p:spPr>
          <a:xfrm>
            <a:off x="395536" y="1772816"/>
            <a:ext cx="8640960" cy="1264129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algn="just">
              <a:lnSpc>
                <a:spcPts val="3200"/>
              </a:lnSpc>
            </a:pPr>
            <a:r>
              <a:rPr lang="en-US" altLang="zh-CN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altLang="zh-CN" sz="2000" b="1" kern="100" dirty="0">
                <a:solidFill>
                  <a:srgbClr val="0070C0"/>
                </a:solidFill>
                <a:latin typeface="+mj-ea"/>
                <a:ea typeface="+mj-ea"/>
                <a:cs typeface="Times New Roman" panose="02020603050405020304" pitchFamily="18" charset="0"/>
              </a:rPr>
              <a:t>【</a:t>
            </a:r>
            <a:r>
              <a:rPr lang="zh-CN" altLang="en-US" sz="2000" b="1" kern="100" dirty="0">
                <a:solidFill>
                  <a:srgbClr val="0070C0"/>
                </a:solidFill>
                <a:latin typeface="+mj-ea"/>
                <a:ea typeface="+mj-ea"/>
                <a:cs typeface="Times New Roman" panose="02020603050405020304" pitchFamily="18" charset="0"/>
              </a:rPr>
              <a:t>解</a:t>
            </a:r>
            <a:r>
              <a:rPr lang="en-US" altLang="zh-CN" sz="2000" b="1" kern="100" dirty="0">
                <a:solidFill>
                  <a:srgbClr val="0070C0"/>
                </a:solidFill>
                <a:latin typeface="+mj-ea"/>
                <a:ea typeface="+mj-ea"/>
                <a:cs typeface="Times New Roman" panose="02020603050405020304" pitchFamily="18" charset="0"/>
              </a:rPr>
              <a:t>(</a:t>
            </a:r>
            <a:r>
              <a:rPr lang="zh-CN" altLang="en-US" sz="2000" b="1" kern="100" dirty="0">
                <a:solidFill>
                  <a:srgbClr val="0070C0"/>
                </a:solidFill>
                <a:latin typeface="+mj-ea"/>
                <a:ea typeface="+mj-ea"/>
                <a:cs typeface="Times New Roman" panose="02020603050405020304" pitchFamily="18" charset="0"/>
              </a:rPr>
              <a:t>续</a:t>
            </a:r>
            <a:r>
              <a:rPr lang="en-US" altLang="zh-CN" sz="2000" b="1" kern="100" dirty="0">
                <a:solidFill>
                  <a:srgbClr val="0070C0"/>
                </a:solidFill>
                <a:latin typeface="+mj-ea"/>
                <a:ea typeface="+mj-ea"/>
                <a:cs typeface="Times New Roman" panose="02020603050405020304" pitchFamily="18" charset="0"/>
              </a:rPr>
              <a:t>)】</a:t>
            </a:r>
            <a:r>
              <a:rPr lang="zh-CN" altLang="zh-CN" sz="2000" b="1" dirty="0">
                <a:solidFill>
                  <a:schemeClr val="tx1"/>
                </a:solidFill>
                <a:latin typeface="+mj-ea"/>
                <a:ea typeface="+mj-ea"/>
              </a:rPr>
              <a:t>对于求解出的所有最大流</a:t>
            </a:r>
            <a:r>
              <a:rPr lang="zh-CN" altLang="en-US" sz="2000" b="1" dirty="0">
                <a:solidFill>
                  <a:schemeClr val="tx1"/>
                </a:solidFill>
                <a:latin typeface="+mj-ea"/>
                <a:ea typeface="+mj-ea"/>
              </a:rPr>
              <a:t>，</a:t>
            </a:r>
            <a:r>
              <a:rPr lang="zh-CN" altLang="zh-CN" sz="2000" b="1" dirty="0">
                <a:solidFill>
                  <a:schemeClr val="tx1"/>
                </a:solidFill>
                <a:latin typeface="+mj-ea"/>
                <a:ea typeface="+mj-ea"/>
              </a:rPr>
              <a:t>分别计算</a:t>
            </a:r>
            <a:r>
              <a:rPr lang="zh-CN" altLang="en-US" sz="2000" b="1" dirty="0">
                <a:solidFill>
                  <a:schemeClr val="tx1"/>
                </a:solidFill>
                <a:latin typeface="+mj-ea"/>
                <a:ea typeface="+mj-ea"/>
              </a:rPr>
              <a:t>其在</a:t>
            </a:r>
            <a:r>
              <a:rPr lang="zh-CN" altLang="zh-CN" sz="2000" b="1" dirty="0">
                <a:solidFill>
                  <a:schemeClr val="tx1"/>
                </a:solidFill>
                <a:latin typeface="+mj-ea"/>
                <a:ea typeface="+mj-ea"/>
              </a:rPr>
              <a:t>整个网络的费用，求得</a:t>
            </a:r>
            <a:r>
              <a:rPr lang="zh-CN" altLang="zh-CN" sz="2000" b="1" dirty="0">
                <a:solidFill>
                  <a:srgbClr val="0000FF"/>
                </a:solidFill>
                <a:latin typeface="+mj-ea"/>
                <a:ea typeface="+mj-ea"/>
              </a:rPr>
              <a:t>如</a:t>
            </a:r>
            <a:r>
              <a:rPr lang="zh-CN" altLang="en-US" sz="2000" b="1" dirty="0">
                <a:solidFill>
                  <a:srgbClr val="0000FF"/>
                </a:solidFill>
                <a:latin typeface="+mj-ea"/>
                <a:ea typeface="+mj-ea"/>
              </a:rPr>
              <a:t>下图</a:t>
            </a:r>
            <a:r>
              <a:rPr lang="zh-CN" altLang="zh-CN" sz="2000" b="1" dirty="0">
                <a:solidFill>
                  <a:srgbClr val="0000FF"/>
                </a:solidFill>
                <a:latin typeface="+mj-ea"/>
                <a:ea typeface="+mj-ea"/>
              </a:rPr>
              <a:t>所示的最大流</a:t>
            </a:r>
            <a:r>
              <a:rPr lang="zh-CN" altLang="zh-CN" sz="2000" b="1" dirty="0">
                <a:solidFill>
                  <a:schemeClr val="tx1"/>
                </a:solidFill>
                <a:latin typeface="+mj-ea"/>
                <a:ea typeface="+mj-ea"/>
              </a:rPr>
              <a:t>即为使得车站的</a:t>
            </a:r>
            <a:r>
              <a:rPr lang="zh-CN" altLang="zh-CN" sz="2000" b="1" dirty="0">
                <a:solidFill>
                  <a:srgbClr val="0000FF"/>
                </a:solidFill>
                <a:latin typeface="+mj-ea"/>
                <a:ea typeface="+mj-ea"/>
              </a:rPr>
              <a:t>总收益最大的方案</a:t>
            </a:r>
            <a:r>
              <a:rPr lang="zh-CN" altLang="zh-CN" sz="2000" b="1" dirty="0">
                <a:solidFill>
                  <a:schemeClr val="tx1"/>
                </a:solidFill>
                <a:latin typeface="+mj-ea"/>
                <a:ea typeface="+mj-ea"/>
              </a:rPr>
              <a:t>，其中</a:t>
            </a:r>
            <a:r>
              <a:rPr lang="zh-CN" altLang="zh-CN" sz="2000" b="1" dirty="0">
                <a:solidFill>
                  <a:srgbClr val="0000FF"/>
                </a:solidFill>
                <a:latin typeface="+mj-ea"/>
                <a:ea typeface="+mj-ea"/>
              </a:rPr>
              <a:t>粗箭头上数字表示流量</a:t>
            </a:r>
            <a:r>
              <a:rPr lang="zh-CN" altLang="zh-CN" sz="2000" b="1" dirty="0">
                <a:solidFill>
                  <a:schemeClr val="tx1"/>
                </a:solidFill>
                <a:latin typeface="+mj-ea"/>
                <a:ea typeface="+mj-ea"/>
              </a:rPr>
              <a:t>，未标数字的</a:t>
            </a:r>
            <a:r>
              <a:rPr lang="zh-CN" altLang="en-US" sz="2000" b="1" dirty="0">
                <a:solidFill>
                  <a:schemeClr val="tx1"/>
                </a:solidFill>
                <a:latin typeface="+mj-ea"/>
                <a:ea typeface="+mj-ea"/>
              </a:rPr>
              <a:t>边</a:t>
            </a:r>
            <a:r>
              <a:rPr lang="zh-CN" altLang="zh-CN" sz="2000" b="1" dirty="0">
                <a:solidFill>
                  <a:schemeClr val="tx1"/>
                </a:solidFill>
                <a:latin typeface="+mj-ea"/>
                <a:ea typeface="+mj-ea"/>
              </a:rPr>
              <a:t>的流量为</a:t>
            </a:r>
            <a:r>
              <a:rPr lang="en-US" altLang="zh-CN" sz="2000" b="1" dirty="0">
                <a:solidFill>
                  <a:schemeClr val="tx1"/>
                </a:solidFill>
                <a:latin typeface="+mj-ea"/>
                <a:ea typeface="+mj-ea"/>
              </a:rPr>
              <a:t>0</a:t>
            </a:r>
            <a:r>
              <a:rPr lang="zh-CN" altLang="zh-CN" sz="2000" b="1" dirty="0">
                <a:solidFill>
                  <a:schemeClr val="tx1"/>
                </a:solidFill>
                <a:latin typeface="+mj-ea"/>
                <a:ea typeface="+mj-ea"/>
              </a:rPr>
              <a:t>。</a:t>
            </a:r>
            <a:endParaRPr lang="zh-CN" altLang="zh-CN" sz="2000" b="1" kern="100" dirty="0">
              <a:solidFill>
                <a:schemeClr val="tx1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D578409C-4E74-451C-8383-69618347BB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101" y="3059125"/>
            <a:ext cx="7617830" cy="3191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809278"/>
      </p:ext>
    </p:extLst>
  </p:cSld>
  <p:clrMapOvr>
    <a:masterClrMapping/>
  </p:clrMapOvr>
  <p:transition spd="med">
    <p:wipe dir="r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日期占位符 3">
            <a:extLst>
              <a:ext uri="{FF2B5EF4-FFF2-40B4-BE49-F238E27FC236}">
                <a16:creationId xmlns:a16="http://schemas.microsoft.com/office/drawing/2014/main" id="{974B7D38-149B-4816-B5F4-3C1A65753DDE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6D390EC-4AB0-425A-9DD7-26EC0E37FA98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4931" name="Text Box 2">
            <a:extLst>
              <a:ext uri="{FF2B5EF4-FFF2-40B4-BE49-F238E27FC236}">
                <a16:creationId xmlns:a16="http://schemas.microsoft.com/office/drawing/2014/main" id="{82B033E6-8945-40AC-826D-8FA39BFA09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4143" y="623007"/>
            <a:ext cx="6335713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  <p:pic>
        <p:nvPicPr>
          <p:cNvPr id="12493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B1063B96-3D3B-48B8-A860-51E8172D5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6D5FC3AB-6E0B-432C-88E4-5E1B7BCD0BC7}"/>
                  </a:ext>
                </a:extLst>
              </p:cNvPr>
              <p:cNvSpPr/>
              <p:nvPr/>
            </p:nvSpPr>
            <p:spPr>
              <a:xfrm>
                <a:off x="368532" y="1700808"/>
                <a:ext cx="8406934" cy="1384995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zh-CN" kern="100" dirty="0">
                    <a:solidFill>
                      <a:schemeClr val="tx1"/>
                    </a:solidFill>
                    <a:latin typeface="+mj-ea"/>
                    <a:ea typeface="+mj-ea"/>
                    <a:cs typeface="Times New Roman" panose="02020603050405020304" pitchFamily="18" charset="0"/>
                  </a:rPr>
                  <a:t>   </a:t>
                </a:r>
                <a:r>
                  <a:rPr lang="en-US" altLang="zh-CN" sz="2000" b="1" kern="100" dirty="0">
                    <a:solidFill>
                      <a:srgbClr val="0070C0"/>
                    </a:solidFill>
                    <a:latin typeface="+mj-ea"/>
                    <a:ea typeface="+mj-ea"/>
                    <a:cs typeface="Times New Roman" panose="02020603050405020304" pitchFamily="18" charset="0"/>
                  </a:rPr>
                  <a:t>【</a:t>
                </a:r>
                <a:r>
                  <a:rPr lang="zh-CN" altLang="en-US" sz="2000" b="1" kern="100" dirty="0">
                    <a:solidFill>
                      <a:srgbClr val="0070C0"/>
                    </a:solidFill>
                    <a:latin typeface="+mj-ea"/>
                    <a:ea typeface="+mj-ea"/>
                    <a:cs typeface="Times New Roman" panose="02020603050405020304" pitchFamily="18" charset="0"/>
                  </a:rPr>
                  <a:t>解</a:t>
                </a:r>
                <a:r>
                  <a:rPr lang="en-US" altLang="zh-CN" sz="2000" b="1" kern="100" dirty="0">
                    <a:solidFill>
                      <a:srgbClr val="0070C0"/>
                    </a:solidFill>
                    <a:latin typeface="+mj-ea"/>
                    <a:ea typeface="+mj-ea"/>
                    <a:cs typeface="Times New Roman" panose="02020603050405020304" pitchFamily="18" charset="0"/>
                  </a:rPr>
                  <a:t>(</a:t>
                </a:r>
                <a:r>
                  <a:rPr lang="zh-CN" altLang="en-US" sz="2000" b="1" kern="100" dirty="0">
                    <a:solidFill>
                      <a:srgbClr val="0070C0"/>
                    </a:solidFill>
                    <a:latin typeface="+mj-ea"/>
                    <a:ea typeface="+mj-ea"/>
                    <a:cs typeface="Times New Roman" panose="02020603050405020304" pitchFamily="18" charset="0"/>
                  </a:rPr>
                  <a:t>续</a:t>
                </a:r>
                <a:r>
                  <a:rPr lang="en-US" altLang="zh-CN" sz="2000" b="1" kern="100" dirty="0">
                    <a:solidFill>
                      <a:srgbClr val="0070C0"/>
                    </a:solidFill>
                    <a:latin typeface="+mj-ea"/>
                    <a:ea typeface="+mj-ea"/>
                    <a:cs typeface="Times New Roman" panose="02020603050405020304" pitchFamily="18" charset="0"/>
                  </a:rPr>
                  <a:t>)】</a:t>
                </a:r>
                <a:r>
                  <a:rPr lang="zh-CN" altLang="zh-CN" sz="20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列车进站最优安排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的具体</a:t>
                </a:r>
                <a:r>
                  <a:rPr lang="zh-CN" altLang="zh-CN" sz="20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方案如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下</a:t>
                </a:r>
                <a:r>
                  <a:rPr lang="zh-CN" altLang="zh-CN" sz="20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图所示：</a:t>
                </a:r>
                <a:r>
                  <a:rPr lang="zh-CN" altLang="zh-CN" sz="2000" b="1" dirty="0">
                    <a:solidFill>
                      <a:srgbClr val="0000FF"/>
                    </a:solidFill>
                    <a:latin typeface="+mj-ea"/>
                    <a:ea typeface="+mj-ea"/>
                  </a:rPr>
                  <a:t>让列车</a:t>
                </a:r>
                <a:r>
                  <a:rPr lang="en-US" altLang="zh-CN" sz="2000" b="1" dirty="0">
                    <a:solidFill>
                      <a:srgbClr val="0000FF"/>
                    </a:solidFill>
                    <a:latin typeface="+mj-ea"/>
                    <a:ea typeface="+mj-ea"/>
                  </a:rPr>
                  <a:t>1</a:t>
                </a:r>
                <a:r>
                  <a:rPr lang="zh-CN" altLang="zh-CN" sz="2000" b="1" dirty="0">
                    <a:solidFill>
                      <a:srgbClr val="0000FF"/>
                    </a:solidFill>
                    <a:latin typeface="+mj-ea"/>
                    <a:ea typeface="+mj-ea"/>
                  </a:rPr>
                  <a:t>、</a:t>
                </a:r>
                <a:r>
                  <a:rPr lang="en-US" altLang="zh-CN" sz="2000" b="1" dirty="0">
                    <a:solidFill>
                      <a:srgbClr val="0000FF"/>
                    </a:solidFill>
                    <a:latin typeface="+mj-ea"/>
                    <a:ea typeface="+mj-ea"/>
                  </a:rPr>
                  <a:t>3</a:t>
                </a:r>
                <a:r>
                  <a:rPr lang="zh-CN" altLang="zh-CN" sz="2000" b="1" dirty="0">
                    <a:solidFill>
                      <a:srgbClr val="0000FF"/>
                    </a:solidFill>
                    <a:latin typeface="+mj-ea"/>
                    <a:ea typeface="+mj-ea"/>
                  </a:rPr>
                  <a:t>进站并停留在第一车道，列车</a:t>
                </a:r>
                <a:r>
                  <a:rPr lang="en-US" altLang="zh-CN" sz="2000" b="1" dirty="0">
                    <a:solidFill>
                      <a:srgbClr val="0000FF"/>
                    </a:solidFill>
                    <a:latin typeface="+mj-ea"/>
                    <a:ea typeface="+mj-ea"/>
                  </a:rPr>
                  <a:t>2</a:t>
                </a:r>
                <a:r>
                  <a:rPr lang="zh-CN" altLang="zh-CN" sz="2000" b="1" dirty="0">
                    <a:solidFill>
                      <a:srgbClr val="0000FF"/>
                    </a:solidFill>
                    <a:latin typeface="+mj-ea"/>
                    <a:ea typeface="+mj-ea"/>
                  </a:rPr>
                  <a:t>、</a:t>
                </a:r>
                <a:r>
                  <a:rPr lang="en-US" altLang="zh-CN" sz="2000" b="1" dirty="0">
                    <a:solidFill>
                      <a:srgbClr val="0000FF"/>
                    </a:solidFill>
                    <a:latin typeface="+mj-ea"/>
                    <a:ea typeface="+mj-ea"/>
                  </a:rPr>
                  <a:t>5</a:t>
                </a:r>
                <a:r>
                  <a:rPr lang="zh-CN" altLang="zh-CN" sz="2000" b="1" dirty="0">
                    <a:solidFill>
                      <a:srgbClr val="0000FF"/>
                    </a:solidFill>
                    <a:latin typeface="+mj-ea"/>
                    <a:ea typeface="+mj-ea"/>
                  </a:rPr>
                  <a:t>进站并停留在第二车道</a:t>
                </a:r>
                <a:r>
                  <a:rPr lang="zh-CN" altLang="en-US" sz="2000" b="1" dirty="0">
                    <a:solidFill>
                      <a:srgbClr val="0000FF"/>
                    </a:solidFill>
                    <a:latin typeface="+mj-ea"/>
                    <a:ea typeface="+mj-ea"/>
                  </a:rPr>
                  <a:t>。</a:t>
                </a:r>
                <a:r>
                  <a:rPr lang="zh-CN" altLang="zh-CN" sz="20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其中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：</a:t>
                </a:r>
                <a:r>
                  <a:rPr lang="zh-CN" altLang="zh-CN" sz="2000" b="1" dirty="0">
                    <a:solidFill>
                      <a:srgbClr val="0000FF"/>
                    </a:solidFill>
                    <a:latin typeface="+mj-ea"/>
                    <a:ea typeface="+mj-ea"/>
                  </a:rPr>
                  <a:t>粗线表示先停入列车</a:t>
                </a:r>
                <a:r>
                  <a:rPr lang="en-US" altLang="zh-CN" sz="2000" b="1" dirty="0">
                    <a:solidFill>
                      <a:srgbClr val="0000FF"/>
                    </a:solidFill>
                    <a:latin typeface="+mj-ea"/>
                    <a:ea typeface="+mj-ea"/>
                  </a:rPr>
                  <a:t>1</a:t>
                </a:r>
                <a:r>
                  <a:rPr lang="zh-CN" altLang="zh-CN" sz="2000" b="1" dirty="0">
                    <a:solidFill>
                      <a:srgbClr val="0000FF"/>
                    </a:solidFill>
                    <a:latin typeface="+mj-ea"/>
                    <a:ea typeface="+mj-ea"/>
                  </a:rPr>
                  <a:t>再停入列车</a:t>
                </a:r>
                <a:r>
                  <a:rPr lang="en-US" altLang="zh-CN" sz="2000" b="1" dirty="0">
                    <a:solidFill>
                      <a:srgbClr val="0000FF"/>
                    </a:solidFill>
                    <a:latin typeface="+mj-ea"/>
                    <a:ea typeface="+mj-ea"/>
                  </a:rPr>
                  <a:t>3</a:t>
                </a:r>
                <a:r>
                  <a:rPr lang="zh-CN" altLang="zh-CN" sz="2000" b="1" dirty="0">
                    <a:solidFill>
                      <a:srgbClr val="0000FF"/>
                    </a:solidFill>
                    <a:latin typeface="+mj-ea"/>
                    <a:ea typeface="+mj-ea"/>
                  </a:rPr>
                  <a:t>；细线表示先停入列车</a:t>
                </a:r>
                <a:r>
                  <a:rPr lang="en-US" altLang="zh-CN" sz="2000" b="1" dirty="0">
                    <a:solidFill>
                      <a:srgbClr val="0000FF"/>
                    </a:solidFill>
                    <a:latin typeface="+mj-ea"/>
                    <a:ea typeface="+mj-ea"/>
                  </a:rPr>
                  <a:t>2</a:t>
                </a:r>
                <a:r>
                  <a:rPr lang="zh-CN" altLang="zh-CN" sz="2000" b="1" dirty="0">
                    <a:solidFill>
                      <a:srgbClr val="0000FF"/>
                    </a:solidFill>
                    <a:latin typeface="+mj-ea"/>
                    <a:ea typeface="+mj-ea"/>
                  </a:rPr>
                  <a:t>再停入列车</a:t>
                </a:r>
                <a:r>
                  <a:rPr lang="en-US" altLang="zh-CN" sz="2000" b="1" dirty="0">
                    <a:solidFill>
                      <a:srgbClr val="0000FF"/>
                    </a:solidFill>
                    <a:latin typeface="+mj-ea"/>
                    <a:ea typeface="+mj-ea"/>
                  </a:rPr>
                  <a:t>5</a:t>
                </a:r>
                <a:r>
                  <a:rPr lang="zh-CN" altLang="zh-CN" sz="2000" b="1" dirty="0">
                    <a:solidFill>
                      <a:srgbClr val="0000FF"/>
                    </a:solidFill>
                    <a:latin typeface="+mj-ea"/>
                    <a:ea typeface="+mj-ea"/>
                  </a:rPr>
                  <a:t>。</a:t>
                </a:r>
                <a:endParaRPr lang="en-US" altLang="zh-CN" sz="2000" b="1" dirty="0">
                  <a:solidFill>
                    <a:srgbClr val="0000FF"/>
                  </a:solidFill>
                  <a:latin typeface="+mj-ea"/>
                  <a:ea typeface="+mj-ea"/>
                </a:endParaRPr>
              </a:p>
              <a:p>
                <a:pPr algn="just"/>
                <a:r>
                  <a:rPr lang="en-US" altLang="zh-CN" sz="20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    </a:t>
                </a:r>
                <a:r>
                  <a:rPr lang="zh-CN" altLang="zh-CN" sz="20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此时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，</a:t>
                </a:r>
                <a:r>
                  <a:rPr lang="zh-CN" altLang="zh-CN" sz="20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车站最大收益为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+mj-ea"/>
                      </a:rPr>
                      <m:t>𝟎</m:t>
                    </m:r>
                    <m:r>
                      <a:rPr lang="en-US" altLang="zh-CN" sz="2000" b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+mj-ea"/>
                      </a:rPr>
                      <m:t>.</m:t>
                    </m:r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+mj-ea"/>
                      </a:rPr>
                      <m:t>𝟓</m:t>
                    </m:r>
                    <m:r>
                      <a:rPr lang="en-US" altLang="zh-CN" sz="2000" b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+mj-ea"/>
                      </a:rPr>
                      <m:t>+</m:t>
                    </m:r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+mj-ea"/>
                      </a:rPr>
                      <m:t>𝟎</m:t>
                    </m:r>
                    <m:r>
                      <a:rPr lang="en-US" altLang="zh-CN" sz="2000" b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+mj-ea"/>
                      </a:rPr>
                      <m:t>.</m:t>
                    </m:r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+mj-ea"/>
                      </a:rPr>
                      <m:t>𝟔</m:t>
                    </m:r>
                    <m:r>
                      <a:rPr lang="en-US" altLang="zh-CN" sz="2000" b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+mj-ea"/>
                      </a:rPr>
                      <m:t>+</m:t>
                    </m:r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+mj-ea"/>
                      </a:rPr>
                      <m:t>𝟎</m:t>
                    </m:r>
                    <m:r>
                      <a:rPr lang="en-US" altLang="zh-CN" sz="2000" b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+mj-ea"/>
                      </a:rPr>
                      <m:t>.</m:t>
                    </m:r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+mj-ea"/>
                      </a:rPr>
                      <m:t>𝟒</m:t>
                    </m:r>
                    <m:r>
                      <a:rPr lang="en-US" altLang="zh-CN" sz="2000" b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+mj-ea"/>
                      </a:rPr>
                      <m:t>+</m:t>
                    </m:r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+mj-ea"/>
                      </a:rPr>
                      <m:t>𝟎</m:t>
                    </m:r>
                    <m:r>
                      <a:rPr lang="en-US" altLang="zh-CN" sz="2000" b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+mj-ea"/>
                      </a:rPr>
                      <m:t>.</m:t>
                    </m:r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+mj-ea"/>
                      </a:rPr>
                      <m:t>𝟑</m:t>
                    </m:r>
                    <m:r>
                      <a:rPr lang="en-US" altLang="zh-CN" sz="2000" b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+mj-ea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+mj-ea"/>
                      </a:rPr>
                      <m:t>𝟏</m:t>
                    </m:r>
                    <m:r>
                      <a:rPr lang="en-US" altLang="zh-CN" sz="2000" b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+mj-ea"/>
                      </a:rPr>
                      <m:t>.</m:t>
                    </m:r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+mj-ea"/>
                      </a:rPr>
                      <m:t>𝟖</m:t>
                    </m:r>
                  </m:oMath>
                </a14:m>
                <a:r>
                  <a:rPr lang="zh-CN" altLang="zh-CN" sz="20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。</a:t>
                </a:r>
                <a:endParaRPr lang="zh-CN" altLang="zh-CN" sz="2000" b="1" kern="100" dirty="0">
                  <a:solidFill>
                    <a:schemeClr val="tx1"/>
                  </a:solidFill>
                  <a:latin typeface="+mj-ea"/>
                  <a:ea typeface="+mj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6D5FC3AB-6E0B-432C-88E4-5E1B7BCD0B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532" y="1700808"/>
                <a:ext cx="8406934" cy="1384995"/>
              </a:xfrm>
              <a:prstGeom prst="rect">
                <a:avLst/>
              </a:prstGeom>
              <a:blipFill>
                <a:blip r:embed="rId4"/>
                <a:stretch>
                  <a:fillRect l="-725" r="-725" b="-6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7E6F57EF-89A2-4DBF-8B77-50843F81EE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600" y="3166970"/>
            <a:ext cx="7560840" cy="308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180001"/>
      </p:ext>
    </p:extLst>
  </p:cSld>
  <p:clrMapOvr>
    <a:masterClrMapping/>
  </p:clrMapOvr>
  <p:transition spd="med">
    <p:wipe dir="r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日期占位符 3">
            <a:extLst>
              <a:ext uri="{FF2B5EF4-FFF2-40B4-BE49-F238E27FC236}">
                <a16:creationId xmlns:a16="http://schemas.microsoft.com/office/drawing/2014/main" id="{2A8858E8-BC79-4E61-99F7-04E7D8038F7A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1FB2EE4-8A04-418D-919E-37025968AE25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106499" name="Text Box 2">
            <a:extLst>
              <a:ext uri="{FF2B5EF4-FFF2-40B4-BE49-F238E27FC236}">
                <a16:creationId xmlns:a16="http://schemas.microsoft.com/office/drawing/2014/main" id="{59B84F78-4064-4EDC-B450-633FB92814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7686" y="1221944"/>
            <a:ext cx="70866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本章内容（下）</a:t>
            </a:r>
            <a:endParaRPr lang="zh-CN" altLang="en-US" sz="4800" b="1" dirty="0">
              <a:ea typeface="宋体" panose="02010600030101010101" pitchFamily="2" charset="-122"/>
            </a:endParaRPr>
          </a:p>
        </p:txBody>
      </p:sp>
      <p:grpSp>
        <p:nvGrpSpPr>
          <p:cNvPr id="106500" name="Group 4">
            <a:extLst>
              <a:ext uri="{FF2B5EF4-FFF2-40B4-BE49-F238E27FC236}">
                <a16:creationId xmlns:a16="http://schemas.microsoft.com/office/drawing/2014/main" id="{C7136735-0FF8-462B-AC7A-B0FAFF496639}"/>
              </a:ext>
            </a:extLst>
          </p:cNvPr>
          <p:cNvGrpSpPr>
            <a:grpSpLocks/>
          </p:cNvGrpSpPr>
          <p:nvPr/>
        </p:nvGrpSpPr>
        <p:grpSpPr bwMode="auto">
          <a:xfrm>
            <a:off x="2195736" y="2924944"/>
            <a:ext cx="4764088" cy="2205038"/>
            <a:chOff x="1474" y="2389"/>
            <a:chExt cx="3001" cy="1389"/>
          </a:xfrm>
        </p:grpSpPr>
        <p:sp>
          <p:nvSpPr>
            <p:cNvPr id="106505" name="AutoShape 29">
              <a:extLst>
                <a:ext uri="{FF2B5EF4-FFF2-40B4-BE49-F238E27FC236}">
                  <a16:creationId xmlns:a16="http://schemas.microsoft.com/office/drawing/2014/main" id="{4F9EC52E-FC13-483C-A3FA-DA07B7612C5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739" y="2484"/>
              <a:ext cx="2736" cy="363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3366FF"/>
                </a:gs>
                <a:gs pos="50000">
                  <a:srgbClr val="D4DFFF"/>
                </a:gs>
                <a:gs pos="100000">
                  <a:srgbClr val="3366FF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99190" dir="238833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106506" name="AutoShape 30">
              <a:extLst>
                <a:ext uri="{FF2B5EF4-FFF2-40B4-BE49-F238E27FC236}">
                  <a16:creationId xmlns:a16="http://schemas.microsoft.com/office/drawing/2014/main" id="{30422D54-0B7A-4CB6-90EA-91C54E89EB2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4" y="2389"/>
              <a:ext cx="432" cy="544"/>
            </a:xfrm>
            <a:prstGeom prst="diamond">
              <a:avLst/>
            </a:prstGeom>
            <a:solidFill>
              <a:srgbClr val="3366FF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106507" name="Text Box 31">
              <a:extLst>
                <a:ext uri="{FF2B5EF4-FFF2-40B4-BE49-F238E27FC236}">
                  <a16:creationId xmlns:a16="http://schemas.microsoft.com/office/drawing/2014/main" id="{5A8BAD4A-344A-463A-8BD1-18C5D74963AA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989" y="2495"/>
              <a:ext cx="216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网络流图及其优化</a:t>
              </a:r>
            </a:p>
          </p:txBody>
        </p:sp>
        <p:sp>
          <p:nvSpPr>
            <p:cNvPr id="106508" name="Text Box 32">
              <a:extLst>
                <a:ext uri="{FF2B5EF4-FFF2-40B4-BE49-F238E27FC236}">
                  <a16:creationId xmlns:a16="http://schemas.microsoft.com/office/drawing/2014/main" id="{598884EF-A6A9-492B-8D28-FC60FF8A3FB4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567" y="2498"/>
              <a:ext cx="23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 dirty="0">
                  <a:solidFill>
                    <a:schemeClr val="bg1"/>
                  </a:solidFill>
                  <a:latin typeface="黑体" panose="02010609060101010101" pitchFamily="49" charset="-122"/>
                </a:rPr>
                <a:t>4</a:t>
              </a:r>
            </a:p>
          </p:txBody>
        </p:sp>
        <p:sp>
          <p:nvSpPr>
            <p:cNvPr id="106509" name="AutoShape 19">
              <a:extLst>
                <a:ext uri="{FF2B5EF4-FFF2-40B4-BE49-F238E27FC236}">
                  <a16:creationId xmlns:a16="http://schemas.microsoft.com/office/drawing/2014/main" id="{F3BB1629-E158-4F4E-B695-B92F9A0DD5D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701" y="3308"/>
              <a:ext cx="2736" cy="374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765E00"/>
                </a:gs>
                <a:gs pos="50000">
                  <a:srgbClr val="FFCC00"/>
                </a:gs>
                <a:gs pos="100000">
                  <a:srgbClr val="765E00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99190" dir="238833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106510" name="AutoShape 20">
              <a:extLst>
                <a:ext uri="{FF2B5EF4-FFF2-40B4-BE49-F238E27FC236}">
                  <a16:creationId xmlns:a16="http://schemas.microsoft.com/office/drawing/2014/main" id="{878E63A5-EB05-4B3C-9C10-933671E34D8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4" y="3217"/>
              <a:ext cx="432" cy="561"/>
            </a:xfrm>
            <a:prstGeom prst="diamond">
              <a:avLst/>
            </a:prstGeom>
            <a:solidFill>
              <a:srgbClr val="CC9900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106511" name="Text Box 21">
              <a:extLst>
                <a:ext uri="{FF2B5EF4-FFF2-40B4-BE49-F238E27FC236}">
                  <a16:creationId xmlns:a16="http://schemas.microsoft.com/office/drawing/2014/main" id="{1D45994E-940B-46CF-AFA4-39C4E6BF7EC5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895" y="3330"/>
              <a:ext cx="247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特殊图模型的应用</a:t>
              </a:r>
            </a:p>
          </p:txBody>
        </p:sp>
        <p:sp>
          <p:nvSpPr>
            <p:cNvPr id="106512" name="Text Box 22">
              <a:extLst>
                <a:ext uri="{FF2B5EF4-FFF2-40B4-BE49-F238E27FC236}">
                  <a16:creationId xmlns:a16="http://schemas.microsoft.com/office/drawing/2014/main" id="{971386BD-F17D-4552-B605-DE69180B2475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575" y="3317"/>
              <a:ext cx="23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 dirty="0">
                  <a:solidFill>
                    <a:schemeClr val="bg1"/>
                  </a:solidFill>
                  <a:latin typeface="黑体" panose="02010609060101010101" pitchFamily="49" charset="-122"/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62475739"/>
      </p:ext>
    </p:extLst>
  </p:cSld>
  <p:clrMapOvr>
    <a:masterClrMapping/>
  </p:clrMapOvr>
  <p:transition spd="med">
    <p:wipe dir="r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日期占位符 3">
            <a:extLst>
              <a:ext uri="{FF2B5EF4-FFF2-40B4-BE49-F238E27FC236}">
                <a16:creationId xmlns:a16="http://schemas.microsoft.com/office/drawing/2014/main" id="{34EE7F91-CD9E-4A96-9980-53FCA3581429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FB1F7AA-4243-4397-BCDB-A39788FD3CBB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2339" name="页脚占位符 4">
            <a:extLst>
              <a:ext uri="{FF2B5EF4-FFF2-40B4-BE49-F238E27FC236}">
                <a16:creationId xmlns:a16="http://schemas.microsoft.com/office/drawing/2014/main" id="{08A59626-825A-4426-ACA1-F182CF6952B8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142340" name="灯片编号占位符 5">
            <a:extLst>
              <a:ext uri="{FF2B5EF4-FFF2-40B4-BE49-F238E27FC236}">
                <a16:creationId xmlns:a16="http://schemas.microsoft.com/office/drawing/2014/main" id="{0FEE9741-BDB4-401B-A752-F618AD1CBB3A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99B28EB2-7A7A-4912-9BBB-C9DE2D506B2E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55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2341" name="Rectangle 4">
            <a:extLst>
              <a:ext uri="{FF2B5EF4-FFF2-40B4-BE49-F238E27FC236}">
                <a16:creationId xmlns:a16="http://schemas.microsoft.com/office/drawing/2014/main" id="{B7D33A23-0A55-4056-A99D-CD261C5878D6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1115616" y="2420888"/>
            <a:ext cx="7197725" cy="1909763"/>
          </a:xfrm>
          <a:solidFill>
            <a:srgbClr val="0000FF"/>
          </a:solidFill>
        </p:spPr>
        <p:txBody>
          <a:bodyPr/>
          <a:lstStyle/>
          <a:p>
            <a:pPr eaLnBrk="1" hangingPunct="1"/>
            <a:r>
              <a:rPr lang="zh-CN" altLang="en-US" sz="6600" b="1">
                <a:solidFill>
                  <a:schemeClr val="bg1"/>
                </a:solidFill>
              </a:rPr>
              <a:t>特殊图模型的应用</a:t>
            </a:r>
          </a:p>
        </p:txBody>
      </p:sp>
      <p:pic>
        <p:nvPicPr>
          <p:cNvPr id="142342" name="Picture 7" descr="C:\Program Files\Microsoft Office\MEDIA\CAGCAT10\j0292982.wmf">
            <a:extLst>
              <a:ext uri="{FF2B5EF4-FFF2-40B4-BE49-F238E27FC236}">
                <a16:creationId xmlns:a16="http://schemas.microsoft.com/office/drawing/2014/main" id="{484343E6-A0A7-4542-BA24-E85B0AFFC0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575" y="4738688"/>
            <a:ext cx="137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日期占位符 3">
            <a:extLst>
              <a:ext uri="{FF2B5EF4-FFF2-40B4-BE49-F238E27FC236}">
                <a16:creationId xmlns:a16="http://schemas.microsoft.com/office/drawing/2014/main" id="{15EE9951-C4FE-4BAF-ABAA-720AC306B10A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E510C3F-0A98-4C62-801A-600C138A157E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363" name="页脚占位符 4">
            <a:extLst>
              <a:ext uri="{FF2B5EF4-FFF2-40B4-BE49-F238E27FC236}">
                <a16:creationId xmlns:a16="http://schemas.microsoft.com/office/drawing/2014/main" id="{F543BCF4-7F6E-46C9-8AA6-2355C8CA3625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143364" name="灯片编号占位符 5">
            <a:extLst>
              <a:ext uri="{FF2B5EF4-FFF2-40B4-BE49-F238E27FC236}">
                <a16:creationId xmlns:a16="http://schemas.microsoft.com/office/drawing/2014/main" id="{A9F6CA32-3D31-436A-B56A-4E245BB4F8A5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95C6986-86A0-4144-AF3B-5D1B95DB8751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56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365" name="Text Box 2">
            <a:extLst>
              <a:ext uri="{FF2B5EF4-FFF2-40B4-BE49-F238E27FC236}">
                <a16:creationId xmlns:a16="http://schemas.microsoft.com/office/drawing/2014/main" id="{DCFBA470-3CEC-4148-8002-249339C9DD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836613"/>
            <a:ext cx="7129463" cy="83026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特殊图模型的应用</a:t>
            </a:r>
          </a:p>
        </p:txBody>
      </p:sp>
      <p:sp>
        <p:nvSpPr>
          <p:cNvPr id="143366" name="Rectangle 3">
            <a:extLst>
              <a:ext uri="{FF2B5EF4-FFF2-40B4-BE49-F238E27FC236}">
                <a16:creationId xmlns:a16="http://schemas.microsoft.com/office/drawing/2014/main" id="{3E029E62-8C13-4194-8040-C036A4DED83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627784" y="2500054"/>
            <a:ext cx="4103910" cy="2879725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J"/>
            </a:pPr>
            <a:r>
              <a:rPr lang="zh-CN" altLang="en-US" sz="3600" b="1" dirty="0"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鼓轮设计问题</a:t>
            </a:r>
            <a:endParaRPr lang="en-US" altLang="zh-CN" sz="3600" b="1" dirty="0">
              <a:solidFill>
                <a:srgbClr val="0000FF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楷体_GB2312" pitchFamily="49" charset="-122"/>
            </a:endParaRPr>
          </a:p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4"/>
            </a:pPr>
            <a:r>
              <a:rPr lang="zh-CN" altLang="en-US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最优路线问题</a:t>
            </a:r>
            <a:endParaRPr lang="en-US" altLang="zh-CN" sz="3600" b="1" dirty="0">
              <a:effectLst/>
              <a:latin typeface="黑体" panose="02010609060101010101" pitchFamily="49" charset="-122"/>
              <a:ea typeface="黑体" panose="02010609060101010101" pitchFamily="49" charset="-122"/>
              <a:cs typeface="楷体_GB2312" pitchFamily="49" charset="-122"/>
            </a:endParaRPr>
          </a:p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4"/>
            </a:pPr>
            <a:r>
              <a:rPr lang="zh-CN" altLang="en-US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稳定婚配问题</a:t>
            </a:r>
          </a:p>
        </p:txBody>
      </p:sp>
      <p:pic>
        <p:nvPicPr>
          <p:cNvPr id="143367" name="Picture 7" descr="C:\Program Files\Microsoft Office\MEDIA\CAGCAT10\j0292982.wmf">
            <a:extLst>
              <a:ext uri="{FF2B5EF4-FFF2-40B4-BE49-F238E27FC236}">
                <a16:creationId xmlns:a16="http://schemas.microsoft.com/office/drawing/2014/main" id="{CCDDADC0-E46F-48C1-8A85-85EDDA7BA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575" y="4738688"/>
            <a:ext cx="137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日期占位符 3">
            <a:extLst>
              <a:ext uri="{FF2B5EF4-FFF2-40B4-BE49-F238E27FC236}">
                <a16:creationId xmlns:a16="http://schemas.microsoft.com/office/drawing/2014/main" id="{974B7D38-149B-4816-B5F4-3C1A65753DDE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6D390EC-4AB0-425A-9DD7-26EC0E37FA98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2493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B1063B96-3D3B-48B8-A860-51E8172D5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2">
            <a:extLst>
              <a:ext uri="{FF2B5EF4-FFF2-40B4-BE49-F238E27FC236}">
                <a16:creationId xmlns:a16="http://schemas.microsoft.com/office/drawing/2014/main" id="{74EE4208-A067-4004-95F5-F49EE426CD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640" y="662330"/>
            <a:ext cx="63373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三位轮鼓问题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E61C4E96-2B66-47A9-B5F1-653339BCC3C1}"/>
                  </a:ext>
                </a:extLst>
              </p:cNvPr>
              <p:cNvSpPr/>
              <p:nvPr/>
            </p:nvSpPr>
            <p:spPr>
              <a:xfrm>
                <a:off x="539552" y="1725448"/>
                <a:ext cx="7848872" cy="1982466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ts val="3000"/>
                  </a:lnSpc>
                  <a:spcAft>
                    <a:spcPts val="0"/>
                  </a:spcAft>
                </a:pPr>
                <a:r>
                  <a:rPr lang="en-US" altLang="zh-CN" sz="2000" b="1" kern="100" dirty="0">
                    <a:solidFill>
                      <a:srgbClr val="FF00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计算机鼓轮由绝缘材料和导电材料制成，主要用于输出二进制数码。如</a:t>
                </a:r>
                <a:r>
                  <a:rPr lang="zh-CN" altLang="en-US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右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图所示轮鼓，旋转鼓表面分成</a:t>
                </a:r>
                <a:r>
                  <a:rPr lang="en-US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8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块扇形，</a:t>
                </a:r>
                <a:r>
                  <a:rPr lang="zh-CN" altLang="en-US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其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</a:t>
                </a:r>
                <a:r>
                  <a:rPr lang="zh-CN" altLang="zh-CN" sz="20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阴影区用导电材料制成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20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空白区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用绝缘材料制成</a:t>
                </a:r>
                <a:r>
                  <a:rPr lang="zh-CN" altLang="en-US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r>
                  <a:rPr lang="en-US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终端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𝒂</m:t>
                    </m:r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𝒃</m:t>
                    </m:r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zh-CN" altLang="zh-CN" sz="2000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𝒄</m:t>
                    </m:r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与阴影区扇面接触时接触导体</a:t>
                </a:r>
                <a:r>
                  <a:rPr lang="zh-CN" altLang="en-US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输出</a:t>
                </a:r>
                <a:r>
                  <a:rPr lang="en-US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接触</a:t>
                </a:r>
                <a:r>
                  <a:rPr lang="zh-CN" altLang="en-US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空白区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扇面时</a:t>
                </a:r>
                <a:r>
                  <a:rPr lang="zh-CN" altLang="en-US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输出</a:t>
                </a:r>
                <a:r>
                  <a:rPr lang="en-US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。鼓轮按逆时针旋转，触点每转一个扇区就输出一个三位二进制信号。</a:t>
                </a:r>
                <a:endParaRPr lang="zh-CN" altLang="zh-CN" sz="2000" b="1" kern="100" dirty="0">
                  <a:solidFill>
                    <a:srgbClr val="FF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E61C4E96-2B66-47A9-B5F1-653339BCC3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1725448"/>
                <a:ext cx="7848872" cy="1982466"/>
              </a:xfrm>
              <a:prstGeom prst="rect">
                <a:avLst/>
              </a:prstGeom>
              <a:blipFill>
                <a:blip r:embed="rId4"/>
                <a:stretch>
                  <a:fillRect l="-855" t="-308" r="-777" b="-3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2">
            <a:extLst>
              <a:ext uri="{FF2B5EF4-FFF2-40B4-BE49-F238E27FC236}">
                <a16:creationId xmlns:a16="http://schemas.microsoft.com/office/drawing/2014/main" id="{2D4ECBA0-E7BF-410A-95AA-AB567F98B0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3823799"/>
            <a:ext cx="4095841" cy="2406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1454779"/>
      </p:ext>
    </p:extLst>
  </p:cSld>
  <p:clrMapOvr>
    <a:masterClrMapping/>
  </p:clrMapOvr>
  <p:transition spd="med">
    <p:wipe dir="r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日期占位符 3">
            <a:extLst>
              <a:ext uri="{FF2B5EF4-FFF2-40B4-BE49-F238E27FC236}">
                <a16:creationId xmlns:a16="http://schemas.microsoft.com/office/drawing/2014/main" id="{974B7D38-149B-4816-B5F4-3C1A65753DDE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6D390EC-4AB0-425A-9DD7-26EC0E37FA98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2493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B1063B96-3D3B-48B8-A860-51E8172D5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2">
            <a:extLst>
              <a:ext uri="{FF2B5EF4-FFF2-40B4-BE49-F238E27FC236}">
                <a16:creationId xmlns:a16="http://schemas.microsoft.com/office/drawing/2014/main" id="{74EE4208-A067-4004-95F5-F49EE426CD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640" y="662330"/>
            <a:ext cx="63373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三位轮鼓问题 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A64BA23-C590-48E0-9E0D-2F91EE15DDC7}"/>
              </a:ext>
            </a:extLst>
          </p:cNvPr>
          <p:cNvSpPr/>
          <p:nvPr/>
        </p:nvSpPr>
        <p:spPr>
          <a:xfrm>
            <a:off x="323528" y="1916832"/>
            <a:ext cx="8424936" cy="3907095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zh-CN" altLang="zh-CN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问题是如何设计这</a:t>
            </a:r>
            <a:r>
              <a:rPr lang="en-US" altLang="zh-CN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块扇形区域绝缘材料与导电材料的分布，使得</a:t>
            </a:r>
            <a:r>
              <a:rPr lang="zh-CN" altLang="zh-CN" b="1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鼓轮每旋转一周，就能得到从</a:t>
            </a:r>
            <a:r>
              <a:rPr lang="en-US" altLang="zh-CN" b="1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000</a:t>
            </a:r>
            <a:r>
              <a:rPr lang="zh-CN" altLang="zh-CN" b="1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b="1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111</a:t>
            </a:r>
            <a:r>
              <a:rPr lang="zh-CN" altLang="zh-CN" b="1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这</a:t>
            </a:r>
            <a:r>
              <a:rPr lang="en-US" altLang="zh-CN" b="1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b="1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个不同的二进制数</a:t>
            </a:r>
            <a:r>
              <a:rPr lang="zh-CN" altLang="zh-CN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。这就是计算机鼓论设计问题。</a:t>
            </a:r>
            <a:endParaRPr lang="en-US" altLang="zh-CN" b="1" kern="10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zh-CN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从数学逻辑上看，</a:t>
            </a:r>
            <a:r>
              <a:rPr lang="zh-CN" altLang="en-US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可将</a:t>
            </a:r>
            <a:r>
              <a:rPr lang="zh-CN" altLang="zh-CN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这个问题理解为：</a:t>
            </a:r>
            <a:endParaRPr lang="en-US" altLang="zh-CN" b="1" kern="10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zh-CN" altLang="zh-CN" b="1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如何将</a:t>
            </a:r>
            <a:r>
              <a:rPr lang="en-US" altLang="zh-CN" b="1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b="1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个二进制数码排成一个圆圈，</a:t>
            </a:r>
            <a:r>
              <a:rPr lang="zh-CN" altLang="zh-CN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使得</a:t>
            </a:r>
            <a:r>
              <a:rPr lang="zh-CN" altLang="zh-CN" b="1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任意</a:t>
            </a:r>
            <a:r>
              <a:rPr lang="en-US" altLang="zh-CN" b="1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b="1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个依次相连的数码</a:t>
            </a:r>
            <a:r>
              <a:rPr lang="zh-CN" altLang="zh-CN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组成的三位二进制数互不相同，而且能够产生全部</a:t>
            </a:r>
            <a:r>
              <a:rPr lang="en-US" altLang="zh-CN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个不同的</a:t>
            </a:r>
            <a:r>
              <a:rPr lang="zh-CN" altLang="zh-CN" b="1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三位二进制数</a:t>
            </a:r>
            <a:r>
              <a:rPr lang="zh-CN" altLang="zh-CN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144121768"/>
      </p:ext>
    </p:extLst>
  </p:cSld>
  <p:clrMapOvr>
    <a:masterClrMapping/>
  </p:clrMapOvr>
  <p:transition spd="med">
    <p:wipe dir="r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日期占位符 3">
            <a:extLst>
              <a:ext uri="{FF2B5EF4-FFF2-40B4-BE49-F238E27FC236}">
                <a16:creationId xmlns:a16="http://schemas.microsoft.com/office/drawing/2014/main" id="{974B7D38-149B-4816-B5F4-3C1A65753DDE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6D390EC-4AB0-425A-9DD7-26EC0E37FA98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2493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B1063B96-3D3B-48B8-A860-51E8172D5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2">
            <a:extLst>
              <a:ext uri="{FF2B5EF4-FFF2-40B4-BE49-F238E27FC236}">
                <a16:creationId xmlns:a16="http://schemas.microsoft.com/office/drawing/2014/main" id="{74EE4208-A067-4004-95F5-F49EE426CD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640" y="662330"/>
            <a:ext cx="63373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三位轮鼓问题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1A64BA23-C590-48E0-9E0D-2F91EE15DDC7}"/>
                  </a:ext>
                </a:extLst>
              </p:cNvPr>
              <p:cNvSpPr/>
              <p:nvPr/>
            </p:nvSpPr>
            <p:spPr>
              <a:xfrm>
                <a:off x="323528" y="1760363"/>
                <a:ext cx="8640960" cy="4437753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   </a:t>
                </a:r>
                <a:r>
                  <a:rPr lang="zh-CN" altLang="zh-CN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对于终端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𝒂</m:t>
                    </m:r>
                    <m:r>
                      <a:rPr lang="en-US" altLang="zh-CN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,</m:t>
                    </m:r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𝒃</m:t>
                    </m:r>
                    <m:r>
                      <a:rPr lang="en-US" altLang="zh-CN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,</m:t>
                    </m:r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𝒄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，若某时刻的输出信号为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𝒂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zh-CN" altLang="zh-CN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𝒂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zh-CN" altLang="zh-CN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𝒂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，则每转一个扇形，信号变成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𝒂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zh-CN" altLang="zh-CN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𝒂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zh-CN" altLang="zh-CN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𝒂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。由此可见，</a:t>
                </a:r>
                <a:r>
                  <a:rPr lang="zh-CN" altLang="zh-CN" b="1" dirty="0">
                    <a:solidFill>
                      <a:srgbClr val="0000FF"/>
                    </a:solidFill>
                    <a:latin typeface="+mj-ea"/>
                    <a:ea typeface="+mj-ea"/>
                  </a:rPr>
                  <a:t>前一次</a:t>
                </a:r>
                <a:r>
                  <a:rPr lang="zh-CN" altLang="zh-CN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输出信号的</a:t>
                </a:r>
                <a:r>
                  <a:rPr lang="zh-CN" altLang="zh-CN" b="1" dirty="0">
                    <a:solidFill>
                      <a:srgbClr val="0000FF"/>
                    </a:solidFill>
                    <a:latin typeface="+mj-ea"/>
                    <a:ea typeface="+mj-ea"/>
                  </a:rPr>
                  <a:t>右两位</a:t>
                </a:r>
                <a:r>
                  <a:rPr lang="zh-CN" altLang="zh-CN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决定了</a:t>
                </a:r>
                <a:r>
                  <a:rPr lang="zh-CN" altLang="zh-CN" b="1" dirty="0">
                    <a:solidFill>
                      <a:srgbClr val="0000FF"/>
                    </a:solidFill>
                    <a:latin typeface="+mj-ea"/>
                    <a:ea typeface="+mj-ea"/>
                  </a:rPr>
                  <a:t>后一次</a:t>
                </a:r>
                <a:r>
                  <a:rPr lang="zh-CN" altLang="zh-CN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输出信号的</a:t>
                </a:r>
                <a:r>
                  <a:rPr lang="zh-CN" altLang="zh-CN" b="1" dirty="0">
                    <a:solidFill>
                      <a:srgbClr val="0000FF"/>
                    </a:solidFill>
                    <a:latin typeface="+mj-ea"/>
                    <a:ea typeface="+mj-ea"/>
                  </a:rPr>
                  <a:t>左两位</a:t>
                </a:r>
                <a:r>
                  <a:rPr lang="zh-CN" altLang="zh-CN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。</a:t>
                </a:r>
                <a:endParaRPr lang="en-US" altLang="zh-CN" b="1" dirty="0">
                  <a:solidFill>
                    <a:schemeClr val="tx1"/>
                  </a:solidFill>
                  <a:latin typeface="+mj-ea"/>
                  <a:ea typeface="+mj-ea"/>
                </a:endParaRPr>
              </a:p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   </a:t>
                </a:r>
                <a:r>
                  <a:rPr lang="zh-CN" altLang="zh-CN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故可把所有两位二进制数作为结点，将</a:t>
                </a:r>
                <a:r>
                  <a:rPr lang="zh-CN" altLang="zh-CN" b="1" dirty="0">
                    <a:solidFill>
                      <a:srgbClr val="0000FF"/>
                    </a:solidFill>
                    <a:latin typeface="+mj-ea"/>
                    <a:ea typeface="+mj-ea"/>
                  </a:rPr>
                  <a:t>二进制数码之间</a:t>
                </a:r>
                <a:r>
                  <a:rPr lang="zh-CN" altLang="en-US" b="1" dirty="0">
                    <a:solidFill>
                      <a:srgbClr val="0000FF"/>
                    </a:solidFill>
                    <a:latin typeface="+mj-ea"/>
                    <a:ea typeface="+mj-ea"/>
                  </a:rPr>
                  <a:t>具有</a:t>
                </a:r>
                <a:r>
                  <a:rPr lang="zh-CN" altLang="zh-CN" b="1" dirty="0">
                    <a:solidFill>
                      <a:srgbClr val="0000FF"/>
                    </a:solidFill>
                    <a:latin typeface="+mj-ea"/>
                    <a:ea typeface="+mj-ea"/>
                  </a:rPr>
                  <a:t>传递关系的结点引一条有向边</a:t>
                </a:r>
                <a:r>
                  <a:rPr lang="zh-CN" altLang="zh-CN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，将这两个二位二进制数进行串接</a:t>
                </a:r>
                <a:r>
                  <a:rPr lang="zh-CN" altLang="en-US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，并</a:t>
                </a:r>
                <a:r>
                  <a:rPr lang="zh-CN" altLang="zh-CN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合并两者重复的部分</a:t>
                </a:r>
                <a:r>
                  <a:rPr lang="zh-CN" altLang="en-US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。</a:t>
                </a:r>
                <a:endParaRPr lang="en-US" altLang="zh-CN" b="1" dirty="0">
                  <a:solidFill>
                    <a:schemeClr val="tx1"/>
                  </a:solidFill>
                  <a:latin typeface="+mj-ea"/>
                  <a:ea typeface="+mj-ea"/>
                </a:endParaRPr>
              </a:p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en-US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   显然，由此得到的</a:t>
                </a:r>
                <a:r>
                  <a:rPr lang="zh-CN" altLang="en-US" b="1" dirty="0">
                    <a:solidFill>
                      <a:srgbClr val="0000FF"/>
                    </a:solidFill>
                    <a:latin typeface="+mj-ea"/>
                    <a:ea typeface="+mj-ea"/>
                  </a:rPr>
                  <a:t>每条有向边都对应一个</a:t>
                </a:r>
                <a:r>
                  <a:rPr lang="zh-CN" altLang="zh-CN" b="1" dirty="0">
                    <a:solidFill>
                      <a:srgbClr val="0000FF"/>
                    </a:solidFill>
                    <a:latin typeface="+mj-ea"/>
                    <a:ea typeface="+mj-ea"/>
                  </a:rPr>
                  <a:t>三位二进制数</a:t>
                </a:r>
                <a:r>
                  <a:rPr lang="zh-CN" altLang="zh-CN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，</a:t>
                </a:r>
                <a:r>
                  <a:rPr lang="zh-CN" altLang="en-US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故可用每条边代表一个</a:t>
                </a:r>
                <a:r>
                  <a:rPr lang="zh-CN" altLang="zh-CN" b="1" dirty="0">
                    <a:solidFill>
                      <a:srgbClr val="0000FF"/>
                    </a:solidFill>
                    <a:latin typeface="+mj-ea"/>
                    <a:ea typeface="+mj-ea"/>
                  </a:rPr>
                  <a:t>三位二进制数</a:t>
                </a:r>
                <a:r>
                  <a:rPr lang="zh-CN" altLang="zh-CN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。</a:t>
                </a:r>
                <a:endParaRPr lang="zh-CN" altLang="zh-CN" b="1" kern="100" dirty="0">
                  <a:solidFill>
                    <a:schemeClr val="tx1"/>
                  </a:solidFill>
                  <a:latin typeface="+mj-ea"/>
                  <a:ea typeface="+mj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1A64BA23-C590-48E0-9E0D-2F91EE15DD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1760363"/>
                <a:ext cx="8640960" cy="4437753"/>
              </a:xfrm>
              <a:prstGeom prst="rect">
                <a:avLst/>
              </a:prstGeom>
              <a:blipFill>
                <a:blip r:embed="rId4"/>
                <a:stretch>
                  <a:fillRect l="-1058" r="-1058" b="-21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9782098"/>
      </p:ext>
    </p:extLst>
  </p:cSld>
  <p:clrMapOvr>
    <a:masterClrMapping/>
  </p:clrMapOvr>
  <p:transition spd="med">
    <p:wipe dir="r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日期占位符 3">
            <a:extLst>
              <a:ext uri="{FF2B5EF4-FFF2-40B4-BE49-F238E27FC236}">
                <a16:creationId xmlns:a16="http://schemas.microsoft.com/office/drawing/2014/main" id="{974B7D38-149B-4816-B5F4-3C1A65753DDE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6D390EC-4AB0-425A-9DD7-26EC0E37FA98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2493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B1063B96-3D3B-48B8-A860-51E8172D5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2">
            <a:extLst>
              <a:ext uri="{FF2B5EF4-FFF2-40B4-BE49-F238E27FC236}">
                <a16:creationId xmlns:a16="http://schemas.microsoft.com/office/drawing/2014/main" id="{74EE4208-A067-4004-95F5-F49EE426CD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604780"/>
            <a:ext cx="63373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三位轮鼓问题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6349A9E-7147-4D5B-A5EE-1B5FED326E59}"/>
                  </a:ext>
                </a:extLst>
              </p:cNvPr>
              <p:cNvSpPr/>
              <p:nvPr/>
            </p:nvSpPr>
            <p:spPr>
              <a:xfrm>
                <a:off x="289729" y="1688986"/>
                <a:ext cx="8676344" cy="1142492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ts val="2800"/>
                  </a:lnSpc>
                  <a:spcAft>
                    <a:spcPts val="0"/>
                  </a:spcAft>
                </a:pPr>
                <a:r>
                  <a:rPr lang="en-US" altLang="zh-CN" sz="2000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例如，对于结点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zh-CN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zh-CN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，可从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zh-CN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zh-CN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引一条有向边表示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zh-CN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zh-CN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这个三位的二进制数</a:t>
                </a:r>
                <a:r>
                  <a:rPr lang="zh-CN" altLang="en-US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，等等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。由此</a:t>
                </a:r>
                <a:r>
                  <a:rPr lang="zh-CN" altLang="en-US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可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得如</a:t>
                </a:r>
                <a:r>
                  <a:rPr lang="zh-CN" altLang="en-US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下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有向图。</a:t>
                </a:r>
                <a:r>
                  <a:rPr lang="zh-CN" altLang="en-US" sz="20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图</a:t>
                </a:r>
                <a:r>
                  <a:rPr lang="zh-CN" altLang="zh-CN" sz="20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中每条边都代表一个三位二进制数，并且不同</a:t>
                </a:r>
                <a:r>
                  <a:rPr lang="zh-CN" altLang="en-US" sz="20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zh-CN" sz="20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边表示不同的三位二进制数。</a:t>
                </a: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6349A9E-7147-4D5B-A5EE-1B5FED326E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729" y="1688986"/>
                <a:ext cx="8676344" cy="1142492"/>
              </a:xfrm>
              <a:prstGeom prst="rect">
                <a:avLst/>
              </a:prstGeom>
              <a:blipFill>
                <a:blip r:embed="rId4"/>
                <a:stretch>
                  <a:fillRect l="-773" t="-2139" r="-703" b="-6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31FEE3F3-A5D7-4085-970F-59D49906FF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1466" y="2882889"/>
            <a:ext cx="4680814" cy="2223536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2943146D-C1FD-4EE9-88F9-E17254FB4D90}"/>
              </a:ext>
            </a:extLst>
          </p:cNvPr>
          <p:cNvSpPr/>
          <p:nvPr/>
        </p:nvSpPr>
        <p:spPr>
          <a:xfrm>
            <a:off x="276025" y="5254430"/>
            <a:ext cx="8748352" cy="96295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zh-CN" altLang="zh-CN" sz="2000" b="1" kern="10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因此，若能在</a:t>
            </a:r>
            <a:r>
              <a:rPr lang="zh-CN" altLang="zh-CN" sz="2000" b="1" kern="100" dirty="0">
                <a:solidFill>
                  <a:srgbClr val="FFFF66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该有向图上求出一条欧拉回路</a:t>
            </a:r>
            <a:r>
              <a:rPr lang="zh-CN" altLang="zh-CN" sz="2000" b="1" kern="10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，则可得到该全部</a:t>
            </a:r>
            <a:r>
              <a:rPr lang="en-US" altLang="zh-CN" sz="2000" b="1" kern="10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sz="2000" b="1" kern="10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个三位二进制数的一个</a:t>
            </a:r>
            <a:r>
              <a:rPr lang="zh-CN" altLang="zh-CN" sz="2000" b="1" kern="100" dirty="0">
                <a:solidFill>
                  <a:srgbClr val="FFFF66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圆排列</a:t>
            </a:r>
            <a:r>
              <a:rPr lang="zh-CN" altLang="zh-CN" sz="2000" b="1" kern="10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，由该圆排列不难得到</a:t>
            </a:r>
            <a:r>
              <a:rPr lang="zh-CN" altLang="zh-CN" sz="2000" b="1" kern="100" dirty="0">
                <a:solidFill>
                  <a:srgbClr val="FFFF66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所求</a:t>
            </a:r>
            <a:r>
              <a:rPr lang="en-US" altLang="zh-CN" sz="2000" b="1" kern="100" dirty="0">
                <a:solidFill>
                  <a:srgbClr val="FFFF66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sz="2000" b="1" kern="100" dirty="0">
                <a:solidFill>
                  <a:srgbClr val="FFFF66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个二进制数码的圆排列</a:t>
            </a:r>
            <a:r>
              <a:rPr lang="zh-CN" altLang="zh-CN" sz="2000" b="1" kern="10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114856038"/>
      </p:ext>
    </p:extLst>
  </p:cSld>
  <p:clrMapOvr>
    <a:masterClrMapping/>
  </p:clrMapOvr>
  <p:transition spd="med">
    <p:wipe dir="r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日期占位符 3">
            <a:extLst>
              <a:ext uri="{FF2B5EF4-FFF2-40B4-BE49-F238E27FC236}">
                <a16:creationId xmlns:a16="http://schemas.microsoft.com/office/drawing/2014/main" id="{974B7D38-149B-4816-B5F4-3C1A65753DDE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6D390EC-4AB0-425A-9DD7-26EC0E37FA98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2493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B1063B96-3D3B-48B8-A860-51E8172D5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2">
            <a:extLst>
              <a:ext uri="{FF2B5EF4-FFF2-40B4-BE49-F238E27FC236}">
                <a16:creationId xmlns:a16="http://schemas.microsoft.com/office/drawing/2014/main" id="{74EE4208-A067-4004-95F5-F49EE426CD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640" y="662330"/>
            <a:ext cx="63373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三位轮鼓问题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56C0F139-376E-445C-A42F-398B8BBC4402}"/>
                  </a:ext>
                </a:extLst>
              </p:cNvPr>
              <p:cNvSpPr/>
              <p:nvPr/>
            </p:nvSpPr>
            <p:spPr>
              <a:xfrm>
                <a:off x="125953" y="1762810"/>
                <a:ext cx="8748674" cy="1323439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spcAft>
                    <a:spcPts val="0"/>
                  </a:spcAft>
                </a:pPr>
                <a:r>
                  <a:rPr lang="en-US" altLang="zh-CN" sz="2000" kern="100" dirty="0"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该图</a:t>
                </a:r>
                <a:r>
                  <a:rPr lang="en-US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4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个结点的出度和入度数均为</a:t>
                </a:r>
                <a:r>
                  <a:rPr lang="en-US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en-US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故</a:t>
                </a:r>
                <a:r>
                  <a:rPr lang="zh-CN" altLang="zh-CN" sz="20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存在欧拉回路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，如</a:t>
                </a:r>
                <a:r>
                  <a:rPr lang="zh-CN" altLang="en-US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sz="2000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2000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𝟕</m:t>
                        </m:r>
                      </m:sub>
                    </m:sSub>
                    <m:r>
                      <a:rPr lang="en-US" altLang="zh-CN" sz="2000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𝟔</m:t>
                        </m:r>
                      </m:sub>
                    </m:sSub>
                    <m:r>
                      <a:rPr lang="en-US" altLang="zh-CN" sz="2000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𝟓</m:t>
                        </m:r>
                      </m:sub>
                    </m:sSub>
                    <m:r>
                      <a:rPr lang="en-US" altLang="zh-CN" sz="2000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0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𝟒</m:t>
                        </m:r>
                      </m:sub>
                    </m:sSub>
                    <m:r>
                      <a:rPr lang="en-US" altLang="zh-CN" sz="2000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。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根据该回路不难得到</a:t>
                </a:r>
                <a:r>
                  <a:rPr lang="zh-CN" altLang="en-US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与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其对应的</a:t>
                </a:r>
                <a:r>
                  <a:rPr lang="en-US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8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个二进制数码的</a:t>
                </a:r>
                <a:r>
                  <a:rPr lang="zh-CN" altLang="zh-CN" sz="20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圆排列</a:t>
                </a:r>
                <a:r>
                  <a:rPr lang="en-US" altLang="zh-CN" sz="20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00011101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2000" b="1" kern="100" dirty="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spcAft>
                    <a:spcPts val="0"/>
                  </a:spcAft>
                </a:pPr>
                <a:r>
                  <a:rPr lang="zh-CN" altLang="en-US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通常将满足上述性质的</a:t>
                </a:r>
                <a:r>
                  <a:rPr lang="zh-CN" altLang="zh-CN" sz="20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二进制数码圆排列称为</a:t>
                </a:r>
                <a:r>
                  <a:rPr lang="zh-CN" altLang="zh-CN" sz="2000" b="1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布鲁英序列</a:t>
                </a:r>
                <a:r>
                  <a:rPr lang="zh-CN" altLang="zh-CN" sz="20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zh-CN" altLang="en-U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56C0F139-376E-445C-A42F-398B8BBC44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53" y="1762810"/>
                <a:ext cx="8748674" cy="1323439"/>
              </a:xfrm>
              <a:prstGeom prst="rect">
                <a:avLst/>
              </a:prstGeom>
              <a:blipFill>
                <a:blip r:embed="rId4"/>
                <a:stretch>
                  <a:fillRect l="-767" t="-3687" r="-697" b="-59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>
            <a:extLst>
              <a:ext uri="{FF2B5EF4-FFF2-40B4-BE49-F238E27FC236}">
                <a16:creationId xmlns:a16="http://schemas.microsoft.com/office/drawing/2014/main" id="{B71090CD-2BBC-495B-AD6E-E47E1BCE02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3688" y="3212976"/>
            <a:ext cx="6404830" cy="304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425039"/>
      </p:ext>
    </p:extLst>
  </p:cSld>
  <p:clrMapOvr>
    <a:masterClrMapping/>
  </p:clrMapOvr>
  <p:transition spd="med">
    <p:wipe dir="r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日期占位符 3">
            <a:extLst>
              <a:ext uri="{FF2B5EF4-FFF2-40B4-BE49-F238E27FC236}">
                <a16:creationId xmlns:a16="http://schemas.microsoft.com/office/drawing/2014/main" id="{974B7D38-149B-4816-B5F4-3C1A65753DDE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6D390EC-4AB0-425A-9DD7-26EC0E37FA98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2493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B1063B96-3D3B-48B8-A860-51E8172D5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2">
            <a:extLst>
              <a:ext uri="{FF2B5EF4-FFF2-40B4-BE49-F238E27FC236}">
                <a16:creationId xmlns:a16="http://schemas.microsoft.com/office/drawing/2014/main" id="{74EE4208-A067-4004-95F5-F49EE426CD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342" y="534631"/>
            <a:ext cx="63373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三位轮鼓问题 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B1432C4-8C0E-44DA-97EF-718E5AC051F1}"/>
              </a:ext>
            </a:extLst>
          </p:cNvPr>
          <p:cNvSpPr/>
          <p:nvPr/>
        </p:nvSpPr>
        <p:spPr>
          <a:xfrm>
            <a:off x="323528" y="1644034"/>
            <a:ext cx="8496944" cy="1424621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indent="266700" algn="just">
              <a:lnSpc>
                <a:spcPts val="3600"/>
              </a:lnSpc>
              <a:spcAft>
                <a:spcPts val="0"/>
              </a:spcAft>
            </a:pPr>
            <a:r>
              <a:rPr lang="zh-CN" altLang="en-US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zh-CN" altLang="en-US" sz="20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可</a:t>
            </a:r>
            <a:r>
              <a:rPr lang="zh-CN" altLang="zh-CN" sz="20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按此数码排列</a:t>
            </a:r>
            <a:r>
              <a:rPr lang="zh-CN" altLang="en-US" sz="2000" b="1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确定</a:t>
            </a:r>
            <a:r>
              <a:rPr lang="zh-CN" altLang="zh-CN" sz="20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轮鼓</a:t>
            </a:r>
            <a:r>
              <a:rPr lang="en-US" altLang="zh-CN" sz="20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sz="20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块扇区</a:t>
            </a:r>
            <a:r>
              <a:rPr lang="zh-CN" altLang="en-US" sz="20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zh-CN" sz="2000" b="1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绝缘材料与导电材料</a:t>
            </a:r>
            <a:r>
              <a:rPr lang="zh-CN" altLang="en-US" sz="2000" b="1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分布</a:t>
            </a:r>
            <a:r>
              <a:rPr lang="zh-CN" altLang="zh-CN" sz="20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20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使得</a:t>
            </a:r>
            <a:r>
              <a:rPr lang="zh-CN" altLang="zh-CN" sz="20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该鼓轮按</a:t>
            </a:r>
            <a:r>
              <a:rPr lang="zh-CN" altLang="zh-CN" sz="2000" b="1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逆时针</a:t>
            </a:r>
            <a:r>
              <a:rPr lang="zh-CN" altLang="zh-CN" sz="20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每旋转</a:t>
            </a:r>
            <a:r>
              <a:rPr lang="zh-CN" altLang="zh-CN" sz="2000" b="1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一个扇区就输出一个三位二进制信号</a:t>
            </a:r>
            <a:r>
              <a:rPr lang="zh-CN" altLang="zh-CN" sz="20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，鼓轮每旋转一周，就能得到从</a:t>
            </a:r>
            <a:r>
              <a:rPr lang="en-US" altLang="zh-CN" sz="20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000</a:t>
            </a:r>
            <a:r>
              <a:rPr lang="zh-CN" altLang="zh-CN" sz="20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sz="20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111</a:t>
            </a:r>
            <a:r>
              <a:rPr lang="zh-CN" altLang="en-US" sz="20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全部</a:t>
            </a:r>
            <a:r>
              <a:rPr lang="en-US" altLang="zh-CN" sz="20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sz="20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个不同的</a:t>
            </a:r>
            <a:r>
              <a:rPr lang="zh-CN" altLang="en-US" sz="20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三位</a:t>
            </a:r>
            <a:r>
              <a:rPr lang="zh-CN" altLang="zh-CN" sz="20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二进制数。</a:t>
            </a:r>
            <a:endParaRPr lang="en-US" altLang="zh-CN" sz="2000" b="1" kern="10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D43A6F6-4405-4F55-9665-741F46464A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3688" y="3202215"/>
            <a:ext cx="5785284" cy="2981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308469"/>
      </p:ext>
    </p:extLst>
  </p:cSld>
  <p:clrMapOvr>
    <a:masterClrMapping/>
  </p:clrMapOvr>
  <p:transition spd="med">
    <p:wipe dir="r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日期占位符 3">
            <a:extLst>
              <a:ext uri="{FF2B5EF4-FFF2-40B4-BE49-F238E27FC236}">
                <a16:creationId xmlns:a16="http://schemas.microsoft.com/office/drawing/2014/main" id="{08D10A54-CA07-4284-84E8-4D7339F7A0B0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8DD0B1B-04F9-47CD-9EEB-7097E058F965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7459" name="Text Box 2">
            <a:extLst>
              <a:ext uri="{FF2B5EF4-FFF2-40B4-BE49-F238E27FC236}">
                <a16:creationId xmlns:a16="http://schemas.microsoft.com/office/drawing/2014/main" id="{6E0C4C6C-B31F-4A97-891B-8E5F8DE8BD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765175"/>
            <a:ext cx="63373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四位轮鼓问题 </a:t>
            </a:r>
          </a:p>
        </p:txBody>
      </p:sp>
      <p:pic>
        <p:nvPicPr>
          <p:cNvPr id="14746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37087538-A9DC-4B18-8DA7-CBF79D4B0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7461" name="Picture 6" descr="QQ截图20151003115247">
            <a:extLst>
              <a:ext uri="{FF2B5EF4-FFF2-40B4-BE49-F238E27FC236}">
                <a16:creationId xmlns:a16="http://schemas.microsoft.com/office/drawing/2014/main" id="{A59E95AC-0617-40AC-B9AA-A7D570B04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988840"/>
            <a:ext cx="8964612" cy="434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日期占位符 3">
            <a:extLst>
              <a:ext uri="{FF2B5EF4-FFF2-40B4-BE49-F238E27FC236}">
                <a16:creationId xmlns:a16="http://schemas.microsoft.com/office/drawing/2014/main" id="{2867398F-A68E-4FD0-BB37-2391D5240487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EECA30F-529C-4A27-A534-B2A1D5B9416E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8483" name="Text Box 2">
            <a:extLst>
              <a:ext uri="{FF2B5EF4-FFF2-40B4-BE49-F238E27FC236}">
                <a16:creationId xmlns:a16="http://schemas.microsoft.com/office/drawing/2014/main" id="{B6E2353E-E7BA-4C13-A706-298EFB328B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765175"/>
            <a:ext cx="63373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四位轮鼓问题</a:t>
            </a:r>
          </a:p>
        </p:txBody>
      </p:sp>
      <p:pic>
        <p:nvPicPr>
          <p:cNvPr id="148484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41F33627-5533-4122-B79F-6E2820C077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F6146E6B-677E-4373-92C9-4B2829790008}"/>
                  </a:ext>
                </a:extLst>
              </p:cNvPr>
              <p:cNvSpPr/>
              <p:nvPr/>
            </p:nvSpPr>
            <p:spPr>
              <a:xfrm>
                <a:off x="323528" y="2030646"/>
                <a:ext cx="8928992" cy="3944285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ts val="3800"/>
                  </a:lnSpc>
                  <a:spcAft>
                    <a:spcPts val="0"/>
                  </a:spcAft>
                </a:pPr>
                <a:r>
                  <a:rPr lang="en-US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</a:t>
                </a:r>
                <a:r>
                  <a:rPr lang="zh-CN" altLang="en-US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可将</a:t>
                </a:r>
                <a:r>
                  <a:rPr lang="zh-CN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四位计算机轮鼓设计问题理解为：把</a:t>
                </a:r>
                <a:r>
                  <a:rPr lang="en-US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16</a:t>
                </a:r>
                <a:r>
                  <a:rPr lang="zh-CN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个二进制数排成一个圆圈，使得</a:t>
                </a:r>
                <a:r>
                  <a:rPr lang="en-US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4</a:t>
                </a:r>
                <a:r>
                  <a:rPr lang="zh-CN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个依次相连的数字所组成的</a:t>
                </a:r>
                <a:r>
                  <a:rPr lang="en-US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16</a:t>
                </a:r>
                <a:r>
                  <a:rPr lang="zh-CN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个四位二进制数互不相同。</a:t>
                </a:r>
                <a:r>
                  <a:rPr lang="zh-CN" altLang="zh-CN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对于终端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𝒂</m:t>
                    </m:r>
                    <m:r>
                      <a:rPr lang="en-US" altLang="zh-CN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𝒃</m:t>
                    </m:r>
                    <m:r>
                      <a:rPr lang="en-US" altLang="zh-CN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𝒄</m:t>
                    </m:r>
                    <m:r>
                      <a:rPr lang="en-US" altLang="zh-CN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𝒅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，若某时刻的输出信号为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zh-CN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zh-CN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zh-CN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，则每转一个扇形，信号变成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zh-CN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zh-CN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𝟒</m:t>
                        </m:r>
                      </m:sub>
                    </m:sSub>
                    <m:sSub>
                      <m:sSubPr>
                        <m:ctrlPr>
                          <a:rPr lang="zh-CN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b="1" dirty="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ts val="3800"/>
                  </a:lnSpc>
                </a:pPr>
                <a:r>
                  <a:rPr lang="en-US" altLang="zh-CN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  </a:t>
                </a:r>
                <a:r>
                  <a:rPr lang="zh-CN" altLang="en-US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因此</a:t>
                </a:r>
                <a:r>
                  <a:rPr lang="zh-CN" altLang="zh-CN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b="1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前一次输出信号的右三位决定了后一次输出信号的左三位。</a:t>
                </a:r>
                <a:r>
                  <a:rPr lang="zh-CN" altLang="zh-CN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可把所有三位二进制数作</a:t>
                </a:r>
                <a:r>
                  <a:rPr lang="zh-CN" altLang="en-US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</a:t>
                </a:r>
                <a:r>
                  <a:rPr lang="zh-CN" altLang="zh-CN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结点，</a:t>
                </a:r>
                <a:r>
                  <a:rPr lang="zh-CN" altLang="zh-CN" b="1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从每个结点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zh-CN" altLang="zh-CN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zh-CN" altLang="zh-CN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zh-CN" b="1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zh-CN" altLang="zh-CN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zh-CN" altLang="zh-CN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zh-CN" b="1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引一条有向边表示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zh-CN" altLang="zh-CN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zh-CN" altLang="zh-CN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zh-CN" altLang="zh-CN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zh-CN" b="1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这个四位的二进制数</a:t>
                </a:r>
                <a:r>
                  <a:rPr lang="zh-CN" altLang="en-US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，由此构造一个具有</a:t>
                </a:r>
                <a:r>
                  <a:rPr lang="en-US" altLang="zh-CN" b="1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8</a:t>
                </a:r>
                <a:r>
                  <a:rPr lang="zh-CN" altLang="en-US" b="1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个结点的有向图</a:t>
                </a:r>
                <a:r>
                  <a:rPr lang="zh-CN" altLang="en-US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F6146E6B-677E-4373-92C9-4B28297900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2030646"/>
                <a:ext cx="8928992" cy="3944285"/>
              </a:xfrm>
              <a:prstGeom prst="rect">
                <a:avLst/>
              </a:prstGeom>
              <a:blipFill>
                <a:blip r:embed="rId4"/>
                <a:stretch>
                  <a:fillRect l="-1024" t="-155" r="-1092" b="-27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wipe dir="r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日期占位符 3">
            <a:extLst>
              <a:ext uri="{FF2B5EF4-FFF2-40B4-BE49-F238E27FC236}">
                <a16:creationId xmlns:a16="http://schemas.microsoft.com/office/drawing/2014/main" id="{2D20F67D-0D80-4191-B6DE-E106A8C0C3AB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C22DBBD-0545-4CA8-8046-0298364454CF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9507" name="Text Box 2">
            <a:extLst>
              <a:ext uri="{FF2B5EF4-FFF2-40B4-BE49-F238E27FC236}">
                <a16:creationId xmlns:a16="http://schemas.microsoft.com/office/drawing/2014/main" id="{D4712C53-0991-4DD6-AE7F-09DEEEED26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692150"/>
            <a:ext cx="63373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四位轮鼓问题</a:t>
            </a:r>
          </a:p>
        </p:txBody>
      </p:sp>
      <p:pic>
        <p:nvPicPr>
          <p:cNvPr id="149508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54A18636-BBAA-4AC3-B2BC-ECA315368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3E3FFB0F-3B23-4DEA-991B-1391618B9F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28" y="3497852"/>
            <a:ext cx="9034943" cy="27189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299B5C10-006D-4707-B368-A46C6F0D137E}"/>
                  </a:ext>
                </a:extLst>
              </p:cNvPr>
              <p:cNvSpPr/>
              <p:nvPr/>
            </p:nvSpPr>
            <p:spPr>
              <a:xfrm>
                <a:off x="287524" y="1772816"/>
                <a:ext cx="8568952" cy="1477328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en-US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如下图所示，</a:t>
                </a:r>
                <a:r>
                  <a:rPr lang="zh-CN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该有向图</a:t>
                </a:r>
                <a:r>
                  <a:rPr lang="zh-CN" altLang="en-US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所有结点</a:t>
                </a:r>
                <a:r>
                  <a:rPr lang="zh-CN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的出度和入度均为</a:t>
                </a:r>
                <a:r>
                  <a:rPr lang="en-US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zh-CN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，故存在欧拉回路，例如</a:t>
                </a:r>
                <a:r>
                  <a:rPr lang="zh-CN" altLang="en-US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:endParaRPr lang="en-US" altLang="zh-CN" b="1" kern="100" dirty="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ts val="36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b="1" i="1" kern="10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kern="10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b="1" i="1" kern="10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zh-CN" b="1" kern="10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b="1" i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kern="10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b="1" i="1" kern="10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kern="10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b="1" i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kern="10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b="1" i="1" kern="10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b="1" kern="10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b="1" i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kern="10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b="1" i="1" kern="10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US" altLang="zh-CN" b="1" kern="10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b="1" i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kern="10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b="1" i="1" kern="10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𝟗</m:t>
                          </m:r>
                        </m:sub>
                      </m:sSub>
                      <m:r>
                        <a:rPr lang="en-US" altLang="zh-CN" b="1" kern="10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b="1" i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kern="10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b="1" i="1" kern="10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altLang="zh-CN" b="1" kern="10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b="1" i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kern="10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b="1" i="1" kern="10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𝟔</m:t>
                          </m:r>
                        </m:sub>
                      </m:sSub>
                      <m:r>
                        <a:rPr lang="en-US" altLang="zh-CN" b="1" kern="10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b="1" i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kern="10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b="1" i="1" kern="10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𝟏𝟑</m:t>
                          </m:r>
                        </m:sub>
                      </m:sSub>
                      <m:r>
                        <a:rPr lang="en-US" altLang="zh-CN" b="1" kern="10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b="1" i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kern="10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b="1" i="1" kern="10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𝟏𝟎</m:t>
                          </m:r>
                        </m:sub>
                      </m:sSub>
                      <m:r>
                        <a:rPr lang="en-US" altLang="zh-CN" b="1" kern="10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b="1" i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kern="10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b="1" i="1" kern="10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𝟓</m:t>
                          </m:r>
                        </m:sub>
                      </m:sSub>
                      <m:r>
                        <a:rPr lang="en-US" altLang="zh-CN" b="1" kern="10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b="1" i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kern="10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b="1" i="1" kern="10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𝟏𝟏</m:t>
                          </m:r>
                        </m:sub>
                      </m:sSub>
                      <m:r>
                        <a:rPr lang="en-US" altLang="zh-CN" b="1" kern="10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b="1" i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kern="10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b="1" i="1" kern="10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𝟕</m:t>
                          </m:r>
                        </m:sub>
                      </m:sSub>
                      <m:r>
                        <a:rPr lang="en-US" altLang="zh-CN" b="1" kern="10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b="1" i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kern="10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b="1" i="1" kern="10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𝟏𝟓</m:t>
                          </m:r>
                        </m:sub>
                      </m:sSub>
                      <m:r>
                        <a:rPr lang="en-US" altLang="zh-CN" b="1" kern="10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b="1" i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kern="10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b="1" i="1" kern="10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𝟏𝟒</m:t>
                          </m:r>
                        </m:sub>
                      </m:sSub>
                      <m:r>
                        <a:rPr lang="en-US" altLang="zh-CN" b="1" kern="10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b="1" i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kern="10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b="1" i="1" kern="10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𝟏𝟐</m:t>
                          </m:r>
                        </m:sub>
                      </m:sSub>
                      <m:r>
                        <a:rPr lang="en-US" altLang="zh-CN" b="1" kern="10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b="1" i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kern="10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b="1" i="1" kern="10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𝟖</m:t>
                          </m:r>
                        </m:sub>
                      </m:sSub>
                    </m:oMath>
                  </m:oMathPara>
                </a14:m>
                <a:endParaRPr lang="en-US" altLang="zh-CN" b="1" kern="100" dirty="0">
                  <a:solidFill>
                    <a:srgbClr val="0000FF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299B5C10-006D-4707-B368-A46C6F0D13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524" y="1772816"/>
                <a:ext cx="8568952" cy="1477328"/>
              </a:xfrm>
              <a:prstGeom prst="rect">
                <a:avLst/>
              </a:prstGeom>
              <a:blipFill>
                <a:blip r:embed="rId5"/>
                <a:stretch>
                  <a:fillRect l="-1067" t="-1653" r="-11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wipe dir="r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日期占位符 3">
            <a:extLst>
              <a:ext uri="{FF2B5EF4-FFF2-40B4-BE49-F238E27FC236}">
                <a16:creationId xmlns:a16="http://schemas.microsoft.com/office/drawing/2014/main" id="{2D20F67D-0D80-4191-B6DE-E106A8C0C3AB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C22DBBD-0545-4CA8-8046-0298364454CF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9507" name="Text Box 2">
            <a:extLst>
              <a:ext uri="{FF2B5EF4-FFF2-40B4-BE49-F238E27FC236}">
                <a16:creationId xmlns:a16="http://schemas.microsoft.com/office/drawing/2014/main" id="{D4712C53-0991-4DD6-AE7F-09DEEEED26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692150"/>
            <a:ext cx="63373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四位轮鼓问题</a:t>
            </a:r>
          </a:p>
        </p:txBody>
      </p:sp>
      <p:pic>
        <p:nvPicPr>
          <p:cNvPr id="149508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54A18636-BBAA-4AC3-B2BC-ECA315368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299B5C10-006D-4707-B368-A46C6F0D137E}"/>
              </a:ext>
            </a:extLst>
          </p:cNvPr>
          <p:cNvSpPr/>
          <p:nvPr/>
        </p:nvSpPr>
        <p:spPr>
          <a:xfrm>
            <a:off x="107504" y="1824506"/>
            <a:ext cx="8748972" cy="1137106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由此得到</a:t>
            </a:r>
            <a:r>
              <a:rPr lang="zh-CN" altLang="zh-CN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布鲁英序列</a:t>
            </a:r>
            <a:r>
              <a:rPr lang="en-US" altLang="zh-CN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0000100110101111</a:t>
            </a:r>
            <a:r>
              <a:rPr lang="zh-CN" altLang="en-US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。如下图所示，</a:t>
            </a:r>
            <a:r>
              <a:rPr lang="zh-CN" altLang="zh-CN" b="1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轮鼓绝缘材料与导电材料按</a:t>
            </a:r>
            <a:r>
              <a:rPr lang="zh-CN" altLang="en-US" b="1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此</a:t>
            </a:r>
            <a:r>
              <a:rPr lang="zh-CN" altLang="zh-CN" b="1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布鲁英序列</a:t>
            </a:r>
            <a:r>
              <a:rPr lang="zh-CN" altLang="en-US" b="1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进行</a:t>
            </a:r>
            <a:r>
              <a:rPr lang="zh-CN" altLang="zh-CN" b="1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分布</a:t>
            </a:r>
            <a:r>
              <a:rPr lang="zh-CN" altLang="zh-CN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便可满足要求。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18A8F96-E275-418A-8DF1-DC1ADD6080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3688" y="3179568"/>
            <a:ext cx="5583485" cy="2958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657816"/>
      </p:ext>
    </p:extLst>
  </p:cSld>
  <p:clrMapOvr>
    <a:masterClrMapping/>
  </p:clrMapOvr>
  <p:transition spd="med">
    <p:wipe dir="r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日期占位符 3">
            <a:extLst>
              <a:ext uri="{FF2B5EF4-FFF2-40B4-BE49-F238E27FC236}">
                <a16:creationId xmlns:a16="http://schemas.microsoft.com/office/drawing/2014/main" id="{3F0514AB-1A15-4865-A0A2-AFE3EC10D72E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5DF6F0C-5215-4513-964A-8FC939D55099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1555" name="页脚占位符 4">
            <a:extLst>
              <a:ext uri="{FF2B5EF4-FFF2-40B4-BE49-F238E27FC236}">
                <a16:creationId xmlns:a16="http://schemas.microsoft.com/office/drawing/2014/main" id="{999D102D-1F4A-406B-A336-3255305F5933}"/>
              </a:ext>
            </a:extLst>
          </p:cNvPr>
          <p:cNvSpPr txBox="1">
            <a:spLocks noGrp="1"/>
          </p:cNvSpPr>
          <p:nvPr/>
        </p:nvSpPr>
        <p:spPr bwMode="auto">
          <a:xfrm>
            <a:off x="3132138" y="64008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151556" name="灯片编号占位符 5">
            <a:extLst>
              <a:ext uri="{FF2B5EF4-FFF2-40B4-BE49-F238E27FC236}">
                <a16:creationId xmlns:a16="http://schemas.microsoft.com/office/drawing/2014/main" id="{BDEC0E1A-8682-4EBB-BDDB-1C6D27693BCF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4407FB49-973D-467D-9E80-06066E4CEDD5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67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1557" name="Text Box 2">
            <a:extLst>
              <a:ext uri="{FF2B5EF4-FFF2-40B4-BE49-F238E27FC236}">
                <a16:creationId xmlns:a16="http://schemas.microsoft.com/office/drawing/2014/main" id="{1DE5BA11-A0A8-483E-AE4E-EACEB8B9F0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836613"/>
            <a:ext cx="7086600" cy="923925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特殊图模型的应用</a:t>
            </a:r>
          </a:p>
        </p:txBody>
      </p:sp>
      <p:sp>
        <p:nvSpPr>
          <p:cNvPr id="151558" name="Rectangle 3">
            <a:extLst>
              <a:ext uri="{FF2B5EF4-FFF2-40B4-BE49-F238E27FC236}">
                <a16:creationId xmlns:a16="http://schemas.microsoft.com/office/drawing/2014/main" id="{2C95D8F4-4615-4F95-8355-88A9E272005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771800" y="2420888"/>
            <a:ext cx="3886200" cy="3097212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4"/>
            </a:pPr>
            <a:r>
              <a:rPr lang="zh-CN" altLang="en-US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鼓轮设计问题</a:t>
            </a:r>
          </a:p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J"/>
            </a:pPr>
            <a:r>
              <a:rPr lang="zh-CN" altLang="en-US" sz="3600" b="1" dirty="0"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最优路线问题</a:t>
            </a:r>
          </a:p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4"/>
            </a:pPr>
            <a:r>
              <a:rPr lang="zh-CN" altLang="en-US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稳定婚配问题</a:t>
            </a:r>
          </a:p>
        </p:txBody>
      </p:sp>
      <p:pic>
        <p:nvPicPr>
          <p:cNvPr id="151559" name="Picture 7" descr="C:\Program Files\Microsoft Office\MEDIA\CAGCAT10\j0292982.wmf">
            <a:extLst>
              <a:ext uri="{FF2B5EF4-FFF2-40B4-BE49-F238E27FC236}">
                <a16:creationId xmlns:a16="http://schemas.microsoft.com/office/drawing/2014/main" id="{1AD4108F-8BF3-4B18-B5D5-FAF97F0C1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575" y="4738688"/>
            <a:ext cx="137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日期占位符 3">
            <a:extLst>
              <a:ext uri="{FF2B5EF4-FFF2-40B4-BE49-F238E27FC236}">
                <a16:creationId xmlns:a16="http://schemas.microsoft.com/office/drawing/2014/main" id="{623DBE3C-7020-446B-875D-27D1948E0BE1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998D6EA-3EDB-4E88-BA71-E97C7C691114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2579" name="Text Box 2">
            <a:extLst>
              <a:ext uri="{FF2B5EF4-FFF2-40B4-BE49-F238E27FC236}">
                <a16:creationId xmlns:a16="http://schemas.microsoft.com/office/drawing/2014/main" id="{1DB56AC0-98A6-4CB5-8A3F-534800FBA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733425"/>
            <a:ext cx="6553200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最优路线问题</a:t>
            </a:r>
          </a:p>
        </p:txBody>
      </p:sp>
      <p:pic>
        <p:nvPicPr>
          <p:cNvPr id="15258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691B0910-6A68-4C88-8DCB-06C208A29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7A6972D-A1B4-4E01-8C04-5CA964DC4F0A}"/>
              </a:ext>
            </a:extLst>
          </p:cNvPr>
          <p:cNvSpPr/>
          <p:nvPr/>
        </p:nvSpPr>
        <p:spPr>
          <a:xfrm>
            <a:off x="558404" y="1877625"/>
            <a:ext cx="8064896" cy="418383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  <a:defRPr/>
            </a:pPr>
            <a:r>
              <a:rPr lang="en-US" altLang="zh-CN" dirty="0">
                <a:solidFill>
                  <a:schemeClr val="tx1"/>
                </a:solidFill>
                <a:cs typeface="Lucida Sans Unicode" panose="020B0602030504020204" pitchFamily="34" charset="0"/>
              </a:rPr>
              <a:t>    </a:t>
            </a:r>
            <a:r>
              <a:rPr lang="zh-CN" altLang="zh-CN" dirty="0">
                <a:solidFill>
                  <a:schemeClr val="tx1"/>
                </a:solidFill>
                <a:cs typeface="Lucida Sans Unicode" panose="020B0602030504020204" pitchFamily="34" charset="0"/>
              </a:rPr>
              <a:t>如果想在较短时间内旅游较多的景点，则需要确定一个合理的路线，</a:t>
            </a:r>
            <a:r>
              <a:rPr lang="zh-CN" altLang="zh-CN" dirty="0">
                <a:solidFill>
                  <a:srgbClr val="0000FF"/>
                </a:solidFill>
                <a:cs typeface="Lucida Sans Unicode" panose="020B0602030504020204" pitchFamily="34" charset="0"/>
              </a:rPr>
              <a:t>尽量缩短旅游的路程</a:t>
            </a:r>
            <a:r>
              <a:rPr lang="zh-CN" altLang="zh-CN" dirty="0">
                <a:solidFill>
                  <a:schemeClr val="tx1"/>
                </a:solidFill>
                <a:cs typeface="Lucida Sans Unicode" panose="020B0602030504020204" pitchFamily="34" charset="0"/>
              </a:rPr>
              <a:t>，使总路程最短。该问题可用</a:t>
            </a:r>
            <a:r>
              <a:rPr lang="zh-CN" altLang="zh-CN" dirty="0">
                <a:solidFill>
                  <a:srgbClr val="0000FF"/>
                </a:solidFill>
                <a:cs typeface="Lucida Sans Unicode" panose="020B0602030504020204" pitchFamily="34" charset="0"/>
              </a:rPr>
              <a:t>哈密顿图模型</a:t>
            </a:r>
            <a:r>
              <a:rPr lang="zh-CN" altLang="zh-CN" dirty="0">
                <a:solidFill>
                  <a:schemeClr val="tx1"/>
                </a:solidFill>
                <a:cs typeface="Lucida Sans Unicode" panose="020B0602030504020204" pitchFamily="34" charset="0"/>
              </a:rPr>
              <a:t>求解</a:t>
            </a:r>
            <a:r>
              <a:rPr lang="zh-CN" altLang="en-US" dirty="0">
                <a:solidFill>
                  <a:schemeClr val="tx1"/>
                </a:solidFill>
                <a:cs typeface="Lucida Sans Unicode" panose="020B0602030504020204" pitchFamily="34" charset="0"/>
              </a:rPr>
              <a:t>。</a:t>
            </a:r>
            <a:endParaRPr lang="en-US" altLang="zh-CN" dirty="0">
              <a:solidFill>
                <a:schemeClr val="tx1"/>
              </a:solidFill>
              <a:cs typeface="Lucida Sans Unicode" panose="020B0602030504020204" pitchFamily="34" charset="0"/>
            </a:endParaRPr>
          </a:p>
          <a:p>
            <a:pPr>
              <a:lnSpc>
                <a:spcPts val="3600"/>
              </a:lnSpc>
              <a:defRPr/>
            </a:pPr>
            <a:r>
              <a:rPr lang="en-US" altLang="zh-CN" dirty="0">
                <a:solidFill>
                  <a:schemeClr val="tx1"/>
                </a:solidFill>
              </a:rPr>
              <a:t>    </a:t>
            </a:r>
            <a:r>
              <a:rPr lang="zh-CN" altLang="zh-CN" dirty="0">
                <a:solidFill>
                  <a:schemeClr val="tx1"/>
                </a:solidFill>
              </a:rPr>
              <a:t>寻找旅游各个景点近似最佳旅行线路问题就转化为：</a:t>
            </a:r>
            <a:r>
              <a:rPr lang="zh-CN" altLang="zh-CN" dirty="0">
                <a:solidFill>
                  <a:srgbClr val="0000FF"/>
                </a:solidFill>
              </a:rPr>
              <a:t>在给定的加权无向图中，寻找从给定的结点出发，行遍所有结点仅一次再回到该指定的结点，使得总权数最小，即总路程最短。</a:t>
            </a:r>
            <a:endParaRPr lang="en-US" altLang="zh-CN" dirty="0">
              <a:solidFill>
                <a:srgbClr val="0000FF"/>
              </a:solidFill>
            </a:endParaRPr>
          </a:p>
          <a:p>
            <a:pPr>
              <a:lnSpc>
                <a:spcPts val="3600"/>
              </a:lnSpc>
              <a:defRPr/>
            </a:pPr>
            <a:r>
              <a:rPr lang="en-US" altLang="zh-CN" dirty="0">
                <a:solidFill>
                  <a:schemeClr val="tx1"/>
                </a:solidFill>
              </a:rPr>
              <a:t>    </a:t>
            </a:r>
            <a:r>
              <a:rPr lang="zh-CN" altLang="zh-CN" dirty="0">
                <a:solidFill>
                  <a:schemeClr val="tx1"/>
                </a:solidFill>
              </a:rPr>
              <a:t>可以运用</a:t>
            </a:r>
            <a:r>
              <a:rPr lang="zh-CN" altLang="zh-CN" dirty="0">
                <a:solidFill>
                  <a:srgbClr val="0000FF"/>
                </a:solidFill>
              </a:rPr>
              <a:t>图论中的最邻近插入法</a:t>
            </a:r>
            <a:r>
              <a:rPr lang="zh-CN" altLang="zh-CN" dirty="0">
                <a:solidFill>
                  <a:schemeClr val="tx1"/>
                </a:solidFill>
              </a:rPr>
              <a:t>来寻找近似最佳旅游线路和路程。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日期占位符 3">
            <a:extLst>
              <a:ext uri="{FF2B5EF4-FFF2-40B4-BE49-F238E27FC236}">
                <a16:creationId xmlns:a16="http://schemas.microsoft.com/office/drawing/2014/main" id="{623DBE3C-7020-446B-875D-27D1948E0BE1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998D6EA-3EDB-4E88-BA71-E97C7C691114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5258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691B0910-6A68-4C88-8DCB-06C208A29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4398F6E4-DEA0-4853-934C-4559664820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733425"/>
            <a:ext cx="6553200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算法基本步骤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79C026A0-D0AC-45C9-9584-0935E6158563}"/>
                  </a:ext>
                </a:extLst>
              </p:cNvPr>
              <p:cNvSpPr/>
              <p:nvPr/>
            </p:nvSpPr>
            <p:spPr>
              <a:xfrm>
                <a:off x="287524" y="1850175"/>
                <a:ext cx="8568952" cy="417518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000" b="1" kern="100" dirty="0">
                    <a:solidFill>
                      <a:schemeClr val="bg1"/>
                    </a:solidFill>
                    <a:latin typeface="Lucida Sans Unicode" panose="020B0602030504020204" pitchFamily="34" charset="0"/>
                    <a:ea typeface="宋体" panose="02010600030101010101" pitchFamily="2" charset="-122"/>
                    <a:cs typeface="Lucida Sans Unicode" panose="020B0602030504020204" pitchFamily="34" charset="0"/>
                  </a:rPr>
                  <a:t>   </a:t>
                </a:r>
                <a:r>
                  <a:rPr lang="zh-CN" altLang="zh-CN" sz="2000" b="1" kern="100" dirty="0">
                    <a:solidFill>
                      <a:schemeClr val="bg1"/>
                    </a:solidFill>
                    <a:latin typeface="Lucida Sans Unicode" panose="020B0602030504020204" pitchFamily="34" charset="0"/>
                    <a:ea typeface="宋体" panose="02010600030101010101" pitchFamily="2" charset="-122"/>
                    <a:cs typeface="Lucida Sans Unicode" panose="020B0602030504020204" pitchFamily="34" charset="0"/>
                  </a:rPr>
                  <a:t>算法基本步骤如下：</a:t>
                </a:r>
                <a:endParaRPr lang="zh-CN" altLang="zh-CN" sz="20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000" b="1" kern="100" dirty="0">
                    <a:solidFill>
                      <a:schemeClr val="bg1"/>
                    </a:solidFill>
                    <a:latin typeface="Lucida Sans Unicode" panose="020B0602030504020204" pitchFamily="34" charset="0"/>
                    <a:ea typeface="宋体" panose="02010600030101010101" pitchFamily="2" charset="-122"/>
                    <a:cs typeface="Lucida Sans Unicode" panose="020B0602030504020204" pitchFamily="34" charset="0"/>
                  </a:rPr>
                  <a:t>    </a:t>
                </a:r>
                <a:r>
                  <a:rPr lang="zh-CN" altLang="zh-CN" sz="2000" b="1" kern="100" dirty="0">
                    <a:solidFill>
                      <a:srgbClr val="FFFF66"/>
                    </a:solidFill>
                    <a:latin typeface="Lucida Sans Unicode" panose="020B0602030504020204" pitchFamily="34" charset="0"/>
                    <a:ea typeface="宋体" panose="02010600030101010101" pitchFamily="2" charset="-122"/>
                    <a:cs typeface="Lucida Sans Unicode" panose="020B0602030504020204" pitchFamily="34" charset="0"/>
                  </a:rPr>
                  <a:t>步骤</a:t>
                </a:r>
                <a:r>
                  <a:rPr lang="en-US" altLang="zh-CN" sz="2000" b="1" kern="100" dirty="0">
                    <a:solidFill>
                      <a:srgbClr val="FFFF66"/>
                    </a:solidFill>
                    <a:latin typeface="Lucida Sans Unicode" panose="020B060203050402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000" b="1" kern="100" dirty="0">
                    <a:solidFill>
                      <a:srgbClr val="FFFF66"/>
                    </a:solidFill>
                    <a:latin typeface="Lucida Sans Unicode" panose="020B0602030504020204" pitchFamily="34" charset="0"/>
                    <a:ea typeface="宋体" panose="02010600030101010101" pitchFamily="2" charset="-122"/>
                    <a:cs typeface="Lucida Sans Unicode" panose="020B0602030504020204" pitchFamily="34" charset="0"/>
                  </a:rPr>
                  <a:t>：</a:t>
                </a:r>
                <a:r>
                  <a:rPr lang="zh-CN" altLang="zh-CN" sz="2000" b="1" kern="100" dirty="0">
                    <a:solidFill>
                      <a:schemeClr val="bg1"/>
                    </a:solidFill>
                    <a:latin typeface="Lucida Sans Unicode" panose="020B0602030504020204" pitchFamily="34" charset="0"/>
                    <a:ea typeface="宋体" panose="02010600030101010101" pitchFamily="2" charset="-122"/>
                    <a:cs typeface="Lucida Sans Unicode" panose="020B0602030504020204" pitchFamily="34" charset="0"/>
                  </a:rPr>
                  <a:t>用</a:t>
                </a:r>
                <a:r>
                  <a:rPr lang="zh-CN" altLang="zh-CN" sz="20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沃舍尔</a:t>
                </a:r>
                <a14:m>
                  <m:oMath xmlns:m="http://schemas.openxmlformats.org/officeDocument/2006/math">
                    <m:r>
                      <a:rPr lang="en-US" altLang="zh-CN" sz="2000" b="1" i="1" kern="100" smtClean="0">
                        <a:solidFill>
                          <a:srgbClr val="FFFF66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∙</m:t>
                    </m:r>
                  </m:oMath>
                </a14:m>
                <a:r>
                  <a:rPr lang="zh-CN" altLang="zh-CN" sz="20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弗洛伊德</a:t>
                </a:r>
                <a:r>
                  <a:rPr lang="zh-CN" altLang="zh-CN" sz="2000" b="1" kern="100" dirty="0">
                    <a:solidFill>
                      <a:srgbClr val="FFFF66"/>
                    </a:solidFill>
                    <a:latin typeface="Lucida Sans Unicode" panose="020B0602030504020204" pitchFamily="34" charset="0"/>
                    <a:ea typeface="宋体" panose="02010600030101010101" pitchFamily="2" charset="-122"/>
                    <a:cs typeface="Lucida Sans Unicode" panose="020B0602030504020204" pitchFamily="34" charset="0"/>
                  </a:rPr>
                  <a:t>算法</a:t>
                </a:r>
                <a:r>
                  <a:rPr lang="zh-CN" altLang="zh-CN" sz="2000" b="1" kern="100" dirty="0">
                    <a:solidFill>
                      <a:schemeClr val="bg1"/>
                    </a:solidFill>
                    <a:latin typeface="Lucida Sans Unicode" panose="020B0602030504020204" pitchFamily="34" charset="0"/>
                    <a:ea typeface="宋体" panose="02010600030101010101" pitchFamily="2" charset="-122"/>
                    <a:cs typeface="Lucida Sans Unicode" panose="020B0602030504020204" pitchFamily="34" charset="0"/>
                  </a:rPr>
                  <a:t>求出</a:t>
                </a:r>
                <a:r>
                  <a:rPr lang="zh-CN" altLang="zh-CN" sz="2000" b="1" kern="100" dirty="0">
                    <a:solidFill>
                      <a:srgbClr val="FFFF66"/>
                    </a:solidFill>
                    <a:latin typeface="Lucida Sans Unicode" panose="020B0602030504020204" pitchFamily="34" charset="0"/>
                    <a:ea typeface="宋体" panose="02010600030101010101" pitchFamily="2" charset="-122"/>
                    <a:cs typeface="Lucida Sans Unicode" panose="020B0602030504020204" pitchFamily="34" charset="0"/>
                  </a:rPr>
                  <a:t>加权无向图</a:t>
                </a:r>
                <a:r>
                  <a:rPr lang="zh-CN" altLang="zh-CN" sz="2000" b="1" kern="100" dirty="0">
                    <a:solidFill>
                      <a:schemeClr val="bg1"/>
                    </a:solidFill>
                    <a:latin typeface="Lucida Sans Unicode" panose="020B0602030504020204" pitchFamily="34" charset="0"/>
                    <a:ea typeface="宋体" panose="02010600030101010101" pitchFamily="2" charset="-122"/>
                    <a:cs typeface="Lucida Sans Unicode" panose="020B0602030504020204" pitchFamily="34" charset="0"/>
                  </a:rPr>
                  <a:t>中任意两点之间的最短路程，形成仅含一条边的初始道路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zh-CN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Lucida Sans Unicode" panose="020B0602030504020204" pitchFamily="34" charset="0"/>
                          </a:rPr>
                          <m:t>𝒊</m:t>
                        </m:r>
                        <m:r>
                          <a:rPr lang="en-US" altLang="zh-CN" sz="2000" b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Lucida Sans Unicode" panose="020B0602030504020204" pitchFamily="34" charset="0"/>
                          </a:rPr>
                          <m:t>,</m:t>
                        </m:r>
                        <m:r>
                          <a:rPr lang="en-US" altLang="zh-CN" sz="20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Lucida Sans Unicode" panose="020B0602030504020204" pitchFamily="34" charset="0"/>
                          </a:rPr>
                          <m:t>𝒋</m:t>
                        </m:r>
                      </m:e>
                    </m:d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Lucida Sans Unicode" panose="020B0602030504020204" pitchFamily="34" charset="0"/>
                    <a:ea typeface="宋体" panose="02010600030101010101" pitchFamily="2" charset="-122"/>
                    <a:cs typeface="Lucida Sans Unicode" panose="020B0602030504020204" pitchFamily="34" charset="0"/>
                  </a:rPr>
                  <a:t>，权</a:t>
                </a:r>
                <a14:m>
                  <m:oMath xmlns:m="http://schemas.openxmlformats.org/officeDocument/2006/math">
                    <m:r>
                      <a:rPr lang="en-US" altLang="zh-CN" sz="20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Lucida Sans Unicode" panose="020B0602030504020204" pitchFamily="34" charset="0"/>
                      </a:rPr>
                      <m:t>𝒘</m:t>
                    </m:r>
                    <m:d>
                      <m:dPr>
                        <m:ctrlPr>
                          <a:rPr lang="zh-CN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Lucida Sans Unicode" panose="020B0602030504020204" pitchFamily="34" charset="0"/>
                          </a:rPr>
                          <m:t>𝒊</m:t>
                        </m:r>
                        <m:r>
                          <a:rPr lang="en-US" altLang="zh-CN" sz="2000" b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Lucida Sans Unicode" panose="020B0602030504020204" pitchFamily="34" charset="0"/>
                          </a:rPr>
                          <m:t>,</m:t>
                        </m:r>
                        <m:r>
                          <a:rPr lang="en-US" altLang="zh-CN" sz="20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Lucida Sans Unicode" panose="020B0602030504020204" pitchFamily="34" charset="0"/>
                          </a:rPr>
                          <m:t>𝒋</m:t>
                        </m:r>
                      </m:e>
                    </m:d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Lucida Sans Unicode" panose="020B0602030504020204" pitchFamily="34" charset="0"/>
                    <a:ea typeface="宋体" panose="02010600030101010101" pitchFamily="2" charset="-122"/>
                    <a:cs typeface="Lucida Sans Unicode" panose="020B0602030504020204" pitchFamily="34" charset="0"/>
                  </a:rPr>
                  <a:t>表示道路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zh-CN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Lucida Sans Unicode" panose="020B0602030504020204" pitchFamily="34" charset="0"/>
                          </a:rPr>
                          <m:t>𝒊</m:t>
                        </m:r>
                        <m:r>
                          <a:rPr lang="en-US" altLang="zh-CN" sz="2000" b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Lucida Sans Unicode" panose="020B0602030504020204" pitchFamily="34" charset="0"/>
                          </a:rPr>
                          <m:t>,</m:t>
                        </m:r>
                        <m:r>
                          <a:rPr lang="en-US" altLang="zh-CN" sz="20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Lucida Sans Unicode" panose="020B0602030504020204" pitchFamily="34" charset="0"/>
                          </a:rPr>
                          <m:t>𝒋</m:t>
                        </m:r>
                      </m:e>
                    </m:d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Lucida Sans Unicode" panose="020B0602030504020204" pitchFamily="34" charset="0"/>
                    <a:ea typeface="宋体" panose="02010600030101010101" pitchFamily="2" charset="-122"/>
                    <a:cs typeface="Lucida Sans Unicode" panose="020B0602030504020204" pitchFamily="34" charset="0"/>
                  </a:rPr>
                  <a:t>的长度。</a:t>
                </a:r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Lucida Sans Unicode" panose="020B0602030504020204" pitchFamily="34" charset="0"/>
                    <a:cs typeface="Times New Roman" panose="02020603050405020304" pitchFamily="18" charset="0"/>
                  </a:rPr>
                  <a:t> </a:t>
                </a:r>
                <a:endParaRPr lang="zh-CN" altLang="zh-CN" sz="20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000" b="1" kern="100" dirty="0">
                    <a:solidFill>
                      <a:schemeClr val="bg1"/>
                    </a:solidFill>
                    <a:latin typeface="Lucida Sans Unicode" panose="020B0602030504020204" pitchFamily="34" charset="0"/>
                    <a:ea typeface="宋体" panose="02010600030101010101" pitchFamily="2" charset="-122"/>
                    <a:cs typeface="Lucida Sans Unicode" panose="020B0602030504020204" pitchFamily="34" charset="0"/>
                  </a:rPr>
                  <a:t>    </a:t>
                </a:r>
                <a:r>
                  <a:rPr lang="zh-CN" altLang="zh-CN" sz="2000" b="1" kern="100" dirty="0">
                    <a:solidFill>
                      <a:srgbClr val="FFFF66"/>
                    </a:solidFill>
                    <a:latin typeface="Lucida Sans Unicode" panose="020B0602030504020204" pitchFamily="34" charset="0"/>
                    <a:ea typeface="宋体" panose="02010600030101010101" pitchFamily="2" charset="-122"/>
                    <a:cs typeface="Lucida Sans Unicode" panose="020B0602030504020204" pitchFamily="34" charset="0"/>
                  </a:rPr>
                  <a:t>步骤</a:t>
                </a:r>
                <a:r>
                  <a:rPr lang="en-US" altLang="zh-CN" sz="2000" b="1" kern="100" dirty="0">
                    <a:solidFill>
                      <a:srgbClr val="FFFF66"/>
                    </a:solidFill>
                    <a:latin typeface="Lucida Sans Unicode" panose="020B060203050402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zh-CN" sz="2000" b="1" kern="100" dirty="0">
                    <a:solidFill>
                      <a:srgbClr val="FFFF66"/>
                    </a:solidFill>
                    <a:latin typeface="Lucida Sans Unicode" panose="020B0602030504020204" pitchFamily="34" charset="0"/>
                    <a:ea typeface="宋体" panose="02010600030101010101" pitchFamily="2" charset="-122"/>
                    <a:cs typeface="Lucida Sans Unicode" panose="020B0602030504020204" pitchFamily="34" charset="0"/>
                  </a:rPr>
                  <a:t>：</a:t>
                </a:r>
                <a:r>
                  <a:rPr lang="zh-CN" altLang="zh-CN" sz="2000" b="1" kern="100" dirty="0">
                    <a:solidFill>
                      <a:schemeClr val="bg1"/>
                    </a:solidFill>
                    <a:latin typeface="Lucida Sans Unicode" panose="020B0602030504020204" pitchFamily="34" charset="0"/>
                    <a:ea typeface="宋体" panose="02010600030101010101" pitchFamily="2" charset="-122"/>
                    <a:cs typeface="Lucida Sans Unicode" panose="020B0602030504020204" pitchFamily="34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0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Lucida Sans Unicode" panose="020B0602030504020204" pitchFamily="34" charset="0"/>
                      </a:rPr>
                      <m:t>𝒙</m:t>
                    </m:r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Lucida Sans Unicode" panose="020B0602030504020204" pitchFamily="34" charset="0"/>
                    <a:ea typeface="宋体" panose="02010600030101010101" pitchFamily="2" charset="-122"/>
                    <a:cs typeface="Lucida Sans Unicode" panose="020B0602030504020204" pitchFamily="34" charset="0"/>
                  </a:rPr>
                  <a:t>表示最新加到这道路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zh-CN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Lucida Sans Unicode" panose="020B0602030504020204" pitchFamily="34" charset="0"/>
                          </a:rPr>
                          <m:t>𝒊</m:t>
                        </m:r>
                        <m:r>
                          <a:rPr lang="en-US" altLang="zh-CN" sz="2000" b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Lucida Sans Unicode" panose="020B0602030504020204" pitchFamily="34" charset="0"/>
                          </a:rPr>
                          <m:t>,</m:t>
                        </m:r>
                        <m:r>
                          <a:rPr lang="en-US" altLang="zh-CN" sz="20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Lucida Sans Unicode" panose="020B0602030504020204" pitchFamily="34" charset="0"/>
                          </a:rPr>
                          <m:t>𝒋</m:t>
                        </m:r>
                      </m:e>
                    </m:d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Lucida Sans Unicode" panose="020B0602030504020204" pitchFamily="34" charset="0"/>
                    <a:ea typeface="宋体" panose="02010600030101010101" pitchFamily="2" charset="-122"/>
                    <a:cs typeface="Lucida Sans Unicode" panose="020B0602030504020204" pitchFamily="34" charset="0"/>
                  </a:rPr>
                  <a:t>上的景点，从不属于该条道路上所有景点中选一个与景点</a:t>
                </a:r>
                <a14:m>
                  <m:oMath xmlns:m="http://schemas.openxmlformats.org/officeDocument/2006/math">
                    <m:r>
                      <a:rPr lang="en-US" altLang="zh-CN" sz="20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Lucida Sans Unicode" panose="020B0602030504020204" pitchFamily="34" charset="0"/>
                      </a:rPr>
                      <m:t>𝒙</m:t>
                    </m:r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Lucida Sans Unicode" panose="020B0602030504020204" pitchFamily="34" charset="0"/>
                    <a:ea typeface="宋体" panose="02010600030101010101" pitchFamily="2" charset="-122"/>
                    <a:cs typeface="Lucida Sans Unicode" panose="020B0602030504020204" pitchFamily="34" charset="0"/>
                  </a:rPr>
                  <a:t>距离最近的景点</a:t>
                </a:r>
                <a14:m>
                  <m:oMath xmlns:m="http://schemas.openxmlformats.org/officeDocument/2006/math">
                    <m:r>
                      <a:rPr lang="en-US" altLang="zh-CN" sz="20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Lucida Sans Unicode" panose="020B0602030504020204" pitchFamily="34" charset="0"/>
                      </a:rPr>
                      <m:t>𝒚</m:t>
                    </m:r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Lucida Sans Unicode" panose="020B0602030504020204" pitchFamily="34" charset="0"/>
                    <a:ea typeface="宋体" panose="02010600030101010101" pitchFamily="2" charset="-122"/>
                    <a:cs typeface="Lucida Sans Unicode" panose="020B0602030504020204" pitchFamily="34" charset="0"/>
                  </a:rPr>
                  <a:t>，把连接景点</a:t>
                </a:r>
                <a14:m>
                  <m:oMath xmlns:m="http://schemas.openxmlformats.org/officeDocument/2006/math">
                    <m:r>
                      <a:rPr lang="en-US" altLang="zh-CN" sz="20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Lucida Sans Unicode" panose="020B0602030504020204" pitchFamily="34" charset="0"/>
                      </a:rPr>
                      <m:t>𝒙</m:t>
                    </m:r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Lucida Sans Unicode" panose="020B0602030504020204" pitchFamily="34" charset="0"/>
                    <a:ea typeface="宋体" panose="02010600030101010101" pitchFamily="2" charset="-122"/>
                    <a:cs typeface="Lucida Sans Unicode" panose="020B0602030504020204" pitchFamily="34" charset="0"/>
                  </a:rPr>
                  <a:t>与景点</a:t>
                </a:r>
                <a14:m>
                  <m:oMath xmlns:m="http://schemas.openxmlformats.org/officeDocument/2006/math">
                    <m:r>
                      <a:rPr lang="en-US" altLang="zh-CN" sz="20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Lucida Sans Unicode" panose="020B0602030504020204" pitchFamily="34" charset="0"/>
                      </a:rPr>
                      <m:t>𝒚</m:t>
                    </m:r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Lucida Sans Unicode" panose="020B0602030504020204" pitchFamily="34" charset="0"/>
                    <a:ea typeface="宋体" panose="02010600030101010101" pitchFamily="2" charset="-122"/>
                    <a:cs typeface="Lucida Sans Unicode" panose="020B0602030504020204" pitchFamily="34" charset="0"/>
                  </a:rPr>
                  <a:t>的边加</a:t>
                </a:r>
                <a14:m>
                  <m:oMath xmlns:m="http://schemas.openxmlformats.org/officeDocument/2006/math">
                    <m:r>
                      <a:rPr lang="zh-CN" altLang="zh-CN" sz="2000" b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Lucida Sans Unicode" panose="020B0602030504020204" pitchFamily="34" charset="0"/>
                      </a:rPr>
                      <m:t>到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Lucida Sans Unicode" panose="020B0602030504020204" pitchFamily="34" charset="0"/>
                          </a:rPr>
                          <m:t>𝒊</m:t>
                        </m:r>
                        <m:r>
                          <a:rPr lang="en-US" altLang="zh-CN" sz="2000" b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Lucida Sans Unicode" panose="020B0602030504020204" pitchFamily="34" charset="0"/>
                          </a:rPr>
                          <m:t>,</m:t>
                        </m:r>
                        <m:r>
                          <a:rPr lang="en-US" altLang="zh-CN" sz="20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Lucida Sans Unicode" panose="020B0602030504020204" pitchFamily="34" charset="0"/>
                          </a:rPr>
                          <m:t>𝒋</m:t>
                        </m:r>
                      </m:e>
                    </m:d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Lucida Sans Unicode" panose="020B0602030504020204" pitchFamily="34" charset="0"/>
                    <a:ea typeface="宋体" panose="02010600030101010101" pitchFamily="2" charset="-122"/>
                    <a:cs typeface="Lucida Sans Unicode" panose="020B0602030504020204" pitchFamily="34" charset="0"/>
                  </a:rPr>
                  <a:t>上。</a:t>
                </a:r>
                <a:endParaRPr lang="en-US" altLang="zh-CN" sz="2000" b="1" kern="100" dirty="0">
                  <a:solidFill>
                    <a:schemeClr val="bg1"/>
                  </a:solidFill>
                  <a:latin typeface="Lucida Sans Unicode" panose="020B0602030504020204" pitchFamily="34" charset="0"/>
                  <a:ea typeface="宋体" panose="02010600030101010101" pitchFamily="2" charset="-122"/>
                  <a:cs typeface="Lucida Sans Unicode" panose="020B0602030504020204" pitchFamily="34" charset="0"/>
                </a:endParaRPr>
              </a:p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000" b="1" kern="100" dirty="0">
                    <a:solidFill>
                      <a:schemeClr val="bg1"/>
                    </a:solidFill>
                    <a:latin typeface="Lucida Sans Unicode" panose="020B0602030504020204" pitchFamily="34" charset="0"/>
                    <a:ea typeface="宋体" panose="02010600030101010101" pitchFamily="2" charset="-122"/>
                    <a:cs typeface="Lucida Sans Unicode" panose="020B0602030504020204" pitchFamily="34" charset="0"/>
                  </a:rPr>
                  <a:t>    </a:t>
                </a:r>
                <a:r>
                  <a:rPr lang="zh-CN" altLang="zh-CN" sz="2000" b="1" kern="100" dirty="0">
                    <a:solidFill>
                      <a:schemeClr val="bg1"/>
                    </a:solidFill>
                    <a:latin typeface="Lucida Sans Unicode" panose="020B0602030504020204" pitchFamily="34" charset="0"/>
                    <a:ea typeface="宋体" panose="02010600030101010101" pitchFamily="2" charset="-122"/>
                    <a:cs typeface="Lucida Sans Unicode" panose="020B0602030504020204" pitchFamily="34" charset="0"/>
                  </a:rPr>
                  <a:t>重复这个步骤，直到加权无向图中所有景点都包含到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zh-CN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Lucida Sans Unicode" panose="020B0602030504020204" pitchFamily="34" charset="0"/>
                          </a:rPr>
                          <m:t>𝒊</m:t>
                        </m:r>
                        <m:r>
                          <a:rPr lang="en-US" altLang="zh-CN" sz="2000" b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Lucida Sans Unicode" panose="020B0602030504020204" pitchFamily="34" charset="0"/>
                          </a:rPr>
                          <m:t>,</m:t>
                        </m:r>
                        <m:r>
                          <a:rPr lang="en-US" altLang="zh-CN" sz="20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Lucida Sans Unicode" panose="020B0602030504020204" pitchFamily="34" charset="0"/>
                          </a:rPr>
                          <m:t>𝒋</m:t>
                        </m:r>
                      </m:e>
                    </m:d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Lucida Sans Unicode" panose="020B0602030504020204" pitchFamily="34" charset="0"/>
                    <a:ea typeface="宋体" panose="02010600030101010101" pitchFamily="2" charset="-122"/>
                    <a:cs typeface="Lucida Sans Unicode" panose="020B0602030504020204" pitchFamily="34" charset="0"/>
                  </a:rPr>
                  <a:t>这条路上。</a:t>
                </a:r>
                <a:endParaRPr lang="zh-CN" altLang="zh-CN" sz="20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b="1" dirty="0">
                    <a:solidFill>
                      <a:srgbClr val="FFFF66"/>
                    </a:solidFill>
                    <a:latin typeface="Lucida Sans Unicode" panose="020B0602030504020204" pitchFamily="34" charset="0"/>
                    <a:ea typeface="宋体" panose="02010600030101010101" pitchFamily="2" charset="-122"/>
                    <a:cs typeface="Lucida Sans Unicode" panose="020B0602030504020204" pitchFamily="34" charset="0"/>
                  </a:rPr>
                  <a:t>       </a:t>
                </a:r>
                <a:r>
                  <a:rPr lang="zh-CN" altLang="zh-CN" sz="2000" b="1" dirty="0">
                    <a:solidFill>
                      <a:srgbClr val="FFFF66"/>
                    </a:solidFill>
                    <a:latin typeface="Lucida Sans Unicode" panose="020B0602030504020204" pitchFamily="34" charset="0"/>
                    <a:ea typeface="宋体" panose="02010600030101010101" pitchFamily="2" charset="-122"/>
                    <a:cs typeface="Lucida Sans Unicode" panose="020B0602030504020204" pitchFamily="34" charset="0"/>
                  </a:rPr>
                  <a:t>步骤</a:t>
                </a:r>
                <a:r>
                  <a:rPr lang="en-US" altLang="zh-CN" sz="2000" b="1" dirty="0">
                    <a:solidFill>
                      <a:srgbClr val="FFFF66"/>
                    </a:solidFill>
                    <a:latin typeface="Lucida Sans Unicode" panose="020B0602030504020204" pitchFamily="34" charset="0"/>
                    <a:ea typeface="宋体" panose="02010600030101010101" pitchFamily="2" charset="-122"/>
                  </a:rPr>
                  <a:t>3</a:t>
                </a:r>
                <a:r>
                  <a:rPr lang="zh-CN" altLang="zh-CN" sz="2000" b="1" dirty="0">
                    <a:solidFill>
                      <a:schemeClr val="bg1"/>
                    </a:solidFill>
                    <a:latin typeface="Lucida Sans Unicode" panose="020B0602030504020204" pitchFamily="34" charset="0"/>
                    <a:ea typeface="宋体" panose="02010600030101010101" pitchFamily="2" charset="-122"/>
                    <a:cs typeface="Lucida Sans Unicode" panose="020B0602030504020204" pitchFamily="34" charset="0"/>
                  </a:rPr>
                  <a:t>：将</a:t>
                </a:r>
                <a:r>
                  <a:rPr lang="zh-CN" altLang="zh-CN" sz="2000" b="1" dirty="0">
                    <a:solidFill>
                      <a:srgbClr val="FFFF66"/>
                    </a:solidFill>
                    <a:cs typeface="Lucida Sans Unicode" panose="020B0602030504020204" pitchFamily="34" charset="0"/>
                  </a:rPr>
                  <a:t>连接起点与最后加入景点之间的边</a:t>
                </a:r>
                <a:r>
                  <a:rPr lang="zh-CN" altLang="zh-CN" sz="2000" b="1" dirty="0">
                    <a:solidFill>
                      <a:schemeClr val="bg1"/>
                    </a:solidFill>
                    <a:latin typeface="+mj-ea"/>
                    <a:ea typeface="+mj-ea"/>
                    <a:cs typeface="Lucida Sans Unicode" panose="020B0602030504020204" pitchFamily="34" charset="0"/>
                  </a:rPr>
                  <a:t>加</a:t>
                </a:r>
                <a:r>
                  <a:rPr lang="zh-CN" altLang="zh-CN" sz="2000" b="1" dirty="0">
                    <a:solidFill>
                      <a:schemeClr val="bg1"/>
                    </a:solidFill>
                    <a:latin typeface="Lucida Sans Unicode" panose="020B0602030504020204" pitchFamily="34" charset="0"/>
                    <a:ea typeface="宋体" panose="02010600030101010101" pitchFamily="2" charset="-122"/>
                    <a:cs typeface="Lucida Sans Unicode" panose="020B0602030504020204" pitchFamily="34" charset="0"/>
                  </a:rPr>
                  <a:t>到这条路上，就得到一个总权数</a:t>
                </a:r>
                <a:r>
                  <a:rPr lang="zh-CN" altLang="en-US" sz="2000" b="1" dirty="0">
                    <a:solidFill>
                      <a:schemeClr val="bg1"/>
                    </a:solidFill>
                    <a:latin typeface="Lucida Sans Unicode" panose="020B0602030504020204" pitchFamily="34" charset="0"/>
                    <a:ea typeface="宋体" panose="02010600030101010101" pitchFamily="2" charset="-122"/>
                    <a:cs typeface="Lucida Sans Unicode" panose="020B0602030504020204" pitchFamily="34" charset="0"/>
                  </a:rPr>
                  <a:t>较</a:t>
                </a:r>
                <a:r>
                  <a:rPr lang="zh-CN" altLang="zh-CN" sz="2000" b="1" dirty="0">
                    <a:solidFill>
                      <a:schemeClr val="bg1"/>
                    </a:solidFill>
                    <a:latin typeface="Lucida Sans Unicode" panose="020B0602030504020204" pitchFamily="34" charset="0"/>
                    <a:ea typeface="宋体" panose="02010600030101010101" pitchFamily="2" charset="-122"/>
                    <a:cs typeface="Lucida Sans Unicode" panose="020B0602030504020204" pitchFamily="34" charset="0"/>
                  </a:rPr>
                  <a:t>小的汉密尔顿回路。</a:t>
                </a:r>
                <a:r>
                  <a:rPr lang="zh-CN" altLang="zh-CN" sz="2000" b="1" dirty="0">
                    <a:solidFill>
                      <a:schemeClr val="bg1"/>
                    </a:solidFill>
                    <a:ea typeface="Lucida Sans Unicode" panose="020B0602030504020204" pitchFamily="34" charset="0"/>
                  </a:rPr>
                  <a:t> </a:t>
                </a:r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79C026A0-D0AC-45C9-9584-0935E61585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524" y="1850175"/>
                <a:ext cx="8568952" cy="4175182"/>
              </a:xfrm>
              <a:prstGeom prst="rect">
                <a:avLst/>
              </a:prstGeom>
              <a:blipFill>
                <a:blip r:embed="rId4"/>
                <a:stretch>
                  <a:fillRect l="-711" r="-782" b="-1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8783928"/>
      </p:ext>
    </p:extLst>
  </p:cSld>
  <p:clrMapOvr>
    <a:masterClrMapping/>
  </p:clrMapOvr>
  <p:transition spd="med">
    <p:wipe dir="r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日期占位符 3">
            <a:extLst>
              <a:ext uri="{FF2B5EF4-FFF2-40B4-BE49-F238E27FC236}">
                <a16:creationId xmlns:a16="http://schemas.microsoft.com/office/drawing/2014/main" id="{623DBE3C-7020-446B-875D-27D1948E0BE1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998D6EA-3EDB-4E88-BA71-E97C7C691114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5258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691B0910-6A68-4C88-8DCB-06C208A29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2">
            <a:extLst>
              <a:ext uri="{FF2B5EF4-FFF2-40B4-BE49-F238E27FC236}">
                <a16:creationId xmlns:a16="http://schemas.microsoft.com/office/drawing/2014/main" id="{AA6683BC-BFC6-4F9A-9E2F-3D52C83D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648" y="563958"/>
            <a:ext cx="6553200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F3549D88-9285-4852-AC69-9065BD2D2EDB}"/>
                  </a:ext>
                </a:extLst>
              </p:cNvPr>
              <p:cNvSpPr/>
              <p:nvPr/>
            </p:nvSpPr>
            <p:spPr>
              <a:xfrm>
                <a:off x="306016" y="1666179"/>
                <a:ext cx="8748464" cy="2219710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ts val="2800"/>
                  </a:lnSpc>
                  <a:spcAft>
                    <a:spcPts val="0"/>
                  </a:spcAft>
                </a:pPr>
                <a:r>
                  <a:rPr lang="en-US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</a:t>
                </a:r>
                <a:r>
                  <a:rPr lang="zh-CN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【例</a:t>
                </a:r>
                <a:r>
                  <a:rPr lang="zh-CN" altLang="zh-CN" sz="2000" b="1" kern="1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题</a:t>
                </a:r>
                <a:r>
                  <a:rPr lang="zh-CN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】如图</a:t>
                </a:r>
                <a:r>
                  <a:rPr lang="zh-CN" altLang="en-US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所示，选择</a:t>
                </a:r>
                <a:r>
                  <a:rPr lang="en-US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7</a:t>
                </a:r>
                <a:r>
                  <a:rPr lang="zh-CN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个不同景点集中旅游。如图</a:t>
                </a:r>
                <a:r>
                  <a:rPr lang="zh-CN" altLang="en-US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en-US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所示，可将这</a:t>
                </a:r>
                <a:r>
                  <a:rPr lang="en-US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7</a:t>
                </a:r>
                <a:r>
                  <a:rPr lang="zh-CN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个景点之间路程关系用一个</a:t>
                </a:r>
                <a:r>
                  <a:rPr lang="zh-CN" altLang="zh-CN" sz="2000" b="1" kern="1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加权无向完全图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b="1" i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ucida Sans Unicode" panose="020B0602030504020204" pitchFamily="34" charset="0"/>
                          </a:rPr>
                        </m:ctrlPr>
                      </m:sSubPr>
                      <m:e>
                        <m:r>
                          <a:rPr lang="en-US" altLang="zh-CN" sz="2000" b="1" i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Lucida Sans Unicode" panose="020B0602030504020204" pitchFamily="34" charset="0"/>
                          </a:rPr>
                          <m:t>𝑲</m:t>
                        </m:r>
                      </m:e>
                      <m:sub>
                        <m:r>
                          <a:rPr lang="en-US" altLang="zh-CN" sz="2000" b="1" i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Lucida Sans Unicode" panose="020B0602030504020204" pitchFamily="34" charset="0"/>
                          </a:rPr>
                          <m:t>𝟕</m:t>
                        </m:r>
                      </m:sub>
                    </m:sSub>
                  </m:oMath>
                </a14:m>
                <a:r>
                  <a:rPr lang="zh-CN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，图中每条边的权表示两个景点之间的最短路程，权值数据</a:t>
                </a:r>
                <a:r>
                  <a:rPr lang="zh-CN" altLang="en-US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矩阵如</a:t>
                </a:r>
                <a:r>
                  <a:rPr lang="zh-CN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图</a:t>
                </a:r>
                <a:r>
                  <a:rPr lang="zh-CN" altLang="en-US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c</a:t>
                </a:r>
                <a:r>
                  <a:rPr lang="zh-CN" altLang="en-US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所示，矩阵中第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rgbClr val="333333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Lucida Sans Unicode" panose="020B0602030504020204" pitchFamily="34" charset="0"/>
                      </a:rPr>
                      <m:t>𝒊</m:t>
                    </m:r>
                  </m:oMath>
                </a14:m>
                <a:r>
                  <a:rPr lang="zh-CN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行第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rgbClr val="333333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Lucida Sans Unicode" panose="020B0602030504020204" pitchFamily="34" charset="0"/>
                      </a:rPr>
                      <m:t>𝒋</m:t>
                    </m:r>
                  </m:oMath>
                </a14:m>
                <a:r>
                  <a:rPr lang="zh-CN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列元素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b="1" i="1" kern="1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ucida Sans Unicode" panose="020B0602030504020204" pitchFamily="34" charset="0"/>
                          </a:rPr>
                        </m:ctrlPr>
                      </m:sSubPr>
                      <m:e>
                        <m:r>
                          <a:rPr lang="en-US" altLang="zh-CN" sz="2000" b="1" i="1" kern="1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Lucida Sans Unicode" panose="020B0602030504020204" pitchFamily="34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kern="1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Lucida Sans Unicode" panose="020B0602030504020204" pitchFamily="34" charset="0"/>
                          </a:rPr>
                          <m:t>𝒊𝒋</m:t>
                        </m:r>
                      </m:sub>
                    </m:sSub>
                  </m:oMath>
                </a14:m>
                <a:r>
                  <a:rPr lang="zh-CN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表示景点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rgbClr val="333333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Lucida Sans Unicode" panose="020B0602030504020204" pitchFamily="34" charset="0"/>
                      </a:rPr>
                      <m:t>𝒊</m:t>
                    </m:r>
                  </m:oMath>
                </a14:m>
                <a:r>
                  <a:rPr lang="zh-CN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到景点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rgbClr val="333333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Lucida Sans Unicode" panose="020B0602030504020204" pitchFamily="34" charset="0"/>
                      </a:rPr>
                      <m:t>𝒋</m:t>
                    </m:r>
                  </m:oMath>
                </a14:m>
                <a:r>
                  <a:rPr lang="zh-CN" altLang="en-US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之间的最短路程。</a:t>
                </a:r>
                <a:endParaRPr lang="en-US" altLang="zh-CN" sz="2000" b="1" kern="100" dirty="0">
                  <a:solidFill>
                    <a:srgbClr val="333333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ts val="2800"/>
                  </a:lnSpc>
                  <a:spcAft>
                    <a:spcPts val="0"/>
                  </a:spcAft>
                </a:pPr>
                <a:r>
                  <a:rPr lang="en-US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现以景点</a:t>
                </a:r>
                <a:r>
                  <a:rPr lang="en-US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为起点，经过每个旅游景点一次且仅一次后，再返回到起点景点</a:t>
                </a:r>
                <a:r>
                  <a:rPr lang="en-US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，求一条满足上述要求总路程最短的旅游线路。</a:t>
                </a:r>
                <a:endParaRPr lang="zh-CN" altLang="zh-CN" sz="2000" b="1" kern="100" dirty="0"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F3549D88-9285-4852-AC69-9065BD2D2E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016" y="1666179"/>
                <a:ext cx="8748464" cy="2219710"/>
              </a:xfrm>
              <a:prstGeom prst="rect">
                <a:avLst/>
              </a:prstGeom>
              <a:blipFill>
                <a:blip r:embed="rId4"/>
                <a:stretch>
                  <a:fillRect l="-697" t="-1099" r="-767" b="-3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B7F71436-414A-40FB-B534-76F84439E7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467" y="4053199"/>
            <a:ext cx="8766212" cy="2354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062081"/>
      </p:ext>
    </p:extLst>
  </p:cSld>
  <p:clrMapOvr>
    <a:masterClrMapping/>
  </p:clrMapOvr>
  <p:transition spd="med">
    <p:wipe dir="r"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日期占位符 3">
            <a:extLst>
              <a:ext uri="{FF2B5EF4-FFF2-40B4-BE49-F238E27FC236}">
                <a16:creationId xmlns:a16="http://schemas.microsoft.com/office/drawing/2014/main" id="{623DBE3C-7020-446B-875D-27D1948E0BE1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998D6EA-3EDB-4E88-BA71-E97C7C691114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5258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691B0910-6A68-4C88-8DCB-06C208A29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2">
            <a:extLst>
              <a:ext uri="{FF2B5EF4-FFF2-40B4-BE49-F238E27FC236}">
                <a16:creationId xmlns:a16="http://schemas.microsoft.com/office/drawing/2014/main" id="{AA6683BC-BFC6-4F9A-9E2F-3D52C83D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640" y="764704"/>
            <a:ext cx="6553200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F98C8E96-E6A9-479F-9CB6-CA495BDD5E45}"/>
                  </a:ext>
                </a:extLst>
              </p:cNvPr>
              <p:cNvSpPr/>
              <p:nvPr/>
            </p:nvSpPr>
            <p:spPr>
              <a:xfrm>
                <a:off x="287760" y="1956823"/>
                <a:ext cx="8640960" cy="4156138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ts val="3200"/>
                  </a:lnSpc>
                  <a:spcAft>
                    <a:spcPts val="0"/>
                  </a:spcAft>
                </a:pPr>
                <a:r>
                  <a:rPr lang="en-US" altLang="zh-CN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:r>
                  <a:rPr lang="zh-CN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【解】问题可抽象为从图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b="1" i="1" kern="1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ucida Sans Unicode" panose="020B0602030504020204" pitchFamily="34" charset="0"/>
                          </a:rPr>
                        </m:ctrlPr>
                      </m:sSubPr>
                      <m:e>
                        <m:r>
                          <a:rPr lang="en-US" altLang="zh-CN" sz="2000" b="1" i="1" kern="1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Lucida Sans Unicode" panose="020B0602030504020204" pitchFamily="34" charset="0"/>
                          </a:rPr>
                          <m:t>𝑲</m:t>
                        </m:r>
                      </m:e>
                      <m:sub>
                        <m:r>
                          <a:rPr lang="en-US" altLang="zh-CN" sz="2000" b="1" i="1" kern="1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Lucida Sans Unicode" panose="020B0602030504020204" pitchFamily="34" charset="0"/>
                          </a:rPr>
                          <m:t>𝟕</m:t>
                        </m:r>
                      </m:sub>
                    </m:sSub>
                  </m:oMath>
                </a14:m>
                <a:r>
                  <a:rPr lang="zh-CN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</a:t>
                </a:r>
                <a:r>
                  <a:rPr lang="zh-CN" altLang="zh-CN" sz="2000" b="1" kern="1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的结点</a:t>
                </a:r>
                <a:r>
                  <a:rPr lang="en-US" altLang="zh-CN" sz="2000" b="1" kern="1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000" b="1" kern="1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出发，构造一条总路程最短的回路</a:t>
                </a:r>
                <a:r>
                  <a:rPr lang="zh-CN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。具体构造过程如下：</a:t>
                </a:r>
                <a:r>
                  <a:rPr lang="zh-CN" altLang="zh-CN" sz="2000" b="1" kern="100" dirty="0">
                    <a:solidFill>
                      <a:srgbClr val="333333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zh-CN" altLang="zh-CN" sz="2000" b="1" kern="100" dirty="0"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ts val="3200"/>
                  </a:lnSpc>
                  <a:spcAft>
                    <a:spcPts val="0"/>
                  </a:spcAft>
                </a:pPr>
                <a:r>
                  <a:rPr lang="en-US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从结点</a:t>
                </a:r>
                <a:r>
                  <a:rPr lang="en-US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开始，与结点</a:t>
                </a:r>
                <a:r>
                  <a:rPr lang="en-US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路程最近的为结点</a:t>
                </a:r>
                <a:r>
                  <a:rPr lang="en-US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，建立回路</a:t>
                </a:r>
                <a:r>
                  <a:rPr lang="en-US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121</a:t>
                </a:r>
                <a:r>
                  <a:rPr lang="zh-CN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。现在考察结点</a:t>
                </a:r>
                <a:r>
                  <a:rPr lang="en-US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，由于结点</a:t>
                </a:r>
                <a:r>
                  <a:rPr lang="en-US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与结点</a:t>
                </a:r>
                <a:r>
                  <a:rPr lang="en-US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路程最近，故将结点</a:t>
                </a:r>
                <a:r>
                  <a:rPr lang="en-US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加入路径，建立回路</a:t>
                </a:r>
                <a:r>
                  <a:rPr lang="en-US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1231</a:t>
                </a:r>
                <a:r>
                  <a:rPr lang="zh-CN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zh-CN" altLang="zh-CN" sz="2000" b="1" kern="100" dirty="0"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ts val="3200"/>
                  </a:lnSpc>
                  <a:spcAft>
                    <a:spcPts val="0"/>
                  </a:spcAft>
                </a:pPr>
                <a:r>
                  <a:rPr lang="en-US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接下来，由于结点</a:t>
                </a:r>
                <a:r>
                  <a:rPr lang="en-US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6</a:t>
                </a:r>
                <a:r>
                  <a:rPr lang="zh-CN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与结点</a:t>
                </a:r>
                <a:r>
                  <a:rPr lang="en-US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最邻近，故将结点</a:t>
                </a:r>
                <a:r>
                  <a:rPr lang="en-US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6</a:t>
                </a:r>
                <a:r>
                  <a:rPr lang="zh-CN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加入回路</a:t>
                </a:r>
                <a:r>
                  <a:rPr lang="en-US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1231</a:t>
                </a:r>
                <a:r>
                  <a:rPr lang="zh-CN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，得到如下</a:t>
                </a:r>
                <a:r>
                  <a:rPr lang="en-US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5</a:t>
                </a:r>
                <a:r>
                  <a:rPr lang="zh-CN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个可行的回路：</a:t>
                </a:r>
                <a:endParaRPr lang="en-US" altLang="zh-CN" sz="2000" b="1" kern="100" dirty="0">
                  <a:solidFill>
                    <a:srgbClr val="333333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ctr">
                  <a:lnSpc>
                    <a:spcPts val="3200"/>
                  </a:lnSpc>
                  <a:spcAft>
                    <a:spcPts val="0"/>
                  </a:spcAft>
                </a:pPr>
                <a:r>
                  <a:rPr lang="en-US" altLang="zh-CN" sz="2000" b="1" kern="1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16321</a:t>
                </a:r>
                <a:r>
                  <a:rPr lang="zh-CN" altLang="zh-CN" sz="2000" b="1" kern="1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000" b="1" kern="1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1236</a:t>
                </a:r>
                <a:r>
                  <a:rPr lang="zh-CN" altLang="zh-CN" sz="2000" b="1" kern="1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000" b="1" kern="1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13261</a:t>
                </a:r>
                <a:r>
                  <a:rPr lang="zh-CN" altLang="zh-CN" sz="2000" b="1" kern="1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000" b="1" kern="1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12631</a:t>
                </a:r>
                <a:r>
                  <a:rPr lang="zh-CN" altLang="en-US" sz="2000" b="1" kern="1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000" b="1" kern="1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13621</a:t>
                </a:r>
              </a:p>
              <a:p>
                <a:pPr indent="266700" algn="just">
                  <a:lnSpc>
                    <a:spcPts val="3200"/>
                  </a:lnSpc>
                  <a:spcAft>
                    <a:spcPts val="0"/>
                  </a:spcAft>
                </a:pPr>
                <a:r>
                  <a:rPr lang="en-US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长度分别为</a:t>
                </a:r>
                <a:r>
                  <a:rPr lang="en-US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25</a:t>
                </a:r>
                <a:r>
                  <a:rPr lang="zh-CN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25</a:t>
                </a:r>
                <a:r>
                  <a:rPr lang="zh-CN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25</a:t>
                </a:r>
                <a:r>
                  <a:rPr lang="zh-CN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26</a:t>
                </a:r>
                <a:r>
                  <a:rPr lang="zh-CN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26</a:t>
                </a:r>
                <a:r>
                  <a:rPr lang="zh-CN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2000" b="1" kern="1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取其中长度最短的</a:t>
                </a:r>
                <a:r>
                  <a:rPr lang="en-US" altLang="zh-CN" sz="2000" b="1" kern="1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zh-CN" sz="2000" b="1" kern="1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个回路</a:t>
                </a:r>
                <a:r>
                  <a:rPr lang="zh-CN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:r>
                  <a:rPr lang="zh-CN" altLang="zh-CN" sz="2000" b="1" kern="100" dirty="0">
                    <a:solidFill>
                      <a:srgbClr val="333333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CN" sz="2000" b="1" kern="100" dirty="0">
                  <a:solidFill>
                    <a:srgbClr val="333333"/>
                  </a:solidFill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266700" algn="ctr">
                  <a:lnSpc>
                    <a:spcPts val="3200"/>
                  </a:lnSpc>
                  <a:spcAft>
                    <a:spcPts val="0"/>
                  </a:spcAft>
                </a:pPr>
                <a:r>
                  <a:rPr lang="en-US" altLang="zh-CN" sz="2000" b="1" kern="100" dirty="0">
                    <a:solidFill>
                      <a:srgbClr val="333333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16321</a:t>
                </a:r>
                <a:r>
                  <a:rPr lang="zh-CN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或</a:t>
                </a:r>
                <a:r>
                  <a:rPr lang="en-US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12361</a:t>
                </a:r>
                <a:r>
                  <a:rPr lang="zh-CN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或</a:t>
                </a:r>
                <a:r>
                  <a:rPr lang="en-US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13261</a:t>
                </a:r>
              </a:p>
              <a:p>
                <a:pPr indent="266700" algn="just">
                  <a:lnSpc>
                    <a:spcPts val="3200"/>
                  </a:lnSpc>
                  <a:spcAft>
                    <a:spcPts val="0"/>
                  </a:spcAft>
                </a:pPr>
                <a:r>
                  <a:rPr lang="zh-CN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其长度均为</a:t>
                </a:r>
                <a:r>
                  <a:rPr lang="en-US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25</a:t>
                </a:r>
                <a:r>
                  <a:rPr lang="zh-CN" altLang="zh-CN" sz="2000" b="1" kern="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zh-CN" altLang="zh-CN" sz="2000" b="1" kern="100" dirty="0"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F98C8E96-E6A9-479F-9CB6-CA495BDD5E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760" y="1956823"/>
                <a:ext cx="8640960" cy="4156138"/>
              </a:xfrm>
              <a:prstGeom prst="rect">
                <a:avLst/>
              </a:prstGeom>
              <a:blipFill>
                <a:blip r:embed="rId4"/>
                <a:stretch>
                  <a:fillRect l="-705" r="-705" b="-16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3662652"/>
      </p:ext>
    </p:extLst>
  </p:cSld>
  <p:clrMapOvr>
    <a:masterClrMapping/>
  </p:clrMapOvr>
  <p:transition spd="med">
    <p:wipe dir="r"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日期占位符 3">
            <a:extLst>
              <a:ext uri="{FF2B5EF4-FFF2-40B4-BE49-F238E27FC236}">
                <a16:creationId xmlns:a16="http://schemas.microsoft.com/office/drawing/2014/main" id="{623DBE3C-7020-446B-875D-27D1948E0BE1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998D6EA-3EDB-4E88-BA71-E97C7C691114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5258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691B0910-6A68-4C88-8DCB-06C208A29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384" y="710896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2">
            <a:extLst>
              <a:ext uri="{FF2B5EF4-FFF2-40B4-BE49-F238E27FC236}">
                <a16:creationId xmlns:a16="http://schemas.microsoft.com/office/drawing/2014/main" id="{AA6683BC-BFC6-4F9A-9E2F-3D52C83D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640" y="764704"/>
            <a:ext cx="6553200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F8D76B6-3593-4A39-98AB-D926D8C1CEDE}"/>
              </a:ext>
            </a:extLst>
          </p:cNvPr>
          <p:cNvSpPr/>
          <p:nvPr/>
        </p:nvSpPr>
        <p:spPr>
          <a:xfrm>
            <a:off x="399729" y="1988840"/>
            <a:ext cx="8424936" cy="1886286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b="1" kern="100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【</a:t>
            </a:r>
            <a:r>
              <a:rPr lang="zh-CN" altLang="en-US" sz="2000" b="1" kern="100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</a:t>
            </a:r>
            <a:r>
              <a:rPr lang="en-US" altLang="zh-CN" sz="2000" b="1" kern="100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000" b="1" kern="100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续</a:t>
            </a:r>
            <a:r>
              <a:rPr lang="en-US" altLang="zh-CN" sz="2000" b="1" kern="100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)】</a:t>
            </a:r>
            <a:r>
              <a:rPr lang="zh-CN" altLang="zh-CN" sz="2000" b="1" kern="100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距离结点</a:t>
            </a:r>
            <a:r>
              <a:rPr lang="en-US" altLang="zh-CN" sz="2000" b="1" kern="100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sz="2000" b="1" kern="100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最邻近的为结点</a:t>
            </a:r>
            <a:r>
              <a:rPr lang="en-US" altLang="zh-CN" sz="2000" b="1" kern="100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zh-CN" sz="2000" b="1" kern="100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，将结点</a:t>
            </a:r>
            <a:r>
              <a:rPr lang="en-US" altLang="zh-CN" sz="2000" b="1" kern="100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zh-CN" sz="2000" b="1" kern="100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分别插入上面</a:t>
            </a:r>
            <a:r>
              <a:rPr lang="en-US" altLang="zh-CN" sz="2000" b="1" kern="100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2000" b="1" kern="100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个回路，得到</a:t>
            </a:r>
            <a:r>
              <a:rPr lang="en-US" altLang="zh-CN" sz="2000" b="1" kern="100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2000" b="1" kern="100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个长度</a:t>
            </a:r>
            <a:r>
              <a:rPr lang="zh-CN" altLang="zh-CN" sz="20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最短的回路</a:t>
            </a:r>
            <a:r>
              <a:rPr lang="en-US" altLang="zh-CN" sz="20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123671</a:t>
            </a:r>
            <a:r>
              <a:rPr lang="zh-CN" altLang="zh-CN" sz="20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0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132671</a:t>
            </a:r>
            <a:r>
              <a:rPr lang="zh-CN" altLang="zh-CN" sz="20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，它们的长度均为</a:t>
            </a:r>
            <a:r>
              <a:rPr lang="en-US" altLang="zh-CN" sz="20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54</a:t>
            </a:r>
            <a:r>
              <a:rPr lang="zh-CN" altLang="zh-CN" sz="2000" b="1" kern="100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000" b="1" kern="100" dirty="0">
              <a:solidFill>
                <a:srgbClr val="333333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b="1" kern="100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zh-CN" sz="2000" b="1" kern="100" dirty="0">
                <a:solidFill>
                  <a:srgbClr val="333333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Lucida Sans Unicode" panose="020B0602030504020204" pitchFamily="34" charset="0"/>
              </a:rPr>
              <a:t>距离结点</a:t>
            </a:r>
            <a:r>
              <a:rPr lang="en-US" altLang="zh-CN" sz="2000" b="1" kern="100" dirty="0">
                <a:solidFill>
                  <a:srgbClr val="333333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zh-CN" sz="2000" b="1" kern="100" dirty="0">
                <a:solidFill>
                  <a:srgbClr val="333333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Lucida Sans Unicode" panose="020B0602030504020204" pitchFamily="34" charset="0"/>
              </a:rPr>
              <a:t>最临近的为结点</a:t>
            </a:r>
            <a:r>
              <a:rPr lang="en-US" altLang="zh-CN" sz="2000" b="1" kern="100" dirty="0">
                <a:solidFill>
                  <a:srgbClr val="333333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sz="2000" b="1" kern="100" dirty="0">
                <a:solidFill>
                  <a:srgbClr val="333333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Lucida Sans Unicode" panose="020B0602030504020204" pitchFamily="34" charset="0"/>
              </a:rPr>
              <a:t>，将结点</a:t>
            </a:r>
            <a:r>
              <a:rPr lang="en-US" altLang="zh-CN" sz="2000" b="1" kern="100" dirty="0">
                <a:solidFill>
                  <a:srgbClr val="333333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sz="2000" b="1" kern="100" dirty="0">
                <a:solidFill>
                  <a:srgbClr val="333333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Lucida Sans Unicode" panose="020B0602030504020204" pitchFamily="34" charset="0"/>
              </a:rPr>
              <a:t>插入上面两个回路，</a:t>
            </a:r>
            <a:r>
              <a:rPr lang="zh-CN" altLang="zh-CN" sz="2000" b="1" kern="100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得到如</a:t>
            </a:r>
            <a:r>
              <a:rPr lang="zh-CN" altLang="en-US" sz="2000" b="1" kern="100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下</a:t>
            </a:r>
            <a:r>
              <a:rPr lang="zh-CN" altLang="zh-CN" sz="2000" b="1" kern="100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表所示的回路及其长度。</a:t>
            </a:r>
            <a:endParaRPr lang="zh-CN" altLang="zh-CN" sz="2000" b="1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1C13B69-52D4-4C51-99D9-6CB7A58E6C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20" y="4365104"/>
            <a:ext cx="8773911" cy="128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721196"/>
      </p:ext>
    </p:extLst>
  </p:cSld>
  <p:clrMapOvr>
    <a:masterClrMapping/>
  </p:clrMapOvr>
  <p:transition spd="med">
    <p:wipe dir="r"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日期占位符 3">
            <a:extLst>
              <a:ext uri="{FF2B5EF4-FFF2-40B4-BE49-F238E27FC236}">
                <a16:creationId xmlns:a16="http://schemas.microsoft.com/office/drawing/2014/main" id="{623DBE3C-7020-446B-875D-27D1948E0BE1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998D6EA-3EDB-4E88-BA71-E97C7C691114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5258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691B0910-6A68-4C88-8DCB-06C208A29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2">
            <a:extLst>
              <a:ext uri="{FF2B5EF4-FFF2-40B4-BE49-F238E27FC236}">
                <a16:creationId xmlns:a16="http://schemas.microsoft.com/office/drawing/2014/main" id="{AA6683BC-BFC6-4F9A-9E2F-3D52C83D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648" y="634008"/>
            <a:ext cx="6553200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F8D76B6-3593-4A39-98AB-D926D8C1CEDE}"/>
              </a:ext>
            </a:extLst>
          </p:cNvPr>
          <p:cNvSpPr/>
          <p:nvPr/>
        </p:nvSpPr>
        <p:spPr>
          <a:xfrm>
            <a:off x="395536" y="1717292"/>
            <a:ext cx="8424936" cy="1323439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indent="266700" algn="just">
              <a:spcAft>
                <a:spcPts val="0"/>
              </a:spcAft>
            </a:pPr>
            <a:r>
              <a:rPr lang="en-US" altLang="zh-CN" sz="2000" b="1" kern="100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2000" b="1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000" b="1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</a:t>
            </a:r>
            <a:r>
              <a:rPr lang="en-US" altLang="zh-CN" sz="2000" b="1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000" b="1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续</a:t>
            </a:r>
            <a:r>
              <a:rPr lang="en-US" altLang="zh-CN" sz="2000" b="1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)】</a:t>
            </a:r>
            <a:r>
              <a:rPr lang="zh-CN" altLang="zh-CN" sz="2000" dirty="0">
                <a:solidFill>
                  <a:schemeClr val="tx1"/>
                </a:solidFill>
              </a:rPr>
              <a:t>选取</a:t>
            </a:r>
            <a:r>
              <a:rPr lang="zh-CN" altLang="zh-CN" sz="2000" dirty="0">
                <a:solidFill>
                  <a:srgbClr val="0000FF"/>
                </a:solidFill>
              </a:rPr>
              <a:t>长度最短的两个回路</a:t>
            </a:r>
            <a:r>
              <a:rPr lang="en-US" altLang="zh-CN" sz="2000" dirty="0">
                <a:solidFill>
                  <a:schemeClr val="tx1"/>
                </a:solidFill>
              </a:rPr>
              <a:t>1326751</a:t>
            </a:r>
            <a:r>
              <a:rPr lang="zh-CN" altLang="zh-CN" sz="2000" dirty="0">
                <a:solidFill>
                  <a:schemeClr val="tx1"/>
                </a:solidFill>
              </a:rPr>
              <a:t>或</a:t>
            </a:r>
            <a:r>
              <a:rPr lang="en-US" altLang="zh-CN" sz="2000" dirty="0">
                <a:solidFill>
                  <a:schemeClr val="tx1"/>
                </a:solidFill>
              </a:rPr>
              <a:t>1675231</a:t>
            </a:r>
            <a:r>
              <a:rPr lang="zh-CN" altLang="zh-CN" sz="2000" dirty="0">
                <a:solidFill>
                  <a:schemeClr val="tx1"/>
                </a:solidFill>
              </a:rPr>
              <a:t>，其长度均为</a:t>
            </a:r>
            <a:r>
              <a:rPr lang="en-US" altLang="zh-CN" sz="2000" dirty="0">
                <a:solidFill>
                  <a:srgbClr val="0000FF"/>
                </a:solidFill>
              </a:rPr>
              <a:t>75</a:t>
            </a:r>
            <a:r>
              <a:rPr lang="zh-CN" altLang="zh-CN" sz="2000" dirty="0">
                <a:solidFill>
                  <a:schemeClr val="tx1"/>
                </a:solidFill>
              </a:rPr>
              <a:t>。将结点</a:t>
            </a:r>
            <a:r>
              <a:rPr lang="en-US" altLang="zh-CN" sz="2000" dirty="0">
                <a:solidFill>
                  <a:schemeClr val="tx1"/>
                </a:solidFill>
              </a:rPr>
              <a:t>4</a:t>
            </a:r>
            <a:r>
              <a:rPr lang="zh-CN" altLang="zh-CN" sz="2000" dirty="0">
                <a:solidFill>
                  <a:schemeClr val="tx1"/>
                </a:solidFill>
              </a:rPr>
              <a:t>分别插入上面的两个最短回路，得到如</a:t>
            </a:r>
            <a:r>
              <a:rPr lang="zh-CN" altLang="en-US" sz="2000" dirty="0">
                <a:solidFill>
                  <a:schemeClr val="tx1"/>
                </a:solidFill>
              </a:rPr>
              <a:t>下</a:t>
            </a:r>
            <a:r>
              <a:rPr lang="zh-CN" altLang="zh-CN" sz="2000" dirty="0">
                <a:solidFill>
                  <a:schemeClr val="tx1"/>
                </a:solidFill>
              </a:rPr>
              <a:t>表所示的回路及其长度。</a:t>
            </a:r>
            <a:r>
              <a:rPr lang="zh-CN" altLang="zh-CN" sz="2000" dirty="0">
                <a:solidFill>
                  <a:srgbClr val="0000FF"/>
                </a:solidFill>
              </a:rPr>
              <a:t>在表</a:t>
            </a:r>
            <a:r>
              <a:rPr lang="zh-CN" altLang="en-US" sz="2000" dirty="0">
                <a:solidFill>
                  <a:srgbClr val="0000FF"/>
                </a:solidFill>
              </a:rPr>
              <a:t>中</a:t>
            </a:r>
            <a:r>
              <a:rPr lang="zh-CN" altLang="zh-CN" sz="2000" dirty="0">
                <a:solidFill>
                  <a:srgbClr val="0000FF"/>
                </a:solidFill>
              </a:rPr>
              <a:t>回路中选取长度最短的旅程</a:t>
            </a:r>
            <a:r>
              <a:rPr lang="en-US" altLang="zh-CN" sz="2000" dirty="0">
                <a:solidFill>
                  <a:srgbClr val="0000FF"/>
                </a:solidFill>
              </a:rPr>
              <a:t>12345761</a:t>
            </a:r>
            <a:r>
              <a:rPr lang="zh-CN" altLang="en-US" sz="2000" dirty="0">
                <a:solidFill>
                  <a:srgbClr val="0000FF"/>
                </a:solidFill>
              </a:rPr>
              <a:t>，</a:t>
            </a:r>
            <a:r>
              <a:rPr lang="zh-CN" altLang="zh-CN" sz="2000" dirty="0">
                <a:solidFill>
                  <a:srgbClr val="0000FF"/>
                </a:solidFill>
              </a:rPr>
              <a:t>就是所求的近似最佳旅游线路，其长度为</a:t>
            </a:r>
            <a:r>
              <a:rPr lang="en-US" altLang="zh-CN" sz="2000" dirty="0">
                <a:solidFill>
                  <a:srgbClr val="0000FF"/>
                </a:solidFill>
              </a:rPr>
              <a:t>125</a:t>
            </a:r>
            <a:r>
              <a:rPr lang="zh-CN" altLang="zh-CN" sz="2000" dirty="0">
                <a:solidFill>
                  <a:srgbClr val="0000FF"/>
                </a:solidFill>
              </a:rPr>
              <a:t>。</a:t>
            </a:r>
            <a:endParaRPr lang="zh-CN" altLang="zh-CN" sz="2000" b="1" kern="100" dirty="0">
              <a:solidFill>
                <a:srgbClr val="0000FF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533E14D-D6F0-4408-AB09-B9D3DD21A4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6713" y="3097227"/>
            <a:ext cx="6552083" cy="3231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16173"/>
      </p:ext>
    </p:extLst>
  </p:cSld>
  <p:clrMapOvr>
    <a:masterClrMapping/>
  </p:clrMapOvr>
  <p:transition spd="med">
    <p:wipe dir="r"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日期占位符 3">
            <a:extLst>
              <a:ext uri="{FF2B5EF4-FFF2-40B4-BE49-F238E27FC236}">
                <a16:creationId xmlns:a16="http://schemas.microsoft.com/office/drawing/2014/main" id="{64F6F3E9-4219-4C75-85B4-7B028EAA723E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C8DD947-E719-47B8-A2F1-E0A2946248CE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7699" name="Text Box 2">
            <a:extLst>
              <a:ext uri="{FF2B5EF4-FFF2-40B4-BE49-F238E27FC236}">
                <a16:creationId xmlns:a16="http://schemas.microsoft.com/office/drawing/2014/main" id="{744296BA-1F8C-4CB5-BEC2-551612ECB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733425"/>
            <a:ext cx="6553200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货郎担问题</a:t>
            </a:r>
          </a:p>
        </p:txBody>
      </p:sp>
      <p:pic>
        <p:nvPicPr>
          <p:cNvPr id="15770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0ED75B4C-BB32-4A50-9B07-78CEAD6BA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7701" name="矩形 1">
            <a:extLst>
              <a:ext uri="{FF2B5EF4-FFF2-40B4-BE49-F238E27FC236}">
                <a16:creationId xmlns:a16="http://schemas.microsoft.com/office/drawing/2014/main" id="{3DCA7CDD-5B4C-4895-9CB2-5D738832F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1940737"/>
            <a:ext cx="8640960" cy="4183838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lnSpc>
                <a:spcPts val="3600"/>
              </a:lnSpc>
              <a:spcBef>
                <a:spcPct val="0"/>
              </a:spcBef>
              <a:buFontTx/>
              <a:buNone/>
            </a:pPr>
            <a:r>
              <a:rPr kumimoji="0" lang="zh-CN" altLang="en-US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遍历多个景点的最短旅游路线问题，其实</a:t>
            </a:r>
            <a:r>
              <a:rPr kumimoji="0" lang="zh-CN" altLang="en-US" dirty="0">
                <a:solidFill>
                  <a:srgbClr val="FFFF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就是从具有</a:t>
            </a:r>
            <a:r>
              <a:rPr kumimoji="0" lang="en-US" altLang="zh-CN" dirty="0">
                <a:solidFill>
                  <a:srgbClr val="FFFF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0" lang="zh-CN" altLang="en-US" dirty="0">
                <a:solidFill>
                  <a:srgbClr val="FFFF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个结点的无向带权完全图中寻找一条哈密顿回路的问题</a:t>
            </a:r>
            <a:r>
              <a:rPr kumimoji="0" lang="zh-CN" altLang="en-US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。如果景点数目较多，比如说几十个或上百个景点，则上述算法就非常复杂甚至不可行。</a:t>
            </a:r>
          </a:p>
          <a:p>
            <a:pPr>
              <a:lnSpc>
                <a:spcPts val="3600"/>
              </a:lnSpc>
              <a:spcBef>
                <a:spcPct val="0"/>
              </a:spcBef>
              <a:buFontTx/>
              <a:buNone/>
            </a:pPr>
            <a:r>
              <a:rPr kumimoji="0" lang="zh-CN" altLang="en-US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这其实是图论中一个非常著名问题，即</a:t>
            </a:r>
            <a:r>
              <a:rPr kumimoji="0" lang="zh-CN" altLang="en-US" dirty="0">
                <a:solidFill>
                  <a:srgbClr val="FFFF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货郎担问题</a:t>
            </a:r>
            <a:r>
              <a:rPr kumimoji="0" lang="zh-CN" altLang="en-US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。可将该问题描述为：</a:t>
            </a:r>
            <a:endParaRPr kumimoji="0" lang="en-US" altLang="zh-CN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3600"/>
              </a:lnSpc>
              <a:spcBef>
                <a:spcPct val="0"/>
              </a:spcBef>
              <a:buFontTx/>
              <a:buNone/>
            </a:pPr>
            <a:r>
              <a:rPr kumimoji="0" lang="en-US" altLang="zh-CN" dirty="0">
                <a:solidFill>
                  <a:srgbClr val="FFFF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kumimoji="0" lang="zh-CN" altLang="en-US" dirty="0">
                <a:solidFill>
                  <a:srgbClr val="FFFF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某地区共有</a:t>
            </a:r>
            <a:r>
              <a:rPr kumimoji="0" lang="en-US" altLang="zh-CN" dirty="0">
                <a:solidFill>
                  <a:srgbClr val="FFFF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0" lang="zh-CN" altLang="en-US" dirty="0">
                <a:solidFill>
                  <a:srgbClr val="FFFF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个村庄，某售货员从他所在的某村庄出发，前往其它</a:t>
            </a:r>
            <a:r>
              <a:rPr kumimoji="0" lang="en-US" altLang="zh-CN" dirty="0">
                <a:solidFill>
                  <a:srgbClr val="FFFF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</a:t>
            </a:r>
            <a:r>
              <a:rPr kumimoji="0" lang="zh-CN" altLang="en-US" dirty="0">
                <a:solidFill>
                  <a:srgbClr val="FFFF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个村庄一次且恰好一次，最后返回到他所在的村庄，求一条满足上述要求且总路程最短的回路。</a:t>
            </a:r>
            <a:r>
              <a:rPr kumimoji="0" lang="en-US" altLang="zh-CN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endParaRPr kumimoji="0" lang="zh-CN" altLang="zh-CN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日期占位符 3">
            <a:extLst>
              <a:ext uri="{FF2B5EF4-FFF2-40B4-BE49-F238E27FC236}">
                <a16:creationId xmlns:a16="http://schemas.microsoft.com/office/drawing/2014/main" id="{64F6F3E9-4219-4C75-85B4-7B028EAA723E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C8DD947-E719-47B8-A2F1-E0A2946248CE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7699" name="Text Box 2">
            <a:extLst>
              <a:ext uri="{FF2B5EF4-FFF2-40B4-BE49-F238E27FC236}">
                <a16:creationId xmlns:a16="http://schemas.microsoft.com/office/drawing/2014/main" id="{744296BA-1F8C-4CB5-BEC2-551612ECB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733425"/>
            <a:ext cx="6553200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货郎担问题</a:t>
            </a:r>
          </a:p>
        </p:txBody>
      </p:sp>
      <p:pic>
        <p:nvPicPr>
          <p:cNvPr id="15770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0ED75B4C-BB32-4A50-9B07-78CEAD6BA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7701" name="矩形 1">
            <a:extLst>
              <a:ext uri="{FF2B5EF4-FFF2-40B4-BE49-F238E27FC236}">
                <a16:creationId xmlns:a16="http://schemas.microsoft.com/office/drawing/2014/main" id="{3DCA7CDD-5B4C-4895-9CB2-5D738832F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470" y="1857125"/>
            <a:ext cx="8533010" cy="4267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lnSpc>
                <a:spcPts val="4000"/>
              </a:lnSpc>
              <a:buNone/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zh-CN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货郎担问题是一个十分有趣且具有实用价值的问题，很多数学家和计算机科学家对该</a:t>
            </a:r>
            <a:r>
              <a:rPr lang="zh-CN" altLang="en-US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此</a:t>
            </a:r>
            <a:r>
              <a:rPr lang="zh-CN" altLang="zh-CN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做了大量研究，取得了丰硕的研究成果。遗憾的是至今</a:t>
            </a:r>
            <a:r>
              <a:rPr lang="zh-CN" altLang="zh-CN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无法找到有效的精确算法</a:t>
            </a:r>
            <a:r>
              <a:rPr lang="zh-CN" altLang="en-US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4000"/>
              </a:lnSpc>
              <a:buNone/>
            </a:pPr>
            <a:r>
              <a:rPr lang="en-US" altLang="zh-CN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zh-CN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这是一个</a:t>
            </a:r>
            <a:r>
              <a:rPr lang="en-US" altLang="zh-CN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NP-hard</a:t>
            </a:r>
            <a:r>
              <a:rPr lang="zh-CN" altLang="zh-CN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问题，当图中结点较多时，精确算法计算量过于巨大而不可行。目前，对该问题的求解主要</a:t>
            </a:r>
            <a:r>
              <a:rPr lang="zh-CN" altLang="zh-CN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采用近似算法</a:t>
            </a:r>
            <a:r>
              <a:rPr lang="zh-CN" altLang="en-US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，例如</a:t>
            </a:r>
            <a:r>
              <a:rPr lang="zh-CN" altLang="zh-CN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最近邻算法</a:t>
            </a:r>
            <a:r>
              <a:rPr lang="zh-CN" altLang="en-US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zh-CN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抄近路算法</a:t>
            </a:r>
            <a:r>
              <a:rPr lang="zh-CN" altLang="zh-CN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zh-CN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动态规划算法</a:t>
            </a:r>
            <a:r>
              <a:rPr lang="zh-CN" altLang="zh-CN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zh-CN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模拟退火算法</a:t>
            </a:r>
            <a:r>
              <a:rPr lang="zh-CN" altLang="zh-CN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zh-CN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遗传算法</a:t>
            </a:r>
            <a:r>
              <a:rPr lang="zh-CN" altLang="zh-CN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zh-CN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蚁群算法</a:t>
            </a:r>
            <a:r>
              <a:rPr lang="zh-CN" altLang="en-US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zh-CN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等等</a:t>
            </a:r>
            <a:r>
              <a:rPr lang="zh-CN" altLang="en-US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4000"/>
              </a:lnSpc>
              <a:buNone/>
            </a:pPr>
            <a:r>
              <a:rPr lang="zh-CN" altLang="en-US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zh-CN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可参阅相关的资料</a:t>
            </a:r>
            <a:r>
              <a:rPr lang="zh-CN" altLang="en-US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进行</a:t>
            </a:r>
            <a:r>
              <a:rPr lang="zh-CN" altLang="zh-CN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深入学习。</a:t>
            </a:r>
          </a:p>
        </p:txBody>
      </p:sp>
    </p:spTree>
    <p:extLst>
      <p:ext uri="{BB962C8B-B14F-4D97-AF65-F5344CB8AC3E}">
        <p14:creationId xmlns:p14="http://schemas.microsoft.com/office/powerpoint/2010/main" val="827914041"/>
      </p:ext>
    </p:extLst>
  </p:cSld>
  <p:clrMapOvr>
    <a:masterClrMapping/>
  </p:clrMapOvr>
  <p:transition spd="med">
    <p:wipe dir="r"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日期占位符 3">
            <a:extLst>
              <a:ext uri="{FF2B5EF4-FFF2-40B4-BE49-F238E27FC236}">
                <a16:creationId xmlns:a16="http://schemas.microsoft.com/office/drawing/2014/main" id="{242A5CF7-44C1-4250-BAB1-1B3088ABB5FC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E63AE66-0490-4B0E-AB90-3093E7F65831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8723" name="页脚占位符 4">
            <a:extLst>
              <a:ext uri="{FF2B5EF4-FFF2-40B4-BE49-F238E27FC236}">
                <a16:creationId xmlns:a16="http://schemas.microsoft.com/office/drawing/2014/main" id="{E61C772F-DC21-4DF1-BA34-9294CAD5A2BA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158724" name="灯片编号占位符 5">
            <a:extLst>
              <a:ext uri="{FF2B5EF4-FFF2-40B4-BE49-F238E27FC236}">
                <a16:creationId xmlns:a16="http://schemas.microsoft.com/office/drawing/2014/main" id="{C31B20EB-2825-478D-BCFB-ACF4014D2BB7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F5632D5-DAFB-4AD2-8F26-1D81DC696EE1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76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8725" name="Text Box 2">
            <a:extLst>
              <a:ext uri="{FF2B5EF4-FFF2-40B4-BE49-F238E27FC236}">
                <a16:creationId xmlns:a16="http://schemas.microsoft.com/office/drawing/2014/main" id="{6B5E7D58-3A5C-4F0A-9744-33ED180693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9100" y="908720"/>
            <a:ext cx="70866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特殊图模型的应用</a:t>
            </a:r>
          </a:p>
        </p:txBody>
      </p:sp>
      <p:sp>
        <p:nvSpPr>
          <p:cNvPr id="158726" name="Rectangle 3">
            <a:extLst>
              <a:ext uri="{FF2B5EF4-FFF2-40B4-BE49-F238E27FC236}">
                <a16:creationId xmlns:a16="http://schemas.microsoft.com/office/drawing/2014/main" id="{6797DB3A-6BA0-4CDA-9658-E96C028B7BE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771800" y="2492896"/>
            <a:ext cx="4053358" cy="3024187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4"/>
            </a:pPr>
            <a:r>
              <a:rPr lang="zh-CN" altLang="en-US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鼓轮设计问题</a:t>
            </a:r>
          </a:p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4"/>
            </a:pPr>
            <a:r>
              <a:rPr lang="zh-CN" altLang="en-US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最优路线问题</a:t>
            </a:r>
          </a:p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J"/>
            </a:pPr>
            <a:r>
              <a:rPr lang="zh-CN" altLang="en-US" sz="3600" b="1" dirty="0"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稳定婚配问题</a:t>
            </a:r>
          </a:p>
        </p:txBody>
      </p:sp>
      <p:pic>
        <p:nvPicPr>
          <p:cNvPr id="158727" name="Picture 7" descr="C:\Program Files\Microsoft Office\MEDIA\CAGCAT10\j0292982.wmf">
            <a:extLst>
              <a:ext uri="{FF2B5EF4-FFF2-40B4-BE49-F238E27FC236}">
                <a16:creationId xmlns:a16="http://schemas.microsoft.com/office/drawing/2014/main" id="{4717A64A-A44E-4A8F-A1E6-7B5ACE8E1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575" y="4738688"/>
            <a:ext cx="137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日期占位符 3">
            <a:extLst>
              <a:ext uri="{FF2B5EF4-FFF2-40B4-BE49-F238E27FC236}">
                <a16:creationId xmlns:a16="http://schemas.microsoft.com/office/drawing/2014/main" id="{64F6F3E9-4219-4C75-85B4-7B028EAA723E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C8DD947-E719-47B8-A2F1-E0A2946248CE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5770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0ED75B4C-BB32-4A50-9B07-78CEAD6BA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20B67C14-2325-40B2-8DB1-95763249C2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733425"/>
            <a:ext cx="6553200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稳定婚配问题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27B7A00-9514-49BC-993E-5479161933B4}"/>
              </a:ext>
            </a:extLst>
          </p:cNvPr>
          <p:cNvSpPr/>
          <p:nvPr/>
        </p:nvSpPr>
        <p:spPr>
          <a:xfrm>
            <a:off x="377788" y="1988840"/>
            <a:ext cx="8388424" cy="3732945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solidFill>
                  <a:srgbClr val="333333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Lucida Sans Unicode" panose="020B0602030504020204" pitchFamily="34" charset="0"/>
              </a:rPr>
              <a:t>    </a:t>
            </a:r>
            <a:r>
              <a:rPr lang="zh-CN" altLang="zh-CN" sz="2000" b="1" kern="10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Lucida Sans Unicode" panose="020B0602030504020204" pitchFamily="34" charset="0"/>
              </a:rPr>
              <a:t>在某婚姻介绍所，假设有若干个单身男子和同样多的单身女子前来征婚，并且媒人已知其中每个女孩在每个男孩心目中的排名，以及每个男孩在每个女孩心目中的排名</a:t>
            </a:r>
            <a:r>
              <a:rPr lang="zh-CN" altLang="en-US" sz="2000" b="1" kern="10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Lucida Sans Unicode" panose="020B0602030504020204" pitchFamily="34" charset="0"/>
              </a:rPr>
              <a:t>。</a:t>
            </a:r>
            <a:r>
              <a:rPr lang="zh-CN" altLang="zh-CN" sz="2000" b="1" kern="10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Lucida Sans Unicode" panose="020B0602030504020204" pitchFamily="34" charset="0"/>
              </a:rPr>
              <a:t>应该怎样为他们牵线配对呢？</a:t>
            </a:r>
            <a:endParaRPr lang="en-US" altLang="zh-CN" sz="2000" b="1" kern="10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Lucida Sans Unicode" panose="020B0602030504020204" pitchFamily="34" charset="0"/>
            </a:endParaRP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b="1" kern="10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Lucida Sans Unicode" panose="020B0602030504020204" pitchFamily="34" charset="0"/>
              </a:rPr>
              <a:t>    </a:t>
            </a:r>
            <a:r>
              <a:rPr lang="zh-CN" altLang="zh-CN" sz="20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最好的方案当然是每个人的另一半正好都是自己的第一选择，但通常不能实现。</a:t>
            </a:r>
            <a:r>
              <a:rPr lang="zh-CN" altLang="zh-CN" sz="2000" b="1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例如，如果男</a:t>
            </a:r>
            <a:r>
              <a:rPr lang="en-US" altLang="zh-CN" sz="2000" b="1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2000" b="1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号最喜欢的是女</a:t>
            </a:r>
            <a:r>
              <a:rPr lang="en-US" altLang="zh-CN" sz="2000" b="1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2000" b="1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号，而女</a:t>
            </a:r>
            <a:r>
              <a:rPr lang="en-US" altLang="zh-CN" sz="2000" b="1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2000" b="1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号的最爱不是男</a:t>
            </a:r>
            <a:r>
              <a:rPr lang="en-US" altLang="zh-CN" sz="2000" b="1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2000" b="1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号，那么</a:t>
            </a:r>
            <a:r>
              <a:rPr lang="zh-CN" altLang="en-US" sz="2000" b="1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这</a:t>
            </a:r>
            <a:r>
              <a:rPr lang="zh-CN" altLang="zh-CN" sz="2000" b="1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两人的最佳选择</a:t>
            </a:r>
            <a:r>
              <a:rPr lang="zh-CN" altLang="en-US" sz="2000" b="1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就</a:t>
            </a:r>
            <a:r>
              <a:rPr lang="zh-CN" altLang="zh-CN" sz="2000" b="1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不可能被同时满足。再如，如果好几个男孩最喜欢的都是同一个女孩，那么这几个男孩的首选也不会同时得到满足</a:t>
            </a:r>
            <a:r>
              <a:rPr lang="zh-CN" altLang="zh-CN" sz="20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000" b="1" kern="10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zh-CN" altLang="zh-CN" sz="20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那么怎样的配对才合理？</a:t>
            </a:r>
          </a:p>
        </p:txBody>
      </p:sp>
    </p:spTree>
    <p:extLst>
      <p:ext uri="{BB962C8B-B14F-4D97-AF65-F5344CB8AC3E}">
        <p14:creationId xmlns:p14="http://schemas.microsoft.com/office/powerpoint/2010/main" val="250812803"/>
      </p:ext>
    </p:extLst>
  </p:cSld>
  <p:clrMapOvr>
    <a:masterClrMapping/>
  </p:clrMapOvr>
  <p:transition spd="med">
    <p:wipe dir="r"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日期占位符 3">
            <a:extLst>
              <a:ext uri="{FF2B5EF4-FFF2-40B4-BE49-F238E27FC236}">
                <a16:creationId xmlns:a16="http://schemas.microsoft.com/office/drawing/2014/main" id="{64F6F3E9-4219-4C75-85B4-7B028EAA723E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C8DD947-E719-47B8-A2F1-E0A2946248CE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5770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0ED75B4C-BB32-4A50-9B07-78CEAD6BA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20B67C14-2325-40B2-8DB1-95763249C2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733425"/>
            <a:ext cx="6553200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稳定婚配问题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E91668-1EA2-4A0D-BC43-4CF08CB25C55}"/>
              </a:ext>
            </a:extLst>
          </p:cNvPr>
          <p:cNvSpPr/>
          <p:nvPr/>
        </p:nvSpPr>
        <p:spPr>
          <a:xfrm>
            <a:off x="323528" y="1916832"/>
            <a:ext cx="8568952" cy="3907095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b="1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</a:t>
            </a:r>
            <a:r>
              <a:rPr lang="zh-CN" altLang="zh-CN" b="1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媒人给客户介绍对象，最关心的是</a:t>
            </a:r>
            <a:r>
              <a:rPr lang="zh-CN" altLang="zh-CN" b="1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成功率</a:t>
            </a:r>
            <a:r>
              <a:rPr lang="zh-CN" altLang="zh-CN" b="1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，即婚姻的稳定性。</a:t>
            </a:r>
            <a:r>
              <a:rPr lang="zh-CN" altLang="zh-CN" b="1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找的对象太完美不见得就稳定</a:t>
            </a:r>
            <a:r>
              <a:rPr lang="zh-CN" altLang="zh-CN" b="1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b="1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b="1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zh-CN" altLang="zh-CN" b="1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例如</a:t>
            </a:r>
            <a:r>
              <a:rPr lang="zh-CN" altLang="en-US" b="1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b="1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b="1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zh-CN" altLang="zh-CN" b="1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如果男</a:t>
            </a:r>
            <a:r>
              <a:rPr lang="en-US" altLang="zh-CN" b="1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b="1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号和女</a:t>
            </a:r>
            <a:r>
              <a:rPr lang="en-US" altLang="zh-CN" b="1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b="1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号各有各的对象，</a:t>
            </a:r>
            <a:r>
              <a:rPr lang="zh-CN" altLang="zh-CN" b="1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但男</a:t>
            </a:r>
            <a:r>
              <a:rPr lang="en-US" altLang="zh-CN" b="1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b="1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号觉得女</a:t>
            </a:r>
            <a:r>
              <a:rPr lang="en-US" altLang="zh-CN" b="1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b="1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号比现女友更好一些；</a:t>
            </a:r>
            <a:r>
              <a:rPr lang="en-US" altLang="zh-CN" b="1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b="1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女</a:t>
            </a:r>
            <a:r>
              <a:rPr lang="en-US" altLang="zh-CN" b="1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b="1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号也发现男</a:t>
            </a:r>
            <a:r>
              <a:rPr lang="en-US" altLang="zh-CN" b="1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b="1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号比现男友更好</a:t>
            </a:r>
            <a:r>
              <a:rPr lang="zh-CN" altLang="zh-CN" b="1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b="1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b="1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zh-CN" altLang="zh-CN" b="1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此时，两人就会抛弃各自现在的对象。若出现这种情况，则</a:t>
            </a:r>
            <a:r>
              <a:rPr lang="zh-CN" altLang="zh-CN" b="1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婚姻搭配是不稳定的</a:t>
            </a:r>
            <a:r>
              <a:rPr lang="zh-CN" altLang="zh-CN" b="1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b="1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4655758"/>
      </p:ext>
    </p:extLst>
  </p:cSld>
  <p:clrMapOvr>
    <a:masterClrMapping/>
  </p:clrMapOvr>
  <p:transition spd="med">
    <p:wipe dir="r"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日期占位符 3">
            <a:extLst>
              <a:ext uri="{FF2B5EF4-FFF2-40B4-BE49-F238E27FC236}">
                <a16:creationId xmlns:a16="http://schemas.microsoft.com/office/drawing/2014/main" id="{64F6F3E9-4219-4C75-85B4-7B028EAA723E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C8DD947-E719-47B8-A2F1-E0A2946248CE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5770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0ED75B4C-BB32-4A50-9B07-78CEAD6BA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20B67C14-2325-40B2-8DB1-95763249C2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733425"/>
            <a:ext cx="6553200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稳定婚配问题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E91668-1EA2-4A0D-BC43-4CF08CB25C55}"/>
              </a:ext>
            </a:extLst>
          </p:cNvPr>
          <p:cNvSpPr/>
          <p:nvPr/>
        </p:nvSpPr>
        <p:spPr>
          <a:xfrm>
            <a:off x="539490" y="2015996"/>
            <a:ext cx="8280920" cy="3907095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b="1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</a:t>
            </a:r>
            <a:r>
              <a:rPr lang="zh-CN" altLang="zh-CN" b="1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因此，媒人给客户牵线配对时，虽然不能让每个人都得到最满意的，但搭配必须得稳定，实现稳定的婚配。</a:t>
            </a:r>
            <a:endParaRPr lang="en-US" altLang="zh-CN" b="1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b="1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</a:t>
            </a:r>
            <a:r>
              <a:rPr lang="zh-CN" altLang="zh-CN" b="1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换句话说，</a:t>
            </a:r>
            <a:r>
              <a:rPr lang="zh-CN" altLang="en-US" b="1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就是：</a:t>
            </a:r>
            <a:endParaRPr lang="en-US" altLang="zh-CN" b="1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b="1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</a:t>
            </a:r>
            <a:r>
              <a:rPr lang="zh-CN" altLang="zh-CN" b="1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对于任何男子，在他心目中比他当前伴侣更好的女性，都不会认为他是该女性一个更好的选择，对于任何一个女子也是这样</a:t>
            </a:r>
            <a:r>
              <a:rPr lang="zh-CN" altLang="zh-CN" b="1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b="1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b="1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</a:t>
            </a:r>
            <a:r>
              <a:rPr lang="zh-CN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这就是</a:t>
            </a:r>
            <a:r>
              <a:rPr lang="zh-CN" altLang="zh-CN" b="1" dirty="0">
                <a:solidFill>
                  <a:srgbClr val="0000FF"/>
                </a:solidFill>
                <a:cs typeface="Times New Roman" panose="02020603050405020304" pitchFamily="18" charset="0"/>
              </a:rPr>
              <a:t>稳定婚配问题</a:t>
            </a:r>
            <a:r>
              <a:rPr lang="zh-CN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。</a:t>
            </a:r>
            <a:endParaRPr lang="zh-CN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798268"/>
      </p:ext>
    </p:extLst>
  </p:cSld>
  <p:clrMapOvr>
    <a:masterClrMapping/>
  </p:clrMapOvr>
  <p:transition spd="med">
    <p:wipe dir="r"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日期占位符 3">
            <a:extLst>
              <a:ext uri="{FF2B5EF4-FFF2-40B4-BE49-F238E27FC236}">
                <a16:creationId xmlns:a16="http://schemas.microsoft.com/office/drawing/2014/main" id="{9E90A249-5AB1-4D66-A7C2-99365F5C905F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BA5CD8D-0578-48A1-BE57-6327C72DB4EB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0771" name="Text Box 2">
            <a:extLst>
              <a:ext uri="{FF2B5EF4-FFF2-40B4-BE49-F238E27FC236}">
                <a16:creationId xmlns:a16="http://schemas.microsoft.com/office/drawing/2014/main" id="{DC18AD2D-6DB1-44CE-8CB0-02CC70277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648" y="620688"/>
            <a:ext cx="6553200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问题表示方法</a:t>
            </a:r>
          </a:p>
        </p:txBody>
      </p:sp>
      <p:pic>
        <p:nvPicPr>
          <p:cNvPr id="16077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DDA6E86F-D9FB-4541-B3A4-3273FB23D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7B6E1B7D-DB13-4AE9-8B35-C108740776A3}"/>
                  </a:ext>
                </a:extLst>
              </p:cNvPr>
              <p:cNvSpPr/>
              <p:nvPr/>
            </p:nvSpPr>
            <p:spPr>
              <a:xfrm>
                <a:off x="334720" y="1845857"/>
                <a:ext cx="8784976" cy="1264129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ts val="3200"/>
                  </a:lnSpc>
                </a:pPr>
                <a:r>
                  <a:rPr lang="en-US" altLang="zh-CN" sz="2000" dirty="0">
                    <a:solidFill>
                      <a:schemeClr val="tx1"/>
                    </a:solidFill>
                    <a:ea typeface="宋体" panose="02010600030101010101" pitchFamily="2" charset="-122"/>
                    <a:cs typeface="黑体" panose="02010609060101010101" pitchFamily="49" charset="-122"/>
                  </a:rPr>
                  <a:t>    </a:t>
                </a:r>
                <a:r>
                  <a:rPr lang="zh-CN" altLang="zh-CN" sz="2000" b="1" dirty="0">
                    <a:solidFill>
                      <a:schemeClr val="tx1"/>
                    </a:solidFill>
                    <a:ea typeface="宋体" panose="02010600030101010101" pitchFamily="2" charset="-122"/>
                    <a:cs typeface="黑体" panose="02010609060101010101" pitchFamily="49" charset="-122"/>
                  </a:rPr>
                  <a:t>设有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黑体" panose="02010609060101010101" pitchFamily="49" charset="-122"/>
                      </a:rPr>
                      <m:t>𝒏</m:t>
                    </m:r>
                  </m:oMath>
                </a14:m>
                <a:r>
                  <a:rPr lang="zh-CN" altLang="zh-CN" sz="2000" b="1" dirty="0">
                    <a:solidFill>
                      <a:schemeClr val="tx1"/>
                    </a:solidFill>
                    <a:ea typeface="宋体" panose="02010600030101010101" pitchFamily="2" charset="-122"/>
                    <a:cs typeface="黑体" panose="02010609060101010101" pitchFamily="49" charset="-122"/>
                  </a:rPr>
                  <a:t>个男士集合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黑体" panose="02010609060101010101" pitchFamily="49" charset="-122"/>
                      </a:rPr>
                      <m:t>𝑿</m:t>
                    </m:r>
                    <m:r>
                      <a:rPr lang="en-US" altLang="zh-CN" sz="200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黑体" panose="02010609060101010101" pitchFamily="49" charset="-122"/>
                      </a:rPr>
                      <m:t>={</m:t>
                    </m:r>
                    <m:sSub>
                      <m:sSubPr>
                        <m:ctrlPr>
                          <a:rPr lang="zh-CN" altLang="zh-CN" sz="20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黑体" panose="02010609060101010101" pitchFamily="49" charset="-122"/>
                          </a:rPr>
                          <m:t>𝑿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200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黑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zh-CN" altLang="zh-CN" sz="20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黑体" panose="02010609060101010101" pitchFamily="49" charset="-122"/>
                          </a:rPr>
                          <m:t>𝑿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sz="200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黑体" panose="02010609060101010101" pitchFamily="49" charset="-122"/>
                      </a:rPr>
                      <m:t>,⋯</m:t>
                    </m:r>
                    <m:sSub>
                      <m:sSubPr>
                        <m:ctrlPr>
                          <a:rPr lang="zh-CN" altLang="zh-CN" sz="20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黑体" panose="02010609060101010101" pitchFamily="49" charset="-122"/>
                          </a:rPr>
                          <m:t>𝑿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黑体" panose="02010609060101010101" pitchFamily="49" charset="-122"/>
                          </a:rPr>
                          <m:t>𝒏</m:t>
                        </m:r>
                      </m:sub>
                    </m:sSub>
                    <m:r>
                      <a:rPr lang="en-US" altLang="zh-CN" sz="200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黑体" panose="02010609060101010101" pitchFamily="49" charset="-122"/>
                      </a:rPr>
                      <m:t>}</m:t>
                    </m:r>
                  </m:oMath>
                </a14:m>
                <a:r>
                  <a:rPr lang="zh-CN" altLang="zh-CN" sz="2000" b="1" dirty="0">
                    <a:solidFill>
                      <a:schemeClr val="tx1"/>
                    </a:solidFill>
                    <a:ea typeface="宋体" panose="02010600030101010101" pitchFamily="2" charset="-122"/>
                    <a:cs typeface="黑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黑体" panose="02010609060101010101" pitchFamily="49" charset="-122"/>
                      </a:rPr>
                      <m:t>𝒏</m:t>
                    </m:r>
                  </m:oMath>
                </a14:m>
                <a:r>
                  <a:rPr lang="zh-CN" altLang="zh-CN" sz="2000" b="1" dirty="0">
                    <a:solidFill>
                      <a:schemeClr val="tx1"/>
                    </a:solidFill>
                    <a:ea typeface="宋体" panose="02010600030101010101" pitchFamily="2" charset="-122"/>
                    <a:cs typeface="黑体" panose="02010609060101010101" pitchFamily="49" charset="-122"/>
                  </a:rPr>
                  <a:t>个女士</a:t>
                </a:r>
                <a:r>
                  <a:rPr lang="zh-CN" altLang="en-US" sz="2000" b="1" dirty="0">
                    <a:solidFill>
                      <a:schemeClr val="tx1"/>
                    </a:solidFill>
                    <a:ea typeface="宋体" panose="02010600030101010101" pitchFamily="2" charset="-122"/>
                    <a:cs typeface="黑体" panose="02010609060101010101" pitchFamily="49" charset="-122"/>
                  </a:rPr>
                  <a:t>集合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黑体" panose="02010609060101010101" pitchFamily="49" charset="-122"/>
                      </a:rPr>
                      <m:t>𝒀</m:t>
                    </m:r>
                    <m:r>
                      <a:rPr lang="en-US" altLang="zh-CN" sz="200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黑体" panose="02010609060101010101" pitchFamily="49" charset="-122"/>
                      </a:rPr>
                      <m:t>={</m:t>
                    </m:r>
                    <m:sSub>
                      <m:sSubPr>
                        <m:ctrlPr>
                          <a:rPr lang="zh-CN" altLang="zh-CN" sz="20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黑体" panose="02010609060101010101" pitchFamily="49" charset="-122"/>
                          </a:rPr>
                          <m:t>𝒀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200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黑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zh-CN" altLang="zh-CN" sz="20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黑体" panose="02010609060101010101" pitchFamily="49" charset="-122"/>
                          </a:rPr>
                          <m:t>𝒀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sz="200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黑体" panose="02010609060101010101" pitchFamily="49" charset="-122"/>
                      </a:rPr>
                      <m:t>,⋯,</m:t>
                    </m:r>
                    <m:sSub>
                      <m:sSubPr>
                        <m:ctrlPr>
                          <a:rPr lang="zh-CN" altLang="zh-CN" sz="20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黑体" panose="02010609060101010101" pitchFamily="49" charset="-122"/>
                          </a:rPr>
                          <m:t>𝒀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黑体" panose="02010609060101010101" pitchFamily="49" charset="-122"/>
                          </a:rPr>
                          <m:t>𝒏</m:t>
                        </m:r>
                      </m:sub>
                    </m:sSub>
                    <m:r>
                      <a:rPr lang="en-US" altLang="zh-CN" sz="200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黑体" panose="02010609060101010101" pitchFamily="49" charset="-122"/>
                      </a:rPr>
                      <m:t>}</m:t>
                    </m:r>
                  </m:oMath>
                </a14:m>
                <a:r>
                  <a:rPr lang="zh-CN" altLang="zh-CN" sz="2000" b="1" dirty="0">
                    <a:solidFill>
                      <a:schemeClr val="tx1"/>
                    </a:solidFill>
                    <a:ea typeface="宋体" panose="02010600030101010101" pitchFamily="2" charset="-122"/>
                    <a:cs typeface="黑体" panose="02010609060101010101" pitchFamily="49" charset="-122"/>
                  </a:rPr>
                  <a:t>。每个男士有一个排序列表，把女士按照其结婚对象优先级进行排序。同样，每个女士也有一个关于男士的优先级列表，如表</a:t>
                </a:r>
                <a:r>
                  <a:rPr lang="en-US" altLang="zh-CN" sz="2000" b="1" dirty="0">
                    <a:solidFill>
                      <a:schemeClr val="tx1"/>
                    </a:solidFill>
                    <a:ea typeface="宋体" panose="02010600030101010101" pitchFamily="2" charset="-122"/>
                    <a:cs typeface="黑体" panose="02010609060101010101" pitchFamily="49" charset="-122"/>
                  </a:rPr>
                  <a:t>a</a:t>
                </a:r>
                <a:r>
                  <a:rPr lang="zh-CN" altLang="zh-CN" sz="2000" b="1" dirty="0">
                    <a:solidFill>
                      <a:schemeClr val="tx1"/>
                    </a:solidFill>
                    <a:ea typeface="宋体" panose="02010600030101010101" pitchFamily="2" charset="-122"/>
                    <a:cs typeface="黑体" panose="02010609060101010101" pitchFamily="49" charset="-122"/>
                  </a:rPr>
                  <a:t>和表</a:t>
                </a:r>
                <a:r>
                  <a:rPr lang="en-US" altLang="zh-CN" sz="2000" b="1" dirty="0">
                    <a:solidFill>
                      <a:schemeClr val="tx1"/>
                    </a:solidFill>
                    <a:ea typeface="宋体" panose="02010600030101010101" pitchFamily="2" charset="-122"/>
                    <a:cs typeface="黑体" panose="02010609060101010101" pitchFamily="49" charset="-122"/>
                  </a:rPr>
                  <a:t>b</a:t>
                </a:r>
                <a:r>
                  <a:rPr lang="zh-CN" altLang="zh-CN" sz="2000" b="1" dirty="0">
                    <a:solidFill>
                      <a:schemeClr val="tx1"/>
                    </a:solidFill>
                    <a:ea typeface="宋体" panose="02010600030101010101" pitchFamily="2" charset="-122"/>
                    <a:cs typeface="黑体" panose="02010609060101010101" pitchFamily="49" charset="-122"/>
                  </a:rPr>
                  <a:t>所示。</a:t>
                </a:r>
                <a:endParaRPr lang="zh-CN" altLang="en-U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7B6E1B7D-DB13-4AE9-8B35-C108740776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20" y="1845857"/>
                <a:ext cx="8784976" cy="1264129"/>
              </a:xfrm>
              <a:prstGeom prst="rect">
                <a:avLst/>
              </a:prstGeom>
              <a:blipFill>
                <a:blip r:embed="rId4"/>
                <a:stretch>
                  <a:fillRect l="-763" r="-486" b="-77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064821A1-B9DC-4E47-9927-24C809CDF0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994" y="3493141"/>
            <a:ext cx="8703896" cy="2528147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日期占位符 3">
            <a:extLst>
              <a:ext uri="{FF2B5EF4-FFF2-40B4-BE49-F238E27FC236}">
                <a16:creationId xmlns:a16="http://schemas.microsoft.com/office/drawing/2014/main" id="{9E90A249-5AB1-4D66-A7C2-99365F5C905F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BA5CD8D-0578-48A1-BE57-6327C72DB4EB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6077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DDA6E86F-D9FB-4541-B3A4-3273FB23D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C9E35658-4F1C-43C1-9B5B-7CD1C9B43D71}"/>
                  </a:ext>
                </a:extLst>
              </p:cNvPr>
              <p:cNvSpPr/>
              <p:nvPr/>
            </p:nvSpPr>
            <p:spPr>
              <a:xfrm>
                <a:off x="323529" y="1830144"/>
                <a:ext cx="4104456" cy="4278800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b="1" dirty="0">
                    <a:solidFill>
                      <a:schemeClr val="tx1"/>
                    </a:solidFill>
                    <a:ea typeface="宋体" panose="02010600030101010101" pitchFamily="2" charset="-122"/>
                    <a:cs typeface="黑体" panose="02010609060101010101" pitchFamily="49" charset="-122"/>
                  </a:rPr>
                  <a:t>   </a:t>
                </a:r>
                <a:r>
                  <a:rPr lang="zh-CN" altLang="zh-CN" sz="2000" b="1" dirty="0">
                    <a:solidFill>
                      <a:schemeClr val="tx1"/>
                    </a:solidFill>
                    <a:ea typeface="宋体" panose="02010600030101010101" pitchFamily="2" charset="-122"/>
                    <a:cs typeface="黑体" panose="02010609060101010101" pitchFamily="49" charset="-122"/>
                  </a:rPr>
                  <a:t>可用表</a:t>
                </a:r>
                <a:r>
                  <a:rPr lang="en-US" altLang="zh-CN" sz="2000" b="1" dirty="0">
                    <a:solidFill>
                      <a:schemeClr val="tx1"/>
                    </a:solidFill>
                    <a:ea typeface="宋体" panose="02010600030101010101" pitchFamily="2" charset="-122"/>
                    <a:cs typeface="黑体" panose="02010609060101010101" pitchFamily="49" charset="-122"/>
                  </a:rPr>
                  <a:t>c</a:t>
                </a:r>
                <a:r>
                  <a:rPr lang="zh-CN" altLang="zh-CN" sz="2000" b="1" dirty="0">
                    <a:solidFill>
                      <a:schemeClr val="tx1"/>
                    </a:solidFill>
                    <a:ea typeface="宋体" panose="02010600030101010101" pitchFamily="2" charset="-122"/>
                    <a:cs typeface="黑体" panose="02010609060101010101" pitchFamily="49" charset="-122"/>
                  </a:rPr>
                  <a:t>所示的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黑体" panose="02010609060101010101" pitchFamily="49" charset="-122"/>
                      </a:rPr>
                      <m:t>𝒏</m:t>
                    </m:r>
                  </m:oMath>
                </a14:m>
                <a:r>
                  <a:rPr lang="zh-CN" altLang="zh-CN" sz="2000" b="1" dirty="0">
                    <a:solidFill>
                      <a:schemeClr val="tx1"/>
                    </a:solidFill>
                    <a:ea typeface="宋体" panose="02010600030101010101" pitchFamily="2" charset="-122"/>
                    <a:cs typeface="黑体" panose="02010609060101010101" pitchFamily="49" charset="-122"/>
                  </a:rPr>
                  <a:t>维矩阵表示表</a:t>
                </a:r>
                <a:r>
                  <a:rPr lang="en-US" altLang="zh-CN" sz="2000" b="1" dirty="0">
                    <a:solidFill>
                      <a:schemeClr val="tx1"/>
                    </a:solidFill>
                    <a:ea typeface="宋体" panose="02010600030101010101" pitchFamily="2" charset="-122"/>
                    <a:cs typeface="黑体" panose="02010609060101010101" pitchFamily="49" charset="-122"/>
                  </a:rPr>
                  <a:t>a</a:t>
                </a:r>
                <a:r>
                  <a:rPr lang="zh-CN" altLang="zh-CN" sz="2000" b="1" dirty="0">
                    <a:solidFill>
                      <a:schemeClr val="tx1"/>
                    </a:solidFill>
                    <a:ea typeface="宋体" panose="02010600030101010101" pitchFamily="2" charset="-122"/>
                    <a:cs typeface="黑体" panose="02010609060101010101" pitchFamily="49" charset="-122"/>
                  </a:rPr>
                  <a:t>和表</a:t>
                </a:r>
                <a:r>
                  <a:rPr lang="en-US" altLang="zh-CN" sz="2000" b="1" dirty="0">
                    <a:solidFill>
                      <a:schemeClr val="tx1"/>
                    </a:solidFill>
                    <a:ea typeface="宋体" panose="02010600030101010101" pitchFamily="2" charset="-122"/>
                    <a:cs typeface="黑体" panose="02010609060101010101" pitchFamily="49" charset="-122"/>
                  </a:rPr>
                  <a:t>b</a:t>
                </a:r>
                <a:r>
                  <a:rPr lang="zh-CN" altLang="zh-CN" sz="2000" b="1" dirty="0">
                    <a:solidFill>
                      <a:schemeClr val="tx1"/>
                    </a:solidFill>
                    <a:ea typeface="宋体" panose="02010600030101010101" pitchFamily="2" charset="-122"/>
                    <a:cs typeface="黑体" panose="02010609060101010101" pitchFamily="49" charset="-122"/>
                  </a:rPr>
                  <a:t>的信息，其中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黑体" panose="02010609060101010101" pitchFamily="49" charset="-122"/>
                      </a:rPr>
                      <m:t>𝒑</m:t>
                    </m:r>
                  </m:oMath>
                </a14:m>
                <a:r>
                  <a:rPr lang="zh-CN" altLang="zh-CN" sz="2000" b="1" dirty="0">
                    <a:solidFill>
                      <a:srgbClr val="0000FF"/>
                    </a:solidFill>
                    <a:ea typeface="宋体" panose="02010600030101010101" pitchFamily="2" charset="-122"/>
                    <a:cs typeface="黑体" panose="02010609060101010101" pitchFamily="49" charset="-122"/>
                  </a:rPr>
                  <a:t>行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黑体" panose="02010609060101010101" pitchFamily="49" charset="-122"/>
                      </a:rPr>
                      <m:t>𝒒</m:t>
                    </m:r>
                  </m:oMath>
                </a14:m>
                <a:r>
                  <a:rPr lang="zh-CN" altLang="zh-CN" sz="2000" b="1" dirty="0">
                    <a:solidFill>
                      <a:srgbClr val="0000FF"/>
                    </a:solidFill>
                    <a:ea typeface="宋体" panose="02010600030101010101" pitchFamily="2" charset="-122"/>
                    <a:cs typeface="黑体" panose="02010609060101010101" pitchFamily="49" charset="-122"/>
                  </a:rPr>
                  <a:t>列元素</a:t>
                </a:r>
                <a:r>
                  <a:rPr lang="zh-CN" altLang="en-US" sz="2000" b="1" dirty="0">
                    <a:solidFill>
                      <a:srgbClr val="0000FF"/>
                    </a:solidFill>
                    <a:ea typeface="宋体" panose="02010600030101010101" pitchFamily="2" charset="-122"/>
                    <a:cs typeface="黑体" panose="02010609060101010101" pitchFamily="49" charset="-122"/>
                  </a:rPr>
                  <a:t>有</a:t>
                </a:r>
                <a:r>
                  <a:rPr lang="zh-CN" altLang="zh-CN" sz="2000" b="1" dirty="0">
                    <a:solidFill>
                      <a:srgbClr val="0000FF"/>
                    </a:solidFill>
                    <a:ea typeface="宋体" panose="02010600030101010101" pitchFamily="2" charset="-122"/>
                    <a:cs typeface="黑体" panose="02010609060101010101" pitchFamily="49" charset="-122"/>
                  </a:rPr>
                  <a:t>两个序号</a:t>
                </a:r>
                <a:r>
                  <a:rPr lang="zh-CN" altLang="en-US" sz="2000" b="1" dirty="0">
                    <a:solidFill>
                      <a:schemeClr val="tx1"/>
                    </a:solidFill>
                    <a:ea typeface="宋体" panose="02010600030101010101" pitchFamily="2" charset="-122"/>
                    <a:cs typeface="黑体" panose="02010609060101010101" pitchFamily="49" charset="-122"/>
                  </a:rPr>
                  <a:t>：</a:t>
                </a:r>
                <a:r>
                  <a:rPr lang="zh-CN" altLang="zh-CN" sz="2000" b="1" dirty="0">
                    <a:solidFill>
                      <a:schemeClr val="tx1"/>
                    </a:solidFill>
                    <a:ea typeface="宋体" panose="02010600030101010101" pitchFamily="2" charset="-122"/>
                    <a:cs typeface="黑体" panose="02010609060101010101" pitchFamily="49" charset="-122"/>
                  </a:rPr>
                  <a:t>第一个为对应女士在该对应男士的优先列表中的序号</a:t>
                </a:r>
                <a:r>
                  <a:rPr lang="zh-CN" altLang="en-US" sz="2000" b="1" dirty="0">
                    <a:solidFill>
                      <a:schemeClr val="tx1"/>
                    </a:solidFill>
                    <a:ea typeface="宋体" panose="02010600030101010101" pitchFamily="2" charset="-122"/>
                    <a:cs typeface="黑体" panose="02010609060101010101" pitchFamily="49" charset="-122"/>
                  </a:rPr>
                  <a:t>；</a:t>
                </a:r>
                <a:r>
                  <a:rPr lang="zh-CN" altLang="zh-CN" sz="2000" b="1" dirty="0">
                    <a:solidFill>
                      <a:schemeClr val="tx1"/>
                    </a:solidFill>
                    <a:ea typeface="宋体" panose="02010600030101010101" pitchFamily="2" charset="-122"/>
                    <a:cs typeface="黑体" panose="02010609060101010101" pitchFamily="49" charset="-122"/>
                  </a:rPr>
                  <a:t>第二个为对应</a:t>
                </a:r>
                <a:r>
                  <a:rPr lang="zh-CN" altLang="en-US" sz="2000" b="1" dirty="0">
                    <a:solidFill>
                      <a:schemeClr val="tx1"/>
                    </a:solidFill>
                    <a:ea typeface="宋体" panose="02010600030101010101" pitchFamily="2" charset="-122"/>
                    <a:cs typeface="黑体" panose="02010609060101010101" pitchFamily="49" charset="-122"/>
                  </a:rPr>
                  <a:t>男</a:t>
                </a:r>
                <a:r>
                  <a:rPr lang="zh-CN" altLang="zh-CN" sz="2000" b="1" dirty="0">
                    <a:solidFill>
                      <a:schemeClr val="tx1"/>
                    </a:solidFill>
                    <a:ea typeface="宋体" panose="02010600030101010101" pitchFamily="2" charset="-122"/>
                    <a:cs typeface="黑体" panose="02010609060101010101" pitchFamily="49" charset="-122"/>
                  </a:rPr>
                  <a:t>士在该对应</a:t>
                </a:r>
                <a:r>
                  <a:rPr lang="zh-CN" altLang="en-US" sz="2000" b="1" dirty="0">
                    <a:solidFill>
                      <a:schemeClr val="tx1"/>
                    </a:solidFill>
                    <a:ea typeface="宋体" panose="02010600030101010101" pitchFamily="2" charset="-122"/>
                    <a:cs typeface="黑体" panose="02010609060101010101" pitchFamily="49" charset="-122"/>
                  </a:rPr>
                  <a:t>女</a:t>
                </a:r>
                <a:r>
                  <a:rPr lang="zh-CN" altLang="zh-CN" sz="2000" b="1" dirty="0">
                    <a:solidFill>
                      <a:schemeClr val="tx1"/>
                    </a:solidFill>
                    <a:ea typeface="宋体" panose="02010600030101010101" pitchFamily="2" charset="-122"/>
                    <a:cs typeface="黑体" panose="02010609060101010101" pitchFamily="49" charset="-122"/>
                  </a:rPr>
                  <a:t>士的优先列表中的序号。</a:t>
                </a:r>
                <a:endParaRPr lang="en-US" altLang="zh-CN" sz="2000" b="1" dirty="0">
                  <a:solidFill>
                    <a:schemeClr val="tx1"/>
                  </a:solidFill>
                  <a:ea typeface="宋体" panose="02010600030101010101" pitchFamily="2" charset="-122"/>
                  <a:cs typeface="黑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b="1" dirty="0">
                    <a:solidFill>
                      <a:schemeClr val="tx1"/>
                    </a:solidFill>
                    <a:ea typeface="宋体" panose="02010600030101010101" pitchFamily="2" charset="-122"/>
                    <a:cs typeface="黑体" panose="02010609060101010101" pitchFamily="49" charset="-122"/>
                  </a:rPr>
                  <a:t>    </a:t>
                </a:r>
                <a:r>
                  <a:rPr lang="zh-CN" altLang="zh-CN" sz="2000" b="1" dirty="0">
                    <a:solidFill>
                      <a:schemeClr val="tx1"/>
                    </a:solidFill>
                    <a:ea typeface="宋体" panose="02010600030101010101" pitchFamily="2" charset="-122"/>
                    <a:cs typeface="黑体" panose="02010609060101010101" pitchFamily="49" charset="-122"/>
                  </a:rPr>
                  <a:t>例如，</a:t>
                </a:r>
                <a:r>
                  <a:rPr lang="zh-CN" altLang="zh-CN" sz="2000" b="1" dirty="0">
                    <a:solidFill>
                      <a:srgbClr val="0000FF"/>
                    </a:solidFill>
                    <a:ea typeface="宋体" panose="02010600030101010101" pitchFamily="2" charset="-122"/>
                    <a:cs typeface="黑体" panose="02010609060101010101" pitchFamily="49" charset="-122"/>
                  </a:rPr>
                  <a:t>第</a:t>
                </a:r>
                <a:r>
                  <a:rPr lang="en-US" altLang="zh-CN" sz="2000" b="1" dirty="0">
                    <a:solidFill>
                      <a:srgbClr val="0000FF"/>
                    </a:solidFill>
                    <a:ea typeface="宋体" panose="02010600030101010101" pitchFamily="2" charset="-122"/>
                    <a:cs typeface="黑体" panose="02010609060101010101" pitchFamily="49" charset="-122"/>
                  </a:rPr>
                  <a:t>3</a:t>
                </a:r>
                <a:r>
                  <a:rPr lang="zh-CN" altLang="zh-CN" sz="2000" b="1" dirty="0">
                    <a:solidFill>
                      <a:srgbClr val="0000FF"/>
                    </a:solidFill>
                    <a:ea typeface="宋体" panose="02010600030101010101" pitchFamily="2" charset="-122"/>
                    <a:cs typeface="黑体" panose="02010609060101010101" pitchFamily="49" charset="-122"/>
                  </a:rPr>
                  <a:t>行第</a:t>
                </a:r>
                <a:r>
                  <a:rPr lang="en-US" altLang="zh-CN" sz="2000" b="1" dirty="0">
                    <a:solidFill>
                      <a:srgbClr val="0000FF"/>
                    </a:solidFill>
                    <a:ea typeface="宋体" panose="02010600030101010101" pitchFamily="2" charset="-122"/>
                    <a:cs typeface="黑体" panose="02010609060101010101" pitchFamily="49" charset="-122"/>
                  </a:rPr>
                  <a:t>2</a:t>
                </a:r>
                <a:r>
                  <a:rPr lang="zh-CN" altLang="zh-CN" sz="2000" b="1" dirty="0">
                    <a:solidFill>
                      <a:srgbClr val="0000FF"/>
                    </a:solidFill>
                    <a:ea typeface="宋体" panose="02010600030101010101" pitchFamily="2" charset="-122"/>
                    <a:cs typeface="黑体" panose="02010609060101010101" pitchFamily="49" charset="-122"/>
                  </a:rPr>
                  <a:t>列的元素</a:t>
                </a:r>
                <a:r>
                  <a:rPr lang="en-US" altLang="zh-CN" sz="2000" b="1" dirty="0">
                    <a:solidFill>
                      <a:srgbClr val="0000FF"/>
                    </a:solidFill>
                    <a:ea typeface="宋体" panose="02010600030101010101" pitchFamily="2" charset="-122"/>
                    <a:cs typeface="黑体" panose="02010609060101010101" pitchFamily="49" charset="-122"/>
                  </a:rPr>
                  <a:t>2,1</a:t>
                </a:r>
                <a:r>
                  <a:rPr lang="zh-CN" altLang="zh-CN" sz="2000" b="1" dirty="0">
                    <a:solidFill>
                      <a:srgbClr val="0000FF"/>
                    </a:solidFill>
                    <a:ea typeface="宋体" panose="02010600030101010101" pitchFamily="2" charset="-122"/>
                    <a:cs typeface="黑体" panose="02010609060101010101" pitchFamily="49" charset="-122"/>
                  </a:rPr>
                  <a:t>表示，女士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黑体" panose="02010609060101010101" pitchFamily="49" charset="-122"/>
                      </a:rPr>
                      <m:t>𝒃</m:t>
                    </m:r>
                  </m:oMath>
                </a14:m>
                <a:r>
                  <a:rPr lang="zh-CN" altLang="zh-CN" sz="2000" b="1" dirty="0">
                    <a:solidFill>
                      <a:srgbClr val="0000FF"/>
                    </a:solidFill>
                    <a:ea typeface="宋体" panose="02010600030101010101" pitchFamily="2" charset="-122"/>
                    <a:cs typeface="黑体" panose="02010609060101010101" pitchFamily="49" charset="-122"/>
                  </a:rPr>
                  <a:t>是男士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黑体" panose="02010609060101010101" pitchFamily="49" charset="-122"/>
                      </a:rPr>
                      <m:t>𝑪</m:t>
                    </m:r>
                  </m:oMath>
                </a14:m>
                <a:r>
                  <a:rPr lang="zh-CN" altLang="zh-CN" sz="2000" b="1" dirty="0">
                    <a:solidFill>
                      <a:srgbClr val="0000FF"/>
                    </a:solidFill>
                    <a:ea typeface="宋体" panose="02010600030101010101" pitchFamily="2" charset="-122"/>
                    <a:cs typeface="黑体" panose="02010609060101010101" pitchFamily="49" charset="-122"/>
                  </a:rPr>
                  <a:t>的第二选择，而男士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黑体" panose="02010609060101010101" pitchFamily="49" charset="-122"/>
                      </a:rPr>
                      <m:t>𝑪</m:t>
                    </m:r>
                  </m:oMath>
                </a14:m>
                <a:r>
                  <a:rPr lang="zh-CN" altLang="zh-CN" sz="2000" b="1" dirty="0">
                    <a:solidFill>
                      <a:srgbClr val="0000FF"/>
                    </a:solidFill>
                    <a:ea typeface="宋体" panose="02010600030101010101" pitchFamily="2" charset="-122"/>
                    <a:cs typeface="黑体" panose="02010609060101010101" pitchFamily="49" charset="-122"/>
                  </a:rPr>
                  <a:t>是女士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黑体" panose="02010609060101010101" pitchFamily="49" charset="-122"/>
                      </a:rPr>
                      <m:t>𝒃</m:t>
                    </m:r>
                  </m:oMath>
                </a14:m>
                <a:r>
                  <a:rPr lang="zh-CN" altLang="zh-CN" sz="2000" b="1" dirty="0">
                    <a:solidFill>
                      <a:srgbClr val="0000FF"/>
                    </a:solidFill>
                    <a:ea typeface="宋体" panose="02010600030101010101" pitchFamily="2" charset="-122"/>
                    <a:cs typeface="黑体" panose="02010609060101010101" pitchFamily="49" charset="-122"/>
                  </a:rPr>
                  <a:t>的第一选择</a:t>
                </a:r>
                <a:r>
                  <a:rPr lang="zh-CN" altLang="zh-CN" sz="2000" b="1" dirty="0">
                    <a:solidFill>
                      <a:schemeClr val="tx1"/>
                    </a:solidFill>
                    <a:ea typeface="宋体" panose="02010600030101010101" pitchFamily="2" charset="-122"/>
                    <a:cs typeface="黑体" panose="02010609060101010101" pitchFamily="49" charset="-122"/>
                  </a:rPr>
                  <a:t>。</a:t>
                </a:r>
                <a:endParaRPr lang="zh-CN" altLang="en-U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C9E35658-4F1C-43C1-9B5B-7CD1C9B43D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9" y="1830144"/>
                <a:ext cx="4104456" cy="4278800"/>
              </a:xfrm>
              <a:prstGeom prst="rect">
                <a:avLst/>
              </a:prstGeom>
              <a:blipFill>
                <a:blip r:embed="rId4"/>
                <a:stretch>
                  <a:fillRect l="-1486" r="-1337" b="-12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6C965FB0-2452-47FE-894E-31183C7558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1414" y="2067833"/>
            <a:ext cx="4373073" cy="3695827"/>
          </a:xfrm>
          <a:prstGeom prst="rect">
            <a:avLst/>
          </a:prstGeom>
        </p:spPr>
      </p:pic>
      <p:sp>
        <p:nvSpPr>
          <p:cNvPr id="10" name="Text Box 2">
            <a:extLst>
              <a:ext uri="{FF2B5EF4-FFF2-40B4-BE49-F238E27FC236}">
                <a16:creationId xmlns:a16="http://schemas.microsoft.com/office/drawing/2014/main" id="{D833DB26-FF06-4836-9A96-11D4B261EC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733425"/>
            <a:ext cx="6553200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问题表示方法</a:t>
            </a:r>
          </a:p>
        </p:txBody>
      </p:sp>
    </p:spTree>
    <p:extLst>
      <p:ext uri="{BB962C8B-B14F-4D97-AF65-F5344CB8AC3E}">
        <p14:creationId xmlns:p14="http://schemas.microsoft.com/office/powerpoint/2010/main" val="993010833"/>
      </p:ext>
    </p:extLst>
  </p:cSld>
  <p:clrMapOvr>
    <a:masterClrMapping/>
  </p:clrMapOvr>
  <p:transition spd="med">
    <p:wipe dir="r"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日期占位符 3">
            <a:extLst>
              <a:ext uri="{FF2B5EF4-FFF2-40B4-BE49-F238E27FC236}">
                <a16:creationId xmlns:a16="http://schemas.microsoft.com/office/drawing/2014/main" id="{9E90A249-5AB1-4D66-A7C2-99365F5C905F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BA5CD8D-0578-48A1-BE57-6327C72DB4EB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6077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DDA6E86F-D9FB-4541-B3A4-3273FB23D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2">
            <a:extLst>
              <a:ext uri="{FF2B5EF4-FFF2-40B4-BE49-F238E27FC236}">
                <a16:creationId xmlns:a16="http://schemas.microsoft.com/office/drawing/2014/main" id="{D833DB26-FF06-4836-9A96-11D4B261EC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733425"/>
            <a:ext cx="6553200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稳定婚配算法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85B5E8D0-3F4F-4CC7-928E-2274954C08F3}"/>
                  </a:ext>
                </a:extLst>
              </p:cNvPr>
              <p:cNvSpPr/>
              <p:nvPr/>
            </p:nvSpPr>
            <p:spPr>
              <a:xfrm>
                <a:off x="341499" y="1916832"/>
                <a:ext cx="8461002" cy="4280916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ts val="3200"/>
                  </a:lnSpc>
                  <a:spcAft>
                    <a:spcPts val="0"/>
                  </a:spcAft>
                </a:pPr>
                <a:r>
                  <a:rPr lang="en-US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第一步：初始时，集合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黑体" panose="02010609060101010101" pitchFamily="49" charset="-122"/>
                      </a:rPr>
                      <m:t>𝑿</m:t>
                    </m:r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所有男士和集合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黑体" panose="02010609060101010101" pitchFamily="49" charset="-122"/>
                      </a:rPr>
                      <m:t>𝒀</m:t>
                    </m:r>
                    <m:r>
                      <a:rPr lang="zh-CN" altLang="zh-CN" sz="20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黑体" panose="02010609060101010101" pitchFamily="49" charset="-122"/>
                      </a:rPr>
                      <m:t>中</m:t>
                    </m:r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女士都是自由的。</a:t>
                </a:r>
              </a:p>
              <a:p>
                <a:pPr indent="266700" algn="just">
                  <a:lnSpc>
                    <a:spcPts val="3200"/>
                  </a:lnSpc>
                  <a:spcAft>
                    <a:spcPts val="0"/>
                  </a:spcAft>
                </a:pPr>
                <a:r>
                  <a:rPr lang="en-US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第二步：如果集合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黑体" panose="02010609060101010101" pitchFamily="49" charset="-122"/>
                      </a:rPr>
                      <m:t>𝑿</m:t>
                    </m:r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有自由男士，从中任选一个男士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，然后执行以下步骤：</a:t>
                </a:r>
              </a:p>
              <a:p>
                <a:pPr indent="267970" algn="just">
                  <a:lnSpc>
                    <a:spcPts val="3200"/>
                  </a:lnSpc>
                  <a:spcAft>
                    <a:spcPts val="0"/>
                  </a:spcAft>
                </a:pPr>
                <a:r>
                  <a:rPr lang="en-US" altLang="zh-CN" sz="20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zh-CN" sz="20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求婚</a:t>
                </a:r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：选中的自由男士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向女士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𝒀</m:t>
                        </m:r>
                      </m:e>
                      <m:sub>
                        <m:r>
                          <a:rPr lang="en-US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求婚，其中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𝒀</m:t>
                        </m:r>
                      </m:e>
                      <m:sub>
                        <m:r>
                          <a:rPr lang="en-US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的优先列表中当前最佳人选，即当前没有拒绝过他且优先级最高女士。</a:t>
                </a:r>
              </a:p>
              <a:p>
                <a:pPr indent="267970" algn="just">
                  <a:lnSpc>
                    <a:spcPts val="3200"/>
                  </a:lnSpc>
                  <a:spcAft>
                    <a:spcPts val="0"/>
                  </a:spcAft>
                </a:pPr>
                <a:r>
                  <a:rPr lang="en-US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</a:t>
                </a:r>
                <a:r>
                  <a:rPr lang="zh-CN" altLang="zh-CN" sz="20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回应</a:t>
                </a:r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𝒀</m:t>
                        </m:r>
                      </m:e>
                      <m:sub>
                        <m:r>
                          <a:rPr lang="en-US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是自由的，则她接受求婚并与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配对。如果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𝒀</m:t>
                        </m:r>
                      </m:e>
                      <m:sub>
                        <m:r>
                          <a:rPr lang="en-US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不是自由的，她将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与其当前的配偶做比较。如果她更喜欢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，则接受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的求婚，她的前配偶就变成自由人。否则，她就拒绝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的求婚，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仍为</a:t>
                </a:r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自由。 </a:t>
                </a:r>
              </a:p>
              <a:p>
                <a:pPr indent="266700" algn="just">
                  <a:lnSpc>
                    <a:spcPts val="3200"/>
                  </a:lnSpc>
                  <a:spcAft>
                    <a:spcPts val="0"/>
                  </a:spcAft>
                </a:pPr>
                <a:r>
                  <a:rPr lang="en-US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第三步：返回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𝒏</m:t>
                    </m:r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个匹配对</a:t>
                </a:r>
                <a:r>
                  <a:rPr lang="zh-CN" altLang="en-US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为元素</a:t>
                </a:r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的集合。</a:t>
                </a:r>
              </a:p>
              <a:p>
                <a:pPr indent="2667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zh-CN" altLang="en-US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0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显然，</a:t>
                </a:r>
                <a:r>
                  <a:rPr lang="zh-CN" altLang="zh-CN" sz="20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该算法不超过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0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𝒏</m:t>
                        </m:r>
                      </m:e>
                      <m:sup>
                        <m:r>
                          <a:rPr lang="en-US" altLang="zh-CN" sz="20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zh-CN" sz="20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迭代就会终止。</a:t>
                </a:r>
                <a:endParaRPr lang="zh-CN" altLang="zh-CN" sz="20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85B5E8D0-3F4F-4CC7-928E-2274954C08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499" y="1916832"/>
                <a:ext cx="8461002" cy="4280916"/>
              </a:xfrm>
              <a:prstGeom prst="rect">
                <a:avLst/>
              </a:prstGeom>
              <a:blipFill>
                <a:blip r:embed="rId4"/>
                <a:stretch>
                  <a:fillRect l="-720" r="-793" b="-9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1371228"/>
      </p:ext>
    </p:extLst>
  </p:cSld>
  <p:clrMapOvr>
    <a:masterClrMapping/>
  </p:clrMapOvr>
  <p:transition spd="med">
    <p:wipe dir="r"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日期占位符 3">
            <a:extLst>
              <a:ext uri="{FF2B5EF4-FFF2-40B4-BE49-F238E27FC236}">
                <a16:creationId xmlns:a16="http://schemas.microsoft.com/office/drawing/2014/main" id="{9E90A249-5AB1-4D66-A7C2-99365F5C905F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BA5CD8D-0578-48A1-BE57-6327C72DB4EB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6077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DDA6E86F-D9FB-4541-B3A4-3273FB23D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3808A123-B8AF-4897-81DF-DBE0287DF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733425"/>
            <a:ext cx="6553200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具体计算过程</a:t>
            </a:r>
          </a:p>
        </p:txBody>
      </p:sp>
      <p:pic>
        <p:nvPicPr>
          <p:cNvPr id="7" name="图片 2">
            <a:extLst>
              <a:ext uri="{FF2B5EF4-FFF2-40B4-BE49-F238E27FC236}">
                <a16:creationId xmlns:a16="http://schemas.microsoft.com/office/drawing/2014/main" id="{C3E9CC46-34D3-4523-A556-7BDBC3A01D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6713" y="3212976"/>
            <a:ext cx="5857526" cy="3096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807D48C4-0FBB-44D8-BA67-44B7259B6D19}"/>
                  </a:ext>
                </a:extLst>
              </p:cNvPr>
              <p:cNvSpPr/>
              <p:nvPr/>
            </p:nvSpPr>
            <p:spPr>
              <a:xfrm>
                <a:off x="323528" y="1773144"/>
                <a:ext cx="8424936" cy="1430328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lvl="0"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zh-CN" altLang="en-US" b="1" kern="1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</a:t>
                </a:r>
                <a:r>
                  <a:rPr lang="zh-CN" altLang="en-US" b="1" kern="100" dirty="0">
                    <a:solidFill>
                      <a:schemeClr val="tx1"/>
                    </a:solidFill>
                  </a:rPr>
                  <a:t>（</a:t>
                </a:r>
                <a:r>
                  <a:rPr lang="en-US" altLang="zh-CN" b="1" kern="100" dirty="0">
                    <a:solidFill>
                      <a:schemeClr val="tx1"/>
                    </a:solidFill>
                  </a:rPr>
                  <a:t>1</a:t>
                </a:r>
                <a:r>
                  <a:rPr lang="zh-CN" altLang="en-US" b="1" kern="100" dirty="0">
                    <a:solidFill>
                      <a:schemeClr val="tx1"/>
                    </a:solidFill>
                  </a:rPr>
                  <a:t>）</a:t>
                </a:r>
                <a:r>
                  <a:rPr lang="zh-CN" altLang="zh-CN" b="1" kern="100" dirty="0">
                    <a:solidFill>
                      <a:schemeClr val="tx1"/>
                    </a:solidFill>
                  </a:rPr>
                  <a:t>现有自由男士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𝑨</m:t>
                    </m:r>
                    <m:r>
                      <a:rPr lang="zh-CN" altLang="zh-CN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，</m:t>
                    </m:r>
                    <m:r>
                      <a:rPr lang="en-US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𝑩</m:t>
                    </m:r>
                    <m:r>
                      <a:rPr lang="zh-CN" altLang="zh-CN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，</m:t>
                    </m:r>
                    <m:r>
                      <a:rPr lang="en-US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𝑪</m:t>
                    </m:r>
                  </m:oMath>
                </a14:m>
                <a:r>
                  <a:rPr lang="zh-CN" altLang="zh-CN" b="1" kern="100" dirty="0">
                    <a:solidFill>
                      <a:schemeClr val="tx1"/>
                    </a:solidFill>
                  </a:rPr>
                  <a:t>。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𝑨</m:t>
                    </m:r>
                  </m:oMath>
                </a14:m>
                <a:r>
                  <a:rPr lang="zh-CN" altLang="zh-CN" b="1" kern="100" dirty="0">
                    <a:solidFill>
                      <a:schemeClr val="tx1"/>
                    </a:solidFill>
                  </a:rPr>
                  <a:t>向当前最佳人选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𝒃</m:t>
                    </m:r>
                    <m:r>
                      <a:rPr lang="zh-CN" altLang="zh-CN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女士</m:t>
                    </m:r>
                  </m:oMath>
                </a14:m>
                <a:r>
                  <a:rPr lang="zh-CN" altLang="zh-CN" b="1" kern="100" dirty="0">
                    <a:solidFill>
                      <a:schemeClr val="tx1"/>
                    </a:solidFill>
                  </a:rPr>
                  <a:t>求婚，由于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𝒃</m:t>
                    </m:r>
                  </m:oMath>
                </a14:m>
                <a:r>
                  <a:rPr lang="zh-CN" altLang="zh-CN" b="1" kern="100" dirty="0">
                    <a:solidFill>
                      <a:schemeClr val="tx1"/>
                    </a:solidFill>
                  </a:rPr>
                  <a:t>是自由的，故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𝒃</m:t>
                    </m:r>
                  </m:oMath>
                </a14:m>
                <a:r>
                  <a:rPr lang="zh-CN" altLang="zh-CN" b="1" kern="100" dirty="0">
                    <a:solidFill>
                      <a:schemeClr val="tx1"/>
                    </a:solidFill>
                  </a:rPr>
                  <a:t>接受。如</a:t>
                </a:r>
                <a:r>
                  <a:rPr lang="zh-CN" altLang="en-US" b="1" kern="100" dirty="0">
                    <a:solidFill>
                      <a:schemeClr val="tx1"/>
                    </a:solidFill>
                  </a:rPr>
                  <a:t>下</a:t>
                </a:r>
                <a:r>
                  <a:rPr lang="zh-CN" altLang="zh-CN" b="1" kern="100" dirty="0">
                    <a:solidFill>
                      <a:schemeClr val="tx1"/>
                    </a:solidFill>
                  </a:rPr>
                  <a:t>表所示，其中括号表示被接受的求婚，下划线表示被拒绝的求婚，下同。</a:t>
                </a:r>
                <a:endParaRPr lang="zh-CN" altLang="zh-CN" b="1" kern="100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807D48C4-0FBB-44D8-BA67-44B7259B6D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1773144"/>
                <a:ext cx="8424936" cy="1430328"/>
              </a:xfrm>
              <a:prstGeom prst="rect">
                <a:avLst/>
              </a:prstGeom>
              <a:blipFill>
                <a:blip r:embed="rId5"/>
                <a:stretch>
                  <a:fillRect l="-1085" t="-1702" r="-1158" b="-72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5112032"/>
      </p:ext>
    </p:extLst>
  </p:cSld>
  <p:clrMapOvr>
    <a:masterClrMapping/>
  </p:clrMapOvr>
  <p:transition spd="med">
    <p:wipe dir="r"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日期占位符 3">
            <a:extLst>
              <a:ext uri="{FF2B5EF4-FFF2-40B4-BE49-F238E27FC236}">
                <a16:creationId xmlns:a16="http://schemas.microsoft.com/office/drawing/2014/main" id="{9E90A249-5AB1-4D66-A7C2-99365F5C905F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BA5CD8D-0578-48A1-BE57-6327C72DB4EB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6077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DDA6E86F-D9FB-4541-B3A4-3273FB23D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3808A123-B8AF-4897-81DF-DBE0287DF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733425"/>
            <a:ext cx="6553200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具体计算过程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807D48C4-0FBB-44D8-BA67-44B7259B6D19}"/>
                  </a:ext>
                </a:extLst>
              </p:cNvPr>
              <p:cNvSpPr/>
              <p:nvPr/>
            </p:nvSpPr>
            <p:spPr>
              <a:xfrm>
                <a:off x="323528" y="1759781"/>
                <a:ext cx="8424936" cy="1430328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zh-CN" altLang="en-US" b="1" kern="1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</a:t>
                </a:r>
                <a:r>
                  <a:rPr lang="zh-CN" altLang="en-US" b="1" kern="1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（</a:t>
                </a:r>
                <a:r>
                  <a:rPr lang="en-US" altLang="zh-CN" b="1" kern="1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r>
                  <a:rPr lang="zh-CN" altLang="en-US" b="1" kern="1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）</a:t>
                </a:r>
                <a:r>
                  <a:rPr lang="zh-CN" altLang="zh-CN" b="1" dirty="0">
                    <a:solidFill>
                      <a:schemeClr val="tx1"/>
                    </a:solidFill>
                  </a:rPr>
                  <a:t>现有自由男士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zh-CN" altLang="zh-CN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。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当前最佳人选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zh-CN" altLang="zh-CN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女士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求婚，由于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不是自由的，她把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与当前配偶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做比较，由于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的优先级较高，故拒绝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的求婚</a:t>
                </a:r>
                <a:r>
                  <a:rPr lang="zh-CN" altLang="en-US" b="1" dirty="0">
                    <a:solidFill>
                      <a:schemeClr val="tx1"/>
                    </a:solidFill>
                  </a:rPr>
                  <a:t>。</a:t>
                </a:r>
                <a:r>
                  <a:rPr lang="zh-CN" altLang="zh-CN" b="1" dirty="0">
                    <a:solidFill>
                      <a:schemeClr val="tx1"/>
                    </a:solidFill>
                  </a:rPr>
                  <a:t>如</a:t>
                </a:r>
                <a:r>
                  <a:rPr lang="zh-CN" altLang="en-US" b="1" dirty="0">
                    <a:solidFill>
                      <a:schemeClr val="tx1"/>
                    </a:solidFill>
                  </a:rPr>
                  <a:t>下</a:t>
                </a:r>
                <a:r>
                  <a:rPr lang="zh-CN" altLang="zh-CN" b="1" dirty="0">
                    <a:solidFill>
                      <a:schemeClr val="tx1"/>
                    </a:solidFill>
                  </a:rPr>
                  <a:t>表所示：</a:t>
                </a:r>
                <a:endParaRPr lang="zh-CN" altLang="zh-CN" b="1" kern="1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807D48C4-0FBB-44D8-BA67-44B7259B6D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1759781"/>
                <a:ext cx="8424936" cy="1430328"/>
              </a:xfrm>
              <a:prstGeom prst="rect">
                <a:avLst/>
              </a:prstGeom>
              <a:blipFill>
                <a:blip r:embed="rId4"/>
                <a:stretch>
                  <a:fillRect l="-1085" t="-1709" r="-1158"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3">
            <a:extLst>
              <a:ext uri="{FF2B5EF4-FFF2-40B4-BE49-F238E27FC236}">
                <a16:creationId xmlns:a16="http://schemas.microsoft.com/office/drawing/2014/main" id="{983B393A-07DE-434A-80D5-4347E1BEA7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3356992"/>
            <a:ext cx="5738941" cy="2958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48272305"/>
      </p:ext>
    </p:extLst>
  </p:cSld>
  <p:clrMapOvr>
    <a:masterClrMapping/>
  </p:clrMapOvr>
  <p:transition spd="med">
    <p:wipe dir="r"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日期占位符 3">
            <a:extLst>
              <a:ext uri="{FF2B5EF4-FFF2-40B4-BE49-F238E27FC236}">
                <a16:creationId xmlns:a16="http://schemas.microsoft.com/office/drawing/2014/main" id="{9E90A249-5AB1-4D66-A7C2-99365F5C905F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BA5CD8D-0578-48A1-BE57-6327C72DB4EB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6077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DDA6E86F-D9FB-4541-B3A4-3273FB23D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3808A123-B8AF-4897-81DF-DBE0287DF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648" y="620688"/>
            <a:ext cx="6553200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具体计算过程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807D48C4-0FBB-44D8-BA67-44B7259B6D19}"/>
                  </a:ext>
                </a:extLst>
              </p:cNvPr>
              <p:cNvSpPr/>
              <p:nvPr/>
            </p:nvSpPr>
            <p:spPr>
              <a:xfrm>
                <a:off x="323528" y="1799808"/>
                <a:ext cx="8424936" cy="968663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zh-CN" altLang="en-US" b="1" kern="1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（</a:t>
                </a:r>
                <a:r>
                  <a:rPr lang="en-US" altLang="zh-CN" b="1" kern="1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  <a:r>
                  <a:rPr lang="zh-CN" altLang="en-US" b="1" kern="1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）</a:t>
                </a:r>
                <a:r>
                  <a:rPr lang="zh-CN" altLang="zh-CN" b="1" dirty="0">
                    <a:solidFill>
                      <a:schemeClr val="tx1"/>
                    </a:solidFill>
                  </a:rPr>
                  <a:t>现有自由男士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zh-CN" altLang="zh-CN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。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向当前最佳人选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zh-CN" altLang="zh-CN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女士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求婚，由于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是自由的，故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接受。如</a:t>
                </a:r>
                <a:r>
                  <a:rPr lang="zh-CN" altLang="en-US" b="1" dirty="0">
                    <a:solidFill>
                      <a:schemeClr val="tx1"/>
                    </a:solidFill>
                  </a:rPr>
                  <a:t>下</a:t>
                </a:r>
                <a:r>
                  <a:rPr lang="zh-CN" altLang="zh-CN" b="1" dirty="0">
                    <a:solidFill>
                      <a:schemeClr val="tx1"/>
                    </a:solidFill>
                  </a:rPr>
                  <a:t>表所示：</a:t>
                </a:r>
                <a:endParaRPr lang="zh-CN" altLang="zh-CN" b="1" kern="1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807D48C4-0FBB-44D8-BA67-44B7259B6D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1799808"/>
                <a:ext cx="8424936" cy="968663"/>
              </a:xfrm>
              <a:prstGeom prst="rect">
                <a:avLst/>
              </a:prstGeom>
              <a:blipFill>
                <a:blip r:embed="rId4"/>
                <a:stretch>
                  <a:fillRect l="-1085" t="-2516" r="-1158" b="-113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2">
            <a:extLst>
              <a:ext uri="{FF2B5EF4-FFF2-40B4-BE49-F238E27FC236}">
                <a16:creationId xmlns:a16="http://schemas.microsoft.com/office/drawing/2014/main" id="{3B5CF26E-FA3A-4219-99FE-6D26C40943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924944"/>
            <a:ext cx="5740702" cy="3343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68672290"/>
      </p:ext>
    </p:extLst>
  </p:cSld>
  <p:clrMapOvr>
    <a:masterClrMapping/>
  </p:clrMapOvr>
  <p:transition spd="med">
    <p:wipe dir="r"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日期占位符 3">
            <a:extLst>
              <a:ext uri="{FF2B5EF4-FFF2-40B4-BE49-F238E27FC236}">
                <a16:creationId xmlns:a16="http://schemas.microsoft.com/office/drawing/2014/main" id="{9E90A249-5AB1-4D66-A7C2-99365F5C905F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BA5CD8D-0578-48A1-BE57-6327C72DB4EB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6077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DDA6E86F-D9FB-4541-B3A4-3273FB23D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3808A123-B8AF-4897-81DF-DBE0287DF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648" y="692696"/>
            <a:ext cx="6553200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具体计算过程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807D48C4-0FBB-44D8-BA67-44B7259B6D19}"/>
                  </a:ext>
                </a:extLst>
              </p:cNvPr>
              <p:cNvSpPr/>
              <p:nvPr/>
            </p:nvSpPr>
            <p:spPr>
              <a:xfrm>
                <a:off x="359532" y="1694294"/>
                <a:ext cx="8424936" cy="1430328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zh-CN" altLang="en-US" b="1" kern="1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（</a:t>
                </a:r>
                <a:r>
                  <a:rPr lang="en-US" altLang="zh-CN" b="1" kern="1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4</a:t>
                </a:r>
                <a:r>
                  <a:rPr lang="zh-CN" altLang="en-US" b="1" kern="1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）</a:t>
                </a:r>
                <a:r>
                  <a:rPr lang="zh-CN" altLang="zh-CN" b="1" dirty="0">
                    <a:solidFill>
                      <a:schemeClr val="tx1"/>
                    </a:solidFill>
                  </a:rPr>
                  <a:t>现有自由男士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。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向其当前最佳人选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zh-CN" altLang="zh-CN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女士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求婚，由于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不是自由的，她把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和当前配偶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做比较，由于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的优先级较高，故拒绝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的求婚。如</a:t>
                </a:r>
                <a:r>
                  <a:rPr lang="zh-CN" altLang="en-US" b="1" dirty="0">
                    <a:solidFill>
                      <a:schemeClr val="tx1"/>
                    </a:solidFill>
                  </a:rPr>
                  <a:t>下</a:t>
                </a:r>
                <a:r>
                  <a:rPr lang="zh-CN" altLang="zh-CN" b="1" dirty="0">
                    <a:solidFill>
                      <a:schemeClr val="tx1"/>
                    </a:solidFill>
                  </a:rPr>
                  <a:t>表所示：</a:t>
                </a:r>
                <a:endParaRPr lang="zh-CN" altLang="zh-CN" b="1" kern="1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807D48C4-0FBB-44D8-BA67-44B7259B6D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532" y="1694294"/>
                <a:ext cx="8424936" cy="1430328"/>
              </a:xfrm>
              <a:prstGeom prst="rect">
                <a:avLst/>
              </a:prstGeom>
              <a:blipFill>
                <a:blip r:embed="rId4"/>
                <a:stretch>
                  <a:fillRect l="-1158" t="-1702" r="-1085" b="-72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3">
            <a:extLst>
              <a:ext uri="{FF2B5EF4-FFF2-40B4-BE49-F238E27FC236}">
                <a16:creationId xmlns:a16="http://schemas.microsoft.com/office/drawing/2014/main" id="{7280C841-F98B-4E9D-9497-FC7F8B4254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3219026"/>
            <a:ext cx="5976664" cy="308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98966267"/>
      </p:ext>
    </p:extLst>
  </p:cSld>
  <p:clrMapOvr>
    <a:masterClrMapping/>
  </p:clrMapOvr>
  <p:transition spd="med">
    <p:wipe dir="r"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日期占位符 3">
            <a:extLst>
              <a:ext uri="{FF2B5EF4-FFF2-40B4-BE49-F238E27FC236}">
                <a16:creationId xmlns:a16="http://schemas.microsoft.com/office/drawing/2014/main" id="{9E90A249-5AB1-4D66-A7C2-99365F5C905F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BA5CD8D-0578-48A1-BE57-6327C72DB4EB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6077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DDA6E86F-D9FB-4541-B3A4-3273FB23D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3808A123-B8AF-4897-81DF-DBE0287DF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733425"/>
            <a:ext cx="6553200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具体计算过程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807D48C4-0FBB-44D8-BA67-44B7259B6D19}"/>
                  </a:ext>
                </a:extLst>
              </p:cNvPr>
              <p:cNvSpPr/>
              <p:nvPr/>
            </p:nvSpPr>
            <p:spPr>
              <a:xfrm>
                <a:off x="359532" y="1772816"/>
                <a:ext cx="8424936" cy="1430328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zh-CN" altLang="en-US" b="1" kern="1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（</a:t>
                </a:r>
                <a:r>
                  <a:rPr lang="en-US" altLang="zh-CN" b="1" kern="1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5</a:t>
                </a:r>
                <a:r>
                  <a:rPr lang="zh-CN" altLang="en-US" b="1" kern="1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）</a:t>
                </a:r>
                <a:r>
                  <a:rPr lang="zh-CN" altLang="zh-CN" b="1" dirty="0">
                    <a:solidFill>
                      <a:schemeClr val="tx1"/>
                    </a:solidFill>
                  </a:rPr>
                  <a:t>现有自由男士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。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向其当前最佳人选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zh-CN" altLang="zh-CN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女士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求婚，由于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不是自由的，她把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和当前配偶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做比较，由于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的优先级较高，故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替换掉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。如</a:t>
                </a:r>
                <a:r>
                  <a:rPr lang="zh-CN" altLang="en-US" b="1" dirty="0">
                    <a:solidFill>
                      <a:schemeClr val="tx1"/>
                    </a:solidFill>
                  </a:rPr>
                  <a:t>下</a:t>
                </a:r>
                <a:r>
                  <a:rPr lang="zh-CN" altLang="zh-CN" b="1" dirty="0">
                    <a:solidFill>
                      <a:schemeClr val="tx1"/>
                    </a:solidFill>
                  </a:rPr>
                  <a:t>表所示：</a:t>
                </a:r>
                <a:endParaRPr lang="zh-CN" altLang="zh-CN" b="1" kern="1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807D48C4-0FBB-44D8-BA67-44B7259B6D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532" y="1772816"/>
                <a:ext cx="8424936" cy="1430328"/>
              </a:xfrm>
              <a:prstGeom prst="rect">
                <a:avLst/>
              </a:prstGeom>
              <a:blipFill>
                <a:blip r:embed="rId4"/>
                <a:stretch>
                  <a:fillRect l="-1158" t="-1709" r="-1085"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3">
            <a:extLst>
              <a:ext uri="{FF2B5EF4-FFF2-40B4-BE49-F238E27FC236}">
                <a16:creationId xmlns:a16="http://schemas.microsoft.com/office/drawing/2014/main" id="{F741AFE0-47D7-4F4F-AE4A-14BAED1446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6712" y="3364376"/>
            <a:ext cx="5815607" cy="2973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6800156"/>
      </p:ext>
    </p:extLst>
  </p:cSld>
  <p:clrMapOvr>
    <a:masterClrMapping/>
  </p:clrMapOvr>
  <p:transition spd="med">
    <p:wipe dir="r"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日期占位符 3">
            <a:extLst>
              <a:ext uri="{FF2B5EF4-FFF2-40B4-BE49-F238E27FC236}">
                <a16:creationId xmlns:a16="http://schemas.microsoft.com/office/drawing/2014/main" id="{9E90A249-5AB1-4D66-A7C2-99365F5C905F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BA5CD8D-0578-48A1-BE57-6327C72DB4EB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6077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DDA6E86F-D9FB-4541-B3A4-3273FB23D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3808A123-B8AF-4897-81DF-DBE0287DF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733425"/>
            <a:ext cx="6553200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具体计算过程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807D48C4-0FBB-44D8-BA67-44B7259B6D19}"/>
                  </a:ext>
                </a:extLst>
              </p:cNvPr>
              <p:cNvSpPr/>
              <p:nvPr/>
            </p:nvSpPr>
            <p:spPr>
              <a:xfrm>
                <a:off x="359532" y="1916832"/>
                <a:ext cx="8424936" cy="968663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zh-CN" altLang="en-US" b="1" kern="1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（</a:t>
                </a:r>
                <a:r>
                  <a:rPr lang="en-US" altLang="zh-CN" b="1" kern="1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6</a:t>
                </a:r>
                <a:r>
                  <a:rPr lang="zh-CN" altLang="en-US" b="1" kern="1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）</a:t>
                </a:r>
                <a:r>
                  <a:rPr lang="zh-CN" altLang="zh-CN" b="1" dirty="0">
                    <a:solidFill>
                      <a:schemeClr val="tx1"/>
                    </a:solidFill>
                  </a:rPr>
                  <a:t>现在有自由男士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。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其当前最佳人选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zh-CN" altLang="zh-CN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女士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求婚，由于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是自由的，所以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zh-CN" b="1" dirty="0">
                    <a:solidFill>
                      <a:schemeClr val="tx1"/>
                    </a:solidFill>
                  </a:rPr>
                  <a:t>接受了。如</a:t>
                </a:r>
                <a:r>
                  <a:rPr lang="zh-CN" altLang="en-US" b="1" dirty="0">
                    <a:solidFill>
                      <a:schemeClr val="tx1"/>
                    </a:solidFill>
                  </a:rPr>
                  <a:t>下</a:t>
                </a:r>
                <a:r>
                  <a:rPr lang="zh-CN" altLang="zh-CN" b="1" dirty="0">
                    <a:solidFill>
                      <a:schemeClr val="tx1"/>
                    </a:solidFill>
                  </a:rPr>
                  <a:t>表所示：</a:t>
                </a:r>
                <a:endParaRPr lang="zh-CN" altLang="zh-CN" b="1" kern="1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807D48C4-0FBB-44D8-BA67-44B7259B6D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532" y="1916832"/>
                <a:ext cx="8424936" cy="968663"/>
              </a:xfrm>
              <a:prstGeom prst="rect">
                <a:avLst/>
              </a:prstGeom>
              <a:blipFill>
                <a:blip r:embed="rId4"/>
                <a:stretch>
                  <a:fillRect l="-1158" t="-2516" r="-1085" b="-113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3">
            <a:extLst>
              <a:ext uri="{FF2B5EF4-FFF2-40B4-BE49-F238E27FC236}">
                <a16:creationId xmlns:a16="http://schemas.microsoft.com/office/drawing/2014/main" id="{07D08F11-90B3-4465-A7EA-38BF074484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073" y="2996952"/>
            <a:ext cx="7231753" cy="3206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69445190"/>
      </p:ext>
    </p:extLst>
  </p:cSld>
  <p:clrMapOvr>
    <a:masterClrMapping/>
  </p:clrMapOvr>
  <p:transition spd="med">
    <p:wipe dir="r"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日期占位符 3">
            <a:extLst>
              <a:ext uri="{FF2B5EF4-FFF2-40B4-BE49-F238E27FC236}">
                <a16:creationId xmlns:a16="http://schemas.microsoft.com/office/drawing/2014/main" id="{9E90A249-5AB1-4D66-A7C2-99365F5C905F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BA5CD8D-0578-48A1-BE57-6327C72DB4EB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6077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DDA6E86F-D9FB-4541-B3A4-3273FB23D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384" y="549273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3808A123-B8AF-4897-81DF-DBE0287DF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5528" y="733423"/>
            <a:ext cx="6372944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4800" kern="10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zh-CN" sz="4800" kern="10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婚</a:t>
            </a: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配的稳定性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8F25988A-6CCF-4A87-8E4B-D4A253D56BE7}"/>
                  </a:ext>
                </a:extLst>
              </p:cNvPr>
              <p:cNvSpPr/>
              <p:nvPr/>
            </p:nvSpPr>
            <p:spPr>
              <a:xfrm>
                <a:off x="251520" y="1778111"/>
                <a:ext cx="8424936" cy="429079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ts val="3000"/>
                  </a:lnSpc>
                  <a:spcAft>
                    <a:spcPts val="0"/>
                  </a:spcAft>
                </a:pPr>
                <a:r>
                  <a:rPr lang="zh-CN" altLang="en-US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:r>
                  <a:rPr lang="en-US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【</a:t>
                </a:r>
                <a:r>
                  <a:rPr lang="zh-CN" altLang="en-US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定理</a:t>
                </a:r>
                <a:r>
                  <a:rPr lang="en-US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】</a:t>
                </a:r>
                <a:r>
                  <a:rPr lang="zh-CN" altLang="en-US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由稳定婚</a:t>
                </a:r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配</a:t>
                </a:r>
                <a:r>
                  <a:rPr lang="zh-CN" altLang="en-US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算法得到</a:t>
                </a:r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的婚配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𝑴</m:t>
                    </m:r>
                    <m:r>
                      <a:rPr lang="zh-CN" altLang="en-US" sz="20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是</m:t>
                    </m:r>
                  </m:oMath>
                </a14:m>
                <a:r>
                  <a:rPr lang="zh-CN" altLang="en-US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稳定</a:t>
                </a:r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婚配</a:t>
                </a:r>
                <a:r>
                  <a:rPr lang="zh-CN" altLang="en-US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20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ts val="3000"/>
                  </a:lnSpc>
                  <a:spcAft>
                    <a:spcPts val="0"/>
                  </a:spcAft>
                </a:pPr>
                <a:r>
                  <a:rPr lang="en-US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【</a:t>
                </a:r>
                <a:r>
                  <a:rPr lang="zh-CN" altLang="en-US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证明</a:t>
                </a:r>
                <a:r>
                  <a:rPr lang="en-US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】</a:t>
                </a:r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由于该算法在所有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𝒏</m:t>
                    </m:r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个男士和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𝒏</m:t>
                    </m:r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个女士一一配对后停止，故仅需证明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𝑴</m:t>
                    </m:r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的稳定性。用反证法</a:t>
                </a:r>
                <a:r>
                  <a:rPr lang="zh-CN" altLang="en-US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证明</a:t>
                </a:r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20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ts val="3000"/>
                  </a:lnSpc>
                  <a:spcAft>
                    <a:spcPts val="0"/>
                  </a:spcAft>
                </a:pPr>
                <a:r>
                  <a:rPr lang="en-US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假设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𝑴</m:t>
                    </m:r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是不稳定的，则必然存在一个男士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𝑿</m:t>
                    </m:r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和一个女士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𝒀</m:t>
                    </m:r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，它们在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𝑴</m:t>
                    </m:r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中没有匹配，但比当前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𝑴</m:t>
                    </m:r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中配偶更倾向于对方。</a:t>
                </a:r>
              </a:p>
              <a:p>
                <a:pPr indent="266700" algn="just">
                  <a:lnSpc>
                    <a:spcPts val="3000"/>
                  </a:lnSpc>
                  <a:spcAft>
                    <a:spcPts val="0"/>
                  </a:spcAft>
                </a:pPr>
                <a:r>
                  <a:rPr lang="en-US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因为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𝑿</m:t>
                    </m:r>
                  </m:oMath>
                </a14:m>
                <a:r>
                  <a:rPr lang="zh-CN" altLang="zh-CN" sz="20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按照降序</a:t>
                </a:r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对其优先列表中的每个女士求婚，而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𝒀</m:t>
                    </m:r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优先于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𝑿</m:t>
                    </m:r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𝑴</m:t>
                    </m:r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中的配偶，</a:t>
                </a:r>
                <a14:m>
                  <m:oMath xmlns:m="http://schemas.openxmlformats.org/officeDocument/2006/math">
                    <m:r>
                      <a:rPr lang="en-US" altLang="zh-CN" sz="2000" b="1" i="1" kern="100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𝑿</m:t>
                    </m:r>
                  </m:oMath>
                </a14:m>
                <a:r>
                  <a:rPr lang="zh-CN" altLang="zh-CN" sz="20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一定在某次迭代的时候向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𝒀</m:t>
                    </m:r>
                  </m:oMath>
                </a14:m>
                <a:r>
                  <a:rPr lang="zh-CN" altLang="zh-CN" sz="20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求过婚</a:t>
                </a:r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20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ts val="3000"/>
                  </a:lnSpc>
                  <a:spcAft>
                    <a:spcPts val="0"/>
                  </a:spcAft>
                </a:pPr>
                <a:r>
                  <a:rPr lang="en-US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无论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𝒀</m:t>
                    </m:r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拒绝了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𝑿</m:t>
                    </m:r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的求婚，还是先接受然后又在后面的迭代中用其他人替换掉了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𝑿</m:t>
                    </m:r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000" b="1" i="1" kern="100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𝒀</m:t>
                    </m:r>
                  </m:oMath>
                </a14:m>
                <a:r>
                  <a:rPr lang="zh-CN" altLang="zh-CN" sz="20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的配偶在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𝒀</m:t>
                    </m:r>
                  </m:oMath>
                </a14:m>
                <a:r>
                  <a:rPr lang="zh-CN" altLang="zh-CN" sz="20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中的优先级列表中一定比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𝑿</m:t>
                    </m:r>
                  </m:oMath>
                </a14:m>
                <a:r>
                  <a:rPr lang="zh-CN" altLang="zh-CN" sz="20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有更高的优先级</a:t>
                </a:r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20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ts val="3000"/>
                  </a:lnSpc>
                  <a:spcAft>
                    <a:spcPts val="0"/>
                  </a:spcAft>
                </a:pPr>
                <a:r>
                  <a:rPr lang="en-US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根据前面假设：相对于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𝑿</m:t>
                    </m:r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𝑴</m:t>
                    </m:r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中的配偶，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𝒀</m:t>
                    </m:r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更倾向于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𝑿</m:t>
                    </m:r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，故该结论和假设矛盾。因此，</a:t>
                </a:r>
                <a14:m>
                  <m:oMath xmlns:m="http://schemas.openxmlformats.org/officeDocument/2006/math">
                    <m:r>
                      <a:rPr lang="en-US" altLang="zh-CN" sz="2000" b="1" i="1" kern="100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𝑴</m:t>
                    </m:r>
                  </m:oMath>
                </a14:m>
                <a:r>
                  <a:rPr lang="zh-CN" altLang="zh-CN" sz="20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是稳定婚配</a:t>
                </a:r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8F25988A-6CCF-4A87-8E4B-D4A253D56B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778111"/>
                <a:ext cx="8424936" cy="4290790"/>
              </a:xfrm>
              <a:prstGeom prst="rect">
                <a:avLst/>
              </a:prstGeom>
              <a:blipFill>
                <a:blip r:embed="rId4"/>
                <a:stretch>
                  <a:fillRect l="-724" t="-284" r="-796" b="-11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584143"/>
      </p:ext>
    </p:extLst>
  </p:cSld>
  <p:clrMapOvr>
    <a:masterClrMapping/>
  </p:clrMapOvr>
  <p:transition spd="med">
    <p:wipe dir="r"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日期占位符 3">
            <a:extLst>
              <a:ext uri="{FF2B5EF4-FFF2-40B4-BE49-F238E27FC236}">
                <a16:creationId xmlns:a16="http://schemas.microsoft.com/office/drawing/2014/main" id="{E9DEAC2B-9A4B-45BB-848B-9C234DEE8636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5254934-0C39-4267-8B95-3F40AD5EB362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0899" name="Text Box 2">
            <a:extLst>
              <a:ext uri="{FF2B5EF4-FFF2-40B4-BE49-F238E27FC236}">
                <a16:creationId xmlns:a16="http://schemas.microsoft.com/office/drawing/2014/main" id="{BBB78957-511A-4215-80BD-406A1601F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80" y="1314450"/>
            <a:ext cx="6335713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None/>
            </a:pPr>
            <a:r>
              <a:rPr lang="zh-CN" altLang="en-US" sz="5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本章内容到此结束</a:t>
            </a:r>
            <a:endParaRPr lang="en-US" altLang="zh-CN" sz="54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0900" name="WordArt 6">
            <a:extLst>
              <a:ext uri="{FF2B5EF4-FFF2-40B4-BE49-F238E27FC236}">
                <a16:creationId xmlns:a16="http://schemas.microsoft.com/office/drawing/2014/main" id="{501CC8AA-ED62-43C1-8670-518D4FB1B26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590800" y="3048000"/>
            <a:ext cx="4419600" cy="2514600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58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r>
              <a:rPr lang="zh-CN" altLang="en-US" sz="36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宋体" panose="02010600030101010101" pitchFamily="2" charset="-122"/>
                <a:ea typeface="宋体" panose="02010600030101010101" pitchFamily="2" charset="-122"/>
              </a:rPr>
              <a:t>谢谢大家！</a:t>
            </a:r>
          </a:p>
        </p:txBody>
      </p: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张勇-硕士答辩">
  <a:themeElements>
    <a:clrScheme name="张勇-硕士答辩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3399FF"/>
      </a:folHlink>
    </a:clrScheme>
    <a:fontScheme name="张勇-硕士答辩">
      <a:majorFont>
        <a:latin typeface="Times New Roman"/>
        <a:ea typeface="宋体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张勇-硕士答辩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张勇-硕士答辩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张勇-硕士答辩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张勇-硕士答辩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张勇-硕士答辩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张勇-硕士答辩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张勇-硕士答辩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张勇-硕士答辩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张勇-硕士答辩">
  <a:themeElements>
    <a:clrScheme name="1_张勇-硕士答辩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3399FF"/>
      </a:folHlink>
    </a:clrScheme>
    <a:fontScheme name="1_张勇-硕士答辩">
      <a:majorFont>
        <a:latin typeface="Times New Roman"/>
        <a:ea typeface="宋体"/>
        <a:cs typeface=""/>
      </a:majorFont>
      <a:minorFont>
        <a:latin typeface="楷体_GB2312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张勇-硕士答辩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张勇-硕士答辩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张勇-硕士答辩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张勇-硕士答辩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张勇-硕士答辩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张勇-硕士答辩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张勇-硕士答辩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张勇-硕士答辩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第6章_二元关系</Template>
  <TotalTime>9623</TotalTime>
  <Words>8035</Words>
  <Application>Microsoft Office PowerPoint</Application>
  <PresentationFormat>全屏显示(4:3)</PresentationFormat>
  <Paragraphs>398</Paragraphs>
  <Slides>90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90</vt:i4>
      </vt:variant>
    </vt:vector>
  </HeadingPairs>
  <TitlesOfParts>
    <vt:vector size="106" baseType="lpstr">
      <vt:lpstr>MS Gothic</vt:lpstr>
      <vt:lpstr>黑体</vt:lpstr>
      <vt:lpstr>华文行楷</vt:lpstr>
      <vt:lpstr>楷体_GB2312</vt:lpstr>
      <vt:lpstr>隶书</vt:lpstr>
      <vt:lpstr>宋体</vt:lpstr>
      <vt:lpstr>Arial</vt:lpstr>
      <vt:lpstr>Calibri</vt:lpstr>
      <vt:lpstr>Cambria Math</vt:lpstr>
      <vt:lpstr>Helvetica</vt:lpstr>
      <vt:lpstr>Lucida Sans Unicode</vt:lpstr>
      <vt:lpstr>Times New Roman</vt:lpstr>
      <vt:lpstr>Wingdings</vt:lpstr>
      <vt:lpstr>Wingdings 2</vt:lpstr>
      <vt:lpstr>张勇-硕士答辩</vt:lpstr>
      <vt:lpstr>1_张勇-硕士答辩</vt:lpstr>
      <vt:lpstr>PowerPoint 演示文稿</vt:lpstr>
      <vt:lpstr>第10章 特殊图模型与算法(下)</vt:lpstr>
      <vt:lpstr>PowerPoint 演示文稿</vt:lpstr>
      <vt:lpstr>网络流图及其优化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特殊图模型的应用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UESTC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汪荣贵</dc:creator>
  <cp:lastModifiedBy>Windows 用户</cp:lastModifiedBy>
  <cp:revision>264</cp:revision>
  <dcterms:created xsi:type="dcterms:W3CDTF">2008-02-21T03:51:14Z</dcterms:created>
  <dcterms:modified xsi:type="dcterms:W3CDTF">2020-09-07T02:24:10Z</dcterms:modified>
</cp:coreProperties>
</file>