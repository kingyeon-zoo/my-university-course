
<file path=[Content_Types].xml><?xml version="1.0" encoding="utf-8"?>
<Types xmlns="http://schemas.openxmlformats.org/package/2006/content-types">
  <Default Extension="png" ContentType="image/png"/>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4" r:id="rId1"/>
    <p:sldMasterId id="2147483680" r:id="rId2"/>
  </p:sldMasterIdLst>
  <p:notesMasterIdLst>
    <p:notesMasterId r:id="rId121"/>
  </p:notesMasterIdLst>
  <p:sldIdLst>
    <p:sldId id="1123" r:id="rId3"/>
    <p:sldId id="1124" r:id="rId4"/>
    <p:sldId id="1154" r:id="rId5"/>
    <p:sldId id="1125" r:id="rId6"/>
    <p:sldId id="1126" r:id="rId7"/>
    <p:sldId id="1434" r:id="rId8"/>
    <p:sldId id="1441" r:id="rId9"/>
    <p:sldId id="1629" r:id="rId10"/>
    <p:sldId id="1442" r:id="rId11"/>
    <p:sldId id="1443" r:id="rId12"/>
    <p:sldId id="1444" r:id="rId13"/>
    <p:sldId id="1445" r:id="rId14"/>
    <p:sldId id="1491" r:id="rId15"/>
    <p:sldId id="1593" r:id="rId16"/>
    <p:sldId id="1594" r:id="rId17"/>
    <p:sldId id="1494" r:id="rId18"/>
    <p:sldId id="1495" r:id="rId19"/>
    <p:sldId id="1503" r:id="rId20"/>
    <p:sldId id="1595" r:id="rId21"/>
    <p:sldId id="1598" r:id="rId22"/>
    <p:sldId id="1497" r:id="rId23"/>
    <p:sldId id="1498" r:id="rId24"/>
    <p:sldId id="1596" r:id="rId25"/>
    <p:sldId id="1500" r:id="rId26"/>
    <p:sldId id="1501" r:id="rId27"/>
    <p:sldId id="1502" r:id="rId28"/>
    <p:sldId id="1597" r:id="rId29"/>
    <p:sldId id="1448" r:id="rId30"/>
    <p:sldId id="1449" r:id="rId31"/>
    <p:sldId id="1599" r:id="rId32"/>
    <p:sldId id="1450" r:id="rId33"/>
    <p:sldId id="1452" r:id="rId34"/>
    <p:sldId id="1504" r:id="rId35"/>
    <p:sldId id="1505" r:id="rId36"/>
    <p:sldId id="1506" r:id="rId37"/>
    <p:sldId id="1600" r:id="rId38"/>
    <p:sldId id="1512" r:id="rId39"/>
    <p:sldId id="1520" r:id="rId40"/>
    <p:sldId id="1521" r:id="rId41"/>
    <p:sldId id="1601" r:id="rId42"/>
    <p:sldId id="1516" r:id="rId43"/>
    <p:sldId id="1589" r:id="rId44"/>
    <p:sldId id="1590" r:id="rId45"/>
    <p:sldId id="1519" r:id="rId46"/>
    <p:sldId id="1602" r:id="rId47"/>
    <p:sldId id="1453" r:id="rId48"/>
    <p:sldId id="1463" r:id="rId49"/>
    <p:sldId id="1464" r:id="rId50"/>
    <p:sldId id="1603" r:id="rId51"/>
    <p:sldId id="1604" r:id="rId52"/>
    <p:sldId id="1605" r:id="rId53"/>
    <p:sldId id="1606" r:id="rId54"/>
    <p:sldId id="1473" r:id="rId55"/>
    <p:sldId id="1474" r:id="rId56"/>
    <p:sldId id="1471" r:id="rId57"/>
    <p:sldId id="1472" r:id="rId58"/>
    <p:sldId id="1468" r:id="rId59"/>
    <p:sldId id="1469" r:id="rId60"/>
    <p:sldId id="1470" r:id="rId61"/>
    <p:sldId id="1440" r:id="rId62"/>
    <p:sldId id="1587" r:id="rId63"/>
    <p:sldId id="1284" r:id="rId64"/>
    <p:sldId id="1286" r:id="rId65"/>
    <p:sldId id="1630" r:id="rId66"/>
    <p:sldId id="1607" r:id="rId67"/>
    <p:sldId id="1608" r:id="rId68"/>
    <p:sldId id="1475" r:id="rId69"/>
    <p:sldId id="1609" r:id="rId70"/>
    <p:sldId id="1476" r:id="rId71"/>
    <p:sldId id="1610" r:id="rId72"/>
    <p:sldId id="1477" r:id="rId73"/>
    <p:sldId id="1478" r:id="rId74"/>
    <p:sldId id="1631" r:id="rId75"/>
    <p:sldId id="1479" r:id="rId76"/>
    <p:sldId id="1480" r:id="rId77"/>
    <p:sldId id="1611" r:id="rId78"/>
    <p:sldId id="1612" r:id="rId79"/>
    <p:sldId id="1530" r:id="rId80"/>
    <p:sldId id="1531" r:id="rId81"/>
    <p:sldId id="1534" r:id="rId82"/>
    <p:sldId id="1482" r:id="rId83"/>
    <p:sldId id="1591" r:id="rId84"/>
    <p:sldId id="1592" r:id="rId85"/>
    <p:sldId id="1613" r:id="rId86"/>
    <p:sldId id="1539" r:id="rId87"/>
    <p:sldId id="1540" r:id="rId88"/>
    <p:sldId id="1485" r:id="rId89"/>
    <p:sldId id="1614" r:id="rId90"/>
    <p:sldId id="1615" r:id="rId91"/>
    <p:sldId id="1487" r:id="rId92"/>
    <p:sldId id="1486" r:id="rId93"/>
    <p:sldId id="1541" r:id="rId94"/>
    <p:sldId id="1542" r:id="rId95"/>
    <p:sldId id="1616" r:id="rId96"/>
    <p:sldId id="1546" r:id="rId97"/>
    <p:sldId id="1622" r:id="rId98"/>
    <p:sldId id="1549" r:id="rId99"/>
    <p:sldId id="1550" r:id="rId100"/>
    <p:sldId id="1117" r:id="rId101"/>
    <p:sldId id="1588" r:id="rId102"/>
    <p:sldId id="1552" r:id="rId103"/>
    <p:sldId id="1585" r:id="rId104"/>
    <p:sldId id="1553" r:id="rId105"/>
    <p:sldId id="1617" r:id="rId106"/>
    <p:sldId id="1618" r:id="rId107"/>
    <p:sldId id="1619" r:id="rId108"/>
    <p:sldId id="1586" r:id="rId109"/>
    <p:sldId id="1620" r:id="rId110"/>
    <p:sldId id="1556" r:id="rId111"/>
    <p:sldId id="1621" r:id="rId112"/>
    <p:sldId id="1623" r:id="rId113"/>
    <p:sldId id="1624" r:id="rId114"/>
    <p:sldId id="1625" r:id="rId115"/>
    <p:sldId id="1626" r:id="rId116"/>
    <p:sldId id="1627" r:id="rId117"/>
    <p:sldId id="1628" r:id="rId118"/>
    <p:sldId id="1563" r:id="rId119"/>
    <p:sldId id="1339" r:id="rId120"/>
  </p:sldIdLst>
  <p:sldSz cx="9144000" cy="6858000" type="screen4x3"/>
  <p:notesSz cx="6858000" cy="9144000"/>
  <p:defaultTextStyle>
    <a:defPPr>
      <a:defRPr lang="en-US"/>
    </a:defPPr>
    <a:lvl1pPr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1pPr>
    <a:lvl2pPr marL="4572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2pPr>
    <a:lvl3pPr marL="9144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3pPr>
    <a:lvl4pPr marL="13716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4pPr>
    <a:lvl5pPr marL="1828800" algn="l" rtl="0" eaLnBrk="0" fontAlgn="base" hangingPunct="0">
      <a:spcBef>
        <a:spcPct val="0"/>
      </a:spcBef>
      <a:spcAft>
        <a:spcPct val="0"/>
      </a:spcAft>
      <a:defRPr sz="3200" kern="1200">
        <a:solidFill>
          <a:srgbClr val="FF0000"/>
        </a:solidFill>
        <a:latin typeface="黑体" pitchFamily="49" charset="-122"/>
        <a:ea typeface="黑体" pitchFamily="49" charset="-122"/>
        <a:cs typeface="+mn-cs"/>
      </a:defRPr>
    </a:lvl5pPr>
    <a:lvl6pPr marL="2286000" algn="l" defTabSz="914400" rtl="0" eaLnBrk="1" latinLnBrk="0" hangingPunct="1">
      <a:defRPr sz="3200" kern="1200">
        <a:solidFill>
          <a:srgbClr val="FF0000"/>
        </a:solidFill>
        <a:latin typeface="黑体" pitchFamily="49" charset="-122"/>
        <a:ea typeface="黑体" pitchFamily="49" charset="-122"/>
        <a:cs typeface="+mn-cs"/>
      </a:defRPr>
    </a:lvl6pPr>
    <a:lvl7pPr marL="2743200" algn="l" defTabSz="914400" rtl="0" eaLnBrk="1" latinLnBrk="0" hangingPunct="1">
      <a:defRPr sz="3200" kern="1200">
        <a:solidFill>
          <a:srgbClr val="FF0000"/>
        </a:solidFill>
        <a:latin typeface="黑体" pitchFamily="49" charset="-122"/>
        <a:ea typeface="黑体" pitchFamily="49" charset="-122"/>
        <a:cs typeface="+mn-cs"/>
      </a:defRPr>
    </a:lvl7pPr>
    <a:lvl8pPr marL="3200400" algn="l" defTabSz="914400" rtl="0" eaLnBrk="1" latinLnBrk="0" hangingPunct="1">
      <a:defRPr sz="3200" kern="1200">
        <a:solidFill>
          <a:srgbClr val="FF0000"/>
        </a:solidFill>
        <a:latin typeface="黑体" pitchFamily="49" charset="-122"/>
        <a:ea typeface="黑体" pitchFamily="49" charset="-122"/>
        <a:cs typeface="+mn-cs"/>
      </a:defRPr>
    </a:lvl8pPr>
    <a:lvl9pPr marL="3657600" algn="l" defTabSz="914400" rtl="0" eaLnBrk="1" latinLnBrk="0" hangingPunct="1">
      <a:defRPr sz="3200" kern="1200">
        <a:solidFill>
          <a:srgbClr val="FF0000"/>
        </a:solidFill>
        <a:latin typeface="黑体" pitchFamily="49" charset="-122"/>
        <a:ea typeface="黑体" pitchFamily="49"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FF"/>
    <a:srgbClr val="FF0000"/>
    <a:srgbClr val="9328A8"/>
    <a:srgbClr val="800080"/>
    <a:srgbClr val="CCFFCC"/>
    <a:srgbClr val="CC99FF"/>
    <a:srgbClr val="CCFFFF"/>
    <a:srgbClr val="33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37" autoAdjust="0"/>
    <p:restoredTop sz="94683" autoAdjust="0"/>
  </p:normalViewPr>
  <p:slideViewPr>
    <p:cSldViewPr>
      <p:cViewPr varScale="1">
        <p:scale>
          <a:sx n="87" d="100"/>
          <a:sy n="87" d="100"/>
        </p:scale>
        <p:origin x="1219"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117" Type="http://schemas.openxmlformats.org/officeDocument/2006/relationships/slide" Target="slides/slide115.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84" Type="http://schemas.openxmlformats.org/officeDocument/2006/relationships/slide" Target="slides/slide82.xml"/><Relationship Id="rId89" Type="http://schemas.openxmlformats.org/officeDocument/2006/relationships/slide" Target="slides/slide87.xml"/><Relationship Id="rId112" Type="http://schemas.openxmlformats.org/officeDocument/2006/relationships/slide" Target="slides/slide110.xml"/><Relationship Id="rId16" Type="http://schemas.openxmlformats.org/officeDocument/2006/relationships/slide" Target="slides/slide14.xml"/><Relationship Id="rId107" Type="http://schemas.openxmlformats.org/officeDocument/2006/relationships/slide" Target="slides/slide105.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viewProps" Target="viewProps.xml"/><Relationship Id="rId5" Type="http://schemas.openxmlformats.org/officeDocument/2006/relationships/slide" Target="slides/slide3.xml"/><Relationship Id="rId90" Type="http://schemas.openxmlformats.org/officeDocument/2006/relationships/slide" Target="slides/slide88.xml"/><Relationship Id="rId95" Type="http://schemas.openxmlformats.org/officeDocument/2006/relationships/slide" Target="slides/slide93.xml"/><Relationship Id="rId22" Type="http://schemas.openxmlformats.org/officeDocument/2006/relationships/slide" Target="slides/slide20.xml"/><Relationship Id="rId27" Type="http://schemas.openxmlformats.org/officeDocument/2006/relationships/slide" Target="slides/slide25.xml"/><Relationship Id="rId43" Type="http://schemas.openxmlformats.org/officeDocument/2006/relationships/slide" Target="slides/slide41.xml"/><Relationship Id="rId48" Type="http://schemas.openxmlformats.org/officeDocument/2006/relationships/slide" Target="slides/slide46.xml"/><Relationship Id="rId64" Type="http://schemas.openxmlformats.org/officeDocument/2006/relationships/slide" Target="slides/slide62.xml"/><Relationship Id="rId69" Type="http://schemas.openxmlformats.org/officeDocument/2006/relationships/slide" Target="slides/slide67.xml"/><Relationship Id="rId113" Type="http://schemas.openxmlformats.org/officeDocument/2006/relationships/slide" Target="slides/slide111.xml"/><Relationship Id="rId118" Type="http://schemas.openxmlformats.org/officeDocument/2006/relationships/slide" Target="slides/slide116.xml"/><Relationship Id="rId80" Type="http://schemas.openxmlformats.org/officeDocument/2006/relationships/slide" Target="slides/slide78.xml"/><Relationship Id="rId85" Type="http://schemas.openxmlformats.org/officeDocument/2006/relationships/slide" Target="slides/slide83.xml"/><Relationship Id="rId12" Type="http://schemas.openxmlformats.org/officeDocument/2006/relationships/slide" Target="slides/slide10.xml"/><Relationship Id="rId17" Type="http://schemas.openxmlformats.org/officeDocument/2006/relationships/slide" Target="slides/slide15.xml"/><Relationship Id="rId33" Type="http://schemas.openxmlformats.org/officeDocument/2006/relationships/slide" Target="slides/slide31.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08" Type="http://schemas.openxmlformats.org/officeDocument/2006/relationships/slide" Target="slides/slide106.xml"/><Relationship Id="rId124" Type="http://schemas.openxmlformats.org/officeDocument/2006/relationships/theme" Target="theme/theme1.xml"/><Relationship Id="rId54" Type="http://schemas.openxmlformats.org/officeDocument/2006/relationships/slide" Target="slides/slide52.xml"/><Relationship Id="rId70" Type="http://schemas.openxmlformats.org/officeDocument/2006/relationships/slide" Target="slides/slide68.xml"/><Relationship Id="rId75" Type="http://schemas.openxmlformats.org/officeDocument/2006/relationships/slide" Target="slides/slide73.xml"/><Relationship Id="rId91" Type="http://schemas.openxmlformats.org/officeDocument/2006/relationships/slide" Target="slides/slide89.xml"/><Relationship Id="rId96" Type="http://schemas.openxmlformats.org/officeDocument/2006/relationships/slide" Target="slides/slide94.xml"/><Relationship Id="rId1" Type="http://schemas.openxmlformats.org/officeDocument/2006/relationships/slideMaster" Target="slideMasters/slideMaster1.xml"/><Relationship Id="rId6" Type="http://schemas.openxmlformats.org/officeDocument/2006/relationships/slide" Target="slides/slide4.xml"/><Relationship Id="rId23" Type="http://schemas.openxmlformats.org/officeDocument/2006/relationships/slide" Target="slides/slide21.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119" Type="http://schemas.openxmlformats.org/officeDocument/2006/relationships/slide" Target="slides/slide117.xml"/><Relationship Id="rId44" Type="http://schemas.openxmlformats.org/officeDocument/2006/relationships/slide" Target="slides/slide42.xml"/><Relationship Id="rId60" Type="http://schemas.openxmlformats.org/officeDocument/2006/relationships/slide" Target="slides/slide58.xml"/><Relationship Id="rId65" Type="http://schemas.openxmlformats.org/officeDocument/2006/relationships/slide" Target="slides/slide63.xml"/><Relationship Id="rId81" Type="http://schemas.openxmlformats.org/officeDocument/2006/relationships/slide" Target="slides/slide79.xml"/><Relationship Id="rId86" Type="http://schemas.openxmlformats.org/officeDocument/2006/relationships/slide" Target="slides/slide84.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109" Type="http://schemas.openxmlformats.org/officeDocument/2006/relationships/slide" Target="slides/slide10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04" Type="http://schemas.openxmlformats.org/officeDocument/2006/relationships/slide" Target="slides/slide102.xml"/><Relationship Id="rId120" Type="http://schemas.openxmlformats.org/officeDocument/2006/relationships/slide" Target="slides/slide118.xml"/><Relationship Id="rId125" Type="http://schemas.openxmlformats.org/officeDocument/2006/relationships/tableStyles" Target="tableStyles.xml"/><Relationship Id="rId7" Type="http://schemas.openxmlformats.org/officeDocument/2006/relationships/slide" Target="slides/slide5.xml"/><Relationship Id="rId71" Type="http://schemas.openxmlformats.org/officeDocument/2006/relationships/slide" Target="slides/slide69.xml"/><Relationship Id="rId92" Type="http://schemas.openxmlformats.org/officeDocument/2006/relationships/slide" Target="slides/slide90.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15" Type="http://schemas.openxmlformats.org/officeDocument/2006/relationships/slide" Target="slides/slide113.xml"/><Relationship Id="rId61" Type="http://schemas.openxmlformats.org/officeDocument/2006/relationships/slide" Target="slides/slide59.xml"/><Relationship Id="rId82" Type="http://schemas.openxmlformats.org/officeDocument/2006/relationships/slide" Target="slides/slide80.xml"/><Relationship Id="rId19" Type="http://schemas.openxmlformats.org/officeDocument/2006/relationships/slide" Target="slides/slide17.xml"/><Relationship Id="rId14" Type="http://schemas.openxmlformats.org/officeDocument/2006/relationships/slide" Target="slides/slide12.xml"/><Relationship Id="rId30" Type="http://schemas.openxmlformats.org/officeDocument/2006/relationships/slide" Target="slides/slide28.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105" Type="http://schemas.openxmlformats.org/officeDocument/2006/relationships/slide" Target="slides/slide103.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98" Type="http://schemas.openxmlformats.org/officeDocument/2006/relationships/slide" Target="slides/slide96.xml"/><Relationship Id="rId121" Type="http://schemas.openxmlformats.org/officeDocument/2006/relationships/notesMaster" Target="notesMasters/notesMaster1.xml"/><Relationship Id="rId3" Type="http://schemas.openxmlformats.org/officeDocument/2006/relationships/slide" Target="slides/slide1.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116" Type="http://schemas.openxmlformats.org/officeDocument/2006/relationships/slide" Target="slides/slide114.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88" Type="http://schemas.openxmlformats.org/officeDocument/2006/relationships/slide" Target="slides/slide86.xml"/><Relationship Id="rId111" Type="http://schemas.openxmlformats.org/officeDocument/2006/relationships/slide" Target="slides/slide10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106" Type="http://schemas.openxmlformats.org/officeDocument/2006/relationships/slide" Target="slides/slide104.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78" Type="http://schemas.openxmlformats.org/officeDocument/2006/relationships/slide" Target="slides/slide76.xml"/><Relationship Id="rId94" Type="http://schemas.openxmlformats.org/officeDocument/2006/relationships/slide" Target="slides/slide92.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solidFill>
                  <a:schemeClr val="tx1"/>
                </a:solidFill>
                <a:latin typeface="Arial" charset="0"/>
                <a:ea typeface="宋体" pitchFamily="2" charset="-122"/>
              </a:defRPr>
            </a:lvl1pPr>
          </a:lstStyle>
          <a:p>
            <a:pPr>
              <a:defRPr/>
            </a:pPr>
            <a:endParaRPr lang="zh-CN" altLang="en-US"/>
          </a:p>
        </p:txBody>
      </p:sp>
      <p:sp>
        <p:nvSpPr>
          <p:cNvPr id="15363"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solidFill>
                  <a:schemeClr val="tx1"/>
                </a:solidFill>
                <a:latin typeface="Arial" charset="0"/>
                <a:ea typeface="宋体" pitchFamily="2" charset="-122"/>
              </a:defRPr>
            </a:lvl1pPr>
          </a:lstStyle>
          <a:p>
            <a:pPr>
              <a:defRPr/>
            </a:pPr>
            <a:endParaRPr lang="en-US" altLang="zh-CN"/>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15366"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solidFill>
                  <a:schemeClr val="tx1"/>
                </a:solidFill>
                <a:latin typeface="Arial" charset="0"/>
                <a:ea typeface="宋体" pitchFamily="2" charset="-122"/>
              </a:defRPr>
            </a:lvl1pPr>
          </a:lstStyle>
          <a:p>
            <a:pPr>
              <a:defRPr/>
            </a:pPr>
            <a:endParaRPr lang="en-US" altLang="zh-CN"/>
          </a:p>
        </p:txBody>
      </p:sp>
      <p:sp>
        <p:nvSpPr>
          <p:cNvPr id="15367"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solidFill>
                  <a:schemeClr val="tx1"/>
                </a:solidFill>
                <a:latin typeface="Arial" pitchFamily="34" charset="0"/>
                <a:ea typeface="宋体" pitchFamily="2" charset="-122"/>
              </a:defRPr>
            </a:lvl1pPr>
          </a:lstStyle>
          <a:p>
            <a:fld id="{94CF1B10-5022-41EE-961F-C1A675BA096D}" type="slidenum">
              <a:rPr lang="zh-CN" altLang="en-US"/>
              <a:pPr/>
              <a:t>‹#›</a:t>
            </a:fld>
            <a:endParaRPr lang="en-US" altLang="zh-CN"/>
          </a:p>
        </p:txBody>
      </p:sp>
    </p:spTree>
    <p:extLst>
      <p:ext uri="{BB962C8B-B14F-4D97-AF65-F5344CB8AC3E}">
        <p14:creationId xmlns:p14="http://schemas.microsoft.com/office/powerpoint/2010/main" val="20040311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5"/>
          <p:cNvSpPr>
            <a:spLocks noGrp="1" noChangeArrowheads="1"/>
          </p:cNvSpPr>
          <p:nvPr>
            <p:ph type="dt" sz="half" idx="10"/>
          </p:nvPr>
        </p:nvSpPr>
        <p:spPr>
          <a:ln/>
        </p:spPr>
        <p:txBody>
          <a:bodyPr/>
          <a:lstStyle>
            <a:lvl1pPr>
              <a:defRPr/>
            </a:lvl1pPr>
          </a:lstStyle>
          <a:p>
            <a:pPr>
              <a:defRPr/>
            </a:pPr>
            <a:fld id="{BE7AC20D-8F3F-4907-A118-5738A52A57FF}"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r>
              <a:rPr lang="en-US" altLang="zh-CN"/>
              <a:t>50</a:t>
            </a:r>
            <a:r>
              <a:rPr lang="zh-CN" altLang="en-US"/>
              <a:t>－</a:t>
            </a:r>
            <a:fld id="{DE6C7564-9A12-466A-9EB9-1504DE9AE466}" type="slidenum">
              <a:rPr lang="en-US" altLang="zh-CN"/>
              <a:pPr/>
              <a:t>‹#›</a:t>
            </a:fld>
            <a:endParaRPr lang="en-US" altLang="zh-CN"/>
          </a:p>
        </p:txBody>
      </p:sp>
    </p:spTree>
    <p:extLst>
      <p:ext uri="{BB962C8B-B14F-4D97-AF65-F5344CB8AC3E}">
        <p14:creationId xmlns:p14="http://schemas.microsoft.com/office/powerpoint/2010/main" val="2687135315"/>
      </p:ext>
    </p:extLst>
  </p:cSld>
  <p:clrMapOvr>
    <a:masterClrMapping/>
  </p:clrMapOvr>
  <p:transition/>
  <p:hf sldNum="0"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5D8A6120-E186-43D4-B943-3196745B1CEA}"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a:lvl1pPr>
          </a:lstStyle>
          <a:p>
            <a:r>
              <a:rPr lang="en-US" altLang="zh-CN"/>
              <a:t>50</a:t>
            </a:r>
            <a:r>
              <a:rPr lang="zh-CN" altLang="en-US"/>
              <a:t>－</a:t>
            </a:r>
            <a:fld id="{AD880BA4-5C7A-44E8-A63B-9B05D9EF5D5D}" type="slidenum">
              <a:rPr lang="en-US" altLang="zh-CN"/>
              <a:pPr/>
              <a:t>‹#›</a:t>
            </a:fld>
            <a:endParaRPr lang="en-US" altLang="zh-CN"/>
          </a:p>
        </p:txBody>
      </p:sp>
    </p:spTree>
    <p:extLst>
      <p:ext uri="{BB962C8B-B14F-4D97-AF65-F5344CB8AC3E}">
        <p14:creationId xmlns:p14="http://schemas.microsoft.com/office/powerpoint/2010/main" val="1102861199"/>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5"/>
          <p:cNvSpPr>
            <a:spLocks noGrp="1" noChangeArrowheads="1"/>
          </p:cNvSpPr>
          <p:nvPr>
            <p:ph type="dt" sz="half" idx="10"/>
          </p:nvPr>
        </p:nvSpPr>
        <p:spPr/>
        <p:txBody>
          <a:bodyPr/>
          <a:lstStyle>
            <a:lvl1pPr>
              <a:defRPr/>
            </a:lvl1pPr>
          </a:lstStyle>
          <a:p>
            <a:pPr>
              <a:defRPr/>
            </a:pPr>
            <a:fld id="{30E86345-AF3C-4C4B-9027-4641BF58FCE3}"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a:lvl1pPr>
          </a:lstStyle>
          <a:p>
            <a:r>
              <a:rPr lang="en-US" altLang="zh-CN"/>
              <a:t>50</a:t>
            </a:r>
            <a:r>
              <a:rPr lang="zh-CN" altLang="en-US"/>
              <a:t>－</a:t>
            </a:r>
            <a:fld id="{849F599D-5150-461A-BFA5-BF1F60CBF128}" type="slidenum">
              <a:rPr lang="en-US" altLang="zh-CN"/>
              <a:pPr/>
              <a:t>‹#›</a:t>
            </a:fld>
            <a:endParaRPr lang="en-US" altLang="zh-CN"/>
          </a:p>
        </p:txBody>
      </p:sp>
    </p:spTree>
    <p:extLst>
      <p:ext uri="{BB962C8B-B14F-4D97-AF65-F5344CB8AC3E}">
        <p14:creationId xmlns:p14="http://schemas.microsoft.com/office/powerpoint/2010/main" val="3553674126"/>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fld id="{B0B735CA-E6E9-4716-BF6C-1A2F59AD52DA}"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a:lvl1pPr>
          </a:lstStyle>
          <a:p>
            <a:r>
              <a:rPr lang="en-US" altLang="zh-CN"/>
              <a:t>50</a:t>
            </a:r>
            <a:r>
              <a:rPr lang="zh-CN" altLang="en-US"/>
              <a:t>－</a:t>
            </a:r>
            <a:fld id="{2D8AF6A3-CCA4-41D0-949B-493952198332}" type="slidenum">
              <a:rPr lang="en-US" altLang="zh-CN"/>
              <a:pPr/>
              <a:t>‹#›</a:t>
            </a:fld>
            <a:endParaRPr lang="en-US" altLang="zh-CN"/>
          </a:p>
        </p:txBody>
      </p:sp>
    </p:spTree>
    <p:extLst>
      <p:ext uri="{BB962C8B-B14F-4D97-AF65-F5344CB8AC3E}">
        <p14:creationId xmlns:p14="http://schemas.microsoft.com/office/powerpoint/2010/main" val="4243319828"/>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p:txBody>
          <a:bodyPr/>
          <a:lstStyle>
            <a:lvl1pPr>
              <a:defRPr/>
            </a:lvl1pPr>
          </a:lstStyle>
          <a:p>
            <a:pPr>
              <a:defRPr/>
            </a:pPr>
            <a:fld id="{2E083ED7-C109-4068-80EA-12B4D386EFD6}" type="datetime1">
              <a:rPr lang="zh-CN" altLang="en-US"/>
              <a:pPr>
                <a:defRPr/>
              </a:pPr>
              <a:t>2020/9/7</a:t>
            </a:fld>
            <a:endParaRPr lang="en-US" altLang="zh-CN"/>
          </a:p>
        </p:txBody>
      </p:sp>
      <p:sp>
        <p:nvSpPr>
          <p:cNvPr id="8"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9" name="Rectangle 7"/>
          <p:cNvSpPr>
            <a:spLocks noGrp="1" noChangeArrowheads="1"/>
          </p:cNvSpPr>
          <p:nvPr>
            <p:ph type="sldNum" sz="quarter" idx="12"/>
          </p:nvPr>
        </p:nvSpPr>
        <p:spPr/>
        <p:txBody>
          <a:bodyPr/>
          <a:lstStyle>
            <a:lvl1pPr>
              <a:defRPr/>
            </a:lvl1pPr>
          </a:lstStyle>
          <a:p>
            <a:r>
              <a:rPr lang="en-US" altLang="zh-CN"/>
              <a:t>50</a:t>
            </a:r>
            <a:r>
              <a:rPr lang="zh-CN" altLang="en-US"/>
              <a:t>－</a:t>
            </a:r>
            <a:fld id="{731C9983-CB90-4A5C-B121-7C334D05926E}" type="slidenum">
              <a:rPr lang="en-US" altLang="zh-CN"/>
              <a:pPr/>
              <a:t>‹#›</a:t>
            </a:fld>
            <a:endParaRPr lang="en-US" altLang="zh-CN"/>
          </a:p>
        </p:txBody>
      </p:sp>
    </p:spTree>
    <p:extLst>
      <p:ext uri="{BB962C8B-B14F-4D97-AF65-F5344CB8AC3E}">
        <p14:creationId xmlns:p14="http://schemas.microsoft.com/office/powerpoint/2010/main" val="2362808491"/>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p:txBody>
          <a:bodyPr/>
          <a:lstStyle>
            <a:lvl1pPr>
              <a:defRPr/>
            </a:lvl1pPr>
          </a:lstStyle>
          <a:p>
            <a:pPr>
              <a:defRPr/>
            </a:pPr>
            <a:fld id="{E46AF7C6-AE84-4387-8EE3-8BCEA7E5094F}" type="datetime1">
              <a:rPr lang="zh-CN" altLang="en-US"/>
              <a:pPr>
                <a:defRPr/>
              </a:pPr>
              <a:t>2020/9/7</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p:txBody>
          <a:bodyPr/>
          <a:lstStyle>
            <a:lvl1pPr>
              <a:defRPr/>
            </a:lvl1pPr>
          </a:lstStyle>
          <a:p>
            <a:r>
              <a:rPr lang="en-US" altLang="zh-CN"/>
              <a:t>50</a:t>
            </a:r>
            <a:r>
              <a:rPr lang="zh-CN" altLang="en-US"/>
              <a:t>－</a:t>
            </a:r>
            <a:fld id="{792D6C9C-ECF4-451D-AB55-9F57FD03CF17}" type="slidenum">
              <a:rPr lang="en-US" altLang="zh-CN"/>
              <a:pPr/>
              <a:t>‹#›</a:t>
            </a:fld>
            <a:endParaRPr lang="en-US" altLang="zh-CN"/>
          </a:p>
        </p:txBody>
      </p:sp>
    </p:spTree>
    <p:extLst>
      <p:ext uri="{BB962C8B-B14F-4D97-AF65-F5344CB8AC3E}">
        <p14:creationId xmlns:p14="http://schemas.microsoft.com/office/powerpoint/2010/main" val="2452002085"/>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p:txBody>
          <a:bodyPr/>
          <a:lstStyle>
            <a:lvl1pPr>
              <a:defRPr/>
            </a:lvl1pPr>
          </a:lstStyle>
          <a:p>
            <a:pPr>
              <a:defRPr/>
            </a:pPr>
            <a:fld id="{B699FD3F-ADFC-4244-A31B-401B9A376FC3}" type="datetime1">
              <a:rPr lang="zh-CN" altLang="en-US"/>
              <a:pPr>
                <a:defRPr/>
              </a:pPr>
              <a:t>2020/9/7</a:t>
            </a:fld>
            <a:endParaRPr lang="en-US" altLang="zh-CN"/>
          </a:p>
        </p:txBody>
      </p:sp>
      <p:sp>
        <p:nvSpPr>
          <p:cNvPr id="3"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4" name="Rectangle 7"/>
          <p:cNvSpPr>
            <a:spLocks noGrp="1" noChangeArrowheads="1"/>
          </p:cNvSpPr>
          <p:nvPr>
            <p:ph type="sldNum" sz="quarter" idx="12"/>
          </p:nvPr>
        </p:nvSpPr>
        <p:spPr/>
        <p:txBody>
          <a:bodyPr/>
          <a:lstStyle>
            <a:lvl1pPr>
              <a:defRPr/>
            </a:lvl1pPr>
          </a:lstStyle>
          <a:p>
            <a:r>
              <a:rPr lang="en-US" altLang="zh-CN"/>
              <a:t>50</a:t>
            </a:r>
            <a:r>
              <a:rPr lang="zh-CN" altLang="en-US"/>
              <a:t>－</a:t>
            </a:r>
            <a:fld id="{F0CEB86C-F81A-41FF-9AC1-BD1700B7BA84}" type="slidenum">
              <a:rPr lang="en-US" altLang="zh-CN"/>
              <a:pPr/>
              <a:t>‹#›</a:t>
            </a:fld>
            <a:endParaRPr lang="en-US" altLang="zh-CN"/>
          </a:p>
        </p:txBody>
      </p:sp>
    </p:spTree>
    <p:extLst>
      <p:ext uri="{BB962C8B-B14F-4D97-AF65-F5344CB8AC3E}">
        <p14:creationId xmlns:p14="http://schemas.microsoft.com/office/powerpoint/2010/main" val="644589122"/>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DAB24655-4FD3-415A-BE76-4111F519543F}"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a:lvl1pPr>
          </a:lstStyle>
          <a:p>
            <a:r>
              <a:rPr lang="en-US" altLang="zh-CN"/>
              <a:t>50</a:t>
            </a:r>
            <a:r>
              <a:rPr lang="zh-CN" altLang="en-US"/>
              <a:t>－</a:t>
            </a:r>
            <a:fld id="{82BACCDE-02C1-4590-BF29-10FC4AEAFAD3}" type="slidenum">
              <a:rPr lang="en-US" altLang="zh-CN"/>
              <a:pPr/>
              <a:t>‹#›</a:t>
            </a:fld>
            <a:endParaRPr lang="en-US" altLang="zh-CN"/>
          </a:p>
        </p:txBody>
      </p:sp>
    </p:spTree>
    <p:extLst>
      <p:ext uri="{BB962C8B-B14F-4D97-AF65-F5344CB8AC3E}">
        <p14:creationId xmlns:p14="http://schemas.microsoft.com/office/powerpoint/2010/main" val="1158502103"/>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5"/>
          <p:cNvSpPr>
            <a:spLocks noGrp="1" noChangeArrowheads="1"/>
          </p:cNvSpPr>
          <p:nvPr>
            <p:ph type="dt" sz="half" idx="10"/>
          </p:nvPr>
        </p:nvSpPr>
        <p:spPr/>
        <p:txBody>
          <a:bodyPr/>
          <a:lstStyle>
            <a:lvl1pPr>
              <a:defRPr/>
            </a:lvl1pPr>
          </a:lstStyle>
          <a:p>
            <a:pPr>
              <a:defRPr/>
            </a:pPr>
            <a:fld id="{A8A9C2BD-3609-4C94-B8D5-02CAC32EB78D}" type="datetime1">
              <a:rPr lang="zh-CN" altLang="en-US"/>
              <a:pPr>
                <a:defRPr/>
              </a:pPr>
              <a:t>2020/9/7</a:t>
            </a:fld>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7" name="Rectangle 7"/>
          <p:cNvSpPr>
            <a:spLocks noGrp="1" noChangeArrowheads="1"/>
          </p:cNvSpPr>
          <p:nvPr>
            <p:ph type="sldNum" sz="quarter" idx="12"/>
          </p:nvPr>
        </p:nvSpPr>
        <p:spPr/>
        <p:txBody>
          <a:bodyPr/>
          <a:lstStyle>
            <a:lvl1pPr>
              <a:defRPr/>
            </a:lvl1pPr>
          </a:lstStyle>
          <a:p>
            <a:r>
              <a:rPr lang="en-US" altLang="zh-CN"/>
              <a:t>50</a:t>
            </a:r>
            <a:r>
              <a:rPr lang="zh-CN" altLang="en-US"/>
              <a:t>－</a:t>
            </a:r>
            <a:fld id="{97066D60-20C4-45AA-9CCF-1A5B98EDBA05}" type="slidenum">
              <a:rPr lang="en-US" altLang="zh-CN"/>
              <a:pPr/>
              <a:t>‹#›</a:t>
            </a:fld>
            <a:endParaRPr lang="en-US" altLang="zh-CN"/>
          </a:p>
        </p:txBody>
      </p:sp>
    </p:spTree>
    <p:extLst>
      <p:ext uri="{BB962C8B-B14F-4D97-AF65-F5344CB8AC3E}">
        <p14:creationId xmlns:p14="http://schemas.microsoft.com/office/powerpoint/2010/main" val="1283382996"/>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p:txBody>
          <a:bodyPr/>
          <a:lstStyle>
            <a:lvl1pPr>
              <a:defRPr/>
            </a:lvl1pPr>
          </a:lstStyle>
          <a:p>
            <a:pPr>
              <a:defRPr/>
            </a:pPr>
            <a:fld id="{C259060D-96EA-40F3-8C5C-F091F31FC17E}" type="datetime1">
              <a:rPr lang="zh-CN" altLang="en-US"/>
              <a:pPr>
                <a:defRPr/>
              </a:pPr>
              <a:t>2020/9/7</a:t>
            </a:fld>
            <a:endParaRPr lang="en-US" altLang="zh-CN"/>
          </a:p>
        </p:txBody>
      </p:sp>
      <p:sp>
        <p:nvSpPr>
          <p:cNvPr id="5"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p:txBody>
          <a:bodyPr/>
          <a:lstStyle>
            <a:lvl1pPr>
              <a:defRPr/>
            </a:lvl1pPr>
          </a:lstStyle>
          <a:p>
            <a:r>
              <a:rPr lang="en-US" altLang="zh-CN"/>
              <a:t>50</a:t>
            </a:r>
            <a:r>
              <a:rPr lang="zh-CN" altLang="en-US"/>
              <a:t>－</a:t>
            </a:r>
            <a:fld id="{84B78B99-6F08-4674-8522-4DB4B4BEE68B}" type="slidenum">
              <a:rPr lang="en-US" altLang="zh-CN"/>
              <a:pPr/>
              <a:t>‹#›</a:t>
            </a:fld>
            <a:endParaRPr lang="en-US" altLang="zh-CN"/>
          </a:p>
        </p:txBody>
      </p:sp>
    </p:spTree>
    <p:extLst>
      <p:ext uri="{BB962C8B-B14F-4D97-AF65-F5344CB8AC3E}">
        <p14:creationId xmlns:p14="http://schemas.microsoft.com/office/powerpoint/2010/main" val="2103443849"/>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fld id="{9A8665F4-C0C6-42FA-AA5D-E412992B2D38}" type="datetime1">
              <a:rPr lang="zh-CN" altLang="en-US"/>
              <a:pPr>
                <a:defRPr/>
              </a:pPr>
              <a:t>2020/9/7</a:t>
            </a:fld>
            <a:endParaRPr lang="en-US" altLang="zh-CN"/>
          </a:p>
        </p:txBody>
      </p:sp>
      <p:sp>
        <p:nvSpPr>
          <p:cNvPr id="5" name="Rectangle 6"/>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7"/>
          <p:cNvSpPr>
            <a:spLocks noGrp="1" noChangeArrowheads="1"/>
          </p:cNvSpPr>
          <p:nvPr>
            <p:ph type="sldNum" sz="quarter" idx="12"/>
          </p:nvPr>
        </p:nvSpPr>
        <p:spPr>
          <a:ln/>
        </p:spPr>
        <p:txBody>
          <a:bodyPr/>
          <a:lstStyle>
            <a:lvl1pPr>
              <a:defRPr/>
            </a:lvl1pPr>
          </a:lstStyle>
          <a:p>
            <a:r>
              <a:rPr lang="en-US" altLang="zh-CN"/>
              <a:t>50</a:t>
            </a:r>
            <a:r>
              <a:rPr lang="zh-CN" altLang="en-US"/>
              <a:t>－</a:t>
            </a:r>
            <a:fld id="{0B975179-663B-40ED-89C5-5420E12687A7}" type="slidenum">
              <a:rPr lang="en-US" altLang="zh-CN"/>
              <a:pPr/>
              <a:t>‹#›</a:t>
            </a:fld>
            <a:endParaRPr lang="en-US" altLang="zh-CN"/>
          </a:p>
        </p:txBody>
      </p:sp>
    </p:spTree>
    <p:extLst>
      <p:ext uri="{BB962C8B-B14F-4D97-AF65-F5344CB8AC3E}">
        <p14:creationId xmlns:p14="http://schemas.microsoft.com/office/powerpoint/2010/main" val="795089514"/>
      </p:ext>
    </p:extLst>
  </p:cSld>
  <p:clrMapOvr>
    <a:masterClrMapping/>
  </p:clrMapOvr>
  <p:transition/>
  <p:hf sldNum="0"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84213" y="609600"/>
            <a:ext cx="7773987" cy="5494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fld id="{4697EE17-6FE2-4539-9866-2F5B65828087}" type="datetime1">
              <a:rPr lang="zh-CN" altLang="en-US"/>
              <a:pPr>
                <a:defRPr/>
              </a:pPr>
              <a:t>2020/9/7</a:t>
            </a:fld>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r>
              <a:rPr lang="zh-CN" altLang="en-US"/>
              <a:t>计算机应用技术研究所</a:t>
            </a:r>
          </a:p>
        </p:txBody>
      </p:sp>
      <p:sp>
        <p:nvSpPr>
          <p:cNvPr id="5" name="Rectangle 7"/>
          <p:cNvSpPr>
            <a:spLocks noGrp="1" noChangeArrowheads="1"/>
          </p:cNvSpPr>
          <p:nvPr>
            <p:ph type="sldNum" sz="quarter" idx="12"/>
          </p:nvPr>
        </p:nvSpPr>
        <p:spPr/>
        <p:txBody>
          <a:bodyPr/>
          <a:lstStyle>
            <a:lvl1pPr>
              <a:defRPr/>
            </a:lvl1pPr>
          </a:lstStyle>
          <a:p>
            <a:r>
              <a:rPr lang="en-US" altLang="zh-CN"/>
              <a:t>50</a:t>
            </a:r>
            <a:r>
              <a:rPr lang="zh-CN" altLang="en-US"/>
              <a:t>－</a:t>
            </a:r>
            <a:fld id="{55A0B838-7F9E-4F37-B243-1F1CCE3CEF90}" type="slidenum">
              <a:rPr lang="en-US" altLang="zh-CN"/>
              <a:pPr/>
              <a:t>‹#›</a:t>
            </a:fld>
            <a:endParaRPr lang="en-US" altLang="zh-CN"/>
          </a:p>
        </p:txBody>
      </p:sp>
    </p:spTree>
    <p:extLst>
      <p:ext uri="{BB962C8B-B14F-4D97-AF65-F5344CB8AC3E}">
        <p14:creationId xmlns:p14="http://schemas.microsoft.com/office/powerpoint/2010/main" val="1796143321"/>
      </p:ext>
    </p:extLst>
  </p:cSld>
  <p:clrMapOvr>
    <a:masterClrMapping/>
  </p:clrMapOvr>
  <p:transition spd="med">
    <p:wipe dir="r"/>
  </p:transition>
  <p:hf sldNum="0"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showMasterPhAnim="0" type="title">
  <p:cSld name="1_标题幻灯片">
    <p:spTree>
      <p:nvGrpSpPr>
        <p:cNvPr id="1" name=""/>
        <p:cNvGrpSpPr/>
        <p:nvPr/>
      </p:nvGrpSpPr>
      <p:grpSpPr>
        <a:xfrm>
          <a:off x="0" y="0"/>
          <a:ext cx="0" cy="0"/>
          <a:chOff x="0" y="0"/>
          <a:chExt cx="0" cy="0"/>
        </a:xfrm>
      </p:grpSpPr>
      <p:sp>
        <p:nvSpPr>
          <p:cNvPr id="293892" name="Rectangle 4"/>
          <p:cNvSpPr>
            <a:spLocks noGrp="1" noChangeArrowheads="1"/>
          </p:cNvSpPr>
          <p:nvPr>
            <p:ph type="ctrTitle"/>
          </p:nvPr>
        </p:nvSpPr>
        <p:spPr>
          <a:xfrm>
            <a:off x="1066800" y="692150"/>
            <a:ext cx="7696200" cy="1524000"/>
          </a:xfrm>
        </p:spPr>
        <p:txBody>
          <a:bodyPr tIns="0" bIns="0" anchor="b"/>
          <a:lstStyle>
            <a:lvl1pPr>
              <a:lnSpc>
                <a:spcPct val="85000"/>
              </a:lnSpc>
              <a:defRPr sz="5800">
                <a:solidFill>
                  <a:schemeClr val="tx2"/>
                </a:solidFill>
              </a:defRPr>
            </a:lvl1pPr>
          </a:lstStyle>
          <a:p>
            <a:pPr lvl="0"/>
            <a:r>
              <a:rPr lang="zh-CN" altLang="en-US" noProof="0"/>
              <a:t>单击此处编辑母版标题样式</a:t>
            </a:r>
            <a:endParaRPr lang="en-US" altLang="en-US" noProof="0"/>
          </a:p>
        </p:txBody>
      </p:sp>
    </p:spTree>
    <p:extLst>
      <p:ext uri="{BB962C8B-B14F-4D97-AF65-F5344CB8AC3E}">
        <p14:creationId xmlns:p14="http://schemas.microsoft.com/office/powerpoint/2010/main" val="1083051308"/>
      </p:ext>
    </p:extLst>
  </p:cSld>
  <p:clrMapOvr>
    <a:masterClrMapping/>
  </p:clrMapOvr>
  <p:transition spd="med">
    <p:wipe dir="r"/>
  </p:transition>
  <p:hf sldNum="0"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611188" y="696913"/>
            <a:ext cx="8064500" cy="923925"/>
          </a:xfrm>
        </p:spPr>
        <p:txBody>
          <a:bodyPr/>
          <a:lstStyle/>
          <a:p>
            <a:r>
              <a:rPr lang="zh-CN" altLang="en-US"/>
              <a:t>单击此处编辑母版标题样式</a:t>
            </a:r>
          </a:p>
        </p:txBody>
      </p:sp>
      <p:sp>
        <p:nvSpPr>
          <p:cNvPr id="3" name="文本占位符 2"/>
          <p:cNvSpPr>
            <a:spLocks noGrp="1"/>
          </p:cNvSpPr>
          <p:nvPr>
            <p:ph type="body" sz="half" idx="1"/>
          </p:nvPr>
        </p:nvSpPr>
        <p:spPr>
          <a:xfrm>
            <a:off x="611188" y="1795463"/>
            <a:ext cx="3956050" cy="458628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719638" y="1795463"/>
            <a:ext cx="3956050" cy="22161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719638" y="4164013"/>
            <a:ext cx="3956050" cy="2217737"/>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250825" y="6405563"/>
            <a:ext cx="1512888" cy="336550"/>
          </a:xfrm>
        </p:spPr>
        <p:txBody>
          <a:bodyPr/>
          <a:lstStyle>
            <a:lvl1pPr>
              <a:defRPr/>
            </a:lvl1pPr>
          </a:lstStyle>
          <a:p>
            <a:pPr>
              <a:defRPr/>
            </a:pPr>
            <a:fld id="{74A5E1C6-09FE-4721-B465-DBEF5CCE6793}" type="datetime1">
              <a:rPr lang="zh-CN" altLang="en-US"/>
              <a:pPr>
                <a:defRPr/>
              </a:pPr>
              <a:t>2020/9/7</a:t>
            </a:fld>
            <a:endParaRPr lang="en-US" altLang="zh-CN"/>
          </a:p>
        </p:txBody>
      </p:sp>
      <p:sp>
        <p:nvSpPr>
          <p:cNvPr id="7" name="灯片编号占位符 6"/>
          <p:cNvSpPr>
            <a:spLocks noGrp="1"/>
          </p:cNvSpPr>
          <p:nvPr>
            <p:ph type="sldNum" sz="quarter" idx="11"/>
          </p:nvPr>
        </p:nvSpPr>
        <p:spPr>
          <a:xfrm>
            <a:off x="7947025" y="6405563"/>
            <a:ext cx="1162050" cy="336550"/>
          </a:xfrm>
        </p:spPr>
        <p:txBody>
          <a:bodyPr/>
          <a:lstStyle>
            <a:lvl1pPr>
              <a:defRPr/>
            </a:lvl1pPr>
          </a:lstStyle>
          <a:p>
            <a:r>
              <a:rPr lang="en-US" altLang="zh-CN"/>
              <a:t>50</a:t>
            </a:r>
            <a:r>
              <a:rPr lang="zh-CN" altLang="en-US"/>
              <a:t>－</a:t>
            </a:r>
            <a:fld id="{92534DE7-4254-4473-B829-B65DC549B3F6}" type="slidenum">
              <a:rPr lang="en-US" altLang="zh-CN"/>
              <a:pPr/>
              <a:t>‹#›</a:t>
            </a:fld>
            <a:endParaRPr lang="en-US" altLang="zh-CN"/>
          </a:p>
        </p:txBody>
      </p:sp>
    </p:spTree>
    <p:extLst>
      <p:ext uri="{BB962C8B-B14F-4D97-AF65-F5344CB8AC3E}">
        <p14:creationId xmlns:p14="http://schemas.microsoft.com/office/powerpoint/2010/main" val="3113960908"/>
      </p:ext>
    </p:extLst>
  </p:cSld>
  <p:clrMapOvr>
    <a:masterClrMapping/>
  </p:clrMapOvr>
  <p:transition spd="med">
    <p:wipe dir="r"/>
  </p:transition>
  <p:hf sldNum="0"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fld id="{3E695DAE-2273-45E0-95A2-2E6B6B23BAF5}"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CC84C42B-B48E-407A-BF65-25DC972F3008}" type="slidenum">
              <a:rPr lang="en-US" altLang="zh-CN"/>
              <a:pPr/>
              <a:t>‹#›</a:t>
            </a:fld>
            <a:endParaRPr lang="en-US" altLang="zh-CN"/>
          </a:p>
        </p:txBody>
      </p:sp>
    </p:spTree>
    <p:extLst>
      <p:ext uri="{BB962C8B-B14F-4D97-AF65-F5344CB8AC3E}">
        <p14:creationId xmlns:p14="http://schemas.microsoft.com/office/powerpoint/2010/main" val="1598408685"/>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DCE9EA9B-F5DB-458B-A0DC-59E90F777460}"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03882780-B59F-4083-A0CB-6FF804ECB688}" type="slidenum">
              <a:rPr lang="en-US" altLang="zh-CN"/>
              <a:pPr/>
              <a:t>‹#›</a:t>
            </a:fld>
            <a:endParaRPr lang="en-US" altLang="zh-CN"/>
          </a:p>
        </p:txBody>
      </p:sp>
    </p:spTree>
    <p:extLst>
      <p:ext uri="{BB962C8B-B14F-4D97-AF65-F5344CB8AC3E}">
        <p14:creationId xmlns:p14="http://schemas.microsoft.com/office/powerpoint/2010/main" val="904252885"/>
      </p:ext>
    </p:extLst>
  </p:cSld>
  <p:clrMapOvr>
    <a:masterClrMapping/>
  </p:clrMapOv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fld id="{728A7983-FEAC-4AB8-901D-40746366D7D3}"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75EBFBAD-DDD6-4D7D-AC01-AD7FE7CEB19D}" type="slidenum">
              <a:rPr lang="en-US" altLang="zh-CN"/>
              <a:pPr/>
              <a:t>‹#›</a:t>
            </a:fld>
            <a:endParaRPr lang="en-US" altLang="zh-CN"/>
          </a:p>
        </p:txBody>
      </p:sp>
    </p:spTree>
    <p:extLst>
      <p:ext uri="{BB962C8B-B14F-4D97-AF65-F5344CB8AC3E}">
        <p14:creationId xmlns:p14="http://schemas.microsoft.com/office/powerpoint/2010/main" val="3702511474"/>
      </p:ext>
    </p:extLst>
  </p:cSld>
  <p:clrMapOvr>
    <a:masterClrMapping/>
  </p:clrMapOv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42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6613" y="1989138"/>
            <a:ext cx="38100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fld id="{4C861E5D-FEC9-4B62-810A-C82CE7FC7D13}" type="datetime1">
              <a:rPr lang="zh-CN" altLang="en-US"/>
              <a:pPr>
                <a:defRPr/>
              </a:pPr>
              <a:t>2020/9/7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a:ln/>
        </p:spPr>
        <p:txBody>
          <a:bodyPr/>
          <a:lstStyle>
            <a:lvl1pPr>
              <a:defRPr/>
            </a:lvl1pPr>
          </a:lstStyle>
          <a:p>
            <a:fld id="{689A61DB-617C-473A-9D57-499FB14494E7}" type="slidenum">
              <a:rPr lang="en-US" altLang="zh-CN"/>
              <a:pPr/>
              <a:t>‹#›</a:t>
            </a:fld>
            <a:endParaRPr lang="en-US" altLang="zh-CN"/>
          </a:p>
        </p:txBody>
      </p:sp>
    </p:spTree>
    <p:extLst>
      <p:ext uri="{BB962C8B-B14F-4D97-AF65-F5344CB8AC3E}">
        <p14:creationId xmlns:p14="http://schemas.microsoft.com/office/powerpoint/2010/main" val="4135552680"/>
      </p:ext>
    </p:extLst>
  </p:cSld>
  <p:clrMapOvr>
    <a:masterClrMapping/>
  </p:clrMapOv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fld id="{F8CA45B3-BBD9-45BF-8069-CFD7262CCE9D}" type="datetime1">
              <a:rPr lang="zh-CN" altLang="en-US"/>
              <a:pPr>
                <a:defRPr/>
              </a:pPr>
              <a:t>2020/9/7</a:t>
            </a:fld>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9" name="Rectangle 6"/>
          <p:cNvSpPr>
            <a:spLocks noGrp="1" noChangeArrowheads="1"/>
          </p:cNvSpPr>
          <p:nvPr>
            <p:ph type="sldNum" sz="quarter" idx="12"/>
          </p:nvPr>
        </p:nvSpPr>
        <p:spPr>
          <a:ln/>
        </p:spPr>
        <p:txBody>
          <a:bodyPr/>
          <a:lstStyle>
            <a:lvl1pPr>
              <a:defRPr/>
            </a:lvl1pPr>
          </a:lstStyle>
          <a:p>
            <a:fld id="{56E1DB9A-6336-4E68-A4CE-A8CF4B963232}" type="slidenum">
              <a:rPr lang="en-US" altLang="zh-CN"/>
              <a:pPr/>
              <a:t>‹#›</a:t>
            </a:fld>
            <a:endParaRPr lang="en-US" altLang="zh-CN"/>
          </a:p>
        </p:txBody>
      </p:sp>
    </p:spTree>
    <p:extLst>
      <p:ext uri="{BB962C8B-B14F-4D97-AF65-F5344CB8AC3E}">
        <p14:creationId xmlns:p14="http://schemas.microsoft.com/office/powerpoint/2010/main" val="2614329244"/>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fld id="{91940F0B-56DB-462C-BFAF-A05E544F02BE}" type="datetime1">
              <a:rPr lang="zh-CN" altLang="en-US"/>
              <a:pPr>
                <a:defRPr/>
              </a:pPr>
              <a:t>2020/9/7</a:t>
            </a:fld>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5" name="Rectangle 6"/>
          <p:cNvSpPr>
            <a:spLocks noGrp="1" noChangeArrowheads="1"/>
          </p:cNvSpPr>
          <p:nvPr>
            <p:ph type="sldNum" sz="quarter" idx="12"/>
          </p:nvPr>
        </p:nvSpPr>
        <p:spPr>
          <a:ln/>
        </p:spPr>
        <p:txBody>
          <a:bodyPr/>
          <a:lstStyle>
            <a:lvl1pPr>
              <a:defRPr/>
            </a:lvl1pPr>
          </a:lstStyle>
          <a:p>
            <a:fld id="{B029023E-088C-4E11-9C6B-101C34E2D8E5}" type="slidenum">
              <a:rPr lang="en-US" altLang="zh-CN"/>
              <a:pPr/>
              <a:t>‹#›</a:t>
            </a:fld>
            <a:endParaRPr lang="en-US" altLang="zh-CN"/>
          </a:p>
        </p:txBody>
      </p:sp>
    </p:spTree>
    <p:extLst>
      <p:ext uri="{BB962C8B-B14F-4D97-AF65-F5344CB8AC3E}">
        <p14:creationId xmlns:p14="http://schemas.microsoft.com/office/powerpoint/2010/main" val="776190045"/>
      </p:ext>
    </p:extLst>
  </p:cSld>
  <p:clrMapOvr>
    <a:masterClrMapping/>
  </p:clrMapOv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fld id="{35A3A942-D6AC-4CF9-89BB-B33A6A1EA0F7}" type="datetime1">
              <a:rPr lang="zh-CN" altLang="en-US"/>
              <a:pPr>
                <a:defRPr/>
              </a:pPr>
              <a:t>2020/9/7</a:t>
            </a:fld>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4" name="Rectangle 6"/>
          <p:cNvSpPr>
            <a:spLocks noGrp="1" noChangeArrowheads="1"/>
          </p:cNvSpPr>
          <p:nvPr>
            <p:ph type="sldNum" sz="quarter" idx="12"/>
          </p:nvPr>
        </p:nvSpPr>
        <p:spPr>
          <a:ln/>
        </p:spPr>
        <p:txBody>
          <a:bodyPr/>
          <a:lstStyle>
            <a:lvl1pPr>
              <a:defRPr/>
            </a:lvl1pPr>
          </a:lstStyle>
          <a:p>
            <a:fld id="{B0796786-1B90-42B1-892A-D4B9713718EE}" type="slidenum">
              <a:rPr lang="en-US" altLang="zh-CN"/>
              <a:pPr/>
              <a:t>‹#›</a:t>
            </a:fld>
            <a:endParaRPr lang="en-US" altLang="zh-CN"/>
          </a:p>
        </p:txBody>
      </p:sp>
    </p:spTree>
    <p:extLst>
      <p:ext uri="{BB962C8B-B14F-4D97-AF65-F5344CB8AC3E}">
        <p14:creationId xmlns:p14="http://schemas.microsoft.com/office/powerpoint/2010/main" val="170682466"/>
      </p:ext>
    </p:extLst>
  </p:cSld>
  <p:clrMapOvr>
    <a:masterClrMapping/>
  </p:clrMapOv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9818D6B5-72CE-4A6A-B001-5ADE95B278F4}" type="datetime1">
              <a:rPr lang="zh-CN" altLang="en-US"/>
              <a:pPr>
                <a:defRPr/>
              </a:pPr>
              <a:t>2020/9/7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a:ln/>
        </p:spPr>
        <p:txBody>
          <a:bodyPr/>
          <a:lstStyle>
            <a:lvl1pPr>
              <a:defRPr/>
            </a:lvl1pPr>
          </a:lstStyle>
          <a:p>
            <a:fld id="{8FB99411-C782-456A-B1C4-3A10F13C8E14}" type="slidenum">
              <a:rPr lang="en-US" altLang="zh-CN"/>
              <a:pPr/>
              <a:t>‹#›</a:t>
            </a:fld>
            <a:endParaRPr lang="en-US" altLang="zh-CN"/>
          </a:p>
        </p:txBody>
      </p:sp>
    </p:spTree>
    <p:extLst>
      <p:ext uri="{BB962C8B-B14F-4D97-AF65-F5344CB8AC3E}">
        <p14:creationId xmlns:p14="http://schemas.microsoft.com/office/powerpoint/2010/main" val="3107776819"/>
      </p:ext>
    </p:extLst>
  </p:cSld>
  <p:clrMapOvr>
    <a:masterClrMapping/>
  </p:clrMapOv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fld id="{C42D834D-B68A-481F-B700-60DD066712F4}" type="datetime1">
              <a:rPr lang="zh-CN" altLang="en-US"/>
              <a:pPr>
                <a:defRPr/>
              </a:pPr>
              <a:t>2020/9/7</a:t>
            </a:fld>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7" name="Rectangle 6"/>
          <p:cNvSpPr>
            <a:spLocks noGrp="1" noChangeArrowheads="1"/>
          </p:cNvSpPr>
          <p:nvPr>
            <p:ph type="sldNum" sz="quarter" idx="12"/>
          </p:nvPr>
        </p:nvSpPr>
        <p:spPr>
          <a:ln/>
        </p:spPr>
        <p:txBody>
          <a:bodyPr/>
          <a:lstStyle>
            <a:lvl1pPr>
              <a:defRPr/>
            </a:lvl1pPr>
          </a:lstStyle>
          <a:p>
            <a:fld id="{F5E7851F-30F5-4F95-A7D8-8599B269233A}" type="slidenum">
              <a:rPr lang="en-US" altLang="zh-CN"/>
              <a:pPr/>
              <a:t>‹#›</a:t>
            </a:fld>
            <a:endParaRPr lang="en-US" altLang="zh-CN"/>
          </a:p>
        </p:txBody>
      </p:sp>
    </p:spTree>
    <p:extLst>
      <p:ext uri="{BB962C8B-B14F-4D97-AF65-F5344CB8AC3E}">
        <p14:creationId xmlns:p14="http://schemas.microsoft.com/office/powerpoint/2010/main" val="892217354"/>
      </p:ext>
    </p:extLst>
  </p:cSld>
  <p:clrMapOvr>
    <a:masterClrMapping/>
  </p:clrMapOvr>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8C5FE059-002C-4D5F-A8A4-515825CD99C6}"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9DEFE5CC-4F7B-4C1D-A4DD-0E88192B0AC9}" type="slidenum">
              <a:rPr lang="en-US" altLang="zh-CN"/>
              <a:pPr/>
              <a:t>‹#›</a:t>
            </a:fld>
            <a:endParaRPr lang="en-US" altLang="zh-CN"/>
          </a:p>
        </p:txBody>
      </p:sp>
    </p:spTree>
    <p:extLst>
      <p:ext uri="{BB962C8B-B14F-4D97-AF65-F5344CB8AC3E}">
        <p14:creationId xmlns:p14="http://schemas.microsoft.com/office/powerpoint/2010/main" val="4277169663"/>
      </p:ext>
    </p:extLst>
  </p:cSld>
  <p:clrMapOvr>
    <a:masterClrMapping/>
  </p:clrMapOvr>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943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4213" y="609600"/>
            <a:ext cx="5678487" cy="54943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fld id="{A463A996-8500-4477-8465-3242C12A4399}" type="datetime1">
              <a:rPr lang="zh-CN" altLang="en-US"/>
              <a:pPr>
                <a:defRPr/>
              </a:pPr>
              <a:t>2020/9/7</a:t>
            </a:fld>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r>
              <a:rPr lang="zh-CN" altLang="en-US"/>
              <a:t>计算机应用技术研究所</a:t>
            </a:r>
          </a:p>
        </p:txBody>
      </p:sp>
      <p:sp>
        <p:nvSpPr>
          <p:cNvPr id="6" name="Rectangle 6"/>
          <p:cNvSpPr>
            <a:spLocks noGrp="1" noChangeArrowheads="1"/>
          </p:cNvSpPr>
          <p:nvPr>
            <p:ph type="sldNum" sz="quarter" idx="12"/>
          </p:nvPr>
        </p:nvSpPr>
        <p:spPr>
          <a:ln/>
        </p:spPr>
        <p:txBody>
          <a:bodyPr/>
          <a:lstStyle>
            <a:lvl1pPr>
              <a:defRPr/>
            </a:lvl1pPr>
          </a:lstStyle>
          <a:p>
            <a:fld id="{AE24252A-7E73-42BF-93EB-BDDEDD505C94}" type="slidenum">
              <a:rPr lang="en-US" altLang="zh-CN"/>
              <a:pPr/>
              <a:t>‹#›</a:t>
            </a:fld>
            <a:endParaRPr lang="en-US" altLang="zh-CN"/>
          </a:p>
        </p:txBody>
      </p:sp>
    </p:spTree>
    <p:extLst>
      <p:ext uri="{BB962C8B-B14F-4D97-AF65-F5344CB8AC3E}">
        <p14:creationId xmlns:p14="http://schemas.microsoft.com/office/powerpoint/2010/main" val="1016275557"/>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jpeg"/><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2.xml"/><Relationship Id="rId13" Type="http://schemas.openxmlformats.org/officeDocument/2006/relationships/image" Target="../media/image1.jpeg"/><Relationship Id="rId3" Type="http://schemas.openxmlformats.org/officeDocument/2006/relationships/slideLayout" Target="../slideLayouts/slideLayout17.xml"/><Relationship Id="rId7" Type="http://schemas.openxmlformats.org/officeDocument/2006/relationships/slideLayout" Target="../slideLayouts/slideLayout21.xml"/><Relationship Id="rId12" Type="http://schemas.openxmlformats.org/officeDocument/2006/relationships/theme" Target="../theme/theme2.xml"/><Relationship Id="rId2" Type="http://schemas.openxmlformats.org/officeDocument/2006/relationships/slideLayout" Target="../slideLayouts/slideLayout16.xml"/><Relationship Id="rId1" Type="http://schemas.openxmlformats.org/officeDocument/2006/relationships/slideLayout" Target="../slideLayouts/slideLayout15.xml"/><Relationship Id="rId6" Type="http://schemas.openxmlformats.org/officeDocument/2006/relationships/slideLayout" Target="../slideLayouts/slideLayout20.xml"/><Relationship Id="rId11" Type="http://schemas.openxmlformats.org/officeDocument/2006/relationships/slideLayout" Target="../slideLayouts/slideLayout25.xml"/><Relationship Id="rId5" Type="http://schemas.openxmlformats.org/officeDocument/2006/relationships/slideLayout" Target="../slideLayouts/slideLayout19.xml"/><Relationship Id="rId15" Type="http://schemas.openxmlformats.org/officeDocument/2006/relationships/image" Target="../media/image3.png"/><Relationship Id="rId10" Type="http://schemas.openxmlformats.org/officeDocument/2006/relationships/slideLayout" Target="../slideLayouts/slideLayout24.xml"/><Relationship Id="rId4" Type="http://schemas.openxmlformats.org/officeDocument/2006/relationships/slideLayout" Target="../slideLayouts/slideLayout18.xml"/><Relationship Id="rId9" Type="http://schemas.openxmlformats.org/officeDocument/2006/relationships/slideLayout" Target="../slideLayouts/slideLayout23.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6"/>
          <a:srcRect/>
          <a:stretch>
            <a:fillRect/>
          </a:stretch>
        </a:blipFill>
        <a:effectLst/>
      </p:bgPr>
    </p:bg>
    <p:spTree>
      <p:nvGrpSpPr>
        <p:cNvPr id="1" name=""/>
        <p:cNvGrpSpPr/>
        <p:nvPr/>
      </p:nvGrpSpPr>
      <p:grpSpPr>
        <a:xfrm>
          <a:off x="0" y="0"/>
          <a:ext cx="0" cy="0"/>
          <a:chOff x="0" y="0"/>
          <a:chExt cx="0" cy="0"/>
        </a:xfrm>
      </p:grpSpPr>
      <p:sp>
        <p:nvSpPr>
          <p:cNvPr id="1026" name="Rectangle 3"/>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4100" name="Rectangle 4"/>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101" name="Rectangle 5"/>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1">
                <a:ea typeface="黑体" pitchFamily="49" charset="-122"/>
              </a:defRPr>
            </a:lvl1pPr>
          </a:lstStyle>
          <a:p>
            <a:pPr>
              <a:defRPr/>
            </a:pPr>
            <a:fld id="{11495933-87F8-4A39-B25E-6C281965D1BF}" type="datetime1">
              <a:rPr lang="zh-CN" altLang="en-US"/>
              <a:pPr>
                <a:defRPr/>
              </a:pPr>
              <a:t>2020/9/7</a:t>
            </a:fld>
            <a:endParaRPr lang="en-US" altLang="zh-CN"/>
          </a:p>
        </p:txBody>
      </p:sp>
      <p:sp>
        <p:nvSpPr>
          <p:cNvPr id="4102" name="Rectangle 6"/>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ea typeface="黑体" pitchFamily="49" charset="-122"/>
              </a:defRPr>
            </a:lvl1pPr>
          </a:lstStyle>
          <a:p>
            <a:pPr>
              <a:defRPr/>
            </a:pPr>
            <a:r>
              <a:rPr lang="zh-CN" altLang="en-US"/>
              <a:t>计算机应用技术研究所</a:t>
            </a:r>
          </a:p>
        </p:txBody>
      </p:sp>
      <p:sp>
        <p:nvSpPr>
          <p:cNvPr id="4103" name="Rectangle 7"/>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1"/>
            </a:lvl1pPr>
          </a:lstStyle>
          <a:p>
            <a:r>
              <a:rPr lang="en-US" altLang="zh-CN"/>
              <a:t>50</a:t>
            </a:r>
            <a:r>
              <a:rPr lang="zh-CN" altLang="en-US"/>
              <a:t>－</a:t>
            </a:r>
            <a:fld id="{1DEE866B-7AAB-4B93-A300-382C74A134FD}" type="slidenum">
              <a:rPr lang="en-US" altLang="zh-CN"/>
              <a:pPr/>
              <a:t>‹#›</a:t>
            </a:fld>
            <a:endParaRPr lang="en-US" altLang="zh-CN"/>
          </a:p>
        </p:txBody>
      </p:sp>
      <p:pic>
        <p:nvPicPr>
          <p:cNvPr id="1031" name="Picture 10" descr="12副本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09" r:id="rId1"/>
    <p:sldLayoutId id="2147484022" r:id="rId2"/>
    <p:sldLayoutId id="2147484023" r:id="rId3"/>
    <p:sldLayoutId id="2147484024" r:id="rId4"/>
    <p:sldLayoutId id="2147484025" r:id="rId5"/>
    <p:sldLayoutId id="2147484026" r:id="rId6"/>
    <p:sldLayoutId id="2147484027" r:id="rId7"/>
    <p:sldLayoutId id="2147484028" r:id="rId8"/>
    <p:sldLayoutId id="2147484029" r:id="rId9"/>
    <p:sldLayoutId id="2147484030" r:id="rId10"/>
    <p:sldLayoutId id="2147484010" r:id="rId11"/>
    <p:sldLayoutId id="2147484031" r:id="rId12"/>
    <p:sldLayoutId id="2147484032" r:id="rId13"/>
    <p:sldLayoutId id="2147484033" r:id="rId14"/>
  </p:sldLayoutIdLst>
  <p:transition/>
  <p:hf sldNum="0" hdr="0" ftr="0"/>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8"/>
        </a:buBlip>
        <a:defRPr kumimoji="1" sz="2400" kern="1200">
          <a:solidFill>
            <a:schemeClr val="tx1"/>
          </a:solidFill>
          <a:effectLst>
            <a:outerShdw blurRad="38100" dist="38100" dir="2700000" algn="tl">
              <a:srgbClr val="C0C0C0"/>
            </a:outerShdw>
          </a:effectLst>
          <a:latin typeface="+mn-lt"/>
          <a:ea typeface="+mn-ea"/>
          <a:cs typeface="楷体_GB2312"/>
        </a:defRPr>
      </a:lvl1pPr>
      <a:lvl2pPr marL="742950" indent="-285750" algn="l" rtl="0" eaLnBrk="0" fontAlgn="base" hangingPunct="0">
        <a:spcBef>
          <a:spcPct val="20000"/>
        </a:spcBef>
        <a:spcAft>
          <a:spcPct val="0"/>
        </a:spcAft>
        <a:buBlip>
          <a:blip r:embed="rId18"/>
        </a:buBlip>
        <a:defRPr kumimoji="1" sz="2000" kern="1200">
          <a:solidFill>
            <a:schemeClr val="tx1"/>
          </a:solidFill>
          <a:latin typeface="+mj-lt"/>
          <a:ea typeface="+mj-ea"/>
          <a:cs typeface="楷体_GB2312"/>
        </a:defRPr>
      </a:lvl2pPr>
      <a:lvl3pPr marL="1143000" indent="-228600" algn="l" rtl="0" eaLnBrk="0" fontAlgn="base" hangingPunct="0">
        <a:spcBef>
          <a:spcPct val="20000"/>
        </a:spcBef>
        <a:spcAft>
          <a:spcPct val="0"/>
        </a:spcAft>
        <a:buChar char="•"/>
        <a:defRPr kumimoji="1" kern="1200">
          <a:solidFill>
            <a:schemeClr val="tx1"/>
          </a:solidFill>
          <a:latin typeface="+mj-lt"/>
          <a:ea typeface="+mj-ea"/>
          <a:cs typeface="楷体_GB2312"/>
        </a:defRPr>
      </a:lvl3pPr>
      <a:lvl4pPr marL="1600200" indent="-228600" algn="l" rtl="0" eaLnBrk="0" fontAlgn="base" hangingPunct="0">
        <a:spcBef>
          <a:spcPct val="20000"/>
        </a:spcBef>
        <a:spcAft>
          <a:spcPct val="0"/>
        </a:spcAft>
        <a:buChar char="–"/>
        <a:defRPr kumimoji="1" sz="1600" kern="1200">
          <a:solidFill>
            <a:schemeClr val="tx1"/>
          </a:solidFill>
          <a:latin typeface="+mj-lt"/>
          <a:ea typeface="+mj-ea"/>
          <a:cs typeface="楷体_GB2312"/>
        </a:defRPr>
      </a:lvl4pPr>
      <a:lvl5pPr marL="2057400" indent="-228600" algn="l" rtl="0" eaLnBrk="0" fontAlgn="base" hangingPunct="0">
        <a:spcBef>
          <a:spcPct val="20000"/>
        </a:spcBef>
        <a:spcAft>
          <a:spcPct val="0"/>
        </a:spcAft>
        <a:buChar char="»"/>
        <a:defRPr kumimoji="1" sz="1600" kern="1200">
          <a:solidFill>
            <a:schemeClr val="tx1"/>
          </a:solidFill>
          <a:latin typeface="+mj-lt"/>
          <a:ea typeface="+mj-ea"/>
          <a:cs typeface="楷体_GB231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724995" name="Rectangle 3"/>
          <p:cNvSpPr>
            <a:spLocks noGrp="1" noChangeArrowheads="1"/>
          </p:cNvSpPr>
          <p:nvPr>
            <p:ph type="body" idx="1"/>
          </p:nvPr>
        </p:nvSpPr>
        <p:spPr bwMode="auto">
          <a:xfrm>
            <a:off x="684213" y="1989138"/>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24996" name="Rectangle 4"/>
          <p:cNvSpPr>
            <a:spLocks noGrp="1" noChangeArrowheads="1"/>
          </p:cNvSpPr>
          <p:nvPr>
            <p:ph type="dt" sz="half" idx="2"/>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spcBef>
                <a:spcPct val="0"/>
              </a:spcBef>
              <a:defRPr sz="1400" b="1">
                <a:ea typeface="黑体" pitchFamily="49" charset="-122"/>
              </a:defRPr>
            </a:lvl1pPr>
          </a:lstStyle>
          <a:p>
            <a:pPr>
              <a:defRPr/>
            </a:pPr>
            <a:fld id="{19F1FF83-9AB2-4A67-AABA-36E6FEC04938}" type="datetime1">
              <a:rPr lang="zh-CN" altLang="en-US"/>
              <a:pPr>
                <a:defRPr/>
              </a:pPr>
              <a:t>2020/9/7</a:t>
            </a:fld>
            <a:endParaRPr lang="en-US" altLang="zh-CN"/>
          </a:p>
        </p:txBody>
      </p:sp>
      <p:sp>
        <p:nvSpPr>
          <p:cNvPr id="724997" name="Rectangle 5"/>
          <p:cNvSpPr>
            <a:spLocks noGrp="1" noChangeArrowheads="1"/>
          </p:cNvSpPr>
          <p:nvPr>
            <p:ph type="ftr" sz="quarter" idx="3"/>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spcBef>
                <a:spcPct val="0"/>
              </a:spcBef>
              <a:defRPr sz="1400" b="1">
                <a:ea typeface="黑体" pitchFamily="49" charset="-122"/>
              </a:defRPr>
            </a:lvl1pPr>
          </a:lstStyle>
          <a:p>
            <a:pPr>
              <a:defRPr/>
            </a:pPr>
            <a:r>
              <a:rPr lang="zh-CN" altLang="en-US"/>
              <a:t>计算机应用技术研究所</a:t>
            </a:r>
          </a:p>
        </p:txBody>
      </p:sp>
      <p:sp>
        <p:nvSpPr>
          <p:cNvPr id="724998" name="Rectangle 6"/>
          <p:cNvSpPr>
            <a:spLocks noGrp="1" noChangeArrowheads="1"/>
          </p:cNvSpPr>
          <p:nvPr>
            <p:ph type="sldNum" sz="quarter" idx="4"/>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b="1"/>
            </a:lvl1pPr>
          </a:lstStyle>
          <a:p>
            <a:fld id="{1A935777-9F5F-4976-B11F-C952581D402D}" type="slidenum">
              <a:rPr lang="en-US" altLang="zh-CN"/>
              <a:pPr/>
              <a:t>‹#›</a:t>
            </a:fld>
            <a:endParaRPr lang="en-US" altLang="zh-CN"/>
          </a:p>
        </p:txBody>
      </p:sp>
      <p:pic>
        <p:nvPicPr>
          <p:cNvPr id="2055" name="Picture 7" descr="12副本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28588" y="658813"/>
            <a:ext cx="996950" cy="969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011" r:id="rId1"/>
    <p:sldLayoutId id="2147484012" r:id="rId2"/>
    <p:sldLayoutId id="2147484013" r:id="rId3"/>
    <p:sldLayoutId id="2147484014" r:id="rId4"/>
    <p:sldLayoutId id="2147484015" r:id="rId5"/>
    <p:sldLayoutId id="2147484016" r:id="rId6"/>
    <p:sldLayoutId id="2147484017" r:id="rId7"/>
    <p:sldLayoutId id="2147484018" r:id="rId8"/>
    <p:sldLayoutId id="2147484019" r:id="rId9"/>
    <p:sldLayoutId id="2147484020" r:id="rId10"/>
    <p:sldLayoutId id="2147484021" r:id="rId11"/>
  </p:sldLayoutIdLst>
  <p:transition/>
  <p:hf hdr="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Times New Roman" panose="02020603050405020304" pitchFamily="18" charset="0"/>
          <a:ea typeface="宋体" panose="02010600030101010101" pitchFamily="2" charset="-122"/>
        </a:defRPr>
      </a:lvl5pPr>
      <a:lvl6pPr marL="4572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6pPr>
      <a:lvl7pPr marL="9144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7pPr>
      <a:lvl8pPr marL="13716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8pPr>
      <a:lvl9pPr marL="1828800" algn="ctr" rtl="0" eaLnBrk="1" fontAlgn="base" hangingPunct="1">
        <a:spcBef>
          <a:spcPct val="0"/>
        </a:spcBef>
        <a:spcAft>
          <a:spcPct val="0"/>
        </a:spcAft>
        <a:defRPr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Blip>
          <a:blip r:embed="rId15"/>
        </a:buBlip>
        <a:defRPr sz="2400" kern="1200">
          <a:solidFill>
            <a:schemeClr val="tx1"/>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Blip>
          <a:blip r:embed="rId15"/>
        </a:buBlip>
        <a:defRPr sz="2000" kern="1200">
          <a:solidFill>
            <a:schemeClr val="tx1"/>
          </a:solidFill>
          <a:latin typeface="+mj-lt"/>
          <a:ea typeface="+mn-ea"/>
          <a:cs typeface="+mn-cs"/>
        </a:defRPr>
      </a:lvl2pPr>
      <a:lvl3pPr marL="1143000" indent="-228600" algn="l" rtl="0" eaLnBrk="0" fontAlgn="base" hangingPunct="0">
        <a:spcBef>
          <a:spcPct val="20000"/>
        </a:spcBef>
        <a:spcAft>
          <a:spcPct val="0"/>
        </a:spcAft>
        <a:buChar char="•"/>
        <a:defRPr kern="1200">
          <a:solidFill>
            <a:schemeClr val="tx1"/>
          </a:solidFill>
          <a:latin typeface="+mj-lt"/>
          <a:ea typeface="+mn-ea"/>
          <a:cs typeface="+mn-cs"/>
        </a:defRPr>
      </a:lvl3pPr>
      <a:lvl4pPr marL="1600200" indent="-228600" algn="l" rtl="0" eaLnBrk="0" fontAlgn="base" hangingPunct="0">
        <a:spcBef>
          <a:spcPct val="20000"/>
        </a:spcBef>
        <a:spcAft>
          <a:spcPct val="0"/>
        </a:spcAft>
        <a:buChar char="–"/>
        <a:defRPr sz="1600" kern="1200">
          <a:solidFill>
            <a:schemeClr val="tx1"/>
          </a:solidFill>
          <a:latin typeface="+mj-lt"/>
          <a:ea typeface="+mn-ea"/>
          <a:cs typeface="+mn-cs"/>
        </a:defRPr>
      </a:lvl4pPr>
      <a:lvl5pPr marL="2057400" indent="-228600" algn="l" rtl="0" eaLnBrk="0" fontAlgn="base" hangingPunct="0">
        <a:spcBef>
          <a:spcPct val="20000"/>
        </a:spcBef>
        <a:spcAft>
          <a:spcPct val="0"/>
        </a:spcAft>
        <a:buChar char="»"/>
        <a:defRPr sz="16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1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5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58.png"/></Relationships>
</file>

<file path=ppt/slides/_rels/slide65.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image" Target="../media/image58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65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70.png"/></Relationships>
</file>

<file path=ppt/slides/_rels/slide80.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4.wmf"/><Relationship Id="rId1" Type="http://schemas.openxmlformats.org/officeDocument/2006/relationships/slideLayout" Target="../slideLayouts/slideLayout7.xml"/><Relationship Id="rId4" Type="http://schemas.openxmlformats.org/officeDocument/2006/relationships/image" Target="../media/image85.png"/></Relationships>
</file>

<file path=ppt/slides/_rels/slide105.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860.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4.wmf"/><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4.wmf"/><Relationship Id="rId1" Type="http://schemas.openxmlformats.org/officeDocument/2006/relationships/slideLayout" Target="../slideLayouts/slideLayout7.xml"/><Relationship Id="rId5" Type="http://schemas.openxmlformats.org/officeDocument/2006/relationships/image" Target="../media/image100.png"/><Relationship Id="rId4" Type="http://schemas.openxmlformats.org/officeDocument/2006/relationships/image" Target="../media/image99.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日期占位符 1"/>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7CE03E3-45EF-4AFA-82FD-FD61865B433E}"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6387" name="页脚占位符 2"/>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6388" name="灯片编号占位符 3"/>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CB8A0D3F-90FF-4931-9440-119EEDB7D750}" type="slidenum">
              <a:rPr lang="en-US" altLang="zh-CN" sz="1400" b="1">
                <a:latin typeface="Times New Roman" pitchFamily="18" charset="0"/>
                <a:ea typeface="宋体" pitchFamily="2" charset="-122"/>
              </a:rPr>
              <a:pPr algn="r" eaLnBrk="1" hangingPunct="1"/>
              <a:t>1</a:t>
            </a:fld>
            <a:endParaRPr lang="en-US" altLang="zh-CN" sz="1400" b="1">
              <a:latin typeface="Times New Roman" pitchFamily="18" charset="0"/>
              <a:ea typeface="宋体" pitchFamily="2" charset="-122"/>
            </a:endParaRPr>
          </a:p>
        </p:txBody>
      </p:sp>
      <p:sp>
        <p:nvSpPr>
          <p:cNvPr id="16389" name="页脚占位符 3"/>
          <p:cNvSpPr txBox="1">
            <a:spLocks noGrp="1"/>
          </p:cNvSpPr>
          <p:nvPr/>
        </p:nvSpPr>
        <p:spPr bwMode="black">
          <a:xfrm>
            <a:off x="609600" y="6470650"/>
            <a:ext cx="53816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a:fld id="{D822F8B4-E6D1-4ABF-88BD-BF1948BC3105}" type="slidenum">
              <a:rPr kumimoji="0" lang="en-US" altLang="zh-CN" sz="1000">
                <a:solidFill>
                  <a:schemeClr val="bg1"/>
                </a:solidFill>
                <a:latin typeface="Arial" pitchFamily="34" charset="0"/>
                <a:ea typeface="宋体" pitchFamily="2" charset="-122"/>
              </a:rPr>
              <a:pPr algn="r"/>
              <a:t>1</a:t>
            </a:fld>
            <a:endParaRPr kumimoji="0" lang="en-US" altLang="zh-CN" sz="1000">
              <a:solidFill>
                <a:schemeClr val="bg1"/>
              </a:solidFill>
              <a:latin typeface="Arial" pitchFamily="34" charset="0"/>
              <a:ea typeface="宋体" pitchFamily="2" charset="-122"/>
            </a:endParaRPr>
          </a:p>
        </p:txBody>
      </p:sp>
      <p:sp>
        <p:nvSpPr>
          <p:cNvPr id="423939" name="Rectangle 3"/>
          <p:cNvSpPr>
            <a:spLocks noGrp="1" noChangeArrowheads="1"/>
          </p:cNvSpPr>
          <p:nvPr>
            <p:ph type="body" idx="4294967295"/>
          </p:nvPr>
        </p:nvSpPr>
        <p:spPr>
          <a:xfrm>
            <a:off x="684213" y="1412875"/>
            <a:ext cx="7826375" cy="2514600"/>
          </a:xfrm>
        </p:spPr>
        <p:txBody>
          <a:bodyPr/>
          <a:lstStyle/>
          <a:p>
            <a:pPr marL="400050" indent="-400050" algn="ctr" eaLnBrk="1" hangingPunct="1">
              <a:buFontTx/>
              <a:buNone/>
              <a:defRPr/>
            </a:pPr>
            <a:r>
              <a:rPr lang="zh-CN" altLang="en-US" sz="8000" b="1">
                <a:solidFill>
                  <a:schemeClr val="accent2"/>
                </a:solidFill>
                <a:effectLst/>
                <a:ea typeface="隶书" panose="02010509060101010101" pitchFamily="49" charset="-122"/>
                <a:cs typeface="楷体_GB2312" pitchFamily="49" charset="-122"/>
              </a:rPr>
              <a:t>离散数学</a:t>
            </a:r>
            <a:endParaRPr lang="zh-CN" altLang="en-US" sz="6600" b="1">
              <a:solidFill>
                <a:schemeClr val="accent2"/>
              </a:solidFill>
              <a:effectLst/>
              <a:ea typeface="隶书" panose="02010509060101010101" pitchFamily="49" charset="-122"/>
              <a:cs typeface="楷体_GB2312" pitchFamily="49" charset="-122"/>
            </a:endParaRPr>
          </a:p>
          <a:p>
            <a:pPr marL="400050" indent="-400050" algn="ctr" eaLnBrk="1" hangingPunct="1">
              <a:buFontTx/>
              <a:buNone/>
              <a:defRPr/>
            </a:pPr>
            <a:r>
              <a:rPr lang="en-US" altLang="zh-CN" sz="6600">
                <a:solidFill>
                  <a:schemeClr val="accent2"/>
                </a:solidFill>
                <a:effectLst/>
                <a:latin typeface="Times New Roman" panose="02020603050405020304" pitchFamily="18" charset="0"/>
                <a:ea typeface="华文行楷" panose="02010800040101010101" pitchFamily="2" charset="-122"/>
                <a:cs typeface="楷体_GB2312" pitchFamily="49" charset="-122"/>
              </a:rPr>
              <a:t>Discrete Mathematics</a:t>
            </a:r>
            <a:r>
              <a:rPr lang="en-US" altLang="zh-CN" sz="3600" b="1">
                <a:solidFill>
                  <a:schemeClr val="accent2"/>
                </a:solidFill>
                <a:ea typeface="宋体" panose="02010600030101010101" pitchFamily="2" charset="-122"/>
                <a:cs typeface="楷体_GB2312" pitchFamily="49" charset="-122"/>
              </a:rPr>
              <a:t> </a:t>
            </a:r>
          </a:p>
        </p:txBody>
      </p:sp>
      <p:sp>
        <p:nvSpPr>
          <p:cNvPr id="16391" name="Text Box 4"/>
          <p:cNvSpPr txBox="1">
            <a:spLocks noChangeArrowheads="1"/>
          </p:cNvSpPr>
          <p:nvPr/>
        </p:nvSpPr>
        <p:spPr bwMode="auto">
          <a:xfrm>
            <a:off x="1187450" y="4365625"/>
            <a:ext cx="6858000" cy="1317625"/>
          </a:xfrm>
          <a:prstGeom prst="rect">
            <a:avLst/>
          </a:prstGeom>
          <a:noFill/>
          <a:ln>
            <a:noFill/>
          </a:ln>
          <a:effectLst/>
          <a:extLst>
            <a:ext uri="{909E8E84-426E-40DD-AFC4-6F175D3DCCD1}">
              <a14:hiddenFill xmlns:a14="http://schemas.microsoft.com/office/drawing/2010/main">
                <a:gradFill rotWithShape="0">
                  <a:gsLst>
                    <a:gs pos="0">
                      <a:srgbClr val="CBCBCB"/>
                    </a:gs>
                    <a:gs pos="13000">
                      <a:srgbClr val="5F5F5F"/>
                    </a:gs>
                    <a:gs pos="21001">
                      <a:srgbClr val="5F5F5F"/>
                    </a:gs>
                    <a:gs pos="63000">
                      <a:srgbClr val="FFFFFF"/>
                    </a:gs>
                    <a:gs pos="67000">
                      <a:srgbClr val="B2B2B2"/>
                    </a:gs>
                    <a:gs pos="69000">
                      <a:srgbClr val="292929"/>
                    </a:gs>
                    <a:gs pos="82001">
                      <a:srgbClr val="777777"/>
                    </a:gs>
                    <a:gs pos="100000">
                      <a:srgbClr val="EAEAEA"/>
                    </a:gs>
                  </a:gsLst>
                  <a:lin ang="5400000" scaled="1"/>
                </a:gradFill>
              </a14:hiddenFill>
            </a:ext>
            <a:ext uri="{91240B29-F687-4F45-9708-019B960494DF}">
              <a14:hiddenLine xmlns:a14="http://schemas.microsoft.com/office/drawing/2010/main" w="9525"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68686"/>
                  </a:outerShdw>
                </a:effectLst>
              </a14:hiddenEffects>
            </a:ext>
          </a:extLst>
        </p:spPr>
        <p:txBody>
          <a:bodyPr>
            <a:spAutoFit/>
          </a:bodyPr>
          <a:lstStyle>
            <a:lvl1pPr marL="400050" indent="-40005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spcAft>
                <a:spcPct val="20000"/>
              </a:spcAft>
              <a:buClr>
                <a:srgbClr val="228A88"/>
              </a:buClr>
              <a:buFont typeface="Wingdings 2" pitchFamily="18" charset="2"/>
              <a:buNone/>
            </a:pPr>
            <a:r>
              <a:rPr kumimoji="0" lang="zh-CN" altLang="en-US" sz="3200" b="1" dirty="0" smtClean="0">
                <a:latin typeface="黑体" pitchFamily="49" charset="-122"/>
                <a:ea typeface="黑体" pitchFamily="49" charset="-122"/>
                <a:cs typeface="Arial" pitchFamily="34" charset="0"/>
              </a:rPr>
              <a:t>杨娟 博士</a:t>
            </a:r>
            <a:endParaRPr kumimoji="0" lang="zh-CN" altLang="en-US" sz="3200" b="1" dirty="0">
              <a:latin typeface="黑体" pitchFamily="49" charset="-122"/>
              <a:ea typeface="黑体" pitchFamily="49" charset="-122"/>
              <a:cs typeface="Arial" pitchFamily="34" charset="0"/>
            </a:endParaRPr>
          </a:p>
          <a:p>
            <a:pPr algn="ctr" eaLnBrk="1" hangingPunct="1">
              <a:spcBef>
                <a:spcPct val="50000"/>
              </a:spcBef>
              <a:spcAft>
                <a:spcPct val="20000"/>
              </a:spcAft>
              <a:buClr>
                <a:srgbClr val="228A88"/>
              </a:buClr>
              <a:buFont typeface="Wingdings 2" pitchFamily="18" charset="2"/>
              <a:buNone/>
            </a:pPr>
            <a:r>
              <a:rPr kumimoji="0" lang="zh-CN" altLang="en-US" sz="2800" b="1" dirty="0">
                <a:latin typeface="黑体" pitchFamily="49" charset="-122"/>
                <a:ea typeface="黑体" pitchFamily="49" charset="-122"/>
                <a:cs typeface="Arial" pitchFamily="34" charset="0"/>
              </a:rPr>
              <a:t>合肥工业大学计算机与信息学院</a:t>
            </a:r>
          </a:p>
        </p:txBody>
      </p:sp>
      <p:pic>
        <p:nvPicPr>
          <p:cNvPr id="163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96188" y="549275"/>
            <a:ext cx="1401762" cy="147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B2C100B-A179-462C-A2A8-33D3A9984A05}"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741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741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FAD7DA5F-82EE-4AC0-AF95-545428A2A885}" type="slidenum">
              <a:rPr lang="en-US" altLang="zh-CN" sz="1400" b="1">
                <a:latin typeface="Times New Roman" pitchFamily="18" charset="0"/>
                <a:ea typeface="宋体" pitchFamily="2" charset="-122"/>
              </a:rPr>
              <a:pPr algn="r" eaLnBrk="1" hangingPunct="1"/>
              <a:t>2</a:t>
            </a:fld>
            <a:endParaRPr lang="en-US" altLang="zh-CN" sz="1400" b="1">
              <a:latin typeface="Times New Roman" pitchFamily="18" charset="0"/>
              <a:ea typeface="宋体" pitchFamily="2" charset="-122"/>
            </a:endParaRPr>
          </a:p>
        </p:txBody>
      </p:sp>
      <p:sp>
        <p:nvSpPr>
          <p:cNvPr id="17413" name="Rectangle 2"/>
          <p:cNvSpPr>
            <a:spLocks noGrp="1" noChangeArrowheads="1"/>
          </p:cNvSpPr>
          <p:nvPr>
            <p:ph type="ctrTitle" idx="4294967295"/>
          </p:nvPr>
        </p:nvSpPr>
        <p:spPr>
          <a:xfrm>
            <a:off x="0" y="2492375"/>
            <a:ext cx="9144000" cy="2159000"/>
          </a:xfrm>
        </p:spPr>
        <p:txBody>
          <a:bodyPr/>
          <a:lstStyle/>
          <a:p>
            <a:pPr eaLnBrk="1" hangingPunct="1"/>
            <a:r>
              <a:rPr lang="zh-CN" altLang="en-US" sz="6600" b="1" dirty="0">
                <a:solidFill>
                  <a:schemeClr val="accent2"/>
                </a:solidFill>
                <a:latin typeface="黑体" pitchFamily="49" charset="-122"/>
                <a:ea typeface="黑体" pitchFamily="49" charset="-122"/>
              </a:rPr>
              <a:t>第七章 函数与特殊函数</a:t>
            </a:r>
            <a:r>
              <a:rPr lang="en-US" altLang="zh-CN" sz="6600" b="1" dirty="0">
                <a:solidFill>
                  <a:schemeClr val="accent2"/>
                </a:solidFill>
              </a:rPr>
              <a:t/>
            </a:r>
            <a:br>
              <a:rPr lang="en-US" altLang="zh-CN" sz="6600" b="1" dirty="0">
                <a:solidFill>
                  <a:schemeClr val="accent2"/>
                </a:solidFill>
              </a:rPr>
            </a:br>
            <a:r>
              <a:rPr lang="zh-CN" altLang="en-US" sz="6600" b="1" dirty="0">
                <a:solidFill>
                  <a:schemeClr val="accent2"/>
                </a:solidFill>
              </a:rPr>
              <a:t>（上）</a:t>
            </a:r>
            <a:endParaRPr lang="en-US" altLang="zh-CN" sz="5400" b="1" dirty="0">
              <a:solidFill>
                <a:schemeClr val="accent2"/>
              </a:solidFill>
            </a:endParaRPr>
          </a:p>
        </p:txBody>
      </p:sp>
      <p:pic>
        <p:nvPicPr>
          <p:cNvPr id="17414"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D9F674B-4102-46FB-A901-E29A94E3BB83}" type="datetime1">
              <a:rPr kumimoji="0" lang="zh-CN" altLang="en-US" sz="1400" b="1">
                <a:solidFill>
                  <a:srgbClr val="FF0000"/>
                </a:solidFill>
                <a:latin typeface="黑体" pitchFamily="49" charset="-122"/>
              </a:rPr>
              <a:pPr eaLnBrk="1" hangingPunct="1"/>
              <a:t>2020/9/7</a:t>
            </a:fld>
            <a:endParaRPr kumimoji="0" lang="en-US" altLang="zh-CN" sz="1400" b="1">
              <a:solidFill>
                <a:srgbClr val="FF0000"/>
              </a:solidFill>
              <a:latin typeface="黑体" pitchFamily="49" charset="-122"/>
            </a:endParaRPr>
          </a:p>
        </p:txBody>
      </p:sp>
      <p:sp>
        <p:nvSpPr>
          <p:cNvPr id="18435" name="Text Box 2"/>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本章学习内容</a:t>
            </a:r>
            <a:endParaRPr lang="zh-CN" altLang="en-US" sz="4800" b="1">
              <a:ea typeface="宋体" pitchFamily="2" charset="-122"/>
            </a:endParaRPr>
          </a:p>
        </p:txBody>
      </p:sp>
      <p:grpSp>
        <p:nvGrpSpPr>
          <p:cNvPr id="2" name="组合 1">
            <a:extLst>
              <a:ext uri="{FF2B5EF4-FFF2-40B4-BE49-F238E27FC236}">
                <a16:creationId xmlns:a16="http://schemas.microsoft.com/office/drawing/2014/main" id="{F4D35547-C9B4-4565-B653-EE447B616C48}"/>
              </a:ext>
            </a:extLst>
          </p:cNvPr>
          <p:cNvGrpSpPr/>
          <p:nvPr/>
        </p:nvGrpSpPr>
        <p:grpSpPr>
          <a:xfrm>
            <a:off x="2389038" y="2455439"/>
            <a:ext cx="4726162" cy="2943252"/>
            <a:chOff x="2389038" y="2455439"/>
            <a:chExt cx="4726162" cy="2943252"/>
          </a:xfrm>
        </p:grpSpPr>
        <p:sp>
          <p:nvSpPr>
            <p:cNvPr id="1170441" name="AutoShape 9"/>
            <p:cNvSpPr>
              <a:spLocks noChangeArrowheads="1"/>
            </p:cNvSpPr>
            <p:nvPr/>
          </p:nvSpPr>
          <p:spPr bwMode="gray">
            <a:xfrm>
              <a:off x="2771800" y="3673258"/>
              <a:ext cx="4343400" cy="55721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18437" name="AutoShape 10"/>
            <p:cNvSpPr>
              <a:spLocks noChangeArrowheads="1"/>
            </p:cNvSpPr>
            <p:nvPr/>
          </p:nvSpPr>
          <p:spPr bwMode="gray">
            <a:xfrm>
              <a:off x="2390800" y="3528795"/>
              <a:ext cx="685800" cy="835025"/>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38" name="Text Box 11"/>
            <p:cNvSpPr txBox="1">
              <a:spLocks noChangeArrowheads="1"/>
            </p:cNvSpPr>
            <p:nvPr/>
          </p:nvSpPr>
          <p:spPr bwMode="gray">
            <a:xfrm>
              <a:off x="3000400" y="3670083"/>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rPr>
                <a:t>  </a:t>
              </a:r>
              <a:r>
                <a:rPr kumimoji="0" lang="zh-CN" altLang="en-US" sz="2800" b="1" dirty="0">
                  <a:latin typeface="黑体" pitchFamily="49" charset="-122"/>
                  <a:ea typeface="黑体" pitchFamily="49" charset="-122"/>
                </a:rPr>
                <a:t>函数的基本运算</a:t>
              </a:r>
            </a:p>
          </p:txBody>
        </p:sp>
        <p:sp>
          <p:nvSpPr>
            <p:cNvPr id="18439" name="Text Box 12"/>
            <p:cNvSpPr txBox="1">
              <a:spLocks noChangeArrowheads="1"/>
            </p:cNvSpPr>
            <p:nvPr/>
          </p:nvSpPr>
          <p:spPr bwMode="gray">
            <a:xfrm>
              <a:off x="2538438" y="3647858"/>
              <a:ext cx="365125"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a:solidFill>
                    <a:schemeClr val="bg1"/>
                  </a:solidFill>
                  <a:latin typeface="黑体" pitchFamily="49" charset="-122"/>
                </a:rPr>
                <a:t>2</a:t>
              </a:r>
            </a:p>
          </p:txBody>
        </p:sp>
        <p:sp>
          <p:nvSpPr>
            <p:cNvPr id="1170446" name="AutoShape 14"/>
            <p:cNvSpPr>
              <a:spLocks noChangeArrowheads="1"/>
            </p:cNvSpPr>
            <p:nvPr/>
          </p:nvSpPr>
          <p:spPr bwMode="gray">
            <a:xfrm>
              <a:off x="2771800" y="4750619"/>
              <a:ext cx="4343400" cy="54610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18441" name="AutoShape 15"/>
            <p:cNvSpPr>
              <a:spLocks noChangeArrowheads="1"/>
            </p:cNvSpPr>
            <p:nvPr/>
          </p:nvSpPr>
          <p:spPr bwMode="gray">
            <a:xfrm>
              <a:off x="2390800" y="4581128"/>
              <a:ext cx="685800" cy="817563"/>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2" name="Text Box 16"/>
            <p:cNvSpPr txBox="1">
              <a:spLocks noChangeArrowheads="1"/>
            </p:cNvSpPr>
            <p:nvPr/>
          </p:nvSpPr>
          <p:spPr bwMode="gray">
            <a:xfrm>
              <a:off x="3000400" y="4745857"/>
              <a:ext cx="3429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a:latin typeface="黑体" pitchFamily="49" charset="-122"/>
                </a:rPr>
                <a:t>  </a:t>
              </a:r>
              <a:r>
                <a:rPr kumimoji="0" lang="zh-CN" altLang="en-US" sz="2800" b="1">
                  <a:latin typeface="黑体" pitchFamily="49" charset="-122"/>
                  <a:ea typeface="黑体" pitchFamily="49" charset="-122"/>
                </a:rPr>
                <a:t>集合的特征函数</a:t>
              </a:r>
              <a:endParaRPr kumimoji="0" lang="en-US" altLang="zh-CN" sz="2800" b="1">
                <a:latin typeface="黑体" pitchFamily="49" charset="-122"/>
                <a:ea typeface="黑体" pitchFamily="49" charset="-122"/>
              </a:endParaRPr>
            </a:p>
          </p:txBody>
        </p:sp>
        <p:sp>
          <p:nvSpPr>
            <p:cNvPr id="18443" name="Text Box 17"/>
            <p:cNvSpPr txBox="1">
              <a:spLocks noChangeArrowheads="1"/>
            </p:cNvSpPr>
            <p:nvPr/>
          </p:nvSpPr>
          <p:spPr bwMode="gray">
            <a:xfrm>
              <a:off x="2540025" y="4698603"/>
              <a:ext cx="3635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a:solidFill>
                    <a:schemeClr val="bg1"/>
                  </a:solidFill>
                  <a:latin typeface="黑体" pitchFamily="49" charset="-122"/>
                </a:rPr>
                <a:t>3</a:t>
              </a:r>
            </a:p>
          </p:txBody>
        </p:sp>
        <p:sp>
          <p:nvSpPr>
            <p:cNvPr id="18444" name="AutoShape 19"/>
            <p:cNvSpPr>
              <a:spLocks noChangeArrowheads="1"/>
            </p:cNvSpPr>
            <p:nvPr/>
          </p:nvSpPr>
          <p:spPr bwMode="gray">
            <a:xfrm>
              <a:off x="2770038" y="2596726"/>
              <a:ext cx="4343400" cy="546100"/>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5" name="AutoShape 20"/>
            <p:cNvSpPr>
              <a:spLocks noChangeArrowheads="1"/>
            </p:cNvSpPr>
            <p:nvPr/>
          </p:nvSpPr>
          <p:spPr bwMode="gray">
            <a:xfrm>
              <a:off x="2389038" y="2455439"/>
              <a:ext cx="685800" cy="817562"/>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8446" name="Text Box 21"/>
            <p:cNvSpPr txBox="1">
              <a:spLocks noChangeArrowheads="1"/>
            </p:cNvSpPr>
            <p:nvPr/>
          </p:nvSpPr>
          <p:spPr bwMode="gray">
            <a:xfrm>
              <a:off x="2998638" y="2597248"/>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ea typeface="黑体" pitchFamily="49" charset="-122"/>
                </a:rPr>
                <a:t>  函数的基本概念</a:t>
              </a:r>
            </a:p>
          </p:txBody>
        </p:sp>
        <p:sp>
          <p:nvSpPr>
            <p:cNvPr id="18447" name="Text Box 22"/>
            <p:cNvSpPr txBox="1">
              <a:spLocks noChangeArrowheads="1"/>
            </p:cNvSpPr>
            <p:nvPr/>
          </p:nvSpPr>
          <p:spPr bwMode="gray">
            <a:xfrm>
              <a:off x="2536676" y="2547514"/>
              <a:ext cx="365125" cy="48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a:solidFill>
                    <a:schemeClr val="bg1"/>
                  </a:solidFill>
                  <a:latin typeface="黑体" pitchFamily="49" charset="-122"/>
                </a:rPr>
                <a:t>1</a:t>
              </a:r>
            </a:p>
          </p:txBody>
        </p:sp>
      </p:gr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E5AD41AF-3F61-4C2D-9EAF-75E7E27B8BC4}"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9459"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9460"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2A72A470-9DC5-4334-ACEF-F540129F103D}" type="slidenum">
              <a:rPr lang="en-US" altLang="zh-CN" sz="1400" b="1">
                <a:latin typeface="Times New Roman" pitchFamily="18" charset="0"/>
                <a:ea typeface="宋体" pitchFamily="2" charset="-122"/>
              </a:rPr>
              <a:pPr algn="r" eaLnBrk="1" hangingPunct="1"/>
              <a:t>4</a:t>
            </a:fld>
            <a:endParaRPr lang="en-US" altLang="zh-CN" sz="1400" b="1">
              <a:latin typeface="Times New Roman" pitchFamily="18" charset="0"/>
              <a:ea typeface="宋体" pitchFamily="2" charset="-122"/>
            </a:endParaRPr>
          </a:p>
        </p:txBody>
      </p:sp>
      <p:sp>
        <p:nvSpPr>
          <p:cNvPr id="19461"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dirty="0">
                <a:solidFill>
                  <a:schemeClr val="bg1"/>
                </a:solidFill>
              </a:rPr>
              <a:t>函数的基本概念</a:t>
            </a:r>
          </a:p>
        </p:txBody>
      </p:sp>
      <p:pic>
        <p:nvPicPr>
          <p:cNvPr id="19462"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DB1CA93-8221-4891-A822-327DF23D131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20483"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2048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502D80F-8024-41C6-9777-4862D8CB8793}" type="slidenum">
              <a:rPr lang="en-US" altLang="zh-CN" sz="1400" b="1">
                <a:latin typeface="Times New Roman" pitchFamily="18" charset="0"/>
                <a:ea typeface="宋体" pitchFamily="2" charset="-122"/>
              </a:rPr>
              <a:pPr algn="r" eaLnBrk="1" hangingPunct="1"/>
              <a:t>5</a:t>
            </a:fld>
            <a:endParaRPr lang="en-US" altLang="zh-CN" sz="1400" b="1">
              <a:latin typeface="Times New Roman" pitchFamily="18" charset="0"/>
              <a:ea typeface="宋体" pitchFamily="2" charset="-122"/>
            </a:endParaRPr>
          </a:p>
        </p:txBody>
      </p:sp>
      <p:sp>
        <p:nvSpPr>
          <p:cNvPr id="2048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函数的概念</a:t>
            </a:r>
          </a:p>
        </p:txBody>
      </p:sp>
      <p:sp>
        <p:nvSpPr>
          <p:cNvPr id="20486" name="Rectangle 3"/>
          <p:cNvSpPr>
            <a:spLocks noGrp="1" noChangeArrowheads="1"/>
          </p:cNvSpPr>
          <p:nvPr>
            <p:ph type="body" idx="4294967295"/>
          </p:nvPr>
        </p:nvSpPr>
        <p:spPr>
          <a:xfrm>
            <a:off x="2558313" y="2447132"/>
            <a:ext cx="4537075" cy="3168650"/>
          </a:xfrm>
          <a:noFill/>
        </p:spPr>
        <p:txBody>
          <a:bodyPr lIns="92075" tIns="46038" rIns="92075" bIns="46038"/>
          <a:lstStyle/>
          <a:p>
            <a:pPr eaLnBrk="1" hangingPunct="1">
              <a:lnSpc>
                <a:spcPct val="155000"/>
              </a:lnSpc>
              <a:buFont typeface="Wingdings" pitchFamily="2" charset="2"/>
              <a:buChar char="J"/>
            </a:pPr>
            <a:r>
              <a:rPr lang="en-US" altLang="zh-CN" sz="3600" b="1" dirty="0">
                <a:solidFill>
                  <a:srgbClr val="0000FF"/>
                </a:solidFill>
                <a:effectLst/>
                <a:latin typeface="黑体" pitchFamily="49" charset="-122"/>
                <a:ea typeface="黑体" pitchFamily="49" charset="-122"/>
              </a:rPr>
              <a:t> </a:t>
            </a:r>
            <a:r>
              <a:rPr lang="zh-CN" altLang="en-US" sz="3600" b="1" dirty="0">
                <a:solidFill>
                  <a:srgbClr val="0000FF"/>
                </a:solidFill>
                <a:effectLst/>
                <a:latin typeface="黑体" pitchFamily="49" charset="-122"/>
                <a:ea typeface="黑体" pitchFamily="49" charset="-122"/>
              </a:rPr>
              <a:t>函数的集合定义</a:t>
            </a:r>
          </a:p>
          <a:p>
            <a:pPr eaLnBrk="1" hangingPunct="1">
              <a:lnSpc>
                <a:spcPct val="155000"/>
              </a:lnSpc>
              <a:buFont typeface="Wingdings" pitchFamily="2" charset="2"/>
              <a:buChar char="4"/>
            </a:pPr>
            <a:r>
              <a:rPr lang="zh-CN" altLang="en-US" sz="3600" b="1" dirty="0">
                <a:effectLst/>
                <a:latin typeface="黑体" pitchFamily="49" charset="-122"/>
                <a:ea typeface="黑体" pitchFamily="49" charset="-122"/>
              </a:rPr>
              <a:t> 函数的基本类型</a:t>
            </a:r>
          </a:p>
          <a:p>
            <a:pPr eaLnBrk="1" hangingPunct="1">
              <a:lnSpc>
                <a:spcPct val="155000"/>
              </a:lnSpc>
              <a:buFont typeface="Wingdings" pitchFamily="2" charset="2"/>
              <a:buChar char="4"/>
            </a:pPr>
            <a:r>
              <a:rPr lang="zh-CN" altLang="en-US" sz="3600" b="1" dirty="0">
                <a:effectLst/>
                <a:latin typeface="黑体" pitchFamily="49" charset="-122"/>
                <a:ea typeface="黑体" pitchFamily="49" charset="-122"/>
              </a:rPr>
              <a:t> 常用的特殊函数</a:t>
            </a:r>
          </a:p>
        </p:txBody>
      </p:sp>
      <p:pic>
        <p:nvPicPr>
          <p:cNvPr id="20487"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30A1670-554C-4E9D-8483-1217C3BF5214}"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1507"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函数的概念</a:t>
            </a:r>
          </a:p>
        </p:txBody>
      </p:sp>
      <p:pic>
        <p:nvPicPr>
          <p:cNvPr id="2150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9" name="Picture 6" descr="QQ截图201511041943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916113"/>
            <a:ext cx="8423275" cy="399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613438C-A904-45C9-98BF-FDF82F04CA08}"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2531"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函数的集合定义</a:t>
            </a:r>
          </a:p>
        </p:txBody>
      </p:sp>
      <p:pic>
        <p:nvPicPr>
          <p:cNvPr id="2253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684213" y="2103078"/>
                <a:ext cx="8151067" cy="4054251"/>
              </a:xfrm>
              <a:prstGeom prst="rect">
                <a:avLst/>
              </a:prstGeom>
              <a:solidFill>
                <a:schemeClr val="accent6">
                  <a:lumMod val="75000"/>
                </a:schemeClr>
              </a:solidFill>
            </p:spPr>
            <p:txBody>
              <a:bodyPr wrap="square" rtlCol="0">
                <a:spAutoFit/>
              </a:bodyPr>
              <a:lstStyle/>
              <a:p>
                <a:pPr>
                  <a:lnSpc>
                    <a:spcPct val="120000"/>
                  </a:lnSpc>
                  <a:spcBef>
                    <a:spcPts val="600"/>
                  </a:spcBef>
                  <a:spcAft>
                    <a:spcPts val="0"/>
                  </a:spcAft>
                </a:pPr>
                <a:r>
                  <a:rPr lang="en-US" altLang="zh-CN" sz="2400" dirty="0">
                    <a:solidFill>
                      <a:schemeClr val="bg1"/>
                    </a:solidFill>
                  </a:rPr>
                  <a:t>    </a:t>
                </a:r>
                <a:r>
                  <a:rPr lang="zh-CN" altLang="zh-CN" sz="2400" b="1" dirty="0">
                    <a:solidFill>
                      <a:schemeClr val="bg1"/>
                    </a:solidFill>
                  </a:rPr>
                  <a:t>设</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是任意两个</a:t>
                </a:r>
                <a:r>
                  <a:rPr lang="zh-CN" altLang="zh-CN" sz="2400" b="1" dirty="0">
                    <a:solidFill>
                      <a:srgbClr val="FFFF00"/>
                    </a:solidFill>
                  </a:rPr>
                  <a:t>非空集合</a:t>
                </a:r>
                <a:r>
                  <a:rPr lang="zh-CN" altLang="zh-CN" sz="2400" b="1" dirty="0">
                    <a:solidFill>
                      <a:schemeClr val="bg1"/>
                    </a:solidFill>
                  </a:rPr>
                  <a:t>，</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是从</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到</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的关系。若对</a:t>
                </a:r>
                <a14:m>
                  <m:oMath xmlns:m="http://schemas.openxmlformats.org/officeDocument/2006/math">
                    <m:r>
                      <a:rPr lang="en-US" altLang="zh-CN" sz="2400" b="1" smtClean="0">
                        <a:solidFill>
                          <a:srgbClr val="FFFF00"/>
                        </a:solidFill>
                        <a:latin typeface="Cambria Math"/>
                      </a:rPr>
                      <m:t>∀</m:t>
                    </m:r>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𝑨</m:t>
                    </m:r>
                  </m:oMath>
                </a14:m>
                <a:r>
                  <a:rPr lang="zh-CN" altLang="zh-CN" sz="2400" b="1" dirty="0">
                    <a:solidFill>
                      <a:schemeClr val="bg1"/>
                    </a:solidFill>
                  </a:rPr>
                  <a:t>都存在</a:t>
                </a:r>
                <a:r>
                  <a:rPr lang="zh-CN" altLang="zh-CN" sz="2400" b="1" dirty="0">
                    <a:solidFill>
                      <a:srgbClr val="FFFF00"/>
                    </a:solidFill>
                  </a:rPr>
                  <a:t>唯一</a:t>
                </a:r>
                <a:r>
                  <a:rPr lang="zh-CN" altLang="zh-CN" sz="2400" b="1" dirty="0">
                    <a:solidFill>
                      <a:schemeClr val="bg1"/>
                    </a:solidFill>
                  </a:rPr>
                  <a:t>的</a:t>
                </a:r>
                <a14:m>
                  <m:oMath xmlns:m="http://schemas.openxmlformats.org/officeDocument/2006/math">
                    <m:r>
                      <a:rPr lang="en-US" altLang="zh-CN" sz="2400" b="1" i="1">
                        <a:solidFill>
                          <a:schemeClr val="bg1"/>
                        </a:solidFill>
                        <a:latin typeface="Cambria Math"/>
                      </a:rPr>
                      <m:t>𝒚</m:t>
                    </m:r>
                    <m:r>
                      <a:rPr lang="en-US" altLang="zh-CN" sz="2400" b="1" i="1">
                        <a:solidFill>
                          <a:schemeClr val="bg1"/>
                        </a:solidFill>
                        <a:latin typeface="Cambria Math"/>
                      </a:rPr>
                      <m:t>∈</m:t>
                    </m:r>
                    <m:r>
                      <a:rPr lang="en-US" altLang="zh-CN" sz="2400" b="1" i="1">
                        <a:solidFill>
                          <a:schemeClr val="bg1"/>
                        </a:solidFill>
                        <a:latin typeface="Cambria Math"/>
                      </a:rPr>
                      <m:t>𝑩</m:t>
                    </m:r>
                  </m:oMath>
                </a14:m>
                <a:r>
                  <a:rPr lang="zh-CN" altLang="zh-CN" sz="2400" b="1" dirty="0">
                    <a:solidFill>
                      <a:schemeClr val="bg1"/>
                    </a:solidFill>
                  </a:rPr>
                  <a:t>，满足</a:t>
                </a:r>
                <a14:m>
                  <m:oMath xmlns:m="http://schemas.openxmlformats.org/officeDocument/2006/math">
                    <m:d>
                      <m:dPr>
                        <m:begChr m:val="〈"/>
                        <m:endChr m:val="〉"/>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𝒚</m:t>
                        </m:r>
                      </m:e>
                    </m:d>
                    <m:r>
                      <a:rPr lang="en-US" altLang="zh-CN" sz="2400" b="1" i="1">
                        <a:solidFill>
                          <a:schemeClr val="bg1"/>
                        </a:solidFill>
                        <a:latin typeface="Cambria Math"/>
                      </a:rPr>
                      <m:t>∈</m:t>
                    </m:r>
                    <m:r>
                      <a:rPr lang="en-US" altLang="zh-CN" sz="2400" b="1" i="1">
                        <a:solidFill>
                          <a:schemeClr val="bg1"/>
                        </a:solidFill>
                        <a:latin typeface="Cambria Math"/>
                      </a:rPr>
                      <m:t>𝒇</m:t>
                    </m:r>
                  </m:oMath>
                </a14:m>
                <a:r>
                  <a:rPr lang="zh-CN" altLang="zh-CN" sz="2400" b="1" dirty="0">
                    <a:solidFill>
                      <a:schemeClr val="bg1"/>
                    </a:solidFill>
                  </a:rPr>
                  <a:t>，则称</a:t>
                </a:r>
                <a:r>
                  <a:rPr lang="zh-CN" altLang="zh-CN" sz="2400" b="1" dirty="0">
                    <a:solidFill>
                      <a:srgbClr val="FFFF00"/>
                    </a:solidFill>
                  </a:rPr>
                  <a:t>关系</a:t>
                </a:r>
                <a14:m>
                  <m:oMath xmlns:m="http://schemas.openxmlformats.org/officeDocument/2006/math">
                    <m:r>
                      <a:rPr lang="en-US" altLang="zh-CN" sz="2400" b="1" i="1">
                        <a:solidFill>
                          <a:srgbClr val="FFFF00"/>
                        </a:solidFill>
                        <a:latin typeface="Cambria Math"/>
                      </a:rPr>
                      <m:t>𝒇</m:t>
                    </m:r>
                  </m:oMath>
                </a14:m>
                <a:r>
                  <a:rPr lang="zh-CN" altLang="zh-CN" sz="2400" b="1" dirty="0">
                    <a:solidFill>
                      <a:srgbClr val="FFFF00"/>
                    </a:solidFill>
                  </a:rPr>
                  <a:t>为从</a:t>
                </a:r>
                <a14:m>
                  <m:oMath xmlns:m="http://schemas.openxmlformats.org/officeDocument/2006/math">
                    <m:r>
                      <a:rPr lang="en-US" altLang="zh-CN" sz="2400" b="1" i="1">
                        <a:solidFill>
                          <a:srgbClr val="FFFF00"/>
                        </a:solidFill>
                        <a:latin typeface="Cambria Math"/>
                      </a:rPr>
                      <m:t>𝑨</m:t>
                    </m:r>
                  </m:oMath>
                </a14:m>
                <a:r>
                  <a:rPr lang="zh-CN" altLang="zh-CN" sz="2400" b="1" dirty="0">
                    <a:solidFill>
                      <a:srgbClr val="FFFF00"/>
                    </a:solidFill>
                  </a:rPr>
                  <a:t>到</a:t>
                </a:r>
                <a14:m>
                  <m:oMath xmlns:m="http://schemas.openxmlformats.org/officeDocument/2006/math">
                    <m:r>
                      <a:rPr lang="en-US" altLang="zh-CN" sz="2400" b="1" i="1">
                        <a:solidFill>
                          <a:srgbClr val="FFFF00"/>
                        </a:solidFill>
                        <a:latin typeface="Cambria Math"/>
                      </a:rPr>
                      <m:t>𝑩</m:t>
                    </m:r>
                  </m:oMath>
                </a14:m>
                <a:r>
                  <a:rPr lang="zh-CN" altLang="zh-CN" sz="2400" b="1" dirty="0">
                    <a:solidFill>
                      <a:srgbClr val="FFFF00"/>
                    </a:solidFill>
                  </a:rPr>
                  <a:t>的函数关系</a:t>
                </a:r>
                <a:r>
                  <a:rPr lang="zh-CN" altLang="zh-CN" sz="2400" b="1" dirty="0">
                    <a:solidFill>
                      <a:schemeClr val="bg1"/>
                    </a:solidFill>
                  </a:rPr>
                  <a:t>，简称为</a:t>
                </a:r>
                <a:r>
                  <a:rPr lang="zh-CN" altLang="zh-CN" sz="2400" b="1" dirty="0">
                    <a:solidFill>
                      <a:srgbClr val="FFFF00"/>
                    </a:solidFill>
                  </a:rPr>
                  <a:t>函数</a:t>
                </a:r>
                <a:r>
                  <a:rPr lang="zh-CN" altLang="zh-CN" sz="2400" b="1" dirty="0">
                    <a:solidFill>
                      <a:schemeClr val="bg1"/>
                    </a:solidFill>
                  </a:rPr>
                  <a:t>或</a:t>
                </a:r>
                <a:r>
                  <a:rPr lang="zh-CN" altLang="zh-CN" sz="2400" b="1" dirty="0">
                    <a:solidFill>
                      <a:srgbClr val="FFFF00"/>
                    </a:solidFill>
                  </a:rPr>
                  <a:t>映射</a:t>
                </a:r>
                <a:endParaRPr lang="en-US" altLang="zh-CN" sz="2400" b="1" dirty="0">
                  <a:solidFill>
                    <a:srgbClr val="FFFF00"/>
                  </a:solidFill>
                </a:endParaRPr>
              </a:p>
              <a:p>
                <a:pPr>
                  <a:lnSpc>
                    <a:spcPct val="120000"/>
                  </a:lnSpc>
                  <a:spcBef>
                    <a:spcPts val="1200"/>
                  </a:spcBef>
                  <a:spcAft>
                    <a:spcPts val="1200"/>
                  </a:spcAft>
                </a:pPr>
                <a:r>
                  <a:rPr lang="en-US" altLang="zh-CN" sz="2400" b="1" dirty="0">
                    <a:solidFill>
                      <a:schemeClr val="bg1"/>
                    </a:solidFill>
                  </a:rPr>
                  <a:t>         </a:t>
                </a:r>
                <a:r>
                  <a:rPr lang="zh-CN" altLang="zh-CN" sz="2400" b="1" dirty="0">
                    <a:solidFill>
                      <a:schemeClr val="bg1"/>
                    </a:solidFill>
                  </a:rPr>
                  <a:t>记为</a:t>
                </a:r>
                <a:r>
                  <a:rPr lang="zh-CN" altLang="en-US" sz="2400" b="1" dirty="0">
                    <a:solidFill>
                      <a:schemeClr val="bg1"/>
                    </a:solidFill>
                  </a:rPr>
                  <a:t>：</a:t>
                </a:r>
                <a14:m>
                  <m:oMath xmlns:m="http://schemas.openxmlformats.org/officeDocument/2006/math">
                    <m:r>
                      <a:rPr lang="zh-CN" altLang="zh-CN" sz="2400" b="1" i="1">
                        <a:solidFill>
                          <a:schemeClr val="bg1"/>
                        </a:solidFill>
                        <a:latin typeface="Cambria Math"/>
                      </a:rPr>
                      <m:t> </m:t>
                    </m:r>
                    <m:r>
                      <a:rPr lang="en-US" altLang="zh-CN" sz="2400" b="1" i="1" smtClean="0">
                        <a:solidFill>
                          <a:srgbClr val="FFFF00"/>
                        </a:solidFill>
                        <a:latin typeface="Cambria Math"/>
                      </a:rPr>
                      <m:t>𝒇</m:t>
                    </m:r>
                    <m:r>
                      <a:rPr lang="en-US" altLang="zh-CN" sz="2400" b="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𝑩</m:t>
                    </m:r>
                  </m:oMath>
                </a14:m>
                <a:r>
                  <a:rPr lang="en-US" altLang="zh-CN" sz="2400" b="1" dirty="0">
                    <a:solidFill>
                      <a:srgbClr val="FFFF00"/>
                    </a:solidFill>
                  </a:rPr>
                  <a:t> </a:t>
                </a:r>
                <a:r>
                  <a:rPr lang="zh-CN" altLang="zh-CN" sz="2400" b="1" dirty="0">
                    <a:solidFill>
                      <a:schemeClr val="bg1"/>
                    </a:solidFill>
                  </a:rPr>
                  <a:t>或</a:t>
                </a:r>
                <a:r>
                  <a:rPr lang="en-US" altLang="zh-CN" sz="2400" b="1" dirty="0">
                    <a:solidFill>
                      <a:schemeClr val="bg1"/>
                    </a:solidFill>
                  </a:rPr>
                  <a:t> </a:t>
                </a:r>
                <a14:m>
                  <m:oMath xmlns:m="http://schemas.openxmlformats.org/officeDocument/2006/math">
                    <m:r>
                      <a:rPr lang="en-US" altLang="zh-CN" sz="2400" b="1" i="1" smtClean="0">
                        <a:solidFill>
                          <a:srgbClr val="FFFF00"/>
                        </a:solidFill>
                        <a:latin typeface="Cambria Math"/>
                      </a:rPr>
                      <m:t>𝒚</m:t>
                    </m:r>
                    <m:r>
                      <a:rPr lang="en-US" altLang="zh-CN" sz="2400" b="1" i="1" smtClean="0">
                        <a:solidFill>
                          <a:srgbClr val="FFFF00"/>
                        </a:solidFill>
                        <a:latin typeface="Cambria Math"/>
                      </a:rPr>
                      <m:t>=</m:t>
                    </m:r>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𝒙</m:t>
                        </m:r>
                      </m:e>
                    </m:d>
                  </m:oMath>
                </a14:m>
                <a:endParaRPr lang="en-US" altLang="zh-CN" sz="2400" b="1" dirty="0">
                  <a:solidFill>
                    <a:schemeClr val="bg1"/>
                  </a:solidFill>
                </a:endParaRPr>
              </a:p>
              <a:p>
                <a:pPr>
                  <a:lnSpc>
                    <a:spcPct val="120000"/>
                  </a:lnSpc>
                  <a:spcBef>
                    <a:spcPts val="600"/>
                  </a:spcBef>
                  <a:spcAft>
                    <a:spcPts val="0"/>
                  </a:spcAft>
                </a:pPr>
                <a:r>
                  <a:rPr lang="en-US" altLang="zh-CN" sz="2400" b="1" dirty="0">
                    <a:solidFill>
                      <a:schemeClr val="bg1"/>
                    </a:solidFill>
                  </a:rPr>
                  <a:t>    </a:t>
                </a:r>
                <a:r>
                  <a:rPr lang="zh-CN" altLang="zh-CN" sz="2400" b="1" dirty="0">
                    <a:solidFill>
                      <a:schemeClr val="bg1"/>
                    </a:solidFill>
                  </a:rPr>
                  <a:t>称</a:t>
                </a:r>
                <a14:m>
                  <m:oMath xmlns:m="http://schemas.openxmlformats.org/officeDocument/2006/math">
                    <m:r>
                      <a:rPr lang="en-US" altLang="zh-CN" sz="2400" b="1" i="1">
                        <a:solidFill>
                          <a:schemeClr val="bg1"/>
                        </a:solidFill>
                        <a:latin typeface="Cambria Math"/>
                      </a:rPr>
                      <m:t>𝒙</m:t>
                    </m:r>
                  </m:oMath>
                </a14:m>
                <a:r>
                  <a:rPr lang="zh-CN" altLang="zh-CN" sz="2400" b="1" dirty="0">
                    <a:solidFill>
                      <a:schemeClr val="bg1"/>
                    </a:solidFill>
                  </a:rPr>
                  <a:t>为</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的</a:t>
                </a:r>
                <a:r>
                  <a:rPr lang="zh-CN" altLang="zh-CN" sz="2400" b="1" dirty="0">
                    <a:solidFill>
                      <a:srgbClr val="FFFF00"/>
                    </a:solidFill>
                  </a:rPr>
                  <a:t>自变量</a:t>
                </a:r>
                <a:r>
                  <a:rPr lang="zh-CN" altLang="zh-CN" sz="2400" b="1" dirty="0">
                    <a:solidFill>
                      <a:schemeClr val="bg1"/>
                    </a:solidFill>
                  </a:rPr>
                  <a:t>或</a:t>
                </a:r>
                <a:r>
                  <a:rPr lang="zh-CN" altLang="zh-CN" sz="2400" b="1" dirty="0">
                    <a:solidFill>
                      <a:srgbClr val="FFFF00"/>
                    </a:solidFill>
                  </a:rPr>
                  <a:t>源点</a:t>
                </a:r>
                <a:r>
                  <a:rPr lang="zh-CN" altLang="zh-CN" sz="2400" b="1" dirty="0">
                    <a:solidFill>
                      <a:schemeClr val="bg1"/>
                    </a:solidFill>
                  </a:rPr>
                  <a:t>，</a:t>
                </a:r>
                <a14:m>
                  <m:oMath xmlns:m="http://schemas.openxmlformats.org/officeDocument/2006/math">
                    <m:r>
                      <a:rPr lang="en-US" altLang="zh-CN" sz="2400" b="1" i="1">
                        <a:solidFill>
                          <a:schemeClr val="bg1"/>
                        </a:solidFill>
                        <a:latin typeface="Cambria Math"/>
                      </a:rPr>
                      <m:t>𝒚</m:t>
                    </m:r>
                  </m:oMath>
                </a14:m>
                <a:r>
                  <a:rPr lang="zh-CN" altLang="zh-CN" sz="2400" b="1" dirty="0">
                    <a:solidFill>
                      <a:schemeClr val="bg1"/>
                    </a:solidFill>
                  </a:rPr>
                  <a:t>为</a:t>
                </a:r>
                <a14:m>
                  <m:oMath xmlns:m="http://schemas.openxmlformats.org/officeDocument/2006/math">
                    <m:r>
                      <a:rPr lang="en-US" altLang="zh-CN" sz="2400" b="1" i="1">
                        <a:solidFill>
                          <a:schemeClr val="bg1"/>
                        </a:solidFill>
                        <a:latin typeface="Cambria Math"/>
                      </a:rPr>
                      <m:t>𝒙</m:t>
                    </m:r>
                  </m:oMath>
                </a14:m>
                <a:r>
                  <a:rPr lang="zh-CN" altLang="zh-CN" sz="2400" b="1" dirty="0">
                    <a:solidFill>
                      <a:schemeClr val="bg1"/>
                    </a:solidFill>
                  </a:rPr>
                  <a:t>在</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下的</a:t>
                </a:r>
                <a:r>
                  <a:rPr lang="zh-CN" altLang="zh-CN" sz="2400" b="1" dirty="0">
                    <a:solidFill>
                      <a:srgbClr val="FFFF00"/>
                    </a:solidFill>
                  </a:rPr>
                  <a:t>函数值</a:t>
                </a:r>
                <a:r>
                  <a:rPr lang="zh-CN" altLang="zh-CN" sz="2400" b="1" dirty="0">
                    <a:solidFill>
                      <a:schemeClr val="bg1"/>
                    </a:solidFill>
                  </a:rPr>
                  <a:t>或</a:t>
                </a:r>
                <a:r>
                  <a:rPr lang="zh-CN" altLang="zh-CN" sz="2400" b="1" dirty="0">
                    <a:solidFill>
                      <a:srgbClr val="FFFF00"/>
                    </a:solidFill>
                  </a:rPr>
                  <a:t>像点</a:t>
                </a:r>
                <a:r>
                  <a:rPr lang="zh-CN" altLang="zh-CN" sz="2400" b="1" dirty="0">
                    <a:solidFill>
                      <a:schemeClr val="bg1"/>
                    </a:solidFill>
                  </a:rPr>
                  <a:t>。集合</a:t>
                </a:r>
                <a14:m>
                  <m:oMath xmlns:m="http://schemas.openxmlformats.org/officeDocument/2006/math">
                    <m:r>
                      <a:rPr lang="en-US" altLang="zh-CN" sz="2400" b="1" i="1" smtClean="0">
                        <a:solidFill>
                          <a:srgbClr val="FFFF00"/>
                        </a:solidFill>
                        <a:latin typeface="Cambria Math"/>
                      </a:rPr>
                      <m:t>𝑨</m:t>
                    </m:r>
                  </m:oMath>
                </a14:m>
                <a:r>
                  <a:rPr lang="zh-CN" altLang="zh-CN" sz="2400" b="1" dirty="0">
                    <a:solidFill>
                      <a:schemeClr val="bg1"/>
                    </a:solidFill>
                  </a:rPr>
                  <a:t>称为</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的</a:t>
                </a:r>
                <a:r>
                  <a:rPr lang="zh-CN" altLang="zh-CN" sz="2400" b="1" dirty="0">
                    <a:solidFill>
                      <a:srgbClr val="FFFF00"/>
                    </a:solidFill>
                  </a:rPr>
                  <a:t>定义域</a:t>
                </a:r>
                <a:r>
                  <a:rPr lang="zh-CN" altLang="zh-CN" sz="2400" b="1" dirty="0">
                    <a:solidFill>
                      <a:schemeClr val="bg1"/>
                    </a:solidFill>
                  </a:rPr>
                  <a:t>，记为</a:t>
                </a:r>
                <a14:m>
                  <m:oMath xmlns:m="http://schemas.openxmlformats.org/officeDocument/2006/math">
                    <m:r>
                      <m:rPr>
                        <m:nor/>
                      </m:rPr>
                      <a:rPr lang="en-US" altLang="zh-CN" sz="2400" b="1" smtClean="0">
                        <a:solidFill>
                          <a:srgbClr val="FFFF00"/>
                        </a:solidFill>
                      </a:rPr>
                      <m:t>dom</m:t>
                    </m:r>
                    <m:r>
                      <a:rPr lang="en-US" altLang="zh-CN" sz="2400" b="1" i="1">
                        <a:solidFill>
                          <a:srgbClr val="FFFF00"/>
                        </a:solidFill>
                        <a:latin typeface="Cambria Math"/>
                      </a:rPr>
                      <m:t> </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𝑨</m:t>
                    </m:r>
                  </m:oMath>
                </a14:m>
                <a:r>
                  <a:rPr lang="zh-CN" altLang="zh-CN" sz="2400" b="1" dirty="0">
                    <a:solidFill>
                      <a:schemeClr val="bg1"/>
                    </a:solidFill>
                  </a:rPr>
                  <a:t>，</a:t>
                </a:r>
                <a:endParaRPr lang="en-US" altLang="zh-CN" sz="2400" b="1" dirty="0">
                  <a:solidFill>
                    <a:schemeClr val="bg1"/>
                  </a:solidFill>
                </a:endParaRPr>
              </a:p>
              <a:p>
                <a:pPr>
                  <a:lnSpc>
                    <a:spcPct val="120000"/>
                  </a:lnSpc>
                  <a:spcBef>
                    <a:spcPts val="600"/>
                  </a:spcBef>
                  <a:spcAft>
                    <a:spcPts val="0"/>
                  </a:spcAft>
                </a:pPr>
                <a:r>
                  <a:rPr lang="en-US" altLang="zh-CN" sz="2400" b="1" dirty="0">
                    <a:solidFill>
                      <a:schemeClr val="bg1"/>
                    </a:solidFill>
                  </a:rPr>
                  <a:t>   </a:t>
                </a:r>
                <a:r>
                  <a:rPr lang="zh-CN" altLang="zh-CN" sz="2400" b="1" dirty="0">
                    <a:solidFill>
                      <a:schemeClr val="bg1"/>
                    </a:solidFill>
                  </a:rPr>
                  <a:t>所有像点组成的集合称为</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的</a:t>
                </a:r>
                <a:r>
                  <a:rPr lang="zh-CN" altLang="zh-CN" sz="2400" b="1" dirty="0">
                    <a:solidFill>
                      <a:srgbClr val="FFFF00"/>
                    </a:solidFill>
                  </a:rPr>
                  <a:t>值域</a:t>
                </a:r>
                <a:r>
                  <a:rPr lang="zh-CN" altLang="zh-CN" sz="2400" b="1" dirty="0">
                    <a:solidFill>
                      <a:schemeClr val="bg1"/>
                    </a:solidFill>
                  </a:rPr>
                  <a:t>或</a:t>
                </a:r>
                <a14:m>
                  <m:oMath xmlns:m="http://schemas.openxmlformats.org/officeDocument/2006/math">
                    <m:r>
                      <a:rPr lang="en-US" altLang="zh-CN" sz="2400" b="1" i="1" smtClean="0">
                        <a:solidFill>
                          <a:srgbClr val="FFFF00"/>
                        </a:solidFill>
                        <a:latin typeface="Cambria Math"/>
                      </a:rPr>
                      <m:t>𝒇</m:t>
                    </m:r>
                  </m:oMath>
                </a14:m>
                <a:r>
                  <a:rPr lang="zh-CN" altLang="zh-CN" sz="2400" b="1" dirty="0">
                    <a:solidFill>
                      <a:srgbClr val="FFFF00"/>
                    </a:solidFill>
                  </a:rPr>
                  <a:t>的像</a:t>
                </a:r>
                <a:r>
                  <a:rPr lang="zh-CN" altLang="zh-CN" sz="2400" b="1" dirty="0">
                    <a:solidFill>
                      <a:schemeClr val="bg1"/>
                    </a:solidFill>
                  </a:rPr>
                  <a:t>，记为</a:t>
                </a:r>
                <a14:m>
                  <m:oMath xmlns:m="http://schemas.openxmlformats.org/officeDocument/2006/math">
                    <m:r>
                      <m:rPr>
                        <m:nor/>
                      </m:rPr>
                      <a:rPr lang="en-US" altLang="zh-CN" sz="2400" b="1" smtClean="0">
                        <a:solidFill>
                          <a:srgbClr val="FFFF00"/>
                        </a:solidFill>
                      </a:rPr>
                      <m:t>ran</m:t>
                    </m:r>
                    <m:r>
                      <a:rPr lang="en-US" altLang="zh-CN" sz="2400" b="1" i="1">
                        <a:solidFill>
                          <a:srgbClr val="FFFF00"/>
                        </a:solidFill>
                        <a:latin typeface="Cambria Math"/>
                      </a:rPr>
                      <m:t> </m:t>
                    </m:r>
                    <m:r>
                      <a:rPr lang="en-US" altLang="zh-CN" sz="2400" b="1" i="1">
                        <a:solidFill>
                          <a:srgbClr val="FFFF00"/>
                        </a:solidFill>
                        <a:latin typeface="Cambria Math"/>
                      </a:rPr>
                      <m:t>𝒇</m:t>
                    </m:r>
                    <m:r>
                      <a:rPr lang="en-US" altLang="zh-CN" sz="2400" b="1" i="1">
                        <a:solidFill>
                          <a:srgbClr val="FFFF00"/>
                        </a:solidFill>
                        <a:latin typeface="Cambria Math"/>
                      </a:rPr>
                      <m:t> </m:t>
                    </m:r>
                  </m:oMath>
                </a14:m>
                <a:r>
                  <a:rPr lang="zh-CN" altLang="zh-CN" sz="2400" b="1" dirty="0">
                    <a:solidFill>
                      <a:schemeClr val="bg1"/>
                    </a:solidFill>
                  </a:rPr>
                  <a:t>或</a:t>
                </a:r>
                <a14:m>
                  <m:oMath xmlns:m="http://schemas.openxmlformats.org/officeDocument/2006/math">
                    <m:r>
                      <a:rPr lang="en-US" altLang="zh-CN" sz="2400" b="1" i="1" smtClean="0">
                        <a:solidFill>
                          <a:srgbClr val="FFFF00"/>
                        </a:solidFill>
                        <a:latin typeface="Cambria Math"/>
                      </a:rPr>
                      <m:t>𝒇</m:t>
                    </m:r>
                    <m:r>
                      <a:rPr lang="en-US" altLang="zh-CN" sz="2400" b="1" i="1" smtClean="0">
                        <a:solidFill>
                          <a:srgbClr val="FFFF00"/>
                        </a:solidFill>
                        <a:latin typeface="Cambria Math"/>
                      </a:rPr>
                      <m:t>(</m:t>
                    </m:r>
                    <m:r>
                      <a:rPr lang="en-US" altLang="zh-CN" sz="2400" b="1" i="1" smtClean="0">
                        <a:solidFill>
                          <a:srgbClr val="FFFF00"/>
                        </a:solidFill>
                        <a:latin typeface="Cambria Math"/>
                      </a:rPr>
                      <m:t>𝑨</m:t>
                    </m:r>
                    <m:r>
                      <a:rPr lang="en-US" altLang="zh-CN" sz="2400" b="1" i="1" smtClean="0">
                        <a:solidFill>
                          <a:srgbClr val="FFFF00"/>
                        </a:solidFill>
                        <a:latin typeface="Cambria Math"/>
                      </a:rPr>
                      <m:t>)</m:t>
                    </m:r>
                  </m:oMath>
                </a14:m>
                <a:r>
                  <a:rPr lang="zh-CN" altLang="zh-CN" sz="2400" b="1" dirty="0">
                    <a:solidFill>
                      <a:schemeClr val="bg1"/>
                    </a:solidFill>
                  </a:rPr>
                  <a:t>。</a:t>
                </a:r>
                <a:endParaRPr lang="zh-CN" altLang="en-US" dirty="0">
                  <a:solidFill>
                    <a:schemeClr val="bg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684213" y="2103078"/>
                <a:ext cx="8151067" cy="4054251"/>
              </a:xfrm>
              <a:prstGeom prst="rect">
                <a:avLst/>
              </a:prstGeom>
              <a:blipFill>
                <a:blip r:embed="rId3"/>
                <a:stretch>
                  <a:fillRect l="-1122" t="-902" r="-748" b="-210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613438C-A904-45C9-98BF-FDF82F04CA08}"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2531"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函数的集合定义</a:t>
            </a:r>
          </a:p>
        </p:txBody>
      </p:sp>
      <p:pic>
        <p:nvPicPr>
          <p:cNvPr id="2253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970BB37D-686F-4D68-9B05-42E9433C9B24}"/>
              </a:ext>
            </a:extLst>
          </p:cNvPr>
          <p:cNvPicPr>
            <a:picLocks noChangeAspect="1"/>
          </p:cNvPicPr>
          <p:nvPr/>
        </p:nvPicPr>
        <p:blipFill>
          <a:blip r:embed="rId3"/>
          <a:stretch>
            <a:fillRect/>
          </a:stretch>
        </p:blipFill>
        <p:spPr>
          <a:xfrm>
            <a:off x="1475656" y="2348880"/>
            <a:ext cx="6404487" cy="1901154"/>
          </a:xfrm>
          <a:prstGeom prst="rect">
            <a:avLst/>
          </a:prstGeom>
        </p:spPr>
      </p:pic>
      <p:sp>
        <p:nvSpPr>
          <p:cNvPr id="4" name="文本框 3">
            <a:extLst>
              <a:ext uri="{FF2B5EF4-FFF2-40B4-BE49-F238E27FC236}">
                <a16:creationId xmlns:a16="http://schemas.microsoft.com/office/drawing/2014/main" id="{2B880D5D-67D0-469F-AC1E-98842B40533B}"/>
              </a:ext>
            </a:extLst>
          </p:cNvPr>
          <p:cNvSpPr txBox="1"/>
          <p:nvPr/>
        </p:nvSpPr>
        <p:spPr>
          <a:xfrm>
            <a:off x="1906687" y="4775323"/>
            <a:ext cx="5184576" cy="646331"/>
          </a:xfrm>
          <a:prstGeom prst="rect">
            <a:avLst/>
          </a:prstGeom>
          <a:solidFill>
            <a:schemeClr val="accent6">
              <a:lumMod val="75000"/>
            </a:schemeClr>
          </a:solidFill>
        </p:spPr>
        <p:txBody>
          <a:bodyPr wrap="square" rtlCol="0">
            <a:spAutoFit/>
          </a:bodyPr>
          <a:lstStyle/>
          <a:p>
            <a:r>
              <a:rPr lang="zh-CN" altLang="en-US" sz="3600" dirty="0"/>
              <a:t>  </a:t>
            </a:r>
            <a:r>
              <a:rPr lang="zh-CN" altLang="en-US" sz="3600" dirty="0">
                <a:solidFill>
                  <a:schemeClr val="bg1"/>
                </a:solidFill>
              </a:rPr>
              <a:t>函数表示的映射关系</a:t>
            </a:r>
          </a:p>
        </p:txBody>
      </p:sp>
    </p:spTree>
    <p:extLst>
      <p:ext uri="{BB962C8B-B14F-4D97-AF65-F5344CB8AC3E}">
        <p14:creationId xmlns:p14="http://schemas.microsoft.com/office/powerpoint/2010/main" val="3662074830"/>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9EF9D82-6B87-49F1-9FE5-20DA1FD8944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3555" name="Text Box 2"/>
          <p:cNvSpPr txBox="1">
            <a:spLocks noChangeArrowheads="1"/>
          </p:cNvSpPr>
          <p:nvPr/>
        </p:nvSpPr>
        <p:spPr bwMode="auto">
          <a:xfrm>
            <a:off x="1258888" y="765175"/>
            <a:ext cx="648017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函数概念的要点</a:t>
            </a:r>
          </a:p>
        </p:txBody>
      </p:sp>
      <p:pic>
        <p:nvPicPr>
          <p:cNvPr id="2355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AB6495E-157E-45AF-A4A6-53D3CEE2765E}"/>
                  </a:ext>
                </a:extLst>
              </p:cNvPr>
              <p:cNvSpPr/>
              <p:nvPr/>
            </p:nvSpPr>
            <p:spPr>
              <a:xfrm>
                <a:off x="1115616" y="2060848"/>
                <a:ext cx="7272808" cy="3738652"/>
              </a:xfrm>
              <a:prstGeom prst="rect">
                <a:avLst/>
              </a:prstGeom>
              <a:solidFill>
                <a:schemeClr val="accent6">
                  <a:lumMod val="75000"/>
                </a:schemeClr>
              </a:solidFill>
            </p:spPr>
            <p:txBody>
              <a:bodyPr wrap="square">
                <a:spAutoFit/>
              </a:bodyPr>
              <a:lstStyle/>
              <a:p>
                <a:pPr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zh-CN" altLang="zh-CN" sz="2400" b="1" kern="100">
                        <a:solidFill>
                          <a:schemeClr val="bg1"/>
                        </a:solidFill>
                        <a:latin typeface="Cambria Math" panose="02040503050406030204" pitchFamily="18" charset="0"/>
                        <a:ea typeface="宋体" panose="02010600030101010101" pitchFamily="2" charset="-122"/>
                      </a:rPr>
                      <m:t>；</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en-US" altLang="zh-CN" sz="2400" b="1" i="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𝒛</m:t>
                        </m:r>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𝒛</m:t>
                    </m:r>
                    <m: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endParaRPr lang="zh-CN" altLang="zh-CN" sz="2400" b="1" i="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𝐀</m:t>
                        </m:r>
                      </m:e>
                    </m:d>
                    <m:r>
                      <a:rPr lang="zh-CN"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endPar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表示</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变量</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表示</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集合，故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p>
              <a:p>
                <a:pPr algn="just">
                  <a:lnSpc>
                    <a:spcPts val="3600"/>
                  </a:lnSpc>
                  <a:spcAft>
                    <a:spcPts val="0"/>
                  </a:spcAft>
                </a:pPr>
                <a:endParaRPr lang="en-US" altLang="zh-CN" sz="2400" b="1" kern="100" dirty="0">
                  <a:latin typeface="Times New Roman" panose="02020603050405020304" pitchFamily="18" charset="0"/>
                  <a:ea typeface="宋体" panose="02010600030101010101" pitchFamily="2" charset="-122"/>
                  <a:cs typeface="宋体" panose="02010600030101010101" pitchFamily="2" charset="-122"/>
                </a:endParaRPr>
              </a:p>
              <a:p>
                <a:pPr algn="just">
                  <a:lnSpc>
                    <a:spcPts val="3600"/>
                  </a:lnSpc>
                  <a:spcAft>
                    <a:spcPts val="0"/>
                  </a:spcAft>
                </a:pP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若</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关系</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具备下面两种情况之一，</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就不是函数：</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nSpc>
                    <a:spcPts val="3600"/>
                  </a:lnSpc>
                  <a:spcAft>
                    <a:spcPts val="0"/>
                  </a:spcAft>
                </a:pP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）存在元素</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𝒂</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en-US" altLang="zh-CN" sz="2400" b="1" kern="100" dirty="0">
                    <a:solidFill>
                      <a:srgbClr val="FFFF00"/>
                    </a:solidFill>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在</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中没有像；</a:t>
                </a:r>
                <a:endPar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endParaRPr>
              </a:p>
              <a:p>
                <a:pPr indent="266700">
                  <a:lnSpc>
                    <a:spcPts val="3600"/>
                  </a:lnSpc>
                  <a:spcAft>
                    <a:spcPts val="0"/>
                  </a:spcAft>
                </a:pP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）存在元素</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𝒂</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en-US" altLang="zh-CN" sz="2400" b="1" kern="100" dirty="0">
                    <a:solidFill>
                      <a:srgbClr val="FFFF00"/>
                    </a:solidFill>
                    <a:latin typeface="宋体" panose="02010600030101010101" pitchFamily="2" charset="-122"/>
                    <a:ea typeface="宋体" panose="02010600030101010101" pitchFamily="2" charset="-122"/>
                    <a:cs typeface="宋体" panose="02010600030101010101" pitchFamily="2" charset="-122"/>
                  </a:rPr>
                  <a:t>, </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在</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中至少有两个像。</a:t>
                </a:r>
                <a:endParaRPr lang="zh-CN" altLang="zh-CN" sz="2400" b="1" kern="100" dirty="0">
                  <a:solidFill>
                    <a:srgbClr val="FFFF00"/>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4AB6495E-157E-45AF-A4A6-53D3CEE2765E}"/>
                  </a:ext>
                </a:extLst>
              </p:cNvPr>
              <p:cNvSpPr>
                <a:spLocks noRot="1" noChangeAspect="1" noMove="1" noResize="1" noEditPoints="1" noAdjustHandles="1" noChangeArrowheads="1" noChangeShapeType="1" noTextEdit="1"/>
              </p:cNvSpPr>
              <p:nvPr/>
            </p:nvSpPr>
            <p:spPr>
              <a:xfrm>
                <a:off x="1115616" y="2060848"/>
                <a:ext cx="7272808" cy="3738652"/>
              </a:xfrm>
              <a:prstGeom prst="rect">
                <a:avLst/>
              </a:prstGeom>
              <a:blipFill>
                <a:blip r:embed="rId3"/>
                <a:stretch>
                  <a:fillRect l="-1257" t="-653" b="-2936"/>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5F6F0B0-0EE0-4408-A2CA-72F64C893BE6}"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4579"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2458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40B0C96-9F46-417C-8B75-ED5A99EC72C6}"/>
                  </a:ext>
                </a:extLst>
              </p:cNvPr>
              <p:cNvSpPr/>
              <p:nvPr/>
            </p:nvSpPr>
            <p:spPr>
              <a:xfrm>
                <a:off x="466527" y="1891934"/>
                <a:ext cx="8064896" cy="4200317"/>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【例题】设集合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𝟑</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，判断下列</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的二元关系</a:t>
                </a:r>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哪些</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是函数关系</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哪些不是</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，对于函数关系</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写出函数的值域</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𝟑</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𝟑</m:t>
                        </m:r>
                      </m:sub>
                    </m:sSub>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𝟑</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𝟒</m:t>
                        </m:r>
                      </m:sub>
                    </m:sSub>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𝟑</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5</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𝟓</m:t>
                        </m:r>
                      </m:sub>
                    </m:sSub>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𝟑</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6</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𝟔</m:t>
                        </m:r>
                      </m:sub>
                    </m:sSub>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𝟑</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940B0C96-9F46-417C-8B75-ED5A99EC72C6}"/>
                  </a:ext>
                </a:extLst>
              </p:cNvPr>
              <p:cNvSpPr>
                <a:spLocks noRot="1" noChangeAspect="1" noMove="1" noResize="1" noEditPoints="1" noAdjustHandles="1" noChangeArrowheads="1" noChangeShapeType="1" noTextEdit="1"/>
              </p:cNvSpPr>
              <p:nvPr/>
            </p:nvSpPr>
            <p:spPr>
              <a:xfrm>
                <a:off x="466527" y="1891934"/>
                <a:ext cx="8064896" cy="4200317"/>
              </a:xfrm>
              <a:prstGeom prst="rect">
                <a:avLst/>
              </a:prstGeom>
              <a:blipFill>
                <a:blip r:embed="rId3"/>
                <a:stretch>
                  <a:fillRect l="-1209" t="-581" r="-1134" b="-2467"/>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FA6D59F-A224-4A34-9AF7-17B2CE1706A7}"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5603"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2560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A89409B-0FE0-436D-AD59-B3331511D826}"/>
                  </a:ext>
                </a:extLst>
              </p:cNvPr>
              <p:cNvSpPr/>
              <p:nvPr/>
            </p:nvSpPr>
            <p:spPr>
              <a:xfrm>
                <a:off x="684214" y="1947462"/>
                <a:ext cx="7776218" cy="4200317"/>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【解】（</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是函数关系，</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𝑨</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r>
                      <a:rPr lang="en-US" altLang="zh-CN" sz="2400" b="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不是函数关系，因为</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没有像， </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与同时</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𝒂</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𝒅</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对应，不满足像的单值性；</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𝟑</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是函数关系，</a:t>
                </a:r>
                <a14:m>
                  <m:oMath xmlns:m="http://schemas.openxmlformats.org/officeDocument/2006/math">
                    <m:r>
                      <a:rPr lang="zh-CN" altLang="zh-CN" sz="2400" b="1" kern="100">
                        <a:solidFill>
                          <a:schemeClr val="bg1"/>
                        </a:solidFill>
                        <a:latin typeface="Cambria Math" panose="02040503050406030204" pitchFamily="18" charset="0"/>
                        <a:ea typeface="Cambria Math" panose="02040503050406030204" pitchFamily="18" charset="0"/>
                        <a:cs typeface="宋体" panose="02010600030101010101" pitchFamily="2" charset="-122"/>
                      </a:rPr>
                      <m:t> </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𝟑</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𝑨</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r>
                      <a:rPr lang="en-US" altLang="zh-CN" sz="2400" b="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𝟒</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不是函数关系，因为</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同时与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𝒄</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𝒅</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对应，不满足像的单值性；</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5</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𝟓</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不是函数关系，因为</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没有像，</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同时与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对应，不满足像的单值性； </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6</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𝟔</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是函数，</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rPr>
                          <m:t>𝟔</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𝑨</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zh-CN"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endParaRPr lang="zh-CN" altLang="zh-CN" sz="2400" b="1" kern="100" dirty="0">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DA89409B-0FE0-436D-AD59-B3331511D826}"/>
                  </a:ext>
                </a:extLst>
              </p:cNvPr>
              <p:cNvSpPr>
                <a:spLocks noRot="1" noChangeAspect="1" noMove="1" noResize="1" noEditPoints="1" noAdjustHandles="1" noChangeArrowheads="1" noChangeShapeType="1" noTextEdit="1"/>
              </p:cNvSpPr>
              <p:nvPr/>
            </p:nvSpPr>
            <p:spPr>
              <a:xfrm>
                <a:off x="684214" y="1947462"/>
                <a:ext cx="7776218" cy="4200317"/>
              </a:xfrm>
              <a:prstGeom prst="rect">
                <a:avLst/>
              </a:prstGeom>
              <a:blipFill>
                <a:blip r:embed="rId3"/>
                <a:stretch>
                  <a:fillRect l="-1176" t="-581" r="-1254" b="-2467"/>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3D72157-7DC4-4333-AD40-4F33A6921C37}"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6627"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2662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827584" y="2060848"/>
                <a:ext cx="7920880" cy="1968744"/>
              </a:xfrm>
              <a:prstGeom prst="rect">
                <a:avLst/>
              </a:prstGeom>
              <a:solidFill>
                <a:schemeClr val="accent1"/>
              </a:solidFill>
            </p:spPr>
            <p:txBody>
              <a:bodyPr wrap="square" rtlCol="0">
                <a:spAutoFit/>
              </a:bodyPr>
              <a:lstStyle/>
              <a:p>
                <a:pPr>
                  <a:lnSpc>
                    <a:spcPct val="130000"/>
                  </a:lnSpc>
                </a:pPr>
                <a:r>
                  <a:rPr lang="en-US" altLang="zh-CN" sz="2400" b="1" dirty="0">
                    <a:solidFill>
                      <a:schemeClr val="tx1"/>
                    </a:solidFill>
                  </a:rPr>
                  <a:t>【</a:t>
                </a:r>
                <a:r>
                  <a:rPr lang="zh-CN" altLang="en-US" sz="2400" b="1" dirty="0">
                    <a:solidFill>
                      <a:schemeClr val="tx1"/>
                    </a:solidFill>
                  </a:rPr>
                  <a:t>例题</a:t>
                </a:r>
                <a:r>
                  <a:rPr lang="en-US" altLang="zh-CN" sz="2400" b="1" dirty="0">
                    <a:solidFill>
                      <a:schemeClr val="tx1"/>
                    </a:solidFill>
                  </a:rPr>
                  <a:t>】 </a:t>
                </a:r>
                <a:r>
                  <a:rPr lang="zh-CN" altLang="zh-CN" sz="2400" b="1" dirty="0">
                    <a:solidFill>
                      <a:schemeClr val="tx1"/>
                    </a:solidFill>
                  </a:rPr>
                  <a:t>对于集合</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𝟑</m:t>
                    </m:r>
                    <m:r>
                      <a:rPr lang="en-US" altLang="zh-CN" sz="2400" b="1" i="1">
                        <a:solidFill>
                          <a:schemeClr val="tx1"/>
                        </a:solidFill>
                        <a:latin typeface="Cambria Math"/>
                      </a:rPr>
                      <m:t>}</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r>
                      <a:rPr lang="en-US" altLang="zh-CN" sz="2400" b="1" i="1">
                        <a:solidFill>
                          <a:schemeClr val="tx1"/>
                        </a:solidFill>
                        <a:latin typeface="Cambria Math"/>
                      </a:rPr>
                      <m:t>𝒂</m:t>
                    </m:r>
                    <m:r>
                      <a:rPr lang="en-US" altLang="zh-CN" sz="2400" b="1" i="1">
                        <a:solidFill>
                          <a:schemeClr val="tx1"/>
                        </a:solidFill>
                        <a:latin typeface="Cambria Math"/>
                      </a:rPr>
                      <m:t>,</m:t>
                    </m:r>
                    <m:r>
                      <a:rPr lang="en-US" altLang="zh-CN" sz="2400" b="1" i="1">
                        <a:solidFill>
                          <a:schemeClr val="tx1"/>
                        </a:solidFill>
                        <a:latin typeface="Cambria Math"/>
                      </a:rPr>
                      <m:t>𝒃</m:t>
                    </m:r>
                    <m:r>
                      <a:rPr lang="en-US" altLang="zh-CN" sz="2400" b="1" i="1">
                        <a:solidFill>
                          <a:schemeClr val="tx1"/>
                        </a:solidFill>
                        <a:latin typeface="Cambria Math"/>
                      </a:rPr>
                      <m:t>,</m:t>
                    </m:r>
                    <m:r>
                      <a:rPr lang="en-US" altLang="zh-CN" sz="2400" b="1" i="1">
                        <a:solidFill>
                          <a:schemeClr val="tx1"/>
                        </a:solidFill>
                        <a:latin typeface="Cambria Math"/>
                      </a:rPr>
                      <m:t>𝒄</m:t>
                    </m:r>
                    <m:r>
                      <a:rPr lang="en-US" altLang="zh-CN" sz="2400" b="1" i="1">
                        <a:solidFill>
                          <a:schemeClr val="tx1"/>
                        </a:solidFill>
                        <a:latin typeface="Cambria Math"/>
                      </a:rPr>
                      <m:t>}</m:t>
                    </m:r>
                  </m:oMath>
                </a14:m>
                <a:r>
                  <a:rPr lang="zh-CN" altLang="zh-CN" sz="2400" b="1" dirty="0">
                    <a:solidFill>
                      <a:schemeClr val="tx1"/>
                    </a:solidFill>
                  </a:rPr>
                  <a:t>关系</a:t>
                </a:r>
                <a:r>
                  <a:rPr lang="zh-CN" altLang="en-US" sz="2400" b="1" dirty="0">
                    <a:solidFill>
                      <a:schemeClr val="tx1"/>
                    </a:solidFill>
                  </a:rPr>
                  <a:t>：</a:t>
                </a:r>
                <a:endParaRPr lang="en-US" altLang="zh-CN" sz="2400" b="1" i="1" dirty="0">
                  <a:solidFill>
                    <a:schemeClr val="tx1"/>
                  </a:solidFill>
                  <a:latin typeface="Cambria Math"/>
                </a:endParaRPr>
              </a:p>
              <a:p>
                <a:pPr>
                  <a:lnSpc>
                    <a:spcPct val="13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a:rPr>
                        <m:t>𝒇</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𝒄</m:t>
                          </m:r>
                        </m:e>
                      </m:d>
                      <m:r>
                        <a:rPr lang="en-US" altLang="zh-CN" sz="2400" b="1" i="1">
                          <a:solidFill>
                            <a:schemeClr val="tx1"/>
                          </a:solidFill>
                          <a:latin typeface="Cambria Math"/>
                        </a:rPr>
                        <m:t>}</m:t>
                      </m:r>
                    </m:oMath>
                  </m:oMathPara>
                </a14:m>
                <a:endParaRPr lang="en-US" altLang="zh-CN" sz="2400" b="1" dirty="0">
                  <a:solidFill>
                    <a:schemeClr val="tx1"/>
                  </a:solidFill>
                </a:endParaRPr>
              </a:p>
              <a:p>
                <a:pPr>
                  <a:lnSpc>
                    <a:spcPct val="1300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a:rPr>
                        <m:t>𝒈</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i="1">
                          <a:solidFill>
                            <a:schemeClr val="tx1"/>
                          </a:solidFill>
                          <a:latin typeface="Cambria Math"/>
                        </a:rPr>
                        <m:t>}</m:t>
                      </m:r>
                    </m:oMath>
                  </m:oMathPara>
                </a14:m>
                <a:endParaRPr lang="en-US" altLang="zh-CN" sz="2400" b="1" dirty="0">
                  <a:solidFill>
                    <a:schemeClr val="tx1"/>
                  </a:solidFill>
                </a:endParaRPr>
              </a:p>
              <a:p>
                <a:pPr>
                  <a:lnSpc>
                    <a:spcPct val="130000"/>
                  </a:lnSpc>
                </a:pPr>
                <a:r>
                  <a:rPr lang="zh-CN" altLang="zh-CN" sz="2400" b="1" dirty="0">
                    <a:solidFill>
                      <a:schemeClr val="accent2"/>
                    </a:solidFill>
                  </a:rPr>
                  <a:t>判断</a:t>
                </a:r>
                <a14:m>
                  <m:oMath xmlns:m="http://schemas.openxmlformats.org/officeDocument/2006/math">
                    <m:r>
                      <a:rPr lang="en-US" altLang="zh-CN" sz="2400" b="1" i="1">
                        <a:solidFill>
                          <a:schemeClr val="accent2"/>
                        </a:solidFill>
                        <a:latin typeface="Cambria Math"/>
                      </a:rPr>
                      <m:t>𝒇</m:t>
                    </m:r>
                    <m:r>
                      <a:rPr lang="en-US" altLang="zh-CN" sz="2400" b="1" i="1">
                        <a:solidFill>
                          <a:schemeClr val="accent2"/>
                        </a:solidFill>
                        <a:latin typeface="Cambria Math"/>
                      </a:rPr>
                      <m:t>,</m:t>
                    </m:r>
                    <m:r>
                      <a:rPr lang="en-US" altLang="zh-CN" sz="2400" b="1" i="1">
                        <a:solidFill>
                          <a:schemeClr val="accent2"/>
                        </a:solidFill>
                        <a:latin typeface="Cambria Math"/>
                      </a:rPr>
                      <m:t>𝒈</m:t>
                    </m:r>
                    <m:r>
                      <a:rPr lang="en-US" altLang="zh-CN" sz="2400" b="1" i="1">
                        <a:solidFill>
                          <a:schemeClr val="accent2"/>
                        </a:solidFill>
                        <a:latin typeface="Cambria Math"/>
                      </a:rPr>
                      <m:t>,</m:t>
                    </m:r>
                    <m:r>
                      <a:rPr lang="en-US" altLang="zh-CN" sz="2400" b="1" i="1">
                        <a:solidFill>
                          <a:schemeClr val="accent2"/>
                        </a:solidFill>
                        <a:latin typeface="Cambria Math"/>
                      </a:rPr>
                      <m:t>𝒇</m:t>
                    </m:r>
                    <m:r>
                      <a:rPr lang="en-US" altLang="zh-CN" sz="2400" b="1" i="1">
                        <a:solidFill>
                          <a:schemeClr val="accent2"/>
                        </a:solidFill>
                        <a:latin typeface="Cambria Math"/>
                      </a:rPr>
                      <m:t>∪</m:t>
                    </m:r>
                    <m:r>
                      <a:rPr lang="en-US" altLang="zh-CN" sz="2400" b="1" i="1">
                        <a:solidFill>
                          <a:schemeClr val="accent2"/>
                        </a:solidFill>
                        <a:latin typeface="Cambria Math"/>
                      </a:rPr>
                      <m:t>𝒈</m:t>
                    </m:r>
                    <m:r>
                      <a:rPr lang="en-US" altLang="zh-CN" sz="2400" b="1" i="1">
                        <a:solidFill>
                          <a:schemeClr val="accent2"/>
                        </a:solidFill>
                        <a:latin typeface="Cambria Math"/>
                      </a:rPr>
                      <m:t>,</m:t>
                    </m:r>
                    <m:r>
                      <a:rPr lang="en-US" altLang="zh-CN" sz="2400" b="1" i="1">
                        <a:solidFill>
                          <a:schemeClr val="accent2"/>
                        </a:solidFill>
                        <a:latin typeface="Cambria Math"/>
                      </a:rPr>
                      <m:t>𝒇</m:t>
                    </m:r>
                    <m:r>
                      <a:rPr lang="en-US" altLang="zh-CN" sz="2400" b="1" i="1">
                        <a:solidFill>
                          <a:schemeClr val="accent2"/>
                        </a:solidFill>
                        <a:latin typeface="Cambria Math"/>
                      </a:rPr>
                      <m:t>∩</m:t>
                    </m:r>
                    <m:r>
                      <a:rPr lang="en-US" altLang="zh-CN" sz="2400" b="1" i="1">
                        <a:solidFill>
                          <a:schemeClr val="accent2"/>
                        </a:solidFill>
                        <a:latin typeface="Cambria Math"/>
                      </a:rPr>
                      <m:t>𝒈</m:t>
                    </m:r>
                    <m:r>
                      <a:rPr lang="en-US" altLang="zh-CN" sz="2400" b="1" i="1">
                        <a:solidFill>
                          <a:schemeClr val="accent2"/>
                        </a:solidFill>
                        <a:latin typeface="Cambria Math"/>
                      </a:rPr>
                      <m:t>,</m:t>
                    </m:r>
                    <m:r>
                      <a:rPr lang="en-US" altLang="zh-CN" sz="2400" b="1" i="1">
                        <a:solidFill>
                          <a:schemeClr val="accent2"/>
                        </a:solidFill>
                        <a:latin typeface="Cambria Math"/>
                      </a:rPr>
                      <m:t>𝒇</m:t>
                    </m:r>
                    <m:r>
                      <a:rPr lang="en-US" altLang="zh-CN" sz="2400" b="1" i="1">
                        <a:solidFill>
                          <a:schemeClr val="accent2"/>
                        </a:solidFill>
                        <a:latin typeface="Cambria Math"/>
                      </a:rPr>
                      <m:t>−</m:t>
                    </m:r>
                    <m:r>
                      <a:rPr lang="en-US" altLang="zh-CN" sz="2400" b="1" i="1">
                        <a:solidFill>
                          <a:schemeClr val="accent2"/>
                        </a:solidFill>
                        <a:latin typeface="Cambria Math"/>
                      </a:rPr>
                      <m:t>𝒈</m:t>
                    </m:r>
                    <m:r>
                      <a:rPr lang="en-US" altLang="zh-CN" sz="2400" b="1" i="1">
                        <a:solidFill>
                          <a:schemeClr val="accent2"/>
                        </a:solidFill>
                        <a:latin typeface="Cambria Math"/>
                      </a:rPr>
                      <m:t>,</m:t>
                    </m:r>
                    <m:acc>
                      <m:accPr>
                        <m:chr m:val="̅"/>
                        <m:ctrlPr>
                          <a:rPr lang="zh-CN" altLang="zh-CN" sz="2400" b="1" i="1">
                            <a:solidFill>
                              <a:schemeClr val="accent2"/>
                            </a:solidFill>
                            <a:latin typeface="Cambria Math" panose="02040503050406030204" pitchFamily="18" charset="0"/>
                          </a:rPr>
                        </m:ctrlPr>
                      </m:accPr>
                      <m:e>
                        <m:r>
                          <a:rPr lang="en-US" altLang="zh-CN" sz="2400" b="1" i="1">
                            <a:solidFill>
                              <a:schemeClr val="accent2"/>
                            </a:solidFill>
                            <a:latin typeface="Cambria Math"/>
                          </a:rPr>
                          <m:t>𝒇</m:t>
                        </m:r>
                      </m:e>
                    </m:acc>
                    <m:r>
                      <a:rPr lang="en-US" altLang="zh-CN" sz="2400" b="1" i="1">
                        <a:solidFill>
                          <a:schemeClr val="accent2"/>
                        </a:solidFill>
                        <a:latin typeface="Cambria Math"/>
                      </a:rPr>
                      <m:t>,</m:t>
                    </m:r>
                    <m:r>
                      <a:rPr lang="en-US" altLang="zh-CN" sz="2400" b="1" i="1">
                        <a:solidFill>
                          <a:schemeClr val="accent2"/>
                        </a:solidFill>
                        <a:latin typeface="Cambria Math"/>
                      </a:rPr>
                      <m:t>𝒇</m:t>
                    </m:r>
                    <m:r>
                      <a:rPr lang="en-US" altLang="zh-CN" sz="2400" b="1" i="1">
                        <a:solidFill>
                          <a:schemeClr val="accent2"/>
                        </a:solidFill>
                        <a:latin typeface="Cambria Math"/>
                      </a:rPr>
                      <m:t>⊕</m:t>
                    </m:r>
                    <m:r>
                      <a:rPr lang="en-US" altLang="zh-CN" sz="2400" b="1" i="1">
                        <a:solidFill>
                          <a:schemeClr val="accent2"/>
                        </a:solidFill>
                        <a:latin typeface="Cambria Math"/>
                      </a:rPr>
                      <m:t>𝒈</m:t>
                    </m:r>
                  </m:oMath>
                </a14:m>
                <a:r>
                  <a:rPr lang="zh-CN" altLang="zh-CN" sz="2400" b="1" dirty="0">
                    <a:solidFill>
                      <a:schemeClr val="accent2"/>
                    </a:solidFill>
                  </a:rPr>
                  <a:t>是否为</a:t>
                </a:r>
                <a14:m>
                  <m:oMath xmlns:m="http://schemas.openxmlformats.org/officeDocument/2006/math">
                    <m:r>
                      <a:rPr lang="en-US" altLang="zh-CN" sz="2400" b="1" i="1">
                        <a:solidFill>
                          <a:schemeClr val="accent2"/>
                        </a:solidFill>
                        <a:latin typeface="Cambria Math"/>
                      </a:rPr>
                      <m:t>𝑨</m:t>
                    </m:r>
                  </m:oMath>
                </a14:m>
                <a:r>
                  <a:rPr lang="zh-CN" altLang="zh-CN" sz="2400" b="1" dirty="0">
                    <a:solidFill>
                      <a:schemeClr val="accent2"/>
                    </a:solidFill>
                  </a:rPr>
                  <a:t>到</a:t>
                </a:r>
                <a14:m>
                  <m:oMath xmlns:m="http://schemas.openxmlformats.org/officeDocument/2006/math">
                    <m:r>
                      <a:rPr lang="en-US" altLang="zh-CN" sz="2400" b="1" i="1">
                        <a:solidFill>
                          <a:schemeClr val="accent2"/>
                        </a:solidFill>
                        <a:latin typeface="Cambria Math"/>
                      </a:rPr>
                      <m:t>𝑩</m:t>
                    </m:r>
                  </m:oMath>
                </a14:m>
                <a:r>
                  <a:rPr lang="zh-CN" altLang="zh-CN" sz="2400" b="1" dirty="0">
                    <a:solidFill>
                      <a:schemeClr val="accent2"/>
                    </a:solidFill>
                  </a:rPr>
                  <a:t>的函数。</a:t>
                </a:r>
              </a:p>
            </p:txBody>
          </p:sp>
        </mc:Choice>
        <mc:Fallback xmlns="">
          <p:sp>
            <p:nvSpPr>
              <p:cNvPr id="4" name="TextBox 3"/>
              <p:cNvSpPr txBox="1">
                <a:spLocks noRot="1" noChangeAspect="1" noMove="1" noResize="1" noEditPoints="1" noAdjustHandles="1" noChangeArrowheads="1" noChangeShapeType="1" noTextEdit="1"/>
              </p:cNvSpPr>
              <p:nvPr/>
            </p:nvSpPr>
            <p:spPr>
              <a:xfrm>
                <a:off x="827584" y="2060848"/>
                <a:ext cx="7920880" cy="1968744"/>
              </a:xfrm>
              <a:prstGeom prst="rect">
                <a:avLst/>
              </a:prstGeom>
              <a:blipFill>
                <a:blip r:embed="rId3"/>
                <a:stretch>
                  <a:fillRect l="-1232" t="-310" r="-847" b="-526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705809" y="4293096"/>
                <a:ext cx="8064251" cy="1681294"/>
              </a:xfrm>
              <a:prstGeom prst="rect">
                <a:avLst/>
              </a:prstGeom>
              <a:solidFill>
                <a:schemeClr val="bg1"/>
              </a:solidFill>
            </p:spPr>
            <p:txBody>
              <a:bodyPr wrap="square" rtlCol="0">
                <a:spAutoFit/>
              </a:bodyPr>
              <a:lstStyle/>
              <a:p>
                <a:pPr>
                  <a:lnSpc>
                    <a:spcPct val="150000"/>
                  </a:lnSpc>
                  <a:spcBef>
                    <a:spcPts val="0"/>
                  </a:spcBef>
                </a:pPr>
                <a:r>
                  <a:rPr lang="zh-CN" altLang="zh-CN" sz="2400" b="1" dirty="0"/>
                  <a:t>【解】</a:t>
                </a:r>
                <a:r>
                  <a:rPr lang="zh-CN" altLang="zh-CN" sz="2400" b="1" dirty="0">
                    <a:solidFill>
                      <a:schemeClr val="tx1"/>
                    </a:solidFill>
                  </a:rPr>
                  <a:t>根据函数</a:t>
                </a:r>
                <a:r>
                  <a:rPr lang="zh-CN" altLang="en-US" sz="2400" b="1" dirty="0">
                    <a:solidFill>
                      <a:schemeClr val="tx1"/>
                    </a:solidFill>
                  </a:rPr>
                  <a:t>的</a:t>
                </a:r>
                <a:r>
                  <a:rPr lang="zh-CN" altLang="zh-CN" sz="2400" b="1" dirty="0">
                    <a:solidFill>
                      <a:schemeClr val="tx1"/>
                    </a:solidFill>
                  </a:rPr>
                  <a:t>定义，</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和</a:t>
                </a:r>
                <a14:m>
                  <m:oMath xmlns:m="http://schemas.openxmlformats.org/officeDocument/2006/math">
                    <m:r>
                      <a:rPr lang="en-US" altLang="zh-CN" sz="2400" b="1" i="1">
                        <a:solidFill>
                          <a:schemeClr val="tx1"/>
                        </a:solidFill>
                        <a:latin typeface="Cambria Math"/>
                      </a:rPr>
                      <m:t>𝒈</m:t>
                    </m:r>
                  </m:oMath>
                </a14:m>
                <a:r>
                  <a:rPr lang="zh-CN" altLang="zh-CN" sz="2400" b="1" dirty="0">
                    <a:solidFill>
                      <a:schemeClr val="tx1"/>
                    </a:solidFill>
                  </a:rPr>
                  <a:t>都是集合</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到集合</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a:t>
                </a:r>
              </a:p>
              <a:p>
                <a:pPr>
                  <a:lnSpc>
                    <a:spcPct val="150000"/>
                  </a:lnSpc>
                  <a:spcBef>
                    <a:spcPts val="0"/>
                  </a:spcBef>
                </a:pPr>
                <a14:m>
                  <m:oMathPara xmlns:m="http://schemas.openxmlformats.org/officeDocument/2006/math">
                    <m:oMathParaPr>
                      <m:jc m:val="centerGroup"/>
                    </m:oMathParaPr>
                    <m:oMath xmlns:m="http://schemas.openxmlformats.org/officeDocument/2006/math">
                      <m:r>
                        <a:rPr lang="en-US" altLang="zh-CN" sz="2400" b="1" i="1" smtClean="0">
                          <a:solidFill>
                            <a:srgbClr val="FF0000"/>
                          </a:solidFill>
                          <a:latin typeface="Cambria Math"/>
                        </a:rPr>
                        <m:t>𝒇</m:t>
                      </m:r>
                      <m:r>
                        <a:rPr lang="en-US" altLang="zh-CN" sz="2400" b="1" i="1" smtClean="0">
                          <a:solidFill>
                            <a:srgbClr val="FF0000"/>
                          </a:solidFill>
                          <a:latin typeface="Cambria Math"/>
                        </a:rPr>
                        <m:t>∪</m:t>
                      </m:r>
                      <m:r>
                        <a:rPr lang="en-US" altLang="zh-CN" sz="2400" b="1" i="1" smtClean="0">
                          <a:solidFill>
                            <a:srgbClr val="FF0000"/>
                          </a:solidFill>
                          <a:latin typeface="Cambria Math"/>
                        </a:rPr>
                        <m:t>𝒈</m:t>
                      </m:r>
                      <m:r>
                        <a:rPr lang="en-US" altLang="zh-CN" sz="2400" b="1" i="1">
                          <a:solidFill>
                            <a:schemeClr val="tx1"/>
                          </a:solidFill>
                          <a:latin typeface="Cambria Math"/>
                        </a:rPr>
                        <m:t>=</m:t>
                      </m:r>
                      <m:d>
                        <m:dPr>
                          <m:begChr m:val="{"/>
                          <m:endChr m:val="}"/>
                          <m:ctrlPr>
                            <a:rPr lang="en-US" altLang="zh-CN" sz="2400" b="1" i="1">
                              <a:solidFill>
                                <a:schemeClr val="tx1"/>
                              </a:solidFill>
                              <a:latin typeface="Cambria Math" panose="02040503050406030204" pitchFamily="18" charset="0"/>
                            </a:rPr>
                          </m:ctrlPr>
                        </m:d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𝒄</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𝒂</m:t>
                              </m:r>
                            </m:e>
                          </m:d>
                        </m:e>
                      </m:d>
                    </m:oMath>
                  </m:oMathPara>
                </a14:m>
                <a:endParaRPr lang="en-US" altLang="zh-CN" sz="2400" b="1" i="1" dirty="0">
                  <a:solidFill>
                    <a:schemeClr val="tx1"/>
                  </a:solidFill>
                  <a:latin typeface="Cambria Math"/>
                </a:endParaRPr>
              </a:p>
              <a:p>
                <a:pPr>
                  <a:lnSpc>
                    <a:spcPct val="150000"/>
                  </a:lnSpc>
                  <a:spcBef>
                    <a:spcPts val="0"/>
                  </a:spcBef>
                </a:pPr>
                <a14:m>
                  <m:oMath xmlns:m="http://schemas.openxmlformats.org/officeDocument/2006/math">
                    <m:r>
                      <a:rPr lang="zh-CN" altLang="zh-CN" sz="2400" b="1">
                        <a:solidFill>
                          <a:schemeClr val="tx1"/>
                        </a:solidFill>
                        <a:latin typeface="Cambria Math"/>
                      </a:rPr>
                      <m:t>不是</m:t>
                    </m:r>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的函数，因为元素</a:t>
                </a:r>
                <a:r>
                  <a:rPr lang="en-US" altLang="zh-CN" sz="2400" b="1" dirty="0">
                    <a:solidFill>
                      <a:schemeClr val="tx1"/>
                    </a:solidFill>
                  </a:rPr>
                  <a:t>1</a:t>
                </a:r>
                <a:r>
                  <a:rPr lang="zh-CN" altLang="zh-CN" sz="2400" b="1" dirty="0">
                    <a:solidFill>
                      <a:schemeClr val="tx1"/>
                    </a:solidFill>
                  </a:rPr>
                  <a:t>和</a:t>
                </a:r>
                <a:r>
                  <a:rPr lang="en-US" altLang="zh-CN" sz="2400" b="1" dirty="0">
                    <a:solidFill>
                      <a:schemeClr val="tx1"/>
                    </a:solidFill>
                  </a:rPr>
                  <a:t>3</a:t>
                </a:r>
                <a:r>
                  <a:rPr lang="zh-CN" altLang="zh-CN" sz="2400" b="1" dirty="0">
                    <a:solidFill>
                      <a:schemeClr val="tx1"/>
                    </a:solidFill>
                  </a:rPr>
                  <a:t>不满足像点的单值性。</a:t>
                </a:r>
              </a:p>
            </p:txBody>
          </p:sp>
        </mc:Choice>
        <mc:Fallback xmlns="">
          <p:sp>
            <p:nvSpPr>
              <p:cNvPr id="5" name="TextBox 4"/>
              <p:cNvSpPr txBox="1">
                <a:spLocks noRot="1" noChangeAspect="1" noMove="1" noResize="1" noEditPoints="1" noAdjustHandles="1" noChangeArrowheads="1" noChangeShapeType="1" noTextEdit="1"/>
              </p:cNvSpPr>
              <p:nvPr/>
            </p:nvSpPr>
            <p:spPr>
              <a:xfrm>
                <a:off x="705809" y="4293096"/>
                <a:ext cx="8064251" cy="1681294"/>
              </a:xfrm>
              <a:prstGeom prst="rect">
                <a:avLst/>
              </a:prstGeom>
              <a:blipFill>
                <a:blip r:embed="rId4"/>
                <a:stretch>
                  <a:fillRect l="-1209" r="-680" b="-6522"/>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5BA6340-8DE9-414C-A0E5-0516068817C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27651"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2765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467544" y="2276872"/>
                <a:ext cx="8568952" cy="3661515"/>
              </a:xfrm>
              <a:prstGeom prst="rect">
                <a:avLst/>
              </a:prstGeom>
              <a:solidFill>
                <a:schemeClr val="bg1"/>
              </a:solidFill>
            </p:spPr>
            <p:txBody>
              <a:bodyPr wrap="square" rtlCol="0">
                <a:spAutoFit/>
              </a:bodyPr>
              <a:lstStyle/>
              <a:p>
                <a:pPr>
                  <a:lnSpc>
                    <a:spcPct val="150000"/>
                  </a:lnSpc>
                  <a:spcBef>
                    <a:spcPts val="600"/>
                  </a:spcBef>
                </a:pPr>
                <a14:m>
                  <m:oMath xmlns:m="http://schemas.openxmlformats.org/officeDocument/2006/math">
                    <m:r>
                      <a:rPr lang="en-US" altLang="zh-CN" sz="2400" b="1" i="1" smtClean="0">
                        <a:solidFill>
                          <a:srgbClr val="FF0000"/>
                        </a:solidFill>
                        <a:latin typeface="Cambria Math"/>
                      </a:rPr>
                      <m:t>𝒇</m:t>
                    </m:r>
                    <m:r>
                      <a:rPr lang="en-US" altLang="zh-CN" sz="2400" b="1" i="1" smtClean="0">
                        <a:solidFill>
                          <a:srgbClr val="FF0000"/>
                        </a:solidFill>
                        <a:latin typeface="Cambria Math"/>
                      </a:rPr>
                      <m:t>∩</m:t>
                    </m:r>
                    <m:r>
                      <a:rPr lang="en-US" altLang="zh-CN" sz="2400" b="1" i="1" smtClean="0">
                        <a:solidFill>
                          <a:srgbClr val="FF0000"/>
                        </a:solidFill>
                        <a:latin typeface="Cambria Math"/>
                      </a:rPr>
                      <m:t>𝒈</m:t>
                    </m:r>
                    <m:r>
                      <a:rPr lang="en-US" altLang="zh-CN" sz="2400" b="1" i="1" smtClean="0">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i="1">
                        <a:solidFill>
                          <a:schemeClr val="tx1"/>
                        </a:solidFill>
                        <a:latin typeface="Cambria Math"/>
                      </a:rPr>
                      <m:t>}</m:t>
                    </m:r>
                  </m:oMath>
                </a14:m>
                <a:r>
                  <a:rPr lang="zh-CN" altLang="zh-CN" sz="2400" b="1" dirty="0">
                    <a:solidFill>
                      <a:schemeClr val="tx1"/>
                    </a:solidFill>
                  </a:rPr>
                  <a:t>不是</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的函数，因为元素</a:t>
                </a:r>
                <a:r>
                  <a:rPr lang="en-US" altLang="zh-CN" sz="2400" b="1" dirty="0">
                    <a:solidFill>
                      <a:schemeClr val="tx1"/>
                    </a:solidFill>
                  </a:rPr>
                  <a:t>1</a:t>
                </a:r>
                <a:r>
                  <a:rPr lang="zh-CN" altLang="zh-CN" sz="2400" b="1" dirty="0">
                    <a:solidFill>
                      <a:schemeClr val="tx1"/>
                    </a:solidFill>
                  </a:rPr>
                  <a:t>和元素</a:t>
                </a:r>
                <a:r>
                  <a:rPr lang="en-US" altLang="zh-CN" sz="2400" b="1" dirty="0">
                    <a:solidFill>
                      <a:schemeClr val="tx1"/>
                    </a:solidFill>
                  </a:rPr>
                  <a:t>3</a:t>
                </a:r>
                <a:r>
                  <a:rPr lang="zh-CN" altLang="zh-CN" sz="2400" b="1" dirty="0">
                    <a:solidFill>
                      <a:schemeClr val="tx1"/>
                    </a:solidFill>
                  </a:rPr>
                  <a:t>没有像点</a:t>
                </a:r>
              </a:p>
              <a:p>
                <a:pPr>
                  <a:lnSpc>
                    <a:spcPct val="150000"/>
                  </a:lnSpc>
                  <a:spcBef>
                    <a:spcPts val="600"/>
                  </a:spcBef>
                </a:pPr>
                <a14:m>
                  <m:oMath xmlns:m="http://schemas.openxmlformats.org/officeDocument/2006/math">
                    <m:r>
                      <a:rPr lang="en-US" altLang="zh-CN" sz="2400" b="1" i="1" smtClean="0">
                        <a:solidFill>
                          <a:srgbClr val="FF0000"/>
                        </a:solidFill>
                        <a:latin typeface="Cambria Math"/>
                      </a:rPr>
                      <m:t>𝒇</m:t>
                    </m:r>
                    <m:r>
                      <a:rPr lang="en-US" altLang="zh-CN" sz="2400" b="1" i="1" smtClean="0">
                        <a:solidFill>
                          <a:srgbClr val="FF0000"/>
                        </a:solidFill>
                        <a:latin typeface="Cambria Math"/>
                      </a:rPr>
                      <m:t>−</m:t>
                    </m:r>
                    <m:r>
                      <a:rPr lang="en-US" altLang="zh-CN" sz="2400" b="1" i="1" smtClean="0">
                        <a:solidFill>
                          <a:srgbClr val="FF0000"/>
                        </a:solidFill>
                        <a:latin typeface="Cambria Math"/>
                      </a:rPr>
                      <m:t>𝒈</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𝒄</m:t>
                        </m:r>
                      </m:e>
                    </m:d>
                    <m:r>
                      <a:rPr lang="en-US" altLang="zh-CN" sz="2400" b="1" i="1">
                        <a:solidFill>
                          <a:schemeClr val="tx1"/>
                        </a:solidFill>
                        <a:latin typeface="Cambria Math"/>
                      </a:rPr>
                      <m:t>}</m:t>
                    </m:r>
                  </m:oMath>
                </a14:m>
                <a:r>
                  <a:rPr lang="zh-CN" altLang="zh-CN" sz="2400" b="1" dirty="0">
                    <a:solidFill>
                      <a:schemeClr val="tx1"/>
                    </a:solidFill>
                  </a:rPr>
                  <a:t>不是</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的函数，因为元素</a:t>
                </a:r>
                <a:r>
                  <a:rPr lang="en-US" altLang="zh-CN" sz="2400" b="1" dirty="0">
                    <a:solidFill>
                      <a:schemeClr val="tx1"/>
                    </a:solidFill>
                  </a:rPr>
                  <a:t>2</a:t>
                </a:r>
                <a:r>
                  <a:rPr lang="zh-CN" altLang="zh-CN" sz="2400" b="1" dirty="0">
                    <a:solidFill>
                      <a:schemeClr val="tx1"/>
                    </a:solidFill>
                  </a:rPr>
                  <a:t>没有像点</a:t>
                </a:r>
              </a:p>
              <a:p>
                <a:pPr>
                  <a:lnSpc>
                    <a:spcPct val="150000"/>
                  </a:lnSpc>
                  <a:spcBef>
                    <a:spcPts val="600"/>
                  </a:spcBef>
                </a:pPr>
                <a14:m>
                  <m:oMath xmlns:m="http://schemas.openxmlformats.org/officeDocument/2006/math">
                    <m:acc>
                      <m:accPr>
                        <m:chr m:val="̅"/>
                        <m:ctrlPr>
                          <a:rPr lang="zh-CN" altLang="zh-CN" sz="2400" b="1" i="1" smtClean="0">
                            <a:solidFill>
                              <a:srgbClr val="FF0000"/>
                            </a:solidFill>
                            <a:latin typeface="Cambria Math" panose="02040503050406030204" pitchFamily="18" charset="0"/>
                          </a:rPr>
                        </m:ctrlPr>
                      </m:accPr>
                      <m:e>
                        <m:r>
                          <a:rPr lang="en-US" altLang="zh-CN" sz="2400" b="1" i="1">
                            <a:solidFill>
                              <a:srgbClr val="FF0000"/>
                            </a:solidFill>
                            <a:latin typeface="Cambria Math"/>
                          </a:rPr>
                          <m:t>𝒇</m:t>
                        </m:r>
                      </m:e>
                    </m:acc>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𝒄</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𝒂</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𝒄</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i="1">
                        <a:solidFill>
                          <a:schemeClr val="tx1"/>
                        </a:solidFill>
                        <a:latin typeface="Cambria Math"/>
                      </a:rPr>
                      <m:t>}</m:t>
                    </m:r>
                  </m:oMath>
                </a14:m>
                <a:r>
                  <a:rPr lang="zh-CN" altLang="zh-CN" sz="2400" b="1" dirty="0">
                    <a:solidFill>
                      <a:schemeClr val="tx1"/>
                    </a:solidFill>
                  </a:rPr>
                  <a:t>不是</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a:t>
                </a:r>
                <a:r>
                  <a:rPr lang="en-US" altLang="zh-CN" sz="2400" b="1" dirty="0">
                    <a:solidFill>
                      <a:schemeClr val="tx1"/>
                    </a:solidFill>
                  </a:rPr>
                  <a:t>, </a:t>
                </a:r>
                <a:r>
                  <a:rPr lang="zh-CN" altLang="zh-CN" sz="2400" b="1" dirty="0">
                    <a:solidFill>
                      <a:schemeClr val="tx1"/>
                    </a:solidFill>
                  </a:rPr>
                  <a:t>因为元素</a:t>
                </a:r>
                <a:r>
                  <a:rPr lang="en-US" altLang="zh-CN" sz="2400" b="1" dirty="0">
                    <a:solidFill>
                      <a:schemeClr val="tx1"/>
                    </a:solidFill>
                  </a:rPr>
                  <a:t>1,2</a:t>
                </a:r>
                <a:r>
                  <a:rPr lang="zh-CN" altLang="zh-CN" sz="2400" b="1" dirty="0">
                    <a:solidFill>
                      <a:schemeClr val="tx1"/>
                    </a:solidFill>
                  </a:rPr>
                  <a:t>和</a:t>
                </a:r>
                <a:r>
                  <a:rPr lang="en-US" altLang="zh-CN" sz="2400" b="1" dirty="0">
                    <a:solidFill>
                      <a:schemeClr val="tx1"/>
                    </a:solidFill>
                  </a:rPr>
                  <a:t>3</a:t>
                </a:r>
                <a:r>
                  <a:rPr lang="zh-CN" altLang="zh-CN" sz="2400" b="1" dirty="0">
                    <a:solidFill>
                      <a:schemeClr val="tx1"/>
                    </a:solidFill>
                  </a:rPr>
                  <a:t>都不满足像点的单值性要求</a:t>
                </a:r>
              </a:p>
              <a:p>
                <a:pPr>
                  <a:lnSpc>
                    <a:spcPct val="150000"/>
                  </a:lnSpc>
                  <a:spcBef>
                    <a:spcPts val="600"/>
                  </a:spcBef>
                </a:pPr>
                <a14:m>
                  <m:oMath xmlns:m="http://schemas.openxmlformats.org/officeDocument/2006/math">
                    <m:r>
                      <a:rPr lang="en-US" altLang="zh-CN" sz="2400" b="1" i="1" smtClean="0">
                        <a:solidFill>
                          <a:srgbClr val="FF0000"/>
                        </a:solidFill>
                        <a:latin typeface="Cambria Math"/>
                      </a:rPr>
                      <m:t>𝒇</m:t>
                    </m:r>
                    <m:r>
                      <a:rPr lang="en-US" altLang="zh-CN" sz="2400" b="1" i="1" smtClean="0">
                        <a:solidFill>
                          <a:srgbClr val="FF0000"/>
                        </a:solidFill>
                        <a:latin typeface="Cambria Math"/>
                      </a:rPr>
                      <m:t>⊕</m:t>
                    </m:r>
                    <m:r>
                      <a:rPr lang="en-US" altLang="zh-CN" sz="2400" b="1" i="1" smtClean="0">
                        <a:solidFill>
                          <a:srgbClr val="FF0000"/>
                        </a:solidFill>
                        <a:latin typeface="Cambria Math"/>
                      </a:rPr>
                      <m:t>𝒈</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𝒄</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𝒃</m:t>
                        </m:r>
                      </m:e>
                    </m:d>
                    <m:r>
                      <a:rPr lang="en-US" altLang="zh-CN" sz="2400" b="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𝒂</m:t>
                        </m:r>
                      </m:e>
                    </m:d>
                    <m:r>
                      <a:rPr lang="en-US" altLang="zh-CN" sz="2400" b="1" i="1">
                        <a:solidFill>
                          <a:schemeClr val="tx1"/>
                        </a:solidFill>
                        <a:latin typeface="Cambria Math"/>
                      </a:rPr>
                      <m:t>}</m:t>
                    </m:r>
                  </m:oMath>
                </a14:m>
                <a:r>
                  <a:rPr lang="zh-CN" altLang="zh-CN" sz="2400" b="1" dirty="0">
                    <a:solidFill>
                      <a:schemeClr val="tx1"/>
                    </a:solidFill>
                  </a:rPr>
                  <a:t>不是</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a:t>
                </a:r>
                <a:r>
                  <a:rPr lang="en-US" altLang="zh-CN" sz="2400" b="1" dirty="0">
                    <a:solidFill>
                      <a:schemeClr val="tx1"/>
                    </a:solidFill>
                  </a:rPr>
                  <a:t>, </a:t>
                </a:r>
                <a:r>
                  <a:rPr lang="zh-CN" altLang="zh-CN" sz="2400" b="1" dirty="0">
                    <a:solidFill>
                      <a:schemeClr val="tx1"/>
                    </a:solidFill>
                  </a:rPr>
                  <a:t>因为元素</a:t>
                </a:r>
                <a:r>
                  <a:rPr lang="en-US" altLang="zh-CN" sz="2400" b="1" dirty="0">
                    <a:solidFill>
                      <a:schemeClr val="tx1"/>
                    </a:solidFill>
                  </a:rPr>
                  <a:t>1</a:t>
                </a:r>
                <a:r>
                  <a:rPr lang="zh-CN" altLang="zh-CN" sz="2400" b="1" dirty="0">
                    <a:solidFill>
                      <a:schemeClr val="tx1"/>
                    </a:solidFill>
                  </a:rPr>
                  <a:t>和</a:t>
                </a:r>
                <a:r>
                  <a:rPr lang="en-US" altLang="zh-CN" sz="2400" b="1" dirty="0">
                    <a:solidFill>
                      <a:schemeClr val="tx1"/>
                    </a:solidFill>
                  </a:rPr>
                  <a:t>3</a:t>
                </a:r>
                <a:r>
                  <a:rPr lang="zh-CN" altLang="zh-CN" sz="2400" b="1" dirty="0">
                    <a:solidFill>
                      <a:schemeClr val="tx1"/>
                    </a:solidFill>
                  </a:rPr>
                  <a:t>都不满足唯一像点的单值性要求</a:t>
                </a:r>
                <a:r>
                  <a:rPr lang="en-US" altLang="zh-CN" sz="2400" b="1" dirty="0">
                    <a:solidFill>
                      <a:schemeClr val="tx1"/>
                    </a:solidFill>
                  </a:rPr>
                  <a:t>,</a:t>
                </a:r>
                <a:r>
                  <a:rPr lang="zh-CN" altLang="zh-CN" sz="2400" b="1" dirty="0">
                    <a:solidFill>
                      <a:schemeClr val="tx1"/>
                    </a:solidFill>
                  </a:rPr>
                  <a:t>且元素</a:t>
                </a:r>
                <a:r>
                  <a:rPr lang="en-US" altLang="zh-CN" sz="2400" b="1" dirty="0">
                    <a:solidFill>
                      <a:schemeClr val="tx1"/>
                    </a:solidFill>
                  </a:rPr>
                  <a:t>2</a:t>
                </a:r>
                <a:r>
                  <a:rPr lang="zh-CN" altLang="zh-CN" sz="2400" b="1" dirty="0">
                    <a:solidFill>
                      <a:schemeClr val="tx1"/>
                    </a:solidFill>
                  </a:rPr>
                  <a:t>没有像点</a:t>
                </a:r>
                <a:endParaRPr lang="zh-CN" altLang="en-US" sz="24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467544" y="2276872"/>
                <a:ext cx="8568952" cy="3661515"/>
              </a:xfrm>
              <a:prstGeom prst="rect">
                <a:avLst/>
              </a:prstGeom>
              <a:blipFill>
                <a:blip r:embed="rId3"/>
                <a:stretch>
                  <a:fillRect l="-1139" r="-1068" b="-500"/>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5BA6340-8DE9-414C-A0E5-0516068817C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2765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
            <a:extLst>
              <a:ext uri="{FF2B5EF4-FFF2-40B4-BE49-F238E27FC236}">
                <a16:creationId xmlns:a16="http://schemas.microsoft.com/office/drawing/2014/main" id="{F98E72DD-4205-47E9-9BC7-2323F8EDEC1C}"/>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函数相等的定义</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93A9F12-3593-45DA-8DCF-04F02A912905}"/>
                  </a:ext>
                </a:extLst>
              </p:cNvPr>
              <p:cNvSpPr/>
              <p:nvPr/>
            </p:nvSpPr>
            <p:spPr>
              <a:xfrm>
                <a:off x="395027" y="1844824"/>
                <a:ext cx="8353945" cy="2815322"/>
              </a:xfrm>
              <a:prstGeom prst="rect">
                <a:avLst/>
              </a:prstGeom>
              <a:solidFill>
                <a:schemeClr val="accent6">
                  <a:lumMod val="75000"/>
                </a:schemeClr>
              </a:solidFill>
            </p:spPr>
            <p:txBody>
              <a:bodyPr wrap="square">
                <a:spAutoFit/>
              </a:bodyPr>
              <a:lstStyle/>
              <a:p>
                <a:pPr algn="just">
                  <a:lnSpc>
                    <a:spcPts val="3600"/>
                  </a:lnSpc>
                  <a:spcAft>
                    <a:spcPts val="0"/>
                  </a:spcAft>
                </a:pPr>
                <a:r>
                  <a:rPr lang="en-US" altLang="zh-CN" sz="2400" b="1" kern="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是任意两个非空集合，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是两个从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的函数关系，如果</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zh-CN" altLang="zh-CN" sz="2400" b="1" kern="100">
                        <a:solidFill>
                          <a:schemeClr val="bg1"/>
                        </a:solidFill>
                        <a:latin typeface="Cambria Math" panose="02040503050406030204" pitchFamily="18" charset="0"/>
                        <a:ea typeface="宋体" panose="02010600030101010101" pitchFamily="2" charset="-122"/>
                      </a:rPr>
                      <m:t>和</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相互包含，即</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i="1" kern="100" dirty="0">
                  <a:solidFill>
                    <a:schemeClr val="bg1"/>
                  </a:solidFill>
                  <a:latin typeface="Cambria Math" panose="02040503050406030204" pitchFamily="18" charset="0"/>
                  <a:ea typeface="宋体" panose="02010600030101010101" pitchFamily="2" charset="-122"/>
                </a:endParaRPr>
              </a:p>
              <a:p>
                <a:pPr algn="just">
                  <a:lnSpc>
                    <a:spcPts val="36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oMath>
                  </m:oMathPara>
                </a14:m>
                <a:endParaRPr lang="en-US" altLang="zh-CN" sz="24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36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r>
                  <a:rPr lang="zh-CN" altLang="zh-CN" sz="24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rPr>
                  <a:t>称函数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和函数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𝒈</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相等</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，记为</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也就是</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说，</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若</a:t>
                </a:r>
                <a14:m>
                  <m:oMath xmlns:m="http://schemas.openxmlformats.org/officeDocument/2006/math">
                    <m:r>
                      <m:rPr>
                        <m:nor/>
                      </m:rPr>
                      <a:rPr lang="en-US" altLang="zh-CN" sz="2400" b="1" kern="100" smtClean="0">
                        <a:solidFill>
                          <a:srgbClr val="FFFF00"/>
                        </a:solidFill>
                        <a:latin typeface="Cambria Math" panose="02040503050406030204" pitchFamily="18" charset="0"/>
                        <a:ea typeface="宋体" panose="02010600030101010101" pitchFamily="2" charset="-122"/>
                      </a:rPr>
                      <m:t>dom</m:t>
                    </m:r>
                    <m:r>
                      <a:rPr lang="en-US" altLang="zh-CN" sz="2400" b="1" i="1" kern="100">
                        <a:solidFill>
                          <a:srgbClr val="FFFF00"/>
                        </a:solidFill>
                        <a:latin typeface="Cambria Math" panose="02040503050406030204" pitchFamily="18" charset="0"/>
                        <a:ea typeface="宋体" panose="02010600030101010101" pitchFamily="2" charset="-122"/>
                      </a:rPr>
                      <m:t> </m:t>
                    </m:r>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m:rPr>
                        <m:nor/>
                      </m:rPr>
                      <a:rPr lang="en-US" altLang="zh-CN" sz="2400" b="1" kern="100">
                        <a:solidFill>
                          <a:srgbClr val="FFFF00"/>
                        </a:solidFill>
                        <a:latin typeface="Cambria Math" panose="02040503050406030204" pitchFamily="18" charset="0"/>
                        <a:ea typeface="宋体" panose="02010600030101010101" pitchFamily="2" charset="-122"/>
                      </a:rPr>
                      <m:t>dom</m:t>
                    </m:r>
                    <m:r>
                      <a:rPr lang="en-US" altLang="zh-CN" sz="2400" b="1" i="1" kern="100">
                        <a:solidFill>
                          <a:srgbClr val="FFFF00"/>
                        </a:solidFill>
                        <a:latin typeface="Cambria Math" panose="02040503050406030204" pitchFamily="18" charset="0"/>
                        <a:ea typeface="宋体" panose="02010600030101010101" pitchFamily="2" charset="-122"/>
                      </a:rPr>
                      <m:t> </m:t>
                    </m:r>
                    <m:r>
                      <a:rPr lang="en-US" altLang="zh-CN" sz="2400" b="1" i="1" kern="100">
                        <a:solidFill>
                          <a:srgbClr val="FFFF00"/>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且对</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m:rPr>
                        <m:nor/>
                      </m:rPr>
                      <a:rPr lang="en-US" altLang="zh-CN" sz="2400" b="1" kern="100">
                        <a:solidFill>
                          <a:schemeClr val="bg1"/>
                        </a:solidFill>
                        <a:latin typeface="Cambria Math" panose="02040503050406030204" pitchFamily="18" charset="0"/>
                        <a:ea typeface="宋体" panose="02010600030101010101" pitchFamily="2" charset="-122"/>
                      </a:rPr>
                      <m:t>dom</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m:rPr>
                        <m:nor/>
                      </m:rPr>
                      <a:rPr lang="en-US" altLang="zh-CN" sz="2400" b="1" kern="100">
                        <a:solidFill>
                          <a:schemeClr val="bg1"/>
                        </a:solidFill>
                        <a:latin typeface="Cambria Math" panose="02040503050406030204" pitchFamily="18" charset="0"/>
                        <a:ea typeface="宋体" panose="02010600030101010101" pitchFamily="2" charset="-122"/>
                      </a:rPr>
                      <m:t>dom</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zh-CN" altLang="zh-CN" sz="2400" b="1" kern="100">
                        <a:solidFill>
                          <a:schemeClr val="bg1"/>
                        </a:solidFill>
                        <a:latin typeface="Cambria Math" panose="02040503050406030204" pitchFamily="18" charset="0"/>
                        <a:ea typeface="宋体" panose="02010600030101010101" pitchFamily="2" charset="-122"/>
                      </a:rPr>
                      <m:t>，</m:t>
                    </m:r>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则称</m:t>
                    </m:r>
                    <m:r>
                      <a:rPr lang="en-US" altLang="zh-CN" sz="2400" b="1" i="1" kern="100">
                        <a:solidFill>
                          <a:schemeClr val="bg1"/>
                        </a:solidFill>
                        <a:latin typeface="Cambria Math" panose="02040503050406030204" pitchFamily="18" charset="0"/>
                        <a:ea typeface="宋体" panose="02010600030101010101" pitchFamily="2" charset="-122"/>
                      </a:rPr>
                      <m:t>𝒇</m:t>
                    </m:r>
                    <m:r>
                      <a:rPr lang="zh-CN" altLang="zh-CN" sz="2400" b="1" kern="100">
                        <a:solidFill>
                          <a:schemeClr val="bg1"/>
                        </a:solidFill>
                        <a:latin typeface="Cambria Math" panose="02040503050406030204" pitchFamily="18" charset="0"/>
                        <a:ea typeface="宋体" panose="02010600030101010101" pitchFamily="2" charset="-122"/>
                      </a:rPr>
                      <m:t>与</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相等。</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893A9F12-3593-45DA-8DCF-04F02A912905}"/>
                  </a:ext>
                </a:extLst>
              </p:cNvPr>
              <p:cNvSpPr>
                <a:spLocks noRot="1" noChangeAspect="1" noMove="1" noResize="1" noEditPoints="1" noAdjustHandles="1" noChangeArrowheads="1" noChangeShapeType="1" noTextEdit="1"/>
              </p:cNvSpPr>
              <p:nvPr/>
            </p:nvSpPr>
            <p:spPr>
              <a:xfrm>
                <a:off x="395027" y="1844824"/>
                <a:ext cx="8353945" cy="2815322"/>
              </a:xfrm>
              <a:prstGeom prst="rect">
                <a:avLst/>
              </a:prstGeom>
              <a:blipFill>
                <a:blip r:embed="rId3"/>
                <a:stretch>
                  <a:fillRect l="-1168" t="-868" r="-1095" b="-3471"/>
                </a:stretch>
              </a:blipFill>
            </p:spPr>
            <p:txBody>
              <a:bodyPr/>
              <a:lstStyle/>
              <a:p>
                <a:r>
                  <a:rPr lang="zh-CN" altLang="en-US">
                    <a:noFill/>
                  </a:rPr>
                  <a:t> </a:t>
                </a:r>
              </a:p>
            </p:txBody>
          </p:sp>
        </mc:Fallback>
      </mc:AlternateContent>
      <p:sp>
        <p:nvSpPr>
          <p:cNvPr id="4" name="矩形 3">
            <a:extLst>
              <a:ext uri="{FF2B5EF4-FFF2-40B4-BE49-F238E27FC236}">
                <a16:creationId xmlns:a16="http://schemas.microsoft.com/office/drawing/2014/main" id="{6E724356-BF11-4D71-97F2-65406F3B962D}"/>
              </a:ext>
            </a:extLst>
          </p:cNvPr>
          <p:cNvSpPr/>
          <p:nvPr/>
        </p:nvSpPr>
        <p:spPr>
          <a:xfrm>
            <a:off x="631021" y="4869160"/>
            <a:ext cx="7920235" cy="1113766"/>
          </a:xfrm>
          <a:prstGeom prst="rect">
            <a:avLst/>
          </a:prstGeom>
          <a:solidFill>
            <a:schemeClr val="accent1"/>
          </a:solidFill>
          <a:ln w="28575">
            <a:solidFill>
              <a:schemeClr val="bg1">
                <a:lumMod val="65000"/>
              </a:schemeClr>
            </a:solidFill>
          </a:ln>
        </p:spPr>
        <p:txBody>
          <a:bodyPr wrap="square">
            <a:spAutoFit/>
          </a:bodyPr>
          <a:lstStyle/>
          <a:p>
            <a:pPr>
              <a:lnSpc>
                <a:spcPct val="150000"/>
              </a:lnSpc>
            </a:pPr>
            <a:r>
              <a:rPr lang="en-US" altLang="zh-CN" sz="2400" b="1" kern="100" dirty="0">
                <a:solidFill>
                  <a:srgbClr val="0000FF"/>
                </a:solidFill>
                <a:cs typeface="宋体" panose="02010600030101010101" pitchFamily="2" charset="-122"/>
              </a:rPr>
              <a:t>    </a:t>
            </a:r>
            <a:r>
              <a:rPr lang="zh-CN" altLang="zh-CN" sz="2400" b="1" kern="100" dirty="0">
                <a:solidFill>
                  <a:schemeClr val="accent6"/>
                </a:solidFill>
                <a:cs typeface="宋体" panose="02010600030101010101" pitchFamily="2" charset="-122"/>
              </a:rPr>
              <a:t>两个函数相等不仅要求它们的</a:t>
            </a:r>
            <a:r>
              <a:rPr lang="zh-CN" altLang="zh-CN" sz="2400" b="1" kern="100" dirty="0">
                <a:cs typeface="宋体" panose="02010600030101010101" pitchFamily="2" charset="-122"/>
              </a:rPr>
              <a:t>对应关系相等</a:t>
            </a:r>
            <a:r>
              <a:rPr lang="zh-CN" altLang="zh-CN" sz="2400" b="1" kern="100" dirty="0">
                <a:solidFill>
                  <a:schemeClr val="accent6"/>
                </a:solidFill>
                <a:cs typeface="宋体" panose="02010600030101010101" pitchFamily="2" charset="-122"/>
              </a:rPr>
              <a:t>，而且要求它们的</a:t>
            </a:r>
            <a:r>
              <a:rPr lang="zh-CN" altLang="zh-CN" sz="2400" b="1" kern="100" dirty="0">
                <a:cs typeface="宋体" panose="02010600030101010101" pitchFamily="2" charset="-122"/>
              </a:rPr>
              <a:t>定义域也要相同</a:t>
            </a:r>
            <a:r>
              <a:rPr lang="zh-CN" altLang="zh-CN" sz="2400" b="1" kern="100" dirty="0">
                <a:solidFill>
                  <a:schemeClr val="accent6"/>
                </a:solidFill>
                <a:cs typeface="宋体" panose="02010600030101010101" pitchFamily="2" charset="-122"/>
              </a:rPr>
              <a:t>，两者缺一不可</a:t>
            </a:r>
            <a:r>
              <a:rPr lang="zh-CN" altLang="en-US" sz="2400" b="1" kern="100" dirty="0">
                <a:solidFill>
                  <a:schemeClr val="accent6"/>
                </a:solidFill>
                <a:cs typeface="宋体" panose="02010600030101010101" pitchFamily="2" charset="-122"/>
              </a:rPr>
              <a:t>。</a:t>
            </a:r>
            <a:endParaRPr lang="zh-CN" altLang="en-US" sz="2400" b="1" dirty="0">
              <a:solidFill>
                <a:schemeClr val="accent6"/>
              </a:solidFill>
            </a:endParaRPr>
          </a:p>
        </p:txBody>
      </p:sp>
    </p:spTree>
    <p:extLst>
      <p:ext uri="{BB962C8B-B14F-4D97-AF65-F5344CB8AC3E}">
        <p14:creationId xmlns:p14="http://schemas.microsoft.com/office/powerpoint/2010/main" val="2692639689"/>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5BA6340-8DE9-414C-A0E5-0516068817C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2765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
            <a:extLst>
              <a:ext uri="{FF2B5EF4-FFF2-40B4-BE49-F238E27FC236}">
                <a16:creationId xmlns:a16="http://schemas.microsoft.com/office/drawing/2014/main" id="{F98E72DD-4205-47E9-9BC7-2323F8EDEC1C}"/>
              </a:ext>
            </a:extLst>
          </p:cNvPr>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例 题</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64F8CAB-3269-4929-9C01-706DD5871876}"/>
                  </a:ext>
                </a:extLst>
              </p:cNvPr>
              <p:cNvSpPr/>
              <p:nvPr/>
            </p:nvSpPr>
            <p:spPr>
              <a:xfrm>
                <a:off x="107504" y="1784410"/>
                <a:ext cx="8928992" cy="4524315"/>
              </a:xfrm>
              <a:prstGeom prst="rect">
                <a:avLst/>
              </a:prstGeom>
              <a:solidFill>
                <a:schemeClr val="accent1"/>
              </a:solidFill>
            </p:spPr>
            <p:txBody>
              <a:bodyPr wrap="square">
                <a:spAutoFit/>
              </a:bodyPr>
              <a:lstStyle/>
              <a:p>
                <a:pPr indent="267970" algn="just">
                  <a:spcAft>
                    <a:spcPts val="0"/>
                  </a:spcAft>
                </a:pP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【例题】判断下列函数是否相</a:t>
                </a:r>
                <a:r>
                  <a:rPr lang="zh-CN" altLang="en-US"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等</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spcAft>
                    <a:spcPts val="0"/>
                  </a:spcAft>
                </a:pPr>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      (1)</a:t>
                </a:r>
                <a14:m>
                  <m:oMath xmlns:m="http://schemas.openxmlformats.org/officeDocument/2006/math">
                    <m:r>
                      <a:rPr lang="en-US" altLang="zh-CN" sz="2400" b="1" i="1" kern="100" smtClean="0">
                        <a:solidFill>
                          <a:schemeClr val="tx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smtClean="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sSup>
                      <m:sSupPr>
                        <m:ctrlPr>
                          <a:rPr lang="zh-CN" altLang="zh-CN" sz="2400" b="1" i="1" kern="100">
                            <a:solidFill>
                              <a:schemeClr val="tx1"/>
                            </a:solidFill>
                            <a:latin typeface="Cambria Math" panose="02040503050406030204" pitchFamily="18" charset="0"/>
                            <a:ea typeface="Cambria Math" panose="02040503050406030204" pitchFamily="18" charset="0"/>
                          </a:rPr>
                        </m:ctrlPr>
                      </m:sSupPr>
                      <m:e>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e>
                      <m:sup>
                        <m:r>
                          <a:rPr lang="en-US" altLang="zh-CN" sz="2400" b="1" i="1" kern="100" smtClean="0">
                            <a:solidFill>
                              <a:schemeClr val="tx1"/>
                            </a:solidFill>
                            <a:latin typeface="Cambria Math" panose="02040503050406030204" pitchFamily="18" charset="0"/>
                            <a:ea typeface="宋体" panose="02010600030101010101" pitchFamily="2" charset="-122"/>
                          </a:rPr>
                          <m:t>𝟐</m:t>
                        </m:r>
                      </m:sup>
                    </m:sSup>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𝟏</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𝟏</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spcAft>
                    <a:spcPts val="0"/>
                  </a:spcAft>
                </a:pPr>
                <a:r>
                  <a:rPr lang="en-US" altLang="zh-CN" sz="2400" b="1" kern="100" dirty="0">
                    <a:solidFill>
                      <a:schemeClr val="tx1"/>
                    </a:solidFill>
                    <a:ea typeface="宋体" panose="02010600030101010101" pitchFamily="2" charset="-122"/>
                  </a:rPr>
                  <a:t>         </a:t>
                </a:r>
                <a14:m>
                  <m:oMath xmlns:m="http://schemas.openxmlformats.org/officeDocument/2006/math">
                    <m:r>
                      <a:rPr lang="en-US" altLang="zh-CN" sz="2400" b="1" i="1" kern="100" smtClean="0">
                        <a:solidFill>
                          <a:schemeClr val="tx1"/>
                        </a:solidFill>
                        <a:latin typeface="Cambria Math" panose="02040503050406030204" pitchFamily="18" charset="0"/>
                        <a:ea typeface="宋体" panose="02010600030101010101" pitchFamily="2" charset="-122"/>
                      </a:rPr>
                      <m:t>𝒈</m:t>
                    </m:r>
                    <m:r>
                      <a:rPr lang="en-US" altLang="zh-CN" sz="2400" b="1" i="1" kern="100" smtClean="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𝟏</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spcAft>
                    <a:spcPts val="0"/>
                  </a:spcAft>
                </a:pPr>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      (2)</a:t>
                </a:r>
                <a14:m>
                  <m:oMath xmlns:m="http://schemas.openxmlformats.org/officeDocument/2006/math">
                    <m:r>
                      <a:rPr lang="en-US" altLang="zh-CN" sz="2400" b="1" i="1" kern="100" smtClean="0">
                        <a:solidFill>
                          <a:schemeClr val="tx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smtClean="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𝟏</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spcAft>
                    <a:spcPts val="0"/>
                  </a:spcAft>
                </a:pPr>
                <a:r>
                  <a:rPr lang="en-US" altLang="zh-CN" sz="2400" b="1" kern="100" dirty="0">
                    <a:solidFill>
                      <a:schemeClr val="tx1"/>
                    </a:solidFill>
                    <a:ea typeface="宋体" panose="02010600030101010101" pitchFamily="2" charset="-122"/>
                  </a:rPr>
                  <a:t>         </a:t>
                </a:r>
                <a14:m>
                  <m:oMath xmlns:m="http://schemas.openxmlformats.org/officeDocument/2006/math">
                    <m:r>
                      <a:rPr lang="en-US" altLang="zh-CN" sz="2400" b="1" i="1" kern="100" smtClean="0">
                        <a:solidFill>
                          <a:schemeClr val="tx1"/>
                        </a:solidFill>
                        <a:latin typeface="Cambria Math" panose="02040503050406030204" pitchFamily="18" charset="0"/>
                        <a:ea typeface="宋体" panose="02010600030101010101" pitchFamily="2" charset="-122"/>
                      </a:rPr>
                      <m:t>𝒈</m:t>
                    </m:r>
                    <m:r>
                      <a:rPr lang="en-US" altLang="zh-CN" sz="2400" b="1" i="1" kern="100" smtClean="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sSup>
                      <m:sSupPr>
                        <m:ctrlPr>
                          <a:rPr lang="zh-CN" altLang="zh-CN" sz="2400" b="1" i="1" kern="100">
                            <a:solidFill>
                              <a:schemeClr val="tx1"/>
                            </a:solidFill>
                            <a:latin typeface="Cambria Math" panose="02040503050406030204" pitchFamily="18" charset="0"/>
                            <a:ea typeface="Cambria Math" panose="02040503050406030204" pitchFamily="18" charset="0"/>
                          </a:rPr>
                        </m:ctrlPr>
                      </m:sSupPr>
                      <m:e>
                        <m:r>
                          <a:rPr lang="en-US" altLang="zh-CN" sz="2400" b="1" i="1" kern="100" smtClean="0">
                            <a:solidFill>
                              <a:schemeClr val="tx1"/>
                            </a:solidFill>
                            <a:latin typeface="Cambria Math" panose="02040503050406030204" pitchFamily="18" charset="0"/>
                            <a:ea typeface="宋体" panose="02010600030101010101" pitchFamily="2" charset="-122"/>
                          </a:rPr>
                          <m:t>𝒙</m:t>
                        </m:r>
                      </m:e>
                      <m:sup>
                        <m:r>
                          <a:rPr lang="en-US" altLang="zh-CN" sz="2400" b="1" i="1" kern="100" smtClean="0">
                            <a:solidFill>
                              <a:schemeClr val="tx1"/>
                            </a:solidFill>
                            <a:latin typeface="Cambria Math" panose="02040503050406030204" pitchFamily="18" charset="0"/>
                            <a:ea typeface="宋体" panose="02010600030101010101" pitchFamily="2" charset="-122"/>
                          </a:rPr>
                          <m:t>𝟎</m:t>
                        </m:r>
                      </m:sup>
                    </m:sSup>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spcAft>
                    <a:spcPts val="0"/>
                  </a:spcAft>
                </a:pPr>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      (3)</a:t>
                </a:r>
                <a14:m>
                  <m:oMath xmlns:m="http://schemas.openxmlformats.org/officeDocument/2006/math">
                    <m:r>
                      <a:rPr lang="en-US" altLang="zh-CN" sz="2400" b="1" i="1" kern="100" smtClean="0">
                        <a:solidFill>
                          <a:schemeClr val="tx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smtClean="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sSup>
                      <m:sSupPr>
                        <m:ctrlPr>
                          <a:rPr lang="zh-CN" altLang="zh-CN" sz="2400" b="1" i="1" kern="100">
                            <a:solidFill>
                              <a:schemeClr val="tx1"/>
                            </a:solidFill>
                            <a:latin typeface="Cambria Math" panose="02040503050406030204" pitchFamily="18" charset="0"/>
                            <a:ea typeface="Cambria Math" panose="02040503050406030204" pitchFamily="18" charset="0"/>
                          </a:rPr>
                        </m:ctrlPr>
                      </m:sSupPr>
                      <m:e>
                        <m:r>
                          <a:rPr lang="en-US" altLang="zh-CN" sz="2400" b="1" i="1" kern="100" smtClean="0">
                            <a:solidFill>
                              <a:schemeClr val="tx1"/>
                            </a:solidFill>
                            <a:latin typeface="Cambria Math" panose="02040503050406030204" pitchFamily="18" charset="0"/>
                            <a:ea typeface="宋体" panose="02010600030101010101" pitchFamily="2" charset="-122"/>
                          </a:rPr>
                          <m:t>𝒙</m:t>
                        </m:r>
                      </m:e>
                      <m:sup>
                        <m:r>
                          <a:rPr lang="en-US" altLang="zh-CN" sz="2400" b="1" i="1" kern="100" smtClean="0">
                            <a:solidFill>
                              <a:schemeClr val="tx1"/>
                            </a:solidFill>
                            <a:latin typeface="Cambria Math" panose="02040503050406030204" pitchFamily="18" charset="0"/>
                            <a:ea typeface="宋体" panose="02010600030101010101" pitchFamily="2" charset="-122"/>
                          </a:rPr>
                          <m:t>𝟐</m:t>
                        </m:r>
                      </m:sup>
                    </m:sSup>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spcAft>
                    <a:spcPts val="0"/>
                  </a:spcAft>
                </a:pPr>
                <a:r>
                  <a:rPr lang="en-US" altLang="zh-CN" sz="2400" b="1" kern="100" dirty="0">
                    <a:solidFill>
                      <a:schemeClr val="tx1"/>
                    </a:solidFill>
                    <a:ea typeface="Cambria Math" panose="02040503050406030204" pitchFamily="18" charset="0"/>
                  </a:rPr>
                  <a:t>         </a:t>
                </a:r>
                <a14:m>
                  <m:oMath xmlns:m="http://schemas.openxmlformats.org/officeDocument/2006/math">
                    <m:r>
                      <a:rPr lang="zh-CN" altLang="zh-CN" sz="2400" b="1" i="1" kern="100" smtClean="0">
                        <a:solidFill>
                          <a:schemeClr val="tx1"/>
                        </a:solidFill>
                        <a:latin typeface="Cambria Math" panose="02040503050406030204" pitchFamily="18" charset="0"/>
                        <a:ea typeface="Cambria Math" panose="02040503050406030204" pitchFamily="18" charset="0"/>
                      </a:rPr>
                      <m:t> </m:t>
                    </m:r>
                    <m:r>
                      <a:rPr lang="en-US" altLang="zh-CN" sz="2400" b="1" i="1" kern="100" smtClean="0">
                        <a:solidFill>
                          <a:schemeClr val="tx1"/>
                        </a:solidFill>
                        <a:latin typeface="Cambria Math" panose="02040503050406030204" pitchFamily="18" charset="0"/>
                        <a:ea typeface="Cambria Math" panose="02040503050406030204" pitchFamily="18" charset="0"/>
                      </a:rPr>
                      <m:t>𝒈</m:t>
                    </m:r>
                    <m:r>
                      <a:rPr lang="en-US" altLang="zh-CN" sz="2400" b="1" i="1" kern="100" smtClean="0">
                        <a:solidFill>
                          <a:schemeClr val="tx1"/>
                        </a:solidFill>
                        <a:latin typeface="Cambria Math" panose="02040503050406030204" pitchFamily="18" charset="0"/>
                        <a:ea typeface="Cambria Math" panose="020405030504060302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spcAft>
                    <a:spcPts val="0"/>
                  </a:spcAft>
                </a:pPr>
                <a:r>
                  <a:rPr lang="en-US" altLang="zh-CN" sz="24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      (4)</a:t>
                </a:r>
                <a14:m>
                  <m:oMath xmlns:m="http://schemas.openxmlformats.org/officeDocument/2006/math">
                    <m:r>
                      <a:rPr lang="en-US" altLang="zh-CN" sz="2400" b="1" i="1" kern="100" smtClean="0">
                        <a:solidFill>
                          <a:schemeClr val="tx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smtClean="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sSup>
                      <m:sSupPr>
                        <m:ctrlPr>
                          <a:rPr lang="zh-CN" altLang="zh-CN" sz="2400" b="1" i="1" kern="100">
                            <a:solidFill>
                              <a:schemeClr val="tx1"/>
                            </a:solidFill>
                            <a:latin typeface="Cambria Math" panose="02040503050406030204" pitchFamily="18" charset="0"/>
                            <a:ea typeface="Cambria Math" panose="02040503050406030204" pitchFamily="18" charset="0"/>
                          </a:rPr>
                        </m:ctrlPr>
                      </m:sSupPr>
                      <m:e>
                        <m:r>
                          <a:rPr lang="en-US" altLang="zh-CN" sz="2400" b="1" i="1" kern="100" smtClean="0">
                            <a:solidFill>
                              <a:schemeClr val="tx1"/>
                            </a:solidFill>
                            <a:latin typeface="Cambria Math" panose="02040503050406030204" pitchFamily="18" charset="0"/>
                            <a:ea typeface="宋体" panose="02010600030101010101" pitchFamily="2" charset="-122"/>
                          </a:rPr>
                          <m:t>𝒙</m:t>
                        </m:r>
                      </m:e>
                      <m:sup>
                        <m:r>
                          <a:rPr lang="en-US" altLang="zh-CN" sz="2400" b="1" i="1" kern="100" smtClean="0">
                            <a:solidFill>
                              <a:schemeClr val="tx1"/>
                            </a:solidFill>
                            <a:latin typeface="Cambria Math" panose="02040503050406030204" pitchFamily="18" charset="0"/>
                            <a:ea typeface="宋体" panose="02010600030101010101" pitchFamily="2" charset="-122"/>
                          </a:rPr>
                          <m:t>𝟐</m:t>
                        </m:r>
                      </m:sup>
                    </m:sSup>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𝟏</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spcAft>
                    <a:spcPts val="0"/>
                  </a:spcAft>
                </a:pPr>
                <a:r>
                  <a:rPr lang="en-US" altLang="zh-CN" sz="2400" b="1" kern="100" dirty="0">
                    <a:solidFill>
                      <a:schemeClr val="tx1"/>
                    </a:solidFill>
                    <a:ea typeface="Cambria Math" panose="02040503050406030204" pitchFamily="18" charset="0"/>
                  </a:rPr>
                  <a:t>         </a:t>
                </a:r>
                <a14:m>
                  <m:oMath xmlns:m="http://schemas.openxmlformats.org/officeDocument/2006/math">
                    <m:r>
                      <a:rPr lang="zh-CN" altLang="zh-CN" sz="2400" b="1" i="1" kern="100" smtClean="0">
                        <a:solidFill>
                          <a:schemeClr val="tx1"/>
                        </a:solidFill>
                        <a:latin typeface="Cambria Math" panose="02040503050406030204" pitchFamily="18" charset="0"/>
                        <a:ea typeface="Cambria Math" panose="02040503050406030204" pitchFamily="18" charset="0"/>
                      </a:rPr>
                      <m:t> </m:t>
                    </m:r>
                    <m:r>
                      <a:rPr lang="en-US" altLang="zh-CN" sz="2400" b="1" i="1" kern="100" smtClean="0">
                        <a:solidFill>
                          <a:schemeClr val="tx1"/>
                        </a:solidFill>
                        <a:latin typeface="Cambria Math" panose="02040503050406030204" pitchFamily="18" charset="0"/>
                        <a:ea typeface="Cambria Math" panose="02040503050406030204" pitchFamily="18" charset="0"/>
                      </a:rPr>
                      <m:t>𝒈</m:t>
                    </m:r>
                    <m:r>
                      <a:rPr lang="en-US" altLang="zh-CN" sz="2400" b="1" i="1" kern="100" smtClean="0">
                        <a:solidFill>
                          <a:schemeClr val="tx1"/>
                        </a:solidFill>
                        <a:latin typeface="Cambria Math" panose="02040503050406030204" pitchFamily="18" charset="0"/>
                        <a:ea typeface="Cambria Math" panose="02040503050406030204" pitchFamily="18" charset="0"/>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e>
                    </m:d>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𝑹</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𝒚</m:t>
                    </m:r>
                    <m:r>
                      <a:rPr lang="en-US" altLang="zh-CN" sz="2400" b="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𝟏</m:t>
                    </m:r>
                    <m:r>
                      <a:rPr lang="en-US" altLang="zh-CN" sz="2400" b="1" i="1" kern="100" smtClean="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𝒙</m:t>
                    </m:r>
                    <m:r>
                      <a:rPr lang="en-US" altLang="zh-CN" sz="2400" b="1" i="1" kern="100" smtClean="0">
                        <a:solidFill>
                          <a:schemeClr val="tx1"/>
                        </a:solidFill>
                        <a:latin typeface="Cambria Math" panose="02040503050406030204" pitchFamily="18" charset="0"/>
                        <a:ea typeface="宋体" panose="02010600030101010101" pitchFamily="2" charset="-122"/>
                      </a:rPr>
                      <m:t>}</m:t>
                    </m:r>
                  </m:oMath>
                </a14:m>
                <a:r>
                  <a:rPr lang="zh-CN" altLang="en-US" sz="2400" b="1" kern="100" dirty="0">
                    <a:solidFill>
                      <a:schemeClr val="tx1"/>
                    </a:solidFill>
                    <a:latin typeface="Times New Roman" panose="02020603050405020304" pitchFamily="18" charset="0"/>
                    <a:ea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7970" algn="just">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【解】（</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m:rPr>
                        <m:nor/>
                      </m:rPr>
                      <a:rPr lang="en-US" altLang="zh-CN" sz="2400" b="1" kern="100">
                        <a:solidFill>
                          <a:schemeClr val="tx1"/>
                        </a:solidFill>
                        <a:latin typeface="Cambria Math" panose="02040503050406030204" pitchFamily="18" charset="0"/>
                        <a:ea typeface="宋体" panose="02010600030101010101" pitchFamily="2" charset="-122"/>
                      </a:rPr>
                      <m:t>dom</m:t>
                    </m:r>
                    <m:r>
                      <a:rPr lang="en-US" altLang="zh-CN" sz="2400" b="1" i="1" kern="100" smtClean="0">
                        <a:solidFill>
                          <a:schemeClr val="tx1"/>
                        </a:solidFill>
                        <a:latin typeface="Cambria Math" panose="02040503050406030204" pitchFamily="18" charset="0"/>
                        <a:ea typeface="宋体" panose="02010600030101010101" pitchFamily="2" charset="-122"/>
                      </a:rPr>
                      <m:t> </m:t>
                    </m:r>
                    <m:r>
                      <a:rPr lang="en-US" altLang="zh-CN" sz="2400" b="1" i="1" kern="100" smtClean="0">
                        <a:solidFill>
                          <a:schemeClr val="tx1"/>
                        </a:solidFill>
                        <a:latin typeface="Cambria Math" panose="02040503050406030204" pitchFamily="18" charset="0"/>
                        <a:ea typeface="宋体" panose="02010600030101010101" pitchFamily="2" charset="-122"/>
                      </a:rPr>
                      <m:t>𝒇</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与</a:t>
                </a:r>
                <a14:m>
                  <m:oMath xmlns:m="http://schemas.openxmlformats.org/officeDocument/2006/math">
                    <m:r>
                      <m:rPr>
                        <m:nor/>
                      </m:rPr>
                      <a:rPr lang="en-US" altLang="zh-CN" sz="2400" b="1" kern="100">
                        <a:solidFill>
                          <a:schemeClr val="tx1"/>
                        </a:solidFill>
                        <a:latin typeface="Cambria Math" panose="02040503050406030204" pitchFamily="18" charset="0"/>
                        <a:ea typeface="宋体" panose="02010600030101010101" pitchFamily="2" charset="-122"/>
                      </a:rPr>
                      <m:t>dom</m:t>
                    </m:r>
                    <m:r>
                      <a:rPr lang="en-US" altLang="zh-CN" sz="2400" b="1" i="1" kern="100" smtClean="0">
                        <a:solidFill>
                          <a:schemeClr val="tx1"/>
                        </a:solidFill>
                        <a:latin typeface="Cambria Math" panose="02040503050406030204" pitchFamily="18" charset="0"/>
                        <a:ea typeface="宋体" panose="02010600030101010101" pitchFamily="2" charset="-122"/>
                      </a:rPr>
                      <m:t> </m:t>
                    </m:r>
                    <m:r>
                      <a:rPr lang="en-US" altLang="zh-CN" sz="2400" b="1" i="1" kern="100" smtClean="0">
                        <a:solidFill>
                          <a:schemeClr val="tx1"/>
                        </a:solidFill>
                        <a:latin typeface="Cambria Math" panose="02040503050406030204" pitchFamily="18" charset="0"/>
                        <a:ea typeface="宋体" panose="02010600030101010101" pitchFamily="2" charset="-122"/>
                      </a:rPr>
                      <m:t>𝒈</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不同，故它们均不</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是相等的函数</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m:rPr>
                        <m:nor/>
                      </m:rPr>
                      <a:rPr lang="en-US" altLang="zh-CN" sz="2400" b="1" kern="100">
                        <a:solidFill>
                          <a:schemeClr val="tx1"/>
                        </a:solidFill>
                        <a:latin typeface="Cambria Math" panose="02040503050406030204" pitchFamily="18" charset="0"/>
                        <a:ea typeface="宋体" panose="02010600030101010101" pitchFamily="2" charset="-122"/>
                      </a:rPr>
                      <m:t>dom</m:t>
                    </m:r>
                    <m:r>
                      <a:rPr lang="en-US" altLang="zh-CN" sz="2400" b="1" i="1" kern="100" smtClean="0">
                        <a:solidFill>
                          <a:schemeClr val="tx1"/>
                        </a:solidFill>
                        <a:latin typeface="Cambria Math" panose="02040503050406030204" pitchFamily="18" charset="0"/>
                        <a:ea typeface="宋体" panose="02010600030101010101" pitchFamily="2" charset="-122"/>
                      </a:rPr>
                      <m:t> </m:t>
                    </m:r>
                    <m:r>
                      <a:rPr lang="en-US" altLang="zh-CN" sz="2400" b="1" i="1" kern="100" smtClean="0">
                        <a:solidFill>
                          <a:schemeClr val="tx1"/>
                        </a:solidFill>
                        <a:latin typeface="Cambria Math" panose="02040503050406030204" pitchFamily="18" charset="0"/>
                        <a:ea typeface="宋体" panose="02010600030101010101" pitchFamily="2" charset="-122"/>
                      </a:rPr>
                      <m:t>𝒇</m:t>
                    </m:r>
                    <m:r>
                      <a:rPr lang="en-US" altLang="zh-CN" sz="2400" b="1" i="1" kern="100" smtClean="0">
                        <a:solidFill>
                          <a:schemeClr val="tx1"/>
                        </a:solidFill>
                        <a:latin typeface="Cambria Math" panose="02040503050406030204" pitchFamily="18" charset="0"/>
                        <a:ea typeface="宋体" panose="02010600030101010101" pitchFamily="2" charset="-122"/>
                      </a:rPr>
                      <m:t>=</m:t>
                    </m:r>
                    <m:r>
                      <m:rPr>
                        <m:nor/>
                      </m:rPr>
                      <a:rPr lang="en-US" altLang="zh-CN" sz="2400" b="1" kern="100">
                        <a:solidFill>
                          <a:schemeClr val="tx1"/>
                        </a:solidFill>
                        <a:latin typeface="Cambria Math" panose="02040503050406030204" pitchFamily="18" charset="0"/>
                        <a:ea typeface="宋体" panose="02010600030101010101" pitchFamily="2" charset="-122"/>
                      </a:rPr>
                      <m:t>dom</m:t>
                    </m:r>
                    <m:r>
                      <a:rPr lang="en-US" altLang="zh-CN" sz="2400" b="1" i="1" kern="100" smtClean="0">
                        <a:solidFill>
                          <a:schemeClr val="tx1"/>
                        </a:solidFill>
                        <a:latin typeface="Cambria Math" panose="02040503050406030204" pitchFamily="18" charset="0"/>
                        <a:ea typeface="宋体" panose="02010600030101010101" pitchFamily="2" charset="-122"/>
                      </a:rPr>
                      <m:t> </m:t>
                    </m:r>
                    <m:r>
                      <a:rPr lang="en-US" altLang="zh-CN" sz="2400" b="1" i="1" kern="100" smtClean="0">
                        <a:solidFill>
                          <a:schemeClr val="tx1"/>
                        </a:solidFill>
                        <a:latin typeface="Cambria Math" panose="02040503050406030204" pitchFamily="18" charset="0"/>
                        <a:ea typeface="宋体" panose="02010600030101010101" pitchFamily="2" charset="-122"/>
                      </a:rPr>
                      <m:t>𝒈</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且两者的对应关系相等，故它们是相</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等</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的函数。</a:t>
                </a:r>
                <a:endParaRPr lang="zh-CN" altLang="zh-CN" sz="24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264F8CAB-3269-4929-9C01-706DD5871876}"/>
                  </a:ext>
                </a:extLst>
              </p:cNvPr>
              <p:cNvSpPr>
                <a:spLocks noRot="1" noChangeAspect="1" noMove="1" noResize="1" noEditPoints="1" noAdjustHandles="1" noChangeArrowheads="1" noChangeShapeType="1" noTextEdit="1"/>
              </p:cNvSpPr>
              <p:nvPr/>
            </p:nvSpPr>
            <p:spPr>
              <a:xfrm>
                <a:off x="107504" y="1784410"/>
                <a:ext cx="8928992" cy="4524315"/>
              </a:xfrm>
              <a:prstGeom prst="rect">
                <a:avLst/>
              </a:prstGeom>
              <a:blipFill>
                <a:blip r:embed="rId3"/>
                <a:stretch>
                  <a:fillRect l="-1093" t="-1482" r="-1093" b="-25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31359473"/>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E6F27BEB-CF40-420F-B96C-369FBBF2E07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1747" name="Text Box 2"/>
          <p:cNvSpPr txBox="1">
            <a:spLocks noChangeArrowheads="1"/>
          </p:cNvSpPr>
          <p:nvPr/>
        </p:nvSpPr>
        <p:spPr bwMode="auto">
          <a:xfrm>
            <a:off x="1258888" y="752475"/>
            <a:ext cx="6480175" cy="922338"/>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dirty="0">
                <a:solidFill>
                  <a:schemeClr val="bg1"/>
                </a:solidFill>
                <a:latin typeface="宋体" pitchFamily="2" charset="-122"/>
                <a:ea typeface="宋体" pitchFamily="2" charset="-122"/>
              </a:rPr>
              <a:t> 函数个数的计数</a:t>
            </a:r>
          </a:p>
        </p:txBody>
      </p:sp>
      <p:pic>
        <p:nvPicPr>
          <p:cNvPr id="3174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490041" y="1810619"/>
                <a:ext cx="8017867" cy="1156150"/>
              </a:xfrm>
              <a:prstGeom prst="rect">
                <a:avLst/>
              </a:prstGeom>
              <a:solidFill>
                <a:schemeClr val="accent6">
                  <a:lumMod val="75000"/>
                </a:schemeClr>
              </a:solidFill>
            </p:spPr>
            <p:txBody>
              <a:bodyPr wrap="square" rtlCol="0">
                <a:spAutoFit/>
              </a:bodyPr>
              <a:lstStyle/>
              <a:p>
                <a:pPr>
                  <a:lnSpc>
                    <a:spcPct val="150000"/>
                  </a:lnSpc>
                </a:pPr>
                <a:r>
                  <a:rPr lang="en-US" altLang="zh-CN" sz="2400" b="1" dirty="0">
                    <a:solidFill>
                      <a:schemeClr val="bg1"/>
                    </a:solidFill>
                  </a:rPr>
                  <a:t>   </a:t>
                </a:r>
                <a:r>
                  <a:rPr lang="zh-CN" altLang="zh-CN" sz="2400" b="1" dirty="0">
                    <a:solidFill>
                      <a:schemeClr val="bg1"/>
                    </a:solidFill>
                  </a:rPr>
                  <a:t>【定理】设</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是任意两个非空有限集合，则从</a:t>
                </a:r>
                <a14:m>
                  <m:oMath xmlns:m="http://schemas.openxmlformats.org/officeDocument/2006/math">
                    <m:r>
                      <a:rPr lang="en-US" altLang="zh-CN" sz="2400" b="1" i="1">
                        <a:solidFill>
                          <a:schemeClr val="bg1"/>
                        </a:solidFill>
                        <a:latin typeface="Cambria Math"/>
                      </a:rPr>
                      <m:t>𝑨</m:t>
                    </m:r>
                    <m:r>
                      <a:rPr lang="zh-CN" altLang="zh-CN" sz="2400" b="1">
                        <a:solidFill>
                          <a:schemeClr val="bg1"/>
                        </a:solidFill>
                        <a:latin typeface="Cambria Math"/>
                      </a:rPr>
                      <m:t>到</m:t>
                    </m:r>
                    <m:r>
                      <a:rPr lang="en-US" altLang="zh-CN" sz="2400" b="1" i="1">
                        <a:solidFill>
                          <a:schemeClr val="bg1"/>
                        </a:solidFill>
                        <a:latin typeface="Cambria Math"/>
                      </a:rPr>
                      <m:t>𝑩</m:t>
                    </m:r>
                  </m:oMath>
                </a14:m>
                <a:r>
                  <a:rPr lang="zh-CN" altLang="zh-CN" sz="2400" b="1" dirty="0">
                    <a:solidFill>
                      <a:schemeClr val="bg1"/>
                    </a:solidFill>
                  </a:rPr>
                  <a:t>一共有</a:t>
                </a:r>
                <a14:m>
                  <m:oMath xmlns:m="http://schemas.openxmlformats.org/officeDocument/2006/math">
                    <m:sSup>
                      <m:sSupPr>
                        <m:ctrlPr>
                          <a:rPr lang="zh-CN" altLang="zh-CN" sz="2400" b="1" i="1" smtClean="0">
                            <a:solidFill>
                              <a:srgbClr val="FFFF00"/>
                            </a:solidFill>
                            <a:latin typeface="Cambria Math" panose="02040503050406030204" pitchFamily="18" charset="0"/>
                          </a:rPr>
                        </m:ctrlPr>
                      </m:sSupPr>
                      <m:e>
                        <m:d>
                          <m:dPr>
                            <m:begChr m:val="|"/>
                            <m:endChr m:val="|"/>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𝑩</m:t>
                            </m:r>
                          </m:e>
                        </m:d>
                      </m:e>
                      <m:sup>
                        <m:d>
                          <m:dPr>
                            <m:begChr m:val="|"/>
                            <m:endChr m:val="|"/>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e>
                        </m:d>
                      </m:sup>
                    </m:sSup>
                  </m:oMath>
                </a14:m>
                <a:r>
                  <a:rPr lang="zh-CN" altLang="zh-CN" sz="2400" b="1" dirty="0">
                    <a:solidFill>
                      <a:schemeClr val="bg1"/>
                    </a:solidFill>
                  </a:rPr>
                  <a:t>种不同的函数。</a:t>
                </a:r>
              </a:p>
            </p:txBody>
          </p:sp>
        </mc:Choice>
        <mc:Fallback xmlns="">
          <p:sp>
            <p:nvSpPr>
              <p:cNvPr id="3" name="TextBox 2"/>
              <p:cNvSpPr txBox="1">
                <a:spLocks noRot="1" noChangeAspect="1" noMove="1" noResize="1" noEditPoints="1" noAdjustHandles="1" noChangeArrowheads="1" noChangeShapeType="1" noTextEdit="1"/>
              </p:cNvSpPr>
              <p:nvPr/>
            </p:nvSpPr>
            <p:spPr>
              <a:xfrm>
                <a:off x="490041" y="1810619"/>
                <a:ext cx="8017867" cy="1156150"/>
              </a:xfrm>
              <a:prstGeom prst="rect">
                <a:avLst/>
              </a:prstGeom>
              <a:blipFill>
                <a:blip r:embed="rId3"/>
                <a:stretch>
                  <a:fillRect l="-1140" b="-94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TextBox 4"/>
              <p:cNvSpPr txBox="1"/>
              <p:nvPr/>
            </p:nvSpPr>
            <p:spPr>
              <a:xfrm>
                <a:off x="402790" y="3163945"/>
                <a:ext cx="8338419" cy="3039678"/>
              </a:xfrm>
              <a:prstGeom prst="rect">
                <a:avLst/>
              </a:prstGeom>
              <a:solidFill>
                <a:schemeClr val="bg1"/>
              </a:solidFill>
            </p:spPr>
            <p:txBody>
              <a:bodyPr wrap="square" rtlCol="0">
                <a:spAutoFit/>
              </a:bodyPr>
              <a:lstStyle/>
              <a:p>
                <a:pPr>
                  <a:lnSpc>
                    <a:spcPts val="3800"/>
                  </a:lnSpc>
                  <a:spcBef>
                    <a:spcPts val="600"/>
                  </a:spcBef>
                </a:pPr>
                <a:r>
                  <a:rPr lang="zh-CN" altLang="zh-CN" sz="2400" b="1" dirty="0"/>
                  <a:t>【证】</a:t>
                </a:r>
                <a:r>
                  <a:rPr lang="zh-CN" altLang="en-US" sz="2400" b="1" dirty="0"/>
                  <a:t>令</a:t>
                </a:r>
                <a:r>
                  <a:rPr lang="zh-CN" altLang="zh-CN" sz="2400" b="1" dirty="0">
                    <a:solidFill>
                      <a:schemeClr val="tx1"/>
                    </a:solidFill>
                  </a:rPr>
                  <a:t>集合</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𝒂</m:t>
                        </m:r>
                      </m:e>
                      <m:sub>
                        <m:r>
                          <a:rPr lang="en-US" altLang="zh-CN" sz="2400" b="1" i="1">
                            <a:solidFill>
                              <a:schemeClr val="tx1"/>
                            </a:solidFill>
                            <a:latin typeface="Cambria Math"/>
                          </a:rPr>
                          <m:t>𝟏</m:t>
                        </m:r>
                      </m:sub>
                    </m:sSub>
                    <m:r>
                      <a:rPr lang="en-US" altLang="zh-CN" sz="2400" b="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𝒂</m:t>
                        </m:r>
                      </m:e>
                      <m:sub>
                        <m:r>
                          <a:rPr lang="en-US" altLang="zh-CN" sz="2400" b="1" i="1">
                            <a:solidFill>
                              <a:schemeClr val="tx1"/>
                            </a:solidFill>
                            <a:latin typeface="Cambria Math"/>
                          </a:rPr>
                          <m:t>𝟐</m:t>
                        </m:r>
                      </m:sub>
                    </m:sSub>
                    <m:r>
                      <a:rPr lang="en-US" altLang="zh-CN" sz="2400" b="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𝒂</m:t>
                        </m:r>
                      </m:e>
                      <m:sub>
                        <m:r>
                          <a:rPr lang="en-US" altLang="zh-CN" sz="2400" b="1" i="1">
                            <a:solidFill>
                              <a:schemeClr val="tx1"/>
                            </a:solidFill>
                            <a:latin typeface="Cambria Math"/>
                          </a:rPr>
                          <m:t>𝒏</m:t>
                        </m:r>
                      </m:sub>
                    </m:sSub>
                    <m:r>
                      <a:rPr lang="en-US" altLang="zh-CN" sz="2400" b="1" i="1">
                        <a:solidFill>
                          <a:schemeClr val="tx1"/>
                        </a:solidFill>
                        <a:latin typeface="Cambria Math"/>
                      </a:rPr>
                      <m:t>}</m:t>
                    </m:r>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𝒃</m:t>
                        </m:r>
                      </m:e>
                      <m:sub>
                        <m:r>
                          <a:rPr lang="en-US" altLang="zh-CN" sz="2400" b="1" i="1">
                            <a:solidFill>
                              <a:schemeClr val="tx1"/>
                            </a:solidFill>
                            <a:latin typeface="Cambria Math"/>
                          </a:rPr>
                          <m:t>𝟏</m:t>
                        </m:r>
                      </m:sub>
                    </m:sSub>
                    <m:r>
                      <a:rPr lang="en-US" altLang="zh-CN" sz="2400" b="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𝒃</m:t>
                        </m:r>
                      </m:e>
                      <m:sub>
                        <m:r>
                          <a:rPr lang="en-US" altLang="zh-CN" sz="2400" b="1" i="1">
                            <a:solidFill>
                              <a:schemeClr val="tx1"/>
                            </a:solidFill>
                            <a:latin typeface="Cambria Math"/>
                          </a:rPr>
                          <m:t>𝟐</m:t>
                        </m:r>
                      </m:sub>
                    </m:sSub>
                    <m:r>
                      <a:rPr lang="en-US" altLang="zh-CN" sz="2400" b="1">
                        <a:solidFill>
                          <a:schemeClr val="tx1"/>
                        </a:solidFill>
                        <a:latin typeface="Cambria Math"/>
                      </a:rPr>
                      <m:t>,⋯,</m:t>
                    </m:r>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𝒃</m:t>
                        </m:r>
                      </m:e>
                      <m:sub>
                        <m:r>
                          <a:rPr lang="en-US" altLang="zh-CN" sz="2400" b="1" i="1">
                            <a:solidFill>
                              <a:schemeClr val="tx1"/>
                            </a:solidFill>
                            <a:latin typeface="Cambria Math"/>
                          </a:rPr>
                          <m:t>𝒎</m:t>
                        </m:r>
                      </m:sub>
                    </m:sSub>
                    <m:r>
                      <a:rPr lang="en-US" altLang="zh-CN" sz="2400" b="1" i="1">
                        <a:solidFill>
                          <a:schemeClr val="tx1"/>
                        </a:solidFill>
                        <a:latin typeface="Cambria Math"/>
                      </a:rPr>
                      <m:t>}</m:t>
                    </m:r>
                  </m:oMath>
                </a14:m>
                <a:r>
                  <a:rPr lang="zh-CN" altLang="zh-CN" sz="2400" b="1" dirty="0">
                    <a:solidFill>
                      <a:schemeClr val="tx1"/>
                    </a:solidFill>
                  </a:rPr>
                  <a:t>，则要确定一个从</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的函数</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，就必须对</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中每个元素</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𝒂</m:t>
                        </m:r>
                      </m:e>
                      <m:sub>
                        <m:r>
                          <a:rPr lang="en-US" altLang="zh-CN" sz="2400" b="1" i="1">
                            <a:solidFill>
                              <a:schemeClr val="tx1"/>
                            </a:solidFill>
                            <a:latin typeface="Cambria Math"/>
                          </a:rPr>
                          <m:t>𝒊</m:t>
                        </m:r>
                      </m:sub>
                    </m:sSub>
                  </m:oMath>
                </a14:m>
                <a:r>
                  <a:rPr lang="zh-CN" altLang="zh-CN" sz="2400" b="1" dirty="0">
                    <a:solidFill>
                      <a:schemeClr val="tx1"/>
                    </a:solidFill>
                  </a:rPr>
                  <a:t>，在</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中找到一个</a:t>
                </a:r>
                <a:r>
                  <a:rPr lang="zh-CN" altLang="zh-CN" sz="2400" b="1" dirty="0">
                    <a:solidFill>
                      <a:srgbClr val="0000FF"/>
                    </a:solidFill>
                  </a:rPr>
                  <a:t>唯一确定</a:t>
                </a:r>
                <a:r>
                  <a:rPr lang="zh-CN" altLang="zh-CN" sz="2400" b="1" dirty="0">
                    <a:solidFill>
                      <a:schemeClr val="tx1"/>
                    </a:solidFill>
                  </a:rPr>
                  <a:t>的元素</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𝒃</m:t>
                        </m:r>
                      </m:e>
                      <m:sub>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𝒎</m:t>
                            </m:r>
                          </m:e>
                          <m:sub>
                            <m:r>
                              <a:rPr lang="en-US" altLang="zh-CN" sz="2400" b="1" i="1">
                                <a:solidFill>
                                  <a:schemeClr val="tx1"/>
                                </a:solidFill>
                                <a:latin typeface="Cambria Math"/>
                              </a:rPr>
                              <m:t>𝒊</m:t>
                            </m:r>
                          </m:sub>
                        </m:sSub>
                      </m:sub>
                    </m:sSub>
                  </m:oMath>
                </a14:m>
                <a:r>
                  <a:rPr lang="zh-CN" altLang="zh-CN" sz="2400" b="1" dirty="0">
                    <a:solidFill>
                      <a:schemeClr val="tx1"/>
                    </a:solidFill>
                  </a:rPr>
                  <a:t>与之对应。</a:t>
                </a:r>
                <a:endParaRPr lang="en-US" altLang="zh-CN" sz="2400" b="1" dirty="0">
                  <a:solidFill>
                    <a:schemeClr val="tx1"/>
                  </a:solidFill>
                </a:endParaRPr>
              </a:p>
              <a:p>
                <a:pPr>
                  <a:lnSpc>
                    <a:spcPts val="3800"/>
                  </a:lnSpc>
                  <a:spcBef>
                    <a:spcPts val="600"/>
                  </a:spcBef>
                </a:pPr>
                <a:r>
                  <a:rPr lang="en-US" altLang="zh-CN" sz="2400" b="1" dirty="0">
                    <a:solidFill>
                      <a:schemeClr val="tx1"/>
                    </a:solidFill>
                  </a:rPr>
                  <a:t>   </a:t>
                </a:r>
                <a:r>
                  <a:rPr lang="zh-CN" altLang="zh-CN" sz="2400" b="1" dirty="0">
                    <a:solidFill>
                      <a:schemeClr val="tx1"/>
                    </a:solidFill>
                  </a:rPr>
                  <a:t>对于</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中每个元素</a:t>
                </a:r>
                <a14:m>
                  <m:oMath xmlns:m="http://schemas.openxmlformats.org/officeDocument/2006/math">
                    <m:sSub>
                      <m:sSubPr>
                        <m:ctrlPr>
                          <a:rPr lang="zh-CN" altLang="zh-CN" sz="2400" b="1" i="1">
                            <a:solidFill>
                              <a:schemeClr val="tx1"/>
                            </a:solidFill>
                            <a:latin typeface="Cambria Math" panose="02040503050406030204" pitchFamily="18" charset="0"/>
                          </a:rPr>
                        </m:ctrlPr>
                      </m:sSubPr>
                      <m:e>
                        <m:r>
                          <a:rPr lang="en-US" altLang="zh-CN" sz="2400" b="1" i="1">
                            <a:solidFill>
                              <a:schemeClr val="tx1"/>
                            </a:solidFill>
                            <a:latin typeface="Cambria Math"/>
                          </a:rPr>
                          <m:t>𝒂</m:t>
                        </m:r>
                      </m:e>
                      <m:sub>
                        <m:r>
                          <a:rPr lang="en-US" altLang="zh-CN" sz="2400" b="1" i="1">
                            <a:solidFill>
                              <a:schemeClr val="tx1"/>
                            </a:solidFill>
                            <a:latin typeface="Cambria Math"/>
                          </a:rPr>
                          <m:t>𝒊</m:t>
                        </m:r>
                      </m:sub>
                    </m:sSub>
                  </m:oMath>
                </a14:m>
                <a:r>
                  <a:rPr lang="zh-CN" altLang="zh-CN" sz="2400" b="1" dirty="0">
                    <a:solidFill>
                      <a:schemeClr val="tx1"/>
                    </a:solidFill>
                  </a:rPr>
                  <a:t>都有</a:t>
                </a:r>
                <a14:m>
                  <m:oMath xmlns:m="http://schemas.openxmlformats.org/officeDocument/2006/math">
                    <m:d>
                      <m:dPr>
                        <m:begChr m:val="|"/>
                        <m:endChr m:val="|"/>
                        <m:ctrlPr>
                          <a:rPr lang="zh-CN" altLang="zh-CN" sz="2400" b="1" i="1" smtClean="0">
                            <a:solidFill>
                              <a:srgbClr val="0000FF"/>
                            </a:solidFill>
                            <a:latin typeface="Cambria Math" panose="02040503050406030204" pitchFamily="18" charset="0"/>
                          </a:rPr>
                        </m:ctrlPr>
                      </m:dPr>
                      <m:e>
                        <m:r>
                          <a:rPr lang="en-US" altLang="zh-CN" sz="2400" b="1" i="1">
                            <a:solidFill>
                              <a:srgbClr val="0000FF"/>
                            </a:solidFill>
                            <a:latin typeface="Cambria Math"/>
                          </a:rPr>
                          <m:t>𝑩</m:t>
                        </m:r>
                      </m:e>
                    </m:d>
                    <m:r>
                      <a:rPr lang="en-US" altLang="zh-CN" sz="2400" b="1" i="1">
                        <a:solidFill>
                          <a:srgbClr val="0000FF"/>
                        </a:solidFill>
                        <a:latin typeface="Cambria Math"/>
                      </a:rPr>
                      <m:t>=</m:t>
                    </m:r>
                    <m:r>
                      <a:rPr lang="en-US" altLang="zh-CN" sz="2400" b="1" i="1">
                        <a:solidFill>
                          <a:srgbClr val="0000FF"/>
                        </a:solidFill>
                        <a:latin typeface="Cambria Math"/>
                      </a:rPr>
                      <m:t>𝒎</m:t>
                    </m:r>
                  </m:oMath>
                </a14:m>
                <a:r>
                  <a:rPr lang="zh-CN" altLang="zh-CN" sz="2400" b="1" dirty="0">
                    <a:solidFill>
                      <a:srgbClr val="0000FF"/>
                    </a:solidFill>
                  </a:rPr>
                  <a:t>种选择</a:t>
                </a:r>
                <a14:m>
                  <m:oMath xmlns:m="http://schemas.openxmlformats.org/officeDocument/2006/math">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𝒃</m:t>
                        </m:r>
                      </m:e>
                      <m:sub>
                        <m:sSub>
                          <m:sSubPr>
                            <m:ctrlPr>
                              <a:rPr lang="zh-CN" altLang="zh-CN" sz="2400" b="1" i="1">
                                <a:solidFill>
                                  <a:srgbClr val="0000FF"/>
                                </a:solidFill>
                                <a:latin typeface="Cambria Math" panose="02040503050406030204" pitchFamily="18" charset="0"/>
                              </a:rPr>
                            </m:ctrlPr>
                          </m:sSubPr>
                          <m:e>
                            <m:r>
                              <a:rPr lang="en-US" altLang="zh-CN" sz="2400" b="1" i="1">
                                <a:solidFill>
                                  <a:srgbClr val="0000FF"/>
                                </a:solidFill>
                                <a:latin typeface="Cambria Math"/>
                              </a:rPr>
                              <m:t>𝒎</m:t>
                            </m:r>
                          </m:e>
                          <m:sub>
                            <m:r>
                              <a:rPr lang="en-US" altLang="zh-CN" sz="2400" b="1" i="1">
                                <a:solidFill>
                                  <a:srgbClr val="0000FF"/>
                                </a:solidFill>
                                <a:latin typeface="Cambria Math"/>
                              </a:rPr>
                              <m:t>𝒊</m:t>
                            </m:r>
                          </m:sub>
                        </m:sSub>
                      </m:sub>
                    </m:sSub>
                  </m:oMath>
                </a14:m>
                <a:r>
                  <a:rPr lang="zh-CN" altLang="zh-CN" sz="2400" b="1" dirty="0">
                    <a:solidFill>
                      <a:srgbClr val="0000FF"/>
                    </a:solidFill>
                  </a:rPr>
                  <a:t>的方式</a:t>
                </a:r>
                <a:r>
                  <a:rPr lang="zh-CN" altLang="en-US" sz="2400" b="1" dirty="0">
                    <a:solidFill>
                      <a:srgbClr val="0000FF"/>
                    </a:solidFill>
                  </a:rPr>
                  <a:t>与之对应</a:t>
                </a:r>
                <a:r>
                  <a:rPr lang="zh-CN" altLang="zh-CN" sz="2400" b="1" dirty="0">
                    <a:solidFill>
                      <a:schemeClr val="tx1"/>
                    </a:solidFill>
                  </a:rPr>
                  <a:t>。</a:t>
                </a:r>
                <a14:m>
                  <m:oMath xmlns:m="http://schemas.openxmlformats.org/officeDocument/2006/math">
                    <m:r>
                      <a:rPr lang="zh-CN" altLang="zh-CN" sz="2400" b="1">
                        <a:solidFill>
                          <a:schemeClr val="tx1"/>
                        </a:solidFill>
                        <a:latin typeface="Cambria Math"/>
                      </a:rPr>
                      <m:t>集合</m:t>
                    </m:r>
                    <m:r>
                      <a:rPr lang="en-US" altLang="zh-CN" sz="2400" b="1" i="1">
                        <a:solidFill>
                          <a:schemeClr val="tx1"/>
                        </a:solidFill>
                        <a:latin typeface="Cambria Math"/>
                      </a:rPr>
                      <m:t>𝑨</m:t>
                    </m:r>
                  </m:oMath>
                </a14:m>
                <a:r>
                  <a:rPr lang="zh-CN" altLang="zh-CN" sz="2400" b="1" dirty="0">
                    <a:solidFill>
                      <a:schemeClr val="tx1"/>
                    </a:solidFill>
                  </a:rPr>
                  <a:t>中共有</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𝑨</m:t>
                        </m:r>
                      </m:e>
                    </m:d>
                    <m:r>
                      <a:rPr lang="en-US" altLang="zh-CN" sz="2400" b="1" i="1">
                        <a:solidFill>
                          <a:schemeClr val="tx1"/>
                        </a:solidFill>
                        <a:latin typeface="Cambria Math"/>
                      </a:rPr>
                      <m:t>=</m:t>
                    </m:r>
                    <m:r>
                      <a:rPr lang="en-US" altLang="zh-CN" sz="2400" b="1" i="1">
                        <a:solidFill>
                          <a:schemeClr val="tx1"/>
                        </a:solidFill>
                        <a:latin typeface="Cambria Math"/>
                      </a:rPr>
                      <m:t>𝒏</m:t>
                    </m:r>
                    <m:r>
                      <a:rPr lang="zh-CN" altLang="zh-CN" sz="2400" b="1">
                        <a:solidFill>
                          <a:schemeClr val="tx1"/>
                        </a:solidFill>
                        <a:latin typeface="Cambria Math"/>
                      </a:rPr>
                      <m:t>个</m:t>
                    </m:r>
                  </m:oMath>
                </a14:m>
                <a:r>
                  <a:rPr lang="zh-CN" altLang="zh-CN" sz="2400" b="1" dirty="0">
                    <a:solidFill>
                      <a:schemeClr val="tx1"/>
                    </a:solidFill>
                  </a:rPr>
                  <a:t>元素，</a:t>
                </a:r>
                <a:r>
                  <a:rPr lang="zh-CN" altLang="en-US" sz="2400" b="1" dirty="0">
                    <a:solidFill>
                      <a:schemeClr val="tx1"/>
                    </a:solidFill>
                  </a:rPr>
                  <a:t>由</a:t>
                </a:r>
                <a:r>
                  <a:rPr lang="zh-CN" altLang="zh-CN" sz="2400" b="1" dirty="0">
                    <a:solidFill>
                      <a:srgbClr val="0000FF"/>
                    </a:solidFill>
                  </a:rPr>
                  <a:t>乘法原理</a:t>
                </a:r>
                <a:r>
                  <a:rPr lang="zh-CN" altLang="zh-CN" sz="2400" b="1" dirty="0">
                    <a:solidFill>
                      <a:schemeClr val="tx1"/>
                    </a:solidFill>
                  </a:rPr>
                  <a:t>得到组合数为</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𝒎</m:t>
                        </m:r>
                      </m:e>
                      <m:sup>
                        <m:r>
                          <a:rPr lang="en-US" altLang="zh-CN" sz="2400" b="1" i="1">
                            <a:solidFill>
                              <a:schemeClr val="tx1"/>
                            </a:solidFill>
                            <a:latin typeface="Cambria Math"/>
                          </a:rPr>
                          <m:t>𝒏</m:t>
                        </m:r>
                      </m:sup>
                    </m:sSup>
                  </m:oMath>
                </a14:m>
                <a:r>
                  <a:rPr lang="zh-CN" altLang="zh-CN" sz="2400" b="1" dirty="0">
                    <a:solidFill>
                      <a:schemeClr val="tx1"/>
                    </a:solidFill>
                  </a:rPr>
                  <a:t>或</a:t>
                </a:r>
                <a14:m>
                  <m:oMath xmlns:m="http://schemas.openxmlformats.org/officeDocument/2006/math">
                    <m:sSup>
                      <m:sSupPr>
                        <m:ctrlPr>
                          <a:rPr lang="zh-CN" altLang="zh-CN" sz="2400" b="1" i="1">
                            <a:solidFill>
                              <a:schemeClr val="tx1"/>
                            </a:solidFill>
                            <a:latin typeface="Cambria Math" panose="02040503050406030204" pitchFamily="18" charset="0"/>
                          </a:rPr>
                        </m:ctrlPr>
                      </m:sSupPr>
                      <m:e>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𝑩</m:t>
                            </m:r>
                          </m:e>
                        </m:d>
                      </m:e>
                      <m:sup>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𝑨</m:t>
                            </m:r>
                          </m:e>
                        </m:d>
                      </m:sup>
                    </m:sSup>
                    <m:r>
                      <a:rPr lang="zh-CN" altLang="zh-CN" sz="2400" b="1">
                        <a:solidFill>
                          <a:schemeClr val="tx1"/>
                        </a:solidFill>
                        <a:latin typeface="Cambria Math"/>
                      </a:rPr>
                      <m:t>种</m:t>
                    </m:r>
                  </m:oMath>
                </a14:m>
                <a:r>
                  <a:rPr lang="zh-CN" altLang="zh-CN" sz="2400" b="1" dirty="0">
                    <a:solidFill>
                      <a:schemeClr val="tx1"/>
                    </a:solidFill>
                  </a:rPr>
                  <a:t>。即</a:t>
                </a:r>
                <a14:m>
                  <m:oMath xmlns:m="http://schemas.openxmlformats.org/officeDocument/2006/math">
                    <m:r>
                      <a:rPr lang="zh-CN" altLang="zh-CN" sz="2400" b="1">
                        <a:solidFill>
                          <a:schemeClr val="tx1"/>
                        </a:solidFill>
                        <a:latin typeface="Cambria Math"/>
                      </a:rPr>
                      <m:t>从</m:t>
                    </m:r>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的不同函数一共</a:t>
                </a:r>
                <a:r>
                  <a:rPr lang="zh-CN" altLang="zh-CN" sz="2400" b="1" dirty="0">
                    <a:solidFill>
                      <a:srgbClr val="0000FF"/>
                    </a:solidFill>
                  </a:rPr>
                  <a:t>有</a:t>
                </a:r>
                <a14:m>
                  <m:oMath xmlns:m="http://schemas.openxmlformats.org/officeDocument/2006/math">
                    <m:sSup>
                      <m:sSupPr>
                        <m:ctrlPr>
                          <a:rPr lang="zh-CN" altLang="zh-CN" sz="2400" b="1" i="1">
                            <a:solidFill>
                              <a:srgbClr val="0000FF"/>
                            </a:solidFill>
                            <a:latin typeface="Cambria Math" panose="02040503050406030204" pitchFamily="18" charset="0"/>
                          </a:rPr>
                        </m:ctrlPr>
                      </m:sSupPr>
                      <m:e>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𝑩</m:t>
                            </m:r>
                          </m:e>
                        </m:d>
                      </m:e>
                      <m:sup>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𝑨</m:t>
                            </m:r>
                          </m:e>
                        </m:d>
                      </m:sup>
                    </m:sSup>
                  </m:oMath>
                </a14:m>
                <a:r>
                  <a:rPr lang="zh-CN" altLang="zh-CN" sz="2400" b="1" dirty="0">
                    <a:solidFill>
                      <a:srgbClr val="0000FF"/>
                    </a:solidFill>
                  </a:rPr>
                  <a:t>种</a:t>
                </a:r>
                <a:r>
                  <a:rPr lang="zh-CN" altLang="zh-CN" sz="2400" b="1" dirty="0">
                    <a:solidFill>
                      <a:schemeClr val="tx1"/>
                    </a:solidFill>
                  </a:rPr>
                  <a:t>。</a:t>
                </a:r>
                <a:endParaRPr lang="zh-CN" altLang="en-US" sz="2400" b="1" dirty="0">
                  <a:solidFill>
                    <a:schemeClr val="tx1"/>
                  </a:solidFill>
                </a:endParaRPr>
              </a:p>
            </p:txBody>
          </p:sp>
        </mc:Choice>
        <mc:Fallback xmlns="">
          <p:sp>
            <p:nvSpPr>
              <p:cNvPr id="5" name="TextBox 4"/>
              <p:cNvSpPr txBox="1">
                <a:spLocks noRot="1" noChangeAspect="1" noMove="1" noResize="1" noEditPoints="1" noAdjustHandles="1" noChangeArrowheads="1" noChangeShapeType="1" noTextEdit="1"/>
              </p:cNvSpPr>
              <p:nvPr/>
            </p:nvSpPr>
            <p:spPr>
              <a:xfrm>
                <a:off x="402790" y="3163945"/>
                <a:ext cx="8338419" cy="3039678"/>
              </a:xfrm>
              <a:prstGeom prst="rect">
                <a:avLst/>
              </a:prstGeom>
              <a:blipFill>
                <a:blip r:embed="rId4"/>
                <a:stretch>
                  <a:fillRect l="-1096" t="-200" r="-877" b="-3006"/>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2CE38B9-3329-41A6-AF3E-864111CFC9D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2771"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函数空间的定义</a:t>
            </a:r>
          </a:p>
        </p:txBody>
      </p:sp>
      <p:pic>
        <p:nvPicPr>
          <p:cNvPr id="3277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755576" y="2236900"/>
                <a:ext cx="7895901" cy="3545073"/>
              </a:xfrm>
              <a:prstGeom prst="rect">
                <a:avLst/>
              </a:prstGeom>
              <a:solidFill>
                <a:schemeClr val="accent1"/>
              </a:solidFill>
            </p:spPr>
            <p:txBody>
              <a:bodyPr wrap="square" rtlCol="0">
                <a:spAutoFit/>
              </a:bodyPr>
              <a:lstStyle/>
              <a:p>
                <a:pPr>
                  <a:lnSpc>
                    <a:spcPct val="200000"/>
                  </a:lnSpc>
                </a:pPr>
                <a:r>
                  <a:rPr lang="en-US" altLang="zh-CN" sz="2800" b="1" dirty="0"/>
                  <a:t>   </a:t>
                </a:r>
                <a:r>
                  <a:rPr lang="zh-CN" altLang="zh-CN" sz="2800" b="1" dirty="0"/>
                  <a:t>【定义】</a:t>
                </a:r>
                <a:r>
                  <a:rPr lang="zh-CN" altLang="zh-CN" sz="2800" b="1" dirty="0">
                    <a:solidFill>
                      <a:schemeClr val="tx1"/>
                    </a:solidFill>
                  </a:rPr>
                  <a:t>设</a:t>
                </a:r>
                <a14:m>
                  <m:oMath xmlns:m="http://schemas.openxmlformats.org/officeDocument/2006/math">
                    <m:r>
                      <a:rPr lang="en-US" altLang="zh-CN" sz="2800" b="1" i="1">
                        <a:solidFill>
                          <a:schemeClr val="tx1"/>
                        </a:solidFill>
                        <a:latin typeface="Cambria Math"/>
                      </a:rPr>
                      <m:t>𝑨</m:t>
                    </m:r>
                  </m:oMath>
                </a14:m>
                <a:r>
                  <a:rPr lang="zh-CN" altLang="zh-CN" sz="2800" b="1" dirty="0">
                    <a:solidFill>
                      <a:schemeClr val="tx1"/>
                    </a:solidFill>
                  </a:rPr>
                  <a:t>和</a:t>
                </a:r>
                <a14:m>
                  <m:oMath xmlns:m="http://schemas.openxmlformats.org/officeDocument/2006/math">
                    <m:r>
                      <a:rPr lang="en-US" altLang="zh-CN" sz="2800" b="1" i="1">
                        <a:solidFill>
                          <a:schemeClr val="tx1"/>
                        </a:solidFill>
                        <a:latin typeface="Cambria Math"/>
                      </a:rPr>
                      <m:t>𝑩</m:t>
                    </m:r>
                  </m:oMath>
                </a14:m>
                <a:r>
                  <a:rPr lang="zh-CN" altLang="zh-CN" sz="2800" b="1" dirty="0">
                    <a:solidFill>
                      <a:schemeClr val="tx1"/>
                    </a:solidFill>
                  </a:rPr>
                  <a:t>是任意两个非空集合，将</a:t>
                </a:r>
                <a:r>
                  <a:rPr lang="zh-CN" altLang="en-US" sz="2800" b="1" dirty="0">
                    <a:solidFill>
                      <a:schemeClr val="tx1"/>
                    </a:solidFill>
                  </a:rPr>
                  <a:t>一切</a:t>
                </a:r>
                <a:r>
                  <a:rPr lang="zh-CN" altLang="zh-CN" sz="2800" b="1" dirty="0">
                    <a:solidFill>
                      <a:schemeClr val="tx1"/>
                    </a:solidFill>
                  </a:rPr>
                  <a:t>从</a:t>
                </a:r>
                <a14:m>
                  <m:oMath xmlns:m="http://schemas.openxmlformats.org/officeDocument/2006/math">
                    <m:r>
                      <a:rPr lang="en-US" altLang="zh-CN" sz="2800" b="1" i="1">
                        <a:solidFill>
                          <a:schemeClr val="tx1"/>
                        </a:solidFill>
                        <a:latin typeface="Cambria Math"/>
                      </a:rPr>
                      <m:t>𝑨</m:t>
                    </m:r>
                  </m:oMath>
                </a14:m>
                <a:r>
                  <a:rPr lang="zh-CN" altLang="zh-CN" sz="2800" b="1" dirty="0">
                    <a:solidFill>
                      <a:schemeClr val="tx1"/>
                    </a:solidFill>
                  </a:rPr>
                  <a:t>到</a:t>
                </a:r>
                <a14:m>
                  <m:oMath xmlns:m="http://schemas.openxmlformats.org/officeDocument/2006/math">
                    <m:r>
                      <a:rPr lang="en-US" altLang="zh-CN" sz="2800" b="1" i="1">
                        <a:solidFill>
                          <a:schemeClr val="tx1"/>
                        </a:solidFill>
                        <a:latin typeface="Cambria Math"/>
                      </a:rPr>
                      <m:t>𝑩</m:t>
                    </m:r>
                  </m:oMath>
                </a14:m>
                <a:r>
                  <a:rPr lang="zh-CN" altLang="zh-CN" sz="2800" b="1" dirty="0">
                    <a:solidFill>
                      <a:schemeClr val="tx1"/>
                    </a:solidFill>
                  </a:rPr>
                  <a:t>的函数</a:t>
                </a:r>
                <a:r>
                  <a:rPr lang="zh-CN" altLang="en-US" sz="2800" b="1" dirty="0">
                    <a:solidFill>
                      <a:schemeClr val="tx1"/>
                    </a:solidFill>
                  </a:rPr>
                  <a:t>为元素</a:t>
                </a:r>
                <a:r>
                  <a:rPr lang="zh-CN" altLang="zh-CN" sz="2800" b="1" dirty="0">
                    <a:solidFill>
                      <a:schemeClr val="tx1"/>
                    </a:solidFill>
                  </a:rPr>
                  <a:t>构成的集合称为从</a:t>
                </a:r>
                <a14:m>
                  <m:oMath xmlns:m="http://schemas.openxmlformats.org/officeDocument/2006/math">
                    <m:r>
                      <a:rPr lang="en-US" altLang="zh-CN" sz="2800" b="1" i="1">
                        <a:solidFill>
                          <a:schemeClr val="tx1"/>
                        </a:solidFill>
                        <a:latin typeface="Cambria Math"/>
                      </a:rPr>
                      <m:t>𝑨</m:t>
                    </m:r>
                  </m:oMath>
                </a14:m>
                <a:r>
                  <a:rPr lang="zh-CN" altLang="zh-CN" sz="2800" b="1" dirty="0">
                    <a:solidFill>
                      <a:schemeClr val="tx1"/>
                    </a:solidFill>
                  </a:rPr>
                  <a:t>到</a:t>
                </a:r>
                <a14:m>
                  <m:oMath xmlns:m="http://schemas.openxmlformats.org/officeDocument/2006/math">
                    <m:r>
                      <a:rPr lang="en-US" altLang="zh-CN" sz="2800" b="1" i="1">
                        <a:solidFill>
                          <a:schemeClr val="tx1"/>
                        </a:solidFill>
                        <a:latin typeface="Cambria Math"/>
                      </a:rPr>
                      <m:t>𝑩</m:t>
                    </m:r>
                  </m:oMath>
                </a14:m>
                <a:r>
                  <a:rPr lang="zh-CN" altLang="zh-CN" sz="2800" b="1" dirty="0">
                    <a:solidFill>
                      <a:schemeClr val="tx1"/>
                    </a:solidFill>
                  </a:rPr>
                  <a:t>的</a:t>
                </a:r>
                <a:r>
                  <a:rPr lang="zh-CN" altLang="zh-CN" sz="2800" b="1" dirty="0">
                    <a:solidFill>
                      <a:srgbClr val="0000FF"/>
                    </a:solidFill>
                  </a:rPr>
                  <a:t>函数集</a:t>
                </a:r>
                <a:r>
                  <a:rPr lang="zh-CN" altLang="zh-CN" sz="2800" b="1" dirty="0">
                    <a:solidFill>
                      <a:schemeClr val="tx1"/>
                    </a:solidFill>
                  </a:rPr>
                  <a:t>或</a:t>
                </a:r>
                <a:r>
                  <a:rPr lang="zh-CN" altLang="zh-CN" sz="2800" b="1" dirty="0">
                    <a:solidFill>
                      <a:srgbClr val="0000FF"/>
                    </a:solidFill>
                  </a:rPr>
                  <a:t>函数空间</a:t>
                </a:r>
                <a:r>
                  <a:rPr lang="zh-CN" altLang="zh-CN" sz="2800" b="1" dirty="0">
                    <a:solidFill>
                      <a:schemeClr val="tx1"/>
                    </a:solidFill>
                  </a:rPr>
                  <a:t>，记为</a:t>
                </a:r>
                <a14:m>
                  <m:oMath xmlns:m="http://schemas.openxmlformats.org/officeDocument/2006/math">
                    <m:sSup>
                      <m:sSupPr>
                        <m:ctrlPr>
                          <a:rPr lang="zh-CN" altLang="zh-CN" sz="2800" b="1" i="1" smtClean="0">
                            <a:solidFill>
                              <a:srgbClr val="0000FF"/>
                            </a:solidFill>
                            <a:latin typeface="Cambria Math" panose="02040503050406030204" pitchFamily="18" charset="0"/>
                          </a:rPr>
                        </m:ctrlPr>
                      </m:sSupPr>
                      <m:e>
                        <m:r>
                          <a:rPr lang="en-US" altLang="zh-CN" sz="2800" b="1" i="1">
                            <a:solidFill>
                              <a:srgbClr val="0000FF"/>
                            </a:solidFill>
                            <a:latin typeface="Cambria Math"/>
                          </a:rPr>
                          <m:t>𝑩</m:t>
                        </m:r>
                      </m:e>
                      <m:sup>
                        <m:r>
                          <a:rPr lang="en-US" altLang="zh-CN" sz="2800" b="1" i="1">
                            <a:solidFill>
                              <a:srgbClr val="0000FF"/>
                            </a:solidFill>
                            <a:latin typeface="Cambria Math"/>
                          </a:rPr>
                          <m:t>𝑨</m:t>
                        </m:r>
                      </m:sup>
                    </m:sSup>
                  </m:oMath>
                </a14:m>
                <a:r>
                  <a:rPr lang="zh-CN" altLang="zh-CN" sz="2800" b="1" dirty="0">
                    <a:solidFill>
                      <a:srgbClr val="0000FF"/>
                    </a:solidFill>
                  </a:rPr>
                  <a:t>。即有：</a:t>
                </a:r>
                <a:endParaRPr lang="en-US" altLang="zh-CN" sz="2800" b="1" dirty="0">
                  <a:solidFill>
                    <a:srgbClr val="0000FF"/>
                  </a:solidFill>
                </a:endParaRPr>
              </a:p>
              <a:p>
                <a:pPr>
                  <a:lnSpc>
                    <a:spcPct val="200000"/>
                  </a:lnSpc>
                </a:pPr>
                <a14:m>
                  <m:oMathPara xmlns:m="http://schemas.openxmlformats.org/officeDocument/2006/math">
                    <m:oMathParaPr>
                      <m:jc m:val="centerGroup"/>
                    </m:oMathParaPr>
                    <m:oMath xmlns:m="http://schemas.openxmlformats.org/officeDocument/2006/math">
                      <m:r>
                        <a:rPr lang="zh-CN" altLang="zh-CN" sz="2800" b="1">
                          <a:solidFill>
                            <a:srgbClr val="0000FF"/>
                          </a:solidFill>
                          <a:latin typeface="Cambria Math"/>
                        </a:rPr>
                        <m:t> </m:t>
                      </m:r>
                      <m:sSup>
                        <m:sSupPr>
                          <m:ctrlPr>
                            <a:rPr lang="zh-CN" altLang="zh-CN" sz="2800" b="1" i="1">
                              <a:solidFill>
                                <a:srgbClr val="0000FF"/>
                              </a:solidFill>
                              <a:latin typeface="Cambria Math" panose="02040503050406030204" pitchFamily="18" charset="0"/>
                            </a:rPr>
                          </m:ctrlPr>
                        </m:sSupPr>
                        <m:e>
                          <m:r>
                            <a:rPr lang="en-US" altLang="zh-CN" sz="2800" b="1" i="1">
                              <a:solidFill>
                                <a:srgbClr val="0000FF"/>
                              </a:solidFill>
                              <a:latin typeface="Cambria Math"/>
                            </a:rPr>
                            <m:t>𝑩</m:t>
                          </m:r>
                        </m:e>
                        <m:sup>
                          <m:r>
                            <a:rPr lang="en-US" altLang="zh-CN" sz="2800" b="1" i="1">
                              <a:solidFill>
                                <a:srgbClr val="0000FF"/>
                              </a:solidFill>
                              <a:latin typeface="Cambria Math"/>
                            </a:rPr>
                            <m:t>𝑨</m:t>
                          </m:r>
                        </m:sup>
                      </m:sSup>
                      <m:r>
                        <a:rPr lang="en-US" altLang="zh-CN" sz="2800" b="1" i="1">
                          <a:solidFill>
                            <a:srgbClr val="0000FF"/>
                          </a:solidFill>
                          <a:latin typeface="Cambria Math"/>
                        </a:rPr>
                        <m:t>={</m:t>
                      </m:r>
                      <m:r>
                        <a:rPr lang="en-US" altLang="zh-CN" sz="2800" b="1" i="1">
                          <a:solidFill>
                            <a:srgbClr val="0000FF"/>
                          </a:solidFill>
                          <a:latin typeface="Cambria Math"/>
                        </a:rPr>
                        <m:t>𝒇</m:t>
                      </m:r>
                      <m:r>
                        <a:rPr lang="en-US" altLang="zh-CN" sz="2800" b="1" i="1">
                          <a:solidFill>
                            <a:srgbClr val="0000FF"/>
                          </a:solidFill>
                          <a:latin typeface="Cambria Math"/>
                        </a:rPr>
                        <m:t>|</m:t>
                      </m:r>
                      <m:r>
                        <a:rPr lang="en-US" altLang="zh-CN" sz="2800" b="1" i="1">
                          <a:solidFill>
                            <a:srgbClr val="0000FF"/>
                          </a:solidFill>
                          <a:latin typeface="Cambria Math"/>
                        </a:rPr>
                        <m:t>𝒇</m:t>
                      </m:r>
                      <m:r>
                        <a:rPr lang="zh-CN" altLang="zh-CN" sz="2800" b="1">
                          <a:solidFill>
                            <a:srgbClr val="0000FF"/>
                          </a:solidFill>
                          <a:latin typeface="Cambria Math"/>
                        </a:rPr>
                        <m:t>：</m:t>
                      </m:r>
                      <m:r>
                        <a:rPr lang="en-US" altLang="zh-CN" sz="2800" b="1" i="1">
                          <a:solidFill>
                            <a:srgbClr val="0000FF"/>
                          </a:solidFill>
                          <a:latin typeface="Cambria Math"/>
                        </a:rPr>
                        <m:t>𝑨</m:t>
                      </m:r>
                      <m:r>
                        <a:rPr lang="en-US" altLang="zh-CN" sz="2800" b="1" i="1">
                          <a:solidFill>
                            <a:srgbClr val="0000FF"/>
                          </a:solidFill>
                          <a:latin typeface="Cambria Math"/>
                        </a:rPr>
                        <m:t>→</m:t>
                      </m:r>
                      <m:r>
                        <a:rPr lang="en-US" altLang="zh-CN" sz="2800" b="1" i="1">
                          <a:solidFill>
                            <a:srgbClr val="0000FF"/>
                          </a:solidFill>
                          <a:latin typeface="Cambria Math"/>
                        </a:rPr>
                        <m:t>𝑩</m:t>
                      </m:r>
                      <m:r>
                        <a:rPr lang="en-US" altLang="zh-CN" sz="2800" b="1" i="1">
                          <a:solidFill>
                            <a:srgbClr val="0000FF"/>
                          </a:solidFill>
                          <a:latin typeface="Cambria Math"/>
                        </a:rPr>
                        <m:t>}</m:t>
                      </m:r>
                    </m:oMath>
                  </m:oMathPara>
                </a14:m>
                <a:endParaRPr lang="zh-CN" altLang="zh-CN" sz="28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755576" y="2236900"/>
                <a:ext cx="7895901" cy="3545073"/>
              </a:xfrm>
              <a:prstGeom prst="rect">
                <a:avLst/>
              </a:prstGeom>
              <a:blipFill>
                <a:blip r:embed="rId3"/>
                <a:stretch>
                  <a:fillRect l="-1622"/>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BB094F-0C73-4E53-AB96-1E1AE23DD02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5843"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3584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5845" name="Picture 6" descr="QQ截图2015110420473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156" y="1804194"/>
            <a:ext cx="8675688" cy="447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1570178"/>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2CE38B9-3329-41A6-AF3E-864111CFC9D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2771" name="Text Box 2"/>
          <p:cNvSpPr txBox="1">
            <a:spLocks noChangeArrowheads="1"/>
          </p:cNvSpPr>
          <p:nvPr/>
        </p:nvSpPr>
        <p:spPr bwMode="auto">
          <a:xfrm>
            <a:off x="1331912" y="692696"/>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例 题</a:t>
            </a:r>
          </a:p>
        </p:txBody>
      </p:sp>
      <p:pic>
        <p:nvPicPr>
          <p:cNvPr id="3277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B0678F1A-7094-4B0D-9399-D8DE9A940599}"/>
                  </a:ext>
                </a:extLst>
              </p:cNvPr>
              <p:cNvSpPr/>
              <p:nvPr/>
            </p:nvSpPr>
            <p:spPr>
              <a:xfrm>
                <a:off x="395536" y="1696944"/>
                <a:ext cx="8280920" cy="4576702"/>
              </a:xfrm>
              <a:prstGeom prst="rect">
                <a:avLst/>
              </a:prstGeom>
              <a:solidFill>
                <a:schemeClr val="accent6">
                  <a:lumMod val="75000"/>
                </a:schemeClr>
              </a:solidFill>
            </p:spPr>
            <p:txBody>
              <a:bodyPr wrap="square">
                <a:spAutoFit/>
              </a:bodyPr>
              <a:lstStyle/>
              <a:p>
                <a:pPr indent="267335" algn="just">
                  <a:lnSpc>
                    <a:spcPct val="150000"/>
                  </a:lnSpc>
                  <a:spcAft>
                    <a:spcPts val="0"/>
                  </a:spcAft>
                </a:pPr>
                <a:r>
                  <a:rPr lang="en-US"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a:t>
                </a:r>
                <a:r>
                  <a:rPr lang="en-US"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𝒂</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𝒃</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𝒄</m:t>
                    </m:r>
                    <m:r>
                      <a:rPr lang="en-US" altLang="zh-CN" sz="2800" b="1" i="1" kern="100">
                        <a:solidFill>
                          <a:schemeClr val="bg1"/>
                        </a:solidFill>
                        <a:latin typeface="Cambria Math" panose="02040503050406030204" pitchFamily="18" charset="0"/>
                        <a:ea typeface="宋体" panose="02010600030101010101" pitchFamily="2" charset="-122"/>
                      </a:rPr>
                      <m:t>}</m:t>
                    </m:r>
                  </m:oMath>
                </a14:m>
                <a:r>
                  <a:rPr lang="en-US" altLang="zh-CN" sz="28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 </m:t>
                    </m:r>
                    <m:r>
                      <a:rPr lang="en-US" altLang="zh-CN" sz="2800" b="1" i="1" kern="100">
                        <a:solidFill>
                          <a:schemeClr val="bg1"/>
                        </a:solidFill>
                        <a:latin typeface="Cambria Math" panose="02040503050406030204" pitchFamily="18" charset="0"/>
                        <a:ea typeface="宋体" panose="02010600030101010101" pitchFamily="2" charset="-122"/>
                      </a:rPr>
                      <m:t>𝑩</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𝜶</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𝜷</m:t>
                    </m:r>
                    <m:r>
                      <a:rPr lang="en-US" altLang="zh-CN" sz="2800" b="1" i="1" kern="100">
                        <a:solidFill>
                          <a:schemeClr val="bg1"/>
                        </a:solidFill>
                        <a:latin typeface="Cambria Math" panose="02040503050406030204" pitchFamily="18" charset="0"/>
                        <a:ea typeface="宋体" panose="02010600030101010101" pitchFamily="2" charset="-122"/>
                      </a:rPr>
                      <m:t>}</m:t>
                    </m:r>
                  </m:oMath>
                </a14:m>
                <a:r>
                  <a:rPr lang="en-US" altLang="zh-CN" sz="28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求</a:t>
                </a:r>
                <a14:m>
                  <m:oMath xmlns:m="http://schemas.openxmlformats.org/officeDocument/2006/math">
                    <m:sSup>
                      <m:sSupPr>
                        <m:ctrlPr>
                          <a:rPr lang="zh-CN" altLang="zh-CN" sz="28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e>
                      <m:sup>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p>
                    </m:sSup>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7335"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【解】由于</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7335"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𝑩</m:t>
                      </m:r>
                      <m:r>
                        <a:rPr lang="en-US" altLang="zh-CN" sz="28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𝒂</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𝜶</m:t>
                          </m:r>
                        </m:e>
                      </m:d>
                      <m:r>
                        <a:rPr lang="en-US" altLang="zh-CN" sz="28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𝒂</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𝜷</m:t>
                          </m:r>
                        </m:e>
                      </m:d>
                      <m:r>
                        <a:rPr lang="en-US" altLang="zh-CN" sz="28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𝒃</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𝜶</m:t>
                          </m:r>
                        </m:e>
                      </m:d>
                      <m:r>
                        <a:rPr lang="en-US" altLang="zh-CN" sz="28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𝒃</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𝜷</m:t>
                          </m:r>
                        </m:e>
                      </m:d>
                      <m:r>
                        <a:rPr lang="en-US" altLang="zh-CN" sz="28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𝒄</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𝜶</m:t>
                          </m:r>
                        </m:e>
                      </m:d>
                      <m:r>
                        <a:rPr lang="en-US" altLang="zh-CN" sz="28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𝒄</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𝜷</m:t>
                          </m:r>
                        </m:e>
                      </m:d>
                      <m:r>
                        <a:rPr lang="en-US" altLang="zh-CN" sz="2800" b="1" i="1" kern="100">
                          <a:solidFill>
                            <a:schemeClr val="bg1"/>
                          </a:solidFill>
                          <a:latin typeface="Cambria Math" panose="02040503050406030204" pitchFamily="18" charset="0"/>
                          <a:ea typeface="宋体" panose="02010600030101010101" pitchFamily="2" charset="-122"/>
                        </a:rPr>
                        <m:t>}</m:t>
                      </m:r>
                    </m:oMath>
                  </m:oMathPara>
                </a14:m>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7335" algn="just">
                  <a:lnSpc>
                    <a:spcPct val="150000"/>
                  </a:lnSpc>
                  <a:spcAft>
                    <a:spcPts val="0"/>
                  </a:spcAft>
                </a:pP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由于</a:t>
                </a:r>
                <a14:m>
                  <m:oMath xmlns:m="http://schemas.openxmlformats.org/officeDocument/2006/math">
                    <m:d>
                      <m:dPr>
                        <m:begChr m:val="|"/>
                        <m:endChr m:val="|"/>
                        <m:ctrlPr>
                          <a:rPr lang="zh-CN" altLang="zh-CN" sz="2800" b="1" i="1" kern="100" smtClean="0">
                            <a:solidFill>
                              <a:srgbClr val="FFFF00"/>
                            </a:solidFill>
                            <a:latin typeface="Cambria Math" panose="02040503050406030204" pitchFamily="18" charset="0"/>
                            <a:ea typeface="Cambria Math" panose="02040503050406030204" pitchFamily="18" charset="0"/>
                          </a:rPr>
                        </m:ctrlPr>
                      </m:dPr>
                      <m:e>
                        <m:r>
                          <a:rPr lang="en-US" altLang="zh-CN" sz="2800" b="1" i="1" kern="100">
                            <a:solidFill>
                              <a:srgbClr val="FFFF00"/>
                            </a:solidFill>
                            <a:latin typeface="Cambria Math" panose="02040503050406030204" pitchFamily="18" charset="0"/>
                            <a:ea typeface="宋体" panose="02010600030101010101" pitchFamily="2" charset="-122"/>
                          </a:rPr>
                          <m:t>𝑨</m:t>
                        </m:r>
                        <m:r>
                          <a:rPr lang="en-US" altLang="zh-CN" sz="2800" b="1" i="1" kern="100">
                            <a:solidFill>
                              <a:srgbClr val="FFFF00"/>
                            </a:solidFill>
                            <a:latin typeface="Cambria Math" panose="02040503050406030204" pitchFamily="18" charset="0"/>
                            <a:ea typeface="宋体" panose="02010600030101010101" pitchFamily="2" charset="-122"/>
                          </a:rPr>
                          <m:t>×</m:t>
                        </m:r>
                        <m:r>
                          <a:rPr lang="en-US" altLang="zh-CN" sz="2800" b="1" i="1" kern="100">
                            <a:solidFill>
                              <a:srgbClr val="FFFF00"/>
                            </a:solidFill>
                            <a:latin typeface="Cambria Math" panose="02040503050406030204" pitchFamily="18" charset="0"/>
                            <a:ea typeface="宋体" panose="02010600030101010101" pitchFamily="2" charset="-122"/>
                          </a:rPr>
                          <m:t>𝑩</m:t>
                        </m:r>
                      </m:e>
                    </m:d>
                    <m:r>
                      <a:rPr lang="en-US" altLang="zh-CN" sz="28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𝟔</m:t>
                    </m:r>
                    <m:r>
                      <a:rPr lang="zh-CN" altLang="en-US" sz="28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𝑩</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共有</a:t>
                </a:r>
                <a14:m>
                  <m:oMath xmlns:m="http://schemas.openxmlformats.org/officeDocument/2006/math">
                    <m:sSup>
                      <m:sSupPr>
                        <m:ctrlPr>
                          <a:rPr lang="zh-CN" altLang="zh-CN" sz="28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e>
                      <m:sup>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𝟔</m:t>
                        </m:r>
                      </m:sup>
                    </m:sSup>
                    <m:r>
                      <a:rPr lang="en-US" altLang="zh-CN" sz="28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𝟔𝟒</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个不同子集合，即</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共有</a:t>
                </a:r>
                <a14:m>
                  <m:oMath xmlns:m="http://schemas.openxmlformats.org/officeDocument/2006/math">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𝟔𝟒</m:t>
                    </m:r>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不同的关系</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7335"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但是</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其中能构成函数的关系只有</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7335" algn="ctr">
                  <a:lnSpc>
                    <a:spcPct val="150000"/>
                  </a:lnSpc>
                  <a:spcAft>
                    <a:spcPts val="0"/>
                  </a:spcAft>
                </a:pPr>
                <a14:m>
                  <m:oMath xmlns:m="http://schemas.openxmlformats.org/officeDocument/2006/math">
                    <m:sSup>
                      <m:sSupPr>
                        <m:ctrlPr>
                          <a:rPr lang="zh-CN" altLang="zh-CN" sz="2800" b="1" i="1" kern="100">
                            <a:solidFill>
                              <a:schemeClr val="bg1"/>
                            </a:solidFill>
                            <a:latin typeface="Cambria Math" panose="02040503050406030204" pitchFamily="18" charset="0"/>
                            <a:ea typeface="Cambria Math" panose="02040503050406030204" pitchFamily="18" charset="0"/>
                          </a:rPr>
                        </m:ctrlPr>
                      </m:sSupPr>
                      <m:e>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𝑩</m:t>
                            </m:r>
                          </m:e>
                        </m:d>
                      </m:e>
                      <m:sup>
                        <m:d>
                          <m:dPr>
                            <m:begChr m:val="|"/>
                            <m:endChr m:val="|"/>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𝑨</m:t>
                            </m:r>
                          </m:e>
                        </m:d>
                      </m:sup>
                    </m:sSup>
                    <m:r>
                      <a:rPr lang="en-US" altLang="zh-CN" sz="2800" b="1" i="1" kern="100">
                        <a:solidFill>
                          <a:schemeClr val="bg1"/>
                        </a:solidFill>
                        <a:latin typeface="Cambria Math" panose="02040503050406030204" pitchFamily="18" charset="0"/>
                        <a:ea typeface="宋体" panose="02010600030101010101" pitchFamily="2" charset="-122"/>
                      </a:rPr>
                      <m:t>=</m:t>
                    </m:r>
                    <m:sSup>
                      <m:sSupPr>
                        <m:ctrlPr>
                          <a:rPr lang="zh-CN" altLang="zh-CN" sz="28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e>
                      <m:sup>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𝟑</m:t>
                        </m:r>
                      </m:sup>
                    </m:sSup>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𝟖</m:t>
                    </m:r>
                  </m:oMath>
                </a14:m>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种</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B0678F1A-7094-4B0D-9399-D8DE9A940599}"/>
                  </a:ext>
                </a:extLst>
              </p:cNvPr>
              <p:cNvSpPr>
                <a:spLocks noRot="1" noChangeAspect="1" noMove="1" noResize="1" noEditPoints="1" noAdjustHandles="1" noChangeArrowheads="1" noChangeShapeType="1" noTextEdit="1"/>
              </p:cNvSpPr>
              <p:nvPr/>
            </p:nvSpPr>
            <p:spPr>
              <a:xfrm>
                <a:off x="395536" y="1696944"/>
                <a:ext cx="8280920" cy="4576702"/>
              </a:xfrm>
              <a:prstGeom prst="rect">
                <a:avLst/>
              </a:prstGeom>
              <a:blipFill>
                <a:blip r:embed="rId3"/>
                <a:stretch>
                  <a:fillRect l="-1546" r="-1473" b="-266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47341147"/>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2CE38B9-3329-41A6-AF3E-864111CFC9D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2771" name="Text Box 2"/>
          <p:cNvSpPr txBox="1">
            <a:spLocks noChangeArrowheads="1"/>
          </p:cNvSpPr>
          <p:nvPr/>
        </p:nvSpPr>
        <p:spPr bwMode="auto">
          <a:xfrm>
            <a:off x="1331912" y="692696"/>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例 题</a:t>
            </a:r>
          </a:p>
        </p:txBody>
      </p:sp>
      <p:pic>
        <p:nvPicPr>
          <p:cNvPr id="3277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12AAA31-495F-4F45-B811-D8742BD0CECA}"/>
                  </a:ext>
                </a:extLst>
              </p:cNvPr>
              <p:cNvSpPr/>
              <p:nvPr/>
            </p:nvSpPr>
            <p:spPr>
              <a:xfrm>
                <a:off x="359531" y="2245231"/>
                <a:ext cx="8424936" cy="3603487"/>
              </a:xfrm>
              <a:prstGeom prst="rect">
                <a:avLst/>
              </a:prstGeom>
              <a:solidFill>
                <a:schemeClr val="accent6">
                  <a:lumMod val="75000"/>
                </a:schemeClr>
              </a:solidFill>
            </p:spPr>
            <p:txBody>
              <a:bodyPr wrap="square">
                <a:spAutoFit/>
              </a:bodyPr>
              <a:lstStyle/>
              <a:p>
                <a:pPr indent="267335" algn="ctr">
                  <a:lnSpc>
                    <a:spcPct val="150000"/>
                  </a:lnSpc>
                  <a:spcAft>
                    <a:spcPts val="0"/>
                  </a:spcAft>
                </a:pPr>
                <a14:m>
                  <m:oMath xmlns:m="http://schemas.openxmlformats.org/officeDocument/2006/math">
                    <m:sSub>
                      <m:sSubPr>
                        <m:ctrlPr>
                          <a:rPr lang="zh-CN" altLang="zh-CN" sz="2400" b="1" i="1" kern="100" smtClean="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𝟎</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7335" algn="ctr">
                  <a:lnSpc>
                    <a:spcPct val="150000"/>
                  </a:lnSpc>
                  <a:spcAft>
                    <a:spcPts val="0"/>
                  </a:spcAft>
                </a:pP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𝟑</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7335" algn="ctr">
                  <a:lnSpc>
                    <a:spcPct val="150000"/>
                  </a:lnSpc>
                  <a:spcAft>
                    <a:spcPts val="0"/>
                  </a:spcAft>
                </a:pP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𝟒</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𝟓</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7335" algn="ctr">
                  <a:lnSpc>
                    <a:spcPct val="150000"/>
                  </a:lnSpc>
                  <a:spcAft>
                    <a:spcPts val="0"/>
                  </a:spcAft>
                </a:pP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𝟔</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𝜶</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𝟕</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𝜷</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3375"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以上</a:t>
                </a:r>
                <a:r>
                  <a:rPr lang="en-US"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8</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个函数</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即为所求，即有</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3375" algn="just">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altLang="zh-CN" sz="28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p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𝑩</m:t>
                          </m:r>
                        </m:e>
                        <m:sup>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𝑨</m:t>
                          </m:r>
                        </m:sup>
                      </m:sSup>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𝟎</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𝟑</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𝟒</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𝟓</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𝟔</m:t>
                          </m:r>
                        </m:sub>
                      </m:sSub>
                      <m:r>
                        <a:rPr lang="en-US" altLang="zh-CN" sz="2800" b="1" i="1" kern="100">
                          <a:solidFill>
                            <a:srgbClr val="FFFF00"/>
                          </a:solidFill>
                          <a:latin typeface="Cambria Math" panose="02040503050406030204" pitchFamily="18" charset="0"/>
                          <a:ea typeface="宋体" panose="02010600030101010101" pitchFamily="2" charset="-122"/>
                        </a:rPr>
                        <m:t>,</m:t>
                      </m:r>
                      <m:sSub>
                        <m:sSubPr>
                          <m:ctrlPr>
                            <a:rPr lang="zh-CN" altLang="zh-CN" sz="28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𝒇</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𝟕</m:t>
                          </m:r>
                        </m:sub>
                      </m:sSub>
                      <m:r>
                        <a:rPr lang="en-US" altLang="zh-CN" sz="2800" b="1" i="1" kern="100">
                          <a:solidFill>
                            <a:srgbClr val="FFFF00"/>
                          </a:solidFill>
                          <a:latin typeface="Cambria Math" panose="02040503050406030204" pitchFamily="18" charset="0"/>
                          <a:ea typeface="宋体" panose="02010600030101010101" pitchFamily="2" charset="-122"/>
                        </a:rPr>
                        <m:t>}</m:t>
                      </m:r>
                    </m:oMath>
                  </m:oMathPara>
                </a14:m>
                <a:endParaRPr lang="zh-CN" altLang="zh-CN" sz="2800" b="1" kern="100" dirty="0">
                  <a:solidFill>
                    <a:srgbClr val="FFFF00"/>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412AAA31-495F-4F45-B811-D8742BD0CECA}"/>
                  </a:ext>
                </a:extLst>
              </p:cNvPr>
              <p:cNvSpPr>
                <a:spLocks noRot="1" noChangeAspect="1" noMove="1" noResize="1" noEditPoints="1" noAdjustHandles="1" noChangeArrowheads="1" noChangeShapeType="1" noTextEdit="1"/>
              </p:cNvSpPr>
              <p:nvPr/>
            </p:nvSpPr>
            <p:spPr>
              <a:xfrm>
                <a:off x="359531" y="2245231"/>
                <a:ext cx="8424936" cy="3603487"/>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86974116"/>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3180CE4-3350-45FC-9A24-D646E1377A51}"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4819"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函数的特点</a:t>
            </a:r>
          </a:p>
        </p:txBody>
      </p:sp>
      <p:pic>
        <p:nvPicPr>
          <p:cNvPr id="3482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矩形 3"/>
              <p:cNvSpPr/>
              <p:nvPr/>
            </p:nvSpPr>
            <p:spPr>
              <a:xfrm>
                <a:off x="467544" y="2060848"/>
                <a:ext cx="8496944" cy="4010713"/>
              </a:xfrm>
              <a:prstGeom prst="rect">
                <a:avLst/>
              </a:prstGeom>
              <a:solidFill>
                <a:schemeClr val="accent6">
                  <a:lumMod val="75000"/>
                </a:schemeClr>
              </a:solidFill>
            </p:spPr>
            <p:txBody>
              <a:bodyPr wrap="square">
                <a:spAutoFit/>
              </a:bodyPr>
              <a:lstStyle/>
              <a:p>
                <a:pPr>
                  <a:lnSpc>
                    <a:spcPts val="4200"/>
                  </a:lnSpc>
                  <a:spcBef>
                    <a:spcPts val="600"/>
                  </a:spcBef>
                </a:pPr>
                <a:r>
                  <a:rPr lang="zh-CN" altLang="zh-CN" sz="2400" b="1" dirty="0">
                    <a:solidFill>
                      <a:schemeClr val="bg1"/>
                    </a:solidFill>
                  </a:rPr>
                  <a:t>当</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为有限集时，</a:t>
                </a:r>
                <a:r>
                  <a:rPr lang="zh-CN" altLang="zh-CN" sz="2400" b="1" dirty="0">
                    <a:solidFill>
                      <a:srgbClr val="FFFF00"/>
                    </a:solidFill>
                  </a:rPr>
                  <a:t>函数</a:t>
                </a:r>
                <a:r>
                  <a:rPr lang="zh-CN" altLang="en-US" sz="2400" b="1" dirty="0">
                    <a:solidFill>
                      <a:srgbClr val="FFFF00"/>
                    </a:solidFill>
                  </a:rPr>
                  <a:t>与</a:t>
                </a:r>
                <a:r>
                  <a:rPr lang="zh-CN" altLang="zh-CN" sz="2400" b="1" dirty="0">
                    <a:solidFill>
                      <a:srgbClr val="FFFF00"/>
                    </a:solidFill>
                  </a:rPr>
                  <a:t>一般关系</a:t>
                </a:r>
                <a:r>
                  <a:rPr lang="zh-CN" altLang="zh-CN" sz="2400" b="1" dirty="0">
                    <a:solidFill>
                      <a:schemeClr val="bg1"/>
                    </a:solidFill>
                  </a:rPr>
                  <a:t>具有以下区别：</a:t>
                </a:r>
              </a:p>
              <a:p>
                <a:pPr>
                  <a:lnSpc>
                    <a:spcPts val="4200"/>
                  </a:lnSpc>
                  <a:spcBef>
                    <a:spcPts val="6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1</a:t>
                </a:r>
                <a:r>
                  <a:rPr lang="zh-CN" altLang="zh-CN" sz="2400" b="1" dirty="0">
                    <a:solidFill>
                      <a:schemeClr val="bg1"/>
                    </a:solidFill>
                  </a:rPr>
                  <a:t>）</a:t>
                </a:r>
                <a:r>
                  <a:rPr lang="zh-CN" altLang="zh-CN" sz="2400" b="1" dirty="0">
                    <a:solidFill>
                      <a:srgbClr val="FFFF00"/>
                    </a:solidFill>
                  </a:rPr>
                  <a:t>个数差异</a:t>
                </a:r>
                <a:r>
                  <a:rPr lang="zh-CN" altLang="zh-CN" sz="2400" b="1" dirty="0">
                    <a:solidFill>
                      <a:schemeClr val="bg1"/>
                    </a:solidFill>
                  </a:rPr>
                  <a:t>：从</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到</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的不同关系有</a:t>
                </a:r>
                <a14:m>
                  <m:oMath xmlns:m="http://schemas.openxmlformats.org/officeDocument/2006/math">
                    <m:sSup>
                      <m:sSupPr>
                        <m:ctrlPr>
                          <a:rPr lang="zh-CN" altLang="zh-CN" sz="2400" b="1" i="1" smtClean="0">
                            <a:solidFill>
                              <a:srgbClr val="FFFF00"/>
                            </a:solidFill>
                            <a:latin typeface="Cambria Math" panose="02040503050406030204" pitchFamily="18" charset="0"/>
                          </a:rPr>
                        </m:ctrlPr>
                      </m:sSupPr>
                      <m:e>
                        <m:r>
                          <a:rPr lang="en-US" altLang="zh-CN" sz="2400" b="1" i="1">
                            <a:solidFill>
                              <a:srgbClr val="FFFF00"/>
                            </a:solidFill>
                            <a:latin typeface="Cambria Math"/>
                          </a:rPr>
                          <m:t>𝟐</m:t>
                        </m:r>
                      </m:e>
                      <m:sup>
                        <m:d>
                          <m:dPr>
                            <m:begChr m:val="|"/>
                            <m:endChr m:val="|"/>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e>
                        </m:d>
                        <m:r>
                          <a:rPr lang="en-US" altLang="zh-CN" sz="2400" b="1" i="1">
                            <a:solidFill>
                              <a:srgbClr val="FFFF00"/>
                            </a:solidFill>
                            <a:latin typeface="Cambria Math"/>
                          </a:rPr>
                          <m:t>×</m:t>
                        </m:r>
                        <m:d>
                          <m:dPr>
                            <m:begChr m:val="|"/>
                            <m:endChr m:val="|"/>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𝑩</m:t>
                            </m:r>
                          </m:e>
                        </m:d>
                      </m:sup>
                    </m:sSup>
                  </m:oMath>
                </a14:m>
                <a:r>
                  <a:rPr lang="zh-CN" altLang="zh-CN" sz="2400" b="1" dirty="0">
                    <a:solidFill>
                      <a:schemeClr val="bg1"/>
                    </a:solidFill>
                  </a:rPr>
                  <a:t>个，从</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到</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的不同函数仅有</a:t>
                </a:r>
                <a14:m>
                  <m:oMath xmlns:m="http://schemas.openxmlformats.org/officeDocument/2006/math">
                    <m:sSup>
                      <m:sSupPr>
                        <m:ctrlPr>
                          <a:rPr lang="zh-CN" altLang="zh-CN" sz="2400" b="1" i="1" smtClean="0">
                            <a:solidFill>
                              <a:srgbClr val="FFFF00"/>
                            </a:solidFill>
                            <a:latin typeface="Cambria Math" panose="02040503050406030204" pitchFamily="18" charset="0"/>
                          </a:rPr>
                        </m:ctrlPr>
                      </m:sSupPr>
                      <m:e>
                        <m:r>
                          <a:rPr lang="en-US" altLang="zh-CN" sz="2400" b="1" i="1">
                            <a:solidFill>
                              <a:srgbClr val="FFFF00"/>
                            </a:solidFill>
                            <a:latin typeface="Cambria Math"/>
                          </a:rPr>
                          <m:t>|</m:t>
                        </m:r>
                        <m:r>
                          <a:rPr lang="en-US" altLang="zh-CN" sz="2400" b="1" i="1">
                            <a:solidFill>
                              <a:srgbClr val="FFFF00"/>
                            </a:solidFill>
                            <a:latin typeface="Cambria Math"/>
                          </a:rPr>
                          <m:t>𝑩</m:t>
                        </m:r>
                        <m:r>
                          <a:rPr lang="en-US" altLang="zh-CN" sz="2400" b="1" i="1">
                            <a:solidFill>
                              <a:srgbClr val="FFFF00"/>
                            </a:solidFill>
                            <a:latin typeface="Cambria Math"/>
                          </a:rPr>
                          <m:t>|</m:t>
                        </m:r>
                      </m:e>
                      <m:sup>
                        <m:r>
                          <a:rPr lang="en-US" altLang="zh-CN" sz="2400" b="1" i="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sup>
                    </m:sSup>
                  </m:oMath>
                </a14:m>
                <a:r>
                  <a:rPr lang="zh-CN" altLang="zh-CN" sz="2400" b="1" dirty="0">
                    <a:solidFill>
                      <a:schemeClr val="bg1"/>
                    </a:solidFill>
                  </a:rPr>
                  <a:t>个。</a:t>
                </a:r>
              </a:p>
              <a:p>
                <a:pPr>
                  <a:lnSpc>
                    <a:spcPts val="4200"/>
                  </a:lnSpc>
                  <a:spcBef>
                    <a:spcPts val="6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2</a:t>
                </a:r>
                <a:r>
                  <a:rPr lang="zh-CN" altLang="zh-CN" sz="2400" b="1" dirty="0">
                    <a:solidFill>
                      <a:schemeClr val="bg1"/>
                    </a:solidFill>
                  </a:rPr>
                  <a:t>）</a:t>
                </a:r>
                <a:r>
                  <a:rPr lang="zh-CN" altLang="zh-CN" sz="2400" b="1" dirty="0">
                    <a:solidFill>
                      <a:srgbClr val="FFFF00"/>
                    </a:solidFill>
                  </a:rPr>
                  <a:t>基数不同</a:t>
                </a:r>
                <a:r>
                  <a:rPr lang="zh-CN" altLang="zh-CN" sz="2400" b="1" dirty="0">
                    <a:solidFill>
                      <a:schemeClr val="bg1"/>
                    </a:solidFill>
                  </a:rPr>
                  <a:t>：每个函数基数均为</a:t>
                </a:r>
                <a14:m>
                  <m:oMath xmlns:m="http://schemas.openxmlformats.org/officeDocument/2006/math">
                    <m:d>
                      <m:dPr>
                        <m:begChr m:val="|"/>
                        <m:endChr m:val="|"/>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𝑨</m:t>
                        </m:r>
                      </m:e>
                    </m:d>
                  </m:oMath>
                </a14:m>
                <a:r>
                  <a:rPr lang="zh-CN" altLang="zh-CN" sz="2400" b="1" dirty="0">
                    <a:solidFill>
                      <a:schemeClr val="bg1"/>
                    </a:solidFill>
                  </a:rPr>
                  <a:t>即</a:t>
                </a:r>
                <a14:m>
                  <m:oMath xmlns:m="http://schemas.openxmlformats.org/officeDocument/2006/math">
                    <m:d>
                      <m:dPr>
                        <m:begChr m:val="|"/>
                        <m:endChr m:val="|"/>
                        <m:ctrlPr>
                          <a:rPr lang="zh-CN" altLang="zh-CN" sz="2400" b="1" i="1" smtClean="0">
                            <a:solidFill>
                              <a:srgbClr val="FFFF00"/>
                            </a:solidFill>
                            <a:latin typeface="Cambria Math" panose="02040503050406030204" pitchFamily="18" charset="0"/>
                          </a:rPr>
                        </m:ctrlPr>
                      </m:dPr>
                      <m:e>
                        <m:r>
                          <a:rPr lang="en-US" altLang="zh-CN" sz="2400" b="1" i="1">
                            <a:solidFill>
                              <a:srgbClr val="FFFF00"/>
                            </a:solidFill>
                            <a:latin typeface="Cambria Math"/>
                          </a:rPr>
                          <m:t>𝒇</m:t>
                        </m:r>
                      </m:e>
                    </m:d>
                    <m:r>
                      <a:rPr lang="en-US" altLang="zh-CN" sz="2400" b="1">
                        <a:solidFill>
                          <a:srgbClr val="FFFF00"/>
                        </a:solidFill>
                        <a:latin typeface="Cambria Math"/>
                      </a:rPr>
                      <m:t>=</m:t>
                    </m:r>
                    <m:d>
                      <m:dPr>
                        <m:begChr m:val="|"/>
                        <m:endChr m:val="|"/>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e>
                    </m:d>
                  </m:oMath>
                </a14:m>
                <a:r>
                  <a:rPr lang="zh-CN" altLang="zh-CN" sz="2400" b="1" dirty="0">
                    <a:solidFill>
                      <a:schemeClr val="bg1"/>
                    </a:solidFill>
                  </a:rPr>
                  <a:t>，关系的基数却为</a:t>
                </a:r>
                <a:r>
                  <a:rPr lang="zh-CN" altLang="zh-CN" sz="2400" b="1" dirty="0">
                    <a:solidFill>
                      <a:srgbClr val="FFFF00"/>
                    </a:solidFill>
                  </a:rPr>
                  <a:t>从</a:t>
                </a:r>
                <a:r>
                  <a:rPr lang="en-US" altLang="zh-CN" sz="2400" b="1" dirty="0">
                    <a:solidFill>
                      <a:srgbClr val="FFFF00"/>
                    </a:solidFill>
                  </a:rPr>
                  <a:t>0</a:t>
                </a:r>
                <a:r>
                  <a:rPr lang="zh-CN" altLang="zh-CN" sz="2400" b="1" dirty="0">
                    <a:solidFill>
                      <a:srgbClr val="FFFF00"/>
                    </a:solidFill>
                  </a:rPr>
                  <a:t>到</a:t>
                </a:r>
                <a14:m>
                  <m:oMath xmlns:m="http://schemas.openxmlformats.org/officeDocument/2006/math">
                    <m:d>
                      <m:dPr>
                        <m:begChr m:val="|"/>
                        <m:endChr m:val="|"/>
                        <m:ctrlPr>
                          <a:rPr lang="zh-CN" altLang="zh-CN" sz="2400" b="1" i="1" smtClean="0">
                            <a:solidFill>
                              <a:srgbClr val="FFFF00"/>
                            </a:solidFill>
                            <a:latin typeface="Cambria Math" panose="02040503050406030204" pitchFamily="18" charset="0"/>
                          </a:rPr>
                        </m:ctrlPr>
                      </m:dPr>
                      <m:e>
                        <m:r>
                          <a:rPr lang="en-US" altLang="zh-CN" sz="2400" b="1" i="1">
                            <a:solidFill>
                              <a:srgbClr val="FFFF00"/>
                            </a:solidFill>
                            <a:latin typeface="Cambria Math"/>
                          </a:rPr>
                          <m:t>𝑨</m:t>
                        </m:r>
                      </m:e>
                    </m:d>
                    <m:r>
                      <a:rPr lang="en-US" altLang="zh-CN" sz="2400" b="1" i="1">
                        <a:solidFill>
                          <a:srgbClr val="FFFF00"/>
                        </a:solidFill>
                        <a:latin typeface="Cambria Math"/>
                      </a:rPr>
                      <m:t>×</m:t>
                    </m:r>
                    <m:d>
                      <m:dPr>
                        <m:begChr m:val="|"/>
                        <m:endChr m:val="|"/>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𝑩</m:t>
                        </m:r>
                      </m:e>
                    </m:d>
                  </m:oMath>
                </a14:m>
                <a:r>
                  <a:rPr lang="zh-CN" altLang="zh-CN" sz="2400" b="1" dirty="0">
                    <a:solidFill>
                      <a:srgbClr val="FFFF00"/>
                    </a:solidFill>
                  </a:rPr>
                  <a:t>。</a:t>
                </a:r>
              </a:p>
              <a:p>
                <a:pPr>
                  <a:lnSpc>
                    <a:spcPts val="4200"/>
                  </a:lnSpc>
                  <a:spcBef>
                    <a:spcPts val="6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3</a:t>
                </a:r>
                <a:r>
                  <a:rPr lang="zh-CN" altLang="zh-CN" sz="2400" b="1" dirty="0">
                    <a:solidFill>
                      <a:schemeClr val="bg1"/>
                    </a:solidFill>
                  </a:rPr>
                  <a:t>）</a:t>
                </a:r>
                <a:r>
                  <a:rPr lang="zh-CN" altLang="zh-CN" sz="2400" b="1" dirty="0">
                    <a:solidFill>
                      <a:srgbClr val="FFFF00"/>
                    </a:solidFill>
                  </a:rPr>
                  <a:t>第一元素的差别</a:t>
                </a:r>
                <a:r>
                  <a:rPr lang="zh-CN" altLang="zh-CN" sz="2400" b="1" dirty="0">
                    <a:solidFill>
                      <a:schemeClr val="bg1"/>
                    </a:solidFill>
                  </a:rPr>
                  <a:t>：关系的第一个元素</a:t>
                </a:r>
                <a:r>
                  <a:rPr lang="zh-CN" altLang="zh-CN" sz="2400" b="1" dirty="0">
                    <a:solidFill>
                      <a:srgbClr val="FFFF00"/>
                    </a:solidFill>
                  </a:rPr>
                  <a:t>可以相同</a:t>
                </a:r>
                <a:r>
                  <a:rPr lang="zh-CN" altLang="zh-CN" sz="2400" b="1" dirty="0">
                    <a:solidFill>
                      <a:schemeClr val="bg1"/>
                    </a:solidFill>
                  </a:rPr>
                  <a:t>，函数的第一个元素</a:t>
                </a:r>
                <a:r>
                  <a:rPr lang="zh-CN" altLang="zh-CN" sz="2400" b="1" dirty="0">
                    <a:solidFill>
                      <a:srgbClr val="FFFF00"/>
                    </a:solidFill>
                  </a:rPr>
                  <a:t>不能相同</a:t>
                </a:r>
                <a:r>
                  <a:rPr lang="zh-CN" altLang="zh-CN" sz="2400" dirty="0">
                    <a:solidFill>
                      <a:schemeClr val="bg1"/>
                    </a:solidFill>
                  </a:rPr>
                  <a:t>。</a:t>
                </a:r>
                <a:endParaRPr lang="zh-CN" altLang="en-US" sz="2400" dirty="0">
                  <a:solidFill>
                    <a:schemeClr val="bg1"/>
                  </a:solidFill>
                </a:endParaRPr>
              </a:p>
            </p:txBody>
          </p:sp>
        </mc:Choice>
        <mc:Fallback xmlns="">
          <p:sp>
            <p:nvSpPr>
              <p:cNvPr id="4" name="矩形 3"/>
              <p:cNvSpPr>
                <a:spLocks noRot="1" noChangeAspect="1" noMove="1" noResize="1" noEditPoints="1" noAdjustHandles="1" noChangeArrowheads="1" noChangeShapeType="1" noTextEdit="1"/>
              </p:cNvSpPr>
              <p:nvPr/>
            </p:nvSpPr>
            <p:spPr>
              <a:xfrm>
                <a:off x="467544" y="2060848"/>
                <a:ext cx="8496944" cy="4010713"/>
              </a:xfrm>
              <a:prstGeom prst="rect">
                <a:avLst/>
              </a:prstGeom>
              <a:blipFill>
                <a:blip r:embed="rId3"/>
                <a:stretch>
                  <a:fillRect l="-1148" b="-2432"/>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E785663-86A2-42CE-8B56-D4558F52052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6867" name="Text Box 2"/>
          <p:cNvSpPr txBox="1">
            <a:spLocks noChangeArrowheads="1"/>
          </p:cNvSpPr>
          <p:nvPr/>
        </p:nvSpPr>
        <p:spPr bwMode="auto">
          <a:xfrm>
            <a:off x="1331912" y="692696"/>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子集的像与原像</a:t>
            </a:r>
          </a:p>
        </p:txBody>
      </p:sp>
      <p:pic>
        <p:nvPicPr>
          <p:cNvPr id="3686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395536" y="1868958"/>
                <a:ext cx="8352928" cy="4383188"/>
              </a:xfrm>
              <a:prstGeom prst="rect">
                <a:avLst/>
              </a:prstGeom>
              <a:solidFill>
                <a:schemeClr val="accent6">
                  <a:lumMod val="75000"/>
                </a:schemeClr>
              </a:solidFill>
            </p:spPr>
            <p:txBody>
              <a:bodyPr wrap="square" rtlCol="0">
                <a:spAutoFit/>
              </a:bodyPr>
              <a:lstStyle/>
              <a:p>
                <a:pPr>
                  <a:lnSpc>
                    <a:spcPts val="3600"/>
                  </a:lnSpc>
                  <a:spcBef>
                    <a:spcPts val="1200"/>
                  </a:spcBef>
                </a:pPr>
                <a:r>
                  <a:rPr lang="en-US" altLang="zh-CN" sz="2400" b="1" dirty="0">
                    <a:solidFill>
                      <a:schemeClr val="bg1"/>
                    </a:solidFill>
                  </a:rPr>
                  <a:t>   </a:t>
                </a:r>
                <a:r>
                  <a:rPr lang="zh-CN" altLang="zh-CN" sz="2400" b="1" dirty="0">
                    <a:solidFill>
                      <a:schemeClr val="bg1"/>
                    </a:solidFill>
                  </a:rPr>
                  <a:t>【定义】设</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是任意给定的两个非空集合，</a:t>
                </a:r>
                <a14:m>
                  <m:oMath xmlns:m="http://schemas.openxmlformats.org/officeDocument/2006/math">
                    <m:sSub>
                      <m:sSubPr>
                        <m:ctrlPr>
                          <a:rPr lang="zh-CN" altLang="zh-CN" sz="2400" b="1" i="1" smtClean="0">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r>
                      <a:rPr lang="zh-CN" altLang="zh-CN" sz="2400" b="1">
                        <a:solidFill>
                          <a:srgbClr val="FFFF00"/>
                        </a:solidFill>
                        <a:latin typeface="Cambria Math"/>
                      </a:rPr>
                      <m:t>和</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𝑩</m:t>
                        </m:r>
                      </m:e>
                      <m:sub>
                        <m:r>
                          <a:rPr lang="en-US" altLang="zh-CN" sz="2400" b="1" i="1">
                            <a:solidFill>
                              <a:srgbClr val="FFFF00"/>
                            </a:solidFill>
                            <a:latin typeface="Cambria Math"/>
                          </a:rPr>
                          <m:t>𝟏</m:t>
                        </m:r>
                      </m:sub>
                    </m:sSub>
                  </m:oMath>
                </a14:m>
                <a:r>
                  <a:rPr lang="zh-CN" altLang="zh-CN" sz="2400" b="1" dirty="0">
                    <a:solidFill>
                      <a:schemeClr val="bg1"/>
                    </a:solidFill>
                  </a:rPr>
                  <a:t>分别是</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的任意</a:t>
                </a:r>
                <a:r>
                  <a:rPr lang="zh-CN" altLang="zh-CN" sz="2400" b="1" dirty="0">
                    <a:solidFill>
                      <a:srgbClr val="FFFF00"/>
                    </a:solidFill>
                  </a:rPr>
                  <a:t>两个非空子集合</a:t>
                </a:r>
                <a:r>
                  <a:rPr lang="zh-CN" altLang="zh-CN" sz="2400" b="1" dirty="0">
                    <a:solidFill>
                      <a:schemeClr val="bg1"/>
                    </a:solidFill>
                  </a:rPr>
                  <a:t>，即有</a:t>
                </a:r>
                <a14:m>
                  <m:oMath xmlns:m="http://schemas.openxmlformats.org/officeDocument/2006/math">
                    <m:sSub>
                      <m:sSubPr>
                        <m:ctrlPr>
                          <a:rPr lang="zh-CN" altLang="zh-CN" sz="2400" b="1" i="1" smtClean="0">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r>
                      <a:rPr lang="en-US" altLang="zh-CN" sz="2400" b="1" i="1">
                        <a:solidFill>
                          <a:srgbClr val="FFFF00"/>
                        </a:solidFill>
                        <a:latin typeface="Cambria Math"/>
                      </a:rPr>
                      <m:t>⊆</m:t>
                    </m:r>
                    <m:r>
                      <a:rPr lang="en-US" altLang="zh-CN" sz="2400" b="1" i="1">
                        <a:solidFill>
                          <a:srgbClr val="FFFF00"/>
                        </a:solidFill>
                        <a:latin typeface="Cambria Math"/>
                      </a:rPr>
                      <m:t>𝑨</m:t>
                    </m:r>
                    <m:r>
                      <a:rPr lang="zh-CN" altLang="en-US" sz="2400" b="1" i="1">
                        <a:solidFill>
                          <a:srgbClr val="FFFF00"/>
                        </a:solidFill>
                        <a:latin typeface="Cambria Math" panose="02040503050406030204" pitchFamily="18" charset="0"/>
                      </a:rPr>
                      <m:t>且</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𝑩</m:t>
                        </m:r>
                      </m:e>
                      <m:sub>
                        <m:r>
                          <a:rPr lang="en-US" altLang="zh-CN" sz="2400" b="1" i="1">
                            <a:solidFill>
                              <a:srgbClr val="FFFF00"/>
                            </a:solidFill>
                            <a:latin typeface="Cambria Math"/>
                          </a:rPr>
                          <m:t>𝟏</m:t>
                        </m:r>
                      </m:sub>
                    </m:sSub>
                    <m:r>
                      <a:rPr lang="en-US" altLang="zh-CN" sz="2400" b="1" i="1">
                        <a:solidFill>
                          <a:srgbClr val="FFFF00"/>
                        </a:solidFill>
                        <a:latin typeface="Cambria Math"/>
                      </a:rPr>
                      <m:t>⊆</m:t>
                    </m:r>
                    <m:r>
                      <a:rPr lang="en-US" altLang="zh-CN" sz="2400" b="1" i="1">
                        <a:solidFill>
                          <a:srgbClr val="FFFF00"/>
                        </a:solidFill>
                        <a:latin typeface="Cambria Math"/>
                      </a:rPr>
                      <m:t>𝑩</m:t>
                    </m:r>
                    <m:r>
                      <a:rPr lang="zh-CN" altLang="en-US" sz="2400" b="1" i="1" smtClean="0">
                        <a:solidFill>
                          <a:schemeClr val="bg1"/>
                        </a:solidFill>
                        <a:latin typeface="Cambria Math" panose="02040503050406030204" pitchFamily="18" charset="0"/>
                      </a:rPr>
                      <m:t>，</m:t>
                    </m:r>
                    <m:r>
                      <a:rPr lang="zh-CN" altLang="zh-CN" sz="2400" b="1" i="1">
                        <a:solidFill>
                          <a:schemeClr val="bg1"/>
                        </a:solidFill>
                        <a:latin typeface="Cambria Math"/>
                      </a:rPr>
                      <m:t> </m:t>
                    </m:r>
                    <m:r>
                      <a:rPr lang="en-US" altLang="zh-CN" sz="2400" b="1" i="1">
                        <a:solidFill>
                          <a:schemeClr val="bg1"/>
                        </a:solidFill>
                        <a:latin typeface="Cambria Math"/>
                      </a:rPr>
                      <m:t>𝒇</m:t>
                    </m:r>
                  </m:oMath>
                </a14:m>
                <a:r>
                  <a:rPr lang="zh-CN" altLang="zh-CN" sz="2400" b="1" dirty="0">
                    <a:solidFill>
                      <a:schemeClr val="bg1"/>
                    </a:solidFill>
                  </a:rPr>
                  <a:t>是一个从</a:t>
                </a:r>
                <a14:m>
                  <m:oMath xmlns:m="http://schemas.openxmlformats.org/officeDocument/2006/math">
                    <m:r>
                      <a:rPr lang="en-US" altLang="zh-CN" sz="2400" b="1" i="1">
                        <a:solidFill>
                          <a:schemeClr val="bg1"/>
                        </a:solidFill>
                        <a:latin typeface="Cambria Math"/>
                      </a:rPr>
                      <m:t>𝑨</m:t>
                    </m:r>
                  </m:oMath>
                </a14:m>
                <a:r>
                  <a:rPr lang="zh-CN" altLang="zh-CN" sz="2400" b="1" dirty="0">
                    <a:solidFill>
                      <a:schemeClr val="bg1"/>
                    </a:solidFill>
                  </a:rPr>
                  <a:t>和</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函数，即</a:t>
                </a:r>
                <a14:m>
                  <m:oMath xmlns:m="http://schemas.openxmlformats.org/officeDocument/2006/math">
                    <m:r>
                      <a:rPr lang="en-US" altLang="zh-CN" sz="2400" b="1" i="1">
                        <a:solidFill>
                          <a:schemeClr val="bg1"/>
                        </a:solidFill>
                        <a:latin typeface="Cambria Math"/>
                      </a:rPr>
                      <m:t>𝒇</m:t>
                    </m:r>
                    <m:r>
                      <a:rPr lang="en-US" altLang="zh-CN" sz="2400" b="1" i="1">
                        <a:solidFill>
                          <a:schemeClr val="bg1"/>
                        </a:solidFill>
                        <a:latin typeface="Cambria Math"/>
                      </a:rPr>
                      <m:t>:</m:t>
                    </m:r>
                    <m:r>
                      <a:rPr lang="en-US" altLang="zh-CN" sz="2400" b="1" i="1">
                        <a:solidFill>
                          <a:schemeClr val="bg1"/>
                        </a:solidFill>
                        <a:latin typeface="Cambria Math"/>
                      </a:rPr>
                      <m:t>𝑨</m:t>
                    </m:r>
                    <m:r>
                      <a:rPr lang="en-US" altLang="zh-CN" sz="2400" b="1" i="1">
                        <a:solidFill>
                          <a:schemeClr val="bg1"/>
                        </a:solidFill>
                        <a:latin typeface="Cambria Math"/>
                      </a:rPr>
                      <m:t>→</m:t>
                    </m:r>
                    <m:r>
                      <a:rPr lang="en-US" altLang="zh-CN" sz="2400" b="1" i="1">
                        <a:solidFill>
                          <a:schemeClr val="bg1"/>
                        </a:solidFill>
                        <a:latin typeface="Cambria Math"/>
                      </a:rPr>
                      <m:t>𝑩</m:t>
                    </m:r>
                  </m:oMath>
                </a14:m>
                <a:r>
                  <a:rPr lang="zh-CN" altLang="zh-CN" sz="2400" b="1" dirty="0">
                    <a:solidFill>
                      <a:schemeClr val="bg1"/>
                    </a:solidFill>
                  </a:rPr>
                  <a:t>。</a:t>
                </a:r>
              </a:p>
              <a:p>
                <a:pPr>
                  <a:lnSpc>
                    <a:spcPct val="110000"/>
                  </a:lnSpc>
                  <a:spcBef>
                    <a:spcPts val="12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1</a:t>
                </a:r>
                <a:r>
                  <a:rPr lang="zh-CN" altLang="zh-CN" sz="2400" b="1" dirty="0">
                    <a:solidFill>
                      <a:schemeClr val="bg1"/>
                    </a:solidFill>
                  </a:rPr>
                  <a:t>）令</a:t>
                </a:r>
                <a14:m>
                  <m:oMath xmlns:m="http://schemas.openxmlformats.org/officeDocument/2006/math">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e>
                    </m:d>
                    <m:r>
                      <a:rPr lang="en-US" altLang="zh-CN" sz="2400" b="1" i="1">
                        <a:solidFill>
                          <a:srgbClr val="FFFF00"/>
                        </a:solidFill>
                        <a:latin typeface="Cambria Math"/>
                      </a:rPr>
                      <m:t>={</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𝒙</m:t>
                    </m:r>
                    <m:r>
                      <a:rPr lang="en-US" altLang="zh-CN" sz="2400" b="1" i="1">
                        <a:solidFill>
                          <a:srgbClr val="FFFF00"/>
                        </a:solidFill>
                        <a:latin typeface="Cambria Math"/>
                      </a:rPr>
                      <m:t>∈</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r>
                      <a:rPr lang="en-US" altLang="zh-CN" sz="2400" b="1" i="1">
                        <a:solidFill>
                          <a:srgbClr val="FFFF00"/>
                        </a:solidFill>
                        <a:latin typeface="Cambria Math"/>
                      </a:rPr>
                      <m:t>}</m:t>
                    </m:r>
                  </m:oMath>
                </a14:m>
                <a:r>
                  <a:rPr lang="zh-CN" altLang="zh-CN" sz="2400" b="1" dirty="0">
                    <a:solidFill>
                      <a:schemeClr val="bg1"/>
                    </a:solidFill>
                  </a:rPr>
                  <a:t>，称</a:t>
                </a:r>
                <a14:m>
                  <m:oMath xmlns:m="http://schemas.openxmlformats.org/officeDocument/2006/math">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e>
                    </m:d>
                  </m:oMath>
                </a14:m>
                <a:r>
                  <a:rPr lang="zh-CN" altLang="zh-CN" sz="2400" b="1" dirty="0">
                    <a:solidFill>
                      <a:srgbClr val="FFFF00"/>
                    </a:solidFill>
                  </a:rPr>
                  <a:t>为</a:t>
                </a:r>
                <a14:m>
                  <m:oMath xmlns:m="http://schemas.openxmlformats.org/officeDocument/2006/math">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oMath>
                </a14:m>
                <a:r>
                  <a:rPr lang="zh-CN" altLang="zh-CN" sz="2400" b="1" dirty="0">
                    <a:solidFill>
                      <a:srgbClr val="FFFF00"/>
                    </a:solidFill>
                  </a:rPr>
                  <a:t>在</a:t>
                </a:r>
                <a14:m>
                  <m:oMath xmlns:m="http://schemas.openxmlformats.org/officeDocument/2006/math">
                    <m:r>
                      <a:rPr lang="en-US" altLang="zh-CN" sz="2400" b="1" i="1">
                        <a:solidFill>
                          <a:srgbClr val="FFFF00"/>
                        </a:solidFill>
                        <a:latin typeface="Cambria Math"/>
                      </a:rPr>
                      <m:t>𝒇</m:t>
                    </m:r>
                  </m:oMath>
                </a14:m>
                <a:r>
                  <a:rPr lang="zh-CN" altLang="zh-CN" sz="2400" b="1" dirty="0">
                    <a:solidFill>
                      <a:srgbClr val="FFFF00"/>
                    </a:solidFill>
                  </a:rPr>
                  <a:t>下的像</a:t>
                </a:r>
                <a:r>
                  <a:rPr lang="zh-CN" altLang="zh-CN" sz="2400" b="1" dirty="0">
                    <a:solidFill>
                      <a:schemeClr val="bg1"/>
                    </a:solidFill>
                  </a:rPr>
                  <a:t>。当</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𝑨</m:t>
                        </m:r>
                      </m:e>
                      <m:sub>
                        <m:r>
                          <a:rPr lang="en-US" altLang="zh-CN" sz="2400" b="1" i="1">
                            <a:solidFill>
                              <a:schemeClr val="bg1"/>
                            </a:solidFill>
                            <a:latin typeface="Cambria Math"/>
                          </a:rPr>
                          <m:t>𝟏</m:t>
                        </m:r>
                      </m:sub>
                    </m:sSub>
                    <m:r>
                      <a:rPr lang="en-US" altLang="zh-CN" sz="2400" b="1" i="1">
                        <a:solidFill>
                          <a:schemeClr val="bg1"/>
                        </a:solidFill>
                        <a:latin typeface="Cambria Math"/>
                      </a:rPr>
                      <m:t>=</m:t>
                    </m:r>
                    <m:r>
                      <a:rPr lang="en-US" altLang="zh-CN" sz="2400" b="1" i="1">
                        <a:solidFill>
                          <a:schemeClr val="bg1"/>
                        </a:solidFill>
                        <a:latin typeface="Cambria Math"/>
                      </a:rPr>
                      <m:t>𝑨</m:t>
                    </m:r>
                  </m:oMath>
                </a14:m>
                <a:r>
                  <a:rPr lang="zh-CN" altLang="zh-CN" sz="2400" b="1" dirty="0">
                    <a:solidFill>
                      <a:schemeClr val="bg1"/>
                    </a:solidFill>
                  </a:rPr>
                  <a:t>时，</a:t>
                </a:r>
                <a14:m>
                  <m:oMath xmlns:m="http://schemas.openxmlformats.org/officeDocument/2006/math">
                    <m:r>
                      <a:rPr lang="zh-CN" altLang="zh-CN" sz="2400" b="1" i="1">
                        <a:solidFill>
                          <a:schemeClr val="bg1"/>
                        </a:solidFill>
                        <a:latin typeface="Cambria Math"/>
                      </a:rPr>
                      <m:t> </m:t>
                    </m:r>
                    <m:r>
                      <a:rPr lang="en-US" altLang="zh-CN" sz="2400" b="1" i="1" smtClean="0">
                        <a:solidFill>
                          <a:schemeClr val="bg1"/>
                        </a:solidFill>
                        <a:latin typeface="Cambria Math"/>
                      </a:rPr>
                      <m:t>𝒇</m:t>
                    </m:r>
                    <m:r>
                      <a:rPr lang="en-US" altLang="zh-CN" sz="2400" b="1" i="1" smtClean="0">
                        <a:solidFill>
                          <a:schemeClr val="bg1"/>
                        </a:solidFill>
                        <a:latin typeface="Cambria Math"/>
                      </a:rPr>
                      <m:t>(</m:t>
                    </m:r>
                    <m:r>
                      <a:rPr lang="en-US" altLang="zh-CN" sz="2400" b="1" i="1" smtClean="0">
                        <a:solidFill>
                          <a:schemeClr val="bg1"/>
                        </a:solidFill>
                        <a:latin typeface="Cambria Math"/>
                      </a:rPr>
                      <m:t>𝑨</m:t>
                    </m:r>
                    <m:r>
                      <a:rPr lang="en-US" altLang="zh-CN" sz="2400" b="1" i="1" smtClean="0">
                        <a:solidFill>
                          <a:schemeClr val="bg1"/>
                        </a:solidFill>
                        <a:latin typeface="Cambria Math"/>
                      </a:rPr>
                      <m:t>)</m:t>
                    </m:r>
                  </m:oMath>
                </a14:m>
                <a:r>
                  <a:rPr lang="zh-CN" altLang="zh-CN" sz="2400" b="1" dirty="0">
                    <a:solidFill>
                      <a:schemeClr val="bg1"/>
                    </a:solidFill>
                  </a:rPr>
                  <a:t>为</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的</a:t>
                </a:r>
                <a:r>
                  <a:rPr lang="zh-CN" altLang="zh-CN" sz="2400" b="1" dirty="0">
                    <a:solidFill>
                      <a:srgbClr val="FFFF00"/>
                    </a:solidFill>
                  </a:rPr>
                  <a:t>像</a:t>
                </a:r>
                <a:r>
                  <a:rPr lang="zh-CN" altLang="zh-CN" sz="2400" b="1" dirty="0">
                    <a:solidFill>
                      <a:schemeClr val="bg1"/>
                    </a:solidFill>
                  </a:rPr>
                  <a:t>。</a:t>
                </a:r>
              </a:p>
              <a:p>
                <a:pPr>
                  <a:lnSpc>
                    <a:spcPct val="110000"/>
                  </a:lnSpc>
                  <a:spcBef>
                    <a:spcPts val="12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2</a:t>
                </a:r>
                <a:r>
                  <a:rPr lang="zh-CN" altLang="zh-CN" sz="2400" b="1" dirty="0">
                    <a:solidFill>
                      <a:schemeClr val="bg1"/>
                    </a:solidFill>
                  </a:rPr>
                  <a:t>）令</a:t>
                </a:r>
                <a14:m>
                  <m:oMath xmlns:m="http://schemas.openxmlformats.org/officeDocument/2006/math">
                    <m:sSup>
                      <m:sSupPr>
                        <m:ctrlPr>
                          <a:rPr lang="zh-CN" altLang="zh-CN" sz="2400" b="1" i="1" smtClean="0">
                            <a:solidFill>
                              <a:srgbClr val="FFFF00"/>
                            </a:solidFill>
                            <a:latin typeface="Cambria Math" panose="02040503050406030204" pitchFamily="18" charset="0"/>
                          </a:rPr>
                        </m:ctrlPr>
                      </m:sSupPr>
                      <m:e>
                        <m:r>
                          <a:rPr lang="en-US" altLang="zh-CN" sz="2400" b="1" i="1">
                            <a:solidFill>
                              <a:srgbClr val="FFFF00"/>
                            </a:solidFill>
                            <a:latin typeface="Cambria Math"/>
                          </a:rPr>
                          <m:t>𝒇</m:t>
                        </m:r>
                      </m:e>
                      <m:sup>
                        <m:r>
                          <a:rPr lang="en-US" altLang="zh-CN" sz="2400" b="1" i="1">
                            <a:solidFill>
                              <a:srgbClr val="FFFF00"/>
                            </a:solidFill>
                            <a:latin typeface="Cambria Math"/>
                          </a:rPr>
                          <m:t>−</m:t>
                        </m:r>
                        <m:r>
                          <a:rPr lang="en-US" altLang="zh-CN" sz="2400" b="1" i="1">
                            <a:solidFill>
                              <a:srgbClr val="FFFF00"/>
                            </a:solidFill>
                            <a:latin typeface="Cambria Math"/>
                          </a:rPr>
                          <m:t>𝟏</m:t>
                        </m:r>
                      </m:sup>
                    </m:sSup>
                    <m:d>
                      <m:dPr>
                        <m:ctrlPr>
                          <a:rPr lang="zh-CN" altLang="zh-CN" sz="2400" b="1" i="1">
                            <a:solidFill>
                              <a:srgbClr val="FFFF00"/>
                            </a:solidFill>
                            <a:latin typeface="Cambria Math" panose="02040503050406030204" pitchFamily="18" charset="0"/>
                          </a:rPr>
                        </m:ctrlPr>
                      </m:d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𝑩</m:t>
                            </m:r>
                          </m:e>
                          <m:sub>
                            <m:r>
                              <a:rPr lang="en-US" altLang="zh-CN" sz="2400" b="1" i="1">
                                <a:solidFill>
                                  <a:srgbClr val="FFFF00"/>
                                </a:solidFill>
                                <a:latin typeface="Cambria Math"/>
                              </a:rPr>
                              <m:t>𝟏</m:t>
                            </m:r>
                          </m:sub>
                        </m:sSub>
                      </m:e>
                    </m:d>
                    <m:r>
                      <a:rPr lang="en-US" altLang="zh-CN" sz="2400" b="1" i="1">
                        <a:solidFill>
                          <a:srgbClr val="FFFF00"/>
                        </a:solidFill>
                        <a:latin typeface="Cambria Math"/>
                      </a:rPr>
                      <m:t>={</m:t>
                    </m:r>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𝒙</m:t>
                    </m:r>
                    <m:r>
                      <a:rPr lang="en-US" altLang="zh-CN" sz="2400" b="1" i="1">
                        <a:solidFill>
                          <a:srgbClr val="FFFF00"/>
                        </a:solidFill>
                        <a:latin typeface="Cambria Math"/>
                      </a:rPr>
                      <m:t>)∈</m:t>
                    </m:r>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𝑩</m:t>
                        </m:r>
                      </m:e>
                      <m:sub>
                        <m:r>
                          <a:rPr lang="en-US" altLang="zh-CN" sz="2400" b="1" i="1">
                            <a:solidFill>
                              <a:srgbClr val="FFFF00"/>
                            </a:solidFill>
                            <a:latin typeface="Cambria Math"/>
                          </a:rPr>
                          <m:t>𝟏</m:t>
                        </m:r>
                      </m:sub>
                    </m:sSub>
                    <m:r>
                      <a:rPr lang="en-US" altLang="zh-CN" sz="2400" b="1" i="1">
                        <a:solidFill>
                          <a:srgbClr val="FFFF00"/>
                        </a:solidFill>
                        <a:latin typeface="Cambria Math"/>
                      </a:rPr>
                      <m:t>}</m:t>
                    </m:r>
                  </m:oMath>
                </a14:m>
                <a:r>
                  <a:rPr lang="zh-CN" altLang="zh-CN" sz="2400" b="1" dirty="0">
                    <a:solidFill>
                      <a:schemeClr val="bg1"/>
                    </a:solidFill>
                  </a:rPr>
                  <a:t>，称</a:t>
                </a:r>
                <a14:m>
                  <m:oMath xmlns:m="http://schemas.openxmlformats.org/officeDocument/2006/math">
                    <m:sSup>
                      <m:sSupPr>
                        <m:ctrlPr>
                          <a:rPr lang="zh-CN" altLang="zh-CN" sz="2400" b="1" i="1" smtClean="0">
                            <a:solidFill>
                              <a:srgbClr val="FFFF00"/>
                            </a:solidFill>
                            <a:latin typeface="Cambria Math" panose="02040503050406030204" pitchFamily="18" charset="0"/>
                          </a:rPr>
                        </m:ctrlPr>
                      </m:sSupPr>
                      <m:e>
                        <m:r>
                          <a:rPr lang="en-US" altLang="zh-CN" sz="2400" b="1" i="1">
                            <a:solidFill>
                              <a:srgbClr val="FFFF00"/>
                            </a:solidFill>
                            <a:latin typeface="Cambria Math"/>
                          </a:rPr>
                          <m:t>𝒇</m:t>
                        </m:r>
                      </m:e>
                      <m:sup>
                        <m:r>
                          <a:rPr lang="en-US" altLang="zh-CN" sz="2400" b="1" i="1">
                            <a:solidFill>
                              <a:srgbClr val="FFFF00"/>
                            </a:solidFill>
                            <a:latin typeface="Cambria Math"/>
                          </a:rPr>
                          <m:t>−</m:t>
                        </m:r>
                        <m:r>
                          <a:rPr lang="en-US" altLang="zh-CN" sz="2400" b="1" i="1">
                            <a:solidFill>
                              <a:srgbClr val="FFFF00"/>
                            </a:solidFill>
                            <a:latin typeface="Cambria Math"/>
                          </a:rPr>
                          <m:t>𝟏</m:t>
                        </m:r>
                      </m:sup>
                    </m:sSup>
                    <m:d>
                      <m:dPr>
                        <m:ctrlPr>
                          <a:rPr lang="zh-CN" altLang="zh-CN" sz="2400" b="1" i="1">
                            <a:solidFill>
                              <a:srgbClr val="FFFF00"/>
                            </a:solidFill>
                            <a:latin typeface="Cambria Math" panose="02040503050406030204" pitchFamily="18" charset="0"/>
                          </a:rPr>
                        </m:ctrlPr>
                      </m:d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𝑩</m:t>
                            </m:r>
                          </m:e>
                          <m:sub>
                            <m:r>
                              <a:rPr lang="en-US" altLang="zh-CN" sz="2400" b="1" i="1">
                                <a:solidFill>
                                  <a:srgbClr val="FFFF00"/>
                                </a:solidFill>
                                <a:latin typeface="Cambria Math"/>
                              </a:rPr>
                              <m:t>𝟏</m:t>
                            </m:r>
                          </m:sub>
                        </m:sSub>
                      </m:e>
                    </m:d>
                  </m:oMath>
                </a14:m>
                <a:r>
                  <a:rPr lang="zh-CN" altLang="zh-CN" sz="2400" b="1" dirty="0">
                    <a:solidFill>
                      <a:schemeClr val="bg1"/>
                    </a:solidFill>
                  </a:rPr>
                  <a:t>为</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𝑩</m:t>
                        </m:r>
                      </m:e>
                      <m:sub>
                        <m:r>
                          <a:rPr lang="en-US" altLang="zh-CN" sz="2400" b="1" i="1">
                            <a:solidFill>
                              <a:schemeClr val="bg1"/>
                            </a:solidFill>
                            <a:latin typeface="Cambria Math"/>
                          </a:rPr>
                          <m:t>𝟏</m:t>
                        </m:r>
                      </m:sub>
                    </m:sSub>
                  </m:oMath>
                </a14:m>
                <a:r>
                  <a:rPr lang="zh-CN" altLang="zh-CN" sz="2400" b="1" dirty="0">
                    <a:solidFill>
                      <a:schemeClr val="bg1"/>
                    </a:solidFill>
                  </a:rPr>
                  <a:t>在</a:t>
                </a:r>
                <a14:m>
                  <m:oMath xmlns:m="http://schemas.openxmlformats.org/officeDocument/2006/math">
                    <m:r>
                      <a:rPr lang="en-US" altLang="zh-CN" sz="2400" b="1" i="1">
                        <a:solidFill>
                          <a:schemeClr val="bg1"/>
                        </a:solidFill>
                        <a:latin typeface="Cambria Math"/>
                      </a:rPr>
                      <m:t>𝒇</m:t>
                    </m:r>
                  </m:oMath>
                </a14:m>
                <a:r>
                  <a:rPr lang="zh-CN" altLang="zh-CN" sz="2400" b="1" dirty="0">
                    <a:solidFill>
                      <a:schemeClr val="bg1"/>
                    </a:solidFill>
                  </a:rPr>
                  <a:t>下的</a:t>
                </a:r>
                <a:r>
                  <a:rPr lang="zh-CN" altLang="en-US" sz="2400" b="1" dirty="0">
                    <a:solidFill>
                      <a:srgbClr val="FFFF00"/>
                    </a:solidFill>
                  </a:rPr>
                  <a:t>完全</a:t>
                </a:r>
                <a:r>
                  <a:rPr lang="zh-CN" altLang="zh-CN" sz="2400" b="1" dirty="0">
                    <a:solidFill>
                      <a:srgbClr val="FFFF00"/>
                    </a:solidFill>
                  </a:rPr>
                  <a:t>原像</a:t>
                </a:r>
                <a:r>
                  <a:rPr lang="zh-CN" altLang="en-US" sz="2400" b="1" dirty="0">
                    <a:solidFill>
                      <a:srgbClr val="FFFF00"/>
                    </a:solidFill>
                  </a:rPr>
                  <a:t>，</a:t>
                </a:r>
                <a:r>
                  <a:rPr lang="zh-CN" altLang="en-US" sz="2400" b="1" dirty="0">
                    <a:solidFill>
                      <a:schemeClr val="bg1"/>
                    </a:solidFill>
                  </a:rPr>
                  <a:t>简称为</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𝑩</m:t>
                        </m:r>
                      </m:e>
                      <m:sub>
                        <m:r>
                          <a:rPr lang="en-US" altLang="zh-CN" sz="2400" b="1" i="1">
                            <a:solidFill>
                              <a:schemeClr val="bg1"/>
                            </a:solidFill>
                            <a:latin typeface="Cambria Math"/>
                          </a:rPr>
                          <m:t>𝟏</m:t>
                        </m:r>
                      </m:sub>
                    </m:sSub>
                    <m:r>
                      <a:rPr lang="en-US" altLang="zh-CN" sz="2400" b="1" i="1">
                        <a:solidFill>
                          <a:schemeClr val="bg1"/>
                        </a:solidFill>
                        <a:latin typeface="Cambria Math" panose="02040503050406030204" pitchFamily="18" charset="0"/>
                      </a:rPr>
                      <m:t> </m:t>
                    </m:r>
                  </m:oMath>
                </a14:m>
                <a:r>
                  <a:rPr lang="zh-CN" altLang="en-US" sz="2400" b="1" dirty="0">
                    <a:solidFill>
                      <a:schemeClr val="bg1"/>
                    </a:solidFill>
                  </a:rPr>
                  <a:t>的</a:t>
                </a:r>
                <a:r>
                  <a:rPr lang="zh-CN" altLang="en-US" sz="2400" b="1" dirty="0">
                    <a:solidFill>
                      <a:srgbClr val="FFFF00"/>
                    </a:solidFill>
                  </a:rPr>
                  <a:t>原像</a:t>
                </a:r>
                <a:r>
                  <a:rPr lang="zh-CN" altLang="zh-CN" sz="2400" b="1" dirty="0">
                    <a:solidFill>
                      <a:schemeClr val="bg1"/>
                    </a:solidFill>
                  </a:rPr>
                  <a:t>。</a:t>
                </a:r>
              </a:p>
              <a:p>
                <a:pPr>
                  <a:lnSpc>
                    <a:spcPct val="110000"/>
                  </a:lnSpc>
                  <a:spcBef>
                    <a:spcPts val="1200"/>
                  </a:spcBef>
                </a:pPr>
                <a:r>
                  <a:rPr lang="en-US" altLang="zh-CN" sz="2400" b="1" dirty="0">
                    <a:solidFill>
                      <a:schemeClr val="bg1"/>
                    </a:solidFill>
                  </a:rPr>
                  <a:t>   </a:t>
                </a:r>
                <a:r>
                  <a:rPr lang="zh-CN" altLang="zh-CN" sz="2400" b="1" dirty="0">
                    <a:solidFill>
                      <a:schemeClr val="bg1"/>
                    </a:solidFill>
                  </a:rPr>
                  <a:t>显然有：</a:t>
                </a:r>
                <a:endParaRPr lang="en-US" altLang="zh-CN" sz="2400" b="1" dirty="0">
                  <a:solidFill>
                    <a:schemeClr val="bg1"/>
                  </a:solidFill>
                </a:endParaRPr>
              </a:p>
              <a:p>
                <a:pPr>
                  <a:lnSpc>
                    <a:spcPct val="110000"/>
                  </a:lnSpc>
                  <a:spcBef>
                    <a:spcPts val="1200"/>
                  </a:spcBef>
                </a:pPr>
                <a14:m>
                  <m:oMathPara xmlns:m="http://schemas.openxmlformats.org/officeDocument/2006/math">
                    <m:oMathParaPr>
                      <m:jc m:val="centerGroup"/>
                    </m:oMathParaPr>
                    <m:oMath xmlns:m="http://schemas.openxmlformats.org/officeDocument/2006/math">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𝑨</m:t>
                              </m:r>
                            </m:e>
                            <m:sub>
                              <m:r>
                                <a:rPr lang="en-US" altLang="zh-CN" sz="2400" b="1" i="1">
                                  <a:solidFill>
                                    <a:srgbClr val="FFFF00"/>
                                  </a:solidFill>
                                  <a:latin typeface="Cambria Math"/>
                                </a:rPr>
                                <m:t>𝟏</m:t>
                              </m:r>
                            </m:sub>
                          </m:sSub>
                        </m:e>
                      </m:d>
                      <m:r>
                        <a:rPr lang="en-US" altLang="zh-CN" sz="2400" b="1" i="1">
                          <a:solidFill>
                            <a:srgbClr val="FFFF00"/>
                          </a:solidFill>
                          <a:latin typeface="Cambria Math"/>
                        </a:rPr>
                        <m:t>⊆</m:t>
                      </m:r>
                      <m:r>
                        <a:rPr lang="en-US" altLang="zh-CN" sz="2400" b="1" i="1">
                          <a:solidFill>
                            <a:srgbClr val="FFFF00"/>
                          </a:solidFill>
                          <a:latin typeface="Cambria Math"/>
                        </a:rPr>
                        <m:t>𝑩</m:t>
                      </m:r>
                      <m:r>
                        <a:rPr lang="zh-CN" altLang="zh-CN" sz="2400" b="1">
                          <a:solidFill>
                            <a:srgbClr val="FFFF00"/>
                          </a:solidFill>
                          <a:latin typeface="Cambria Math"/>
                        </a:rPr>
                        <m:t>且</m:t>
                      </m:r>
                      <m:sSup>
                        <m:sSupPr>
                          <m:ctrlPr>
                            <a:rPr lang="zh-CN" altLang="zh-CN" sz="2400" b="1" i="1">
                              <a:solidFill>
                                <a:srgbClr val="FFFF00"/>
                              </a:solidFill>
                              <a:latin typeface="Cambria Math" panose="02040503050406030204" pitchFamily="18" charset="0"/>
                            </a:rPr>
                          </m:ctrlPr>
                        </m:sSupPr>
                        <m:e>
                          <m:r>
                            <a:rPr lang="en-US" altLang="zh-CN" sz="2400" b="1" i="1">
                              <a:solidFill>
                                <a:srgbClr val="FFFF00"/>
                              </a:solidFill>
                              <a:latin typeface="Cambria Math"/>
                            </a:rPr>
                            <m:t>𝒇</m:t>
                          </m:r>
                        </m:e>
                        <m:sup>
                          <m:r>
                            <a:rPr lang="en-US" altLang="zh-CN" sz="2400" b="1" i="1">
                              <a:solidFill>
                                <a:srgbClr val="FFFF00"/>
                              </a:solidFill>
                              <a:latin typeface="Cambria Math"/>
                            </a:rPr>
                            <m:t>−</m:t>
                          </m:r>
                          <m:r>
                            <a:rPr lang="en-US" altLang="zh-CN" sz="2400" b="1" i="1">
                              <a:solidFill>
                                <a:srgbClr val="FFFF00"/>
                              </a:solidFill>
                              <a:latin typeface="Cambria Math"/>
                            </a:rPr>
                            <m:t>𝟏</m:t>
                          </m:r>
                        </m:sup>
                      </m:sSup>
                      <m:d>
                        <m:dPr>
                          <m:ctrlPr>
                            <a:rPr lang="zh-CN" altLang="zh-CN" sz="2400" b="1" i="1">
                              <a:solidFill>
                                <a:srgbClr val="FFFF00"/>
                              </a:solidFill>
                              <a:latin typeface="Cambria Math" panose="02040503050406030204" pitchFamily="18" charset="0"/>
                            </a:rPr>
                          </m:ctrlPr>
                        </m:dPr>
                        <m:e>
                          <m:sSub>
                            <m:sSubPr>
                              <m:ctrlPr>
                                <a:rPr lang="zh-CN" altLang="zh-CN" sz="2400" b="1" i="1">
                                  <a:solidFill>
                                    <a:srgbClr val="FFFF00"/>
                                  </a:solidFill>
                                  <a:latin typeface="Cambria Math" panose="02040503050406030204" pitchFamily="18" charset="0"/>
                                </a:rPr>
                              </m:ctrlPr>
                            </m:sSubPr>
                            <m:e>
                              <m:r>
                                <a:rPr lang="en-US" altLang="zh-CN" sz="2400" b="1" i="1">
                                  <a:solidFill>
                                    <a:srgbClr val="FFFF00"/>
                                  </a:solidFill>
                                  <a:latin typeface="Cambria Math"/>
                                </a:rPr>
                                <m:t>𝑩</m:t>
                              </m:r>
                            </m:e>
                            <m:sub>
                              <m:r>
                                <a:rPr lang="en-US" altLang="zh-CN" sz="2400" b="1" i="1">
                                  <a:solidFill>
                                    <a:srgbClr val="FFFF00"/>
                                  </a:solidFill>
                                  <a:latin typeface="Cambria Math"/>
                                </a:rPr>
                                <m:t>𝟏</m:t>
                              </m:r>
                            </m:sub>
                          </m:sSub>
                        </m:e>
                      </m:d>
                      <m:r>
                        <a:rPr lang="en-US" altLang="zh-CN" sz="2400" b="1" i="1">
                          <a:solidFill>
                            <a:srgbClr val="FFFF00"/>
                          </a:solidFill>
                          <a:latin typeface="Cambria Math"/>
                        </a:rPr>
                        <m:t>⊆</m:t>
                      </m:r>
                      <m:r>
                        <a:rPr lang="en-US" altLang="zh-CN" sz="2400" b="1" i="1">
                          <a:solidFill>
                            <a:srgbClr val="FFFF00"/>
                          </a:solidFill>
                          <a:latin typeface="Cambria Math"/>
                        </a:rPr>
                        <m:t>𝑨</m:t>
                      </m:r>
                    </m:oMath>
                  </m:oMathPara>
                </a14:m>
                <a:endParaRPr lang="zh-CN" altLang="zh-CN" sz="2400" b="1" dirty="0">
                  <a:solidFill>
                    <a:srgbClr val="FFFF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95536" y="1868958"/>
                <a:ext cx="8352928" cy="4383188"/>
              </a:xfrm>
              <a:prstGeom prst="rect">
                <a:avLst/>
              </a:prstGeom>
              <a:blipFill>
                <a:blip r:embed="rId3"/>
                <a:stretch>
                  <a:fillRect l="-1168" t="-556" r="-438"/>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BB094F-0C73-4E53-AB96-1E1AE23DD02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5843" name="Text Box 2"/>
          <p:cNvSpPr txBox="1">
            <a:spLocks noChangeArrowheads="1"/>
          </p:cNvSpPr>
          <p:nvPr/>
        </p:nvSpPr>
        <p:spPr bwMode="auto">
          <a:xfrm>
            <a:off x="1258888"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3584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5">
            <a:extLst>
              <a:ext uri="{FF2B5EF4-FFF2-40B4-BE49-F238E27FC236}">
                <a16:creationId xmlns:a16="http://schemas.microsoft.com/office/drawing/2014/main" id="{4A8B9AE1-AA0C-44D5-8096-250C3F8B5C30}"/>
              </a:ext>
            </a:extLst>
          </p:cNvPr>
          <p:cNvPicPr>
            <a:picLocks noChangeAspect="1"/>
          </p:cNvPicPr>
          <p:nvPr/>
        </p:nvPicPr>
        <p:blipFill>
          <a:blip r:embed="rId3"/>
          <a:stretch>
            <a:fillRect/>
          </a:stretch>
        </p:blipFill>
        <p:spPr>
          <a:xfrm>
            <a:off x="251520" y="1988840"/>
            <a:ext cx="8784976" cy="3925323"/>
          </a:xfrm>
          <a:prstGeom prst="rect">
            <a:avLst/>
          </a:prstGeom>
        </p:spPr>
      </p:pic>
    </p:spTree>
    <p:extLst>
      <p:ext uri="{BB962C8B-B14F-4D97-AF65-F5344CB8AC3E}">
        <p14:creationId xmlns:p14="http://schemas.microsoft.com/office/powerpoint/2010/main" val="1645646183"/>
      </p:ext>
    </p:extLst>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52BBE9D-C758-4D40-87B7-A885B66C53DA}"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38915" name="Text Box 2"/>
          <p:cNvSpPr txBox="1">
            <a:spLocks noChangeArrowheads="1"/>
          </p:cNvSpPr>
          <p:nvPr/>
        </p:nvSpPr>
        <p:spPr bwMode="auto">
          <a:xfrm>
            <a:off x="1258888" y="752475"/>
            <a:ext cx="648017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dirty="0">
                <a:solidFill>
                  <a:schemeClr val="bg1"/>
                </a:solidFill>
                <a:latin typeface="宋体" pitchFamily="2" charset="-122"/>
                <a:ea typeface="宋体" pitchFamily="2" charset="-122"/>
              </a:rPr>
              <a:t> 集合像的性质</a:t>
            </a:r>
          </a:p>
        </p:txBody>
      </p:sp>
      <p:pic>
        <p:nvPicPr>
          <p:cNvPr id="3891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503548" y="1844824"/>
                <a:ext cx="8136904" cy="4115935"/>
              </a:xfrm>
              <a:prstGeom prst="rect">
                <a:avLst/>
              </a:prstGeom>
              <a:solidFill>
                <a:schemeClr val="accent6">
                  <a:lumMod val="75000"/>
                </a:schemeClr>
              </a:solidFill>
            </p:spPr>
            <p:txBody>
              <a:bodyPr wrap="square" rtlCol="0">
                <a:spAutoFit/>
              </a:bodyPr>
              <a:lstStyle/>
              <a:p>
                <a:pPr>
                  <a:lnSpc>
                    <a:spcPct val="150000"/>
                  </a:lnSpc>
                  <a:spcBef>
                    <a:spcPts val="600"/>
                  </a:spcBef>
                </a:pPr>
                <a:r>
                  <a:rPr lang="en-US" altLang="zh-CN" sz="2800" b="1" dirty="0">
                    <a:solidFill>
                      <a:schemeClr val="bg1"/>
                    </a:solidFill>
                  </a:rPr>
                  <a:t>   </a:t>
                </a:r>
                <a:r>
                  <a:rPr lang="zh-CN" altLang="zh-CN" sz="2800" b="1" dirty="0">
                    <a:solidFill>
                      <a:schemeClr val="bg1"/>
                    </a:solidFill>
                  </a:rPr>
                  <a:t>【定理】设</a:t>
                </a:r>
                <a14:m>
                  <m:oMath xmlns:m="http://schemas.openxmlformats.org/officeDocument/2006/math">
                    <m:r>
                      <a:rPr lang="en-US" altLang="zh-CN" sz="2800" b="1" i="1">
                        <a:solidFill>
                          <a:schemeClr val="bg1"/>
                        </a:solidFill>
                        <a:latin typeface="Cambria Math"/>
                      </a:rPr>
                      <m:t>𝑨</m:t>
                    </m:r>
                  </m:oMath>
                </a14:m>
                <a:r>
                  <a:rPr lang="zh-CN" altLang="zh-CN" sz="2800" b="1" dirty="0">
                    <a:solidFill>
                      <a:schemeClr val="bg1"/>
                    </a:solidFill>
                  </a:rPr>
                  <a:t>和</a:t>
                </a:r>
                <a14:m>
                  <m:oMath xmlns:m="http://schemas.openxmlformats.org/officeDocument/2006/math">
                    <m:r>
                      <a:rPr lang="en-US" altLang="zh-CN" sz="2800" b="1" i="1">
                        <a:solidFill>
                          <a:schemeClr val="bg1"/>
                        </a:solidFill>
                        <a:latin typeface="Cambria Math"/>
                      </a:rPr>
                      <m:t>𝑩</m:t>
                    </m:r>
                  </m:oMath>
                </a14:m>
                <a:r>
                  <a:rPr lang="zh-CN" altLang="zh-CN" sz="2800" b="1" dirty="0">
                    <a:solidFill>
                      <a:schemeClr val="bg1"/>
                    </a:solidFill>
                  </a:rPr>
                  <a:t>是任意给定的两个非空集合，</a:t>
                </a:r>
                <a14:m>
                  <m:oMath xmlns:m="http://schemas.openxmlformats.org/officeDocument/2006/math">
                    <m:r>
                      <a:rPr lang="en-US" altLang="zh-CN" sz="2800" b="1" i="1">
                        <a:solidFill>
                          <a:schemeClr val="bg1"/>
                        </a:solidFill>
                        <a:latin typeface="Cambria Math"/>
                      </a:rPr>
                      <m:t>𝑿</m:t>
                    </m:r>
                    <m:r>
                      <a:rPr lang="zh-CN" altLang="zh-CN" sz="2800" b="1">
                        <a:solidFill>
                          <a:schemeClr val="bg1"/>
                        </a:solidFill>
                        <a:latin typeface="Cambria Math"/>
                      </a:rPr>
                      <m:t>和</m:t>
                    </m:r>
                    <m:r>
                      <a:rPr lang="en-US" altLang="zh-CN" sz="2800" b="1" i="1">
                        <a:solidFill>
                          <a:schemeClr val="bg1"/>
                        </a:solidFill>
                        <a:latin typeface="Cambria Math"/>
                      </a:rPr>
                      <m:t>𝒀</m:t>
                    </m:r>
                  </m:oMath>
                </a14:m>
                <a:r>
                  <a:rPr lang="zh-CN" altLang="zh-CN" sz="2800" b="1" dirty="0">
                    <a:solidFill>
                      <a:schemeClr val="bg1"/>
                    </a:solidFill>
                  </a:rPr>
                  <a:t>是</a:t>
                </a:r>
                <a14:m>
                  <m:oMath xmlns:m="http://schemas.openxmlformats.org/officeDocument/2006/math">
                    <m:r>
                      <a:rPr lang="zh-CN" altLang="zh-CN" sz="2800" b="1">
                        <a:solidFill>
                          <a:schemeClr val="bg1"/>
                        </a:solidFill>
                        <a:latin typeface="Cambria Math"/>
                      </a:rPr>
                      <m:t>集合</m:t>
                    </m:r>
                    <m:r>
                      <a:rPr lang="en-US" altLang="zh-CN" sz="2800" b="1" i="1">
                        <a:solidFill>
                          <a:schemeClr val="bg1"/>
                        </a:solidFill>
                        <a:latin typeface="Cambria Math"/>
                      </a:rPr>
                      <m:t>𝑨</m:t>
                    </m:r>
                  </m:oMath>
                </a14:m>
                <a:r>
                  <a:rPr lang="zh-CN" altLang="zh-CN" sz="2800" b="1" dirty="0">
                    <a:solidFill>
                      <a:schemeClr val="bg1"/>
                    </a:solidFill>
                  </a:rPr>
                  <a:t>的</a:t>
                </a:r>
                <a:r>
                  <a:rPr lang="zh-CN" altLang="zh-CN" sz="2800" b="1" dirty="0">
                    <a:solidFill>
                      <a:srgbClr val="FFFF00"/>
                    </a:solidFill>
                  </a:rPr>
                  <a:t>任意两个非空子集</a:t>
                </a:r>
                <a:r>
                  <a:rPr lang="zh-CN" altLang="en-US" sz="2800" b="1" dirty="0">
                    <a:solidFill>
                      <a:schemeClr val="bg1"/>
                    </a:solidFill>
                  </a:rPr>
                  <a:t>，即</a:t>
                </a:r>
                <a14:m>
                  <m:oMath xmlns:m="http://schemas.openxmlformats.org/officeDocument/2006/math">
                    <m:r>
                      <a:rPr lang="zh-CN" altLang="en-US" sz="2800" b="1" i="1" dirty="0">
                        <a:solidFill>
                          <a:schemeClr val="bg1"/>
                        </a:solidFill>
                        <a:latin typeface="Cambria Math" panose="02040503050406030204" pitchFamily="18" charset="0"/>
                      </a:rPr>
                      <m:t>：</m:t>
                    </m:r>
                  </m:oMath>
                </a14:m>
                <a:endParaRPr lang="en-US" altLang="zh-CN" sz="2800" b="1" i="1" dirty="0">
                  <a:solidFill>
                    <a:schemeClr val="bg1"/>
                  </a:solidFill>
                  <a:latin typeface="Cambria Math" panose="02040503050406030204" pitchFamily="18" charset="0"/>
                </a:endParaRPr>
              </a:p>
              <a:p>
                <a:pPr>
                  <a:lnSpc>
                    <a:spcPct val="150000"/>
                  </a:lnSpc>
                  <a:spcBef>
                    <a:spcPts val="600"/>
                  </a:spcBef>
                </a:pPr>
                <a14:m>
                  <m:oMathPara xmlns:m="http://schemas.openxmlformats.org/officeDocument/2006/math">
                    <m:oMathParaPr>
                      <m:jc m:val="centerGroup"/>
                    </m:oMathParaPr>
                    <m:oMath xmlns:m="http://schemas.openxmlformats.org/officeDocument/2006/math">
                      <m:r>
                        <a:rPr lang="en-US" altLang="zh-CN" sz="2800" b="1" i="1">
                          <a:solidFill>
                            <a:schemeClr val="bg1"/>
                          </a:solidFill>
                          <a:latin typeface="Cambria Math"/>
                        </a:rPr>
                        <m:t>𝑿</m:t>
                      </m:r>
                      <m:r>
                        <a:rPr lang="en-US" altLang="zh-CN" sz="2800" b="1" i="1">
                          <a:solidFill>
                            <a:schemeClr val="bg1"/>
                          </a:solidFill>
                          <a:latin typeface="Cambria Math"/>
                        </a:rPr>
                        <m:t>⊆</m:t>
                      </m:r>
                      <m:r>
                        <a:rPr lang="en-US" altLang="zh-CN" sz="2800" b="1" i="1">
                          <a:solidFill>
                            <a:schemeClr val="bg1"/>
                          </a:solidFill>
                          <a:latin typeface="Cambria Math"/>
                        </a:rPr>
                        <m:t>𝑨</m:t>
                      </m:r>
                      <m:r>
                        <a:rPr lang="en-US" altLang="zh-CN" sz="2800" b="1" i="1">
                          <a:solidFill>
                            <a:schemeClr val="bg1"/>
                          </a:solidFill>
                          <a:latin typeface="Cambria Math"/>
                        </a:rPr>
                        <m:t>,</m:t>
                      </m:r>
                      <m:r>
                        <a:rPr lang="en-US" altLang="zh-CN" sz="2800" b="1" i="1">
                          <a:solidFill>
                            <a:schemeClr val="bg1"/>
                          </a:solidFill>
                          <a:latin typeface="Cambria Math"/>
                        </a:rPr>
                        <m:t>𝒀</m:t>
                      </m:r>
                      <m:r>
                        <a:rPr lang="en-US" altLang="zh-CN" sz="2800" b="1" i="1">
                          <a:solidFill>
                            <a:schemeClr val="bg1"/>
                          </a:solidFill>
                          <a:latin typeface="Cambria Math"/>
                        </a:rPr>
                        <m:t>⊆</m:t>
                      </m:r>
                      <m:r>
                        <a:rPr lang="en-US" altLang="zh-CN" sz="2800" b="1" i="1">
                          <a:solidFill>
                            <a:schemeClr val="bg1"/>
                          </a:solidFill>
                          <a:latin typeface="Cambria Math"/>
                        </a:rPr>
                        <m:t>𝑨</m:t>
                      </m:r>
                      <m:r>
                        <a:rPr lang="zh-CN" altLang="zh-CN" sz="2800" b="1" i="1">
                          <a:solidFill>
                            <a:schemeClr val="bg1"/>
                          </a:solidFill>
                          <a:latin typeface="Cambria Math"/>
                        </a:rPr>
                        <m:t>。</m:t>
                      </m:r>
                    </m:oMath>
                  </m:oMathPara>
                </a14:m>
                <a:endParaRPr lang="en-US" altLang="zh-CN" sz="2800" b="1" i="1" dirty="0">
                  <a:solidFill>
                    <a:schemeClr val="bg1"/>
                  </a:solidFill>
                  <a:latin typeface="Cambria Math"/>
                </a:endParaRPr>
              </a:p>
              <a:p>
                <a:pPr>
                  <a:lnSpc>
                    <a:spcPct val="150000"/>
                  </a:lnSpc>
                  <a:spcBef>
                    <a:spcPts val="600"/>
                  </a:spcBef>
                </a:pPr>
                <a14:m>
                  <m:oMath xmlns:m="http://schemas.openxmlformats.org/officeDocument/2006/math">
                    <m:r>
                      <a:rPr lang="zh-CN" altLang="zh-CN" sz="2800" b="1" i="1">
                        <a:solidFill>
                          <a:schemeClr val="bg1"/>
                        </a:solidFill>
                        <a:latin typeface="Cambria Math"/>
                      </a:rPr>
                      <m:t> </m:t>
                    </m:r>
                    <m:r>
                      <a:rPr lang="en-US" altLang="zh-CN" sz="2800" b="1" i="1">
                        <a:solidFill>
                          <a:schemeClr val="bg1"/>
                        </a:solidFill>
                        <a:latin typeface="Cambria Math"/>
                      </a:rPr>
                      <m:t>𝒇</m:t>
                    </m:r>
                  </m:oMath>
                </a14:m>
                <a:r>
                  <a:rPr lang="zh-CN" altLang="zh-CN" sz="2800" b="1" dirty="0">
                    <a:solidFill>
                      <a:schemeClr val="bg1"/>
                    </a:solidFill>
                  </a:rPr>
                  <a:t>是一个</a:t>
                </a:r>
                <a:r>
                  <a:rPr lang="zh-CN" altLang="zh-CN" sz="2800" b="1" dirty="0">
                    <a:solidFill>
                      <a:srgbClr val="FFFF00"/>
                    </a:solidFill>
                  </a:rPr>
                  <a:t>从</a:t>
                </a:r>
                <a14:m>
                  <m:oMath xmlns:m="http://schemas.openxmlformats.org/officeDocument/2006/math">
                    <m:r>
                      <a:rPr lang="en-US" altLang="zh-CN" sz="2800" b="1" i="1">
                        <a:solidFill>
                          <a:srgbClr val="FFFF00"/>
                        </a:solidFill>
                        <a:latin typeface="Cambria Math"/>
                      </a:rPr>
                      <m:t>𝑨</m:t>
                    </m:r>
                  </m:oMath>
                </a14:m>
                <a:r>
                  <a:rPr lang="zh-CN" altLang="zh-CN" sz="2800" b="1" dirty="0">
                    <a:solidFill>
                      <a:srgbClr val="FFFF00"/>
                    </a:solidFill>
                  </a:rPr>
                  <a:t>和</a:t>
                </a:r>
                <a14:m>
                  <m:oMath xmlns:m="http://schemas.openxmlformats.org/officeDocument/2006/math">
                    <m:r>
                      <a:rPr lang="en-US" altLang="zh-CN" sz="2800" b="1" i="1">
                        <a:solidFill>
                          <a:srgbClr val="FFFF00"/>
                        </a:solidFill>
                        <a:latin typeface="Cambria Math"/>
                      </a:rPr>
                      <m:t>𝑩</m:t>
                    </m:r>
                  </m:oMath>
                </a14:m>
                <a:r>
                  <a:rPr lang="zh-CN" altLang="zh-CN" sz="2800" b="1" dirty="0">
                    <a:solidFill>
                      <a:srgbClr val="FFFF00"/>
                    </a:solidFill>
                  </a:rPr>
                  <a:t>函数</a:t>
                </a:r>
                <a:r>
                  <a:rPr lang="zh-CN" altLang="zh-CN" sz="2800" b="1" dirty="0">
                    <a:solidFill>
                      <a:schemeClr val="bg1"/>
                    </a:solidFill>
                  </a:rPr>
                  <a:t>，则有：</a:t>
                </a:r>
              </a:p>
              <a:p>
                <a:pPr>
                  <a:lnSpc>
                    <a:spcPct val="150000"/>
                  </a:lnSpc>
                  <a:spcBef>
                    <a:spcPts val="600"/>
                  </a:spcBef>
                </a:pPr>
                <a:r>
                  <a:rPr lang="en-US" altLang="zh-CN" sz="2800" b="1" dirty="0">
                    <a:solidFill>
                      <a:schemeClr val="bg1"/>
                    </a:solidFill>
                  </a:rPr>
                  <a:t>      </a:t>
                </a:r>
                <a:r>
                  <a:rPr lang="zh-CN" altLang="zh-CN" sz="2800" b="1" dirty="0">
                    <a:solidFill>
                      <a:srgbClr val="FFFF00"/>
                    </a:solidFill>
                  </a:rPr>
                  <a:t>（</a:t>
                </a:r>
                <a:r>
                  <a:rPr lang="en-US" altLang="zh-CN" sz="2800" b="1" dirty="0">
                    <a:solidFill>
                      <a:srgbClr val="FFFF00"/>
                    </a:solidFill>
                  </a:rPr>
                  <a:t>1</a:t>
                </a:r>
                <a:r>
                  <a:rPr lang="zh-CN" altLang="zh-CN" sz="2800" b="1" dirty="0">
                    <a:solidFill>
                      <a:srgbClr val="FFFF00"/>
                    </a:solidFill>
                  </a:rPr>
                  <a:t>）</a:t>
                </a:r>
                <a14:m>
                  <m:oMath xmlns:m="http://schemas.openxmlformats.org/officeDocument/2006/math">
                    <m:r>
                      <a:rPr lang="en-US" altLang="zh-CN" sz="2800" b="1" i="1">
                        <a:solidFill>
                          <a:srgbClr val="FFFF00"/>
                        </a:solidFill>
                        <a:latin typeface="Cambria Math"/>
                      </a:rPr>
                      <m:t>𝒇</m:t>
                    </m:r>
                    <m:d>
                      <m:dPr>
                        <m:ctrlPr>
                          <a:rPr lang="zh-CN" altLang="zh-CN" sz="2800" b="1" i="1">
                            <a:solidFill>
                              <a:srgbClr val="FFFF00"/>
                            </a:solidFill>
                            <a:latin typeface="Cambria Math" panose="02040503050406030204" pitchFamily="18" charset="0"/>
                          </a:rPr>
                        </m:ctrlPr>
                      </m:dPr>
                      <m:e>
                        <m:r>
                          <a:rPr lang="en-US" altLang="zh-CN" sz="2800" b="1" i="1">
                            <a:solidFill>
                              <a:srgbClr val="FFFF00"/>
                            </a:solidFill>
                            <a:latin typeface="Cambria Math"/>
                          </a:rPr>
                          <m:t>𝑿</m:t>
                        </m:r>
                        <m:r>
                          <a:rPr lang="en-US" altLang="zh-CN" sz="2800" b="1" i="1">
                            <a:solidFill>
                              <a:srgbClr val="FFFF00"/>
                            </a:solidFill>
                            <a:latin typeface="Cambria Math"/>
                          </a:rPr>
                          <m:t>∪</m:t>
                        </m:r>
                        <m:r>
                          <a:rPr lang="en-US" altLang="zh-CN" sz="2800" b="1" i="1">
                            <a:solidFill>
                              <a:srgbClr val="FFFF00"/>
                            </a:solidFill>
                            <a:latin typeface="Cambria Math"/>
                          </a:rPr>
                          <m:t>𝒀</m:t>
                        </m:r>
                      </m:e>
                    </m:d>
                    <m:r>
                      <a:rPr lang="en-US" altLang="zh-CN" sz="2800" b="1" i="1">
                        <a:solidFill>
                          <a:srgbClr val="FFFF00"/>
                        </a:solidFill>
                        <a:latin typeface="Cambria Math"/>
                      </a:rPr>
                      <m:t>=</m:t>
                    </m:r>
                    <m:r>
                      <a:rPr lang="en-US" altLang="zh-CN" sz="2800" b="1" i="1">
                        <a:solidFill>
                          <a:srgbClr val="FFFF00"/>
                        </a:solidFill>
                        <a:latin typeface="Cambria Math"/>
                      </a:rPr>
                      <m:t>𝒇</m:t>
                    </m:r>
                    <m:r>
                      <a:rPr lang="en-US" altLang="zh-CN" sz="2800" b="1" i="1">
                        <a:solidFill>
                          <a:srgbClr val="FFFF00"/>
                        </a:solidFill>
                        <a:latin typeface="Cambria Math"/>
                      </a:rPr>
                      <m:t>(</m:t>
                    </m:r>
                    <m:r>
                      <a:rPr lang="en-US" altLang="zh-CN" sz="2800" b="1" i="1">
                        <a:solidFill>
                          <a:srgbClr val="FFFF00"/>
                        </a:solidFill>
                        <a:latin typeface="Cambria Math"/>
                      </a:rPr>
                      <m:t>𝑿</m:t>
                    </m:r>
                    <m:r>
                      <a:rPr lang="en-US" altLang="zh-CN" sz="2800" b="1" i="1">
                        <a:solidFill>
                          <a:srgbClr val="FFFF00"/>
                        </a:solidFill>
                        <a:latin typeface="Cambria Math"/>
                      </a:rPr>
                      <m:t>)∪</m:t>
                    </m:r>
                    <m:r>
                      <a:rPr lang="en-US" altLang="zh-CN" sz="2800" b="1" i="1">
                        <a:solidFill>
                          <a:srgbClr val="FFFF00"/>
                        </a:solidFill>
                        <a:latin typeface="Cambria Math"/>
                      </a:rPr>
                      <m:t>𝒇</m:t>
                    </m:r>
                    <m:r>
                      <a:rPr lang="en-US" altLang="zh-CN" sz="2800" b="1" i="1">
                        <a:solidFill>
                          <a:srgbClr val="FFFF00"/>
                        </a:solidFill>
                        <a:latin typeface="Cambria Math"/>
                      </a:rPr>
                      <m:t>(</m:t>
                    </m:r>
                    <m:r>
                      <a:rPr lang="en-US" altLang="zh-CN" sz="2800" b="1" i="1">
                        <a:solidFill>
                          <a:srgbClr val="FFFF00"/>
                        </a:solidFill>
                        <a:latin typeface="Cambria Math"/>
                      </a:rPr>
                      <m:t>𝒀</m:t>
                    </m:r>
                    <m:r>
                      <a:rPr lang="en-US" altLang="zh-CN" sz="2800" b="1" i="1">
                        <a:solidFill>
                          <a:srgbClr val="FFFF00"/>
                        </a:solidFill>
                        <a:latin typeface="Cambria Math"/>
                      </a:rPr>
                      <m:t>)</m:t>
                    </m:r>
                  </m:oMath>
                </a14:m>
                <a:endParaRPr lang="en-US" altLang="zh-CN" sz="2800" b="1" dirty="0">
                  <a:solidFill>
                    <a:srgbClr val="FFFF00"/>
                  </a:solidFill>
                </a:endParaRPr>
              </a:p>
              <a:p>
                <a:pPr>
                  <a:lnSpc>
                    <a:spcPct val="150000"/>
                  </a:lnSpc>
                  <a:spcBef>
                    <a:spcPts val="600"/>
                  </a:spcBef>
                </a:pPr>
                <a:r>
                  <a:rPr lang="en-US" altLang="zh-CN" sz="2800" b="1" dirty="0">
                    <a:solidFill>
                      <a:srgbClr val="FFFF00"/>
                    </a:solidFill>
                  </a:rPr>
                  <a:t>      </a:t>
                </a:r>
                <a:r>
                  <a:rPr lang="zh-CN" altLang="zh-CN" sz="2800" b="1" dirty="0">
                    <a:solidFill>
                      <a:srgbClr val="FFFF00"/>
                    </a:solidFill>
                  </a:rPr>
                  <a:t>（</a:t>
                </a:r>
                <a:r>
                  <a:rPr lang="en-US" altLang="zh-CN" sz="2800" b="1" dirty="0">
                    <a:solidFill>
                      <a:srgbClr val="FFFF00"/>
                    </a:solidFill>
                  </a:rPr>
                  <a:t>2</a:t>
                </a:r>
                <a:r>
                  <a:rPr lang="zh-CN" altLang="zh-CN" sz="2800" b="1" dirty="0">
                    <a:solidFill>
                      <a:srgbClr val="FFFF00"/>
                    </a:solidFill>
                  </a:rPr>
                  <a:t>）</a:t>
                </a:r>
                <a14:m>
                  <m:oMath xmlns:m="http://schemas.openxmlformats.org/officeDocument/2006/math">
                    <m:r>
                      <a:rPr lang="en-US" altLang="zh-CN" sz="2800" b="1" i="1">
                        <a:solidFill>
                          <a:srgbClr val="FFFF00"/>
                        </a:solidFill>
                        <a:latin typeface="Cambria Math"/>
                      </a:rPr>
                      <m:t>𝒇</m:t>
                    </m:r>
                    <m:d>
                      <m:dPr>
                        <m:ctrlPr>
                          <a:rPr lang="zh-CN" altLang="zh-CN" sz="2800" b="1" i="1">
                            <a:solidFill>
                              <a:srgbClr val="FFFF00"/>
                            </a:solidFill>
                            <a:latin typeface="Cambria Math" panose="02040503050406030204" pitchFamily="18" charset="0"/>
                          </a:rPr>
                        </m:ctrlPr>
                      </m:dPr>
                      <m:e>
                        <m:r>
                          <a:rPr lang="en-US" altLang="zh-CN" sz="2800" b="1" i="1">
                            <a:solidFill>
                              <a:srgbClr val="FFFF00"/>
                            </a:solidFill>
                            <a:latin typeface="Cambria Math"/>
                          </a:rPr>
                          <m:t>𝑿</m:t>
                        </m:r>
                        <m:r>
                          <a:rPr lang="en-US" altLang="zh-CN" sz="2800" b="1" i="1">
                            <a:solidFill>
                              <a:srgbClr val="FFFF00"/>
                            </a:solidFill>
                            <a:latin typeface="Cambria Math"/>
                          </a:rPr>
                          <m:t>∩</m:t>
                        </m:r>
                        <m:r>
                          <a:rPr lang="en-US" altLang="zh-CN" sz="2800" b="1" i="1">
                            <a:solidFill>
                              <a:srgbClr val="FFFF00"/>
                            </a:solidFill>
                            <a:latin typeface="Cambria Math"/>
                          </a:rPr>
                          <m:t>𝒀</m:t>
                        </m:r>
                      </m:e>
                    </m:d>
                    <m:r>
                      <a:rPr lang="en-US" altLang="zh-CN" sz="2800" b="1" i="1">
                        <a:solidFill>
                          <a:srgbClr val="FFFF00"/>
                        </a:solidFill>
                        <a:latin typeface="Cambria Math"/>
                      </a:rPr>
                      <m:t>⊆</m:t>
                    </m:r>
                    <m:r>
                      <a:rPr lang="en-US" altLang="zh-CN" sz="2800" b="1" i="1">
                        <a:solidFill>
                          <a:srgbClr val="FFFF00"/>
                        </a:solidFill>
                        <a:latin typeface="Cambria Math"/>
                      </a:rPr>
                      <m:t>𝒇</m:t>
                    </m:r>
                    <m:r>
                      <a:rPr lang="en-US" altLang="zh-CN" sz="2800" b="1" i="1">
                        <a:solidFill>
                          <a:srgbClr val="FFFF00"/>
                        </a:solidFill>
                        <a:latin typeface="Cambria Math"/>
                      </a:rPr>
                      <m:t>(</m:t>
                    </m:r>
                    <m:r>
                      <a:rPr lang="en-US" altLang="zh-CN" sz="2800" b="1" i="1">
                        <a:solidFill>
                          <a:srgbClr val="FFFF00"/>
                        </a:solidFill>
                        <a:latin typeface="Cambria Math"/>
                      </a:rPr>
                      <m:t>𝑿</m:t>
                    </m:r>
                    <m:r>
                      <a:rPr lang="en-US" altLang="zh-CN" sz="2800" b="1" i="1">
                        <a:solidFill>
                          <a:srgbClr val="FFFF00"/>
                        </a:solidFill>
                        <a:latin typeface="Cambria Math"/>
                      </a:rPr>
                      <m:t>)∩</m:t>
                    </m:r>
                    <m:r>
                      <a:rPr lang="en-US" altLang="zh-CN" sz="2800" b="1" i="1">
                        <a:solidFill>
                          <a:srgbClr val="FFFF00"/>
                        </a:solidFill>
                        <a:latin typeface="Cambria Math"/>
                      </a:rPr>
                      <m:t>𝒇</m:t>
                    </m:r>
                    <m:r>
                      <a:rPr lang="en-US" altLang="zh-CN" sz="2800" b="1" i="1">
                        <a:solidFill>
                          <a:srgbClr val="FFFF00"/>
                        </a:solidFill>
                        <a:latin typeface="Cambria Math"/>
                      </a:rPr>
                      <m:t>(</m:t>
                    </m:r>
                    <m:r>
                      <a:rPr lang="en-US" altLang="zh-CN" sz="2800" b="1" i="1">
                        <a:solidFill>
                          <a:srgbClr val="FFFF00"/>
                        </a:solidFill>
                        <a:latin typeface="Cambria Math"/>
                      </a:rPr>
                      <m:t>𝒀</m:t>
                    </m:r>
                    <m:r>
                      <a:rPr lang="en-US" altLang="zh-CN" sz="2800" b="1" i="1">
                        <a:solidFill>
                          <a:srgbClr val="FFFF00"/>
                        </a:solidFill>
                        <a:latin typeface="Cambria Math"/>
                      </a:rPr>
                      <m:t>)</m:t>
                    </m:r>
                  </m:oMath>
                </a14:m>
                <a:endParaRPr lang="zh-CN" altLang="zh-CN" sz="2800" b="1" dirty="0">
                  <a:solidFill>
                    <a:srgbClr val="FFFF00"/>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503548" y="1844824"/>
                <a:ext cx="8136904" cy="4115935"/>
              </a:xfrm>
              <a:prstGeom prst="rect">
                <a:avLst/>
              </a:prstGeom>
              <a:blipFill>
                <a:blip r:embed="rId3"/>
                <a:stretch>
                  <a:fillRect b="-281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2AC9320-B947-4727-A6B3-118FC03C4B18}"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3994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995410" y="1988840"/>
                <a:ext cx="7562009" cy="3957558"/>
              </a:xfrm>
              <a:prstGeom prst="rect">
                <a:avLst/>
              </a:prstGeom>
              <a:solidFill>
                <a:schemeClr val="accent6">
                  <a:lumMod val="75000"/>
                </a:schemeClr>
              </a:solidFill>
            </p:spPr>
            <p:txBody>
              <a:bodyPr wrap="square" rtlCol="0">
                <a:spAutoFit/>
              </a:bodyPr>
              <a:lstStyle/>
              <a:p>
                <a:pPr>
                  <a:lnSpc>
                    <a:spcPct val="150000"/>
                  </a:lnSpc>
                </a:pPr>
                <a:r>
                  <a:rPr lang="zh-CN" altLang="zh-CN" sz="2400" b="1" dirty="0">
                    <a:solidFill>
                      <a:schemeClr val="bg1"/>
                    </a:solidFill>
                  </a:rPr>
                  <a:t>【证明】</a:t>
                </a:r>
                <a:endParaRPr lang="en-US" altLang="zh-CN" sz="2400" b="1" dirty="0">
                  <a:solidFill>
                    <a:schemeClr val="bg1"/>
                  </a:solidFill>
                </a:endParaRPr>
              </a:p>
              <a:p>
                <a:pPr>
                  <a:lnSpc>
                    <a:spcPct val="150000"/>
                  </a:lnSpc>
                </a:pPr>
                <a:r>
                  <a:rPr lang="zh-CN" altLang="zh-CN" sz="2400" b="1" dirty="0">
                    <a:solidFill>
                      <a:schemeClr val="bg1"/>
                    </a:solidFill>
                  </a:rPr>
                  <a:t>（</a:t>
                </a:r>
                <a:r>
                  <a:rPr lang="en-US" altLang="zh-CN" sz="2400" b="1" dirty="0">
                    <a:solidFill>
                      <a:schemeClr val="bg1"/>
                    </a:solidFill>
                  </a:rPr>
                  <a:t>1</a:t>
                </a:r>
                <a:r>
                  <a:rPr lang="zh-CN" altLang="zh-CN" sz="2400" b="1" dirty="0">
                    <a:solidFill>
                      <a:schemeClr val="bg1"/>
                    </a:solidFill>
                  </a:rPr>
                  <a:t>）对任意的</a:t>
                </a:r>
                <a14:m>
                  <m:oMath xmlns:m="http://schemas.openxmlformats.org/officeDocument/2006/math">
                    <m:r>
                      <a:rPr lang="en-US" altLang="zh-CN" sz="2400" b="1" i="1">
                        <a:solidFill>
                          <a:schemeClr val="bg1"/>
                        </a:solidFill>
                        <a:latin typeface="Cambria Math"/>
                      </a:rPr>
                      <m:t>𝒚</m:t>
                    </m:r>
                  </m:oMath>
                </a14:m>
                <a:r>
                  <a:rPr lang="zh-CN" altLang="zh-CN" sz="2400" b="1" dirty="0">
                    <a:solidFill>
                      <a:schemeClr val="bg1"/>
                    </a:solidFill>
                  </a:rPr>
                  <a:t>，有：</a:t>
                </a:r>
                <a:endParaRPr lang="en-US" altLang="zh-CN" sz="2400" b="1"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1" i="0" smtClean="0">
                          <a:solidFill>
                            <a:srgbClr val="FFFF00"/>
                          </a:solidFill>
                          <a:latin typeface="Cambria Math"/>
                        </a:rPr>
                        <m:t>   </m:t>
                      </m:r>
                      <m:r>
                        <a:rPr lang="en-US" altLang="zh-CN" sz="2400" b="1" i="1" smtClean="0">
                          <a:solidFill>
                            <a:srgbClr val="FFFF00"/>
                          </a:solidFill>
                          <a:latin typeface="Cambria Math"/>
                        </a:rPr>
                        <m:t>𝒚</m:t>
                      </m:r>
                      <m:r>
                        <a:rPr lang="en-US" altLang="zh-CN" sz="2400" b="1" i="1" smtClean="0">
                          <a:solidFill>
                            <a:srgbClr val="FFFF00"/>
                          </a:solidFill>
                          <a:latin typeface="Cambria Math"/>
                        </a:rPr>
                        <m:t>∈</m:t>
                      </m:r>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𝑩</m:t>
                          </m:r>
                        </m:e>
                      </m:d>
                      <m:r>
                        <a:rPr lang="en-US" altLang="zh-CN" sz="2400" b="1" i="1">
                          <a:solidFill>
                            <a:schemeClr val="bg1"/>
                          </a:solidFill>
                          <a:latin typeface="Cambria Math"/>
                        </a:rPr>
                        <m:t>⇔∃</m:t>
                      </m:r>
                      <m:r>
                        <a:rPr lang="en-US" altLang="zh-CN" sz="2400" b="1" i="1">
                          <a:solidFill>
                            <a:schemeClr val="bg1"/>
                          </a:solidFill>
                          <a:latin typeface="Cambria Math"/>
                        </a:rPr>
                        <m:t>𝒙</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𝑨</m:t>
                          </m:r>
                          <m:r>
                            <a:rPr lang="en-US" altLang="zh-CN" sz="2400" b="1" i="1">
                              <a:solidFill>
                                <a:schemeClr val="bg1"/>
                              </a:solidFill>
                              <a:latin typeface="Cambria Math"/>
                            </a:rPr>
                            <m:t>∪</m:t>
                          </m:r>
                          <m:r>
                            <a:rPr lang="en-US" altLang="zh-CN" sz="2400" b="1" i="1">
                              <a:solidFill>
                                <a:schemeClr val="bg1"/>
                              </a:solidFill>
                              <a:latin typeface="Cambria Math"/>
                            </a:rPr>
                            <m:t>𝑩</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e>
                          </m:d>
                          <m:r>
                            <a:rPr lang="en-US" altLang="zh-CN" sz="2400" b="1" i="1">
                              <a:solidFill>
                                <a:schemeClr val="bg1"/>
                              </a:solidFill>
                              <a:latin typeface="Cambria Math"/>
                            </a:rPr>
                            <m:t>=</m:t>
                          </m:r>
                          <m:r>
                            <a:rPr lang="en-US" altLang="zh-CN" sz="2400" b="1" i="1">
                              <a:solidFill>
                                <a:schemeClr val="bg1"/>
                              </a:solidFill>
                              <a:latin typeface="Cambria Math"/>
                            </a:rPr>
                            <m:t>𝒚</m:t>
                          </m:r>
                        </m:e>
                      </m:d>
                    </m:oMath>
                  </m:oMathPara>
                </a14:m>
                <a:endParaRPr lang="zh-CN" altLang="zh-CN" sz="2400" b="1"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1" i="1">
                          <a:solidFill>
                            <a:schemeClr val="bg1"/>
                          </a:solidFill>
                          <a:latin typeface="Cambria Math"/>
                        </a:rPr>
                        <m:t>          </m:t>
                      </m:r>
                      <m:r>
                        <a:rPr lang="en-US" altLang="zh-CN" sz="2400" b="1" i="1" smtClean="0">
                          <a:solidFill>
                            <a:schemeClr val="bg1"/>
                          </a:solidFill>
                          <a:latin typeface="Cambria Math"/>
                        </a:rPr>
                        <m:t>    </m:t>
                      </m:r>
                      <m:r>
                        <a:rPr lang="en-US" altLang="zh-CN" sz="2400" b="1" i="1">
                          <a:solidFill>
                            <a:schemeClr val="bg1"/>
                          </a:solidFill>
                          <a:latin typeface="Cambria Math"/>
                        </a:rPr>
                        <m:t>⇔∃</m:t>
                      </m:r>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smtClean="0">
                          <a:solidFill>
                            <a:srgbClr val="FFFF00"/>
                          </a:solidFill>
                          <a:latin typeface="Cambria Math"/>
                        </a:rPr>
                        <m:t>𝒙</m:t>
                      </m:r>
                      <m:r>
                        <a:rPr lang="en-US" altLang="zh-CN" sz="2400" b="1" i="1" smtClean="0">
                          <a:solidFill>
                            <a:srgbClr val="FFFF00"/>
                          </a:solidFill>
                          <a:latin typeface="Cambria Math"/>
                        </a:rPr>
                        <m:t>∈</m:t>
                      </m:r>
                      <m:r>
                        <a:rPr lang="en-US" altLang="zh-CN" sz="2400" b="1" i="1" smtClean="0">
                          <a:solidFill>
                            <a:srgbClr val="FFFF00"/>
                          </a:solidFill>
                          <a:latin typeface="Cambria Math"/>
                        </a:rPr>
                        <m:t>𝑨</m:t>
                      </m:r>
                      <m:r>
                        <a:rPr lang="en-US" altLang="zh-CN" sz="2400" b="1" i="1" smtClean="0">
                          <a:solidFill>
                            <a:srgbClr val="FFFF00"/>
                          </a:solidFill>
                          <a:latin typeface="Cambria Math"/>
                        </a:rPr>
                        <m:t>∨</m:t>
                      </m:r>
                      <m:r>
                        <a:rPr lang="en-US" altLang="zh-CN" sz="2400" b="1" i="1" smtClean="0">
                          <a:solidFill>
                            <a:srgbClr val="FFFF00"/>
                          </a:solidFill>
                          <a:latin typeface="Cambria Math"/>
                        </a:rPr>
                        <m:t>𝒙</m:t>
                      </m:r>
                      <m:r>
                        <a:rPr lang="en-US" altLang="zh-CN" sz="2400" b="1" i="1" smtClean="0">
                          <a:solidFill>
                            <a:srgbClr val="FFFF00"/>
                          </a:solidFill>
                          <a:latin typeface="Cambria Math"/>
                        </a:rPr>
                        <m:t>∈</m:t>
                      </m:r>
                      <m:r>
                        <a:rPr lang="en-US" altLang="zh-CN" sz="2400" b="1" i="1" smtClean="0">
                          <a:solidFill>
                            <a:srgbClr val="FFFF00"/>
                          </a:solidFill>
                          <a:latin typeface="Cambria Math"/>
                        </a:rPr>
                        <m:t>𝑩</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e>
                      </m:d>
                      <m:r>
                        <a:rPr lang="en-US" altLang="zh-CN" sz="2400" b="1" i="1" smtClean="0">
                          <a:solidFill>
                            <a:schemeClr val="bg1"/>
                          </a:solidFill>
                          <a:latin typeface="Cambria Math"/>
                        </a:rPr>
                        <m:t>=</m:t>
                      </m:r>
                      <m:r>
                        <a:rPr lang="en-US" altLang="zh-CN" sz="2400" b="1" i="1" smtClean="0">
                          <a:solidFill>
                            <a:schemeClr val="bg1"/>
                          </a:solidFill>
                          <a:latin typeface="Cambria Math"/>
                        </a:rPr>
                        <m:t>𝒚</m:t>
                      </m:r>
                      <m:r>
                        <a:rPr lang="en-US" altLang="zh-CN" sz="2400" b="1" i="1" smtClean="0">
                          <a:solidFill>
                            <a:schemeClr val="bg1"/>
                          </a:solidFill>
                          <a:latin typeface="Cambria Math"/>
                        </a:rPr>
                        <m:t>)⇔∃</m:t>
                      </m:r>
                      <m:r>
                        <a:rPr lang="en-US" altLang="zh-CN" sz="2400" b="1" i="1">
                          <a:solidFill>
                            <a:schemeClr val="bg1"/>
                          </a:solidFill>
                          <a:latin typeface="Cambria Math"/>
                        </a:rPr>
                        <m:t>𝒙</m:t>
                      </m:r>
                      <m:d>
                        <m:dPr>
                          <m:ctrlPr>
                            <a:rPr lang="zh-CN" altLang="zh-CN" sz="2400" b="1" i="1" smtClean="0">
                              <a:solidFill>
                                <a:srgbClr val="FFFF00"/>
                              </a:solidFill>
                              <a:latin typeface="Cambria Math" panose="02040503050406030204" pitchFamily="18" charset="0"/>
                            </a:rPr>
                          </m:ctrlPr>
                        </m:dPr>
                        <m:e>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𝒙</m:t>
                              </m:r>
                            </m:e>
                          </m:d>
                          <m:r>
                            <a:rPr lang="en-US" altLang="zh-CN" sz="2400" b="1" i="1">
                              <a:solidFill>
                                <a:srgbClr val="FFFF00"/>
                              </a:solidFill>
                              <a:latin typeface="Cambria Math"/>
                            </a:rPr>
                            <m:t>=</m:t>
                          </m:r>
                          <m:r>
                            <a:rPr lang="en-US" altLang="zh-CN" sz="2400" b="1" i="1">
                              <a:solidFill>
                                <a:srgbClr val="FFFF00"/>
                              </a:solidFill>
                              <a:latin typeface="Cambria Math"/>
                            </a:rPr>
                            <m:t>𝒚</m:t>
                          </m:r>
                        </m:e>
                      </m:d>
                      <m:r>
                        <a:rPr lang="en-US" altLang="zh-CN" sz="2400" b="1" i="1">
                          <a:solidFill>
                            <a:schemeClr val="bg1"/>
                          </a:solidFill>
                          <a:latin typeface="Cambria Math"/>
                        </a:rPr>
                        <m:t>∨∃</m:t>
                      </m:r>
                      <m:r>
                        <a:rPr lang="en-US" altLang="zh-CN" sz="2400" b="1" i="1">
                          <a:solidFill>
                            <a:schemeClr val="bg1"/>
                          </a:solidFill>
                          <a:latin typeface="Cambria Math"/>
                        </a:rPr>
                        <m:t>𝒙</m:t>
                      </m:r>
                      <m:d>
                        <m:dPr>
                          <m:ctrlPr>
                            <a:rPr lang="zh-CN" altLang="zh-CN" sz="2400" b="1" i="1" smtClean="0">
                              <a:solidFill>
                                <a:srgbClr val="FFFF00"/>
                              </a:solidFill>
                              <a:latin typeface="Cambria Math" panose="02040503050406030204" pitchFamily="18" charset="0"/>
                            </a:rPr>
                          </m:ctrlPr>
                        </m:dPr>
                        <m:e>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𝑩</m:t>
                          </m:r>
                          <m:r>
                            <a:rPr lang="en-US" altLang="zh-CN" sz="2400" b="1" i="1">
                              <a:solidFill>
                                <a:srgbClr val="FFFF00"/>
                              </a:solidFill>
                              <a:latin typeface="Cambria Math"/>
                            </a:rPr>
                            <m:t>∧</m:t>
                          </m:r>
                          <m:r>
                            <a:rPr lang="en-US" altLang="zh-CN" sz="2400" b="1" i="1">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𝒙</m:t>
                              </m:r>
                            </m:e>
                          </m:d>
                          <m:r>
                            <a:rPr lang="en-US" altLang="zh-CN" sz="2400" b="1" i="1">
                              <a:solidFill>
                                <a:srgbClr val="FFFF00"/>
                              </a:solidFill>
                              <a:latin typeface="Cambria Math"/>
                            </a:rPr>
                            <m:t>=</m:t>
                          </m:r>
                          <m:r>
                            <a:rPr lang="en-US" altLang="zh-CN" sz="2400" b="1" i="1">
                              <a:solidFill>
                                <a:srgbClr val="FFFF00"/>
                              </a:solidFill>
                              <a:latin typeface="Cambria Math"/>
                            </a:rPr>
                            <m:t>𝒚</m:t>
                          </m:r>
                        </m:e>
                      </m:d>
                    </m:oMath>
                  </m:oMathPara>
                </a14:m>
                <a:endParaRPr lang="zh-CN" altLang="zh-CN" sz="2400" b="1" dirty="0">
                  <a:solidFill>
                    <a:schemeClr val="bg1"/>
                  </a:solidFill>
                </a:endParaRPr>
              </a:p>
              <a:p>
                <a:pPr>
                  <a:lnSpc>
                    <a:spcPct val="150000"/>
                  </a:lnSpc>
                </a:pPr>
                <a14:m>
                  <m:oMathPara xmlns:m="http://schemas.openxmlformats.org/officeDocument/2006/math">
                    <m:oMathParaPr>
                      <m:jc m:val="centerGroup"/>
                    </m:oMathParaPr>
                    <m:oMath xmlns:m="http://schemas.openxmlformats.org/officeDocument/2006/math">
                      <m:r>
                        <a:rPr lang="en-US" altLang="zh-CN" sz="2400" b="1" i="1">
                          <a:solidFill>
                            <a:schemeClr val="bg1"/>
                          </a:solidFill>
                          <a:latin typeface="Cambria Math"/>
                        </a:rPr>
                        <m:t>    ⇔</m:t>
                      </m:r>
                      <m:r>
                        <a:rPr lang="en-US" altLang="zh-CN" sz="2400" b="1" i="1">
                          <a:solidFill>
                            <a:schemeClr val="bg1"/>
                          </a:solidFill>
                          <a:latin typeface="Cambria Math"/>
                        </a:rPr>
                        <m:t>𝒚</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𝑨</m:t>
                          </m:r>
                        </m:e>
                      </m:d>
                      <m:r>
                        <a:rPr lang="en-US" altLang="zh-CN" sz="2400" b="1" i="1">
                          <a:solidFill>
                            <a:schemeClr val="bg1"/>
                          </a:solidFill>
                          <a:latin typeface="Cambria Math"/>
                        </a:rPr>
                        <m:t>∨</m:t>
                      </m:r>
                      <m:r>
                        <a:rPr lang="en-US" altLang="zh-CN" sz="2400" b="1" i="1">
                          <a:solidFill>
                            <a:schemeClr val="bg1"/>
                          </a:solidFill>
                          <a:latin typeface="Cambria Math"/>
                        </a:rPr>
                        <m:t>𝒚</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𝑩</m:t>
                          </m:r>
                        </m:e>
                      </m:d>
                      <m:r>
                        <a:rPr lang="en-US" altLang="zh-CN" sz="2400" b="1" i="1">
                          <a:solidFill>
                            <a:schemeClr val="bg1"/>
                          </a:solidFill>
                          <a:latin typeface="Cambria Math"/>
                        </a:rPr>
                        <m:t>⇔</m:t>
                      </m:r>
                      <m:r>
                        <a:rPr lang="en-US" altLang="zh-CN" sz="2400" b="1" i="1" smtClean="0">
                          <a:solidFill>
                            <a:srgbClr val="FFFF00"/>
                          </a:solidFill>
                          <a:latin typeface="Cambria Math"/>
                        </a:rPr>
                        <m:t>𝒚</m:t>
                      </m:r>
                      <m:r>
                        <a:rPr lang="en-US" altLang="zh-CN" sz="2400" b="1" i="1" smtClean="0">
                          <a:solidFill>
                            <a:srgbClr val="FFFF00"/>
                          </a:solidFill>
                          <a:latin typeface="Cambria Math"/>
                        </a:rPr>
                        <m:t>∈</m:t>
                      </m:r>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e>
                      </m:d>
                      <m:r>
                        <a:rPr lang="en-US" altLang="zh-CN" sz="2400" b="1" i="1">
                          <a:solidFill>
                            <a:srgbClr val="FFFF00"/>
                          </a:solidFill>
                          <a:latin typeface="Cambria Math"/>
                        </a:rPr>
                        <m:t>∪</m:t>
                      </m:r>
                      <m:r>
                        <a:rPr lang="en-US" altLang="zh-CN" sz="2400" b="1" i="1">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𝑩</m:t>
                          </m:r>
                        </m:e>
                      </m:d>
                    </m:oMath>
                  </m:oMathPara>
                </a14:m>
                <a:endParaRPr lang="zh-CN" altLang="zh-CN" sz="2400" b="1" dirty="0">
                  <a:solidFill>
                    <a:schemeClr val="bg1"/>
                  </a:solidFill>
                </a:endParaRPr>
              </a:p>
              <a:p>
                <a:pPr>
                  <a:lnSpc>
                    <a:spcPct val="150000"/>
                  </a:lnSpc>
                </a:pPr>
                <a:r>
                  <a:rPr lang="en-US" altLang="zh-CN" sz="2400" b="1" dirty="0">
                    <a:solidFill>
                      <a:schemeClr val="bg1"/>
                    </a:solidFill>
                  </a:rPr>
                  <a:t>  </a:t>
                </a:r>
                <a:r>
                  <a:rPr lang="zh-CN" altLang="zh-CN" sz="2400" b="1" dirty="0">
                    <a:solidFill>
                      <a:schemeClr val="bg1"/>
                    </a:solidFill>
                  </a:rPr>
                  <a:t>故有：</a:t>
                </a:r>
                <a14:m>
                  <m:oMath xmlns:m="http://schemas.openxmlformats.org/officeDocument/2006/math">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𝑩</m:t>
                        </m:r>
                      </m:e>
                    </m:d>
                    <m:r>
                      <a:rPr lang="en-US" altLang="zh-CN" sz="2400" b="1" i="1">
                        <a:solidFill>
                          <a:srgbClr val="FFFF00"/>
                        </a:solidFill>
                        <a:latin typeface="Cambria Math"/>
                      </a:rPr>
                      <m:t>=</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𝑩</m:t>
                    </m:r>
                    <m:r>
                      <a:rPr lang="en-US" altLang="zh-CN" sz="2400" b="1" i="1">
                        <a:solidFill>
                          <a:srgbClr val="FFFF00"/>
                        </a:solidFill>
                        <a:latin typeface="Cambria Math"/>
                      </a:rPr>
                      <m:t>)</m:t>
                    </m:r>
                  </m:oMath>
                </a14:m>
                <a:r>
                  <a:rPr lang="zh-CN" altLang="zh-CN" sz="2400" b="1" dirty="0">
                    <a:solidFill>
                      <a:schemeClr val="bg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995410" y="1988840"/>
                <a:ext cx="7562009" cy="3957558"/>
              </a:xfrm>
              <a:prstGeom prst="rect">
                <a:avLst/>
              </a:prstGeom>
              <a:blipFill>
                <a:blip r:embed="rId3"/>
                <a:stretch>
                  <a:fillRect l="-1209" b="-308"/>
                </a:stretch>
              </a:blipFill>
            </p:spPr>
            <p:txBody>
              <a:bodyPr/>
              <a:lstStyle/>
              <a:p>
                <a:r>
                  <a:rPr lang="zh-CN" altLang="en-US">
                    <a:noFill/>
                  </a:rPr>
                  <a:t> </a:t>
                </a:r>
              </a:p>
            </p:txBody>
          </p:sp>
        </mc:Fallback>
      </mc:AlternateContent>
      <p:sp>
        <p:nvSpPr>
          <p:cNvPr id="6" name="Text Box 2">
            <a:extLst>
              <a:ext uri="{FF2B5EF4-FFF2-40B4-BE49-F238E27FC236}">
                <a16:creationId xmlns:a16="http://schemas.microsoft.com/office/drawing/2014/main" id="{CC4947BC-2E55-43BB-B080-07BE7A804C12}"/>
              </a:ext>
            </a:extLst>
          </p:cNvPr>
          <p:cNvSpPr txBox="1">
            <a:spLocks noChangeArrowheads="1"/>
          </p:cNvSpPr>
          <p:nvPr/>
        </p:nvSpPr>
        <p:spPr bwMode="auto">
          <a:xfrm>
            <a:off x="1258888" y="752475"/>
            <a:ext cx="648017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dirty="0">
                <a:solidFill>
                  <a:schemeClr val="bg1"/>
                </a:solidFill>
                <a:latin typeface="宋体" pitchFamily="2" charset="-122"/>
                <a:ea typeface="宋体" pitchFamily="2" charset="-122"/>
              </a:rPr>
              <a:t> 集合像的性质</a:t>
            </a:r>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D180599-D7C5-4580-AAA2-F8C05D76EF0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4096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TextBox 1"/>
              <p:cNvSpPr txBox="1"/>
              <p:nvPr/>
            </p:nvSpPr>
            <p:spPr>
              <a:xfrm>
                <a:off x="1068587" y="1988840"/>
                <a:ext cx="7488832" cy="3970318"/>
              </a:xfrm>
              <a:prstGeom prst="rect">
                <a:avLst/>
              </a:prstGeom>
              <a:solidFill>
                <a:schemeClr val="accent6">
                  <a:lumMod val="75000"/>
                </a:schemeClr>
              </a:solidFill>
            </p:spPr>
            <p:txBody>
              <a:bodyPr wrap="square" rtlCol="0">
                <a:spAutoFit/>
              </a:bodyPr>
              <a:lstStyle/>
              <a:p>
                <a:pPr>
                  <a:lnSpc>
                    <a:spcPct val="150000"/>
                  </a:lnSpc>
                </a:pPr>
                <a:r>
                  <a:rPr lang="zh-CN" altLang="zh-CN" sz="2400" b="1" dirty="0">
                    <a:solidFill>
                      <a:schemeClr val="bg1"/>
                    </a:solidFill>
                  </a:rPr>
                  <a:t>（</a:t>
                </a:r>
                <a:r>
                  <a:rPr lang="en-US" altLang="zh-CN" sz="2400" b="1" dirty="0">
                    <a:solidFill>
                      <a:schemeClr val="bg1"/>
                    </a:solidFill>
                  </a:rPr>
                  <a:t>2</a:t>
                </a:r>
                <a:r>
                  <a:rPr lang="zh-CN" altLang="zh-CN" sz="2400" b="1" dirty="0">
                    <a:solidFill>
                      <a:schemeClr val="bg1"/>
                    </a:solidFill>
                  </a:rPr>
                  <a:t>）对任意的</a:t>
                </a:r>
                <a14:m>
                  <m:oMath xmlns:m="http://schemas.openxmlformats.org/officeDocument/2006/math">
                    <m:r>
                      <a:rPr lang="en-US" altLang="zh-CN" sz="2400" b="1" i="1">
                        <a:solidFill>
                          <a:schemeClr val="bg1"/>
                        </a:solidFill>
                        <a:latin typeface="Cambria Math"/>
                      </a:rPr>
                      <m:t>𝒚</m:t>
                    </m:r>
                  </m:oMath>
                </a14:m>
                <a:r>
                  <a:rPr lang="zh-CN" altLang="zh-CN" sz="2400" b="1" dirty="0">
                    <a:solidFill>
                      <a:schemeClr val="bg1"/>
                    </a:solidFill>
                  </a:rPr>
                  <a:t>，有：</a:t>
                </a:r>
              </a:p>
              <a:p>
                <a:pPr indent="457200">
                  <a:lnSpc>
                    <a:spcPct val="150000"/>
                  </a:lnSpc>
                  <a:spcBef>
                    <a:spcPts val="1200"/>
                  </a:spcBef>
                </a:pPr>
                <a14:m>
                  <m:oMathPara xmlns:m="http://schemas.openxmlformats.org/officeDocument/2006/math">
                    <m:oMathParaPr>
                      <m:jc m:val="left"/>
                    </m:oMathParaPr>
                    <m:oMath xmlns:m="http://schemas.openxmlformats.org/officeDocument/2006/math">
                      <m:r>
                        <a:rPr lang="en-US" altLang="zh-CN" sz="2400" b="1" i="1" smtClean="0">
                          <a:solidFill>
                            <a:schemeClr val="bg1"/>
                          </a:solidFill>
                          <a:latin typeface="Cambria Math"/>
                        </a:rPr>
                        <m:t>          </m:t>
                      </m:r>
                      <m:r>
                        <a:rPr lang="en-US" altLang="zh-CN" sz="2400" b="1" i="1" smtClean="0">
                          <a:solidFill>
                            <a:srgbClr val="FFFF00"/>
                          </a:solidFill>
                          <a:latin typeface="Cambria Math"/>
                        </a:rPr>
                        <m:t>𝒚</m:t>
                      </m:r>
                      <m:r>
                        <a:rPr lang="en-US" altLang="zh-CN" sz="2400" b="1" i="1" smtClean="0">
                          <a:solidFill>
                            <a:srgbClr val="FFFF00"/>
                          </a:solidFill>
                          <a:latin typeface="Cambria Math"/>
                        </a:rPr>
                        <m:t>∈</m:t>
                      </m:r>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𝑩</m:t>
                          </m:r>
                        </m:e>
                      </m:d>
                      <m:r>
                        <a:rPr lang="en-US" altLang="zh-CN" sz="2400" b="1" i="1">
                          <a:solidFill>
                            <a:schemeClr val="bg1"/>
                          </a:solidFill>
                          <a:latin typeface="Cambria Math"/>
                        </a:rPr>
                        <m:t>⇔∃</m:t>
                      </m:r>
                      <m:r>
                        <a:rPr lang="en-US" altLang="zh-CN" sz="2400" b="1" i="1">
                          <a:solidFill>
                            <a:schemeClr val="bg1"/>
                          </a:solidFill>
                          <a:latin typeface="Cambria Math"/>
                        </a:rPr>
                        <m:t>𝒙</m:t>
                      </m:r>
                      <m:d>
                        <m:dPr>
                          <m:ctrlPr>
                            <a:rPr lang="en-US" altLang="zh-CN" sz="2400" b="1" i="1" smtClean="0">
                              <a:solidFill>
                                <a:srgbClr val="FFFF00"/>
                              </a:solidFill>
                              <a:latin typeface="Cambria Math" panose="02040503050406030204" pitchFamily="18" charset="0"/>
                            </a:rPr>
                          </m:ctrlPr>
                        </m:dPr>
                        <m:e>
                          <m:r>
                            <a:rPr lang="en-US" altLang="zh-CN" sz="2400" b="1" i="1">
                              <a:solidFill>
                                <a:srgbClr val="FFFF00"/>
                              </a:solidFill>
                              <a:latin typeface="Cambria Math"/>
                            </a:rPr>
                            <m:t>𝒙</m:t>
                          </m:r>
                          <m:r>
                            <a:rPr lang="en-US" altLang="zh-CN" sz="2400" b="1" i="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𝑩</m:t>
                          </m:r>
                          <m:r>
                            <a:rPr lang="en-US" altLang="zh-CN" sz="2400" b="1" i="1">
                              <a:solidFill>
                                <a:srgbClr val="FFFF00"/>
                              </a:solidFill>
                              <a:latin typeface="Cambria Math"/>
                            </a:rPr>
                            <m:t>∧</m:t>
                          </m:r>
                          <m:r>
                            <a:rPr lang="en-US" altLang="zh-CN" sz="2400" b="1" i="1">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𝒙</m:t>
                              </m:r>
                            </m:e>
                          </m:d>
                          <m:r>
                            <a:rPr lang="en-US" altLang="zh-CN" sz="2400" b="1" i="1">
                              <a:solidFill>
                                <a:srgbClr val="FFFF00"/>
                              </a:solidFill>
                              <a:latin typeface="Cambria Math"/>
                            </a:rPr>
                            <m:t>=</m:t>
                          </m:r>
                          <m:r>
                            <a:rPr lang="en-US" altLang="zh-CN" sz="2400" b="1" i="1">
                              <a:solidFill>
                                <a:srgbClr val="FFFF00"/>
                              </a:solidFill>
                              <a:latin typeface="Cambria Math"/>
                            </a:rPr>
                            <m:t>𝒚</m:t>
                          </m:r>
                        </m:e>
                      </m:d>
                    </m:oMath>
                  </m:oMathPara>
                </a14:m>
                <a:endParaRPr lang="en-US" altLang="zh-CN" sz="2400" b="1" i="1" dirty="0">
                  <a:solidFill>
                    <a:schemeClr val="bg1"/>
                  </a:solidFill>
                </a:endParaRPr>
              </a:p>
              <a:p>
                <a:pPr indent="457200">
                  <a:lnSpc>
                    <a:spcPct val="150000"/>
                  </a:lnSpc>
                </a:pPr>
                <a14:m>
                  <m:oMathPara xmlns:m="http://schemas.openxmlformats.org/officeDocument/2006/math">
                    <m:oMathParaPr>
                      <m:jc m:val="left"/>
                    </m:oMathParaPr>
                    <m:oMath xmlns:m="http://schemas.openxmlformats.org/officeDocument/2006/math">
                      <m:r>
                        <a:rPr lang="en-US" altLang="zh-CN" sz="2400" b="1" i="1" smtClean="0">
                          <a:solidFill>
                            <a:schemeClr val="bg1"/>
                          </a:solidFill>
                          <a:latin typeface="Cambria Math"/>
                        </a:rPr>
                        <m:t>          </m:t>
                      </m:r>
                      <m:r>
                        <a:rPr lang="en-US" altLang="zh-CN" sz="2400" b="1" i="1">
                          <a:solidFill>
                            <a:schemeClr val="bg1"/>
                          </a:solidFill>
                          <a:latin typeface="Cambria Math"/>
                        </a:rPr>
                        <m:t>⇔∃</m:t>
                      </m:r>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𝑨</m:t>
                      </m:r>
                      <m:r>
                        <a:rPr lang="en-US" altLang="zh-CN" sz="2400" b="1" i="1">
                          <a:solidFill>
                            <a:schemeClr val="bg1"/>
                          </a:solidFill>
                          <a:latin typeface="Cambria Math"/>
                        </a:rPr>
                        <m:t>∧</m:t>
                      </m:r>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𝑩</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e>
                      </m:d>
                      <m:r>
                        <a:rPr lang="en-US" altLang="zh-CN" sz="2400" b="1" i="1">
                          <a:solidFill>
                            <a:schemeClr val="bg1"/>
                          </a:solidFill>
                          <a:latin typeface="Cambria Math"/>
                        </a:rPr>
                        <m:t>=</m:t>
                      </m:r>
                      <m:r>
                        <a:rPr lang="en-US" altLang="zh-CN" sz="2400" b="1" i="1">
                          <a:solidFill>
                            <a:schemeClr val="bg1"/>
                          </a:solidFill>
                          <a:latin typeface="Cambria Math"/>
                        </a:rPr>
                        <m:t>𝒚</m:t>
                      </m:r>
                      <m:r>
                        <a:rPr lang="en-US" altLang="zh-CN" sz="2400" b="1" i="1">
                          <a:solidFill>
                            <a:schemeClr val="bg1"/>
                          </a:solidFill>
                          <a:latin typeface="Cambria Math"/>
                        </a:rPr>
                        <m:t>)</m:t>
                      </m:r>
                    </m:oMath>
                  </m:oMathPara>
                </a14:m>
                <a:endParaRPr lang="zh-CN" altLang="zh-CN" sz="2400" b="1" dirty="0">
                  <a:solidFill>
                    <a:schemeClr val="bg1"/>
                  </a:solidFill>
                </a:endParaRPr>
              </a:p>
              <a:p>
                <a:pPr indent="457200">
                  <a:lnSpc>
                    <a:spcPct val="150000"/>
                  </a:lnSpc>
                </a:pPr>
                <a14:m>
                  <m:oMathPara xmlns:m="http://schemas.openxmlformats.org/officeDocument/2006/math">
                    <m:oMathParaPr>
                      <m:jc m:val="left"/>
                    </m:oMathParaPr>
                    <m:oMath xmlns:m="http://schemas.openxmlformats.org/officeDocument/2006/math">
                      <m:r>
                        <a:rPr lang="en-US" altLang="zh-CN" sz="2400" b="1" i="1" smtClean="0">
                          <a:solidFill>
                            <a:schemeClr val="bg1"/>
                          </a:solidFill>
                          <a:latin typeface="Cambria Math"/>
                        </a:rPr>
                        <m:t>          </m:t>
                      </m:r>
                      <m:r>
                        <a:rPr lang="en-US" altLang="zh-CN" sz="2400" b="1" i="1" smtClean="0">
                          <a:solidFill>
                            <a:srgbClr val="FFFF00"/>
                          </a:solidFill>
                          <a:latin typeface="Cambria Math"/>
                        </a:rPr>
                        <m:t>⇒</m:t>
                      </m:r>
                      <m:r>
                        <a:rPr lang="en-US" altLang="zh-CN" sz="2400" b="1" i="1">
                          <a:solidFill>
                            <a:schemeClr val="bg1"/>
                          </a:solidFill>
                          <a:latin typeface="Cambria Math"/>
                        </a:rPr>
                        <m:t>∃</m:t>
                      </m:r>
                      <m:r>
                        <a:rPr lang="en-US" altLang="zh-CN" sz="2400" b="1" i="1">
                          <a:solidFill>
                            <a:schemeClr val="bg1"/>
                          </a:solidFill>
                          <a:latin typeface="Cambria Math"/>
                        </a:rPr>
                        <m:t>𝒙</m:t>
                      </m:r>
                      <m:d>
                        <m:dPr>
                          <m:ctrlPr>
                            <a:rPr lang="en-US"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𝑨</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e>
                          </m:d>
                          <m:r>
                            <a:rPr lang="en-US" altLang="zh-CN" sz="2400" b="1" i="1">
                              <a:solidFill>
                                <a:schemeClr val="bg1"/>
                              </a:solidFill>
                              <a:latin typeface="Cambria Math"/>
                            </a:rPr>
                            <m:t>=</m:t>
                          </m:r>
                          <m:r>
                            <a:rPr lang="en-US" altLang="zh-CN" sz="2400" b="1" i="1">
                              <a:solidFill>
                                <a:schemeClr val="bg1"/>
                              </a:solidFill>
                              <a:latin typeface="Cambria Math"/>
                            </a:rPr>
                            <m:t>𝒚</m:t>
                          </m:r>
                        </m:e>
                      </m:d>
                      <m:r>
                        <a:rPr lang="en-US" altLang="zh-CN" sz="2400" b="1" i="1">
                          <a:solidFill>
                            <a:schemeClr val="bg1"/>
                          </a:solidFill>
                          <a:latin typeface="Cambria Math"/>
                        </a:rPr>
                        <m:t>∧∃</m:t>
                      </m:r>
                      <m:r>
                        <a:rPr lang="en-US" altLang="zh-CN" sz="2400" b="1" i="1">
                          <a:solidFill>
                            <a:schemeClr val="bg1"/>
                          </a:solidFill>
                          <a:latin typeface="Cambria Math"/>
                        </a:rPr>
                        <m:t>𝒙</m:t>
                      </m:r>
                      <m:d>
                        <m:dPr>
                          <m:ctrlPr>
                            <a:rPr lang="en-US"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r>
                            <a:rPr lang="en-US" altLang="zh-CN" sz="2400" b="1" i="1">
                              <a:solidFill>
                                <a:schemeClr val="bg1"/>
                              </a:solidFill>
                              <a:latin typeface="Cambria Math"/>
                            </a:rPr>
                            <m:t>∈</m:t>
                          </m:r>
                          <m:r>
                            <a:rPr lang="en-US" altLang="zh-CN" sz="2400" b="1" i="1">
                              <a:solidFill>
                                <a:schemeClr val="bg1"/>
                              </a:solidFill>
                              <a:latin typeface="Cambria Math"/>
                            </a:rPr>
                            <m:t>𝑩</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𝒙</m:t>
                              </m:r>
                            </m:e>
                          </m:d>
                          <m:r>
                            <a:rPr lang="en-US" altLang="zh-CN" sz="2400" b="1" i="1">
                              <a:solidFill>
                                <a:schemeClr val="bg1"/>
                              </a:solidFill>
                              <a:latin typeface="Cambria Math"/>
                            </a:rPr>
                            <m:t>=</m:t>
                          </m:r>
                          <m:r>
                            <a:rPr lang="en-US" altLang="zh-CN" sz="2400" b="1" i="1">
                              <a:solidFill>
                                <a:schemeClr val="bg1"/>
                              </a:solidFill>
                              <a:latin typeface="Cambria Math"/>
                            </a:rPr>
                            <m:t>𝒚</m:t>
                          </m:r>
                        </m:e>
                      </m:d>
                    </m:oMath>
                  </m:oMathPara>
                </a14:m>
                <a:endParaRPr lang="en-US" altLang="zh-CN" sz="2400" b="1" i="1" dirty="0">
                  <a:solidFill>
                    <a:schemeClr val="bg1"/>
                  </a:solidFill>
                </a:endParaRPr>
              </a:p>
              <a:p>
                <a:pPr indent="457200">
                  <a:lnSpc>
                    <a:spcPct val="150000"/>
                  </a:lnSpc>
                </a:pPr>
                <a14:m>
                  <m:oMathPara xmlns:m="http://schemas.openxmlformats.org/officeDocument/2006/math">
                    <m:oMathParaPr>
                      <m:jc m:val="left"/>
                    </m:oMathParaPr>
                    <m:oMath xmlns:m="http://schemas.openxmlformats.org/officeDocument/2006/math">
                      <m:r>
                        <a:rPr lang="en-US" altLang="zh-CN" sz="2400" b="1" i="1" smtClean="0">
                          <a:solidFill>
                            <a:schemeClr val="bg1"/>
                          </a:solidFill>
                          <a:latin typeface="Cambria Math"/>
                        </a:rPr>
                        <m:t>          </m:t>
                      </m:r>
                      <m:r>
                        <a:rPr lang="en-US" altLang="zh-CN" sz="2400" b="1" i="1">
                          <a:solidFill>
                            <a:schemeClr val="bg1"/>
                          </a:solidFill>
                          <a:latin typeface="Cambria Math"/>
                        </a:rPr>
                        <m:t>⇔</m:t>
                      </m:r>
                      <m:r>
                        <a:rPr lang="en-US" altLang="zh-CN" sz="2400" b="1" i="1">
                          <a:solidFill>
                            <a:schemeClr val="bg1"/>
                          </a:solidFill>
                          <a:latin typeface="Cambria Math"/>
                        </a:rPr>
                        <m:t>𝒚</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𝑨</m:t>
                          </m:r>
                        </m:e>
                      </m:d>
                      <m:r>
                        <a:rPr lang="en-US" altLang="zh-CN" sz="2400" b="1" i="1">
                          <a:solidFill>
                            <a:schemeClr val="bg1"/>
                          </a:solidFill>
                          <a:latin typeface="Cambria Math"/>
                        </a:rPr>
                        <m:t>∧</m:t>
                      </m:r>
                      <m:r>
                        <a:rPr lang="en-US" altLang="zh-CN" sz="2400" b="1" i="1">
                          <a:solidFill>
                            <a:schemeClr val="bg1"/>
                          </a:solidFill>
                          <a:latin typeface="Cambria Math"/>
                        </a:rPr>
                        <m:t>𝒚</m:t>
                      </m:r>
                      <m:r>
                        <a:rPr lang="en-US" altLang="zh-CN" sz="2400" b="1" i="1">
                          <a:solidFill>
                            <a:schemeClr val="bg1"/>
                          </a:solidFill>
                          <a:latin typeface="Cambria Math"/>
                        </a:rPr>
                        <m:t>∈</m:t>
                      </m:r>
                      <m:r>
                        <a:rPr lang="en-US" altLang="zh-CN" sz="2400" b="1" i="1">
                          <a:solidFill>
                            <a:schemeClr val="bg1"/>
                          </a:solidFill>
                          <a:latin typeface="Cambria Math"/>
                        </a:rPr>
                        <m:t>𝒇</m:t>
                      </m:r>
                      <m:d>
                        <m:dPr>
                          <m:ctrlPr>
                            <a:rPr lang="zh-CN" altLang="zh-CN" sz="2400" b="1" i="1">
                              <a:solidFill>
                                <a:schemeClr val="bg1"/>
                              </a:solidFill>
                              <a:latin typeface="Cambria Math" panose="02040503050406030204" pitchFamily="18" charset="0"/>
                            </a:rPr>
                          </m:ctrlPr>
                        </m:dPr>
                        <m:e>
                          <m:r>
                            <a:rPr lang="en-US" altLang="zh-CN" sz="2400" b="1" i="1">
                              <a:solidFill>
                                <a:schemeClr val="bg1"/>
                              </a:solidFill>
                              <a:latin typeface="Cambria Math"/>
                            </a:rPr>
                            <m:t>𝑩</m:t>
                          </m:r>
                        </m:e>
                      </m:d>
                    </m:oMath>
                  </m:oMathPara>
                </a14:m>
                <a:endParaRPr lang="zh-CN" altLang="zh-CN" sz="2400" b="1" dirty="0">
                  <a:solidFill>
                    <a:schemeClr val="bg1"/>
                  </a:solidFill>
                </a:endParaRPr>
              </a:p>
              <a:p>
                <a:pPr indent="457200">
                  <a:lnSpc>
                    <a:spcPct val="150000"/>
                  </a:lnSpc>
                </a:pPr>
                <a14:m>
                  <m:oMathPara xmlns:m="http://schemas.openxmlformats.org/officeDocument/2006/math">
                    <m:oMathParaPr>
                      <m:jc m:val="left"/>
                    </m:oMathParaPr>
                    <m:oMath xmlns:m="http://schemas.openxmlformats.org/officeDocument/2006/math">
                      <m:r>
                        <a:rPr lang="en-US" altLang="zh-CN" sz="2400" b="1" i="1" smtClean="0">
                          <a:solidFill>
                            <a:schemeClr val="bg1"/>
                          </a:solidFill>
                          <a:latin typeface="Cambria Math"/>
                        </a:rPr>
                        <m:t>          </m:t>
                      </m:r>
                      <m:r>
                        <a:rPr lang="en-US" altLang="zh-CN" sz="2400" b="1" i="1">
                          <a:solidFill>
                            <a:schemeClr val="bg1"/>
                          </a:solidFill>
                          <a:latin typeface="Cambria Math"/>
                        </a:rPr>
                        <m:t>⇔</m:t>
                      </m:r>
                      <m:r>
                        <a:rPr lang="en-US" altLang="zh-CN" sz="2400" b="1" i="1" smtClean="0">
                          <a:solidFill>
                            <a:srgbClr val="FFFF00"/>
                          </a:solidFill>
                          <a:latin typeface="Cambria Math"/>
                        </a:rPr>
                        <m:t>𝒚</m:t>
                      </m:r>
                      <m:r>
                        <a:rPr lang="en-US" altLang="zh-CN" sz="2400" b="1" i="1" smtClean="0">
                          <a:solidFill>
                            <a:srgbClr val="FFFF00"/>
                          </a:solidFill>
                          <a:latin typeface="Cambria Math"/>
                        </a:rPr>
                        <m:t>∈</m:t>
                      </m:r>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e>
                      </m:d>
                      <m:r>
                        <a:rPr lang="en-US" altLang="zh-CN" sz="2400" b="1" i="1">
                          <a:solidFill>
                            <a:srgbClr val="FFFF00"/>
                          </a:solidFill>
                          <a:latin typeface="Cambria Math"/>
                        </a:rPr>
                        <m:t>∩</m:t>
                      </m:r>
                      <m:r>
                        <a:rPr lang="en-US" altLang="zh-CN" sz="2400" b="1" i="1">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𝑩</m:t>
                          </m:r>
                        </m:e>
                      </m:d>
                    </m:oMath>
                  </m:oMathPara>
                </a14:m>
                <a:endParaRPr lang="zh-CN" altLang="zh-CN" sz="2400" b="1" dirty="0">
                  <a:solidFill>
                    <a:schemeClr val="bg1"/>
                  </a:solidFill>
                </a:endParaRPr>
              </a:p>
              <a:p>
                <a:pPr>
                  <a:lnSpc>
                    <a:spcPct val="150000"/>
                  </a:lnSpc>
                </a:pPr>
                <a:r>
                  <a:rPr lang="en-US" altLang="zh-CN" sz="2400" b="1" dirty="0">
                    <a:solidFill>
                      <a:schemeClr val="bg1"/>
                    </a:solidFill>
                  </a:rPr>
                  <a:t>  </a:t>
                </a:r>
                <a:r>
                  <a:rPr lang="zh-CN" altLang="zh-CN" sz="2400" b="1" dirty="0">
                    <a:solidFill>
                      <a:schemeClr val="bg1"/>
                    </a:solidFill>
                  </a:rPr>
                  <a:t>故有：</a:t>
                </a:r>
                <a14:m>
                  <m:oMath xmlns:m="http://schemas.openxmlformats.org/officeDocument/2006/math">
                    <m:r>
                      <a:rPr lang="en-US" altLang="zh-CN" sz="2400" b="1" i="1" smtClean="0">
                        <a:solidFill>
                          <a:srgbClr val="FFFF00"/>
                        </a:solidFill>
                        <a:latin typeface="Cambria Math"/>
                      </a:rPr>
                      <m:t>𝒇</m:t>
                    </m:r>
                    <m:d>
                      <m:dPr>
                        <m:ctrlPr>
                          <a:rPr lang="zh-CN" altLang="zh-CN" sz="2400" b="1" i="1">
                            <a:solidFill>
                              <a:srgbClr val="FFFF00"/>
                            </a:solidFill>
                            <a:latin typeface="Cambria Math" panose="02040503050406030204" pitchFamily="18" charset="0"/>
                          </a:rPr>
                        </m:ctrlPr>
                      </m:dPr>
                      <m:e>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𝑩</m:t>
                        </m:r>
                      </m:e>
                    </m:d>
                    <m:r>
                      <a:rPr lang="en-US" altLang="zh-CN" sz="2400" b="1" i="1">
                        <a:solidFill>
                          <a:srgbClr val="FFFF00"/>
                        </a:solidFill>
                        <a:latin typeface="Cambria Math"/>
                      </a:rPr>
                      <m:t>⊆</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𝑨</m:t>
                    </m:r>
                    <m:r>
                      <a:rPr lang="en-US" altLang="zh-CN" sz="2400" b="1" i="1">
                        <a:solidFill>
                          <a:srgbClr val="FFFF00"/>
                        </a:solidFill>
                        <a:latin typeface="Cambria Math"/>
                      </a:rPr>
                      <m:t>)∩</m:t>
                    </m:r>
                    <m:r>
                      <a:rPr lang="en-US" altLang="zh-CN" sz="2400" b="1" i="1">
                        <a:solidFill>
                          <a:srgbClr val="FFFF00"/>
                        </a:solidFill>
                        <a:latin typeface="Cambria Math"/>
                      </a:rPr>
                      <m:t>𝒇</m:t>
                    </m:r>
                    <m:r>
                      <a:rPr lang="en-US" altLang="zh-CN" sz="2400" b="1" i="1">
                        <a:solidFill>
                          <a:srgbClr val="FFFF00"/>
                        </a:solidFill>
                        <a:latin typeface="Cambria Math"/>
                      </a:rPr>
                      <m:t>(</m:t>
                    </m:r>
                    <m:r>
                      <a:rPr lang="en-US" altLang="zh-CN" sz="2400" b="1" i="1">
                        <a:solidFill>
                          <a:srgbClr val="FFFF00"/>
                        </a:solidFill>
                        <a:latin typeface="Cambria Math"/>
                      </a:rPr>
                      <m:t>𝑩</m:t>
                    </m:r>
                    <m:r>
                      <a:rPr lang="en-US" altLang="zh-CN" sz="2400" b="1" i="1">
                        <a:solidFill>
                          <a:srgbClr val="FFFF00"/>
                        </a:solidFill>
                        <a:latin typeface="Cambria Math"/>
                      </a:rPr>
                      <m:t>)</m:t>
                    </m:r>
                  </m:oMath>
                </a14:m>
                <a:r>
                  <a:rPr lang="zh-CN" altLang="zh-CN" sz="2400" b="1" dirty="0">
                    <a:solidFill>
                      <a:schemeClr val="bg1"/>
                    </a:solidFill>
                  </a:rPr>
                  <a:t>。</a:t>
                </a:r>
                <a:endParaRPr lang="zh-CN" altLang="en-US" sz="2400" b="1" dirty="0">
                  <a:solidFill>
                    <a:schemeClr val="bg1"/>
                  </a:solidFill>
                </a:endParaRPr>
              </a:p>
            </p:txBody>
          </p:sp>
        </mc:Choice>
        <mc:Fallback xmlns="">
          <p:sp>
            <p:nvSpPr>
              <p:cNvPr id="2" name="TextBox 1"/>
              <p:cNvSpPr txBox="1">
                <a:spLocks noRot="1" noChangeAspect="1" noMove="1" noResize="1" noEditPoints="1" noAdjustHandles="1" noChangeArrowheads="1" noChangeShapeType="1" noTextEdit="1"/>
              </p:cNvSpPr>
              <p:nvPr/>
            </p:nvSpPr>
            <p:spPr>
              <a:xfrm>
                <a:off x="1068587" y="1988840"/>
                <a:ext cx="7488832" cy="3970318"/>
              </a:xfrm>
              <a:prstGeom prst="rect">
                <a:avLst/>
              </a:prstGeom>
              <a:blipFill>
                <a:blip r:embed="rId3"/>
                <a:stretch>
                  <a:fillRect l="-1221" b="-307"/>
                </a:stretch>
              </a:blipFill>
            </p:spPr>
            <p:txBody>
              <a:bodyPr/>
              <a:lstStyle/>
              <a:p>
                <a:r>
                  <a:rPr lang="zh-CN" altLang="en-US">
                    <a:noFill/>
                  </a:rPr>
                  <a:t> </a:t>
                </a:r>
              </a:p>
            </p:txBody>
          </p:sp>
        </mc:Fallback>
      </mc:AlternateContent>
      <p:sp>
        <p:nvSpPr>
          <p:cNvPr id="6" name="Text Box 2">
            <a:extLst>
              <a:ext uri="{FF2B5EF4-FFF2-40B4-BE49-F238E27FC236}">
                <a16:creationId xmlns:a16="http://schemas.microsoft.com/office/drawing/2014/main" id="{42ECAA53-B92A-44C0-A0A5-6D2BAF5C8ACF}"/>
              </a:ext>
            </a:extLst>
          </p:cNvPr>
          <p:cNvSpPr txBox="1">
            <a:spLocks noChangeArrowheads="1"/>
          </p:cNvSpPr>
          <p:nvPr/>
        </p:nvSpPr>
        <p:spPr bwMode="auto">
          <a:xfrm>
            <a:off x="1258888" y="752475"/>
            <a:ext cx="648017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dirty="0">
                <a:solidFill>
                  <a:schemeClr val="bg1"/>
                </a:solidFill>
                <a:latin typeface="宋体" pitchFamily="2" charset="-122"/>
                <a:ea typeface="宋体" pitchFamily="2" charset="-122"/>
              </a:rPr>
              <a:t> 集合像的性质</a:t>
            </a:r>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D180599-D7C5-4580-AAA2-F8C05D76EF0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4096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752278D-6611-4618-BC05-DBB4EE082645}"/>
                  </a:ext>
                </a:extLst>
              </p:cNvPr>
              <p:cNvSpPr/>
              <p:nvPr/>
            </p:nvSpPr>
            <p:spPr>
              <a:xfrm>
                <a:off x="1043608" y="2053074"/>
                <a:ext cx="7200155" cy="3970318"/>
              </a:xfrm>
              <a:prstGeom prst="rect">
                <a:avLst/>
              </a:prstGeom>
              <a:solidFill>
                <a:schemeClr val="accent6">
                  <a:lumMod val="75000"/>
                </a:schemeClr>
              </a:solidFill>
            </p:spPr>
            <p:txBody>
              <a:bodyPr wrap="square">
                <a:spAutoFit/>
              </a:bodyPr>
              <a:lstStyle/>
              <a:p>
                <a:pPr indent="40005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上述定理结论（</a:t>
                </a:r>
                <a:r>
                  <a:rPr lang="en-US" altLang="zh-CN" sz="2400" b="1" kern="100" dirty="0">
                    <a:solidFill>
                      <a:schemeClr val="bg1"/>
                    </a:solidFill>
                    <a:latin typeface="Times New Roman" panose="02020603050405020304" pitchFamily="18" charset="0"/>
                    <a:ea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rPr>
                  <a:t>等号不成立</a:t>
                </a:r>
                <a:r>
                  <a:rPr lang="zh-CN" altLang="zh-CN" sz="2400" b="1" kern="100" dirty="0">
                    <a:solidFill>
                      <a:schemeClr val="bg1"/>
                    </a:solidFill>
                    <a:latin typeface="Times New Roman" panose="02020603050405020304" pitchFamily="18" charset="0"/>
                    <a:ea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rPr>
                  <a:t>例如：</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40005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设</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𝑨</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𝒂</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𝒃</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𝒄</m:t>
                    </m:r>
                    <m:r>
                      <a:rPr lang="en-US" altLang="zh-CN" sz="2400" b="1" i="1" kern="100" smtClean="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rPr>
                  <a:t>，</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𝑩</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𝟏</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𝟐</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𝟑</m:t>
                    </m:r>
                    <m:r>
                      <a:rPr lang="en-US" altLang="zh-CN" sz="2400" b="1" i="1" kern="100" smtClean="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rPr>
                  <a:t>，</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𝒇</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𝑿</m:t>
                    </m:r>
                    <m:r>
                      <a:rPr lang="zh-CN"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𝒀</m:t>
                    </m:r>
                  </m:oMath>
                </a14:m>
                <a:r>
                  <a:rPr lang="en-US" altLang="zh-CN" sz="2400" b="1" kern="100" dirty="0">
                    <a:solidFill>
                      <a:schemeClr val="bg1"/>
                    </a:solidFill>
                    <a:latin typeface="Times New Roman" panose="02020603050405020304" pitchFamily="18" charset="0"/>
                    <a:ea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rPr>
                  <a:t>为：</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400050" algn="ctr">
                  <a:lnSpc>
                    <a:spcPct val="150000"/>
                  </a:lnSpc>
                  <a:spcAft>
                    <a:spcPts val="0"/>
                  </a:spcAft>
                </a:pP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𝒇</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𝒂</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𝟏</m:t>
                    </m:r>
                  </m:oMath>
                </a14:m>
                <a:r>
                  <a:rPr lang="zh-CN" altLang="zh-CN" sz="2400" b="1" kern="100" dirty="0">
                    <a:solidFill>
                      <a:schemeClr val="bg1"/>
                    </a:solidFill>
                    <a:latin typeface="Times New Roman" panose="02020603050405020304" pitchFamily="18" charset="0"/>
                    <a:ea typeface="宋体" panose="02010600030101010101" pitchFamily="2" charset="-122"/>
                  </a:rPr>
                  <a:t>，</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𝒇</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𝒃</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𝒇</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𝒄</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𝟐</m:t>
                    </m:r>
                  </m:oMath>
                </a14:m>
                <a:endParaRPr lang="en-US" altLang="zh-CN" sz="2400" b="1" kern="100" dirty="0">
                  <a:solidFill>
                    <a:schemeClr val="bg1"/>
                  </a:solidFill>
                  <a:latin typeface="Times New Roman" panose="02020603050405020304" pitchFamily="18" charset="0"/>
                  <a:ea typeface="宋体" panose="02010600030101010101" pitchFamily="2" charset="-122"/>
                </a:endParaRPr>
              </a:p>
              <a:p>
                <a:pPr indent="40005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令</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𝑿</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𝒂</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𝒃</m:t>
                    </m:r>
                    <m:r>
                      <a:rPr lang="en-US" altLang="zh-CN" sz="2400" b="1" i="1" kern="100" smtClean="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rPr>
                  <a:t>，</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𝒀</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𝒄</m:t>
                    </m:r>
                    <m:r>
                      <a:rPr lang="en-US" altLang="zh-CN" sz="2400" b="1" i="1" kern="100" smtClean="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rPr>
                  <a:t>，则有</a:t>
                </a:r>
                <a:r>
                  <a:rPr lang="zh-CN" altLang="en-US" sz="2400" b="1" kern="100" dirty="0">
                    <a:solidFill>
                      <a:schemeClr val="bg1"/>
                    </a:solidFill>
                    <a:latin typeface="Times New Roman" panose="02020603050405020304" pitchFamily="18" charset="0"/>
                    <a:ea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400050" algn="ctr">
                  <a:lnSpc>
                    <a:spcPct val="150000"/>
                  </a:lnSpc>
                  <a:spcAft>
                    <a:spcPts val="0"/>
                  </a:spcAft>
                </a:pP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𝑿</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𝒀</m:t>
                    </m:r>
                    <m:r>
                      <a:rPr lang="en-US" altLang="zh-CN" sz="2400" b="1" i="1" kern="100" smtClean="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rPr>
                  <a:t>，</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kern="100" smtClean="0">
                        <a:solidFill>
                          <a:srgbClr val="FFFF00"/>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𝑿</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𝒀</m:t>
                    </m:r>
                    <m:r>
                      <a:rPr lang="en-US" altLang="zh-CN" sz="2400" b="1" i="1" kern="100" smtClean="0">
                        <a:solidFill>
                          <a:srgbClr val="FFFF00"/>
                        </a:solidFill>
                        <a:latin typeface="Cambria Math" panose="02040503050406030204" pitchFamily="18" charset="0"/>
                        <a:ea typeface="宋体" panose="02010600030101010101" pitchFamily="2" charset="-122"/>
                      </a:rPr>
                      <m:t>)=∅</m:t>
                    </m:r>
                  </m:oMath>
                </a14:m>
                <a:endParaRPr lang="en-US" altLang="zh-CN" sz="2400" b="1" kern="100" dirty="0">
                  <a:solidFill>
                    <a:srgbClr val="FFFF00"/>
                  </a:solidFill>
                  <a:latin typeface="Times New Roman" panose="02020603050405020304" pitchFamily="18" charset="0"/>
                  <a:ea typeface="宋体" panose="02010600030101010101" pitchFamily="2" charset="-122"/>
                </a:endParaRPr>
              </a:p>
              <a:p>
                <a:pPr indent="40005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但是：</a:t>
                </a: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𝑿</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𝒀</m:t>
                          </m:r>
                        </m:e>
                      </m:d>
                      <m:r>
                        <a:rPr lang="en-US" altLang="zh-CN" sz="2400" b="1" i="1" kern="100" smtClean="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𝟏</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𝟐</m:t>
                          </m:r>
                        </m:e>
                      </m:d>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𝟐</m:t>
                      </m:r>
                      <m:r>
                        <a:rPr lang="en-US" altLang="zh-CN" sz="2400" b="1" i="1" kern="100" smtClean="0">
                          <a:solidFill>
                            <a:srgbClr val="FFFF00"/>
                          </a:solidFill>
                          <a:latin typeface="Cambria Math" panose="02040503050406030204" pitchFamily="18" charset="0"/>
                          <a:ea typeface="宋体" panose="02010600030101010101" pitchFamily="2" charset="-122"/>
                        </a:rPr>
                        <m:t>}≠∅</m:t>
                      </m:r>
                    </m:oMath>
                  </m:oMathPara>
                </a14:m>
                <a:endParaRPr lang="zh-CN" altLang="zh-CN" sz="2400" b="1" kern="100" dirty="0">
                  <a:solidFill>
                    <a:srgbClr val="FFFF00"/>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4752278D-6611-4618-BC05-DBB4EE082645}"/>
                  </a:ext>
                </a:extLst>
              </p:cNvPr>
              <p:cNvSpPr>
                <a:spLocks noRot="1" noChangeAspect="1" noMove="1" noResize="1" noEditPoints="1" noAdjustHandles="1" noChangeArrowheads="1" noChangeShapeType="1" noTextEdit="1"/>
              </p:cNvSpPr>
              <p:nvPr/>
            </p:nvSpPr>
            <p:spPr>
              <a:xfrm>
                <a:off x="1043608" y="2053074"/>
                <a:ext cx="7200155" cy="3970318"/>
              </a:xfrm>
              <a:prstGeom prst="rect">
                <a:avLst/>
              </a:prstGeom>
              <a:blipFill>
                <a:blip r:embed="rId3"/>
                <a:stretch>
                  <a:fillRect/>
                </a:stretch>
              </a:blipFill>
            </p:spPr>
            <p:txBody>
              <a:bodyPr/>
              <a:lstStyle/>
              <a:p>
                <a:r>
                  <a:rPr lang="zh-CN" altLang="en-US">
                    <a:noFill/>
                  </a:rPr>
                  <a:t> </a:t>
                </a:r>
              </a:p>
            </p:txBody>
          </p:sp>
        </mc:Fallback>
      </mc:AlternateContent>
      <p:sp>
        <p:nvSpPr>
          <p:cNvPr id="6" name="Text Box 2">
            <a:extLst>
              <a:ext uri="{FF2B5EF4-FFF2-40B4-BE49-F238E27FC236}">
                <a16:creationId xmlns:a16="http://schemas.microsoft.com/office/drawing/2014/main" id="{C90F7048-5D48-4051-94CC-C1BEC26EB5FB}"/>
              </a:ext>
            </a:extLst>
          </p:cNvPr>
          <p:cNvSpPr txBox="1">
            <a:spLocks noChangeArrowheads="1"/>
          </p:cNvSpPr>
          <p:nvPr/>
        </p:nvSpPr>
        <p:spPr bwMode="auto">
          <a:xfrm>
            <a:off x="1258888" y="752475"/>
            <a:ext cx="6480175"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dirty="0">
                <a:solidFill>
                  <a:schemeClr val="bg1"/>
                </a:solidFill>
                <a:latin typeface="宋体" pitchFamily="2" charset="-122"/>
                <a:ea typeface="宋体" pitchFamily="2" charset="-122"/>
              </a:rPr>
              <a:t> 集合像的性质</a:t>
            </a:r>
          </a:p>
        </p:txBody>
      </p:sp>
    </p:spTree>
    <p:extLst>
      <p:ext uri="{BB962C8B-B14F-4D97-AF65-F5344CB8AC3E}">
        <p14:creationId xmlns:p14="http://schemas.microsoft.com/office/powerpoint/2010/main" val="3875814347"/>
      </p:ext>
    </p:extLst>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BA3FAB3B-E45C-4849-810A-D77BED062A08}"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41987"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4198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E482B8AF-AB50-4A18-82ED-BDCDBDBAE6A8}" type="slidenum">
              <a:rPr lang="en-US" altLang="zh-CN" sz="1400" b="1">
                <a:latin typeface="Times New Roman" pitchFamily="18" charset="0"/>
                <a:ea typeface="宋体" pitchFamily="2" charset="-122"/>
              </a:rPr>
              <a:pPr algn="r" eaLnBrk="1" hangingPunct="1"/>
              <a:t>28</a:t>
            </a:fld>
            <a:endParaRPr lang="en-US" altLang="zh-CN" sz="1400" b="1">
              <a:latin typeface="Times New Roman" pitchFamily="18" charset="0"/>
              <a:ea typeface="宋体" pitchFamily="2" charset="-122"/>
            </a:endParaRPr>
          </a:p>
        </p:txBody>
      </p:sp>
      <p:sp>
        <p:nvSpPr>
          <p:cNvPr id="4198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函数的基本概念</a:t>
            </a:r>
          </a:p>
        </p:txBody>
      </p:sp>
      <p:sp>
        <p:nvSpPr>
          <p:cNvPr id="41990" name="Rectangle 3"/>
          <p:cNvSpPr>
            <a:spLocks noGrp="1" noChangeArrowheads="1"/>
          </p:cNvSpPr>
          <p:nvPr>
            <p:ph type="body" idx="4294967295"/>
          </p:nvPr>
        </p:nvSpPr>
        <p:spPr>
          <a:xfrm>
            <a:off x="2627784" y="2348880"/>
            <a:ext cx="4537075" cy="3168650"/>
          </a:xfrm>
          <a:noFill/>
        </p:spPr>
        <p:txBody>
          <a:bodyPr lIns="92075" tIns="46038" rIns="92075" bIns="46038"/>
          <a:lstStyle/>
          <a:p>
            <a:pPr eaLnBrk="1" hangingPunct="1">
              <a:lnSpc>
                <a:spcPct val="155000"/>
              </a:lnSpc>
              <a:buFont typeface="Wingdings" pitchFamily="2" charset="2"/>
              <a:buChar char="4"/>
            </a:pPr>
            <a:r>
              <a:rPr lang="en-US" altLang="zh-CN" sz="3600" b="1" dirty="0">
                <a:effectLst/>
                <a:latin typeface="黑体" pitchFamily="49" charset="-122"/>
                <a:ea typeface="黑体" pitchFamily="49" charset="-122"/>
              </a:rPr>
              <a:t> </a:t>
            </a:r>
            <a:r>
              <a:rPr lang="zh-CN" altLang="en-US" sz="3600" b="1" dirty="0">
                <a:effectLst/>
                <a:latin typeface="黑体" pitchFamily="49" charset="-122"/>
                <a:ea typeface="黑体" pitchFamily="49" charset="-122"/>
              </a:rPr>
              <a:t>函数的集合定义</a:t>
            </a:r>
          </a:p>
          <a:p>
            <a:pPr eaLnBrk="1" hangingPunct="1">
              <a:lnSpc>
                <a:spcPct val="155000"/>
              </a:lnSpc>
              <a:buFont typeface="Wingdings" pitchFamily="2" charset="2"/>
              <a:buChar char="J"/>
            </a:pPr>
            <a:r>
              <a:rPr lang="zh-CN" altLang="en-US" sz="3600" b="1" dirty="0">
                <a:solidFill>
                  <a:srgbClr val="0000FF"/>
                </a:solidFill>
                <a:effectLst/>
                <a:latin typeface="黑体" pitchFamily="49" charset="-122"/>
                <a:ea typeface="黑体" pitchFamily="49" charset="-122"/>
              </a:rPr>
              <a:t> 函数的基本类型</a:t>
            </a:r>
          </a:p>
          <a:p>
            <a:pPr eaLnBrk="1" hangingPunct="1">
              <a:lnSpc>
                <a:spcPct val="155000"/>
              </a:lnSpc>
              <a:buFont typeface="Wingdings" pitchFamily="2" charset="2"/>
              <a:buChar char="4"/>
            </a:pPr>
            <a:r>
              <a:rPr lang="zh-CN" altLang="en-US" sz="3600" b="1" dirty="0">
                <a:effectLst/>
                <a:latin typeface="黑体" pitchFamily="49" charset="-122"/>
                <a:ea typeface="黑体" pitchFamily="49" charset="-122"/>
              </a:rPr>
              <a:t> 常用特殊函数</a:t>
            </a:r>
          </a:p>
        </p:txBody>
      </p:sp>
      <p:pic>
        <p:nvPicPr>
          <p:cNvPr id="41991"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C47C9B0-673A-4A30-A653-EF484083ED7E}"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3011"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函数的基本类型</a:t>
            </a:r>
          </a:p>
        </p:txBody>
      </p:sp>
      <p:pic>
        <p:nvPicPr>
          <p:cNvPr id="4301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7E265AEB-DA7E-48A1-8799-5D65F8CD2F84}"/>
              </a:ext>
            </a:extLst>
          </p:cNvPr>
          <p:cNvPicPr>
            <a:picLocks noChangeAspect="1"/>
          </p:cNvPicPr>
          <p:nvPr/>
        </p:nvPicPr>
        <p:blipFill>
          <a:blip r:embed="rId3"/>
          <a:stretch>
            <a:fillRect/>
          </a:stretch>
        </p:blipFill>
        <p:spPr>
          <a:xfrm>
            <a:off x="154398" y="2060848"/>
            <a:ext cx="8932452" cy="3692204"/>
          </a:xfrm>
          <a:prstGeom prst="rect">
            <a:avLst/>
          </a:prstGeom>
        </p:spPr>
      </p:pic>
    </p:spTree>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C47C9B0-673A-4A30-A653-EF484083ED7E}"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3011"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单射与满射</a:t>
            </a:r>
          </a:p>
        </p:txBody>
      </p:sp>
      <p:pic>
        <p:nvPicPr>
          <p:cNvPr id="4301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E3E42B1-F6F3-4683-BFD1-D2F3D0119181}"/>
                  </a:ext>
                </a:extLst>
              </p:cNvPr>
              <p:cNvSpPr/>
              <p:nvPr/>
            </p:nvSpPr>
            <p:spPr>
              <a:xfrm>
                <a:off x="179512" y="1816957"/>
                <a:ext cx="8856984" cy="4536948"/>
              </a:xfrm>
              <a:prstGeom prst="rect">
                <a:avLst/>
              </a:prstGeom>
              <a:solidFill>
                <a:schemeClr val="accent6">
                  <a:lumMod val="75000"/>
                </a:schemeClr>
              </a:solidFill>
            </p:spPr>
            <p:txBody>
              <a:bodyPr wrap="square">
                <a:spAutoFit/>
              </a:bodyPr>
              <a:lstStyle/>
              <a:p>
                <a:pPr indent="266700" algn="just">
                  <a:lnSpc>
                    <a:spcPts val="3500"/>
                  </a:lnSpc>
                  <a:spcAft>
                    <a:spcPts val="0"/>
                  </a:spcAft>
                </a:pP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从集合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的函数：</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5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）若</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不同自变量映射到不同的像</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单射函数</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简称为</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单射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对任意</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，那么</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的单射。</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5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中每个元素都有原像，则称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满射函数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，简称为</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满射</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的值域等于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r>
                      <a:rPr lang="zh-CN" altLang="zh-CN" sz="2400" b="1" kern="100">
                        <a:solidFill>
                          <a:schemeClr val="bg1"/>
                        </a:solidFill>
                        <a:latin typeface="Cambria Math" panose="02040503050406030204" pitchFamily="18" charset="0"/>
                        <a:ea typeface="宋体" panose="02010600030101010101" pitchFamily="2" charset="-122"/>
                      </a:rPr>
                      <m:t>，</m:t>
                    </m:r>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即有</m:t>
                    </m:r>
                    <m:r>
                      <a:rPr lang="en-US" altLang="zh-CN" sz="2400" b="1" i="1" kern="100" smtClean="0">
                        <a:solidFill>
                          <a:srgbClr val="FFFF00"/>
                        </a:solidFill>
                        <a:latin typeface="Cambria Math" panose="02040503050406030204" pitchFamily="18" charset="0"/>
                        <a:ea typeface="宋体" panose="02010600030101010101" pitchFamily="2" charset="-122"/>
                      </a:rPr>
                      <m:t>𝒓𝒂𝒏</m:t>
                    </m:r>
                    <m:r>
                      <a:rPr lang="en-US" altLang="zh-CN" sz="2400" b="1" i="1" kern="100" smtClean="0">
                        <a:solidFill>
                          <a:srgbClr val="FFFF00"/>
                        </a:solidFill>
                        <a:latin typeface="Cambria Math" panose="02040503050406030204" pitchFamily="18" charset="0"/>
                        <a:ea typeface="宋体" panose="02010600030101010101" pitchFamily="2" charset="-122"/>
                      </a:rPr>
                      <m:t> </m:t>
                    </m:r>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的满射。</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5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）若</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是满射且是单射，则称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双射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500"/>
                  </a:lnSpc>
                  <a:spcAft>
                    <a:spcPts val="0"/>
                  </a:spcAft>
                </a:pP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若</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上的函数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上的双射</a:t>
                </a:r>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函数</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也</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称</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上的变换</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EE3E42B1-F6F3-4683-BFD1-D2F3D0119181}"/>
                  </a:ext>
                </a:extLst>
              </p:cNvPr>
              <p:cNvSpPr>
                <a:spLocks noRot="1" noChangeAspect="1" noMove="1" noResize="1" noEditPoints="1" noAdjustHandles="1" noChangeArrowheads="1" noChangeShapeType="1" noTextEdit="1"/>
              </p:cNvSpPr>
              <p:nvPr/>
            </p:nvSpPr>
            <p:spPr>
              <a:xfrm>
                <a:off x="179512" y="1816957"/>
                <a:ext cx="8856984" cy="4536948"/>
              </a:xfrm>
              <a:prstGeom prst="rect">
                <a:avLst/>
              </a:prstGeom>
              <a:blipFill>
                <a:blip r:embed="rId3"/>
                <a:stretch>
                  <a:fillRect l="-1032" t="-672" r="-1101" b="-174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748190933"/>
      </p:ext>
    </p:extLst>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BB0E635A-24CC-44A8-BBBA-2AA5FEAA4216}"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4035"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单射与满射</a:t>
            </a:r>
          </a:p>
        </p:txBody>
      </p:sp>
      <p:pic>
        <p:nvPicPr>
          <p:cNvPr id="4403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37" name="Picture 6" descr="QQ截图2015110421395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0825" y="2132856"/>
            <a:ext cx="8893175" cy="375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3BB34EA-2F90-486C-9D6E-B2DB60C42AC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5059"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4506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539552" y="2204864"/>
                <a:ext cx="7929202" cy="3254545"/>
              </a:xfrm>
              <a:prstGeom prst="rect">
                <a:avLst/>
              </a:prstGeom>
              <a:solidFill>
                <a:schemeClr val="accent6">
                  <a:lumMod val="75000"/>
                </a:schemeClr>
              </a:solidFill>
            </p:spPr>
            <p:txBody>
              <a:bodyPr wrap="square" rtlCol="0">
                <a:spAutoFit/>
              </a:bodyPr>
              <a:lstStyle/>
              <a:p>
                <a:pPr>
                  <a:lnSpc>
                    <a:spcPct val="150000"/>
                  </a:lnSpc>
                </a:pPr>
                <a:r>
                  <a:rPr lang="en-US" altLang="zh-CN" sz="2800" b="1" dirty="0">
                    <a:solidFill>
                      <a:schemeClr val="bg1"/>
                    </a:solidFill>
                  </a:rPr>
                  <a:t>  </a:t>
                </a:r>
                <a:r>
                  <a:rPr lang="zh-CN" altLang="zh-CN" sz="2800" b="1" dirty="0">
                    <a:solidFill>
                      <a:schemeClr val="bg1"/>
                    </a:solidFill>
                  </a:rPr>
                  <a:t>【例题】设</a:t>
                </a:r>
                <a14:m>
                  <m:oMath xmlns:m="http://schemas.openxmlformats.org/officeDocument/2006/math">
                    <m:r>
                      <a:rPr lang="en-US" altLang="zh-CN" sz="2800" b="1" i="1">
                        <a:solidFill>
                          <a:schemeClr val="bg1"/>
                        </a:solidFill>
                        <a:latin typeface="Cambria Math"/>
                      </a:rPr>
                      <m:t>𝑨</m:t>
                    </m:r>
                    <m:r>
                      <a:rPr lang="en-US" altLang="zh-CN" sz="2800" b="1" i="1">
                        <a:solidFill>
                          <a:schemeClr val="bg1"/>
                        </a:solidFill>
                        <a:latin typeface="Cambria Math"/>
                      </a:rPr>
                      <m:t>=</m:t>
                    </m:r>
                    <m:r>
                      <a:rPr lang="en-US" altLang="zh-CN" sz="2800" b="1" i="1">
                        <a:solidFill>
                          <a:schemeClr val="bg1"/>
                        </a:solidFill>
                        <a:latin typeface="Cambria Math"/>
                      </a:rPr>
                      <m:t>𝑩</m:t>
                    </m:r>
                    <m:r>
                      <a:rPr lang="en-US" altLang="zh-CN" sz="2800" b="1" i="1">
                        <a:solidFill>
                          <a:schemeClr val="bg1"/>
                        </a:solidFill>
                        <a:latin typeface="Cambria Math"/>
                      </a:rPr>
                      <m:t>=</m:t>
                    </m:r>
                    <m:r>
                      <a:rPr lang="en-US" altLang="zh-CN" sz="2800" b="1" i="1">
                        <a:solidFill>
                          <a:schemeClr val="bg1"/>
                        </a:solidFill>
                        <a:latin typeface="Cambria Math"/>
                      </a:rPr>
                      <m:t>𝑹</m:t>
                    </m:r>
                  </m:oMath>
                </a14:m>
                <a:r>
                  <a:rPr lang="zh-CN" altLang="zh-CN" sz="2800" b="1" dirty="0">
                    <a:solidFill>
                      <a:schemeClr val="bg1"/>
                    </a:solidFill>
                  </a:rPr>
                  <a:t>（实数集），试判断下列函数的类型：</a:t>
                </a:r>
              </a:p>
              <a:p>
                <a:pPr>
                  <a:lnSpc>
                    <a:spcPct val="150000"/>
                  </a:lnSpc>
                </a:pPr>
                <a:r>
                  <a:rPr lang="en-US" altLang="zh-CN" sz="2800" b="1" dirty="0">
                    <a:solidFill>
                      <a:schemeClr val="bg1"/>
                    </a:solidFill>
                  </a:rPr>
                  <a:t>     </a:t>
                </a:r>
                <a:r>
                  <a:rPr lang="zh-CN" altLang="zh-CN" sz="2800" b="1" dirty="0">
                    <a:solidFill>
                      <a:schemeClr val="bg1"/>
                    </a:solidFill>
                  </a:rPr>
                  <a:t>（</a:t>
                </a:r>
                <a:r>
                  <a:rPr lang="en-US" altLang="zh-CN" sz="2800" b="1" dirty="0">
                    <a:solidFill>
                      <a:schemeClr val="bg1"/>
                    </a:solidFill>
                  </a:rPr>
                  <a:t>1</a:t>
                </a:r>
                <a:r>
                  <a:rPr lang="zh-CN" altLang="zh-CN" sz="2800" b="1" dirty="0">
                    <a:solidFill>
                      <a:schemeClr val="bg1"/>
                    </a:solidFill>
                  </a:rPr>
                  <a:t>）</a:t>
                </a:r>
                <a14:m>
                  <m:oMath xmlns:m="http://schemas.openxmlformats.org/officeDocument/2006/math">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a:rPr>
                          <m:t>𝒇</m:t>
                        </m:r>
                      </m:e>
                      <m:sub>
                        <m:r>
                          <a:rPr lang="en-US" altLang="zh-CN" sz="2800" b="1" i="1">
                            <a:solidFill>
                              <a:schemeClr val="bg1"/>
                            </a:solidFill>
                            <a:latin typeface="Cambria Math"/>
                          </a:rPr>
                          <m:t>𝟏</m:t>
                        </m:r>
                      </m:sub>
                    </m:sSub>
                    <m:r>
                      <a:rPr lang="en-US" altLang="zh-CN" sz="2800" b="1" i="1">
                        <a:solidFill>
                          <a:schemeClr val="bg1"/>
                        </a:solidFill>
                        <a:latin typeface="Cambria Math"/>
                      </a:rPr>
                      <m:t>={</m:t>
                    </m:r>
                    <m:d>
                      <m:dPr>
                        <m:begChr m:val="〈"/>
                        <m:endChr m:val="〉"/>
                        <m:ctrlPr>
                          <a:rPr lang="zh-CN" altLang="zh-CN" sz="2800" b="1" i="1">
                            <a:solidFill>
                              <a:schemeClr val="bg1"/>
                            </a:solidFill>
                            <a:latin typeface="Cambria Math" panose="02040503050406030204" pitchFamily="18" charset="0"/>
                          </a:rPr>
                        </m:ctrlPr>
                      </m:dPr>
                      <m:e>
                        <m:r>
                          <a:rPr lang="en-US" altLang="zh-CN" sz="2800" b="1" i="1">
                            <a:solidFill>
                              <a:schemeClr val="bg1"/>
                            </a:solidFill>
                            <a:latin typeface="Cambria Math"/>
                          </a:rPr>
                          <m:t>𝒙</m:t>
                        </m:r>
                        <m:r>
                          <a:rPr lang="en-US" altLang="zh-CN" sz="2800" b="1" i="1">
                            <a:solidFill>
                              <a:schemeClr val="bg1"/>
                            </a:solidFill>
                            <a:latin typeface="Cambria Math"/>
                          </a:rPr>
                          <m:t>,</m:t>
                        </m:r>
                        <m:sSup>
                          <m:sSupPr>
                            <m:ctrlPr>
                              <a:rPr lang="zh-CN" altLang="zh-CN" sz="2800" b="1" i="1">
                                <a:solidFill>
                                  <a:schemeClr val="bg1"/>
                                </a:solidFill>
                                <a:latin typeface="Cambria Math" panose="02040503050406030204" pitchFamily="18" charset="0"/>
                              </a:rPr>
                            </m:ctrlPr>
                          </m:sSupPr>
                          <m:e>
                            <m:r>
                              <a:rPr lang="en-US" altLang="zh-CN" sz="2800" b="1" i="1">
                                <a:solidFill>
                                  <a:schemeClr val="bg1"/>
                                </a:solidFill>
                                <a:latin typeface="Cambria Math"/>
                              </a:rPr>
                              <m:t>𝒙</m:t>
                            </m:r>
                          </m:e>
                          <m:sup>
                            <m:r>
                              <a:rPr lang="en-US" altLang="zh-CN" sz="2800" b="1" i="1">
                                <a:solidFill>
                                  <a:schemeClr val="bg1"/>
                                </a:solidFill>
                                <a:latin typeface="Cambria Math"/>
                              </a:rPr>
                              <m:t>𝟐</m:t>
                            </m:r>
                          </m:sup>
                        </m:sSup>
                      </m:e>
                    </m:d>
                    <m:r>
                      <a:rPr lang="en-US" altLang="zh-CN" sz="2800" b="1" i="1">
                        <a:solidFill>
                          <a:schemeClr val="bg1"/>
                        </a:solidFill>
                        <a:latin typeface="Cambria Math"/>
                      </a:rPr>
                      <m:t>|</m:t>
                    </m:r>
                    <m:r>
                      <a:rPr lang="en-US" altLang="zh-CN" sz="2800" b="1" i="1">
                        <a:solidFill>
                          <a:schemeClr val="bg1"/>
                        </a:solidFill>
                        <a:latin typeface="Cambria Math"/>
                      </a:rPr>
                      <m:t>𝒙</m:t>
                    </m:r>
                    <m:r>
                      <a:rPr lang="en-US" altLang="zh-CN" sz="2800" b="1" i="1">
                        <a:solidFill>
                          <a:schemeClr val="bg1"/>
                        </a:solidFill>
                        <a:latin typeface="Cambria Math"/>
                      </a:rPr>
                      <m:t>∈</m:t>
                    </m:r>
                    <m:r>
                      <a:rPr lang="en-US" altLang="zh-CN" sz="2800" b="1" i="1">
                        <a:solidFill>
                          <a:schemeClr val="bg1"/>
                        </a:solidFill>
                        <a:latin typeface="Cambria Math"/>
                      </a:rPr>
                      <m:t>𝑹</m:t>
                    </m:r>
                    <m:r>
                      <a:rPr lang="en-US" altLang="zh-CN" sz="2800" b="1" i="1">
                        <a:solidFill>
                          <a:schemeClr val="bg1"/>
                        </a:solidFill>
                        <a:latin typeface="Cambria Math"/>
                      </a:rPr>
                      <m:t>}</m:t>
                    </m:r>
                  </m:oMath>
                </a14:m>
                <a:r>
                  <a:rPr lang="zh-CN" altLang="zh-CN" sz="2800" b="1" dirty="0">
                    <a:solidFill>
                      <a:schemeClr val="bg1"/>
                    </a:solidFill>
                  </a:rPr>
                  <a:t>；</a:t>
                </a:r>
                <a:endParaRPr lang="en-US" altLang="zh-CN" sz="2800" b="1" dirty="0">
                  <a:solidFill>
                    <a:schemeClr val="bg1"/>
                  </a:solidFill>
                </a:endParaRPr>
              </a:p>
              <a:p>
                <a:pPr>
                  <a:lnSpc>
                    <a:spcPct val="150000"/>
                  </a:lnSpc>
                </a:pPr>
                <a:r>
                  <a:rPr lang="en-US" altLang="zh-CN" sz="2800" b="1" dirty="0">
                    <a:solidFill>
                      <a:schemeClr val="bg1"/>
                    </a:solidFill>
                  </a:rPr>
                  <a:t>     </a:t>
                </a:r>
                <a:r>
                  <a:rPr lang="zh-CN" altLang="zh-CN" sz="2800" b="1" dirty="0">
                    <a:solidFill>
                      <a:schemeClr val="bg1"/>
                    </a:solidFill>
                  </a:rPr>
                  <a:t>（</a:t>
                </a:r>
                <a:r>
                  <a:rPr lang="en-US" altLang="zh-CN" sz="2800" b="1" dirty="0">
                    <a:solidFill>
                      <a:schemeClr val="bg1"/>
                    </a:solidFill>
                  </a:rPr>
                  <a:t>2</a:t>
                </a:r>
                <a:r>
                  <a:rPr lang="zh-CN" altLang="zh-CN" sz="2800" b="1" dirty="0">
                    <a:solidFill>
                      <a:schemeClr val="bg1"/>
                    </a:solidFill>
                  </a:rPr>
                  <a:t>）</a:t>
                </a:r>
                <a14:m>
                  <m:oMath xmlns:m="http://schemas.openxmlformats.org/officeDocument/2006/math">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a:rPr>
                          <m:t>𝒇</m:t>
                        </m:r>
                      </m:e>
                      <m:sub>
                        <m:r>
                          <a:rPr lang="en-US" altLang="zh-CN" sz="2800" b="1" i="1">
                            <a:solidFill>
                              <a:schemeClr val="bg1"/>
                            </a:solidFill>
                            <a:latin typeface="Cambria Math"/>
                          </a:rPr>
                          <m:t>𝟐</m:t>
                        </m:r>
                      </m:sub>
                    </m:sSub>
                    <m:r>
                      <a:rPr lang="en-US" altLang="zh-CN" sz="2800" b="1" i="1">
                        <a:solidFill>
                          <a:schemeClr val="bg1"/>
                        </a:solidFill>
                        <a:latin typeface="Cambria Math"/>
                      </a:rPr>
                      <m:t>=</m:t>
                    </m:r>
                    <m:d>
                      <m:dPr>
                        <m:begChr m:val="{"/>
                        <m:endChr m:val="}"/>
                        <m:ctrlPr>
                          <a:rPr lang="zh-CN" altLang="zh-CN" sz="2800" b="1" i="1">
                            <a:solidFill>
                              <a:schemeClr val="bg1"/>
                            </a:solidFill>
                            <a:latin typeface="Cambria Math" panose="02040503050406030204" pitchFamily="18" charset="0"/>
                          </a:rPr>
                        </m:ctrlPr>
                      </m:dPr>
                      <m:e>
                        <m:d>
                          <m:dPr>
                            <m:begChr m:val="〈"/>
                            <m:endChr m:val="〉"/>
                            <m:ctrlPr>
                              <a:rPr lang="zh-CN" altLang="zh-CN" sz="2800" b="1" i="1">
                                <a:solidFill>
                                  <a:schemeClr val="bg1"/>
                                </a:solidFill>
                                <a:latin typeface="Cambria Math" panose="02040503050406030204" pitchFamily="18" charset="0"/>
                              </a:rPr>
                            </m:ctrlPr>
                          </m:dPr>
                          <m:e>
                            <m:r>
                              <a:rPr lang="en-US" altLang="zh-CN" sz="2800" b="1" i="1">
                                <a:solidFill>
                                  <a:schemeClr val="bg1"/>
                                </a:solidFill>
                                <a:latin typeface="Cambria Math"/>
                              </a:rPr>
                              <m:t>𝒙</m:t>
                            </m:r>
                            <m:r>
                              <a:rPr lang="en-US" altLang="zh-CN" sz="2800" b="1" i="1">
                                <a:solidFill>
                                  <a:schemeClr val="bg1"/>
                                </a:solidFill>
                                <a:latin typeface="Cambria Math"/>
                              </a:rPr>
                              <m:t>,</m:t>
                            </m:r>
                            <m:r>
                              <a:rPr lang="en-US" altLang="zh-CN" sz="2800" b="1" i="1">
                                <a:solidFill>
                                  <a:schemeClr val="bg1"/>
                                </a:solidFill>
                                <a:latin typeface="Cambria Math"/>
                              </a:rPr>
                              <m:t>𝒙</m:t>
                            </m:r>
                            <m:r>
                              <a:rPr lang="en-US" altLang="zh-CN" sz="2800" b="1" i="1">
                                <a:solidFill>
                                  <a:schemeClr val="bg1"/>
                                </a:solidFill>
                                <a:latin typeface="Cambria Math"/>
                              </a:rPr>
                              <m:t>+</m:t>
                            </m:r>
                            <m:r>
                              <a:rPr lang="en-US" altLang="zh-CN" sz="2800" b="1" i="1">
                                <a:solidFill>
                                  <a:schemeClr val="bg1"/>
                                </a:solidFill>
                                <a:latin typeface="Cambria Math"/>
                              </a:rPr>
                              <m:t>𝟏</m:t>
                            </m:r>
                          </m:e>
                        </m:d>
                      </m:e>
                      <m:e>
                        <m:r>
                          <a:rPr lang="en-US" altLang="zh-CN" sz="2800" b="1" i="1">
                            <a:solidFill>
                              <a:schemeClr val="bg1"/>
                            </a:solidFill>
                            <a:latin typeface="Cambria Math"/>
                          </a:rPr>
                          <m:t>𝒙</m:t>
                        </m:r>
                        <m:r>
                          <a:rPr lang="en-US" altLang="zh-CN" sz="2800" b="1" i="1">
                            <a:solidFill>
                              <a:schemeClr val="bg1"/>
                            </a:solidFill>
                            <a:latin typeface="Cambria Math"/>
                          </a:rPr>
                          <m:t>∈</m:t>
                        </m:r>
                        <m:r>
                          <a:rPr lang="en-US" altLang="zh-CN" sz="2800" b="1" i="1">
                            <a:solidFill>
                              <a:schemeClr val="bg1"/>
                            </a:solidFill>
                            <a:latin typeface="Cambria Math"/>
                          </a:rPr>
                          <m:t>𝑹</m:t>
                        </m:r>
                      </m:e>
                    </m:d>
                  </m:oMath>
                </a14:m>
                <a:r>
                  <a:rPr lang="zh-CN" altLang="zh-CN" sz="2800" b="1" dirty="0">
                    <a:solidFill>
                      <a:schemeClr val="bg1"/>
                    </a:solidFill>
                  </a:rPr>
                  <a:t>；</a:t>
                </a:r>
                <a:endParaRPr lang="en-US" altLang="zh-CN" sz="2800" b="1" dirty="0">
                  <a:solidFill>
                    <a:schemeClr val="bg1"/>
                  </a:solidFill>
                </a:endParaRPr>
              </a:p>
              <a:p>
                <a:pPr>
                  <a:lnSpc>
                    <a:spcPct val="150000"/>
                  </a:lnSpc>
                </a:pPr>
                <a:r>
                  <a:rPr lang="en-US" altLang="zh-CN" sz="2800" b="1" dirty="0">
                    <a:solidFill>
                      <a:schemeClr val="bg1"/>
                    </a:solidFill>
                  </a:rPr>
                  <a:t>     </a:t>
                </a:r>
                <a:r>
                  <a:rPr lang="zh-CN" altLang="zh-CN" sz="2800" b="1" dirty="0">
                    <a:solidFill>
                      <a:schemeClr val="bg1"/>
                    </a:solidFill>
                  </a:rPr>
                  <a:t>（</a:t>
                </a:r>
                <a:r>
                  <a:rPr lang="en-US" altLang="zh-CN" sz="2800" b="1" dirty="0">
                    <a:solidFill>
                      <a:schemeClr val="bg1"/>
                    </a:solidFill>
                  </a:rPr>
                  <a:t>3</a:t>
                </a:r>
                <a:r>
                  <a:rPr lang="zh-CN" altLang="zh-CN" sz="2800" b="1" dirty="0">
                    <a:solidFill>
                      <a:schemeClr val="bg1"/>
                    </a:solidFill>
                  </a:rPr>
                  <a:t>）</a:t>
                </a:r>
                <a14:m>
                  <m:oMath xmlns:m="http://schemas.openxmlformats.org/officeDocument/2006/math">
                    <m:sSub>
                      <m:sSubPr>
                        <m:ctrlPr>
                          <a:rPr lang="zh-CN" altLang="zh-CN" sz="2800" b="1" i="1">
                            <a:solidFill>
                              <a:schemeClr val="bg1"/>
                            </a:solidFill>
                            <a:latin typeface="Cambria Math" panose="02040503050406030204" pitchFamily="18" charset="0"/>
                          </a:rPr>
                        </m:ctrlPr>
                      </m:sSubPr>
                      <m:e>
                        <m:r>
                          <a:rPr lang="en-US" altLang="zh-CN" sz="2800" b="1" i="1">
                            <a:solidFill>
                              <a:schemeClr val="bg1"/>
                            </a:solidFill>
                            <a:latin typeface="Cambria Math"/>
                          </a:rPr>
                          <m:t>𝒇</m:t>
                        </m:r>
                      </m:e>
                      <m:sub>
                        <m:r>
                          <a:rPr lang="en-US" altLang="zh-CN" sz="2800" b="1" i="1">
                            <a:solidFill>
                              <a:schemeClr val="bg1"/>
                            </a:solidFill>
                            <a:latin typeface="Cambria Math"/>
                          </a:rPr>
                          <m:t>𝟑</m:t>
                        </m:r>
                      </m:sub>
                    </m:sSub>
                    <m:r>
                      <a:rPr lang="en-US" altLang="zh-CN" sz="2800" b="1" i="1">
                        <a:solidFill>
                          <a:schemeClr val="bg1"/>
                        </a:solidFill>
                        <a:latin typeface="Cambria Math"/>
                      </a:rPr>
                      <m:t>={</m:t>
                    </m:r>
                    <m:d>
                      <m:dPr>
                        <m:begChr m:val="〈"/>
                        <m:endChr m:val="〉"/>
                        <m:ctrlPr>
                          <a:rPr lang="zh-CN" altLang="zh-CN" sz="2800" b="1" i="1">
                            <a:solidFill>
                              <a:schemeClr val="bg1"/>
                            </a:solidFill>
                            <a:latin typeface="Cambria Math" panose="02040503050406030204" pitchFamily="18" charset="0"/>
                          </a:rPr>
                        </m:ctrlPr>
                      </m:dPr>
                      <m:e>
                        <m:r>
                          <a:rPr lang="en-US" altLang="zh-CN" sz="2800" b="1" i="1">
                            <a:solidFill>
                              <a:schemeClr val="bg1"/>
                            </a:solidFill>
                            <a:latin typeface="Cambria Math"/>
                          </a:rPr>
                          <m:t>𝒙</m:t>
                        </m:r>
                        <m:r>
                          <a:rPr lang="en-US" altLang="zh-CN" sz="2800" b="1" i="1">
                            <a:solidFill>
                              <a:schemeClr val="bg1"/>
                            </a:solidFill>
                            <a:latin typeface="Cambria Math"/>
                          </a:rPr>
                          <m:t>,</m:t>
                        </m:r>
                        <m:sSup>
                          <m:sSupPr>
                            <m:ctrlPr>
                              <a:rPr lang="zh-CN" altLang="zh-CN" sz="2800" b="1" i="1">
                                <a:solidFill>
                                  <a:schemeClr val="bg1"/>
                                </a:solidFill>
                                <a:latin typeface="Cambria Math" panose="02040503050406030204" pitchFamily="18" charset="0"/>
                              </a:rPr>
                            </m:ctrlPr>
                          </m:sSupPr>
                          <m:e>
                            <m:r>
                              <a:rPr lang="en-US" altLang="zh-CN" sz="2800" b="1" i="1">
                                <a:solidFill>
                                  <a:schemeClr val="bg1"/>
                                </a:solidFill>
                                <a:latin typeface="Cambria Math"/>
                              </a:rPr>
                              <m:t>𝒆</m:t>
                            </m:r>
                          </m:e>
                          <m:sup>
                            <m:r>
                              <a:rPr lang="en-US" altLang="zh-CN" sz="2800" b="1" i="1">
                                <a:solidFill>
                                  <a:schemeClr val="bg1"/>
                                </a:solidFill>
                                <a:latin typeface="Cambria Math"/>
                              </a:rPr>
                              <m:t>𝒙</m:t>
                            </m:r>
                          </m:sup>
                        </m:sSup>
                      </m:e>
                    </m:d>
                    <m:r>
                      <a:rPr lang="en-US" altLang="zh-CN" sz="2800" b="1" i="1">
                        <a:solidFill>
                          <a:schemeClr val="bg1"/>
                        </a:solidFill>
                        <a:latin typeface="Cambria Math"/>
                      </a:rPr>
                      <m:t>|</m:t>
                    </m:r>
                    <m:r>
                      <a:rPr lang="en-US" altLang="zh-CN" sz="2800" b="1" i="1">
                        <a:solidFill>
                          <a:schemeClr val="bg1"/>
                        </a:solidFill>
                        <a:latin typeface="Cambria Math"/>
                      </a:rPr>
                      <m:t>𝒙</m:t>
                    </m:r>
                    <m:r>
                      <a:rPr lang="en-US" altLang="zh-CN" sz="2800" b="1" i="1">
                        <a:solidFill>
                          <a:schemeClr val="bg1"/>
                        </a:solidFill>
                        <a:latin typeface="Cambria Math"/>
                      </a:rPr>
                      <m:t>∈</m:t>
                    </m:r>
                    <m:r>
                      <a:rPr lang="en-US" altLang="zh-CN" sz="2800" b="1" i="1">
                        <a:solidFill>
                          <a:schemeClr val="bg1"/>
                        </a:solidFill>
                        <a:latin typeface="Cambria Math"/>
                      </a:rPr>
                      <m:t>𝑹</m:t>
                    </m:r>
                    <m:r>
                      <a:rPr lang="en-US" altLang="zh-CN" sz="2800" b="1" i="1">
                        <a:solidFill>
                          <a:schemeClr val="bg1"/>
                        </a:solidFill>
                        <a:latin typeface="Cambria Math"/>
                      </a:rPr>
                      <m:t>} </m:t>
                    </m:r>
                  </m:oMath>
                </a14:m>
                <a:r>
                  <a:rPr lang="zh-CN" altLang="zh-CN" sz="2800" b="1" dirty="0">
                    <a:solidFill>
                      <a:schemeClr val="bg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539552" y="2204864"/>
                <a:ext cx="7929202" cy="3254545"/>
              </a:xfrm>
              <a:prstGeom prst="rect">
                <a:avLst/>
              </a:prstGeom>
              <a:blipFill>
                <a:blip r:embed="rId3"/>
                <a:stretch>
                  <a:fillRect l="-1615" r="-1462" b="-374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C78C31CF-B57A-4EB0-AE13-E3E64812B75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6083"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4608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899592" y="1904539"/>
                <a:ext cx="7848872" cy="4136710"/>
              </a:xfrm>
              <a:prstGeom prst="rect">
                <a:avLst/>
              </a:prstGeom>
              <a:solidFill>
                <a:schemeClr val="accent6">
                  <a:lumMod val="75000"/>
                </a:schemeClr>
              </a:solidFill>
            </p:spPr>
            <p:txBody>
              <a:bodyPr wrap="square" rtlCol="0">
                <a:spAutoFit/>
              </a:bodyPr>
              <a:lstStyle/>
              <a:p>
                <a:pPr>
                  <a:lnSpc>
                    <a:spcPct val="150000"/>
                  </a:lnSpc>
                  <a:spcBef>
                    <a:spcPts val="600"/>
                  </a:spcBef>
                </a:pPr>
                <a:r>
                  <a:rPr lang="zh-CN" altLang="zh-CN" sz="2400" b="1" dirty="0">
                    <a:solidFill>
                      <a:schemeClr val="bg1"/>
                    </a:solidFill>
                  </a:rPr>
                  <a:t>【</a:t>
                </a:r>
                <a:r>
                  <a:rPr lang="zh-CN" altLang="en-US" sz="2400" b="1" dirty="0">
                    <a:solidFill>
                      <a:schemeClr val="bg1"/>
                    </a:solidFill>
                  </a:rPr>
                  <a:t>解</a:t>
                </a:r>
                <a:r>
                  <a:rPr lang="zh-CN" altLang="zh-CN" sz="2400" b="1" dirty="0">
                    <a:solidFill>
                      <a:schemeClr val="bg1"/>
                    </a:solidFill>
                  </a:rPr>
                  <a:t>】（</a:t>
                </a:r>
                <a:r>
                  <a:rPr lang="en-US" altLang="zh-CN" sz="2400" b="1" dirty="0">
                    <a:solidFill>
                      <a:schemeClr val="bg1"/>
                    </a:solidFill>
                  </a:rPr>
                  <a:t>1</a:t>
                </a:r>
                <a:r>
                  <a:rPr lang="zh-CN" altLang="zh-CN" sz="2400" b="1" dirty="0">
                    <a:solidFill>
                      <a:schemeClr val="bg1"/>
                    </a:solidFill>
                  </a:rPr>
                  <a:t>）因为</a:t>
                </a:r>
                <a14:m>
                  <m:oMath xmlns:m="http://schemas.openxmlformats.org/officeDocument/2006/math">
                    <m:r>
                      <a:rPr lang="en-US" altLang="zh-CN" sz="2400" b="1" i="1">
                        <a:solidFill>
                          <a:schemeClr val="bg1"/>
                        </a:solidFill>
                        <a:latin typeface="Cambria Math"/>
                      </a:rPr>
                      <m:t>±</m:t>
                    </m:r>
                    <m:r>
                      <a:rPr lang="en-US" altLang="zh-CN" sz="2400" b="1" i="1">
                        <a:solidFill>
                          <a:schemeClr val="bg1"/>
                        </a:solidFill>
                        <a:latin typeface="Cambria Math"/>
                      </a:rPr>
                      <m:t>𝒙</m:t>
                    </m:r>
                  </m:oMath>
                </a14:m>
                <a:r>
                  <a:rPr lang="zh-CN" altLang="zh-CN" sz="2400" b="1" dirty="0">
                    <a:solidFill>
                      <a:schemeClr val="bg1"/>
                    </a:solidFill>
                  </a:rPr>
                  <a:t>都对应</a:t>
                </a:r>
                <a14:m>
                  <m:oMath xmlns:m="http://schemas.openxmlformats.org/officeDocument/2006/math">
                    <m:sSup>
                      <m:sSupPr>
                        <m:ctrlPr>
                          <a:rPr lang="zh-CN" altLang="zh-CN" sz="2400" b="1" i="1">
                            <a:solidFill>
                              <a:schemeClr val="bg1"/>
                            </a:solidFill>
                            <a:latin typeface="Cambria Math" panose="02040503050406030204" pitchFamily="18" charset="0"/>
                          </a:rPr>
                        </m:ctrlPr>
                      </m:sSupPr>
                      <m:e>
                        <m:r>
                          <a:rPr lang="en-US" altLang="zh-CN" sz="2400" b="1" i="1">
                            <a:solidFill>
                              <a:schemeClr val="bg1"/>
                            </a:solidFill>
                            <a:latin typeface="Cambria Math"/>
                          </a:rPr>
                          <m:t>𝒙</m:t>
                        </m:r>
                      </m:e>
                      <m:sup>
                        <m:r>
                          <a:rPr lang="en-US" altLang="zh-CN" sz="2400" b="1" i="1">
                            <a:solidFill>
                              <a:schemeClr val="bg1"/>
                            </a:solidFill>
                            <a:latin typeface="Cambria Math"/>
                          </a:rPr>
                          <m:t>𝟐</m:t>
                        </m:r>
                      </m:sup>
                    </m:sSup>
                  </m:oMath>
                </a14:m>
                <a:r>
                  <a:rPr lang="zh-CN" altLang="zh-CN" sz="2400" b="1" dirty="0">
                    <a:solidFill>
                      <a:schemeClr val="bg1"/>
                    </a:solidFill>
                  </a:rPr>
                  <a:t>，所以</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𝟏</m:t>
                        </m:r>
                      </m:sub>
                    </m:sSub>
                  </m:oMath>
                </a14:m>
                <a:r>
                  <a:rPr lang="zh-CN" altLang="zh-CN" sz="2400" b="1" dirty="0">
                    <a:solidFill>
                      <a:schemeClr val="bg1"/>
                    </a:solidFill>
                  </a:rPr>
                  <a:t>不是单射，又因为</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集合中的负实数没有原像，所以</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𝟏</m:t>
                        </m:r>
                      </m:sub>
                    </m:sSub>
                  </m:oMath>
                </a14:m>
                <a:r>
                  <a:rPr lang="zh-CN" altLang="zh-CN" sz="2400" b="1" dirty="0">
                    <a:solidFill>
                      <a:schemeClr val="bg1"/>
                    </a:solidFill>
                  </a:rPr>
                  <a:t>不是满射，因此</a:t>
                </a:r>
                <a14:m>
                  <m:oMath xmlns:m="http://schemas.openxmlformats.org/officeDocument/2006/math">
                    <m:sSub>
                      <m:sSubPr>
                        <m:ctrlPr>
                          <a:rPr lang="zh-CN" altLang="zh-CN" sz="2400" b="1" i="1" smtClean="0">
                            <a:solidFill>
                              <a:srgbClr val="FFFF00"/>
                            </a:solidFill>
                            <a:latin typeface="Cambria Math" panose="02040503050406030204" pitchFamily="18" charset="0"/>
                          </a:rPr>
                        </m:ctrlPr>
                      </m:sSubPr>
                      <m:e>
                        <m:r>
                          <a:rPr lang="en-US" altLang="zh-CN" sz="2400" b="1" i="1">
                            <a:solidFill>
                              <a:srgbClr val="FFFF00"/>
                            </a:solidFill>
                            <a:latin typeface="Cambria Math"/>
                          </a:rPr>
                          <m:t>𝒇</m:t>
                        </m:r>
                      </m:e>
                      <m:sub>
                        <m:r>
                          <a:rPr lang="en-US" altLang="zh-CN" sz="2400" b="1" i="1">
                            <a:solidFill>
                              <a:srgbClr val="FFFF00"/>
                            </a:solidFill>
                            <a:latin typeface="Cambria Math"/>
                          </a:rPr>
                          <m:t>𝟏</m:t>
                        </m:r>
                      </m:sub>
                    </m:sSub>
                  </m:oMath>
                </a14:m>
                <a:r>
                  <a:rPr lang="zh-CN" altLang="zh-CN" sz="2400" b="1" dirty="0">
                    <a:solidFill>
                      <a:srgbClr val="FFFF00"/>
                    </a:solidFill>
                  </a:rPr>
                  <a:t>既不是单射也不是满射；</a:t>
                </a:r>
                <a:endParaRPr lang="en-US" altLang="zh-CN" sz="2400" b="1" dirty="0">
                  <a:solidFill>
                    <a:schemeClr val="bg1"/>
                  </a:solidFill>
                </a:endParaRPr>
              </a:p>
              <a:p>
                <a:pPr>
                  <a:lnSpc>
                    <a:spcPct val="150000"/>
                  </a:lnSpc>
                  <a:spcBef>
                    <a:spcPts val="6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2</a:t>
                </a:r>
                <a:r>
                  <a:rPr lang="zh-CN" altLang="zh-CN" sz="2400" b="1" dirty="0">
                    <a:solidFill>
                      <a:schemeClr val="bg1"/>
                    </a:solidFill>
                  </a:rPr>
                  <a:t>）</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𝟐</m:t>
                        </m:r>
                      </m:sub>
                    </m:sSub>
                  </m:oMath>
                </a14:m>
                <a:r>
                  <a:rPr lang="zh-CN" altLang="zh-CN" sz="2400" b="1" dirty="0">
                    <a:solidFill>
                      <a:schemeClr val="bg1"/>
                    </a:solidFill>
                  </a:rPr>
                  <a:t>既是单射，又是满射，即</a:t>
                </a:r>
                <a14:m>
                  <m:oMath xmlns:m="http://schemas.openxmlformats.org/officeDocument/2006/math">
                    <m:sSub>
                      <m:sSubPr>
                        <m:ctrlPr>
                          <a:rPr lang="zh-CN" altLang="zh-CN" sz="2400" b="1" i="1" smtClean="0">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𝟐</m:t>
                        </m:r>
                      </m:sub>
                    </m:sSub>
                  </m:oMath>
                </a14:m>
                <a:r>
                  <a:rPr lang="zh-CN" altLang="zh-CN" sz="2400" b="1" dirty="0">
                    <a:solidFill>
                      <a:schemeClr val="bg1"/>
                    </a:solidFill>
                  </a:rPr>
                  <a:t>是</a:t>
                </a:r>
                <a:r>
                  <a:rPr lang="zh-CN" altLang="zh-CN" sz="2400" b="1" dirty="0">
                    <a:solidFill>
                      <a:srgbClr val="FFFF00"/>
                    </a:solidFill>
                  </a:rPr>
                  <a:t>双射</a:t>
                </a:r>
                <a:r>
                  <a:rPr lang="zh-CN" altLang="zh-CN" sz="2400" b="1" dirty="0">
                    <a:solidFill>
                      <a:schemeClr val="bg1"/>
                    </a:solidFill>
                  </a:rPr>
                  <a:t>；</a:t>
                </a:r>
                <a:endParaRPr lang="en-US" altLang="zh-CN" sz="2400" b="1" dirty="0">
                  <a:solidFill>
                    <a:schemeClr val="bg1"/>
                  </a:solidFill>
                </a:endParaRPr>
              </a:p>
              <a:p>
                <a:pPr>
                  <a:lnSpc>
                    <a:spcPct val="150000"/>
                  </a:lnSpc>
                  <a:spcBef>
                    <a:spcPts val="600"/>
                  </a:spcBef>
                </a:pPr>
                <a:r>
                  <a:rPr lang="en-US" altLang="zh-CN" sz="2400" b="1" dirty="0">
                    <a:solidFill>
                      <a:schemeClr val="bg1"/>
                    </a:solidFill>
                  </a:rPr>
                  <a:t>  </a:t>
                </a:r>
                <a:r>
                  <a:rPr lang="zh-CN" altLang="zh-CN" sz="2400" b="1" dirty="0">
                    <a:solidFill>
                      <a:schemeClr val="bg1"/>
                    </a:solidFill>
                  </a:rPr>
                  <a:t>（</a:t>
                </a:r>
                <a:r>
                  <a:rPr lang="en-US" altLang="zh-CN" sz="2400" b="1" dirty="0">
                    <a:solidFill>
                      <a:schemeClr val="bg1"/>
                    </a:solidFill>
                  </a:rPr>
                  <a:t>3</a:t>
                </a:r>
                <a:r>
                  <a:rPr lang="zh-CN" altLang="zh-CN" sz="2400" b="1" dirty="0">
                    <a:solidFill>
                      <a:schemeClr val="bg1"/>
                    </a:solidFill>
                  </a:rPr>
                  <a:t>）对</a:t>
                </a:r>
                <a14:m>
                  <m:oMath xmlns:m="http://schemas.openxmlformats.org/officeDocument/2006/math">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𝟏</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𝟐</m:t>
                        </m:r>
                      </m:sub>
                    </m:sSub>
                    <m:r>
                      <a:rPr lang="en-US" altLang="zh-CN" sz="2400" b="1" i="1">
                        <a:solidFill>
                          <a:schemeClr val="bg1"/>
                        </a:solidFill>
                        <a:latin typeface="Cambria Math"/>
                      </a:rPr>
                      <m:t>∈</m:t>
                    </m:r>
                    <m:r>
                      <a:rPr lang="en-US" altLang="zh-CN" sz="2400" b="1" i="1">
                        <a:solidFill>
                          <a:schemeClr val="bg1"/>
                        </a:solidFill>
                        <a:latin typeface="Cambria Math"/>
                      </a:rPr>
                      <m:t>𝑹</m:t>
                    </m:r>
                  </m:oMath>
                </a14:m>
                <a:r>
                  <a:rPr lang="zh-CN" altLang="zh-CN" sz="2400" b="1" dirty="0">
                    <a:solidFill>
                      <a:schemeClr val="bg1"/>
                    </a:solidFill>
                  </a:rPr>
                  <a:t>，当</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𝟏</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𝟐</m:t>
                        </m:r>
                      </m:sub>
                    </m:sSub>
                  </m:oMath>
                </a14:m>
                <a:r>
                  <a:rPr lang="zh-CN" altLang="zh-CN" sz="2400" b="1" dirty="0">
                    <a:solidFill>
                      <a:schemeClr val="bg1"/>
                    </a:solidFill>
                  </a:rPr>
                  <a:t>时，</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𝟑</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𝟏</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𝟑</m:t>
                        </m:r>
                      </m:sub>
                    </m:sSub>
                    <m:r>
                      <a:rPr lang="en-US" altLang="zh-CN" sz="2400" b="1" i="1">
                        <a:solidFill>
                          <a:schemeClr val="bg1"/>
                        </a:solidFill>
                        <a:latin typeface="Cambria Math"/>
                      </a:rPr>
                      <m:t>(</m:t>
                    </m:r>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𝒙</m:t>
                        </m:r>
                      </m:e>
                      <m:sub>
                        <m:r>
                          <a:rPr lang="en-US" altLang="zh-CN" sz="2400" b="1" i="1">
                            <a:solidFill>
                              <a:schemeClr val="bg1"/>
                            </a:solidFill>
                            <a:latin typeface="Cambria Math"/>
                          </a:rPr>
                          <m:t>𝟐</m:t>
                        </m:r>
                      </m:sub>
                    </m:sSub>
                    <m:r>
                      <a:rPr lang="en-US" altLang="zh-CN" sz="2400" b="1" i="1">
                        <a:solidFill>
                          <a:schemeClr val="bg1"/>
                        </a:solidFill>
                        <a:latin typeface="Cambria Math"/>
                      </a:rPr>
                      <m:t>)</m:t>
                    </m:r>
                  </m:oMath>
                </a14:m>
                <a:r>
                  <a:rPr lang="zh-CN" altLang="zh-CN" sz="2400" b="1" dirty="0">
                    <a:solidFill>
                      <a:schemeClr val="bg1"/>
                    </a:solidFill>
                  </a:rPr>
                  <a:t>，所以</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𝟑</m:t>
                        </m:r>
                      </m:sub>
                    </m:sSub>
                  </m:oMath>
                </a14:m>
                <a:r>
                  <a:rPr lang="zh-CN" altLang="zh-CN" sz="2400" b="1" dirty="0">
                    <a:solidFill>
                      <a:schemeClr val="bg1"/>
                    </a:solidFill>
                  </a:rPr>
                  <a:t>是单射，又因为</a:t>
                </a:r>
                <a14:m>
                  <m:oMath xmlns:m="http://schemas.openxmlformats.org/officeDocument/2006/math">
                    <m:r>
                      <a:rPr lang="en-US" altLang="zh-CN" sz="2400" b="1" i="1">
                        <a:solidFill>
                          <a:schemeClr val="bg1"/>
                        </a:solidFill>
                        <a:latin typeface="Cambria Math"/>
                      </a:rPr>
                      <m:t>𝑩</m:t>
                    </m:r>
                  </m:oMath>
                </a14:m>
                <a:r>
                  <a:rPr lang="zh-CN" altLang="zh-CN" sz="2400" b="1" dirty="0">
                    <a:solidFill>
                      <a:schemeClr val="bg1"/>
                    </a:solidFill>
                  </a:rPr>
                  <a:t>集合中的负实数没有原像，所以</a:t>
                </a:r>
                <a14:m>
                  <m:oMath xmlns:m="http://schemas.openxmlformats.org/officeDocument/2006/math">
                    <m:sSub>
                      <m:sSubPr>
                        <m:ctrlPr>
                          <a:rPr lang="zh-CN" altLang="zh-CN" sz="2400" b="1" i="1">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𝟑</m:t>
                        </m:r>
                      </m:sub>
                    </m:sSub>
                  </m:oMath>
                </a14:m>
                <a:r>
                  <a:rPr lang="zh-CN" altLang="zh-CN" sz="2400" b="1" dirty="0">
                    <a:solidFill>
                      <a:srgbClr val="FFFF00"/>
                    </a:solidFill>
                  </a:rPr>
                  <a:t>不是满射</a:t>
                </a:r>
                <a:r>
                  <a:rPr lang="zh-CN" altLang="zh-CN" sz="2400" b="1" dirty="0">
                    <a:solidFill>
                      <a:schemeClr val="bg1"/>
                    </a:solidFill>
                  </a:rPr>
                  <a:t>，故</a:t>
                </a:r>
                <a14:m>
                  <m:oMath xmlns:m="http://schemas.openxmlformats.org/officeDocument/2006/math">
                    <m:sSub>
                      <m:sSubPr>
                        <m:ctrlPr>
                          <a:rPr lang="zh-CN" altLang="zh-CN" sz="2400" b="1" i="1" smtClean="0">
                            <a:solidFill>
                              <a:schemeClr val="bg1"/>
                            </a:solidFill>
                            <a:latin typeface="Cambria Math" panose="02040503050406030204" pitchFamily="18" charset="0"/>
                          </a:rPr>
                        </m:ctrlPr>
                      </m:sSubPr>
                      <m:e>
                        <m:r>
                          <a:rPr lang="en-US" altLang="zh-CN" sz="2400" b="1" i="1">
                            <a:solidFill>
                              <a:schemeClr val="bg1"/>
                            </a:solidFill>
                            <a:latin typeface="Cambria Math"/>
                          </a:rPr>
                          <m:t>𝒇</m:t>
                        </m:r>
                      </m:e>
                      <m:sub>
                        <m:r>
                          <a:rPr lang="en-US" altLang="zh-CN" sz="2400" b="1" i="1">
                            <a:solidFill>
                              <a:schemeClr val="bg1"/>
                            </a:solidFill>
                            <a:latin typeface="Cambria Math"/>
                          </a:rPr>
                          <m:t>𝟑</m:t>
                        </m:r>
                      </m:sub>
                    </m:sSub>
                  </m:oMath>
                </a14:m>
                <a:r>
                  <a:rPr lang="zh-CN" altLang="en-US" sz="2400" b="1" dirty="0">
                    <a:solidFill>
                      <a:srgbClr val="FFFF00"/>
                    </a:solidFill>
                  </a:rPr>
                  <a:t>仅仅</a:t>
                </a:r>
                <a:r>
                  <a:rPr lang="zh-CN" altLang="zh-CN" sz="2400" b="1" dirty="0">
                    <a:solidFill>
                      <a:srgbClr val="FFFF00"/>
                    </a:solidFill>
                  </a:rPr>
                  <a:t>是单射</a:t>
                </a:r>
                <a:r>
                  <a:rPr lang="zh-CN" altLang="zh-CN" sz="2400" b="1" dirty="0">
                    <a:solidFill>
                      <a:schemeClr val="bg1"/>
                    </a:solidFill>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899592" y="1904539"/>
                <a:ext cx="7848872" cy="4136710"/>
              </a:xfrm>
              <a:prstGeom prst="rect">
                <a:avLst/>
              </a:prstGeom>
              <a:blipFill>
                <a:blip r:embed="rId3"/>
                <a:stretch>
                  <a:fillRect l="-1243" r="-1166" b="-29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398D8BE9-B908-49C4-8291-5BDF81E4121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7107"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4710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683568" y="1869548"/>
                <a:ext cx="7992888" cy="4201150"/>
              </a:xfrm>
              <a:prstGeom prst="rect">
                <a:avLst/>
              </a:prstGeom>
              <a:solidFill>
                <a:schemeClr val="bg1"/>
              </a:solidFill>
            </p:spPr>
            <p:txBody>
              <a:bodyPr wrap="square" rtlCol="0">
                <a:spAutoFit/>
              </a:bodyPr>
              <a:lstStyle/>
              <a:p>
                <a:pPr>
                  <a:lnSpc>
                    <a:spcPct val="150000"/>
                  </a:lnSpc>
                  <a:spcBef>
                    <a:spcPts val="600"/>
                  </a:spcBef>
                </a:pPr>
                <a:r>
                  <a:rPr lang="zh-CN" altLang="zh-CN" sz="2400" b="1" dirty="0"/>
                  <a:t>【例题】</a:t>
                </a:r>
                <a:r>
                  <a:rPr lang="zh-CN" altLang="en-US" sz="2400" b="1" dirty="0">
                    <a:solidFill>
                      <a:schemeClr val="tx1"/>
                    </a:solidFill>
                  </a:rPr>
                  <a:t>试判断</a:t>
                </a:r>
                <a:r>
                  <a:rPr lang="zh-CN" altLang="zh-CN" sz="2400" b="1" dirty="0">
                    <a:solidFill>
                      <a:schemeClr val="tx1"/>
                    </a:solidFill>
                  </a:rPr>
                  <a:t>下列函数的类型</a:t>
                </a:r>
                <a:r>
                  <a:rPr lang="zh-CN" altLang="en-US" sz="2400" b="1" dirty="0">
                    <a:solidFill>
                      <a:schemeClr val="tx1"/>
                    </a:solidFill>
                  </a:rPr>
                  <a:t>：</a:t>
                </a:r>
                <a:endParaRPr lang="zh-CN" altLang="zh-CN" sz="2400" b="1" dirty="0">
                  <a:solidFill>
                    <a:schemeClr val="tx1"/>
                  </a:solidFill>
                </a:endParaRPr>
              </a:p>
              <a:p>
                <a:pPr>
                  <a:lnSpc>
                    <a:spcPct val="150000"/>
                  </a:lnSpc>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）设</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a:solidFill>
                          <a:schemeClr val="tx1"/>
                        </a:solidFill>
                        <a:latin typeface="Cambria Math"/>
                      </a:rPr>
                      <m:t>,</m:t>
                    </m:r>
                    <m:r>
                      <a:rPr lang="en-US" altLang="zh-CN" sz="2400" b="1" i="1">
                        <a:solidFill>
                          <a:schemeClr val="tx1"/>
                        </a:solidFill>
                        <a:latin typeface="Cambria Math"/>
                      </a:rPr>
                      <m:t>𝟒</m:t>
                    </m:r>
                    <m:r>
                      <a:rPr lang="en-US" altLang="zh-CN" sz="2400" b="1">
                        <a:solidFill>
                          <a:schemeClr val="tx1"/>
                        </a:solidFill>
                        <a:latin typeface="Cambria Math"/>
                      </a:rPr>
                      <m:t>,</m:t>
                    </m:r>
                    <m:r>
                      <a:rPr lang="en-US" altLang="zh-CN" sz="2400" b="1" i="1">
                        <a:solidFill>
                          <a:schemeClr val="tx1"/>
                        </a:solidFill>
                        <a:latin typeface="Cambria Math"/>
                      </a:rPr>
                      <m:t>𝟓</m:t>
                    </m:r>
                    <m:r>
                      <a:rPr lang="en-US" altLang="zh-CN" sz="2400" b="1" i="1">
                        <a:solidFill>
                          <a:schemeClr val="tx1"/>
                        </a:solidFill>
                        <a:latin typeface="Cambria Math"/>
                      </a:rPr>
                      <m:t>}</m:t>
                    </m:r>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𝒂</m:t>
                        </m:r>
                        <m:r>
                          <a:rPr lang="en-US" altLang="zh-CN" sz="2400" b="1" i="1">
                            <a:solidFill>
                              <a:schemeClr val="tx1"/>
                            </a:solidFill>
                            <a:latin typeface="Cambria Math"/>
                          </a:rPr>
                          <m:t>,</m:t>
                        </m:r>
                        <m:r>
                          <a:rPr lang="en-US" altLang="zh-CN" sz="2400" b="1" i="1">
                            <a:solidFill>
                              <a:schemeClr val="tx1"/>
                            </a:solidFill>
                            <a:latin typeface="Cambria Math"/>
                          </a:rPr>
                          <m:t>𝒃</m:t>
                        </m:r>
                        <m:r>
                          <a:rPr lang="en-US" altLang="zh-CN" sz="2400" b="1" i="1">
                            <a:solidFill>
                              <a:schemeClr val="tx1"/>
                            </a:solidFill>
                            <a:latin typeface="Cambria Math"/>
                          </a:rPr>
                          <m:t>,</m:t>
                        </m:r>
                        <m:r>
                          <a:rPr lang="en-US" altLang="zh-CN" sz="2400" b="1" i="1">
                            <a:solidFill>
                              <a:schemeClr val="tx1"/>
                            </a:solidFill>
                            <a:latin typeface="Cambria Math"/>
                          </a:rPr>
                          <m:t>𝒄</m:t>
                        </m:r>
                        <m:r>
                          <a:rPr lang="en-US" altLang="zh-CN" sz="2400" b="1" i="1">
                            <a:solidFill>
                              <a:schemeClr val="tx1"/>
                            </a:solidFill>
                            <a:latin typeface="Cambria Math"/>
                          </a:rPr>
                          <m:t>,</m:t>
                        </m:r>
                        <m:r>
                          <a:rPr lang="en-US" altLang="zh-CN" sz="2400" b="1" i="1">
                            <a:solidFill>
                              <a:schemeClr val="tx1"/>
                            </a:solidFill>
                            <a:latin typeface="Cambria Math"/>
                          </a:rPr>
                          <m:t>𝒅</m:t>
                        </m:r>
                        <m:r>
                          <a:rPr lang="en-US" altLang="zh-CN" sz="2400" b="1" i="1">
                            <a:solidFill>
                              <a:schemeClr val="tx1"/>
                            </a:solidFill>
                            <a:latin typeface="Cambria Math"/>
                          </a:rPr>
                          <m:t>,</m:t>
                        </m:r>
                        <m:r>
                          <a:rPr lang="en-US" altLang="zh-CN" sz="2400" b="1" i="1">
                            <a:solidFill>
                              <a:schemeClr val="tx1"/>
                            </a:solidFill>
                            <a:latin typeface="Cambria Math"/>
                          </a:rPr>
                          <m:t>𝒆</m:t>
                        </m:r>
                      </m:e>
                    </m:d>
                    <m:r>
                      <a:rPr lang="zh-CN" altLang="zh-CN" sz="2400" b="1">
                        <a:solidFill>
                          <a:schemeClr val="tx1"/>
                        </a:solidFill>
                        <a:latin typeface="Cambria Math"/>
                      </a:rPr>
                      <m:t>。</m:t>
                    </m:r>
                    <m:r>
                      <a:rPr lang="en-US" altLang="zh-CN" sz="2400" b="1" i="1">
                        <a:solidFill>
                          <a:schemeClr val="tx1"/>
                        </a:solidFill>
                        <a:latin typeface="Cambria Math"/>
                      </a:rPr>
                      <m:t>𝒇</m:t>
                    </m:r>
                    <m:r>
                      <a:rPr lang="en-US" altLang="zh-CN" sz="2400" b="1" i="1">
                        <a:solidFill>
                          <a:schemeClr val="tx1"/>
                        </a:solidFill>
                        <a:latin typeface="Cambria Math"/>
                      </a:rPr>
                      <m:t>:</m:t>
                    </m:r>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定义为</a:t>
                </a:r>
                <a14:m>
                  <m:oMath xmlns:m="http://schemas.openxmlformats.org/officeDocument/2006/math">
                    <m:r>
                      <a:rPr lang="en-US" altLang="zh-CN" sz="2400" b="1" i="1" smtClean="0">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𝒂</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𝒄</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𝒃</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𝟒</m:t>
                        </m:r>
                        <m:r>
                          <a:rPr lang="en-US" altLang="zh-CN" sz="2400" b="1" i="1">
                            <a:solidFill>
                              <a:srgbClr val="0000FF"/>
                            </a:solidFill>
                            <a:latin typeface="Cambria Math"/>
                          </a:rPr>
                          <m:t>,</m:t>
                        </m:r>
                        <m:r>
                          <a:rPr lang="en-US" altLang="zh-CN" sz="2400" b="1" i="1">
                            <a:solidFill>
                              <a:srgbClr val="0000FF"/>
                            </a:solidFill>
                            <a:latin typeface="Cambria Math"/>
                          </a:rPr>
                          <m:t>𝒂</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𝟓</m:t>
                        </m:r>
                        <m:r>
                          <a:rPr lang="en-US" altLang="zh-CN" sz="2400" b="1" i="1">
                            <a:solidFill>
                              <a:srgbClr val="0000FF"/>
                            </a:solidFill>
                            <a:latin typeface="Cambria Math"/>
                          </a:rPr>
                          <m:t>,</m:t>
                        </m:r>
                        <m:r>
                          <a:rPr lang="en-US" altLang="zh-CN" sz="2400" b="1" i="1">
                            <a:solidFill>
                              <a:srgbClr val="0000FF"/>
                            </a:solidFill>
                            <a:latin typeface="Cambria Math"/>
                          </a:rPr>
                          <m:t>𝒅</m:t>
                        </m:r>
                      </m:e>
                    </m:d>
                    <m:r>
                      <a:rPr lang="en-US" altLang="zh-CN" sz="2400" b="1" i="1">
                        <a:solidFill>
                          <a:srgbClr val="0000FF"/>
                        </a:solidFill>
                        <a:latin typeface="Cambria Math"/>
                      </a:rPr>
                      <m:t>}</m:t>
                    </m:r>
                  </m:oMath>
                </a14:m>
                <a:r>
                  <a:rPr lang="zh-CN" altLang="zh-CN" sz="2400" b="1" dirty="0">
                    <a:solidFill>
                      <a:schemeClr val="tx1"/>
                    </a:solidFill>
                  </a:rPr>
                  <a:t>。</a:t>
                </a:r>
              </a:p>
              <a:p>
                <a:pPr>
                  <a:lnSpc>
                    <a:spcPct val="150000"/>
                  </a:lnSpc>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）设</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i="1">
                        <a:solidFill>
                          <a:schemeClr val="tx1"/>
                        </a:solidFill>
                        <a:latin typeface="Cambria Math"/>
                      </a:rPr>
                      <m:t>}</m:t>
                    </m:r>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𝒂</m:t>
                        </m:r>
                        <m:r>
                          <a:rPr lang="en-US" altLang="zh-CN" sz="2400" b="1" i="1">
                            <a:solidFill>
                              <a:schemeClr val="tx1"/>
                            </a:solidFill>
                            <a:latin typeface="Cambria Math"/>
                          </a:rPr>
                          <m:t>,</m:t>
                        </m:r>
                        <m:r>
                          <a:rPr lang="en-US" altLang="zh-CN" sz="2400" b="1" i="1">
                            <a:solidFill>
                              <a:schemeClr val="tx1"/>
                            </a:solidFill>
                            <a:latin typeface="Cambria Math"/>
                          </a:rPr>
                          <m:t>𝒃</m:t>
                        </m:r>
                        <m:r>
                          <a:rPr lang="en-US" altLang="zh-CN" sz="2400" b="1" i="1">
                            <a:solidFill>
                              <a:schemeClr val="tx1"/>
                            </a:solidFill>
                            <a:latin typeface="Cambria Math"/>
                          </a:rPr>
                          <m:t>,</m:t>
                        </m:r>
                        <m:r>
                          <a:rPr lang="en-US" altLang="zh-CN" sz="2400" b="1" i="1">
                            <a:solidFill>
                              <a:schemeClr val="tx1"/>
                            </a:solidFill>
                            <a:latin typeface="Cambria Math"/>
                          </a:rPr>
                          <m:t>𝒄</m:t>
                        </m:r>
                        <m:r>
                          <a:rPr lang="en-US" altLang="zh-CN" sz="2400" b="1" i="1">
                            <a:solidFill>
                              <a:schemeClr val="tx1"/>
                            </a:solidFill>
                            <a:latin typeface="Cambria Math"/>
                          </a:rPr>
                          <m:t>,</m:t>
                        </m:r>
                        <m:r>
                          <a:rPr lang="en-US" altLang="zh-CN" sz="2400" b="1" i="1">
                            <a:solidFill>
                              <a:schemeClr val="tx1"/>
                            </a:solidFill>
                            <a:latin typeface="Cambria Math"/>
                          </a:rPr>
                          <m:t>𝒅</m:t>
                        </m:r>
                      </m:e>
                    </m:d>
                    <m:r>
                      <a:rPr lang="zh-CN" altLang="zh-CN" sz="2400" b="1">
                        <a:solidFill>
                          <a:schemeClr val="tx1"/>
                        </a:solidFill>
                        <a:latin typeface="Cambria Math"/>
                      </a:rPr>
                      <m:t>。</m:t>
                    </m:r>
                    <m:r>
                      <a:rPr lang="en-US" altLang="zh-CN" sz="2400" b="1" i="1">
                        <a:solidFill>
                          <a:schemeClr val="tx1"/>
                        </a:solidFill>
                        <a:latin typeface="Cambria Math"/>
                      </a:rPr>
                      <m:t>𝒇</m:t>
                    </m:r>
                    <m:r>
                      <a:rPr lang="en-US" altLang="zh-CN" sz="2400" b="1" i="1">
                        <a:solidFill>
                          <a:schemeClr val="tx1"/>
                        </a:solidFill>
                        <a:latin typeface="Cambria Math"/>
                      </a:rPr>
                      <m:t>:</m:t>
                    </m:r>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定义为</a:t>
                </a:r>
                <a14:m>
                  <m:oMath xmlns:m="http://schemas.openxmlformats.org/officeDocument/2006/math">
                    <m:r>
                      <a:rPr lang="en-US" altLang="zh-CN" sz="2400" b="1" i="1" smtClean="0">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𝒂</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𝒄</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𝒃</m:t>
                        </m:r>
                      </m:e>
                    </m:d>
                    <m:r>
                      <a:rPr lang="en-US" altLang="zh-CN" sz="2400" b="1" i="1">
                        <a:solidFill>
                          <a:srgbClr val="0000FF"/>
                        </a:solidFill>
                        <a:latin typeface="Cambria Math"/>
                      </a:rPr>
                      <m:t>}</m:t>
                    </m:r>
                  </m:oMath>
                </a14:m>
                <a:r>
                  <a:rPr lang="zh-CN" altLang="zh-CN" sz="2400" b="1" dirty="0">
                    <a:solidFill>
                      <a:schemeClr val="tx1"/>
                    </a:solidFill>
                  </a:rPr>
                  <a:t>。</a:t>
                </a:r>
              </a:p>
              <a:p>
                <a:pPr>
                  <a:lnSpc>
                    <a:spcPct val="150000"/>
                  </a:lnSpc>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3</a:t>
                </a:r>
                <a:r>
                  <a:rPr lang="zh-CN" altLang="zh-CN" sz="2400" b="1" dirty="0">
                    <a:solidFill>
                      <a:schemeClr val="tx1"/>
                    </a:solidFill>
                  </a:rPr>
                  <a:t>）设</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i="1">
                        <a:solidFill>
                          <a:schemeClr val="tx1"/>
                        </a:solidFill>
                        <a:latin typeface="Cambria Math"/>
                      </a:rPr>
                      <m:t>}</m:t>
                    </m:r>
                  </m:oMath>
                </a14:m>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e>
                    </m:d>
                    <m:r>
                      <a:rPr lang="zh-CN" altLang="zh-CN" sz="2400" b="1">
                        <a:solidFill>
                          <a:schemeClr val="tx1"/>
                        </a:solidFill>
                        <a:latin typeface="Cambria Math"/>
                      </a:rPr>
                      <m:t>。</m:t>
                    </m:r>
                    <m:r>
                      <a:rPr lang="en-US" altLang="zh-CN" sz="2400" b="1" i="1">
                        <a:solidFill>
                          <a:schemeClr val="tx1"/>
                        </a:solidFill>
                        <a:latin typeface="Cambria Math"/>
                      </a:rPr>
                      <m:t>𝒇</m:t>
                    </m:r>
                    <m:r>
                      <a:rPr lang="en-US" altLang="zh-CN" sz="2400" b="1" i="1">
                        <a:solidFill>
                          <a:schemeClr val="tx1"/>
                        </a:solidFill>
                        <a:latin typeface="Cambria Math"/>
                      </a:rPr>
                      <m:t>:</m:t>
                    </m:r>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定义为</a:t>
                </a:r>
                <a14:m>
                  <m:oMath xmlns:m="http://schemas.openxmlformats.org/officeDocument/2006/math">
                    <m:r>
                      <a:rPr lang="en-US" altLang="zh-CN" sz="2400" b="1" i="1" smtClean="0">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𝟏</m:t>
                        </m:r>
                        <m:r>
                          <a:rPr lang="en-US" altLang="zh-CN" sz="2400" b="1" i="1">
                            <a:solidFill>
                              <a:srgbClr val="0000FF"/>
                            </a:solidFill>
                            <a:latin typeface="Cambria Math"/>
                          </a:rPr>
                          <m:t>,</m:t>
                        </m:r>
                        <m:r>
                          <a:rPr lang="en-US" altLang="zh-CN" sz="2400" b="1" i="1">
                            <a:solidFill>
                              <a:srgbClr val="0000FF"/>
                            </a:solidFill>
                            <a:latin typeface="Cambria Math"/>
                          </a:rPr>
                          <m:t>𝟐</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𝟐</m:t>
                        </m:r>
                        <m:r>
                          <a:rPr lang="en-US" altLang="zh-CN" sz="2400" b="1" i="1">
                            <a:solidFill>
                              <a:srgbClr val="0000FF"/>
                            </a:solidFill>
                            <a:latin typeface="Cambria Math"/>
                          </a:rPr>
                          <m:t>,</m:t>
                        </m:r>
                        <m:r>
                          <a:rPr lang="en-US" altLang="zh-CN" sz="2400" b="1" i="1">
                            <a:solidFill>
                              <a:srgbClr val="0000FF"/>
                            </a:solidFill>
                            <a:latin typeface="Cambria Math"/>
                          </a:rPr>
                          <m:t>𝟏</m:t>
                        </m:r>
                      </m:e>
                    </m:d>
                    <m:r>
                      <a:rPr lang="en-US" altLang="zh-CN" sz="2400" b="1" i="1">
                        <a:solidFill>
                          <a:srgbClr val="0000FF"/>
                        </a:solidFill>
                        <a:latin typeface="Cambria Math"/>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𝟑</m:t>
                        </m:r>
                        <m:r>
                          <a:rPr lang="en-US" altLang="zh-CN" sz="2400" b="1" i="1">
                            <a:solidFill>
                              <a:srgbClr val="0000FF"/>
                            </a:solidFill>
                            <a:latin typeface="Cambria Math"/>
                          </a:rPr>
                          <m:t>,</m:t>
                        </m:r>
                        <m:r>
                          <a:rPr lang="en-US" altLang="zh-CN" sz="2400" b="1" i="1">
                            <a:solidFill>
                              <a:srgbClr val="0000FF"/>
                            </a:solidFill>
                            <a:latin typeface="Cambria Math"/>
                          </a:rPr>
                          <m:t>𝟑</m:t>
                        </m:r>
                      </m:e>
                    </m:d>
                    <m:r>
                      <a:rPr lang="en-US" altLang="zh-CN" sz="2400" b="1" i="1">
                        <a:solidFill>
                          <a:srgbClr val="0000FF"/>
                        </a:solidFill>
                        <a:latin typeface="Cambria Math"/>
                      </a:rPr>
                      <m:t>}</m:t>
                    </m:r>
                  </m:oMath>
                </a14:m>
                <a:r>
                  <a:rPr lang="zh-CN" altLang="zh-CN" sz="2400" b="1" dirty="0">
                    <a:solidFill>
                      <a:schemeClr val="tx1"/>
                    </a:solidFill>
                  </a:rPr>
                  <a:t>。</a:t>
                </a:r>
              </a:p>
            </p:txBody>
          </p:sp>
        </mc:Choice>
        <mc:Fallback xmlns="">
          <p:sp>
            <p:nvSpPr>
              <p:cNvPr id="3" name="TextBox 2"/>
              <p:cNvSpPr txBox="1">
                <a:spLocks noRot="1" noChangeAspect="1" noMove="1" noResize="1" noEditPoints="1" noAdjustHandles="1" noChangeArrowheads="1" noChangeShapeType="1" noTextEdit="1"/>
              </p:cNvSpPr>
              <p:nvPr/>
            </p:nvSpPr>
            <p:spPr>
              <a:xfrm>
                <a:off x="683568" y="1869548"/>
                <a:ext cx="7992888" cy="4201150"/>
              </a:xfrm>
              <a:prstGeom prst="rect">
                <a:avLst/>
              </a:prstGeom>
              <a:blipFill>
                <a:blip r:embed="rId3"/>
                <a:stretch>
                  <a:fillRect l="-1144" b="-290"/>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D529F2C-C596-49F6-A8E4-4D78569687EE}"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8131"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4813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323528" y="1772816"/>
                <a:ext cx="8640960" cy="4351256"/>
              </a:xfrm>
              <a:prstGeom prst="rect">
                <a:avLst/>
              </a:prstGeom>
              <a:solidFill>
                <a:schemeClr val="bg1"/>
              </a:solidFill>
            </p:spPr>
            <p:txBody>
              <a:bodyPr wrap="square" rtlCol="0">
                <a:spAutoFit/>
              </a:bodyPr>
              <a:lstStyle/>
              <a:p>
                <a:pPr>
                  <a:lnSpc>
                    <a:spcPts val="3600"/>
                  </a:lnSpc>
                  <a:spcBef>
                    <a:spcPts val="600"/>
                  </a:spcBef>
                </a:pPr>
                <a:r>
                  <a:rPr lang="zh-CN" altLang="zh-CN" sz="2400" b="1" dirty="0"/>
                  <a:t>【分析】</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）对任意</a:t>
                </a:r>
                <a14:m>
                  <m:oMath xmlns:m="http://schemas.openxmlformats.org/officeDocument/2006/math">
                    <m:r>
                      <a:rPr lang="en-US" altLang="zh-CN" sz="2400" b="1" i="1">
                        <a:solidFill>
                          <a:schemeClr val="tx1"/>
                        </a:solidFill>
                        <a:latin typeface="Cambria Math"/>
                      </a:rPr>
                      <m:t>𝒚</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，都存在</a:t>
                </a:r>
                <a14:m>
                  <m:oMath xmlns:m="http://schemas.openxmlformats.org/officeDocument/2006/math">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，使得</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𝒚</m:t>
                        </m:r>
                      </m:e>
                    </m:d>
                    <m:r>
                      <a:rPr lang="en-US" altLang="zh-CN" sz="2400" b="1" i="1">
                        <a:solidFill>
                          <a:schemeClr val="tx1"/>
                        </a:solidFill>
                        <a:latin typeface="Cambria Math"/>
                      </a:rPr>
                      <m:t>∈</m:t>
                    </m:r>
                    <m:r>
                      <a:rPr lang="en-US" altLang="zh-CN" sz="2400" b="1" i="1">
                        <a:solidFill>
                          <a:schemeClr val="tx1"/>
                        </a:solidFill>
                        <a:latin typeface="Cambria Math"/>
                      </a:rPr>
                      <m:t>𝒇</m:t>
                    </m:r>
                  </m:oMath>
                </a14:m>
                <a:r>
                  <a:rPr lang="zh-CN" altLang="zh-CN" sz="2400" b="1" dirty="0">
                    <a:solidFill>
                      <a:schemeClr val="tx1"/>
                    </a:solidFill>
                  </a:rPr>
                  <a:t>，所以</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是</a:t>
                </a:r>
                <a:r>
                  <a:rPr lang="zh-CN" altLang="zh-CN" sz="2400" b="1" dirty="0">
                    <a:solidFill>
                      <a:schemeClr val="accent2"/>
                    </a:solidFill>
                  </a:rPr>
                  <a:t>满射</a:t>
                </a:r>
                <a:r>
                  <a:rPr lang="zh-CN" altLang="zh-CN" sz="2400" b="1" dirty="0">
                    <a:solidFill>
                      <a:schemeClr val="tx1"/>
                    </a:solidFill>
                  </a:rPr>
                  <a:t>；但元素</a:t>
                </a:r>
                <a:r>
                  <a:rPr lang="en-US" altLang="zh-CN" sz="2400" b="1" dirty="0">
                    <a:solidFill>
                      <a:schemeClr val="tx1"/>
                    </a:solidFill>
                  </a:rPr>
                  <a:t>1</a:t>
                </a:r>
                <a:r>
                  <a:rPr lang="zh-CN" altLang="zh-CN" sz="2400" b="1" dirty="0">
                    <a:solidFill>
                      <a:schemeClr val="tx1"/>
                    </a:solidFill>
                  </a:rPr>
                  <a:t>和</a:t>
                </a:r>
                <a:r>
                  <a:rPr lang="en-US" altLang="zh-CN" sz="2400" b="1" dirty="0">
                    <a:solidFill>
                      <a:schemeClr val="tx1"/>
                    </a:solidFill>
                  </a:rPr>
                  <a:t>4</a:t>
                </a:r>
                <a:r>
                  <a:rPr lang="zh-CN" altLang="zh-CN" sz="2400" b="1" dirty="0">
                    <a:solidFill>
                      <a:schemeClr val="tx1"/>
                    </a:solidFill>
                  </a:rPr>
                  <a:t>的像都是</a:t>
                </a:r>
                <a14:m>
                  <m:oMath xmlns:m="http://schemas.openxmlformats.org/officeDocument/2006/math">
                    <m:r>
                      <a:rPr lang="en-US" altLang="zh-CN" sz="2400" b="1" i="1">
                        <a:solidFill>
                          <a:schemeClr val="tx1"/>
                        </a:solidFill>
                        <a:latin typeface="Cambria Math"/>
                      </a:rPr>
                      <m:t>𝒂</m:t>
                    </m:r>
                  </m:oMath>
                </a14:m>
                <a:r>
                  <a:rPr lang="zh-CN" altLang="zh-CN" sz="2400" b="1" dirty="0">
                    <a:solidFill>
                      <a:schemeClr val="tx1"/>
                    </a:solidFill>
                  </a:rPr>
                  <a:t>，故</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accent2"/>
                    </a:solidFill>
                  </a:rPr>
                  <a:t>不是单射</a:t>
                </a:r>
                <a:r>
                  <a:rPr lang="zh-CN" altLang="zh-CN" sz="2400" b="1" dirty="0">
                    <a:solidFill>
                      <a:schemeClr val="tx1"/>
                    </a:solidFill>
                  </a:rPr>
                  <a:t>。综上可知</a:t>
                </a:r>
                <a14:m>
                  <m:oMath xmlns:m="http://schemas.openxmlformats.org/officeDocument/2006/math">
                    <m:r>
                      <a:rPr lang="en-US" altLang="zh-CN" sz="2400" b="1" i="1" smtClean="0">
                        <a:solidFill>
                          <a:srgbClr val="0000FF"/>
                        </a:solidFill>
                        <a:latin typeface="Cambria Math"/>
                      </a:rPr>
                      <m:t>𝒇</m:t>
                    </m:r>
                  </m:oMath>
                </a14:m>
                <a:r>
                  <a:rPr lang="zh-CN" altLang="zh-CN" sz="2400" b="1" dirty="0">
                    <a:solidFill>
                      <a:srgbClr val="0000FF"/>
                    </a:solidFill>
                  </a:rPr>
                  <a:t>是满射但不是双射</a:t>
                </a:r>
                <a:r>
                  <a:rPr lang="zh-CN" altLang="zh-CN" sz="2400" b="1" dirty="0">
                    <a:solidFill>
                      <a:schemeClr val="tx1"/>
                    </a:solidFill>
                  </a:rPr>
                  <a:t>。</a:t>
                </a:r>
              </a:p>
              <a:p>
                <a:pPr>
                  <a:lnSpc>
                    <a:spcPts val="3600"/>
                  </a:lnSpc>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中不同的元素对应不同的像，因此</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accent2"/>
                    </a:solidFill>
                  </a:rPr>
                  <a:t>是单射</a:t>
                </a:r>
                <a:r>
                  <a:rPr lang="zh-CN" altLang="zh-CN" sz="2400" b="1" dirty="0">
                    <a:solidFill>
                      <a:schemeClr val="tx1"/>
                    </a:solidFill>
                  </a:rPr>
                  <a:t>；另一方面，存在元素</a:t>
                </a:r>
                <a14:m>
                  <m:oMath xmlns:m="http://schemas.openxmlformats.org/officeDocument/2006/math">
                    <m:r>
                      <a:rPr lang="en-US" altLang="zh-CN" sz="2400" b="1" i="1">
                        <a:solidFill>
                          <a:schemeClr val="tx1"/>
                        </a:solidFill>
                        <a:latin typeface="Cambria Math"/>
                      </a:rPr>
                      <m:t>𝒅</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没有原像，故</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不是满射。综上可知</a:t>
                </a:r>
                <a14:m>
                  <m:oMath xmlns:m="http://schemas.openxmlformats.org/officeDocument/2006/math">
                    <m:r>
                      <a:rPr lang="en-US" altLang="zh-CN" sz="2400" b="1" i="1" smtClean="0">
                        <a:solidFill>
                          <a:srgbClr val="0000FF"/>
                        </a:solidFill>
                        <a:latin typeface="Cambria Math"/>
                      </a:rPr>
                      <m:t>𝒇</m:t>
                    </m:r>
                  </m:oMath>
                </a14:m>
                <a:r>
                  <a:rPr lang="zh-CN" altLang="zh-CN" sz="2400" b="1" dirty="0">
                    <a:solidFill>
                      <a:srgbClr val="0000FF"/>
                    </a:solidFill>
                  </a:rPr>
                  <a:t>是单射但不是满射。</a:t>
                </a:r>
                <a:endParaRPr lang="zh-CN" altLang="zh-CN" sz="2400" b="1" dirty="0">
                  <a:solidFill>
                    <a:schemeClr val="tx1"/>
                  </a:solidFill>
                </a:endParaRPr>
              </a:p>
              <a:p>
                <a:pPr>
                  <a:lnSpc>
                    <a:spcPts val="3600"/>
                  </a:lnSpc>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3</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中不同的元素对应不同的像，所以</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是单射。又由于</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中的每个元素都有原像，所以</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是满射。从而</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是</a:t>
                </a:r>
                <a:r>
                  <a:rPr lang="zh-CN" altLang="zh-CN" sz="2400" b="1" dirty="0">
                    <a:solidFill>
                      <a:schemeClr val="accent2"/>
                    </a:solidFill>
                  </a:rPr>
                  <a:t>双射</a:t>
                </a:r>
                <a:r>
                  <a:rPr lang="zh-CN" altLang="zh-CN" sz="2400" b="1" dirty="0">
                    <a:solidFill>
                      <a:schemeClr val="tx1"/>
                    </a:solidFill>
                  </a:rPr>
                  <a:t>。又因为</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，所以</a:t>
                </a:r>
                <a14:m>
                  <m:oMath xmlns:m="http://schemas.openxmlformats.org/officeDocument/2006/math">
                    <m:r>
                      <a:rPr lang="en-US" altLang="zh-CN" sz="2400" b="1" i="1" smtClean="0">
                        <a:solidFill>
                          <a:srgbClr val="0000FF"/>
                        </a:solidFill>
                        <a:latin typeface="Cambria Math"/>
                      </a:rPr>
                      <m:t>𝒇</m:t>
                    </m:r>
                  </m:oMath>
                </a14:m>
                <a:r>
                  <a:rPr lang="zh-CN" altLang="zh-CN" sz="2400" b="1" dirty="0">
                    <a:solidFill>
                      <a:srgbClr val="0000FF"/>
                    </a:solidFill>
                  </a:rPr>
                  <a:t>还是变换</a:t>
                </a:r>
                <a:r>
                  <a:rPr lang="zh-CN" altLang="zh-CN" sz="2400" b="1" dirty="0">
                    <a:solidFill>
                      <a:schemeClr val="tx1"/>
                    </a:solidFill>
                  </a:rPr>
                  <a:t>。</a:t>
                </a:r>
              </a:p>
            </p:txBody>
          </p:sp>
        </mc:Choice>
        <mc:Fallback xmlns="">
          <p:sp>
            <p:nvSpPr>
              <p:cNvPr id="4" name="TextBox 3"/>
              <p:cNvSpPr txBox="1">
                <a:spLocks noRot="1" noChangeAspect="1" noMove="1" noResize="1" noEditPoints="1" noAdjustHandles="1" noChangeArrowheads="1" noChangeShapeType="1" noTextEdit="1"/>
              </p:cNvSpPr>
              <p:nvPr/>
            </p:nvSpPr>
            <p:spPr>
              <a:xfrm>
                <a:off x="323528" y="1772816"/>
                <a:ext cx="8640960" cy="4351256"/>
              </a:xfrm>
              <a:prstGeom prst="rect">
                <a:avLst/>
              </a:prstGeom>
              <a:blipFill>
                <a:blip r:embed="rId3"/>
                <a:stretch>
                  <a:fillRect l="-1058" t="-560" r="-494" b="-1821"/>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EF46514-D385-464B-9F8B-B8679781282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9155"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有限集上的映射</a:t>
            </a:r>
          </a:p>
        </p:txBody>
      </p:sp>
      <p:pic>
        <p:nvPicPr>
          <p:cNvPr id="4915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163B9EC-B297-479A-B582-76F5F87E10FB}"/>
                  </a:ext>
                </a:extLst>
              </p:cNvPr>
              <p:cNvSpPr/>
              <p:nvPr/>
            </p:nvSpPr>
            <p:spPr>
              <a:xfrm>
                <a:off x="359532" y="1726074"/>
                <a:ext cx="8424936" cy="4454233"/>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【定理】设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zh-CN"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有限集合</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rPr>
                          <m:t>𝑨</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是一个从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单射函数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必然是从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满射函数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反之亦然</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是单射</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的满射，故</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的双射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，因此</a:t>
                </a: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rPr>
                          <m:t>𝑨</m:t>
                        </m:r>
                      </m:e>
                    </m:d>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𝑨</m:t>
                            </m:r>
                          </m:e>
                        </m:d>
                      </m:e>
                    </m:d>
                    <m:r>
                      <a:rPr lang="zh-CN" altLang="zh-CN" sz="2400" b="1" kern="100">
                        <a:solidFill>
                          <a:schemeClr val="bg1"/>
                        </a:solidFill>
                        <a:latin typeface="Cambria Math" panose="02040503050406030204" pitchFamily="18" charset="0"/>
                        <a:ea typeface="宋体" panose="02010600030101010101" pitchFamily="2" charset="-122"/>
                      </a:rPr>
                      <m:t>，</m:t>
                    </m:r>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从而</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zh-CN" altLang="zh-CN" sz="2400" b="1" kern="100">
                        <a:solidFill>
                          <a:schemeClr val="bg1"/>
                        </a:solidFill>
                        <a:latin typeface="Cambria Math" panose="02040503050406030204" pitchFamily="18" charset="0"/>
                        <a:ea typeface="宋体" panose="02010600030101010101" pitchFamily="2" charset="-122"/>
                      </a:rPr>
                      <m:t>根据</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有限集合性质有</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i="1" kern="100" dirty="0">
                  <a:solidFill>
                    <a:schemeClr val="bg1"/>
                  </a:solidFill>
                  <a:latin typeface="Cambria Math" panose="02040503050406030204" pitchFamily="18" charset="0"/>
                  <a:ea typeface="宋体" panose="02010600030101010101" pitchFamily="2" charset="-122"/>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𝑨</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oMath>
                  </m:oMathPara>
                </a14:m>
                <a:endPar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的满射，即</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的双射。</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C163B9EC-B297-479A-B582-76F5F87E10FB}"/>
                  </a:ext>
                </a:extLst>
              </p:cNvPr>
              <p:cNvSpPr>
                <a:spLocks noRot="1" noChangeAspect="1" noMove="1" noResize="1" noEditPoints="1" noAdjustHandles="1" noChangeArrowheads="1" noChangeShapeType="1" noTextEdit="1"/>
              </p:cNvSpPr>
              <p:nvPr/>
            </p:nvSpPr>
            <p:spPr>
              <a:xfrm>
                <a:off x="359532" y="1726074"/>
                <a:ext cx="8424936" cy="4454233"/>
              </a:xfrm>
              <a:prstGeom prst="rect">
                <a:avLst/>
              </a:prstGeom>
              <a:blipFill>
                <a:blip r:embed="rId3"/>
                <a:stretch>
                  <a:fillRect l="-1158" r="-1085" b="-1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55533143"/>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EF46514-D385-464B-9F8B-B8679781282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49155"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有限集上的映射</a:t>
            </a:r>
          </a:p>
        </p:txBody>
      </p:sp>
      <p:pic>
        <p:nvPicPr>
          <p:cNvPr id="4915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163B9EC-B297-479A-B582-76F5F87E10FB}"/>
                  </a:ext>
                </a:extLst>
              </p:cNvPr>
              <p:cNvSpPr/>
              <p:nvPr/>
            </p:nvSpPr>
            <p:spPr>
              <a:xfrm>
                <a:off x="359532" y="1778756"/>
                <a:ext cx="8424936" cy="4454233"/>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【定理】设</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𝑨</m:t>
                    </m:r>
                    <m:r>
                      <a:rPr lang="zh-CN" altLang="zh-CN" sz="2400" b="1" kern="100">
                        <a:solidFill>
                          <a:schemeClr val="accent2">
                            <a:lumMod val="60000"/>
                            <a:lumOff val="40000"/>
                          </a:schemeClr>
                        </a:solidFill>
                        <a:latin typeface="Cambria Math" panose="02040503050406030204" pitchFamily="18" charset="0"/>
                        <a:ea typeface="宋体" panose="02010600030101010101" pitchFamily="2" charset="-122"/>
                      </a:rPr>
                      <m:t>，</m:t>
                    </m:r>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𝑩</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是有限集合且</a:t>
                </a:r>
                <a14:m>
                  <m:oMath xmlns:m="http://schemas.openxmlformats.org/officeDocument/2006/math">
                    <m:d>
                      <m:dPr>
                        <m:begChr m:val="|"/>
                        <m:endChr m:val="|"/>
                        <m:ctrlPr>
                          <a:rPr lang="zh-CN" altLang="zh-CN" sz="2400" b="1" i="1" kern="100">
                            <a:solidFill>
                              <a:schemeClr val="accent2">
                                <a:lumMod val="60000"/>
                                <a:lumOff val="40000"/>
                              </a:schemeClr>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𝑨</m:t>
                        </m:r>
                      </m:e>
                    </m:d>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m:t>
                    </m:r>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𝑩</m:t>
                    </m:r>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。如果</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𝒇</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是一个从</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𝑨</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𝑩</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的单射函数，则</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𝒇</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必然是从</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𝑨</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accent2">
                            <a:lumMod val="60000"/>
                            <a:lumOff val="40000"/>
                          </a:schemeClr>
                        </a:solidFill>
                        <a:latin typeface="Cambria Math" panose="02040503050406030204" pitchFamily="18" charset="0"/>
                        <a:ea typeface="宋体" panose="02010600030101010101" pitchFamily="2" charset="-122"/>
                      </a:rPr>
                      <m:t>𝑩</m:t>
                    </m:r>
                  </m:oMath>
                </a14:m>
                <a:r>
                  <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cs typeface="宋体" panose="02010600030101010101" pitchFamily="2" charset="-122"/>
                  </a:rPr>
                  <a:t>的满射函数，反之亦然。</a:t>
                </a:r>
                <a:endParaRPr lang="zh-CN" altLang="zh-CN" sz="2400" b="1" kern="100" dirty="0">
                  <a:solidFill>
                    <a:schemeClr val="accent2">
                      <a:lumMod val="60000"/>
                      <a:lumOff val="40000"/>
                    </a:schemeClr>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（续）</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】反之，</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是满射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对于</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zh-CN" altLang="zh-CN" sz="2400" b="1" kern="100">
                        <a:solidFill>
                          <a:schemeClr val="bg1"/>
                        </a:solidFill>
                        <a:latin typeface="Cambria Math" panose="02040503050406030204" pitchFamily="18" charset="0"/>
                        <a:ea typeface="宋体" panose="02010600030101010101" pitchFamily="2" charset="-122"/>
                      </a:rPr>
                      <m:t>且</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的满射，故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仍</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𝑨</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的满射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endParaRPr lang="en-US" altLang="zh-CN" sz="2400" b="1" kern="100" dirty="0">
                  <a:solidFill>
                    <a:schemeClr val="bg1"/>
                  </a:solidFill>
                  <a:latin typeface="Cambria Math" panose="02040503050406030204" pitchFamily="18" charset="0"/>
                  <a:ea typeface="宋体" panose="02010600030101010101" pitchFamily="2" charset="-122"/>
                  <a:cs typeface="宋体" panose="02010600030101010101" pitchFamily="2" charset="-122"/>
                </a:endParaRPr>
              </a:p>
              <a:p>
                <a:pPr indent="266700" algn="ctr">
                  <a:lnSpc>
                    <a:spcPct val="150000"/>
                  </a:lnSpc>
                  <a:spcAft>
                    <a:spcPts val="0"/>
                  </a:spcAft>
                </a:pPr>
                <a14:m>
                  <m:oMath xmlns:m="http://schemas.openxmlformats.org/officeDocument/2006/math">
                    <m:r>
                      <a:rPr lang="en-US" altLang="zh-CN" sz="2400" b="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，即</a:t>
                </a:r>
                <a14:m>
                  <m:oMath xmlns:m="http://schemas.openxmlformats.org/officeDocument/2006/math">
                    <m:r>
                      <a:rPr lang="en-US"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r>
                      <a:rPr lang="en-US" altLang="zh-CN" sz="2400" b="1" i="1" kern="100">
                        <a:solidFill>
                          <a:srgbClr val="FFFF00"/>
                        </a:solidFill>
                        <a:latin typeface="Cambria Math" panose="02040503050406030204" pitchFamily="18" charset="0"/>
                        <a:ea typeface="宋体" panose="02010600030101010101" pitchFamily="2" charset="-122"/>
                      </a:rPr>
                      <m:t>|</m:t>
                    </m:r>
                  </m:oMath>
                </a14:m>
                <a:endPar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这与</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rPr>
                          <m:t>𝑨</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矛盾，因此</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的单射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的双射。</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C163B9EC-B297-479A-B582-76F5F87E10FB}"/>
                  </a:ext>
                </a:extLst>
              </p:cNvPr>
              <p:cNvSpPr>
                <a:spLocks noRot="1" noChangeAspect="1" noMove="1" noResize="1" noEditPoints="1" noAdjustHandles="1" noChangeArrowheads="1" noChangeShapeType="1" noTextEdit="1"/>
              </p:cNvSpPr>
              <p:nvPr/>
            </p:nvSpPr>
            <p:spPr>
              <a:xfrm>
                <a:off x="359532" y="1778756"/>
                <a:ext cx="8424936" cy="4454233"/>
              </a:xfrm>
              <a:prstGeom prst="rect">
                <a:avLst/>
              </a:prstGeom>
              <a:blipFill>
                <a:blip r:embed="rId3"/>
                <a:stretch>
                  <a:fillRect l="-1158" r="-1085" b="-1918"/>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D342047-B550-4AD2-BD32-DB4D9DABCF8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50179"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5018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p:cNvSpPr/>
              <p:nvPr/>
            </p:nvSpPr>
            <p:spPr>
              <a:xfrm>
                <a:off x="1250737" y="2204864"/>
                <a:ext cx="7128792" cy="3177665"/>
              </a:xfrm>
              <a:prstGeom prst="rect">
                <a:avLst/>
              </a:prstGeom>
              <a:solidFill>
                <a:schemeClr val="bg1"/>
              </a:solidFill>
            </p:spPr>
            <p:txBody>
              <a:bodyPr wrap="square">
                <a:spAutoFit/>
              </a:bodyPr>
              <a:lstStyle/>
              <a:p>
                <a:pPr>
                  <a:lnSpc>
                    <a:spcPct val="200000"/>
                  </a:lnSpc>
                  <a:spcBef>
                    <a:spcPts val="600"/>
                  </a:spcBef>
                </a:pPr>
                <a:r>
                  <a:rPr lang="zh-CN" altLang="zh-CN" sz="2400" b="1" dirty="0"/>
                  <a:t>【例题】</a:t>
                </a:r>
                <a:r>
                  <a:rPr lang="zh-CN" altLang="zh-CN" sz="2400" b="1" dirty="0">
                    <a:solidFill>
                      <a:schemeClr val="tx1"/>
                    </a:solidFill>
                  </a:rPr>
                  <a:t>对于给定的集合构造双射函数</a:t>
                </a:r>
                <a14:m>
                  <m:oMath xmlns:m="http://schemas.openxmlformats.org/officeDocument/2006/math">
                    <m:r>
                      <a:rPr lang="en-US" altLang="zh-CN" sz="2400" b="1" i="1">
                        <a:solidFill>
                          <a:schemeClr val="tx1"/>
                        </a:solidFill>
                        <a:latin typeface="Cambria Math"/>
                      </a:rPr>
                      <m:t>𝒇</m:t>
                    </m:r>
                    <m:r>
                      <a:rPr lang="en-US" altLang="zh-CN" sz="2400" b="1" i="1">
                        <a:solidFill>
                          <a:schemeClr val="tx1"/>
                        </a:solidFill>
                        <a:latin typeface="Cambria Math"/>
                      </a:rPr>
                      <m:t>:</m:t>
                    </m:r>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𝑩</m:t>
                    </m:r>
                  </m:oMath>
                </a14:m>
                <a:r>
                  <a:rPr lang="zh-CN" altLang="zh-CN" sz="2400" b="1" dirty="0">
                    <a:solidFill>
                      <a:schemeClr val="tx1"/>
                    </a:solidFill>
                  </a:rPr>
                  <a:t>。</a:t>
                </a:r>
              </a:p>
              <a:p>
                <a:pPr>
                  <a:lnSpc>
                    <a:spcPct val="200000"/>
                  </a:lnSpc>
                  <a:spcBef>
                    <a:spcPts val="600"/>
                  </a:spcBef>
                </a:pP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𝑷</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𝟑</m:t>
                    </m:r>
                    <m:r>
                      <a:rPr lang="en-US" altLang="zh-CN" sz="2400" b="1" i="1">
                        <a:solidFill>
                          <a:schemeClr val="tx1"/>
                        </a:solidFill>
                        <a:latin typeface="Cambria Math"/>
                      </a:rPr>
                      <m:t>})</m:t>
                    </m:r>
                  </m:oMath>
                </a14:m>
                <a:r>
                  <a:rPr lang="en-US" altLang="zh-CN" sz="2400" b="1" dirty="0">
                    <a:solidFill>
                      <a:schemeClr val="tx1"/>
                    </a:solidFill>
                  </a:rPr>
                  <a:t>,</a:t>
                </a:r>
                <a14:m>
                  <m:oMath xmlns:m="http://schemas.openxmlformats.org/officeDocument/2006/math">
                    <m:r>
                      <a:rPr lang="en-US" altLang="zh-CN" sz="2400" b="1" i="1">
                        <a:solidFill>
                          <a:schemeClr val="tx1"/>
                        </a:solidFill>
                        <a:latin typeface="Cambria Math"/>
                      </a:rPr>
                      <m:t> </m:t>
                    </m:r>
                    <m:r>
                      <a:rPr lang="en-US" altLang="zh-CN" sz="2400" b="1" i="1">
                        <a:solidFill>
                          <a:schemeClr val="tx1"/>
                        </a:solidFill>
                        <a:latin typeface="Cambria Math"/>
                      </a:rPr>
                      <m:t>𝑩</m:t>
                    </m:r>
                    <m:r>
                      <a:rPr lang="en-US" altLang="zh-CN" sz="2400" b="1" i="1">
                        <a:solidFill>
                          <a:schemeClr val="tx1"/>
                        </a:solidFill>
                        <a:latin typeface="Cambria Math"/>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m:t>
                        </m:r>
                        <m:r>
                          <a:rPr lang="en-US" altLang="zh-CN" sz="2400" b="1" i="1">
                            <a:solidFill>
                              <a:schemeClr val="tx1"/>
                            </a:solidFill>
                            <a:latin typeface="Cambria Math"/>
                          </a:rPr>
                          <m:t>𝟎</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i="1">
                            <a:solidFill>
                              <a:schemeClr val="tx1"/>
                            </a:solidFill>
                            <a:latin typeface="Cambria Math"/>
                          </a:rPr>
                          <m:t>}</m:t>
                        </m:r>
                      </m:e>
                      <m:sup>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𝟑</m:t>
                        </m:r>
                        <m:r>
                          <a:rPr lang="en-US" altLang="zh-CN" sz="2400" b="1" i="1">
                            <a:solidFill>
                              <a:schemeClr val="tx1"/>
                            </a:solidFill>
                            <a:latin typeface="Cambria Math"/>
                          </a:rPr>
                          <m:t>}</m:t>
                        </m:r>
                      </m:sup>
                    </m:sSup>
                  </m:oMath>
                </a14:m>
                <a:r>
                  <a:rPr lang="zh-CN" altLang="zh-CN" sz="2400" b="1" dirty="0">
                    <a:solidFill>
                      <a:schemeClr val="tx1"/>
                    </a:solidFill>
                  </a:rPr>
                  <a:t>；</a:t>
                </a:r>
                <a:endParaRPr lang="en-US" altLang="zh-CN" sz="2400" b="1" dirty="0">
                  <a:solidFill>
                    <a:schemeClr val="tx1"/>
                  </a:solidFill>
                </a:endParaRPr>
              </a:p>
              <a:p>
                <a:pPr>
                  <a:lnSpc>
                    <a:spcPct val="200000"/>
                  </a:lnSpc>
                  <a:spcBef>
                    <a:spcPts val="600"/>
                  </a:spcBef>
                </a:pP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𝑨</m:t>
                    </m:r>
                    <m:r>
                      <a:rPr lang="en-US" altLang="zh-CN" sz="2400" b="1" i="1">
                        <a:solidFill>
                          <a:schemeClr val="tx1"/>
                        </a:solidFill>
                        <a:latin typeface="Cambria Math"/>
                      </a:rPr>
                      <m:t>=</m:t>
                    </m:r>
                    <m:r>
                      <a:rPr lang="en-US" altLang="zh-CN" sz="2400" b="1" i="1">
                        <a:solidFill>
                          <a:schemeClr val="tx1"/>
                        </a:solidFill>
                        <a:latin typeface="Cambria Math"/>
                      </a:rPr>
                      <m:t>𝒁</m:t>
                    </m:r>
                    <m:r>
                      <a:rPr lang="en-US" altLang="zh-CN" sz="2400" b="1" i="1">
                        <a:solidFill>
                          <a:schemeClr val="tx1"/>
                        </a:solidFill>
                        <a:latin typeface="Cambria Math"/>
                      </a:rPr>
                      <m:t>,  </m:t>
                    </m:r>
                    <m:r>
                      <a:rPr lang="en-US" altLang="zh-CN" sz="2400" b="1" i="1">
                        <a:solidFill>
                          <a:schemeClr val="tx1"/>
                        </a:solidFill>
                        <a:latin typeface="Cambria Math"/>
                      </a:rPr>
                      <m:t>𝑩</m:t>
                    </m:r>
                    <m:r>
                      <a:rPr lang="en-US" altLang="zh-CN" sz="2400" b="1" i="1">
                        <a:solidFill>
                          <a:schemeClr val="tx1"/>
                        </a:solidFill>
                        <a:latin typeface="Cambria Math"/>
                      </a:rPr>
                      <m:t>=</m:t>
                    </m:r>
                    <m:r>
                      <a:rPr lang="en-US" altLang="zh-CN" sz="2400" b="1" i="1">
                        <a:solidFill>
                          <a:schemeClr val="tx1"/>
                        </a:solidFill>
                        <a:latin typeface="Cambria Math"/>
                      </a:rPr>
                      <m:t>𝑵</m:t>
                    </m:r>
                  </m:oMath>
                </a14:m>
                <a:r>
                  <a:rPr lang="zh-CN" altLang="zh-CN" sz="2400" b="1" dirty="0">
                    <a:solidFill>
                      <a:schemeClr val="tx1"/>
                    </a:solidFill>
                  </a:rPr>
                  <a:t>。</a:t>
                </a:r>
              </a:p>
              <a:p>
                <a:pPr>
                  <a:lnSpc>
                    <a:spcPct val="200000"/>
                  </a:lnSpc>
                  <a:spcBef>
                    <a:spcPts val="600"/>
                  </a:spcBef>
                </a:pPr>
                <a:r>
                  <a:rPr lang="zh-CN" altLang="zh-CN" sz="2400" b="1" dirty="0"/>
                  <a:t>【分析】</a:t>
                </a:r>
                <a:r>
                  <a:rPr lang="zh-CN" altLang="zh-CN" sz="2400" b="1" dirty="0">
                    <a:solidFill>
                      <a:schemeClr val="tx1"/>
                    </a:solidFill>
                  </a:rPr>
                  <a:t>构造的函数需满足既是单射又是满射。</a:t>
                </a:r>
              </a:p>
            </p:txBody>
          </p:sp>
        </mc:Choice>
        <mc:Fallback xmlns="">
          <p:sp>
            <p:nvSpPr>
              <p:cNvPr id="3" name="矩形 2"/>
              <p:cNvSpPr>
                <a:spLocks noRot="1" noChangeAspect="1" noMove="1" noResize="1" noEditPoints="1" noAdjustHandles="1" noChangeArrowheads="1" noChangeShapeType="1" noTextEdit="1"/>
              </p:cNvSpPr>
              <p:nvPr/>
            </p:nvSpPr>
            <p:spPr>
              <a:xfrm>
                <a:off x="1250737" y="2204864"/>
                <a:ext cx="7128792" cy="3177665"/>
              </a:xfrm>
              <a:prstGeom prst="rect">
                <a:avLst/>
              </a:prstGeom>
              <a:blipFill>
                <a:blip r:embed="rId3"/>
                <a:stretch>
                  <a:fillRect l="-1282" b="-345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9E8AE0F-0C81-4008-B4BB-67B737C1CA47}"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51203"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5120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395536" y="1680278"/>
                <a:ext cx="8547298" cy="4628447"/>
              </a:xfrm>
              <a:prstGeom prst="rect">
                <a:avLst/>
              </a:prstGeom>
              <a:solidFill>
                <a:schemeClr val="bg1"/>
              </a:solidFill>
            </p:spPr>
            <p:txBody>
              <a:bodyPr wrap="square" rtlCol="0">
                <a:spAutoFit/>
              </a:bodyPr>
              <a:lstStyle/>
              <a:p>
                <a:pPr>
                  <a:lnSpc>
                    <a:spcPct val="150000"/>
                  </a:lnSpc>
                  <a:spcBef>
                    <a:spcPts val="600"/>
                  </a:spcBef>
                </a:pPr>
                <a:r>
                  <a:rPr lang="zh-CN" altLang="zh-CN" sz="2000" b="1" dirty="0"/>
                  <a:t>【解】</a:t>
                </a:r>
                <a:r>
                  <a:rPr lang="zh-CN" altLang="zh-CN" sz="2000" b="1" dirty="0">
                    <a:solidFill>
                      <a:schemeClr val="tx1"/>
                    </a:solidFill>
                  </a:rPr>
                  <a:t>（</a:t>
                </a:r>
                <a:r>
                  <a:rPr lang="en-US" altLang="zh-CN" sz="2000" b="1" dirty="0">
                    <a:solidFill>
                      <a:schemeClr val="tx1"/>
                    </a:solidFill>
                  </a:rPr>
                  <a:t>1</a:t>
                </a:r>
                <a:r>
                  <a:rPr lang="zh-CN" altLang="zh-CN" sz="2000" b="1" dirty="0">
                    <a:solidFill>
                      <a:schemeClr val="tx1"/>
                    </a:solidFill>
                  </a:rPr>
                  <a:t>）</a:t>
                </a:r>
                <a14:m>
                  <m:oMath xmlns:m="http://schemas.openxmlformats.org/officeDocument/2006/math">
                    <m:r>
                      <a:rPr lang="en-US" altLang="zh-CN" sz="2000" b="1" i="1">
                        <a:solidFill>
                          <a:schemeClr val="tx1"/>
                        </a:solidFill>
                        <a:latin typeface="Cambria Math"/>
                      </a:rPr>
                      <m:t>𝑨</m:t>
                    </m:r>
                    <m:r>
                      <a:rPr lang="en-US" altLang="zh-CN" sz="2000" b="1" i="1">
                        <a:solidFill>
                          <a:schemeClr val="tx1"/>
                        </a:solidFill>
                        <a:latin typeface="Cambria Math"/>
                      </a:rPr>
                      <m:t>=</m:t>
                    </m:r>
                    <m:d>
                      <m:dPr>
                        <m:begChr m:val="{"/>
                        <m:endChr m:val="}"/>
                        <m:ctrlPr>
                          <a:rPr lang="en-US"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m:t>
                        </m:r>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e>
                        </m:d>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e>
                        </m:d>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e>
                        </m:d>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a:solidFill>
                                  <a:schemeClr val="tx1"/>
                                </a:solidFill>
                                <a:latin typeface="Cambria Math"/>
                              </a:rPr>
                              <m:t>,</m:t>
                            </m:r>
                            <m:r>
                              <a:rPr lang="en-US" altLang="zh-CN" sz="2000" b="1" i="1">
                                <a:solidFill>
                                  <a:schemeClr val="tx1"/>
                                </a:solidFill>
                                <a:latin typeface="Cambria Math"/>
                              </a:rPr>
                              <m:t>𝟐</m:t>
                            </m:r>
                          </m:e>
                        </m:d>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a:solidFill>
                                  <a:schemeClr val="tx1"/>
                                </a:solidFill>
                                <a:latin typeface="Cambria Math"/>
                              </a:rPr>
                              <m:t>,</m:t>
                            </m:r>
                            <m:r>
                              <a:rPr lang="en-US" altLang="zh-CN" sz="2000" b="1" i="1">
                                <a:solidFill>
                                  <a:schemeClr val="tx1"/>
                                </a:solidFill>
                                <a:latin typeface="Cambria Math"/>
                              </a:rPr>
                              <m:t>𝟑</m:t>
                            </m:r>
                          </m:e>
                        </m:d>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a:solidFill>
                                  <a:schemeClr val="tx1"/>
                                </a:solidFill>
                                <a:latin typeface="Cambria Math"/>
                              </a:rPr>
                              <m:t>,</m:t>
                            </m:r>
                            <m:r>
                              <a:rPr lang="en-US" altLang="zh-CN" sz="2000" b="1" i="1">
                                <a:solidFill>
                                  <a:schemeClr val="tx1"/>
                                </a:solidFill>
                                <a:latin typeface="Cambria Math"/>
                              </a:rPr>
                              <m:t>𝟑</m:t>
                            </m:r>
                          </m:e>
                        </m:d>
                        <m:r>
                          <a:rPr lang="en-US" altLang="zh-CN" sz="2000" b="1">
                            <a:solidFill>
                              <a:schemeClr val="tx1"/>
                            </a:solidFill>
                            <a:latin typeface="Cambria Math"/>
                          </a:rPr>
                          <m:t>,</m:t>
                        </m:r>
                        <m:d>
                          <m:dPr>
                            <m:begChr m:val="{"/>
                            <m:endChr m:val="}"/>
                            <m:ctrlPr>
                              <a:rPr lang="en-US"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a:solidFill>
                                  <a:schemeClr val="tx1"/>
                                </a:solidFill>
                                <a:latin typeface="Cambria Math"/>
                              </a:rPr>
                              <m:t>,</m:t>
                            </m:r>
                            <m:r>
                              <a:rPr lang="en-US" altLang="zh-CN" sz="2000" b="1" i="1">
                                <a:solidFill>
                                  <a:schemeClr val="tx1"/>
                                </a:solidFill>
                                <a:latin typeface="Cambria Math"/>
                              </a:rPr>
                              <m:t>𝟐</m:t>
                            </m:r>
                            <m:r>
                              <a:rPr lang="en-US" altLang="zh-CN" sz="2000" b="1">
                                <a:solidFill>
                                  <a:schemeClr val="tx1"/>
                                </a:solidFill>
                                <a:latin typeface="Cambria Math"/>
                              </a:rPr>
                              <m:t>,</m:t>
                            </m:r>
                            <m:r>
                              <a:rPr lang="en-US" altLang="zh-CN" sz="2000" b="1" i="1">
                                <a:solidFill>
                                  <a:schemeClr val="tx1"/>
                                </a:solidFill>
                                <a:latin typeface="Cambria Math"/>
                              </a:rPr>
                              <m:t>𝟑</m:t>
                            </m:r>
                          </m:e>
                        </m:d>
                      </m:e>
                    </m:d>
                    <m:r>
                      <a:rPr lang="zh-CN" altLang="zh-CN" sz="2000" b="1">
                        <a:solidFill>
                          <a:schemeClr val="tx1"/>
                        </a:solidFill>
                        <a:latin typeface="Cambria Math"/>
                      </a:rPr>
                      <m:t>。</m:t>
                    </m:r>
                  </m:oMath>
                </a14:m>
                <a:endParaRPr lang="en-US" altLang="zh-CN" sz="2000" b="1" dirty="0">
                  <a:solidFill>
                    <a:schemeClr val="tx1"/>
                  </a:solidFill>
                  <a:latin typeface="Cambria Math"/>
                </a:endParaRPr>
              </a:p>
              <a:p>
                <a:pPr>
                  <a:lnSpc>
                    <a:spcPct val="150000"/>
                  </a:lnSpc>
                  <a:spcBef>
                    <a:spcPts val="600"/>
                  </a:spcBef>
                </a:pPr>
                <a14:m>
                  <m:oMath xmlns:m="http://schemas.openxmlformats.org/officeDocument/2006/math">
                    <m:r>
                      <a:rPr lang="en-US" altLang="zh-CN" sz="2000" b="1" i="1">
                        <a:solidFill>
                          <a:schemeClr val="tx1"/>
                        </a:solidFill>
                        <a:latin typeface="Cambria Math"/>
                      </a:rPr>
                      <m:t>𝑩</m:t>
                    </m:r>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𝟎</m:t>
                        </m:r>
                      </m:sub>
                    </m:sSub>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𝟏</m:t>
                        </m:r>
                      </m:sub>
                    </m:sSub>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𝒏</m:t>
                        </m:r>
                      </m:sub>
                    </m:sSub>
                    <m:r>
                      <a:rPr lang="en-US" altLang="zh-CN" sz="2000" b="1" i="1">
                        <a:solidFill>
                          <a:schemeClr val="tx1"/>
                        </a:solidFill>
                        <a:latin typeface="Cambria Math"/>
                      </a:rPr>
                      <m:t>}</m:t>
                    </m:r>
                  </m:oMath>
                </a14:m>
                <a:r>
                  <a:rPr lang="zh-CN" altLang="zh-CN" sz="2000" b="1" dirty="0">
                    <a:solidFill>
                      <a:schemeClr val="tx1"/>
                    </a:solidFill>
                  </a:rPr>
                  <a:t>，其中：</a:t>
                </a:r>
              </a:p>
              <a:p>
                <a:pPr algn="ctr">
                  <a:spcBef>
                    <a:spcPts val="600"/>
                  </a:spcBef>
                </a:pP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𝟎</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oMath>
                </a14:m>
                <a:r>
                  <a:rPr lang="zh-CN" altLang="zh-CN" sz="2000" b="1" dirty="0">
                    <a:solidFill>
                      <a:schemeClr val="tx1"/>
                    </a:solidFill>
                  </a:rPr>
                  <a:t>；</a:t>
                </a: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𝟏</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oMath>
                </a14:m>
                <a:r>
                  <a:rPr lang="zh-CN" altLang="zh-CN" sz="2000" b="1" dirty="0">
                    <a:solidFill>
                      <a:schemeClr val="tx1"/>
                    </a:solidFill>
                  </a:rPr>
                  <a:t>；</a:t>
                </a:r>
              </a:p>
              <a:p>
                <a:pPr algn="ctr">
                  <a:spcBef>
                    <a:spcPts val="600"/>
                  </a:spcBef>
                </a:pP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𝟐</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oMath>
                </a14:m>
                <a:r>
                  <a:rPr lang="zh-CN" altLang="zh-CN" sz="2000" b="1" dirty="0">
                    <a:solidFill>
                      <a:schemeClr val="tx1"/>
                    </a:solidFill>
                  </a:rPr>
                  <a:t>；</a:t>
                </a: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𝟑</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oMath>
                </a14:m>
                <a:r>
                  <a:rPr lang="zh-CN" altLang="zh-CN" sz="2000" b="1" dirty="0">
                    <a:solidFill>
                      <a:schemeClr val="tx1"/>
                    </a:solidFill>
                  </a:rPr>
                  <a:t>；</a:t>
                </a:r>
              </a:p>
              <a:p>
                <a:pPr algn="ctr">
                  <a:spcBef>
                    <a:spcPts val="600"/>
                  </a:spcBef>
                </a:pP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𝟒</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oMath>
                </a14:m>
                <a:r>
                  <a:rPr lang="zh-CN" altLang="zh-CN" sz="2000" b="1" dirty="0">
                    <a:solidFill>
                      <a:schemeClr val="tx1"/>
                    </a:solidFill>
                  </a:rPr>
                  <a:t>；</a:t>
                </a: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𝟓</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oMath>
                </a14:m>
                <a:r>
                  <a:rPr lang="zh-CN" altLang="zh-CN" sz="2000" b="1" dirty="0">
                    <a:solidFill>
                      <a:schemeClr val="tx1"/>
                    </a:solidFill>
                  </a:rPr>
                  <a:t>；</a:t>
                </a:r>
              </a:p>
              <a:p>
                <a:pPr algn="ctr">
                  <a:spcBef>
                    <a:spcPts val="600"/>
                  </a:spcBef>
                </a:pP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𝟔</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𝟎</m:t>
                        </m:r>
                      </m:e>
                    </m:d>
                    <m:r>
                      <a:rPr lang="en-US" altLang="zh-CN" sz="2000" b="1" i="1">
                        <a:solidFill>
                          <a:schemeClr val="tx1"/>
                        </a:solidFill>
                        <a:latin typeface="Cambria Math"/>
                      </a:rPr>
                      <m:t>}</m:t>
                    </m:r>
                  </m:oMath>
                </a14:m>
                <a:r>
                  <a:rPr lang="zh-CN" altLang="zh-CN" sz="2000" b="1" dirty="0">
                    <a:solidFill>
                      <a:schemeClr val="tx1"/>
                    </a:solidFill>
                  </a:rPr>
                  <a:t>；</a:t>
                </a:r>
                <a14:m>
                  <m:oMath xmlns:m="http://schemas.openxmlformats.org/officeDocument/2006/math">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𝟕</m:t>
                        </m:r>
                      </m:sub>
                    </m:sSub>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r>
                          <a:rPr lang="en-US" altLang="zh-CN" sz="2000" b="1" i="1">
                            <a:solidFill>
                              <a:schemeClr val="tx1"/>
                            </a:solidFill>
                            <a:latin typeface="Cambria Math"/>
                          </a:rPr>
                          <m:t>,</m:t>
                        </m:r>
                        <m:r>
                          <a:rPr lang="en-US" altLang="zh-CN" sz="2000" b="1" i="1">
                            <a:solidFill>
                              <a:schemeClr val="tx1"/>
                            </a:solidFill>
                            <a:latin typeface="Cambria Math"/>
                          </a:rPr>
                          <m:t>𝟏</m:t>
                        </m:r>
                      </m:e>
                    </m:d>
                    <m:r>
                      <a:rPr lang="en-US" altLang="zh-CN" sz="2000" b="1" i="1">
                        <a:solidFill>
                          <a:schemeClr val="tx1"/>
                        </a:solidFill>
                        <a:latin typeface="Cambria Math"/>
                      </a:rPr>
                      <m:t>}</m:t>
                    </m:r>
                  </m:oMath>
                </a14:m>
                <a:r>
                  <a:rPr lang="zh-CN" altLang="zh-CN" sz="2000" b="1" dirty="0">
                    <a:solidFill>
                      <a:schemeClr val="tx1"/>
                    </a:solidFill>
                  </a:rPr>
                  <a:t>。 </a:t>
                </a:r>
              </a:p>
              <a:p>
                <a:pPr>
                  <a:lnSpc>
                    <a:spcPct val="150000"/>
                  </a:lnSpc>
                  <a:spcBef>
                    <a:spcPts val="600"/>
                  </a:spcBef>
                </a:pPr>
                <a:r>
                  <a:rPr lang="zh-CN" altLang="zh-CN" sz="2000" b="1" dirty="0">
                    <a:solidFill>
                      <a:srgbClr val="0000FF"/>
                    </a:solidFill>
                  </a:rPr>
                  <a:t>令</a:t>
                </a:r>
                <a14:m>
                  <m:oMath xmlns:m="http://schemas.openxmlformats.org/officeDocument/2006/math">
                    <m:r>
                      <a:rPr lang="en-US" altLang="zh-CN" sz="2000" b="1" i="1">
                        <a:solidFill>
                          <a:srgbClr val="0000FF"/>
                        </a:solidFill>
                        <a:latin typeface="Cambria Math"/>
                      </a:rPr>
                      <m:t>𝒇</m:t>
                    </m:r>
                    <m:r>
                      <a:rPr lang="en-US" altLang="zh-CN" sz="2000" b="1" i="1">
                        <a:solidFill>
                          <a:srgbClr val="0000FF"/>
                        </a:solidFill>
                        <a:latin typeface="Cambria Math"/>
                      </a:rPr>
                      <m:t>:</m:t>
                    </m:r>
                    <m:r>
                      <a:rPr lang="en-US" altLang="zh-CN" sz="2000" b="1" i="1">
                        <a:solidFill>
                          <a:srgbClr val="0000FF"/>
                        </a:solidFill>
                        <a:latin typeface="Cambria Math"/>
                      </a:rPr>
                      <m:t>𝑨</m:t>
                    </m:r>
                    <m:r>
                      <a:rPr lang="en-US" altLang="zh-CN" sz="2000" b="1" i="1">
                        <a:solidFill>
                          <a:srgbClr val="0000FF"/>
                        </a:solidFill>
                        <a:latin typeface="Cambria Math"/>
                      </a:rPr>
                      <m:t>→</m:t>
                    </m:r>
                    <m:r>
                      <a:rPr lang="en-US" altLang="zh-CN" sz="2000" b="1" i="1">
                        <a:solidFill>
                          <a:srgbClr val="0000FF"/>
                        </a:solidFill>
                        <a:latin typeface="Cambria Math"/>
                      </a:rPr>
                      <m:t>𝑩</m:t>
                    </m:r>
                  </m:oMath>
                </a14:m>
                <a:r>
                  <a:rPr lang="zh-CN" altLang="zh-CN" sz="2000" b="1" dirty="0">
                    <a:solidFill>
                      <a:srgbClr val="0000FF"/>
                    </a:solidFill>
                  </a:rPr>
                  <a:t>且满足</a:t>
                </a:r>
                <a:r>
                  <a:rPr lang="zh-CN" altLang="en-US" sz="2000" b="1" dirty="0">
                    <a:solidFill>
                      <a:srgbClr val="0000FF"/>
                    </a:solidFill>
                  </a:rPr>
                  <a:t>：</a:t>
                </a:r>
                <a:endParaRPr lang="en-US" altLang="zh-CN" sz="2000" b="1" dirty="0">
                  <a:solidFill>
                    <a:srgbClr val="0000FF"/>
                  </a:solidFill>
                </a:endParaRPr>
              </a:p>
              <a:p>
                <a:pPr>
                  <a:lnSpc>
                    <a:spcPct val="150000"/>
                  </a:lnSpc>
                  <a:spcBef>
                    <a:spcPts val="600"/>
                  </a:spcBef>
                </a:pPr>
                <a14:m>
                  <m:oMathPara xmlns:m="http://schemas.openxmlformats.org/officeDocument/2006/math">
                    <m:oMathParaPr>
                      <m:jc m:val="centerGroup"/>
                    </m:oMathParaPr>
                    <m:oMath xmlns:m="http://schemas.openxmlformats.org/officeDocument/2006/math">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a:solidFill>
                                <a:schemeClr val="tx1"/>
                              </a:solidFill>
                              <a:latin typeface="Cambria Math"/>
                            </a:rPr>
                            <m:t>∅</m:t>
                          </m:r>
                        </m:e>
                      </m:d>
                      <m:r>
                        <a:rPr lang="en-US" altLang="zh-CN" sz="2000" b="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𝟎</m:t>
                          </m:r>
                        </m:sub>
                      </m:sSub>
                      <m:r>
                        <a:rPr lang="zh-CN"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e>
                          </m:d>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𝟏</m:t>
                          </m:r>
                        </m:sub>
                      </m:sSub>
                      <m:r>
                        <a:rPr lang="zh-CN"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e>
                          </m:d>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𝟐</m:t>
                          </m:r>
                        </m:sub>
                      </m:sSub>
                      <m:r>
                        <a:rPr lang="zh-CN"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e>
                          </m:d>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𝟑</m:t>
                          </m:r>
                        </m:sub>
                      </m:sSub>
                      <m:r>
                        <a:rPr lang="zh-CN" altLang="zh-CN" sz="2000" b="1">
                          <a:solidFill>
                            <a:schemeClr val="tx1"/>
                          </a:solidFill>
                          <a:latin typeface="Cambria Math"/>
                        </a:rPr>
                        <m:t>，</m:t>
                      </m:r>
                    </m:oMath>
                  </m:oMathPara>
                </a14:m>
                <a:endParaRPr lang="zh-CN" altLang="zh-CN" sz="2000" b="1" dirty="0">
                  <a:solidFill>
                    <a:schemeClr val="tx1"/>
                  </a:solidFill>
                </a:endParaRPr>
              </a:p>
              <a:p>
                <a:pPr>
                  <a:lnSpc>
                    <a:spcPct val="150000"/>
                  </a:lnSpc>
                  <a:spcBef>
                    <a:spcPts val="600"/>
                  </a:spcBef>
                </a:pPr>
                <a14:m>
                  <m:oMathPara xmlns:m="http://schemas.openxmlformats.org/officeDocument/2006/math">
                    <m:oMathParaPr>
                      <m:jc m:val="centerGroup"/>
                    </m:oMathParaPr>
                    <m:oMath xmlns:m="http://schemas.openxmlformats.org/officeDocument/2006/math">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a:solidFill>
                                    <a:schemeClr val="tx1"/>
                                  </a:solidFill>
                                  <a:latin typeface="Cambria Math"/>
                                </a:rPr>
                                <m:t>,</m:t>
                              </m:r>
                              <m:r>
                                <a:rPr lang="en-US" altLang="zh-CN" sz="2000" b="1" i="1">
                                  <a:solidFill>
                                    <a:schemeClr val="tx1"/>
                                  </a:solidFill>
                                  <a:latin typeface="Cambria Math"/>
                                </a:rPr>
                                <m:t>𝟐</m:t>
                              </m:r>
                            </m:e>
                          </m:d>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𝟒</m:t>
                          </m:r>
                        </m:sub>
                      </m:sSub>
                      <m:r>
                        <a:rPr lang="zh-CN"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d>
                            <m:dPr>
                              <m:begChr m:val="{"/>
                              <m:endChr m:val="}"/>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m:t>
                              </m:r>
                              <m:r>
                                <a:rPr lang="en-US" altLang="zh-CN" sz="2000" b="1">
                                  <a:solidFill>
                                    <a:schemeClr val="tx1"/>
                                  </a:solidFill>
                                  <a:latin typeface="Cambria Math"/>
                                </a:rPr>
                                <m:t>,</m:t>
                              </m:r>
                              <m:r>
                                <a:rPr lang="en-US" altLang="zh-CN" sz="2000" b="1" i="1">
                                  <a:solidFill>
                                    <a:schemeClr val="tx1"/>
                                  </a:solidFill>
                                  <a:latin typeface="Cambria Math"/>
                                </a:rPr>
                                <m:t>𝟑</m:t>
                              </m:r>
                            </m:e>
                          </m:d>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𝟓</m:t>
                          </m:r>
                        </m:sub>
                      </m:sSub>
                      <m:r>
                        <a:rPr lang="zh-CN"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a:solidFill>
                                <a:schemeClr val="tx1"/>
                              </a:solidFill>
                              <a:latin typeface="Cambria Math"/>
                            </a:rPr>
                            <m:t>{</m:t>
                          </m:r>
                          <m:r>
                            <a:rPr lang="en-US" altLang="zh-CN" sz="2000" b="1" i="1">
                              <a:solidFill>
                                <a:schemeClr val="tx1"/>
                              </a:solidFill>
                              <a:latin typeface="Cambria Math"/>
                            </a:rPr>
                            <m:t>𝟐</m:t>
                          </m:r>
                          <m:r>
                            <a:rPr lang="en-US" altLang="zh-CN" sz="2000" b="1">
                              <a:solidFill>
                                <a:schemeClr val="tx1"/>
                              </a:solidFill>
                              <a:latin typeface="Cambria Math"/>
                            </a:rPr>
                            <m:t>,</m:t>
                          </m:r>
                          <m:r>
                            <a:rPr lang="en-US" altLang="zh-CN" sz="2000" b="1" i="1">
                              <a:solidFill>
                                <a:schemeClr val="tx1"/>
                              </a:solidFill>
                              <a:latin typeface="Cambria Math"/>
                            </a:rPr>
                            <m:t>𝟑</m:t>
                          </m:r>
                          <m:r>
                            <a:rPr lang="en-US" altLang="zh-CN" sz="2000" b="1">
                              <a:solidFill>
                                <a:schemeClr val="tx1"/>
                              </a:solidFill>
                              <a:latin typeface="Cambria Math"/>
                            </a:rPr>
                            <m:t>}</m:t>
                          </m:r>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𝟔𝟔</m:t>
                          </m:r>
                        </m:sub>
                      </m:sSub>
                      <m:r>
                        <a:rPr lang="zh-CN"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a:solidFill>
                                <a:schemeClr val="tx1"/>
                              </a:solidFill>
                              <a:latin typeface="Cambria Math"/>
                            </a:rPr>
                            <m:t>{</m:t>
                          </m:r>
                          <m:r>
                            <a:rPr lang="en-US" altLang="zh-CN" sz="2000" b="1" i="1">
                              <a:solidFill>
                                <a:schemeClr val="tx1"/>
                              </a:solidFill>
                              <a:latin typeface="Cambria Math"/>
                            </a:rPr>
                            <m:t>𝟏</m:t>
                          </m:r>
                          <m:r>
                            <a:rPr lang="en-US" altLang="zh-CN" sz="2000" b="1">
                              <a:solidFill>
                                <a:schemeClr val="tx1"/>
                              </a:solidFill>
                              <a:latin typeface="Cambria Math"/>
                            </a:rPr>
                            <m:t>,</m:t>
                          </m:r>
                          <m:r>
                            <a:rPr lang="en-US" altLang="zh-CN" sz="2000" b="1" i="1">
                              <a:solidFill>
                                <a:schemeClr val="tx1"/>
                              </a:solidFill>
                              <a:latin typeface="Cambria Math"/>
                            </a:rPr>
                            <m:t>𝟐</m:t>
                          </m:r>
                          <m:r>
                            <a:rPr lang="en-US" altLang="zh-CN" sz="2000" b="1">
                              <a:solidFill>
                                <a:schemeClr val="tx1"/>
                              </a:solidFill>
                              <a:latin typeface="Cambria Math"/>
                            </a:rPr>
                            <m:t>,</m:t>
                          </m:r>
                          <m:r>
                            <a:rPr lang="en-US" altLang="zh-CN" sz="2000" b="1" i="1">
                              <a:solidFill>
                                <a:schemeClr val="tx1"/>
                              </a:solidFill>
                              <a:latin typeface="Cambria Math"/>
                            </a:rPr>
                            <m:t>𝟑</m:t>
                          </m:r>
                          <m:r>
                            <a:rPr lang="en-US" altLang="zh-CN" sz="2000" b="1">
                              <a:solidFill>
                                <a:schemeClr val="tx1"/>
                              </a:solidFill>
                              <a:latin typeface="Cambria Math"/>
                            </a:rPr>
                            <m:t>}</m:t>
                          </m:r>
                        </m:e>
                      </m:d>
                      <m:r>
                        <a:rPr lang="en-US" altLang="zh-CN" sz="2000" b="1" i="1">
                          <a:solidFill>
                            <a:schemeClr val="tx1"/>
                          </a:solidFill>
                          <a:latin typeface="Cambria Math"/>
                        </a:rPr>
                        <m:t>=</m:t>
                      </m:r>
                      <m:sSub>
                        <m:sSubPr>
                          <m:ctrlPr>
                            <a:rPr lang="zh-CN" altLang="zh-CN" sz="2000" b="1" i="1">
                              <a:solidFill>
                                <a:schemeClr val="tx1"/>
                              </a:solidFill>
                              <a:latin typeface="Cambria Math" panose="02040503050406030204" pitchFamily="18" charset="0"/>
                            </a:rPr>
                          </m:ctrlPr>
                        </m:sSubPr>
                        <m:e>
                          <m:r>
                            <a:rPr lang="en-US" altLang="zh-CN" sz="2000" b="1" i="1">
                              <a:solidFill>
                                <a:schemeClr val="tx1"/>
                              </a:solidFill>
                              <a:latin typeface="Cambria Math"/>
                            </a:rPr>
                            <m:t>𝒇</m:t>
                          </m:r>
                        </m:e>
                        <m:sub>
                          <m:r>
                            <a:rPr lang="en-US" altLang="zh-CN" sz="2000" b="1" i="1">
                              <a:solidFill>
                                <a:schemeClr val="tx1"/>
                              </a:solidFill>
                              <a:latin typeface="Cambria Math"/>
                            </a:rPr>
                            <m:t>𝟕</m:t>
                          </m:r>
                        </m:sub>
                      </m:sSub>
                      <m:r>
                        <a:rPr lang="zh-CN" altLang="zh-CN" sz="2000" b="1" i="1">
                          <a:solidFill>
                            <a:schemeClr val="tx1"/>
                          </a:solidFill>
                          <a:latin typeface="Cambria Math"/>
                        </a:rPr>
                        <m:t>。</m:t>
                      </m:r>
                    </m:oMath>
                  </m:oMathPara>
                </a14:m>
                <a:endParaRPr lang="zh-CN" altLang="zh-CN" sz="2000" b="1" dirty="0">
                  <a:solidFill>
                    <a:schemeClr val="tx1"/>
                  </a:solidFill>
                </a:endParaRPr>
              </a:p>
              <a:p>
                <a:pPr>
                  <a:lnSpc>
                    <a:spcPct val="150000"/>
                  </a:lnSpc>
                  <a:spcBef>
                    <a:spcPts val="600"/>
                  </a:spcBef>
                </a:pPr>
                <a:r>
                  <a:rPr lang="zh-CN" altLang="en-US" sz="2000" b="1" dirty="0">
                    <a:solidFill>
                      <a:schemeClr val="tx1"/>
                    </a:solidFill>
                  </a:rPr>
                  <a:t>则</a:t>
                </a:r>
                <a14:m>
                  <m:oMath xmlns:m="http://schemas.openxmlformats.org/officeDocument/2006/math">
                    <m:r>
                      <a:rPr lang="zh-CN" altLang="en-US" sz="2000" b="1" i="1" dirty="0" smtClean="0">
                        <a:solidFill>
                          <a:srgbClr val="0000FF"/>
                        </a:solidFill>
                        <a:latin typeface="Cambria Math" panose="02040503050406030204" pitchFamily="18" charset="0"/>
                      </a:rPr>
                      <m:t>映射</m:t>
                    </m:r>
                    <m:r>
                      <a:rPr lang="en-US" altLang="zh-CN" sz="2000" b="1" i="1">
                        <a:solidFill>
                          <a:srgbClr val="0000FF"/>
                        </a:solidFill>
                        <a:latin typeface="Cambria Math"/>
                      </a:rPr>
                      <m:t>𝒇</m:t>
                    </m:r>
                    <m:r>
                      <a:rPr lang="en-US" altLang="zh-CN" sz="2000" b="1" i="1">
                        <a:solidFill>
                          <a:srgbClr val="0000FF"/>
                        </a:solidFill>
                        <a:latin typeface="Cambria Math"/>
                      </a:rPr>
                      <m:t>:</m:t>
                    </m:r>
                    <m:r>
                      <a:rPr lang="en-US" altLang="zh-CN" sz="2000" b="1" i="1">
                        <a:solidFill>
                          <a:srgbClr val="0000FF"/>
                        </a:solidFill>
                        <a:latin typeface="Cambria Math"/>
                      </a:rPr>
                      <m:t>𝑨</m:t>
                    </m:r>
                    <m:r>
                      <a:rPr lang="en-US" altLang="zh-CN" sz="2000" b="1" i="1">
                        <a:solidFill>
                          <a:srgbClr val="0000FF"/>
                        </a:solidFill>
                        <a:latin typeface="Cambria Math"/>
                      </a:rPr>
                      <m:t>→</m:t>
                    </m:r>
                    <m:r>
                      <a:rPr lang="en-US" altLang="zh-CN" sz="2000" b="1" i="1">
                        <a:solidFill>
                          <a:srgbClr val="0000FF"/>
                        </a:solidFill>
                        <a:latin typeface="Cambria Math"/>
                      </a:rPr>
                      <m:t>𝑩</m:t>
                    </m:r>
                  </m:oMath>
                </a14:m>
                <a:r>
                  <a:rPr lang="zh-CN" altLang="zh-CN" sz="2000" b="1" dirty="0">
                    <a:solidFill>
                      <a:srgbClr val="0000FF"/>
                    </a:solidFill>
                  </a:rPr>
                  <a:t>即为所求。</a:t>
                </a:r>
                <a:endParaRPr lang="zh-CN" altLang="zh-CN" sz="2000" b="1" dirty="0">
                  <a:solidFill>
                    <a:schemeClr val="tx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395536" y="1680278"/>
                <a:ext cx="8547298" cy="4628447"/>
              </a:xfrm>
              <a:prstGeom prst="rect">
                <a:avLst/>
              </a:prstGeom>
              <a:blipFill>
                <a:blip r:embed="rId3"/>
                <a:stretch>
                  <a:fillRect l="-785" b="-1186"/>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9E8AE0F-0C81-4008-B4BB-67B737C1CA47}"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51203"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5120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 name="图片 30">
            <a:extLst>
              <a:ext uri="{FF2B5EF4-FFF2-40B4-BE49-F238E27FC236}">
                <a16:creationId xmlns:a16="http://schemas.microsoft.com/office/drawing/2014/main" id="{90BEB5C8-2362-44AC-9AD8-6E1ACBFA8181}"/>
              </a:ext>
            </a:extLst>
          </p:cNvPr>
          <p:cNvPicPr>
            <a:picLocks noChangeAspect="1"/>
          </p:cNvPicPr>
          <p:nvPr/>
        </p:nvPicPr>
        <p:blipFill>
          <a:blip r:embed="rId3"/>
          <a:stretch>
            <a:fillRect/>
          </a:stretch>
        </p:blipFill>
        <p:spPr>
          <a:xfrm>
            <a:off x="539552" y="1869445"/>
            <a:ext cx="8136904" cy="4345617"/>
          </a:xfrm>
          <a:prstGeom prst="rect">
            <a:avLst/>
          </a:prstGeom>
        </p:spPr>
      </p:pic>
    </p:spTree>
    <p:extLst>
      <p:ext uri="{BB962C8B-B14F-4D97-AF65-F5344CB8AC3E}">
        <p14:creationId xmlns:p14="http://schemas.microsoft.com/office/powerpoint/2010/main" val="2306716202"/>
      </p:ext>
    </p:extLst>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A0BFFA2-3955-420F-BB4B-007AEEA86C57}"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55299"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5530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5301" name="Picture 6" descr="QQ截图2015110422170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4213" y="1916113"/>
            <a:ext cx="8172450" cy="4249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5449031-DC8D-43C7-B1E8-61E814DCD943}"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58371"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5837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373882" y="2132856"/>
                <a:ext cx="8712968" cy="3392660"/>
              </a:xfrm>
              <a:prstGeom prst="rect">
                <a:avLst/>
              </a:prstGeom>
              <a:solidFill>
                <a:schemeClr val="bg1"/>
              </a:solidFill>
            </p:spPr>
            <p:txBody>
              <a:bodyPr wrap="square" rtlCol="0">
                <a:spAutoFit/>
              </a:bodyPr>
              <a:lstStyle/>
              <a:p>
                <a:pPr>
                  <a:lnSpc>
                    <a:spcPct val="150000"/>
                  </a:lnSpc>
                  <a:spcBef>
                    <a:spcPts val="600"/>
                  </a:spcBef>
                </a:pPr>
                <a:r>
                  <a:rPr lang="en-US" altLang="zh-CN" sz="2400" b="1" dirty="0"/>
                  <a:t>   </a:t>
                </a:r>
                <a:r>
                  <a:rPr lang="zh-CN" altLang="zh-CN" sz="2800" b="1" dirty="0"/>
                  <a:t>【例题】</a:t>
                </a:r>
                <a:r>
                  <a:rPr lang="zh-CN" altLang="zh-CN" sz="2800" b="1" dirty="0">
                    <a:solidFill>
                      <a:schemeClr val="tx1"/>
                    </a:solidFill>
                  </a:rPr>
                  <a:t>对于有限集</a:t>
                </a:r>
                <a14:m>
                  <m:oMath xmlns:m="http://schemas.openxmlformats.org/officeDocument/2006/math">
                    <m:r>
                      <a:rPr lang="en-US" altLang="zh-CN" sz="2800" b="1" i="1">
                        <a:solidFill>
                          <a:schemeClr val="tx1"/>
                        </a:solidFill>
                        <a:latin typeface="Cambria Math"/>
                      </a:rPr>
                      <m:t>𝑨</m:t>
                    </m:r>
                  </m:oMath>
                </a14:m>
                <a:r>
                  <a:rPr lang="zh-CN" altLang="zh-CN" sz="2800" b="1" dirty="0">
                    <a:solidFill>
                      <a:schemeClr val="tx1"/>
                    </a:solidFill>
                  </a:rPr>
                  <a:t>和有限集</a:t>
                </a:r>
                <a14:m>
                  <m:oMath xmlns:m="http://schemas.openxmlformats.org/officeDocument/2006/math">
                    <m:r>
                      <a:rPr lang="en-US" altLang="zh-CN" sz="2800" b="1" i="1">
                        <a:solidFill>
                          <a:schemeClr val="tx1"/>
                        </a:solidFill>
                        <a:latin typeface="Cambria Math"/>
                      </a:rPr>
                      <m:t>𝑩</m:t>
                    </m:r>
                  </m:oMath>
                </a14:m>
                <a:r>
                  <a:rPr lang="zh-CN" altLang="zh-CN" sz="2800" b="1" dirty="0">
                    <a:solidFill>
                      <a:schemeClr val="tx1"/>
                    </a:solidFill>
                  </a:rPr>
                  <a:t>，设</a:t>
                </a:r>
                <a14:m>
                  <m:oMath xmlns:m="http://schemas.openxmlformats.org/officeDocument/2006/math">
                    <m:d>
                      <m:dPr>
                        <m:begChr m:val="|"/>
                        <m:endChr m:val="|"/>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a:rPr>
                          <m:t>𝑨</m:t>
                        </m:r>
                      </m:e>
                    </m:d>
                    <m:r>
                      <a:rPr lang="en-US" altLang="zh-CN" sz="2800" b="1" i="1">
                        <a:solidFill>
                          <a:schemeClr val="tx1"/>
                        </a:solidFill>
                        <a:latin typeface="Cambria Math"/>
                      </a:rPr>
                      <m:t>=</m:t>
                    </m:r>
                    <m:r>
                      <a:rPr lang="en-US" altLang="zh-CN" sz="2800" b="1" i="1">
                        <a:solidFill>
                          <a:schemeClr val="tx1"/>
                        </a:solidFill>
                        <a:latin typeface="Cambria Math"/>
                      </a:rPr>
                      <m:t>𝟑</m:t>
                    </m:r>
                  </m:oMath>
                </a14:m>
                <a:r>
                  <a:rPr lang="zh-CN" altLang="zh-CN" sz="2800" b="1" dirty="0">
                    <a:solidFill>
                      <a:schemeClr val="tx1"/>
                    </a:solidFill>
                  </a:rPr>
                  <a:t>，</a:t>
                </a:r>
                <a14:m>
                  <m:oMath xmlns:m="http://schemas.openxmlformats.org/officeDocument/2006/math">
                    <m:d>
                      <m:dPr>
                        <m:begChr m:val="|"/>
                        <m:endChr m:val="|"/>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a:rPr>
                          <m:t>𝑩</m:t>
                        </m:r>
                      </m:e>
                    </m:d>
                    <m:r>
                      <a:rPr lang="en-US" altLang="zh-CN" sz="2800" b="1" i="1">
                        <a:solidFill>
                          <a:schemeClr val="tx1"/>
                        </a:solidFill>
                        <a:latin typeface="Cambria Math"/>
                      </a:rPr>
                      <m:t>=</m:t>
                    </m:r>
                    <m:r>
                      <a:rPr lang="en-US" altLang="zh-CN" sz="2800" b="1" i="1">
                        <a:solidFill>
                          <a:schemeClr val="tx1"/>
                        </a:solidFill>
                        <a:latin typeface="Cambria Math"/>
                      </a:rPr>
                      <m:t>𝟒</m:t>
                    </m:r>
                  </m:oMath>
                </a14:m>
                <a:r>
                  <a:rPr lang="en-US" altLang="zh-CN" sz="2800" b="1" dirty="0">
                    <a:solidFill>
                      <a:schemeClr val="tx1"/>
                    </a:solidFill>
                  </a:rPr>
                  <a:t>,</a:t>
                </a:r>
                <a:r>
                  <a:rPr lang="zh-CN" altLang="zh-CN" sz="2800" b="1" dirty="0">
                    <a:solidFill>
                      <a:schemeClr val="tx1"/>
                    </a:solidFill>
                  </a:rPr>
                  <a:t>可定义多少种</a:t>
                </a:r>
                <a:r>
                  <a:rPr lang="zh-CN" altLang="zh-CN" sz="2800" b="1" dirty="0">
                    <a:solidFill>
                      <a:srgbClr val="0000FF"/>
                    </a:solidFill>
                  </a:rPr>
                  <a:t>不同的</a:t>
                </a:r>
                <a14:m>
                  <m:oMath xmlns:m="http://schemas.openxmlformats.org/officeDocument/2006/math">
                    <m:r>
                      <a:rPr lang="en-US" altLang="zh-CN" sz="2800" b="1" i="1">
                        <a:solidFill>
                          <a:srgbClr val="0000FF"/>
                        </a:solidFill>
                        <a:latin typeface="Cambria Math"/>
                      </a:rPr>
                      <m:t>𝑨</m:t>
                    </m:r>
                  </m:oMath>
                </a14:m>
                <a:r>
                  <a:rPr lang="zh-CN" altLang="zh-CN" sz="2800" b="1" dirty="0">
                    <a:solidFill>
                      <a:srgbClr val="0000FF"/>
                    </a:solidFill>
                  </a:rPr>
                  <a:t>到</a:t>
                </a:r>
                <a14:m>
                  <m:oMath xmlns:m="http://schemas.openxmlformats.org/officeDocument/2006/math">
                    <m:r>
                      <a:rPr lang="en-US" altLang="zh-CN" sz="2800" b="1" i="1">
                        <a:solidFill>
                          <a:srgbClr val="0000FF"/>
                        </a:solidFill>
                        <a:latin typeface="Cambria Math"/>
                      </a:rPr>
                      <m:t>𝑩</m:t>
                    </m:r>
                  </m:oMath>
                </a14:m>
                <a:r>
                  <a:rPr lang="zh-CN" altLang="zh-CN" sz="2800" b="1" dirty="0">
                    <a:solidFill>
                      <a:srgbClr val="0000FF"/>
                    </a:solidFill>
                  </a:rPr>
                  <a:t>的单射函数</a:t>
                </a:r>
                <a:r>
                  <a:rPr lang="zh-CN" altLang="zh-CN" sz="2800" b="1" dirty="0">
                    <a:solidFill>
                      <a:schemeClr val="tx1"/>
                    </a:solidFill>
                  </a:rPr>
                  <a:t>。</a:t>
                </a:r>
                <a:endParaRPr lang="en-US" altLang="zh-CN" sz="2800" b="1" dirty="0">
                  <a:solidFill>
                    <a:schemeClr val="tx1"/>
                  </a:solidFill>
                </a:endParaRPr>
              </a:p>
              <a:p>
                <a:pPr>
                  <a:lnSpc>
                    <a:spcPct val="150000"/>
                  </a:lnSpc>
                  <a:spcBef>
                    <a:spcPts val="600"/>
                  </a:spcBef>
                </a:pPr>
                <a:r>
                  <a:rPr lang="en-US" altLang="zh-CN" sz="2800" b="1" dirty="0">
                    <a:solidFill>
                      <a:schemeClr val="tx1"/>
                    </a:solidFill>
                  </a:rPr>
                  <a:t>   </a:t>
                </a:r>
                <a:r>
                  <a:rPr lang="zh-CN" altLang="zh-CN" sz="2800" b="1" dirty="0">
                    <a:solidFill>
                      <a:schemeClr val="tx1"/>
                    </a:solidFill>
                  </a:rPr>
                  <a:t>【分析】主要运用排列的原理进行计数。</a:t>
                </a:r>
              </a:p>
              <a:p>
                <a:pPr>
                  <a:lnSpc>
                    <a:spcPct val="150000"/>
                  </a:lnSpc>
                  <a:spcBef>
                    <a:spcPts val="600"/>
                  </a:spcBef>
                </a:pPr>
                <a:r>
                  <a:rPr lang="en-US" altLang="zh-CN" sz="2800" b="1" dirty="0">
                    <a:solidFill>
                      <a:schemeClr val="tx1"/>
                    </a:solidFill>
                  </a:rPr>
                  <a:t>   </a:t>
                </a:r>
                <a:r>
                  <a:rPr lang="zh-CN" altLang="zh-CN" sz="2800" b="1" dirty="0">
                    <a:solidFill>
                      <a:schemeClr val="tx1"/>
                    </a:solidFill>
                  </a:rPr>
                  <a:t>【解】</a:t>
                </a:r>
                <a14:m>
                  <m:oMath xmlns:m="http://schemas.openxmlformats.org/officeDocument/2006/math">
                    <m:r>
                      <a:rPr lang="en-US" altLang="zh-CN" sz="2800" b="1" i="1">
                        <a:solidFill>
                          <a:schemeClr val="tx1"/>
                        </a:solidFill>
                        <a:latin typeface="Cambria Math"/>
                      </a:rPr>
                      <m:t>𝑨</m:t>
                    </m:r>
                  </m:oMath>
                </a14:m>
                <a:r>
                  <a:rPr lang="zh-CN" altLang="zh-CN" sz="2800" b="1" dirty="0">
                    <a:solidFill>
                      <a:schemeClr val="tx1"/>
                    </a:solidFill>
                  </a:rPr>
                  <a:t>到</a:t>
                </a:r>
                <a14:m>
                  <m:oMath xmlns:m="http://schemas.openxmlformats.org/officeDocument/2006/math">
                    <m:r>
                      <a:rPr lang="en-US" altLang="zh-CN" sz="2800" b="1" i="1">
                        <a:solidFill>
                          <a:schemeClr val="tx1"/>
                        </a:solidFill>
                        <a:latin typeface="Cambria Math"/>
                      </a:rPr>
                      <m:t>𝑩</m:t>
                    </m:r>
                  </m:oMath>
                </a14:m>
                <a:r>
                  <a:rPr lang="zh-CN" altLang="zh-CN" sz="2800" b="1" dirty="0">
                    <a:solidFill>
                      <a:schemeClr val="tx1"/>
                    </a:solidFill>
                  </a:rPr>
                  <a:t>的单射函数数目为</a:t>
                </a:r>
                <a:r>
                  <a:rPr lang="en-US" altLang="zh-CN" sz="2800" b="1" dirty="0">
                    <a:solidFill>
                      <a:schemeClr val="tx1"/>
                    </a:solidFill>
                  </a:rPr>
                  <a:t>4</a:t>
                </a:r>
                <a:r>
                  <a:rPr lang="zh-CN" altLang="zh-CN" sz="2800" b="1" dirty="0">
                    <a:solidFill>
                      <a:schemeClr val="tx1"/>
                    </a:solidFill>
                  </a:rPr>
                  <a:t>个元素中取三个的排列，即有：</a:t>
                </a:r>
                <a14:m>
                  <m:oMath xmlns:m="http://schemas.openxmlformats.org/officeDocument/2006/math">
                    <m:r>
                      <a:rPr lang="en-US" altLang="zh-CN" sz="2800" b="1" i="1">
                        <a:solidFill>
                          <a:schemeClr val="tx1"/>
                        </a:solidFill>
                        <a:latin typeface="Cambria Math"/>
                      </a:rPr>
                      <m:t>𝑷</m:t>
                    </m:r>
                    <m:d>
                      <m:dPr>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a:rPr>
                          <m:t>𝟒</m:t>
                        </m:r>
                        <m:r>
                          <a:rPr lang="en-US" altLang="zh-CN" sz="2800" b="1" i="1">
                            <a:solidFill>
                              <a:schemeClr val="tx1"/>
                            </a:solidFill>
                            <a:latin typeface="Cambria Math"/>
                          </a:rPr>
                          <m:t>,</m:t>
                        </m:r>
                        <m:r>
                          <a:rPr lang="en-US" altLang="zh-CN" sz="2800" b="1" i="1">
                            <a:solidFill>
                              <a:schemeClr val="tx1"/>
                            </a:solidFill>
                            <a:latin typeface="Cambria Math"/>
                          </a:rPr>
                          <m:t>𝟑</m:t>
                        </m:r>
                      </m:e>
                    </m:d>
                    <m:r>
                      <a:rPr lang="en-US" altLang="zh-CN" sz="2800" b="1" i="1">
                        <a:solidFill>
                          <a:schemeClr val="tx1"/>
                        </a:solidFill>
                        <a:latin typeface="Cambria Math"/>
                      </a:rPr>
                      <m:t>=</m:t>
                    </m:r>
                    <m:r>
                      <a:rPr lang="en-US" altLang="zh-CN" sz="2800" b="1" i="1">
                        <a:solidFill>
                          <a:schemeClr val="tx1"/>
                        </a:solidFill>
                        <a:latin typeface="Cambria Math"/>
                      </a:rPr>
                      <m:t>𝟒</m:t>
                    </m:r>
                    <m:r>
                      <a:rPr lang="en-US" altLang="zh-CN" sz="2800" b="1" i="1">
                        <a:solidFill>
                          <a:schemeClr val="tx1"/>
                        </a:solidFill>
                        <a:latin typeface="Cambria Math"/>
                      </a:rPr>
                      <m:t>!/</m:t>
                    </m:r>
                    <m:d>
                      <m:dPr>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a:rPr>
                          <m:t>𝟒</m:t>
                        </m:r>
                        <m:r>
                          <a:rPr lang="en-US" altLang="zh-CN" sz="2800" b="1" i="1">
                            <a:solidFill>
                              <a:schemeClr val="tx1"/>
                            </a:solidFill>
                            <a:latin typeface="Cambria Math"/>
                          </a:rPr>
                          <m:t>−</m:t>
                        </m:r>
                        <m:r>
                          <a:rPr lang="en-US" altLang="zh-CN" sz="2800" b="1" i="1">
                            <a:solidFill>
                              <a:schemeClr val="tx1"/>
                            </a:solidFill>
                            <a:latin typeface="Cambria Math"/>
                          </a:rPr>
                          <m:t>𝟑</m:t>
                        </m:r>
                      </m:e>
                    </m:d>
                    <m:r>
                      <a:rPr lang="en-US" altLang="zh-CN" sz="2800" b="1" i="1">
                        <a:solidFill>
                          <a:schemeClr val="tx1"/>
                        </a:solidFill>
                        <a:latin typeface="Cambria Math"/>
                      </a:rPr>
                      <m:t>!</m:t>
                    </m:r>
                    <m:r>
                      <a:rPr lang="en-US" altLang="zh-CN" sz="2800" b="1">
                        <a:solidFill>
                          <a:schemeClr val="tx1"/>
                        </a:solidFill>
                        <a:latin typeface="Cambria Math"/>
                      </a:rPr>
                      <m:t>=</m:t>
                    </m:r>
                    <m:r>
                      <a:rPr lang="en-US" altLang="zh-CN" sz="2800" b="1" i="1">
                        <a:solidFill>
                          <a:schemeClr val="tx1"/>
                        </a:solidFill>
                        <a:latin typeface="Cambria Math"/>
                      </a:rPr>
                      <m:t>𝟐𝟒</m:t>
                    </m:r>
                    <m:r>
                      <a:rPr lang="en-US" altLang="zh-CN" sz="2800" b="1">
                        <a:solidFill>
                          <a:schemeClr val="tx1"/>
                        </a:solidFill>
                        <a:latin typeface="Cambria Math"/>
                      </a:rPr>
                      <m:t> </m:t>
                    </m:r>
                  </m:oMath>
                </a14:m>
                <a:endParaRPr lang="zh-CN" altLang="zh-CN" sz="28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73882" y="2132856"/>
                <a:ext cx="8712968" cy="3392660"/>
              </a:xfrm>
              <a:prstGeom prst="rect">
                <a:avLst/>
              </a:prstGeom>
              <a:blipFill>
                <a:blip r:embed="rId3"/>
                <a:stretch>
                  <a:fillRect l="-1399" b="-37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7957069"/>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2AB385A-0097-4CC1-8668-111F4E77270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59395"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5939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89756" y="1733595"/>
                <a:ext cx="8964488" cy="4514697"/>
              </a:xfrm>
              <a:prstGeom prst="rect">
                <a:avLst/>
              </a:prstGeom>
              <a:solidFill>
                <a:schemeClr val="bg1"/>
              </a:solidFill>
            </p:spPr>
            <p:txBody>
              <a:bodyPr wrap="square" rtlCol="0">
                <a:spAutoFit/>
              </a:bodyPr>
              <a:lstStyle/>
              <a:p>
                <a:pPr>
                  <a:lnSpc>
                    <a:spcPct val="150000"/>
                  </a:lnSpc>
                  <a:spcBef>
                    <a:spcPts val="600"/>
                  </a:spcBef>
                </a:pPr>
                <a:r>
                  <a:rPr lang="en-US" altLang="zh-CN" sz="2400" b="1" dirty="0"/>
                  <a:t>  </a:t>
                </a:r>
                <a:r>
                  <a:rPr lang="zh-CN" altLang="zh-CN" sz="2400" b="1" dirty="0"/>
                  <a:t>【例</a:t>
                </a:r>
                <a:r>
                  <a:rPr lang="zh-CN" altLang="en-US" sz="2400" b="1" dirty="0"/>
                  <a:t>题</a:t>
                </a:r>
                <a:r>
                  <a:rPr lang="zh-CN" altLang="zh-CN" sz="2400" b="1" dirty="0"/>
                  <a:t>】</a:t>
                </a:r>
                <a:r>
                  <a:rPr lang="zh-CN" altLang="zh-CN" sz="2400" b="1" dirty="0">
                    <a:solidFill>
                      <a:schemeClr val="tx1"/>
                    </a:solidFill>
                  </a:rPr>
                  <a:t>对于有限集</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和有限集</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，设</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𝑨</m:t>
                        </m:r>
                      </m:e>
                    </m:d>
                    <m:r>
                      <a:rPr lang="en-US" altLang="zh-CN" sz="2400" b="1" i="1">
                        <a:solidFill>
                          <a:schemeClr val="tx1"/>
                        </a:solidFill>
                        <a:latin typeface="Cambria Math"/>
                      </a:rPr>
                      <m:t>=</m:t>
                    </m:r>
                    <m:r>
                      <a:rPr lang="en-US" altLang="zh-CN" sz="2400" b="1" i="1">
                        <a:solidFill>
                          <a:schemeClr val="tx1"/>
                        </a:solidFill>
                        <a:latin typeface="Cambria Math"/>
                      </a:rPr>
                      <m:t>𝟒</m:t>
                    </m:r>
                  </m:oMath>
                </a14:m>
                <a:r>
                  <a:rPr lang="zh-CN" altLang="zh-CN" sz="2400" b="1" dirty="0">
                    <a:solidFill>
                      <a:schemeClr val="tx1"/>
                    </a:solidFill>
                  </a:rPr>
                  <a:t>，</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𝑩</m:t>
                        </m:r>
                      </m:e>
                    </m:d>
                    <m:r>
                      <a:rPr lang="en-US" altLang="zh-CN" sz="2400" b="1" i="1">
                        <a:solidFill>
                          <a:schemeClr val="tx1"/>
                        </a:solidFill>
                        <a:latin typeface="Cambria Math"/>
                      </a:rPr>
                      <m:t>=</m:t>
                    </m:r>
                    <m:r>
                      <a:rPr lang="en-US" altLang="zh-CN" sz="2400" b="1" i="1">
                        <a:solidFill>
                          <a:schemeClr val="tx1"/>
                        </a:solidFill>
                        <a:latin typeface="Cambria Math"/>
                      </a:rPr>
                      <m:t>𝟑</m:t>
                    </m:r>
                  </m:oMath>
                </a14:m>
                <a:r>
                  <a:rPr lang="en-US" altLang="zh-CN" sz="2400" b="1" dirty="0">
                    <a:solidFill>
                      <a:schemeClr val="tx1"/>
                    </a:solidFill>
                  </a:rPr>
                  <a:t>,</a:t>
                </a:r>
                <a:r>
                  <a:rPr lang="zh-CN" altLang="zh-CN" sz="2400" b="1" dirty="0">
                    <a:solidFill>
                      <a:schemeClr val="tx1"/>
                    </a:solidFill>
                  </a:rPr>
                  <a:t> 可定义多少种</a:t>
                </a:r>
                <a:r>
                  <a:rPr lang="zh-CN" altLang="zh-CN" sz="2400" b="1" dirty="0">
                    <a:solidFill>
                      <a:srgbClr val="0000FF"/>
                    </a:solidFill>
                  </a:rPr>
                  <a:t>不同的</a:t>
                </a:r>
                <a14:m>
                  <m:oMath xmlns:m="http://schemas.openxmlformats.org/officeDocument/2006/math">
                    <m:r>
                      <a:rPr lang="en-US" altLang="zh-CN" sz="2400" b="1" i="1">
                        <a:solidFill>
                          <a:srgbClr val="0000FF"/>
                        </a:solidFill>
                        <a:latin typeface="Cambria Math"/>
                      </a:rPr>
                      <m:t>𝑨</m:t>
                    </m:r>
                  </m:oMath>
                </a14:m>
                <a:r>
                  <a:rPr lang="zh-CN" altLang="zh-CN" sz="2400" b="1" dirty="0">
                    <a:solidFill>
                      <a:srgbClr val="0000FF"/>
                    </a:solidFill>
                  </a:rPr>
                  <a:t>到</a:t>
                </a:r>
                <a14:m>
                  <m:oMath xmlns:m="http://schemas.openxmlformats.org/officeDocument/2006/math">
                    <m:r>
                      <a:rPr lang="en-US" altLang="zh-CN" sz="2400" b="1" i="1">
                        <a:solidFill>
                          <a:srgbClr val="0000FF"/>
                        </a:solidFill>
                        <a:latin typeface="Cambria Math"/>
                      </a:rPr>
                      <m:t>𝑩</m:t>
                    </m:r>
                  </m:oMath>
                </a14:m>
                <a:r>
                  <a:rPr lang="zh-CN" altLang="zh-CN" sz="2400" b="1" dirty="0">
                    <a:solidFill>
                      <a:srgbClr val="0000FF"/>
                    </a:solidFill>
                  </a:rPr>
                  <a:t>的满射函数</a:t>
                </a:r>
                <a:r>
                  <a:rPr lang="zh-CN" altLang="zh-CN" sz="2400" b="1" dirty="0">
                    <a:solidFill>
                      <a:schemeClr val="tx1"/>
                    </a:solidFill>
                  </a:rPr>
                  <a:t>。</a:t>
                </a:r>
                <a:endParaRPr lang="en-US" altLang="zh-CN" sz="2400" b="1" dirty="0">
                  <a:solidFill>
                    <a:schemeClr val="tx1"/>
                  </a:solidFill>
                </a:endParaRPr>
              </a:p>
              <a:p>
                <a:pPr>
                  <a:lnSpc>
                    <a:spcPct val="150000"/>
                  </a:lnSpc>
                  <a:spcBef>
                    <a:spcPts val="0"/>
                  </a:spcBef>
                </a:pPr>
                <a:r>
                  <a:rPr lang="en-US" altLang="zh-CN" sz="2400" b="1" dirty="0"/>
                  <a:t>  </a:t>
                </a:r>
                <a:r>
                  <a:rPr lang="zh-CN" altLang="zh-CN" sz="2400" b="1" dirty="0"/>
                  <a:t>【分析】</a:t>
                </a:r>
                <a:r>
                  <a:rPr lang="zh-CN" altLang="en-US" sz="2400" b="1" dirty="0">
                    <a:solidFill>
                      <a:schemeClr val="tx1"/>
                    </a:solidFill>
                  </a:rPr>
                  <a:t>若</a:t>
                </a:r>
                <a:r>
                  <a:rPr lang="zh-CN" altLang="zh-CN" sz="2400" b="1" dirty="0">
                    <a:solidFill>
                      <a:schemeClr val="tx1"/>
                    </a:solidFill>
                  </a:rPr>
                  <a:t>把</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中</a:t>
                </a:r>
                <a:r>
                  <a:rPr lang="zh-CN" altLang="zh-CN" sz="2400" b="1" dirty="0">
                    <a:solidFill>
                      <a:srgbClr val="0000FF"/>
                    </a:solidFill>
                  </a:rPr>
                  <a:t>两个元素</a:t>
                </a:r>
                <a:r>
                  <a:rPr lang="en-US" altLang="zh-CN" sz="2400" b="1" dirty="0">
                    <a:solidFill>
                      <a:srgbClr val="0000FF"/>
                    </a:solidFill>
                  </a:rPr>
                  <a:t>“</a:t>
                </a:r>
                <a:r>
                  <a:rPr lang="zh-CN" altLang="zh-CN" sz="2400" b="1" dirty="0">
                    <a:solidFill>
                      <a:srgbClr val="0000FF"/>
                    </a:solidFill>
                  </a:rPr>
                  <a:t>合并</a:t>
                </a:r>
                <a:r>
                  <a:rPr lang="en-US" altLang="zh-CN" sz="2400" b="1" dirty="0">
                    <a:solidFill>
                      <a:srgbClr val="0000FF"/>
                    </a:solidFill>
                  </a:rPr>
                  <a:t>”</a:t>
                </a:r>
                <a:r>
                  <a:rPr lang="zh-CN" altLang="zh-CN" sz="2400" b="1" dirty="0">
                    <a:solidFill>
                      <a:schemeClr val="tx1"/>
                    </a:solidFill>
                  </a:rPr>
                  <a:t>，即把</a:t>
                </a:r>
                <a14:m>
                  <m:oMath xmlns:m="http://schemas.openxmlformats.org/officeDocument/2006/math">
                    <m:r>
                      <a:rPr lang="en-US" altLang="zh-CN" sz="2400" b="1" i="1" smtClean="0">
                        <a:solidFill>
                          <a:srgbClr val="0000FF"/>
                        </a:solidFill>
                        <a:latin typeface="Cambria Math"/>
                      </a:rPr>
                      <m:t>𝑨</m:t>
                    </m:r>
                  </m:oMath>
                </a14:m>
                <a:r>
                  <a:rPr lang="zh-CN" altLang="zh-CN" sz="2400" b="1" dirty="0">
                    <a:solidFill>
                      <a:srgbClr val="0000FF"/>
                    </a:solidFill>
                  </a:rPr>
                  <a:t>看作由</a:t>
                </a:r>
                <a:r>
                  <a:rPr lang="en-US" altLang="zh-CN" sz="2400" b="1" dirty="0">
                    <a:solidFill>
                      <a:srgbClr val="0000FF"/>
                    </a:solidFill>
                  </a:rPr>
                  <a:t>3</a:t>
                </a:r>
                <a:r>
                  <a:rPr lang="zh-CN" altLang="zh-CN" sz="2400" b="1" dirty="0">
                    <a:solidFill>
                      <a:srgbClr val="0000FF"/>
                    </a:solidFill>
                  </a:rPr>
                  <a:t>元素组成的集合</a:t>
                </a:r>
                <a:r>
                  <a:rPr lang="zh-CN" altLang="zh-CN" sz="2400" b="1" dirty="0">
                    <a:solidFill>
                      <a:schemeClr val="tx1"/>
                    </a:solidFill>
                  </a:rPr>
                  <a:t>，由于由</a:t>
                </a:r>
                <a:r>
                  <a:rPr lang="en-US" altLang="zh-CN" sz="2400" b="1" dirty="0">
                    <a:solidFill>
                      <a:schemeClr val="tx1"/>
                    </a:solidFill>
                  </a:rPr>
                  <a:t>3</a:t>
                </a:r>
                <a:r>
                  <a:rPr lang="zh-CN" altLang="zh-CN" sz="2400" b="1" dirty="0">
                    <a:solidFill>
                      <a:schemeClr val="tx1"/>
                    </a:solidFill>
                  </a:rPr>
                  <a:t>个元素的集合到</a:t>
                </a:r>
                <a:r>
                  <a:rPr lang="en-US" altLang="zh-CN" sz="2400" b="1" dirty="0">
                    <a:solidFill>
                      <a:schemeClr val="tx1"/>
                    </a:solidFill>
                  </a:rPr>
                  <a:t>3</a:t>
                </a:r>
                <a:r>
                  <a:rPr lang="zh-CN" altLang="zh-CN" sz="2400" b="1" dirty="0">
                    <a:solidFill>
                      <a:schemeClr val="tx1"/>
                    </a:solidFill>
                  </a:rPr>
                  <a:t>个元素的集合可定义的</a:t>
                </a:r>
                <a:r>
                  <a:rPr lang="zh-CN" altLang="zh-CN" sz="2400" b="1" dirty="0">
                    <a:solidFill>
                      <a:srgbClr val="0000FF"/>
                    </a:solidFill>
                  </a:rPr>
                  <a:t>双射函数</a:t>
                </a:r>
                <a:r>
                  <a:rPr lang="zh-CN" altLang="zh-CN" sz="2400" b="1" dirty="0">
                    <a:solidFill>
                      <a:schemeClr val="tx1"/>
                    </a:solidFill>
                  </a:rPr>
                  <a:t>为</a:t>
                </a:r>
                <a:r>
                  <a:rPr lang="en-US" altLang="zh-CN" sz="2400" b="1" dirty="0">
                    <a:solidFill>
                      <a:schemeClr val="tx1"/>
                    </a:solidFill>
                  </a:rPr>
                  <a:t>3</a:t>
                </a:r>
                <a:r>
                  <a:rPr lang="zh-CN" altLang="zh-CN" sz="2400" b="1" dirty="0">
                    <a:solidFill>
                      <a:schemeClr val="tx1"/>
                    </a:solidFill>
                  </a:rPr>
                  <a:t>！</a:t>
                </a:r>
                <a:r>
                  <a:rPr lang="en-US" altLang="zh-CN" sz="2400" b="1" dirty="0">
                    <a:solidFill>
                      <a:schemeClr val="tx1"/>
                    </a:solidFill>
                  </a:rPr>
                  <a:t>=6</a:t>
                </a:r>
                <a:r>
                  <a:rPr lang="zh-CN" altLang="zh-CN" sz="2400" b="1" dirty="0">
                    <a:solidFill>
                      <a:schemeClr val="tx1"/>
                    </a:solidFill>
                  </a:rPr>
                  <a:t>个，</a:t>
                </a:r>
                <a:r>
                  <a:rPr lang="en-US" altLang="zh-CN" sz="2400" b="1" dirty="0">
                    <a:solidFill>
                      <a:srgbClr val="0000FF"/>
                    </a:solidFill>
                  </a:rPr>
                  <a:t>4</a:t>
                </a:r>
                <a:r>
                  <a:rPr lang="zh-CN" altLang="zh-CN" sz="2400" b="1" dirty="0">
                    <a:solidFill>
                      <a:srgbClr val="0000FF"/>
                    </a:solidFill>
                  </a:rPr>
                  <a:t>个元素“合并”成</a:t>
                </a:r>
                <a:r>
                  <a:rPr lang="en-US" altLang="zh-CN" sz="2400" b="1" dirty="0">
                    <a:solidFill>
                      <a:srgbClr val="0000FF"/>
                    </a:solidFill>
                  </a:rPr>
                  <a:t>3</a:t>
                </a:r>
                <a:r>
                  <a:rPr lang="zh-CN" altLang="zh-CN" sz="2400" b="1" dirty="0">
                    <a:solidFill>
                      <a:srgbClr val="0000FF"/>
                    </a:solidFill>
                  </a:rPr>
                  <a:t>个元素</a:t>
                </a:r>
                <a:r>
                  <a:rPr lang="zh-CN" altLang="en-US" sz="2400" b="1" dirty="0">
                    <a:solidFill>
                      <a:srgbClr val="0000FF"/>
                    </a:solidFill>
                  </a:rPr>
                  <a:t>的方案</a:t>
                </a:r>
                <a:r>
                  <a:rPr lang="zh-CN" altLang="zh-CN" sz="2400" b="1" dirty="0">
                    <a:solidFill>
                      <a:srgbClr val="0000FF"/>
                    </a:solidFill>
                  </a:rPr>
                  <a:t>共有</a:t>
                </a:r>
                <a:r>
                  <a:rPr lang="zh-CN" altLang="en-US" sz="2400" b="1" dirty="0">
                    <a:solidFill>
                      <a:srgbClr val="0000FF"/>
                    </a:solidFill>
                  </a:rPr>
                  <a:t>：</a:t>
                </a:r>
                <a:endParaRPr lang="en-US" altLang="zh-CN" sz="2400" b="1" i="1" dirty="0">
                  <a:solidFill>
                    <a:srgbClr val="0000FF"/>
                  </a:solidFill>
                  <a:latin typeface="Cambria Math"/>
                </a:endParaRPr>
              </a:p>
              <a:p>
                <a:pPr algn="ctr">
                  <a:lnSpc>
                    <a:spcPct val="150000"/>
                  </a:lnSpc>
                  <a:spcBef>
                    <a:spcPts val="0"/>
                  </a:spcBef>
                </a:pPr>
                <a14:m>
                  <m:oMath xmlns:m="http://schemas.openxmlformats.org/officeDocument/2006/math">
                    <m:r>
                      <a:rPr lang="en-US" altLang="zh-CN" sz="2400" b="1" i="1" smtClean="0">
                        <a:solidFill>
                          <a:srgbClr val="0000FF"/>
                        </a:solidFill>
                        <a:latin typeface="Cambria Math"/>
                      </a:rPr>
                      <m:t>𝐂</m:t>
                    </m:r>
                    <m:d>
                      <m:dPr>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a:rPr>
                          <m:t>𝟒</m:t>
                        </m:r>
                        <m:r>
                          <a:rPr lang="en-US" altLang="zh-CN" sz="2400" b="1">
                            <a:solidFill>
                              <a:srgbClr val="0000FF"/>
                            </a:solidFill>
                            <a:latin typeface="Cambria Math"/>
                          </a:rPr>
                          <m:t>,</m:t>
                        </m:r>
                        <m:r>
                          <a:rPr lang="en-US" altLang="zh-CN" sz="2400" b="1" i="1">
                            <a:solidFill>
                              <a:srgbClr val="0000FF"/>
                            </a:solidFill>
                            <a:latin typeface="Cambria Math"/>
                          </a:rPr>
                          <m:t>𝟐</m:t>
                        </m:r>
                      </m:e>
                    </m:d>
                    <m:r>
                      <a:rPr lang="en-US" altLang="zh-CN" sz="2400" b="1">
                        <a:solidFill>
                          <a:srgbClr val="0000FF"/>
                        </a:solidFill>
                        <a:latin typeface="Cambria Math"/>
                      </a:rPr>
                      <m:t>=</m:t>
                    </m:r>
                    <m:r>
                      <a:rPr lang="en-US" altLang="zh-CN" sz="2400" b="1" i="1">
                        <a:solidFill>
                          <a:srgbClr val="0000FF"/>
                        </a:solidFill>
                        <a:latin typeface="Cambria Math"/>
                      </a:rPr>
                      <m:t>𝟔</m:t>
                    </m:r>
                  </m:oMath>
                </a14:m>
                <a:r>
                  <a:rPr lang="zh-CN" altLang="en-US" sz="2400" b="1" dirty="0">
                    <a:solidFill>
                      <a:schemeClr val="tx1"/>
                    </a:solidFill>
                  </a:rPr>
                  <a:t>（</a:t>
                </a:r>
                <a:r>
                  <a:rPr lang="zh-CN" altLang="zh-CN" sz="2400" b="1" dirty="0">
                    <a:solidFill>
                      <a:schemeClr val="tx1"/>
                    </a:solidFill>
                  </a:rPr>
                  <a:t>种</a:t>
                </a:r>
                <a:r>
                  <a:rPr lang="zh-CN" altLang="en-US" sz="2400" b="1" dirty="0">
                    <a:solidFill>
                      <a:schemeClr val="tx1"/>
                    </a:solidFill>
                  </a:rPr>
                  <a:t>）</a:t>
                </a:r>
                <a:endParaRPr lang="en-US" altLang="zh-CN" sz="2400" b="1" dirty="0">
                  <a:solidFill>
                    <a:schemeClr val="tx1"/>
                  </a:solidFill>
                </a:endParaRPr>
              </a:p>
              <a:p>
                <a:pPr>
                  <a:lnSpc>
                    <a:spcPct val="150000"/>
                  </a:lnSpc>
                  <a:spcBef>
                    <a:spcPts val="0"/>
                  </a:spcBef>
                </a:pPr>
                <a:r>
                  <a:rPr lang="zh-CN" altLang="zh-CN" sz="2400" b="1" dirty="0">
                    <a:solidFill>
                      <a:schemeClr val="tx1"/>
                    </a:solidFill>
                  </a:rPr>
                  <a:t>故由乘法原理知，</a:t>
                </a:r>
                <a14:m>
                  <m:oMath xmlns:m="http://schemas.openxmlformats.org/officeDocument/2006/math">
                    <m:r>
                      <a:rPr lang="en-US" altLang="zh-CN" sz="2400" b="1" i="1">
                        <a:solidFill>
                          <a:schemeClr val="tx1"/>
                        </a:solidFill>
                        <a:latin typeface="Cambria Math"/>
                      </a:rPr>
                      <m:t>𝑨</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oMath>
                </a14:m>
                <a:r>
                  <a:rPr lang="zh-CN" altLang="zh-CN" sz="2400" b="1" dirty="0">
                    <a:solidFill>
                      <a:schemeClr val="tx1"/>
                    </a:solidFill>
                  </a:rPr>
                  <a:t>的满射函数共有</a:t>
                </a:r>
                <a14:m>
                  <m:oMath xmlns:m="http://schemas.openxmlformats.org/officeDocument/2006/math">
                    <m:r>
                      <a:rPr lang="en-US" altLang="zh-CN" sz="2400" b="1" i="1">
                        <a:solidFill>
                          <a:schemeClr val="tx1"/>
                        </a:solidFill>
                        <a:latin typeface="Cambria Math"/>
                      </a:rPr>
                      <m:t>𝟔</m:t>
                    </m:r>
                    <m:r>
                      <a:rPr lang="en-US" altLang="zh-CN" sz="2400" b="1">
                        <a:solidFill>
                          <a:schemeClr val="tx1"/>
                        </a:solidFill>
                        <a:latin typeface="Cambria Math"/>
                      </a:rPr>
                      <m:t>∙</m:t>
                    </m:r>
                    <m:r>
                      <a:rPr lang="en-US" altLang="zh-CN" sz="2400" b="1" i="1">
                        <a:solidFill>
                          <a:schemeClr val="tx1"/>
                        </a:solidFill>
                        <a:latin typeface="Cambria Math"/>
                      </a:rPr>
                      <m:t>𝟔</m:t>
                    </m:r>
                    <m:r>
                      <a:rPr lang="en-US" altLang="zh-CN" sz="2400" b="1">
                        <a:solidFill>
                          <a:schemeClr val="tx1"/>
                        </a:solidFill>
                        <a:latin typeface="Cambria Math"/>
                      </a:rPr>
                      <m:t>=</m:t>
                    </m:r>
                    <m:r>
                      <a:rPr lang="en-US" altLang="zh-CN" sz="2400" b="1" i="1">
                        <a:solidFill>
                          <a:schemeClr val="tx1"/>
                        </a:solidFill>
                        <a:latin typeface="Cambria Math"/>
                      </a:rPr>
                      <m:t>𝟑𝟔</m:t>
                    </m:r>
                  </m:oMath>
                </a14:m>
                <a:r>
                  <a:rPr lang="zh-CN" altLang="en-US" sz="2400" b="1" dirty="0">
                    <a:solidFill>
                      <a:schemeClr val="tx1"/>
                    </a:solidFill>
                  </a:rPr>
                  <a:t>（种）</a:t>
                </a:r>
                <a:r>
                  <a:rPr lang="zh-CN" altLang="zh-CN" sz="2400" b="1" dirty="0">
                    <a:solidFill>
                      <a:schemeClr val="tx1"/>
                    </a:solidFill>
                  </a:rPr>
                  <a:t>。</a:t>
                </a:r>
              </a:p>
              <a:p>
                <a:pPr>
                  <a:lnSpc>
                    <a:spcPct val="150000"/>
                  </a:lnSpc>
                  <a:spcBef>
                    <a:spcPts val="600"/>
                  </a:spcBef>
                </a:pPr>
                <a:r>
                  <a:rPr lang="en-US" altLang="zh-CN" sz="2400" b="1" dirty="0"/>
                  <a:t>  </a:t>
                </a:r>
                <a:r>
                  <a:rPr lang="zh-CN" altLang="zh-CN" sz="2400" b="1" dirty="0"/>
                  <a:t>【解】</a:t>
                </a:r>
                <a:r>
                  <a:rPr lang="zh-CN" altLang="zh-CN" sz="2400" b="1" dirty="0">
                    <a:solidFill>
                      <a:srgbClr val="0000FF"/>
                    </a:solidFill>
                  </a:rPr>
                  <a:t>可定义</a:t>
                </a:r>
                <a:r>
                  <a:rPr lang="en-US" altLang="zh-CN" sz="2400" b="1" dirty="0">
                    <a:solidFill>
                      <a:srgbClr val="0000FF"/>
                    </a:solidFill>
                  </a:rPr>
                  <a:t>36</a:t>
                </a:r>
                <a:r>
                  <a:rPr lang="zh-CN" altLang="zh-CN" sz="2400" b="1" dirty="0">
                    <a:solidFill>
                      <a:srgbClr val="0000FF"/>
                    </a:solidFill>
                  </a:rPr>
                  <a:t>种不同的满射函数</a:t>
                </a:r>
                <a:r>
                  <a:rPr lang="zh-CN" altLang="zh-CN" sz="2400" b="1" dirty="0">
                    <a:solidFill>
                      <a:schemeClr val="tx1"/>
                    </a:solidFill>
                  </a:rPr>
                  <a:t>。</a:t>
                </a:r>
                <a:endParaRPr lang="zh-CN" altLang="en-US" sz="24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89756" y="1733595"/>
                <a:ext cx="8964488" cy="4514697"/>
              </a:xfrm>
              <a:prstGeom prst="rect">
                <a:avLst/>
              </a:prstGeom>
              <a:blipFill>
                <a:blip r:embed="rId3"/>
                <a:stretch>
                  <a:fillRect l="-1088" b="-20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56007576"/>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FC38444-C91B-4236-B1B8-CD4647D131D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0419"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6042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E038B96-AD7D-4017-8077-7151BD520571}"/>
                  </a:ext>
                </a:extLst>
              </p:cNvPr>
              <p:cNvSpPr/>
              <p:nvPr/>
            </p:nvSpPr>
            <p:spPr>
              <a:xfrm>
                <a:off x="718555" y="1663700"/>
                <a:ext cx="7560840" cy="4454233"/>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a:t>
                </a:r>
                <a:r>
                  <a:rPr lang="zh-CN" altLang="zh-CN" sz="2400" b="1" kern="100" dirty="0">
                    <a:solidFill>
                      <a:schemeClr val="bg1"/>
                    </a:solidFill>
                    <a:latin typeface="Times New Roman" panose="02020603050405020304" pitchFamily="18" charset="0"/>
                    <a:ea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的</a:t>
                </a:r>
                <a:r>
                  <a:rPr lang="zh-CN" altLang="zh-CN" sz="2400" b="1" kern="100" dirty="0">
                    <a:solidFill>
                      <a:srgbClr val="FFFF00"/>
                    </a:solidFill>
                    <a:latin typeface="Times New Roman" panose="02020603050405020304" pitchFamily="18" charset="0"/>
                    <a:ea typeface="宋体" panose="02010600030101010101" pitchFamily="2" charset="-122"/>
                  </a:rPr>
                  <a:t>满射</a:t>
                </a:r>
                <a:r>
                  <a:rPr lang="zh-CN" altLang="zh-CN" sz="2400" b="1" kern="100" dirty="0">
                    <a:solidFill>
                      <a:schemeClr val="bg1"/>
                    </a:solidFill>
                    <a:latin typeface="Times New Roman" panose="02020603050405020304" pitchFamily="18" charset="0"/>
                    <a:ea typeface="宋体" panose="02010600030101010101" pitchFamily="2" charset="-122"/>
                  </a:rPr>
                  <a:t>且具有性质：</a:t>
                </a: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𝒊</m:t>
                              </m:r>
                            </m:sub>
                          </m:sSub>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𝒊</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𝒌</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   </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rPr>
                            <m:t>𝒊</m:t>
                          </m:r>
                        </m:sub>
                      </m:sSub>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求</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的个数。</a:t>
                </a:r>
              </a:p>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【分析】</a:t>
                </a:r>
                <a:r>
                  <a:rPr lang="zh-CN" altLang="zh-CN" sz="2400" b="1" kern="100" dirty="0">
                    <a:solidFill>
                      <a:schemeClr val="bg1"/>
                    </a:solidFill>
                    <a:latin typeface="Times New Roman" panose="02020603050405020304" pitchFamily="18" charset="0"/>
                    <a:ea typeface="宋体" panose="02010600030101010101" pitchFamily="2" charset="-122"/>
                  </a:rPr>
                  <a:t>从有限集到有限集的满射也是单射，故</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rPr>
                  <a:t>是从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rPr>
                  <a:t>的双射。</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rPr>
                  <a:t>将</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中的</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𝒏</m:t>
                    </m:r>
                  </m:oMath>
                </a14:m>
                <a:r>
                  <a:rPr lang="zh-CN" altLang="zh-CN" sz="2400" b="1" kern="100" dirty="0">
                    <a:solidFill>
                      <a:schemeClr val="bg1"/>
                    </a:solidFill>
                    <a:latin typeface="Times New Roman" panose="02020603050405020304" pitchFamily="18" charset="0"/>
                    <a:ea typeface="宋体" panose="02010600030101010101" pitchFamily="2" charset="-122"/>
                  </a:rPr>
                  <a:t>个元素看成</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𝒏</m:t>
                    </m:r>
                  </m:oMath>
                </a14:m>
                <a:r>
                  <a:rPr lang="zh-CN" altLang="zh-CN" sz="2400" b="1" kern="100" dirty="0">
                    <a:solidFill>
                      <a:schemeClr val="bg1"/>
                    </a:solidFill>
                    <a:latin typeface="Times New Roman" panose="02020603050405020304" pitchFamily="18" charset="0"/>
                    <a:ea typeface="宋体" panose="02010600030101010101" pitchFamily="2" charset="-122"/>
                  </a:rPr>
                  <a:t>个座位，在固定</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𝒌</m:t>
                    </m:r>
                  </m:oMath>
                </a14:m>
                <a:r>
                  <a:rPr lang="zh-CN" altLang="zh-CN" sz="2400" b="1" kern="100" dirty="0">
                    <a:solidFill>
                      <a:schemeClr val="bg1"/>
                    </a:solidFill>
                    <a:latin typeface="Times New Roman" panose="02020603050405020304" pitchFamily="18" charset="0"/>
                    <a:ea typeface="宋体" panose="02010600030101010101" pitchFamily="2" charset="-122"/>
                  </a:rPr>
                  <a:t>个元素位置后，剩下的</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𝒌</m:t>
                    </m:r>
                  </m:oMath>
                </a14:m>
                <a:r>
                  <a:rPr lang="zh-CN" altLang="zh-CN" sz="2400" b="1" kern="100" dirty="0">
                    <a:solidFill>
                      <a:schemeClr val="bg1"/>
                    </a:solidFill>
                    <a:latin typeface="Times New Roman" panose="02020603050405020304" pitchFamily="18" charset="0"/>
                    <a:ea typeface="宋体" panose="02010600030101010101" pitchFamily="2" charset="-122"/>
                  </a:rPr>
                  <a:t>个元素的坐法数就是</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的个数。</a:t>
                </a:r>
                <a:r>
                  <a:rPr lang="en-US" altLang="zh-CN" sz="2400" kern="100" dirty="0">
                    <a:solidFill>
                      <a:schemeClr val="bg1"/>
                    </a:solidFill>
                    <a:latin typeface="Times New Roman" panose="02020603050405020304" pitchFamily="18" charset="0"/>
                    <a:ea typeface="宋体" panose="02010600030101010101" pitchFamily="2" charset="-122"/>
                  </a:rPr>
                  <a:t>   </a:t>
                </a:r>
                <a:r>
                  <a:rPr lang="en-US" altLang="zh-CN" sz="2400" kern="100" dirty="0">
                    <a:latin typeface="Times New Roman" panose="02020603050405020304" pitchFamily="18" charset="0"/>
                    <a:ea typeface="宋体" panose="02010600030101010101" pitchFamily="2" charset="-122"/>
                  </a:rPr>
                  <a:t>	</a:t>
                </a:r>
                <a:endParaRPr lang="zh-CN" altLang="zh-CN" sz="2400" kern="100" dirty="0">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2E038B96-AD7D-4017-8077-7151BD520571}"/>
                  </a:ext>
                </a:extLst>
              </p:cNvPr>
              <p:cNvSpPr>
                <a:spLocks noRot="1" noChangeAspect="1" noMove="1" noResize="1" noEditPoints="1" noAdjustHandles="1" noChangeArrowheads="1" noChangeShapeType="1" noTextEdit="1"/>
              </p:cNvSpPr>
              <p:nvPr/>
            </p:nvSpPr>
            <p:spPr>
              <a:xfrm>
                <a:off x="718555" y="1663700"/>
                <a:ext cx="7560840" cy="4454233"/>
              </a:xfrm>
              <a:prstGeom prst="rect">
                <a:avLst/>
              </a:prstGeom>
              <a:blipFill>
                <a:blip r:embed="rId3"/>
                <a:stretch>
                  <a:fillRect l="-1290" r="-1210" b="-1778"/>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FC38444-C91B-4236-B1B8-CD4647D131D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0419"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6042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9BF4C04-FF41-4F2C-82BF-1AD66290A24B}"/>
                  </a:ext>
                </a:extLst>
              </p:cNvPr>
              <p:cNvSpPr/>
              <p:nvPr/>
            </p:nvSpPr>
            <p:spPr>
              <a:xfrm>
                <a:off x="323528" y="1688646"/>
                <a:ext cx="8640960" cy="4084901"/>
              </a:xfrm>
              <a:prstGeom prst="rect">
                <a:avLst/>
              </a:prstGeom>
              <a:solidFill>
                <a:schemeClr val="accent6">
                  <a:lumMod val="75000"/>
                </a:schemeClr>
              </a:solidFill>
            </p:spPr>
            <p:txBody>
              <a:bodyPr wrap="square">
                <a:spAutoFit/>
              </a:bodyPr>
              <a:lstStyle/>
              <a:p>
                <a:pPr algn="just">
                  <a:lnSpc>
                    <a:spcPct val="150000"/>
                  </a:lnSpc>
                  <a:spcAft>
                    <a:spcPts val="0"/>
                  </a:spcAft>
                </a:pPr>
                <a:r>
                  <a:rPr lang="en-US" altLang="zh-CN" kern="100" dirty="0">
                    <a:latin typeface="Times New Roman" panose="02020603050405020304" pitchFamily="18" charset="0"/>
                    <a:ea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【解】</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的满射，故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rPr>
                  <a:t>的双射。</a:t>
                </a:r>
                <a:endParaRPr lang="en-US" altLang="zh-CN" sz="24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rPr>
                  <a:t>由于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已将</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rPr>
                  <a:t>中的某</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𝒌</m:t>
                    </m:r>
                  </m:oMath>
                </a14:m>
                <a:r>
                  <a:rPr lang="zh-CN" altLang="zh-CN" sz="2400" b="1" kern="100" dirty="0">
                    <a:solidFill>
                      <a:srgbClr val="FFFF00"/>
                    </a:solidFill>
                    <a:latin typeface="Times New Roman" panose="02020603050405020304" pitchFamily="18" charset="0"/>
                    <a:ea typeface="宋体" panose="02010600030101010101" pitchFamily="2" charset="-122"/>
                  </a:rPr>
                  <a:t>个元素与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rPr>
                  <a:t>中另外</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𝒌</m:t>
                    </m:r>
                  </m:oMath>
                </a14:m>
                <a:r>
                  <a:rPr lang="zh-CN" altLang="zh-CN" sz="2400" b="1" kern="100" dirty="0">
                    <a:solidFill>
                      <a:srgbClr val="FFFF00"/>
                    </a:solidFill>
                    <a:latin typeface="Times New Roman" panose="02020603050405020304" pitchFamily="18" charset="0"/>
                    <a:ea typeface="宋体" panose="02010600030101010101" pitchFamily="2" charset="-122"/>
                  </a:rPr>
                  <a:t>个元素对应确定</a:t>
                </a:r>
                <a:r>
                  <a:rPr lang="zh-CN" altLang="zh-CN" sz="2400" b="1" kern="100" dirty="0">
                    <a:solidFill>
                      <a:schemeClr val="bg1"/>
                    </a:solidFill>
                    <a:latin typeface="Times New Roman" panose="02020603050405020304" pitchFamily="18" charset="0"/>
                    <a:ea typeface="宋体" panose="02010600030101010101" pitchFamily="2" charset="-122"/>
                  </a:rPr>
                  <a:t>，故只需要考虑</a:t>
                </a:r>
                <a:r>
                  <a:rPr lang="zh-CN" altLang="zh-CN" sz="2400" b="1" kern="100" dirty="0">
                    <a:solidFill>
                      <a:srgbClr val="FFFF00"/>
                    </a:solidFill>
                    <a:latin typeface="Times New Roman" panose="02020603050405020304" pitchFamily="18" charset="0"/>
                    <a:ea typeface="宋体" panose="02010600030101010101" pitchFamily="2" charset="-122"/>
                  </a:rPr>
                  <a:t>剩下</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𝒌</m:t>
                    </m:r>
                  </m:oMath>
                </a14:m>
                <a:r>
                  <a:rPr lang="zh-CN" altLang="zh-CN" sz="2400" b="1" kern="100" dirty="0">
                    <a:solidFill>
                      <a:schemeClr val="bg1"/>
                    </a:solidFill>
                    <a:latin typeface="Times New Roman" panose="02020603050405020304" pitchFamily="18" charset="0"/>
                    <a:ea typeface="宋体" panose="02010600030101010101" pitchFamily="2" charset="-122"/>
                  </a:rPr>
                  <a:t>个元素的对应关系。令：</a:t>
                </a:r>
              </a:p>
              <a:p>
                <a:pPr algn="just">
                  <a:lnSpc>
                    <a:spcPct val="150000"/>
                  </a:lnSpc>
                  <a:spcAft>
                    <a:spcPts val="0"/>
                  </a:spcAft>
                </a:pPr>
                <a:r>
                  <a:rPr lang="en-US" altLang="zh-CN" sz="2400" b="1" kern="100" dirty="0">
                    <a:solidFill>
                      <a:srgbClr val="FFFF00"/>
                    </a:solidFill>
                    <a:ea typeface="宋体" panose="02010600030101010101" pitchFamily="2" charset="-122"/>
                  </a:rPr>
                  <a:t>                 </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𝑩</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𝑨</m:t>
                    </m:r>
                    <m:r>
                      <a:rPr lang="en-US" altLang="zh-CN" sz="2400" b="1" i="1" kern="100" smtClean="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𝒊</m:t>
                            </m:r>
                          </m:sub>
                        </m:sSub>
                      </m:e>
                      <m:e>
                        <m:r>
                          <a:rPr lang="en-US" altLang="zh-CN" sz="2400" b="1" i="1" kern="100">
                            <a:solidFill>
                              <a:srgbClr val="FFFF00"/>
                            </a:solidFill>
                            <a:latin typeface="Cambria Math" panose="02040503050406030204" pitchFamily="18" charset="0"/>
                            <a:ea typeface="宋体" panose="02010600030101010101" pitchFamily="2" charset="-122"/>
                          </a:rPr>
                          <m:t>𝒊</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𝟐</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𝒌</m:t>
                        </m:r>
                      </m:e>
                    </m:d>
                  </m:oMath>
                </a14:m>
                <a:endParaRPr lang="en-US" altLang="zh-CN" sz="2400" b="1" i="1" kern="100" dirty="0">
                  <a:solidFill>
                    <a:srgbClr val="FFFF00"/>
                  </a:solidFill>
                  <a:latin typeface="Cambria Math" panose="02040503050406030204" pitchFamily="18" charset="0"/>
                  <a:ea typeface="宋体" panose="02010600030101010101" pitchFamily="2" charset="-122"/>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  </m:t>
                      </m:r>
                      <m:r>
                        <a:rPr lang="en-US" altLang="zh-CN" sz="2400" b="1" i="1" kern="100">
                          <a:solidFill>
                            <a:srgbClr val="FFFF00"/>
                          </a:solidFill>
                          <a:latin typeface="Cambria Math" panose="02040503050406030204" pitchFamily="18" charset="0"/>
                          <a:ea typeface="宋体" panose="02010600030101010101" pitchFamily="2" charset="-122"/>
                        </a:rPr>
                        <m:t>𝑪</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en-US" altLang="zh-CN" sz="2400" b="1" i="1" kern="100">
                              <a:solidFill>
                                <a:srgbClr val="FFFF00"/>
                              </a:solidFill>
                              <a:latin typeface="Cambria Math" panose="02040503050406030204" pitchFamily="18" charset="0"/>
                              <a:ea typeface="宋体" panose="02010600030101010101" pitchFamily="2" charset="-122"/>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rPr>
                                <m:t>𝒊</m:t>
                              </m:r>
                            </m:sub>
                          </m:sSub>
                        </m:e>
                        <m:e>
                          <m:r>
                            <a:rPr lang="en-US" altLang="zh-CN" sz="2400" b="1" i="1" kern="100">
                              <a:solidFill>
                                <a:srgbClr val="FFFF00"/>
                              </a:solidFill>
                              <a:latin typeface="Cambria Math" panose="02040503050406030204" pitchFamily="18" charset="0"/>
                              <a:ea typeface="宋体" panose="02010600030101010101" pitchFamily="2" charset="-122"/>
                            </a:rPr>
                            <m:t>𝒊</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𝟐</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𝒌</m:t>
                          </m:r>
                        </m:e>
                      </m:d>
                    </m:oMath>
                  </m:oMathPara>
                </a14:m>
                <a:endParaRPr lang="en-US" altLang="zh-CN" sz="2400" b="1" kern="100" dirty="0">
                  <a:solidFill>
                    <a:srgbClr val="FFFF00"/>
                  </a:solidFill>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则</a:t>
                </a:r>
                <a:r>
                  <a:rPr lang="zh-CN" altLang="zh-CN" sz="2400" b="1" kern="100" dirty="0">
                    <a:solidFill>
                      <a:srgbClr val="FFFF00"/>
                    </a:solidFill>
                    <a:latin typeface="Times New Roman" panose="02020603050405020304" pitchFamily="18" charset="0"/>
                    <a:ea typeface="宋体" panose="02010600030101010101" pitchFamily="2" charset="-122"/>
                  </a:rPr>
                  <a:t>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𝑪</m:t>
                    </m:r>
                  </m:oMath>
                </a14:m>
                <a:r>
                  <a:rPr lang="zh-CN" altLang="zh-CN" sz="2400" b="1" kern="100" dirty="0">
                    <a:solidFill>
                      <a:srgbClr val="FFFF00"/>
                    </a:solidFill>
                    <a:latin typeface="Times New Roman" panose="02020603050405020304" pitchFamily="18" charset="0"/>
                    <a:ea typeface="宋体" panose="02010600030101010101" pitchFamily="2" charset="-122"/>
                  </a:rPr>
                  <a:t>的满射个数（也就是双射个数）就是</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rPr>
                  <a:t>的个数</a:t>
                </a:r>
                <a:r>
                  <a:rPr lang="zh-CN" altLang="en-US" sz="2400" b="1" kern="100" dirty="0">
                    <a:solidFill>
                      <a:schemeClr val="bg1"/>
                    </a:solidFill>
                    <a:latin typeface="Times New Roman" panose="02020603050405020304" pitchFamily="18" charset="0"/>
                    <a:ea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rPr>
                  <a:t>故满足题目条件的不同满射个数为</a:t>
                </a:r>
                <a14:m>
                  <m:oMath xmlns:m="http://schemas.openxmlformats.org/officeDocument/2006/math">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𝒌</m:t>
                        </m:r>
                      </m:e>
                    </m:d>
                    <m:r>
                      <a:rPr lang="en-US" altLang="zh-CN" sz="2400" b="1" i="1" kern="100">
                        <a:solidFill>
                          <a:schemeClr val="bg1"/>
                        </a:solidFill>
                        <a:latin typeface="Cambria Math" panose="02040503050406030204" pitchFamily="18" charset="0"/>
                        <a:ea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B9BF4C04-FF41-4F2C-82BF-1AD66290A24B}"/>
                  </a:ext>
                </a:extLst>
              </p:cNvPr>
              <p:cNvSpPr>
                <a:spLocks noRot="1" noChangeAspect="1" noMove="1" noResize="1" noEditPoints="1" noAdjustHandles="1" noChangeArrowheads="1" noChangeShapeType="1" noTextEdit="1"/>
              </p:cNvSpPr>
              <p:nvPr/>
            </p:nvSpPr>
            <p:spPr>
              <a:xfrm>
                <a:off x="323528" y="1688646"/>
                <a:ext cx="8640960" cy="4084901"/>
              </a:xfrm>
              <a:prstGeom prst="rect">
                <a:avLst/>
              </a:prstGeom>
              <a:blipFill>
                <a:blip r:embed="rId3"/>
                <a:stretch>
                  <a:fillRect l="-1058" r="-1058" b="-20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491220119"/>
      </p:ext>
    </p:extLst>
  </p:cSld>
  <p:clrMapOvr>
    <a:masterClrMapping/>
  </p:clrMapOvr>
  <p:transition spd="med">
    <p:wipe dir="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73F2C03-6566-4EEE-B8BE-5CA316864D14}"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1443" name="Text Box 2"/>
          <p:cNvSpPr txBox="1">
            <a:spLocks noChangeArrowheads="1"/>
          </p:cNvSpPr>
          <p:nvPr/>
        </p:nvSpPr>
        <p:spPr bwMode="auto">
          <a:xfrm>
            <a:off x="1258888" y="6429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小 结</a:t>
            </a:r>
          </a:p>
        </p:txBody>
      </p:sp>
      <p:pic>
        <p:nvPicPr>
          <p:cNvPr id="6144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45" name="Picture 6" descr="QQ截图2015110421494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180" y="1855867"/>
            <a:ext cx="7272808" cy="429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F24C1F3-9C12-450B-9AFE-82884DB7B02F}"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62467"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62468"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B4184E8B-F67F-45CA-BEBA-ADEF687D25D7}" type="slidenum">
              <a:rPr lang="en-US" altLang="zh-CN" sz="1400" b="1">
                <a:latin typeface="Times New Roman" pitchFamily="18" charset="0"/>
                <a:ea typeface="宋体" pitchFamily="2" charset="-122"/>
              </a:rPr>
              <a:pPr algn="r" eaLnBrk="1" hangingPunct="1"/>
              <a:t>47</a:t>
            </a:fld>
            <a:endParaRPr lang="en-US" altLang="zh-CN" sz="1400" b="1">
              <a:latin typeface="Times New Roman" pitchFamily="18" charset="0"/>
              <a:ea typeface="宋体" pitchFamily="2" charset="-122"/>
            </a:endParaRPr>
          </a:p>
        </p:txBody>
      </p:sp>
      <p:sp>
        <p:nvSpPr>
          <p:cNvPr id="62469"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函数的概念</a:t>
            </a:r>
          </a:p>
        </p:txBody>
      </p:sp>
      <p:sp>
        <p:nvSpPr>
          <p:cNvPr id="62470" name="Rectangle 3"/>
          <p:cNvSpPr>
            <a:spLocks noGrp="1" noChangeArrowheads="1"/>
          </p:cNvSpPr>
          <p:nvPr>
            <p:ph type="body" idx="4294967295"/>
          </p:nvPr>
        </p:nvSpPr>
        <p:spPr>
          <a:xfrm>
            <a:off x="2555875" y="2276475"/>
            <a:ext cx="4537075" cy="3168650"/>
          </a:xfrm>
          <a:noFill/>
        </p:spPr>
        <p:txBody>
          <a:bodyPr lIns="92075" tIns="46038" rIns="92075" bIns="46038"/>
          <a:lstStyle/>
          <a:p>
            <a:pPr eaLnBrk="1" hangingPunct="1">
              <a:lnSpc>
                <a:spcPct val="155000"/>
              </a:lnSpc>
              <a:buFont typeface="Wingdings" pitchFamily="2" charset="2"/>
              <a:buChar char="4"/>
            </a:pPr>
            <a:r>
              <a:rPr lang="en-US" altLang="zh-CN" sz="3600" b="1" dirty="0">
                <a:effectLst/>
                <a:latin typeface="黑体" pitchFamily="49" charset="-122"/>
                <a:ea typeface="黑体" pitchFamily="49" charset="-122"/>
              </a:rPr>
              <a:t> </a:t>
            </a:r>
            <a:r>
              <a:rPr lang="zh-CN" altLang="en-US" sz="3600" b="1" dirty="0">
                <a:effectLst/>
                <a:latin typeface="黑体" pitchFamily="49" charset="-122"/>
                <a:ea typeface="黑体" pitchFamily="49" charset="-122"/>
              </a:rPr>
              <a:t>函数的集合定义</a:t>
            </a:r>
          </a:p>
          <a:p>
            <a:pPr eaLnBrk="1" hangingPunct="1">
              <a:lnSpc>
                <a:spcPct val="155000"/>
              </a:lnSpc>
              <a:buFont typeface="Wingdings" pitchFamily="2" charset="2"/>
              <a:buChar char="4"/>
            </a:pPr>
            <a:r>
              <a:rPr lang="zh-CN" altLang="en-US" sz="3600" b="1" dirty="0">
                <a:effectLst/>
                <a:latin typeface="黑体" pitchFamily="49" charset="-122"/>
                <a:ea typeface="黑体" pitchFamily="49" charset="-122"/>
              </a:rPr>
              <a:t> 函数的基本类型</a:t>
            </a:r>
          </a:p>
          <a:p>
            <a:pPr eaLnBrk="1" hangingPunct="1">
              <a:lnSpc>
                <a:spcPct val="155000"/>
              </a:lnSpc>
              <a:buFont typeface="Wingdings" pitchFamily="2" charset="2"/>
              <a:buChar char="J"/>
            </a:pPr>
            <a:r>
              <a:rPr lang="zh-CN" altLang="en-US" sz="3600" b="1" dirty="0">
                <a:solidFill>
                  <a:srgbClr val="0000FF"/>
                </a:solidFill>
                <a:effectLst/>
                <a:latin typeface="黑体" pitchFamily="49" charset="-122"/>
                <a:ea typeface="黑体" pitchFamily="49" charset="-122"/>
              </a:rPr>
              <a:t> 常用特殊函数</a:t>
            </a:r>
          </a:p>
        </p:txBody>
      </p:sp>
      <p:pic>
        <p:nvPicPr>
          <p:cNvPr id="62471"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50A3C37-59CA-45A4-AB00-A09C659140D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3491"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常用函数</a:t>
            </a:r>
          </a:p>
        </p:txBody>
      </p:sp>
      <p:pic>
        <p:nvPicPr>
          <p:cNvPr id="634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3" name="文本框 1"/>
          <p:cNvSpPr txBox="1">
            <a:spLocks noChangeArrowheads="1"/>
          </p:cNvSpPr>
          <p:nvPr/>
        </p:nvSpPr>
        <p:spPr bwMode="auto">
          <a:xfrm>
            <a:off x="1042987" y="2276872"/>
            <a:ext cx="7058025" cy="3670236"/>
          </a:xfrm>
          <a:prstGeom prst="rect">
            <a:avLst/>
          </a:prstGeom>
          <a:solidFill>
            <a:schemeClr val="accent6">
              <a:lumMod val="75000"/>
            </a:schemeClr>
          </a:solidFill>
          <a:ln>
            <a:noFill/>
          </a:ln>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nSpc>
                <a:spcPct val="150000"/>
              </a:lnSpc>
            </a:pPr>
            <a:r>
              <a:rPr kumimoji="0" lang="zh-CN" altLang="en-US" sz="3200" dirty="0">
                <a:solidFill>
                  <a:schemeClr val="bg1"/>
                </a:solidFill>
                <a:latin typeface="黑体" pitchFamily="49" charset="-122"/>
                <a:ea typeface="黑体" pitchFamily="49" charset="-122"/>
              </a:rPr>
              <a:t>   在计算机领域需要使用一些常用函数，例如：</a:t>
            </a:r>
            <a:endParaRPr kumimoji="0" lang="en-US" altLang="zh-CN" sz="3200" dirty="0">
              <a:solidFill>
                <a:schemeClr val="bg1"/>
              </a:solidFill>
              <a:latin typeface="黑体" pitchFamily="49" charset="-122"/>
              <a:ea typeface="黑体" pitchFamily="49" charset="-122"/>
            </a:endParaRPr>
          </a:p>
          <a:p>
            <a:pPr>
              <a:lnSpc>
                <a:spcPct val="150000"/>
              </a:lnSpc>
            </a:pPr>
            <a:r>
              <a:rPr kumimoji="0" lang="zh-CN" altLang="en-US" sz="3200" dirty="0">
                <a:solidFill>
                  <a:schemeClr val="bg1"/>
                </a:solidFill>
                <a:latin typeface="黑体" pitchFamily="49" charset="-122"/>
                <a:ea typeface="黑体" pitchFamily="49" charset="-122"/>
              </a:rPr>
              <a:t>        </a:t>
            </a:r>
            <a:r>
              <a:rPr kumimoji="0" lang="zh-CN" altLang="en-US" sz="3200" dirty="0">
                <a:solidFill>
                  <a:srgbClr val="FFFF00"/>
                </a:solidFill>
                <a:latin typeface="黑体" pitchFamily="49" charset="-122"/>
                <a:ea typeface="黑体" pitchFamily="49" charset="-122"/>
              </a:rPr>
              <a:t>常值函数、恒等函数、</a:t>
            </a:r>
            <a:endParaRPr kumimoji="0" lang="en-US" altLang="zh-CN" sz="3200" dirty="0">
              <a:solidFill>
                <a:srgbClr val="FFFF00"/>
              </a:solidFill>
              <a:latin typeface="黑体" pitchFamily="49" charset="-122"/>
              <a:ea typeface="黑体" pitchFamily="49" charset="-122"/>
            </a:endParaRPr>
          </a:p>
          <a:p>
            <a:pPr>
              <a:lnSpc>
                <a:spcPct val="150000"/>
              </a:lnSpc>
            </a:pPr>
            <a:r>
              <a:rPr kumimoji="0" lang="en-US" altLang="zh-CN" sz="3200" dirty="0">
                <a:solidFill>
                  <a:srgbClr val="FFFF00"/>
                </a:solidFill>
                <a:latin typeface="黑体" pitchFamily="49" charset="-122"/>
                <a:ea typeface="黑体" pitchFamily="49" charset="-122"/>
              </a:rPr>
              <a:t>        </a:t>
            </a:r>
            <a:r>
              <a:rPr kumimoji="0" lang="zh-CN" altLang="en-US" sz="3200" dirty="0">
                <a:solidFill>
                  <a:srgbClr val="FFFF00"/>
                </a:solidFill>
                <a:latin typeface="黑体" pitchFamily="49" charset="-122"/>
                <a:ea typeface="黑体" pitchFamily="49" charset="-122"/>
              </a:rPr>
              <a:t>取整函数、布尔函数、</a:t>
            </a:r>
            <a:endParaRPr kumimoji="0" lang="en-US" altLang="zh-CN" sz="3200" dirty="0">
              <a:solidFill>
                <a:srgbClr val="FFFF00"/>
              </a:solidFill>
              <a:latin typeface="黑体" pitchFamily="49" charset="-122"/>
              <a:ea typeface="黑体" pitchFamily="49" charset="-122"/>
            </a:endParaRPr>
          </a:p>
          <a:p>
            <a:pPr>
              <a:lnSpc>
                <a:spcPct val="150000"/>
              </a:lnSpc>
            </a:pPr>
            <a:r>
              <a:rPr kumimoji="0" lang="en-US" altLang="zh-CN" sz="3200" dirty="0">
                <a:solidFill>
                  <a:srgbClr val="FFFF00"/>
                </a:solidFill>
                <a:latin typeface="黑体" pitchFamily="49" charset="-122"/>
                <a:ea typeface="黑体" pitchFamily="49" charset="-122"/>
              </a:rPr>
              <a:t>        </a:t>
            </a:r>
            <a:r>
              <a:rPr kumimoji="0" lang="zh-CN" altLang="en-US" sz="3200" dirty="0">
                <a:solidFill>
                  <a:srgbClr val="FFFF00"/>
                </a:solidFill>
                <a:latin typeface="黑体" pitchFamily="49" charset="-122"/>
                <a:ea typeface="黑体" pitchFamily="49" charset="-122"/>
              </a:rPr>
              <a:t>自然映射</a:t>
            </a:r>
            <a:r>
              <a:rPr kumimoji="0" lang="zh-CN" altLang="en-US" sz="3200" dirty="0">
                <a:solidFill>
                  <a:schemeClr val="bg1"/>
                </a:solidFill>
                <a:latin typeface="黑体" pitchFamily="49" charset="-122"/>
                <a:ea typeface="黑体" pitchFamily="49" charset="-122"/>
              </a:rPr>
              <a:t>、等等</a:t>
            </a:r>
          </a:p>
        </p:txBody>
      </p:sp>
    </p:spTree>
  </p:cSld>
  <p:clrMapOvr>
    <a:masterClrMapping/>
  </p:clrMapOvr>
  <p:transition spd="med">
    <p:wipe dir="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50A3C37-59CA-45A4-AB00-A09C659140D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3491"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常用函数</a:t>
            </a:r>
          </a:p>
        </p:txBody>
      </p:sp>
      <p:pic>
        <p:nvPicPr>
          <p:cNvPr id="634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1C86267-DBD5-43AE-BDEE-6DE4888DAA2C}"/>
                  </a:ext>
                </a:extLst>
              </p:cNvPr>
              <p:cNvSpPr/>
              <p:nvPr/>
            </p:nvSpPr>
            <p:spPr>
              <a:xfrm>
                <a:off x="564531" y="2171952"/>
                <a:ext cx="7992888" cy="3900235"/>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zh-CN" altLang="zh-CN" sz="2400" b="1" kern="100">
                        <a:solidFill>
                          <a:schemeClr val="bg1"/>
                        </a:solidFill>
                        <a:latin typeface="Cambria Math" panose="02040503050406030204" pitchFamily="18" charset="0"/>
                        <a:ea typeface="宋体" panose="02010600030101010101" pitchFamily="2" charset="-122"/>
                      </a:rPr>
                      <m:t>和</m:t>
                    </m:r>
                    <m:r>
                      <a:rPr lang="en-US" altLang="zh-CN" sz="2400" b="1" i="1" kern="100">
                        <a:solidFill>
                          <a:schemeClr val="bg1"/>
                        </a:solidFill>
                        <a:latin typeface="Cambria Math" panose="02040503050406030204" pitchFamily="18" charset="0"/>
                        <a:ea typeface="宋体" panose="02010600030101010101" pitchFamily="2" charset="-122"/>
                      </a:rPr>
                      <m:t>𝑩</m:t>
                    </m:r>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是任意给定的两个非空集合</m:t>
                    </m:r>
                    <m:r>
                      <a:rPr lang="zh-CN" altLang="zh-CN" sz="2400" b="1" kern="100">
                        <a:solidFill>
                          <a:schemeClr val="bg1"/>
                        </a:solidFill>
                        <a:latin typeface="Cambria Math" panose="02040503050406030204" pitchFamily="18" charset="0"/>
                        <a:ea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，若有</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a:t>
                </a:r>
                <a14:m>
                  <m:oMath xmlns:m="http://schemas.openxmlformats.org/officeDocument/2006/math">
                    <m:r>
                      <a:rPr lang="en-US" altLang="zh-CN" sz="2400" b="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都有</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𝒄</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常函数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上的</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恒等函数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就是</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的恒等关系</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𝑰</m:t>
                        </m:r>
                      </m:e>
                      <m:sub>
                        <m:r>
                          <a:rPr lang="en-US" altLang="zh-CN" sz="2400" b="1" i="1" kern="100">
                            <a:solidFill>
                              <a:schemeClr val="bg1"/>
                            </a:solidFill>
                            <a:latin typeface="Cambria Math" panose="02040503050406030204" pitchFamily="18" charset="0"/>
                            <a:ea typeface="宋体" panose="02010600030101010101" pitchFamily="2" charset="-122"/>
                          </a:rPr>
                          <m:t>𝑨</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对</a:t>
                </a:r>
                <a14:m>
                  <m:oMath xmlns:m="http://schemas.openxmlformats.org/officeDocument/2006/math">
                    <m:r>
                      <a:rPr lang="en-US"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，有</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𝑰</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r>
                      <a:rPr lang="en-US" altLang="zh-CN" sz="2400" b="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𝒙</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）对实数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𝒙</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取</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不小于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𝒙</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的最小整数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上取整函数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，记为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91C86267-DBD5-43AE-BDEE-6DE4888DAA2C}"/>
                  </a:ext>
                </a:extLst>
              </p:cNvPr>
              <p:cNvSpPr>
                <a:spLocks noRot="1" noChangeAspect="1" noMove="1" noResize="1" noEditPoints="1" noAdjustHandles="1" noChangeArrowheads="1" noChangeShapeType="1" noTextEdit="1"/>
              </p:cNvSpPr>
              <p:nvPr/>
            </p:nvSpPr>
            <p:spPr>
              <a:xfrm>
                <a:off x="564531" y="2171952"/>
                <a:ext cx="7992888" cy="3900235"/>
              </a:xfrm>
              <a:prstGeom prst="rect">
                <a:avLst/>
              </a:prstGeom>
              <a:blipFill>
                <a:blip r:embed="rId3"/>
                <a:stretch>
                  <a:fillRect l="-1220" r="-1144" b="-21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2515487"/>
      </p:ext>
    </p:extLst>
  </p:cSld>
  <p:clrMapOvr>
    <a:masterClrMapping/>
  </p:clrMapOvr>
  <p:transition spd="med">
    <p:wipe dir="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50A3C37-59CA-45A4-AB00-A09C659140D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3491"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常用函数</a:t>
            </a:r>
          </a:p>
        </p:txBody>
      </p:sp>
      <p:pic>
        <p:nvPicPr>
          <p:cNvPr id="634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58F60C6-FB43-4B7E-A7B3-39518E322A73}"/>
                  </a:ext>
                </a:extLst>
              </p:cNvPr>
              <p:cNvSpPr/>
              <p:nvPr/>
            </p:nvSpPr>
            <p:spPr>
              <a:xfrm>
                <a:off x="449542" y="1823390"/>
                <a:ext cx="8244916" cy="4454233"/>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定义（续）</a:t>
                </a: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p>
              <a:p>
                <a:pPr indent="266700" algn="just">
                  <a:lnSpc>
                    <a:spcPct val="150000"/>
                  </a:lnSpc>
                  <a:spcAft>
                    <a:spcPts val="0"/>
                  </a:spcAft>
                </a:pP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）对实数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𝒙</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取</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不大于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𝒙</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的最大整数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下取整函数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，记为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5</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集合</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r>
                      <a:rPr lang="en-US"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𝟎</m:t>
                    </m:r>
                    <m:r>
                      <a:rPr lang="en-US"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上的函数，则称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布尔函数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6</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𝑹</m:t>
                    </m:r>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是</m:t>
                    </m:r>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上</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等价关系</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𝑹</m:t>
                    </m:r>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是</m:t>
                    </m:r>
                    <m:r>
                      <m:rPr>
                        <m:nor/>
                      </m:rPr>
                      <a:rPr lang="zh-CN" altLang="en-US" sz="2400" b="1" kern="100" dirty="0" smtClean="0">
                        <a:solidFill>
                          <a:srgbClr val="FFFF00"/>
                        </a:solidFill>
                        <a:latin typeface="Times New Roman" panose="02020603050405020304" pitchFamily="18" charset="0"/>
                        <a:ea typeface="宋体" panose="02010600030101010101" pitchFamily="2" charset="-122"/>
                        <a:cs typeface="宋体" panose="02010600030101010101" pitchFamily="2" charset="-122"/>
                      </a:rPr>
                      <m:t>商集</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令：</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ctr">
                  <a:lnSpc>
                    <a:spcPct val="150000"/>
                  </a:lnSpc>
                  <a:spcAft>
                    <a:spcPts val="0"/>
                  </a:spcAft>
                </a:pP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𝑹</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e>
                      <m:sub>
                        <m:r>
                          <a:rPr lang="en-US" altLang="zh-CN" sz="2400" b="1" i="1" kern="100">
                            <a:solidFill>
                              <a:schemeClr val="bg1"/>
                            </a:solidFill>
                            <a:latin typeface="Cambria Math" panose="02040503050406030204" pitchFamily="18" charset="0"/>
                            <a:ea typeface="宋体" panose="02010600030101010101" pitchFamily="2" charset="-122"/>
                          </a:rPr>
                          <m:t>𝑹</m:t>
                        </m:r>
                      </m:sub>
                    </m:sSub>
                  </m:oMath>
                </a14:m>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𝑹</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的自然映射</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558F60C6-FB43-4B7E-A7B3-39518E322A73}"/>
                  </a:ext>
                </a:extLst>
              </p:cNvPr>
              <p:cNvSpPr>
                <a:spLocks noRot="1" noChangeAspect="1" noMove="1" noResize="1" noEditPoints="1" noAdjustHandles="1" noChangeArrowheads="1" noChangeShapeType="1" noTextEdit="1"/>
              </p:cNvSpPr>
              <p:nvPr/>
            </p:nvSpPr>
            <p:spPr>
              <a:xfrm>
                <a:off x="449542" y="1823390"/>
                <a:ext cx="8244916" cy="4454233"/>
              </a:xfrm>
              <a:prstGeom prst="rect">
                <a:avLst/>
              </a:prstGeom>
              <a:blipFill>
                <a:blip r:embed="rId3"/>
                <a:stretch>
                  <a:fillRect l="-1183" r="-1109" b="-1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99749740"/>
      </p:ext>
    </p:extLst>
  </p:cSld>
  <p:clrMapOvr>
    <a:masterClrMapping/>
  </p:clrMapOvr>
  <p:transition spd="med">
    <p:wipe dir="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50A3C37-59CA-45A4-AB00-A09C659140D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3491"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常用函数</a:t>
            </a:r>
          </a:p>
        </p:txBody>
      </p:sp>
      <p:pic>
        <p:nvPicPr>
          <p:cNvPr id="634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ADBCBE2-0228-4904-8AAE-AE29FCDB2517}"/>
                  </a:ext>
                </a:extLst>
              </p:cNvPr>
              <p:cNvSpPr/>
              <p:nvPr/>
            </p:nvSpPr>
            <p:spPr>
              <a:xfrm>
                <a:off x="971600" y="2069743"/>
                <a:ext cx="7560840" cy="3888500"/>
              </a:xfrm>
              <a:prstGeom prst="rect">
                <a:avLst/>
              </a:prstGeom>
              <a:solidFill>
                <a:schemeClr val="accent5">
                  <a:lumMod val="60000"/>
                  <a:lumOff val="40000"/>
                </a:schemeClr>
              </a:solidFill>
            </p:spPr>
            <p:txBody>
              <a:bodyPr wrap="square">
                <a:spAutoFit/>
              </a:bodyPr>
              <a:lstStyle/>
              <a:p>
                <a:pPr indent="266700" algn="just">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【例题】设</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𝑨</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𝑹</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（实数集），试指出下列函数的类型。</a:t>
                </a:r>
                <a:endParaRPr lang="zh-CN" altLang="zh-CN" sz="2800" b="1" kern="100" dirty="0">
                  <a:solidFill>
                    <a:schemeClr val="tx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𝒇</m:t>
                        </m:r>
                      </m:e>
                      <m:sub>
                        <m:r>
                          <a:rPr lang="en-US" altLang="zh-CN" sz="2800" b="1" i="1" kern="100">
                            <a:solidFill>
                              <a:schemeClr val="tx1"/>
                            </a:solidFill>
                            <a:latin typeface="Cambria Math" panose="02040503050406030204" pitchFamily="18" charset="0"/>
                            <a:ea typeface="宋体" panose="02010600030101010101" pitchFamily="2" charset="-122"/>
                          </a:rPr>
                          <m:t>𝟏</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𝒙</m:t>
                        </m:r>
                      </m:e>
                    </m:d>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𝑹</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𝒇</m:t>
                        </m:r>
                      </m:e>
                      <m:sub>
                        <m:r>
                          <a:rPr lang="en-US" altLang="zh-CN" sz="2800" b="1" i="1" kern="100">
                            <a:solidFill>
                              <a:schemeClr val="tx1"/>
                            </a:solidFill>
                            <a:latin typeface="Cambria Math" panose="02040503050406030204" pitchFamily="18" charset="0"/>
                            <a:ea typeface="宋体" panose="02010600030101010101" pitchFamily="2" charset="-122"/>
                          </a:rPr>
                          <m:t>𝟐</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𝒂</m:t>
                        </m:r>
                      </m:e>
                    </m:d>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𝑹</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𝑹</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tx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𝒇</m:t>
                        </m:r>
                      </m:e>
                      <m:sub>
                        <m:r>
                          <a:rPr lang="en-US" altLang="zh-CN" sz="2800" b="1" i="1" kern="100">
                            <a:solidFill>
                              <a:schemeClr val="tx1"/>
                            </a:solidFill>
                            <a:latin typeface="Cambria Math" panose="02040503050406030204" pitchFamily="18" charset="0"/>
                            <a:ea typeface="宋体" panose="02010600030101010101" pitchFamily="2" charset="-122"/>
                          </a:rPr>
                          <m:t>𝟑</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𝒙</m:t>
                            </m:r>
                          </m:e>
                        </m:d>
                      </m:e>
                    </m:d>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𝑹</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𝒇</m:t>
                        </m:r>
                      </m:e>
                      <m:sub>
                        <m:r>
                          <a:rPr lang="en-US" altLang="zh-CN" sz="2800" b="1" i="1" kern="100">
                            <a:solidFill>
                              <a:schemeClr val="tx1"/>
                            </a:solidFill>
                            <a:latin typeface="Cambria Math" panose="02040503050406030204" pitchFamily="18" charset="0"/>
                            <a:ea typeface="宋体" panose="02010600030101010101" pitchFamily="2" charset="-122"/>
                          </a:rPr>
                          <m:t>𝟒</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𝒙</m:t>
                            </m:r>
                          </m:e>
                        </m:d>
                      </m:e>
                    </m:d>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𝒙</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𝑹</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3ADBCBE2-0228-4904-8AAE-AE29FCDB2517}"/>
                  </a:ext>
                </a:extLst>
              </p:cNvPr>
              <p:cNvSpPr>
                <a:spLocks noRot="1" noChangeAspect="1" noMove="1" noResize="1" noEditPoints="1" noAdjustHandles="1" noChangeArrowheads="1" noChangeShapeType="1" noTextEdit="1"/>
              </p:cNvSpPr>
              <p:nvPr/>
            </p:nvSpPr>
            <p:spPr>
              <a:xfrm>
                <a:off x="971600" y="2069743"/>
                <a:ext cx="7560840" cy="3888500"/>
              </a:xfrm>
              <a:prstGeom prst="rect">
                <a:avLst/>
              </a:prstGeom>
              <a:blipFill>
                <a:blip r:embed="rId3"/>
                <a:stretch>
                  <a:fillRect l="-1612" r="-1612" b="-376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96758883"/>
      </p:ext>
    </p:extLst>
  </p:cSld>
  <p:clrMapOvr>
    <a:masterClrMapping/>
  </p:clrMapOvr>
  <p:transition spd="med">
    <p:wipe dir="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50A3C37-59CA-45A4-AB00-A09C659140D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3491"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常用函数</a:t>
            </a:r>
          </a:p>
        </p:txBody>
      </p:sp>
      <p:pic>
        <p:nvPicPr>
          <p:cNvPr id="6349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5DA07CAE-158A-47BD-B94C-564F822E6D2F}"/>
                  </a:ext>
                </a:extLst>
              </p:cNvPr>
              <p:cNvSpPr/>
              <p:nvPr/>
            </p:nvSpPr>
            <p:spPr>
              <a:xfrm>
                <a:off x="539552" y="1823390"/>
                <a:ext cx="7992888" cy="4454233"/>
              </a:xfrm>
              <a:prstGeom prst="rect">
                <a:avLst/>
              </a:prstGeom>
              <a:solidFill>
                <a:schemeClr val="accent5">
                  <a:lumMod val="40000"/>
                  <a:lumOff val="60000"/>
                </a:schemeClr>
              </a:solidFill>
            </p:spPr>
            <p:txBody>
              <a:bodyPr wrap="square">
                <a:spAutoFit/>
              </a:bodyPr>
              <a:lstStyle/>
              <a:p>
                <a:pPr indent="266700" algn="just">
                  <a:lnSpc>
                    <a:spcPct val="150000"/>
                  </a:lnSpc>
                  <a:spcAft>
                    <a:spcPts val="0"/>
                  </a:spcAft>
                </a:pPr>
                <a:r>
                  <a:rPr lang="en-US" altLang="zh-CN" sz="2400" b="1" kern="10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【分析】在（</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）中，对</a:t>
                </a:r>
                <a14:m>
                  <m:oMath xmlns:m="http://schemas.openxmlformats.org/officeDocument/2006/math">
                    <m:r>
                      <a:rPr lang="en-US" altLang="zh-CN" sz="2400" b="1" kern="10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𝒙</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都有</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𝟏</m:t>
                        </m:r>
                      </m:sub>
                    </m:sSub>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𝒙</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𝒙</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𝟏</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是恒等函数；</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在（</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）中，存在</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𝒙</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𝑹</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，使得对</a:t>
                </a:r>
                <a14:m>
                  <m:oMath xmlns:m="http://schemas.openxmlformats.org/officeDocument/2006/math">
                    <m:r>
                      <a:rPr lang="en-US" altLang="zh-CN" sz="2400" b="1" kern="10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𝒙</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有</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𝟐</m:t>
                        </m:r>
                      </m:sub>
                    </m:sSub>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𝒙</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𝒂</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𝟐</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是常值函数；</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在（</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）和（</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）中，</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由</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上取整和下取整函数定义容易判断它们分别是上取整函数和下取整函数。</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【解】</a:t>
                </a:r>
                <a14:m>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𝟏</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是恒等函数；</a:t>
                </a:r>
                <a14:m>
                  <m:oMath xmlns:m="http://schemas.openxmlformats.org/officeDocument/2006/math">
                    <m:r>
                      <a:rPr lang="zh-CN" altLang="zh-CN" sz="2400" b="1" i="1" kern="100">
                        <a:solidFill>
                          <a:schemeClr val="tx1"/>
                        </a:solidFill>
                        <a:latin typeface="Cambria Math" panose="02040503050406030204" pitchFamily="18" charset="0"/>
                        <a:ea typeface="Cambria Math" panose="020405030504060302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𝟐</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是常值函数；</a:t>
                </a:r>
                <a14:m>
                  <m:oMath xmlns:m="http://schemas.openxmlformats.org/officeDocument/2006/math">
                    <m:r>
                      <a:rPr lang="zh-CN" altLang="zh-CN" sz="2400" b="1" i="1" kern="100">
                        <a:solidFill>
                          <a:schemeClr val="tx1"/>
                        </a:solidFill>
                        <a:latin typeface="Cambria Math" panose="02040503050406030204" pitchFamily="18" charset="0"/>
                        <a:ea typeface="Cambria Math" panose="020405030504060302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𝟑</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是上取整函数；</a:t>
                </a:r>
                <a14:m>
                  <m:oMath xmlns:m="http://schemas.openxmlformats.org/officeDocument/2006/math">
                    <m:r>
                      <a:rPr lang="zh-CN" altLang="zh-CN" sz="2400" b="1" i="1" kern="100">
                        <a:solidFill>
                          <a:schemeClr val="tx1"/>
                        </a:solidFill>
                        <a:latin typeface="Cambria Math" panose="02040503050406030204" pitchFamily="18" charset="0"/>
                        <a:ea typeface="Cambria Math" panose="02040503050406030204" pitchFamily="18" charset="0"/>
                      </a:rPr>
                      <m:t> </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𝒇</m:t>
                        </m:r>
                      </m:e>
                      <m:sub>
                        <m:r>
                          <a:rPr lang="en-US" altLang="zh-CN" sz="2400" b="1" i="1" kern="100">
                            <a:solidFill>
                              <a:schemeClr val="tx1"/>
                            </a:solidFill>
                            <a:latin typeface="Cambria Math" panose="02040503050406030204" pitchFamily="18" charset="0"/>
                            <a:ea typeface="宋体" panose="02010600030101010101" pitchFamily="2" charset="-122"/>
                          </a:rPr>
                          <m:t>𝟒</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是下取整函数。</a:t>
                </a:r>
                <a:endParaRPr lang="zh-CN" altLang="zh-CN" sz="24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5DA07CAE-158A-47BD-B94C-564F822E6D2F}"/>
                  </a:ext>
                </a:extLst>
              </p:cNvPr>
              <p:cNvSpPr>
                <a:spLocks noRot="1" noChangeAspect="1" noMove="1" noResize="1" noEditPoints="1" noAdjustHandles="1" noChangeArrowheads="1" noChangeShapeType="1" noTextEdit="1"/>
              </p:cNvSpPr>
              <p:nvPr/>
            </p:nvSpPr>
            <p:spPr>
              <a:xfrm>
                <a:off x="539552" y="1823390"/>
                <a:ext cx="7992888" cy="4454233"/>
              </a:xfrm>
              <a:prstGeom prst="rect">
                <a:avLst/>
              </a:prstGeom>
              <a:blipFill>
                <a:blip r:embed="rId3"/>
                <a:stretch>
                  <a:fillRect l="-1220" r="-1144" b="-17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15803873"/>
      </p:ext>
    </p:extLst>
  </p:cSld>
  <p:clrMapOvr>
    <a:masterClrMapping/>
  </p:clrMapOvr>
  <p:transition spd="med">
    <p:wipe dir="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D5AD93F-C871-4D8C-AC0B-65C9AD3A754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4755" name="Text Box 2"/>
          <p:cNvSpPr txBox="1">
            <a:spLocks noChangeArrowheads="1"/>
          </p:cNvSpPr>
          <p:nvPr/>
        </p:nvSpPr>
        <p:spPr bwMode="auto">
          <a:xfrm>
            <a:off x="1403648" y="749300"/>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7475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B3D096A3-B38F-4372-9DFA-E994E7007DF6}"/>
                  </a:ext>
                </a:extLst>
              </p:cNvPr>
              <p:cNvSpPr/>
              <p:nvPr/>
            </p:nvSpPr>
            <p:spPr>
              <a:xfrm>
                <a:off x="323528" y="1764834"/>
                <a:ext cx="8496944" cy="4534831"/>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800" b="1" kern="100" dirty="0">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【例题】存在计算机磁盘上的数据或网络上传输的数据通常表示为字节串</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每个字节由</a:t>
                </a:r>
                <a:r>
                  <a:rPr lang="en-US"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8</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个数字</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组成</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要</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表示</a:t>
                </a:r>
                <a:r>
                  <a:rPr lang="en-US"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100</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字位的数据</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需要多少字节</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【分析】 根据题意</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只需求</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100</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除以</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8</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的上取整函数即可。</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7970"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【解】因为</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𝐬</m:t>
                    </m:r>
                    <m:r>
                      <a:rPr lang="en-US" altLang="zh-CN" sz="2800" b="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f>
                      <m:fPr>
                        <m:type m:val="lin"/>
                        <m:ctrlPr>
                          <a:rPr lang="zh-CN" altLang="zh-CN" sz="28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fPr>
                      <m:num>
                        <m:r>
                          <a:rPr lang="en-US" altLang="zh-CN" sz="28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𝟏𝟎𝟎</m:t>
                        </m:r>
                      </m:num>
                      <m:den>
                        <m:r>
                          <a:rPr lang="en-US" altLang="zh-CN" sz="28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𝟖</m:t>
                        </m:r>
                      </m:den>
                    </m:f>
                    <m:r>
                      <a:rPr lang="en-US" altLang="zh-CN" sz="2800" b="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 ⌉=</m:t>
                    </m:r>
                    <m:r>
                      <a:rPr lang="en-US" altLang="zh-CN" sz="28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𝟏𝟑</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，所以表示</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100</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字位的数据需要</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13</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字节。</a:t>
                </a:r>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B3D096A3-B38F-4372-9DFA-E994E7007DF6}"/>
                  </a:ext>
                </a:extLst>
              </p:cNvPr>
              <p:cNvSpPr>
                <a:spLocks noRot="1" noChangeAspect="1" noMove="1" noResize="1" noEditPoints="1" noAdjustHandles="1" noChangeArrowheads="1" noChangeShapeType="1" noTextEdit="1"/>
              </p:cNvSpPr>
              <p:nvPr/>
            </p:nvSpPr>
            <p:spPr>
              <a:xfrm>
                <a:off x="323528" y="1764834"/>
                <a:ext cx="8496944" cy="4534831"/>
              </a:xfrm>
              <a:prstGeom prst="rect">
                <a:avLst/>
              </a:prstGeom>
              <a:blipFill>
                <a:blip r:embed="rId3"/>
                <a:stretch>
                  <a:fillRect l="-1435" r="-1506" b="-309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888889701"/>
      </p:ext>
    </p:extLst>
  </p:cSld>
  <p:clrMapOvr>
    <a:masterClrMapping/>
  </p:clrMapOvr>
  <p:transition spd="med">
    <p:wipe dir="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CEA3701C-0CD8-406F-A63F-01AA93E0B33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5779" name="Text Box 2"/>
          <p:cNvSpPr txBox="1">
            <a:spLocks noChangeArrowheads="1"/>
          </p:cNvSpPr>
          <p:nvPr/>
        </p:nvSpPr>
        <p:spPr bwMode="auto">
          <a:xfrm>
            <a:off x="1403350" y="7651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7578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8E3ECDF-C91E-441F-A35A-57606740B9FE}"/>
                  </a:ext>
                </a:extLst>
              </p:cNvPr>
              <p:cNvSpPr/>
              <p:nvPr/>
            </p:nvSpPr>
            <p:spPr>
              <a:xfrm>
                <a:off x="323528" y="1879659"/>
                <a:ext cx="8136904" cy="4247317"/>
              </a:xfrm>
              <a:prstGeom prst="rect">
                <a:avLst/>
              </a:prstGeom>
              <a:solidFill>
                <a:schemeClr val="accent6">
                  <a:lumMod val="75000"/>
                </a:schemeClr>
              </a:solidFill>
            </p:spPr>
            <p:txBody>
              <a:bodyPr wrap="square">
                <a:spAutoFit/>
              </a:bodyPr>
              <a:lstStyle/>
              <a:p>
                <a:pPr indent="26797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【例题】在异步传输模式下</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数据按</a:t>
                </a:r>
                <a:r>
                  <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53</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字节分组</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每组称为一个</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信元</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在数据传输速率为</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每秒</a:t>
                </a:r>
                <a:r>
                  <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500</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千字位</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的连接上一分钟能传输多少个</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ATM</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信元。</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797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【分析】 首先求出</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每</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分钟能传输的字位数</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然后求出这些字位数可以组成多少个信元</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，每</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分钟传输的信元数</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可用</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用下取整函数完成。</a:t>
                </a:r>
                <a:endParaRPr lang="zh-CN" altLang="zh-CN" sz="2400" b="1" kern="100" dirty="0">
                  <a:solidFill>
                    <a:schemeClr val="bg1"/>
                  </a:solidFill>
                  <a:latin typeface="Times New Roman" panose="02020603050405020304" pitchFamily="18" charset="0"/>
                  <a:ea typeface="宋体" panose="02010600030101010101" pitchFamily="2" charset="-122"/>
                </a:endParaRPr>
              </a:p>
              <a:p>
                <a:pPr>
                  <a:lnSpc>
                    <a:spcPts val="3600"/>
                  </a:lnSpc>
                </a:pPr>
                <a:r>
                  <a:rPr lang="en-US" altLang="zh-CN" sz="2400" b="1" kern="100" dirty="0">
                    <a:solidFill>
                      <a:schemeClr val="bg1"/>
                    </a:solidFill>
                    <a:ea typeface="宋体" panose="02010600030101010101" pitchFamily="2" charset="-122"/>
                    <a:cs typeface="宋体" panose="02010600030101010101" pitchFamily="2" charset="-122"/>
                  </a:rPr>
                  <a:t>   </a:t>
                </a:r>
                <a:r>
                  <a:rPr lang="zh-CN" altLang="zh-CN" sz="2400" b="1" kern="100" dirty="0">
                    <a:solidFill>
                      <a:schemeClr val="bg1"/>
                    </a:solidFill>
                    <a:ea typeface="宋体" panose="02010600030101010101" pitchFamily="2" charset="-122"/>
                    <a:cs typeface="宋体" panose="02010600030101010101" pitchFamily="2" charset="-122"/>
                  </a:rPr>
                  <a:t>【解】</a:t>
                </a:r>
                <a:r>
                  <a:rPr lang="zh-CN" altLang="en-US" sz="2400" b="1" kern="100" dirty="0">
                    <a:solidFill>
                      <a:schemeClr val="bg1"/>
                    </a:solidFill>
                    <a:ea typeface="宋体" panose="02010600030101010101" pitchFamily="2" charset="-122"/>
                    <a:cs typeface="宋体" panose="02010600030101010101" pitchFamily="2" charset="-122"/>
                  </a:rPr>
                  <a:t>每</a:t>
                </a:r>
                <a:r>
                  <a:rPr lang="zh-CN" altLang="zh-CN" sz="2400" b="1" kern="100" dirty="0">
                    <a:solidFill>
                      <a:schemeClr val="bg1"/>
                    </a:solidFill>
                    <a:ea typeface="宋体" panose="02010600030101010101" pitchFamily="2" charset="-122"/>
                    <a:cs typeface="宋体" panose="02010600030101010101" pitchFamily="2" charset="-122"/>
                  </a:rPr>
                  <a:t>分钟能传输的字节数为</a:t>
                </a:r>
                <a:r>
                  <a:rPr lang="zh-CN" altLang="en-US" sz="2400" b="1" kern="100" dirty="0">
                    <a:solidFill>
                      <a:schemeClr val="bg1"/>
                    </a:solidFill>
                    <a:ea typeface="宋体" panose="02010600030101010101" pitchFamily="2" charset="-122"/>
                    <a:cs typeface="宋体" panose="02010600030101010101" pitchFamily="2" charset="-122"/>
                  </a:rPr>
                  <a:t>：</a:t>
                </a:r>
                <a:endParaRPr lang="en-US" altLang="zh-CN" sz="2400" b="1" kern="100" dirty="0">
                  <a:solidFill>
                    <a:schemeClr val="bg1"/>
                  </a:solidFill>
                  <a:ea typeface="宋体" panose="02010600030101010101" pitchFamily="2" charset="-122"/>
                  <a:cs typeface="宋体" panose="02010600030101010101" pitchFamily="2" charset="-122"/>
                </a:endParaRPr>
              </a:p>
              <a:p>
                <a:pPr algn="ctr">
                  <a:lnSpc>
                    <a:spcPts val="3600"/>
                  </a:lnSpc>
                </a:pPr>
                <a14:m>
                  <m:oMathPara xmlns:m="http://schemas.openxmlformats.org/officeDocument/2006/math">
                    <m:oMathParaPr>
                      <m:jc m:val="centerGroup"/>
                    </m:oMathParaPr>
                    <m:oMath xmlns:m="http://schemas.openxmlformats.org/officeDocument/2006/math">
                      <m:f>
                        <m:fPr>
                          <m:type m:val="lin"/>
                          <m:ctrlPr>
                            <a:rPr lang="zh-CN" altLang="zh-CN" sz="2400" b="1" i="1">
                              <a:solidFill>
                                <a:schemeClr val="bg1"/>
                              </a:solidFill>
                              <a:effectLst/>
                              <a:latin typeface="Cambria Math" panose="02040503050406030204" pitchFamily="18" charset="0"/>
                              <a:ea typeface="Cambria Math" panose="02040503050406030204" pitchFamily="18" charset="0"/>
                              <a:cs typeface="宋体" panose="02010600030101010101" pitchFamily="2" charset="-122"/>
                            </a:rPr>
                          </m:ctrlPr>
                        </m:fPr>
                        <m:num>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𝟓𝟎𝟎</m:t>
                          </m:r>
                          <m:r>
                            <a:rPr lang="en-US" altLang="zh-CN" sz="2400" b="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𝟏𝟎𝟎𝟎</m:t>
                          </m:r>
                          <m:r>
                            <a:rPr lang="en-US" altLang="zh-CN" sz="2400" b="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𝟔𝟎</m:t>
                          </m:r>
                        </m:num>
                        <m:den>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𝟖</m:t>
                          </m:r>
                        </m:den>
                      </m:f>
                      <m:r>
                        <a:rPr lang="en-US" altLang="zh-CN" sz="2400" b="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𝟑𝟕𝟓𝟎𝟎𝟎𝟎</m:t>
                      </m:r>
                    </m:oMath>
                  </m:oMathPara>
                </a14:m>
                <a:endParaRPr lang="en-US" altLang="zh-CN" sz="2400" b="1" kern="100" dirty="0">
                  <a:solidFill>
                    <a:schemeClr val="bg1"/>
                  </a:solidFill>
                  <a:latin typeface="宋体" panose="02010600030101010101" pitchFamily="2" charset="-122"/>
                  <a:cs typeface="宋体" panose="02010600030101010101" pitchFamily="2" charset="-122"/>
                </a:endParaRPr>
              </a:p>
              <a:p>
                <a:pPr>
                  <a:lnSpc>
                    <a:spcPts val="3600"/>
                  </a:lnSpc>
                </a:pPr>
                <a:r>
                  <a:rPr lang="zh-CN" altLang="en-US" sz="2400" b="1" kern="100" dirty="0">
                    <a:solidFill>
                      <a:schemeClr val="bg1"/>
                    </a:solidFill>
                    <a:ea typeface="宋体" panose="02010600030101010101" pitchFamily="2" charset="-122"/>
                    <a:cs typeface="宋体" panose="02010600030101010101" pitchFamily="2" charset="-122"/>
                  </a:rPr>
                  <a:t>故每</a:t>
                </a:r>
                <a:r>
                  <a:rPr lang="zh-CN" altLang="zh-CN" sz="2400" b="1" kern="100" dirty="0">
                    <a:solidFill>
                      <a:schemeClr val="bg1"/>
                    </a:solidFill>
                    <a:ea typeface="宋体" panose="02010600030101010101" pitchFamily="2" charset="-122"/>
                    <a:cs typeface="宋体" panose="02010600030101010101" pitchFamily="2" charset="-122"/>
                  </a:rPr>
                  <a:t>分钟能传输的信元数为</a:t>
                </a:r>
                <a:r>
                  <a:rPr lang="en-US" altLang="zh-CN" sz="2400" b="1" kern="100" dirty="0">
                    <a:solidFill>
                      <a:srgbClr val="FFFF00"/>
                    </a:solidFill>
                    <a:latin typeface="Cambria Math" panose="02040503050406030204" pitchFamily="18" charset="0"/>
                    <a:ea typeface="宋体" panose="02010600030101010101" pitchFamily="2" charset="-122"/>
                    <a:cs typeface="Cambria Math" panose="02040503050406030204" pitchFamily="18" charset="0"/>
                  </a:rPr>
                  <a:t>⌊</a:t>
                </a:r>
                <a14:m>
                  <m:oMath xmlns:m="http://schemas.openxmlformats.org/officeDocument/2006/math">
                    <m:f>
                      <m:fPr>
                        <m:type m:val="lin"/>
                        <m:ctrlPr>
                          <a:rPr lang="zh-CN" altLang="zh-CN" sz="2400" b="1" i="1">
                            <a:solidFill>
                              <a:srgbClr val="FFFF00"/>
                            </a:solidFill>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𝟑𝟕𝟓𝟎𝟎𝟎𝟎</m:t>
                        </m:r>
                      </m:num>
                      <m:den>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𝟓𝟑</m:t>
                        </m:r>
                      </m:den>
                    </m:f>
                    <m:r>
                      <a:rPr lang="en-US" altLang="zh-CN" sz="2400" b="1" kern="100" smtClean="0">
                        <a:solidFill>
                          <a:srgbClr val="FFFF00"/>
                        </a:solidFill>
                        <a:latin typeface="Cambria Math" panose="02040503050406030204" pitchFamily="18" charset="0"/>
                        <a:ea typeface="宋体" panose="02010600030101010101" pitchFamily="2" charset="-122"/>
                        <a:cs typeface="Cambria Math" panose="02040503050406030204" pitchFamily="18" charset="0"/>
                      </a:rPr>
                      <m:t>⌋</m:t>
                    </m:r>
                    <m:r>
                      <a:rPr lang="en-US" altLang="zh-CN" sz="2400" b="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𝟕𝟎𝟕𝟓𝟒</m:t>
                    </m:r>
                  </m:oMath>
                </a14:m>
                <a:r>
                  <a:rPr lang="en-US" altLang="zh-CN" sz="2400" b="1" kern="100" dirty="0">
                    <a:solidFill>
                      <a:srgbClr val="FFFF00"/>
                    </a:solidFill>
                    <a:latin typeface="Cambria Math" panose="02040503050406030204" pitchFamily="18" charset="0"/>
                    <a:ea typeface="宋体" panose="02010600030101010101" pitchFamily="2" charset="-122"/>
                    <a:cs typeface="Cambria Math" panose="02040503050406030204" pitchFamily="18" charset="0"/>
                  </a:rPr>
                  <a:t>⌋</a:t>
                </a:r>
                <a:r>
                  <a:rPr lang="zh-CN" altLang="zh-CN" b="1" kern="100" dirty="0">
                    <a:solidFill>
                      <a:schemeClr val="bg1"/>
                    </a:solidFill>
                    <a:ea typeface="宋体" panose="02010600030101010101" pitchFamily="2" charset="-122"/>
                    <a:cs typeface="宋体" panose="02010600030101010101" pitchFamily="2" charset="-122"/>
                  </a:rPr>
                  <a:t>。</a:t>
                </a:r>
                <a:endParaRPr lang="zh-CN" altLang="en-US" b="1" dirty="0">
                  <a:solidFill>
                    <a:schemeClr val="bg1"/>
                  </a:solidFill>
                </a:endParaRPr>
              </a:p>
            </p:txBody>
          </p:sp>
        </mc:Choice>
        <mc:Fallback xmlns="">
          <p:sp>
            <p:nvSpPr>
              <p:cNvPr id="2" name="矩形 1">
                <a:extLst>
                  <a:ext uri="{FF2B5EF4-FFF2-40B4-BE49-F238E27FC236}">
                    <a16:creationId xmlns:a16="http://schemas.microsoft.com/office/drawing/2014/main" id="{68E3ECDF-C91E-441F-A35A-57606740B9FE}"/>
                  </a:ext>
                </a:extLst>
              </p:cNvPr>
              <p:cNvSpPr>
                <a:spLocks noRot="1" noChangeAspect="1" noMove="1" noResize="1" noEditPoints="1" noAdjustHandles="1" noChangeArrowheads="1" noChangeShapeType="1" noTextEdit="1"/>
              </p:cNvSpPr>
              <p:nvPr/>
            </p:nvSpPr>
            <p:spPr>
              <a:xfrm>
                <a:off x="323528" y="1879659"/>
                <a:ext cx="8136904" cy="4247317"/>
              </a:xfrm>
              <a:prstGeom prst="rect">
                <a:avLst/>
              </a:prstGeom>
              <a:blipFill>
                <a:blip r:embed="rId3"/>
                <a:stretch>
                  <a:fillRect l="-1124" t="-574" r="-1199" b="-373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148640543"/>
      </p:ext>
    </p:extLst>
  </p:cSld>
  <p:clrMapOvr>
    <a:masterClrMapping/>
  </p:clrMapOvr>
  <p:transition spd="med">
    <p:wipe dir="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08361135-6582-466C-86C9-3CEB13FE240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2707" name="Text Box 2"/>
          <p:cNvSpPr txBox="1">
            <a:spLocks noChangeArrowheads="1"/>
          </p:cNvSpPr>
          <p:nvPr/>
        </p:nvSpPr>
        <p:spPr bwMode="auto">
          <a:xfrm>
            <a:off x="1403350"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72708"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09" name="Picture 6" descr="QQ截图2015110509411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8313" y="1989138"/>
            <a:ext cx="8172450" cy="4105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55833166"/>
      </p:ext>
    </p:extLst>
  </p:cSld>
  <p:clrMapOvr>
    <a:masterClrMapping/>
  </p:clrMapOvr>
  <p:transition spd="med">
    <p:wipe dir="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18BCFF9C-3104-49DA-804F-BDB6A8F00C7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3731" name="Text Box 2"/>
          <p:cNvSpPr txBox="1">
            <a:spLocks noChangeArrowheads="1"/>
          </p:cNvSpPr>
          <p:nvPr/>
        </p:nvSpPr>
        <p:spPr bwMode="auto">
          <a:xfrm>
            <a:off x="1403350" y="858838"/>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73732"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3" name="Picture 6" descr="QQ截图2015110509441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1188" y="2155825"/>
            <a:ext cx="8066087" cy="3794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52904982"/>
      </p:ext>
    </p:extLst>
  </p:cSld>
  <p:clrMapOvr>
    <a:masterClrMapping/>
  </p:clrMapOvr>
  <p:transition spd="med">
    <p:wipe dir="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BD6AA684-FC38-44B3-851A-58537665438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69635"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69636"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637" name="Picture 6" descr="QQ截图2015110509270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0113" y="1882775"/>
            <a:ext cx="7670800" cy="428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1D972473-EBEC-4997-A337-C546C1B9259A}"/>
              </a:ext>
            </a:extLst>
          </p:cNvPr>
          <p:cNvPicPr>
            <a:picLocks noChangeAspect="1"/>
          </p:cNvPicPr>
          <p:nvPr/>
        </p:nvPicPr>
        <p:blipFill>
          <a:blip r:embed="rId4"/>
          <a:stretch>
            <a:fillRect/>
          </a:stretch>
        </p:blipFill>
        <p:spPr>
          <a:xfrm>
            <a:off x="5796136" y="5445224"/>
            <a:ext cx="1800200" cy="449571"/>
          </a:xfrm>
          <a:prstGeom prst="rect">
            <a:avLst/>
          </a:prstGeom>
        </p:spPr>
      </p:pic>
    </p:spTree>
  </p:cSld>
  <p:clrMapOvr>
    <a:masterClrMapping/>
  </p:clrMapOvr>
  <p:transition spd="med">
    <p:wipe dir="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9" name="Text Box 2"/>
          <p:cNvSpPr txBox="1">
            <a:spLocks noChangeArrowheads="1"/>
          </p:cNvSpPr>
          <p:nvPr/>
        </p:nvSpPr>
        <p:spPr bwMode="auto">
          <a:xfrm>
            <a:off x="1403350" y="714375"/>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70660"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7272095F-F569-4685-9C99-94EA9F1BDCCE}"/>
              </a:ext>
            </a:extLst>
          </p:cNvPr>
          <p:cNvPicPr>
            <a:picLocks noChangeAspect="1"/>
          </p:cNvPicPr>
          <p:nvPr/>
        </p:nvPicPr>
        <p:blipFill>
          <a:blip r:embed="rId3"/>
          <a:stretch>
            <a:fillRect/>
          </a:stretch>
        </p:blipFill>
        <p:spPr>
          <a:xfrm>
            <a:off x="683568" y="1889307"/>
            <a:ext cx="8064896" cy="4339221"/>
          </a:xfrm>
          <a:prstGeom prst="rect">
            <a:avLst/>
          </a:prstGeom>
        </p:spPr>
      </p:pic>
    </p:spTree>
  </p:cSld>
  <p:clrMapOvr>
    <a:masterClrMapping/>
  </p:clrMapOvr>
  <p:transition spd="med">
    <p:wipe dir="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04C90A2-DCF1-43D4-BC0B-165B717B88A8}"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1683" name="Text Box 2"/>
          <p:cNvSpPr txBox="1">
            <a:spLocks noChangeArrowheads="1"/>
          </p:cNvSpPr>
          <p:nvPr/>
        </p:nvSpPr>
        <p:spPr bwMode="auto">
          <a:xfrm>
            <a:off x="1404938" y="785813"/>
            <a:ext cx="6480175"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5400" b="1">
                <a:solidFill>
                  <a:schemeClr val="bg1"/>
                </a:solidFill>
                <a:latin typeface="宋体" pitchFamily="2" charset="-122"/>
                <a:ea typeface="宋体" pitchFamily="2" charset="-122"/>
              </a:rPr>
              <a:t> 例 题</a:t>
            </a:r>
          </a:p>
        </p:txBody>
      </p:sp>
      <p:pic>
        <p:nvPicPr>
          <p:cNvPr id="71684"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27988" y="549275"/>
            <a:ext cx="1058862" cy="111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8AAD1788-4FEA-4930-A123-C379468CB3A2}"/>
              </a:ext>
            </a:extLst>
          </p:cNvPr>
          <p:cNvPicPr>
            <a:picLocks noChangeAspect="1"/>
          </p:cNvPicPr>
          <p:nvPr/>
        </p:nvPicPr>
        <p:blipFill>
          <a:blip r:embed="rId3"/>
          <a:stretch>
            <a:fillRect/>
          </a:stretch>
        </p:blipFill>
        <p:spPr>
          <a:xfrm>
            <a:off x="685116" y="1910427"/>
            <a:ext cx="7884734" cy="4490373"/>
          </a:xfrm>
          <a:prstGeom prst="rect">
            <a:avLst/>
          </a:prstGeom>
        </p:spPr>
      </p:pic>
    </p:spTree>
  </p:cSld>
  <p:clrMapOvr>
    <a:masterClrMapping/>
  </p:clrMapOvr>
  <p:transition spd="med">
    <p:wipe dir="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B2295AF5-DB3B-4025-840F-44FEFE7EFECF}"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76803" name="Text Box 2"/>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spcBef>
                <a:spcPct val="50000"/>
              </a:spcBef>
              <a:buClr>
                <a:schemeClr val="bg1"/>
              </a:buClr>
              <a:buFont typeface="Wingdings" pitchFamily="2" charset="2"/>
              <a:buNone/>
            </a:pPr>
            <a:r>
              <a:rPr lang="zh-CN" altLang="en-US" sz="5400">
                <a:solidFill>
                  <a:schemeClr val="bg1"/>
                </a:solidFill>
                <a:latin typeface="宋体" pitchFamily="2" charset="-122"/>
                <a:ea typeface="宋体" pitchFamily="2" charset="-122"/>
              </a:rPr>
              <a:t>本节内容到此结束</a:t>
            </a:r>
            <a:endParaRPr lang="en-US" altLang="zh-CN" sz="5400">
              <a:solidFill>
                <a:schemeClr val="bg1"/>
              </a:solidFill>
              <a:latin typeface="宋体" pitchFamily="2" charset="-122"/>
              <a:ea typeface="宋体" pitchFamily="2" charset="-122"/>
            </a:endParaRPr>
          </a:p>
        </p:txBody>
      </p:sp>
      <p:sp>
        <p:nvSpPr>
          <p:cNvPr id="76804" name="WordArt 6"/>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59" lon="1080000" rev="0"/>
              </a:camera>
              <a:lightRig rig="legacyHarsh2" dir="b"/>
            </a:scene3d>
            <a:sp3d extrusionH="430200" prstMaterial="legacyMatte">
              <a:extrusionClr>
                <a:srgbClr val="FF6600"/>
              </a:extrusionClr>
            </a:sp3d>
          </a:bodyPr>
          <a:lstStyle/>
          <a:p>
            <a:r>
              <a:rPr lang="zh-CN" altLang="en-US" sz="3600" kern="10">
                <a:ln w="9525">
                  <a:round/>
                  <a:headEnd/>
                  <a:tailEnd/>
                </a:ln>
                <a:gradFill rotWithShape="1">
                  <a:gsLst>
                    <a:gs pos="0">
                      <a:srgbClr val="FFE701"/>
                    </a:gs>
                    <a:gs pos="100000">
                      <a:srgbClr val="FE3E02"/>
                    </a:gs>
                  </a:gsLst>
                  <a:lin ang="5400000" scaled="1"/>
                </a:gradFill>
                <a:latin typeface="宋体"/>
                <a:ea typeface="宋体"/>
              </a:rPr>
              <a:t>谢谢大家！</a:t>
            </a:r>
          </a:p>
        </p:txBody>
      </p:sp>
    </p:spTree>
  </p:cSld>
  <p:clrMapOvr>
    <a:masterClrMapping/>
  </p:clrMapOvr>
  <p:transition spd="med">
    <p:wipe dir="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3EE348A-9037-4A8B-9897-FBA757E8E7A7}" type="datetime1">
              <a:rPr kumimoji="0" lang="zh-CN" altLang="en-US" sz="1400" b="1">
                <a:solidFill>
                  <a:srgbClr val="FF0000"/>
                </a:solidFill>
                <a:latin typeface="黑体" pitchFamily="49" charset="-122"/>
              </a:rPr>
              <a:pPr eaLnBrk="1" hangingPunct="1"/>
              <a:t>2020/9/7</a:t>
            </a:fld>
            <a:endParaRPr kumimoji="0" lang="en-US" altLang="zh-CN" sz="1400" b="1">
              <a:solidFill>
                <a:srgbClr val="FF0000"/>
              </a:solidFill>
              <a:latin typeface="黑体" pitchFamily="49" charset="-122"/>
            </a:endParaRPr>
          </a:p>
        </p:txBody>
      </p:sp>
      <p:sp>
        <p:nvSpPr>
          <p:cNvPr id="77827" name="Text Box 2"/>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本章学习内容</a:t>
            </a:r>
            <a:endParaRPr lang="zh-CN" altLang="en-US" sz="4800" b="1">
              <a:ea typeface="宋体" pitchFamily="2" charset="-122"/>
            </a:endParaRPr>
          </a:p>
        </p:txBody>
      </p:sp>
      <p:grpSp>
        <p:nvGrpSpPr>
          <p:cNvPr id="2" name="组合 1">
            <a:extLst>
              <a:ext uri="{FF2B5EF4-FFF2-40B4-BE49-F238E27FC236}">
                <a16:creationId xmlns:a16="http://schemas.microsoft.com/office/drawing/2014/main" id="{C8907090-9FC9-4C3B-8F1A-4F22AB5A1CE0}"/>
              </a:ext>
            </a:extLst>
          </p:cNvPr>
          <p:cNvGrpSpPr/>
          <p:nvPr/>
        </p:nvGrpSpPr>
        <p:grpSpPr>
          <a:xfrm>
            <a:off x="2388500" y="2349712"/>
            <a:ext cx="4758705" cy="3066839"/>
            <a:chOff x="2388500" y="2349712"/>
            <a:chExt cx="4758705" cy="3066839"/>
          </a:xfrm>
        </p:grpSpPr>
        <p:sp>
          <p:nvSpPr>
            <p:cNvPr id="1170441" name="AutoShape 9"/>
            <p:cNvSpPr>
              <a:spLocks noChangeArrowheads="1"/>
            </p:cNvSpPr>
            <p:nvPr/>
          </p:nvSpPr>
          <p:spPr bwMode="gray">
            <a:xfrm>
              <a:off x="2803805" y="2494175"/>
              <a:ext cx="4343400" cy="55721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77829" name="AutoShape 10"/>
            <p:cNvSpPr>
              <a:spLocks noChangeArrowheads="1"/>
            </p:cNvSpPr>
            <p:nvPr/>
          </p:nvSpPr>
          <p:spPr bwMode="gray">
            <a:xfrm>
              <a:off x="2422805" y="2349712"/>
              <a:ext cx="685800" cy="835025"/>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77830" name="Text Box 11"/>
            <p:cNvSpPr txBox="1">
              <a:spLocks noChangeArrowheads="1"/>
            </p:cNvSpPr>
            <p:nvPr/>
          </p:nvSpPr>
          <p:spPr bwMode="gray">
            <a:xfrm>
              <a:off x="3032405" y="2491000"/>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rPr>
                <a:t>  </a:t>
              </a:r>
              <a:r>
                <a:rPr kumimoji="0" lang="zh-CN" altLang="en-US" sz="2800" b="1" dirty="0">
                  <a:latin typeface="黑体" pitchFamily="49" charset="-122"/>
                  <a:ea typeface="黑体" pitchFamily="49" charset="-122"/>
                </a:rPr>
                <a:t>函数的基本概念</a:t>
              </a:r>
            </a:p>
          </p:txBody>
        </p:sp>
        <p:sp>
          <p:nvSpPr>
            <p:cNvPr id="77831" name="Text Box 12"/>
            <p:cNvSpPr txBox="1">
              <a:spLocks noChangeArrowheads="1"/>
            </p:cNvSpPr>
            <p:nvPr/>
          </p:nvSpPr>
          <p:spPr bwMode="gray">
            <a:xfrm>
              <a:off x="2570102" y="2468775"/>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1</a:t>
              </a:r>
            </a:p>
          </p:txBody>
        </p:sp>
        <p:sp>
          <p:nvSpPr>
            <p:cNvPr id="1170446" name="AutoShape 14"/>
            <p:cNvSpPr>
              <a:spLocks noChangeArrowheads="1"/>
            </p:cNvSpPr>
            <p:nvPr/>
          </p:nvSpPr>
          <p:spPr bwMode="gray">
            <a:xfrm>
              <a:off x="2771800" y="4811713"/>
              <a:ext cx="4343400" cy="54610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77833" name="AutoShape 15"/>
            <p:cNvSpPr>
              <a:spLocks noChangeArrowheads="1"/>
            </p:cNvSpPr>
            <p:nvPr/>
          </p:nvSpPr>
          <p:spPr bwMode="gray">
            <a:xfrm>
              <a:off x="2390800" y="4598988"/>
              <a:ext cx="685800" cy="817563"/>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77834" name="Text Box 16"/>
            <p:cNvSpPr txBox="1">
              <a:spLocks noChangeArrowheads="1"/>
            </p:cNvSpPr>
            <p:nvPr/>
          </p:nvSpPr>
          <p:spPr bwMode="gray">
            <a:xfrm>
              <a:off x="3000400" y="4806951"/>
              <a:ext cx="3429000" cy="504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a:latin typeface="黑体" pitchFamily="49" charset="-122"/>
                </a:rPr>
                <a:t>  </a:t>
              </a:r>
              <a:r>
                <a:rPr kumimoji="0" lang="zh-CN" altLang="en-US" sz="2800" b="1">
                  <a:latin typeface="黑体" pitchFamily="49" charset="-122"/>
                  <a:ea typeface="黑体" pitchFamily="49" charset="-122"/>
                </a:rPr>
                <a:t>集合的特征函数</a:t>
              </a:r>
              <a:endParaRPr kumimoji="0" lang="en-US" altLang="zh-CN" sz="2800" b="1">
                <a:latin typeface="黑体" pitchFamily="49" charset="-122"/>
                <a:ea typeface="黑体" pitchFamily="49" charset="-122"/>
              </a:endParaRPr>
            </a:p>
          </p:txBody>
        </p:sp>
        <p:sp>
          <p:nvSpPr>
            <p:cNvPr id="77835" name="Text Box 17"/>
            <p:cNvSpPr txBox="1">
              <a:spLocks noChangeArrowheads="1"/>
            </p:cNvSpPr>
            <p:nvPr/>
          </p:nvSpPr>
          <p:spPr bwMode="gray">
            <a:xfrm>
              <a:off x="2540025" y="4716463"/>
              <a:ext cx="363538" cy="477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a:solidFill>
                    <a:schemeClr val="bg1"/>
                  </a:solidFill>
                  <a:latin typeface="黑体" pitchFamily="49" charset="-122"/>
                </a:rPr>
                <a:t>3</a:t>
              </a:r>
            </a:p>
          </p:txBody>
        </p:sp>
        <p:sp>
          <p:nvSpPr>
            <p:cNvPr id="77836" name="AutoShape 19"/>
            <p:cNvSpPr>
              <a:spLocks noChangeArrowheads="1"/>
            </p:cNvSpPr>
            <p:nvPr/>
          </p:nvSpPr>
          <p:spPr bwMode="gray">
            <a:xfrm>
              <a:off x="2769500" y="3659050"/>
              <a:ext cx="4343400" cy="546100"/>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77837" name="AutoShape 20"/>
            <p:cNvSpPr>
              <a:spLocks noChangeArrowheads="1"/>
            </p:cNvSpPr>
            <p:nvPr/>
          </p:nvSpPr>
          <p:spPr bwMode="gray">
            <a:xfrm>
              <a:off x="2388500" y="3517763"/>
              <a:ext cx="685800" cy="817562"/>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77838" name="Text Box 21"/>
            <p:cNvSpPr txBox="1">
              <a:spLocks noChangeArrowheads="1"/>
            </p:cNvSpPr>
            <p:nvPr/>
          </p:nvSpPr>
          <p:spPr bwMode="gray">
            <a:xfrm>
              <a:off x="3000400" y="3665178"/>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ea typeface="黑体" pitchFamily="49" charset="-122"/>
                </a:rPr>
                <a:t>  函数的基本运算</a:t>
              </a:r>
            </a:p>
          </p:txBody>
        </p:sp>
        <p:sp>
          <p:nvSpPr>
            <p:cNvPr id="77839" name="Text Box 22"/>
            <p:cNvSpPr txBox="1">
              <a:spLocks noChangeArrowheads="1"/>
            </p:cNvSpPr>
            <p:nvPr/>
          </p:nvSpPr>
          <p:spPr bwMode="gray">
            <a:xfrm>
              <a:off x="2535797" y="3609838"/>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2</a:t>
              </a:r>
            </a:p>
          </p:txBody>
        </p:sp>
      </p:grpSp>
    </p:spTree>
  </p:cSld>
  <p:clrMapOvr>
    <a:masterClrMapping/>
  </p:clrMapOvr>
  <p:transition spd="med">
    <p:wipe dir="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1B5F75FB-810F-4036-AACF-C06A2232E83E}"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7885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7885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D6075202-03A7-45E7-B8AA-80FE4BD6B31D}" type="slidenum">
              <a:rPr lang="en-US" altLang="zh-CN" sz="1400" b="1">
                <a:latin typeface="Times New Roman" pitchFamily="18" charset="0"/>
                <a:ea typeface="宋体" pitchFamily="2" charset="-122"/>
              </a:rPr>
              <a:pPr algn="r" eaLnBrk="1" hangingPunct="1"/>
              <a:t>62</a:t>
            </a:fld>
            <a:endParaRPr lang="en-US" altLang="zh-CN" sz="1400" b="1">
              <a:latin typeface="Times New Roman" pitchFamily="18" charset="0"/>
              <a:ea typeface="宋体" pitchFamily="2" charset="-122"/>
            </a:endParaRPr>
          </a:p>
        </p:txBody>
      </p:sp>
      <p:sp>
        <p:nvSpPr>
          <p:cNvPr id="78853" name="Rectangle 4"/>
          <p:cNvSpPr>
            <a:spLocks noGrp="1" noChangeArrowheads="1"/>
          </p:cNvSpPr>
          <p:nvPr>
            <p:ph type="ctrTitle" idx="4294967295"/>
          </p:nvPr>
        </p:nvSpPr>
        <p:spPr>
          <a:xfrm>
            <a:off x="1187450" y="2565400"/>
            <a:ext cx="7197725" cy="1439863"/>
          </a:xfrm>
          <a:solidFill>
            <a:srgbClr val="0000FF"/>
          </a:solidFill>
        </p:spPr>
        <p:txBody>
          <a:bodyPr/>
          <a:lstStyle/>
          <a:p>
            <a:pPr eaLnBrk="1" hangingPunct="1"/>
            <a:r>
              <a:rPr lang="zh-CN" altLang="en-US" sz="6600" b="1" dirty="0">
                <a:solidFill>
                  <a:schemeClr val="bg1"/>
                </a:solidFill>
              </a:rPr>
              <a:t>函数的基本运算</a:t>
            </a:r>
          </a:p>
        </p:txBody>
      </p:sp>
      <p:pic>
        <p:nvPicPr>
          <p:cNvPr id="78854"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B2C509B-653D-473F-A647-0182DFFCA8F1}"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79875"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7987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4F4AF1DD-F835-4AD9-BE95-DE84F3F6CF6C}" type="slidenum">
              <a:rPr lang="en-US" altLang="zh-CN" sz="1400" b="1">
                <a:latin typeface="Times New Roman" pitchFamily="18" charset="0"/>
                <a:ea typeface="宋体" pitchFamily="2" charset="-122"/>
              </a:rPr>
              <a:pPr algn="r" eaLnBrk="1" hangingPunct="1"/>
              <a:t>63</a:t>
            </a:fld>
            <a:endParaRPr lang="en-US" altLang="zh-CN" sz="1400" b="1">
              <a:latin typeface="Times New Roman" pitchFamily="18" charset="0"/>
              <a:ea typeface="宋体" pitchFamily="2" charset="-122"/>
            </a:endParaRPr>
          </a:p>
        </p:txBody>
      </p:sp>
      <p:sp>
        <p:nvSpPr>
          <p:cNvPr id="7987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函数的基本运算</a:t>
            </a:r>
          </a:p>
        </p:txBody>
      </p:sp>
      <p:sp>
        <p:nvSpPr>
          <p:cNvPr id="79878" name="Rectangle 3"/>
          <p:cNvSpPr>
            <a:spLocks noGrp="1" noChangeArrowheads="1"/>
          </p:cNvSpPr>
          <p:nvPr>
            <p:ph type="body" idx="4294967295"/>
          </p:nvPr>
        </p:nvSpPr>
        <p:spPr>
          <a:xfrm>
            <a:off x="2699792" y="2536031"/>
            <a:ext cx="4321175" cy="2879725"/>
          </a:xfrm>
          <a:noFill/>
        </p:spPr>
        <p:txBody>
          <a:bodyPr lIns="92075" tIns="46038" rIns="92075" bIns="46038"/>
          <a:lstStyle/>
          <a:p>
            <a:pPr eaLnBrk="1" hangingPunct="1">
              <a:lnSpc>
                <a:spcPct val="155000"/>
              </a:lnSpc>
              <a:buFont typeface="Wingdings" pitchFamily="2" charset="2"/>
              <a:buChar char="J"/>
            </a:pPr>
            <a:r>
              <a:rPr lang="en-US" altLang="zh-CN" sz="3200" b="1" dirty="0">
                <a:solidFill>
                  <a:srgbClr val="0000FF"/>
                </a:solidFill>
                <a:effectLst/>
                <a:latin typeface="黑体" pitchFamily="49" charset="-122"/>
                <a:ea typeface="黑体" pitchFamily="49" charset="-122"/>
              </a:rPr>
              <a:t> </a:t>
            </a:r>
            <a:r>
              <a:rPr lang="zh-CN" altLang="en-US" sz="3200" b="1" dirty="0">
                <a:solidFill>
                  <a:srgbClr val="0000FF"/>
                </a:solidFill>
                <a:effectLst/>
                <a:latin typeface="黑体" pitchFamily="49" charset="-122"/>
                <a:ea typeface="黑体" pitchFamily="49" charset="-122"/>
              </a:rPr>
              <a:t>函数的复合运算</a:t>
            </a:r>
            <a:endParaRPr lang="zh-CN" altLang="en-US" sz="800" b="1" dirty="0">
              <a:solidFill>
                <a:srgbClr val="0000FF"/>
              </a:solidFill>
              <a:effectLst/>
              <a:latin typeface="黑体" pitchFamily="49" charset="-122"/>
              <a:ea typeface="黑体" pitchFamily="49" charset="-122"/>
            </a:endParaRPr>
          </a:p>
          <a:p>
            <a:pPr eaLnBrk="1" hangingPunct="1">
              <a:lnSpc>
                <a:spcPct val="155000"/>
              </a:lnSpc>
              <a:buFont typeface="Wingdings" pitchFamily="2" charset="2"/>
              <a:buChar char="4"/>
            </a:pPr>
            <a:r>
              <a:rPr lang="zh-CN" altLang="en-US" sz="3200" b="1" dirty="0">
                <a:effectLst/>
                <a:latin typeface="黑体" pitchFamily="49" charset="-122"/>
                <a:ea typeface="黑体" pitchFamily="49" charset="-122"/>
              </a:rPr>
              <a:t> 函数的逆运算</a:t>
            </a:r>
            <a:endParaRPr lang="en-US" altLang="zh-CN" sz="3200" b="1" dirty="0">
              <a:effectLst/>
              <a:latin typeface="黑体" pitchFamily="49" charset="-122"/>
              <a:ea typeface="黑体" pitchFamily="49" charset="-122"/>
            </a:endParaRPr>
          </a:p>
          <a:p>
            <a:pPr eaLnBrk="1" hangingPunct="1">
              <a:lnSpc>
                <a:spcPct val="155000"/>
              </a:lnSpc>
              <a:buFont typeface="Wingdings" pitchFamily="2" charset="2"/>
              <a:buChar char="4"/>
            </a:pPr>
            <a:r>
              <a:rPr lang="zh-CN" altLang="en-US" sz="3200" b="1" dirty="0">
                <a:effectLst/>
                <a:latin typeface="黑体" pitchFamily="49" charset="-122"/>
                <a:ea typeface="黑体" pitchFamily="49" charset="-122"/>
              </a:rPr>
              <a:t> 函数的递归运算</a:t>
            </a:r>
          </a:p>
        </p:txBody>
      </p:sp>
      <p:pic>
        <p:nvPicPr>
          <p:cNvPr id="79879"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01CFC8-C55D-4DB5-A51C-7D452FB8114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192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1924" name="Text Box 2"/>
          <p:cNvSpPr txBox="1">
            <a:spLocks noChangeArrowheads="1"/>
          </p:cNvSpPr>
          <p:nvPr/>
        </p:nvSpPr>
        <p:spPr bwMode="auto">
          <a:xfrm>
            <a:off x="1331913" y="85883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函数的复合运算</a:t>
            </a:r>
          </a:p>
        </p:txBody>
      </p:sp>
      <p:pic>
        <p:nvPicPr>
          <p:cNvPr id="819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DDCCE86F-A580-4014-800A-CF9FCF2A4376}"/>
              </a:ext>
            </a:extLst>
          </p:cNvPr>
          <p:cNvPicPr>
            <a:picLocks noChangeAspect="1"/>
          </p:cNvPicPr>
          <p:nvPr/>
        </p:nvPicPr>
        <p:blipFill>
          <a:blip r:embed="rId3"/>
          <a:stretch>
            <a:fillRect/>
          </a:stretch>
        </p:blipFill>
        <p:spPr>
          <a:xfrm>
            <a:off x="1835696" y="1916832"/>
            <a:ext cx="5040560" cy="3462327"/>
          </a:xfrm>
          <a:prstGeom prst="rect">
            <a:avLst/>
          </a:prstGeom>
        </p:spPr>
      </p:pic>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FFDA888-E376-48CD-9136-FCA6F93A5E80}"/>
                  </a:ext>
                </a:extLst>
              </p:cNvPr>
              <p:cNvSpPr/>
              <p:nvPr/>
            </p:nvSpPr>
            <p:spPr>
              <a:xfrm>
                <a:off x="2735796" y="5522753"/>
                <a:ext cx="3240360" cy="707886"/>
              </a:xfrm>
              <a:prstGeom prst="rect">
                <a:avLst/>
              </a:prstGeom>
              <a:solidFill>
                <a:schemeClr val="accent6">
                  <a:lumMod val="75000"/>
                </a:schemeClr>
              </a:solid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4000" b="1" i="1" smtClean="0">
                          <a:solidFill>
                            <a:schemeClr val="bg1"/>
                          </a:solidFill>
                          <a:latin typeface="Cambria Math" panose="02040503050406030204" pitchFamily="18" charset="0"/>
                        </a:rPr>
                        <m:t>𝒉</m:t>
                      </m:r>
                      <m:r>
                        <a:rPr lang="zh-CN" altLang="en-US" sz="4000" b="1" i="0">
                          <a:solidFill>
                            <a:schemeClr val="bg1"/>
                          </a:solidFill>
                          <a:latin typeface="Cambria Math" panose="02040503050406030204" pitchFamily="18" charset="0"/>
                        </a:rPr>
                        <m:t>=</m:t>
                      </m:r>
                      <m:r>
                        <a:rPr lang="zh-CN" altLang="en-US" sz="4000" b="1" i="1">
                          <a:solidFill>
                            <a:schemeClr val="bg1"/>
                          </a:solidFill>
                          <a:latin typeface="Cambria Math" panose="02040503050406030204" pitchFamily="18" charset="0"/>
                        </a:rPr>
                        <m:t>𝒈</m:t>
                      </m:r>
                      <m:r>
                        <a:rPr lang="zh-CN" altLang="en-US" sz="4000" b="1" i="0">
                          <a:solidFill>
                            <a:schemeClr val="bg1"/>
                          </a:solidFill>
                          <a:latin typeface="Cambria Math" panose="02040503050406030204" pitchFamily="18" charset="0"/>
                        </a:rPr>
                        <m:t>∘</m:t>
                      </m:r>
                      <m:r>
                        <a:rPr lang="zh-CN" altLang="en-US" sz="4000" b="1" i="1">
                          <a:solidFill>
                            <a:schemeClr val="bg1"/>
                          </a:solidFill>
                          <a:latin typeface="Cambria Math" panose="02040503050406030204" pitchFamily="18" charset="0"/>
                        </a:rPr>
                        <m:t>𝒇</m:t>
                      </m:r>
                    </m:oMath>
                  </m:oMathPara>
                </a14:m>
                <a:endParaRPr lang="zh-CN" altLang="en-US" sz="4000" b="1" dirty="0">
                  <a:solidFill>
                    <a:schemeClr val="bg1"/>
                  </a:solidFill>
                </a:endParaRPr>
              </a:p>
            </p:txBody>
          </p:sp>
        </mc:Choice>
        <mc:Fallback xmlns="">
          <p:sp>
            <p:nvSpPr>
              <p:cNvPr id="4" name="矩形 3">
                <a:extLst>
                  <a:ext uri="{FF2B5EF4-FFF2-40B4-BE49-F238E27FC236}">
                    <a16:creationId xmlns:a16="http://schemas.microsoft.com/office/drawing/2014/main" id="{BFFDA888-E376-48CD-9136-FCA6F93A5E80}"/>
                  </a:ext>
                </a:extLst>
              </p:cNvPr>
              <p:cNvSpPr>
                <a:spLocks noRot="1" noChangeAspect="1" noMove="1" noResize="1" noEditPoints="1" noAdjustHandles="1" noChangeArrowheads="1" noChangeShapeType="1" noTextEdit="1"/>
              </p:cNvSpPr>
              <p:nvPr/>
            </p:nvSpPr>
            <p:spPr>
              <a:xfrm>
                <a:off x="2735796" y="5522753"/>
                <a:ext cx="3240360" cy="707886"/>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58353971"/>
      </p:ext>
    </p:extLst>
  </p:cSld>
  <p:clrMapOvr>
    <a:masterClrMapping/>
  </p:clrMapOvr>
  <p:transition spd="med">
    <p:wipe dir="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01CFC8-C55D-4DB5-A51C-7D452FB8114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192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1924" name="Text Box 2"/>
          <p:cNvSpPr txBox="1">
            <a:spLocks noChangeArrowheads="1"/>
          </p:cNvSpPr>
          <p:nvPr/>
        </p:nvSpPr>
        <p:spPr bwMode="auto">
          <a:xfrm>
            <a:off x="1331913" y="85883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复合函数的定义</a:t>
            </a:r>
          </a:p>
        </p:txBody>
      </p:sp>
      <p:pic>
        <p:nvPicPr>
          <p:cNvPr id="819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3F2E920-BD49-406A-914C-C37D3DD3799E}"/>
                  </a:ext>
                </a:extLst>
              </p:cNvPr>
              <p:cNvSpPr/>
              <p:nvPr/>
            </p:nvSpPr>
            <p:spPr>
              <a:xfrm>
                <a:off x="395536" y="2098927"/>
                <a:ext cx="8245425" cy="3900235"/>
              </a:xfrm>
              <a:prstGeom prst="rect">
                <a:avLst/>
              </a:prstGeom>
              <a:solidFill>
                <a:schemeClr val="accent6">
                  <a:lumMod val="75000"/>
                </a:schemeClr>
              </a:solidFill>
            </p:spPr>
            <p:txBody>
              <a:bodyPr wrap="square">
                <a:spAutoFit/>
              </a:bodyPr>
              <a:lstStyle/>
              <a:p>
                <a:pPr algn="just">
                  <a:lnSpc>
                    <a:spcPct val="1500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【定理】设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是两个函数，则</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复合关系</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algn="ctr">
                  <a:lnSpc>
                    <a:spcPct val="150000"/>
                  </a:lnSpc>
                  <a:spcAft>
                    <a:spcPts val="0"/>
                  </a:spcAft>
                </a:pP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𝒛</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𝒛</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𝒚</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𝒚</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𝑩</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𝒙𝒇𝒚</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𝒚𝒈𝒛</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a:t>
                </a:r>
              </a:p>
              <a:p>
                <a:pPr>
                  <a:lnSpc>
                    <a:spcPct val="1500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是一个</a:t>
                </a:r>
                <a:r>
                  <a:rPr lang="zh-CN" altLang="zh-CN" sz="24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rPr>
                  <a:t>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𝑪</m:t>
                    </m:r>
                  </m:oMath>
                </a14:m>
                <a:r>
                  <a:rPr lang="zh-CN" altLang="zh-CN" sz="24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的函数</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，称为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的复合函数，记为</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因为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zh-CN" altLang="zh-CN" sz="2400" b="1" kern="100">
                        <a:solidFill>
                          <a:schemeClr val="bg1"/>
                        </a:solidFill>
                        <a:latin typeface="Cambria Math" panose="02040503050406030204" pitchFamily="18" charset="0"/>
                        <a:ea typeface="宋体" panose="02010600030101010101" pitchFamily="2" charset="-122"/>
                      </a:rPr>
                      <m:t>和</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分别是</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𝑪</m:t>
                    </m:r>
                    <m:r>
                      <a:rPr lang="zh-CN" altLang="zh-CN" sz="2400" b="1" kern="100">
                        <a:solidFill>
                          <a:schemeClr val="bg1"/>
                        </a:solidFill>
                        <a:latin typeface="Cambria Math" panose="02040503050406030204" pitchFamily="18" charset="0"/>
                        <a:ea typeface="宋体" panose="02010600030101010101" pitchFamily="2" charset="-122"/>
                      </a:rPr>
                      <m:t>上的</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二元关系，故由复合关系的定义可知</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是一个</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𝑪</m:t>
                    </m:r>
                    <m:r>
                      <a:rPr lang="zh-CN" altLang="zh-CN" sz="2400" b="1" kern="100">
                        <a:solidFill>
                          <a:schemeClr val="bg1"/>
                        </a:solidFill>
                        <a:latin typeface="Cambria Math" panose="02040503050406030204" pitchFamily="18" charset="0"/>
                        <a:ea typeface="宋体" panose="02010600030101010101" pitchFamily="2" charset="-122"/>
                      </a:rPr>
                      <m:t>上</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二元关系。</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下面证明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是一个函数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53F2E920-BD49-406A-914C-C37D3DD3799E}"/>
                  </a:ext>
                </a:extLst>
              </p:cNvPr>
              <p:cNvSpPr>
                <a:spLocks noRot="1" noChangeAspect="1" noMove="1" noResize="1" noEditPoints="1" noAdjustHandles="1" noChangeArrowheads="1" noChangeShapeType="1" noTextEdit="1"/>
              </p:cNvSpPr>
              <p:nvPr/>
            </p:nvSpPr>
            <p:spPr>
              <a:xfrm>
                <a:off x="395536" y="2098927"/>
                <a:ext cx="8245425" cy="3900235"/>
              </a:xfrm>
              <a:prstGeom prst="rect">
                <a:avLst/>
              </a:prstGeom>
              <a:blipFill>
                <a:blip r:embed="rId3"/>
                <a:stretch>
                  <a:fillRect l="-1183" r="-1109" b="-21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86696792"/>
      </p:ext>
    </p:extLst>
  </p:cSld>
  <p:clrMapOvr>
    <a:masterClrMapping/>
  </p:clrMapOvr>
  <p:transition spd="med">
    <p:wipe dir="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01CFC8-C55D-4DB5-A51C-7D452FB8114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192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1924" name="Text Box 2"/>
          <p:cNvSpPr txBox="1">
            <a:spLocks noChangeArrowheads="1"/>
          </p:cNvSpPr>
          <p:nvPr/>
        </p:nvSpPr>
        <p:spPr bwMode="auto">
          <a:xfrm>
            <a:off x="1403648" y="62068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复合函数的定义</a:t>
            </a:r>
          </a:p>
        </p:txBody>
      </p:sp>
      <p:pic>
        <p:nvPicPr>
          <p:cNvPr id="819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0C16824B-6A97-45B4-8E2F-FCD8D8A6946F}"/>
                  </a:ext>
                </a:extLst>
              </p:cNvPr>
              <p:cNvSpPr/>
              <p:nvPr/>
            </p:nvSpPr>
            <p:spPr>
              <a:xfrm>
                <a:off x="323528" y="1822685"/>
                <a:ext cx="8496944" cy="4661982"/>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续</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对于</a:t>
                </a:r>
                <a14:m>
                  <m:oMath xmlns:m="http://schemas.openxmlformats.org/officeDocument/2006/math">
                    <m:r>
                      <m:rPr>
                        <m:nor/>
                      </m:rP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某个</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m:rPr>
                        <m:nor/>
                      </m:rPr>
                      <a:rPr lang="en-US" altLang="zh-CN" sz="2400" b="1" kern="100">
                        <a:solidFill>
                          <a:schemeClr val="bg1"/>
                        </a:solidFill>
                        <a:latin typeface="Cambria Math" panose="02040503050406030204" pitchFamily="18" charset="0"/>
                        <a:ea typeface="宋体" panose="02010600030101010101" pitchFamily="2" charset="-122"/>
                      </a:rPr>
                      <m:t>dom</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，存在两个元素</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𝒛</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𝒛</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m:rPr>
                        <m:nor/>
                      </m:rPr>
                      <a:rPr lang="en-US" altLang="zh-CN" sz="2400" b="1" kern="100">
                        <a:solidFill>
                          <a:schemeClr val="bg1"/>
                        </a:solidFill>
                        <a:latin typeface="Cambria Math" panose="02040503050406030204" pitchFamily="18" charset="0"/>
                        <a:ea typeface="宋体" panose="02010600030101010101" pitchFamily="2" charset="-122"/>
                      </a:rPr>
                      <m:t>ran</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满足</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ctr">
                  <a:lnSpc>
                    <a:spcPts val="3600"/>
                  </a:lnSpc>
                  <a:spcAft>
                    <a:spcPts val="0"/>
                  </a:spcAft>
                </a:pP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𝒛</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e>
                    </m:d>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e>
                    </m:d>
                  </m:oMath>
                </a14:m>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𝒛</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e>
                    </m:d>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e>
                    </m:d>
                  </m:oMath>
                </a14:m>
                <a:endParaRPr lang="en-US" altLang="zh-CN" sz="2400" b="1" kern="100" dirty="0">
                  <a:solidFill>
                    <a:srgbClr val="FFFF00"/>
                  </a:solidFill>
                  <a:latin typeface="Times New Roman" panose="02020603050405020304" pitchFamily="18" charset="0"/>
                  <a:ea typeface="宋体" panose="02010600030101010101" pitchFamily="2" charset="-122"/>
                </a:endParaRPr>
              </a:p>
              <a:p>
                <a:pPr indent="266700">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则分别存在</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满足：</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ctr">
                  <a:lnSpc>
                    <a:spcPts val="3600"/>
                  </a:lnSpc>
                  <a:spcAft>
                    <a:spcPts val="0"/>
                  </a:spcAft>
                </a:pP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𝒙𝒇</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rPr>
                      <m:t>𝒈</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𝒛</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oMath>
                </a14:m>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𝒙𝒇</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r>
                      <a:rPr lang="en-US" altLang="zh-CN" sz="2400" b="1" i="1" kern="100">
                        <a:solidFill>
                          <a:srgbClr val="FFFF00"/>
                        </a:solidFill>
                        <a:latin typeface="Cambria Math" panose="02040503050406030204" pitchFamily="18" charset="0"/>
                        <a:ea typeface="宋体" panose="02010600030101010101" pitchFamily="2" charset="-122"/>
                      </a:rPr>
                      <m:t>𝒈</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𝒛</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oMath>
                </a14:m>
                <a:endParaRPr lang="en-US"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endParaRPr>
              </a:p>
              <a:p>
                <a:pPr indent="266700">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即有</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ctr">
                  <a:lnSpc>
                    <a:spcPts val="3600"/>
                  </a:lnSpc>
                  <a:spcAft>
                    <a:spcPts val="0"/>
                  </a:spcAft>
                </a:pP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𝒛</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 </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𝒛</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e>
                    </m:d>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oMath>
                </a14:m>
                <a:endParaRPr lang="en-US" altLang="zh-CN" sz="2400" b="1" kern="100" dirty="0">
                  <a:solidFill>
                    <a:schemeClr val="bg1"/>
                  </a:solidFill>
                  <a:latin typeface="宋体" panose="02010600030101010101" pitchFamily="2" charset="-122"/>
                  <a:ea typeface="宋体" panose="02010600030101010101" pitchFamily="2" charset="-122"/>
                </a:endParaRPr>
              </a:p>
              <a:p>
                <a:pPr indent="266700">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根据函数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的单值性有</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zh-CN" altLang="en-US"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同理可</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由</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𝒚</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得到</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𝒛</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𝒛</m:t>
                        </m:r>
                      </m:e>
                      <m:sub>
                        <m:r>
                          <a:rPr lang="en-US" altLang="zh-CN" sz="24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是一个满足单值性的二元关系，</a:t>
                </a:r>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即</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是一个函数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0C16824B-6A97-45B4-8E2F-FCD8D8A6946F}"/>
                  </a:ext>
                </a:extLst>
              </p:cNvPr>
              <p:cNvSpPr>
                <a:spLocks noRot="1" noChangeAspect="1" noMove="1" noResize="1" noEditPoints="1" noAdjustHandles="1" noChangeArrowheads="1" noChangeShapeType="1" noTextEdit="1"/>
              </p:cNvSpPr>
              <p:nvPr/>
            </p:nvSpPr>
            <p:spPr>
              <a:xfrm>
                <a:off x="323528" y="1822685"/>
                <a:ext cx="8496944" cy="4661982"/>
              </a:xfrm>
              <a:prstGeom prst="rect">
                <a:avLst/>
              </a:prstGeom>
              <a:blipFill>
                <a:blip r:embed="rId3"/>
                <a:stretch>
                  <a:fillRect l="-1076" t="-523" r="-1148" b="-156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88835721"/>
      </p:ext>
    </p:extLst>
  </p:cSld>
  <p:clrMapOvr>
    <a:masterClrMapping/>
  </p:clrMapOvr>
  <p:transition spd="med">
    <p:wipe dir="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01CFC8-C55D-4DB5-A51C-7D452FB8114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192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1924" name="Text Box 2"/>
          <p:cNvSpPr txBox="1">
            <a:spLocks noChangeArrowheads="1"/>
          </p:cNvSpPr>
          <p:nvPr/>
        </p:nvSpPr>
        <p:spPr bwMode="auto">
          <a:xfrm>
            <a:off x="1331913" y="85883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复合函数的要点</a:t>
            </a:r>
          </a:p>
        </p:txBody>
      </p:sp>
      <p:pic>
        <p:nvPicPr>
          <p:cNvPr id="819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1926" name="Picture 7" descr="QQ截图2015110510030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2015784"/>
            <a:ext cx="7667625"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01CFC8-C55D-4DB5-A51C-7D452FB8114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192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819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70E5A1CC-3B32-413A-A86C-D265A75A5E6C}"/>
                  </a:ext>
                </a:extLst>
              </p:cNvPr>
              <p:cNvSpPr/>
              <p:nvPr/>
            </p:nvSpPr>
            <p:spPr>
              <a:xfrm>
                <a:off x="251520" y="1753459"/>
                <a:ext cx="8640960" cy="4524315"/>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【例题】设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r>
                      <a:rPr lang="en-US" altLang="zh-CN" sz="2400" b="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oMath>
                </a14:m>
                <a:r>
                  <a:rPr lang="zh-CN" altLang="zh-CN" sz="2400" b="1" kern="100" dirty="0">
                    <a:solidFill>
                      <a:schemeClr val="bg1"/>
                    </a:solidFill>
                    <a:latin typeface="Times New Roman" panose="02020603050405020304" pitchFamily="18" charset="0"/>
                    <a:ea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rPr>
                  <a:t>计算</a:t>
                </a:r>
                <a:r>
                  <a:rPr lang="zh-CN" altLang="zh-CN" sz="2400" b="1" kern="100" dirty="0">
                    <a:solidFill>
                      <a:schemeClr val="bg1"/>
                    </a:solidFill>
                    <a:latin typeface="Times New Roman" panose="02020603050405020304" pitchFamily="18" charset="0"/>
                    <a:ea typeface="宋体" panose="02010600030101010101" pitchFamily="2" charset="-122"/>
                  </a:rPr>
                  <a:t>如下</a:t>
                </a:r>
                <a14:m>
                  <m:oMath xmlns:m="http://schemas.openxmlformats.org/officeDocument/2006/math">
                    <m:r>
                      <a:rPr lang="zh-CN" altLang="zh-CN" sz="2400" b="1" i="1" kern="100">
                        <a:solidFill>
                          <a:schemeClr val="bg1"/>
                        </a:solidFill>
                        <a:latin typeface="Cambria Math" panose="02040503050406030204" pitchFamily="18" charset="0"/>
                        <a:ea typeface="Cambria Math" panose="02040503050406030204" pitchFamily="18" charset="0"/>
                      </a:rPr>
                      <m:t> </m:t>
                    </m:r>
                    <m:r>
                      <a:rPr lang="en-US" altLang="zh-CN" sz="2400" b="1" i="1" kern="100" smtClean="0">
                        <a:solidFill>
                          <a:srgbClr val="FFFF00"/>
                        </a:solidFill>
                        <a:latin typeface="Cambria Math" panose="02040503050406030204" pitchFamily="18" charset="0"/>
                        <a:ea typeface="Cambria Math" panose="02040503050406030204" pitchFamily="18" charset="0"/>
                      </a:rPr>
                      <m:t>𝑨</m:t>
                    </m:r>
                  </m:oMath>
                </a14:m>
                <a:r>
                  <a:rPr lang="zh-CN" altLang="zh-CN" sz="2400" b="1" kern="100" dirty="0">
                    <a:solidFill>
                      <a:srgbClr val="FFFF00"/>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rPr>
                  <a:t>的函数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rPr>
                  <a:t>与</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𝑪</m:t>
                    </m:r>
                  </m:oMath>
                </a14:m>
                <a:r>
                  <a:rPr lang="zh-CN" altLang="zh-CN" sz="2400" b="1" kern="100" dirty="0">
                    <a:solidFill>
                      <a:srgbClr val="FFFF00"/>
                    </a:solidFill>
                    <a:latin typeface="Times New Roman" panose="02020603050405020304" pitchFamily="18" charset="0"/>
                    <a:ea typeface="宋体" panose="02010600030101010101" pitchFamily="2" charset="-122"/>
                  </a:rPr>
                  <a:t>的函数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𝒈</m:t>
                    </m:r>
                  </m:oMath>
                </a14:m>
                <a:r>
                  <a:rPr lang="zh-CN" altLang="en-US" sz="2400" b="1" kern="100" dirty="0">
                    <a:solidFill>
                      <a:schemeClr val="bg1"/>
                    </a:solidFill>
                    <a:latin typeface="Times New Roman" panose="02020603050405020304" pitchFamily="18" charset="0"/>
                    <a:ea typeface="宋体" panose="02010600030101010101" pitchFamily="2" charset="-122"/>
                  </a:rPr>
                  <a:t>的</a:t>
                </a:r>
                <a:r>
                  <a:rPr lang="zh-CN" altLang="zh-CN" sz="2400" b="1" kern="100" dirty="0">
                    <a:solidFill>
                      <a:schemeClr val="bg1"/>
                    </a:solidFill>
                    <a:latin typeface="Times New Roman" panose="02020603050405020304" pitchFamily="18" charset="0"/>
                    <a:ea typeface="宋体" panose="02010600030101010101" pitchFamily="2" charset="-122"/>
                  </a:rPr>
                  <a:t>复合函数</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oMath>
                </a14:m>
                <a:r>
                  <a:rPr lang="zh-CN" altLang="en-US" sz="2400" b="1" kern="100" dirty="0">
                    <a:solidFill>
                      <a:schemeClr val="bg1"/>
                    </a:solidFill>
                    <a:latin typeface="Times New Roman" panose="02020603050405020304" pitchFamily="18" charset="0"/>
                    <a:ea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ctr">
                  <a:lnSpc>
                    <a:spcPct val="150000"/>
                  </a:lnSpc>
                  <a:spcAft>
                    <a:spcPts val="0"/>
                  </a:spcAft>
                </a:pP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𝒅</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ctr">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𝒅</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i="1" kern="100">
                          <a:solidFill>
                            <a:schemeClr val="bg1"/>
                          </a:solidFill>
                          <a:latin typeface="Cambria Math" panose="02040503050406030204" pitchFamily="18" charset="0"/>
                          <a:ea typeface="宋体" panose="02010600030101010101" pitchFamily="2" charset="-122"/>
                        </a:rPr>
                        <m:t>}</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【解】依题意有：</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m:rPr>
                          <m:nor/>
                        </m:rPr>
                        <a:rPr lang="en-US" altLang="zh-CN" sz="2400" b="1" kern="100">
                          <a:solidFill>
                            <a:schemeClr val="bg1"/>
                          </a:solidFill>
                          <a:latin typeface="Cambria Math" panose="02040503050406030204" pitchFamily="18" charset="0"/>
                          <a:ea typeface="宋体" panose="02010600030101010101" pitchFamily="2" charset="-122"/>
                        </a:rPr>
                        <m:t>ran</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i="1" kern="100" smtClean="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𝒅</m:t>
                          </m:r>
                        </m:e>
                      </m:d>
                      <m:r>
                        <a:rPr lang="en-US" altLang="zh-CN" sz="2400" b="1" i="1" kern="100">
                          <a:solidFill>
                            <a:schemeClr val="bg1"/>
                          </a:solidFill>
                          <a:latin typeface="Cambria Math" panose="02040503050406030204" pitchFamily="18" charset="0"/>
                          <a:ea typeface="宋体" panose="02010600030101010101" pitchFamily="2" charset="-122"/>
                        </a:rPr>
                        <m:t>=</m:t>
                      </m:r>
                      <m:r>
                        <m:rPr>
                          <m:nor/>
                        </m:rPr>
                        <a:rPr lang="en-US" altLang="zh-CN" sz="2400" b="1" kern="100">
                          <a:solidFill>
                            <a:schemeClr val="bg1"/>
                          </a:solidFill>
                          <a:latin typeface="Cambria Math" panose="02040503050406030204" pitchFamily="18" charset="0"/>
                          <a:ea typeface="宋体" panose="02010600030101010101" pitchFamily="2" charset="-122"/>
                        </a:rPr>
                        <m:t>dom</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𝒈</m:t>
                      </m:r>
                    </m:oMath>
                  </m:oMathPara>
                </a14:m>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zh-CN" altLang="zh-CN" sz="2400" b="1" kern="100">
                        <a:solidFill>
                          <a:schemeClr val="bg1"/>
                        </a:solidFill>
                        <a:latin typeface="Cambria Math" panose="02040503050406030204" pitchFamily="18" charset="0"/>
                        <a:ea typeface="宋体" panose="02010600030101010101" pitchFamily="2" charset="-122"/>
                      </a:rPr>
                      <m:t>与</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rPr>
                  <a:t>可以复合，根据复合函数定义有：</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i="1" kern="100" smtClean="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𝒂</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𝒂</m:t>
                          </m:r>
                        </m:e>
                      </m:d>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𝒃</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𝒂</m:t>
                          </m:r>
                        </m:e>
                      </m:d>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𝒄</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𝒅</m:t>
                          </m:r>
                        </m:e>
                      </m:d>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𝒅</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𝒅</m:t>
                          </m:r>
                        </m:e>
                      </m:d>
                      <m:r>
                        <a:rPr lang="en-US" altLang="zh-CN" sz="2400" b="1" i="1" kern="100">
                          <a:solidFill>
                            <a:srgbClr val="FFFF00"/>
                          </a:solidFill>
                          <a:latin typeface="Cambria Math" panose="02040503050406030204" pitchFamily="18" charset="0"/>
                          <a:ea typeface="宋体" panose="02010600030101010101" pitchFamily="2" charset="-122"/>
                        </a:rPr>
                        <m:t>}</m:t>
                      </m:r>
                    </m:oMath>
                  </m:oMathPara>
                </a14:m>
                <a:endParaRPr lang="zh-CN" altLang="zh-CN" sz="2400" b="1" kern="100" dirty="0">
                  <a:solidFill>
                    <a:srgbClr val="FFFF00"/>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70E5A1CC-3B32-413A-A86C-D265A75A5E6C}"/>
                  </a:ext>
                </a:extLst>
              </p:cNvPr>
              <p:cNvSpPr>
                <a:spLocks noRot="1" noChangeAspect="1" noMove="1" noResize="1" noEditPoints="1" noAdjustHandles="1" noChangeArrowheads="1" noChangeShapeType="1" noTextEdit="1"/>
              </p:cNvSpPr>
              <p:nvPr/>
            </p:nvSpPr>
            <p:spPr>
              <a:xfrm>
                <a:off x="251520" y="1753459"/>
                <a:ext cx="8640960" cy="4524315"/>
              </a:xfrm>
              <a:prstGeom prst="rect">
                <a:avLst/>
              </a:prstGeom>
              <a:blipFill>
                <a:blip r:embed="rId3"/>
                <a:stretch>
                  <a:fillRect l="-1058" r="-1058"/>
                </a:stretch>
              </a:blipFill>
            </p:spPr>
            <p:txBody>
              <a:bodyPr/>
              <a:lstStyle/>
              <a:p>
                <a:r>
                  <a:rPr lang="zh-CN" altLang="en-US">
                    <a:noFill/>
                  </a:rPr>
                  <a:t> </a:t>
                </a:r>
              </a:p>
            </p:txBody>
          </p:sp>
        </mc:Fallback>
      </mc:AlternateContent>
      <p:sp>
        <p:nvSpPr>
          <p:cNvPr id="8" name="Text Box 2">
            <a:extLst>
              <a:ext uri="{FF2B5EF4-FFF2-40B4-BE49-F238E27FC236}">
                <a16:creationId xmlns:a16="http://schemas.microsoft.com/office/drawing/2014/main" id="{74228CA6-F677-4C3A-9941-1EDAC7842D06}"/>
              </a:ext>
            </a:extLst>
          </p:cNvPr>
          <p:cNvSpPr txBox="1">
            <a:spLocks noChangeArrowheads="1"/>
          </p:cNvSpPr>
          <p:nvPr/>
        </p:nvSpPr>
        <p:spPr bwMode="auto">
          <a:xfrm>
            <a:off x="1403648" y="614751"/>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spTree>
    <p:extLst>
      <p:ext uri="{BB962C8B-B14F-4D97-AF65-F5344CB8AC3E}">
        <p14:creationId xmlns:p14="http://schemas.microsoft.com/office/powerpoint/2010/main" val="1857874606"/>
      </p:ext>
    </p:extLst>
  </p:cSld>
  <p:clrMapOvr>
    <a:masterClrMapping/>
  </p:clrMapOvr>
  <p:transition spd="med">
    <p:wipe dir="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3676F9F-11EE-4ACD-B4BA-CBC49C9308F1}"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499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4996" name="Text Box 2"/>
          <p:cNvSpPr txBox="1">
            <a:spLocks noChangeArrowheads="1"/>
          </p:cNvSpPr>
          <p:nvPr/>
        </p:nvSpPr>
        <p:spPr bwMode="auto">
          <a:xfrm>
            <a:off x="1331913" y="85883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8499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4998" name="Picture 7" descr="QQ截图2015110510073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850" y="2205038"/>
            <a:ext cx="8620125" cy="3676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601CFC8-C55D-4DB5-A51C-7D452FB8114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819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148D1CF-0A74-493B-8348-2C9DB314659D}"/>
                  </a:ext>
                </a:extLst>
              </p:cNvPr>
              <p:cNvSpPr/>
              <p:nvPr/>
            </p:nvSpPr>
            <p:spPr>
              <a:xfrm>
                <a:off x="251520" y="1826058"/>
                <a:ext cx="8712968" cy="4302396"/>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【例题】</a:t>
                </a:r>
                <a:r>
                  <a:rPr lang="zh-CN" altLang="en-US" sz="2400" b="1" kern="100" dirty="0">
                    <a:solidFill>
                      <a:schemeClr val="bg1"/>
                    </a:solidFill>
                    <a:latin typeface="Times New Roman" panose="02020603050405020304" pitchFamily="18" charset="0"/>
                    <a:ea typeface="宋体" panose="02010600030101010101" pitchFamily="2" charset="-122"/>
                  </a:rPr>
                  <a:t>已知</a:t>
                </a:r>
                <a:r>
                  <a:rPr lang="en-US" altLang="zh-CN" sz="2400" b="1" i="1" kern="100" dirty="0">
                    <a:solidFill>
                      <a:schemeClr val="bg1"/>
                    </a:solidFill>
                    <a:latin typeface="Times New Roman" panose="02020603050405020304" pitchFamily="18" charset="0"/>
                    <a:ea typeface="宋体" panose="02010600030101010101" pitchFamily="2" charset="-122"/>
                  </a:rPr>
                  <a:t>R</a:t>
                </a:r>
                <a:r>
                  <a:rPr lang="zh-CN" altLang="zh-CN" sz="2400" b="1" kern="100" dirty="0">
                    <a:solidFill>
                      <a:schemeClr val="bg1"/>
                    </a:solidFill>
                    <a:latin typeface="Times New Roman" panose="02020603050405020304" pitchFamily="18" charset="0"/>
                    <a:ea typeface="宋体" panose="02010600030101010101" pitchFamily="2" charset="-122"/>
                  </a:rPr>
                  <a:t>上函数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oMath>
                </a14:m>
                <a:r>
                  <a:rPr lang="zh-CN" altLang="zh-CN" sz="2400" b="1" kern="100" dirty="0">
                    <a:solidFill>
                      <a:schemeClr val="bg1"/>
                    </a:solidFill>
                    <a:latin typeface="Times New Roman" panose="02020603050405020304" pitchFamily="18" charset="0"/>
                    <a:ea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𝒙</m:t>
                        </m:r>
                      </m:e>
                      <m:sup>
                        <m:r>
                          <a:rPr lang="en-US" altLang="zh-CN" sz="2400" b="1" i="1" kern="100">
                            <a:solidFill>
                              <a:schemeClr val="bg1"/>
                            </a:solidFill>
                            <a:latin typeface="Cambria Math" panose="02040503050406030204" pitchFamily="18" charset="0"/>
                            <a:ea typeface="宋体" panose="02010600030101010101" pitchFamily="2" charset="-122"/>
                          </a:rPr>
                          <m:t>𝟐</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oMath>
                </a14:m>
                <a:r>
                  <a:rPr lang="zh-CN" altLang="zh-CN" sz="2400" b="1" kern="100" dirty="0">
                    <a:solidFill>
                      <a:schemeClr val="bg1"/>
                    </a:solidFill>
                    <a:latin typeface="Times New Roman" panose="02020603050405020304" pitchFamily="18" charset="0"/>
                    <a:ea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求</a:t>
                </a:r>
                <a:r>
                  <a:rPr lang="zh-CN" altLang="en-US" sz="2400" b="1" kern="100" dirty="0">
                    <a:solidFill>
                      <a:schemeClr val="bg1"/>
                    </a:solidFill>
                    <a:latin typeface="Times New Roman" panose="02020603050405020304" pitchFamily="18" charset="0"/>
                    <a:ea typeface="宋体" panose="02010600030101010101" pitchFamily="2" charset="-122"/>
                  </a:rPr>
                  <a:t>复合函数</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rPr>
                  <a:t>。</a:t>
                </a:r>
              </a:p>
              <a:p>
                <a:pPr indent="266700"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rPr>
                  <a:t>【解】</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rPr>
                  <a:t>满足复合条件，</a:t>
                </a:r>
                <a:r>
                  <a:rPr lang="zh-CN" altLang="en-US" sz="2400" b="1" kern="100" dirty="0">
                    <a:solidFill>
                      <a:schemeClr val="bg1"/>
                    </a:solidFill>
                    <a:latin typeface="Times New Roman" panose="02020603050405020304" pitchFamily="18" charset="0"/>
                    <a:ea typeface="宋体" panose="02010600030101010101" pitchFamily="2" charset="-122"/>
                  </a:rPr>
                  <a:t>由</a:t>
                </a:r>
                <a:r>
                  <a:rPr lang="zh-CN" altLang="zh-CN" sz="2400" b="1" kern="100" dirty="0">
                    <a:solidFill>
                      <a:schemeClr val="bg1"/>
                    </a:solidFill>
                    <a:latin typeface="Times New Roman" panose="02020603050405020304" pitchFamily="18" charset="0"/>
                    <a:ea typeface="宋体" panose="02010600030101010101" pitchFamily="2" charset="-122"/>
                  </a:rPr>
                  <a:t>复合函数定义可得：</a:t>
                </a:r>
              </a:p>
              <a:p>
                <a:pPr marL="1066800"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e>
                      </m:d>
                      <m:r>
                        <a:rPr lang="en-US" altLang="zh-CN" sz="2400" b="1" i="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smtClean="0">
                              <a:solidFill>
                                <a:srgbClr val="FFFF00"/>
                              </a:solidFill>
                              <a:latin typeface="Cambria Math" panose="02040503050406030204" pitchFamily="18" charset="0"/>
                              <a:ea typeface="Cambria Math" panose="02040503050406030204" pitchFamily="18" charset="0"/>
                            </a:rPr>
                          </m:ctrlPr>
                        </m:sSupPr>
                        <m:e>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𝟐</m:t>
                              </m:r>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e>
                          </m:d>
                        </m:e>
                        <m:sup>
                          <m:r>
                            <a:rPr lang="en-US" altLang="zh-CN" sz="2400" b="1" i="1" kern="100">
                              <a:solidFill>
                                <a:srgbClr val="FFFF00"/>
                              </a:solidFill>
                              <a:latin typeface="Cambria Math" panose="02040503050406030204" pitchFamily="18" charset="0"/>
                              <a:ea typeface="宋体" panose="02010600030101010101" pitchFamily="2" charset="-122"/>
                            </a:rPr>
                            <m:t>𝟐</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𝟒</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𝒙</m:t>
                          </m:r>
                        </m:e>
                        <m:sup>
                          <m:r>
                            <a:rPr lang="en-US" altLang="zh-CN" sz="2400" b="1" i="1" kern="100">
                              <a:solidFill>
                                <a:schemeClr val="bg1"/>
                              </a:solidFill>
                              <a:latin typeface="Cambria Math" panose="02040503050406030204" pitchFamily="18" charset="0"/>
                              <a:ea typeface="宋体" panose="02010600030101010101" pitchFamily="2" charset="-122"/>
                            </a:rPr>
                            <m:t>𝟐</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𝟒</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marL="1066800"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𝟐</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𝒙</m:t>
                              </m:r>
                            </m:e>
                            <m:sup>
                              <m:r>
                                <a:rPr lang="en-US" altLang="zh-CN" sz="2400" b="1" i="1" kern="100">
                                  <a:solidFill>
                                    <a:srgbClr val="FFFF00"/>
                                  </a:solidFill>
                                  <a:latin typeface="Cambria Math" panose="02040503050406030204" pitchFamily="18" charset="0"/>
                                  <a:ea typeface="宋体" panose="02010600030101010101" pitchFamily="2" charset="-122"/>
                                </a:rPr>
                                <m:t>𝟐</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𝒙</m:t>
                          </m:r>
                        </m:e>
                        <m:sup>
                          <m:r>
                            <a:rPr lang="en-US" altLang="zh-CN" sz="2400" b="1" i="1" kern="100">
                              <a:solidFill>
                                <a:schemeClr val="bg1"/>
                              </a:solidFill>
                              <a:latin typeface="Cambria Math" panose="02040503050406030204" pitchFamily="18" charset="0"/>
                              <a:ea typeface="宋体" panose="02010600030101010101" pitchFamily="2" charset="-122"/>
                            </a:rPr>
                            <m:t>𝟐</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𝟑</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marL="1066800" indent="266700"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𝟐</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𝟐</m:t>
                          </m:r>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𝟒𝐱</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𝟑</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marL="800100" indent="266700" algn="just">
                  <a:lnSpc>
                    <a:spcPct val="150000"/>
                  </a:lnSpc>
                  <a:spcAft>
                    <a:spcPts val="0"/>
                  </a:spcAft>
                </a:pP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e>
                    </m:d>
                    <m:r>
                      <a:rPr lang="en-US" altLang="zh-CN" sz="2400" b="1" i="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smtClean="0">
                            <a:solidFill>
                              <a:srgbClr val="FFFF00"/>
                            </a:solidFill>
                            <a:latin typeface="Cambria Math" panose="02040503050406030204" pitchFamily="18" charset="0"/>
                            <a:ea typeface="Cambria Math" panose="02040503050406030204" pitchFamily="18" charset="0"/>
                          </a:rPr>
                        </m:ctrlPr>
                      </m:sSupPr>
                      <m:e>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𝒙</m:t>
                                </m:r>
                              </m:e>
                              <m:sup>
                                <m:r>
                                  <a:rPr lang="en-US" altLang="zh-CN" sz="2400" b="1" i="1" kern="100">
                                    <a:solidFill>
                                      <a:srgbClr val="FFFF00"/>
                                    </a:solidFill>
                                    <a:latin typeface="Cambria Math" panose="02040503050406030204" pitchFamily="18" charset="0"/>
                                    <a:ea typeface="宋体" panose="02010600030101010101" pitchFamily="2" charset="-122"/>
                                  </a:rPr>
                                  <m:t>𝟐</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e>
                        </m:d>
                      </m:e>
                      <m:sup>
                        <m:r>
                          <a:rPr lang="en-US" altLang="zh-CN" sz="2400" b="1" i="1" kern="100">
                            <a:solidFill>
                              <a:srgbClr val="FFFF00"/>
                            </a:solidFill>
                            <a:latin typeface="Cambria Math" panose="02040503050406030204" pitchFamily="18" charset="0"/>
                            <a:ea typeface="宋体" panose="02010600030101010101" pitchFamily="2" charset="-122"/>
                          </a:rPr>
                          <m:t>𝟐</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i="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𝒙</m:t>
                        </m:r>
                      </m:e>
                      <m:sup>
                        <m:r>
                          <a:rPr lang="en-US" altLang="zh-CN" sz="2400" b="1" i="1" kern="100">
                            <a:solidFill>
                              <a:schemeClr val="bg1"/>
                            </a:solidFill>
                            <a:latin typeface="Cambria Math" panose="02040503050406030204" pitchFamily="18" charset="0"/>
                            <a:ea typeface="宋体" panose="02010600030101010101" pitchFamily="2" charset="-122"/>
                          </a:rPr>
                          <m:t>𝟒</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𝒙</m:t>
                        </m:r>
                      </m:e>
                      <m:sup>
                        <m:r>
                          <a:rPr lang="en-US" altLang="zh-CN" sz="2400" b="1" i="1" kern="100">
                            <a:solidFill>
                              <a:schemeClr val="bg1"/>
                            </a:solidFill>
                            <a:latin typeface="Cambria Math" panose="02040503050406030204" pitchFamily="18" charset="0"/>
                            <a:ea typeface="宋体" panose="02010600030101010101" pitchFamily="2" charset="-122"/>
                          </a:rPr>
                          <m:t>𝟐</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oMath>
                </a14:m>
                <a:r>
                  <a:rPr lang="en-US" altLang="zh-CN" sz="2400" kern="0" dirty="0">
                    <a:solidFill>
                      <a:schemeClr val="bg1"/>
                    </a:solidFill>
                    <a:latin typeface="宋体" panose="02010600030101010101" pitchFamily="2" charset="-122"/>
                    <a:ea typeface="宋体" panose="02010600030101010101" pitchFamily="2" charset="-122"/>
                    <a:cs typeface="宋体" panose="02010600030101010101" pitchFamily="2" charset="-122"/>
                  </a:rPr>
                  <a:t>	</a:t>
                </a:r>
                <a:endParaRPr lang="zh-CN" altLang="zh-CN" sz="2400"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4148D1CF-0A74-493B-8348-2C9DB314659D}"/>
                  </a:ext>
                </a:extLst>
              </p:cNvPr>
              <p:cNvSpPr>
                <a:spLocks noRot="1" noChangeAspect="1" noMove="1" noResize="1" noEditPoints="1" noAdjustHandles="1" noChangeArrowheads="1" noChangeShapeType="1" noTextEdit="1"/>
              </p:cNvSpPr>
              <p:nvPr/>
            </p:nvSpPr>
            <p:spPr>
              <a:xfrm>
                <a:off x="251520" y="1826058"/>
                <a:ext cx="8712968" cy="4302396"/>
              </a:xfrm>
              <a:prstGeom prst="rect">
                <a:avLst/>
              </a:prstGeom>
              <a:blipFill>
                <a:blip r:embed="rId3"/>
                <a:stretch>
                  <a:fillRect/>
                </a:stretch>
              </a:blipFill>
            </p:spPr>
            <p:txBody>
              <a:bodyPr/>
              <a:lstStyle/>
              <a:p>
                <a:r>
                  <a:rPr lang="zh-CN" altLang="en-US">
                    <a:noFill/>
                  </a:rPr>
                  <a:t> </a:t>
                </a:r>
              </a:p>
            </p:txBody>
          </p:sp>
        </mc:Fallback>
      </mc:AlternateContent>
      <p:sp>
        <p:nvSpPr>
          <p:cNvPr id="8" name="Text Box 2">
            <a:extLst>
              <a:ext uri="{FF2B5EF4-FFF2-40B4-BE49-F238E27FC236}">
                <a16:creationId xmlns:a16="http://schemas.microsoft.com/office/drawing/2014/main" id="{C1519069-ABD5-4852-9BF0-793364E8CC1F}"/>
              </a:ext>
            </a:extLst>
          </p:cNvPr>
          <p:cNvSpPr txBox="1">
            <a:spLocks noChangeArrowheads="1"/>
          </p:cNvSpPr>
          <p:nvPr/>
        </p:nvSpPr>
        <p:spPr bwMode="auto">
          <a:xfrm>
            <a:off x="1331640" y="658362"/>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spTree>
    <p:extLst>
      <p:ext uri="{BB962C8B-B14F-4D97-AF65-F5344CB8AC3E}">
        <p14:creationId xmlns:p14="http://schemas.microsoft.com/office/powerpoint/2010/main" val="2644715888"/>
      </p:ext>
    </p:extLst>
  </p:cSld>
  <p:clrMapOvr>
    <a:masterClrMapping/>
  </p:clrMapOvr>
  <p:transition spd="med">
    <p:wipe dir="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CC716D1C-940E-4DA3-A581-3098A1792E5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601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6020" name="Text Box 2"/>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8602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6022" name="Picture 7" descr="QQ截图2015110510093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773238"/>
            <a:ext cx="7989888" cy="4500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2EB6620-6BE9-4172-8C57-8776691BDC8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704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7044" name="Text Box 2"/>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8704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7046" name="Picture 7" descr="QQ截图20151105101040"/>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288" y="1773238"/>
            <a:ext cx="8315325" cy="438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2EB6620-6BE9-4172-8C57-8776691BDC85}"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704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7044" name="Text Box 2"/>
          <p:cNvSpPr txBox="1">
            <a:spLocks noChangeArrowheads="1"/>
          </p:cNvSpPr>
          <p:nvPr/>
        </p:nvSpPr>
        <p:spPr bwMode="auto">
          <a:xfrm>
            <a:off x="1331913" y="692150"/>
            <a:ext cx="65532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复合运算的结合律</a:t>
            </a:r>
          </a:p>
        </p:txBody>
      </p:sp>
      <p:pic>
        <p:nvPicPr>
          <p:cNvPr id="8704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图片 1">
            <a:extLst>
              <a:ext uri="{FF2B5EF4-FFF2-40B4-BE49-F238E27FC236}">
                <a16:creationId xmlns:a16="http://schemas.microsoft.com/office/drawing/2014/main" id="{D09C852E-1B84-4A2A-B91F-AC747E172EDA}"/>
              </a:ext>
            </a:extLst>
          </p:cNvPr>
          <p:cNvPicPr>
            <a:picLocks noChangeAspect="1"/>
          </p:cNvPicPr>
          <p:nvPr/>
        </p:nvPicPr>
        <p:blipFill>
          <a:blip r:embed="rId3"/>
          <a:stretch>
            <a:fillRect/>
          </a:stretch>
        </p:blipFill>
        <p:spPr>
          <a:xfrm>
            <a:off x="1259632" y="2132856"/>
            <a:ext cx="7008833" cy="4010302"/>
          </a:xfrm>
          <a:prstGeom prst="rect">
            <a:avLst/>
          </a:prstGeom>
        </p:spPr>
      </p:pic>
    </p:spTree>
    <p:extLst>
      <p:ext uri="{BB962C8B-B14F-4D97-AF65-F5344CB8AC3E}">
        <p14:creationId xmlns:p14="http://schemas.microsoft.com/office/powerpoint/2010/main" val="45591436"/>
      </p:ext>
    </p:extLst>
  </p:cSld>
  <p:clrMapOvr>
    <a:masterClrMapping/>
  </p:clrMapOvr>
  <p:transition spd="med">
    <p:wipe dir="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4CA930D7-00D3-4BDA-B727-C640B240C347}"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806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8068" name="Text Box 2"/>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复合运算的性质</a:t>
            </a:r>
          </a:p>
        </p:txBody>
      </p:sp>
      <p:pic>
        <p:nvPicPr>
          <p:cNvPr id="8806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5579010D-4065-4043-86C3-CF06587471B1}"/>
                  </a:ext>
                </a:extLst>
              </p:cNvPr>
              <p:cNvSpPr/>
              <p:nvPr/>
            </p:nvSpPr>
            <p:spPr>
              <a:xfrm>
                <a:off x="323528" y="1700808"/>
                <a:ext cx="8424936" cy="4534831"/>
              </a:xfrm>
              <a:prstGeom prst="rect">
                <a:avLst/>
              </a:prstGeom>
              <a:solidFill>
                <a:schemeClr val="accent6">
                  <a:lumMod val="75000"/>
                </a:schemeClr>
              </a:solidFill>
            </p:spPr>
            <p:txBody>
              <a:bodyPr wrap="square">
                <a:spAutoFit/>
              </a:bodyPr>
              <a:lstStyle/>
              <a:p>
                <a:pPr indent="200660" algn="just">
                  <a:lnSpc>
                    <a:spcPct val="150000"/>
                  </a:lnSpc>
                  <a:spcAft>
                    <a:spcPts val="0"/>
                  </a:spcAft>
                </a:pPr>
                <a:r>
                  <a:rPr lang="en-US"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【定理</a:t>
                </a:r>
                <a:r>
                  <a:rPr lang="zh-CN" altLang="zh-CN" sz="2800" b="1" kern="100" dirty="0">
                    <a:solidFill>
                      <a:schemeClr val="bg1"/>
                    </a:solidFill>
                    <a:latin typeface="Times New Roman" panose="02020603050405020304" pitchFamily="18" charset="0"/>
                    <a:ea typeface="宋体" panose="02010600030101010101" pitchFamily="2" charset="-122"/>
                  </a:rPr>
                  <a:t>】</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𝑩</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𝒈</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𝑩</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𝑪</m:t>
                    </m:r>
                  </m:oMath>
                </a14:m>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是两个函数</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）如果函数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zh-CN" altLang="zh-CN" sz="2800" b="1" kern="100">
                        <a:solidFill>
                          <a:schemeClr val="bg1"/>
                        </a:solidFill>
                        <a:latin typeface="Cambria Math" panose="02040503050406030204" pitchFamily="18" charset="0"/>
                        <a:ea typeface="宋体" panose="02010600030101010101" pitchFamily="2" charset="-122"/>
                      </a:rPr>
                      <m:t>和</m:t>
                    </m:r>
                    <m:r>
                      <a:rPr lang="en-US" altLang="zh-CN" sz="2800" b="1" i="1" kern="100">
                        <a:solidFill>
                          <a:schemeClr val="bg1"/>
                        </a:solidFill>
                        <a:latin typeface="Cambria Math" panose="02040503050406030204" pitchFamily="18" charset="0"/>
                        <a:ea typeface="宋体" panose="02010600030101010101" pitchFamily="2" charset="-122"/>
                      </a:rPr>
                      <m:t>𝒈</m:t>
                    </m:r>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都是满射</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，则复合函数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𝒈</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也是从</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𝑪</m:t>
                    </m:r>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满射</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）如果函数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zh-CN" altLang="zh-CN" sz="2800" b="1" kern="100">
                        <a:solidFill>
                          <a:schemeClr val="bg1"/>
                        </a:solidFill>
                        <a:latin typeface="Cambria Math" panose="02040503050406030204" pitchFamily="18" charset="0"/>
                        <a:ea typeface="宋体" panose="02010600030101010101" pitchFamily="2" charset="-122"/>
                      </a:rPr>
                      <m:t>和</m:t>
                    </m:r>
                    <m:r>
                      <a:rPr lang="en-US" altLang="zh-CN" sz="2800" b="1" i="1" kern="100">
                        <a:solidFill>
                          <a:schemeClr val="bg1"/>
                        </a:solidFill>
                        <a:latin typeface="Cambria Math" panose="02040503050406030204" pitchFamily="18" charset="0"/>
                        <a:ea typeface="宋体" panose="02010600030101010101" pitchFamily="2" charset="-122"/>
                      </a:rPr>
                      <m:t>𝒈</m:t>
                    </m:r>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都是单射</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14:m>
                  <m:oMath xmlns:m="http://schemas.openxmlformats.org/officeDocument/2006/math">
                    <m:r>
                      <m:rPr>
                        <m:nor/>
                      </m:rP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复合函数</m:t>
                    </m:r>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𝒈</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也是从</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𝑪</m:t>
                    </m:r>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单射</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）如果函数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zh-CN" altLang="zh-CN" sz="2800" b="1" kern="100">
                        <a:solidFill>
                          <a:schemeClr val="bg1"/>
                        </a:solidFill>
                        <a:latin typeface="Cambria Math" panose="02040503050406030204" pitchFamily="18" charset="0"/>
                        <a:ea typeface="宋体" panose="02010600030101010101" pitchFamily="2" charset="-122"/>
                      </a:rPr>
                      <m:t>和</m:t>
                    </m:r>
                    <m:r>
                      <a:rPr lang="en-US" altLang="zh-CN" sz="2800" b="1" i="1" kern="100">
                        <a:solidFill>
                          <a:schemeClr val="bg1"/>
                        </a:solidFill>
                        <a:latin typeface="Cambria Math" panose="02040503050406030204" pitchFamily="18" charset="0"/>
                        <a:ea typeface="宋体" panose="02010600030101010101" pitchFamily="2" charset="-122"/>
                      </a:rPr>
                      <m:t>𝒈</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都是</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双射</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14:m>
                  <m:oMath xmlns:m="http://schemas.openxmlformats.org/officeDocument/2006/math">
                    <m:r>
                      <m:rPr>
                        <m:nor/>
                      </m:rP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复合函数</m:t>
                    </m:r>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𝒈</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也是从</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𝑪</m:t>
                    </m:r>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双射</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5579010D-4065-4043-86C3-CF06587471B1}"/>
                  </a:ext>
                </a:extLst>
              </p:cNvPr>
              <p:cNvSpPr>
                <a:spLocks noRot="1" noChangeAspect="1" noMove="1" noResize="1" noEditPoints="1" noAdjustHandles="1" noChangeArrowheads="1" noChangeShapeType="1" noTextEdit="1"/>
              </p:cNvSpPr>
              <p:nvPr/>
            </p:nvSpPr>
            <p:spPr>
              <a:xfrm>
                <a:off x="323528" y="1700808"/>
                <a:ext cx="8424936" cy="4534831"/>
              </a:xfrm>
              <a:prstGeom prst="rect">
                <a:avLst/>
              </a:prstGeom>
              <a:blipFill>
                <a:blip r:embed="rId3"/>
                <a:stretch>
                  <a:fillRect l="-1447" b="-2419"/>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FB105F9-F6CB-4AC0-AEC6-94EF143C97E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89091"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89092" name="Text Box 2"/>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复合运算的性质</a:t>
            </a:r>
          </a:p>
        </p:txBody>
      </p:sp>
      <p:pic>
        <p:nvPicPr>
          <p:cNvPr id="89093"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2DAFA698-2E28-477B-B687-FE62992E3317}"/>
                  </a:ext>
                </a:extLst>
              </p:cNvPr>
              <p:cNvSpPr/>
              <p:nvPr/>
            </p:nvSpPr>
            <p:spPr>
              <a:xfrm>
                <a:off x="323528" y="1739793"/>
                <a:ext cx="8136904" cy="4572214"/>
              </a:xfrm>
              <a:prstGeom prst="rect">
                <a:avLst/>
              </a:prstGeom>
              <a:solidFill>
                <a:schemeClr val="accent6">
                  <a:lumMod val="75000"/>
                </a:schemeClr>
              </a:solidFill>
            </p:spPr>
            <p:txBody>
              <a:bodyPr wrap="square">
                <a:spAutoFit/>
              </a:bodyPr>
              <a:lstStyle/>
              <a:p>
                <a:pPr indent="266700" algn="just">
                  <a:lnSpc>
                    <a:spcPts val="3200"/>
                  </a:lnSpc>
                  <a:spcAft>
                    <a:spcPts val="0"/>
                  </a:spcAft>
                </a:pPr>
                <a:r>
                  <a:rPr lang="en-US" altLang="zh-CN" sz="2400" kern="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en-US" sz="2400" b="1" kern="100" dirty="0">
                    <a:solidFill>
                      <a:schemeClr val="bg1"/>
                    </a:solidFill>
                    <a:ea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都</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是满射</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知，</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a:t>
                </a:r>
                <a14:m>
                  <m:oMath xmlns:m="http://schemas.openxmlformats.org/officeDocument/2006/math">
                    <m:r>
                      <a:rPr lang="en-US" altLang="zh-CN" sz="2400" b="1" ker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r>
                      <a:rPr lang="en-US" altLang="zh-CN" sz="2400" b="1" ker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𝒃</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𝒄</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𝒃</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𝒂</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𝒂</m:t>
                        </m:r>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 </m:t>
                    </m:r>
                    <m:r>
                      <a:rPr lang="en-US" altLang="zh-CN" sz="2400" b="1" i="1" kern="100">
                        <a:solidFill>
                          <a:schemeClr val="bg1"/>
                        </a:solidFill>
                        <a:latin typeface="Cambria Math" panose="02040503050406030204" pitchFamily="18" charset="0"/>
                        <a:ea typeface="宋体" panose="02010600030101010101" pitchFamily="2" charset="-122"/>
                      </a:rPr>
                      <m:t>𝒃</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2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𝒂</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𝒂</m:t>
                              </m:r>
                            </m:e>
                          </m:d>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𝒃</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𝒄</m:t>
                      </m:r>
                    </m:oMath>
                  </m:oMathPara>
                </a14:m>
                <a:endParaRPr lang="zh-CN" altLang="zh-CN" sz="2400" b="1" kern="100" dirty="0">
                  <a:solidFill>
                    <a:srgbClr val="FFFF00"/>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存在</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𝒂</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，使得</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𝒂</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𝒄</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r>
                      <m:rPr>
                        <m:nor/>
                      </m:rP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m:t>是满射</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于</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𝒂</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𝒂</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r>
                      <a:rPr lang="zh-CN" altLang="zh-CN" sz="2400" b="1" i="1" kern="100">
                        <a:solidFill>
                          <a:srgbClr val="FFFF00"/>
                        </a:solidFill>
                        <a:latin typeface="Cambria Math" panose="02040503050406030204" pitchFamily="18" charset="0"/>
                        <a:ea typeface="Cambria Math" panose="02040503050406030204" pitchFamily="18" charset="0"/>
                      </a:rPr>
                      <m:t> </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𝒂</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𝒂</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单射知</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2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en-US" altLang="zh-CN" sz="2400" b="1" i="1" kern="100">
                              <a:solidFill>
                                <a:schemeClr val="bg1"/>
                              </a:solidFill>
                              <a:latin typeface="Cambria Math" panose="02040503050406030204" pitchFamily="18" charset="0"/>
                              <a:ea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𝒂</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en-US" altLang="zh-CN" sz="2400" b="1" i="1" kern="100">
                              <a:solidFill>
                                <a:schemeClr val="bg1"/>
                              </a:solidFill>
                              <a:latin typeface="Cambria Math" panose="02040503050406030204" pitchFamily="18" charset="0"/>
                              <a:ea typeface="宋体" panose="02010600030101010101" pitchFamily="2" charset="-122"/>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𝒂</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e>
                      </m:d>
                    </m:oMath>
                  </m:oMathPara>
                </a14:m>
                <a:endParaRPr lang="en-US"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令</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𝒃</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𝒂</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𝒃</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𝒂</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是单射可知：</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𝒃</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𝒃</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r>
                      <a:rPr lang="en-US" altLang="zh-CN" sz="2400" b="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𝒂</m:t>
                            </m:r>
                          </m:e>
                          <m:sub>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r>
                      <a:rPr lang="en-US" altLang="zh-CN" sz="2400" b="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𝒂</m:t>
                            </m:r>
                          </m:e>
                          <m:sub>
                            <m:r>
                              <a:rPr lang="en-US" altLang="zh-CN" sz="2400" b="1" i="1" kern="100">
                                <a:solidFill>
                                  <a:schemeClr val="bg1"/>
                                </a:solidFill>
                                <a:latin typeface="Cambria Math" panose="02040503050406030204" pitchFamily="18" charset="0"/>
                                <a:ea typeface="宋体" panose="02010600030101010101" pitchFamily="2" charset="-122"/>
                              </a:rPr>
                              <m:t>𝟐</m:t>
                            </m:r>
                          </m:sub>
                        </m:sSub>
                      </m:e>
                    </m:d>
                    <m:r>
                      <a:rPr lang="en-US" altLang="zh-CN" sz="2400" b="1" kern="100">
                        <a:solidFill>
                          <a:schemeClr val="bg1"/>
                        </a:solidFill>
                        <a:latin typeface="Cambria Math" panose="02040503050406030204" pitchFamily="18" charset="0"/>
                        <a:ea typeface="宋体" panose="02010600030101010101" pitchFamily="2" charset="-122"/>
                      </a:rPr>
                      <m:t>)</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从而有：</a:t>
                </a:r>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2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𝒈</m:t>
                      </m:r>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𝒂</m:t>
                          </m:r>
                        </m:e>
                        <m:sub>
                          <m:r>
                            <a:rPr lang="en-US" altLang="zh-CN" sz="2400" b="1" i="1" kern="100">
                              <a:solidFill>
                                <a:srgbClr val="FFFF00"/>
                              </a:solidFill>
                              <a:latin typeface="Cambria Math" panose="02040503050406030204" pitchFamily="18" charset="0"/>
                              <a:ea typeface="宋体" panose="02010600030101010101" pitchFamily="2" charset="-122"/>
                            </a:rPr>
                            <m:t>𝟏</m:t>
                          </m:r>
                        </m:sub>
                      </m:sSub>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𝒈</m:t>
                      </m:r>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𝒂</m:t>
                          </m:r>
                        </m:e>
                        <m:sub>
                          <m:r>
                            <a:rPr lang="en-US" altLang="zh-CN" sz="2400" b="1" i="1" kern="100">
                              <a:solidFill>
                                <a:srgbClr val="FFFF00"/>
                              </a:solidFill>
                              <a:latin typeface="Cambria Math" panose="02040503050406030204" pitchFamily="18" charset="0"/>
                              <a:ea typeface="宋体" panose="02010600030101010101" pitchFamily="2" charset="-122"/>
                            </a:rPr>
                            <m:t>𝟐</m:t>
                          </m:r>
                        </m:sub>
                      </m:sSub>
                      <m:r>
                        <a:rPr lang="en-US" altLang="zh-CN" sz="2400" b="1" i="1" kern="100">
                          <a:solidFill>
                            <a:srgbClr val="FFFF00"/>
                          </a:solidFill>
                          <a:latin typeface="Cambria Math" panose="02040503050406030204" pitchFamily="18" charset="0"/>
                          <a:ea typeface="宋体" panose="02010600030101010101" pitchFamily="2" charset="-122"/>
                        </a:rPr>
                        <m:t>)</m:t>
                      </m:r>
                    </m:oMath>
                  </m:oMathPara>
                </a14:m>
                <a:endParaRPr lang="zh-CN" altLang="zh-CN" sz="2400" b="1" kern="100" dirty="0">
                  <a:solidFill>
                    <a:srgbClr val="FFFF00"/>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所以</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𝒈</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是单射。</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）综合是</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）的结果即可得证。</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2DAFA698-2E28-477B-B687-FE62992E3317}"/>
                  </a:ext>
                </a:extLst>
              </p:cNvPr>
              <p:cNvSpPr>
                <a:spLocks noRot="1" noChangeAspect="1" noMove="1" noResize="1" noEditPoints="1" noAdjustHandles="1" noChangeArrowheads="1" noChangeShapeType="1" noTextEdit="1"/>
              </p:cNvSpPr>
              <p:nvPr/>
            </p:nvSpPr>
            <p:spPr>
              <a:xfrm>
                <a:off x="323528" y="1739793"/>
                <a:ext cx="8136904" cy="4572214"/>
              </a:xfrm>
              <a:prstGeom prst="rect">
                <a:avLst/>
              </a:prstGeom>
              <a:blipFill>
                <a:blip r:embed="rId3"/>
                <a:stretch>
                  <a:fillRect l="-1124" t="-1333" r="-1199" b="-2267"/>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D67A78A-35C9-4718-B195-2C991ED1D8D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011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0116" name="Text Box 2"/>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复合运算的性质</a:t>
            </a:r>
          </a:p>
        </p:txBody>
      </p:sp>
      <p:pic>
        <p:nvPicPr>
          <p:cNvPr id="9011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3676723D-CCFE-4AAA-82A6-C97158893702}"/>
                  </a:ext>
                </a:extLst>
              </p:cNvPr>
              <p:cNvSpPr/>
              <p:nvPr/>
            </p:nvSpPr>
            <p:spPr>
              <a:xfrm>
                <a:off x="423048" y="1927342"/>
                <a:ext cx="8370930" cy="4150560"/>
              </a:xfrm>
              <a:prstGeom prst="rect">
                <a:avLst/>
              </a:prstGeom>
              <a:solidFill>
                <a:schemeClr val="accent3">
                  <a:lumMod val="95000"/>
                </a:schemeClr>
              </a:solidFill>
            </p:spPr>
            <p:txBody>
              <a:bodyPr wrap="square">
                <a:spAutoFit/>
              </a:bodyPr>
              <a:lstStyle/>
              <a:p>
                <a:pPr indent="266700" algn="just">
                  <a:lnSpc>
                    <a:spcPts val="4600"/>
                  </a:lnSpc>
                  <a:spcAft>
                    <a:spcPts val="0"/>
                  </a:spcAft>
                </a:pPr>
                <a:r>
                  <a:rPr lang="zh-CN" altLang="zh-CN" sz="2800" b="1" kern="0" dirty="0">
                    <a:solidFill>
                      <a:schemeClr val="tx1"/>
                    </a:solidFill>
                    <a:cs typeface="宋体" panose="02010600030101010101" pitchFamily="2" charset="-122"/>
                  </a:rPr>
                  <a:t>【定理</a:t>
                </a:r>
                <a:r>
                  <a:rPr lang="zh-CN" altLang="zh-CN" sz="2800" b="1" kern="100" dirty="0">
                    <a:solidFill>
                      <a:schemeClr val="tx1"/>
                    </a:solidFill>
                  </a:rPr>
                  <a:t>】</a:t>
                </a:r>
                <a:r>
                  <a:rPr lang="zh-CN" altLang="zh-CN" sz="2800" b="1" kern="0" dirty="0">
                    <a:solidFill>
                      <a:schemeClr val="tx1"/>
                    </a:solidFill>
                    <a:cs typeface="宋体" panose="02010600030101010101" pitchFamily="2" charset="-122"/>
                  </a:rPr>
                  <a:t>设</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𝒇</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𝑨</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𝒈</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𝑪</m:t>
                    </m:r>
                  </m:oMath>
                </a14:m>
                <a:r>
                  <a:rPr lang="zh-CN" altLang="zh-CN" sz="2800" b="1" kern="0" dirty="0">
                    <a:solidFill>
                      <a:schemeClr val="tx1"/>
                    </a:solidFill>
                    <a:cs typeface="宋体" panose="02010600030101010101" pitchFamily="2" charset="-122"/>
                  </a:rPr>
                  <a:t>是两个函数，则有：</a:t>
                </a:r>
                <a:endParaRPr lang="zh-CN" altLang="zh-CN" sz="2800" b="1" kern="100" dirty="0">
                  <a:solidFill>
                    <a:schemeClr val="tx1"/>
                  </a:solidFill>
                </a:endParaRPr>
              </a:p>
              <a:p>
                <a:pPr indent="266700" algn="just">
                  <a:lnSpc>
                    <a:spcPts val="4600"/>
                  </a:lnSpc>
                  <a:spcAft>
                    <a:spcPts val="0"/>
                  </a:spcAft>
                </a:pPr>
                <a:r>
                  <a:rPr lang="zh-CN" altLang="zh-CN" sz="2800" b="1" kern="0" dirty="0">
                    <a:solidFill>
                      <a:schemeClr val="tx1"/>
                    </a:solidFill>
                    <a:cs typeface="宋体" panose="02010600030101010101" pitchFamily="2" charset="-122"/>
                  </a:rPr>
                  <a:t>（</a:t>
                </a:r>
                <a:r>
                  <a:rPr lang="en-US" altLang="zh-CN" sz="2800" b="1" kern="0" dirty="0">
                    <a:solidFill>
                      <a:schemeClr val="tx1"/>
                    </a:solidFill>
                    <a:cs typeface="宋体" panose="02010600030101010101" pitchFamily="2" charset="-122"/>
                  </a:rPr>
                  <a:t>1</a:t>
                </a:r>
                <a:r>
                  <a:rPr lang="zh-CN" altLang="zh-CN" sz="2800" b="1" kern="0" dirty="0">
                    <a:solidFill>
                      <a:schemeClr val="tx1"/>
                    </a:solidFill>
                    <a:cs typeface="宋体" panose="02010600030101010101" pitchFamily="2" charset="-122"/>
                  </a:rPr>
                  <a:t>）如果复合函数</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𝒇</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𝒈</m:t>
                    </m:r>
                  </m:oMath>
                </a14:m>
                <a:r>
                  <a:rPr lang="zh-CN" altLang="zh-CN" sz="2800" b="1" kern="100" dirty="0">
                    <a:solidFill>
                      <a:schemeClr val="tx1"/>
                    </a:solidFill>
                    <a:cs typeface="宋体" panose="02010600030101010101" pitchFamily="2" charset="-122"/>
                  </a:rPr>
                  <a:t>是</a:t>
                </a:r>
                <a:r>
                  <a:rPr lang="zh-CN" altLang="zh-CN" sz="2800" b="1" kern="100" dirty="0">
                    <a:solidFill>
                      <a:schemeClr val="accent2"/>
                    </a:solidFill>
                    <a:cs typeface="宋体" panose="02010600030101010101" pitchFamily="2" charset="-122"/>
                  </a:rPr>
                  <a:t>从</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𝑨</m:t>
                    </m:r>
                  </m:oMath>
                </a14:m>
                <a:r>
                  <a:rPr lang="zh-CN" altLang="zh-CN" sz="2800" b="1" kern="100" dirty="0">
                    <a:solidFill>
                      <a:schemeClr val="accent2"/>
                    </a:solidFill>
                    <a:cs typeface="宋体" panose="02010600030101010101" pitchFamily="2" charset="-122"/>
                  </a:rPr>
                  <a:t>到</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𝑪</m:t>
                    </m:r>
                  </m:oMath>
                </a14:m>
                <a:r>
                  <a:rPr lang="zh-CN" altLang="en-US" sz="2800" b="1" kern="100" dirty="0">
                    <a:solidFill>
                      <a:schemeClr val="accent2"/>
                    </a:solidFill>
                    <a:cs typeface="宋体" panose="02010600030101010101" pitchFamily="2" charset="-122"/>
                  </a:rPr>
                  <a:t>的单射</a:t>
                </a:r>
                <a:r>
                  <a:rPr lang="zh-CN" altLang="zh-CN" sz="2800" b="1" kern="100" dirty="0">
                    <a:solidFill>
                      <a:schemeClr val="tx1"/>
                    </a:solidFill>
                    <a:cs typeface="宋体" panose="02010600030101010101" pitchFamily="2" charset="-122"/>
                  </a:rPr>
                  <a:t>，则函数</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𝒇</m:t>
                    </m:r>
                  </m:oMath>
                </a14:m>
                <a:r>
                  <a:rPr lang="zh-CN" altLang="zh-CN" sz="2800" b="1" kern="100" dirty="0">
                    <a:solidFill>
                      <a:schemeClr val="accent2"/>
                    </a:solidFill>
                    <a:cs typeface="宋体" panose="02010600030101010101" pitchFamily="2" charset="-122"/>
                  </a:rPr>
                  <a:t>是</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𝑨</m:t>
                    </m:r>
                  </m:oMath>
                </a14:m>
                <a:r>
                  <a:rPr lang="zh-CN" altLang="zh-CN" sz="2800" b="1" kern="100" dirty="0">
                    <a:solidFill>
                      <a:schemeClr val="accent2"/>
                    </a:solidFill>
                    <a:cs typeface="宋体" panose="02010600030101010101" pitchFamily="2" charset="-122"/>
                  </a:rPr>
                  <a:t>是</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𝑩</m:t>
                    </m:r>
                  </m:oMath>
                </a14:m>
                <a:r>
                  <a:rPr lang="zh-CN" altLang="zh-CN" sz="2800" b="1" kern="100" dirty="0">
                    <a:solidFill>
                      <a:schemeClr val="accent2"/>
                    </a:solidFill>
                    <a:cs typeface="宋体" panose="02010600030101010101" pitchFamily="2" charset="-122"/>
                  </a:rPr>
                  <a:t>的单射</a:t>
                </a:r>
                <a:r>
                  <a:rPr lang="zh-CN" altLang="zh-CN" sz="2800" b="1" kern="100" dirty="0">
                    <a:solidFill>
                      <a:schemeClr val="tx1"/>
                    </a:solidFill>
                    <a:cs typeface="宋体" panose="02010600030101010101" pitchFamily="2" charset="-122"/>
                  </a:rPr>
                  <a:t>；</a:t>
                </a:r>
                <a:endParaRPr lang="zh-CN" altLang="zh-CN" sz="2800" b="1" kern="100" dirty="0">
                  <a:solidFill>
                    <a:schemeClr val="tx1"/>
                  </a:solidFill>
                </a:endParaRPr>
              </a:p>
              <a:p>
                <a:pPr indent="266700" algn="just">
                  <a:lnSpc>
                    <a:spcPts val="4600"/>
                  </a:lnSpc>
                  <a:spcAft>
                    <a:spcPts val="0"/>
                  </a:spcAft>
                </a:pPr>
                <a:r>
                  <a:rPr lang="zh-CN" altLang="zh-CN" sz="2800" b="1" kern="0" dirty="0">
                    <a:solidFill>
                      <a:schemeClr val="tx1"/>
                    </a:solidFill>
                    <a:cs typeface="宋体" panose="02010600030101010101" pitchFamily="2" charset="-122"/>
                  </a:rPr>
                  <a:t>（</a:t>
                </a:r>
                <a:r>
                  <a:rPr lang="en-US" altLang="zh-CN" sz="2800" b="1" kern="0" dirty="0">
                    <a:solidFill>
                      <a:schemeClr val="tx1"/>
                    </a:solidFill>
                    <a:cs typeface="宋体" panose="02010600030101010101" pitchFamily="2" charset="-122"/>
                  </a:rPr>
                  <a:t>2</a:t>
                </a:r>
                <a:r>
                  <a:rPr lang="zh-CN" altLang="zh-CN" sz="2800" b="1" kern="0" dirty="0">
                    <a:solidFill>
                      <a:schemeClr val="tx1"/>
                    </a:solidFill>
                    <a:cs typeface="宋体" panose="02010600030101010101" pitchFamily="2" charset="-122"/>
                  </a:rPr>
                  <a:t>）如果复合函数</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𝒇</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𝒈</m:t>
                    </m:r>
                  </m:oMath>
                </a14:m>
                <a:r>
                  <a:rPr lang="zh-CN" altLang="zh-CN" sz="2800" b="1" kern="100" dirty="0">
                    <a:solidFill>
                      <a:schemeClr val="tx1"/>
                    </a:solidFill>
                    <a:cs typeface="宋体" panose="02010600030101010101" pitchFamily="2" charset="-122"/>
                  </a:rPr>
                  <a:t>是</a:t>
                </a:r>
                <a:r>
                  <a:rPr lang="zh-CN" altLang="zh-CN" sz="2800" b="1" kern="100" dirty="0">
                    <a:solidFill>
                      <a:schemeClr val="accent2"/>
                    </a:solidFill>
                    <a:cs typeface="宋体" panose="02010600030101010101" pitchFamily="2" charset="-122"/>
                  </a:rPr>
                  <a:t>从</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𝑨</m:t>
                    </m:r>
                  </m:oMath>
                </a14:m>
                <a:r>
                  <a:rPr lang="zh-CN" altLang="zh-CN" sz="2800" b="1" kern="100" dirty="0">
                    <a:solidFill>
                      <a:schemeClr val="accent2"/>
                    </a:solidFill>
                    <a:cs typeface="宋体" panose="02010600030101010101" pitchFamily="2" charset="-122"/>
                  </a:rPr>
                  <a:t>到</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𝑪</m:t>
                    </m:r>
                  </m:oMath>
                </a14:m>
                <a:r>
                  <a:rPr lang="zh-CN" altLang="en-US" sz="2800" b="1" kern="100" dirty="0">
                    <a:solidFill>
                      <a:schemeClr val="accent2"/>
                    </a:solidFill>
                    <a:cs typeface="宋体" panose="02010600030101010101" pitchFamily="2" charset="-122"/>
                  </a:rPr>
                  <a:t>的满</a:t>
                </a:r>
                <a:r>
                  <a:rPr lang="zh-CN" altLang="zh-CN" sz="2800" b="1" kern="100" dirty="0">
                    <a:solidFill>
                      <a:schemeClr val="accent2"/>
                    </a:solidFill>
                    <a:cs typeface="宋体" panose="02010600030101010101" pitchFamily="2" charset="-122"/>
                  </a:rPr>
                  <a:t>射</a:t>
                </a:r>
                <a:r>
                  <a:rPr lang="zh-CN" altLang="zh-CN" sz="2800" b="1" kern="100" dirty="0">
                    <a:solidFill>
                      <a:schemeClr val="tx1"/>
                    </a:solidFill>
                    <a:cs typeface="宋体" panose="02010600030101010101" pitchFamily="2" charset="-122"/>
                  </a:rPr>
                  <a:t>，则函数</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𝒈</m:t>
                    </m:r>
                  </m:oMath>
                </a14:m>
                <a:r>
                  <a:rPr lang="zh-CN" altLang="zh-CN" sz="2800" b="1" kern="100" dirty="0">
                    <a:solidFill>
                      <a:schemeClr val="accent2"/>
                    </a:solidFill>
                    <a:cs typeface="宋体" panose="02010600030101010101" pitchFamily="2" charset="-122"/>
                  </a:rPr>
                  <a:t>是</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𝑩</m:t>
                    </m:r>
                  </m:oMath>
                </a14:m>
                <a:r>
                  <a:rPr lang="zh-CN" altLang="zh-CN" sz="2800" b="1" kern="100" dirty="0">
                    <a:solidFill>
                      <a:schemeClr val="accent2"/>
                    </a:solidFill>
                    <a:cs typeface="宋体" panose="02010600030101010101" pitchFamily="2" charset="-122"/>
                  </a:rPr>
                  <a:t>到</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𝑪</m:t>
                    </m:r>
                  </m:oMath>
                </a14:m>
                <a:r>
                  <a:rPr lang="zh-CN" altLang="zh-CN" sz="2800" b="1" kern="100" dirty="0">
                    <a:solidFill>
                      <a:schemeClr val="accent2"/>
                    </a:solidFill>
                    <a:cs typeface="宋体" panose="02010600030101010101" pitchFamily="2" charset="-122"/>
                  </a:rPr>
                  <a:t>的满射</a:t>
                </a:r>
                <a:r>
                  <a:rPr lang="zh-CN" altLang="zh-CN" sz="2800" b="1" kern="100" dirty="0">
                    <a:solidFill>
                      <a:schemeClr val="tx1"/>
                    </a:solidFill>
                    <a:cs typeface="宋体" panose="02010600030101010101" pitchFamily="2" charset="-122"/>
                  </a:rPr>
                  <a:t>；</a:t>
                </a:r>
                <a:endParaRPr lang="zh-CN" altLang="zh-CN" sz="2800" b="1" kern="100" dirty="0">
                  <a:solidFill>
                    <a:schemeClr val="tx1"/>
                  </a:solidFill>
                </a:endParaRPr>
              </a:p>
              <a:p>
                <a:pPr indent="266700" algn="just">
                  <a:lnSpc>
                    <a:spcPts val="4600"/>
                  </a:lnSpc>
                  <a:spcAft>
                    <a:spcPts val="0"/>
                  </a:spcAft>
                </a:pPr>
                <a:r>
                  <a:rPr lang="zh-CN" altLang="zh-CN" sz="2800" b="1" kern="0" dirty="0">
                    <a:solidFill>
                      <a:schemeClr val="tx1"/>
                    </a:solidFill>
                    <a:cs typeface="宋体" panose="02010600030101010101" pitchFamily="2" charset="-122"/>
                  </a:rPr>
                  <a:t>（</a:t>
                </a:r>
                <a:r>
                  <a:rPr lang="en-US" altLang="zh-CN" sz="2800" b="1" kern="0" dirty="0">
                    <a:solidFill>
                      <a:schemeClr val="tx1"/>
                    </a:solidFill>
                    <a:cs typeface="宋体" panose="02010600030101010101" pitchFamily="2" charset="-122"/>
                  </a:rPr>
                  <a:t>3</a:t>
                </a:r>
                <a:r>
                  <a:rPr lang="zh-CN" altLang="zh-CN" sz="2800" b="1" kern="0" dirty="0">
                    <a:solidFill>
                      <a:schemeClr val="tx1"/>
                    </a:solidFill>
                    <a:cs typeface="宋体" panose="02010600030101010101" pitchFamily="2" charset="-122"/>
                  </a:rPr>
                  <a:t>）如果复合函数</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𝒇</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𝒈</m:t>
                    </m:r>
                  </m:oMath>
                </a14:m>
                <a:r>
                  <a:rPr lang="zh-CN" altLang="zh-CN" sz="2800" b="1" kern="100" dirty="0">
                    <a:solidFill>
                      <a:schemeClr val="tx1"/>
                    </a:solidFill>
                    <a:cs typeface="宋体" panose="02010600030101010101" pitchFamily="2" charset="-122"/>
                  </a:rPr>
                  <a:t>是从</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𝑨</m:t>
                    </m:r>
                  </m:oMath>
                </a14:m>
                <a:r>
                  <a:rPr lang="zh-CN" altLang="zh-CN" sz="2800" b="1" kern="100" dirty="0">
                    <a:solidFill>
                      <a:schemeClr val="tx1"/>
                    </a:solidFill>
                    <a:cs typeface="宋体" panose="02010600030101010101" pitchFamily="2" charset="-122"/>
                  </a:rPr>
                  <a:t>到</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𝑪</m:t>
                    </m:r>
                  </m:oMath>
                </a14:m>
                <a:r>
                  <a:rPr lang="zh-CN" altLang="en-US" sz="2800" b="1" kern="100" dirty="0">
                    <a:solidFill>
                      <a:schemeClr val="tx1"/>
                    </a:solidFill>
                    <a:cs typeface="宋体" panose="02010600030101010101" pitchFamily="2" charset="-122"/>
                  </a:rPr>
                  <a:t>的</a:t>
                </a:r>
                <a:r>
                  <a:rPr lang="zh-CN" altLang="zh-CN" sz="2800" b="1" kern="100" dirty="0">
                    <a:solidFill>
                      <a:schemeClr val="tx1"/>
                    </a:solidFill>
                    <a:cs typeface="宋体" panose="02010600030101010101" pitchFamily="2" charset="-122"/>
                  </a:rPr>
                  <a:t>双射，则</a:t>
                </a:r>
                <a14:m>
                  <m:oMath xmlns:m="http://schemas.openxmlformats.org/officeDocument/2006/math">
                    <m:r>
                      <a:rPr lang="en-US" altLang="zh-CN" sz="2800" b="1" i="1" kern="100" smtClean="0">
                        <a:solidFill>
                          <a:schemeClr val="accent2"/>
                        </a:solidFill>
                        <a:latin typeface="Cambria Math" panose="02040503050406030204" pitchFamily="18" charset="0"/>
                        <a:ea typeface="宋体" panose="02010600030101010101" pitchFamily="2" charset="-122"/>
                      </a:rPr>
                      <m:t>𝒇</m:t>
                    </m:r>
                  </m:oMath>
                </a14:m>
                <a:r>
                  <a:rPr lang="zh-CN" altLang="zh-CN" sz="2800" b="1" kern="100" dirty="0">
                    <a:solidFill>
                      <a:schemeClr val="accent2"/>
                    </a:solidFill>
                    <a:cs typeface="宋体" panose="02010600030101010101" pitchFamily="2" charset="-122"/>
                  </a:rPr>
                  <a:t>是</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𝑨</m:t>
                    </m:r>
                  </m:oMath>
                </a14:m>
                <a:r>
                  <a:rPr lang="zh-CN" altLang="zh-CN" sz="2800" b="1" kern="100" dirty="0">
                    <a:solidFill>
                      <a:schemeClr val="accent2"/>
                    </a:solidFill>
                    <a:cs typeface="宋体" panose="02010600030101010101" pitchFamily="2" charset="-122"/>
                  </a:rPr>
                  <a:t>是</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𝑩</m:t>
                    </m:r>
                  </m:oMath>
                </a14:m>
                <a:r>
                  <a:rPr lang="zh-CN" altLang="zh-CN" sz="2800" b="1" kern="100" dirty="0">
                    <a:solidFill>
                      <a:schemeClr val="accent2"/>
                    </a:solidFill>
                    <a:cs typeface="宋体" panose="02010600030101010101" pitchFamily="2" charset="-122"/>
                  </a:rPr>
                  <a:t>的单射</a:t>
                </a:r>
                <a:r>
                  <a:rPr lang="zh-CN" altLang="zh-CN" sz="2800" b="1" kern="100" dirty="0">
                    <a:solidFill>
                      <a:schemeClr val="tx1"/>
                    </a:solidFill>
                    <a:cs typeface="宋体" panose="02010600030101010101" pitchFamily="2" charset="-122"/>
                  </a:rPr>
                  <a:t>，</a:t>
                </a:r>
                <a14:m>
                  <m:oMath xmlns:m="http://schemas.openxmlformats.org/officeDocument/2006/math">
                    <m:r>
                      <a:rPr lang="en-US" altLang="zh-CN" sz="2800" b="1" i="1" kern="100" smtClean="0">
                        <a:solidFill>
                          <a:schemeClr val="accent2"/>
                        </a:solidFill>
                        <a:latin typeface="Cambria Math" panose="02040503050406030204" pitchFamily="18" charset="0"/>
                        <a:ea typeface="宋体" panose="02010600030101010101" pitchFamily="2" charset="-122"/>
                      </a:rPr>
                      <m:t>𝒈</m:t>
                    </m:r>
                  </m:oMath>
                </a14:m>
                <a:r>
                  <a:rPr lang="zh-CN" altLang="zh-CN" sz="2800" b="1" kern="100" dirty="0">
                    <a:solidFill>
                      <a:schemeClr val="accent2"/>
                    </a:solidFill>
                    <a:cs typeface="宋体" panose="02010600030101010101" pitchFamily="2" charset="-122"/>
                  </a:rPr>
                  <a:t>是</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𝑩</m:t>
                    </m:r>
                  </m:oMath>
                </a14:m>
                <a:r>
                  <a:rPr lang="zh-CN" altLang="zh-CN" sz="2800" b="1" kern="100" dirty="0">
                    <a:solidFill>
                      <a:schemeClr val="accent2"/>
                    </a:solidFill>
                    <a:cs typeface="宋体" panose="02010600030101010101" pitchFamily="2" charset="-122"/>
                  </a:rPr>
                  <a:t>到</a:t>
                </a:r>
                <a14:m>
                  <m:oMath xmlns:m="http://schemas.openxmlformats.org/officeDocument/2006/math">
                    <m:r>
                      <a:rPr lang="en-US" altLang="zh-CN" sz="2800" b="1" i="1" kern="100">
                        <a:solidFill>
                          <a:schemeClr val="accent2"/>
                        </a:solidFill>
                        <a:latin typeface="Cambria Math" panose="02040503050406030204" pitchFamily="18" charset="0"/>
                        <a:ea typeface="宋体" panose="02010600030101010101" pitchFamily="2" charset="-122"/>
                      </a:rPr>
                      <m:t>𝑪</m:t>
                    </m:r>
                  </m:oMath>
                </a14:m>
                <a:r>
                  <a:rPr lang="zh-CN" altLang="zh-CN" sz="2800" b="1" kern="100" dirty="0">
                    <a:solidFill>
                      <a:schemeClr val="accent2"/>
                    </a:solidFill>
                    <a:cs typeface="宋体" panose="02010600030101010101" pitchFamily="2" charset="-122"/>
                  </a:rPr>
                  <a:t>的满射</a:t>
                </a:r>
                <a:r>
                  <a:rPr lang="zh-CN" altLang="zh-CN" sz="2800" b="1" kern="100" dirty="0">
                    <a:solidFill>
                      <a:schemeClr val="tx1"/>
                    </a:solidFill>
                    <a:cs typeface="宋体" panose="02010600030101010101" pitchFamily="2" charset="-122"/>
                  </a:rPr>
                  <a:t>。</a:t>
                </a:r>
                <a:endParaRPr lang="zh-CN" altLang="zh-CN" sz="2800" b="1" kern="100" dirty="0">
                  <a:solidFill>
                    <a:schemeClr val="tx1"/>
                  </a:solidFill>
                </a:endParaRPr>
              </a:p>
            </p:txBody>
          </p:sp>
        </mc:Choice>
        <mc:Fallback xmlns="">
          <p:sp>
            <p:nvSpPr>
              <p:cNvPr id="2" name="矩形 1">
                <a:extLst>
                  <a:ext uri="{FF2B5EF4-FFF2-40B4-BE49-F238E27FC236}">
                    <a16:creationId xmlns:a16="http://schemas.microsoft.com/office/drawing/2014/main" id="{3676723D-CCFE-4AAA-82A6-C97158893702}"/>
                  </a:ext>
                </a:extLst>
              </p:cNvPr>
              <p:cNvSpPr>
                <a:spLocks noRot="1" noChangeAspect="1" noMove="1" noResize="1" noEditPoints="1" noAdjustHandles="1" noChangeArrowheads="1" noChangeShapeType="1" noTextEdit="1"/>
              </p:cNvSpPr>
              <p:nvPr/>
            </p:nvSpPr>
            <p:spPr>
              <a:xfrm>
                <a:off x="423048" y="1927342"/>
                <a:ext cx="8370930" cy="4150560"/>
              </a:xfrm>
              <a:prstGeom prst="rect">
                <a:avLst/>
              </a:prstGeom>
              <a:blipFill>
                <a:blip r:embed="rId3"/>
                <a:stretch>
                  <a:fillRect l="-1456" r="-1456" b="-279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50850937"/>
      </p:ext>
    </p:extLst>
  </p:cSld>
  <p:clrMapOvr>
    <a:masterClrMapping/>
  </p:clrMapOvr>
  <p:transition spd="med">
    <p:wipe dir="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D67A78A-35C9-4718-B195-2C991ED1D8D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011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0116" name="Text Box 2"/>
          <p:cNvSpPr txBox="1">
            <a:spLocks noChangeArrowheads="1"/>
          </p:cNvSpPr>
          <p:nvPr/>
        </p:nvSpPr>
        <p:spPr bwMode="auto">
          <a:xfrm>
            <a:off x="1331913" y="692150"/>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复合运算的性质</a:t>
            </a:r>
          </a:p>
        </p:txBody>
      </p:sp>
      <p:pic>
        <p:nvPicPr>
          <p:cNvPr id="9011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6E6CF224-809E-49EC-9266-10FF80545172}"/>
                  </a:ext>
                </a:extLst>
              </p:cNvPr>
              <p:cNvSpPr/>
              <p:nvPr/>
            </p:nvSpPr>
            <p:spPr>
              <a:xfrm>
                <a:off x="359532" y="1739793"/>
                <a:ext cx="8424936" cy="4572214"/>
              </a:xfrm>
              <a:prstGeom prst="rect">
                <a:avLst/>
              </a:prstGeom>
              <a:solidFill>
                <a:schemeClr val="accent3">
                  <a:lumMod val="95000"/>
                </a:schemeClr>
              </a:solidFill>
            </p:spPr>
            <p:txBody>
              <a:bodyPr wrap="square">
                <a:spAutoFit/>
              </a:bodyPr>
              <a:lstStyle/>
              <a:p>
                <a:pPr indent="266700" algn="just">
                  <a:lnSpc>
                    <a:spcPts val="32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【证明】（</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𝒂</m:t>
                        </m:r>
                      </m:e>
                      <m:sub>
                        <m:r>
                          <a:rPr lang="en-US" altLang="zh-CN" sz="2400" b="1" i="1" kern="100">
                            <a:solidFill>
                              <a:schemeClr val="tx1"/>
                            </a:solidFill>
                            <a:latin typeface="Cambria Math" panose="02040503050406030204" pitchFamily="18" charset="0"/>
                            <a:ea typeface="宋体" panose="02010600030101010101" pitchFamily="2" charset="-122"/>
                          </a:rPr>
                          <m:t>𝟏</m:t>
                        </m:r>
                      </m:sub>
                    </m:sSub>
                    <m:r>
                      <a:rPr lang="en-US" altLang="zh-CN" sz="2400" b="1" i="1" kern="100">
                        <a:solidFill>
                          <a:schemeClr val="tx1"/>
                        </a:solidFill>
                        <a:latin typeface="Cambria Math" panose="02040503050406030204" pitchFamily="18" charset="0"/>
                        <a:ea typeface="宋体" panose="02010600030101010101" pitchFamily="2" charset="-122"/>
                      </a:rPr>
                      <m:t>,</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𝒂</m:t>
                        </m:r>
                      </m:e>
                      <m:sub>
                        <m:r>
                          <a:rPr lang="en-US" altLang="zh-CN" sz="2400" b="1" i="1" kern="100">
                            <a:solidFill>
                              <a:schemeClr val="tx1"/>
                            </a:solidFill>
                            <a:latin typeface="Cambria Math" panose="02040503050406030204" pitchFamily="18" charset="0"/>
                            <a:ea typeface="宋体" panose="02010600030101010101" pitchFamily="2" charset="-122"/>
                          </a:rPr>
                          <m:t>𝟐</m:t>
                        </m:r>
                      </m:sub>
                    </m:sSub>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𝑨</m:t>
                    </m:r>
                    <m:r>
                      <a:rPr lang="zh-CN" altLang="zh-CN" sz="2400" b="1" kern="100">
                        <a:solidFill>
                          <a:schemeClr val="tx1"/>
                        </a:solidFill>
                        <a:latin typeface="Cambria Math" panose="02040503050406030204" pitchFamily="18" charset="0"/>
                        <a:ea typeface="宋体" panose="02010600030101010101" pitchFamily="2" charset="-122"/>
                        <a:cs typeface="宋体" panose="02010600030101010101" pitchFamily="2" charset="-122"/>
                      </a:rPr>
                      <m:t>且</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𝒂</m:t>
                        </m:r>
                      </m:e>
                      <m:sub>
                        <m:r>
                          <a:rPr lang="en-US" altLang="zh-CN" sz="2400" b="1" i="1" kern="100">
                            <a:solidFill>
                              <a:schemeClr val="tx1"/>
                            </a:solidFill>
                            <a:latin typeface="Cambria Math" panose="02040503050406030204" pitchFamily="18" charset="0"/>
                            <a:ea typeface="宋体" panose="02010600030101010101" pitchFamily="2" charset="-122"/>
                          </a:rPr>
                          <m:t>𝟏</m:t>
                        </m:r>
                      </m:sub>
                    </m:sSub>
                    <m:r>
                      <a:rPr lang="en-US" altLang="zh-CN" sz="2400" b="1" i="1" kern="100">
                        <a:solidFill>
                          <a:schemeClr val="tx1"/>
                        </a:solidFill>
                        <a:latin typeface="Cambria Math" panose="02040503050406030204" pitchFamily="18" charset="0"/>
                        <a:ea typeface="宋体" panose="02010600030101010101" pitchFamily="2" charset="-122"/>
                      </a:rPr>
                      <m:t>≠</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𝒂</m:t>
                        </m:r>
                      </m:e>
                      <m:sub>
                        <m:r>
                          <a:rPr lang="en-US" altLang="zh-CN" sz="2400" b="1" i="1" kern="100">
                            <a:solidFill>
                              <a:schemeClr val="tx1"/>
                            </a:solidFill>
                            <a:latin typeface="Cambria Math" panose="02040503050406030204" pitchFamily="18" charset="0"/>
                            <a:ea typeface="宋体" panose="02010600030101010101" pitchFamily="2" charset="-122"/>
                          </a:rPr>
                          <m:t>𝟐</m:t>
                        </m:r>
                      </m:sub>
                    </m:sSub>
                  </m:oMath>
                </a14:m>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𝒇</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𝒈</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𝑪</m:t>
                    </m:r>
                  </m:oMath>
                </a14:m>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单射</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，故有：</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lnSpc>
                    <a:spcPts val="32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chemeClr val="accent2"/>
                          </a:solidFill>
                          <a:latin typeface="Cambria Math" panose="02040503050406030204" pitchFamily="18" charset="0"/>
                          <a:ea typeface="宋体" panose="02010600030101010101" pitchFamily="2" charset="-122"/>
                        </a:rPr>
                        <m:t>𝒇</m:t>
                      </m:r>
                      <m:r>
                        <a:rPr lang="en-US" altLang="zh-CN" sz="2400" b="1" i="1" kern="100" smtClean="0">
                          <a:solidFill>
                            <a:schemeClr val="accent2"/>
                          </a:solidFill>
                          <a:latin typeface="Cambria Math" panose="02040503050406030204" pitchFamily="18" charset="0"/>
                          <a:ea typeface="宋体" panose="02010600030101010101" pitchFamily="2" charset="-122"/>
                        </a:rPr>
                        <m:t>∘</m:t>
                      </m:r>
                      <m:r>
                        <a:rPr lang="en-US" altLang="zh-CN" sz="2400" b="1" i="1" kern="100" smtClean="0">
                          <a:solidFill>
                            <a:schemeClr val="accent2"/>
                          </a:solidFill>
                          <a:latin typeface="Cambria Math" panose="02040503050406030204" pitchFamily="18" charset="0"/>
                          <a:ea typeface="宋体" panose="02010600030101010101" pitchFamily="2" charset="-122"/>
                        </a:rPr>
                        <m:t>𝒈</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accent2"/>
                                  </a:solidFill>
                                  <a:latin typeface="Cambria Math" panose="02040503050406030204" pitchFamily="18" charset="0"/>
                                  <a:ea typeface="Cambria Math" panose="02040503050406030204" pitchFamily="18" charset="0"/>
                                </a:rPr>
                              </m:ctrlPr>
                            </m:sSubPr>
                            <m:e>
                              <m:r>
                                <a:rPr lang="en-US" altLang="zh-CN" sz="2400" b="1" i="1" kern="100">
                                  <a:solidFill>
                                    <a:schemeClr val="accent2"/>
                                  </a:solidFill>
                                  <a:latin typeface="Cambria Math" panose="02040503050406030204" pitchFamily="18" charset="0"/>
                                  <a:ea typeface="宋体" panose="02010600030101010101" pitchFamily="2" charset="-122"/>
                                </a:rPr>
                                <m:t>𝒂</m:t>
                              </m:r>
                            </m:e>
                            <m:sub>
                              <m:r>
                                <a:rPr lang="en-US" altLang="zh-CN" sz="2400" b="1" i="1" kern="100">
                                  <a:solidFill>
                                    <a:schemeClr val="accent2"/>
                                  </a:solidFill>
                                  <a:latin typeface="Cambria Math" panose="02040503050406030204" pitchFamily="18" charset="0"/>
                                  <a:ea typeface="宋体" panose="02010600030101010101" pitchFamily="2" charset="-122"/>
                                </a:rPr>
                                <m:t>𝟏</m:t>
                              </m:r>
                            </m:sub>
                          </m:sSub>
                        </m:e>
                      </m:d>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𝒈</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r>
                            <a:rPr lang="en-US" altLang="zh-CN" sz="2400" b="1" i="1" kern="100">
                              <a:solidFill>
                                <a:schemeClr val="accent2"/>
                              </a:solidFill>
                              <a:latin typeface="Cambria Math" panose="02040503050406030204" pitchFamily="18" charset="0"/>
                              <a:ea typeface="宋体" panose="02010600030101010101" pitchFamily="2" charset="-122"/>
                            </a:rPr>
                            <m:t>𝒇</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accent2"/>
                                      </a:solidFill>
                                      <a:latin typeface="Cambria Math" panose="02040503050406030204" pitchFamily="18" charset="0"/>
                                      <a:ea typeface="Cambria Math" panose="02040503050406030204" pitchFamily="18" charset="0"/>
                                    </a:rPr>
                                  </m:ctrlPr>
                                </m:sSubPr>
                                <m:e>
                                  <m:r>
                                    <a:rPr lang="en-US" altLang="zh-CN" sz="2400" b="1" i="1" kern="100">
                                      <a:solidFill>
                                        <a:schemeClr val="accent2"/>
                                      </a:solidFill>
                                      <a:latin typeface="Cambria Math" panose="02040503050406030204" pitchFamily="18" charset="0"/>
                                      <a:ea typeface="宋体" panose="02010600030101010101" pitchFamily="2" charset="-122"/>
                                    </a:rPr>
                                    <m:t>𝒂</m:t>
                                  </m:r>
                                </m:e>
                                <m:sub>
                                  <m:r>
                                    <a:rPr lang="en-US" altLang="zh-CN" sz="2400" b="1" i="1" kern="100">
                                      <a:solidFill>
                                        <a:schemeClr val="accent2"/>
                                      </a:solidFill>
                                      <a:latin typeface="Cambria Math" panose="02040503050406030204" pitchFamily="18" charset="0"/>
                                      <a:ea typeface="宋体" panose="02010600030101010101" pitchFamily="2" charset="-122"/>
                                    </a:rPr>
                                    <m:t>𝟏</m:t>
                                  </m:r>
                                </m:sub>
                              </m:sSub>
                            </m:e>
                          </m:d>
                        </m:e>
                      </m:d>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𝒈</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r>
                            <a:rPr lang="en-US" altLang="zh-CN" sz="2400" b="1" i="1" kern="100">
                              <a:solidFill>
                                <a:schemeClr val="accent2"/>
                              </a:solidFill>
                              <a:latin typeface="Cambria Math" panose="02040503050406030204" pitchFamily="18" charset="0"/>
                              <a:ea typeface="宋体" panose="02010600030101010101" pitchFamily="2" charset="-122"/>
                            </a:rPr>
                            <m:t>𝒇</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accent2"/>
                                      </a:solidFill>
                                      <a:latin typeface="Cambria Math" panose="02040503050406030204" pitchFamily="18" charset="0"/>
                                      <a:ea typeface="Cambria Math" panose="02040503050406030204" pitchFamily="18" charset="0"/>
                                    </a:rPr>
                                  </m:ctrlPr>
                                </m:sSubPr>
                                <m:e>
                                  <m:r>
                                    <a:rPr lang="en-US" altLang="zh-CN" sz="2400" b="1" i="1" kern="100">
                                      <a:solidFill>
                                        <a:schemeClr val="accent2"/>
                                      </a:solidFill>
                                      <a:latin typeface="Cambria Math" panose="02040503050406030204" pitchFamily="18" charset="0"/>
                                      <a:ea typeface="宋体" panose="02010600030101010101" pitchFamily="2" charset="-122"/>
                                    </a:rPr>
                                    <m:t>𝒂</m:t>
                                  </m:r>
                                </m:e>
                                <m:sub>
                                  <m:r>
                                    <a:rPr lang="en-US" altLang="zh-CN" sz="2400" b="1" i="1" kern="100">
                                      <a:solidFill>
                                        <a:schemeClr val="accent2"/>
                                      </a:solidFill>
                                      <a:latin typeface="Cambria Math" panose="02040503050406030204" pitchFamily="18" charset="0"/>
                                      <a:ea typeface="宋体" panose="02010600030101010101" pitchFamily="2" charset="-122"/>
                                    </a:rPr>
                                    <m:t>𝟐</m:t>
                                  </m:r>
                                </m:sub>
                              </m:sSub>
                            </m:e>
                          </m:d>
                        </m:e>
                      </m:d>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𝒇</m:t>
                      </m:r>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𝒈</m:t>
                      </m:r>
                      <m:r>
                        <a:rPr lang="en-US" altLang="zh-CN" sz="2400" b="1" i="1" kern="100">
                          <a:solidFill>
                            <a:schemeClr val="accent2"/>
                          </a:solidFill>
                          <a:latin typeface="Cambria Math" panose="02040503050406030204" pitchFamily="18" charset="0"/>
                          <a:ea typeface="宋体" panose="02010600030101010101" pitchFamily="2" charset="-122"/>
                        </a:rPr>
                        <m:t>(</m:t>
                      </m:r>
                      <m:sSub>
                        <m:sSubPr>
                          <m:ctrlPr>
                            <a:rPr lang="zh-CN" altLang="zh-CN" sz="2400" b="1" i="1" kern="100">
                              <a:solidFill>
                                <a:schemeClr val="accent2"/>
                              </a:solidFill>
                              <a:latin typeface="Cambria Math" panose="02040503050406030204" pitchFamily="18" charset="0"/>
                              <a:ea typeface="Cambria Math" panose="02040503050406030204" pitchFamily="18" charset="0"/>
                            </a:rPr>
                          </m:ctrlPr>
                        </m:sSubPr>
                        <m:e>
                          <m:r>
                            <a:rPr lang="en-US" altLang="zh-CN" sz="2400" b="1" i="1" kern="100">
                              <a:solidFill>
                                <a:schemeClr val="accent2"/>
                              </a:solidFill>
                              <a:latin typeface="Cambria Math" panose="02040503050406030204" pitchFamily="18" charset="0"/>
                              <a:ea typeface="宋体" panose="02010600030101010101" pitchFamily="2" charset="-122"/>
                            </a:rPr>
                            <m:t>𝒂</m:t>
                          </m:r>
                        </m:e>
                        <m:sub>
                          <m:r>
                            <a:rPr lang="en-US" altLang="zh-CN" sz="2400" b="1" i="1" kern="100">
                              <a:solidFill>
                                <a:schemeClr val="accent2"/>
                              </a:solidFill>
                              <a:latin typeface="Cambria Math" panose="02040503050406030204" pitchFamily="18" charset="0"/>
                              <a:ea typeface="宋体" panose="02010600030101010101" pitchFamily="2" charset="-122"/>
                            </a:rPr>
                            <m:t>𝟐</m:t>
                          </m:r>
                        </m:sub>
                      </m:sSub>
                      <m:r>
                        <a:rPr lang="en-US" altLang="zh-CN" sz="2400" b="1" i="1" kern="100">
                          <a:solidFill>
                            <a:schemeClr val="accent2"/>
                          </a:solidFill>
                          <a:latin typeface="Cambria Math" panose="02040503050406030204" pitchFamily="18" charset="0"/>
                          <a:ea typeface="宋体" panose="02010600030101010101" pitchFamily="2" charset="-122"/>
                        </a:rPr>
                        <m:t>)</m:t>
                      </m:r>
                    </m:oMath>
                  </m:oMathPara>
                </a14:m>
                <a:endParaRPr lang="zh-CN" altLang="zh-CN" sz="2400" b="1" kern="100" dirty="0">
                  <a:solidFill>
                    <a:schemeClr val="accent2"/>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因为</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𝒈</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𝑩</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𝑪</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的函数，根据</a:t>
                </a:r>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函数</a:t>
                </a:r>
                <a:r>
                  <a:rPr lang="zh-CN" altLang="en-US"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单值性</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有</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2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chemeClr val="accent2"/>
                          </a:solidFill>
                          <a:latin typeface="Cambria Math" panose="02040503050406030204" pitchFamily="18" charset="0"/>
                          <a:ea typeface="宋体" panose="02010600030101010101" pitchFamily="2" charset="-122"/>
                        </a:rPr>
                        <m:t>𝒇</m:t>
                      </m:r>
                      <m:r>
                        <a:rPr lang="en-US" altLang="zh-CN" sz="2400" b="1" i="1" kern="100" smtClean="0">
                          <a:solidFill>
                            <a:schemeClr val="accent2"/>
                          </a:solidFill>
                          <a:latin typeface="Cambria Math" panose="02040503050406030204" pitchFamily="18" charset="0"/>
                          <a:ea typeface="宋体" panose="02010600030101010101" pitchFamily="2" charset="-122"/>
                        </a:rPr>
                        <m:t>(</m:t>
                      </m:r>
                      <m:sSub>
                        <m:sSubPr>
                          <m:ctrlPr>
                            <a:rPr lang="zh-CN" altLang="zh-CN" sz="2400" b="1" i="1" kern="100">
                              <a:solidFill>
                                <a:schemeClr val="accent2"/>
                              </a:solidFill>
                              <a:latin typeface="Cambria Math" panose="02040503050406030204" pitchFamily="18" charset="0"/>
                              <a:ea typeface="Cambria Math" panose="02040503050406030204" pitchFamily="18" charset="0"/>
                            </a:rPr>
                          </m:ctrlPr>
                        </m:sSubPr>
                        <m:e>
                          <m:r>
                            <a:rPr lang="en-US" altLang="zh-CN" sz="2400" b="1" i="1" kern="100">
                              <a:solidFill>
                                <a:schemeClr val="accent2"/>
                              </a:solidFill>
                              <a:latin typeface="Cambria Math" panose="02040503050406030204" pitchFamily="18" charset="0"/>
                              <a:ea typeface="宋体" panose="02010600030101010101" pitchFamily="2" charset="-122"/>
                            </a:rPr>
                            <m:t>𝒂</m:t>
                          </m:r>
                        </m:e>
                        <m:sub>
                          <m:r>
                            <a:rPr lang="en-US" altLang="zh-CN" sz="2400" b="1" i="1" kern="100">
                              <a:solidFill>
                                <a:schemeClr val="accent2"/>
                              </a:solidFill>
                              <a:latin typeface="Cambria Math" panose="02040503050406030204" pitchFamily="18" charset="0"/>
                              <a:ea typeface="宋体" panose="02010600030101010101" pitchFamily="2" charset="-122"/>
                            </a:rPr>
                            <m:t>𝟏</m:t>
                          </m:r>
                        </m:sub>
                      </m:sSub>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𝒇</m:t>
                      </m:r>
                      <m:r>
                        <a:rPr lang="en-US" altLang="zh-CN" sz="2400" b="1" i="1" kern="100">
                          <a:solidFill>
                            <a:schemeClr val="accent2"/>
                          </a:solidFill>
                          <a:latin typeface="Cambria Math" panose="02040503050406030204" pitchFamily="18" charset="0"/>
                          <a:ea typeface="宋体" panose="02010600030101010101" pitchFamily="2" charset="-122"/>
                        </a:rPr>
                        <m:t>(</m:t>
                      </m:r>
                      <m:sSub>
                        <m:sSubPr>
                          <m:ctrlPr>
                            <a:rPr lang="zh-CN" altLang="zh-CN" sz="2400" b="1" i="1" kern="100">
                              <a:solidFill>
                                <a:schemeClr val="accent2"/>
                              </a:solidFill>
                              <a:latin typeface="Cambria Math" panose="02040503050406030204" pitchFamily="18" charset="0"/>
                              <a:ea typeface="Cambria Math" panose="02040503050406030204" pitchFamily="18" charset="0"/>
                            </a:rPr>
                          </m:ctrlPr>
                        </m:sSubPr>
                        <m:e>
                          <m:r>
                            <a:rPr lang="en-US" altLang="zh-CN" sz="2400" b="1" i="1" kern="100">
                              <a:solidFill>
                                <a:schemeClr val="accent2"/>
                              </a:solidFill>
                              <a:latin typeface="Cambria Math" panose="02040503050406030204" pitchFamily="18" charset="0"/>
                              <a:ea typeface="宋体" panose="02010600030101010101" pitchFamily="2" charset="-122"/>
                            </a:rPr>
                            <m:t>𝒂</m:t>
                          </m:r>
                        </m:e>
                        <m:sub>
                          <m:r>
                            <a:rPr lang="en-US" altLang="zh-CN" sz="2400" b="1" i="1" kern="100">
                              <a:solidFill>
                                <a:schemeClr val="accent2"/>
                              </a:solidFill>
                              <a:latin typeface="Cambria Math" panose="02040503050406030204" pitchFamily="18" charset="0"/>
                              <a:ea typeface="宋体" panose="02010600030101010101" pitchFamily="2" charset="-122"/>
                            </a:rPr>
                            <m:t>𝟐</m:t>
                          </m:r>
                        </m:sub>
                      </m:sSub>
                      <m:r>
                        <a:rPr lang="en-US" altLang="zh-CN" sz="2400" b="1" i="1" kern="100">
                          <a:solidFill>
                            <a:schemeClr val="accent2"/>
                          </a:solidFill>
                          <a:latin typeface="Cambria Math" panose="02040503050406030204" pitchFamily="18" charset="0"/>
                          <a:ea typeface="宋体" panose="02010600030101010101" pitchFamily="2" charset="-122"/>
                        </a:rPr>
                        <m:t>)</m:t>
                      </m:r>
                    </m:oMath>
                  </m:oMathPara>
                </a14:m>
                <a:endParaRPr lang="en-US"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2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即</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𝒇</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𝑩</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的单射。</a:t>
                </a:r>
                <a:endPar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32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）对</a:t>
                </a:r>
                <a14:m>
                  <m:oMath xmlns:m="http://schemas.openxmlformats.org/officeDocument/2006/math">
                    <m:r>
                      <a:rPr lang="en-US" altLang="zh-CN" sz="2400" b="1" i="1" kern="100" smtClean="0">
                        <a:solidFill>
                          <a:schemeClr val="accent2"/>
                        </a:solidFill>
                        <a:latin typeface="Cambria Math" panose="02040503050406030204" pitchFamily="18" charset="0"/>
                        <a:ea typeface="宋体" panose="02010600030101010101" pitchFamily="2" charset="-122"/>
                      </a:rPr>
                      <m:t>∀</m:t>
                    </m:r>
                    <m:r>
                      <a:rPr lang="en-US" altLang="zh-CN" sz="2400" b="1" i="1" kern="100" smtClean="0">
                        <a:solidFill>
                          <a:schemeClr val="accent2"/>
                        </a:solidFill>
                        <a:latin typeface="Cambria Math" panose="02040503050406030204" pitchFamily="18" charset="0"/>
                        <a:ea typeface="宋体" panose="02010600030101010101" pitchFamily="2" charset="-122"/>
                      </a:rPr>
                      <m:t>𝒄</m:t>
                    </m:r>
                    <m:r>
                      <a:rPr lang="en-US" altLang="zh-CN" sz="2400" b="1" i="1" kern="100" smtClean="0">
                        <a:solidFill>
                          <a:schemeClr val="accent2"/>
                        </a:solidFill>
                        <a:latin typeface="Cambria Math" panose="02040503050406030204" pitchFamily="18" charset="0"/>
                        <a:ea typeface="宋体" panose="02010600030101010101" pitchFamily="2" charset="-122"/>
                      </a:rPr>
                      <m:t>∈</m:t>
                    </m:r>
                    <m:r>
                      <a:rPr lang="en-US" altLang="zh-CN" sz="2400" b="1" i="1" kern="100" smtClean="0">
                        <a:solidFill>
                          <a:schemeClr val="accent2"/>
                        </a:solidFill>
                        <a:latin typeface="Cambria Math" panose="02040503050406030204" pitchFamily="18" charset="0"/>
                        <a:ea typeface="宋体" panose="02010600030101010101" pitchFamily="2" charset="-122"/>
                      </a:rPr>
                      <m:t>𝑪</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𝒇</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𝒈</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𝑪</m:t>
                    </m:r>
                  </m:oMath>
                </a14:m>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满射</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400" b="1" kern="100">
                        <a:solidFill>
                          <a:schemeClr val="tx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𝒂</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，使得</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lnSpc>
                    <a:spcPts val="3200"/>
                  </a:lnSpc>
                  <a:spcAft>
                    <a:spcPts val="0"/>
                  </a:spcAft>
                </a:pPr>
                <a14:m>
                  <m:oMathPara xmlns:m="http://schemas.openxmlformats.org/officeDocument/2006/math">
                    <m:oMathParaPr>
                      <m:jc m:val="centerGroup"/>
                    </m:oMathParaPr>
                    <m:oMath xmlns:m="http://schemas.openxmlformats.org/officeDocument/2006/math">
                      <m:r>
                        <a:rPr lang="en-US" altLang="zh-CN" sz="2400" b="1" i="1" kern="100" smtClean="0">
                          <a:solidFill>
                            <a:schemeClr val="accent2"/>
                          </a:solidFill>
                          <a:latin typeface="Cambria Math" panose="02040503050406030204" pitchFamily="18" charset="0"/>
                          <a:ea typeface="宋体" panose="02010600030101010101" pitchFamily="2" charset="-122"/>
                        </a:rPr>
                        <m:t>𝒇</m:t>
                      </m:r>
                      <m:r>
                        <a:rPr lang="en-US" altLang="zh-CN" sz="2400" b="1" i="1" kern="100" smtClean="0">
                          <a:solidFill>
                            <a:schemeClr val="accent2"/>
                          </a:solidFill>
                          <a:latin typeface="Cambria Math" panose="02040503050406030204" pitchFamily="18" charset="0"/>
                          <a:ea typeface="宋体" panose="02010600030101010101" pitchFamily="2" charset="-122"/>
                        </a:rPr>
                        <m:t>∘</m:t>
                      </m:r>
                      <m:r>
                        <a:rPr lang="en-US" altLang="zh-CN" sz="2400" b="1" i="1" kern="100" smtClean="0">
                          <a:solidFill>
                            <a:schemeClr val="accent2"/>
                          </a:solidFill>
                          <a:latin typeface="Cambria Math" panose="02040503050406030204" pitchFamily="18" charset="0"/>
                          <a:ea typeface="宋体" panose="02010600030101010101" pitchFamily="2" charset="-122"/>
                        </a:rPr>
                        <m:t>𝒈</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r>
                            <a:rPr lang="en-US" altLang="zh-CN" sz="2400" b="1" i="1" kern="100">
                              <a:solidFill>
                                <a:schemeClr val="accent2"/>
                              </a:solidFill>
                              <a:latin typeface="Cambria Math" panose="02040503050406030204" pitchFamily="18" charset="0"/>
                              <a:ea typeface="宋体" panose="02010600030101010101" pitchFamily="2" charset="-122"/>
                            </a:rPr>
                            <m:t>𝒂</m:t>
                          </m:r>
                        </m:e>
                      </m:d>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𝒈</m:t>
                      </m:r>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𝒇</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r>
                            <a:rPr lang="en-US" altLang="zh-CN" sz="2400" b="1" i="1" kern="100">
                              <a:solidFill>
                                <a:schemeClr val="accent2"/>
                              </a:solidFill>
                              <a:latin typeface="Cambria Math" panose="02040503050406030204" pitchFamily="18" charset="0"/>
                              <a:ea typeface="宋体" panose="02010600030101010101" pitchFamily="2" charset="-122"/>
                            </a:rPr>
                            <m:t>𝒂</m:t>
                          </m:r>
                        </m:e>
                      </m:d>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𝒄</m:t>
                      </m:r>
                    </m:oMath>
                  </m:oMathPara>
                </a14:m>
                <a:endParaRPr lang="zh-CN" altLang="zh-CN" sz="2400" b="1" kern="100" dirty="0">
                  <a:solidFill>
                    <a:schemeClr val="accent2"/>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因为</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𝒇</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𝑨</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𝑩</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的函数，</a:t>
                </a:r>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a:t>
                </a:r>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存在</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rPr>
                      <m:t>𝒃</m:t>
                    </m:r>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𝑩</m:t>
                    </m:r>
                  </m:oMath>
                </a14:m>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使得</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rPr>
                      <m:t>𝒇</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r>
                          <a:rPr lang="en-US" altLang="zh-CN" sz="2400" b="1" i="1" kern="100">
                            <a:solidFill>
                              <a:schemeClr val="accent2"/>
                            </a:solidFill>
                            <a:latin typeface="Cambria Math" panose="02040503050406030204" pitchFamily="18" charset="0"/>
                            <a:ea typeface="宋体" panose="02010600030101010101" pitchFamily="2" charset="-122"/>
                          </a:rPr>
                          <m:t>𝒂</m:t>
                        </m:r>
                      </m:e>
                    </m:d>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𝒃</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，即对</a:t>
                </a:r>
                <a14:m>
                  <m:oMath xmlns:m="http://schemas.openxmlformats.org/officeDocument/2006/math">
                    <m:r>
                      <a:rPr lang="en-US" altLang="zh-CN" sz="2400" b="1" i="1" kern="100" smtClean="0">
                        <a:solidFill>
                          <a:schemeClr val="accent2"/>
                        </a:solidFill>
                        <a:latin typeface="Cambria Math" panose="02040503050406030204" pitchFamily="18" charset="0"/>
                        <a:ea typeface="宋体" panose="02010600030101010101" pitchFamily="2" charset="-122"/>
                      </a:rPr>
                      <m:t>∀</m:t>
                    </m:r>
                    <m:r>
                      <a:rPr lang="en-US" altLang="zh-CN" sz="2400" b="1" i="1" kern="100" smtClean="0">
                        <a:solidFill>
                          <a:schemeClr val="accent2"/>
                        </a:solidFill>
                        <a:latin typeface="Cambria Math" panose="02040503050406030204" pitchFamily="18" charset="0"/>
                        <a:ea typeface="宋体" panose="02010600030101010101" pitchFamily="2" charset="-122"/>
                      </a:rPr>
                      <m:t>𝒄</m:t>
                    </m:r>
                    <m:r>
                      <a:rPr lang="en-US" altLang="zh-CN" sz="2400" b="1" i="1" kern="100" smtClean="0">
                        <a:solidFill>
                          <a:schemeClr val="accent2"/>
                        </a:solidFill>
                        <a:latin typeface="Cambria Math" panose="02040503050406030204" pitchFamily="18" charset="0"/>
                        <a:ea typeface="宋体" panose="02010600030101010101" pitchFamily="2" charset="-122"/>
                      </a:rPr>
                      <m:t>∈</m:t>
                    </m:r>
                    <m:r>
                      <a:rPr lang="en-US" altLang="zh-CN" sz="2400" b="1" i="1" kern="100" smtClean="0">
                        <a:solidFill>
                          <a:schemeClr val="accent2"/>
                        </a:solidFill>
                        <a:latin typeface="Cambria Math" panose="02040503050406030204" pitchFamily="18" charset="0"/>
                        <a:ea typeface="宋体" panose="02010600030101010101" pitchFamily="2" charset="-122"/>
                      </a:rPr>
                      <m:t>𝑪</m:t>
                    </m:r>
                  </m:oMath>
                </a14:m>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，存在</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rPr>
                      <m:t>𝒃</m:t>
                    </m:r>
                    <m:r>
                      <a:rPr lang="en-US" altLang="zh-CN" sz="2400" b="1" i="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𝑩</m:t>
                    </m:r>
                  </m:oMath>
                </a14:m>
                <a:r>
                  <a:rPr lang="zh-CN" altLang="zh-CN" sz="2400" b="1" kern="100" dirty="0">
                    <a:solidFill>
                      <a:schemeClr val="accent2"/>
                    </a:solidFill>
                    <a:latin typeface="Times New Roman" panose="02020603050405020304" pitchFamily="18" charset="0"/>
                    <a:ea typeface="宋体" panose="02010600030101010101" pitchFamily="2" charset="-122"/>
                    <a:cs typeface="宋体" panose="02010600030101010101" pitchFamily="2" charset="-122"/>
                  </a:rPr>
                  <a:t>使得</a:t>
                </a:r>
                <a14:m>
                  <m:oMath xmlns:m="http://schemas.openxmlformats.org/officeDocument/2006/math">
                    <m:r>
                      <a:rPr lang="en-US" altLang="zh-CN" sz="2400" b="1" i="1" kern="100">
                        <a:solidFill>
                          <a:schemeClr val="accent2"/>
                        </a:solidFill>
                        <a:latin typeface="Cambria Math" panose="02040503050406030204" pitchFamily="18" charset="0"/>
                        <a:ea typeface="宋体" panose="02010600030101010101" pitchFamily="2" charset="-122"/>
                      </a:rPr>
                      <m:t>𝒈</m:t>
                    </m:r>
                    <m:d>
                      <m:dPr>
                        <m:ctrlPr>
                          <a:rPr lang="zh-CN" altLang="zh-CN" sz="2400" b="1" i="1" kern="100">
                            <a:solidFill>
                              <a:schemeClr val="accent2"/>
                            </a:solidFill>
                            <a:latin typeface="Cambria Math" panose="02040503050406030204" pitchFamily="18" charset="0"/>
                            <a:ea typeface="Cambria Math" panose="02040503050406030204" pitchFamily="18" charset="0"/>
                          </a:rPr>
                        </m:ctrlPr>
                      </m:dPr>
                      <m:e>
                        <m:r>
                          <a:rPr lang="en-US" altLang="zh-CN" sz="2400" b="1" i="1" kern="100">
                            <a:solidFill>
                              <a:schemeClr val="accent2"/>
                            </a:solidFill>
                            <a:latin typeface="Cambria Math" panose="02040503050406030204" pitchFamily="18" charset="0"/>
                            <a:ea typeface="宋体" panose="02010600030101010101" pitchFamily="2" charset="-122"/>
                          </a:rPr>
                          <m:t>𝒃</m:t>
                        </m:r>
                      </m:e>
                    </m:d>
                    <m:r>
                      <a:rPr lang="en-US" altLang="zh-CN" sz="2400" b="1" kern="100">
                        <a:solidFill>
                          <a:schemeClr val="accent2"/>
                        </a:solidFill>
                        <a:latin typeface="Cambria Math" panose="02040503050406030204" pitchFamily="18" charset="0"/>
                        <a:ea typeface="宋体" panose="02010600030101010101" pitchFamily="2" charset="-122"/>
                      </a:rPr>
                      <m:t>=</m:t>
                    </m:r>
                    <m:r>
                      <a:rPr lang="en-US" altLang="zh-CN" sz="2400" b="1" i="1" kern="100">
                        <a:solidFill>
                          <a:schemeClr val="accent2"/>
                        </a:solidFill>
                        <a:latin typeface="Cambria Math" panose="02040503050406030204" pitchFamily="18" charset="0"/>
                        <a:ea typeface="宋体" panose="02010600030101010101" pitchFamily="2" charset="-122"/>
                      </a:rPr>
                      <m:t>𝒄</m:t>
                    </m:r>
                    <m:r>
                      <a:rPr lang="zh-CN" altLang="en-US" sz="2400" b="1" i="1" kern="100" smtClean="0">
                        <a:solidFill>
                          <a:schemeClr val="accent2"/>
                        </a:solidFill>
                        <a:latin typeface="Cambria Math" panose="02040503050406030204" pitchFamily="18" charset="0"/>
                        <a:ea typeface="宋体" panose="02010600030101010101" pitchFamily="2" charset="-122"/>
                      </a:rPr>
                      <m:t>，</m:t>
                    </m:r>
                  </m:oMath>
                </a14:m>
                <a:r>
                  <a:rPr lang="zh-CN" altLang="en-US"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𝒈</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是</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𝑩</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𝑪</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的满射。</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lnSpc>
                    <a:spcPts val="3200"/>
                  </a:lnSpc>
                  <a:spcAft>
                    <a:spcPts val="0"/>
                  </a:spcAft>
                </a:pP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）综合是</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）的结果即可得证。</a:t>
                </a:r>
                <a:endParaRPr lang="zh-CN" altLang="zh-CN" sz="24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6E6CF224-809E-49EC-9266-10FF80545172}"/>
                  </a:ext>
                </a:extLst>
              </p:cNvPr>
              <p:cNvSpPr>
                <a:spLocks noRot="1" noChangeAspect="1" noMove="1" noResize="1" noEditPoints="1" noAdjustHandles="1" noChangeArrowheads="1" noChangeShapeType="1" noTextEdit="1"/>
              </p:cNvSpPr>
              <p:nvPr/>
            </p:nvSpPr>
            <p:spPr>
              <a:xfrm>
                <a:off x="359532" y="1739793"/>
                <a:ext cx="8424936" cy="4572214"/>
              </a:xfrm>
              <a:prstGeom prst="rect">
                <a:avLst/>
              </a:prstGeom>
              <a:blipFill>
                <a:blip r:embed="rId3"/>
                <a:stretch>
                  <a:fillRect l="-1158" t="-1333" r="-1085" b="-22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47358199"/>
      </p:ext>
    </p:extLst>
  </p:cSld>
  <p:clrMapOvr>
    <a:masterClrMapping/>
  </p:clrMapOvr>
  <p:transition spd="med">
    <p:wipe dir="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CAA1581D-264F-4E78-AD2B-CA8D5AEA673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113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1140" name="Text Box 2"/>
          <p:cNvSpPr txBox="1">
            <a:spLocks noChangeArrowheads="1"/>
          </p:cNvSpPr>
          <p:nvPr/>
        </p:nvSpPr>
        <p:spPr bwMode="auto">
          <a:xfrm>
            <a:off x="1331913" y="85883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9114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p:cNvSpPr txBox="1"/>
          <p:nvPr/>
        </p:nvSpPr>
        <p:spPr>
          <a:xfrm>
            <a:off x="865950" y="2276872"/>
            <a:ext cx="7730362" cy="3222998"/>
          </a:xfrm>
          <a:prstGeom prst="rect">
            <a:avLst/>
          </a:prstGeom>
          <a:solidFill>
            <a:schemeClr val="accent3">
              <a:lumMod val="95000"/>
            </a:schemeClr>
          </a:solidFill>
        </p:spPr>
        <p:txBody>
          <a:bodyPr wrap="square" rtlCol="0">
            <a:spAutoFit/>
          </a:bodyPr>
          <a:lstStyle/>
          <a:p>
            <a:pPr>
              <a:lnSpc>
                <a:spcPct val="150000"/>
              </a:lnSpc>
              <a:spcBef>
                <a:spcPts val="0"/>
              </a:spcBef>
            </a:pPr>
            <a:r>
              <a:rPr lang="zh-CN" altLang="zh-CN" sz="2800" b="1" dirty="0">
                <a:solidFill>
                  <a:schemeClr val="tx1"/>
                </a:solidFill>
              </a:rPr>
              <a:t>【例题】设按顺序排列的</a:t>
            </a:r>
            <a:r>
              <a:rPr lang="en-US" altLang="zh-CN" sz="2800" b="1" dirty="0">
                <a:solidFill>
                  <a:schemeClr val="tx1"/>
                </a:solidFill>
              </a:rPr>
              <a:t>13</a:t>
            </a:r>
            <a:r>
              <a:rPr lang="zh-CN" altLang="zh-CN" sz="2800" b="1" dirty="0">
                <a:solidFill>
                  <a:schemeClr val="tx1"/>
                </a:solidFill>
              </a:rPr>
              <a:t>张红心纸牌：</a:t>
            </a:r>
          </a:p>
          <a:p>
            <a:pPr>
              <a:lnSpc>
                <a:spcPct val="150000"/>
              </a:lnSpc>
              <a:spcBef>
                <a:spcPts val="0"/>
              </a:spcBef>
            </a:pPr>
            <a:r>
              <a:rPr lang="en-US" altLang="zh-CN" sz="2800" b="1" dirty="0">
                <a:solidFill>
                  <a:schemeClr val="tx1"/>
                </a:solidFill>
              </a:rPr>
              <a:t>   A  2  3  4  5  6  7  8  9  10  J  Q  K</a:t>
            </a:r>
            <a:endParaRPr lang="zh-CN" altLang="zh-CN" sz="2800" b="1" dirty="0">
              <a:solidFill>
                <a:schemeClr val="tx1"/>
              </a:solidFill>
            </a:endParaRPr>
          </a:p>
          <a:p>
            <a:pPr>
              <a:lnSpc>
                <a:spcPct val="150000"/>
              </a:lnSpc>
              <a:spcBef>
                <a:spcPts val="0"/>
              </a:spcBef>
            </a:pPr>
            <a:r>
              <a:rPr lang="zh-CN" altLang="zh-CN" sz="2800" b="1" dirty="0">
                <a:solidFill>
                  <a:schemeClr val="tx1"/>
                </a:solidFill>
              </a:rPr>
              <a:t>经过一次洗牌后牌的顺序变为：</a:t>
            </a:r>
          </a:p>
          <a:p>
            <a:pPr>
              <a:lnSpc>
                <a:spcPct val="150000"/>
              </a:lnSpc>
              <a:spcBef>
                <a:spcPts val="0"/>
              </a:spcBef>
            </a:pPr>
            <a:r>
              <a:rPr lang="en-US" altLang="zh-CN" sz="2800" b="1" dirty="0">
                <a:solidFill>
                  <a:schemeClr val="tx1"/>
                </a:solidFill>
              </a:rPr>
              <a:t>   3  8  K  A  4  10  Q  J  5  7  6  2  9</a:t>
            </a:r>
            <a:endParaRPr lang="zh-CN" altLang="zh-CN" sz="2800" b="1" dirty="0">
              <a:solidFill>
                <a:schemeClr val="tx1"/>
              </a:solidFill>
            </a:endParaRPr>
          </a:p>
          <a:p>
            <a:pPr>
              <a:lnSpc>
                <a:spcPct val="150000"/>
              </a:lnSpc>
              <a:spcBef>
                <a:spcPts val="0"/>
              </a:spcBef>
            </a:pPr>
            <a:r>
              <a:rPr lang="zh-CN" altLang="zh-CN" sz="2800" b="1" dirty="0">
                <a:solidFill>
                  <a:schemeClr val="tx1"/>
                </a:solidFill>
              </a:rPr>
              <a:t>问再经两次同样方式洗牌后</a:t>
            </a:r>
            <a:r>
              <a:rPr lang="zh-CN" altLang="en-US" sz="2800" b="1" dirty="0">
                <a:solidFill>
                  <a:schemeClr val="tx1"/>
                </a:solidFill>
              </a:rPr>
              <a:t>的</a:t>
            </a:r>
            <a:r>
              <a:rPr lang="zh-CN" altLang="zh-CN" sz="2800" b="1" dirty="0">
                <a:solidFill>
                  <a:schemeClr val="tx1"/>
                </a:solidFill>
              </a:rPr>
              <a:t>牌序</a:t>
            </a:r>
            <a:r>
              <a:rPr lang="zh-CN" altLang="en-US" sz="2800" b="1" dirty="0">
                <a:solidFill>
                  <a:schemeClr val="tx1"/>
                </a:solidFill>
              </a:rPr>
              <a:t>如何</a:t>
            </a:r>
            <a:r>
              <a:rPr lang="zh-CN" altLang="zh-CN" sz="2800" b="1" dirty="0">
                <a:solidFill>
                  <a:schemeClr val="tx1"/>
                </a:solidFill>
              </a:rPr>
              <a:t>？</a:t>
            </a:r>
          </a:p>
        </p:txBody>
      </p:sp>
    </p:spTree>
  </p:cSld>
  <p:clrMapOvr>
    <a:masterClrMapping/>
  </p:clrMapOvr>
  <p:transition spd="med">
    <p:wipe dir="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66581C2E-4B33-476F-91DD-E53221B6581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216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2164" name="Text Box 2"/>
          <p:cNvSpPr txBox="1">
            <a:spLocks noChangeArrowheads="1"/>
          </p:cNvSpPr>
          <p:nvPr/>
        </p:nvSpPr>
        <p:spPr bwMode="auto">
          <a:xfrm>
            <a:off x="1331913" y="858838"/>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9216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684213" y="1972865"/>
                <a:ext cx="7992888" cy="1628844"/>
              </a:xfrm>
              <a:prstGeom prst="rect">
                <a:avLst/>
              </a:prstGeom>
              <a:solidFill>
                <a:schemeClr val="accent2">
                  <a:lumMod val="20000"/>
                  <a:lumOff val="80000"/>
                </a:schemeClr>
              </a:solidFill>
            </p:spPr>
            <p:txBody>
              <a:bodyPr wrap="square" rtlCol="0">
                <a:spAutoFit/>
              </a:bodyPr>
              <a:lstStyle/>
              <a:p>
                <a:pPr>
                  <a:lnSpc>
                    <a:spcPct val="110000"/>
                  </a:lnSpc>
                  <a:spcBef>
                    <a:spcPts val="600"/>
                  </a:spcBef>
                </a:pPr>
                <a:r>
                  <a:rPr lang="en-US" altLang="zh-CN" sz="2800" b="1" dirty="0"/>
                  <a:t> </a:t>
                </a:r>
                <a:r>
                  <a:rPr lang="zh-CN" altLang="zh-CN" sz="2000" b="1" dirty="0"/>
                  <a:t>【分析】</a:t>
                </a:r>
                <a:r>
                  <a:rPr lang="zh-CN" altLang="zh-CN" sz="2000" b="1" dirty="0">
                    <a:solidFill>
                      <a:schemeClr val="tx1"/>
                    </a:solidFill>
                  </a:rPr>
                  <a:t>将洗牌过程看成建立函数</a:t>
                </a:r>
                <a14:m>
                  <m:oMath xmlns:m="http://schemas.openxmlformats.org/officeDocument/2006/math">
                    <m:r>
                      <a:rPr lang="en-US" altLang="zh-CN" sz="2000" b="1" i="1">
                        <a:solidFill>
                          <a:schemeClr val="tx1"/>
                        </a:solidFill>
                        <a:latin typeface="Cambria Math"/>
                      </a:rPr>
                      <m:t>𝒇</m:t>
                    </m:r>
                  </m:oMath>
                </a14:m>
                <a:r>
                  <a:rPr lang="zh-CN" altLang="zh-CN" sz="2000" b="1" dirty="0">
                    <a:solidFill>
                      <a:schemeClr val="tx1"/>
                    </a:solidFill>
                  </a:rPr>
                  <a:t>的过程，即有</a:t>
                </a:r>
                <a:r>
                  <a:rPr lang="zh-CN" altLang="en-US" sz="2000" b="1" dirty="0">
                    <a:solidFill>
                      <a:schemeClr val="tx1"/>
                    </a:solidFill>
                  </a:rPr>
                  <a:t>：</a:t>
                </a:r>
                <a:endParaRPr lang="en-US" altLang="zh-CN" sz="2000" b="1" dirty="0">
                  <a:solidFill>
                    <a:schemeClr val="tx1"/>
                  </a:solidFill>
                </a:endParaRPr>
              </a:p>
              <a:p>
                <a:pPr>
                  <a:lnSpc>
                    <a:spcPct val="110000"/>
                  </a:lnSpc>
                  <a:spcBef>
                    <a:spcPts val="600"/>
                  </a:spcBef>
                </a:pPr>
                <a14:m>
                  <m:oMathPara xmlns:m="http://schemas.openxmlformats.org/officeDocument/2006/math">
                    <m:oMathParaPr>
                      <m:jc m:val="centerGroup"/>
                    </m:oMathParaPr>
                    <m:oMath xmlns:m="http://schemas.openxmlformats.org/officeDocument/2006/math">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𝑨</m:t>
                          </m:r>
                        </m:e>
                      </m:d>
                      <m:r>
                        <a:rPr lang="en-US" altLang="zh-CN" sz="2000" b="1">
                          <a:solidFill>
                            <a:schemeClr val="tx1"/>
                          </a:solidFill>
                          <a:latin typeface="Cambria Math"/>
                        </a:rPr>
                        <m:t>=</m:t>
                      </m:r>
                      <m:r>
                        <a:rPr lang="en-US" altLang="zh-CN" sz="2000" b="1" i="1">
                          <a:solidFill>
                            <a:schemeClr val="tx1"/>
                          </a:solidFill>
                          <a:latin typeface="Cambria Math"/>
                        </a:rPr>
                        <m:t>𝟑</m:t>
                      </m:r>
                      <m:r>
                        <a:rPr lang="en-US"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𝟐</m:t>
                          </m:r>
                        </m:e>
                      </m:d>
                      <m:r>
                        <a:rPr lang="en-US" altLang="zh-CN" sz="2000" b="1">
                          <a:solidFill>
                            <a:schemeClr val="tx1"/>
                          </a:solidFill>
                          <a:latin typeface="Cambria Math"/>
                        </a:rPr>
                        <m:t>=</m:t>
                      </m:r>
                      <m:r>
                        <a:rPr lang="en-US" altLang="zh-CN" sz="2000" b="1" i="1">
                          <a:solidFill>
                            <a:schemeClr val="tx1"/>
                          </a:solidFill>
                          <a:latin typeface="Cambria Math"/>
                        </a:rPr>
                        <m:t>𝟖</m:t>
                      </m:r>
                      <m:r>
                        <a:rPr lang="en-US"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𝟑</m:t>
                          </m:r>
                        </m:e>
                      </m:d>
                      <m:r>
                        <a:rPr lang="en-US" altLang="zh-CN" sz="2000" b="1">
                          <a:solidFill>
                            <a:schemeClr val="tx1"/>
                          </a:solidFill>
                          <a:latin typeface="Cambria Math"/>
                        </a:rPr>
                        <m:t>=</m:t>
                      </m:r>
                      <m:r>
                        <a:rPr lang="en-US" altLang="zh-CN" sz="2000" b="1" i="1">
                          <a:solidFill>
                            <a:schemeClr val="tx1"/>
                          </a:solidFill>
                          <a:latin typeface="Cambria Math"/>
                        </a:rPr>
                        <m:t>𝑲</m:t>
                      </m:r>
                      <m:r>
                        <a:rPr lang="en-US"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𝟒</m:t>
                          </m:r>
                        </m:e>
                      </m:d>
                      <m:r>
                        <a:rPr lang="en-US" altLang="zh-CN" sz="2000" b="1" smtClean="0">
                          <a:solidFill>
                            <a:schemeClr val="tx1"/>
                          </a:solidFill>
                          <a:latin typeface="Cambria Math"/>
                        </a:rPr>
                        <m:t>=</m:t>
                      </m:r>
                      <m:r>
                        <a:rPr lang="en-US" altLang="zh-CN" sz="2000" b="1" i="1" smtClean="0">
                          <a:solidFill>
                            <a:schemeClr val="tx1"/>
                          </a:solidFill>
                          <a:latin typeface="Cambria Math"/>
                        </a:rPr>
                        <m:t>𝑨</m:t>
                      </m:r>
                      <m:r>
                        <a:rPr lang="en-US" altLang="zh-CN" sz="2000" b="1" i="1" smtClean="0">
                          <a:solidFill>
                            <a:schemeClr val="tx1"/>
                          </a:solidFill>
                          <a:latin typeface="Cambria Math"/>
                        </a:rPr>
                        <m:t>, </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𝟓</m:t>
                          </m:r>
                        </m:e>
                      </m:d>
                      <m:r>
                        <a:rPr lang="en-US" altLang="zh-CN" sz="2000" b="1" i="1">
                          <a:solidFill>
                            <a:schemeClr val="tx1"/>
                          </a:solidFill>
                          <a:latin typeface="Cambria Math"/>
                        </a:rPr>
                        <m:t>=</m:t>
                      </m:r>
                      <m:r>
                        <a:rPr lang="en-US" altLang="zh-CN" sz="2000" b="1" i="1">
                          <a:solidFill>
                            <a:schemeClr val="tx1"/>
                          </a:solidFill>
                          <a:latin typeface="Cambria Math"/>
                        </a:rPr>
                        <m:t>𝟒</m:t>
                      </m:r>
                      <m:r>
                        <a:rPr lang="en-US"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𝟔</m:t>
                          </m:r>
                        </m:e>
                      </m:d>
                      <m:r>
                        <a:rPr lang="en-US" altLang="zh-CN" sz="2000" b="1">
                          <a:solidFill>
                            <a:schemeClr val="tx1"/>
                          </a:solidFill>
                          <a:latin typeface="Cambria Math"/>
                        </a:rPr>
                        <m:t>=</m:t>
                      </m:r>
                      <m:r>
                        <a:rPr lang="en-US" altLang="zh-CN" sz="2000" b="1" i="1">
                          <a:solidFill>
                            <a:schemeClr val="tx1"/>
                          </a:solidFill>
                          <a:latin typeface="Cambria Math"/>
                        </a:rPr>
                        <m:t>𝟏𝟎</m:t>
                      </m:r>
                      <m:r>
                        <a:rPr lang="en-US" altLang="zh-CN" sz="2000" b="1">
                          <a:solidFill>
                            <a:schemeClr val="tx1"/>
                          </a:solidFill>
                          <a:latin typeface="Cambria Math"/>
                        </a:rPr>
                        <m:t>,</m:t>
                      </m:r>
                    </m:oMath>
                  </m:oMathPara>
                </a14:m>
                <a:endParaRPr lang="en-US" altLang="zh-CN" sz="2000" b="1" dirty="0">
                  <a:solidFill>
                    <a:schemeClr val="tx1"/>
                  </a:solidFill>
                  <a:latin typeface="Cambria Math"/>
                </a:endParaRPr>
              </a:p>
              <a:p>
                <a:pPr algn="r">
                  <a:lnSpc>
                    <a:spcPct val="110000"/>
                  </a:lnSpc>
                  <a:spcBef>
                    <a:spcPts val="600"/>
                  </a:spcBef>
                </a:pPr>
                <a14:m>
                  <m:oMathPara xmlns:m="http://schemas.openxmlformats.org/officeDocument/2006/math">
                    <m:oMathParaPr>
                      <m:jc m:val="center"/>
                    </m:oMathParaPr>
                    <m:oMath xmlns:m="http://schemas.openxmlformats.org/officeDocument/2006/math">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𝟕</m:t>
                          </m:r>
                        </m:e>
                      </m:d>
                      <m:r>
                        <a:rPr lang="en-US" altLang="zh-CN" sz="2000" b="1">
                          <a:solidFill>
                            <a:schemeClr val="tx1"/>
                          </a:solidFill>
                          <a:latin typeface="Cambria Math"/>
                        </a:rPr>
                        <m:t>=</m:t>
                      </m:r>
                      <m:r>
                        <a:rPr lang="en-US" altLang="zh-CN" sz="2000" b="1" i="1">
                          <a:solidFill>
                            <a:schemeClr val="tx1"/>
                          </a:solidFill>
                          <a:latin typeface="Cambria Math"/>
                        </a:rPr>
                        <m:t>𝐐</m:t>
                      </m:r>
                      <m:r>
                        <a:rPr lang="en-US"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𝟖</m:t>
                          </m:r>
                        </m:e>
                      </m:d>
                      <m:r>
                        <a:rPr lang="en-US" altLang="zh-CN" sz="2000" b="1" i="1">
                          <a:solidFill>
                            <a:schemeClr val="tx1"/>
                          </a:solidFill>
                          <a:latin typeface="Cambria Math"/>
                        </a:rPr>
                        <m:t>=</m:t>
                      </m:r>
                      <m:r>
                        <a:rPr lang="en-US" altLang="zh-CN" sz="2000" b="1" i="1">
                          <a:solidFill>
                            <a:schemeClr val="tx1"/>
                          </a:solidFill>
                          <a:latin typeface="Cambria Math"/>
                        </a:rPr>
                        <m:t>𝑱</m:t>
                      </m:r>
                      <m:r>
                        <a:rPr lang="en-US" altLang="zh-CN" sz="2000" b="1" i="1">
                          <a:solidFill>
                            <a:schemeClr val="tx1"/>
                          </a:solidFill>
                          <a:latin typeface="Cambria Math"/>
                        </a:rPr>
                        <m:t>, </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𝟗</m:t>
                          </m:r>
                        </m:e>
                      </m:d>
                      <m:r>
                        <a:rPr lang="en-US" altLang="zh-CN" sz="2000" b="1" i="1">
                          <a:solidFill>
                            <a:schemeClr val="tx1"/>
                          </a:solidFill>
                          <a:latin typeface="Cambria Math"/>
                        </a:rPr>
                        <m:t>=</m:t>
                      </m:r>
                      <m:r>
                        <a:rPr lang="en-US" altLang="zh-CN" sz="2000" b="1" i="1">
                          <a:solidFill>
                            <a:schemeClr val="tx1"/>
                          </a:solidFill>
                          <a:latin typeface="Cambria Math"/>
                        </a:rPr>
                        <m:t>𝟓</m:t>
                      </m:r>
                      <m:r>
                        <a:rPr lang="en-US" altLang="zh-CN" sz="2000" b="1" i="1">
                          <a:solidFill>
                            <a:schemeClr val="tx1"/>
                          </a:solidFill>
                          <a:latin typeface="Cambria Math"/>
                        </a:rPr>
                        <m:t>, </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𝟏𝟎</m:t>
                          </m:r>
                        </m:e>
                      </m:d>
                      <m:r>
                        <a:rPr lang="en-US" altLang="zh-CN" sz="2000" b="1" i="1">
                          <a:solidFill>
                            <a:schemeClr val="tx1"/>
                          </a:solidFill>
                          <a:latin typeface="Cambria Math"/>
                        </a:rPr>
                        <m:t>=</m:t>
                      </m:r>
                      <m:r>
                        <a:rPr lang="en-US" altLang="zh-CN" sz="2000" b="1" i="1">
                          <a:solidFill>
                            <a:schemeClr val="tx1"/>
                          </a:solidFill>
                          <a:latin typeface="Cambria Math"/>
                        </a:rPr>
                        <m:t>𝟕</m:t>
                      </m:r>
                      <m:r>
                        <a:rPr lang="en-US" altLang="zh-CN" sz="2000" b="1" i="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𝑱</m:t>
                          </m:r>
                        </m:e>
                      </m:d>
                      <m:r>
                        <a:rPr lang="en-US" altLang="zh-CN" sz="2000" b="1" i="1">
                          <a:solidFill>
                            <a:schemeClr val="tx1"/>
                          </a:solidFill>
                          <a:latin typeface="Cambria Math"/>
                        </a:rPr>
                        <m:t>=</m:t>
                      </m:r>
                      <m:r>
                        <a:rPr lang="en-US" altLang="zh-CN" sz="2000" b="1" i="1">
                          <a:solidFill>
                            <a:schemeClr val="tx1"/>
                          </a:solidFill>
                          <a:latin typeface="Cambria Math"/>
                        </a:rPr>
                        <m:t>𝟔</m:t>
                      </m:r>
                      <m:r>
                        <a:rPr lang="en-US" altLang="zh-CN" sz="2000" b="1">
                          <a:solidFill>
                            <a:schemeClr val="tx1"/>
                          </a:solidFill>
                          <a:latin typeface="Cambria Math"/>
                        </a:rPr>
                        <m:t>,</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𝑸</m:t>
                          </m:r>
                        </m:e>
                      </m:d>
                      <m:r>
                        <a:rPr lang="en-US" altLang="zh-CN" sz="2000" b="1">
                          <a:solidFill>
                            <a:schemeClr val="tx1"/>
                          </a:solidFill>
                          <a:latin typeface="Cambria Math"/>
                        </a:rPr>
                        <m:t>=</m:t>
                      </m:r>
                      <m:r>
                        <a:rPr lang="en-US" altLang="zh-CN" sz="2000" b="1" i="1">
                          <a:solidFill>
                            <a:schemeClr val="tx1"/>
                          </a:solidFill>
                          <a:latin typeface="Cambria Math"/>
                        </a:rPr>
                        <m:t>𝟐</m:t>
                      </m:r>
                      <m:r>
                        <a:rPr lang="en-US" altLang="zh-CN" sz="2000" b="1">
                          <a:solidFill>
                            <a:schemeClr val="tx1"/>
                          </a:solidFill>
                          <a:latin typeface="Cambria Math"/>
                        </a:rPr>
                        <m:t>,</m:t>
                      </m:r>
                      <m:r>
                        <a:rPr lang="en-US" altLang="zh-CN" sz="2000" b="1" i="1" smtClean="0">
                          <a:solidFill>
                            <a:schemeClr val="tx1"/>
                          </a:solidFill>
                          <a:latin typeface="Cambria Math" panose="02040503050406030204" pitchFamily="18" charset="0"/>
                        </a:rPr>
                        <m:t> </m:t>
                      </m:r>
                      <m:r>
                        <a:rPr lang="en-US" altLang="zh-CN" sz="2000" b="1" i="1">
                          <a:solidFill>
                            <a:schemeClr val="tx1"/>
                          </a:solidFill>
                          <a:latin typeface="Cambria Math"/>
                        </a:rPr>
                        <m:t>𝒇</m:t>
                      </m:r>
                      <m:d>
                        <m:dPr>
                          <m:ctrlPr>
                            <a:rPr lang="zh-CN" altLang="zh-CN" sz="2000" b="1" i="1">
                              <a:solidFill>
                                <a:schemeClr val="tx1"/>
                              </a:solidFill>
                              <a:latin typeface="Cambria Math" panose="02040503050406030204" pitchFamily="18" charset="0"/>
                            </a:rPr>
                          </m:ctrlPr>
                        </m:dPr>
                        <m:e>
                          <m:r>
                            <a:rPr lang="en-US" altLang="zh-CN" sz="2000" b="1" i="1">
                              <a:solidFill>
                                <a:schemeClr val="tx1"/>
                              </a:solidFill>
                              <a:latin typeface="Cambria Math"/>
                            </a:rPr>
                            <m:t>𝑲</m:t>
                          </m:r>
                        </m:e>
                      </m:d>
                      <m:r>
                        <a:rPr lang="en-US" altLang="zh-CN" sz="2000" b="1">
                          <a:solidFill>
                            <a:schemeClr val="tx1"/>
                          </a:solidFill>
                          <a:latin typeface="Cambria Math"/>
                        </a:rPr>
                        <m:t>=</m:t>
                      </m:r>
                      <m:r>
                        <a:rPr lang="en-US" altLang="zh-CN" sz="2000" b="1" i="1">
                          <a:solidFill>
                            <a:schemeClr val="tx1"/>
                          </a:solidFill>
                          <a:latin typeface="Cambria Math"/>
                        </a:rPr>
                        <m:t>𝟗</m:t>
                      </m:r>
                    </m:oMath>
                  </m:oMathPara>
                </a14:m>
                <a:endParaRPr lang="en-US" altLang="zh-CN" sz="2000" b="1" dirty="0">
                  <a:solidFill>
                    <a:schemeClr val="tx1"/>
                  </a:solidFill>
                </a:endParaRPr>
              </a:p>
              <a:p>
                <a:pPr>
                  <a:lnSpc>
                    <a:spcPct val="110000"/>
                  </a:lnSpc>
                  <a:spcBef>
                    <a:spcPts val="600"/>
                  </a:spcBef>
                </a:pPr>
                <a:r>
                  <a:rPr lang="en-US" altLang="zh-CN" sz="2000" b="1" dirty="0">
                    <a:solidFill>
                      <a:schemeClr val="tx1"/>
                    </a:solidFill>
                  </a:rPr>
                  <a:t>  </a:t>
                </a:r>
                <a:r>
                  <a:rPr lang="zh-CN" altLang="zh-CN" sz="2000" b="1" dirty="0">
                    <a:solidFill>
                      <a:schemeClr val="tx1"/>
                    </a:solidFill>
                  </a:rPr>
                  <a:t>则经两次同样洗牌方式</a:t>
                </a:r>
                <a:r>
                  <a:rPr lang="zh-CN" altLang="en-US" sz="2000" b="1" dirty="0">
                    <a:solidFill>
                      <a:schemeClr val="tx1"/>
                    </a:solidFill>
                  </a:rPr>
                  <a:t>得到牌</a:t>
                </a:r>
                <a:r>
                  <a:rPr lang="zh-CN" altLang="zh-CN" sz="2000" b="1" dirty="0">
                    <a:solidFill>
                      <a:schemeClr val="tx1"/>
                    </a:solidFill>
                  </a:rPr>
                  <a:t>的顺序即为</a:t>
                </a:r>
                <a:r>
                  <a:rPr lang="zh-CN" altLang="zh-CN" sz="2000" b="1" dirty="0">
                    <a:solidFill>
                      <a:srgbClr val="0000FF"/>
                    </a:solidFill>
                  </a:rPr>
                  <a:t>求</a:t>
                </a:r>
                <a14:m>
                  <m:oMath xmlns:m="http://schemas.openxmlformats.org/officeDocument/2006/math">
                    <m:r>
                      <a:rPr lang="en-US" altLang="zh-CN" sz="2000" b="1" i="1">
                        <a:solidFill>
                          <a:srgbClr val="0000FF"/>
                        </a:solidFill>
                        <a:latin typeface="Cambria Math"/>
                      </a:rPr>
                      <m:t>𝒇</m:t>
                    </m:r>
                    <m:r>
                      <a:rPr lang="en-US" altLang="zh-CN" sz="2000" b="1" i="1">
                        <a:solidFill>
                          <a:srgbClr val="0000FF"/>
                        </a:solidFill>
                        <a:latin typeface="Cambria Math"/>
                      </a:rPr>
                      <m:t>∘</m:t>
                    </m:r>
                    <m:r>
                      <a:rPr lang="en-US" altLang="zh-CN" sz="2000" b="1" i="1">
                        <a:solidFill>
                          <a:srgbClr val="0000FF"/>
                        </a:solidFill>
                        <a:latin typeface="Cambria Math"/>
                      </a:rPr>
                      <m:t>𝒇</m:t>
                    </m:r>
                    <m:r>
                      <a:rPr lang="en-US" altLang="zh-CN" sz="2000" b="1" i="1">
                        <a:solidFill>
                          <a:srgbClr val="0000FF"/>
                        </a:solidFill>
                        <a:latin typeface="Cambria Math"/>
                      </a:rPr>
                      <m:t>∘</m:t>
                    </m:r>
                    <m:r>
                      <a:rPr lang="en-US" altLang="zh-CN" sz="2000" b="1" i="1">
                        <a:solidFill>
                          <a:srgbClr val="0000FF"/>
                        </a:solidFill>
                        <a:latin typeface="Cambria Math"/>
                      </a:rPr>
                      <m:t>𝒇</m:t>
                    </m:r>
                  </m:oMath>
                </a14:m>
                <a:r>
                  <a:rPr lang="zh-CN" altLang="zh-CN" sz="2000" b="1" dirty="0">
                    <a:solidFill>
                      <a:srgbClr val="0000FF"/>
                    </a:solidFill>
                  </a:rPr>
                  <a:t>的值。</a:t>
                </a:r>
                <a:endParaRPr lang="zh-CN" altLang="en-US" sz="2000" b="1" dirty="0">
                  <a:solidFill>
                    <a:srgbClr val="0000FF"/>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684213" y="1972865"/>
                <a:ext cx="7992888" cy="1628844"/>
              </a:xfrm>
              <a:prstGeom prst="rect">
                <a:avLst/>
              </a:prstGeom>
              <a:blipFill>
                <a:blip r:embed="rId3"/>
                <a:stretch>
                  <a:fillRect b="-5243"/>
                </a:stretch>
              </a:blipFill>
            </p:spPr>
            <p:txBody>
              <a:bodyPr/>
              <a:lstStyle/>
              <a:p>
                <a:r>
                  <a:rPr lang="zh-CN" altLang="en-US">
                    <a:noFill/>
                  </a:rPr>
                  <a:t> </a:t>
                </a:r>
              </a:p>
            </p:txBody>
          </p:sp>
        </mc:Fallback>
      </mc:AlternateContent>
      <p:pic>
        <p:nvPicPr>
          <p:cNvPr id="4" name="图片 3">
            <a:extLst>
              <a:ext uri="{FF2B5EF4-FFF2-40B4-BE49-F238E27FC236}">
                <a16:creationId xmlns:a16="http://schemas.microsoft.com/office/drawing/2014/main" id="{BB069533-727A-4D47-BD61-B051208B9293}"/>
              </a:ext>
            </a:extLst>
          </p:cNvPr>
          <p:cNvPicPr>
            <a:picLocks noChangeAspect="1"/>
          </p:cNvPicPr>
          <p:nvPr/>
        </p:nvPicPr>
        <p:blipFill>
          <a:blip r:embed="rId4"/>
          <a:stretch>
            <a:fillRect/>
          </a:stretch>
        </p:blipFill>
        <p:spPr>
          <a:xfrm>
            <a:off x="827584" y="3645024"/>
            <a:ext cx="7766029" cy="2673797"/>
          </a:xfrm>
          <a:prstGeom prst="rect">
            <a:avLst/>
          </a:prstGeom>
        </p:spPr>
      </p:pic>
    </p:spTree>
  </p:cSld>
  <p:clrMapOvr>
    <a:masterClrMapping/>
  </p:clrMapOvr>
  <p:transition spd="med">
    <p:wipe dir="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C90839A-E503-404A-BEAA-4A13951AB5B7}"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94211"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9421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F2B10BED-BDE3-4B53-8A83-476941ED4A64}" type="slidenum">
              <a:rPr lang="en-US" altLang="zh-CN" sz="1400" b="1">
                <a:latin typeface="Times New Roman" pitchFamily="18" charset="0"/>
                <a:ea typeface="宋体" pitchFamily="2" charset="-122"/>
              </a:rPr>
              <a:pPr algn="r" eaLnBrk="1" hangingPunct="1"/>
              <a:t>80</a:t>
            </a:fld>
            <a:endParaRPr lang="en-US" altLang="zh-CN" sz="1400" b="1">
              <a:latin typeface="Times New Roman" pitchFamily="18" charset="0"/>
              <a:ea typeface="宋体" pitchFamily="2" charset="-122"/>
            </a:endParaRPr>
          </a:p>
        </p:txBody>
      </p:sp>
      <p:sp>
        <p:nvSpPr>
          <p:cNvPr id="9421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函数的基本运算</a:t>
            </a:r>
          </a:p>
        </p:txBody>
      </p:sp>
      <p:sp>
        <p:nvSpPr>
          <p:cNvPr id="94214" name="Rectangle 3"/>
          <p:cNvSpPr>
            <a:spLocks noGrp="1" noChangeArrowheads="1"/>
          </p:cNvSpPr>
          <p:nvPr>
            <p:ph type="body" idx="4294967295"/>
          </p:nvPr>
        </p:nvSpPr>
        <p:spPr>
          <a:xfrm>
            <a:off x="2555875" y="2276475"/>
            <a:ext cx="4537075" cy="3168650"/>
          </a:xfrm>
          <a:noFill/>
        </p:spPr>
        <p:txBody>
          <a:bodyPr lIns="92075" tIns="46038" rIns="92075" bIns="46038"/>
          <a:lstStyle/>
          <a:p>
            <a:pPr eaLnBrk="1" hangingPunct="1">
              <a:lnSpc>
                <a:spcPct val="155000"/>
              </a:lnSpc>
              <a:buFont typeface="Wingdings" pitchFamily="2" charset="2"/>
              <a:buChar char="4"/>
            </a:pPr>
            <a:r>
              <a:rPr lang="en-US" altLang="zh-CN" sz="3600" b="1">
                <a:effectLst/>
                <a:latin typeface="黑体" pitchFamily="49" charset="-122"/>
                <a:ea typeface="黑体" pitchFamily="49" charset="-122"/>
              </a:rPr>
              <a:t> </a:t>
            </a:r>
            <a:r>
              <a:rPr lang="zh-CN" altLang="en-US" sz="3600" b="1">
                <a:effectLst/>
                <a:latin typeface="黑体" pitchFamily="49" charset="-122"/>
                <a:ea typeface="黑体" pitchFamily="49" charset="-122"/>
              </a:rPr>
              <a:t>函数的复合运算</a:t>
            </a:r>
          </a:p>
          <a:p>
            <a:pPr eaLnBrk="1" hangingPunct="1">
              <a:lnSpc>
                <a:spcPct val="155000"/>
              </a:lnSpc>
              <a:buFont typeface="Wingdings" pitchFamily="2" charset="2"/>
              <a:buChar char="J"/>
            </a:pPr>
            <a:r>
              <a:rPr lang="zh-CN" altLang="en-US" sz="3600" b="1">
                <a:solidFill>
                  <a:srgbClr val="0000FF"/>
                </a:solidFill>
                <a:effectLst/>
                <a:latin typeface="黑体" pitchFamily="49" charset="-122"/>
                <a:ea typeface="黑体" pitchFamily="49" charset="-122"/>
              </a:rPr>
              <a:t> 函数的逆运算</a:t>
            </a:r>
          </a:p>
          <a:p>
            <a:pPr eaLnBrk="1" hangingPunct="1">
              <a:lnSpc>
                <a:spcPct val="155000"/>
              </a:lnSpc>
              <a:buFont typeface="Wingdings" pitchFamily="2" charset="2"/>
              <a:buChar char="4"/>
            </a:pPr>
            <a:r>
              <a:rPr lang="zh-CN" altLang="en-US" sz="3600" b="1">
                <a:effectLst/>
                <a:latin typeface="黑体" pitchFamily="49" charset="-122"/>
                <a:ea typeface="黑体" pitchFamily="49" charset="-122"/>
              </a:rPr>
              <a:t> 函数的递归运算</a:t>
            </a:r>
          </a:p>
        </p:txBody>
      </p:sp>
      <p:pic>
        <p:nvPicPr>
          <p:cNvPr id="94215"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8400627-DDD8-43A5-B311-AB42778BE11A}"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523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5236"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逆运算的定义</a:t>
            </a:r>
          </a:p>
        </p:txBody>
      </p:sp>
      <p:pic>
        <p:nvPicPr>
          <p:cNvPr id="9523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15">
            <a:extLst>
              <a:ext uri="{FF2B5EF4-FFF2-40B4-BE49-F238E27FC236}">
                <a16:creationId xmlns:a16="http://schemas.microsoft.com/office/drawing/2014/main" id="{9D43C1D8-A75A-4FDE-B39C-37DBEF23E796}"/>
              </a:ext>
            </a:extLst>
          </p:cNvPr>
          <p:cNvPicPr>
            <a:picLocks noChangeAspect="1"/>
          </p:cNvPicPr>
          <p:nvPr/>
        </p:nvPicPr>
        <p:blipFill>
          <a:blip r:embed="rId3"/>
          <a:stretch>
            <a:fillRect/>
          </a:stretch>
        </p:blipFill>
        <p:spPr>
          <a:xfrm>
            <a:off x="467544" y="1846443"/>
            <a:ext cx="8064896" cy="4524732"/>
          </a:xfrm>
          <a:prstGeom prst="rect">
            <a:avLst/>
          </a:prstGeom>
        </p:spPr>
      </p:pic>
    </p:spTree>
  </p:cSld>
  <p:clrMapOvr>
    <a:masterClrMapping/>
  </p:clrMapOvr>
  <p:transition spd="med">
    <p:wipe dir="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BCFB291D-0DDF-4F75-BFA1-C99DBA457EC1}"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625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6260" name="Text Box 2"/>
          <p:cNvSpPr txBox="1">
            <a:spLocks noChangeArrowheads="1"/>
          </p:cNvSpPr>
          <p:nvPr/>
        </p:nvSpPr>
        <p:spPr bwMode="auto">
          <a:xfrm>
            <a:off x="1331913" y="560359"/>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9626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4" name="TextBox 3"/>
              <p:cNvSpPr txBox="1"/>
              <p:nvPr/>
            </p:nvSpPr>
            <p:spPr>
              <a:xfrm>
                <a:off x="459408" y="1623100"/>
                <a:ext cx="8136904" cy="4708981"/>
              </a:xfrm>
              <a:prstGeom prst="rect">
                <a:avLst/>
              </a:prstGeom>
              <a:solidFill>
                <a:schemeClr val="accent3">
                  <a:lumMod val="95000"/>
                </a:schemeClr>
              </a:solidFill>
            </p:spPr>
            <p:txBody>
              <a:bodyPr wrap="square" rtlCol="0">
                <a:spAutoFit/>
              </a:bodyPr>
              <a:lstStyle/>
              <a:p>
                <a:pPr>
                  <a:lnSpc>
                    <a:spcPts val="3600"/>
                  </a:lnSpc>
                </a:pPr>
                <a:r>
                  <a:rPr lang="en-US" altLang="zh-CN" sz="2400" b="1" dirty="0"/>
                  <a:t>   </a:t>
                </a:r>
                <a:r>
                  <a:rPr lang="zh-CN" altLang="zh-CN" sz="2400" b="1" dirty="0"/>
                  <a:t>【例题】</a:t>
                </a:r>
                <a:r>
                  <a:rPr lang="zh-CN" altLang="zh-CN" sz="2400" b="1" dirty="0">
                    <a:solidFill>
                      <a:schemeClr val="tx1"/>
                    </a:solidFill>
                  </a:rPr>
                  <a:t>判断下列函数</a:t>
                </a:r>
                <a:r>
                  <a:rPr lang="zh-CN" altLang="zh-CN" sz="2400" b="1" dirty="0">
                    <a:solidFill>
                      <a:srgbClr val="0000FF"/>
                    </a:solidFill>
                  </a:rPr>
                  <a:t>哪些存在</a:t>
                </a:r>
                <a:r>
                  <a:rPr lang="zh-CN" altLang="zh-CN" sz="2400" b="1" dirty="0">
                    <a:solidFill>
                      <a:schemeClr val="tx1"/>
                    </a:solidFill>
                  </a:rPr>
                  <a:t>逆函数，</a:t>
                </a:r>
                <a:r>
                  <a:rPr lang="zh-CN" altLang="zh-CN" sz="2400" b="1" dirty="0">
                    <a:solidFill>
                      <a:srgbClr val="0000FF"/>
                    </a:solidFill>
                  </a:rPr>
                  <a:t>若存在则算出</a:t>
                </a:r>
                <a:r>
                  <a:rPr lang="zh-CN" altLang="en-US" sz="2400" b="1" dirty="0">
                    <a:solidFill>
                      <a:srgbClr val="0000FF"/>
                    </a:solidFill>
                  </a:rPr>
                  <a:t>其</a:t>
                </a:r>
                <a:r>
                  <a:rPr lang="zh-CN" altLang="zh-CN" sz="2400" b="1" dirty="0">
                    <a:solidFill>
                      <a:srgbClr val="0000FF"/>
                    </a:solidFill>
                  </a:rPr>
                  <a:t>逆函数</a:t>
                </a:r>
                <a:r>
                  <a:rPr lang="zh-CN" altLang="zh-CN" sz="2400" b="1" dirty="0">
                    <a:solidFill>
                      <a:schemeClr val="tx1"/>
                    </a:solidFill>
                  </a:rPr>
                  <a:t>。</a:t>
                </a:r>
              </a:p>
              <a:p>
                <a:pPr>
                  <a:lnSpc>
                    <a:spcPts val="3600"/>
                  </a:lnSpc>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）集合</a:t>
                </a:r>
                <a14:m>
                  <m:oMath xmlns:m="http://schemas.openxmlformats.org/officeDocument/2006/math">
                    <m:r>
                      <a:rPr lang="en-US" altLang="zh-CN" sz="2400" b="1" i="1">
                        <a:solidFill>
                          <a:schemeClr val="tx1"/>
                        </a:solidFill>
                        <a:latin typeface="Cambria Math"/>
                      </a:rPr>
                      <m:t>𝑨</m:t>
                    </m:r>
                    <m:r>
                      <a:rPr lang="en-US" altLang="zh-CN" sz="2400" b="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a:solidFill>
                          <a:schemeClr val="tx1"/>
                        </a:solidFill>
                        <a:latin typeface="Cambria Math"/>
                      </a:rPr>
                      <m:t>}</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r>
                      <a:rPr lang="en-US" altLang="zh-CN" sz="2400" b="1" i="1">
                        <a:solidFill>
                          <a:schemeClr val="tx1"/>
                        </a:solidFill>
                        <a:latin typeface="Cambria Math"/>
                      </a:rPr>
                      <m:t>𝒂</m:t>
                    </m:r>
                    <m:r>
                      <a:rPr lang="en-US" altLang="zh-CN" sz="2400" b="1" i="1">
                        <a:solidFill>
                          <a:schemeClr val="tx1"/>
                        </a:solidFill>
                        <a:latin typeface="Cambria Math"/>
                      </a:rPr>
                      <m:t>,</m:t>
                    </m:r>
                    <m:r>
                      <a:rPr lang="en-US" altLang="zh-CN" sz="2400" b="1" i="1">
                        <a:solidFill>
                          <a:schemeClr val="tx1"/>
                        </a:solidFill>
                        <a:latin typeface="Cambria Math"/>
                      </a:rPr>
                      <m:t>𝒃</m:t>
                    </m:r>
                    <m:r>
                      <a:rPr lang="en-US" altLang="zh-CN" sz="2400" b="1" i="1">
                        <a:solidFill>
                          <a:schemeClr val="tx1"/>
                        </a:solidFill>
                        <a:latin typeface="Cambria Math"/>
                      </a:rPr>
                      <m:t>,</m:t>
                    </m:r>
                    <m:r>
                      <a:rPr lang="en-US" altLang="zh-CN" sz="2400" b="1" i="1">
                        <a:solidFill>
                          <a:schemeClr val="tx1"/>
                        </a:solidFill>
                        <a:latin typeface="Cambria Math"/>
                      </a:rPr>
                      <m:t>𝒄</m:t>
                    </m:r>
                    <m:r>
                      <a:rPr lang="en-US" altLang="zh-CN" sz="2400" b="1" i="1">
                        <a:solidFill>
                          <a:schemeClr val="tx1"/>
                        </a:solidFill>
                        <a:latin typeface="Cambria Math"/>
                      </a:rPr>
                      <m:t>}</m:t>
                    </m:r>
                  </m:oMath>
                </a14:m>
                <a:r>
                  <a:rPr lang="zh-CN" altLang="zh-CN" sz="2400" b="1" dirty="0">
                    <a:solidFill>
                      <a:schemeClr val="tx1"/>
                    </a:solidFill>
                  </a:rPr>
                  <a:t>的函数</a:t>
                </a:r>
                <a:endParaRPr lang="en-US" altLang="zh-CN" sz="2400" b="1" dirty="0">
                  <a:solidFill>
                    <a:schemeClr val="tx1"/>
                  </a:solidFill>
                </a:endParaRPr>
              </a:p>
              <a:p>
                <a:pPr>
                  <a:lnSpc>
                    <a:spcPts val="36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a:rPr>
                        <m:t>𝒇</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𝒄</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𝒃</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𝒂</m:t>
                          </m:r>
                        </m:e>
                      </m:d>
                      <m:r>
                        <a:rPr lang="en-US" altLang="zh-CN" sz="2400" b="1" i="1">
                          <a:solidFill>
                            <a:schemeClr val="tx1"/>
                          </a:solidFill>
                          <a:latin typeface="Cambria Math"/>
                        </a:rPr>
                        <m:t>}</m:t>
                      </m:r>
                    </m:oMath>
                  </m:oMathPara>
                </a14:m>
                <a:endParaRPr lang="zh-CN" altLang="zh-CN" sz="2400" b="1" dirty="0">
                  <a:solidFill>
                    <a:schemeClr val="tx1"/>
                  </a:solidFill>
                </a:endParaRPr>
              </a:p>
              <a:p>
                <a:pPr>
                  <a:lnSpc>
                    <a:spcPts val="3600"/>
                  </a:lnSpc>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）集合</a:t>
                </a:r>
                <a14:m>
                  <m:oMath xmlns:m="http://schemas.openxmlformats.org/officeDocument/2006/math">
                    <m:r>
                      <a:rPr lang="en-US" altLang="zh-CN" sz="2400" b="1" i="1">
                        <a:solidFill>
                          <a:schemeClr val="tx1"/>
                        </a:solidFill>
                        <a:latin typeface="Cambria Math"/>
                      </a:rPr>
                      <m:t>𝑨</m:t>
                    </m:r>
                    <m:r>
                      <a:rPr lang="en-US" altLang="zh-CN" sz="2400" b="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a:solidFill>
                          <a:schemeClr val="tx1"/>
                        </a:solidFill>
                        <a:latin typeface="Cambria Math"/>
                      </a:rPr>
                      <m:t>}</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a:rPr>
                      <m:t>𝑩</m:t>
                    </m:r>
                    <m:r>
                      <a:rPr lang="en-US" altLang="zh-CN" sz="2400" b="1" i="1">
                        <a:solidFill>
                          <a:schemeClr val="tx1"/>
                        </a:solidFill>
                        <a:latin typeface="Cambria Math"/>
                      </a:rPr>
                      <m:t>={</m:t>
                    </m:r>
                    <m:r>
                      <a:rPr lang="en-US" altLang="zh-CN" sz="2400" b="1" i="1">
                        <a:solidFill>
                          <a:schemeClr val="tx1"/>
                        </a:solidFill>
                        <a:latin typeface="Cambria Math"/>
                      </a:rPr>
                      <m:t>𝒂</m:t>
                    </m:r>
                    <m:r>
                      <a:rPr lang="en-US" altLang="zh-CN" sz="2400" b="1" i="1">
                        <a:solidFill>
                          <a:schemeClr val="tx1"/>
                        </a:solidFill>
                        <a:latin typeface="Cambria Math"/>
                      </a:rPr>
                      <m:t>,</m:t>
                    </m:r>
                    <m:r>
                      <a:rPr lang="en-US" altLang="zh-CN" sz="2400" b="1" i="1">
                        <a:solidFill>
                          <a:schemeClr val="tx1"/>
                        </a:solidFill>
                        <a:latin typeface="Cambria Math"/>
                      </a:rPr>
                      <m:t>𝒃</m:t>
                    </m:r>
                    <m:r>
                      <a:rPr lang="en-US" altLang="zh-CN" sz="2400" b="1" i="1">
                        <a:solidFill>
                          <a:schemeClr val="tx1"/>
                        </a:solidFill>
                        <a:latin typeface="Cambria Math"/>
                      </a:rPr>
                      <m:t>,</m:t>
                    </m:r>
                    <m:r>
                      <a:rPr lang="en-US" altLang="zh-CN" sz="2400" b="1" i="1">
                        <a:solidFill>
                          <a:schemeClr val="tx1"/>
                        </a:solidFill>
                        <a:latin typeface="Cambria Math"/>
                      </a:rPr>
                      <m:t>𝒄</m:t>
                    </m:r>
                    <m:r>
                      <a:rPr lang="en-US" altLang="zh-CN" sz="2400" b="1" i="1">
                        <a:solidFill>
                          <a:schemeClr val="tx1"/>
                        </a:solidFill>
                        <a:latin typeface="Cambria Math"/>
                      </a:rPr>
                      <m:t>,</m:t>
                    </m:r>
                    <m:r>
                      <a:rPr lang="en-US" altLang="zh-CN" sz="2400" b="1" i="1">
                        <a:solidFill>
                          <a:schemeClr val="tx1"/>
                        </a:solidFill>
                        <a:latin typeface="Cambria Math"/>
                      </a:rPr>
                      <m:t>𝒅</m:t>
                    </m:r>
                    <m:r>
                      <a:rPr lang="en-US" altLang="zh-CN" sz="2400" b="1" i="1">
                        <a:solidFill>
                          <a:schemeClr val="tx1"/>
                        </a:solidFill>
                        <a:latin typeface="Cambria Math"/>
                      </a:rPr>
                      <m:t>}</m:t>
                    </m:r>
                  </m:oMath>
                </a14:m>
                <a:r>
                  <a:rPr lang="zh-CN" altLang="zh-CN" sz="2400" b="1" dirty="0">
                    <a:solidFill>
                      <a:schemeClr val="tx1"/>
                    </a:solidFill>
                  </a:rPr>
                  <a:t>的函数</a:t>
                </a:r>
                <a:endParaRPr lang="en-US" altLang="zh-CN" sz="2400" b="1" dirty="0">
                  <a:solidFill>
                    <a:schemeClr val="tx1"/>
                  </a:solidFill>
                </a:endParaRPr>
              </a:p>
              <a:p>
                <a:pPr>
                  <a:lnSpc>
                    <a:spcPts val="36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a:rPr>
                        <m:t>𝒇</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𝒂</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m:t>
                          </m:r>
                          <m:r>
                            <a:rPr lang="en-US" altLang="zh-CN" sz="2400" b="1" i="1">
                              <a:solidFill>
                                <a:schemeClr val="tx1"/>
                              </a:solidFill>
                              <a:latin typeface="Cambria Math"/>
                            </a:rPr>
                            <m:t>𝒃</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𝟑</m:t>
                          </m:r>
                          <m:r>
                            <a:rPr lang="en-US" altLang="zh-CN" sz="2400" b="1" i="1">
                              <a:solidFill>
                                <a:schemeClr val="tx1"/>
                              </a:solidFill>
                              <a:latin typeface="Cambria Math"/>
                            </a:rPr>
                            <m:t>,</m:t>
                          </m:r>
                          <m:r>
                            <a:rPr lang="en-US" altLang="zh-CN" sz="2400" b="1" i="1">
                              <a:solidFill>
                                <a:schemeClr val="tx1"/>
                              </a:solidFill>
                              <a:latin typeface="Cambria Math"/>
                            </a:rPr>
                            <m:t>𝒅</m:t>
                          </m:r>
                        </m:e>
                      </m:d>
                      <m:r>
                        <a:rPr lang="en-US" altLang="zh-CN" sz="2400" b="1" i="1">
                          <a:solidFill>
                            <a:schemeClr val="tx1"/>
                          </a:solidFill>
                          <a:latin typeface="Cambria Math"/>
                        </a:rPr>
                        <m:t>}</m:t>
                      </m:r>
                    </m:oMath>
                  </m:oMathPara>
                </a14:m>
                <a:endParaRPr lang="zh-CN" altLang="zh-CN" sz="2400" b="1" dirty="0">
                  <a:solidFill>
                    <a:schemeClr val="tx1"/>
                  </a:solidFill>
                </a:endParaRPr>
              </a:p>
              <a:p>
                <a:pPr>
                  <a:lnSpc>
                    <a:spcPts val="3600"/>
                  </a:lnSpc>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3</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𝒉</m:t>
                    </m:r>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𝒁</m:t>
                    </m:r>
                    <m:r>
                      <a:rPr lang="en-US" altLang="zh-CN" sz="2400" b="1" i="1">
                        <a:solidFill>
                          <a:schemeClr val="tx1"/>
                        </a:solidFill>
                        <a:latin typeface="Cambria Math"/>
                      </a:rPr>
                      <m:t>}</m:t>
                    </m:r>
                  </m:oMath>
                </a14:m>
                <a:endParaRPr lang="zh-CN" altLang="zh-CN" sz="2400" b="1" dirty="0">
                  <a:solidFill>
                    <a:schemeClr val="tx1"/>
                  </a:solidFill>
                </a:endParaRPr>
              </a:p>
              <a:p>
                <a:pPr>
                  <a:lnSpc>
                    <a:spcPts val="3600"/>
                  </a:lnSpc>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4</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𝒈</m:t>
                    </m:r>
                    <m:r>
                      <a:rPr lang="en-US" altLang="zh-CN" sz="2400" b="1" i="1">
                        <a:solidFill>
                          <a:schemeClr val="tx1"/>
                        </a:solidFill>
                        <a:latin typeface="Cambria Math"/>
                      </a:rPr>
                      <m:t>:</m:t>
                    </m:r>
                    <m:r>
                      <a:rPr lang="en-US" altLang="zh-CN" sz="2400" b="1" i="1">
                        <a:solidFill>
                          <a:schemeClr val="tx1"/>
                        </a:solidFill>
                        <a:latin typeface="Cambria Math"/>
                      </a:rPr>
                      <m:t>𝒁</m:t>
                    </m:r>
                    <m:r>
                      <a:rPr lang="en-US" altLang="zh-CN" sz="2400" b="1" i="1">
                        <a:solidFill>
                          <a:schemeClr val="tx1"/>
                        </a:solidFill>
                        <a:latin typeface="Cambria Math"/>
                      </a:rPr>
                      <m:t>→</m:t>
                    </m:r>
                    <m:r>
                      <a:rPr lang="en-US" altLang="zh-CN" sz="2400" b="1" i="1">
                        <a:solidFill>
                          <a:schemeClr val="tx1"/>
                        </a:solidFill>
                        <a:latin typeface="Cambria Math"/>
                      </a:rPr>
                      <m:t>𝒁</m:t>
                    </m:r>
                    <m:r>
                      <a:rPr lang="en-US" altLang="zh-CN" sz="2400" b="1" i="1">
                        <a:solidFill>
                          <a:schemeClr val="tx1"/>
                        </a:solidFill>
                        <a:latin typeface="Cambria Math"/>
                      </a:rPr>
                      <m:t>,</m:t>
                    </m:r>
                    <m:r>
                      <a:rPr lang="en-US" altLang="zh-CN" sz="2400" b="1" i="1">
                        <a:solidFill>
                          <a:schemeClr val="tx1"/>
                        </a:solidFill>
                        <a:latin typeface="Cambria Math"/>
                      </a:rPr>
                      <m:t>𝒈</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e>
                    </m:d>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oMath>
                </a14:m>
                <a:endParaRPr lang="en-US" altLang="zh-CN" sz="2400" b="1" dirty="0">
                  <a:solidFill>
                    <a:schemeClr val="tx1"/>
                  </a:solidFill>
                </a:endParaRPr>
              </a:p>
              <a:p>
                <a:pPr>
                  <a:lnSpc>
                    <a:spcPts val="3600"/>
                  </a:lnSpc>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5</a:t>
                </a:r>
                <a:r>
                  <a:rPr lang="zh-CN" altLang="zh-CN" sz="2400" b="1" dirty="0">
                    <a:solidFill>
                      <a:schemeClr val="tx1"/>
                    </a:solidFill>
                  </a:rPr>
                  <a:t>）集合</a:t>
                </a:r>
                <a14:m>
                  <m:oMath xmlns:m="http://schemas.openxmlformats.org/officeDocument/2006/math">
                    <m:r>
                      <a:rPr lang="en-US" altLang="zh-CN" sz="2400" b="1" i="1">
                        <a:solidFill>
                          <a:schemeClr val="tx1"/>
                        </a:solidFill>
                        <a:latin typeface="Cambria Math"/>
                      </a:rPr>
                      <m:t>𝑨</m:t>
                    </m:r>
                    <m:r>
                      <a:rPr lang="en-US" altLang="zh-CN" sz="2400" b="1">
                        <a:solidFill>
                          <a:schemeClr val="tx1"/>
                        </a:solidFill>
                        <a:latin typeface="Cambria Math"/>
                      </a:rPr>
                      <m:t>={</m:t>
                    </m:r>
                    <m:r>
                      <a:rPr lang="en-US" altLang="zh-CN" sz="2400" b="1" i="1">
                        <a:solidFill>
                          <a:schemeClr val="tx1"/>
                        </a:solidFill>
                        <a:latin typeface="Cambria Math"/>
                      </a:rPr>
                      <m:t>𝟏</m:t>
                    </m:r>
                    <m:r>
                      <a:rPr lang="en-US" altLang="zh-CN" sz="2400" b="1">
                        <a:solidFill>
                          <a:schemeClr val="tx1"/>
                        </a:solidFill>
                        <a:latin typeface="Cambria Math"/>
                      </a:rPr>
                      <m:t>,</m:t>
                    </m:r>
                    <m:r>
                      <a:rPr lang="en-US" altLang="zh-CN" sz="2400" b="1" i="1">
                        <a:solidFill>
                          <a:schemeClr val="tx1"/>
                        </a:solidFill>
                        <a:latin typeface="Cambria Math"/>
                      </a:rPr>
                      <m:t>𝟐</m:t>
                    </m:r>
                    <m:r>
                      <a:rPr lang="en-US" altLang="zh-CN" sz="2400" b="1">
                        <a:solidFill>
                          <a:schemeClr val="tx1"/>
                        </a:solidFill>
                        <a:latin typeface="Cambria Math"/>
                      </a:rPr>
                      <m:t>,</m:t>
                    </m:r>
                    <m:r>
                      <a:rPr lang="en-US" altLang="zh-CN" sz="2400" b="1" i="1">
                        <a:solidFill>
                          <a:schemeClr val="tx1"/>
                        </a:solidFill>
                        <a:latin typeface="Cambria Math"/>
                      </a:rPr>
                      <m:t>𝟑</m:t>
                    </m:r>
                    <m:r>
                      <a:rPr lang="en-US" altLang="zh-CN" sz="2400" b="1">
                        <a:solidFill>
                          <a:schemeClr val="tx1"/>
                        </a:solidFill>
                        <a:latin typeface="Cambria Math"/>
                      </a:rPr>
                      <m:t>}</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panose="02040503050406030204" pitchFamily="18" charset="0"/>
                      </a:rPr>
                      <m:t>𝑩</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𝒂</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𝒃</m:t>
                    </m:r>
                    <m:r>
                      <a:rPr lang="en-US" altLang="zh-CN" sz="2400" b="1">
                        <a:solidFill>
                          <a:schemeClr val="tx1"/>
                        </a:solidFill>
                        <a:latin typeface="Cambria Math" panose="02040503050406030204" pitchFamily="18" charset="0"/>
                      </a:rPr>
                      <m:t>}</m:t>
                    </m:r>
                  </m:oMath>
                </a14:m>
                <a:r>
                  <a:rPr lang="zh-CN" altLang="zh-CN" sz="2400" b="1" dirty="0">
                    <a:solidFill>
                      <a:schemeClr val="tx1"/>
                    </a:solidFill>
                  </a:rPr>
                  <a:t>的函数</a:t>
                </a:r>
                <a:r>
                  <a:rPr lang="zh-CN" altLang="en-US" sz="2400" b="1" dirty="0">
                    <a:solidFill>
                      <a:schemeClr val="tx1"/>
                    </a:solidFill>
                  </a:rPr>
                  <a:t>：</a:t>
                </a:r>
                <a:endParaRPr lang="en-US" altLang="zh-CN" sz="2400" b="1" i="1" dirty="0">
                  <a:solidFill>
                    <a:schemeClr val="tx1"/>
                  </a:solidFill>
                </a:endParaRPr>
              </a:p>
              <a:p>
                <a:pPr>
                  <a:lnSpc>
                    <a:spcPts val="3600"/>
                  </a:lnSpc>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panose="02040503050406030204" pitchFamily="18" charset="0"/>
                        </a:rPr>
                        <m:t>𝒈</m:t>
                      </m:r>
                      <m:r>
                        <a:rPr lang="en-US" altLang="zh-CN" sz="2400" b="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𝒂</m:t>
                          </m:r>
                        </m:e>
                      </m:d>
                      <m:r>
                        <a:rPr lang="en-US" altLang="zh-CN" sz="2400" b="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𝒂</m:t>
                          </m:r>
                        </m:e>
                      </m:d>
                      <m:r>
                        <a:rPr lang="en-US" altLang="zh-CN" sz="2400" b="1">
                          <a:solidFill>
                            <a:schemeClr val="tx1"/>
                          </a:solidFill>
                          <a:latin typeface="Cambria Math" panose="02040503050406030204" pitchFamily="18" charset="0"/>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panose="02040503050406030204" pitchFamily="18" charset="0"/>
                            </a:rPr>
                            <m:t>𝟑</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𝒃</m:t>
                          </m:r>
                        </m:e>
                      </m:d>
                      <m:r>
                        <a:rPr lang="en-US" altLang="zh-CN" sz="2400" b="1">
                          <a:solidFill>
                            <a:schemeClr val="tx1"/>
                          </a:solidFill>
                          <a:latin typeface="Cambria Math" panose="02040503050406030204" pitchFamily="18" charset="0"/>
                        </a:rPr>
                        <m:t>}</m:t>
                      </m:r>
                    </m:oMath>
                  </m:oMathPara>
                </a14:m>
                <a:endParaRPr lang="zh-CN" altLang="zh-CN" sz="2400" b="1" dirty="0">
                  <a:solidFill>
                    <a:schemeClr val="tx1"/>
                  </a:solidFill>
                </a:endParaRPr>
              </a:p>
            </p:txBody>
          </p:sp>
        </mc:Choice>
        <mc:Fallback xmlns="">
          <p:sp>
            <p:nvSpPr>
              <p:cNvPr id="4" name="TextBox 3"/>
              <p:cNvSpPr txBox="1">
                <a:spLocks noRot="1" noChangeAspect="1" noMove="1" noResize="1" noEditPoints="1" noAdjustHandles="1" noChangeArrowheads="1" noChangeShapeType="1" noTextEdit="1"/>
              </p:cNvSpPr>
              <p:nvPr/>
            </p:nvSpPr>
            <p:spPr>
              <a:xfrm>
                <a:off x="459408" y="1623100"/>
                <a:ext cx="8136904" cy="4708981"/>
              </a:xfrm>
              <a:prstGeom prst="rect">
                <a:avLst/>
              </a:prstGeom>
              <a:blipFill>
                <a:blip r:embed="rId3"/>
                <a:stretch>
                  <a:fillRect l="-1124" t="-51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6006653"/>
      </p:ext>
    </p:extLst>
  </p:cSld>
  <p:clrMapOvr>
    <a:masterClrMapping/>
  </p:clrMapOvr>
  <p:transition spd="med">
    <p:wipe dir="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87F3DF6-A89E-49D5-AC9C-6EDB18057546}"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728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7284"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9728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467544" y="1879267"/>
                <a:ext cx="8496944" cy="4521366"/>
              </a:xfrm>
              <a:prstGeom prst="rect">
                <a:avLst/>
              </a:prstGeom>
              <a:solidFill>
                <a:schemeClr val="accent3">
                  <a:lumMod val="95000"/>
                </a:schemeClr>
              </a:solidFill>
            </p:spPr>
            <p:txBody>
              <a:bodyPr wrap="square" rtlCol="0">
                <a:spAutoFit/>
              </a:bodyPr>
              <a:lstStyle/>
              <a:p>
                <a:pPr>
                  <a:spcBef>
                    <a:spcPts val="600"/>
                  </a:spcBef>
                </a:pPr>
                <a:r>
                  <a:rPr lang="zh-CN" altLang="zh-CN" sz="2400" b="1" dirty="0"/>
                  <a:t>【解】</a:t>
                </a:r>
                <a:r>
                  <a:rPr lang="zh-CN" altLang="zh-CN" sz="2400" b="1" dirty="0">
                    <a:solidFill>
                      <a:schemeClr val="tx1"/>
                    </a:solidFill>
                  </a:rPr>
                  <a:t>（</a:t>
                </a:r>
                <a:r>
                  <a:rPr lang="en-US" altLang="zh-CN" sz="2400" b="1" dirty="0">
                    <a:solidFill>
                      <a:schemeClr val="tx1"/>
                    </a:solidFill>
                  </a:rPr>
                  <a:t>1</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accent2"/>
                    </a:solidFill>
                  </a:rPr>
                  <a:t>是双射</a:t>
                </a:r>
                <a:r>
                  <a:rPr lang="zh-CN" altLang="zh-CN" sz="2400" b="1" dirty="0">
                    <a:solidFill>
                      <a:schemeClr val="tx1"/>
                    </a:solidFill>
                  </a:rPr>
                  <a:t>，故存在逆函数</a:t>
                </a:r>
                <a14:m>
                  <m:oMath xmlns:m="http://schemas.openxmlformats.org/officeDocument/2006/math">
                    <m:r>
                      <a:rPr lang="zh-CN" altLang="zh-CN" sz="2400" b="1">
                        <a:solidFill>
                          <a:schemeClr val="tx1"/>
                        </a:solidFill>
                        <a:latin typeface="Cambria Math"/>
                      </a:rPr>
                      <m:t>且有</m:t>
                    </m:r>
                  </m:oMath>
                </a14:m>
                <a:endParaRPr lang="en-US" altLang="zh-CN" sz="2400" b="1" dirty="0">
                  <a:solidFill>
                    <a:schemeClr val="tx1"/>
                  </a:solidFill>
                  <a:latin typeface="Cambria Math"/>
                </a:endParaRPr>
              </a:p>
              <a:p>
                <a:pPr>
                  <a:spcBef>
                    <a:spcPts val="600"/>
                  </a:spcBef>
                </a:pPr>
                <a14:m>
                  <m:oMathPara xmlns:m="http://schemas.openxmlformats.org/officeDocument/2006/math">
                    <m:oMathParaPr>
                      <m:jc m:val="centerGroup"/>
                    </m:oMathParaPr>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𝒇</m:t>
                          </m:r>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𝒄</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𝒃</m:t>
                          </m:r>
                          <m:r>
                            <a:rPr lang="en-US" altLang="zh-CN" sz="2400" b="1" i="1">
                              <a:solidFill>
                                <a:schemeClr val="tx1"/>
                              </a:solidFill>
                              <a:latin typeface="Cambria Math"/>
                            </a:rPr>
                            <m:t>,</m:t>
                          </m:r>
                          <m:r>
                            <a:rPr lang="en-US" altLang="zh-CN" sz="2400" b="1" i="1">
                              <a:solidFill>
                                <a:schemeClr val="tx1"/>
                              </a:solidFill>
                              <a:latin typeface="Cambria Math"/>
                            </a:rPr>
                            <m:t>𝟐</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𝒂</m:t>
                          </m:r>
                          <m:r>
                            <a:rPr lang="en-US" altLang="zh-CN" sz="2400" b="1" i="1">
                              <a:solidFill>
                                <a:schemeClr val="tx1"/>
                              </a:solidFill>
                              <a:latin typeface="Cambria Math"/>
                            </a:rPr>
                            <m:t>,</m:t>
                          </m:r>
                          <m:r>
                            <a:rPr lang="en-US" altLang="zh-CN" sz="2400" b="1" i="1">
                              <a:solidFill>
                                <a:schemeClr val="tx1"/>
                              </a:solidFill>
                              <a:latin typeface="Cambria Math"/>
                            </a:rPr>
                            <m:t>𝟑</m:t>
                          </m:r>
                        </m:e>
                      </m:d>
                      <m:r>
                        <a:rPr lang="en-US" altLang="zh-CN" sz="2400" b="1" i="1">
                          <a:solidFill>
                            <a:schemeClr val="tx1"/>
                          </a:solidFill>
                          <a:latin typeface="Cambria Math"/>
                        </a:rPr>
                        <m:t>}</m:t>
                      </m:r>
                    </m:oMath>
                  </m:oMathPara>
                </a14:m>
                <a:endParaRPr lang="zh-CN" altLang="zh-CN" sz="2400" b="1" dirty="0">
                  <a:solidFill>
                    <a:schemeClr val="tx1"/>
                  </a:solidFill>
                </a:endParaRPr>
              </a:p>
              <a:p>
                <a:pPr>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2</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𝒇</m:t>
                    </m:r>
                  </m:oMath>
                </a14:m>
                <a:r>
                  <a:rPr lang="en-US" altLang="zh-CN" sz="2400" b="1" dirty="0">
                    <a:solidFill>
                      <a:schemeClr val="tx1"/>
                    </a:solidFill>
                  </a:rPr>
                  <a:t> </a:t>
                </a:r>
                <a:r>
                  <a:rPr lang="zh-CN" altLang="zh-CN" sz="2400" b="1" dirty="0">
                    <a:solidFill>
                      <a:schemeClr val="accent2"/>
                    </a:solidFill>
                  </a:rPr>
                  <a:t>不是双射</a:t>
                </a:r>
                <a:r>
                  <a:rPr lang="zh-CN" altLang="zh-CN" sz="2400" b="1" dirty="0">
                    <a:solidFill>
                      <a:schemeClr val="tx1"/>
                    </a:solidFill>
                  </a:rPr>
                  <a:t>，故不存在逆函数；</a:t>
                </a:r>
              </a:p>
              <a:p>
                <a:pPr>
                  <a:spcBef>
                    <a:spcPts val="12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3</a:t>
                </a:r>
                <a:r>
                  <a:rPr lang="zh-CN" altLang="zh-CN" sz="2400" b="1" dirty="0">
                    <a:solidFill>
                      <a:schemeClr val="tx1"/>
                    </a:solidFill>
                  </a:rPr>
                  <a:t>）</a:t>
                </a:r>
                <a14:m>
                  <m:oMath xmlns:m="http://schemas.openxmlformats.org/officeDocument/2006/math">
                    <m:r>
                      <a:rPr lang="en-US" altLang="zh-CN" sz="2400" b="1" i="1">
                        <a:solidFill>
                          <a:schemeClr val="tx1"/>
                        </a:solidFill>
                        <a:latin typeface="Cambria Math"/>
                      </a:rPr>
                      <m:t>𝒉</m:t>
                    </m:r>
                  </m:oMath>
                </a14:m>
                <a:r>
                  <a:rPr lang="zh-CN" altLang="zh-CN" sz="2400" b="1" dirty="0">
                    <a:solidFill>
                      <a:schemeClr val="accent2"/>
                    </a:solidFill>
                  </a:rPr>
                  <a:t>是双射</a:t>
                </a:r>
                <a:r>
                  <a:rPr lang="zh-CN" altLang="zh-CN" sz="2400" b="1" dirty="0">
                    <a:solidFill>
                      <a:schemeClr val="tx1"/>
                    </a:solidFill>
                  </a:rPr>
                  <a:t>，故存在逆函数</a:t>
                </a:r>
                <a:r>
                  <a:rPr lang="zh-CN" altLang="en-US" sz="2400" b="1" dirty="0">
                    <a:solidFill>
                      <a:schemeClr val="tx1"/>
                    </a:solidFill>
                    <a:latin typeface="Cambria Math"/>
                  </a:rPr>
                  <a:t>且有：</a:t>
                </a:r>
                <a:endParaRPr lang="en-US" altLang="zh-CN" sz="2400" b="1" dirty="0">
                  <a:solidFill>
                    <a:schemeClr val="tx1"/>
                  </a:solidFill>
                  <a:latin typeface="Cambria Math"/>
                </a:endParaRPr>
              </a:p>
              <a:p>
                <a:pPr algn="ctr">
                  <a:spcBef>
                    <a:spcPts val="1200"/>
                  </a:spcBef>
                </a:pP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𝒉</m:t>
                        </m:r>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𝒙</m:t>
                        </m:r>
                      </m:e>
                    </m:d>
                    <m:r>
                      <a:rPr lang="en-US" altLang="zh-CN" sz="2400" b="1">
                        <a:solidFill>
                          <a:schemeClr val="tx1"/>
                        </a:solidFill>
                        <a:latin typeface="Cambria Math"/>
                      </a:rPr>
                      <m:t>|</m:t>
                    </m:r>
                    <m:r>
                      <a:rPr lang="en-US" altLang="zh-CN" sz="2400" b="1" i="1">
                        <a:solidFill>
                          <a:schemeClr val="tx1"/>
                        </a:solidFill>
                        <a:latin typeface="Cambria Math"/>
                      </a:rPr>
                      <m:t>𝒙</m:t>
                    </m:r>
                    <m:r>
                      <a:rPr lang="en-US" altLang="zh-CN" sz="2400" b="1">
                        <a:solidFill>
                          <a:schemeClr val="tx1"/>
                        </a:solidFill>
                        <a:latin typeface="Cambria Math"/>
                      </a:rPr>
                      <m:t>∈</m:t>
                    </m:r>
                    <m:r>
                      <a:rPr lang="en-US" altLang="zh-CN" sz="2400" b="1" i="1">
                        <a:solidFill>
                          <a:schemeClr val="tx1"/>
                        </a:solidFill>
                        <a:latin typeface="Cambria Math"/>
                      </a:rPr>
                      <m:t>𝒁</m:t>
                    </m:r>
                    <m:r>
                      <a:rPr lang="en-US" altLang="zh-CN" sz="2400" b="1" i="1">
                        <a:solidFill>
                          <a:schemeClr val="tx1"/>
                        </a:solidFill>
                        <a:latin typeface="Cambria Math"/>
                      </a:rPr>
                      <m:t>}</m:t>
                    </m:r>
                  </m:oMath>
                </a14:m>
                <a:r>
                  <a:rPr lang="zh-CN" altLang="zh-CN" sz="2400" b="1" dirty="0">
                    <a:solidFill>
                      <a:schemeClr val="tx1"/>
                    </a:solidFill>
                  </a:rPr>
                  <a:t>，即</a:t>
                </a:r>
                <a:r>
                  <a:rPr lang="zh-CN" altLang="en-US" sz="2400" b="1" dirty="0">
                    <a:solidFill>
                      <a:schemeClr val="tx1"/>
                    </a:solidFill>
                  </a:rPr>
                  <a:t>有：</a:t>
                </a:r>
                <a14:m>
                  <m:oMath xmlns:m="http://schemas.openxmlformats.org/officeDocument/2006/math">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𝒉</m:t>
                        </m:r>
                      </m:e>
                      <m:sup>
                        <m:r>
                          <a:rPr lang="en-US" altLang="zh-CN" sz="2400" b="1" i="1">
                            <a:solidFill>
                              <a:schemeClr val="tx1"/>
                            </a:solidFill>
                            <a:latin typeface="Cambria Math"/>
                          </a:rPr>
                          <m:t>−</m:t>
                        </m:r>
                        <m:r>
                          <a:rPr lang="en-US" altLang="zh-CN" sz="2400" b="1" i="1">
                            <a:solidFill>
                              <a:schemeClr val="tx1"/>
                            </a:solidFill>
                            <a:latin typeface="Cambria Math"/>
                          </a:rPr>
                          <m:t>𝟏</m:t>
                        </m:r>
                      </m:sup>
                    </m:sSup>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a:solidFill>
                          <a:schemeClr val="tx1"/>
                        </a:solidFill>
                        <a:latin typeface="Cambria Math"/>
                      </a:rPr>
                      <m:t>|</m:t>
                    </m:r>
                    <m:r>
                      <a:rPr lang="en-US" altLang="zh-CN" sz="2400" b="1" i="1">
                        <a:solidFill>
                          <a:schemeClr val="tx1"/>
                        </a:solidFill>
                        <a:latin typeface="Cambria Math"/>
                      </a:rPr>
                      <m:t>𝒙</m:t>
                    </m:r>
                    <m:r>
                      <a:rPr lang="en-US" altLang="zh-CN" sz="2400" b="1">
                        <a:solidFill>
                          <a:schemeClr val="tx1"/>
                        </a:solidFill>
                        <a:latin typeface="Cambria Math"/>
                      </a:rPr>
                      <m:t>∈</m:t>
                    </m:r>
                    <m:r>
                      <a:rPr lang="en-US" altLang="zh-CN" sz="2400" b="1" i="1">
                        <a:solidFill>
                          <a:schemeClr val="tx1"/>
                        </a:solidFill>
                        <a:latin typeface="Cambria Math"/>
                      </a:rPr>
                      <m:t>𝒁</m:t>
                    </m:r>
                    <m:r>
                      <a:rPr lang="en-US" altLang="zh-CN" sz="2400" b="1" i="1">
                        <a:solidFill>
                          <a:schemeClr val="tx1"/>
                        </a:solidFill>
                        <a:latin typeface="Cambria Math"/>
                      </a:rPr>
                      <m:t>}</m:t>
                    </m:r>
                  </m:oMath>
                </a14:m>
                <a:endParaRPr lang="zh-CN" altLang="zh-CN" sz="2400" b="1" dirty="0">
                  <a:solidFill>
                    <a:schemeClr val="tx1"/>
                  </a:solidFill>
                </a:endParaRPr>
              </a:p>
              <a:p>
                <a:pPr>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4</a:t>
                </a:r>
                <a:r>
                  <a:rPr lang="zh-CN" altLang="zh-CN" sz="2400" b="1" dirty="0">
                    <a:solidFill>
                      <a:schemeClr val="tx1"/>
                    </a:solidFill>
                  </a:rPr>
                  <a:t>）对于</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e>
                    </m:d>
                    <m:r>
                      <a:rPr lang="en-US" altLang="zh-CN" sz="2400" b="1" i="1">
                        <a:solidFill>
                          <a:schemeClr val="tx1"/>
                        </a:solidFill>
                        <a:latin typeface="Cambria Math"/>
                      </a:rPr>
                      <m:t>∈</m:t>
                    </m:r>
                    <m:r>
                      <a:rPr lang="en-US" altLang="zh-CN" sz="2400" b="1" i="1">
                        <a:solidFill>
                          <a:schemeClr val="tx1"/>
                        </a:solidFill>
                        <a:latin typeface="Cambria Math"/>
                      </a:rPr>
                      <m:t>𝒈</m:t>
                    </m:r>
                  </m:oMath>
                </a14:m>
                <a:r>
                  <a:rPr lang="zh-CN" altLang="zh-CN" sz="2400" b="1" dirty="0">
                    <a:solidFill>
                      <a:schemeClr val="tx1"/>
                    </a:solidFill>
                  </a:rPr>
                  <a:t>，应有</a:t>
                </a:r>
                <a14:m>
                  <m:oMath xmlns:m="http://schemas.openxmlformats.org/officeDocument/2006/math">
                    <m:d>
                      <m:dPr>
                        <m:begChr m:val="〈"/>
                        <m:endChr m:val="〉"/>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𝟐</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r>
                          <a:rPr lang="en-US" altLang="zh-CN" sz="2400" b="1" i="1">
                            <a:solidFill>
                              <a:schemeClr val="tx1"/>
                            </a:solidFill>
                            <a:latin typeface="Cambria Math"/>
                          </a:rPr>
                          <m:t>,</m:t>
                        </m:r>
                        <m:r>
                          <a:rPr lang="en-US" altLang="zh-CN" sz="2400" b="1" i="1">
                            <a:solidFill>
                              <a:schemeClr val="tx1"/>
                            </a:solidFill>
                            <a:latin typeface="Cambria Math"/>
                          </a:rPr>
                          <m:t>𝒙</m:t>
                        </m:r>
                      </m:e>
                    </m:d>
                    <m:r>
                      <a:rPr lang="en-US" altLang="zh-CN" sz="2400" b="1" i="1">
                        <a:solidFill>
                          <a:schemeClr val="tx1"/>
                        </a:solidFill>
                        <a:latin typeface="Cambria Math" panose="02040503050406030204" pitchFamily="18" charset="0"/>
                      </a:rPr>
                      <m:t> </m:t>
                    </m:r>
                    <m:r>
                      <a:rPr lang="en-US" altLang="zh-CN" sz="2400" b="1" i="1">
                        <a:solidFill>
                          <a:schemeClr val="tx1"/>
                        </a:solidFill>
                        <a:latin typeface="Cambria Math"/>
                      </a:rPr>
                      <m:t>∈</m:t>
                    </m:r>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𝒈</m:t>
                        </m:r>
                      </m:e>
                      <m:sup>
                        <m:r>
                          <a:rPr lang="en-US" altLang="zh-CN" sz="2400" b="1" i="1">
                            <a:solidFill>
                              <a:schemeClr val="tx1"/>
                            </a:solidFill>
                            <a:latin typeface="Cambria Math"/>
                          </a:rPr>
                          <m:t>−</m:t>
                        </m:r>
                        <m:r>
                          <a:rPr lang="en-US" altLang="zh-CN" sz="2400" b="1" i="1">
                            <a:solidFill>
                              <a:schemeClr val="tx1"/>
                            </a:solidFill>
                            <a:latin typeface="Cambria Math"/>
                          </a:rPr>
                          <m:t>𝟏</m:t>
                        </m:r>
                      </m:sup>
                    </m:sSup>
                  </m:oMath>
                </a14:m>
                <a:r>
                  <a:rPr lang="zh-CN" altLang="zh-CN" sz="2400" b="1" dirty="0">
                    <a:solidFill>
                      <a:schemeClr val="tx1"/>
                    </a:solidFill>
                  </a:rPr>
                  <a:t>。</a:t>
                </a:r>
                <a:endParaRPr lang="en-US" altLang="zh-CN" sz="2400" b="1" dirty="0">
                  <a:solidFill>
                    <a:schemeClr val="tx1"/>
                  </a:solidFill>
                </a:endParaRPr>
              </a:p>
              <a:p>
                <a:pPr>
                  <a:spcBef>
                    <a:spcPts val="600"/>
                  </a:spcBef>
                </a:pPr>
                <a:r>
                  <a:rPr lang="en-US" altLang="zh-CN" sz="2400" b="1" dirty="0">
                    <a:solidFill>
                      <a:schemeClr val="accent2"/>
                    </a:solidFill>
                  </a:rPr>
                  <a:t>        </a:t>
                </a:r>
                <a:r>
                  <a:rPr lang="zh-CN" altLang="zh-CN" sz="2400" b="1" dirty="0">
                    <a:solidFill>
                      <a:schemeClr val="accent2"/>
                    </a:solidFill>
                  </a:rPr>
                  <a:t>令</a:t>
                </a:r>
                <a14:m>
                  <m:oMath xmlns:m="http://schemas.openxmlformats.org/officeDocument/2006/math">
                    <m:r>
                      <a:rPr lang="en-US" altLang="zh-CN" sz="2400" b="1" i="1">
                        <a:solidFill>
                          <a:schemeClr val="accent2"/>
                        </a:solidFill>
                        <a:latin typeface="Cambria Math"/>
                      </a:rPr>
                      <m:t>𝟐</m:t>
                    </m:r>
                    <m:r>
                      <a:rPr lang="en-US" altLang="zh-CN" sz="2400" b="1" i="1">
                        <a:solidFill>
                          <a:schemeClr val="accent2"/>
                        </a:solidFill>
                        <a:latin typeface="Cambria Math"/>
                      </a:rPr>
                      <m:t>𝒙</m:t>
                    </m:r>
                    <m:r>
                      <a:rPr lang="en-US" altLang="zh-CN" sz="2400" b="1" i="1">
                        <a:solidFill>
                          <a:schemeClr val="accent2"/>
                        </a:solidFill>
                        <a:latin typeface="Cambria Math"/>
                      </a:rPr>
                      <m:t>+</m:t>
                    </m:r>
                    <m:r>
                      <a:rPr lang="en-US" altLang="zh-CN" sz="2400" b="1" i="1">
                        <a:solidFill>
                          <a:schemeClr val="accent2"/>
                        </a:solidFill>
                        <a:latin typeface="Cambria Math"/>
                      </a:rPr>
                      <m:t>𝟏</m:t>
                    </m:r>
                    <m:r>
                      <a:rPr lang="en-US" altLang="zh-CN" sz="2400" b="1" i="1">
                        <a:solidFill>
                          <a:schemeClr val="accent2"/>
                        </a:solidFill>
                        <a:latin typeface="Cambria Math"/>
                      </a:rPr>
                      <m:t>=</m:t>
                    </m:r>
                    <m:r>
                      <a:rPr lang="en-US" altLang="zh-CN" sz="2400" b="1" i="1">
                        <a:solidFill>
                          <a:schemeClr val="accent2"/>
                        </a:solidFill>
                        <a:latin typeface="Cambria Math"/>
                      </a:rPr>
                      <m:t>𝒚</m:t>
                    </m:r>
                  </m:oMath>
                </a14:m>
                <a:r>
                  <a:rPr lang="en-US" altLang="zh-CN" sz="2400" b="1" dirty="0">
                    <a:solidFill>
                      <a:schemeClr val="accent2"/>
                    </a:solidFill>
                  </a:rPr>
                  <a:t>,  </a:t>
                </a:r>
                <a:r>
                  <a:rPr lang="zh-CN" altLang="zh-CN" sz="2400" b="1" dirty="0">
                    <a:solidFill>
                      <a:schemeClr val="accent2"/>
                    </a:solidFill>
                  </a:rPr>
                  <a:t>可得</a:t>
                </a:r>
                <a14:m>
                  <m:oMath xmlns:m="http://schemas.openxmlformats.org/officeDocument/2006/math">
                    <m:r>
                      <a:rPr lang="en-US" altLang="zh-CN" sz="2400" b="1" i="1">
                        <a:solidFill>
                          <a:schemeClr val="accent2"/>
                        </a:solidFill>
                        <a:latin typeface="Cambria Math"/>
                      </a:rPr>
                      <m:t>𝒙</m:t>
                    </m:r>
                    <m:r>
                      <a:rPr lang="en-US" altLang="zh-CN" sz="2400" b="1" i="1">
                        <a:solidFill>
                          <a:schemeClr val="accent2"/>
                        </a:solidFill>
                        <a:latin typeface="Cambria Math"/>
                      </a:rPr>
                      <m:t>=(</m:t>
                    </m:r>
                    <m:r>
                      <a:rPr lang="en-US" altLang="zh-CN" sz="2400" b="1" i="1">
                        <a:solidFill>
                          <a:schemeClr val="accent2"/>
                        </a:solidFill>
                        <a:latin typeface="Cambria Math"/>
                      </a:rPr>
                      <m:t>𝒚</m:t>
                    </m:r>
                    <m:r>
                      <a:rPr lang="en-US" altLang="zh-CN" sz="2400" b="1" i="1">
                        <a:solidFill>
                          <a:schemeClr val="accent2"/>
                        </a:solidFill>
                        <a:latin typeface="Cambria Math"/>
                      </a:rPr>
                      <m:t>−</m:t>
                    </m:r>
                    <m:r>
                      <a:rPr lang="en-US" altLang="zh-CN" sz="2400" b="1" i="1">
                        <a:solidFill>
                          <a:schemeClr val="accent2"/>
                        </a:solidFill>
                        <a:latin typeface="Cambria Math"/>
                      </a:rPr>
                      <m:t>𝟏</m:t>
                    </m:r>
                    <m:r>
                      <a:rPr lang="en-US" altLang="zh-CN" sz="2400" b="1" i="1">
                        <a:solidFill>
                          <a:schemeClr val="accent2"/>
                        </a:solidFill>
                        <a:latin typeface="Cambria Math"/>
                      </a:rPr>
                      <m:t>)/</m:t>
                    </m:r>
                    <m:r>
                      <a:rPr lang="en-US" altLang="zh-CN" sz="2400" b="1" i="1">
                        <a:solidFill>
                          <a:schemeClr val="accent2"/>
                        </a:solidFill>
                        <a:latin typeface="Cambria Math"/>
                      </a:rPr>
                      <m:t>𝟐</m:t>
                    </m:r>
                  </m:oMath>
                </a14:m>
                <a:endParaRPr lang="en-US" altLang="zh-CN" sz="2400" b="1" dirty="0">
                  <a:solidFill>
                    <a:schemeClr val="accent2"/>
                  </a:solidFill>
                </a:endParaRPr>
              </a:p>
              <a:p>
                <a:pPr>
                  <a:spcBef>
                    <a:spcPts val="600"/>
                  </a:spcBef>
                </a:pPr>
                <a:r>
                  <a:rPr lang="zh-CN" altLang="zh-CN" sz="2400" b="1" dirty="0">
                    <a:solidFill>
                      <a:schemeClr val="tx1"/>
                    </a:solidFill>
                  </a:rPr>
                  <a:t>故</a:t>
                </a:r>
                <a14:m>
                  <m:oMath xmlns:m="http://schemas.openxmlformats.org/officeDocument/2006/math">
                    <m:sSup>
                      <m:sSupPr>
                        <m:ctrlPr>
                          <a:rPr lang="zh-CN" altLang="zh-CN" sz="2400" b="1" i="1" smtClean="0">
                            <a:solidFill>
                              <a:srgbClr val="0000FF"/>
                            </a:solidFill>
                            <a:latin typeface="Cambria Math" panose="02040503050406030204" pitchFamily="18" charset="0"/>
                          </a:rPr>
                        </m:ctrlPr>
                      </m:sSupPr>
                      <m:e>
                        <m:r>
                          <a:rPr lang="en-US" altLang="zh-CN" sz="2400" b="1" i="1">
                            <a:solidFill>
                              <a:srgbClr val="0000FF"/>
                            </a:solidFill>
                            <a:latin typeface="Cambria Math"/>
                          </a:rPr>
                          <m:t>𝒇</m:t>
                        </m:r>
                      </m:e>
                      <m:sup>
                        <m:r>
                          <a:rPr lang="en-US" altLang="zh-CN" sz="2400" b="1" i="1">
                            <a:solidFill>
                              <a:srgbClr val="0000FF"/>
                            </a:solidFill>
                            <a:latin typeface="Cambria Math"/>
                          </a:rPr>
                          <m:t>−</m:t>
                        </m:r>
                        <m:r>
                          <a:rPr lang="en-US" altLang="zh-CN" sz="2400" b="1" i="1">
                            <a:solidFill>
                              <a:srgbClr val="0000FF"/>
                            </a:solidFill>
                            <a:latin typeface="Cambria Math"/>
                          </a:rPr>
                          <m:t>𝟏</m:t>
                        </m:r>
                      </m:sup>
                    </m:sSup>
                  </m:oMath>
                </a14:m>
                <a:r>
                  <a:rPr lang="zh-CN" altLang="zh-CN" sz="2400" b="1" dirty="0">
                    <a:solidFill>
                      <a:srgbClr val="0000FF"/>
                    </a:solidFill>
                  </a:rPr>
                  <a:t>不是</a:t>
                </a:r>
                <a14:m>
                  <m:oMath xmlns:m="http://schemas.openxmlformats.org/officeDocument/2006/math">
                    <m:r>
                      <a:rPr lang="zh-CN" altLang="zh-CN" sz="2400" b="1" i="1">
                        <a:solidFill>
                          <a:srgbClr val="0000FF"/>
                        </a:solidFill>
                        <a:latin typeface="Cambria Math"/>
                      </a:rPr>
                      <m:t> </m:t>
                    </m:r>
                    <m:r>
                      <a:rPr lang="en-US" altLang="zh-CN" sz="2400" b="1" i="1">
                        <a:solidFill>
                          <a:srgbClr val="0000FF"/>
                        </a:solidFill>
                        <a:latin typeface="Cambria Math"/>
                      </a:rPr>
                      <m:t>𝒁</m:t>
                    </m:r>
                  </m:oMath>
                </a14:m>
                <a:r>
                  <a:rPr lang="zh-CN" altLang="zh-CN" sz="2400" b="1" dirty="0">
                    <a:solidFill>
                      <a:srgbClr val="0000FF"/>
                    </a:solidFill>
                  </a:rPr>
                  <a:t>到</a:t>
                </a:r>
                <a14:m>
                  <m:oMath xmlns:m="http://schemas.openxmlformats.org/officeDocument/2006/math">
                    <m:r>
                      <a:rPr lang="en-US" altLang="zh-CN" sz="2400" b="1" i="1">
                        <a:solidFill>
                          <a:srgbClr val="0000FF"/>
                        </a:solidFill>
                        <a:latin typeface="Cambria Math"/>
                      </a:rPr>
                      <m:t>𝒁</m:t>
                    </m:r>
                  </m:oMath>
                </a14:m>
                <a:r>
                  <a:rPr lang="zh-CN" altLang="zh-CN" sz="2400" b="1" dirty="0">
                    <a:solidFill>
                      <a:srgbClr val="0000FF"/>
                    </a:solidFill>
                  </a:rPr>
                  <a:t>的函数</a:t>
                </a:r>
                <a:r>
                  <a:rPr lang="zh-CN" altLang="zh-CN" sz="2400" b="1" dirty="0">
                    <a:solidFill>
                      <a:schemeClr val="tx1"/>
                    </a:solidFill>
                  </a:rPr>
                  <a:t>，函数</a:t>
                </a:r>
                <a14:m>
                  <m:oMath xmlns:m="http://schemas.openxmlformats.org/officeDocument/2006/math">
                    <m:r>
                      <a:rPr lang="en-US" altLang="zh-CN" sz="2400" b="1" i="1">
                        <a:solidFill>
                          <a:schemeClr val="tx1"/>
                        </a:solidFill>
                        <a:latin typeface="Cambria Math"/>
                      </a:rPr>
                      <m:t>𝒇</m:t>
                    </m:r>
                  </m:oMath>
                </a14:m>
                <a:r>
                  <a:rPr lang="zh-CN" altLang="zh-CN" sz="2400" b="1" dirty="0">
                    <a:solidFill>
                      <a:schemeClr val="tx1"/>
                    </a:solidFill>
                  </a:rPr>
                  <a:t>不存在逆函数</a:t>
                </a:r>
                <a:r>
                  <a:rPr lang="zh-CN" altLang="en-US" sz="2400" b="1" dirty="0">
                    <a:solidFill>
                      <a:schemeClr val="tx1"/>
                    </a:solidFill>
                  </a:rPr>
                  <a:t>。</a:t>
                </a:r>
                <a:endParaRPr lang="en-US" altLang="zh-CN" sz="2400" b="1" dirty="0">
                  <a:solidFill>
                    <a:schemeClr val="tx1"/>
                  </a:solidFill>
                </a:endParaRPr>
              </a:p>
              <a:p>
                <a:pPr>
                  <a:spcBef>
                    <a:spcPts val="600"/>
                  </a:spcBef>
                </a:pPr>
                <a:r>
                  <a:rPr lang="en-US" altLang="zh-CN" sz="2400" b="1" dirty="0">
                    <a:solidFill>
                      <a:schemeClr val="tx1"/>
                    </a:solidFill>
                  </a:rPr>
                  <a:t>  </a:t>
                </a:r>
                <a:r>
                  <a:rPr lang="zh-CN" altLang="zh-CN" sz="2400" b="1" dirty="0">
                    <a:solidFill>
                      <a:schemeClr val="tx1"/>
                    </a:solidFill>
                  </a:rPr>
                  <a:t>（</a:t>
                </a:r>
                <a:r>
                  <a:rPr lang="en-US" altLang="zh-CN" sz="2400" b="1" dirty="0">
                    <a:solidFill>
                      <a:schemeClr val="tx1"/>
                    </a:solidFill>
                  </a:rPr>
                  <a:t>5</a:t>
                </a:r>
                <a:r>
                  <a:rPr lang="zh-CN" altLang="zh-CN" sz="2400" b="1" dirty="0">
                    <a:solidFill>
                      <a:schemeClr val="tx1"/>
                    </a:solidFill>
                  </a:rPr>
                  <a:t>）</a:t>
                </a:r>
                <a14:m>
                  <m:oMath xmlns:m="http://schemas.openxmlformats.org/officeDocument/2006/math">
                    <m:sSup>
                      <m:sSupPr>
                        <m:ctrlPr>
                          <a:rPr lang="zh-CN" altLang="zh-CN" sz="2400" b="1" i="1" smtClean="0">
                            <a:solidFill>
                              <a:srgbClr val="0000FF"/>
                            </a:solidFill>
                            <a:latin typeface="Cambria Math" panose="02040503050406030204" pitchFamily="18" charset="0"/>
                          </a:rPr>
                        </m:ctrlPr>
                      </m:sSupPr>
                      <m:e>
                        <m:r>
                          <a:rPr lang="en-US" altLang="zh-CN" sz="2400" b="1" i="1">
                            <a:solidFill>
                              <a:srgbClr val="0000FF"/>
                            </a:solidFill>
                            <a:latin typeface="Cambria Math" panose="02040503050406030204" pitchFamily="18" charset="0"/>
                          </a:rPr>
                          <m:t>𝒈</m:t>
                        </m:r>
                      </m:e>
                      <m:sup>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sup>
                    </m:sSup>
                    <m:r>
                      <a:rPr lang="en-US" altLang="zh-CN" sz="2400" b="1">
                        <a:solidFill>
                          <a:srgbClr val="0000FF"/>
                        </a:solidFill>
                        <a:latin typeface="Cambria Math" panose="02040503050406030204" pitchFamily="18" charset="0"/>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𝒂</m:t>
                        </m:r>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𝟏</m:t>
                        </m:r>
                      </m:e>
                    </m:d>
                    <m:r>
                      <a:rPr lang="en-US" altLang="zh-CN" sz="2400" b="1">
                        <a:solidFill>
                          <a:srgbClr val="0000FF"/>
                        </a:solidFill>
                        <a:latin typeface="Cambria Math" panose="02040503050406030204" pitchFamily="18" charset="0"/>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𝒂</m:t>
                        </m:r>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𝟐</m:t>
                        </m:r>
                      </m:e>
                    </m:d>
                    <m:r>
                      <a:rPr lang="en-US" altLang="zh-CN" sz="2400" b="1">
                        <a:solidFill>
                          <a:srgbClr val="0000FF"/>
                        </a:solidFill>
                        <a:latin typeface="Cambria Math" panose="02040503050406030204" pitchFamily="18" charset="0"/>
                      </a:rPr>
                      <m:t>,</m:t>
                    </m:r>
                    <m:d>
                      <m:dPr>
                        <m:begChr m:val="〈"/>
                        <m:endChr m:val="〉"/>
                        <m:ctrlPr>
                          <a:rPr lang="zh-CN" altLang="zh-CN" sz="2400" b="1" i="1">
                            <a:solidFill>
                              <a:srgbClr val="0000FF"/>
                            </a:solidFill>
                            <a:latin typeface="Cambria Math" panose="02040503050406030204" pitchFamily="18" charset="0"/>
                          </a:rPr>
                        </m:ctrlPr>
                      </m:dPr>
                      <m:e>
                        <m:r>
                          <a:rPr lang="en-US" altLang="zh-CN" sz="2400" b="1" i="1">
                            <a:solidFill>
                              <a:srgbClr val="0000FF"/>
                            </a:solidFill>
                            <a:latin typeface="Cambria Math" panose="02040503050406030204" pitchFamily="18" charset="0"/>
                          </a:rPr>
                          <m:t>𝒃</m:t>
                        </m:r>
                        <m:r>
                          <a:rPr lang="en-US" altLang="zh-CN" sz="2400" b="1">
                            <a:solidFill>
                              <a:srgbClr val="0000FF"/>
                            </a:solidFill>
                            <a:latin typeface="Cambria Math" panose="02040503050406030204" pitchFamily="18" charset="0"/>
                          </a:rPr>
                          <m:t>,</m:t>
                        </m:r>
                        <m:r>
                          <a:rPr lang="en-US" altLang="zh-CN" sz="2400" b="1" i="1">
                            <a:solidFill>
                              <a:srgbClr val="0000FF"/>
                            </a:solidFill>
                            <a:latin typeface="Cambria Math" panose="02040503050406030204" pitchFamily="18" charset="0"/>
                          </a:rPr>
                          <m:t>𝟑</m:t>
                        </m:r>
                      </m:e>
                    </m:d>
                    <m:r>
                      <a:rPr lang="en-US" altLang="zh-CN" sz="2400" b="1">
                        <a:solidFill>
                          <a:srgbClr val="0000FF"/>
                        </a:solidFill>
                        <a:latin typeface="Cambria Math" panose="02040503050406030204" pitchFamily="18" charset="0"/>
                      </a:rPr>
                      <m:t>}</m:t>
                    </m:r>
                  </m:oMath>
                </a14:m>
                <a:r>
                  <a:rPr lang="zh-CN" altLang="zh-CN" sz="2400" b="1" dirty="0">
                    <a:solidFill>
                      <a:schemeClr val="tx1"/>
                    </a:solidFill>
                  </a:rPr>
                  <a:t>不是</a:t>
                </a:r>
                <a14:m>
                  <m:oMath xmlns:m="http://schemas.openxmlformats.org/officeDocument/2006/math">
                    <m:r>
                      <a:rPr lang="en-US" altLang="zh-CN" sz="2400" b="1" i="1">
                        <a:solidFill>
                          <a:schemeClr val="tx1"/>
                        </a:solidFill>
                        <a:latin typeface="Cambria Math" panose="02040503050406030204" pitchFamily="18" charset="0"/>
                      </a:rPr>
                      <m:t>𝑩</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𝒂</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𝒃</m:t>
                    </m:r>
                    <m:r>
                      <a:rPr lang="en-US" altLang="zh-CN" sz="2400" b="1">
                        <a:solidFill>
                          <a:schemeClr val="tx1"/>
                        </a:solidFill>
                        <a:latin typeface="Cambria Math" panose="02040503050406030204" pitchFamily="18" charset="0"/>
                      </a:rPr>
                      <m:t>}</m:t>
                    </m:r>
                  </m:oMath>
                </a14:m>
                <a:r>
                  <a:rPr lang="zh-CN" altLang="zh-CN" sz="2400" b="1" dirty="0">
                    <a:solidFill>
                      <a:schemeClr val="tx1"/>
                    </a:solidFill>
                  </a:rPr>
                  <a:t>到</a:t>
                </a:r>
                <a14:m>
                  <m:oMath xmlns:m="http://schemas.openxmlformats.org/officeDocument/2006/math">
                    <m:r>
                      <a:rPr lang="en-US" altLang="zh-CN" sz="2400" b="1" i="1">
                        <a:solidFill>
                          <a:schemeClr val="tx1"/>
                        </a:solidFill>
                        <a:latin typeface="Cambria Math" panose="02040503050406030204" pitchFamily="18" charset="0"/>
                      </a:rPr>
                      <m:t>𝑨</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𝟏</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𝟐</m:t>
                    </m:r>
                    <m:r>
                      <a:rPr lang="en-US" altLang="zh-CN" sz="2400" b="1">
                        <a:solidFill>
                          <a:schemeClr val="tx1"/>
                        </a:solidFill>
                        <a:latin typeface="Cambria Math" panose="02040503050406030204" pitchFamily="18" charset="0"/>
                      </a:rPr>
                      <m:t>,</m:t>
                    </m:r>
                    <m:r>
                      <a:rPr lang="en-US" altLang="zh-CN" sz="2400" b="1" i="1">
                        <a:solidFill>
                          <a:schemeClr val="tx1"/>
                        </a:solidFill>
                        <a:latin typeface="Cambria Math" panose="02040503050406030204" pitchFamily="18" charset="0"/>
                      </a:rPr>
                      <m:t>𝟑</m:t>
                    </m:r>
                    <m:r>
                      <a:rPr lang="en-US" altLang="zh-CN" sz="2400" b="1">
                        <a:solidFill>
                          <a:schemeClr val="tx1"/>
                        </a:solidFill>
                        <a:latin typeface="Cambria Math" panose="02040503050406030204" pitchFamily="18" charset="0"/>
                      </a:rPr>
                      <m:t>}</m:t>
                    </m:r>
                  </m:oMath>
                </a14:m>
                <a:r>
                  <a:rPr lang="zh-CN" altLang="zh-CN" sz="2400" b="1" dirty="0">
                    <a:solidFill>
                      <a:schemeClr val="tx1"/>
                    </a:solidFill>
                  </a:rPr>
                  <a:t>的函数，故</a:t>
                </a:r>
                <a14:m>
                  <m:oMath xmlns:m="http://schemas.openxmlformats.org/officeDocument/2006/math">
                    <m:r>
                      <a:rPr lang="en-US" altLang="zh-CN" sz="2400" b="1" i="1">
                        <a:solidFill>
                          <a:schemeClr val="tx1"/>
                        </a:solidFill>
                        <a:latin typeface="Cambria Math" panose="02040503050406030204" pitchFamily="18" charset="0"/>
                      </a:rPr>
                      <m:t>𝒈</m:t>
                    </m:r>
                  </m:oMath>
                </a14:m>
                <a:r>
                  <a:rPr lang="zh-CN" altLang="zh-CN" sz="2400" b="1" dirty="0">
                    <a:solidFill>
                      <a:srgbClr val="0000FF"/>
                    </a:solidFill>
                  </a:rPr>
                  <a:t>不可逆</a:t>
                </a:r>
                <a:r>
                  <a:rPr lang="zh-CN" altLang="zh-CN" sz="2400" b="1" dirty="0">
                    <a:solidFill>
                      <a:schemeClr val="tx1"/>
                    </a:solidFill>
                  </a:rPr>
                  <a:t>。</a:t>
                </a:r>
                <a:endParaRPr lang="zh-CN" altLang="en-US" sz="24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467544" y="1879267"/>
                <a:ext cx="8496944" cy="4521366"/>
              </a:xfrm>
              <a:prstGeom prst="rect">
                <a:avLst/>
              </a:prstGeom>
              <a:blipFill>
                <a:blip r:embed="rId3"/>
                <a:stretch>
                  <a:fillRect l="-1148" t="-1482" b="-175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90025248"/>
      </p:ext>
    </p:extLst>
  </p:cSld>
  <p:clrMapOvr>
    <a:masterClrMapping/>
  </p:clrMapOvr>
  <p:transition spd="med">
    <p:wipe dir="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87F3DF6-A89E-49D5-AC9C-6EDB18057546}"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9728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97284" name="Text Box 2"/>
          <p:cNvSpPr txBox="1">
            <a:spLocks noChangeArrowheads="1"/>
          </p:cNvSpPr>
          <p:nvPr/>
        </p:nvSpPr>
        <p:spPr bwMode="auto">
          <a:xfrm>
            <a:off x="1403648" y="595312"/>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逆函数的性质</a:t>
            </a:r>
          </a:p>
        </p:txBody>
      </p:sp>
      <p:pic>
        <p:nvPicPr>
          <p:cNvPr id="9728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E99EF69-753D-4913-B18C-6AA854ED4368}"/>
                  </a:ext>
                </a:extLst>
              </p:cNvPr>
              <p:cNvSpPr/>
              <p:nvPr/>
            </p:nvSpPr>
            <p:spPr>
              <a:xfrm>
                <a:off x="395536" y="1593840"/>
                <a:ext cx="8306075" cy="4722831"/>
              </a:xfrm>
              <a:prstGeom prst="rect">
                <a:avLst/>
              </a:prstGeom>
              <a:solidFill>
                <a:schemeClr val="accent6">
                  <a:lumMod val="75000"/>
                </a:schemeClr>
              </a:solidFill>
            </p:spPr>
            <p:txBody>
              <a:bodyPr wrap="square">
                <a:spAutoFit/>
              </a:bodyPr>
              <a:lstStyle/>
              <a:p>
                <a:pPr indent="267970" algn="just">
                  <a:lnSpc>
                    <a:spcPct val="150000"/>
                  </a:lnSpc>
                  <a:spcAft>
                    <a:spcPts val="0"/>
                  </a:spcAft>
                </a:pP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【定理】设</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𝒇</m:t>
                    </m:r>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𝑨</m:t>
                    </m:r>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𝑩</m:t>
                    </m:r>
                  </m:oMath>
                </a14:m>
                <a:r>
                  <a:rPr lang="zh-CN" altLang="zh-CN" sz="20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a:t>
                </a:r>
                <a:r>
                  <a:rPr lang="zh-CN" altLang="zh-CN" sz="20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rPr>
                  <a:t>双射函数</a:t>
                </a:r>
                <a:r>
                  <a:rPr lang="zh-CN" altLang="zh-CN" sz="20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14:m>
                  <m:oMath xmlns:m="http://schemas.openxmlformats.org/officeDocument/2006/math">
                    <m:sSup>
                      <m:sSupPr>
                        <m:ctrlPr>
                          <a:rPr lang="zh-CN" altLang="zh-CN" sz="2000" b="1" i="1" kern="100" smtClean="0">
                            <a:solidFill>
                              <a:srgbClr val="FFFF00"/>
                            </a:solidFill>
                            <a:latin typeface="Cambria Math" panose="02040503050406030204" pitchFamily="18" charset="0"/>
                            <a:ea typeface="Cambria Math" panose="02040503050406030204" pitchFamily="18" charset="0"/>
                          </a:rPr>
                        </m:ctrlPr>
                      </m:sSupPr>
                      <m:e>
                        <m:r>
                          <a:rPr lang="en-US" altLang="zh-CN" sz="2000" b="1" i="1" kern="100">
                            <a:solidFill>
                              <a:srgbClr val="FFFF00"/>
                            </a:solidFill>
                            <a:latin typeface="Cambria Math" panose="02040503050406030204" pitchFamily="18" charset="0"/>
                            <a:ea typeface="宋体" panose="02010600030101010101" pitchFamily="2" charset="-122"/>
                          </a:rPr>
                          <m:t>𝒇</m:t>
                        </m:r>
                      </m:e>
                      <m:sup>
                        <m:r>
                          <a:rPr lang="en-US" altLang="zh-CN" sz="2000" b="1" i="1" kern="100">
                            <a:solidFill>
                              <a:srgbClr val="FFFF00"/>
                            </a:solidFill>
                            <a:latin typeface="Cambria Math" panose="02040503050406030204" pitchFamily="18" charset="0"/>
                            <a:ea typeface="宋体" panose="02010600030101010101" pitchFamily="2" charset="-122"/>
                          </a:rPr>
                          <m:t>−</m:t>
                        </m:r>
                        <m:r>
                          <a:rPr lang="en-US" altLang="zh-CN" sz="2000" b="1" i="1" kern="100">
                            <a:solidFill>
                              <a:srgbClr val="FFFF00"/>
                            </a:solidFill>
                            <a:latin typeface="Cambria Math" panose="02040503050406030204" pitchFamily="18" charset="0"/>
                            <a:ea typeface="宋体" panose="02010600030101010101" pitchFamily="2" charset="-122"/>
                          </a:rPr>
                          <m:t>𝟏</m:t>
                        </m:r>
                      </m:sup>
                    </m:sSup>
                  </m:oMath>
                </a14:m>
                <a:r>
                  <a:rPr lang="zh-CN" altLang="zh-CN" sz="20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也是从</a:t>
                </a:r>
                <a14:m>
                  <m:oMath xmlns:m="http://schemas.openxmlformats.org/officeDocument/2006/math">
                    <m:r>
                      <a:rPr lang="en-US" altLang="zh-CN" sz="2000" b="1" i="1" kern="100">
                        <a:solidFill>
                          <a:srgbClr val="FFFF00"/>
                        </a:solidFill>
                        <a:latin typeface="Cambria Math" panose="02040503050406030204" pitchFamily="18" charset="0"/>
                        <a:ea typeface="宋体" panose="02010600030101010101" pitchFamily="2" charset="-122"/>
                      </a:rPr>
                      <m:t>𝑩</m:t>
                    </m:r>
                  </m:oMath>
                </a14:m>
                <a:r>
                  <a:rPr lang="zh-CN" altLang="zh-CN" sz="20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000" b="1" i="1" kern="100">
                        <a:solidFill>
                          <a:srgbClr val="FFFF00"/>
                        </a:solidFill>
                        <a:latin typeface="Cambria Math" panose="02040503050406030204" pitchFamily="18" charset="0"/>
                        <a:ea typeface="宋体" panose="02010600030101010101" pitchFamily="2" charset="-122"/>
                      </a:rPr>
                      <m:t>𝑨</m:t>
                    </m:r>
                  </m:oMath>
                </a14:m>
                <a:r>
                  <a:rPr lang="zh-CN" altLang="zh-CN" sz="20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的双射函数</a:t>
                </a: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000" b="1" kern="100" dirty="0">
                  <a:solidFill>
                    <a:schemeClr val="bg1"/>
                  </a:solidFill>
                  <a:latin typeface="Times New Roman" panose="02020603050405020304" pitchFamily="18" charset="0"/>
                  <a:ea typeface="宋体" panose="02010600030101010101" pitchFamily="2" charset="-122"/>
                </a:endParaRPr>
              </a:p>
              <a:p>
                <a:pPr indent="267970" algn="just">
                  <a:lnSpc>
                    <a:spcPct val="150000"/>
                  </a:lnSpc>
                  <a:spcAft>
                    <a:spcPts val="0"/>
                  </a:spcAft>
                </a:pP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【证明】首先证明</a:t>
                </a:r>
                <a14:m>
                  <m:oMath xmlns:m="http://schemas.openxmlformats.org/officeDocument/2006/math">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a:t>
                </a:r>
                <a:r>
                  <a:rPr lang="zh-CN" altLang="zh-CN" sz="20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满射</a:t>
                </a: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。因为</a:t>
                </a:r>
                <a14:m>
                  <m:oMath xmlns:m="http://schemas.openxmlformats.org/officeDocument/2006/math">
                    <m:r>
                      <m:rPr>
                        <m:nor/>
                      </m:rPr>
                      <a:rPr lang="en-US" altLang="zh-CN" sz="2000" b="1" kern="100" smtClean="0">
                        <a:solidFill>
                          <a:srgbClr val="FFFF00"/>
                        </a:solidFill>
                        <a:latin typeface="Cambria Math" panose="02040503050406030204" pitchFamily="18" charset="0"/>
                        <a:ea typeface="宋体" panose="02010600030101010101" pitchFamily="2" charset="-122"/>
                      </a:rPr>
                      <m:t>ran</m:t>
                    </m:r>
                    <m:r>
                      <a:rPr lang="en-US" altLang="zh-CN" sz="2000" b="1" i="1" kern="100">
                        <a:solidFill>
                          <a:srgbClr val="FFFF00"/>
                        </a:solidFill>
                        <a:latin typeface="Cambria Math" panose="02040503050406030204" pitchFamily="18" charset="0"/>
                        <a:ea typeface="宋体" panose="02010600030101010101" pitchFamily="2" charset="-122"/>
                      </a:rPr>
                      <m:t> </m:t>
                    </m:r>
                    <m:sSup>
                      <m:sSupPr>
                        <m:ctrlPr>
                          <a:rPr lang="zh-CN" altLang="zh-CN" sz="2000" b="1" i="1" kern="100">
                            <a:solidFill>
                              <a:srgbClr val="FFFF00"/>
                            </a:solidFill>
                            <a:latin typeface="Cambria Math" panose="02040503050406030204" pitchFamily="18" charset="0"/>
                            <a:ea typeface="Cambria Math" panose="02040503050406030204" pitchFamily="18" charset="0"/>
                          </a:rPr>
                        </m:ctrlPr>
                      </m:sSupPr>
                      <m:e>
                        <m:r>
                          <a:rPr lang="en-US" altLang="zh-CN" sz="2000" b="1" i="1" kern="100">
                            <a:solidFill>
                              <a:srgbClr val="FFFF00"/>
                            </a:solidFill>
                            <a:latin typeface="Cambria Math" panose="02040503050406030204" pitchFamily="18" charset="0"/>
                            <a:ea typeface="宋体" panose="02010600030101010101" pitchFamily="2" charset="-122"/>
                          </a:rPr>
                          <m:t>𝒇</m:t>
                        </m:r>
                      </m:e>
                      <m:sup>
                        <m:r>
                          <a:rPr lang="en-US" altLang="zh-CN" sz="2000" b="1" i="1" kern="100">
                            <a:solidFill>
                              <a:srgbClr val="FFFF00"/>
                            </a:solidFill>
                            <a:latin typeface="Cambria Math" panose="02040503050406030204" pitchFamily="18" charset="0"/>
                            <a:ea typeface="宋体" panose="02010600030101010101" pitchFamily="2" charset="-122"/>
                          </a:rPr>
                          <m:t>−</m:t>
                        </m:r>
                        <m:r>
                          <a:rPr lang="en-US" altLang="zh-CN" sz="2000" b="1" i="1" kern="100">
                            <a:solidFill>
                              <a:srgbClr val="FFFF00"/>
                            </a:solidFill>
                            <a:latin typeface="Cambria Math" panose="02040503050406030204" pitchFamily="18" charset="0"/>
                            <a:ea typeface="宋体" panose="02010600030101010101" pitchFamily="2" charset="-122"/>
                          </a:rPr>
                          <m:t>𝟏</m:t>
                        </m:r>
                      </m:sup>
                    </m:sSup>
                    <m:r>
                      <a:rPr lang="en-US" altLang="zh-CN" sz="2000" b="1" i="1" kern="100">
                        <a:solidFill>
                          <a:schemeClr val="bg1"/>
                        </a:solidFill>
                        <a:latin typeface="Cambria Math" panose="02040503050406030204" pitchFamily="18" charset="0"/>
                        <a:ea typeface="宋体" panose="02010600030101010101" pitchFamily="2" charset="-122"/>
                      </a:rPr>
                      <m:t>=</m:t>
                    </m:r>
                    <m:r>
                      <m:rPr>
                        <m:nor/>
                      </m:rPr>
                      <a:rPr lang="en-US" altLang="zh-CN" sz="2000" b="1" kern="100">
                        <a:solidFill>
                          <a:schemeClr val="bg1"/>
                        </a:solidFill>
                        <a:latin typeface="Cambria Math" panose="02040503050406030204" pitchFamily="18" charset="0"/>
                        <a:ea typeface="宋体" panose="02010600030101010101" pitchFamily="2" charset="-122"/>
                      </a:rPr>
                      <m:t>dom</m:t>
                    </m:r>
                    <m:r>
                      <a:rPr lang="en-US" altLang="zh-CN" sz="2000" b="1" i="1" kern="100">
                        <a:solidFill>
                          <a:schemeClr val="bg1"/>
                        </a:solidFill>
                        <a:latin typeface="Cambria Math" panose="02040503050406030204" pitchFamily="18" charset="0"/>
                        <a:ea typeface="宋体" panose="02010600030101010101" pitchFamily="2" charset="-122"/>
                      </a:rPr>
                      <m:t> </m:t>
                    </m:r>
                    <m:r>
                      <a:rPr lang="en-US" altLang="zh-CN" sz="2000" b="1" i="1" kern="100">
                        <a:solidFill>
                          <a:schemeClr val="bg1"/>
                        </a:solidFill>
                        <a:latin typeface="Cambria Math" panose="02040503050406030204" pitchFamily="18" charset="0"/>
                        <a:ea typeface="宋体" panose="02010600030101010101" pitchFamily="2" charset="-122"/>
                      </a:rPr>
                      <m:t>𝒇</m:t>
                    </m:r>
                    <m:r>
                      <a:rPr lang="en-US" altLang="zh-CN" sz="2000" b="1" i="1" kern="100" smtClean="0">
                        <a:solidFill>
                          <a:srgbClr val="FFFF00"/>
                        </a:solidFill>
                        <a:latin typeface="Cambria Math" panose="02040503050406030204" pitchFamily="18" charset="0"/>
                        <a:ea typeface="宋体" panose="02010600030101010101" pitchFamily="2" charset="-122"/>
                      </a:rPr>
                      <m:t>=</m:t>
                    </m:r>
                    <m:r>
                      <a:rPr lang="en-US" altLang="zh-CN" sz="2000" b="1" i="1" kern="100" smtClean="0">
                        <a:solidFill>
                          <a:srgbClr val="FFFF00"/>
                        </a:solidFill>
                        <a:latin typeface="Cambria Math" panose="02040503050406030204" pitchFamily="18" charset="0"/>
                        <a:ea typeface="宋体" panose="02010600030101010101" pitchFamily="2" charset="-122"/>
                      </a:rPr>
                      <m:t>𝑨</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a:t>
                </a:r>
                <a14:m>
                  <m:oMath xmlns:m="http://schemas.openxmlformats.org/officeDocument/2006/math">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𝑩</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𝑨</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的满射函数。</a:t>
                </a:r>
                <a:endParaRPr lang="zh-CN" altLang="zh-CN" sz="2000" b="1" kern="100" dirty="0">
                  <a:solidFill>
                    <a:schemeClr val="bg1"/>
                  </a:solidFill>
                  <a:latin typeface="Times New Roman" panose="02020603050405020304" pitchFamily="18" charset="0"/>
                  <a:ea typeface="宋体" panose="02010600030101010101" pitchFamily="2" charset="-122"/>
                </a:endParaRPr>
              </a:p>
              <a:p>
                <a:pPr indent="333375" algn="just">
                  <a:lnSpc>
                    <a:spcPct val="150000"/>
                  </a:lnSpc>
                  <a:spcAft>
                    <a:spcPts val="0"/>
                  </a:spcAft>
                </a:pP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再证</a:t>
                </a:r>
                <a14:m>
                  <m:oMath xmlns:m="http://schemas.openxmlformats.org/officeDocument/2006/math">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是单射，用反证法。设对</a:t>
                </a:r>
                <a14:m>
                  <m:oMath xmlns:m="http://schemas.openxmlformats.org/officeDocument/2006/math">
                    <m:r>
                      <a:rPr lang="en-US" altLang="zh-CN" sz="20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r>
                      <a:rPr lang="zh-CN" altLang="zh-CN" sz="2000" b="1" kern="100">
                        <a:solidFill>
                          <a:schemeClr val="bg1"/>
                        </a:solidFill>
                        <a:latin typeface="Cambria Math" panose="02040503050406030204" pitchFamily="18" charset="0"/>
                        <a:ea typeface="宋体" panose="02010600030101010101" pitchFamily="2" charset="-122"/>
                        <a:cs typeface="宋体" panose="02010600030101010101" pitchFamily="2" charset="-122"/>
                      </a:rPr>
                      <m:t>且</m:t>
                    </m:r>
                    <m:r>
                      <a:rPr lang="zh-CN" altLang="zh-CN" sz="2000" b="1" kern="100">
                        <a:solidFill>
                          <a:schemeClr val="bg1"/>
                        </a:solidFill>
                        <a:latin typeface="Cambria Math" panose="02040503050406030204" pitchFamily="18" charset="0"/>
                        <a:ea typeface="Cambria Math" panose="02040503050406030204" pitchFamily="18" charset="0"/>
                        <a:cs typeface="宋体" panose="02010600030101010101" pitchFamily="2" charset="-122"/>
                      </a:rPr>
                      <m:t> </m:t>
                    </m:r>
                    <m:sSub>
                      <m:sSubPr>
                        <m:ctrlPr>
                          <a:rPr lang="zh-CN" altLang="zh-CN" sz="20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endParaRPr lang="zh-CN" altLang="zh-CN" sz="2000" b="1" kern="100" dirty="0">
                  <a:solidFill>
                    <a:schemeClr val="bg1"/>
                  </a:solidFill>
                  <a:latin typeface="Times New Roman" panose="02020603050405020304" pitchFamily="18" charset="0"/>
                  <a:ea typeface="宋体" panose="02010600030101010101" pitchFamily="2" charset="-122"/>
                </a:endParaRPr>
              </a:p>
              <a:p>
                <a:pPr indent="228600" algn="just">
                  <a:lnSpc>
                    <a:spcPct val="150000"/>
                  </a:lnSpc>
                  <a:spcAft>
                    <a:spcPts val="0"/>
                  </a:spcAft>
                </a:pPr>
                <a14:m>
                  <m:oMathPara xmlns:m="http://schemas.openxmlformats.org/officeDocument/2006/math">
                    <m:oMathParaPr>
                      <m:jc m:val="centerGroup"/>
                    </m:oMathParaPr>
                    <m:oMath xmlns:m="http://schemas.openxmlformats.org/officeDocument/2006/math">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d>
                        <m:dPr>
                          <m:ctrlPr>
                            <a:rPr lang="zh-CN" altLang="zh-CN" sz="20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e>
                      </m:d>
                      <m:r>
                        <a:rPr lang="en-US" altLang="zh-CN" sz="2000" b="1" i="1" kern="100">
                          <a:solidFill>
                            <a:schemeClr val="bg1"/>
                          </a:solidFill>
                          <a:latin typeface="Cambria Math" panose="02040503050406030204" pitchFamily="18" charset="0"/>
                          <a:ea typeface="宋体" panose="02010600030101010101" pitchFamily="2" charset="-122"/>
                        </a:rPr>
                        <m:t>=</m:t>
                      </m:r>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d>
                        <m:dPr>
                          <m:ctrlPr>
                            <a:rPr lang="zh-CN" altLang="zh-CN" sz="20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e>
                      </m:d>
                    </m:oMath>
                  </m:oMathPara>
                </a14:m>
                <a:endParaRPr lang="zh-CN" altLang="zh-CN" sz="20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即存在</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𝒂</m:t>
                    </m:r>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𝑨</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，使得</a:t>
                </a:r>
                <a14:m>
                  <m:oMath xmlns:m="http://schemas.openxmlformats.org/officeDocument/2006/math">
                    <m:d>
                      <m:dPr>
                        <m:begChr m:val="〈"/>
                        <m:endChr m:val="〉"/>
                        <m:ctrlPr>
                          <a:rPr lang="zh-CN" altLang="zh-CN" sz="20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𝒂</m:t>
                        </m:r>
                      </m:e>
                    </m:d>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 ∈</m:t>
                    </m:r>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r>
                      <a:rPr lang="zh-CN" altLang="zh-CN" sz="2000" b="1" kern="100">
                        <a:solidFill>
                          <a:schemeClr val="bg1"/>
                        </a:solidFill>
                        <a:latin typeface="Cambria Math" panose="02040503050406030204" pitchFamily="18" charset="0"/>
                        <a:ea typeface="宋体" panose="02010600030101010101" pitchFamily="2" charset="-122"/>
                      </a:rPr>
                      <m:t>且</m:t>
                    </m:r>
                    <m:d>
                      <m:dPr>
                        <m:begChr m:val="〈"/>
                        <m:endChr m:val="〉"/>
                        <m:ctrlPr>
                          <a:rPr lang="zh-CN" altLang="zh-CN" sz="20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𝒂</m:t>
                        </m:r>
                      </m:e>
                    </m:d>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，即有：</a:t>
                </a:r>
                <a:endParaRPr lang="zh-CN" altLang="zh-CN" sz="2000" b="1" kern="100" dirty="0">
                  <a:solidFill>
                    <a:schemeClr val="bg1"/>
                  </a:solidFill>
                  <a:latin typeface="Times New Roman" panose="02020603050405020304" pitchFamily="18" charset="0"/>
                  <a:ea typeface="宋体" panose="02010600030101010101" pitchFamily="2" charset="-122"/>
                </a:endParaRPr>
              </a:p>
              <a:p>
                <a:pPr indent="333375" algn="just">
                  <a:lnSpc>
                    <a:spcPct val="150000"/>
                  </a:lnSpc>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sz="2000" b="1" i="1" kern="100">
                              <a:solidFill>
                                <a:schemeClr val="bg1"/>
                              </a:solidFill>
                              <a:latin typeface="Cambria Math" panose="02040503050406030204" pitchFamily="18" charset="0"/>
                              <a:ea typeface="Cambria Math" panose="02040503050406030204" pitchFamily="18" charset="0"/>
                            </a:rPr>
                          </m:ctrlPr>
                        </m:d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𝒂</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sub>
                          </m:sSub>
                        </m:e>
                      </m:d>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000" b="1" i="1" kern="100">
                              <a:solidFill>
                                <a:schemeClr val="bg1"/>
                              </a:solidFill>
                              <a:latin typeface="Cambria Math" panose="02040503050406030204" pitchFamily="18" charset="0"/>
                              <a:ea typeface="Cambria Math" panose="02040503050406030204" pitchFamily="18" charset="0"/>
                            </a:rPr>
                          </m:ctrlPr>
                        </m:d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𝒂</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0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𝟐</m:t>
                              </m:r>
                            </m:sub>
                          </m:sSub>
                        </m:e>
                      </m:d>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oMath>
                  </m:oMathPara>
                </a14:m>
                <a:endParaRPr lang="zh-CN" altLang="zh-CN" sz="2000" b="1" kern="100" dirty="0">
                  <a:solidFill>
                    <a:schemeClr val="bg1"/>
                  </a:solidFill>
                  <a:latin typeface="Times New Roman" panose="02020603050405020304" pitchFamily="18" charset="0"/>
                  <a:ea typeface="宋体" panose="02010600030101010101" pitchFamily="2" charset="-122"/>
                </a:endParaRPr>
              </a:p>
              <a:p>
                <a:pPr indent="333375" algn="just">
                  <a:lnSpc>
                    <a:spcPct val="150000"/>
                  </a:lnSpc>
                  <a:spcAft>
                    <a:spcPts val="0"/>
                  </a:spcAft>
                </a:pP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这与函数</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单值性矛盾。</a:t>
                </a:r>
                <a:endParaRPr lang="en-US"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3375" algn="just">
                  <a:lnSpc>
                    <a:spcPct val="150000"/>
                  </a:lnSpc>
                  <a:spcAft>
                    <a:spcPts val="0"/>
                  </a:spcAft>
                </a:pPr>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sSup>
                      <m:sSupPr>
                        <m:ctrlPr>
                          <a:rPr lang="zh-CN" altLang="zh-CN" sz="2000" b="1" i="1" kern="100" smtClean="0">
                            <a:solidFill>
                              <a:srgbClr val="FFFF00"/>
                            </a:solidFill>
                            <a:latin typeface="Cambria Math" panose="02040503050406030204" pitchFamily="18" charset="0"/>
                            <a:ea typeface="Cambria Math" panose="02040503050406030204" pitchFamily="18" charset="0"/>
                          </a:rPr>
                        </m:ctrlPr>
                      </m:sSupPr>
                      <m:e>
                        <m:r>
                          <a:rPr lang="en-US" altLang="zh-CN" sz="2000" b="1" i="1" kern="100">
                            <a:solidFill>
                              <a:srgbClr val="FFFF00"/>
                            </a:solidFill>
                            <a:latin typeface="Cambria Math" panose="02040503050406030204" pitchFamily="18" charset="0"/>
                            <a:ea typeface="宋体" panose="02010600030101010101" pitchFamily="2" charset="-122"/>
                          </a:rPr>
                          <m:t>𝒇</m:t>
                        </m:r>
                      </m:e>
                      <m:sup>
                        <m:r>
                          <a:rPr lang="en-US" altLang="zh-CN" sz="2000" b="1" i="1" kern="100">
                            <a:solidFill>
                              <a:srgbClr val="FFFF00"/>
                            </a:solidFill>
                            <a:latin typeface="Cambria Math" panose="02040503050406030204" pitchFamily="18" charset="0"/>
                            <a:ea typeface="宋体" panose="02010600030101010101" pitchFamily="2" charset="-122"/>
                          </a:rPr>
                          <m:t>−</m:t>
                        </m:r>
                        <m:r>
                          <a:rPr lang="en-US" altLang="zh-CN" sz="2000" b="1" i="1" kern="100">
                            <a:solidFill>
                              <a:srgbClr val="FFFF00"/>
                            </a:solidFill>
                            <a:latin typeface="Cambria Math" panose="02040503050406030204" pitchFamily="18" charset="0"/>
                            <a:ea typeface="宋体" panose="02010600030101010101" pitchFamily="2" charset="-122"/>
                          </a:rPr>
                          <m:t>𝟏</m:t>
                        </m:r>
                      </m:sup>
                    </m:sSup>
                    <m:d>
                      <m:dPr>
                        <m:ctrlPr>
                          <a:rPr lang="zh-CN" altLang="zh-CN" sz="20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0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𝟏</m:t>
                            </m:r>
                          </m:sub>
                        </m:sSub>
                      </m:e>
                    </m:d>
                    <m:r>
                      <a:rPr lang="en-US" altLang="zh-CN" sz="2000" b="1" i="1" kern="100">
                        <a:solidFill>
                          <a:srgbClr val="FFFF00"/>
                        </a:solidFill>
                        <a:latin typeface="Cambria Math" panose="02040503050406030204" pitchFamily="18" charset="0"/>
                        <a:ea typeface="宋体" panose="02010600030101010101" pitchFamily="2" charset="-122"/>
                      </a:rPr>
                      <m:t>≠</m:t>
                    </m:r>
                    <m:sSup>
                      <m:sSupPr>
                        <m:ctrlPr>
                          <a:rPr lang="zh-CN" altLang="zh-CN" sz="2000" b="1" i="1" kern="100">
                            <a:solidFill>
                              <a:srgbClr val="FFFF00"/>
                            </a:solidFill>
                            <a:latin typeface="Cambria Math" panose="02040503050406030204" pitchFamily="18" charset="0"/>
                            <a:ea typeface="Cambria Math" panose="02040503050406030204" pitchFamily="18" charset="0"/>
                          </a:rPr>
                        </m:ctrlPr>
                      </m:sSupPr>
                      <m:e>
                        <m:r>
                          <a:rPr lang="en-US" altLang="zh-CN" sz="2000" b="1" i="1" kern="100">
                            <a:solidFill>
                              <a:srgbClr val="FFFF00"/>
                            </a:solidFill>
                            <a:latin typeface="Cambria Math" panose="02040503050406030204" pitchFamily="18" charset="0"/>
                            <a:ea typeface="宋体" panose="02010600030101010101" pitchFamily="2" charset="-122"/>
                          </a:rPr>
                          <m:t>𝒇</m:t>
                        </m:r>
                      </m:e>
                      <m:sup>
                        <m:r>
                          <a:rPr lang="en-US" altLang="zh-CN" sz="2000" b="1" i="1" kern="100">
                            <a:solidFill>
                              <a:srgbClr val="FFFF00"/>
                            </a:solidFill>
                            <a:latin typeface="Cambria Math" panose="02040503050406030204" pitchFamily="18" charset="0"/>
                            <a:ea typeface="宋体" panose="02010600030101010101" pitchFamily="2" charset="-122"/>
                          </a:rPr>
                          <m:t>−</m:t>
                        </m:r>
                        <m:r>
                          <a:rPr lang="en-US" altLang="zh-CN" sz="2000" b="1" i="1" kern="100">
                            <a:solidFill>
                              <a:srgbClr val="FFFF00"/>
                            </a:solidFill>
                            <a:latin typeface="Cambria Math" panose="02040503050406030204" pitchFamily="18" charset="0"/>
                            <a:ea typeface="宋体" panose="02010600030101010101" pitchFamily="2" charset="-122"/>
                          </a:rPr>
                          <m:t>𝟏</m:t>
                        </m:r>
                      </m:sup>
                    </m:sSup>
                    <m:d>
                      <m:dPr>
                        <m:ctrlPr>
                          <a:rPr lang="zh-CN" altLang="zh-CN" sz="20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000" b="1" i="1" kern="10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𝒃</m:t>
                            </m:r>
                          </m:e>
                          <m:sub>
                            <m:r>
                              <a:rPr lang="en-US" altLang="zh-CN" sz="20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𝟐</m:t>
                            </m:r>
                          </m:sub>
                        </m:sSub>
                      </m:e>
                    </m:d>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14:m>
                  <m:oMath xmlns:m="http://schemas.openxmlformats.org/officeDocument/2006/math">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𝑩</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𝑨</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的单射函数。</a:t>
                </a:r>
                <a:endParaRPr lang="en-US" altLang="zh-CN" sz="2000" b="1" kern="100" dirty="0">
                  <a:solidFill>
                    <a:schemeClr val="bg1"/>
                  </a:solidFill>
                  <a:latin typeface="Times New Roman" panose="02020603050405020304" pitchFamily="18" charset="0"/>
                  <a:ea typeface="宋体" panose="02010600030101010101" pitchFamily="2" charset="-122"/>
                </a:endParaRPr>
              </a:p>
              <a:p>
                <a:pPr indent="333375" algn="just">
                  <a:lnSpc>
                    <a:spcPct val="150000"/>
                  </a:lnSpc>
                  <a:spcAft>
                    <a:spcPts val="0"/>
                  </a:spcAft>
                </a:pPr>
                <a:r>
                  <a:rPr lang="zh-CN" altLang="en-US" sz="2000" b="1" kern="100" dirty="0">
                    <a:solidFill>
                      <a:schemeClr val="bg1"/>
                    </a:solidFill>
                    <a:latin typeface="Times New Roman" panose="02020603050405020304" pitchFamily="18" charset="0"/>
                    <a:ea typeface="宋体" panose="02010600030101010101" pitchFamily="2" charset="-122"/>
                  </a:rPr>
                  <a:t>因此</a:t>
                </a:r>
                <a14:m>
                  <m:oMath xmlns:m="http://schemas.openxmlformats.org/officeDocument/2006/math">
                    <m:r>
                      <a:rPr lang="zh-CN" altLang="en-US" sz="2000" b="1" i="1" kern="100" dirty="0" smtClean="0">
                        <a:solidFill>
                          <a:schemeClr val="bg1"/>
                        </a:solidFill>
                        <a:latin typeface="Cambria Math" panose="02040503050406030204" pitchFamily="18" charset="0"/>
                        <a:ea typeface="Cambria Math" panose="02040503050406030204" pitchFamily="18" charset="0"/>
                      </a:rPr>
                      <m:t>，</m:t>
                    </m:r>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既是满射又是单射，即</a:t>
                </a:r>
                <a14:m>
                  <m:oMath xmlns:m="http://schemas.openxmlformats.org/officeDocument/2006/math">
                    <m:sSup>
                      <m:sSupPr>
                        <m:ctrlPr>
                          <a:rPr lang="zh-CN" altLang="zh-CN" sz="2000" b="1" i="1" kern="100">
                            <a:solidFill>
                              <a:schemeClr val="bg1"/>
                            </a:solidFill>
                            <a:latin typeface="Cambria Math" panose="02040503050406030204" pitchFamily="18" charset="0"/>
                            <a:ea typeface="Cambria Math" panose="02040503050406030204" pitchFamily="18" charset="0"/>
                          </a:rPr>
                        </m:ctrlPr>
                      </m:sSupPr>
                      <m:e>
                        <m:r>
                          <a:rPr lang="en-US" altLang="zh-CN" sz="2000" b="1" i="1" kern="100">
                            <a:solidFill>
                              <a:schemeClr val="bg1"/>
                            </a:solidFill>
                            <a:latin typeface="Cambria Math" panose="02040503050406030204" pitchFamily="18" charset="0"/>
                            <a:ea typeface="宋体" panose="02010600030101010101" pitchFamily="2" charset="-122"/>
                          </a:rPr>
                          <m:t>𝒇</m:t>
                        </m:r>
                      </m:e>
                      <m:sup>
                        <m:r>
                          <a:rPr lang="en-US" altLang="zh-CN" sz="2000" b="1" i="1" kern="100">
                            <a:solidFill>
                              <a:schemeClr val="bg1"/>
                            </a:solidFill>
                            <a:latin typeface="Cambria Math" panose="02040503050406030204" pitchFamily="18" charset="0"/>
                            <a:ea typeface="宋体" panose="02010600030101010101" pitchFamily="2" charset="-122"/>
                          </a:rPr>
                          <m:t>−</m:t>
                        </m:r>
                        <m:r>
                          <a:rPr lang="en-US" altLang="zh-CN" sz="2000" b="1" i="1" kern="100">
                            <a:solidFill>
                              <a:schemeClr val="bg1"/>
                            </a:solidFill>
                            <a:latin typeface="Cambria Math" panose="02040503050406030204" pitchFamily="18" charset="0"/>
                            <a:ea typeface="宋体" panose="02010600030101010101" pitchFamily="2" charset="-122"/>
                          </a:rPr>
                          <m:t>𝟏</m:t>
                        </m:r>
                      </m:sup>
                    </m:sSup>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𝑩</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000" b="1" i="1" kern="100">
                        <a:solidFill>
                          <a:schemeClr val="bg1"/>
                        </a:solidFill>
                        <a:latin typeface="Cambria Math" panose="02040503050406030204" pitchFamily="18" charset="0"/>
                        <a:ea typeface="宋体" panose="02010600030101010101" pitchFamily="2" charset="-122"/>
                      </a:rPr>
                      <m:t>𝑨</m:t>
                    </m:r>
                  </m:oMath>
                </a14:m>
                <a:r>
                  <a:rPr lang="zh-CN" altLang="zh-CN" sz="20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的双射函数。</a:t>
                </a:r>
                <a:endParaRPr lang="zh-CN" altLang="zh-CN" sz="20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CE99EF69-753D-4913-B18C-6AA854ED4368}"/>
                  </a:ext>
                </a:extLst>
              </p:cNvPr>
              <p:cNvSpPr>
                <a:spLocks noRot="1" noChangeAspect="1" noMove="1" noResize="1" noEditPoints="1" noAdjustHandles="1" noChangeArrowheads="1" noChangeShapeType="1" noTextEdit="1"/>
              </p:cNvSpPr>
              <p:nvPr/>
            </p:nvSpPr>
            <p:spPr>
              <a:xfrm>
                <a:off x="395536" y="1593840"/>
                <a:ext cx="8306075" cy="4722831"/>
              </a:xfrm>
              <a:prstGeom prst="rect">
                <a:avLst/>
              </a:prstGeom>
              <a:blipFill>
                <a:blip r:embed="rId3"/>
                <a:stretch>
                  <a:fillRect l="-808" r="-734" b="-103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78712561"/>
      </p:ext>
    </p:extLst>
  </p:cSld>
  <p:clrMapOvr>
    <a:masterClrMapping/>
  </p:clrMapOvr>
  <p:transition spd="med">
    <p:wipe dir="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1C739F10-25B5-430E-BF92-53DF8EA984BB}"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137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1380"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10138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200356" y="2224073"/>
                <a:ext cx="8640960" cy="3679854"/>
              </a:xfrm>
              <a:prstGeom prst="rect">
                <a:avLst/>
              </a:prstGeom>
              <a:solidFill>
                <a:schemeClr val="accent3">
                  <a:lumMod val="95000"/>
                </a:schemeClr>
              </a:solidFill>
            </p:spPr>
            <p:txBody>
              <a:bodyPr wrap="square" rtlCol="0">
                <a:spAutoFit/>
              </a:bodyPr>
              <a:lstStyle/>
              <a:p>
                <a:pPr>
                  <a:lnSpc>
                    <a:spcPct val="150000"/>
                  </a:lnSpc>
                  <a:spcBef>
                    <a:spcPts val="600"/>
                  </a:spcBef>
                </a:pPr>
                <a:r>
                  <a:rPr lang="zh-CN" altLang="zh-CN" sz="2800" b="1" dirty="0"/>
                  <a:t>【例】</a:t>
                </a:r>
                <a:r>
                  <a:rPr lang="zh-CN" altLang="zh-CN" sz="2800" b="1" dirty="0">
                    <a:solidFill>
                      <a:schemeClr val="tx1"/>
                    </a:solidFill>
                  </a:rPr>
                  <a:t>设</a:t>
                </a:r>
                <a14:m>
                  <m:oMath xmlns:m="http://schemas.openxmlformats.org/officeDocument/2006/math">
                    <m:r>
                      <a:rPr lang="en-US" altLang="zh-CN" sz="2800" b="1" i="1">
                        <a:solidFill>
                          <a:schemeClr val="tx1"/>
                        </a:solidFill>
                        <a:latin typeface="Cambria Math"/>
                      </a:rPr>
                      <m:t>𝒇</m:t>
                    </m:r>
                    <m:r>
                      <a:rPr lang="en-US" altLang="zh-CN" sz="2800" b="1" i="1">
                        <a:solidFill>
                          <a:schemeClr val="tx1"/>
                        </a:solidFill>
                        <a:latin typeface="Cambria Math"/>
                      </a:rPr>
                      <m:t>:</m:t>
                    </m:r>
                    <m:r>
                      <a:rPr lang="en-US" altLang="zh-CN" sz="2800" b="1" i="1">
                        <a:solidFill>
                          <a:schemeClr val="tx1"/>
                        </a:solidFill>
                        <a:latin typeface="Cambria Math"/>
                      </a:rPr>
                      <m:t>𝑹</m:t>
                    </m:r>
                    <m:r>
                      <a:rPr lang="en-US" altLang="zh-CN" sz="2800" b="1" i="1">
                        <a:solidFill>
                          <a:schemeClr val="tx1"/>
                        </a:solidFill>
                        <a:latin typeface="Cambria Math"/>
                      </a:rPr>
                      <m:t>→</m:t>
                    </m:r>
                    <m:r>
                      <a:rPr lang="en-US" altLang="zh-CN" sz="2800" b="1" i="1">
                        <a:solidFill>
                          <a:schemeClr val="tx1"/>
                        </a:solidFill>
                        <a:latin typeface="Cambria Math"/>
                      </a:rPr>
                      <m:t>𝑹</m:t>
                    </m:r>
                  </m:oMath>
                </a14:m>
                <a:r>
                  <a:rPr lang="en-US" altLang="zh-CN" sz="2800" b="1" dirty="0">
                    <a:solidFill>
                      <a:schemeClr val="tx1"/>
                    </a:solidFill>
                  </a:rPr>
                  <a:t>,</a:t>
                </a:r>
                <a14:m>
                  <m:oMath xmlns:m="http://schemas.openxmlformats.org/officeDocument/2006/math">
                    <m:r>
                      <a:rPr lang="en-US" altLang="zh-CN" sz="2800" b="1" i="1">
                        <a:solidFill>
                          <a:schemeClr val="tx1"/>
                        </a:solidFill>
                        <a:latin typeface="Cambria Math"/>
                      </a:rPr>
                      <m:t> </m:t>
                    </m:r>
                    <m:r>
                      <a:rPr lang="en-US" altLang="zh-CN" sz="2800" b="1" i="1">
                        <a:solidFill>
                          <a:schemeClr val="tx1"/>
                        </a:solidFill>
                        <a:latin typeface="Cambria Math"/>
                      </a:rPr>
                      <m:t>𝒈</m:t>
                    </m:r>
                    <m:r>
                      <a:rPr lang="en-US" altLang="zh-CN" sz="2800" b="1" i="1">
                        <a:solidFill>
                          <a:schemeClr val="tx1"/>
                        </a:solidFill>
                        <a:latin typeface="Cambria Math"/>
                      </a:rPr>
                      <m:t>:</m:t>
                    </m:r>
                    <m:r>
                      <a:rPr lang="en-US" altLang="zh-CN" sz="2800" b="1" i="1">
                        <a:solidFill>
                          <a:schemeClr val="tx1"/>
                        </a:solidFill>
                        <a:latin typeface="Cambria Math"/>
                      </a:rPr>
                      <m:t>𝑹</m:t>
                    </m:r>
                    <m:r>
                      <a:rPr lang="en-US" altLang="zh-CN" sz="2800" b="1" i="1">
                        <a:solidFill>
                          <a:schemeClr val="tx1"/>
                        </a:solidFill>
                        <a:latin typeface="Cambria Math"/>
                      </a:rPr>
                      <m:t>→</m:t>
                    </m:r>
                    <m:r>
                      <a:rPr lang="en-US" altLang="zh-CN" sz="2800" b="1" i="1">
                        <a:solidFill>
                          <a:schemeClr val="tx1"/>
                        </a:solidFill>
                        <a:latin typeface="Cambria Math"/>
                      </a:rPr>
                      <m:t>𝑹</m:t>
                    </m:r>
                  </m:oMath>
                </a14:m>
                <a:r>
                  <a:rPr lang="zh-CN" altLang="zh-CN" sz="2800" b="1" dirty="0">
                    <a:solidFill>
                      <a:schemeClr val="tx1"/>
                    </a:solidFill>
                  </a:rPr>
                  <a:t>，且有：</a:t>
                </a:r>
              </a:p>
              <a:p>
                <a:pPr algn="ctr">
                  <a:lnSpc>
                    <a:spcPct val="150000"/>
                  </a:lnSpc>
                  <a:spcBef>
                    <a:spcPts val="600"/>
                  </a:spcBef>
                </a:pPr>
                <a14:m>
                  <m:oMath xmlns:m="http://schemas.openxmlformats.org/officeDocument/2006/math">
                    <m:r>
                      <a:rPr lang="en-US" altLang="zh-CN" sz="2800" b="1" i="1">
                        <a:solidFill>
                          <a:schemeClr val="tx1"/>
                        </a:solidFill>
                        <a:latin typeface="Cambria Math"/>
                      </a:rPr>
                      <m:t>𝒇</m:t>
                    </m:r>
                    <m:d>
                      <m:dPr>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a:rPr>
                          <m:t>𝒙</m:t>
                        </m:r>
                      </m:e>
                    </m:d>
                    <m:r>
                      <a:rPr lang="en-US" altLang="zh-CN" sz="2800" b="1" i="1">
                        <a:solidFill>
                          <a:schemeClr val="tx1"/>
                        </a:solidFill>
                        <a:latin typeface="Cambria Math"/>
                      </a:rPr>
                      <m:t>=</m:t>
                    </m:r>
                    <m:d>
                      <m:dPr>
                        <m:begChr m:val="{"/>
                        <m:endChr m:val=""/>
                        <m:ctrlPr>
                          <a:rPr lang="zh-CN" altLang="zh-CN" sz="2800" b="1" i="1">
                            <a:solidFill>
                              <a:schemeClr val="tx1"/>
                            </a:solidFill>
                            <a:latin typeface="Cambria Math" panose="02040503050406030204" pitchFamily="18" charset="0"/>
                          </a:rPr>
                        </m:ctrlPr>
                      </m:dPr>
                      <m:e>
                        <m:eqArr>
                          <m:eqArrPr>
                            <m:ctrlPr>
                              <a:rPr lang="zh-CN" altLang="zh-CN" sz="2800" b="1" i="1">
                                <a:solidFill>
                                  <a:schemeClr val="tx1"/>
                                </a:solidFill>
                                <a:latin typeface="Cambria Math" panose="02040503050406030204" pitchFamily="18" charset="0"/>
                              </a:rPr>
                            </m:ctrlPr>
                          </m:eqArrPr>
                          <m:e>
                            <m:sSup>
                              <m:sSupPr>
                                <m:ctrlPr>
                                  <a:rPr lang="zh-CN" altLang="zh-CN" sz="2800" b="1" i="1">
                                    <a:solidFill>
                                      <a:schemeClr val="tx1"/>
                                    </a:solidFill>
                                    <a:latin typeface="Cambria Math" panose="02040503050406030204" pitchFamily="18" charset="0"/>
                                  </a:rPr>
                                </m:ctrlPr>
                              </m:sSupPr>
                              <m:e>
                                <m:r>
                                  <a:rPr lang="en-US" altLang="zh-CN" sz="2800" b="1" i="1">
                                    <a:solidFill>
                                      <a:schemeClr val="tx1"/>
                                    </a:solidFill>
                                    <a:latin typeface="Cambria Math"/>
                                  </a:rPr>
                                  <m:t>𝒙</m:t>
                                </m:r>
                              </m:e>
                              <m:sup>
                                <m:r>
                                  <a:rPr lang="en-US" altLang="zh-CN" sz="2800" b="1" i="1">
                                    <a:solidFill>
                                      <a:schemeClr val="tx1"/>
                                    </a:solidFill>
                                    <a:latin typeface="Cambria Math"/>
                                  </a:rPr>
                                  <m:t>𝟐</m:t>
                                </m:r>
                              </m:sup>
                            </m:sSup>
                            <m:r>
                              <a:rPr lang="en-US" altLang="zh-CN" sz="2800" b="1" i="1">
                                <a:solidFill>
                                  <a:schemeClr val="tx1"/>
                                </a:solidFill>
                                <a:latin typeface="Cambria Math"/>
                              </a:rPr>
                              <m:t>        </m:t>
                            </m:r>
                            <m:r>
                              <a:rPr lang="en-US" altLang="zh-CN" sz="2800" b="1" i="1">
                                <a:solidFill>
                                  <a:schemeClr val="tx1"/>
                                </a:solidFill>
                                <a:latin typeface="Cambria Math"/>
                              </a:rPr>
                              <m:t>𝒙</m:t>
                            </m:r>
                            <m:r>
                              <a:rPr lang="en-US" altLang="zh-CN" sz="2800" b="1" i="1">
                                <a:solidFill>
                                  <a:schemeClr val="tx1"/>
                                </a:solidFill>
                                <a:latin typeface="Cambria Math"/>
                              </a:rPr>
                              <m:t>≥</m:t>
                            </m:r>
                            <m:r>
                              <a:rPr lang="en-US" altLang="zh-CN" sz="2800" b="1" i="1">
                                <a:solidFill>
                                  <a:schemeClr val="tx1"/>
                                </a:solidFill>
                                <a:latin typeface="Cambria Math"/>
                              </a:rPr>
                              <m:t>𝟑</m:t>
                            </m:r>
                          </m:e>
                          <m:e>
                            <m:r>
                              <a:rPr lang="en-US" altLang="zh-CN" sz="2800" b="1" i="1">
                                <a:solidFill>
                                  <a:schemeClr val="tx1"/>
                                </a:solidFill>
                                <a:latin typeface="Cambria Math"/>
                              </a:rPr>
                              <m:t>−</m:t>
                            </m:r>
                            <m:r>
                              <a:rPr lang="en-US" altLang="zh-CN" sz="2800" b="1" i="1">
                                <a:solidFill>
                                  <a:schemeClr val="tx1"/>
                                </a:solidFill>
                                <a:latin typeface="Cambria Math"/>
                              </a:rPr>
                              <m:t>𝟐</m:t>
                            </m:r>
                            <m:r>
                              <a:rPr lang="en-US" altLang="zh-CN" sz="2800" b="1" i="1">
                                <a:solidFill>
                                  <a:schemeClr val="tx1"/>
                                </a:solidFill>
                                <a:latin typeface="Cambria Math"/>
                              </a:rPr>
                              <m:t>      </m:t>
                            </m:r>
                            <m:r>
                              <a:rPr lang="en-US" altLang="zh-CN" sz="2800" b="1" i="1">
                                <a:solidFill>
                                  <a:schemeClr val="tx1"/>
                                </a:solidFill>
                                <a:latin typeface="Cambria Math"/>
                              </a:rPr>
                              <m:t>𝒙</m:t>
                            </m:r>
                            <m:r>
                              <a:rPr lang="en-US" altLang="zh-CN" sz="2800" b="1" i="1">
                                <a:solidFill>
                                  <a:schemeClr val="tx1"/>
                                </a:solidFill>
                                <a:latin typeface="Cambria Math"/>
                              </a:rPr>
                              <m:t>&lt;</m:t>
                            </m:r>
                            <m:r>
                              <a:rPr lang="en-US" altLang="zh-CN" sz="2800" b="1" i="1">
                                <a:solidFill>
                                  <a:schemeClr val="tx1"/>
                                </a:solidFill>
                                <a:latin typeface="Cambria Math"/>
                              </a:rPr>
                              <m:t>𝟑</m:t>
                            </m:r>
                          </m:e>
                        </m:eqArr>
                      </m:e>
                    </m:d>
                  </m:oMath>
                </a14:m>
                <a:r>
                  <a:rPr lang="zh-CN" altLang="zh-CN" sz="2800" b="1" dirty="0">
                    <a:solidFill>
                      <a:schemeClr val="tx1"/>
                    </a:solidFill>
                  </a:rPr>
                  <a:t>；</a:t>
                </a:r>
                <a:r>
                  <a:rPr lang="en-US" altLang="zh-CN" sz="2800" b="1" dirty="0">
                    <a:solidFill>
                      <a:schemeClr val="tx1"/>
                    </a:solidFill>
                  </a:rPr>
                  <a:t>  </a:t>
                </a:r>
                <a14:m>
                  <m:oMath xmlns:m="http://schemas.openxmlformats.org/officeDocument/2006/math">
                    <m:r>
                      <a:rPr lang="en-US" altLang="zh-CN" sz="2800" b="1" i="1">
                        <a:solidFill>
                          <a:schemeClr val="tx1"/>
                        </a:solidFill>
                        <a:latin typeface="Cambria Math"/>
                      </a:rPr>
                      <m:t>𝒈</m:t>
                    </m:r>
                    <m:d>
                      <m:dPr>
                        <m:ctrlPr>
                          <a:rPr lang="zh-CN" altLang="zh-CN" sz="2800" b="1" i="1">
                            <a:solidFill>
                              <a:schemeClr val="tx1"/>
                            </a:solidFill>
                            <a:latin typeface="Cambria Math" panose="02040503050406030204" pitchFamily="18" charset="0"/>
                          </a:rPr>
                        </m:ctrlPr>
                      </m:dPr>
                      <m:e>
                        <m:r>
                          <a:rPr lang="en-US" altLang="zh-CN" sz="2800" b="1" i="1">
                            <a:solidFill>
                              <a:schemeClr val="tx1"/>
                            </a:solidFill>
                            <a:latin typeface="Cambria Math"/>
                          </a:rPr>
                          <m:t>𝒙</m:t>
                        </m:r>
                      </m:e>
                    </m:d>
                    <m:r>
                      <a:rPr lang="en-US" altLang="zh-CN" sz="2800" b="1" i="1">
                        <a:solidFill>
                          <a:schemeClr val="tx1"/>
                        </a:solidFill>
                        <a:latin typeface="Cambria Math"/>
                      </a:rPr>
                      <m:t>=</m:t>
                    </m:r>
                    <m:r>
                      <a:rPr lang="en-US" altLang="zh-CN" sz="2800" b="1" i="1">
                        <a:solidFill>
                          <a:schemeClr val="tx1"/>
                        </a:solidFill>
                        <a:latin typeface="Cambria Math"/>
                      </a:rPr>
                      <m:t>𝒙</m:t>
                    </m:r>
                    <m:r>
                      <a:rPr lang="en-US" altLang="zh-CN" sz="2800" b="1" i="1">
                        <a:solidFill>
                          <a:schemeClr val="tx1"/>
                        </a:solidFill>
                        <a:latin typeface="Cambria Math"/>
                      </a:rPr>
                      <m:t>+</m:t>
                    </m:r>
                    <m:r>
                      <a:rPr lang="en-US" altLang="zh-CN" sz="2800" b="1" i="1">
                        <a:solidFill>
                          <a:schemeClr val="tx1"/>
                        </a:solidFill>
                        <a:latin typeface="Cambria Math"/>
                      </a:rPr>
                      <m:t>𝟐</m:t>
                    </m:r>
                  </m:oMath>
                </a14:m>
                <a:endParaRPr lang="zh-CN" altLang="zh-CN" sz="2800" b="1" dirty="0">
                  <a:solidFill>
                    <a:schemeClr val="tx1"/>
                  </a:solidFill>
                </a:endParaRPr>
              </a:p>
              <a:p>
                <a:pPr>
                  <a:lnSpc>
                    <a:spcPct val="150000"/>
                  </a:lnSpc>
                  <a:spcBef>
                    <a:spcPts val="1800"/>
                  </a:spcBef>
                </a:pPr>
                <a:r>
                  <a:rPr lang="en-US" altLang="zh-CN" sz="2800" b="1" dirty="0">
                    <a:solidFill>
                      <a:schemeClr val="tx1"/>
                    </a:solidFill>
                  </a:rPr>
                  <a:t>    </a:t>
                </a:r>
                <a:r>
                  <a:rPr lang="zh-CN" altLang="zh-CN" sz="2800" b="1" dirty="0">
                    <a:solidFill>
                      <a:schemeClr val="tx1"/>
                    </a:solidFill>
                  </a:rPr>
                  <a:t>试求</a:t>
                </a:r>
                <a14:m>
                  <m:oMath xmlns:m="http://schemas.openxmlformats.org/officeDocument/2006/math">
                    <m:r>
                      <a:rPr lang="en-US" altLang="zh-CN" sz="2800" b="1" i="1" smtClean="0">
                        <a:solidFill>
                          <a:srgbClr val="FF0000"/>
                        </a:solidFill>
                        <a:latin typeface="Cambria Math"/>
                      </a:rPr>
                      <m:t>𝒇</m:t>
                    </m:r>
                    <m:r>
                      <a:rPr lang="en-US" altLang="zh-CN" sz="2800" b="1" i="1" smtClean="0">
                        <a:solidFill>
                          <a:srgbClr val="FF0000"/>
                        </a:solidFill>
                        <a:latin typeface="Cambria Math"/>
                      </a:rPr>
                      <m:t>∘</m:t>
                    </m:r>
                    <m:r>
                      <a:rPr lang="en-US" altLang="zh-CN" sz="2800" b="1" i="1" smtClean="0">
                        <a:solidFill>
                          <a:srgbClr val="FF0000"/>
                        </a:solidFill>
                        <a:latin typeface="Cambria Math"/>
                      </a:rPr>
                      <m:t>𝒈</m:t>
                    </m:r>
                    <m:r>
                      <a:rPr lang="zh-CN" altLang="zh-CN" sz="2800" b="1">
                        <a:solidFill>
                          <a:schemeClr val="tx1"/>
                        </a:solidFill>
                        <a:latin typeface="Cambria Math"/>
                      </a:rPr>
                      <m:t>和</m:t>
                    </m:r>
                    <m:r>
                      <a:rPr lang="en-US" altLang="zh-CN" sz="2800" b="1" i="1" smtClean="0">
                        <a:solidFill>
                          <a:srgbClr val="FF0000"/>
                        </a:solidFill>
                        <a:latin typeface="Cambria Math"/>
                      </a:rPr>
                      <m:t>𝒈</m:t>
                    </m:r>
                    <m:r>
                      <a:rPr lang="en-US" altLang="zh-CN" sz="2800" b="1" i="1" smtClean="0">
                        <a:solidFill>
                          <a:srgbClr val="FF0000"/>
                        </a:solidFill>
                        <a:latin typeface="Cambria Math"/>
                      </a:rPr>
                      <m:t>∘</m:t>
                    </m:r>
                    <m:r>
                      <a:rPr lang="en-US" altLang="zh-CN" sz="2800" b="1" i="1" smtClean="0">
                        <a:solidFill>
                          <a:srgbClr val="FF0000"/>
                        </a:solidFill>
                        <a:latin typeface="Cambria Math"/>
                      </a:rPr>
                      <m:t>𝒇</m:t>
                    </m:r>
                  </m:oMath>
                </a14:m>
                <a:r>
                  <a:rPr lang="zh-CN" altLang="zh-CN" sz="2800" b="1" dirty="0">
                    <a:solidFill>
                      <a:schemeClr val="tx1"/>
                    </a:solidFill>
                  </a:rPr>
                  <a:t>，若</a:t>
                </a:r>
                <a14:m>
                  <m:oMath xmlns:m="http://schemas.openxmlformats.org/officeDocument/2006/math">
                    <m:r>
                      <a:rPr lang="en-US" altLang="zh-CN" sz="2800" b="1" i="1" smtClean="0">
                        <a:solidFill>
                          <a:srgbClr val="FF0000"/>
                        </a:solidFill>
                        <a:latin typeface="Cambria Math"/>
                      </a:rPr>
                      <m:t>𝒇</m:t>
                    </m:r>
                    <m:r>
                      <a:rPr lang="zh-CN" altLang="zh-CN" sz="2800" b="1">
                        <a:solidFill>
                          <a:srgbClr val="FF0000"/>
                        </a:solidFill>
                        <a:latin typeface="Cambria Math"/>
                      </a:rPr>
                      <m:t>和</m:t>
                    </m:r>
                    <m:r>
                      <a:rPr lang="en-US" altLang="zh-CN" sz="2800" b="1" i="1">
                        <a:solidFill>
                          <a:srgbClr val="FF0000"/>
                        </a:solidFill>
                        <a:latin typeface="Cambria Math"/>
                      </a:rPr>
                      <m:t>𝒈</m:t>
                    </m:r>
                  </m:oMath>
                </a14:m>
                <a:r>
                  <a:rPr lang="zh-CN" altLang="zh-CN" sz="2800" b="1" dirty="0">
                    <a:solidFill>
                      <a:srgbClr val="FF0000"/>
                    </a:solidFill>
                  </a:rPr>
                  <a:t>存在反函数</a:t>
                </a:r>
                <a:r>
                  <a:rPr lang="zh-CN" altLang="zh-CN" sz="2800" b="1" dirty="0">
                    <a:solidFill>
                      <a:schemeClr val="tx1"/>
                    </a:solidFill>
                  </a:rPr>
                  <a:t>，则求出其反函数，若不存在反函数，则说明原因。</a:t>
                </a:r>
                <a:endParaRPr lang="zh-CN" altLang="en-US" sz="2800" b="1" dirty="0">
                  <a:solidFill>
                    <a:schemeClr val="tx1"/>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200356" y="2224073"/>
                <a:ext cx="8640960" cy="3679854"/>
              </a:xfrm>
              <a:prstGeom prst="rect">
                <a:avLst/>
              </a:prstGeom>
              <a:blipFill>
                <a:blip r:embed="rId3"/>
                <a:stretch>
                  <a:fillRect l="-1482" r="-635" b="-3814"/>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1A248DE7-19A3-446A-B88C-F90CB03DDDF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240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2404"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10240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TextBox 2"/>
              <p:cNvSpPr txBox="1"/>
              <p:nvPr/>
            </p:nvSpPr>
            <p:spPr>
              <a:xfrm>
                <a:off x="305780" y="1977174"/>
                <a:ext cx="8532440" cy="4003788"/>
              </a:xfrm>
              <a:prstGeom prst="rect">
                <a:avLst/>
              </a:prstGeom>
              <a:solidFill>
                <a:schemeClr val="accent3">
                  <a:lumMod val="95000"/>
                </a:schemeClr>
              </a:solidFill>
            </p:spPr>
            <p:txBody>
              <a:bodyPr wrap="square" rtlCol="0">
                <a:spAutoFit/>
              </a:bodyPr>
              <a:lstStyle/>
              <a:p>
                <a:pPr>
                  <a:lnSpc>
                    <a:spcPct val="110000"/>
                  </a:lnSpc>
                  <a:spcBef>
                    <a:spcPts val="600"/>
                  </a:spcBef>
                </a:pPr>
                <a:r>
                  <a:rPr lang="zh-CN" altLang="zh-CN" sz="2400" b="1" dirty="0"/>
                  <a:t>【解】</a:t>
                </a:r>
                <a:r>
                  <a:rPr lang="zh-CN" altLang="zh-CN" sz="2400" b="1" dirty="0">
                    <a:solidFill>
                      <a:schemeClr val="tx1"/>
                    </a:solidFill>
                  </a:rPr>
                  <a:t>根据题意及复合函数的定义，可得：</a:t>
                </a:r>
              </a:p>
              <a:p>
                <a:pPr>
                  <a:lnSpc>
                    <a:spcPct val="110000"/>
                  </a:lnSpc>
                  <a:spcBef>
                    <a:spcPts val="600"/>
                  </a:spcBef>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a:rPr>
                        <m:t>𝒇</m:t>
                      </m:r>
                      <m:r>
                        <a:rPr lang="en-US" altLang="zh-CN" sz="2400" b="1" i="1">
                          <a:solidFill>
                            <a:schemeClr val="tx1"/>
                          </a:solidFill>
                          <a:latin typeface="Cambria Math"/>
                        </a:rPr>
                        <m:t>∘</m:t>
                      </m:r>
                      <m:r>
                        <a:rPr lang="en-US" altLang="zh-CN" sz="2400" b="1" i="1">
                          <a:solidFill>
                            <a:schemeClr val="tx1"/>
                          </a:solidFill>
                          <a:latin typeface="Cambria Math"/>
                        </a:rPr>
                        <m:t>𝒈</m:t>
                      </m:r>
                      <m:r>
                        <a:rPr lang="zh-CN" altLang="zh-CN" sz="2400" b="1">
                          <a:solidFill>
                            <a:schemeClr val="tx1"/>
                          </a:solidFill>
                          <a:latin typeface="Cambria Math"/>
                        </a:rPr>
                        <m:t>：</m:t>
                      </m:r>
                      <m:r>
                        <a:rPr lang="en-US" altLang="zh-CN" sz="2400" b="1" i="1">
                          <a:solidFill>
                            <a:schemeClr val="tx1"/>
                          </a:solidFill>
                          <a:latin typeface="Cambria Math"/>
                        </a:rPr>
                        <m:t>𝑹</m:t>
                      </m:r>
                      <m:r>
                        <a:rPr lang="en-US" altLang="zh-CN" sz="2400" b="1" i="1">
                          <a:solidFill>
                            <a:schemeClr val="tx1"/>
                          </a:solidFill>
                          <a:latin typeface="Cambria Math"/>
                        </a:rPr>
                        <m:t>→</m:t>
                      </m:r>
                      <m:r>
                        <a:rPr lang="en-US" altLang="zh-CN" sz="2400" b="1" i="1">
                          <a:solidFill>
                            <a:schemeClr val="tx1"/>
                          </a:solidFill>
                          <a:latin typeface="Cambria Math"/>
                        </a:rPr>
                        <m:t>𝑹</m:t>
                      </m:r>
                      <m:r>
                        <a:rPr lang="en-US" altLang="zh-CN" sz="2400" b="1" i="1">
                          <a:solidFill>
                            <a:schemeClr val="tx1"/>
                          </a:solidFill>
                          <a:latin typeface="Cambria Math"/>
                        </a:rPr>
                        <m:t> </m:t>
                      </m:r>
                      <m:r>
                        <a:rPr lang="zh-CN" altLang="zh-CN" sz="2400" b="1">
                          <a:solidFill>
                            <a:schemeClr val="tx1"/>
                          </a:solidFill>
                          <a:latin typeface="Cambria Math"/>
                        </a:rPr>
                        <m:t>；</m:t>
                      </m:r>
                      <m:r>
                        <a:rPr lang="en-US" altLang="zh-CN" sz="2400" b="1" i="1">
                          <a:solidFill>
                            <a:schemeClr val="tx1"/>
                          </a:solidFill>
                          <a:latin typeface="Cambria Math"/>
                        </a:rPr>
                        <m:t>𝒇</m:t>
                      </m:r>
                      <m:r>
                        <a:rPr lang="en-US" altLang="zh-CN" sz="2400" b="1" i="1">
                          <a:solidFill>
                            <a:schemeClr val="tx1"/>
                          </a:solidFill>
                          <a:latin typeface="Cambria Math"/>
                        </a:rPr>
                        <m:t>∘</m:t>
                      </m:r>
                      <m:r>
                        <a:rPr lang="en-US" altLang="zh-CN" sz="2400" b="1" i="1">
                          <a:solidFill>
                            <a:schemeClr val="tx1"/>
                          </a:solidFill>
                          <a:latin typeface="Cambria Math"/>
                        </a:rPr>
                        <m:t>𝒈</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eqArr>
                            <m:eqArrPr>
                              <m:ctrlPr>
                                <a:rPr lang="zh-CN" altLang="zh-CN" sz="2400" b="1" i="1">
                                  <a:solidFill>
                                    <a:schemeClr val="tx1"/>
                                  </a:solidFill>
                                  <a:latin typeface="Cambria Math" panose="02040503050406030204" pitchFamily="18" charset="0"/>
                                </a:rPr>
                              </m:ctrlPr>
                            </m:eqArrPr>
                            <m:e>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𝒙</m:t>
                                  </m:r>
                                </m:e>
                                <m:sup>
                                  <m:r>
                                    <a:rPr lang="en-US" altLang="zh-CN" sz="2400" b="1" i="1">
                                      <a:solidFill>
                                        <a:schemeClr val="tx1"/>
                                      </a:solidFill>
                                      <a:latin typeface="Cambria Math"/>
                                    </a:rPr>
                                    <m:t>𝟐</m:t>
                                  </m:r>
                                </m:sup>
                              </m:sSup>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     </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𝟑</m:t>
                              </m:r>
                            </m:e>
                            <m:e>
                              <m:r>
                                <a:rPr lang="en-US" altLang="zh-CN" sz="2400" b="1" i="1">
                                  <a:solidFill>
                                    <a:schemeClr val="tx1"/>
                                  </a:solidFill>
                                  <a:latin typeface="Cambria Math"/>
                                </a:rPr>
                                <m:t>𝟎</m:t>
                              </m:r>
                              <m:r>
                                <a:rPr lang="en-US" altLang="zh-CN" sz="2400" b="1" i="1">
                                  <a:solidFill>
                                    <a:schemeClr val="tx1"/>
                                  </a:solidFill>
                                  <a:latin typeface="Cambria Math"/>
                                </a:rPr>
                                <m:t>               </m:t>
                              </m:r>
                              <m:r>
                                <a:rPr lang="en-US" altLang="zh-CN" sz="2400" b="1" i="1">
                                  <a:solidFill>
                                    <a:schemeClr val="tx1"/>
                                  </a:solidFill>
                                  <a:latin typeface="Cambria Math"/>
                                </a:rPr>
                                <m:t>𝒙</m:t>
                              </m:r>
                              <m:r>
                                <a:rPr lang="en-US" altLang="zh-CN" sz="2400" b="1" i="1">
                                  <a:solidFill>
                                    <a:schemeClr val="tx1"/>
                                  </a:solidFill>
                                  <a:latin typeface="Cambria Math"/>
                                </a:rPr>
                                <m:t>&lt;</m:t>
                              </m:r>
                              <m:r>
                                <a:rPr lang="en-US" altLang="zh-CN" sz="2400" b="1" i="1">
                                  <a:solidFill>
                                    <a:schemeClr val="tx1"/>
                                  </a:solidFill>
                                  <a:latin typeface="Cambria Math"/>
                                </a:rPr>
                                <m:t>𝟑</m:t>
                              </m:r>
                            </m:e>
                          </m:eqArr>
                        </m:e>
                      </m:d>
                    </m:oMath>
                  </m:oMathPara>
                </a14:m>
                <a:endParaRPr lang="zh-CN" altLang="zh-CN" sz="2400" b="1" dirty="0">
                  <a:solidFill>
                    <a:schemeClr val="tx1"/>
                  </a:solidFill>
                </a:endParaRPr>
              </a:p>
              <a:p>
                <a:pPr>
                  <a:lnSpc>
                    <a:spcPct val="110000"/>
                  </a:lnSpc>
                  <a:spcBef>
                    <a:spcPts val="600"/>
                  </a:spcBef>
                </a:pPr>
                <a14:m>
                  <m:oMathPara xmlns:m="http://schemas.openxmlformats.org/officeDocument/2006/math">
                    <m:oMathParaPr>
                      <m:jc m:val="centerGroup"/>
                    </m:oMathParaPr>
                    <m:oMath xmlns:m="http://schemas.openxmlformats.org/officeDocument/2006/math">
                      <m:r>
                        <a:rPr lang="en-US" altLang="zh-CN" sz="2400" b="1" i="1">
                          <a:solidFill>
                            <a:schemeClr val="tx1"/>
                          </a:solidFill>
                          <a:latin typeface="Cambria Math"/>
                        </a:rPr>
                        <m:t>𝒈</m:t>
                      </m:r>
                      <m:r>
                        <a:rPr lang="en-US" altLang="zh-CN" sz="2400" b="1" i="1">
                          <a:solidFill>
                            <a:schemeClr val="tx1"/>
                          </a:solidFill>
                          <a:latin typeface="Cambria Math"/>
                        </a:rPr>
                        <m:t>∘</m:t>
                      </m:r>
                      <m:r>
                        <a:rPr lang="en-US" altLang="zh-CN" sz="2400" b="1" i="1">
                          <a:solidFill>
                            <a:schemeClr val="tx1"/>
                          </a:solidFill>
                          <a:latin typeface="Cambria Math"/>
                        </a:rPr>
                        <m:t>𝒇</m:t>
                      </m:r>
                      <m:r>
                        <a:rPr lang="zh-CN" altLang="zh-CN" sz="2400" b="1">
                          <a:solidFill>
                            <a:schemeClr val="tx1"/>
                          </a:solidFill>
                          <a:latin typeface="Cambria Math"/>
                        </a:rPr>
                        <m:t>：</m:t>
                      </m:r>
                      <m:r>
                        <a:rPr lang="en-US" altLang="zh-CN" sz="2400" b="1" i="1">
                          <a:solidFill>
                            <a:schemeClr val="tx1"/>
                          </a:solidFill>
                          <a:latin typeface="Cambria Math"/>
                        </a:rPr>
                        <m:t>𝑹</m:t>
                      </m:r>
                      <m:r>
                        <a:rPr lang="en-US" altLang="zh-CN" sz="2400" b="1" i="1">
                          <a:solidFill>
                            <a:schemeClr val="tx1"/>
                          </a:solidFill>
                          <a:latin typeface="Cambria Math"/>
                        </a:rPr>
                        <m:t>→</m:t>
                      </m:r>
                      <m:r>
                        <a:rPr lang="en-US" altLang="zh-CN" sz="2400" b="1" i="1">
                          <a:solidFill>
                            <a:schemeClr val="tx1"/>
                          </a:solidFill>
                          <a:latin typeface="Cambria Math"/>
                        </a:rPr>
                        <m:t>𝑹</m:t>
                      </m:r>
                      <m:r>
                        <a:rPr lang="zh-CN" altLang="zh-CN" sz="2400" b="1">
                          <a:solidFill>
                            <a:schemeClr val="tx1"/>
                          </a:solidFill>
                          <a:latin typeface="Cambria Math"/>
                        </a:rPr>
                        <m:t>；</m:t>
                      </m:r>
                      <m:r>
                        <a:rPr lang="en-US" altLang="zh-CN" sz="2400" b="1" i="1">
                          <a:solidFill>
                            <a:schemeClr val="tx1"/>
                          </a:solidFill>
                          <a:latin typeface="Cambria Math"/>
                        </a:rPr>
                        <m:t>𝒈</m:t>
                      </m:r>
                      <m:r>
                        <a:rPr lang="en-US" altLang="zh-CN" sz="2400" b="1" i="1">
                          <a:solidFill>
                            <a:schemeClr val="tx1"/>
                          </a:solidFill>
                          <a:latin typeface="Cambria Math"/>
                        </a:rPr>
                        <m:t>∘</m:t>
                      </m:r>
                      <m:r>
                        <a:rPr lang="en-US" altLang="zh-CN" sz="2400" b="1" i="1">
                          <a:solidFill>
                            <a:schemeClr val="tx1"/>
                          </a:solidFill>
                          <a:latin typeface="Cambria Math"/>
                        </a:rPr>
                        <m:t>𝒇</m:t>
                      </m:r>
                      <m:d>
                        <m:dPr>
                          <m:ctrlPr>
                            <a:rPr lang="zh-CN" altLang="zh-CN" sz="2400" b="1" i="1">
                              <a:solidFill>
                                <a:schemeClr val="tx1"/>
                              </a:solidFill>
                              <a:latin typeface="Cambria Math" panose="02040503050406030204" pitchFamily="18" charset="0"/>
                            </a:rPr>
                          </m:ctrlPr>
                        </m:dPr>
                        <m:e>
                          <m:r>
                            <a:rPr lang="en-US" altLang="zh-CN" sz="2400" b="1" i="1">
                              <a:solidFill>
                                <a:schemeClr val="tx1"/>
                              </a:solidFill>
                              <a:latin typeface="Cambria Math"/>
                            </a:rPr>
                            <m:t>𝒙</m:t>
                          </m:r>
                        </m:e>
                      </m:d>
                      <m:r>
                        <a:rPr lang="en-US" altLang="zh-CN" sz="2400" b="1" i="1">
                          <a:solidFill>
                            <a:schemeClr val="tx1"/>
                          </a:solidFill>
                          <a:latin typeface="Cambria Math"/>
                        </a:rPr>
                        <m:t>=</m:t>
                      </m:r>
                      <m:d>
                        <m:dPr>
                          <m:begChr m:val="{"/>
                          <m:endChr m:val=""/>
                          <m:ctrlPr>
                            <a:rPr lang="zh-CN" altLang="zh-CN" sz="2400" b="1" i="1">
                              <a:solidFill>
                                <a:schemeClr val="tx1"/>
                              </a:solidFill>
                              <a:latin typeface="Cambria Math" panose="02040503050406030204" pitchFamily="18" charset="0"/>
                            </a:rPr>
                          </m:ctrlPr>
                        </m:dPr>
                        <m:e>
                          <m:eqArr>
                            <m:eqArrPr>
                              <m:ctrlPr>
                                <a:rPr lang="zh-CN" altLang="zh-CN" sz="2400" b="1" i="1">
                                  <a:solidFill>
                                    <a:schemeClr val="tx1"/>
                                  </a:solidFill>
                                  <a:latin typeface="Cambria Math" panose="02040503050406030204" pitchFamily="18" charset="0"/>
                                </a:rPr>
                              </m:ctrlPr>
                            </m:eqArrPr>
                            <m:e>
                              <m:sSup>
                                <m:sSupPr>
                                  <m:ctrlPr>
                                    <a:rPr lang="zh-CN" altLang="zh-CN" sz="2400" b="1" i="1">
                                      <a:solidFill>
                                        <a:schemeClr val="tx1"/>
                                      </a:solidFill>
                                      <a:latin typeface="Cambria Math" panose="02040503050406030204" pitchFamily="18" charset="0"/>
                                    </a:rPr>
                                  </m:ctrlPr>
                                </m:sSupPr>
                                <m:e>
                                  <m:r>
                                    <a:rPr lang="en-US" altLang="zh-CN" sz="2400" b="1" i="1">
                                      <a:solidFill>
                                        <a:schemeClr val="tx1"/>
                                      </a:solidFill>
                                      <a:latin typeface="Cambria Math"/>
                                    </a:rPr>
                                    <m:t>(</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m:t>
                                  </m:r>
                                </m:e>
                                <m:sup>
                                  <m:r>
                                    <a:rPr lang="en-US" altLang="zh-CN" sz="2400" b="1" i="1">
                                      <a:solidFill>
                                        <a:schemeClr val="tx1"/>
                                      </a:solidFill>
                                      <a:latin typeface="Cambria Math"/>
                                    </a:rPr>
                                    <m:t>𝟐</m:t>
                                  </m:r>
                                </m:sup>
                              </m:sSup>
                              <m:r>
                                <a:rPr lang="en-US" altLang="zh-CN" sz="2400" b="1" i="1">
                                  <a:solidFill>
                                    <a:schemeClr val="tx1"/>
                                  </a:solidFill>
                                  <a:latin typeface="Cambria Math"/>
                                </a:rPr>
                                <m:t>   </m:t>
                              </m:r>
                              <m:r>
                                <a:rPr lang="en-US" altLang="zh-CN" sz="2400" b="1" i="1">
                                  <a:solidFill>
                                    <a:schemeClr val="tx1"/>
                                  </a:solidFill>
                                  <a:latin typeface="Cambria Math"/>
                                </a:rPr>
                                <m:t>𝒙</m:t>
                              </m:r>
                              <m:r>
                                <a:rPr lang="en-US" altLang="zh-CN" sz="2400" b="1" i="1">
                                  <a:solidFill>
                                    <a:schemeClr val="tx1"/>
                                  </a:solidFill>
                                  <a:latin typeface="Cambria Math"/>
                                </a:rPr>
                                <m:t>≥</m:t>
                              </m:r>
                              <m:r>
                                <a:rPr lang="en-US" altLang="zh-CN" sz="2400" b="1" i="1">
                                  <a:solidFill>
                                    <a:schemeClr val="tx1"/>
                                  </a:solidFill>
                                  <a:latin typeface="Cambria Math"/>
                                </a:rPr>
                                <m:t>𝟏</m:t>
                              </m:r>
                            </m:e>
                            <m:e>
                              <m:r>
                                <a:rPr lang="en-US" altLang="zh-CN" sz="2400" b="1" i="1">
                                  <a:solidFill>
                                    <a:schemeClr val="tx1"/>
                                  </a:solidFill>
                                  <a:latin typeface="Cambria Math"/>
                                </a:rPr>
                                <m:t>−</m:t>
                              </m:r>
                              <m:r>
                                <a:rPr lang="en-US" altLang="zh-CN" sz="2400" b="1" i="1">
                                  <a:solidFill>
                                    <a:schemeClr val="tx1"/>
                                  </a:solidFill>
                                  <a:latin typeface="Cambria Math"/>
                                </a:rPr>
                                <m:t>𝟐</m:t>
                              </m:r>
                              <m:r>
                                <a:rPr lang="en-US" altLang="zh-CN" sz="2400" b="1" i="1">
                                  <a:solidFill>
                                    <a:schemeClr val="tx1"/>
                                  </a:solidFill>
                                  <a:latin typeface="Cambria Math"/>
                                </a:rPr>
                                <m:t>             </m:t>
                              </m:r>
                              <m:r>
                                <a:rPr lang="en-US" altLang="zh-CN" sz="2400" b="1" i="1">
                                  <a:solidFill>
                                    <a:schemeClr val="tx1"/>
                                  </a:solidFill>
                                  <a:latin typeface="Cambria Math"/>
                                </a:rPr>
                                <m:t>𝒙</m:t>
                              </m:r>
                              <m:r>
                                <a:rPr lang="en-US" altLang="zh-CN" sz="2400" b="1" i="1">
                                  <a:solidFill>
                                    <a:schemeClr val="tx1"/>
                                  </a:solidFill>
                                  <a:latin typeface="Cambria Math"/>
                                </a:rPr>
                                <m:t>&lt;</m:t>
                              </m:r>
                              <m:r>
                                <a:rPr lang="en-US" altLang="zh-CN" sz="2400" b="1" i="1">
                                  <a:solidFill>
                                    <a:schemeClr val="tx1"/>
                                  </a:solidFill>
                                  <a:latin typeface="Cambria Math"/>
                                </a:rPr>
                                <m:t>𝟏</m:t>
                              </m:r>
                            </m:e>
                          </m:eqArr>
                        </m:e>
                      </m:d>
                    </m:oMath>
                  </m:oMathPara>
                </a14:m>
                <a:endParaRPr lang="zh-CN" altLang="zh-CN" sz="2400" b="1" dirty="0">
                  <a:solidFill>
                    <a:schemeClr val="tx1"/>
                  </a:solidFill>
                </a:endParaRPr>
              </a:p>
              <a:p>
                <a:pPr>
                  <a:lnSpc>
                    <a:spcPts val="3600"/>
                  </a:lnSpc>
                  <a:spcBef>
                    <a:spcPts val="1200"/>
                  </a:spcBef>
                </a:pPr>
                <a14:m>
                  <m:oMath xmlns:m="http://schemas.openxmlformats.org/officeDocument/2006/math">
                    <m:r>
                      <a:rPr lang="en-US" altLang="zh-CN" sz="2400" b="1" i="1" smtClean="0">
                        <a:solidFill>
                          <a:srgbClr val="0000FF"/>
                        </a:solidFill>
                        <a:latin typeface="Cambria Math"/>
                      </a:rPr>
                      <m:t>𝒇</m:t>
                    </m:r>
                    <m:r>
                      <a:rPr lang="en-US" altLang="zh-CN" sz="2400" b="1" i="1" smtClean="0">
                        <a:solidFill>
                          <a:srgbClr val="0000FF"/>
                        </a:solidFill>
                        <a:latin typeface="Cambria Math"/>
                      </a:rPr>
                      <m:t>:</m:t>
                    </m:r>
                    <m:r>
                      <a:rPr lang="en-US" altLang="zh-CN" sz="2400" b="1" i="1" smtClean="0">
                        <a:solidFill>
                          <a:srgbClr val="0000FF"/>
                        </a:solidFill>
                        <a:latin typeface="Cambria Math"/>
                      </a:rPr>
                      <m:t>𝑹</m:t>
                    </m:r>
                    <m:r>
                      <a:rPr lang="en-US" altLang="zh-CN" sz="2400" b="1" i="1" smtClean="0">
                        <a:solidFill>
                          <a:srgbClr val="0000FF"/>
                        </a:solidFill>
                        <a:latin typeface="Cambria Math"/>
                      </a:rPr>
                      <m:t>→</m:t>
                    </m:r>
                    <m:r>
                      <a:rPr lang="en-US" altLang="zh-CN" sz="2400" b="1" i="1" smtClean="0">
                        <a:solidFill>
                          <a:srgbClr val="0000FF"/>
                        </a:solidFill>
                        <a:latin typeface="Cambria Math"/>
                      </a:rPr>
                      <m:t>𝑹</m:t>
                    </m:r>
                  </m:oMath>
                </a14:m>
                <a:r>
                  <a:rPr lang="zh-CN" altLang="zh-CN" sz="2400" b="1" dirty="0">
                    <a:solidFill>
                      <a:srgbClr val="0000FF"/>
                    </a:solidFill>
                  </a:rPr>
                  <a:t>不是双射的，故不存在反函数；</a:t>
                </a:r>
              </a:p>
              <a:p>
                <a:pPr>
                  <a:lnSpc>
                    <a:spcPts val="3600"/>
                  </a:lnSpc>
                  <a:spcBef>
                    <a:spcPts val="1200"/>
                  </a:spcBef>
                </a:pPr>
                <a14:m>
                  <m:oMath xmlns:m="http://schemas.openxmlformats.org/officeDocument/2006/math">
                    <m:r>
                      <a:rPr lang="en-US" altLang="zh-CN" sz="2400" b="1" i="1" smtClean="0">
                        <a:solidFill>
                          <a:schemeClr val="accent2"/>
                        </a:solidFill>
                        <a:latin typeface="Cambria Math"/>
                      </a:rPr>
                      <m:t>𝒈</m:t>
                    </m:r>
                    <m:r>
                      <a:rPr lang="en-US" altLang="zh-CN" sz="2400" b="1" i="1" smtClean="0">
                        <a:solidFill>
                          <a:schemeClr val="accent2"/>
                        </a:solidFill>
                        <a:latin typeface="Cambria Math"/>
                      </a:rPr>
                      <m:t>:</m:t>
                    </m:r>
                    <m:r>
                      <a:rPr lang="en-US" altLang="zh-CN" sz="2400" b="1" i="1" smtClean="0">
                        <a:solidFill>
                          <a:schemeClr val="accent2"/>
                        </a:solidFill>
                        <a:latin typeface="Cambria Math"/>
                      </a:rPr>
                      <m:t>𝑹</m:t>
                    </m:r>
                    <m:r>
                      <a:rPr lang="en-US" altLang="zh-CN" sz="2400" b="1" i="1" smtClean="0">
                        <a:solidFill>
                          <a:schemeClr val="accent2"/>
                        </a:solidFill>
                        <a:latin typeface="Cambria Math"/>
                      </a:rPr>
                      <m:t>→</m:t>
                    </m:r>
                    <m:r>
                      <a:rPr lang="en-US" altLang="zh-CN" sz="2400" b="1" i="1" smtClean="0">
                        <a:solidFill>
                          <a:schemeClr val="accent2"/>
                        </a:solidFill>
                        <a:latin typeface="Cambria Math"/>
                      </a:rPr>
                      <m:t>𝑹</m:t>
                    </m:r>
                  </m:oMath>
                </a14:m>
                <a:r>
                  <a:rPr lang="zh-CN" altLang="zh-CN" sz="2400" b="1" dirty="0">
                    <a:solidFill>
                      <a:schemeClr val="accent2"/>
                    </a:solidFill>
                  </a:rPr>
                  <a:t>是双射</a:t>
                </a:r>
                <a:r>
                  <a:rPr lang="zh-CN" altLang="en-US" sz="2400" b="1" dirty="0">
                    <a:solidFill>
                      <a:schemeClr val="accent2"/>
                    </a:solidFill>
                  </a:rPr>
                  <a:t>，</a:t>
                </a:r>
                <a:r>
                  <a:rPr lang="zh-CN" altLang="zh-CN" sz="2400" b="1" dirty="0">
                    <a:solidFill>
                      <a:schemeClr val="accent2"/>
                    </a:solidFill>
                  </a:rPr>
                  <a:t>故存在反函数，且有：</a:t>
                </a:r>
                <a:endParaRPr lang="en-US" altLang="zh-CN" sz="2400" b="1" dirty="0">
                  <a:solidFill>
                    <a:schemeClr val="accent2"/>
                  </a:solidFill>
                </a:endParaRPr>
              </a:p>
              <a:p>
                <a:pPr>
                  <a:lnSpc>
                    <a:spcPts val="3600"/>
                  </a:lnSpc>
                  <a:spcBef>
                    <a:spcPts val="600"/>
                  </a:spcBef>
                </a:pPr>
                <a14:m>
                  <m:oMathPara xmlns:m="http://schemas.openxmlformats.org/officeDocument/2006/math">
                    <m:oMathParaPr>
                      <m:jc m:val="centerGroup"/>
                    </m:oMathParaPr>
                    <m:oMath xmlns:m="http://schemas.openxmlformats.org/officeDocument/2006/math">
                      <m:sSup>
                        <m:sSupPr>
                          <m:ctrlPr>
                            <a:rPr lang="zh-CN" altLang="zh-CN" sz="2400" b="1" i="1">
                              <a:solidFill>
                                <a:schemeClr val="accent2"/>
                              </a:solidFill>
                              <a:latin typeface="Cambria Math" panose="02040503050406030204" pitchFamily="18" charset="0"/>
                            </a:rPr>
                          </m:ctrlPr>
                        </m:sSupPr>
                        <m:e>
                          <m:r>
                            <a:rPr lang="en-US" altLang="zh-CN" sz="2400" b="1" i="1">
                              <a:solidFill>
                                <a:schemeClr val="accent2"/>
                              </a:solidFill>
                              <a:latin typeface="Cambria Math"/>
                            </a:rPr>
                            <m:t>𝒈</m:t>
                          </m:r>
                        </m:e>
                        <m:sup>
                          <m:r>
                            <a:rPr lang="en-US" altLang="zh-CN" sz="2400" b="1" i="1">
                              <a:solidFill>
                                <a:schemeClr val="accent2"/>
                              </a:solidFill>
                              <a:latin typeface="Cambria Math"/>
                            </a:rPr>
                            <m:t>−</m:t>
                          </m:r>
                          <m:r>
                            <a:rPr lang="en-US" altLang="zh-CN" sz="2400" b="1" i="1">
                              <a:solidFill>
                                <a:schemeClr val="accent2"/>
                              </a:solidFill>
                              <a:latin typeface="Cambria Math"/>
                            </a:rPr>
                            <m:t>𝟏</m:t>
                          </m:r>
                        </m:sup>
                      </m:sSup>
                      <m:r>
                        <a:rPr lang="zh-CN" altLang="zh-CN" sz="2400" b="1">
                          <a:solidFill>
                            <a:schemeClr val="accent2"/>
                          </a:solidFill>
                          <a:latin typeface="Cambria Math"/>
                        </a:rPr>
                        <m:t>：</m:t>
                      </m:r>
                      <m:r>
                        <a:rPr lang="en-US" altLang="zh-CN" sz="2400" b="1" i="1">
                          <a:solidFill>
                            <a:schemeClr val="accent2"/>
                          </a:solidFill>
                          <a:latin typeface="Cambria Math"/>
                        </a:rPr>
                        <m:t>𝑹</m:t>
                      </m:r>
                      <m:r>
                        <a:rPr lang="en-US" altLang="zh-CN" sz="2400" b="1" i="1">
                          <a:solidFill>
                            <a:schemeClr val="accent2"/>
                          </a:solidFill>
                          <a:latin typeface="Cambria Math"/>
                        </a:rPr>
                        <m:t>→</m:t>
                      </m:r>
                      <m:r>
                        <a:rPr lang="en-US" altLang="zh-CN" sz="2400" b="1" i="1">
                          <a:solidFill>
                            <a:schemeClr val="accent2"/>
                          </a:solidFill>
                          <a:latin typeface="Cambria Math"/>
                        </a:rPr>
                        <m:t>𝑹</m:t>
                      </m:r>
                      <m:r>
                        <a:rPr lang="zh-CN" altLang="zh-CN" sz="2400" b="1">
                          <a:solidFill>
                            <a:schemeClr val="accent2"/>
                          </a:solidFill>
                          <a:latin typeface="Cambria Math"/>
                        </a:rPr>
                        <m:t>，</m:t>
                      </m:r>
                      <m:sSup>
                        <m:sSupPr>
                          <m:ctrlPr>
                            <a:rPr lang="zh-CN" altLang="zh-CN" sz="2400" b="1" i="1">
                              <a:solidFill>
                                <a:schemeClr val="accent2"/>
                              </a:solidFill>
                              <a:latin typeface="Cambria Math" panose="02040503050406030204" pitchFamily="18" charset="0"/>
                            </a:rPr>
                          </m:ctrlPr>
                        </m:sSupPr>
                        <m:e>
                          <m:r>
                            <a:rPr lang="en-US" altLang="zh-CN" sz="2400" b="1" i="1">
                              <a:solidFill>
                                <a:schemeClr val="accent2"/>
                              </a:solidFill>
                              <a:latin typeface="Cambria Math"/>
                            </a:rPr>
                            <m:t>𝒈</m:t>
                          </m:r>
                        </m:e>
                        <m:sup>
                          <m:r>
                            <a:rPr lang="en-US" altLang="zh-CN" sz="2400" b="1" i="1">
                              <a:solidFill>
                                <a:schemeClr val="accent2"/>
                              </a:solidFill>
                              <a:latin typeface="Cambria Math"/>
                            </a:rPr>
                            <m:t>−</m:t>
                          </m:r>
                          <m:r>
                            <a:rPr lang="en-US" altLang="zh-CN" sz="2400" b="1" i="1">
                              <a:solidFill>
                                <a:schemeClr val="accent2"/>
                              </a:solidFill>
                              <a:latin typeface="Cambria Math"/>
                            </a:rPr>
                            <m:t>𝟏</m:t>
                          </m:r>
                        </m:sup>
                      </m:sSup>
                      <m:d>
                        <m:dPr>
                          <m:ctrlPr>
                            <a:rPr lang="zh-CN" altLang="zh-CN" sz="2400" b="1" i="1">
                              <a:solidFill>
                                <a:schemeClr val="accent2"/>
                              </a:solidFill>
                              <a:latin typeface="Cambria Math" panose="02040503050406030204" pitchFamily="18" charset="0"/>
                            </a:rPr>
                          </m:ctrlPr>
                        </m:dPr>
                        <m:e>
                          <m:r>
                            <a:rPr lang="en-US" altLang="zh-CN" sz="2400" b="1" i="1">
                              <a:solidFill>
                                <a:schemeClr val="accent2"/>
                              </a:solidFill>
                              <a:latin typeface="Cambria Math"/>
                            </a:rPr>
                            <m:t>𝒙</m:t>
                          </m:r>
                        </m:e>
                      </m:d>
                      <m:r>
                        <a:rPr lang="en-US" altLang="zh-CN" sz="2400" b="1" i="1">
                          <a:solidFill>
                            <a:schemeClr val="accent2"/>
                          </a:solidFill>
                          <a:latin typeface="Cambria Math"/>
                        </a:rPr>
                        <m:t>=</m:t>
                      </m:r>
                      <m:r>
                        <a:rPr lang="en-US" altLang="zh-CN" sz="2400" b="1" i="1">
                          <a:solidFill>
                            <a:schemeClr val="accent2"/>
                          </a:solidFill>
                          <a:latin typeface="Cambria Math"/>
                        </a:rPr>
                        <m:t>𝒙</m:t>
                      </m:r>
                      <m:r>
                        <a:rPr lang="en-US" altLang="zh-CN" sz="2400" b="1" i="1">
                          <a:solidFill>
                            <a:schemeClr val="accent2"/>
                          </a:solidFill>
                          <a:latin typeface="Cambria Math"/>
                        </a:rPr>
                        <m:t>−</m:t>
                      </m:r>
                      <m:r>
                        <a:rPr lang="en-US" altLang="zh-CN" sz="2400" b="1" i="1">
                          <a:solidFill>
                            <a:schemeClr val="accent2"/>
                          </a:solidFill>
                          <a:latin typeface="Cambria Math"/>
                        </a:rPr>
                        <m:t>𝟐</m:t>
                      </m:r>
                      <m:r>
                        <a:rPr lang="en-US" altLang="zh-CN" sz="2400" b="1" i="1">
                          <a:solidFill>
                            <a:schemeClr val="accent2"/>
                          </a:solidFill>
                          <a:latin typeface="Cambria Math"/>
                        </a:rPr>
                        <m:t>.</m:t>
                      </m:r>
                    </m:oMath>
                  </m:oMathPara>
                </a14:m>
                <a:endParaRPr lang="zh-CN" altLang="en-US" sz="2400" b="1" dirty="0">
                  <a:solidFill>
                    <a:schemeClr val="accent2"/>
                  </a:solidFill>
                </a:endParaRPr>
              </a:p>
            </p:txBody>
          </p:sp>
        </mc:Choice>
        <mc:Fallback xmlns="">
          <p:sp>
            <p:nvSpPr>
              <p:cNvPr id="3" name="TextBox 2"/>
              <p:cNvSpPr txBox="1">
                <a:spLocks noRot="1" noChangeAspect="1" noMove="1" noResize="1" noEditPoints="1" noAdjustHandles="1" noChangeArrowheads="1" noChangeShapeType="1" noTextEdit="1"/>
              </p:cNvSpPr>
              <p:nvPr/>
            </p:nvSpPr>
            <p:spPr>
              <a:xfrm>
                <a:off x="305780" y="1977174"/>
                <a:ext cx="8532440" cy="4003788"/>
              </a:xfrm>
              <a:prstGeom prst="rect">
                <a:avLst/>
              </a:prstGeom>
              <a:blipFill>
                <a:blip r:embed="rId3"/>
                <a:stretch>
                  <a:fillRect l="-1071" t="-1522"/>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60A5C42-04C7-4323-8C1A-17872FA3132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342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3428"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逆运算的性质</a:t>
            </a:r>
          </a:p>
        </p:txBody>
      </p:sp>
      <p:pic>
        <p:nvPicPr>
          <p:cNvPr id="10342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6A28D4F4-C575-4AF5-A491-5A4734A15E41}"/>
                  </a:ext>
                </a:extLst>
              </p:cNvPr>
              <p:cNvSpPr/>
              <p:nvPr/>
            </p:nvSpPr>
            <p:spPr>
              <a:xfrm>
                <a:off x="827584" y="2084162"/>
                <a:ext cx="7416824" cy="3917739"/>
              </a:xfrm>
              <a:prstGeom prst="rect">
                <a:avLst/>
              </a:prstGeom>
              <a:solidFill>
                <a:schemeClr val="accent6">
                  <a:lumMod val="75000"/>
                </a:schemeClr>
              </a:solidFill>
            </p:spPr>
            <p:txBody>
              <a:bodyPr wrap="square">
                <a:spAutoFit/>
              </a:bodyPr>
              <a:lstStyle/>
              <a:p>
                <a:pPr indent="334645"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【定理】设</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𝑩</m:t>
                    </m:r>
                  </m:oMath>
                </a14:m>
                <a:r>
                  <a:rPr lang="zh-CN" altLang="en-US"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双射函数，则有：</a:t>
                </a:r>
                <a:endParaRPr lang="en-US" altLang="zh-CN" sz="2800" b="1" kern="100" dirty="0">
                  <a:solidFill>
                    <a:schemeClr val="bg1"/>
                  </a:solidFill>
                  <a:latin typeface="Times New Roman" panose="02020603050405020304" pitchFamily="18" charset="0"/>
                  <a:ea typeface="宋体" panose="02010600030101010101" pitchFamily="2" charset="-122"/>
                </a:endParaRPr>
              </a:p>
              <a:p>
                <a:pPr indent="334645"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p>
                      <m:sSupPr>
                        <m:ctrlPr>
                          <a:rPr lang="zh-CN" altLang="zh-CN" sz="2800" b="1" i="1" kern="100">
                            <a:solidFill>
                              <a:schemeClr val="bg1"/>
                            </a:solidFill>
                            <a:latin typeface="Cambria Math" panose="02040503050406030204" pitchFamily="18" charset="0"/>
                            <a:ea typeface="Cambria Math" panose="02040503050406030204" pitchFamily="18" charset="0"/>
                          </a:rPr>
                        </m:ctrlPr>
                      </m:sSupPr>
                      <m:e>
                        <m:r>
                          <a:rPr lang="en-US" altLang="zh-CN" sz="2800" b="1" i="1" kern="100">
                            <a:solidFill>
                              <a:schemeClr val="bg1"/>
                            </a:solidFill>
                            <a:latin typeface="Cambria Math" panose="02040503050406030204" pitchFamily="18" charset="0"/>
                            <a:ea typeface="宋体" panose="02010600030101010101" pitchFamily="2" charset="-122"/>
                          </a:rPr>
                          <m:t>𝒇</m:t>
                        </m:r>
                      </m:e>
                      <m:sup>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𝟏</m:t>
                        </m:r>
                      </m:sup>
                    </m:sSup>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sSub>
                      <m:sSubPr>
                        <m:ctrlPr>
                          <a:rPr lang="zh-CN" altLang="zh-CN" sz="2800" b="1" i="1" kern="100" smtClean="0">
                            <a:solidFill>
                              <a:srgbClr val="FFFF00"/>
                            </a:solidFill>
                            <a:latin typeface="Cambria Math" panose="02040503050406030204" pitchFamily="18" charset="0"/>
                            <a:ea typeface="Cambria Math" panose="02040503050406030204" pitchFamily="18" charset="0"/>
                          </a:rPr>
                        </m:ctrlPr>
                      </m:sSubPr>
                      <m:e>
                        <m:r>
                          <a:rPr lang="en-US" altLang="zh-CN" sz="2800" b="1" i="1" kern="100">
                            <a:solidFill>
                              <a:srgbClr val="FFFF00"/>
                            </a:solidFill>
                            <a:latin typeface="Cambria Math" panose="02040503050406030204" pitchFamily="18" charset="0"/>
                            <a:ea typeface="宋体" panose="02010600030101010101" pitchFamily="2" charset="-122"/>
                          </a:rPr>
                          <m:t>𝑰</m:t>
                        </m:r>
                      </m:e>
                      <m:sub>
                        <m:r>
                          <a:rPr lang="en-US" altLang="zh-CN" sz="2800" b="1" i="1" kern="100">
                            <a:solidFill>
                              <a:srgbClr val="FFFF00"/>
                            </a:solidFill>
                            <a:latin typeface="Cambria Math" panose="02040503050406030204" pitchFamily="18" charset="0"/>
                            <a:ea typeface="宋体" panose="02010600030101010101" pitchFamily="2" charset="-122"/>
                          </a:rPr>
                          <m:t>𝑩</m:t>
                        </m:r>
                      </m:sub>
                    </m:sSub>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4645"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sSup>
                      <m:sSupPr>
                        <m:ctrlPr>
                          <a:rPr lang="zh-CN" altLang="zh-CN" sz="2800" b="1" i="1" kern="100">
                            <a:solidFill>
                              <a:schemeClr val="bg1"/>
                            </a:solidFill>
                            <a:latin typeface="Cambria Math" panose="02040503050406030204" pitchFamily="18" charset="0"/>
                            <a:ea typeface="Cambria Math" panose="02040503050406030204" pitchFamily="18" charset="0"/>
                          </a:rPr>
                        </m:ctrlPr>
                      </m:sSupPr>
                      <m:e>
                        <m:r>
                          <a:rPr lang="en-US" altLang="zh-CN" sz="2800" b="1" i="1" kern="100">
                            <a:solidFill>
                              <a:schemeClr val="bg1"/>
                            </a:solidFill>
                            <a:latin typeface="Cambria Math" panose="02040503050406030204" pitchFamily="18" charset="0"/>
                            <a:ea typeface="宋体" panose="02010600030101010101" pitchFamily="2" charset="-122"/>
                          </a:rPr>
                          <m:t>𝒇</m:t>
                        </m:r>
                      </m:e>
                      <m:sup>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𝟏</m:t>
                        </m:r>
                      </m:sup>
                    </m:sSup>
                    <m:r>
                      <a:rPr lang="en-US" altLang="zh-CN" sz="28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8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𝑰</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𝑨</m:t>
                        </m:r>
                      </m:sub>
                    </m:sSub>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4645"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sSub>
                      <m:sSubPr>
                        <m:ctrlPr>
                          <a:rPr lang="zh-CN" altLang="zh-CN" sz="28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𝑰</m:t>
                        </m:r>
                      </m:e>
                      <m:sub>
                        <m:r>
                          <a:rPr lang="en-US" altLang="zh-CN" sz="28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𝒇</m:t>
                    </m:r>
                    <m:r>
                      <a:rPr lang="en-US" altLang="zh-CN" sz="2800" b="1" i="1" kern="10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a:solidFill>
                              <a:schemeClr val="bg1"/>
                            </a:solidFill>
                            <a:latin typeface="Cambria Math" panose="02040503050406030204" pitchFamily="18" charset="0"/>
                            <a:ea typeface="宋体" panose="02010600030101010101" pitchFamily="2" charset="-122"/>
                          </a:rPr>
                          <m:t>𝑰</m:t>
                        </m:r>
                      </m:e>
                      <m:sub>
                        <m:r>
                          <a:rPr lang="en-US" altLang="zh-CN" sz="2800" b="1" i="1" kern="100">
                            <a:solidFill>
                              <a:schemeClr val="bg1"/>
                            </a:solidFill>
                            <a:latin typeface="Cambria Math" panose="02040503050406030204" pitchFamily="18" charset="0"/>
                            <a:ea typeface="宋体" panose="02010600030101010101" pitchFamily="2" charset="-122"/>
                          </a:rPr>
                          <m:t>𝑩</m:t>
                        </m:r>
                      </m:sub>
                    </m:sSub>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smtClean="0">
                        <a:solidFill>
                          <a:srgbClr val="FFFF00"/>
                        </a:solidFill>
                        <a:latin typeface="Cambria Math" panose="02040503050406030204" pitchFamily="18" charset="0"/>
                        <a:ea typeface="宋体" panose="02010600030101010101" pitchFamily="2" charset="-122"/>
                      </a:rPr>
                      <m:t>𝒇</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其中</a:t>
                </a:r>
                <a14:m>
                  <m:oMath xmlns:m="http://schemas.openxmlformats.org/officeDocument/2006/math">
                    <m:sSub>
                      <m:sSubPr>
                        <m:ctrlPr>
                          <a:rPr lang="zh-CN" altLang="zh-CN" sz="2800" b="1" i="1" kern="100" smtClean="0">
                            <a:solidFill>
                              <a:srgbClr val="FFFF00"/>
                            </a:solidFill>
                            <a:latin typeface="Cambria Math" panose="02040503050406030204" pitchFamily="18" charset="0"/>
                            <a:ea typeface="Cambria Math" panose="02040503050406030204" pitchFamily="18" charset="0"/>
                            <a:cs typeface="宋体" panose="02010600030101010101" pitchFamily="2" charset="-122"/>
                          </a:rPr>
                        </m:ctrlPr>
                      </m:sSubPr>
                      <m:e>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𝑰</m:t>
                        </m:r>
                      </m:e>
                      <m:sub>
                        <m:r>
                          <a:rPr lang="en-US" altLang="zh-CN" sz="2800" b="1" i="1" kern="100">
                            <a:solidFill>
                              <a:srgbClr val="FFFF00"/>
                            </a:solidFill>
                            <a:latin typeface="Cambria Math" panose="02040503050406030204" pitchFamily="18" charset="0"/>
                            <a:ea typeface="宋体" panose="02010600030101010101" pitchFamily="2" charset="-122"/>
                            <a:cs typeface="宋体" panose="02010600030101010101" pitchFamily="2" charset="-122"/>
                          </a:rPr>
                          <m:t>𝑨</m:t>
                        </m:r>
                      </m:sub>
                    </m:sSub>
                  </m:oMath>
                </a14:m>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sSub>
                      <m:sSubPr>
                        <m:ctrlPr>
                          <a:rPr lang="zh-CN" altLang="zh-CN" sz="2800" b="1" i="1" kern="100">
                            <a:solidFill>
                              <a:srgbClr val="FFFF00"/>
                            </a:solidFill>
                            <a:latin typeface="Cambria Math" panose="02040503050406030204" pitchFamily="18" charset="0"/>
                            <a:ea typeface="Cambria Math" panose="02040503050406030204" pitchFamily="18" charset="0"/>
                          </a:rPr>
                        </m:ctrlPr>
                      </m:sSubPr>
                      <m:e>
                        <m:r>
                          <a:rPr lang="en-US" altLang="zh-CN" sz="2800" b="1" i="1" kern="100">
                            <a:solidFill>
                              <a:srgbClr val="FFFF00"/>
                            </a:solidFill>
                            <a:latin typeface="Cambria Math" panose="02040503050406030204" pitchFamily="18" charset="0"/>
                            <a:ea typeface="宋体" panose="02010600030101010101" pitchFamily="2" charset="-122"/>
                          </a:rPr>
                          <m:t>𝑰</m:t>
                        </m:r>
                      </m:e>
                      <m:sub>
                        <m:r>
                          <a:rPr lang="en-US" altLang="zh-CN" sz="2800" b="1" i="1" kern="100">
                            <a:solidFill>
                              <a:srgbClr val="FFFF00"/>
                            </a:solidFill>
                            <a:latin typeface="Cambria Math" panose="02040503050406030204" pitchFamily="18" charset="0"/>
                            <a:ea typeface="宋体" panose="02010600030101010101" pitchFamily="2" charset="-122"/>
                          </a:rPr>
                          <m:t>𝑩</m:t>
                        </m:r>
                      </m:sub>
                    </m:sSub>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分别表示集合</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和集合</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𝑩</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上的</a:t>
                </a:r>
                <a:r>
                  <a:rPr lang="zh-CN" altLang="zh-CN" sz="28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恒等函数</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6A28D4F4-C575-4AF5-A491-5A4734A15E41}"/>
                  </a:ext>
                </a:extLst>
              </p:cNvPr>
              <p:cNvSpPr>
                <a:spLocks noRot="1" noChangeAspect="1" noMove="1" noResize="1" noEditPoints="1" noAdjustHandles="1" noChangeArrowheads="1" noChangeShapeType="1" noTextEdit="1"/>
              </p:cNvSpPr>
              <p:nvPr/>
            </p:nvSpPr>
            <p:spPr>
              <a:xfrm>
                <a:off x="827584" y="2084162"/>
                <a:ext cx="7416824" cy="3917739"/>
              </a:xfrm>
              <a:prstGeom prst="rect">
                <a:avLst/>
              </a:prstGeom>
              <a:blipFill>
                <a:blip r:embed="rId3"/>
                <a:stretch>
                  <a:fillRect l="-1727" r="-1645" b="-2955"/>
                </a:stretch>
              </a:blipFill>
            </p:spPr>
            <p:txBody>
              <a:bodyPr/>
              <a:lstStyle/>
              <a:p>
                <a:r>
                  <a:rPr lang="zh-CN" altLang="en-US">
                    <a:noFill/>
                  </a:rPr>
                  <a:t> </a:t>
                </a:r>
              </a:p>
            </p:txBody>
          </p:sp>
        </mc:Fallback>
      </mc:AlternateContent>
    </p:spTree>
  </p:cSld>
  <p:clrMapOvr>
    <a:masterClrMapping/>
  </p:clrMapOvr>
  <p:transition spd="med">
    <p:wipe dir="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60A5C42-04C7-4323-8C1A-17872FA3132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342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3428"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逆运算的性质</a:t>
            </a:r>
          </a:p>
        </p:txBody>
      </p:sp>
      <p:pic>
        <p:nvPicPr>
          <p:cNvPr id="10342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88CC3376-AB91-4FB6-89D4-29A6CDC0C8C2}"/>
                  </a:ext>
                </a:extLst>
              </p:cNvPr>
              <p:cNvSpPr/>
              <p:nvPr/>
            </p:nvSpPr>
            <p:spPr>
              <a:xfrm>
                <a:off x="251520" y="1806395"/>
                <a:ext cx="8640960" cy="4515210"/>
              </a:xfrm>
              <a:prstGeom prst="rect">
                <a:avLst/>
              </a:prstGeom>
              <a:solidFill>
                <a:schemeClr val="accent6">
                  <a:lumMod val="75000"/>
                </a:schemeClr>
              </a:solidFill>
            </p:spPr>
            <p:txBody>
              <a:bodyPr wrap="square">
                <a:spAutoFit/>
              </a:bodyPr>
              <a:lstStyle/>
              <a:p>
                <a:pPr indent="333375"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【证明】仅证明（</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的函数，</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的函数，故</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是一个从</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𝑩</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3375" algn="just">
                  <a:lnSpc>
                    <a:spcPct val="1500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对于</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e>
                    </m:d>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，则有</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𝒚</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根据</a:t>
                </a:r>
                <a14:m>
                  <m:oMath xmlns:m="http://schemas.openxmlformats.org/officeDocument/2006/math">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的定义</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，必存在</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中的某个元素</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𝒖</m:t>
                    </m:r>
                  </m:oMath>
                </a14:m>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满足</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i="1" kern="100" dirty="0">
                  <a:solidFill>
                    <a:schemeClr val="bg1"/>
                  </a:solidFill>
                  <a:latin typeface="Cambria Math" panose="02040503050406030204" pitchFamily="18" charset="0"/>
                  <a:ea typeface="Cambria Math" panose="02040503050406030204" pitchFamily="18" charset="0"/>
                </a:endParaRPr>
              </a:p>
              <a:p>
                <a:pPr indent="333375" algn="ctr">
                  <a:lnSpc>
                    <a:spcPct val="150000"/>
                  </a:lnSpc>
                  <a:spcAft>
                    <a:spcPts val="0"/>
                  </a:spcAft>
                </a:pP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𝒖</m:t>
                        </m:r>
                      </m:e>
                    </m:d>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𝒖</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𝒚</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oMath>
                </a14:m>
                <a:endParaRPr lang="en-US" altLang="zh-CN" sz="2400" b="1" kern="100" dirty="0">
                  <a:solidFill>
                    <a:srgbClr val="FFFF00"/>
                  </a:solidFill>
                  <a:latin typeface="宋体" panose="02010600030101010101" pitchFamily="2" charset="-122"/>
                  <a:ea typeface="宋体" panose="02010600030101010101" pitchFamily="2" charset="-122"/>
                  <a:cs typeface="宋体" panose="02010600030101010101" pitchFamily="2" charset="-122"/>
                </a:endParaRPr>
              </a:p>
              <a:p>
                <a:pPr indent="333375" algn="just">
                  <a:lnSpc>
                    <a:spcPct val="150000"/>
                  </a:lnSpc>
                  <a:spcAft>
                    <a:spcPts val="0"/>
                  </a:spcAft>
                </a:pPr>
                <a:r>
                  <a:rPr lang="zh-CN" altLang="en-US" sz="2400" b="1" kern="100" dirty="0">
                    <a:solidFill>
                      <a:schemeClr val="bg1"/>
                    </a:solidFill>
                    <a:ea typeface="宋体" panose="02010600030101010101" pitchFamily="2" charset="-122"/>
                    <a:cs typeface="宋体" panose="02010600030101010101" pitchFamily="2" charset="-122"/>
                  </a:rPr>
                  <a:t>即有</a:t>
                </a:r>
                <a14:m>
                  <m:oMath xmlns:m="http://schemas.openxmlformats.org/officeDocument/2006/math">
                    <m:r>
                      <a:rPr lang="zh-CN"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 </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𝒖</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𝒖</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或写成</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𝒙</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𝒇</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𝒖</m:t>
                    </m:r>
                    <m:r>
                      <a:rPr lang="en-US" altLang="zh-CN" sz="2400" b="1" i="1" kern="100" smtClean="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𝒚</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𝒖</m:t>
                    </m:r>
                    <m:r>
                      <a:rPr lang="en-US" altLang="zh-CN" sz="2400" b="1" i="1" kern="100">
                        <a:solidFill>
                          <a:srgbClr val="FFFF00"/>
                        </a:solidFill>
                        <a:latin typeface="Cambria Math" panose="02040503050406030204" pitchFamily="18" charset="0"/>
                        <a:ea typeface="宋体" panose="02010600030101010101" pitchFamily="2" charset="-122"/>
                      </a:rPr>
                      <m:t>)</m:t>
                    </m:r>
                  </m:oMath>
                </a14:m>
                <a:endParaRPr lang="zh-CN" altLang="zh-CN" sz="2400" b="1" kern="100" dirty="0">
                  <a:solidFill>
                    <a:srgbClr val="FFFF00"/>
                  </a:solidFill>
                  <a:latin typeface="Times New Roman" panose="02020603050405020304" pitchFamily="18" charset="0"/>
                  <a:ea typeface="宋体" panose="02010600030101010101" pitchFamily="2" charset="-122"/>
                </a:endParaRPr>
              </a:p>
              <a:p>
                <a:pPr indent="333375"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由于函数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是单射，故有</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𝒙</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𝒚</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𝒚</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𝑰</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3375" algn="just">
                  <a:lnSpc>
                    <a:spcPct val="1500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𝑰</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88CC3376-AB91-4FB6-89D4-29A6CDC0C8C2}"/>
                  </a:ext>
                </a:extLst>
              </p:cNvPr>
              <p:cNvSpPr>
                <a:spLocks noRot="1" noChangeAspect="1" noMove="1" noResize="1" noEditPoints="1" noAdjustHandles="1" noChangeArrowheads="1" noChangeShapeType="1" noTextEdit="1"/>
              </p:cNvSpPr>
              <p:nvPr/>
            </p:nvSpPr>
            <p:spPr>
              <a:xfrm>
                <a:off x="251520" y="1806395"/>
                <a:ext cx="8640960" cy="4515210"/>
              </a:xfrm>
              <a:prstGeom prst="rect">
                <a:avLst/>
              </a:prstGeom>
              <a:blipFill>
                <a:blip r:embed="rId3"/>
                <a:stretch>
                  <a:fillRect l="-1058" r="-1058" b="-161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317647429"/>
      </p:ext>
    </p:extLst>
  </p:cSld>
  <p:clrMapOvr>
    <a:masterClrMapping/>
  </p:clrMapOvr>
  <p:transition spd="med">
    <p:wipe dir="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60A5C42-04C7-4323-8C1A-17872FA3132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342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3428"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逆运算的性质</a:t>
            </a:r>
          </a:p>
        </p:txBody>
      </p:sp>
      <p:pic>
        <p:nvPicPr>
          <p:cNvPr id="10342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C7AB53C0-FAC3-4260-825C-86E32A6AC2E6}"/>
                  </a:ext>
                </a:extLst>
              </p:cNvPr>
              <p:cNvSpPr/>
              <p:nvPr/>
            </p:nvSpPr>
            <p:spPr>
              <a:xfrm>
                <a:off x="289843" y="1851631"/>
                <a:ext cx="8564314" cy="4424737"/>
              </a:xfrm>
              <a:prstGeom prst="rect">
                <a:avLst/>
              </a:prstGeom>
              <a:solidFill>
                <a:schemeClr val="accent6">
                  <a:lumMod val="75000"/>
                </a:schemeClr>
              </a:solidFill>
            </p:spPr>
            <p:txBody>
              <a:bodyPr wrap="square">
                <a:spAutoFit/>
              </a:bodyPr>
              <a:lstStyle/>
              <a:p>
                <a:pPr indent="333375" algn="just">
                  <a:lnSpc>
                    <a:spcPts val="38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证明（续）</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反之，对</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e>
                    </m:d>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𝑰</m:t>
                        </m:r>
                      </m:e>
                      <m:sub>
                        <m:r>
                          <a:rPr lang="en-US" altLang="zh-CN" sz="2400" b="1" i="1" kern="100">
                            <a:solidFill>
                              <a:schemeClr val="bg1"/>
                            </a:solidFill>
                            <a:latin typeface="Cambria Math" panose="02040503050406030204" pitchFamily="18" charset="0"/>
                            <a:ea typeface="宋体" panose="02010600030101010101" pitchFamily="2" charset="-122"/>
                          </a:rPr>
                          <m:t>𝑩</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，则有</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en-US" altLang="zh-CN" sz="2400" b="1" i="1" kern="100" dirty="0">
                  <a:solidFill>
                    <a:schemeClr val="bg1"/>
                  </a:solidFill>
                  <a:latin typeface="Cambria Math" panose="02040503050406030204" pitchFamily="18" charset="0"/>
                  <a:ea typeface="宋体" panose="02010600030101010101" pitchFamily="2" charset="-122"/>
                </a:endParaRPr>
              </a:p>
              <a:p>
                <a:pPr indent="333375" algn="ctr">
                  <a:lnSpc>
                    <a:spcPts val="3800"/>
                  </a:lnSpc>
                  <a:spcAft>
                    <a:spcPts val="0"/>
                  </a:spcAft>
                </a:pP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𝒚</m:t>
                    </m:r>
                  </m:oMath>
                </a14:m>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333375" algn="just">
                  <a:lnSpc>
                    <a:spcPts val="38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由于</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的函数，故根据</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的单值性知，必然存在</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中的某个元素</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𝒖</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，使得</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𝒖</m:t>
                    </m:r>
                    <m:r>
                      <a:rPr lang="en-US" altLang="zh-CN" sz="2400" b="1" i="1" kern="100" smtClean="0">
                        <a:solidFill>
                          <a:srgbClr val="FFFF00"/>
                        </a:solidFill>
                        <a:latin typeface="Cambria Math" panose="02040503050406030204" pitchFamily="18" charset="0"/>
                        <a:ea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且</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𝒖</m:t>
                    </m:r>
                    <m:r>
                      <a:rPr lang="en-US" altLang="zh-CN" sz="2400" b="1" i="1" kern="100">
                        <a:solidFill>
                          <a:srgbClr val="FFFF00"/>
                        </a:solidFill>
                        <a:latin typeface="Cambria Math" panose="02040503050406030204" pitchFamily="18" charset="0"/>
                        <a:ea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𝒚</m:t>
                    </m:r>
                    <m:r>
                      <a:rPr lang="en-US" altLang="zh-CN" sz="2400" b="1" i="1" kern="10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，即有：</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333375" algn="just">
                  <a:lnSpc>
                    <a:spcPts val="3800"/>
                  </a:lnSpc>
                  <a:spcAft>
                    <a:spcPts val="0"/>
                  </a:spcAft>
                </a:pPr>
                <a14:m>
                  <m:oMathPara xmlns:m="http://schemas.openxmlformats.org/officeDocument/2006/math">
                    <m:oMathParaPr>
                      <m:jc m:val="centerGroup"/>
                    </m:oMathParaPr>
                    <m:oMath xmlns:m="http://schemas.openxmlformats.org/officeDocument/2006/math">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𝒖</m:t>
                          </m:r>
                        </m:e>
                      </m:d>
                      <m:r>
                        <a:rPr lang="en-US" altLang="zh-CN" sz="2400" b="1" i="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𝒚</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𝒖</m:t>
                          </m:r>
                        </m:e>
                      </m:d>
                      <m:r>
                        <a:rPr lang="en-US" altLang="zh-CN" sz="2400" b="1" i="1" kern="100">
                          <a:solidFill>
                            <a:schemeClr val="bg1"/>
                          </a:solidFill>
                          <a:latin typeface="Cambria Math" panose="02040503050406030204" pitchFamily="18" charset="0"/>
                          <a:ea typeface="宋体" panose="02010600030101010101" pitchFamily="2" charset="-122"/>
                        </a:rPr>
                        <m:t>∈</m:t>
                      </m:r>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p>
                      </m:sSup>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indent="333375" algn="just">
                  <a:lnSpc>
                    <a:spcPts val="38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将上式写成</a:t>
                </a: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𝒖</m:t>
                        </m:r>
                      </m:e>
                    </m:d>
                    <m:r>
                      <a:rPr lang="en-US" altLang="zh-CN" sz="2400" b="1" i="1" kern="100">
                        <a:solidFill>
                          <a:srgbClr val="FFFF00"/>
                        </a:solidFill>
                        <a:latin typeface="Cambria Math" panose="02040503050406030204" pitchFamily="18" charset="0"/>
                        <a:ea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kern="100">
                        <a:solidFill>
                          <a:srgbClr val="FFFF00"/>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𝒖</m:t>
                        </m:r>
                        <m:r>
                          <a:rPr lang="en-US" altLang="zh-CN" sz="2400" b="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𝒚</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，则有</a:t>
                </a:r>
                <a14:m>
                  <m:oMath xmlns:m="http://schemas.openxmlformats.org/officeDocument/2006/math">
                    <m:d>
                      <m:dPr>
                        <m:begChr m:val="〈"/>
                        <m:endChr m:val="〉"/>
                        <m:ctrlPr>
                          <a:rPr lang="zh-CN" altLang="zh-CN" sz="2400" b="1" i="1" kern="100" smtClean="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𝒚</m:t>
                        </m:r>
                      </m:e>
                    </m:d>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r>
                      <a:rPr lang="zh-CN" altLang="en-US" sz="2400" b="1" i="1" kern="100" smtClean="0">
                        <a:solidFill>
                          <a:srgbClr val="FFFF00"/>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𝑰</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r>
                      <a:rPr lang="en-US" altLang="zh-CN" sz="2400" b="1" i="1" kern="100">
                        <a:solidFill>
                          <a:srgbClr val="FFFF00"/>
                        </a:solidFill>
                        <a:latin typeface="Cambria Math" panose="02040503050406030204" pitchFamily="18" charset="0"/>
                        <a:ea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333375" algn="just">
                  <a:lnSpc>
                    <a:spcPts val="38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综合可得：</a:t>
                </a: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p>
                    </m:s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𝑰</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333375" algn="just">
                  <a:lnSpc>
                    <a:spcPts val="38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可类似证明（</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C7AB53C0-FAC3-4260-825C-86E32A6AC2E6}"/>
                  </a:ext>
                </a:extLst>
              </p:cNvPr>
              <p:cNvSpPr>
                <a:spLocks noRot="1" noChangeAspect="1" noMove="1" noResize="1" noEditPoints="1" noAdjustHandles="1" noChangeArrowheads="1" noChangeShapeType="1" noTextEdit="1"/>
              </p:cNvSpPr>
              <p:nvPr/>
            </p:nvSpPr>
            <p:spPr>
              <a:xfrm>
                <a:off x="289843" y="1851631"/>
                <a:ext cx="8564314" cy="4424737"/>
              </a:xfrm>
              <a:prstGeom prst="rect">
                <a:avLst/>
              </a:prstGeom>
              <a:blipFill>
                <a:blip r:embed="rId3"/>
                <a:stretch>
                  <a:fillRect l="-1140" t="-138" r="-1140" b="-234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7351735"/>
      </p:ext>
    </p:extLst>
  </p:cSld>
  <p:clrMapOvr>
    <a:masterClrMapping/>
  </p:clrMapOvr>
  <p:transition spd="med">
    <p:wipe dir="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923449BB-09D8-42A5-9691-3FC461F3F70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4451"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4452" name="Text Box 2"/>
          <p:cNvSpPr txBox="1">
            <a:spLocks noChangeArrowheads="1"/>
          </p:cNvSpPr>
          <p:nvPr/>
        </p:nvSpPr>
        <p:spPr bwMode="auto">
          <a:xfrm>
            <a:off x="1403648" y="595312"/>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104453"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D04D86B3-FF82-42BC-8C6F-11A1D213B111}"/>
              </a:ext>
            </a:extLst>
          </p:cNvPr>
          <p:cNvPicPr>
            <a:picLocks noChangeAspect="1"/>
          </p:cNvPicPr>
          <p:nvPr/>
        </p:nvPicPr>
        <p:blipFill>
          <a:blip r:embed="rId3"/>
          <a:stretch>
            <a:fillRect/>
          </a:stretch>
        </p:blipFill>
        <p:spPr>
          <a:xfrm>
            <a:off x="611560" y="1642901"/>
            <a:ext cx="7848872" cy="4684283"/>
          </a:xfrm>
          <a:prstGeom prst="rect">
            <a:avLst/>
          </a:prstGeom>
        </p:spPr>
      </p:pic>
    </p:spTree>
  </p:cSld>
  <p:clrMapOvr>
    <a:masterClrMapping/>
  </p:clrMapOvr>
  <p:transition spd="med">
    <p:wipe dir="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5E63751B-1E91-4358-80A6-D4728604541C}"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547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5476" name="Text Box 2"/>
          <p:cNvSpPr txBox="1">
            <a:spLocks noChangeArrowheads="1"/>
          </p:cNvSpPr>
          <p:nvPr/>
        </p:nvSpPr>
        <p:spPr bwMode="auto">
          <a:xfrm>
            <a:off x="1403412" y="595312"/>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10547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1E452062-71EE-4661-8E2D-B68323F01EB2}"/>
              </a:ext>
            </a:extLst>
          </p:cNvPr>
          <p:cNvPicPr>
            <a:picLocks noChangeAspect="1"/>
          </p:cNvPicPr>
          <p:nvPr/>
        </p:nvPicPr>
        <p:blipFill>
          <a:blip r:embed="rId3"/>
          <a:stretch>
            <a:fillRect/>
          </a:stretch>
        </p:blipFill>
        <p:spPr>
          <a:xfrm>
            <a:off x="539552" y="1700808"/>
            <a:ext cx="8280920" cy="4607079"/>
          </a:xfrm>
          <a:prstGeom prst="rect">
            <a:avLst/>
          </a:prstGeom>
        </p:spPr>
      </p:pic>
    </p:spTree>
  </p:cSld>
  <p:clrMapOvr>
    <a:masterClrMapping/>
  </p:clrMapOvr>
  <p:transition spd="med">
    <p:wipe dir="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E8A98B6-0876-48B3-B0B1-07DD0141312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07523"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07524"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4947A612-2DFA-4CD3-AA3C-5F17E2FEA7CB}" type="slidenum">
              <a:rPr lang="en-US" altLang="zh-CN" sz="1400" b="1">
                <a:latin typeface="Times New Roman" pitchFamily="18" charset="0"/>
                <a:ea typeface="宋体" pitchFamily="2" charset="-122"/>
              </a:rPr>
              <a:pPr algn="r" eaLnBrk="1" hangingPunct="1"/>
              <a:t>92</a:t>
            </a:fld>
            <a:endParaRPr lang="en-US" altLang="zh-CN" sz="1400" b="1">
              <a:latin typeface="Times New Roman" pitchFamily="18" charset="0"/>
              <a:ea typeface="宋体" pitchFamily="2" charset="-122"/>
            </a:endParaRPr>
          </a:p>
        </p:txBody>
      </p:sp>
      <p:sp>
        <p:nvSpPr>
          <p:cNvPr id="107525"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函数的基本运算</a:t>
            </a:r>
          </a:p>
        </p:txBody>
      </p:sp>
      <p:sp>
        <p:nvSpPr>
          <p:cNvPr id="107526" name="Rectangle 3"/>
          <p:cNvSpPr>
            <a:spLocks noGrp="1" noChangeArrowheads="1"/>
          </p:cNvSpPr>
          <p:nvPr>
            <p:ph type="body" idx="4294967295"/>
          </p:nvPr>
        </p:nvSpPr>
        <p:spPr>
          <a:xfrm>
            <a:off x="2555776" y="2413156"/>
            <a:ext cx="4537075" cy="3168650"/>
          </a:xfrm>
          <a:noFill/>
        </p:spPr>
        <p:txBody>
          <a:bodyPr lIns="92075" tIns="46038" rIns="92075" bIns="46038"/>
          <a:lstStyle/>
          <a:p>
            <a:pPr eaLnBrk="1" hangingPunct="1">
              <a:lnSpc>
                <a:spcPct val="155000"/>
              </a:lnSpc>
              <a:buFont typeface="Wingdings" pitchFamily="2" charset="2"/>
              <a:buChar char="4"/>
            </a:pPr>
            <a:r>
              <a:rPr lang="en-US" altLang="zh-CN" sz="3600" b="1" dirty="0">
                <a:effectLst/>
                <a:latin typeface="黑体" pitchFamily="49" charset="-122"/>
                <a:ea typeface="黑体" pitchFamily="49" charset="-122"/>
              </a:rPr>
              <a:t> </a:t>
            </a:r>
            <a:r>
              <a:rPr lang="zh-CN" altLang="en-US" sz="3600" b="1" dirty="0">
                <a:effectLst/>
                <a:latin typeface="黑体" pitchFamily="49" charset="-122"/>
                <a:ea typeface="黑体" pitchFamily="49" charset="-122"/>
              </a:rPr>
              <a:t>函数的复合运算</a:t>
            </a:r>
            <a:endParaRPr lang="en-US" altLang="zh-CN" sz="3600" b="1" dirty="0">
              <a:effectLst/>
              <a:latin typeface="黑体" pitchFamily="49" charset="-122"/>
              <a:ea typeface="黑体" pitchFamily="49" charset="-122"/>
            </a:endParaRPr>
          </a:p>
          <a:p>
            <a:pPr eaLnBrk="1" hangingPunct="1">
              <a:lnSpc>
                <a:spcPct val="155000"/>
              </a:lnSpc>
              <a:buFont typeface="Wingdings" pitchFamily="2" charset="2"/>
              <a:buChar char="4"/>
            </a:pPr>
            <a:r>
              <a:rPr lang="en-US" altLang="zh-CN" sz="3600" b="1" dirty="0">
                <a:effectLst/>
                <a:latin typeface="黑体" pitchFamily="49" charset="-122"/>
                <a:ea typeface="黑体" pitchFamily="49" charset="-122"/>
              </a:rPr>
              <a:t> </a:t>
            </a:r>
            <a:r>
              <a:rPr lang="zh-CN" altLang="en-US" sz="3600" b="1" dirty="0">
                <a:effectLst/>
                <a:latin typeface="黑体" pitchFamily="49" charset="-122"/>
                <a:ea typeface="黑体" pitchFamily="49" charset="-122"/>
              </a:rPr>
              <a:t>函数的逆运算</a:t>
            </a:r>
          </a:p>
          <a:p>
            <a:pPr eaLnBrk="1" hangingPunct="1">
              <a:lnSpc>
                <a:spcPct val="155000"/>
              </a:lnSpc>
              <a:buFont typeface="Wingdings" pitchFamily="2" charset="2"/>
              <a:buChar char="J"/>
            </a:pPr>
            <a:r>
              <a:rPr lang="zh-CN" altLang="en-US" sz="3600" b="1" dirty="0">
                <a:solidFill>
                  <a:schemeClr val="accent2"/>
                </a:solidFill>
                <a:effectLst/>
                <a:latin typeface="黑体" pitchFamily="49" charset="-122"/>
                <a:ea typeface="黑体" pitchFamily="49" charset="-122"/>
              </a:rPr>
              <a:t> 函数的递归运算</a:t>
            </a:r>
            <a:endParaRPr lang="zh-CN" altLang="en-US" sz="3600" b="1" dirty="0">
              <a:effectLst/>
              <a:latin typeface="黑体" pitchFamily="49" charset="-122"/>
              <a:ea typeface="黑体" pitchFamily="49" charset="-122"/>
            </a:endParaRPr>
          </a:p>
        </p:txBody>
      </p:sp>
      <p:pic>
        <p:nvPicPr>
          <p:cNvPr id="107527"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4D14A82-E1D3-4FC8-9AF4-17A58494707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854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8548" name="Text Box 2"/>
          <p:cNvSpPr txBox="1">
            <a:spLocks noChangeArrowheads="1"/>
          </p:cNvSpPr>
          <p:nvPr/>
        </p:nvSpPr>
        <p:spPr bwMode="auto">
          <a:xfrm>
            <a:off x="1259632" y="723269"/>
            <a:ext cx="6553200" cy="92333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函数的幂运算</a:t>
            </a:r>
          </a:p>
        </p:txBody>
      </p:sp>
      <p:pic>
        <p:nvPicPr>
          <p:cNvPr id="10854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85513" y="1988840"/>
            <a:ext cx="7819597" cy="3961662"/>
          </a:xfrm>
          <a:prstGeom prst="rect">
            <a:avLst/>
          </a:prstGeom>
          <a:solidFill>
            <a:schemeClr val="accent5">
              <a:lumMod val="20000"/>
              <a:lumOff val="80000"/>
            </a:schemeClr>
          </a:solidFill>
        </p:spPr>
        <p:txBody>
          <a:bodyPr wrap="square">
            <a:spAutoFit/>
          </a:bodyPr>
          <a:lstStyle/>
          <a:p>
            <a:pPr>
              <a:lnSpc>
                <a:spcPct val="150000"/>
              </a:lnSpc>
              <a:defRPr/>
            </a:pPr>
            <a:r>
              <a:rPr lang="en-US" altLang="zh-CN" dirty="0">
                <a:solidFill>
                  <a:srgbClr val="800080"/>
                </a:solidFill>
              </a:rPr>
              <a:t>    </a:t>
            </a:r>
            <a:r>
              <a:rPr lang="zh-CN" altLang="zh-CN" sz="2800" b="1" dirty="0">
                <a:solidFill>
                  <a:schemeClr val="tx1"/>
                </a:solidFill>
              </a:rPr>
              <a:t>前面从二元关系角度讨论了函数关系的复合运算和逆运算</a:t>
            </a:r>
            <a:r>
              <a:rPr lang="zh-CN" altLang="zh-CN" sz="2800" b="1" dirty="0">
                <a:solidFill>
                  <a:srgbClr val="800080"/>
                </a:solidFill>
              </a:rPr>
              <a:t>，</a:t>
            </a:r>
            <a:r>
              <a:rPr lang="zh-CN" altLang="zh-CN" sz="2800" b="1" dirty="0">
                <a:solidFill>
                  <a:schemeClr val="tx1"/>
                </a:solidFill>
              </a:rPr>
              <a:t>还可将</a:t>
            </a:r>
            <a:r>
              <a:rPr lang="zh-CN" altLang="zh-CN" sz="2800" b="1" dirty="0">
                <a:solidFill>
                  <a:srgbClr val="0000FF"/>
                </a:solidFill>
              </a:rPr>
              <a:t>关系的幂运算</a:t>
            </a:r>
            <a:r>
              <a:rPr lang="zh-CN" altLang="zh-CN" sz="2800" b="1" dirty="0">
                <a:solidFill>
                  <a:schemeClr val="tx1"/>
                </a:solidFill>
              </a:rPr>
              <a:t>引入函数关系之中</a:t>
            </a:r>
            <a:r>
              <a:rPr lang="zh-CN" altLang="en-US" sz="2800" b="1" dirty="0">
                <a:solidFill>
                  <a:schemeClr val="tx1"/>
                </a:solidFill>
              </a:rPr>
              <a:t>，得到函数的</a:t>
            </a:r>
            <a:r>
              <a:rPr lang="zh-CN" altLang="en-US" sz="2800" b="1" dirty="0">
                <a:solidFill>
                  <a:srgbClr val="0000FF"/>
                </a:solidFill>
              </a:rPr>
              <a:t>迭代运算</a:t>
            </a:r>
            <a:r>
              <a:rPr lang="zh-CN" altLang="en-US" sz="2800" b="1" dirty="0">
                <a:solidFill>
                  <a:srgbClr val="800080"/>
                </a:solidFill>
              </a:rPr>
              <a:t>和</a:t>
            </a:r>
            <a:r>
              <a:rPr lang="zh-CN" altLang="en-US" sz="2800" b="1" dirty="0">
                <a:solidFill>
                  <a:srgbClr val="0000FF"/>
                </a:solidFill>
              </a:rPr>
              <a:t>递归运算</a:t>
            </a:r>
            <a:r>
              <a:rPr lang="zh-CN" altLang="en-US" sz="2800" b="1" dirty="0">
                <a:solidFill>
                  <a:srgbClr val="800080"/>
                </a:solidFill>
              </a:rPr>
              <a:t>。</a:t>
            </a:r>
            <a:endParaRPr lang="en-US" altLang="zh-CN" sz="2800" b="1" dirty="0">
              <a:solidFill>
                <a:srgbClr val="800080"/>
              </a:solidFill>
            </a:endParaRPr>
          </a:p>
          <a:p>
            <a:pPr>
              <a:lnSpc>
                <a:spcPct val="150000"/>
              </a:lnSpc>
              <a:defRPr/>
            </a:pPr>
            <a:r>
              <a:rPr lang="en-US" altLang="zh-CN" sz="2800" b="1" dirty="0">
                <a:solidFill>
                  <a:srgbClr val="800080"/>
                </a:solidFill>
              </a:rPr>
              <a:t>    </a:t>
            </a:r>
            <a:r>
              <a:rPr lang="zh-CN" altLang="zh-CN" sz="2800" b="1" dirty="0">
                <a:solidFill>
                  <a:schemeClr val="tx1"/>
                </a:solidFill>
              </a:rPr>
              <a:t>关系幂运算是一种特殊的复合运算，就是</a:t>
            </a:r>
            <a:r>
              <a:rPr lang="zh-CN" altLang="zh-CN" sz="2800" b="1" dirty="0"/>
              <a:t>关系通过不断地与其自身进行复合</a:t>
            </a:r>
            <a:r>
              <a:rPr lang="zh-CN" altLang="en-US" sz="2800" b="1" dirty="0"/>
              <a:t>，</a:t>
            </a:r>
            <a:r>
              <a:rPr lang="zh-CN" altLang="zh-CN" sz="2800" b="1" dirty="0"/>
              <a:t>从而</a:t>
            </a:r>
            <a:r>
              <a:rPr lang="zh-CN" altLang="en-US" sz="2800" b="1" dirty="0"/>
              <a:t>不断</a:t>
            </a:r>
            <a:r>
              <a:rPr lang="zh-CN" altLang="zh-CN" sz="2800" b="1" dirty="0"/>
              <a:t>产生新的关系</a:t>
            </a:r>
            <a:r>
              <a:rPr lang="zh-CN" altLang="en-US" sz="2800" b="1" dirty="0">
                <a:solidFill>
                  <a:srgbClr val="800080"/>
                </a:solidFill>
              </a:rPr>
              <a:t>。</a:t>
            </a:r>
          </a:p>
        </p:txBody>
      </p:sp>
    </p:spTree>
  </p:cSld>
  <p:clrMapOvr>
    <a:masterClrMapping/>
  </p:clrMapOvr>
  <p:transition spd="med">
    <p:wipe dir="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4D14A82-E1D3-4FC8-9AF4-17A58494707D}"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08547"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08548"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函数的迭代运算</a:t>
            </a:r>
          </a:p>
        </p:txBody>
      </p:sp>
      <p:pic>
        <p:nvPicPr>
          <p:cNvPr id="108549"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D971094-FEF3-4F50-B310-55A1569029E4}"/>
                  </a:ext>
                </a:extLst>
              </p:cNvPr>
              <p:cNvSpPr/>
              <p:nvPr/>
            </p:nvSpPr>
            <p:spPr>
              <a:xfrm>
                <a:off x="251520" y="1891133"/>
                <a:ext cx="8580559" cy="4318746"/>
              </a:xfrm>
              <a:prstGeom prst="rect">
                <a:avLst/>
              </a:prstGeom>
              <a:solidFill>
                <a:schemeClr val="accent6">
                  <a:lumMod val="75000"/>
                </a:schemeClr>
              </a:solidFill>
            </p:spPr>
            <p:txBody>
              <a:bodyPr wrap="square">
                <a:spAutoFit/>
              </a:bodyPr>
              <a:lstStyle/>
              <a:p>
                <a:pPr indent="266700" algn="just">
                  <a:lnSpc>
                    <a:spcPts val="4800"/>
                  </a:lnSpc>
                  <a:spcAft>
                    <a:spcPts val="0"/>
                  </a:spcAft>
                </a:pPr>
                <a:r>
                  <a:rPr lang="en-US" altLang="zh-CN" sz="2400" b="1" kern="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a:t>
                </a:r>
                <a:r>
                  <a:rPr lang="zh-CN" altLang="zh-CN" sz="2400" b="1" kern="0" dirty="0">
                    <a:solidFill>
                      <a:schemeClr val="bg1"/>
                    </a:solidFill>
                    <a:effectLst/>
                    <a:latin typeface="Times New Roman" panose="02020603050405020304" pitchFamily="18" charset="0"/>
                    <a:ea typeface="宋体" panose="02010600030101010101" pitchFamily="2" charset="-122"/>
                  </a:rPr>
                  <a:t>】</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是任一非空集合，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上</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某</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个函数，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𝒏</m:t>
                    </m:r>
                  </m:oMath>
                </a14:m>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个相同函数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的复合运算称为</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zh-CN" altLang="zh-CN" sz="2400" b="1" kern="100">
                        <a:solidFill>
                          <a:srgbClr val="FFFF00"/>
                        </a:solidFill>
                        <a:latin typeface="Cambria Math" panose="02040503050406030204" pitchFamily="18" charset="0"/>
                        <a:ea typeface="宋体" panose="02010600030101010101" pitchFamily="2" charset="-122"/>
                      </a:rPr>
                      <m:t>的</m:t>
                    </m:r>
                    <m:r>
                      <a:rPr lang="en-US" altLang="zh-CN" sz="2400" b="1" i="1" kern="100">
                        <a:solidFill>
                          <a:srgbClr val="FFFF00"/>
                        </a:solidFill>
                        <a:latin typeface="Cambria Math" panose="02040503050406030204" pitchFamily="18" charset="0"/>
                        <a:ea typeface="宋体" panose="02010600030101010101" pitchFamily="2" charset="-122"/>
                      </a:rPr>
                      <m:t>𝒏</m:t>
                    </m:r>
                  </m:oMath>
                </a14:m>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次迭代运算</a:t>
                </a: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a:t>
                </a:r>
                <a:endParaRPr lang="en-US"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endParaRPr>
              </a:p>
              <a:p>
                <a:pPr indent="266700" algn="just">
                  <a:lnSpc>
                    <a:spcPts val="48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    </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运算结果记为</a:t>
                </a:r>
                <a14:m>
                  <m:oMath xmlns:m="http://schemas.openxmlformats.org/officeDocument/2006/math">
                    <m:sSup>
                      <m:sSupPr>
                        <m:ctrlPr>
                          <a:rPr lang="zh-CN" altLang="zh-CN" sz="2400" b="1" i="1" kern="100">
                            <a:solidFill>
                              <a:schemeClr val="bg1"/>
                            </a:solidFill>
                            <a:latin typeface="Cambria Math" panose="02040503050406030204" pitchFamily="18" charset="0"/>
                            <a:ea typeface="Cambria Math" panose="02040503050406030204" pitchFamily="18" charset="0"/>
                          </a:rPr>
                        </m:ctrlPr>
                      </m:sSupPr>
                      <m:e>
                        <m:r>
                          <a:rPr lang="en-US" altLang="zh-CN" sz="2400" b="1" i="1" kern="100">
                            <a:solidFill>
                              <a:schemeClr val="bg1"/>
                            </a:solidFill>
                            <a:latin typeface="Cambria Math" panose="02040503050406030204" pitchFamily="18" charset="0"/>
                            <a:ea typeface="宋体" panose="02010600030101010101" pitchFamily="2" charset="-122"/>
                          </a:rPr>
                          <m:t>𝒇</m:t>
                        </m:r>
                      </m:e>
                      <m:sup>
                        <m:r>
                          <a:rPr lang="en-US" altLang="zh-CN" sz="2400" b="1" i="1" kern="100">
                            <a:solidFill>
                              <a:schemeClr val="bg1"/>
                            </a:solidFill>
                            <a:latin typeface="Cambria Math" panose="02040503050406030204" pitchFamily="18" charset="0"/>
                            <a:ea typeface="宋体" panose="02010600030101010101" pitchFamily="2" charset="-122"/>
                          </a:rPr>
                          <m:t>𝒏</m:t>
                        </m:r>
                      </m:sup>
                    </m:sSup>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，称为</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oMath>
                </a14:m>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的</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𝒏</m:t>
                    </m:r>
                  </m:oMath>
                </a14:m>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次迭代函数</a:t>
                </a: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即有</a:t>
                </a: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a:t>
                </a:r>
                <a:endParaRPr lang="en-US"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endParaRPr>
              </a:p>
              <a:p>
                <a:pPr indent="266700" algn="ctr">
                  <a:lnSpc>
                    <a:spcPts val="4800"/>
                  </a:lnSpc>
                  <a:spcAft>
                    <a:spcPts val="0"/>
                  </a:spcAft>
                </a:pPr>
                <a14:m>
                  <m:oMath xmlns:m="http://schemas.openxmlformats.org/officeDocument/2006/math">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𝒏</m:t>
                        </m:r>
                        <m:r>
                          <a:rPr lang="en-US" altLang="zh-CN" sz="2400" b="1" i="1" kern="100">
                            <a:solidFill>
                              <a:srgbClr val="FFFF00"/>
                            </a:solidFill>
                            <a:latin typeface="Cambria Math" panose="02040503050406030204" pitchFamily="18" charset="0"/>
                            <a:ea typeface="宋体" panose="02010600030101010101" pitchFamily="2" charset="-122"/>
                          </a:rPr>
                          <m:t>)</m:t>
                        </m:r>
                      </m:sup>
                    </m:sSup>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r>
                      <a:rPr lang="en-US" altLang="zh-CN" sz="2400" b="1" i="1" kern="100">
                        <a:solidFill>
                          <a:srgbClr val="FFFF00"/>
                        </a:solidFill>
                        <a:latin typeface="Cambria Math" panose="02040503050406030204" pitchFamily="18" charset="0"/>
                        <a:ea typeface="宋体" panose="02010600030101010101" pitchFamily="2" charset="-122"/>
                      </a:rPr>
                      <m:t>(</m:t>
                    </m:r>
                    <m:sSup>
                      <m:sSupPr>
                        <m:ctrlPr>
                          <a:rPr lang="zh-CN" altLang="zh-CN" sz="2400" b="1" i="1" kern="10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r>
                          <a:rPr lang="en-US" altLang="zh-CN" sz="2400" b="1" i="1" kern="100">
                            <a:solidFill>
                              <a:srgbClr val="FFFF00"/>
                            </a:solidFill>
                            <a:latin typeface="Cambria Math" panose="02040503050406030204" pitchFamily="18" charset="0"/>
                            <a:ea typeface="宋体" panose="02010600030101010101" pitchFamily="2" charset="-122"/>
                          </a:rPr>
                          <m:t>)</m:t>
                        </m:r>
                      </m:sup>
                    </m:sSup>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oMath>
                </a14:m>
                <a:r>
                  <a:rPr lang="en-US"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 </a:t>
                </a:r>
              </a:p>
              <a:p>
                <a:pPr indent="266700" algn="ctr">
                  <a:lnSpc>
                    <a:spcPts val="4800"/>
                  </a:lnSpc>
                  <a:spcAft>
                    <a:spcPts val="0"/>
                  </a:spcAft>
                </a:pP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或者：</a:t>
                </a:r>
                <a14:m>
                  <m:oMath xmlns:m="http://schemas.openxmlformats.org/officeDocument/2006/math">
                    <m:sSub>
                      <m:sSubPr>
                        <m:ctrlPr>
                          <a:rPr lang="zh-CN" altLang="zh-CN" sz="2400" b="1" i="1" kern="100" smtClean="0">
                            <a:solidFill>
                              <a:schemeClr val="accent1">
                                <a:lumMod val="20000"/>
                                <a:lumOff val="80000"/>
                              </a:schemeClr>
                            </a:solidFill>
                            <a:latin typeface="Cambria Math" panose="02040503050406030204" pitchFamily="18" charset="0"/>
                            <a:ea typeface="Cambria Math" panose="02040503050406030204" pitchFamily="18" charset="0"/>
                          </a:rPr>
                        </m:ctrlPr>
                      </m:sSubPr>
                      <m:e>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𝒙</m:t>
                        </m:r>
                      </m:e>
                      <m:sub>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𝒏</m:t>
                        </m:r>
                      </m:sub>
                    </m:sSub>
                  </m:oMath>
                </a14:m>
                <a:r>
                  <a:rPr lang="en-US" altLang="zh-CN" sz="2400" b="1" kern="100" dirty="0">
                    <a:solidFill>
                      <a:schemeClr val="accent1">
                        <a:lumMod val="20000"/>
                        <a:lumOff val="80000"/>
                      </a:schemeClr>
                    </a:solidFill>
                    <a:latin typeface="Times New Roman" panose="02020603050405020304" pitchFamily="18" charset="0"/>
                    <a:ea typeface="宋体" panose="02010600030101010101" pitchFamily="2" charset="-122"/>
                    <a:cs typeface="Arial" panose="020B0604020202020204" pitchFamily="34" charset="0"/>
                  </a:rPr>
                  <a:t>=</a:t>
                </a:r>
                <a14:m>
                  <m:oMath xmlns:m="http://schemas.openxmlformats.org/officeDocument/2006/math">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𝒇</m:t>
                    </m:r>
                    <m:d>
                      <m:dPr>
                        <m:ctrlPr>
                          <a:rPr lang="zh-CN" altLang="zh-CN" sz="2400" b="1" i="1" kern="100">
                            <a:solidFill>
                              <a:schemeClr val="accent1">
                                <a:lumMod val="20000"/>
                                <a:lumOff val="80000"/>
                              </a:schemeClr>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accent1">
                                    <a:lumMod val="20000"/>
                                    <a:lumOff val="80000"/>
                                  </a:schemeClr>
                                </a:solidFill>
                                <a:latin typeface="Cambria Math" panose="02040503050406030204" pitchFamily="18" charset="0"/>
                                <a:ea typeface="Cambria Math" panose="02040503050406030204" pitchFamily="18" charset="0"/>
                              </a:rPr>
                            </m:ctrlPr>
                          </m:sSubPr>
                          <m:e>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𝒙</m:t>
                            </m:r>
                          </m:e>
                          <m:sub>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𝒏</m:t>
                            </m:r>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m:t>
                            </m:r>
                            <m:r>
                              <a:rPr lang="en-US" altLang="zh-CN" sz="2400" b="1" i="1" kern="100">
                                <a:solidFill>
                                  <a:schemeClr val="accent1">
                                    <a:lumMod val="20000"/>
                                    <a:lumOff val="80000"/>
                                  </a:schemeClr>
                                </a:solidFill>
                                <a:latin typeface="Cambria Math" panose="02040503050406030204" pitchFamily="18" charset="0"/>
                                <a:ea typeface="宋体" panose="02010600030101010101" pitchFamily="2" charset="-122"/>
                              </a:rPr>
                              <m:t>𝟏</m:t>
                            </m:r>
                          </m:sub>
                        </m:sSub>
                      </m:e>
                    </m:d>
                  </m:oMath>
                </a14:m>
                <a:endParaRPr lang="en-US"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endParaRPr>
              </a:p>
              <a:p>
                <a:pPr indent="266700" algn="just">
                  <a:lnSpc>
                    <a:spcPts val="4800"/>
                  </a:lnSpc>
                  <a:spcAft>
                    <a:spcPts val="0"/>
                  </a:spcAft>
                </a:pP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    约定：</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oMath>
                </a14:m>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的</a:t>
                </a:r>
                <a:r>
                  <a:rPr lang="en-US"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0</a:t>
                </a:r>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次迭代函数为其自变量</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𝒙</m:t>
                    </m:r>
                  </m:oMath>
                </a14:m>
                <a:r>
                  <a:rPr lang="zh-CN" altLang="en-US"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即有</a:t>
                </a: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 </a:t>
                </a:r>
                <a:endParaRPr lang="en-US"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endParaRPr>
              </a:p>
              <a:p>
                <a:pPr indent="266700" algn="ctr">
                  <a:lnSpc>
                    <a:spcPts val="4800"/>
                  </a:lnSpc>
                  <a:spcAft>
                    <a:spcPts val="0"/>
                  </a:spcAft>
                </a:pPr>
                <a14:m>
                  <m:oMath xmlns:m="http://schemas.openxmlformats.org/officeDocument/2006/math">
                    <m:sSup>
                      <m:sSupPr>
                        <m:ctrlPr>
                          <a:rPr lang="zh-CN" altLang="zh-CN" sz="2400" b="1" i="1" kern="100" smtClean="0">
                            <a:solidFill>
                              <a:srgbClr val="FFFF00"/>
                            </a:solidFill>
                            <a:latin typeface="Cambria Math" panose="02040503050406030204" pitchFamily="18" charset="0"/>
                            <a:ea typeface="Cambria Math" panose="02040503050406030204" pitchFamily="18" charset="0"/>
                          </a:rPr>
                        </m:ctrlPr>
                      </m:sSupPr>
                      <m:e>
                        <m:r>
                          <a:rPr lang="en-US" altLang="zh-CN" sz="2400" b="1" i="1" kern="100">
                            <a:solidFill>
                              <a:srgbClr val="FFFF00"/>
                            </a:solidFill>
                            <a:latin typeface="Cambria Math" panose="02040503050406030204" pitchFamily="18" charset="0"/>
                            <a:ea typeface="宋体" panose="02010600030101010101" pitchFamily="2" charset="-122"/>
                          </a:rPr>
                          <m:t>𝒇</m:t>
                        </m:r>
                      </m:e>
                      <m:sup>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𝟎</m:t>
                        </m:r>
                        <m:r>
                          <a:rPr lang="en-US" altLang="zh-CN" sz="2400" b="1" i="1" kern="100">
                            <a:solidFill>
                              <a:srgbClr val="FFFF00"/>
                            </a:solidFill>
                            <a:latin typeface="Cambria Math" panose="02040503050406030204" pitchFamily="18" charset="0"/>
                            <a:ea typeface="宋体" panose="02010600030101010101" pitchFamily="2" charset="-122"/>
                          </a:rPr>
                          <m:t>)</m:t>
                        </m:r>
                      </m:sup>
                    </m:sSup>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𝒙</m:t>
                    </m:r>
                  </m:oMath>
                </a14:m>
                <a:r>
                  <a:rPr lang="en-US"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 </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CD971094-FEF3-4F50-B310-55A1569029E4}"/>
                  </a:ext>
                </a:extLst>
              </p:cNvPr>
              <p:cNvSpPr>
                <a:spLocks noRot="1" noChangeAspect="1" noMove="1" noResize="1" noEditPoints="1" noAdjustHandles="1" noChangeArrowheads="1" noChangeShapeType="1" noTextEdit="1"/>
              </p:cNvSpPr>
              <p:nvPr/>
            </p:nvSpPr>
            <p:spPr>
              <a:xfrm>
                <a:off x="251520" y="1891133"/>
                <a:ext cx="8580559" cy="4318746"/>
              </a:xfrm>
              <a:prstGeom prst="rect">
                <a:avLst/>
              </a:prstGeom>
              <a:blipFill>
                <a:blip r:embed="rId3"/>
                <a:stretch>
                  <a:fillRect l="-1065" r="-106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9260998"/>
      </p:ext>
    </p:extLst>
  </p:cSld>
  <p:clrMapOvr>
    <a:masterClrMapping/>
  </p:clrMapOvr>
  <p:transition spd="med">
    <p:wipe dir="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3B6A63E-7859-494B-9734-3B27D5A14DA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1264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1264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
            <a:extLst>
              <a:ext uri="{FF2B5EF4-FFF2-40B4-BE49-F238E27FC236}">
                <a16:creationId xmlns:a16="http://schemas.microsoft.com/office/drawing/2014/main" id="{C3A20203-97AF-4093-B964-6D4343B8964E}"/>
              </a:ext>
            </a:extLst>
          </p:cNvPr>
          <p:cNvSpPr txBox="1">
            <a:spLocks noChangeArrowheads="1"/>
          </p:cNvSpPr>
          <p:nvPr/>
        </p:nvSpPr>
        <p:spPr bwMode="auto">
          <a:xfrm>
            <a:off x="1366068" y="628137"/>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递归函数定义</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B5C9BC30-DB99-40C6-BEB7-F35A5CE7C499}"/>
                  </a:ext>
                </a:extLst>
              </p:cNvPr>
              <p:cNvSpPr/>
              <p:nvPr/>
            </p:nvSpPr>
            <p:spPr>
              <a:xfrm>
                <a:off x="574216" y="1611021"/>
                <a:ext cx="8136904" cy="2353658"/>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a:t>
                </a:r>
                <a:r>
                  <a:rPr lang="zh-CN" altLang="zh-CN" sz="2400" b="1" kern="0" dirty="0">
                    <a:solidFill>
                      <a:schemeClr val="bg1"/>
                    </a:solidFill>
                    <a:effectLst/>
                    <a:latin typeface="Times New Roman" panose="02020603050405020304" pitchFamily="18" charset="0"/>
                    <a:ea typeface="宋体" panose="02010600030101010101" pitchFamily="2" charset="-122"/>
                  </a:rPr>
                  <a:t>】</a:t>
                </a:r>
                <a:r>
                  <a:rPr lang="zh-CN" altLang="en-US" sz="2400" b="1" kern="0" dirty="0">
                    <a:solidFill>
                      <a:schemeClr val="bg1"/>
                    </a:solidFill>
                    <a:effectLst/>
                    <a:latin typeface="Times New Roman" panose="02020603050405020304" pitchFamily="18" charset="0"/>
                    <a:ea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是</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集合</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上的</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函数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如果</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函数值</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𝒏</m:t>
                        </m:r>
                      </m:sub>
                    </m:sSub>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可以通过</a:t>
                </a:r>
                <a:r>
                  <a:rPr lang="zh-CN" altLang="en-US"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以</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𝟏</m:t>
                            </m:r>
                          </m:sub>
                        </m:sSub>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𝟐</m:t>
                            </m:r>
                          </m:sub>
                        </m:sSub>
                      </m:e>
                    </m:d>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𝒇</m:t>
                    </m:r>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𝒙</m:t>
                            </m:r>
                          </m:e>
                          <m:sub>
                            <m:r>
                              <a:rPr lang="en-US" altLang="zh-CN" sz="2400" b="1" i="1" kern="100">
                                <a:solidFill>
                                  <a:srgbClr val="FFFF00"/>
                                </a:solidFill>
                                <a:latin typeface="Cambria Math" panose="02040503050406030204" pitchFamily="18" charset="0"/>
                                <a:ea typeface="宋体" panose="02010600030101010101" pitchFamily="2" charset="-122"/>
                              </a:rPr>
                              <m:t>𝒏</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𝒌</m:t>
                            </m:r>
                          </m:sub>
                        </m:sSub>
                      </m:e>
                    </m:d>
                  </m:oMath>
                </a14:m>
                <a:r>
                  <a:rPr lang="zh-CN" altLang="en-US"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为</a:t>
                </a:r>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变量的</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某个表达式确定，即有：</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ctr">
                  <a:lnSpc>
                    <a:spcPts val="36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𝒏</m:t>
                              </m:r>
                            </m:sub>
                          </m:sSub>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𝑺</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𝟏</m:t>
                              </m:r>
                            </m:sub>
                          </m:sSub>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𝟐</m:t>
                              </m:r>
                            </m:sub>
                          </m:sSub>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𝒇</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𝒙</m:t>
                              </m:r>
                            </m:e>
                            <m:sub>
                              <m:r>
                                <a:rPr lang="en-US" altLang="zh-CN" sz="2400" b="1" i="1" kern="100">
                                  <a:solidFill>
                                    <a:schemeClr val="bg1"/>
                                  </a:solidFill>
                                  <a:latin typeface="Cambria Math" panose="02040503050406030204" pitchFamily="18" charset="0"/>
                                  <a:ea typeface="宋体" panose="02010600030101010101" pitchFamily="2" charset="-122"/>
                                </a:rPr>
                                <m:t>𝒏</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𝒌</m:t>
                              </m:r>
                            </m:sub>
                          </m:sSub>
                        </m:e>
                      </m:d>
                      <m:r>
                        <a:rPr lang="en-US" altLang="zh-CN" sz="2400" b="1" i="1" kern="100">
                          <a:solidFill>
                            <a:schemeClr val="bg1"/>
                          </a:solidFill>
                          <a:latin typeface="Cambria Math" panose="02040503050406030204" pitchFamily="18" charset="0"/>
                          <a:ea typeface="宋体" panose="02010600030101010101" pitchFamily="2" charset="-122"/>
                        </a:rPr>
                        <m:t>)</m:t>
                      </m:r>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则称</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𝒇</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𝒙</m:t>
                    </m:r>
                    <m:r>
                      <a:rPr lang="en-US" altLang="zh-CN" sz="2400" b="1" i="1" kern="100">
                        <a:solidFill>
                          <a:schemeClr val="bg1"/>
                        </a:solidFill>
                        <a:latin typeface="Cambria Math" panose="02040503050406030204" pitchFamily="18" charset="0"/>
                        <a:ea typeface="宋体" panose="02010600030101010101" pitchFamily="2" charset="-122"/>
                      </a:rPr>
                      <m:t>)</m:t>
                    </m:r>
                  </m:oMath>
                </a14:m>
                <a:r>
                  <a:rPr lang="zh-CN" altLang="en-US"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是</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一个</a:t>
                </a:r>
                <a14:m>
                  <m:oMath xmlns:m="http://schemas.openxmlformats.org/officeDocument/2006/math">
                    <m:r>
                      <a:rPr lang="en-US" altLang="zh-CN" sz="2400" b="1" i="1" kern="100" smtClean="0">
                        <a:solidFill>
                          <a:srgbClr val="FFFF00"/>
                        </a:solidFill>
                        <a:latin typeface="Cambria Math" panose="02040503050406030204" pitchFamily="18" charset="0"/>
                        <a:ea typeface="宋体" panose="02010600030101010101" pitchFamily="2" charset="-122"/>
                      </a:rPr>
                      <m:t>𝒌</m:t>
                    </m:r>
                  </m:oMath>
                </a14:m>
                <a:r>
                  <a:rPr lang="zh-CN" altLang="zh-CN" sz="2400" b="1" kern="100" dirty="0">
                    <a:solidFill>
                      <a:srgbClr val="FFFF00"/>
                    </a:solidFill>
                    <a:latin typeface="Times New Roman" panose="02020603050405020304" pitchFamily="18" charset="0"/>
                    <a:ea typeface="宋体" panose="02010600030101010101" pitchFamily="2" charset="-122"/>
                    <a:cs typeface="Arial" panose="020B0604020202020204" pitchFamily="34" charset="0"/>
                  </a:rPr>
                  <a:t>阶递归函数</a:t>
                </a:r>
                <a:r>
                  <a:rPr lang="zh-CN"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a:t>
                </a:r>
                <a:r>
                  <a:rPr lang="en-US" altLang="zh-CN" sz="2400" b="1" kern="100" dirty="0">
                    <a:solidFill>
                      <a:schemeClr val="bg1"/>
                    </a:solidFill>
                    <a:latin typeface="Times New Roman" panose="02020603050405020304" pitchFamily="18" charset="0"/>
                    <a:ea typeface="宋体" panose="02010600030101010101" pitchFamily="2" charset="-122"/>
                    <a:cs typeface="Arial" panose="020B0604020202020204" pitchFamily="34" charset="0"/>
                  </a:rPr>
                  <a:t>   </a:t>
                </a:r>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B5C9BC30-DB99-40C6-BEB7-F35A5CE7C499}"/>
                  </a:ext>
                </a:extLst>
              </p:cNvPr>
              <p:cNvSpPr>
                <a:spLocks noRot="1" noChangeAspect="1" noMove="1" noResize="1" noEditPoints="1" noAdjustHandles="1" noChangeArrowheads="1" noChangeShapeType="1" noTextEdit="1"/>
              </p:cNvSpPr>
              <p:nvPr/>
            </p:nvSpPr>
            <p:spPr>
              <a:xfrm>
                <a:off x="574216" y="1611021"/>
                <a:ext cx="8136904" cy="2353658"/>
              </a:xfrm>
              <a:prstGeom prst="rect">
                <a:avLst/>
              </a:prstGeom>
              <a:blipFill>
                <a:blip r:embed="rId3"/>
                <a:stretch>
                  <a:fillRect l="-1124" t="-1036" r="-1199" b="-4145"/>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5EF2EA26-6A10-4004-97DC-BF283B9C5214}"/>
              </a:ext>
            </a:extLst>
          </p:cNvPr>
          <p:cNvSpPr/>
          <p:nvPr/>
        </p:nvSpPr>
        <p:spPr>
          <a:xfrm>
            <a:off x="179679" y="4209255"/>
            <a:ext cx="8852346" cy="1891993"/>
          </a:xfrm>
          <a:prstGeom prst="rect">
            <a:avLst/>
          </a:prstGeom>
          <a:solidFill>
            <a:schemeClr val="accent5">
              <a:lumMod val="20000"/>
              <a:lumOff val="80000"/>
            </a:schemeClr>
          </a:solidFill>
        </p:spPr>
        <p:txBody>
          <a:bodyPr wrap="square">
            <a:spAutoFit/>
          </a:bodyPr>
          <a:lstStyle/>
          <a:p>
            <a:pPr indent="266700" algn="just">
              <a:lnSpc>
                <a:spcPts val="3600"/>
              </a:lnSpc>
              <a:spcAft>
                <a:spcPts val="0"/>
              </a:spcAft>
            </a:pPr>
            <a:r>
              <a:rPr lang="en-US" altLang="zh-CN" sz="2400" b="1" kern="0" dirty="0">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使用递归方式计算函数必须具备如下两个基本条件：</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）函数存在递归结束条件及结束时的值，称为</a:t>
            </a:r>
            <a:r>
              <a:rPr lang="zh-CN" altLang="zh-CN" sz="2400" b="1" kern="0" dirty="0">
                <a:solidFill>
                  <a:schemeClr val="accent6">
                    <a:lumMod val="75000"/>
                  </a:schemeClr>
                </a:solidFill>
                <a:latin typeface="Times New Roman" panose="02020603050405020304" pitchFamily="18" charset="0"/>
                <a:ea typeface="宋体" panose="02010600030101010101" pitchFamily="2" charset="-122"/>
                <a:cs typeface="宋体" panose="02010600030101010101" pitchFamily="2" charset="-122"/>
              </a:rPr>
              <a:t>递归出口</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）函数能够用递归形式表示，且递归向终止条件发展，称递归表达式为</a:t>
            </a:r>
            <a:r>
              <a:rPr lang="zh-CN" altLang="zh-CN" sz="2400" b="1" kern="0" dirty="0">
                <a:solidFill>
                  <a:schemeClr val="accent6">
                    <a:lumMod val="75000"/>
                  </a:schemeClr>
                </a:solidFill>
                <a:latin typeface="Times New Roman" panose="02020603050405020304" pitchFamily="18" charset="0"/>
                <a:ea typeface="宋体" panose="02010600030101010101" pitchFamily="2" charset="-122"/>
                <a:cs typeface="宋体" panose="02010600030101010101" pitchFamily="2" charset="-122"/>
              </a:rPr>
              <a:t>递归体</a:t>
            </a:r>
            <a:r>
              <a:rPr lang="zh-CN" altLang="zh-CN" sz="2400" b="1" kern="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transition spd="med">
    <p:wipe dir="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3B6A63E-7859-494B-9734-3B27D5A14DA9}"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1264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1264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2">
            <a:extLst>
              <a:ext uri="{FF2B5EF4-FFF2-40B4-BE49-F238E27FC236}">
                <a16:creationId xmlns:a16="http://schemas.microsoft.com/office/drawing/2014/main" id="{C3A20203-97AF-4093-B964-6D4343B8964E}"/>
              </a:ext>
            </a:extLst>
          </p:cNvPr>
          <p:cNvSpPr txBox="1">
            <a:spLocks noChangeArrowheads="1"/>
          </p:cNvSpPr>
          <p:nvPr/>
        </p:nvSpPr>
        <p:spPr bwMode="auto">
          <a:xfrm>
            <a:off x="1366068" y="628137"/>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4800" b="1" dirty="0">
                <a:solidFill>
                  <a:schemeClr val="bg1"/>
                </a:solidFill>
                <a:latin typeface="宋体" pitchFamily="2" charset="-122"/>
                <a:ea typeface="宋体" pitchFamily="2" charset="-122"/>
              </a:rPr>
              <a:t> </a:t>
            </a:r>
            <a:r>
              <a:rPr lang="zh-CN" altLang="en-US" sz="4800" b="1" dirty="0">
                <a:solidFill>
                  <a:schemeClr val="bg1"/>
                </a:solidFill>
                <a:latin typeface="宋体" pitchFamily="2" charset="-122"/>
                <a:ea typeface="宋体" pitchFamily="2" charset="-122"/>
              </a:rPr>
              <a:t>递归的基本思想</a:t>
            </a:r>
          </a:p>
        </p:txBody>
      </p:sp>
      <p:pic>
        <p:nvPicPr>
          <p:cNvPr id="4" name="图片 3">
            <a:extLst>
              <a:ext uri="{FF2B5EF4-FFF2-40B4-BE49-F238E27FC236}">
                <a16:creationId xmlns:a16="http://schemas.microsoft.com/office/drawing/2014/main" id="{160FB20E-AD6C-4370-8840-812C3643F218}"/>
              </a:ext>
            </a:extLst>
          </p:cNvPr>
          <p:cNvPicPr>
            <a:picLocks noChangeAspect="1"/>
          </p:cNvPicPr>
          <p:nvPr/>
        </p:nvPicPr>
        <p:blipFill>
          <a:blip r:embed="rId3"/>
          <a:stretch>
            <a:fillRect/>
          </a:stretch>
        </p:blipFill>
        <p:spPr>
          <a:xfrm>
            <a:off x="524243" y="1597310"/>
            <a:ext cx="8236850" cy="4666784"/>
          </a:xfrm>
          <a:prstGeom prst="rect">
            <a:avLst/>
          </a:prstGeom>
        </p:spPr>
      </p:pic>
    </p:spTree>
    <p:extLst>
      <p:ext uri="{BB962C8B-B14F-4D97-AF65-F5344CB8AC3E}">
        <p14:creationId xmlns:p14="http://schemas.microsoft.com/office/powerpoint/2010/main" val="1274655164"/>
      </p:ext>
    </p:extLst>
  </p:cSld>
  <p:clrMapOvr>
    <a:masterClrMapping/>
  </p:clrMapOvr>
  <p:transition spd="med">
    <p:wipe dir="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75CF3279-6621-4382-A355-D888ABFDFA4F}"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1571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15716"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例 题</a:t>
            </a:r>
          </a:p>
        </p:txBody>
      </p:sp>
      <p:pic>
        <p:nvPicPr>
          <p:cNvPr id="11571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663575" y="1966913"/>
            <a:ext cx="8216900" cy="1816100"/>
          </a:xfrm>
          <a:prstGeom prst="rect">
            <a:avLst/>
          </a:prstGeom>
          <a:solidFill>
            <a:schemeClr val="accent3">
              <a:lumMod val="85000"/>
            </a:schemeClr>
          </a:solidFill>
        </p:spPr>
        <p:txBody>
          <a:bodyPr>
            <a:spAutoFit/>
          </a:bodyPr>
          <a:lstStyle/>
          <a:p>
            <a:pPr>
              <a:defRPr/>
            </a:pPr>
            <a:r>
              <a:rPr lang="zh-CN" altLang="zh-CN" sz="2800" b="1" dirty="0">
                <a:solidFill>
                  <a:schemeClr val="tx1"/>
                </a:solidFill>
              </a:rPr>
              <a:t>【例题】</a:t>
            </a:r>
            <a:r>
              <a:rPr lang="zh-CN" altLang="zh-CN" sz="2800" dirty="0">
                <a:solidFill>
                  <a:schemeClr val="tx1"/>
                </a:solidFill>
              </a:rPr>
              <a:t>小猴在某天摘了一些桃子，当天吃掉一半多一个，第二天接着吃掉剩下的一半多一个，以后每天都吃掉尚存桃子的一半多一个，第</a:t>
            </a:r>
            <a:r>
              <a:rPr lang="en-US" altLang="zh-CN" sz="2800" dirty="0">
                <a:solidFill>
                  <a:schemeClr val="tx1"/>
                </a:solidFill>
              </a:rPr>
              <a:t>7</a:t>
            </a:r>
            <a:r>
              <a:rPr lang="zh-CN" altLang="zh-CN" sz="2800" dirty="0">
                <a:solidFill>
                  <a:schemeClr val="tx1"/>
                </a:solidFill>
              </a:rPr>
              <a:t>天早上只剩</a:t>
            </a:r>
            <a:r>
              <a:rPr lang="en-US" altLang="zh-CN" sz="2800" dirty="0">
                <a:solidFill>
                  <a:schemeClr val="tx1"/>
                </a:solidFill>
              </a:rPr>
              <a:t>1</a:t>
            </a:r>
            <a:r>
              <a:rPr lang="zh-CN" altLang="zh-CN" sz="2800" dirty="0">
                <a:solidFill>
                  <a:schemeClr val="tx1"/>
                </a:solidFill>
              </a:rPr>
              <a:t>个，问小猴摘了多少个桃子？</a:t>
            </a:r>
          </a:p>
        </p:txBody>
      </p:sp>
      <p:sp>
        <p:nvSpPr>
          <p:cNvPr id="3" name="文本框 2"/>
          <p:cNvSpPr txBox="1">
            <a:spLocks noRot="1" noChangeAspect="1" noMove="1" noResize="1" noEditPoints="1" noAdjustHandles="1" noChangeArrowheads="1" noChangeShapeType="1" noTextEdit="1"/>
          </p:cNvSpPr>
          <p:nvPr/>
        </p:nvSpPr>
        <p:spPr>
          <a:xfrm>
            <a:off x="664021" y="4183727"/>
            <a:ext cx="8136259" cy="1815882"/>
          </a:xfrm>
          <a:prstGeom prst="rect">
            <a:avLst/>
          </a:prstGeom>
          <a:blipFill rotWithShape="0">
            <a:blip r:embed="rId3"/>
            <a:stretch>
              <a:fillRect l="-1573" t="-4027" b="-7718"/>
            </a:stretch>
          </a:blipFill>
        </p:spPr>
        <p:txBody>
          <a:bodyPr/>
          <a:lstStyle/>
          <a:p>
            <a:pPr>
              <a:defRPr/>
            </a:pPr>
            <a:r>
              <a:rPr lang="zh-CN" altLang="en-US">
                <a:noFill/>
              </a:rPr>
              <a:t> </a:t>
            </a:r>
          </a:p>
        </p:txBody>
      </p:sp>
    </p:spTree>
  </p:cSld>
  <p:clrMapOvr>
    <a:masterClrMapping/>
  </p:clrMapOvr>
  <p:transition spd="med">
    <p:wipe dir="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C9B3F519-D017-40FA-8D90-26C568B718F1}"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1673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16740"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递归运算的定义</a:t>
            </a:r>
          </a:p>
        </p:txBody>
      </p:sp>
      <p:pic>
        <p:nvPicPr>
          <p:cNvPr id="11674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278259" y="1925169"/>
            <a:ext cx="8660507" cy="4240135"/>
          </a:xfrm>
          <a:prstGeom prst="rect">
            <a:avLst/>
          </a:prstGeom>
          <a:blipFill rotWithShape="0">
            <a:blip r:embed="rId3"/>
            <a:stretch>
              <a:fillRect l="-1127" t="-1151" r="-211" b="-2014"/>
            </a:stretch>
          </a:blipFill>
        </p:spPr>
        <p:txBody>
          <a:bodyPr/>
          <a:lstStyle/>
          <a:p>
            <a:pPr>
              <a:defRPr/>
            </a:pPr>
            <a:r>
              <a:rPr lang="zh-CN" altLang="en-US">
                <a:noFill/>
              </a:rPr>
              <a:t> </a:t>
            </a:r>
          </a:p>
        </p:txBody>
      </p:sp>
    </p:spTree>
  </p:cSld>
  <p:clrMapOvr>
    <a:masterClrMapping/>
  </p:clrMapOvr>
  <p:transition spd="med">
    <p:wipe dir="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日期占位符 3"/>
          <p:cNvSpPr>
            <a:spLocks noGrp="1"/>
          </p:cNvSpPr>
          <p:nvPr>
            <p:ph type="dt" sz="quarter" idx="10"/>
          </p:nvPr>
        </p:nvSpPr>
        <p:spPr>
          <a:noFill/>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fld id="{5AA2DBD2-E030-4B9D-BC72-AEC05A2523F5}" type="datetime1">
              <a:rPr kumimoji="0" lang="zh-CN" altLang="en-US" sz="1400" smtClean="0">
                <a:solidFill>
                  <a:srgbClr val="FF0000"/>
                </a:solidFill>
                <a:latin typeface="黑体" pitchFamily="49" charset="-122"/>
                <a:ea typeface="黑体" pitchFamily="49" charset="-122"/>
              </a:rPr>
              <a:pPr/>
              <a:t>2020/9/7</a:t>
            </a:fld>
            <a:endParaRPr kumimoji="0" lang="en-US" altLang="zh-CN" sz="1400">
              <a:solidFill>
                <a:srgbClr val="FF0000"/>
              </a:solidFill>
              <a:latin typeface="黑体" pitchFamily="49" charset="-122"/>
              <a:ea typeface="黑体" pitchFamily="49" charset="-122"/>
            </a:endParaRPr>
          </a:p>
        </p:txBody>
      </p:sp>
      <p:sp>
        <p:nvSpPr>
          <p:cNvPr id="117763" name="Text Box 2"/>
          <p:cNvSpPr txBox="1">
            <a:spLocks noChangeArrowheads="1"/>
          </p:cNvSpPr>
          <p:nvPr/>
        </p:nvSpPr>
        <p:spPr bwMode="auto">
          <a:xfrm>
            <a:off x="1691680" y="1281732"/>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spcBef>
                <a:spcPct val="50000"/>
              </a:spcBef>
              <a:buClr>
                <a:schemeClr val="bg1"/>
              </a:buClr>
              <a:buFont typeface="Wingdings" pitchFamily="2" charset="2"/>
              <a:buNone/>
            </a:pPr>
            <a:r>
              <a:rPr lang="zh-CN" altLang="en-US" sz="5400">
                <a:solidFill>
                  <a:schemeClr val="bg1"/>
                </a:solidFill>
                <a:latin typeface="宋体" pitchFamily="2" charset="-122"/>
                <a:ea typeface="宋体" pitchFamily="2" charset="-122"/>
              </a:rPr>
              <a:t>本节内容到此结束</a:t>
            </a:r>
            <a:endParaRPr lang="en-US" altLang="zh-CN" sz="5400">
              <a:solidFill>
                <a:schemeClr val="bg1"/>
              </a:solidFill>
              <a:latin typeface="宋体" pitchFamily="2" charset="-122"/>
              <a:ea typeface="宋体" pitchFamily="2" charset="-122"/>
            </a:endParaRPr>
          </a:p>
        </p:txBody>
      </p:sp>
      <p:sp>
        <p:nvSpPr>
          <p:cNvPr id="117764" name="WordArt 6"/>
          <p:cNvSpPr>
            <a:spLocks noChangeArrowheads="1" noChangeShapeType="1" noTextEdit="1"/>
          </p:cNvSpPr>
          <p:nvPr/>
        </p:nvSpPr>
        <p:spPr bwMode="auto">
          <a:xfrm>
            <a:off x="2590800" y="2924944"/>
            <a:ext cx="4419600" cy="2514600"/>
          </a:xfrm>
          <a:prstGeom prst="rect">
            <a:avLst/>
          </a:prstGeom>
        </p:spPr>
        <p:txBody>
          <a:bodyPr wrap="none" fromWordArt="1">
            <a:prstTxWarp prst="textCascadeUp">
              <a:avLst>
                <a:gd name="adj" fmla="val 44444"/>
              </a:avLst>
            </a:prstTxWarp>
            <a:scene3d>
              <a:camera prst="legacyPerspectiveFront">
                <a:rot lat="20519959" lon="1080000" rev="0"/>
              </a:camera>
              <a:lightRig rig="legacyHarsh2" dir="b"/>
            </a:scene3d>
            <a:sp3d extrusionH="430200" prstMaterial="legacyMatte">
              <a:extrusionClr>
                <a:srgbClr val="FF6600"/>
              </a:extrusionClr>
            </a:sp3d>
          </a:bodyPr>
          <a:lstStyle/>
          <a:p>
            <a:r>
              <a:rPr lang="zh-CN" altLang="en-US" sz="3600" kern="10" dirty="0">
                <a:ln w="9525">
                  <a:round/>
                  <a:headEnd/>
                  <a:tailEnd/>
                </a:ln>
                <a:gradFill rotWithShape="1">
                  <a:gsLst>
                    <a:gs pos="0">
                      <a:srgbClr val="FFE701"/>
                    </a:gs>
                    <a:gs pos="100000">
                      <a:srgbClr val="FE3E02"/>
                    </a:gs>
                  </a:gsLst>
                  <a:lin ang="5400000" scaled="1"/>
                </a:gradFill>
                <a:latin typeface="宋体"/>
                <a:ea typeface="宋体"/>
              </a:rPr>
              <a:t>谢谢大家！</a:t>
            </a:r>
          </a:p>
        </p:txBody>
      </p:sp>
    </p:spTree>
  </p:cSld>
  <p:clrMapOvr>
    <a:masterClrMapping/>
  </p:clrMapOvr>
  <p:transition spd="med">
    <p:wipe dir="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F7E00C3D-36C8-4672-814F-411C64D13177}" type="datetime1">
              <a:rPr kumimoji="0" lang="zh-CN" altLang="en-US" sz="1400" b="1">
                <a:solidFill>
                  <a:srgbClr val="FF0000"/>
                </a:solidFill>
                <a:latin typeface="黑体" pitchFamily="49" charset="-122"/>
              </a:rPr>
              <a:pPr eaLnBrk="1" hangingPunct="1"/>
              <a:t>2020/9/7</a:t>
            </a:fld>
            <a:endParaRPr kumimoji="0" lang="en-US" altLang="zh-CN" sz="1400" b="1">
              <a:solidFill>
                <a:srgbClr val="FF0000"/>
              </a:solidFill>
              <a:latin typeface="黑体" pitchFamily="49" charset="-122"/>
            </a:endParaRPr>
          </a:p>
        </p:txBody>
      </p:sp>
      <p:sp>
        <p:nvSpPr>
          <p:cNvPr id="118787" name="Text Box 2"/>
          <p:cNvSpPr txBox="1">
            <a:spLocks noChangeArrowheads="1"/>
          </p:cNvSpPr>
          <p:nvPr/>
        </p:nvSpPr>
        <p:spPr bwMode="auto">
          <a:xfrm>
            <a:off x="1403350" y="858838"/>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本章学习内容</a:t>
            </a:r>
            <a:endParaRPr lang="zh-CN" altLang="en-US" sz="4800" b="1">
              <a:ea typeface="宋体" pitchFamily="2" charset="-122"/>
            </a:endParaRPr>
          </a:p>
        </p:txBody>
      </p:sp>
      <p:grpSp>
        <p:nvGrpSpPr>
          <p:cNvPr id="2" name="组合 1">
            <a:extLst>
              <a:ext uri="{FF2B5EF4-FFF2-40B4-BE49-F238E27FC236}">
                <a16:creationId xmlns:a16="http://schemas.microsoft.com/office/drawing/2014/main" id="{1830C888-3258-4DAA-91B8-6E4347314BDD}"/>
              </a:ext>
            </a:extLst>
          </p:cNvPr>
          <p:cNvGrpSpPr/>
          <p:nvPr/>
        </p:nvGrpSpPr>
        <p:grpSpPr>
          <a:xfrm>
            <a:off x="2351080" y="2395413"/>
            <a:ext cx="4724400" cy="3049811"/>
            <a:chOff x="2351080" y="2395413"/>
            <a:chExt cx="4724400" cy="3049811"/>
          </a:xfrm>
        </p:grpSpPr>
        <p:sp>
          <p:nvSpPr>
            <p:cNvPr id="1170441" name="AutoShape 9"/>
            <p:cNvSpPr>
              <a:spLocks noChangeArrowheads="1"/>
            </p:cNvSpPr>
            <p:nvPr/>
          </p:nvSpPr>
          <p:spPr bwMode="gray">
            <a:xfrm>
              <a:off x="2732080" y="3661966"/>
              <a:ext cx="4343400" cy="557212"/>
            </a:xfrm>
            <a:prstGeom prst="roundRect">
              <a:avLst>
                <a:gd name="adj" fmla="val 16667"/>
              </a:avLst>
            </a:prstGeom>
            <a:gradFill rotWithShape="1">
              <a:gsLst>
                <a:gs pos="0">
                  <a:schemeClr val="hlink"/>
                </a:gs>
                <a:gs pos="50000">
                  <a:schemeClr val="hlink">
                    <a:gamma/>
                    <a:tint val="21176"/>
                    <a:invGamma/>
                  </a:schemeClr>
                </a:gs>
                <a:gs pos="100000">
                  <a:schemeClr va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118789" name="AutoShape 10"/>
            <p:cNvSpPr>
              <a:spLocks noChangeArrowheads="1"/>
            </p:cNvSpPr>
            <p:nvPr/>
          </p:nvSpPr>
          <p:spPr bwMode="gray">
            <a:xfrm>
              <a:off x="2351080" y="3517503"/>
              <a:ext cx="685800" cy="835025"/>
            </a:xfrm>
            <a:prstGeom prst="diamond">
              <a:avLst/>
            </a:prstGeom>
            <a:solidFill>
              <a:schemeClr va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18790" name="Text Box 11"/>
            <p:cNvSpPr txBox="1">
              <a:spLocks noChangeArrowheads="1"/>
            </p:cNvSpPr>
            <p:nvPr/>
          </p:nvSpPr>
          <p:spPr bwMode="gray">
            <a:xfrm>
              <a:off x="2960680" y="3658791"/>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rPr>
                <a:t>  </a:t>
              </a:r>
              <a:r>
                <a:rPr kumimoji="0" lang="zh-CN" altLang="en-US" sz="2800" b="1" dirty="0">
                  <a:latin typeface="黑体" pitchFamily="49" charset="-122"/>
                  <a:ea typeface="黑体" pitchFamily="49" charset="-122"/>
                </a:rPr>
                <a:t>函数的基本运算</a:t>
              </a:r>
            </a:p>
          </p:txBody>
        </p:sp>
        <p:sp>
          <p:nvSpPr>
            <p:cNvPr id="118791" name="Text Box 12"/>
            <p:cNvSpPr txBox="1">
              <a:spLocks noChangeArrowheads="1"/>
            </p:cNvSpPr>
            <p:nvPr/>
          </p:nvSpPr>
          <p:spPr bwMode="gray">
            <a:xfrm>
              <a:off x="2498718" y="3636566"/>
              <a:ext cx="365125" cy="481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a:solidFill>
                    <a:schemeClr val="bg1"/>
                  </a:solidFill>
                  <a:latin typeface="黑体" pitchFamily="49" charset="-122"/>
                </a:rPr>
                <a:t>2</a:t>
              </a:r>
            </a:p>
          </p:txBody>
        </p:sp>
        <p:sp>
          <p:nvSpPr>
            <p:cNvPr id="1170446" name="AutoShape 14"/>
            <p:cNvSpPr>
              <a:spLocks noChangeArrowheads="1"/>
            </p:cNvSpPr>
            <p:nvPr/>
          </p:nvSpPr>
          <p:spPr bwMode="gray">
            <a:xfrm>
              <a:off x="2732080" y="2608138"/>
              <a:ext cx="4343400" cy="546100"/>
            </a:xfrm>
            <a:prstGeom prst="roundRect">
              <a:avLst>
                <a:gd name="adj" fmla="val 16667"/>
              </a:avLst>
            </a:prstGeom>
            <a:gradFill rotWithShape="1">
              <a:gsLst>
                <a:gs pos="0">
                  <a:schemeClr val="folHlink"/>
                </a:gs>
                <a:gs pos="50000">
                  <a:schemeClr val="folHlink">
                    <a:gamma/>
                    <a:tint val="21176"/>
                    <a:invGamma/>
                  </a:schemeClr>
                </a:gs>
                <a:gs pos="100000">
                  <a:schemeClr val="folHlink"/>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defRPr/>
              </a:pPr>
              <a:endParaRPr lang="zh-CN" altLang="en-US">
                <a:latin typeface="黑体" pitchFamily="2" charset="-122"/>
                <a:ea typeface="黑体" pitchFamily="2" charset="-122"/>
              </a:endParaRPr>
            </a:p>
          </p:txBody>
        </p:sp>
        <p:sp>
          <p:nvSpPr>
            <p:cNvPr id="118793" name="AutoShape 15"/>
            <p:cNvSpPr>
              <a:spLocks noChangeArrowheads="1"/>
            </p:cNvSpPr>
            <p:nvPr/>
          </p:nvSpPr>
          <p:spPr bwMode="gray">
            <a:xfrm>
              <a:off x="2351080" y="2395413"/>
              <a:ext cx="685800" cy="817563"/>
            </a:xfrm>
            <a:prstGeom prst="diamond">
              <a:avLst/>
            </a:prstGeom>
            <a:solidFill>
              <a:schemeClr val="folHlink"/>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18794" name="Text Box 16"/>
            <p:cNvSpPr txBox="1">
              <a:spLocks noChangeArrowheads="1"/>
            </p:cNvSpPr>
            <p:nvPr/>
          </p:nvSpPr>
          <p:spPr bwMode="gray">
            <a:xfrm>
              <a:off x="2960680" y="2603376"/>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rPr>
                <a:t>  </a:t>
              </a:r>
              <a:r>
                <a:rPr kumimoji="0" lang="zh-CN" altLang="en-US" sz="2800" b="1" dirty="0">
                  <a:latin typeface="黑体" pitchFamily="49" charset="-122"/>
                  <a:ea typeface="黑体" pitchFamily="49" charset="-122"/>
                </a:rPr>
                <a:t>函数的基本概念</a:t>
              </a:r>
              <a:endParaRPr kumimoji="0" lang="en-US" altLang="zh-CN" sz="2800" b="1" dirty="0">
                <a:latin typeface="黑体" pitchFamily="49" charset="-122"/>
                <a:ea typeface="黑体" pitchFamily="49" charset="-122"/>
              </a:endParaRPr>
            </a:p>
          </p:txBody>
        </p:sp>
        <p:sp>
          <p:nvSpPr>
            <p:cNvPr id="118795" name="Text Box 17"/>
            <p:cNvSpPr txBox="1">
              <a:spLocks noChangeArrowheads="1"/>
            </p:cNvSpPr>
            <p:nvPr/>
          </p:nvSpPr>
          <p:spPr bwMode="gray">
            <a:xfrm>
              <a:off x="2499171" y="2512888"/>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1</a:t>
              </a:r>
            </a:p>
          </p:txBody>
        </p:sp>
        <p:sp>
          <p:nvSpPr>
            <p:cNvPr id="118796" name="AutoShape 19"/>
            <p:cNvSpPr>
              <a:spLocks noChangeArrowheads="1"/>
            </p:cNvSpPr>
            <p:nvPr/>
          </p:nvSpPr>
          <p:spPr bwMode="gray">
            <a:xfrm>
              <a:off x="2732080" y="4768949"/>
              <a:ext cx="4343400" cy="546100"/>
            </a:xfrm>
            <a:prstGeom prst="roundRect">
              <a:avLst>
                <a:gd name="adj" fmla="val 16667"/>
              </a:avLst>
            </a:prstGeom>
            <a:gradFill rotWithShape="1">
              <a:gsLst>
                <a:gs pos="0">
                  <a:srgbClr val="765E00"/>
                </a:gs>
                <a:gs pos="50000">
                  <a:srgbClr val="FFCC00"/>
                </a:gs>
                <a:gs pos="100000">
                  <a:srgbClr val="765E00"/>
                </a:gs>
              </a:gsLst>
              <a:lin ang="5400000" scaled="1"/>
            </a:gradFill>
            <a:ln w="12700" algn="ctr">
              <a:solidFill>
                <a:schemeClr val="bg1"/>
              </a:solidFill>
              <a:round/>
              <a:headEnd/>
              <a:tailEnd/>
            </a:ln>
            <a:effectLst/>
            <a:extLst>
              <a:ext uri="{AF507438-7753-43E0-B8FC-AC1667EBCBE1}">
                <a14:hiddenEffects xmlns:a14="http://schemas.microsoft.com/office/drawing/2010/main">
                  <a:effectLst>
                    <a:outerShdw dist="99190" dir="238833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18797" name="AutoShape 20"/>
            <p:cNvSpPr>
              <a:spLocks noChangeArrowheads="1"/>
            </p:cNvSpPr>
            <p:nvPr/>
          </p:nvSpPr>
          <p:spPr bwMode="gray">
            <a:xfrm>
              <a:off x="2351080" y="4627662"/>
              <a:ext cx="685800" cy="817562"/>
            </a:xfrm>
            <a:prstGeom prst="diamond">
              <a:avLst/>
            </a:prstGeom>
            <a:solidFill>
              <a:srgbClr val="CC9900"/>
            </a:solidFill>
            <a:ln w="25400" algn="ctr">
              <a:solidFill>
                <a:schemeClr val="bg1"/>
              </a:solidFill>
              <a:miter lim="800000"/>
              <a:headEnd/>
              <a:tailEnd/>
            </a:ln>
            <a:effectLst/>
            <a:extLst>
              <a:ext uri="{AF507438-7753-43E0-B8FC-AC1667EBCBE1}">
                <a14:hiddenEffects xmlns:a14="http://schemas.microsoft.com/office/drawing/2010/main">
                  <a:effectLst>
                    <a:outerShdw dist="63500" dir="2212194" algn="ctr" rotWithShape="0">
                      <a:srgbClr val="333333">
                        <a:alpha val="50000"/>
                      </a:srgbClr>
                    </a:outerShdw>
                  </a:effectLst>
                </a14:hiddenEffects>
              </a:ext>
            </a:extLst>
          </p:spPr>
          <p:txBody>
            <a:bodyPr wrap="none" anchor="ctr"/>
            <a:lstStyle/>
            <a:p>
              <a:pPr algn="ctr" eaLnBrk="1" hangingPunct="1"/>
              <a:endParaRPr lang="zh-CN" altLang="en-US">
                <a:ea typeface="楷体_GB2312"/>
                <a:cs typeface="楷体_GB2312"/>
              </a:endParaRPr>
            </a:p>
          </p:txBody>
        </p:sp>
        <p:sp>
          <p:nvSpPr>
            <p:cNvPr id="118798" name="Text Box 21"/>
            <p:cNvSpPr txBox="1">
              <a:spLocks noChangeArrowheads="1"/>
            </p:cNvSpPr>
            <p:nvPr/>
          </p:nvSpPr>
          <p:spPr bwMode="gray">
            <a:xfrm>
              <a:off x="2960680" y="4767039"/>
              <a:ext cx="342900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zh-CN" altLang="en-US" sz="2800" b="1" dirty="0">
                  <a:latin typeface="黑体" pitchFamily="49" charset="-122"/>
                  <a:ea typeface="黑体" pitchFamily="49" charset="-122"/>
                </a:rPr>
                <a:t>  集合的特征函数</a:t>
              </a:r>
            </a:p>
          </p:txBody>
        </p:sp>
        <p:sp>
          <p:nvSpPr>
            <p:cNvPr id="118799" name="Text Box 22"/>
            <p:cNvSpPr txBox="1">
              <a:spLocks noChangeArrowheads="1"/>
            </p:cNvSpPr>
            <p:nvPr/>
          </p:nvSpPr>
          <p:spPr bwMode="gray">
            <a:xfrm>
              <a:off x="2498377" y="4719737"/>
              <a:ext cx="365806"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92457" dir="9843276" algn="ctr" rotWithShape="0">
                      <a:schemeClr val="bg2"/>
                    </a:outerShdw>
                  </a:effectLst>
                </a14:hiddenEffects>
              </a:ext>
            </a:extLst>
          </p:spPr>
          <p:txBody>
            <a:bodyPr wrap="none">
              <a:spAutoFit/>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a:r>
                <a:rPr kumimoji="0" lang="en-US" altLang="zh-CN" sz="2800" b="1" dirty="0">
                  <a:solidFill>
                    <a:schemeClr val="bg1"/>
                  </a:solidFill>
                  <a:latin typeface="黑体" pitchFamily="49" charset="-122"/>
                </a:rPr>
                <a:t>3</a:t>
              </a:r>
            </a:p>
          </p:txBody>
        </p:sp>
      </p:grpSp>
    </p:spTree>
  </p:cSld>
  <p:clrMapOvr>
    <a:masterClrMapping/>
  </p:clrMapOvr>
  <p:transition spd="med">
    <p:wipe dir="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6CA298E-74B4-466D-8613-14D5E749ACF3}"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19811" name="页脚占位符 4"/>
          <p:cNvSpPr txBox="1">
            <a:spLocks noGrp="1"/>
          </p:cNvSpPr>
          <p:nvPr/>
        </p:nvSpPr>
        <p:spPr bwMode="auto">
          <a:xfrm>
            <a:off x="3124200" y="635635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1981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77C092E6-D06D-46F7-9AD4-64D7DB0BA5E5}" type="slidenum">
              <a:rPr lang="en-US" altLang="zh-CN" sz="1400" b="1">
                <a:latin typeface="Times New Roman" pitchFamily="18" charset="0"/>
                <a:ea typeface="宋体" pitchFamily="2" charset="-122"/>
              </a:rPr>
              <a:pPr algn="r" eaLnBrk="1" hangingPunct="1"/>
              <a:t>101</a:t>
            </a:fld>
            <a:endParaRPr lang="en-US" altLang="zh-CN" sz="1400" b="1">
              <a:latin typeface="Times New Roman" pitchFamily="18" charset="0"/>
              <a:ea typeface="宋体" pitchFamily="2" charset="-122"/>
            </a:endParaRPr>
          </a:p>
        </p:txBody>
      </p:sp>
      <p:sp>
        <p:nvSpPr>
          <p:cNvPr id="119813" name="Rectangle 4"/>
          <p:cNvSpPr>
            <a:spLocks noGrp="1" noChangeArrowheads="1"/>
          </p:cNvSpPr>
          <p:nvPr>
            <p:ph type="ctrTitle" idx="4294967295"/>
          </p:nvPr>
        </p:nvSpPr>
        <p:spPr>
          <a:xfrm>
            <a:off x="1190625" y="2565400"/>
            <a:ext cx="7197725" cy="1439863"/>
          </a:xfrm>
          <a:solidFill>
            <a:srgbClr val="0000FF"/>
          </a:solidFill>
        </p:spPr>
        <p:txBody>
          <a:bodyPr/>
          <a:lstStyle/>
          <a:p>
            <a:pPr eaLnBrk="1" hangingPunct="1"/>
            <a:r>
              <a:rPr lang="zh-CN" altLang="en-US" sz="6600" b="1">
                <a:solidFill>
                  <a:schemeClr val="bg1"/>
                </a:solidFill>
              </a:rPr>
              <a:t>集合的特征函数</a:t>
            </a:r>
          </a:p>
        </p:txBody>
      </p:sp>
      <p:pic>
        <p:nvPicPr>
          <p:cNvPr id="119814"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5739A1E-FFAB-406B-9136-E065CB74D110}"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20835"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20836"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22B3229A-BFF9-4744-8A58-C08B57DB3110}" type="slidenum">
              <a:rPr lang="en-US" altLang="zh-CN" sz="1400" b="1">
                <a:latin typeface="Times New Roman" pitchFamily="18" charset="0"/>
                <a:ea typeface="宋体" pitchFamily="2" charset="-122"/>
              </a:rPr>
              <a:pPr algn="r" eaLnBrk="1" hangingPunct="1"/>
              <a:t>102</a:t>
            </a:fld>
            <a:endParaRPr lang="en-US" altLang="zh-CN" sz="1400" b="1">
              <a:latin typeface="Times New Roman" pitchFamily="18" charset="0"/>
              <a:ea typeface="宋体" pitchFamily="2" charset="-122"/>
            </a:endParaRPr>
          </a:p>
        </p:txBody>
      </p:sp>
      <p:sp>
        <p:nvSpPr>
          <p:cNvPr id="120837"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集合的特征函数</a:t>
            </a:r>
          </a:p>
        </p:txBody>
      </p:sp>
      <p:sp>
        <p:nvSpPr>
          <p:cNvPr id="120838" name="Rectangle 3"/>
          <p:cNvSpPr>
            <a:spLocks noGrp="1" noChangeArrowheads="1"/>
          </p:cNvSpPr>
          <p:nvPr>
            <p:ph type="body" idx="4294967295"/>
          </p:nvPr>
        </p:nvSpPr>
        <p:spPr>
          <a:xfrm>
            <a:off x="2589213" y="2636912"/>
            <a:ext cx="4537075" cy="2232645"/>
          </a:xfrm>
          <a:noFill/>
        </p:spPr>
        <p:txBody>
          <a:bodyPr lIns="92075" tIns="46038" rIns="92075" bIns="46038"/>
          <a:lstStyle/>
          <a:p>
            <a:pPr eaLnBrk="1" hangingPunct="1">
              <a:lnSpc>
                <a:spcPct val="155000"/>
              </a:lnSpc>
              <a:buFont typeface="Wingdings" pitchFamily="2" charset="2"/>
              <a:buChar char="J"/>
            </a:pPr>
            <a:r>
              <a:rPr lang="en-US" altLang="zh-CN" sz="3600" b="1" dirty="0">
                <a:solidFill>
                  <a:srgbClr val="0000FF"/>
                </a:solidFill>
                <a:effectLst/>
                <a:latin typeface="黑体" pitchFamily="49" charset="-122"/>
                <a:ea typeface="黑体" pitchFamily="49" charset="-122"/>
              </a:rPr>
              <a:t> </a:t>
            </a:r>
            <a:r>
              <a:rPr lang="zh-CN" altLang="en-US" sz="3600" b="1" dirty="0">
                <a:solidFill>
                  <a:srgbClr val="0000FF"/>
                </a:solidFill>
                <a:effectLst/>
                <a:latin typeface="黑体" pitchFamily="49" charset="-122"/>
                <a:ea typeface="黑体" pitchFamily="49" charset="-122"/>
              </a:rPr>
              <a:t>特征函数的概念</a:t>
            </a:r>
            <a:endParaRPr lang="en-US" altLang="zh-CN" sz="3600" b="1" dirty="0">
              <a:solidFill>
                <a:srgbClr val="0000FF"/>
              </a:solidFill>
              <a:effectLst/>
              <a:latin typeface="黑体" pitchFamily="49" charset="-122"/>
              <a:ea typeface="黑体" pitchFamily="49" charset="-122"/>
            </a:endParaRPr>
          </a:p>
          <a:p>
            <a:pPr eaLnBrk="1" hangingPunct="1">
              <a:lnSpc>
                <a:spcPct val="155000"/>
              </a:lnSpc>
              <a:buFont typeface="Wingdings" pitchFamily="2" charset="2"/>
              <a:buChar char="4"/>
            </a:pPr>
            <a:r>
              <a:rPr lang="en-US" altLang="zh-CN" sz="3600" b="1" dirty="0">
                <a:effectLst/>
                <a:latin typeface="黑体" pitchFamily="49" charset="-122"/>
                <a:ea typeface="黑体" pitchFamily="49" charset="-122"/>
              </a:rPr>
              <a:t> </a:t>
            </a:r>
            <a:r>
              <a:rPr lang="zh-CN" altLang="en-US" sz="3600" b="1" dirty="0">
                <a:effectLst/>
                <a:latin typeface="黑体" pitchFamily="49" charset="-122"/>
                <a:ea typeface="黑体" pitchFamily="49" charset="-122"/>
              </a:rPr>
              <a:t>特征函数的运算 </a:t>
            </a:r>
          </a:p>
        </p:txBody>
      </p:sp>
      <p:pic>
        <p:nvPicPr>
          <p:cNvPr id="120839"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652819E-3DA2-4E32-B39B-0ECE957D869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185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21860"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集合的特征函数</a:t>
            </a:r>
          </a:p>
        </p:txBody>
      </p:sp>
      <p:pic>
        <p:nvPicPr>
          <p:cNvPr id="12186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277813" y="2088150"/>
            <a:ext cx="8661400" cy="3785652"/>
          </a:xfrm>
          <a:prstGeom prst="rect">
            <a:avLst/>
          </a:prstGeom>
          <a:solidFill>
            <a:schemeClr val="bg1">
              <a:lumMod val="95000"/>
            </a:schemeClr>
          </a:solidFill>
        </p:spPr>
        <p:txBody>
          <a:bodyPr>
            <a:spAutoFit/>
          </a:bodyPr>
          <a:lstStyle/>
          <a:p>
            <a:pPr>
              <a:lnSpc>
                <a:spcPct val="150000"/>
              </a:lnSpc>
              <a:defRPr/>
            </a:pPr>
            <a:r>
              <a:rPr lang="en-US" altLang="zh-CN" dirty="0"/>
              <a:t>	</a:t>
            </a:r>
            <a:r>
              <a:rPr lang="zh-CN" altLang="zh-CN" b="1" dirty="0">
                <a:solidFill>
                  <a:schemeClr val="accent1">
                    <a:lumMod val="75000"/>
                  </a:schemeClr>
                </a:solidFill>
              </a:rPr>
              <a:t>前面从二元关系与集合的角度介绍和讨论函数的相关知识，包括函数的</a:t>
            </a:r>
            <a:r>
              <a:rPr lang="zh-CN" altLang="zh-CN" b="1" dirty="0">
                <a:solidFill>
                  <a:schemeClr val="accent2"/>
                </a:solidFill>
              </a:rPr>
              <a:t>集合定义</a:t>
            </a:r>
            <a:r>
              <a:rPr lang="zh-CN" altLang="zh-CN" b="1" dirty="0">
                <a:solidFill>
                  <a:schemeClr val="accent1">
                    <a:lumMod val="75000"/>
                  </a:schemeClr>
                </a:solidFill>
              </a:rPr>
              <a:t>和函数的</a:t>
            </a:r>
            <a:r>
              <a:rPr lang="zh-CN" altLang="zh-CN" b="1" dirty="0">
                <a:solidFill>
                  <a:schemeClr val="accent2"/>
                </a:solidFill>
              </a:rPr>
              <a:t>关系运算</a:t>
            </a:r>
            <a:r>
              <a:rPr lang="zh-CN" altLang="en-US" b="1" dirty="0">
                <a:solidFill>
                  <a:schemeClr val="accent1">
                    <a:lumMod val="75000"/>
                  </a:schemeClr>
                </a:solidFill>
              </a:rPr>
              <a:t>。</a:t>
            </a:r>
            <a:r>
              <a:rPr lang="en-US" altLang="zh-CN" b="1" dirty="0">
                <a:solidFill>
                  <a:schemeClr val="accent1">
                    <a:lumMod val="75000"/>
                  </a:schemeClr>
                </a:solidFill>
              </a:rPr>
              <a:t> </a:t>
            </a:r>
          </a:p>
          <a:p>
            <a:pPr>
              <a:lnSpc>
                <a:spcPct val="150000"/>
              </a:lnSpc>
              <a:defRPr/>
            </a:pPr>
            <a:r>
              <a:rPr lang="en-US" altLang="zh-CN" b="1" dirty="0">
                <a:solidFill>
                  <a:schemeClr val="accent1">
                    <a:lumMod val="75000"/>
                  </a:schemeClr>
                </a:solidFill>
              </a:rPr>
              <a:t>	</a:t>
            </a:r>
            <a:r>
              <a:rPr lang="zh-CN" altLang="zh-CN" b="1" dirty="0">
                <a:solidFill>
                  <a:schemeClr val="accent1">
                    <a:lumMod val="50000"/>
                  </a:schemeClr>
                </a:solidFill>
              </a:rPr>
              <a:t>本节考虑</a:t>
            </a:r>
            <a:r>
              <a:rPr lang="zh-CN" altLang="zh-CN" b="1" dirty="0">
                <a:solidFill>
                  <a:schemeClr val="accent2"/>
                </a:solidFill>
              </a:rPr>
              <a:t>相反问题</a:t>
            </a:r>
            <a:r>
              <a:rPr lang="zh-CN" altLang="zh-CN" b="1" dirty="0">
                <a:solidFill>
                  <a:schemeClr val="accent1">
                    <a:lumMod val="50000"/>
                  </a:schemeClr>
                </a:solidFill>
              </a:rPr>
              <a:t>，</a:t>
            </a:r>
            <a:r>
              <a:rPr lang="zh-CN" altLang="en-US" b="1" dirty="0">
                <a:solidFill>
                  <a:schemeClr val="accent1">
                    <a:lumMod val="50000"/>
                  </a:schemeClr>
                </a:solidFill>
              </a:rPr>
              <a:t>即</a:t>
            </a:r>
            <a:r>
              <a:rPr lang="zh-CN" altLang="zh-CN" b="1" dirty="0">
                <a:solidFill>
                  <a:schemeClr val="accent1">
                    <a:lumMod val="50000"/>
                  </a:schemeClr>
                </a:solidFill>
              </a:rPr>
              <a:t>如何以</a:t>
            </a:r>
            <a:r>
              <a:rPr lang="zh-CN" altLang="zh-CN" b="1" dirty="0">
                <a:solidFill>
                  <a:schemeClr val="accent2"/>
                </a:solidFill>
              </a:rPr>
              <a:t>函数为基本工具来解决集合的相关问题</a:t>
            </a:r>
            <a:r>
              <a:rPr lang="zh-CN" altLang="en-US" b="1" dirty="0">
                <a:solidFill>
                  <a:schemeClr val="accent1">
                    <a:lumMod val="50000"/>
                  </a:schemeClr>
                </a:solidFill>
              </a:rPr>
              <a:t>。</a:t>
            </a:r>
            <a:endParaRPr lang="zh-CN" altLang="zh-CN" b="1" dirty="0">
              <a:solidFill>
                <a:schemeClr val="accent1">
                  <a:lumMod val="50000"/>
                </a:schemeClr>
              </a:solidFill>
            </a:endParaRPr>
          </a:p>
        </p:txBody>
      </p:sp>
    </p:spTree>
  </p:cSld>
  <p:clrMapOvr>
    <a:masterClrMapping/>
  </p:clrMapOvr>
  <p:transition spd="med">
    <p:wipe dir="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652819E-3DA2-4E32-B39B-0ECE957D869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1860" name="Text Box 2"/>
          <p:cNvSpPr txBox="1">
            <a:spLocks noChangeArrowheads="1"/>
          </p:cNvSpPr>
          <p:nvPr/>
        </p:nvSpPr>
        <p:spPr bwMode="auto">
          <a:xfrm>
            <a:off x="1331913" y="785813"/>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特征函数的定义</a:t>
            </a:r>
          </a:p>
        </p:txBody>
      </p:sp>
      <p:pic>
        <p:nvPicPr>
          <p:cNvPr id="12186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CD078DA8-9EBE-438D-9FBE-AA8D18213DD8}"/>
                  </a:ext>
                </a:extLst>
              </p:cNvPr>
              <p:cNvSpPr/>
              <p:nvPr/>
            </p:nvSpPr>
            <p:spPr>
              <a:xfrm>
                <a:off x="467544" y="2060848"/>
                <a:ext cx="8492306" cy="2199705"/>
              </a:xfrm>
              <a:prstGeom prst="rect">
                <a:avLst/>
              </a:prstGeom>
              <a:solidFill>
                <a:schemeClr val="accent6">
                  <a:lumMod val="75000"/>
                </a:schemeClr>
              </a:solidFill>
            </p:spPr>
            <p:txBody>
              <a:bodyPr wrap="square">
                <a:spAutoFit/>
              </a:bodyPr>
              <a:lstStyle/>
              <a:p>
                <a:pPr indent="266700" algn="just">
                  <a:lnSpc>
                    <a:spcPts val="38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【定义</a:t>
                </a:r>
                <a:r>
                  <a:rPr lang="zh-CN" altLang="zh-CN" sz="2400" b="1" kern="100" dirty="0">
                    <a:solidFill>
                      <a:schemeClr val="bg1"/>
                    </a:solidFill>
                    <a:latin typeface="Times New Roman" panose="02020603050405020304" pitchFamily="18" charset="0"/>
                    <a:ea typeface="宋体" panose="02010600030101010101" pitchFamily="2" charset="-122"/>
                  </a:rPr>
                  <a:t>】</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𝑼</m:t>
                    </m:r>
                  </m:oMath>
                </a14:m>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为任一给定的集合，对于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𝑼</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的任一子集</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，其</a:t>
                </a:r>
                <a:r>
                  <a:rPr lang="zh-CN" altLang="zh-CN" sz="2400" b="1" kern="0" dirty="0">
                    <a:solidFill>
                      <a:srgbClr val="FFFF00"/>
                    </a:solidFill>
                    <a:latin typeface="Times New Roman" panose="02020603050405020304" pitchFamily="18" charset="0"/>
                    <a:ea typeface="宋体" panose="02010600030101010101" pitchFamily="2" charset="-122"/>
                    <a:cs typeface="宋体" panose="02010600030101010101" pitchFamily="2" charset="-122"/>
                  </a:rPr>
                  <a:t>特征函数</a:t>
                </a:r>
                <a14:m>
                  <m:oMath xmlns:m="http://schemas.openxmlformats.org/officeDocument/2006/math">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oMath>
                </a14:m>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是如下</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从</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𝑼</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到集合</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𝟎</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二值函数</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algn="ctr">
                  <a:lnSpc>
                    <a:spcPct val="150000"/>
                  </a:lnSpc>
                  <a:spcAft>
                    <a:spcPts val="0"/>
                  </a:spcAft>
                </a:pP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𝒂</m:t>
                        </m:r>
                      </m:e>
                    </m:d>
                    <m:r>
                      <a:rPr lang="en-US" altLang="zh-CN" sz="2400" b="1" i="1" kern="100">
                        <a:solidFill>
                          <a:srgbClr val="FFFF00"/>
                        </a:solidFill>
                        <a:latin typeface="Cambria Math" panose="02040503050406030204" pitchFamily="18" charset="0"/>
                        <a:ea typeface="宋体" panose="02010600030101010101" pitchFamily="2" charset="-122"/>
                      </a:rPr>
                      <m:t>=</m:t>
                    </m:r>
                    <m:d>
                      <m:dPr>
                        <m:begChr m:val="{"/>
                        <m:endChr m:val=""/>
                        <m:ctrlPr>
                          <a:rPr lang="zh-CN" altLang="zh-CN" sz="2400" b="1" i="1" kern="100">
                            <a:solidFill>
                              <a:srgbClr val="FFFF00"/>
                            </a:solidFill>
                            <a:latin typeface="Cambria Math" panose="02040503050406030204" pitchFamily="18" charset="0"/>
                            <a:ea typeface="Cambria Math" panose="02040503050406030204" pitchFamily="18" charset="0"/>
                          </a:rPr>
                        </m:ctrlPr>
                      </m:dPr>
                      <m:e>
                        <m:eqArr>
                          <m:eqArrPr>
                            <m:ctrlPr>
                              <a:rPr lang="zh-CN" altLang="zh-CN" sz="2400" b="1" i="1" kern="100">
                                <a:solidFill>
                                  <a:srgbClr val="FFFF00"/>
                                </a:solidFill>
                                <a:latin typeface="Cambria Math" panose="02040503050406030204" pitchFamily="18" charset="0"/>
                                <a:ea typeface="Cambria Math" panose="02040503050406030204" pitchFamily="18" charset="0"/>
                              </a:rPr>
                            </m:ctrlPr>
                          </m:eqArrPr>
                          <m:e>
                            <m:r>
                              <a:rPr lang="en-US" altLang="zh-CN" sz="2400" b="1" i="1" kern="100">
                                <a:solidFill>
                                  <a:srgbClr val="FFFF00"/>
                                </a:solidFill>
                                <a:latin typeface="Cambria Math" panose="02040503050406030204" pitchFamily="18" charset="0"/>
                                <a:ea typeface="宋体" panose="02010600030101010101" pitchFamily="2" charset="-122"/>
                              </a:rPr>
                              <m:t>𝟏</m:t>
                            </m:r>
                            <m:r>
                              <a:rPr lang="zh-CN" altLang="zh-CN" sz="2400" b="1" kern="100">
                                <a:solidFill>
                                  <a:srgbClr val="FFFF00"/>
                                </a:solidFill>
                                <a:latin typeface="Cambria Math" panose="02040503050406030204" pitchFamily="18" charset="0"/>
                                <a:ea typeface="宋体" panose="02010600030101010101" pitchFamily="2" charset="-122"/>
                              </a:rPr>
                              <m:t>，</m:t>
                            </m:r>
                            <m:r>
                              <a:rPr lang="en-US" altLang="zh-CN" sz="2400" b="1" kern="100">
                                <a:solidFill>
                                  <a:srgbClr val="FFFF00"/>
                                </a:solidFill>
                                <a:latin typeface="Cambria Math" panose="02040503050406030204" pitchFamily="18" charset="0"/>
                                <a:ea typeface="宋体" panose="02010600030101010101" pitchFamily="2" charset="-122"/>
                              </a:rPr>
                              <m:t>                   </m:t>
                            </m:r>
                            <m:r>
                              <a:rPr lang="en-US" altLang="zh-CN" sz="2400" b="1" i="1" kern="100">
                                <a:solidFill>
                                  <a:srgbClr val="FFFF00"/>
                                </a:solidFill>
                                <a:latin typeface="Cambria Math" panose="02040503050406030204" pitchFamily="18" charset="0"/>
                                <a:ea typeface="宋体" panose="02010600030101010101" pitchFamily="2" charset="-122"/>
                              </a:rPr>
                              <m:t>𝒂</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e>
                          <m:e>
                            <m:r>
                              <a:rPr lang="en-US" altLang="zh-CN" sz="2400" b="1" i="1" kern="100">
                                <a:solidFill>
                                  <a:srgbClr val="FFFF00"/>
                                </a:solidFill>
                                <a:latin typeface="Cambria Math" panose="02040503050406030204" pitchFamily="18" charset="0"/>
                                <a:ea typeface="宋体" panose="02010600030101010101" pitchFamily="2" charset="-122"/>
                              </a:rPr>
                              <m:t>𝟎</m:t>
                            </m:r>
                            <m:r>
                              <a:rPr lang="zh-CN" altLang="zh-CN" sz="2400" b="1" kern="100">
                                <a:solidFill>
                                  <a:srgbClr val="FFFF00"/>
                                </a:solidFill>
                                <a:latin typeface="Cambria Math" panose="02040503050406030204" pitchFamily="18" charset="0"/>
                                <a:ea typeface="宋体" panose="02010600030101010101" pitchFamily="2" charset="-122"/>
                              </a:rPr>
                              <m:t>，</m:t>
                            </m:r>
                            <m:r>
                              <a:rPr lang="en-US" altLang="zh-CN" sz="2400" b="1" kern="100">
                                <a:solidFill>
                                  <a:srgbClr val="FFFF00"/>
                                </a:solidFill>
                                <a:latin typeface="Cambria Math" panose="02040503050406030204" pitchFamily="18" charset="0"/>
                                <a:ea typeface="宋体" panose="02010600030101010101" pitchFamily="2" charset="-122"/>
                              </a:rPr>
                              <m:t>           </m:t>
                            </m:r>
                            <m:r>
                              <a:rPr lang="en-US" altLang="zh-CN" sz="2400" b="1" i="1" kern="100">
                                <a:solidFill>
                                  <a:srgbClr val="FFFF00"/>
                                </a:solidFill>
                                <a:latin typeface="Cambria Math" panose="02040503050406030204" pitchFamily="18" charset="0"/>
                                <a:ea typeface="宋体" panose="02010600030101010101" pitchFamily="2" charset="-122"/>
                              </a:rPr>
                              <m:t>𝒂</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𝑼</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𝑨</m:t>
                            </m:r>
                          </m:e>
                        </m:eqArr>
                      </m:e>
                    </m:d>
                  </m:oMath>
                </a14:m>
                <a:r>
                  <a:rPr lang="en-US" altLang="zh-CN" sz="2400" b="1" kern="100" dirty="0">
                    <a:solidFill>
                      <a:srgbClr val="FFFF00"/>
                    </a:solidFill>
                    <a:latin typeface="宋体" panose="02010600030101010101" pitchFamily="2" charset="-122"/>
                    <a:ea typeface="宋体" panose="02010600030101010101" pitchFamily="2" charset="-122"/>
                    <a:cs typeface="宋体" panose="02010600030101010101" pitchFamily="2" charset="-122"/>
                  </a:rPr>
                  <a:t>             </a:t>
                </a:r>
                <a:endParaRPr lang="zh-CN" altLang="zh-CN" sz="2400" b="1" kern="100" dirty="0">
                  <a:solidFill>
                    <a:srgbClr val="FFFF00"/>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CD078DA8-9EBE-438D-9FBE-AA8D18213DD8}"/>
                  </a:ext>
                </a:extLst>
              </p:cNvPr>
              <p:cNvSpPr>
                <a:spLocks noRot="1" noChangeAspect="1" noMove="1" noResize="1" noEditPoints="1" noAdjustHandles="1" noChangeArrowheads="1" noChangeShapeType="1" noTextEdit="1"/>
              </p:cNvSpPr>
              <p:nvPr/>
            </p:nvSpPr>
            <p:spPr>
              <a:xfrm>
                <a:off x="467544" y="2060848"/>
                <a:ext cx="8492306" cy="2199705"/>
              </a:xfrm>
              <a:prstGeom prst="rect">
                <a:avLst/>
              </a:prstGeom>
              <a:blipFill>
                <a:blip r:embed="rId3"/>
                <a:stretch>
                  <a:fillRect l="-1149" t="-277" r="-10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B2DF72CB-6B1D-488B-B898-751E2028717D}"/>
                  </a:ext>
                </a:extLst>
              </p:cNvPr>
              <p:cNvSpPr/>
              <p:nvPr/>
            </p:nvSpPr>
            <p:spPr>
              <a:xfrm>
                <a:off x="434833" y="4621188"/>
                <a:ext cx="8424936" cy="1477328"/>
              </a:xfrm>
              <a:prstGeom prst="rect">
                <a:avLst/>
              </a:prstGeom>
              <a:solidFill>
                <a:schemeClr val="accent1"/>
              </a:solidFill>
            </p:spPr>
            <p:txBody>
              <a:bodyPr wrap="square">
                <a:spAutoFit/>
              </a:bodyPr>
              <a:lstStyle/>
              <a:p>
                <a:pPr indent="266700" algn="just">
                  <a:lnSpc>
                    <a:spcPts val="3600"/>
                  </a:lnSpc>
                  <a:spcAft>
                    <a:spcPts val="0"/>
                  </a:spcAft>
                </a:pPr>
                <a:r>
                  <a:rPr lang="en-US" altLang="zh-CN" sz="2400" b="1" kern="0" dirty="0">
                    <a:solidFill>
                      <a:srgbClr val="0000FF"/>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0" dirty="0">
                    <a:solidFill>
                      <a:srgbClr val="0000FF"/>
                    </a:solidFill>
                    <a:latin typeface="Times New Roman" panose="02020603050405020304" pitchFamily="18" charset="0"/>
                    <a:ea typeface="宋体" panose="02010600030101010101" pitchFamily="2" charset="-122"/>
                    <a:cs typeface="宋体" panose="02010600030101010101" pitchFamily="2" charset="-122"/>
                  </a:rPr>
                  <a:t>集合</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rPr>
                      <m:t>𝑼</m:t>
                    </m:r>
                  </m:oMath>
                </a14:m>
                <a:r>
                  <a:rPr lang="zh-CN" altLang="zh-CN" sz="2400" b="1" kern="100" dirty="0">
                    <a:solidFill>
                      <a:srgbClr val="0000FF"/>
                    </a:solidFill>
                    <a:latin typeface="Times New Roman" panose="02020603050405020304" pitchFamily="18" charset="0"/>
                    <a:ea typeface="宋体" panose="02010600030101010101" pitchFamily="2" charset="-122"/>
                    <a:cs typeface="宋体" panose="02010600030101010101" pitchFamily="2" charset="-122"/>
                  </a:rPr>
                  <a:t>的任意子集</a:t>
                </a:r>
                <a14:m>
                  <m:oMath xmlns:m="http://schemas.openxmlformats.org/officeDocument/2006/math">
                    <m:r>
                      <a:rPr lang="en-US" altLang="zh-CN" sz="2400" b="1" i="1" kern="100">
                        <a:solidFill>
                          <a:srgbClr val="0000FF"/>
                        </a:solidFill>
                        <a:latin typeface="Cambria Math" panose="02040503050406030204" pitchFamily="18" charset="0"/>
                        <a:ea typeface="宋体" panose="02010600030101010101" pitchFamily="2" charset="-122"/>
                      </a:rPr>
                      <m:t>𝑨</m:t>
                    </m:r>
                  </m:oMath>
                </a14:m>
                <a:r>
                  <a:rPr lang="zh-CN" altLang="zh-CN" sz="2400" b="1" kern="100" dirty="0">
                    <a:solidFill>
                      <a:srgbClr val="0000FF"/>
                    </a:solidFill>
                    <a:latin typeface="Times New Roman" panose="02020603050405020304" pitchFamily="18" charset="0"/>
                    <a:ea typeface="宋体" panose="02010600030101010101" pitchFamily="2" charset="-122"/>
                    <a:cs typeface="宋体" panose="02010600030101010101" pitchFamily="2" charset="-122"/>
                  </a:rPr>
                  <a:t>都有一个与之相对应的</a:t>
                </a:r>
                <a:r>
                  <a:rPr lang="zh-CN" altLang="zh-CN" sz="2400" b="1" kern="0" dirty="0">
                    <a:solidFill>
                      <a:srgbClr val="0000FF"/>
                    </a:solidFill>
                    <a:latin typeface="Times New Roman" panose="02020603050405020304" pitchFamily="18" charset="0"/>
                    <a:ea typeface="宋体" panose="02010600030101010101" pitchFamily="2" charset="-122"/>
                    <a:cs typeface="宋体" panose="02010600030101010101" pitchFamily="2" charset="-122"/>
                  </a:rPr>
                  <a:t>特征函数</a:t>
                </a:r>
                <a14:m>
                  <m:oMath xmlns:m="http://schemas.openxmlformats.org/officeDocument/2006/math">
                    <m:sSub>
                      <m:sSubPr>
                        <m:ctrlPr>
                          <a:rPr lang="zh-CN" altLang="zh-CN" sz="2400" b="1" i="1" kern="100">
                            <a:solidFill>
                              <a:srgbClr val="0000FF"/>
                            </a:solidFill>
                            <a:latin typeface="Cambria Math" panose="02040503050406030204" pitchFamily="18" charset="0"/>
                            <a:ea typeface="Cambria Math" panose="02040503050406030204" pitchFamily="18" charset="0"/>
                          </a:rPr>
                        </m:ctrlPr>
                      </m:sSubPr>
                      <m:e>
                        <m:r>
                          <a:rPr lang="en-US" altLang="zh-CN" sz="2400" b="1" i="1" kern="100">
                            <a:solidFill>
                              <a:srgbClr val="0000FF"/>
                            </a:solidFill>
                            <a:latin typeface="Cambria Math" panose="02040503050406030204" pitchFamily="18" charset="0"/>
                            <a:ea typeface="宋体" panose="02010600030101010101" pitchFamily="2" charset="-122"/>
                          </a:rPr>
                          <m:t>𝝌</m:t>
                        </m:r>
                      </m:e>
                      <m:sub>
                        <m:r>
                          <a:rPr lang="en-US" altLang="zh-CN" sz="2400" b="1" i="1" kern="100">
                            <a:solidFill>
                              <a:srgbClr val="0000FF"/>
                            </a:solidFill>
                            <a:latin typeface="Cambria Math" panose="02040503050406030204" pitchFamily="18" charset="0"/>
                            <a:ea typeface="宋体" panose="02010600030101010101" pitchFamily="2" charset="-122"/>
                          </a:rPr>
                          <m:t>𝑨</m:t>
                        </m:r>
                      </m:sub>
                    </m:sSub>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。例如，对于集合</a:t>
                </a:r>
                <a14:m>
                  <m:oMath xmlns:m="http://schemas.openxmlformats.org/officeDocument/2006/math">
                    <m:r>
                      <a:rPr lang="en-US" altLang="zh-CN" sz="2400" b="1" i="1" kern="100">
                        <a:solidFill>
                          <a:schemeClr val="tx1"/>
                        </a:solidFill>
                        <a:latin typeface="Cambria Math" panose="02040503050406030204" pitchFamily="18" charset="0"/>
                        <a:ea typeface="宋体" panose="02010600030101010101" pitchFamily="2" charset="-122"/>
                      </a:rPr>
                      <m:t>𝑼</m:t>
                    </m:r>
                    <m:r>
                      <a:rPr lang="en-US" altLang="zh-CN" sz="24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𝒂</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𝒃</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𝒄</m:t>
                        </m:r>
                      </m:e>
                    </m:d>
                    <m:r>
                      <a:rPr lang="zh-CN" altLang="zh-CN" sz="2400" b="1" kern="100">
                        <a:solidFill>
                          <a:schemeClr val="tx1"/>
                        </a:solidFill>
                        <a:latin typeface="Cambria Math" panose="02040503050406030204" pitchFamily="18" charset="0"/>
                        <a:ea typeface="宋体" panose="02010600030101010101" pitchFamily="2" charset="-122"/>
                      </a:rPr>
                      <m:t>的子集</m:t>
                    </m:r>
                    <m:r>
                      <a:rPr lang="en-US" altLang="zh-CN" sz="2400" b="1" i="1" kern="100">
                        <a:solidFill>
                          <a:schemeClr val="tx1"/>
                        </a:solidFill>
                        <a:latin typeface="Cambria Math" panose="02040503050406030204" pitchFamily="18" charset="0"/>
                        <a:ea typeface="宋体" panose="02010600030101010101" pitchFamily="2" charset="-122"/>
                      </a:rPr>
                      <m:t>𝑨</m:t>
                    </m:r>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𝒂</m:t>
                    </m:r>
                    <m:r>
                      <a:rPr lang="en-US" altLang="zh-CN" sz="2400" b="1" i="1" kern="100">
                        <a:solidFill>
                          <a:schemeClr val="tx1"/>
                        </a:solidFill>
                        <a:latin typeface="Cambria Math" panose="02040503050406030204" pitchFamily="18" charset="0"/>
                        <a:ea typeface="宋体" panose="02010600030101010101" pitchFamily="2" charset="-122"/>
                      </a:rPr>
                      <m:t>}</m:t>
                    </m:r>
                  </m:oMath>
                </a14:m>
                <a:r>
                  <a:rPr lang="zh-CN" altLang="zh-CN" sz="24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，则有：</a:t>
                </a:r>
                <a:endParaRPr lang="zh-CN" altLang="zh-CN" sz="2400" b="1" kern="100" dirty="0">
                  <a:solidFill>
                    <a:schemeClr val="tx1"/>
                  </a:solidFill>
                  <a:latin typeface="Times New Roman" panose="02020603050405020304" pitchFamily="18" charset="0"/>
                  <a:ea typeface="宋体" panose="02010600030101010101" pitchFamily="2" charset="-122"/>
                </a:endParaRPr>
              </a:p>
              <a:p>
                <a:pPr algn="just">
                  <a:lnSpc>
                    <a:spcPts val="3600"/>
                  </a:lnSpc>
                  <a:spcAft>
                    <a:spcPts val="0"/>
                  </a:spcAft>
                </a:pPr>
                <a14:m>
                  <m:oMathPara xmlns:m="http://schemas.openxmlformats.org/officeDocument/2006/math">
                    <m:oMathParaPr>
                      <m:jc m:val="centerGroup"/>
                    </m:oMathParaPr>
                    <m:oMath xmlns:m="http://schemas.openxmlformats.org/officeDocument/2006/math">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𝝌</m:t>
                          </m:r>
                        </m:e>
                        <m:sub>
                          <m:r>
                            <a:rPr lang="en-US" altLang="zh-CN" sz="2400" b="1" i="1" kern="100">
                              <a:solidFill>
                                <a:schemeClr val="tx1"/>
                              </a:solidFill>
                              <a:latin typeface="Cambria Math" panose="02040503050406030204" pitchFamily="18" charset="0"/>
                              <a:ea typeface="宋体" panose="02010600030101010101" pitchFamily="2" charset="-122"/>
                            </a:rPr>
                            <m:t>𝑨</m:t>
                          </m:r>
                        </m:sub>
                      </m:sSub>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𝒂</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𝟏</m:t>
                      </m:r>
                      <m:r>
                        <a:rPr lang="zh-CN" altLang="zh-CN" sz="2400" b="1" kern="100">
                          <a:solidFill>
                            <a:schemeClr val="tx1"/>
                          </a:solidFill>
                          <a:latin typeface="Cambria Math" panose="02040503050406030204" pitchFamily="18" charset="0"/>
                          <a:ea typeface="宋体" panose="02010600030101010101" pitchFamily="2" charset="-122"/>
                        </a:rPr>
                        <m:t>，</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𝝌</m:t>
                          </m:r>
                        </m:e>
                        <m:sub>
                          <m:r>
                            <a:rPr lang="en-US" altLang="zh-CN" sz="2400" b="1" i="1" kern="100">
                              <a:solidFill>
                                <a:schemeClr val="tx1"/>
                              </a:solidFill>
                              <a:latin typeface="Cambria Math" panose="02040503050406030204" pitchFamily="18" charset="0"/>
                              <a:ea typeface="宋体" panose="02010600030101010101" pitchFamily="2" charset="-122"/>
                            </a:rPr>
                            <m:t>𝑨</m:t>
                          </m:r>
                        </m:sub>
                      </m:sSub>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𝒃</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a:solidFill>
                            <a:schemeClr val="tx1"/>
                          </a:solidFill>
                          <a:latin typeface="Cambria Math" panose="02040503050406030204" pitchFamily="18" charset="0"/>
                          <a:ea typeface="宋体" panose="02010600030101010101" pitchFamily="2" charset="-122"/>
                        </a:rPr>
                        <m:t>𝟎</m:t>
                      </m:r>
                      <m:r>
                        <a:rPr lang="zh-CN" altLang="zh-CN" sz="2400" b="1" kern="100">
                          <a:solidFill>
                            <a:schemeClr val="tx1"/>
                          </a:solidFill>
                          <a:latin typeface="Cambria Math" panose="02040503050406030204" pitchFamily="18" charset="0"/>
                          <a:ea typeface="宋体" panose="02010600030101010101" pitchFamily="2" charset="-122"/>
                        </a:rPr>
                        <m:t>，</m:t>
                      </m:r>
                      <m:sSub>
                        <m:sSubPr>
                          <m:ctrlPr>
                            <a:rPr lang="zh-CN" altLang="zh-CN" sz="2400" b="1" i="1" kern="100">
                              <a:solidFill>
                                <a:schemeClr val="tx1"/>
                              </a:solidFill>
                              <a:latin typeface="Cambria Math" panose="02040503050406030204" pitchFamily="18" charset="0"/>
                              <a:ea typeface="Cambria Math" panose="02040503050406030204" pitchFamily="18" charset="0"/>
                            </a:rPr>
                          </m:ctrlPr>
                        </m:sSubPr>
                        <m:e>
                          <m:r>
                            <a:rPr lang="en-US" altLang="zh-CN" sz="2400" b="1" i="1" kern="100">
                              <a:solidFill>
                                <a:schemeClr val="tx1"/>
                              </a:solidFill>
                              <a:latin typeface="Cambria Math" panose="02040503050406030204" pitchFamily="18" charset="0"/>
                              <a:ea typeface="宋体" panose="02010600030101010101" pitchFamily="2" charset="-122"/>
                            </a:rPr>
                            <m:t>𝝌</m:t>
                          </m:r>
                        </m:e>
                        <m:sub>
                          <m:r>
                            <a:rPr lang="en-US" altLang="zh-CN" sz="2400" b="1" i="1" kern="100">
                              <a:solidFill>
                                <a:schemeClr val="tx1"/>
                              </a:solidFill>
                              <a:latin typeface="Cambria Math" panose="02040503050406030204" pitchFamily="18" charset="0"/>
                              <a:ea typeface="宋体" panose="02010600030101010101" pitchFamily="2" charset="-122"/>
                            </a:rPr>
                            <m:t>𝑨</m:t>
                          </m:r>
                        </m:sub>
                      </m:sSub>
                      <m:d>
                        <m:dPr>
                          <m:ctrlPr>
                            <a:rPr lang="zh-CN" altLang="zh-CN" sz="2400" b="1" i="1" kern="100">
                              <a:solidFill>
                                <a:schemeClr val="tx1"/>
                              </a:solidFill>
                              <a:latin typeface="Cambria Math" panose="02040503050406030204" pitchFamily="18" charset="0"/>
                              <a:ea typeface="Cambria Math" panose="02040503050406030204" pitchFamily="18" charset="0"/>
                            </a:rPr>
                          </m:ctrlPr>
                        </m:dPr>
                        <m:e>
                          <m:r>
                            <a:rPr lang="en-US" altLang="zh-CN" sz="2400" b="1" i="1" kern="100">
                              <a:solidFill>
                                <a:schemeClr val="tx1"/>
                              </a:solidFill>
                              <a:latin typeface="Cambria Math" panose="02040503050406030204" pitchFamily="18" charset="0"/>
                              <a:ea typeface="宋体" panose="02010600030101010101" pitchFamily="2" charset="-122"/>
                            </a:rPr>
                            <m:t>𝒄</m:t>
                          </m:r>
                        </m:e>
                      </m:d>
                      <m:r>
                        <a:rPr lang="en-US" altLang="zh-CN" sz="2400" b="1" i="1" kern="100">
                          <a:solidFill>
                            <a:schemeClr val="tx1"/>
                          </a:solidFill>
                          <a:latin typeface="Cambria Math" panose="02040503050406030204" pitchFamily="18" charset="0"/>
                          <a:ea typeface="宋体" panose="02010600030101010101" pitchFamily="2" charset="-122"/>
                        </a:rPr>
                        <m:t>=</m:t>
                      </m:r>
                      <m:r>
                        <a:rPr lang="en-US" altLang="zh-CN" sz="2400" b="1" i="1" kern="100" smtClean="0">
                          <a:solidFill>
                            <a:schemeClr val="tx1"/>
                          </a:solidFill>
                          <a:latin typeface="Cambria Math" panose="02040503050406030204" pitchFamily="18" charset="0"/>
                          <a:ea typeface="宋体" panose="02010600030101010101" pitchFamily="2" charset="-122"/>
                        </a:rPr>
                        <m:t>𝟎</m:t>
                      </m:r>
                      <m:r>
                        <a:rPr lang="zh-CN" altLang="zh-CN" sz="2400" b="1" i="1" kern="100">
                          <a:solidFill>
                            <a:schemeClr val="tx1"/>
                          </a:solidFill>
                          <a:latin typeface="Cambria Math" panose="02040503050406030204" pitchFamily="18" charset="0"/>
                          <a:ea typeface="宋体" panose="02010600030101010101" pitchFamily="2" charset="-122"/>
                        </a:rPr>
                        <m:t>。</m:t>
                      </m:r>
                    </m:oMath>
                  </m:oMathPara>
                </a14:m>
                <a:endParaRPr lang="zh-CN" altLang="zh-CN" sz="24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4" name="矩形 3">
                <a:extLst>
                  <a:ext uri="{FF2B5EF4-FFF2-40B4-BE49-F238E27FC236}">
                    <a16:creationId xmlns:a16="http://schemas.microsoft.com/office/drawing/2014/main" id="{B2DF72CB-6B1D-488B-B898-751E2028717D}"/>
                  </a:ext>
                </a:extLst>
              </p:cNvPr>
              <p:cNvSpPr>
                <a:spLocks noRot="1" noChangeAspect="1" noMove="1" noResize="1" noEditPoints="1" noAdjustHandles="1" noChangeArrowheads="1" noChangeShapeType="1" noTextEdit="1"/>
              </p:cNvSpPr>
              <p:nvPr/>
            </p:nvSpPr>
            <p:spPr>
              <a:xfrm>
                <a:off x="434833" y="4621188"/>
                <a:ext cx="8424936" cy="1477328"/>
              </a:xfrm>
              <a:prstGeom prst="rect">
                <a:avLst/>
              </a:prstGeom>
              <a:blipFill>
                <a:blip r:embed="rId4"/>
                <a:stretch>
                  <a:fillRect l="-1085" t="-1653" r="-115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19049210"/>
      </p:ext>
    </p:extLst>
  </p:cSld>
  <p:clrMapOvr>
    <a:masterClrMapping/>
  </p:clrMapOvr>
  <p:transition spd="med">
    <p:wipe dir="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652819E-3DA2-4E32-B39B-0ECE957D869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185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186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FE097DD6-1E6F-42D7-98CE-CE7CD2DB9DE4}"/>
                  </a:ext>
                </a:extLst>
              </p:cNvPr>
              <p:cNvSpPr/>
              <p:nvPr/>
            </p:nvSpPr>
            <p:spPr>
              <a:xfrm>
                <a:off x="596914" y="2060848"/>
                <a:ext cx="8022652" cy="3242170"/>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en-US" altLang="zh-CN" sz="2800" b="1" kern="100" dirty="0">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根据特征函数定义显然有：</a:t>
                </a:r>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400" b="1" kern="100" dirty="0">
                    <a:solidFill>
                      <a:srgbClr val="FFFF00"/>
                    </a:solidFill>
                    <a:cs typeface="宋体" panose="02010600030101010101" pitchFamily="2" charset="-122"/>
                  </a:rPr>
                  <a:t>   </a:t>
                </a:r>
                <a:r>
                  <a:rPr lang="zh-CN" altLang="zh-CN" sz="2800" b="1" kern="100" dirty="0">
                    <a:solidFill>
                      <a:srgbClr val="FFFF00"/>
                    </a:solidFill>
                    <a:latin typeface="+mj-lt"/>
                    <a:cs typeface="宋体" panose="02010600030101010101" pitchFamily="2" charset="-122"/>
                  </a:rPr>
                  <a:t>空集的特征函数恒为</a:t>
                </a:r>
                <a:r>
                  <a:rPr lang="en-US" altLang="zh-CN" sz="2800" b="1" kern="100" dirty="0">
                    <a:solidFill>
                      <a:srgbClr val="FFFF00"/>
                    </a:solidFill>
                    <a:latin typeface="+mj-lt"/>
                    <a:cs typeface="宋体" panose="02010600030101010101" pitchFamily="2" charset="-122"/>
                  </a:rPr>
                  <a:t>0</a:t>
                </a:r>
                <a:r>
                  <a:rPr lang="zh-CN" altLang="en-US" sz="2800" b="1" kern="100" dirty="0">
                    <a:solidFill>
                      <a:srgbClr val="FFFF00"/>
                    </a:solidFill>
                    <a:latin typeface="+mj-lt"/>
                    <a:cs typeface="宋体" panose="02010600030101010101" pitchFamily="2" charset="-122"/>
                  </a:rPr>
                  <a:t>，</a:t>
                </a:r>
                <a14:m>
                  <m:oMath xmlns:m="http://schemas.openxmlformats.org/officeDocument/2006/math">
                    <m:r>
                      <a:rPr lang="en-US" altLang="zh-CN" sz="2800" b="1" i="1" kern="100">
                        <a:solidFill>
                          <a:srgbClr val="FFFF00"/>
                        </a:solidFill>
                        <a:latin typeface="Cambria Math" panose="02040503050406030204" pitchFamily="18" charset="0"/>
                        <a:ea typeface="宋体" panose="02010600030101010101" pitchFamily="2" charset="-122"/>
                      </a:rPr>
                      <m:t>𝑼</m:t>
                    </m:r>
                  </m:oMath>
                </a14:m>
                <a:r>
                  <a:rPr lang="zh-CN" altLang="zh-CN" sz="2800" b="1" kern="100" dirty="0">
                    <a:solidFill>
                      <a:srgbClr val="FFFF00"/>
                    </a:solidFill>
                    <a:latin typeface="+mj-lt"/>
                    <a:cs typeface="宋体" panose="02010600030101010101" pitchFamily="2" charset="-122"/>
                  </a:rPr>
                  <a:t>的特征函数恒为 </a:t>
                </a:r>
                <a:r>
                  <a:rPr lang="en-US" altLang="zh-CN" sz="2800" b="1" kern="100" dirty="0">
                    <a:solidFill>
                      <a:srgbClr val="FFFF00"/>
                    </a:solidFill>
                    <a:latin typeface="+mj-lt"/>
                    <a:cs typeface="宋体" panose="02010600030101010101" pitchFamily="2" charset="-122"/>
                  </a:rPr>
                  <a:t>1</a:t>
                </a:r>
              </a:p>
              <a:p>
                <a:pPr indent="266700"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ctr">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𝒙</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a:solidFill>
                              <a:schemeClr val="bg1"/>
                            </a:solidFill>
                            <a:latin typeface="Cambria Math" panose="02040503050406030204" pitchFamily="18" charset="0"/>
                            <a:ea typeface="宋体" panose="02010600030101010101" pitchFamily="2" charset="-122"/>
                          </a:rPr>
                          <m:t>𝝌</m:t>
                        </m:r>
                      </m:e>
                      <m:sub>
                        <m:r>
                          <a:rPr lang="en-US" altLang="zh-CN" sz="2800" b="1" i="1" kern="10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𝒙</m:t>
                        </m:r>
                      </m:e>
                    </m:d>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𝟎</m:t>
                    </m:r>
                    <m:r>
                      <a:rPr lang="en-US" altLang="zh-CN" sz="2800" b="1" kern="100">
                        <a:solidFill>
                          <a:schemeClr val="bg1"/>
                        </a:solidFill>
                        <a:latin typeface="Cambria Math" panose="02040503050406030204" pitchFamily="18" charset="0"/>
                        <a:ea typeface="宋体" panose="02010600030101010101" pitchFamily="2" charset="-122"/>
                      </a:rPr>
                      <m:t>)</m:t>
                    </m:r>
                  </m:oMath>
                </a14:m>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ctr">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𝑼</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𝒙</m:t>
                    </m:r>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𝑨</m:t>
                    </m:r>
                    <m:r>
                      <a:rPr lang="en-US" altLang="zh-CN" sz="2800" b="1" kern="100">
                        <a:solidFill>
                          <a:schemeClr val="bg1"/>
                        </a:solidFill>
                        <a:latin typeface="Cambria Math" panose="02040503050406030204" pitchFamily="18" charset="0"/>
                        <a:ea typeface="宋体" panose="02010600030101010101" pitchFamily="2" charset="-122"/>
                      </a:rPr>
                      <m:t>)</m:t>
                    </m:r>
                    <m:r>
                      <a:rPr lang="en-US" altLang="zh-CN" sz="28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a:solidFill>
                              <a:schemeClr val="bg1"/>
                            </a:solidFill>
                            <a:latin typeface="Cambria Math" panose="02040503050406030204" pitchFamily="18" charset="0"/>
                            <a:ea typeface="宋体" panose="02010600030101010101" pitchFamily="2" charset="-122"/>
                          </a:rPr>
                          <m:t>𝝌</m:t>
                        </m:r>
                      </m:e>
                      <m:sub>
                        <m:r>
                          <a:rPr lang="en-US" altLang="zh-CN" sz="2800" b="1" i="1" kern="10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a:solidFill>
                              <a:schemeClr val="bg1"/>
                            </a:solidFill>
                            <a:latin typeface="Cambria Math" panose="02040503050406030204" pitchFamily="18" charset="0"/>
                            <a:ea typeface="宋体" panose="02010600030101010101" pitchFamily="2" charset="-122"/>
                          </a:rPr>
                          <m:t>𝒙</m:t>
                        </m:r>
                      </m:e>
                    </m:d>
                    <m:r>
                      <a:rPr lang="en-US" altLang="zh-CN" sz="2800" b="1" i="1" kern="100">
                        <a:solidFill>
                          <a:schemeClr val="bg1"/>
                        </a:solidFill>
                        <a:latin typeface="Cambria Math" panose="02040503050406030204" pitchFamily="18" charset="0"/>
                        <a:ea typeface="宋体" panose="02010600030101010101" pitchFamily="2" charset="-122"/>
                      </a:rPr>
                      <m:t>=</m:t>
                    </m:r>
                    <m:r>
                      <a:rPr lang="en-US" altLang="zh-CN" sz="2800" b="1" i="1" kern="100">
                        <a:solidFill>
                          <a:schemeClr val="bg1"/>
                        </a:solidFill>
                        <a:latin typeface="Cambria Math" panose="02040503050406030204" pitchFamily="18" charset="0"/>
                        <a:ea typeface="宋体" panose="02010600030101010101" pitchFamily="2" charset="-122"/>
                      </a:rPr>
                      <m:t>𝟏</m:t>
                    </m:r>
                    <m:r>
                      <a:rPr lang="en-US" altLang="zh-CN" sz="2800" b="1" kern="100">
                        <a:solidFill>
                          <a:schemeClr val="bg1"/>
                        </a:solidFill>
                        <a:latin typeface="Cambria Math" panose="02040503050406030204" pitchFamily="18" charset="0"/>
                        <a:ea typeface="宋体" panose="02010600030101010101" pitchFamily="2" charset="-122"/>
                      </a:rPr>
                      <m:t>)</m:t>
                    </m:r>
                  </m:oMath>
                </a14:m>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FE097DD6-1E6F-42D7-98CE-CE7CD2DB9DE4}"/>
                  </a:ext>
                </a:extLst>
              </p:cNvPr>
              <p:cNvSpPr>
                <a:spLocks noRot="1" noChangeAspect="1" noMove="1" noResize="1" noEditPoints="1" noAdjustHandles="1" noChangeArrowheads="1" noChangeShapeType="1" noTextEdit="1"/>
              </p:cNvSpPr>
              <p:nvPr/>
            </p:nvSpPr>
            <p:spPr>
              <a:xfrm>
                <a:off x="596914" y="2060848"/>
                <a:ext cx="8022652" cy="3242170"/>
              </a:xfrm>
              <a:prstGeom prst="rect">
                <a:avLst/>
              </a:prstGeom>
              <a:blipFill>
                <a:blip r:embed="rId3"/>
                <a:stretch>
                  <a:fillRect b="-4511"/>
                </a:stretch>
              </a:blipFill>
            </p:spPr>
            <p:txBody>
              <a:bodyPr/>
              <a:lstStyle/>
              <a:p>
                <a:r>
                  <a:rPr lang="zh-CN" altLang="en-US">
                    <a:noFill/>
                  </a:rPr>
                  <a:t> </a:t>
                </a:r>
              </a:p>
            </p:txBody>
          </p:sp>
        </mc:Fallback>
      </mc:AlternateContent>
      <p:sp>
        <p:nvSpPr>
          <p:cNvPr id="9" name="Text Box 2">
            <a:extLst>
              <a:ext uri="{FF2B5EF4-FFF2-40B4-BE49-F238E27FC236}">
                <a16:creationId xmlns:a16="http://schemas.microsoft.com/office/drawing/2014/main" id="{973A9FF1-7D01-4C66-AF9C-5449F7E0A338}"/>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特征函数的性质</a:t>
            </a:r>
          </a:p>
        </p:txBody>
      </p:sp>
    </p:spTree>
    <p:extLst>
      <p:ext uri="{BB962C8B-B14F-4D97-AF65-F5344CB8AC3E}">
        <p14:creationId xmlns:p14="http://schemas.microsoft.com/office/powerpoint/2010/main" val="2042235344"/>
      </p:ext>
    </p:extLst>
  </p:cSld>
  <p:clrMapOvr>
    <a:masterClrMapping/>
  </p:clrMapOvr>
  <p:transition spd="med">
    <p:wipe dir="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652819E-3DA2-4E32-B39B-0ECE957D869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185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21860"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dirty="0">
                <a:solidFill>
                  <a:schemeClr val="bg1"/>
                </a:solidFill>
                <a:latin typeface="宋体" pitchFamily="2" charset="-122"/>
                <a:ea typeface="宋体" pitchFamily="2" charset="-122"/>
              </a:rPr>
              <a:t> </a:t>
            </a:r>
            <a:r>
              <a:rPr lang="zh-CN" altLang="en-US" sz="5400" b="1" dirty="0">
                <a:solidFill>
                  <a:schemeClr val="bg1"/>
                </a:solidFill>
                <a:latin typeface="宋体" pitchFamily="2" charset="-122"/>
                <a:ea typeface="宋体" pitchFamily="2" charset="-122"/>
              </a:rPr>
              <a:t>例 题</a:t>
            </a:r>
          </a:p>
        </p:txBody>
      </p:sp>
      <p:pic>
        <p:nvPicPr>
          <p:cNvPr id="12186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DE71031B-C0F1-4BA1-A0CE-964E6BDD41B5}"/>
                  </a:ext>
                </a:extLst>
              </p:cNvPr>
              <p:cNvSpPr/>
              <p:nvPr/>
            </p:nvSpPr>
            <p:spPr>
              <a:xfrm>
                <a:off x="218344" y="2317075"/>
                <a:ext cx="8780338" cy="3323987"/>
              </a:xfrm>
              <a:prstGeom prst="rect">
                <a:avLst/>
              </a:prstGeom>
              <a:solidFill>
                <a:schemeClr val="accent3">
                  <a:lumMod val="95000"/>
                </a:schemeClr>
              </a:solidFill>
            </p:spPr>
            <p:txBody>
              <a:bodyPr wrap="square">
                <a:spAutoFit/>
              </a:bodyPr>
              <a:lstStyle/>
              <a:p>
                <a:pPr indent="266700" algn="just">
                  <a:lnSpc>
                    <a:spcPct val="150000"/>
                  </a:lnSpc>
                  <a:spcAft>
                    <a:spcPts val="0"/>
                  </a:spcAft>
                </a:pPr>
                <a:r>
                  <a:rPr lang="en-US" altLang="zh-CN" sz="2800" b="1" kern="100" dirty="0">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【例题</a:t>
                </a:r>
                <a:r>
                  <a:rPr lang="zh-CN" altLang="zh-CN" sz="2800" b="1" kern="100" dirty="0">
                    <a:solidFill>
                      <a:schemeClr val="tx1"/>
                    </a:solidFill>
                    <a:latin typeface="Times New Roman" panose="02020603050405020304" pitchFamily="18" charset="0"/>
                    <a:ea typeface="宋体" panose="02010600030101010101" pitchFamily="2" charset="-122"/>
                  </a:rPr>
                  <a:t>】</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𝑼</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en-US" altLang="zh-CN" sz="28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𝑨</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𝒅</m:t>
                        </m:r>
                      </m:e>
                    </m:d>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，求</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𝑨</m:t>
                        </m:r>
                      </m:sub>
                    </m:sSub>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sub>
                    </m:sSub>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tx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【分析】根据特征函数的定义计算即可。</a:t>
                </a:r>
                <a:endParaRPr lang="zh-CN" altLang="zh-CN" sz="2800" b="1" kern="100" dirty="0">
                  <a:solidFill>
                    <a:schemeClr val="tx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【解】</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𝑨</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𝟎</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𝟎</m:t>
                        </m:r>
                      </m:e>
                    </m:d>
                    <m:r>
                      <a:rPr lang="en-US" altLang="zh-CN" sz="2800" b="1" i="1" kern="100">
                        <a:solidFill>
                          <a:schemeClr val="tx1"/>
                        </a:solidFill>
                        <a:latin typeface="Cambria Math" panose="02040503050406030204" pitchFamily="18" charset="0"/>
                        <a:ea typeface="宋体" panose="02010600030101010101" pitchFamily="2" charset="-122"/>
                      </a:rPr>
                      <m:t>}</m:t>
                    </m:r>
                  </m:oMath>
                </a14:m>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𝟎</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oMath>
                  </m:oMathPara>
                </a14:m>
                <a:endParaRPr lang="zh-CN" altLang="zh-CN" sz="28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DE71031B-C0F1-4BA1-A0CE-964E6BDD41B5}"/>
                  </a:ext>
                </a:extLst>
              </p:cNvPr>
              <p:cNvSpPr>
                <a:spLocks noRot="1" noChangeAspect="1" noMove="1" noResize="1" noEditPoints="1" noAdjustHandles="1" noChangeArrowheads="1" noChangeShapeType="1" noTextEdit="1"/>
              </p:cNvSpPr>
              <p:nvPr/>
            </p:nvSpPr>
            <p:spPr>
              <a:xfrm>
                <a:off x="218344" y="2317075"/>
                <a:ext cx="8780338" cy="3323987"/>
              </a:xfrm>
              <a:prstGeom prst="rect">
                <a:avLst/>
              </a:prstGeom>
              <a:blipFill>
                <a:blip r:embed="rId3"/>
                <a:stretch>
                  <a:fillRect l="-1458" r="-138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03266845"/>
      </p:ext>
    </p:extLst>
  </p:cSld>
  <p:clrMapOvr>
    <a:masterClrMapping/>
  </p:clrMapOvr>
  <p:transition spd="med">
    <p:wipe dir="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77D6958-9843-4EA8-85CD-E0FD7727401B}" type="datetime1">
              <a:rPr lang="zh-CN" altLang="en-US" sz="1400" b="1">
                <a:latin typeface="Times New Roman" pitchFamily="18" charset="0"/>
                <a:ea typeface="宋体" pitchFamily="2" charset="-122"/>
              </a:rPr>
              <a:pPr eaLnBrk="1" hangingPunct="1"/>
              <a:t>2020/9/7</a:t>
            </a:fld>
            <a:endParaRPr lang="en-US" altLang="zh-CN" sz="1400" b="1">
              <a:latin typeface="Times New Roman" pitchFamily="18" charset="0"/>
              <a:ea typeface="宋体" pitchFamily="2" charset="-122"/>
            </a:endParaRPr>
          </a:p>
        </p:txBody>
      </p:sp>
      <p:sp>
        <p:nvSpPr>
          <p:cNvPr id="124931" name="页脚占位符 4"/>
          <p:cNvSpPr txBox="1">
            <a:spLocks noGrp="1"/>
          </p:cNvSpPr>
          <p:nvPr/>
        </p:nvSpPr>
        <p:spPr bwMode="auto">
          <a:xfrm>
            <a:off x="3132138" y="64008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r>
              <a:rPr lang="zh-CN" altLang="en-US" sz="1400" b="1">
                <a:latin typeface="Times New Roman" pitchFamily="18" charset="0"/>
                <a:ea typeface="宋体" pitchFamily="2" charset="-122"/>
              </a:rPr>
              <a:t>计算机应用技术研究所</a:t>
            </a:r>
          </a:p>
        </p:txBody>
      </p:sp>
      <p:sp>
        <p:nvSpPr>
          <p:cNvPr id="124932" name="灯片编号占位符 5"/>
          <p:cNvSpPr txBox="1">
            <a:spLocks noGrp="1"/>
          </p:cNvSpPr>
          <p:nvPr/>
        </p:nvSpPr>
        <p:spPr bwMode="auto">
          <a:xfrm>
            <a:off x="6553200" y="63563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r" eaLnBrk="1" hangingPunct="1"/>
            <a:fld id="{90726C6A-60DE-46F7-B205-F4B3AEE59B77}" type="slidenum">
              <a:rPr lang="en-US" altLang="zh-CN" sz="1400" b="1">
                <a:latin typeface="Times New Roman" pitchFamily="18" charset="0"/>
                <a:ea typeface="宋体" pitchFamily="2" charset="-122"/>
              </a:rPr>
              <a:pPr algn="r" eaLnBrk="1" hangingPunct="1"/>
              <a:t>107</a:t>
            </a:fld>
            <a:endParaRPr lang="en-US" altLang="zh-CN" sz="1400" b="1">
              <a:latin typeface="Times New Roman" pitchFamily="18" charset="0"/>
              <a:ea typeface="宋体" pitchFamily="2" charset="-122"/>
            </a:endParaRPr>
          </a:p>
        </p:txBody>
      </p:sp>
      <p:sp>
        <p:nvSpPr>
          <p:cNvPr id="124933" name="Text Box 2"/>
          <p:cNvSpPr txBox="1">
            <a:spLocks noChangeArrowheads="1"/>
          </p:cNvSpPr>
          <p:nvPr/>
        </p:nvSpPr>
        <p:spPr bwMode="auto">
          <a:xfrm>
            <a:off x="1403350" y="836613"/>
            <a:ext cx="70866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集合的特征函数</a:t>
            </a:r>
          </a:p>
        </p:txBody>
      </p:sp>
      <p:sp>
        <p:nvSpPr>
          <p:cNvPr id="124934" name="Rectangle 3"/>
          <p:cNvSpPr>
            <a:spLocks noGrp="1" noChangeArrowheads="1"/>
          </p:cNvSpPr>
          <p:nvPr>
            <p:ph type="body" idx="4294967295"/>
          </p:nvPr>
        </p:nvSpPr>
        <p:spPr>
          <a:xfrm>
            <a:off x="2678112" y="2578051"/>
            <a:ext cx="4537075" cy="2160637"/>
          </a:xfrm>
          <a:noFill/>
        </p:spPr>
        <p:txBody>
          <a:bodyPr lIns="92075" tIns="46038" rIns="92075" bIns="46038"/>
          <a:lstStyle/>
          <a:p>
            <a:pPr eaLnBrk="1" hangingPunct="1">
              <a:lnSpc>
                <a:spcPct val="155000"/>
              </a:lnSpc>
              <a:buFont typeface="Wingdings" pitchFamily="2" charset="2"/>
              <a:buChar char="4"/>
            </a:pPr>
            <a:r>
              <a:rPr lang="en-US" altLang="zh-CN" sz="3600" b="1" dirty="0">
                <a:effectLst/>
                <a:latin typeface="黑体" pitchFamily="49" charset="-122"/>
                <a:ea typeface="黑体" pitchFamily="49" charset="-122"/>
              </a:rPr>
              <a:t> </a:t>
            </a:r>
            <a:r>
              <a:rPr lang="zh-CN" altLang="en-US" sz="3600" b="1" dirty="0">
                <a:effectLst/>
                <a:latin typeface="黑体" pitchFamily="49" charset="-122"/>
                <a:ea typeface="黑体" pitchFamily="49" charset="-122"/>
              </a:rPr>
              <a:t>特征函数的概念</a:t>
            </a:r>
            <a:endParaRPr lang="en-US" altLang="zh-CN" sz="3600" b="1" dirty="0">
              <a:effectLst/>
              <a:latin typeface="黑体" pitchFamily="49" charset="-122"/>
              <a:ea typeface="黑体" pitchFamily="49" charset="-122"/>
            </a:endParaRPr>
          </a:p>
          <a:p>
            <a:pPr eaLnBrk="1" hangingPunct="1">
              <a:lnSpc>
                <a:spcPct val="155000"/>
              </a:lnSpc>
              <a:buFont typeface="Wingdings" pitchFamily="2" charset="2"/>
              <a:buChar char="J"/>
            </a:pPr>
            <a:r>
              <a:rPr lang="en-US" altLang="zh-CN" sz="3600" b="1" dirty="0">
                <a:solidFill>
                  <a:srgbClr val="0000FF"/>
                </a:solidFill>
                <a:effectLst/>
                <a:latin typeface="黑体" pitchFamily="49" charset="-122"/>
                <a:ea typeface="黑体" pitchFamily="49" charset="-122"/>
              </a:rPr>
              <a:t> </a:t>
            </a:r>
            <a:r>
              <a:rPr lang="zh-CN" altLang="en-US" sz="3600" b="1" dirty="0">
                <a:solidFill>
                  <a:srgbClr val="0000FF"/>
                </a:solidFill>
                <a:effectLst/>
                <a:latin typeface="黑体" pitchFamily="49" charset="-122"/>
                <a:ea typeface="黑体" pitchFamily="49" charset="-122"/>
              </a:rPr>
              <a:t>特征函数的运算 </a:t>
            </a:r>
          </a:p>
        </p:txBody>
      </p:sp>
      <p:pic>
        <p:nvPicPr>
          <p:cNvPr id="124935" name="Picture 7" descr="C:\Program Files\Microsoft Office\MEDIA\CAGCAT10\j0292982.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7521575" y="4738688"/>
            <a:ext cx="1371600" cy="1354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wipe dir="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8652819E-3DA2-4E32-B39B-0ECE957D869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1859"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21860" name="Text Box 2"/>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p:pic>
        <p:nvPicPr>
          <p:cNvPr id="121861"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31AFEE3-C6E4-4D84-B290-643F34A144D6}"/>
                  </a:ext>
                </a:extLst>
              </p:cNvPr>
              <p:cNvSpPr/>
              <p:nvPr/>
            </p:nvSpPr>
            <p:spPr>
              <a:xfrm>
                <a:off x="491445" y="1636402"/>
                <a:ext cx="8076257" cy="4661982"/>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【定理</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设</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𝑼</m:t>
                    </m:r>
                  </m:oMath>
                </a14:m>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全集</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𝑨</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𝑩</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为</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𝑼</m:t>
                    </m:r>
                    <m:r>
                      <a:rPr lang="en-US" altLang="zh-CN" sz="2400" b="1" i="1" kern="100">
                        <a:solidFill>
                          <a:schemeClr val="bg1"/>
                        </a:solidFill>
                        <a:latin typeface="Cambria Math" panose="02040503050406030204" pitchFamily="18" charset="0"/>
                        <a:ea typeface="宋体" panose="02010600030101010101" pitchFamily="2" charset="-122"/>
                      </a:rPr>
                      <m:t> </m:t>
                    </m:r>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的任意子集</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则</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对</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于</a:t>
                </a:r>
                <a:r>
                  <a:rPr lang="zh-CN" altLang="en-US" sz="2400" b="1" kern="100" dirty="0">
                    <a:solidFill>
                      <a:srgbClr val="FFFF00"/>
                    </a:solidFill>
                    <a:latin typeface="Times New Roman" panose="02020603050405020304" pitchFamily="18" charset="0"/>
                    <a:ea typeface="宋体" panose="02010600030101010101" pitchFamily="2" charset="-122"/>
                    <a:cs typeface="宋体" panose="02010600030101010101" pitchFamily="2" charset="-122"/>
                  </a:rPr>
                  <a:t>任意</a:t>
                </a:r>
                <a14:m>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𝒙</m:t>
                    </m:r>
                    <m:r>
                      <a:rPr lang="en-US" altLang="zh-CN" sz="2400" b="1" i="1" kern="100" smtClean="0">
                        <a:solidFill>
                          <a:srgbClr val="FFFF00"/>
                        </a:solidFill>
                        <a:latin typeface="Cambria Math" panose="02040503050406030204" pitchFamily="18" charset="0"/>
                        <a:ea typeface="Cambria Math" panose="02040503050406030204" pitchFamily="18" charset="0"/>
                      </a:rPr>
                      <m:t>∈</m:t>
                    </m:r>
                    <m:r>
                      <a:rPr lang="en-US" altLang="zh-CN" sz="2400" b="1" i="1" kern="100">
                        <a:solidFill>
                          <a:srgbClr val="FFFF00"/>
                        </a:solidFill>
                        <a:latin typeface="Cambria Math" panose="02040503050406030204" pitchFamily="18" charset="0"/>
                        <a:ea typeface="宋体" panose="02010600030101010101" pitchFamily="2" charset="-122"/>
                      </a:rPr>
                      <m:t>𝑼</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，成立下列关系式：</a:t>
                </a:r>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(1) </a:t>
                </a:r>
                <a14:m>
                  <m:oMath xmlns:m="http://schemas.openxmlformats.org/officeDocument/2006/math">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oMath>
                </a14:m>
                <a:endPar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a:t>
                </a:r>
                <a14:m>
                  <m:oMath xmlns:m="http://schemas.openxmlformats.org/officeDocument/2006/math">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𝒎𝒂𝒙</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 {</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endParaRPr lang="zh-CN"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(2) </a:t>
                </a:r>
                <a14:m>
                  <m:oMath xmlns:m="http://schemas.openxmlformats.org/officeDocument/2006/math">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acc>
                          <m:accPr>
                            <m:chr m:val="̅"/>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acc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e>
                        </m:acc>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oMath>
                </a14:m>
                <a:endPar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(3) </a:t>
                </a:r>
                <a14:m>
                  <m:oMath xmlns:m="http://schemas.openxmlformats.org/officeDocument/2006/math">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𝒎𝒊𝒏</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 </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r>
                  <a:rPr lang="zh-CN"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a:t>
                </a: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(4) </a:t>
                </a:r>
                <a14:m>
                  <m:oMath xmlns:m="http://schemas.openxmlformats.org/officeDocument/2006/math">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r>
                      <a:rPr lang="en-US" altLang="zh-CN" sz="2400" b="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oMath>
                </a14:m>
                <a:endPar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(5) </a:t>
                </a:r>
                <a14:m>
                  <m:oMath xmlns:m="http://schemas.openxmlformats.org/officeDocument/2006/math">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sSub>
                      <m:sSub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sSub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𝝌</m:t>
                        </m:r>
                      </m:e>
                      <m:sub>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宋体" panose="02010600030101010101" pitchFamily="2" charset="-122"/>
                            <a:cs typeface="宋体" panose="02010600030101010101" pitchFamily="2" charset="-122"/>
                          </a:rPr>
                        </m:ctrlPr>
                      </m:dPr>
                      <m:e>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𝒙</m:t>
                        </m:r>
                      </m:e>
                    </m:d>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𝑨</m:t>
                    </m:r>
                    <m:r>
                      <a:rPr lang="en-US" altLang="zh-CN" sz="2400" b="1" kern="100" smtClean="0">
                        <a:solidFill>
                          <a:srgbClr val="FFFF00"/>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kern="100">
                        <a:solidFill>
                          <a:schemeClr val="bg1"/>
                        </a:solidFill>
                        <a:latin typeface="Cambria Math" panose="02040503050406030204" pitchFamily="18" charset="0"/>
                        <a:ea typeface="宋体" panose="02010600030101010101" pitchFamily="2" charset="-122"/>
                        <a:cs typeface="宋体" panose="02010600030101010101" pitchFamily="2" charset="-122"/>
                      </a:rPr>
                      <m:t>𝑩</m:t>
                    </m:r>
                  </m:oMath>
                </a14:m>
                <a:endParaRPr lang="zh-CN"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ts val="3600"/>
                  </a:lnSpc>
                  <a:spcAft>
                    <a:spcPts val="0"/>
                  </a:spcAft>
                </a:pPr>
                <a:r>
                  <a:rPr lang="en-US" altLang="zh-CN" sz="2400" b="1" kern="100" dirty="0">
                    <a:solidFill>
                      <a:schemeClr val="bg1"/>
                    </a:solidFill>
                    <a:latin typeface="宋体" panose="02010600030101010101" pitchFamily="2" charset="-122"/>
                    <a:ea typeface="宋体" panose="02010600030101010101" pitchFamily="2" charset="-122"/>
                    <a:cs typeface="宋体" panose="02010600030101010101" pitchFamily="2" charset="-122"/>
                  </a:rPr>
                  <a:t> (6) </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acc>
                          <m:accPr>
                            <m:chr m:val="̅"/>
                            <m:ctrlPr>
                              <a:rPr lang="zh-CN" altLang="zh-CN" sz="2400" b="1" i="1" kern="100">
                                <a:solidFill>
                                  <a:schemeClr val="bg1"/>
                                </a:solidFill>
                                <a:latin typeface="Cambria Math" panose="02040503050406030204" pitchFamily="18" charset="0"/>
                                <a:ea typeface="Cambria Math" panose="02040503050406030204" pitchFamily="18" charset="0"/>
                              </a:rPr>
                            </m:ctrlPr>
                          </m:accPr>
                          <m:e>
                            <m:r>
                              <a:rPr lang="en-US" altLang="zh-CN" sz="2400" b="1" i="1" kern="100">
                                <a:solidFill>
                                  <a:schemeClr val="bg1"/>
                                </a:solidFill>
                                <a:latin typeface="Cambria Math" panose="02040503050406030204" pitchFamily="18" charset="0"/>
                                <a:ea typeface="宋体" panose="02010600030101010101" pitchFamily="2" charset="-122"/>
                              </a:rPr>
                              <m:t>𝑩</m:t>
                            </m:r>
                          </m:e>
                        </m:acc>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acc>
                          <m:accPr>
                            <m:chr m:val="̅"/>
                            <m:ctrlPr>
                              <a:rPr lang="zh-CN" altLang="zh-CN" sz="2400" b="1" i="1" kern="100">
                                <a:solidFill>
                                  <a:schemeClr val="bg1"/>
                                </a:solidFill>
                                <a:latin typeface="Cambria Math" panose="02040503050406030204" pitchFamily="18" charset="0"/>
                                <a:ea typeface="Cambria Math" panose="02040503050406030204" pitchFamily="18" charset="0"/>
                              </a:rPr>
                            </m:ctrlPr>
                          </m:accPr>
                          <m:e>
                            <m:r>
                              <a:rPr lang="en-US" altLang="zh-CN" sz="2400" b="1" i="1" kern="100">
                                <a:solidFill>
                                  <a:schemeClr val="bg1"/>
                                </a:solidFill>
                                <a:latin typeface="Cambria Math" panose="02040503050406030204" pitchFamily="18" charset="0"/>
                                <a:ea typeface="宋体" panose="02010600030101010101" pitchFamily="2" charset="-122"/>
                              </a:rPr>
                              <m:t>𝑩</m:t>
                            </m:r>
                          </m:e>
                        </m:acc>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endParaRPr lang="en-US" altLang="zh-CN" sz="2400" b="1" i="1" kern="100" dirty="0">
                  <a:solidFill>
                    <a:schemeClr val="bg1"/>
                  </a:solidFill>
                  <a:latin typeface="Cambria Math" panose="02040503050406030204" pitchFamily="18" charset="0"/>
                  <a:ea typeface="宋体" panose="02010600030101010101" pitchFamily="2" charset="-122"/>
                </a:endParaRPr>
              </a:p>
              <a:p>
                <a:pPr indent="266700" algn="just">
                  <a:lnSpc>
                    <a:spcPts val="3600"/>
                  </a:lnSpc>
                  <a:spcAft>
                    <a:spcPts val="0"/>
                  </a:spcAft>
                </a:pPr>
                <a:r>
                  <a:rPr lang="en-US" altLang="zh-CN" sz="2400" b="1" kern="100" dirty="0">
                    <a:solidFill>
                      <a:schemeClr val="bg1"/>
                    </a:solidFill>
                    <a:ea typeface="宋体" panose="02010600030101010101" pitchFamily="2" charset="-122"/>
                  </a:rPr>
                  <a:t>             </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r>
                          <a:rPr lang="en-US" altLang="zh-CN" sz="2400" b="1" i="1" kern="100">
                            <a:solidFill>
                              <a:srgbClr val="FFFF00"/>
                            </a:solidFill>
                            <a:latin typeface="Cambria Math" panose="02040503050406030204" pitchFamily="18" charset="0"/>
                            <a:ea typeface="宋体" panose="02010600030101010101" pitchFamily="2" charset="-122"/>
                          </a:rPr>
                          <m:t>∩</m:t>
                        </m:r>
                        <m:r>
                          <a:rPr lang="en-US" altLang="zh-CN" sz="2400" b="1" i="1" kern="100">
                            <a:solidFill>
                              <a:srgbClr val="FFFF00"/>
                            </a:solidFill>
                            <a:latin typeface="Cambria Math" panose="02040503050406030204" pitchFamily="18" charset="0"/>
                            <a:ea typeface="宋体" panose="02010600030101010101" pitchFamily="2" charset="-122"/>
                          </a:rPr>
                          <m:t>𝑩</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oMath>
                </a14:m>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931AFEE3-C6E4-4D84-B290-643F34A144D6}"/>
                  </a:ext>
                </a:extLst>
              </p:cNvPr>
              <p:cNvSpPr>
                <a:spLocks noRot="1" noChangeAspect="1" noMove="1" noResize="1" noEditPoints="1" noAdjustHandles="1" noChangeArrowheads="1" noChangeShapeType="1" noTextEdit="1"/>
              </p:cNvSpPr>
              <p:nvPr/>
            </p:nvSpPr>
            <p:spPr>
              <a:xfrm>
                <a:off x="491445" y="1636402"/>
                <a:ext cx="8076257" cy="4661982"/>
              </a:xfrm>
              <a:prstGeom prst="rect">
                <a:avLst/>
              </a:prstGeom>
              <a:blipFill>
                <a:blip r:embed="rId3"/>
                <a:stretch>
                  <a:fillRect l="-1208" t="-523" r="-120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293081883"/>
      </p:ext>
    </p:extLst>
  </p:cSld>
  <p:clrMapOvr>
    <a:masterClrMapping/>
  </p:clrMapOvr>
  <p:transition spd="med">
    <p:wipe dir="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BC950ADC-936C-45CD-8B99-399B85A44DD7}"/>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p:pic>
        <p:nvPicPr>
          <p:cNvPr id="3" name="图片 2">
            <a:extLst>
              <a:ext uri="{FF2B5EF4-FFF2-40B4-BE49-F238E27FC236}">
                <a16:creationId xmlns:a16="http://schemas.microsoft.com/office/drawing/2014/main" id="{F7387C11-9153-4C99-9642-906C09CB80A8}"/>
              </a:ext>
            </a:extLst>
          </p:cNvPr>
          <p:cNvPicPr>
            <a:picLocks noChangeAspect="1"/>
          </p:cNvPicPr>
          <p:nvPr/>
        </p:nvPicPr>
        <p:blipFill>
          <a:blip r:embed="rId3"/>
          <a:stretch>
            <a:fillRect/>
          </a:stretch>
        </p:blipFill>
        <p:spPr>
          <a:xfrm>
            <a:off x="251520" y="1588149"/>
            <a:ext cx="8640960" cy="4779823"/>
          </a:xfrm>
          <a:prstGeom prst="rect">
            <a:avLst/>
          </a:prstGeom>
        </p:spPr>
      </p:pic>
    </p:spTree>
  </p:cSld>
  <p:clrMapOvr>
    <a:masterClrMapping/>
  </p:clrMapOvr>
  <p:transition spd="med">
    <p:wipe dir="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p:pic>
        <p:nvPicPr>
          <p:cNvPr id="3" name="图片 2">
            <a:extLst>
              <a:ext uri="{FF2B5EF4-FFF2-40B4-BE49-F238E27FC236}">
                <a16:creationId xmlns:a16="http://schemas.microsoft.com/office/drawing/2014/main" id="{12EBBD1A-85CC-4141-BDE3-0A261AFC80EA}"/>
              </a:ext>
            </a:extLst>
          </p:cNvPr>
          <p:cNvPicPr>
            <a:picLocks noChangeAspect="1"/>
          </p:cNvPicPr>
          <p:nvPr/>
        </p:nvPicPr>
        <p:blipFill>
          <a:blip r:embed="rId3"/>
          <a:stretch>
            <a:fillRect/>
          </a:stretch>
        </p:blipFill>
        <p:spPr>
          <a:xfrm>
            <a:off x="74547" y="1738421"/>
            <a:ext cx="9033957" cy="4555795"/>
          </a:xfrm>
          <a:prstGeom prst="rect">
            <a:avLst/>
          </a:prstGeom>
        </p:spPr>
      </p:pic>
    </p:spTree>
    <p:extLst>
      <p:ext uri="{BB962C8B-B14F-4D97-AF65-F5344CB8AC3E}">
        <p14:creationId xmlns:p14="http://schemas.microsoft.com/office/powerpoint/2010/main" val="3837296396"/>
      </p:ext>
    </p:extLst>
  </p:cSld>
  <p:clrMapOvr>
    <a:masterClrMapping/>
  </p:clrMapOvr>
  <p:transition spd="med">
    <p:wipe dir="r"/>
  </p:transition>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E538CB22-FDA4-4CA0-B7B2-872F9CB41030}"/>
                  </a:ext>
                </a:extLst>
              </p:cNvPr>
              <p:cNvSpPr/>
              <p:nvPr/>
            </p:nvSpPr>
            <p:spPr>
              <a:xfrm>
                <a:off x="215752" y="1680178"/>
                <a:ext cx="8784976" cy="4401205"/>
              </a:xfrm>
              <a:prstGeom prst="rect">
                <a:avLst/>
              </a:prstGeom>
              <a:solidFill>
                <a:schemeClr val="accent3">
                  <a:lumMod val="95000"/>
                </a:schemeClr>
              </a:solidFill>
            </p:spPr>
            <p:txBody>
              <a:bodyPr wrap="square">
                <a:spAutoFit/>
              </a:bodyPr>
              <a:lstStyle/>
              <a:p>
                <a:pPr indent="266700" algn="just">
                  <a:lnSpc>
                    <a:spcPts val="4200"/>
                  </a:lnSpc>
                  <a:spcAft>
                    <a:spcPts val="0"/>
                  </a:spcAft>
                </a:pPr>
                <a:r>
                  <a:rPr lang="en-US" altLang="zh-CN" sz="2800" b="1" kern="100" dirty="0">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【例题</a:t>
                </a:r>
                <a:r>
                  <a:rPr lang="zh-CN" altLang="zh-CN" sz="2800" b="1" kern="100" dirty="0">
                    <a:solidFill>
                      <a:schemeClr val="tx1"/>
                    </a:solidFill>
                    <a:latin typeface="Times New Roman" panose="02020603050405020304" pitchFamily="18" charset="0"/>
                    <a:ea typeface="宋体" panose="02010600030101010101" pitchFamily="2" charset="-122"/>
                  </a:rPr>
                  <a:t>】</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𝑼</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en-US" altLang="zh-CN" sz="28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𝑪</m:t>
                    </m:r>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𝒅</m:t>
                        </m:r>
                      </m:e>
                    </m:d>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，求</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𝑪</m:t>
                        </m:r>
                      </m:sub>
                    </m:sSub>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和</a:t>
                </a:r>
                <a14:m>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𝑪</m:t>
                        </m:r>
                      </m:sub>
                    </m:sSub>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tx1"/>
                  </a:solidFill>
                  <a:latin typeface="Times New Roman" panose="02020603050405020304" pitchFamily="18" charset="0"/>
                  <a:ea typeface="宋体" panose="02010600030101010101" pitchFamily="2" charset="-122"/>
                </a:endParaRPr>
              </a:p>
              <a:p>
                <a:pPr indent="266700" algn="just">
                  <a:lnSpc>
                    <a:spcPts val="42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【解】由题意有：</a:t>
                </a:r>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42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𝟎</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𝟎</m:t>
                          </m:r>
                        </m:e>
                      </m:d>
                      <m:r>
                        <a:rPr lang="en-US" altLang="zh-CN" sz="2800" b="1" i="1" kern="100">
                          <a:solidFill>
                            <a:schemeClr val="tx1"/>
                          </a:solidFill>
                          <a:latin typeface="Cambria Math" panose="02040503050406030204" pitchFamily="18" charset="0"/>
                          <a:ea typeface="宋体" panose="02010600030101010101" pitchFamily="2" charset="-122"/>
                        </a:rPr>
                        <m:t>}</m:t>
                      </m:r>
                    </m:oMath>
                  </m:oMathPara>
                </a14:m>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ts val="42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𝑪</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𝟎</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oMath>
                  </m:oMathPara>
                </a14:m>
                <a:endParaRPr lang="zh-CN" altLang="zh-CN" sz="2800" b="1" kern="100" dirty="0">
                  <a:solidFill>
                    <a:schemeClr val="tx1"/>
                  </a:solidFill>
                  <a:latin typeface="Times New Roman" panose="02020603050405020304" pitchFamily="18" charset="0"/>
                  <a:ea typeface="宋体" panose="02010600030101010101" pitchFamily="2" charset="-122"/>
                </a:endParaRPr>
              </a:p>
              <a:p>
                <a:pPr algn="just">
                  <a:lnSpc>
                    <a:spcPts val="4200"/>
                  </a:lnSpc>
                  <a:spcAft>
                    <a:spcPts val="0"/>
                  </a:spcAft>
                </a:pP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故有：</a:t>
                </a:r>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42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𝑪</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oMath>
                  </m:oMathPara>
                </a14:m>
                <a:endPar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42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tx1"/>
                              </a:solidFill>
                              <a:latin typeface="Cambria Math" panose="02040503050406030204" pitchFamily="18" charset="0"/>
                              <a:ea typeface="Cambria Math" panose="02040503050406030204" pitchFamily="18" charset="0"/>
                            </a:rPr>
                          </m:ctrlPr>
                        </m:sSubPr>
                        <m:e>
                          <m:r>
                            <a:rPr lang="en-US" altLang="zh-CN" sz="2800" b="1" i="1" kern="100">
                              <a:solidFill>
                                <a:schemeClr val="tx1"/>
                              </a:solidFill>
                              <a:latin typeface="Cambria Math" panose="02040503050406030204" pitchFamily="18" charset="0"/>
                              <a:ea typeface="宋体" panose="02010600030101010101" pitchFamily="2" charset="-122"/>
                            </a:rPr>
                            <m:t>𝝌</m:t>
                          </m:r>
                        </m:e>
                        <m:sub>
                          <m:r>
                            <a:rPr lang="en-US" altLang="zh-CN" sz="2800" b="1" i="1" kern="100">
                              <a:solidFill>
                                <a:schemeClr val="tx1"/>
                              </a:solidFill>
                              <a:latin typeface="Cambria Math" panose="02040503050406030204" pitchFamily="18" charset="0"/>
                              <a:ea typeface="宋体" panose="02010600030101010101" pitchFamily="2" charset="-122"/>
                            </a:rPr>
                            <m:t>𝑩</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𝑪</m:t>
                          </m:r>
                        </m:sub>
                      </m:sSub>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𝒅</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𝟏</m:t>
                          </m:r>
                        </m:e>
                      </m:d>
                    </m:oMath>
                  </m:oMathPara>
                </a14:m>
                <a:endParaRPr lang="zh-CN" altLang="zh-CN" sz="28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E538CB22-FDA4-4CA0-B7B2-872F9CB41030}"/>
                  </a:ext>
                </a:extLst>
              </p:cNvPr>
              <p:cNvSpPr>
                <a:spLocks noRot="1" noChangeAspect="1" noMove="1" noResize="1" noEditPoints="1" noAdjustHandles="1" noChangeArrowheads="1" noChangeShapeType="1" noTextEdit="1"/>
              </p:cNvSpPr>
              <p:nvPr/>
            </p:nvSpPr>
            <p:spPr>
              <a:xfrm>
                <a:off x="215752" y="1680178"/>
                <a:ext cx="8784976" cy="4401205"/>
              </a:xfrm>
              <a:prstGeom prst="rect">
                <a:avLst/>
              </a:prstGeom>
              <a:blipFill>
                <a:blip r:embed="rId3"/>
                <a:stretch>
                  <a:fillRect l="-1388" t="-693" r="-145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920192833"/>
      </p:ext>
    </p:extLst>
  </p:cSld>
  <p:clrMapOvr>
    <a:masterClrMapping/>
  </p:clrMapOvr>
  <p:transition spd="med">
    <p:wipe dir="r"/>
  </p:transition>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1D3DFAB0-1489-4F6D-9701-F0FDB9B9904B}"/>
                  </a:ext>
                </a:extLst>
              </p:cNvPr>
              <p:cNvSpPr/>
              <p:nvPr/>
            </p:nvSpPr>
            <p:spPr>
              <a:xfrm>
                <a:off x="359768" y="1916832"/>
                <a:ext cx="8496944" cy="3889719"/>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a:t>
                </a:r>
                <a:r>
                  <a:rPr lang="zh-CN" altLang="zh-CN" sz="2800" b="1" kern="100" dirty="0">
                    <a:solidFill>
                      <a:schemeClr val="bg1"/>
                    </a:solidFill>
                    <a:latin typeface="Times New Roman" panose="02020603050405020304" pitchFamily="18" charset="0"/>
                    <a:ea typeface="宋体" panose="02010600030101010101" pitchFamily="2" charset="-122"/>
                  </a:rPr>
                  <a:t>】</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使</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用集合的特征函数证明集合运算法则</a:t>
                </a:r>
                <a:r>
                  <a:rPr lang="zh-CN" altLang="en-US"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）幂等律：</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zh-CN" altLang="zh-CN" sz="2800" b="1" i="1" kern="100" smtClean="0">
                        <a:solidFill>
                          <a:schemeClr val="bg1"/>
                        </a:solidFill>
                        <a:latin typeface="Cambria Math" panose="02040503050406030204" pitchFamily="18" charset="0"/>
                        <a:ea typeface="Cambria Math" panose="02040503050406030204" pitchFamily="18" charset="0"/>
                      </a:rPr>
                      <m:t> </m:t>
                    </m:r>
                    <m:r>
                      <a:rPr lang="en-US" altLang="zh-CN" sz="2800" b="1" i="1" kern="100" smtClean="0">
                        <a:solidFill>
                          <a:schemeClr val="bg1"/>
                        </a:solidFill>
                        <a:latin typeface="Cambria Math" panose="02040503050406030204" pitchFamily="18" charset="0"/>
                        <a:ea typeface="Cambria Math" panose="02040503050406030204" pitchFamily="18" charset="0"/>
                      </a:rPr>
                      <m:t>𝑨</m:t>
                    </m:r>
                    <m:r>
                      <a:rPr lang="en-US" altLang="zh-CN" sz="2800" b="1" i="1" kern="100" smtClean="0">
                        <a:solidFill>
                          <a:schemeClr val="bg1"/>
                        </a:solidFill>
                        <a:latin typeface="Cambria Math" panose="02040503050406030204" pitchFamily="18" charset="0"/>
                        <a:ea typeface="Cambria Math" panose="02040503050406030204" pitchFamily="18" charset="0"/>
                      </a:rPr>
                      <m:t>∩</m:t>
                    </m:r>
                    <m:r>
                      <a:rPr lang="en-US" altLang="zh-CN" sz="2800" b="1" i="1" kern="100" smtClean="0">
                        <a:solidFill>
                          <a:schemeClr val="bg1"/>
                        </a:solidFill>
                        <a:latin typeface="Cambria Math" panose="02040503050406030204" pitchFamily="18" charset="0"/>
                        <a:ea typeface="Cambria Math" panose="02040503050406030204" pitchFamily="18" charset="0"/>
                      </a:rPr>
                      <m:t>𝑨</m:t>
                    </m:r>
                    <m:r>
                      <a:rPr lang="en-US" altLang="zh-CN" sz="2800" b="1" i="1" kern="100" smtClean="0">
                        <a:solidFill>
                          <a:schemeClr val="bg1"/>
                        </a:solidFill>
                        <a:latin typeface="Cambria Math" panose="02040503050406030204" pitchFamily="18" charset="0"/>
                        <a:ea typeface="Cambria Math" panose="02040503050406030204" pitchFamily="18" charset="0"/>
                      </a:rPr>
                      <m:t>=</m:t>
                    </m:r>
                    <m:r>
                      <a:rPr lang="en-US" altLang="zh-CN" sz="2800" b="1" i="1" kern="100" smtClean="0">
                        <a:solidFill>
                          <a:schemeClr val="bg1"/>
                        </a:solidFill>
                        <a:latin typeface="Cambria Math" panose="02040503050406030204" pitchFamily="18" charset="0"/>
                        <a:ea typeface="Cambria Math" panose="02040503050406030204" pitchFamily="18" charset="0"/>
                      </a:rPr>
                      <m:t>𝑨</m:t>
                    </m:r>
                  </m:oMath>
                </a14:m>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）交换律：</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zh-CN" altLang="zh-CN" sz="2800" b="1" i="1" kern="100" smtClean="0">
                        <a:solidFill>
                          <a:schemeClr val="bg1"/>
                        </a:solidFill>
                        <a:latin typeface="Cambria Math" panose="02040503050406030204" pitchFamily="18" charset="0"/>
                        <a:ea typeface="Cambria Math" panose="02040503050406030204" pitchFamily="18" charset="0"/>
                      </a:rPr>
                      <m:t> </m:t>
                    </m:r>
                    <m:r>
                      <a:rPr lang="en-US" altLang="zh-CN" sz="2800" b="1" i="1" kern="100" smtClean="0">
                        <a:solidFill>
                          <a:schemeClr val="bg1"/>
                        </a:solidFill>
                        <a:latin typeface="Cambria Math" panose="02040503050406030204" pitchFamily="18" charset="0"/>
                        <a:ea typeface="Cambria Math" panose="02040503050406030204" pitchFamily="18" charset="0"/>
                      </a:rPr>
                      <m:t>𝑨</m:t>
                    </m:r>
                    <m:r>
                      <a:rPr lang="en-US" altLang="zh-CN" sz="2800" b="1" i="1" kern="100" smtClean="0">
                        <a:solidFill>
                          <a:schemeClr val="bg1"/>
                        </a:solidFill>
                        <a:latin typeface="Cambria Math" panose="02040503050406030204" pitchFamily="18" charset="0"/>
                        <a:ea typeface="Cambria Math" panose="02040503050406030204" pitchFamily="18" charset="0"/>
                      </a:rPr>
                      <m:t>∩</m:t>
                    </m:r>
                    <m:r>
                      <a:rPr lang="en-US" altLang="zh-CN" sz="2800" b="1" i="1" kern="100" smtClean="0">
                        <a:solidFill>
                          <a:schemeClr val="bg1"/>
                        </a:solidFill>
                        <a:latin typeface="Cambria Math" panose="02040503050406030204" pitchFamily="18" charset="0"/>
                        <a:ea typeface="Cambria Math" panose="02040503050406030204" pitchFamily="18" charset="0"/>
                      </a:rPr>
                      <m:t>𝑩</m:t>
                    </m:r>
                    <m:r>
                      <a:rPr lang="en-US" altLang="zh-CN" sz="2800" b="1" i="1" kern="100" smtClean="0">
                        <a:solidFill>
                          <a:schemeClr val="bg1"/>
                        </a:solidFill>
                        <a:latin typeface="Cambria Math" panose="02040503050406030204" pitchFamily="18" charset="0"/>
                        <a:ea typeface="Cambria Math" panose="02040503050406030204" pitchFamily="18" charset="0"/>
                      </a:rPr>
                      <m:t>=</m:t>
                    </m:r>
                    <m:r>
                      <a:rPr lang="en-US" altLang="zh-CN" sz="2800" b="1" i="1" kern="100" smtClean="0">
                        <a:solidFill>
                          <a:schemeClr val="bg1"/>
                        </a:solidFill>
                        <a:latin typeface="Cambria Math" panose="02040503050406030204" pitchFamily="18" charset="0"/>
                        <a:ea typeface="Cambria Math" panose="02040503050406030204" pitchFamily="18" charset="0"/>
                      </a:rPr>
                      <m:t>𝑩</m:t>
                    </m:r>
                    <m:r>
                      <a:rPr lang="en-US" altLang="zh-CN" sz="2800" b="1" i="1" kern="100" smtClean="0">
                        <a:solidFill>
                          <a:schemeClr val="bg1"/>
                        </a:solidFill>
                        <a:latin typeface="Cambria Math" panose="02040503050406030204" pitchFamily="18" charset="0"/>
                        <a:ea typeface="Cambria Math" panose="02040503050406030204" pitchFamily="18" charset="0"/>
                      </a:rPr>
                      <m:t>∩</m:t>
                    </m:r>
                    <m:r>
                      <a:rPr lang="en-US" altLang="zh-CN" sz="2800" b="1" i="1" kern="100" smtClean="0">
                        <a:solidFill>
                          <a:schemeClr val="bg1"/>
                        </a:solidFill>
                        <a:latin typeface="Cambria Math" panose="02040503050406030204" pitchFamily="18" charset="0"/>
                        <a:ea typeface="Cambria Math" panose="02040503050406030204" pitchFamily="18" charset="0"/>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）结合律：</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𝑪</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𝑪</m:t>
                    </m:r>
                    <m:r>
                      <a:rPr lang="en-US" altLang="zh-CN" sz="2800" b="1" i="1" kern="100" smtClean="0">
                        <a:solidFill>
                          <a:schemeClr val="bg1"/>
                        </a:solidFill>
                        <a:latin typeface="Cambria Math" panose="02040503050406030204" pitchFamily="18" charset="0"/>
                        <a:ea typeface="宋体" panose="02010600030101010101" pitchFamily="2" charset="-122"/>
                      </a:rPr>
                      <m:t>)</m:t>
                    </m:r>
                  </m:oMath>
                </a14:m>
                <a:endPar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800" b="1" kern="100" dirty="0">
                    <a:solidFill>
                      <a:schemeClr val="bg1"/>
                    </a:solidFill>
                    <a:ea typeface="宋体" panose="02010600030101010101" pitchFamily="2" charset="-122"/>
                  </a:rPr>
                  <a:t>              </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𝑪</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𝑪</m:t>
                    </m:r>
                    <m:r>
                      <a:rPr lang="en-US" altLang="zh-CN" sz="2800" b="1" i="1" kern="100" smtClean="0">
                        <a:solidFill>
                          <a:schemeClr val="bg1"/>
                        </a:solidFill>
                        <a:latin typeface="Cambria Math" panose="02040503050406030204" pitchFamily="18" charset="0"/>
                        <a:ea typeface="宋体" panose="02010600030101010101" pitchFamily="2" charset="-122"/>
                      </a:rPr>
                      <m:t>)</m:t>
                    </m:r>
                  </m:oMath>
                </a14:m>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）互补律：</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acc>
                      <m:accPr>
                        <m:chr m:val="̅"/>
                        <m:ctrlPr>
                          <a:rPr lang="zh-CN" altLang="zh-CN" sz="2800" b="1" i="1" kern="100">
                            <a:solidFill>
                              <a:schemeClr val="bg1"/>
                            </a:solidFill>
                            <a:latin typeface="Cambria Math" panose="02040503050406030204" pitchFamily="18" charset="0"/>
                            <a:ea typeface="Cambria Math" panose="02040503050406030204" pitchFamily="18" charset="0"/>
                          </a:rPr>
                        </m:ctrlPr>
                      </m:accPr>
                      <m:e>
                        <m:r>
                          <a:rPr lang="en-US" altLang="zh-CN" sz="2800" b="1" i="1" kern="100" smtClean="0">
                            <a:solidFill>
                              <a:schemeClr val="bg1"/>
                            </a:solidFill>
                            <a:latin typeface="Cambria Math" panose="02040503050406030204" pitchFamily="18" charset="0"/>
                            <a:ea typeface="宋体" panose="02010600030101010101" pitchFamily="2" charset="-122"/>
                          </a:rPr>
                          <m:t>𝑨</m:t>
                        </m:r>
                      </m:e>
                    </m:acc>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𝑼</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acc>
                      <m:accPr>
                        <m:chr m:val="̅"/>
                        <m:ctrlPr>
                          <a:rPr lang="zh-CN" altLang="zh-CN" sz="2800" b="1" i="1" kern="100">
                            <a:solidFill>
                              <a:schemeClr val="bg1"/>
                            </a:solidFill>
                            <a:latin typeface="Cambria Math" panose="02040503050406030204" pitchFamily="18" charset="0"/>
                            <a:ea typeface="Cambria Math" panose="02040503050406030204" pitchFamily="18" charset="0"/>
                          </a:rPr>
                        </m:ctrlPr>
                      </m:accPr>
                      <m:e>
                        <m:r>
                          <a:rPr lang="en-US" altLang="zh-CN" sz="2800" b="1" i="1" kern="100" smtClean="0">
                            <a:solidFill>
                              <a:schemeClr val="bg1"/>
                            </a:solidFill>
                            <a:latin typeface="Cambria Math" panose="02040503050406030204" pitchFamily="18" charset="0"/>
                            <a:ea typeface="宋体" panose="02010600030101010101" pitchFamily="2" charset="-122"/>
                          </a:rPr>
                          <m:t>𝑨</m:t>
                        </m:r>
                      </m:e>
                    </m:acc>
                    <m:r>
                      <a:rPr lang="en-US" altLang="zh-CN" sz="2800" b="1" i="1" kern="100" smtClean="0">
                        <a:solidFill>
                          <a:schemeClr val="bg1"/>
                        </a:solidFill>
                        <a:latin typeface="Cambria Math" panose="02040503050406030204" pitchFamily="18" charset="0"/>
                        <a:ea typeface="宋体" panose="02010600030101010101" pitchFamily="2" charset="-122"/>
                      </a:rPr>
                      <m:t>=∅</m:t>
                    </m:r>
                  </m:oMath>
                </a14:m>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1D3DFAB0-1489-4F6D-9701-F0FDB9B9904B}"/>
                  </a:ext>
                </a:extLst>
              </p:cNvPr>
              <p:cNvSpPr>
                <a:spLocks noRot="1" noChangeAspect="1" noMove="1" noResize="1" noEditPoints="1" noAdjustHandles="1" noChangeArrowheads="1" noChangeShapeType="1" noTextEdit="1"/>
              </p:cNvSpPr>
              <p:nvPr/>
            </p:nvSpPr>
            <p:spPr>
              <a:xfrm>
                <a:off x="359768" y="1916832"/>
                <a:ext cx="8496944" cy="3889719"/>
              </a:xfrm>
              <a:prstGeom prst="rect">
                <a:avLst/>
              </a:prstGeom>
              <a:blipFill>
                <a:blip r:embed="rId3"/>
                <a:stretch>
                  <a:fillRect b="-34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17938057"/>
      </p:ext>
    </p:extLst>
  </p:cSld>
  <p:clrMapOvr>
    <a:masterClrMapping/>
  </p:clrMapOvr>
  <p:transition spd="med">
    <p:wipe dir="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38A1EDD-1A0B-483D-A069-2518A19C629A}"/>
                  </a:ext>
                </a:extLst>
              </p:cNvPr>
              <p:cNvSpPr/>
              <p:nvPr/>
            </p:nvSpPr>
            <p:spPr>
              <a:xfrm>
                <a:off x="359532" y="1556792"/>
                <a:ext cx="8424936" cy="4520725"/>
              </a:xfrm>
              <a:prstGeom prst="rect">
                <a:avLst/>
              </a:prstGeom>
              <a:solidFill>
                <a:schemeClr val="accent6">
                  <a:lumMod val="75000"/>
                </a:schemeClr>
              </a:solidFill>
            </p:spPr>
            <p:txBody>
              <a:bodyPr wrap="square">
                <a:spAutoFit/>
              </a:bodyPr>
              <a:lstStyle/>
              <a:p>
                <a:pPr indent="266700" algn="just">
                  <a:lnSpc>
                    <a:spcPct val="150000"/>
                  </a:lnSpc>
                  <a:spcAft>
                    <a:spcPts val="0"/>
                  </a:spcAft>
                </a:pP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r>
                  <a:rPr lang="en-US"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1</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）仅证明第一个，</a:t>
                </a:r>
                <a:r>
                  <a:rPr lang="zh-CN" altLang="en-US"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由</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运算法则</a:t>
                </a:r>
                <a:r>
                  <a:rPr lang="zh-CN" altLang="en-US"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indent="266700"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func>
                        <m:funcPr>
                          <m:ctrlPr>
                            <a:rPr lang="zh-CN" altLang="zh-CN" sz="2800" b="1" i="1" kern="100">
                              <a:solidFill>
                                <a:schemeClr val="bg1"/>
                              </a:solidFill>
                              <a:latin typeface="Cambria Math" panose="02040503050406030204" pitchFamily="18" charset="0"/>
                              <a:ea typeface="Cambria Math" panose="02040503050406030204" pitchFamily="18" charset="0"/>
                            </a:rPr>
                          </m:ctrlPr>
                        </m:funcPr>
                        <m:fName>
                          <m:r>
                            <m:rPr>
                              <m:nor/>
                            </m:rPr>
                            <a:rPr lang="en-US" altLang="zh-CN" sz="2800" b="1" kern="100">
                              <a:solidFill>
                                <a:schemeClr val="bg1"/>
                              </a:solidFill>
                              <a:latin typeface="Cambria Math" panose="02040503050406030204" pitchFamily="18" charset="0"/>
                              <a:ea typeface="宋体" panose="02010600030101010101" pitchFamily="2" charset="-122"/>
                            </a:rPr>
                            <m:t>max</m:t>
                          </m:r>
                        </m:fName>
                        <m:e>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e>
                      </m:func>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oMath>
                  </m:oMathPara>
                </a14:m>
                <a:endParaRPr lang="zh-CN" altLang="zh-CN" sz="28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2</a:t>
                </a: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8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仅证明第二个，因为</a:t>
                </a:r>
                <a:endParaRPr lang="zh-CN" altLang="zh-CN" sz="28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func>
                        <m:funcPr>
                          <m:ctrlPr>
                            <a:rPr lang="en-US" altLang="zh-CN" sz="2800" b="1" i="1" kern="100">
                              <a:solidFill>
                                <a:schemeClr val="bg1"/>
                              </a:solidFill>
                              <a:latin typeface="Cambria Math" panose="02040503050406030204" pitchFamily="18" charset="0"/>
                              <a:ea typeface="宋体" panose="02010600030101010101" pitchFamily="2" charset="-122"/>
                            </a:rPr>
                          </m:ctrlPr>
                        </m:funcPr>
                        <m:fName>
                          <m:r>
                            <m:rPr>
                              <m:nor/>
                            </m:rPr>
                            <a:rPr lang="en-US" altLang="zh-CN" sz="2800" b="1" kern="100">
                              <a:solidFill>
                                <a:schemeClr val="bg1"/>
                              </a:solidFill>
                              <a:latin typeface="Cambria Math" panose="02040503050406030204" pitchFamily="18" charset="0"/>
                              <a:ea typeface="宋体" panose="02010600030101010101" pitchFamily="2" charset="-122"/>
                            </a:rPr>
                            <m:t>min</m:t>
                          </m:r>
                        </m:fName>
                        <m:e>
                          <m:d>
                            <m:dPr>
                              <m:begChr m:val="{"/>
                              <m:endChr m:val="}"/>
                              <m:ctrlPr>
                                <a:rPr lang="en-US" altLang="zh-CN" sz="2800" b="1" i="1" kern="100">
                                  <a:solidFill>
                                    <a:schemeClr val="bg1"/>
                                  </a:solidFill>
                                  <a:latin typeface="Cambria Math" panose="02040503050406030204" pitchFamily="18" charset="0"/>
                                  <a:ea typeface="宋体" panose="02010600030101010101" pitchFamily="2" charset="-122"/>
                                </a:rPr>
                              </m:ctrlPr>
                            </m:dPr>
                            <m:e>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𝑩</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e>
                          </m:d>
                        </m:e>
                      </m:func>
                    </m:oMath>
                  </m:oMathPara>
                </a14:m>
                <a:endParaRPr lang="en-US" altLang="zh-CN" sz="2800" b="1" i="1" kern="100" dirty="0">
                  <a:solidFill>
                    <a:schemeClr val="bg1"/>
                  </a:solidFill>
                  <a:latin typeface="Cambria Math" panose="02040503050406030204" pitchFamily="18" charset="0"/>
                  <a:ea typeface="宋体" panose="02010600030101010101" pitchFamily="2" charset="-122"/>
                </a:endParaRPr>
              </a:p>
              <a:p>
                <a:pPr algn="just">
                  <a:lnSpc>
                    <a:spcPct val="150000"/>
                  </a:lnSpc>
                  <a:spcAft>
                    <a:spcPts val="0"/>
                  </a:spcAft>
                </a:pPr>
                <a14:m>
                  <m:oMathPara xmlns:m="http://schemas.openxmlformats.org/officeDocument/2006/math">
                    <m:oMathParaPr>
                      <m:jc m:val="centerGroup"/>
                    </m:oMathParaPr>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m:t>
                      </m:r>
                      <m:r>
                        <m:rPr>
                          <m:nor/>
                        </m:rPr>
                        <a:rPr lang="en-US" altLang="zh-CN" sz="2800" b="1" kern="100">
                          <a:solidFill>
                            <a:schemeClr val="bg1"/>
                          </a:solidFill>
                          <a:latin typeface="Cambria Math" panose="02040503050406030204" pitchFamily="18" charset="0"/>
                          <a:ea typeface="宋体" panose="02010600030101010101" pitchFamily="2" charset="-122"/>
                        </a:rPr>
                        <m:t>min</m:t>
                      </m:r>
                      <m:r>
                        <a:rPr lang="en-US" altLang="zh-CN" sz="2800" b="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𝑩</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r>
                        <a:rPr lang="en-US" altLang="zh-CN" sz="2800" b="1" i="1" kern="100" smtClean="0">
                          <a:solidFill>
                            <a:schemeClr val="bg1"/>
                          </a:solidFill>
                          <a:latin typeface="Cambria Math" panose="02040503050406030204" pitchFamily="18" charset="0"/>
                          <a:ea typeface="宋体" panose="02010600030101010101" pitchFamily="2" charset="-122"/>
                        </a:rPr>
                        <m:t>=</m:t>
                      </m:r>
                      <m:sSub>
                        <m:sSubPr>
                          <m:ctrlPr>
                            <a:rPr lang="zh-CN" altLang="zh-CN" sz="2800" b="1" i="1" kern="100">
                              <a:solidFill>
                                <a:schemeClr val="bg1"/>
                              </a:solidFill>
                              <a:latin typeface="Cambria Math" panose="02040503050406030204" pitchFamily="18" charset="0"/>
                              <a:ea typeface="Cambria Math" panose="02040503050406030204" pitchFamily="18" charset="0"/>
                            </a:rPr>
                          </m:ctrlPr>
                        </m:sSubPr>
                        <m:e>
                          <m:r>
                            <a:rPr lang="en-US" altLang="zh-CN" sz="2800" b="1" i="1" kern="100" smtClean="0">
                              <a:solidFill>
                                <a:schemeClr val="bg1"/>
                              </a:solidFill>
                              <a:latin typeface="Cambria Math" panose="02040503050406030204" pitchFamily="18" charset="0"/>
                              <a:ea typeface="宋体" panose="02010600030101010101" pitchFamily="2" charset="-122"/>
                            </a:rPr>
                            <m:t>𝝌</m:t>
                          </m:r>
                        </m:e>
                        <m:sub>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800" b="1" i="1" kern="100">
                              <a:solidFill>
                                <a:schemeClr val="bg1"/>
                              </a:solidFill>
                              <a:latin typeface="Cambria Math" panose="02040503050406030204" pitchFamily="18" charset="0"/>
                              <a:ea typeface="Cambria Math" panose="02040503050406030204" pitchFamily="18" charset="0"/>
                            </a:rPr>
                          </m:ctrlPr>
                        </m:dPr>
                        <m:e>
                          <m:r>
                            <a:rPr lang="en-US" altLang="zh-CN" sz="2800" b="1" i="1" kern="100" smtClean="0">
                              <a:solidFill>
                                <a:schemeClr val="bg1"/>
                              </a:solidFill>
                              <a:latin typeface="Cambria Math" panose="02040503050406030204" pitchFamily="18" charset="0"/>
                              <a:ea typeface="宋体" panose="02010600030101010101" pitchFamily="2" charset="-122"/>
                            </a:rPr>
                            <m:t>𝒙</m:t>
                          </m:r>
                        </m:e>
                      </m:d>
                    </m:oMath>
                  </m:oMathPara>
                </a14:m>
                <a:endParaRPr lang="zh-CN" altLang="zh-CN" sz="2800" b="1" kern="100" dirty="0">
                  <a:solidFill>
                    <a:schemeClr val="bg1"/>
                  </a:solidFill>
                  <a:latin typeface="Times New Roman" panose="02020603050405020304" pitchFamily="18" charset="0"/>
                  <a:ea typeface="宋体" panose="02010600030101010101" pitchFamily="2" charset="-122"/>
                </a:endParaRPr>
              </a:p>
              <a:p>
                <a:pPr algn="just">
                  <a:lnSpc>
                    <a:spcPct val="150000"/>
                  </a:lnSpc>
                  <a:spcAft>
                    <a:spcPts val="0"/>
                  </a:spcAft>
                </a:pPr>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r>
                      <a:rPr lang="en-US" altLang="zh-CN" sz="2800" b="1" i="1" kern="100" smtClean="0">
                        <a:solidFill>
                          <a:schemeClr val="bg1"/>
                        </a:solidFill>
                        <a:latin typeface="Cambria Math" panose="02040503050406030204" pitchFamily="18" charset="0"/>
                        <a:ea typeface="宋体" panose="02010600030101010101" pitchFamily="2" charset="-122"/>
                      </a:rPr>
                      <m:t>𝑨</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𝑩</m:t>
                    </m:r>
                    <m:r>
                      <a:rPr lang="en-US" altLang="zh-CN" sz="2800" b="1" i="1" kern="100" smtClean="0">
                        <a:solidFill>
                          <a:schemeClr val="bg1"/>
                        </a:solidFill>
                        <a:latin typeface="Cambria Math" panose="02040503050406030204" pitchFamily="18" charset="0"/>
                        <a:ea typeface="宋体" panose="02010600030101010101" pitchFamily="2" charset="-122"/>
                      </a:rPr>
                      <m:t>∩</m:t>
                    </m:r>
                    <m:r>
                      <a:rPr lang="en-US" altLang="zh-CN" sz="2800" b="1" i="1" kern="100" smtClean="0">
                        <a:solidFill>
                          <a:schemeClr val="bg1"/>
                        </a:solidFill>
                        <a:latin typeface="Cambria Math" panose="02040503050406030204" pitchFamily="18" charset="0"/>
                        <a:ea typeface="宋体" panose="02010600030101010101" pitchFamily="2" charset="-122"/>
                      </a:rPr>
                      <m:t>𝑨</m:t>
                    </m:r>
                  </m:oMath>
                </a14:m>
                <a:r>
                  <a:rPr lang="zh-CN" altLang="zh-CN" sz="28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8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138A1EDD-1A0B-483D-A069-2518A19C629A}"/>
                  </a:ext>
                </a:extLst>
              </p:cNvPr>
              <p:cNvSpPr>
                <a:spLocks noRot="1" noChangeAspect="1" noMove="1" noResize="1" noEditPoints="1" noAdjustHandles="1" noChangeArrowheads="1" noChangeShapeType="1" noTextEdit="1"/>
              </p:cNvSpPr>
              <p:nvPr/>
            </p:nvSpPr>
            <p:spPr>
              <a:xfrm>
                <a:off x="359532" y="1556792"/>
                <a:ext cx="8424936" cy="4520725"/>
              </a:xfrm>
              <a:prstGeom prst="rect">
                <a:avLst/>
              </a:prstGeom>
              <a:blipFill>
                <a:blip r:embed="rId3"/>
                <a:stretch>
                  <a:fillRect l="-1520" b="-269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53170177"/>
      </p:ext>
    </p:extLst>
  </p:cSld>
  <p:clrMapOvr>
    <a:masterClrMapping/>
  </p:clrMapOvr>
  <p:transition spd="med">
    <p:wipe dir="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FFF6921C-B685-41CE-A8F8-365325C1AA87}"/>
                  </a:ext>
                </a:extLst>
              </p:cNvPr>
              <p:cNvSpPr/>
              <p:nvPr/>
            </p:nvSpPr>
            <p:spPr>
              <a:xfrm>
                <a:off x="122108" y="1700808"/>
                <a:ext cx="8852345" cy="4468531"/>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续</a:t>
                </a:r>
                <a:r>
                  <a:rPr lang="en-US"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3</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仅证明第一个</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因为：</a:t>
                </a:r>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600"/>
                  </a:lnSpc>
                  <a:spcAft>
                    <a:spcPts val="0"/>
                  </a:spcAft>
                </a:pPr>
                <a14:m>
                  <m:oMathPara xmlns:m="http://schemas.openxmlformats.org/officeDocument/2006/math">
                    <m:oMathParaPr>
                      <m:jc m:val="centerGroup"/>
                    </m:oMathParaPr>
                    <m:oMath xmlns:m="http://schemas.openxmlformats.org/officeDocument/2006/math">
                      <m:r>
                        <m:rPr>
                          <m:nor/>
                        </m:rPr>
                        <a:rPr lang="en-US" altLang="zh-CN" sz="2400" b="1" kern="100">
                          <a:solidFill>
                            <a:schemeClr val="bg1"/>
                          </a:solidFill>
                          <a:latin typeface="Cambria Math" panose="02040503050406030204" pitchFamily="18" charset="0"/>
                          <a:ea typeface="宋体" panose="02010600030101010101" pitchFamily="2" charset="-122"/>
                        </a:rPr>
                        <m:t>max</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func>
                            <m:funcPr>
                              <m:ctrlPr>
                                <a:rPr lang="zh-CN" altLang="zh-CN" sz="2400" b="1" i="1" kern="100">
                                  <a:solidFill>
                                    <a:schemeClr val="bg1"/>
                                  </a:solidFill>
                                  <a:latin typeface="Cambria Math" panose="02040503050406030204" pitchFamily="18" charset="0"/>
                                  <a:ea typeface="Cambria Math" panose="02040503050406030204" pitchFamily="18" charset="0"/>
                                </a:rPr>
                              </m:ctrlPr>
                            </m:funcPr>
                            <m:fName>
                              <m:r>
                                <m:rPr>
                                  <m:nor/>
                                </m:rPr>
                                <a:rPr lang="en-US" altLang="zh-CN" sz="2400" b="1" kern="100">
                                  <a:solidFill>
                                    <a:schemeClr val="bg1"/>
                                  </a:solidFill>
                                  <a:latin typeface="Cambria Math" panose="02040503050406030204" pitchFamily="18" charset="0"/>
                                  <a:ea typeface="宋体" panose="02010600030101010101" pitchFamily="2" charset="-122"/>
                                </a:rPr>
                                <m:t>max</m:t>
                              </m:r>
                            </m:fName>
                            <m:e>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rPr>
                                  </m:ctrlPr>
                                </m:dPr>
                                <m:e>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e>
                              </m:d>
                            </m:e>
                          </m:func>
                          <m:r>
                            <a:rPr lang="en-US" altLang="zh-CN" sz="2400" b="1" i="1" kern="100" smtClean="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e>
                      </m:d>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600"/>
                  </a:lnSpc>
                  <a:spcAft>
                    <a:spcPts val="0"/>
                  </a:spcAft>
                </a:pPr>
                <a14:m>
                  <m:oMathPara xmlns:m="http://schemas.openxmlformats.org/officeDocument/2006/math">
                    <m:oMathParaPr>
                      <m:jc m:val="centerGroup"/>
                    </m:oMathParaPr>
                    <m:oMath xmlns:m="http://schemas.openxmlformats.org/officeDocument/2006/math">
                      <m:func>
                        <m:funcPr>
                          <m:ctrlPr>
                            <a:rPr lang="zh-CN" altLang="zh-CN" sz="2400" b="1" i="1" kern="100">
                              <a:solidFill>
                                <a:schemeClr val="bg1"/>
                              </a:solidFill>
                              <a:latin typeface="Cambria Math" panose="02040503050406030204" pitchFamily="18" charset="0"/>
                              <a:ea typeface="Cambria Math" panose="02040503050406030204" pitchFamily="18" charset="0"/>
                            </a:rPr>
                          </m:ctrlPr>
                        </m:funcPr>
                        <m:fName>
                          <m:r>
                            <a:rPr lang="en-US" altLang="zh-CN" sz="2400" b="1" i="1" kern="100" smtClean="0">
                              <a:solidFill>
                                <a:schemeClr val="bg1"/>
                              </a:solidFill>
                              <a:latin typeface="Cambria Math" panose="02040503050406030204" pitchFamily="18" charset="0"/>
                              <a:ea typeface="Cambria Math" panose="02040503050406030204" pitchFamily="18" charset="0"/>
                            </a:rPr>
                            <m:t>=</m:t>
                          </m:r>
                          <m:r>
                            <m:rPr>
                              <m:nor/>
                            </m:rPr>
                            <a:rPr lang="en-US" altLang="zh-CN" sz="2400" b="1" kern="100">
                              <a:solidFill>
                                <a:schemeClr val="bg1"/>
                              </a:solidFill>
                              <a:latin typeface="Cambria Math" panose="02040503050406030204" pitchFamily="18" charset="0"/>
                              <a:ea typeface="宋体" panose="02010600030101010101" pitchFamily="2" charset="-122"/>
                            </a:rPr>
                            <m:t>max</m:t>
                          </m:r>
                        </m:fName>
                        <m:e>
                          <m:r>
                            <a:rPr lang="en-US" altLang="zh-CN" sz="2400" b="1" i="1" kern="100" smtClean="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r>
                            <m:rPr>
                              <m:nor/>
                            </m:rPr>
                            <a:rPr lang="en-US" altLang="zh-CN" sz="2400" b="1" kern="100">
                              <a:solidFill>
                                <a:schemeClr val="bg1"/>
                              </a:solidFill>
                              <a:latin typeface="Cambria Math" panose="02040503050406030204" pitchFamily="18" charset="0"/>
                              <a:ea typeface="宋体" panose="02010600030101010101" pitchFamily="2" charset="-122"/>
                            </a:rPr>
                            <m:t>max</m:t>
                          </m:r>
                          <m:r>
                            <a:rPr lang="en-US" altLang="zh-CN" sz="2400" b="1" i="1" kern="100" smtClean="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e>
                      </m:func>
                    </m:oMath>
                  </m:oMathPara>
                </a14:m>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即有</a:t>
                </a:r>
                <a14:m>
                  <m:oMath xmlns:m="http://schemas.openxmlformats.org/officeDocument/2006/math">
                    <m:sSub>
                      <m:sSubPr>
                        <m:ctrlPr>
                          <a:rPr lang="zh-CN" altLang="zh-CN" sz="2400" b="1" i="1" kern="100" smtClean="0">
                            <a:solidFill>
                              <a:srgbClr val="FFFF00"/>
                            </a:solidFill>
                            <a:latin typeface="Cambria Math" panose="02040503050406030204" pitchFamily="18" charset="0"/>
                            <a:ea typeface="Cambria Math" panose="02040503050406030204" pitchFamily="18" charset="0"/>
                          </a:rPr>
                        </m:ctrlPr>
                      </m:sSubPr>
                      <m:e>
                        <m:r>
                          <a:rPr lang="en-US" altLang="zh-CN" sz="2400" b="1" i="1" kern="100" smtClean="0">
                            <a:solidFill>
                              <a:srgbClr val="FFFF00"/>
                            </a:solidFill>
                            <a:latin typeface="Cambria Math" panose="02040503050406030204" pitchFamily="18" charset="0"/>
                            <a:ea typeface="宋体" panose="02010600030101010101" pitchFamily="2" charset="-122"/>
                          </a:rPr>
                          <m:t>𝝌</m:t>
                        </m:r>
                      </m:e>
                      <m:sub>
                        <m:r>
                          <a:rPr lang="en-US" altLang="zh-CN" sz="2400" b="1" i="1" kern="100" smtClean="0">
                            <a:solidFill>
                              <a:srgbClr val="FFFF00"/>
                            </a:solidFill>
                            <a:latin typeface="Cambria Math" panose="02040503050406030204" pitchFamily="18" charset="0"/>
                            <a:ea typeface="宋体" panose="02010600030101010101" pitchFamily="2" charset="-122"/>
                          </a:rPr>
                          <m:t>𝑨</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𝑩</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𝑪</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𝒙</m:t>
                        </m:r>
                      </m:e>
                    </m:d>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smtClean="0">
                            <a:solidFill>
                              <a:srgbClr val="FFFF00"/>
                            </a:solidFill>
                            <a:latin typeface="Cambria Math" panose="02040503050406030204" pitchFamily="18" charset="0"/>
                            <a:ea typeface="宋体" panose="02010600030101010101" pitchFamily="2" charset="-122"/>
                          </a:rPr>
                          <m:t>𝝌</m:t>
                        </m:r>
                      </m:e>
                      <m:sub>
                        <m:r>
                          <a:rPr lang="en-US" altLang="zh-CN" sz="2400" b="1" i="1" kern="100" smtClean="0">
                            <a:solidFill>
                              <a:srgbClr val="FFFF00"/>
                            </a:solidFill>
                            <a:latin typeface="Cambria Math" panose="02040503050406030204" pitchFamily="18" charset="0"/>
                            <a:ea typeface="宋体" panose="02010600030101010101" pitchFamily="2" charset="-122"/>
                          </a:rPr>
                          <m:t>𝑨</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𝑩</m:t>
                        </m:r>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𝑪</m:t>
                        </m:r>
                        <m:r>
                          <a:rPr lang="en-US" altLang="zh-CN" sz="2400" b="1" i="1" kern="100" smtClean="0">
                            <a:solidFill>
                              <a:srgbClr val="FFFF00"/>
                            </a:solidFill>
                            <a:latin typeface="Cambria Math" panose="02040503050406030204" pitchFamily="18" charset="0"/>
                            <a:ea typeface="宋体" panose="02010600030101010101" pitchFamily="2" charset="-122"/>
                          </a:rPr>
                          <m:t>)</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𝒙</m:t>
                        </m:r>
                      </m:e>
                    </m:d>
                  </m:oMath>
                </a14:m>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r>
                      <a:rPr lang="zh-CN" altLang="zh-CN" sz="2400" b="1" i="1" kern="100" smtClean="0">
                        <a:solidFill>
                          <a:schemeClr val="bg1"/>
                        </a:solidFill>
                        <a:latin typeface="Cambria Math" panose="02040503050406030204" pitchFamily="18" charset="0"/>
                        <a:ea typeface="Cambria Math" panose="02040503050406030204" pitchFamily="18" charset="0"/>
                      </a:rPr>
                      <m:t> </m:t>
                    </m:r>
                    <m:r>
                      <a:rPr lang="en-US" altLang="zh-CN" sz="2400" b="1" i="1" kern="100" smtClean="0">
                        <a:solidFill>
                          <a:schemeClr val="bg1"/>
                        </a:solidFill>
                        <a:latin typeface="Cambria Math" panose="02040503050406030204" pitchFamily="18" charset="0"/>
                        <a:ea typeface="Cambria Math" panose="02040503050406030204" pitchFamily="18" charset="0"/>
                      </a:rPr>
                      <m:t>𝑨</m:t>
                    </m:r>
                    <m:r>
                      <a:rPr lang="en-US" altLang="zh-CN" sz="2400" b="1" i="1" kern="100" smtClean="0">
                        <a:solidFill>
                          <a:schemeClr val="bg1"/>
                        </a:solidFill>
                        <a:latin typeface="Cambria Math" panose="02040503050406030204" pitchFamily="18" charset="0"/>
                        <a:ea typeface="Cambria Math" panose="02040503050406030204" pitchFamily="18" charset="0"/>
                      </a:rPr>
                      <m:t>∪</m:t>
                    </m:r>
                    <m:r>
                      <a:rPr lang="en-US" altLang="zh-CN" sz="2400" b="1" i="1" kern="100" smtClean="0">
                        <a:solidFill>
                          <a:schemeClr val="bg1"/>
                        </a:solidFill>
                        <a:latin typeface="Cambria Math" panose="02040503050406030204" pitchFamily="18" charset="0"/>
                        <a:ea typeface="Cambria Math" panose="02040503050406030204" pitchFamily="18" charset="0"/>
                      </a:rPr>
                      <m:t>𝑩</m:t>
                    </m:r>
                    <m:r>
                      <a:rPr lang="en-US" altLang="zh-CN" sz="2400" b="1" i="1" kern="100" smtClean="0">
                        <a:solidFill>
                          <a:schemeClr val="bg1"/>
                        </a:solidFill>
                        <a:latin typeface="Cambria Math" panose="02040503050406030204" pitchFamily="18" charset="0"/>
                        <a:ea typeface="Cambria Math" panose="02040503050406030204" pitchFamily="18" charset="0"/>
                      </a:rPr>
                      <m:t>∪</m:t>
                    </m:r>
                    <m:r>
                      <a:rPr lang="en-US" altLang="zh-CN" sz="2400" b="1" i="1" kern="100" smtClean="0">
                        <a:solidFill>
                          <a:schemeClr val="bg1"/>
                        </a:solidFill>
                        <a:latin typeface="Cambria Math" panose="02040503050406030204" pitchFamily="18" charset="0"/>
                        <a:ea typeface="Cambria Math" panose="02040503050406030204" pitchFamily="18" charset="0"/>
                      </a:rPr>
                      <m:t>𝑪</m:t>
                    </m:r>
                    <m:r>
                      <a:rPr lang="en-US" altLang="zh-CN" sz="2400" b="1" i="1" kern="100" smtClean="0">
                        <a:solidFill>
                          <a:schemeClr val="bg1"/>
                        </a:solidFill>
                        <a:latin typeface="Cambria Math" panose="02040503050406030204" pitchFamily="18" charset="0"/>
                        <a:ea typeface="Cambria Math" panose="02040503050406030204" pitchFamily="18" charset="0"/>
                      </a:rPr>
                      <m:t>=</m:t>
                    </m:r>
                    <m:r>
                      <a:rPr lang="en-US" altLang="zh-CN" sz="2400" b="1" i="1" kern="100" smtClean="0">
                        <a:solidFill>
                          <a:schemeClr val="bg1"/>
                        </a:solidFill>
                        <a:latin typeface="Cambria Math" panose="02040503050406030204" pitchFamily="18" charset="0"/>
                        <a:ea typeface="Cambria Math" panose="02040503050406030204" pitchFamily="18" charset="0"/>
                      </a:rPr>
                      <m:t>𝑨</m:t>
                    </m:r>
                    <m:r>
                      <a:rPr lang="en-US" altLang="zh-CN" sz="2400" b="1" i="1" kern="100" smtClean="0">
                        <a:solidFill>
                          <a:schemeClr val="bg1"/>
                        </a:solidFill>
                        <a:latin typeface="Cambria Math" panose="02040503050406030204" pitchFamily="18" charset="0"/>
                        <a:ea typeface="Cambria Math" panose="02040503050406030204" pitchFamily="18" charset="0"/>
                      </a:rPr>
                      <m:t>∪(</m:t>
                    </m:r>
                    <m:r>
                      <a:rPr lang="en-US" altLang="zh-CN" sz="2400" b="1" i="1" kern="100" smtClean="0">
                        <a:solidFill>
                          <a:schemeClr val="bg1"/>
                        </a:solidFill>
                        <a:latin typeface="Cambria Math" panose="02040503050406030204" pitchFamily="18" charset="0"/>
                        <a:ea typeface="Cambria Math" panose="02040503050406030204" pitchFamily="18" charset="0"/>
                      </a:rPr>
                      <m:t>𝑩</m:t>
                    </m:r>
                    <m:r>
                      <a:rPr lang="en-US" altLang="zh-CN" sz="2400" b="1" i="1" kern="100" smtClean="0">
                        <a:solidFill>
                          <a:schemeClr val="bg1"/>
                        </a:solidFill>
                        <a:latin typeface="Cambria Math" panose="02040503050406030204" pitchFamily="18" charset="0"/>
                        <a:ea typeface="Cambria Math" panose="02040503050406030204" pitchFamily="18" charset="0"/>
                      </a:rPr>
                      <m:t>∪</m:t>
                    </m:r>
                    <m:r>
                      <a:rPr lang="en-US" altLang="zh-CN" sz="2400" b="1" i="1" kern="100" smtClean="0">
                        <a:solidFill>
                          <a:schemeClr val="bg1"/>
                        </a:solidFill>
                        <a:latin typeface="Cambria Math" panose="02040503050406030204" pitchFamily="18" charset="0"/>
                        <a:ea typeface="Cambria Math" panose="02040503050406030204" pitchFamily="18" charset="0"/>
                      </a:rPr>
                      <m:t>𝑪</m:t>
                    </m:r>
                    <m:r>
                      <a:rPr lang="en-US" altLang="zh-CN" sz="2400" b="1" i="1" kern="100" smtClean="0">
                        <a:solidFill>
                          <a:schemeClr val="bg1"/>
                        </a:solidFill>
                        <a:latin typeface="Cambria Math" panose="02040503050406030204" pitchFamily="18" charset="0"/>
                        <a:ea typeface="Cambria Math" panose="02040503050406030204" pitchFamily="18" charset="0"/>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4</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仅证明第一个</a:t>
                </a:r>
                <a:r>
                  <a:rPr lang="zh-CN" altLang="en-US"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zh-CN" sz="2400" b="1" kern="0" dirty="0">
                    <a:solidFill>
                      <a:schemeClr val="bg1"/>
                    </a:solidFill>
                    <a:latin typeface="Times New Roman" panose="02020603050405020304" pitchFamily="18" charset="0"/>
                    <a:ea typeface="宋体" panose="02010600030101010101" pitchFamily="2" charset="-122"/>
                    <a:cs typeface="宋体" panose="02010600030101010101" pitchFamily="2" charset="-122"/>
                  </a:rPr>
                  <a:t>因为</a:t>
                </a:r>
                <a14:m>
                  <m:oMath xmlns:m="http://schemas.openxmlformats.org/officeDocument/2006/math">
                    <m:r>
                      <a:rPr lang="zh-CN" altLang="zh-CN" sz="2400" b="1" kern="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spcAft>
                    <a:spcPts val="0"/>
                  </a:spcAft>
                </a:pPr>
                <a14:m>
                  <m:oMathPara xmlns:m="http://schemas.openxmlformats.org/officeDocument/2006/math">
                    <m:oMathParaPr>
                      <m:jc m:val="centerGroup"/>
                    </m:oMathParaPr>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𝑨</m:t>
                          </m:r>
                          <m:r>
                            <a:rPr lang="en-US" altLang="zh-CN" sz="2400" b="1" i="1" kern="100" smtClean="0">
                              <a:solidFill>
                                <a:schemeClr val="bg1"/>
                              </a:solidFill>
                              <a:latin typeface="Cambria Math" panose="02040503050406030204" pitchFamily="18" charset="0"/>
                              <a:ea typeface="宋体" panose="02010600030101010101" pitchFamily="2" charset="-122"/>
                            </a:rPr>
                            <m:t>∪</m:t>
                          </m:r>
                          <m:acc>
                            <m:accPr>
                              <m:chr m:val="̅"/>
                              <m:ctrlPr>
                                <a:rPr lang="zh-CN" altLang="zh-CN" sz="2400" b="1" i="1" kern="100">
                                  <a:solidFill>
                                    <a:schemeClr val="bg1"/>
                                  </a:solidFill>
                                  <a:latin typeface="Cambria Math" panose="02040503050406030204" pitchFamily="18" charset="0"/>
                                  <a:ea typeface="Cambria Math" panose="02040503050406030204" pitchFamily="18" charset="0"/>
                                </a:rPr>
                              </m:ctrlPr>
                            </m:accPr>
                            <m:e>
                              <m:r>
                                <a:rPr lang="en-US" altLang="zh-CN" sz="2400" b="1" i="1" kern="100" smtClean="0">
                                  <a:solidFill>
                                    <a:schemeClr val="bg1"/>
                                  </a:solidFill>
                                  <a:latin typeface="Cambria Math" panose="02040503050406030204" pitchFamily="18" charset="0"/>
                                  <a:ea typeface="宋体" panose="02010600030101010101" pitchFamily="2" charset="-122"/>
                                </a:rPr>
                                <m:t>𝑨</m:t>
                              </m:r>
                            </m:e>
                          </m:acc>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func>
                        <m:funcPr>
                          <m:ctrlPr>
                            <a:rPr lang="zh-CN" altLang="zh-CN" sz="2400" b="1" i="1" kern="100" smtClean="0">
                              <a:solidFill>
                                <a:srgbClr val="FFFF00"/>
                              </a:solidFill>
                              <a:latin typeface="Cambria Math" panose="02040503050406030204" pitchFamily="18" charset="0"/>
                              <a:ea typeface="Cambria Math" panose="02040503050406030204" pitchFamily="18" charset="0"/>
                            </a:rPr>
                          </m:ctrlPr>
                        </m:funcPr>
                        <m:fName>
                          <m:r>
                            <m:rPr>
                              <m:nor/>
                            </m:rPr>
                            <a:rPr lang="en-US" altLang="zh-CN" sz="2400" b="1" kern="100">
                              <a:solidFill>
                                <a:srgbClr val="FFFF00"/>
                              </a:solidFill>
                              <a:latin typeface="Cambria Math" panose="02040503050406030204" pitchFamily="18" charset="0"/>
                              <a:ea typeface="宋体" panose="02010600030101010101" pitchFamily="2" charset="-122"/>
                            </a:rPr>
                            <m:t>max</m:t>
                          </m:r>
                        </m:fName>
                        <m:e>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smtClean="0">
                                  <a:solidFill>
                                    <a:srgbClr val="FFFF00"/>
                                  </a:solidFill>
                                  <a:latin typeface="Cambria Math" panose="02040503050406030204" pitchFamily="18" charset="0"/>
                                  <a:ea typeface="宋体" panose="02010600030101010101" pitchFamily="2" charset="-122"/>
                                </a:rPr>
                                <m:t>𝝌</m:t>
                              </m:r>
                            </m:e>
                            <m:sub>
                              <m:r>
                                <a:rPr lang="en-US" altLang="zh-CN" sz="2400" b="1" i="1" kern="100" smtClean="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𝒙</m:t>
                              </m:r>
                            </m:e>
                          </m:d>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smtClean="0">
                                  <a:solidFill>
                                    <a:srgbClr val="FFFF00"/>
                                  </a:solidFill>
                                  <a:latin typeface="Cambria Math" panose="02040503050406030204" pitchFamily="18" charset="0"/>
                                  <a:ea typeface="宋体" panose="02010600030101010101" pitchFamily="2" charset="-122"/>
                                </a:rPr>
                                <m:t>𝝌</m:t>
                              </m:r>
                            </m:e>
                            <m:sub>
                              <m:acc>
                                <m:accPr>
                                  <m:chr m:val="̅"/>
                                  <m:ctrlPr>
                                    <a:rPr lang="zh-CN" altLang="zh-CN" sz="2400" b="1" i="1" kern="100">
                                      <a:solidFill>
                                        <a:srgbClr val="FFFF00"/>
                                      </a:solidFill>
                                      <a:latin typeface="Cambria Math" panose="02040503050406030204" pitchFamily="18" charset="0"/>
                                      <a:ea typeface="Cambria Math" panose="02040503050406030204" pitchFamily="18" charset="0"/>
                                    </a:rPr>
                                  </m:ctrlPr>
                                </m:accPr>
                                <m:e>
                                  <m:r>
                                    <a:rPr lang="en-US" altLang="zh-CN" sz="2400" b="1" i="1" kern="100" smtClean="0">
                                      <a:solidFill>
                                        <a:srgbClr val="FFFF00"/>
                                      </a:solidFill>
                                      <a:latin typeface="Cambria Math" panose="02040503050406030204" pitchFamily="18" charset="0"/>
                                      <a:ea typeface="宋体" panose="02010600030101010101" pitchFamily="2" charset="-122"/>
                                    </a:rPr>
                                    <m:t>𝑨</m:t>
                                  </m:r>
                                </m:e>
                              </m:acc>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𝒙</m:t>
                              </m:r>
                            </m:e>
                          </m:d>
                          <m:r>
                            <a:rPr lang="en-US" altLang="zh-CN" sz="2400" b="1" i="1" kern="100" smtClean="0">
                              <a:solidFill>
                                <a:srgbClr val="FFFF00"/>
                              </a:solidFill>
                              <a:latin typeface="Cambria Math" panose="02040503050406030204" pitchFamily="18" charset="0"/>
                              <a:ea typeface="宋体" panose="02010600030101010101" pitchFamily="2" charset="-122"/>
                            </a:rPr>
                            <m:t>}</m:t>
                          </m:r>
                        </m:e>
                      </m:func>
                      <m:r>
                        <a:rPr lang="en-US" altLang="zh-CN" sz="2400" b="1" i="1" kern="100" smtClean="0">
                          <a:solidFill>
                            <a:srgbClr val="FFFF00"/>
                          </a:solidFill>
                          <a:latin typeface="Cambria Math" panose="02040503050406030204" pitchFamily="18" charset="0"/>
                          <a:ea typeface="宋体" panose="02010600030101010101" pitchFamily="2" charset="-122"/>
                        </a:rPr>
                        <m:t>=</m:t>
                      </m:r>
                      <m:func>
                        <m:funcPr>
                          <m:ctrlPr>
                            <a:rPr lang="zh-CN" altLang="zh-CN" sz="2400" b="1" i="1" kern="100">
                              <a:solidFill>
                                <a:srgbClr val="FFFF00"/>
                              </a:solidFill>
                              <a:latin typeface="Cambria Math" panose="02040503050406030204" pitchFamily="18" charset="0"/>
                              <a:ea typeface="Cambria Math" panose="02040503050406030204" pitchFamily="18" charset="0"/>
                            </a:rPr>
                          </m:ctrlPr>
                        </m:funcPr>
                        <m:fName>
                          <m:r>
                            <m:rPr>
                              <m:nor/>
                            </m:rPr>
                            <a:rPr lang="en-US" altLang="zh-CN" sz="2400" b="1" kern="100">
                              <a:solidFill>
                                <a:srgbClr val="FFFF00"/>
                              </a:solidFill>
                              <a:latin typeface="Cambria Math" panose="02040503050406030204" pitchFamily="18" charset="0"/>
                              <a:ea typeface="宋体" panose="02010600030101010101" pitchFamily="2" charset="-122"/>
                            </a:rPr>
                            <m:t>max</m:t>
                          </m:r>
                        </m:fName>
                        <m:e>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smtClean="0">
                                  <a:solidFill>
                                    <a:srgbClr val="FFFF00"/>
                                  </a:solidFill>
                                  <a:latin typeface="Cambria Math" panose="02040503050406030204" pitchFamily="18" charset="0"/>
                                  <a:ea typeface="宋体" panose="02010600030101010101" pitchFamily="2" charset="-122"/>
                                </a:rPr>
                                <m:t>𝝌</m:t>
                              </m:r>
                            </m:e>
                            <m:sub>
                              <m:r>
                                <a:rPr lang="en-US" altLang="zh-CN" sz="2400" b="1" i="1" kern="100" smtClean="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𝒙</m:t>
                              </m:r>
                            </m:e>
                          </m:d>
                          <m:r>
                            <a:rPr lang="en-US" altLang="zh-CN" sz="2400" b="1" i="1" kern="100" smtClean="0">
                              <a:solidFill>
                                <a:srgbClr val="FFFF00"/>
                              </a:solidFill>
                              <a:latin typeface="Cambria Math" panose="02040503050406030204" pitchFamily="18" charset="0"/>
                              <a:ea typeface="宋体" panose="02010600030101010101" pitchFamily="2" charset="-122"/>
                            </a:rPr>
                            <m:t>,</m:t>
                          </m:r>
                          <m:r>
                            <a:rPr lang="en-US" altLang="zh-CN" sz="2400" b="1" i="1" kern="100" smtClean="0">
                              <a:solidFill>
                                <a:srgbClr val="FFFF00"/>
                              </a:solidFill>
                              <a:latin typeface="Cambria Math" panose="02040503050406030204" pitchFamily="18" charset="0"/>
                              <a:ea typeface="宋体" panose="02010600030101010101" pitchFamily="2" charset="-122"/>
                            </a:rPr>
                            <m:t>𝟏</m:t>
                          </m:r>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smtClean="0">
                                  <a:solidFill>
                                    <a:srgbClr val="FFFF00"/>
                                  </a:solidFill>
                                  <a:latin typeface="Cambria Math" panose="02040503050406030204" pitchFamily="18" charset="0"/>
                                  <a:ea typeface="宋体" panose="02010600030101010101" pitchFamily="2" charset="-122"/>
                                </a:rPr>
                                <m:t>𝝌</m:t>
                              </m:r>
                            </m:e>
                            <m:sub>
                              <m:r>
                                <a:rPr lang="en-US" altLang="zh-CN" sz="2400" b="1" i="1" kern="100" smtClean="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smtClean="0">
                                  <a:solidFill>
                                    <a:srgbClr val="FFFF00"/>
                                  </a:solidFill>
                                  <a:latin typeface="Cambria Math" panose="02040503050406030204" pitchFamily="18" charset="0"/>
                                  <a:ea typeface="宋体" panose="02010600030101010101" pitchFamily="2" charset="-122"/>
                                </a:rPr>
                                <m:t>𝒙</m:t>
                              </m:r>
                            </m:e>
                          </m:d>
                          <m:r>
                            <a:rPr lang="en-US" altLang="zh-CN" sz="2400" b="1" i="1" kern="100" smtClean="0">
                              <a:solidFill>
                                <a:srgbClr val="FFFF00"/>
                              </a:solidFill>
                              <a:latin typeface="Cambria Math" panose="02040503050406030204" pitchFamily="18" charset="0"/>
                              <a:ea typeface="宋体" panose="02010600030101010101" pitchFamily="2" charset="-122"/>
                            </a:rPr>
                            <m:t>}</m:t>
                          </m:r>
                        </m:e>
                      </m:func>
                      <m:r>
                        <a:rPr lang="en-US" altLang="zh-CN" sz="2400" b="1" i="0" kern="100" smtClean="0">
                          <a:solidFill>
                            <a:srgbClr val="FFFF00"/>
                          </a:solidFill>
                          <a:latin typeface="Cambria Math" panose="02040503050406030204" pitchFamily="18" charset="0"/>
                          <a:ea typeface="宋体" panose="02010600030101010101" pitchFamily="2" charset="-122"/>
                        </a:rPr>
                        <m:t>  </m:t>
                      </m:r>
                    </m:oMath>
                  </m:oMathPara>
                </a14:m>
                <a:endParaRPr lang="en-US" altLang="zh-CN" sz="2400" b="1" i="0" kern="100" dirty="0">
                  <a:solidFill>
                    <a:schemeClr val="bg1"/>
                  </a:solidFill>
                  <a:latin typeface="Cambria Math" panose="02040503050406030204" pitchFamily="18" charset="0"/>
                  <a:ea typeface="宋体" panose="02010600030101010101" pitchFamily="2" charset="-122"/>
                </a:endParaRPr>
              </a:p>
              <a:p>
                <a:pPr algn="just">
                  <a:spcAft>
                    <a:spcPts val="0"/>
                  </a:spcAft>
                </a:pPr>
                <a14:m>
                  <m:oMathPara xmlns:m="http://schemas.openxmlformats.org/officeDocument/2006/math">
                    <m:oMathParaPr>
                      <m:jc m:val="centerGroup"/>
                    </m:oMathParaPr>
                    <m:oMath xmlns:m="http://schemas.openxmlformats.org/officeDocument/2006/math">
                      <m:r>
                        <a:rPr lang="en-US" altLang="zh-CN" sz="2400" b="1" i="0" kern="100" smtClean="0">
                          <a:solidFill>
                            <a:schemeClr val="bg1"/>
                          </a:solidFill>
                          <a:latin typeface="Cambria Math" panose="02040503050406030204" pitchFamily="18" charset="0"/>
                          <a:ea typeface="宋体" panose="02010600030101010101" pitchFamily="2" charset="-122"/>
                        </a:rPr>
                        <m:t>   </m:t>
                      </m:r>
                      <m:r>
                        <a:rPr lang="en-US" altLang="zh-CN" sz="2400" b="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eqArr>
                            <m:eqArr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eqArrPr>
                            <m:e>
                              <m:func>
                                <m:func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funcPr>
                                <m:fName>
                                  <m:r>
                                    <m:rPr>
                                      <m:nor/>
                                    </m:rPr>
                                    <a:rPr lang="en-US" altLang="zh-CN" sz="2400" b="1" kern="100">
                                      <a:solidFill>
                                        <a:schemeClr val="bg1"/>
                                      </a:solidFill>
                                      <a:latin typeface="Cambria Math" panose="02040503050406030204" pitchFamily="18" charset="0"/>
                                      <a:ea typeface="宋体" panose="02010600030101010101" pitchFamily="2" charset="-122"/>
                                    </a:rPr>
                                    <m:t>max</m:t>
                                  </m:r>
                                </m:fName>
                                <m:e>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𝟏</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𝟎</m:t>
                                      </m:r>
                                    </m:e>
                                  </m:d>
                                </m:e>
                              </m:func>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  </m:t>
                              </m:r>
                              <m:r>
                                <a:rPr lang="en-US" altLang="zh-CN" sz="2400" b="1" i="1" kern="100" smtClean="0">
                                  <a:solidFill>
                                    <a:schemeClr val="bg1"/>
                                  </a:solidFill>
                                  <a:latin typeface="Cambria Math" panose="02040503050406030204" pitchFamily="18" charset="0"/>
                                  <a:ea typeface="宋体" panose="02010600030101010101" pitchFamily="2" charset="-122"/>
                                </a:rPr>
                                <m:t>𝒙</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𝑨</m:t>
                              </m:r>
                            </m:e>
                            <m:e>
                              <m:func>
                                <m:func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funcPr>
                                <m:fName>
                                  <m:r>
                                    <m:rPr>
                                      <m:nor/>
                                    </m:rPr>
                                    <a:rPr lang="en-US" altLang="zh-CN" sz="2400" b="1" kern="100">
                                      <a:solidFill>
                                        <a:schemeClr val="bg1"/>
                                      </a:solidFill>
                                      <a:latin typeface="Cambria Math" panose="02040503050406030204" pitchFamily="18" charset="0"/>
                                      <a:ea typeface="宋体" panose="02010600030101010101" pitchFamily="2" charset="-122"/>
                                    </a:rPr>
                                    <m:t>max</m:t>
                                  </m:r>
                                </m:fName>
                                <m:e>
                                  <m:d>
                                    <m:dPr>
                                      <m:begChr m:val="{"/>
                                      <m:endChr m:val="}"/>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𝟎</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𝟏</m:t>
                                      </m:r>
                                    </m:e>
                                  </m:d>
                                </m:e>
                              </m:func>
                              <m:r>
                                <a:rPr lang="en-US" altLang="zh-CN" sz="2400" b="1" i="1" kern="100" smtClean="0">
                                  <a:solidFill>
                                    <a:schemeClr val="bg1"/>
                                  </a:solidFill>
                                  <a:latin typeface="Cambria Math" panose="02040503050406030204" pitchFamily="18" charset="0"/>
                                  <a:ea typeface="宋体" panose="02010600030101010101" pitchFamily="2" charset="-122"/>
                                  <a:cs typeface="宋体" panose="02010600030101010101" pitchFamily="2" charset="-122"/>
                                </a:rPr>
                                <m:t>  </m:t>
                              </m:r>
                              <m:r>
                                <a:rPr lang="en-US" altLang="zh-CN" sz="2400" b="1" i="1" kern="100" smtClean="0">
                                  <a:solidFill>
                                    <a:schemeClr val="bg1"/>
                                  </a:solidFill>
                                  <a:latin typeface="Cambria Math" panose="02040503050406030204" pitchFamily="18" charset="0"/>
                                  <a:ea typeface="宋体" panose="02010600030101010101" pitchFamily="2" charset="-122"/>
                                </a:rPr>
                                <m:t>𝒙</m:t>
                              </m:r>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𝑨</m:t>
                              </m:r>
                            </m:e>
                          </m:eqArr>
                        </m:e>
                      </m:d>
                    </m:oMath>
                  </m:oMathPara>
                </a14:m>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𝑨</m:t>
                        </m:r>
                        <m:r>
                          <a:rPr lang="en-US" altLang="zh-CN" sz="2400" b="1" i="1" kern="100" smtClean="0">
                            <a:solidFill>
                              <a:schemeClr val="bg1"/>
                            </a:solidFill>
                            <a:latin typeface="Cambria Math" panose="02040503050406030204" pitchFamily="18" charset="0"/>
                            <a:ea typeface="宋体" panose="02010600030101010101" pitchFamily="2" charset="-122"/>
                          </a:rPr>
                          <m:t>∪</m:t>
                        </m:r>
                        <m:acc>
                          <m:accPr>
                            <m:chr m:val="̅"/>
                            <m:ctrlPr>
                              <a:rPr lang="zh-CN" altLang="zh-CN" sz="2400" b="1" i="1" kern="100">
                                <a:solidFill>
                                  <a:schemeClr val="bg1"/>
                                </a:solidFill>
                                <a:latin typeface="Cambria Math" panose="02040503050406030204" pitchFamily="18" charset="0"/>
                                <a:ea typeface="Cambria Math" panose="02040503050406030204" pitchFamily="18" charset="0"/>
                              </a:rPr>
                            </m:ctrlPr>
                          </m:accPr>
                          <m:e>
                            <m:r>
                              <a:rPr lang="en-US" altLang="zh-CN" sz="2400" b="1" i="1" kern="100" smtClean="0">
                                <a:solidFill>
                                  <a:schemeClr val="bg1"/>
                                </a:solidFill>
                                <a:latin typeface="Cambria Math" panose="02040503050406030204" pitchFamily="18" charset="0"/>
                                <a:ea typeface="宋体" panose="02010600030101010101" pitchFamily="2" charset="-122"/>
                              </a:rPr>
                              <m:t>𝑨</m:t>
                            </m:r>
                          </m:e>
                        </m:acc>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𝟏</m:t>
                    </m:r>
                    <m:r>
                      <a:rPr lang="zh-CN" altLang="en-US" sz="2400" b="1" i="1" kern="10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而</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𝑼</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𝟏</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故有</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algn="ctr">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𝑨</m:t>
                        </m:r>
                        <m:r>
                          <a:rPr lang="en-US" altLang="zh-CN" sz="2400" b="1" i="1" kern="100" smtClean="0">
                            <a:solidFill>
                              <a:schemeClr val="bg1"/>
                            </a:solidFill>
                            <a:latin typeface="Cambria Math" panose="02040503050406030204" pitchFamily="18" charset="0"/>
                            <a:ea typeface="宋体" panose="02010600030101010101" pitchFamily="2" charset="-122"/>
                          </a:rPr>
                          <m:t>∪</m:t>
                        </m:r>
                        <m:acc>
                          <m:accPr>
                            <m:chr m:val="̅"/>
                            <m:ctrlPr>
                              <a:rPr lang="zh-CN" altLang="zh-CN" sz="2400" b="1" i="1" kern="100">
                                <a:solidFill>
                                  <a:schemeClr val="bg1"/>
                                </a:solidFill>
                                <a:latin typeface="Cambria Math" panose="02040503050406030204" pitchFamily="18" charset="0"/>
                                <a:ea typeface="Cambria Math" panose="02040503050406030204" pitchFamily="18" charset="0"/>
                              </a:rPr>
                            </m:ctrlPr>
                          </m:accPr>
                          <m:e>
                            <m:r>
                              <a:rPr lang="en-US" altLang="zh-CN" sz="2400" b="1" i="1" kern="100" smtClean="0">
                                <a:solidFill>
                                  <a:schemeClr val="bg1"/>
                                </a:solidFill>
                                <a:latin typeface="Cambria Math" panose="02040503050406030204" pitchFamily="18" charset="0"/>
                                <a:ea typeface="宋体" panose="02010600030101010101" pitchFamily="2" charset="-122"/>
                              </a:rPr>
                              <m:t>𝑨</m:t>
                            </m:r>
                          </m:e>
                        </m:acc>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smtClean="0">
                            <a:solidFill>
                              <a:schemeClr val="bg1"/>
                            </a:solidFill>
                            <a:latin typeface="Cambria Math" panose="02040503050406030204" pitchFamily="18" charset="0"/>
                            <a:ea typeface="宋体" panose="02010600030101010101" pitchFamily="2" charset="-122"/>
                          </a:rPr>
                          <m:t>𝝌</m:t>
                        </m:r>
                      </m:e>
                      <m:sub>
                        <m:r>
                          <a:rPr lang="en-US" altLang="zh-CN" sz="2400" b="1" i="1" kern="100" smtClean="0">
                            <a:solidFill>
                              <a:schemeClr val="bg1"/>
                            </a:solidFill>
                            <a:latin typeface="Cambria Math" panose="02040503050406030204" pitchFamily="18" charset="0"/>
                            <a:ea typeface="宋体" panose="02010600030101010101" pitchFamily="2" charset="-122"/>
                          </a:rPr>
                          <m:t>𝑼</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smtClean="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𝟏</m:t>
                    </m:r>
                    <m:r>
                      <a:rPr lang="zh-CN" altLang="en-US" sz="2400" b="1" i="1" kern="100" smtClean="0">
                        <a:solidFill>
                          <a:schemeClr val="bg1"/>
                        </a:solidFill>
                        <a:latin typeface="Cambria Math" panose="02040503050406030204" pitchFamily="18" charset="0"/>
                        <a:ea typeface="宋体" panose="02010600030101010101" pitchFamily="2" charset="-122"/>
                      </a:rPr>
                      <m:t>，</m:t>
                    </m:r>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即</a:t>
                </a:r>
                <a:r>
                  <a:rPr lang="zh-CN" altLang="en-US"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有：</a:t>
                </a:r>
                <a14:m>
                  <m:oMath xmlns:m="http://schemas.openxmlformats.org/officeDocument/2006/math">
                    <m:r>
                      <a:rPr lang="en-US" altLang="zh-CN" sz="2400" b="1" i="1" kern="100" smtClean="0">
                        <a:solidFill>
                          <a:schemeClr val="bg1"/>
                        </a:solidFill>
                        <a:latin typeface="Cambria Math" panose="02040503050406030204" pitchFamily="18" charset="0"/>
                        <a:ea typeface="宋体" panose="02010600030101010101" pitchFamily="2" charset="-122"/>
                      </a:rPr>
                      <m:t>𝑨</m:t>
                    </m:r>
                    <m:r>
                      <a:rPr lang="en-US" altLang="zh-CN" sz="2400" b="1" i="1" kern="100" smtClean="0">
                        <a:solidFill>
                          <a:schemeClr val="bg1"/>
                        </a:solidFill>
                        <a:latin typeface="Cambria Math" panose="02040503050406030204" pitchFamily="18" charset="0"/>
                        <a:ea typeface="宋体" panose="02010600030101010101" pitchFamily="2" charset="-122"/>
                      </a:rPr>
                      <m:t>∪</m:t>
                    </m:r>
                    <m:acc>
                      <m:accPr>
                        <m:chr m:val="̅"/>
                        <m:ctrlPr>
                          <a:rPr lang="zh-CN" altLang="zh-CN" sz="2400" b="1" i="1" kern="100">
                            <a:solidFill>
                              <a:schemeClr val="bg1"/>
                            </a:solidFill>
                            <a:latin typeface="Cambria Math" panose="02040503050406030204" pitchFamily="18" charset="0"/>
                            <a:ea typeface="Cambria Math" panose="02040503050406030204" pitchFamily="18" charset="0"/>
                          </a:rPr>
                        </m:ctrlPr>
                      </m:accPr>
                      <m:e>
                        <m:r>
                          <a:rPr lang="en-US" altLang="zh-CN" sz="2400" b="1" i="1" kern="100" smtClean="0">
                            <a:solidFill>
                              <a:schemeClr val="bg1"/>
                            </a:solidFill>
                            <a:latin typeface="Cambria Math" panose="02040503050406030204" pitchFamily="18" charset="0"/>
                            <a:ea typeface="宋体" panose="02010600030101010101" pitchFamily="2" charset="-122"/>
                          </a:rPr>
                          <m:t>𝑨</m:t>
                        </m:r>
                      </m:e>
                    </m:acc>
                    <m:r>
                      <a:rPr lang="en-US" altLang="zh-CN" sz="2400" b="1" i="1" kern="100" smtClean="0">
                        <a:solidFill>
                          <a:schemeClr val="bg1"/>
                        </a:solidFill>
                        <a:latin typeface="Cambria Math" panose="02040503050406030204" pitchFamily="18" charset="0"/>
                        <a:ea typeface="宋体" panose="02010600030101010101" pitchFamily="2" charset="-122"/>
                      </a:rPr>
                      <m:t>=</m:t>
                    </m:r>
                    <m:r>
                      <a:rPr lang="en-US" altLang="zh-CN" sz="2400" b="1" i="1" kern="100" smtClean="0">
                        <a:solidFill>
                          <a:schemeClr val="bg1"/>
                        </a:solidFill>
                        <a:latin typeface="Cambria Math" panose="02040503050406030204" pitchFamily="18" charset="0"/>
                        <a:ea typeface="宋体" panose="02010600030101010101" pitchFamily="2" charset="-122"/>
                      </a:rPr>
                      <m:t>𝑼</m:t>
                    </m:r>
                    <m:r>
                      <a:rPr lang="zh-CN" altLang="en-US" sz="2400" b="1" i="1" kern="100">
                        <a:solidFill>
                          <a:schemeClr val="bg1"/>
                        </a:solidFill>
                        <a:latin typeface="Cambria Math" panose="02040503050406030204" pitchFamily="18" charset="0"/>
                        <a:ea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FFF6921C-B685-41CE-A8F8-365325C1AA87}"/>
                  </a:ext>
                </a:extLst>
              </p:cNvPr>
              <p:cNvSpPr>
                <a:spLocks noRot="1" noChangeAspect="1" noMove="1" noResize="1" noEditPoints="1" noAdjustHandles="1" noChangeArrowheads="1" noChangeShapeType="1" noTextEdit="1"/>
              </p:cNvSpPr>
              <p:nvPr/>
            </p:nvSpPr>
            <p:spPr>
              <a:xfrm>
                <a:off x="122108" y="1700808"/>
                <a:ext cx="8852345" cy="4468531"/>
              </a:xfrm>
              <a:prstGeom prst="rect">
                <a:avLst/>
              </a:prstGeom>
              <a:blipFill>
                <a:blip r:embed="rId3"/>
                <a:stretch>
                  <a:fillRect l="-1033" t="-546" b="-17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88601840"/>
      </p:ext>
    </p:extLst>
  </p:cSld>
  <p:clrMapOvr>
    <a:masterClrMapping/>
  </p:clrMapOvr>
  <p:transition spd="med">
    <p:wipe dir="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8BA97ADC-0F89-4D98-AAB1-2D3A63074D0E}"/>
                  </a:ext>
                </a:extLst>
              </p:cNvPr>
              <p:cNvSpPr/>
              <p:nvPr/>
            </p:nvSpPr>
            <p:spPr>
              <a:xfrm>
                <a:off x="251520" y="1916832"/>
                <a:ext cx="8496944" cy="4247317"/>
              </a:xfrm>
              <a:prstGeom prst="rect">
                <a:avLst/>
              </a:prstGeom>
              <a:solidFill>
                <a:schemeClr val="accent6">
                  <a:lumMod val="75000"/>
                </a:schemeClr>
              </a:solidFill>
            </p:spPr>
            <p:txBody>
              <a:bodyPr wrap="square">
                <a:spAutoFit/>
              </a:bodyPr>
              <a:lstStyle/>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【例题</a:t>
                </a:r>
                <a:r>
                  <a:rPr lang="zh-CN" altLang="zh-CN" sz="2400" b="1" kern="100" dirty="0">
                    <a:solidFill>
                      <a:schemeClr val="bg1"/>
                    </a:solidFill>
                    <a:latin typeface="Times New Roman" panose="02020603050405020304" pitchFamily="18" charset="0"/>
                    <a:ea typeface="宋体" panose="02010600030101010101" pitchFamily="2" charset="-122"/>
                  </a:rPr>
                  <a:t>】</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14:m>
                  <m:oMath xmlns:m="http://schemas.openxmlformats.org/officeDocument/2006/math">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r>
                      <a:rPr lang="en-US" altLang="zh-CN" sz="2400" b="1" i="1" kern="100">
                        <a:solidFill>
                          <a:schemeClr val="bg1"/>
                        </a:solidFill>
                        <a:latin typeface="Cambria Math" panose="02040503050406030204" pitchFamily="18" charset="0"/>
                        <a:ea typeface="宋体" panose="02010600030101010101" pitchFamily="2" charset="-122"/>
                      </a:rPr>
                      <m:t>)</m:t>
                    </m:r>
                  </m:oMath>
                </a14:m>
                <a:endParaRPr lang="zh-CN" altLang="zh-CN" sz="2400" b="1" kern="100" dirty="0">
                  <a:solidFill>
                    <a:schemeClr val="bg1"/>
                  </a:solidFill>
                  <a:latin typeface="Times New Roman" panose="02020603050405020304" pitchFamily="18" charset="0"/>
                  <a:ea typeface="宋体" panose="02010600030101010101" pitchFamily="2" charset="-122"/>
                </a:endParaRPr>
              </a:p>
              <a:p>
                <a:pPr indent="266700" algn="just">
                  <a:lnSpc>
                    <a:spcPts val="3600"/>
                  </a:lnSpc>
                  <a:spcAft>
                    <a:spcPts val="0"/>
                  </a:spcAft>
                </a:pP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【证明】：</a:t>
                </a:r>
                <a14:m>
                  <m:oMath xmlns:m="http://schemas.openxmlformats.org/officeDocument/2006/math">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e>
                        </m:d>
                        <m:r>
                          <a:rPr lang="en-US" altLang="zh-CN" sz="2400" b="1" i="1" kern="100">
                            <a:solidFill>
                              <a:schemeClr val="bg1"/>
                            </a:solidFill>
                            <a:latin typeface="Cambria Math" panose="02040503050406030204" pitchFamily="18" charset="0"/>
                            <a:ea typeface="宋体" panose="02010600030101010101" pitchFamily="2" charset="-122"/>
                          </a:rPr>
                          <m:t>∪</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e>
                        </m:d>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endParaRPr lang="en-US" altLang="zh-CN" sz="2400" b="1" i="1" kern="100" dirty="0">
                  <a:solidFill>
                    <a:schemeClr val="bg1"/>
                  </a:solidFill>
                  <a:latin typeface="Cambria Math" panose="02040503050406030204" pitchFamily="18" charset="0"/>
                  <a:ea typeface="宋体" panose="02010600030101010101" pitchFamily="2" charset="-122"/>
                </a:endParaRPr>
              </a:p>
              <a:p>
                <a:pPr indent="266700" algn="just">
                  <a:lnSpc>
                    <a:spcPts val="36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smtClean="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𝑪</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𝑪</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oMath>
                  </m:oMathPara>
                </a14:m>
                <a:endParaRPr lang="zh-CN" altLang="zh-CN" sz="2400" b="1" kern="100" dirty="0">
                  <a:solidFill>
                    <a:srgbClr val="FFFF00"/>
                  </a:solidFill>
                  <a:latin typeface="Times New Roman" panose="02020603050405020304" pitchFamily="18" charset="0"/>
                  <a:ea typeface="宋体" panose="02010600030101010101" pitchFamily="2" charset="-122"/>
                </a:endParaRPr>
              </a:p>
              <a:p>
                <a:pPr marL="2133600">
                  <a:lnSpc>
                    <a:spcPts val="3600"/>
                  </a:lnSpc>
                  <a:spcAft>
                    <a:spcPts val="0"/>
                  </a:spcAft>
                </a:pPr>
                <a14:m>
                  <m:oMathPara xmlns:m="http://schemas.openxmlformats.org/officeDocument/2006/math">
                    <m:oMathParaPr>
                      <m:jc m:val="centerGroup"/>
                    </m:oMathParaPr>
                    <m:oMath xmlns:m="http://schemas.openxmlformats.org/officeDocument/2006/math">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𝑨</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𝑩</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r>
                        <a:rPr lang="en-US" altLang="zh-CN" sz="2400" b="1" i="1" kern="100">
                          <a:solidFill>
                            <a:srgbClr val="FFFF00"/>
                          </a:solidFill>
                          <a:latin typeface="Cambria Math" panose="02040503050406030204" pitchFamily="18" charset="0"/>
                          <a:ea typeface="宋体" panose="02010600030101010101" pitchFamily="2" charset="-122"/>
                        </a:rPr>
                        <m:t>⋅</m:t>
                      </m:r>
                      <m:sSub>
                        <m:sSubPr>
                          <m:ctrlPr>
                            <a:rPr lang="zh-CN" altLang="zh-CN" sz="2400" b="1" i="1" kern="100">
                              <a:solidFill>
                                <a:srgbClr val="FFFF00"/>
                              </a:solidFill>
                              <a:latin typeface="Cambria Math" panose="02040503050406030204" pitchFamily="18" charset="0"/>
                              <a:ea typeface="Cambria Math" panose="02040503050406030204" pitchFamily="18" charset="0"/>
                            </a:rPr>
                          </m:ctrlPr>
                        </m:sSubPr>
                        <m:e>
                          <m:r>
                            <a:rPr lang="en-US" altLang="zh-CN" sz="2400" b="1" i="1" kern="100">
                              <a:solidFill>
                                <a:srgbClr val="FFFF00"/>
                              </a:solidFill>
                              <a:latin typeface="Cambria Math" panose="02040503050406030204" pitchFamily="18" charset="0"/>
                              <a:ea typeface="宋体" panose="02010600030101010101" pitchFamily="2" charset="-122"/>
                            </a:rPr>
                            <m:t>𝝌</m:t>
                          </m:r>
                        </m:e>
                        <m:sub>
                          <m:r>
                            <a:rPr lang="en-US" altLang="zh-CN" sz="2400" b="1" i="1" kern="100">
                              <a:solidFill>
                                <a:srgbClr val="FFFF00"/>
                              </a:solidFill>
                              <a:latin typeface="Cambria Math" panose="02040503050406030204" pitchFamily="18" charset="0"/>
                              <a:ea typeface="宋体" panose="02010600030101010101" pitchFamily="2" charset="-122"/>
                            </a:rPr>
                            <m:t>𝑪</m:t>
                          </m:r>
                        </m:sub>
                      </m:sSub>
                      <m:d>
                        <m:dPr>
                          <m:ctrlPr>
                            <a:rPr lang="zh-CN" altLang="zh-CN" sz="2400" b="1" i="1" kern="100">
                              <a:solidFill>
                                <a:srgbClr val="FFFF00"/>
                              </a:solidFill>
                              <a:latin typeface="Cambria Math" panose="02040503050406030204" pitchFamily="18" charset="0"/>
                              <a:ea typeface="Cambria Math" panose="02040503050406030204" pitchFamily="18" charset="0"/>
                            </a:rPr>
                          </m:ctrlPr>
                        </m:dPr>
                        <m:e>
                          <m:r>
                            <a:rPr lang="en-US" altLang="zh-CN" sz="2400" b="1" i="1" kern="100">
                              <a:solidFill>
                                <a:srgbClr val="FFFF00"/>
                              </a:solidFill>
                              <a:latin typeface="Cambria Math" panose="02040503050406030204" pitchFamily="18" charset="0"/>
                              <a:ea typeface="宋体" panose="02010600030101010101" pitchFamily="2" charset="-122"/>
                            </a:rPr>
                            <m:t>𝒙</m:t>
                          </m:r>
                        </m:e>
                      </m:d>
                    </m:oMath>
                  </m:oMathPara>
                </a14:m>
                <a:endParaRPr lang="zh-CN" altLang="zh-CN" sz="2400" b="1" kern="100" dirty="0">
                  <a:solidFill>
                    <a:srgbClr val="FFFF00"/>
                  </a:solidFill>
                  <a:latin typeface="Times New Roman" panose="02020603050405020304" pitchFamily="18" charset="0"/>
                  <a:ea typeface="宋体" panose="02010600030101010101" pitchFamily="2" charset="-122"/>
                </a:endParaRPr>
              </a:p>
              <a:p>
                <a:pPr algn="just">
                  <a:lnSpc>
                    <a:spcPts val="3600"/>
                  </a:lnSpc>
                  <a:spcAft>
                    <a:spcPts val="0"/>
                  </a:spcAft>
                </a:pPr>
                <a:r>
                  <a:rPr lang="en-US" altLang="zh-CN" sz="2400" b="1" kern="100" dirty="0">
                    <a:solidFill>
                      <a:schemeClr val="bg1"/>
                    </a:solidFill>
                    <a:ea typeface="宋体" panose="02010600030101010101" pitchFamily="2" charset="-122"/>
                  </a:rPr>
                  <a:t>     </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600"/>
                  </a:lnSpc>
                  <a:spcAft>
                    <a:spcPts val="0"/>
                  </a:spcAft>
                </a:pPr>
                <a:r>
                  <a:rPr lang="en-US" altLang="zh-CN" sz="2400" b="1" kern="100" dirty="0">
                    <a:solidFill>
                      <a:schemeClr val="bg1"/>
                    </a:solidFill>
                    <a:ea typeface="宋体" panose="02010600030101010101" pitchFamily="2" charset="-122"/>
                  </a:rPr>
                  <a:t>     </a:t>
                </a:r>
                <a14:m>
                  <m:oMath xmlns:m="http://schemas.openxmlformats.org/officeDocument/2006/math">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r>
                      <a:rPr lang="en-US" altLang="zh-CN" sz="2400" b="1" i="1" kern="100">
                        <a:solidFill>
                          <a:schemeClr val="bg1"/>
                        </a:solidFill>
                        <a:latin typeface="Cambria Math" panose="02040503050406030204" pitchFamily="18" charset="0"/>
                        <a:ea typeface="宋体" panose="02010600030101010101" pitchFamily="2" charset="-122"/>
                      </a:rPr>
                      <m:t> =</m:t>
                    </m:r>
                    <m:sSub>
                      <m:sSubPr>
                        <m:ctrlPr>
                          <a:rPr lang="zh-CN" altLang="zh-CN" sz="2400" b="1" i="1" kern="100">
                            <a:solidFill>
                              <a:schemeClr val="bg1"/>
                            </a:solidFill>
                            <a:latin typeface="Cambria Math" panose="02040503050406030204" pitchFamily="18" charset="0"/>
                            <a:ea typeface="Cambria Math" panose="02040503050406030204" pitchFamily="18" charset="0"/>
                          </a:rPr>
                        </m:ctrlPr>
                      </m:sSubPr>
                      <m:e>
                        <m:r>
                          <a:rPr lang="en-US" altLang="zh-CN" sz="2400" b="1" i="1" kern="100">
                            <a:solidFill>
                              <a:schemeClr val="bg1"/>
                            </a:solidFill>
                            <a:latin typeface="Cambria Math" panose="02040503050406030204" pitchFamily="18" charset="0"/>
                            <a:ea typeface="宋体" panose="02010600030101010101" pitchFamily="2" charset="-122"/>
                          </a:rPr>
                          <m:t>𝝌</m:t>
                        </m:r>
                      </m:e>
                      <m:sub>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sub>
                    </m:sSub>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𝒙</m:t>
                        </m:r>
                      </m:e>
                    </m:d>
                  </m:oMath>
                </a14:m>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a:t>
                </a:r>
                <a:endParaRPr lang="zh-CN" altLang="zh-CN" sz="2400" b="1" kern="100" dirty="0">
                  <a:solidFill>
                    <a:schemeClr val="bg1"/>
                  </a:solidFill>
                  <a:latin typeface="Times New Roman" panose="02020603050405020304" pitchFamily="18" charset="0"/>
                  <a:ea typeface="宋体" panose="02010600030101010101" pitchFamily="2" charset="-122"/>
                </a:endParaRPr>
              </a:p>
              <a:p>
                <a:pPr algn="just">
                  <a:lnSpc>
                    <a:spcPts val="3600"/>
                  </a:lnSpc>
                  <a:spcAft>
                    <a:spcPts val="0"/>
                  </a:spcAft>
                </a:pPr>
                <a:r>
                  <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rPr>
                  <a:t>根据集合特征函数与集合的对应关系，有：</a:t>
                </a:r>
                <a:endParaRPr lang="en-US" altLang="zh-CN" sz="2400" b="1" kern="100" dirty="0">
                  <a:solidFill>
                    <a:schemeClr val="bg1"/>
                  </a:solidFill>
                  <a:latin typeface="Times New Roman" panose="02020603050405020304" pitchFamily="18" charset="0"/>
                  <a:ea typeface="宋体" panose="02010600030101010101" pitchFamily="2" charset="-122"/>
                  <a:cs typeface="宋体" panose="02010600030101010101" pitchFamily="2" charset="-122"/>
                </a:endParaRPr>
              </a:p>
              <a:p>
                <a:pPr algn="just">
                  <a:lnSpc>
                    <a:spcPts val="3600"/>
                  </a:lnSpc>
                  <a:spcAft>
                    <a:spcPts val="0"/>
                  </a:spcAft>
                </a:pPr>
                <a14:m>
                  <m:oMathPara xmlns:m="http://schemas.openxmlformats.org/officeDocument/2006/math">
                    <m:oMathParaPr>
                      <m:jc m:val="centerGroup"/>
                    </m:oMathParaPr>
                    <m:oMath xmlns:m="http://schemas.openxmlformats.org/officeDocument/2006/math">
                      <m:d>
                        <m:dPr>
                          <m:ctrlPr>
                            <a:rPr lang="zh-CN" altLang="zh-CN" sz="2400" b="1" i="1" kern="100">
                              <a:solidFill>
                                <a:schemeClr val="bg1"/>
                              </a:solidFill>
                              <a:latin typeface="Cambria Math" panose="02040503050406030204" pitchFamily="18" charset="0"/>
                              <a:ea typeface="Cambria Math" panose="02040503050406030204" pitchFamily="18" charset="0"/>
                              <a:cs typeface="宋体" panose="02010600030101010101" pitchFamily="2" charset="-122"/>
                            </a:rPr>
                          </m:ctrlPr>
                        </m:dPr>
                        <m:e>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𝑩</m:t>
                          </m:r>
                        </m:e>
                      </m:d>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r>
                        <a:rPr lang="en-US" altLang="zh-CN" sz="2400" b="1" i="1" kern="100">
                          <a:solidFill>
                            <a:schemeClr val="bg1"/>
                          </a:solidFill>
                          <a:latin typeface="Cambria Math" panose="02040503050406030204" pitchFamily="18" charset="0"/>
                          <a:ea typeface="宋体" panose="02010600030101010101" pitchFamily="2" charset="-122"/>
                        </a:rPr>
                        <m:t>=</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𝑨</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e>
                      </m:d>
                      <m:r>
                        <a:rPr lang="en-US" altLang="zh-CN" sz="2400" b="1" i="1" kern="100">
                          <a:solidFill>
                            <a:schemeClr val="bg1"/>
                          </a:solidFill>
                          <a:latin typeface="Cambria Math" panose="02040503050406030204" pitchFamily="18" charset="0"/>
                          <a:ea typeface="宋体" panose="02010600030101010101" pitchFamily="2" charset="-122"/>
                        </a:rPr>
                        <m:t>∪</m:t>
                      </m:r>
                      <m:d>
                        <m:dPr>
                          <m:ctrlPr>
                            <a:rPr lang="zh-CN" altLang="zh-CN" sz="2400" b="1" i="1" kern="100">
                              <a:solidFill>
                                <a:schemeClr val="bg1"/>
                              </a:solidFill>
                              <a:latin typeface="Cambria Math" panose="02040503050406030204" pitchFamily="18" charset="0"/>
                              <a:ea typeface="Cambria Math" panose="02040503050406030204" pitchFamily="18" charset="0"/>
                            </a:rPr>
                          </m:ctrlPr>
                        </m:dPr>
                        <m:e>
                          <m:r>
                            <a:rPr lang="en-US" altLang="zh-CN" sz="2400" b="1" i="1" kern="100">
                              <a:solidFill>
                                <a:schemeClr val="bg1"/>
                              </a:solidFill>
                              <a:latin typeface="Cambria Math" panose="02040503050406030204" pitchFamily="18" charset="0"/>
                              <a:ea typeface="宋体" panose="02010600030101010101" pitchFamily="2" charset="-122"/>
                            </a:rPr>
                            <m:t>𝑩</m:t>
                          </m:r>
                          <m:r>
                            <a:rPr lang="en-US" altLang="zh-CN" sz="2400" b="1" i="1" kern="100">
                              <a:solidFill>
                                <a:schemeClr val="bg1"/>
                              </a:solidFill>
                              <a:latin typeface="Cambria Math" panose="02040503050406030204" pitchFamily="18" charset="0"/>
                              <a:ea typeface="宋体" panose="02010600030101010101" pitchFamily="2" charset="-122"/>
                            </a:rPr>
                            <m:t>−</m:t>
                          </m:r>
                          <m:r>
                            <a:rPr lang="en-US" altLang="zh-CN" sz="2400" b="1" i="1" kern="100">
                              <a:solidFill>
                                <a:schemeClr val="bg1"/>
                              </a:solidFill>
                              <a:latin typeface="Cambria Math" panose="02040503050406030204" pitchFamily="18" charset="0"/>
                              <a:ea typeface="宋体" panose="02010600030101010101" pitchFamily="2" charset="-122"/>
                            </a:rPr>
                            <m:t>𝑪</m:t>
                          </m:r>
                        </m:e>
                      </m:d>
                    </m:oMath>
                  </m:oMathPara>
                </a14:m>
                <a:endParaRPr lang="zh-CN" altLang="zh-CN" sz="2400" b="1" kern="100" dirty="0">
                  <a:latin typeface="Times New Roman" panose="02020603050405020304" pitchFamily="18" charset="0"/>
                  <a:ea typeface="宋体" panose="02010600030101010101" pitchFamily="2" charset="-122"/>
                </a:endParaRPr>
              </a:p>
            </p:txBody>
          </p:sp>
        </mc:Choice>
        <mc:Fallback xmlns="">
          <p:sp>
            <p:nvSpPr>
              <p:cNvPr id="2" name="矩形 1">
                <a:extLst>
                  <a:ext uri="{FF2B5EF4-FFF2-40B4-BE49-F238E27FC236}">
                    <a16:creationId xmlns:a16="http://schemas.microsoft.com/office/drawing/2014/main" id="{8BA97ADC-0F89-4D98-AAB1-2D3A63074D0E}"/>
                  </a:ext>
                </a:extLst>
              </p:cNvPr>
              <p:cNvSpPr>
                <a:spLocks noRot="1" noChangeAspect="1" noMove="1" noResize="1" noEditPoints="1" noAdjustHandles="1" noChangeArrowheads="1" noChangeShapeType="1" noTextEdit="1"/>
              </p:cNvSpPr>
              <p:nvPr/>
            </p:nvSpPr>
            <p:spPr>
              <a:xfrm>
                <a:off x="251520" y="1916832"/>
                <a:ext cx="8496944" cy="4247317"/>
              </a:xfrm>
              <a:prstGeom prst="rect">
                <a:avLst/>
              </a:prstGeom>
              <a:blipFill>
                <a:blip r:embed="rId3"/>
                <a:stretch>
                  <a:fillRect t="-5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85973359"/>
      </p:ext>
    </p:extLst>
  </p:cSld>
  <p:clrMapOvr>
    <a:masterClrMapping/>
  </p:clrMapOvr>
  <p:transition spd="med">
    <p:wipe dir="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AD7AFBC7-F811-44D3-BE99-468E7E24B950}"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25955"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pic>
        <p:nvPicPr>
          <p:cNvPr id="125957"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2">
            <a:extLst>
              <a:ext uri="{FF2B5EF4-FFF2-40B4-BE49-F238E27FC236}">
                <a16:creationId xmlns:a16="http://schemas.microsoft.com/office/drawing/2014/main" id="{741A4E5E-3AFA-4F74-B3F3-9AA558F64A66}"/>
              </a:ext>
            </a:extLst>
          </p:cNvPr>
          <p:cNvSpPr txBox="1">
            <a:spLocks noChangeArrowheads="1"/>
          </p:cNvSpPr>
          <p:nvPr/>
        </p:nvSpPr>
        <p:spPr bwMode="auto">
          <a:xfrm>
            <a:off x="1331640" y="595312"/>
            <a:ext cx="6553200" cy="830997"/>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zh-CN" altLang="en-US" sz="4800" b="1" dirty="0">
                <a:solidFill>
                  <a:schemeClr val="bg1"/>
                </a:solidFill>
                <a:latin typeface="宋体" pitchFamily="2" charset="-122"/>
                <a:ea typeface="宋体" pitchFamily="2" charset="-122"/>
              </a:rPr>
              <a:t> 特征函数运算性质</a:t>
            </a: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23F7CC0D-38DB-4794-B798-97D8C1387DA2}"/>
                  </a:ext>
                </a:extLst>
              </p:cNvPr>
              <p:cNvSpPr/>
              <p:nvPr/>
            </p:nvSpPr>
            <p:spPr>
              <a:xfrm>
                <a:off x="539552" y="2204864"/>
                <a:ext cx="7920235" cy="3242170"/>
              </a:xfrm>
              <a:prstGeom prst="rect">
                <a:avLst/>
              </a:prstGeom>
              <a:solidFill>
                <a:schemeClr val="accent3">
                  <a:lumMod val="95000"/>
                </a:schemeClr>
              </a:solidFill>
            </p:spPr>
            <p:txBody>
              <a:bodyPr wrap="square">
                <a:spAutoFit/>
              </a:bodyPr>
              <a:lstStyle/>
              <a:p>
                <a:pPr indent="266700">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【例题</a:t>
                </a:r>
                <a:r>
                  <a:rPr lang="zh-CN" altLang="zh-CN" sz="2800" b="1" kern="100" dirty="0">
                    <a:solidFill>
                      <a:schemeClr val="tx1"/>
                    </a:solidFill>
                    <a:latin typeface="Times New Roman" panose="02020603050405020304" pitchFamily="18" charset="0"/>
                    <a:ea typeface="宋体" panose="02010600030101010101" pitchFamily="2" charset="-122"/>
                  </a:rPr>
                  <a:t>】</a:t>
                </a:r>
                <a:r>
                  <a:rPr lang="zh-CN" altLang="en-US" sz="2800" b="1" kern="100" dirty="0">
                    <a:solidFill>
                      <a:schemeClr val="tx1"/>
                    </a:solidFill>
                    <a:latin typeface="Times New Roman" panose="02020603050405020304" pitchFamily="18" charset="0"/>
                    <a:ea typeface="宋体" panose="02010600030101010101" pitchFamily="2" charset="-122"/>
                  </a:rPr>
                  <a:t>对于如下</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𝑼</m:t>
                    </m:r>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e>
                    </m:d>
                  </m:oMath>
                </a14:m>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的子集：</a:t>
                </a: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p>
              <a:p>
                <a:pPr indent="266700" algn="ctr">
                  <a:lnSpc>
                    <a:spcPct val="150000"/>
                  </a:lnSpc>
                  <a:spcAft>
                    <a:spcPts val="0"/>
                  </a:spcAft>
                </a:pPr>
                <a:r>
                  <a:rPr lang="en-US"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 </a:t>
                </a:r>
                <a14:m>
                  <m:oMath xmlns:m="http://schemas.openxmlformats.org/officeDocument/2006/math">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𝒄</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e>
                    </m:d>
                    <m:r>
                      <a:rPr lang="en-US" altLang="zh-CN" sz="2800" b="1" i="1" kern="100">
                        <a:solidFill>
                          <a:schemeClr val="tx1"/>
                        </a:solidFill>
                        <a:latin typeface="Cambria Math" panose="02040503050406030204" pitchFamily="18" charset="0"/>
                        <a:ea typeface="宋体" panose="02010600030101010101" pitchFamily="2" charset="-122"/>
                      </a:rPr>
                      <m:t>,</m:t>
                    </m:r>
                  </m:oMath>
                </a14:m>
                <a:endParaRPr lang="en-US" altLang="zh-CN" sz="2800" b="1" i="1" kern="100" dirty="0">
                  <a:solidFill>
                    <a:schemeClr val="tx1"/>
                  </a:solidFill>
                  <a:latin typeface="Cambria Math" panose="02040503050406030204" pitchFamily="18" charset="0"/>
                  <a:ea typeface="宋体" panose="02010600030101010101" pitchFamily="2" charset="-122"/>
                </a:endParaRPr>
              </a:p>
              <a:p>
                <a:pPr indent="266700" algn="ctr">
                  <a:lnSpc>
                    <a:spcPct val="150000"/>
                  </a:lnSpc>
                  <a:spcAft>
                    <a:spcPts val="0"/>
                  </a:spcAft>
                </a:pPr>
                <a:r>
                  <a:rPr lang="en-US" altLang="zh-CN" sz="2800" b="1" kern="100" dirty="0">
                    <a:solidFill>
                      <a:schemeClr val="tx1"/>
                    </a:solidFill>
                    <a:ea typeface="Cambria Math" panose="02040503050406030204" pitchFamily="18" charset="0"/>
                  </a:rPr>
                  <a:t> </a:t>
                </a:r>
                <a14:m>
                  <m:oMath xmlns:m="http://schemas.openxmlformats.org/officeDocument/2006/math">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e>
                    </m:d>
                    <m:r>
                      <a:rPr lang="en-US" altLang="zh-CN" sz="2800" b="1" i="1" kern="100">
                        <a:solidFill>
                          <a:schemeClr val="tx1"/>
                        </a:solidFill>
                        <a:latin typeface="Cambria Math" panose="02040503050406030204" pitchFamily="18" charset="0"/>
                        <a:ea typeface="宋体" panose="02010600030101010101" pitchFamily="2" charset="-122"/>
                      </a:rPr>
                      <m:t>,</m:t>
                    </m:r>
                    <m:d>
                      <m:dPr>
                        <m:begChr m:val="{"/>
                        <m:endChr m:val="}"/>
                        <m:ctrlPr>
                          <a:rPr lang="zh-CN" altLang="zh-CN" sz="2800" b="1" i="1" kern="100">
                            <a:solidFill>
                              <a:schemeClr val="tx1"/>
                            </a:solidFill>
                            <a:latin typeface="Cambria Math" panose="02040503050406030204" pitchFamily="18" charset="0"/>
                            <a:ea typeface="Cambria Math" panose="02040503050406030204" pitchFamily="18" charset="0"/>
                          </a:rPr>
                        </m:ctrlPr>
                      </m:dPr>
                      <m:e>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e>
                    </m:d>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𝒂</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𝒃</m:t>
                    </m:r>
                    <m:r>
                      <a:rPr lang="en-US" altLang="zh-CN" sz="2800" b="1" i="1" kern="100">
                        <a:solidFill>
                          <a:schemeClr val="tx1"/>
                        </a:solidFill>
                        <a:latin typeface="Cambria Math" panose="02040503050406030204" pitchFamily="18" charset="0"/>
                        <a:ea typeface="宋体" panose="02010600030101010101" pitchFamily="2" charset="-122"/>
                      </a:rPr>
                      <m:t>,</m:t>
                    </m:r>
                    <m:r>
                      <a:rPr lang="en-US" altLang="zh-CN" sz="2800" b="1" i="1" kern="100">
                        <a:solidFill>
                          <a:schemeClr val="tx1"/>
                        </a:solidFill>
                        <a:latin typeface="Cambria Math" panose="02040503050406030204" pitchFamily="18" charset="0"/>
                        <a:ea typeface="宋体" panose="02010600030101010101" pitchFamily="2" charset="-122"/>
                      </a:rPr>
                      <m:t>𝒄</m:t>
                    </m:r>
                    <m:r>
                      <a:rPr lang="en-US" altLang="zh-CN" sz="2800" b="1" i="1" kern="100">
                        <a:solidFill>
                          <a:schemeClr val="tx1"/>
                        </a:solidFill>
                        <a:latin typeface="Cambria Math" panose="02040503050406030204" pitchFamily="18" charset="0"/>
                        <a:ea typeface="宋体" panose="02010600030101010101" pitchFamily="2" charset="-122"/>
                      </a:rPr>
                      <m:t>}</m:t>
                    </m:r>
                  </m:oMath>
                </a14:m>
                <a:endParaRPr lang="en-US" altLang="zh-CN" sz="2800" b="1" kern="100" dirty="0">
                  <a:solidFill>
                    <a:schemeClr val="tx1"/>
                  </a:solidFill>
                  <a:latin typeface="宋体" panose="02010600030101010101" pitchFamily="2" charset="-122"/>
                  <a:ea typeface="宋体" panose="02010600030101010101" pitchFamily="2" charset="-122"/>
                  <a:cs typeface="宋体" panose="02010600030101010101" pitchFamily="2" charset="-122"/>
                </a:endParaRPr>
              </a:p>
              <a:p>
                <a:pPr indent="266700" algn="just">
                  <a:lnSpc>
                    <a:spcPct val="150000"/>
                  </a:lnSpc>
                  <a:spcAft>
                    <a:spcPts val="0"/>
                  </a:spcAft>
                </a:pPr>
                <a:r>
                  <a:rPr lang="en-US" altLang="zh-CN" sz="2800" b="1" kern="100" dirty="0">
                    <a:solidFill>
                      <a:schemeClr val="tx1"/>
                    </a:solidFill>
                    <a:latin typeface="宋体" panose="02010600030101010101" pitchFamily="2" charset="-122"/>
                    <a:ea typeface="宋体" panose="02010600030101010101" pitchFamily="2" charset="-122"/>
                    <a:cs typeface="宋体" panose="02010600030101010101" pitchFamily="2" charset="-122"/>
                  </a:rPr>
                  <a:t>  </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试给出</a:t>
                </a:r>
                <a:r>
                  <a:rPr lang="zh-CN" altLang="en-US"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这些</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子集的特征函数</a:t>
                </a:r>
                <a:r>
                  <a:rPr lang="zh-CN" altLang="en-US"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，并</a:t>
                </a:r>
                <a:r>
                  <a:rPr lang="zh-CN" altLang="zh-CN" sz="2800" b="1" kern="100" dirty="0">
                    <a:solidFill>
                      <a:schemeClr val="tx1"/>
                    </a:solidFill>
                    <a:latin typeface="Times New Roman" panose="02020603050405020304" pitchFamily="18" charset="0"/>
                    <a:ea typeface="宋体" panose="02010600030101010101" pitchFamily="2" charset="-122"/>
                    <a:cs typeface="宋体" panose="02010600030101010101" pitchFamily="2" charset="-122"/>
                  </a:rPr>
                  <a:t>建立特征函数与二进制之间的对应关系。</a:t>
                </a:r>
                <a:endParaRPr lang="zh-CN" altLang="zh-CN" sz="2800" b="1" kern="100" dirty="0">
                  <a:solidFill>
                    <a:schemeClr val="tx1"/>
                  </a:solidFill>
                  <a:latin typeface="Times New Roman" panose="02020603050405020304" pitchFamily="18" charset="0"/>
                  <a:ea typeface="宋体" panose="02010600030101010101" pitchFamily="2" charset="-122"/>
                </a:endParaRPr>
              </a:p>
            </p:txBody>
          </p:sp>
        </mc:Choice>
        <mc:Fallback xmlns="">
          <p:sp>
            <p:nvSpPr>
              <p:cNvPr id="3" name="矩形 2">
                <a:extLst>
                  <a:ext uri="{FF2B5EF4-FFF2-40B4-BE49-F238E27FC236}">
                    <a16:creationId xmlns:a16="http://schemas.microsoft.com/office/drawing/2014/main" id="{23F7CC0D-38DB-4794-B798-97D8C1387DA2}"/>
                  </a:ext>
                </a:extLst>
              </p:cNvPr>
              <p:cNvSpPr>
                <a:spLocks noRot="1" noChangeAspect="1" noMove="1" noResize="1" noEditPoints="1" noAdjustHandles="1" noChangeArrowheads="1" noChangeShapeType="1" noTextEdit="1"/>
              </p:cNvSpPr>
              <p:nvPr/>
            </p:nvSpPr>
            <p:spPr>
              <a:xfrm>
                <a:off x="539552" y="2204864"/>
                <a:ext cx="7920235" cy="3242170"/>
              </a:xfrm>
              <a:prstGeom prst="rect">
                <a:avLst/>
              </a:prstGeom>
              <a:blipFill>
                <a:blip r:embed="rId3"/>
                <a:stretch>
                  <a:fillRect l="-1617" r="-1540" b="-375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46473969"/>
      </p:ext>
    </p:extLst>
  </p:cSld>
  <p:clrMapOvr>
    <a:masterClrMapping/>
  </p:clrMapOvr>
  <p:transition spd="med">
    <p:wipe dir="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日期占位符 3"/>
          <p:cNvSpPr txBox="1">
            <a:spLocks noGrp="1"/>
          </p:cNvSpPr>
          <p:nvPr/>
        </p:nvSpPr>
        <p:spPr bwMode="auto">
          <a:xfrm>
            <a:off x="684213"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2B3A1EDA-6C28-4345-94A5-C90E4BAF5DF2}"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33123" name="Rectangle 186"/>
          <p:cNvSpPr>
            <a:spLocks noChangeArrowheads="1"/>
          </p:cNvSpPr>
          <p:nvPr/>
        </p:nvSpPr>
        <p:spPr bwMode="auto">
          <a:xfrm>
            <a:off x="0" y="4064000"/>
            <a:ext cx="184150" cy="457200"/>
          </a:xfrm>
          <a:prstGeom prst="rect">
            <a:avLst/>
          </a:prstGeom>
          <a:noFill/>
          <a:ln>
            <a:noFill/>
          </a:ln>
          <a:effectLst/>
          <a:extLst>
            <a:ext uri="{909E8E84-426E-40DD-AFC4-6F175D3DCCD1}">
              <a14:hiddenFill xmlns:a14="http://schemas.microsoft.com/office/drawing/2010/main">
                <a:solidFill>
                  <a:srgbClr val="FFFF66">
                    <a:alpha val="89803"/>
                  </a:srgbClr>
                </a:solidFill>
              </a14:hiddenFill>
            </a:ext>
            <a:ext uri="{91240B29-F687-4F45-9708-019B960494DF}">
              <a14:hiddenLine xmlns:a14="http://schemas.microsoft.com/office/drawing/2010/main" w="12700" algn="ctr">
                <a:solidFill>
                  <a:srgbClr val="0033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eaLnBrk="1" hangingPunct="1"/>
            <a:endParaRPr kumimoji="1" lang="zh-CN" altLang="en-US" sz="2400">
              <a:solidFill>
                <a:schemeClr val="tx1"/>
              </a:solidFill>
              <a:latin typeface="Times New Roman" pitchFamily="18" charset="0"/>
              <a:ea typeface="宋体" pitchFamily="2" charset="-122"/>
              <a:cs typeface="楷体_GB2312"/>
            </a:endParaRPr>
          </a:p>
        </p:txBody>
      </p:sp>
      <p:sp>
        <p:nvSpPr>
          <p:cNvPr id="133124" name="Text Box 2"/>
          <p:cNvSpPr txBox="1">
            <a:spLocks noChangeArrowheads="1"/>
          </p:cNvSpPr>
          <p:nvPr/>
        </p:nvSpPr>
        <p:spPr bwMode="auto">
          <a:xfrm>
            <a:off x="1331913" y="785813"/>
            <a:ext cx="6553200"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marL="838200" indent="-381000">
              <a:defRPr kumimoji="1" sz="2000">
                <a:solidFill>
                  <a:schemeClr val="tx1"/>
                </a:solidFill>
                <a:latin typeface="Times New Roman" pitchFamily="18" charset="0"/>
                <a:ea typeface="宋体" pitchFamily="2" charset="-122"/>
                <a:cs typeface="楷体_GB2312"/>
              </a:defRPr>
            </a:lvl2pPr>
            <a:lvl3pPr marL="1295400" indent="-381000">
              <a:defRPr kumimoji="1">
                <a:solidFill>
                  <a:schemeClr val="tx1"/>
                </a:solidFill>
                <a:latin typeface="Times New Roman" pitchFamily="18" charset="0"/>
                <a:ea typeface="宋体" pitchFamily="2" charset="-122"/>
                <a:cs typeface="楷体_GB2312"/>
              </a:defRPr>
            </a:lvl3pPr>
            <a:lvl4pPr marL="1752600" indent="-381000">
              <a:defRPr kumimoji="1" sz="1600">
                <a:solidFill>
                  <a:schemeClr val="tx1"/>
                </a:solidFill>
                <a:latin typeface="Times New Roman" pitchFamily="18" charset="0"/>
                <a:ea typeface="宋体" pitchFamily="2" charset="-122"/>
                <a:cs typeface="楷体_GB2312"/>
              </a:defRPr>
            </a:lvl4pPr>
            <a:lvl5pPr marL="2209800" indent="-381000">
              <a:defRPr kumimoji="1" sz="1600">
                <a:solidFill>
                  <a:schemeClr val="tx1"/>
                </a:solidFill>
                <a:latin typeface="Times New Roman" pitchFamily="18" charset="0"/>
                <a:ea typeface="宋体" pitchFamily="2" charset="-122"/>
                <a:cs typeface="楷体_GB2312"/>
              </a:defRPr>
            </a:lvl5pPr>
            <a:lvl6pPr marL="26670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marL="31242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marL="35814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marL="4038600" indent="-381000"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Char char="&amp;"/>
            </a:pPr>
            <a:r>
              <a:rPr lang="en-US" altLang="zh-CN" sz="5400" b="1">
                <a:solidFill>
                  <a:schemeClr val="bg1"/>
                </a:solidFill>
                <a:latin typeface="宋体" pitchFamily="2" charset="-122"/>
                <a:ea typeface="宋体" pitchFamily="2" charset="-122"/>
              </a:rPr>
              <a:t> </a:t>
            </a:r>
            <a:r>
              <a:rPr lang="zh-CN" altLang="en-US" sz="5400" b="1">
                <a:solidFill>
                  <a:schemeClr val="bg1"/>
                </a:solidFill>
                <a:latin typeface="宋体" pitchFamily="2" charset="-122"/>
                <a:ea typeface="宋体" pitchFamily="2" charset="-122"/>
              </a:rPr>
              <a:t>例  题</a:t>
            </a:r>
          </a:p>
        </p:txBody>
      </p:sp>
      <p:pic>
        <p:nvPicPr>
          <p:cNvPr id="133125" name="Picture 6" descr="C:\Program Files\Microsoft Office\MEDIA\CAGCAT10\j0293844.wm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48625" y="476250"/>
            <a:ext cx="1095375" cy="1152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a:spLocks noRot="1" noChangeAspect="1" noMove="1" noResize="1" noEditPoints="1" noAdjustHandles="1" noChangeArrowheads="1" noChangeShapeType="1" noTextEdit="1"/>
          </p:cNvSpPr>
          <p:nvPr/>
        </p:nvSpPr>
        <p:spPr>
          <a:xfrm>
            <a:off x="395170" y="1864805"/>
            <a:ext cx="8595505" cy="553998"/>
          </a:xfrm>
          <a:prstGeom prst="rect">
            <a:avLst/>
          </a:prstGeom>
          <a:blipFill rotWithShape="0">
            <a:blip r:embed="rId3"/>
            <a:stretch>
              <a:fillRect l="-1702" t="-16484" r="-567" b="-30769"/>
            </a:stretch>
          </a:blipFill>
        </p:spPr>
        <p:txBody>
          <a:bodyPr/>
          <a:lstStyle/>
          <a:p>
            <a:pPr>
              <a:defRPr/>
            </a:pPr>
            <a:r>
              <a:rPr lang="zh-CN" altLang="en-US">
                <a:noFill/>
              </a:rPr>
              <a:t> </a:t>
            </a:r>
          </a:p>
        </p:txBody>
      </p:sp>
      <p:sp>
        <p:nvSpPr>
          <p:cNvPr id="4" name="文本框 3"/>
          <p:cNvSpPr txBox="1">
            <a:spLocks noRot="1" noChangeAspect="1" noMove="1" noResize="1" noEditPoints="1" noAdjustHandles="1" noChangeArrowheads="1" noChangeShapeType="1" noTextEdit="1"/>
          </p:cNvSpPr>
          <p:nvPr/>
        </p:nvSpPr>
        <p:spPr>
          <a:xfrm>
            <a:off x="395170" y="4292600"/>
            <a:ext cx="8595505" cy="2019399"/>
          </a:xfrm>
          <a:prstGeom prst="rect">
            <a:avLst/>
          </a:prstGeom>
          <a:blipFill rotWithShape="0">
            <a:blip r:embed="rId4"/>
            <a:stretch>
              <a:fillRect l="-1135" t="-3323" r="-284" b="-3021"/>
            </a:stretch>
          </a:blipFill>
        </p:spPr>
        <p:txBody>
          <a:bodyPr/>
          <a:lstStyle/>
          <a:p>
            <a:pPr>
              <a:defRPr/>
            </a:pPr>
            <a:r>
              <a:rPr lang="zh-CN" altLang="en-US">
                <a:noFill/>
              </a:rPr>
              <a:t> </a:t>
            </a:r>
          </a:p>
        </p:txBody>
      </p:sp>
      <p:pic>
        <p:nvPicPr>
          <p:cNvPr id="3" name="图片 2">
            <a:extLst>
              <a:ext uri="{FF2B5EF4-FFF2-40B4-BE49-F238E27FC236}">
                <a16:creationId xmlns:a16="http://schemas.microsoft.com/office/drawing/2014/main" id="{0C6119D3-B97B-4B8F-A134-FD8AD1A0BC93}"/>
              </a:ext>
            </a:extLst>
          </p:cNvPr>
          <p:cNvPicPr>
            <a:picLocks noChangeAspect="1"/>
          </p:cNvPicPr>
          <p:nvPr/>
        </p:nvPicPr>
        <p:blipFill>
          <a:blip r:embed="rId5"/>
          <a:stretch>
            <a:fillRect/>
          </a:stretch>
        </p:blipFill>
        <p:spPr>
          <a:xfrm>
            <a:off x="368169" y="2743382"/>
            <a:ext cx="8323926" cy="1371236"/>
          </a:xfrm>
          <a:prstGeom prst="rect">
            <a:avLst/>
          </a:prstGeom>
        </p:spPr>
      </p:pic>
    </p:spTree>
  </p:cSld>
  <p:clrMapOvr>
    <a:masterClrMapping/>
  </p:clrMapOvr>
  <p:transition spd="med">
    <p:wipe dir="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日期占位符 3"/>
          <p:cNvSpPr txBox="1">
            <a:spLocks noGrp="1"/>
          </p:cNvSpPr>
          <p:nvPr/>
        </p:nvSpPr>
        <p:spPr bwMode="auto">
          <a:xfrm>
            <a:off x="684213" y="638175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eaLnBrk="1" hangingPunct="1"/>
            <a:fld id="{D42EFD02-C117-48FB-9B5A-4F2112799476}" type="datetime1">
              <a:rPr kumimoji="0" lang="zh-CN" altLang="en-US" sz="1400" b="1">
                <a:solidFill>
                  <a:srgbClr val="FF0000"/>
                </a:solidFill>
                <a:latin typeface="黑体" pitchFamily="49" charset="-122"/>
                <a:ea typeface="黑体" pitchFamily="49" charset="-122"/>
              </a:rPr>
              <a:pPr eaLnBrk="1" hangingPunct="1"/>
              <a:t>2020/9/7</a:t>
            </a:fld>
            <a:endParaRPr kumimoji="0" lang="en-US" altLang="zh-CN" sz="1400" b="1">
              <a:solidFill>
                <a:srgbClr val="FF0000"/>
              </a:solidFill>
              <a:latin typeface="黑体" pitchFamily="49" charset="-122"/>
              <a:ea typeface="黑体" pitchFamily="49" charset="-122"/>
            </a:endParaRPr>
          </a:p>
        </p:txBody>
      </p:sp>
      <p:sp>
        <p:nvSpPr>
          <p:cNvPr id="134147" name="Text Box 2"/>
          <p:cNvSpPr txBox="1">
            <a:spLocks noChangeArrowheads="1"/>
          </p:cNvSpPr>
          <p:nvPr/>
        </p:nvSpPr>
        <p:spPr bwMode="auto">
          <a:xfrm>
            <a:off x="1676400" y="1524000"/>
            <a:ext cx="6335713" cy="914400"/>
          </a:xfrm>
          <a:prstGeom prst="rect">
            <a:avLst/>
          </a:prstGeom>
          <a:solidFill>
            <a:srgbClr val="3366FF"/>
          </a:solidFill>
          <a:ln>
            <a:noFill/>
          </a:ln>
          <a:effectLst>
            <a:outerShdw dist="107763" dir="2700000" algn="ctr" rotWithShape="0">
              <a:schemeClr val="bg2"/>
            </a:outerShdw>
          </a:effectLst>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81000" indent="-381000">
              <a:defRPr kumimoji="1" sz="2400">
                <a:solidFill>
                  <a:schemeClr val="tx1"/>
                </a:solidFill>
                <a:latin typeface="楷体_GB2312"/>
                <a:ea typeface="楷体_GB2312"/>
                <a:cs typeface="楷体_GB2312"/>
              </a:defRPr>
            </a:lvl1pPr>
            <a:lvl2pPr>
              <a:defRPr kumimoji="1" sz="2000">
                <a:solidFill>
                  <a:schemeClr val="tx1"/>
                </a:solidFill>
                <a:latin typeface="Times New Roman" pitchFamily="18" charset="0"/>
                <a:ea typeface="宋体" pitchFamily="2" charset="-122"/>
                <a:cs typeface="楷体_GB2312"/>
              </a:defRPr>
            </a:lvl2pPr>
            <a:lvl3pPr>
              <a:defRPr kumimoji="1">
                <a:solidFill>
                  <a:schemeClr val="tx1"/>
                </a:solidFill>
                <a:latin typeface="Times New Roman" pitchFamily="18" charset="0"/>
                <a:ea typeface="宋体" pitchFamily="2" charset="-122"/>
                <a:cs typeface="楷体_GB2312"/>
              </a:defRPr>
            </a:lvl3pPr>
            <a:lvl4pPr>
              <a:defRPr kumimoji="1" sz="1600">
                <a:solidFill>
                  <a:schemeClr val="tx1"/>
                </a:solidFill>
                <a:latin typeface="Times New Roman" pitchFamily="18" charset="0"/>
                <a:ea typeface="宋体" pitchFamily="2" charset="-122"/>
                <a:cs typeface="楷体_GB2312"/>
              </a:defRPr>
            </a:lvl4pPr>
            <a:lvl5pPr>
              <a:defRPr kumimoji="1" sz="1600">
                <a:solidFill>
                  <a:schemeClr val="tx1"/>
                </a:solidFill>
                <a:latin typeface="Times New Roman" pitchFamily="18" charset="0"/>
                <a:ea typeface="宋体" pitchFamily="2" charset="-122"/>
                <a:cs typeface="楷体_GB2312"/>
              </a:defRPr>
            </a:lvl5pPr>
            <a:lvl6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6pPr>
            <a:lvl7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7pPr>
            <a:lvl8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8pPr>
            <a:lvl9pPr eaLnBrk="0" fontAlgn="base" hangingPunct="0">
              <a:spcBef>
                <a:spcPct val="20000"/>
              </a:spcBef>
              <a:spcAft>
                <a:spcPct val="0"/>
              </a:spcAft>
              <a:buChar char="»"/>
              <a:defRPr kumimoji="1" sz="1600">
                <a:solidFill>
                  <a:schemeClr val="tx1"/>
                </a:solidFill>
                <a:latin typeface="Times New Roman" pitchFamily="18" charset="0"/>
                <a:ea typeface="宋体" pitchFamily="2" charset="-122"/>
                <a:cs typeface="楷体_GB2312"/>
              </a:defRPr>
            </a:lvl9pPr>
          </a:lstStyle>
          <a:p>
            <a:pPr algn="ctr" eaLnBrk="1" hangingPunct="1">
              <a:spcBef>
                <a:spcPct val="50000"/>
              </a:spcBef>
              <a:buClr>
                <a:schemeClr val="bg1"/>
              </a:buClr>
              <a:buFont typeface="Wingdings" pitchFamily="2" charset="2"/>
              <a:buNone/>
            </a:pPr>
            <a:r>
              <a:rPr lang="zh-CN" altLang="en-US" sz="5400">
                <a:solidFill>
                  <a:schemeClr val="bg1"/>
                </a:solidFill>
                <a:latin typeface="宋体" pitchFamily="2" charset="-122"/>
                <a:ea typeface="宋体" pitchFamily="2" charset="-122"/>
              </a:rPr>
              <a:t>本章内容到此结束</a:t>
            </a:r>
            <a:endParaRPr lang="en-US" altLang="zh-CN" sz="5400">
              <a:solidFill>
                <a:schemeClr val="bg1"/>
              </a:solidFill>
              <a:latin typeface="宋体" pitchFamily="2" charset="-122"/>
              <a:ea typeface="宋体" pitchFamily="2" charset="-122"/>
            </a:endParaRPr>
          </a:p>
        </p:txBody>
      </p:sp>
      <p:sp>
        <p:nvSpPr>
          <p:cNvPr id="134148" name="WordArt 6"/>
          <p:cNvSpPr>
            <a:spLocks noChangeArrowheads="1" noChangeShapeType="1" noTextEdit="1"/>
          </p:cNvSpPr>
          <p:nvPr/>
        </p:nvSpPr>
        <p:spPr bwMode="auto">
          <a:xfrm>
            <a:off x="2590800" y="3048000"/>
            <a:ext cx="4419600" cy="2514600"/>
          </a:xfrm>
          <a:prstGeom prst="rect">
            <a:avLst/>
          </a:prstGeom>
        </p:spPr>
        <p:txBody>
          <a:bodyPr wrap="none" fromWordArt="1">
            <a:prstTxWarp prst="textCascadeUp">
              <a:avLst>
                <a:gd name="adj" fmla="val 44444"/>
              </a:avLst>
            </a:prstTxWarp>
            <a:scene3d>
              <a:camera prst="legacyPerspectiveFront">
                <a:rot lat="20519959" lon="1080000" rev="0"/>
              </a:camera>
              <a:lightRig rig="legacyHarsh2" dir="b"/>
            </a:scene3d>
            <a:sp3d extrusionH="430200" prstMaterial="legacyMatte">
              <a:extrusionClr>
                <a:srgbClr val="FF6600"/>
              </a:extrusionClr>
            </a:sp3d>
          </a:bodyPr>
          <a:lstStyle/>
          <a:p>
            <a:r>
              <a:rPr lang="zh-CN" altLang="en-US" sz="3600" kern="10">
                <a:ln w="9525">
                  <a:round/>
                  <a:headEnd/>
                  <a:tailEnd/>
                </a:ln>
                <a:gradFill rotWithShape="1">
                  <a:gsLst>
                    <a:gs pos="0">
                      <a:srgbClr val="FFE701"/>
                    </a:gs>
                    <a:gs pos="100000">
                      <a:srgbClr val="FE3E02"/>
                    </a:gs>
                  </a:gsLst>
                  <a:lin ang="5400000" scaled="1"/>
                </a:gradFill>
                <a:latin typeface="宋体"/>
                <a:ea typeface="宋体"/>
              </a:rPr>
              <a:t>谢谢大家！</a:t>
            </a:r>
          </a:p>
        </p:txBody>
      </p:sp>
    </p:spTree>
  </p:cSld>
  <p:clrMapOvr>
    <a:masterClrMapping/>
  </p:clrMapOvr>
  <p:transition spd="med">
    <p:wipe dir="r"/>
  </p:transition>
</p:sld>
</file>

<file path=ppt/theme/theme1.xml><?xml version="1.0" encoding="utf-8"?>
<a:theme xmlns:a="http://schemas.openxmlformats.org/drawingml/2006/main" name="张勇-硕士答辩">
  <a:themeElements>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张勇-硕士答辩">
      <a:majorFont>
        <a:latin typeface="Times New Roman"/>
        <a:ea typeface="宋体"/>
        <a:cs typeface=""/>
      </a:majorFont>
      <a:minorFont>
        <a:latin typeface="楷体_GB2312"/>
        <a:ea typeface="楷体_GB2312"/>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张勇-硕士答辩">
  <a:themeElements>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fontScheme name="1_张勇-硕士答辩">
      <a:majorFont>
        <a:latin typeface="Times New Roman"/>
        <a:ea typeface="宋体"/>
        <a:cs typeface=""/>
      </a:majorFont>
      <a:minorFont>
        <a:latin typeface="楷体_GB2312"/>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20000"/>
          </a:spcBef>
          <a:spcAft>
            <a:spcPct val="0"/>
          </a:spcAft>
          <a:buClrTx/>
          <a:buSzTx/>
          <a:buFontTx/>
          <a:buNone/>
          <a:tabLst/>
          <a:defRPr kumimoji="1" lang="zh-CN" altLang="en-US" sz="28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1_张勇-硕士答辩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1_张勇-硕士答辩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1_张勇-硕士答辩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1_张勇-硕士答辩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1_张勇-硕士答辩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1_张勇-硕士答辩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
      <a:clrScheme name="1_张勇-硕士答辩 8">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0000FF"/>
        </a:hlink>
        <a:folHlink>
          <a:srgbClr val="3399FF"/>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第6章_二元关系</Template>
  <TotalTime>8143</TotalTime>
  <Words>12013</Words>
  <Application>Microsoft Office PowerPoint</Application>
  <PresentationFormat>全屏显示(4:3)</PresentationFormat>
  <Paragraphs>707</Paragraphs>
  <Slides>118</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118</vt:i4>
      </vt:variant>
    </vt:vector>
  </HeadingPairs>
  <TitlesOfParts>
    <vt:vector size="130" baseType="lpstr">
      <vt:lpstr>黑体</vt:lpstr>
      <vt:lpstr>华文行楷</vt:lpstr>
      <vt:lpstr>楷体_GB2312</vt:lpstr>
      <vt:lpstr>隶书</vt:lpstr>
      <vt:lpstr>宋体</vt:lpstr>
      <vt:lpstr>Arial</vt:lpstr>
      <vt:lpstr>Cambria Math</vt:lpstr>
      <vt:lpstr>Times New Roman</vt:lpstr>
      <vt:lpstr>Wingdings</vt:lpstr>
      <vt:lpstr>Wingdings 2</vt:lpstr>
      <vt:lpstr>张勇-硕士答辩</vt:lpstr>
      <vt:lpstr>1_张勇-硕士答辩</vt:lpstr>
      <vt:lpstr>PowerPoint 演示文稿</vt:lpstr>
      <vt:lpstr>第七章 函数与特殊函数 （上）</vt:lpstr>
      <vt:lpstr>PowerPoint 演示文稿</vt:lpstr>
      <vt:lpstr>函数的基本概念</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函数的基本运算</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集合的特征函数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UESTC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汪荣贵</dc:creator>
  <cp:lastModifiedBy>Windows 用户</cp:lastModifiedBy>
  <cp:revision>340</cp:revision>
  <dcterms:created xsi:type="dcterms:W3CDTF">2008-02-21T03:51:14Z</dcterms:created>
  <dcterms:modified xsi:type="dcterms:W3CDTF">2020-09-07T02:16:48Z</dcterms:modified>
</cp:coreProperties>
</file>