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4"/>
  </p:notesMasterIdLst>
  <p:sldIdLst>
    <p:sldId id="819" r:id="rId2"/>
    <p:sldId id="674" r:id="rId3"/>
    <p:sldId id="816" r:id="rId4"/>
    <p:sldId id="786" r:id="rId5"/>
    <p:sldId id="787" r:id="rId6"/>
    <p:sldId id="788" r:id="rId7"/>
    <p:sldId id="789" r:id="rId8"/>
    <p:sldId id="790" r:id="rId9"/>
    <p:sldId id="791" r:id="rId10"/>
    <p:sldId id="792" r:id="rId11"/>
    <p:sldId id="793" r:id="rId12"/>
    <p:sldId id="794" r:id="rId13"/>
    <p:sldId id="795" r:id="rId14"/>
    <p:sldId id="796" r:id="rId15"/>
    <p:sldId id="797" r:id="rId16"/>
    <p:sldId id="798" r:id="rId17"/>
    <p:sldId id="799" r:id="rId18"/>
    <p:sldId id="800" r:id="rId19"/>
    <p:sldId id="801" r:id="rId20"/>
    <p:sldId id="802" r:id="rId21"/>
    <p:sldId id="803" r:id="rId22"/>
    <p:sldId id="804" r:id="rId23"/>
    <p:sldId id="805" r:id="rId24"/>
    <p:sldId id="806" r:id="rId25"/>
    <p:sldId id="807" r:id="rId26"/>
    <p:sldId id="808" r:id="rId27"/>
    <p:sldId id="809" r:id="rId28"/>
    <p:sldId id="810" r:id="rId29"/>
    <p:sldId id="811" r:id="rId30"/>
    <p:sldId id="812" r:id="rId31"/>
    <p:sldId id="813" r:id="rId32"/>
    <p:sldId id="814" r:id="rId33"/>
    <p:sldId id="815" r:id="rId34"/>
    <p:sldId id="817" r:id="rId35"/>
    <p:sldId id="675" r:id="rId36"/>
    <p:sldId id="676" r:id="rId37"/>
    <p:sldId id="677" r:id="rId38"/>
    <p:sldId id="612" r:id="rId39"/>
    <p:sldId id="539" r:id="rId40"/>
    <p:sldId id="738" r:id="rId41"/>
    <p:sldId id="739" r:id="rId42"/>
    <p:sldId id="740" r:id="rId43"/>
    <p:sldId id="741" r:id="rId44"/>
    <p:sldId id="742" r:id="rId45"/>
    <p:sldId id="743" r:id="rId46"/>
    <p:sldId id="744" r:id="rId47"/>
    <p:sldId id="685" r:id="rId48"/>
    <p:sldId id="695" r:id="rId49"/>
    <p:sldId id="745" r:id="rId50"/>
    <p:sldId id="692" r:id="rId51"/>
    <p:sldId id="746" r:id="rId52"/>
    <p:sldId id="747" r:id="rId53"/>
    <p:sldId id="748" r:id="rId54"/>
    <p:sldId id="749" r:id="rId55"/>
    <p:sldId id="818" r:id="rId56"/>
    <p:sldId id="686" r:id="rId57"/>
    <p:sldId id="687" r:id="rId58"/>
    <p:sldId id="688" r:id="rId59"/>
    <p:sldId id="689" r:id="rId60"/>
    <p:sldId id="693" r:id="rId61"/>
    <p:sldId id="750" r:id="rId62"/>
    <p:sldId id="751" r:id="rId63"/>
    <p:sldId id="752" r:id="rId64"/>
    <p:sldId id="698" r:id="rId65"/>
    <p:sldId id="616" r:id="rId66"/>
    <p:sldId id="621" r:id="rId67"/>
    <p:sldId id="701" r:id="rId68"/>
    <p:sldId id="702" r:id="rId69"/>
    <p:sldId id="703" r:id="rId70"/>
    <p:sldId id="704" r:id="rId71"/>
    <p:sldId id="697" r:id="rId72"/>
    <p:sldId id="705" r:id="rId73"/>
    <p:sldId id="706" r:id="rId74"/>
    <p:sldId id="622" r:id="rId75"/>
    <p:sldId id="623" r:id="rId76"/>
    <p:sldId id="624" r:id="rId77"/>
    <p:sldId id="625" r:id="rId78"/>
    <p:sldId id="626" r:id="rId79"/>
    <p:sldId id="627" r:id="rId80"/>
    <p:sldId id="628" r:id="rId81"/>
    <p:sldId id="629" r:id="rId82"/>
    <p:sldId id="715" r:id="rId83"/>
    <p:sldId id="716" r:id="rId84"/>
    <p:sldId id="717" r:id="rId85"/>
    <p:sldId id="719" r:id="rId86"/>
    <p:sldId id="718" r:id="rId87"/>
    <p:sldId id="753" r:id="rId88"/>
    <p:sldId id="754" r:id="rId89"/>
    <p:sldId id="755" r:id="rId90"/>
    <p:sldId id="720" r:id="rId91"/>
    <p:sldId id="722" r:id="rId92"/>
    <p:sldId id="707" r:id="rId93"/>
  </p:sldIdLst>
  <p:sldSz cx="9144000" cy="6858000" type="screen4x3"/>
  <p:notesSz cx="6858000" cy="9144000"/>
  <p:defaultTextStyle>
    <a:defPPr>
      <a:defRPr lang="zh-CN"/>
    </a:defPPr>
    <a:lvl1pPr algn="l" rtl="0" eaLnBrk="0" fontAlgn="base" hangingPunct="0">
      <a:spcBef>
        <a:spcPct val="0"/>
      </a:spcBef>
      <a:spcAft>
        <a:spcPct val="0"/>
      </a:spcAft>
      <a:defRPr kumimoji="1" sz="3200"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6291"/>
    <a:srgbClr val="FFCCFF"/>
    <a:srgbClr val="993366"/>
    <a:srgbClr val="990099"/>
    <a:srgbClr val="0033CC"/>
    <a:srgbClr val="FF99FF"/>
    <a:srgbClr val="006600"/>
    <a:srgbClr val="CC00FF"/>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94636" autoAdjust="0"/>
  </p:normalViewPr>
  <p:slideViewPr>
    <p:cSldViewPr>
      <p:cViewPr varScale="1">
        <p:scale>
          <a:sx n="83" d="100"/>
          <a:sy n="83" d="100"/>
        </p:scale>
        <p:origin x="1776"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kumimoji="0" sz="1200">
                <a:latin typeface="Arial" panose="020B0604020202020204" pitchFamily="34" charset="0"/>
              </a:defRPr>
            </a:lvl1pPr>
          </a:lstStyle>
          <a:p>
            <a:pPr>
              <a:defRPr/>
            </a:pPr>
            <a:endParaRPr lang="en-US" altLang="zh-CN"/>
          </a:p>
        </p:txBody>
      </p:sp>
      <p:sp>
        <p:nvSpPr>
          <p:cNvPr id="2355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kumimoji="0" sz="1200">
                <a:latin typeface="Arial" panose="020B0604020202020204" pitchFamily="34" charset="0"/>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355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spcBef>
                <a:spcPct val="0"/>
              </a:spcBef>
              <a:defRPr kumimoji="0" sz="1200">
                <a:latin typeface="Arial" panose="020B0604020202020204" pitchFamily="34" charset="0"/>
              </a:defRPr>
            </a:lvl1pPr>
          </a:lstStyle>
          <a:p>
            <a:pPr>
              <a:defRPr/>
            </a:pPr>
            <a:endParaRPr lang="en-US" altLang="zh-CN"/>
          </a:p>
        </p:txBody>
      </p:sp>
      <p:sp>
        <p:nvSpPr>
          <p:cNvPr id="2355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defRPr kumimoji="0" sz="1200">
                <a:latin typeface="Arial" panose="020B0604020202020204" pitchFamily="34" charset="0"/>
              </a:defRPr>
            </a:lvl1pPr>
          </a:lstStyle>
          <a:p>
            <a:pPr>
              <a:defRPr/>
            </a:pPr>
            <a:fld id="{1EC0CDDA-9D20-4FD7-A56A-AE963540B7A1}" type="slidenum">
              <a:rPr lang="en-US" altLang="zh-CN"/>
              <a:pPr>
                <a:defRPr/>
              </a:pPr>
              <a:t>‹#›</a:t>
            </a:fld>
            <a:endParaRPr lang="en-US" altLang="zh-CN"/>
          </a:p>
        </p:txBody>
      </p:sp>
    </p:spTree>
    <p:extLst>
      <p:ext uri="{BB962C8B-B14F-4D97-AF65-F5344CB8AC3E}">
        <p14:creationId xmlns:p14="http://schemas.microsoft.com/office/powerpoint/2010/main" val="18477145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0486E3E5-15EF-436E-A84E-7AC0C39A69CA}"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D5B2B6A7-3C4A-48BE-8EF9-8A309A055E53}" type="slidenum">
              <a:rPr lang="en-US" altLang="zh-CN"/>
              <a:pPr>
                <a:defRPr/>
              </a:pPr>
              <a:t>‹#›</a:t>
            </a:fld>
            <a:endParaRPr lang="en-US" altLang="zh-CN"/>
          </a:p>
        </p:txBody>
      </p:sp>
    </p:spTree>
    <p:extLst>
      <p:ext uri="{BB962C8B-B14F-4D97-AF65-F5344CB8AC3E}">
        <p14:creationId xmlns:p14="http://schemas.microsoft.com/office/powerpoint/2010/main" val="100159175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F4316C49-F36C-4527-BE6E-922E1B2F05C5}"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B1633920-53CA-41B5-B12D-C91B2D999AD8}" type="slidenum">
              <a:rPr lang="en-US" altLang="zh-CN"/>
              <a:pPr>
                <a:defRPr/>
              </a:pPr>
              <a:t>‹#›</a:t>
            </a:fld>
            <a:endParaRPr lang="en-US" altLang="zh-CN"/>
          </a:p>
        </p:txBody>
      </p:sp>
    </p:spTree>
    <p:extLst>
      <p:ext uri="{BB962C8B-B14F-4D97-AF65-F5344CB8AC3E}">
        <p14:creationId xmlns:p14="http://schemas.microsoft.com/office/powerpoint/2010/main" val="69606972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fld id="{9AE931DE-B77F-4B87-AD52-026894C6A933}"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484467FD-0CCE-4D79-B645-0973B7F309E6}" type="slidenum">
              <a:rPr lang="en-US" altLang="zh-CN"/>
              <a:pPr>
                <a:defRPr/>
              </a:pPr>
              <a:t>‹#›</a:t>
            </a:fld>
            <a:endParaRPr lang="en-US" altLang="zh-CN"/>
          </a:p>
        </p:txBody>
      </p:sp>
    </p:spTree>
    <p:extLst>
      <p:ext uri="{BB962C8B-B14F-4D97-AF65-F5344CB8AC3E}">
        <p14:creationId xmlns:p14="http://schemas.microsoft.com/office/powerpoint/2010/main" val="333025026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42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66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FBF83866-5DCC-4DC1-A170-1F573E027C90}"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A47AFCDC-A30C-4D17-8539-8DBFF419268E}" type="slidenum">
              <a:rPr lang="en-US" altLang="zh-CN"/>
              <a:pPr>
                <a:defRPr/>
              </a:pPr>
              <a:t>‹#›</a:t>
            </a:fld>
            <a:endParaRPr lang="en-US" altLang="zh-CN"/>
          </a:p>
        </p:txBody>
      </p:sp>
    </p:spTree>
    <p:extLst>
      <p:ext uri="{BB962C8B-B14F-4D97-AF65-F5344CB8AC3E}">
        <p14:creationId xmlns:p14="http://schemas.microsoft.com/office/powerpoint/2010/main" val="421523451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fld id="{CCBBEB74-E636-42F3-B699-B9D1670113E0}" type="datetime1">
              <a:rPr lang="zh-CN" altLang="en-US"/>
              <a:pPr>
                <a:defRPr/>
              </a:pPr>
              <a:t>2020/9/7</a:t>
            </a:fld>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7"/>
          <p:cNvSpPr>
            <a:spLocks noGrp="1" noChangeArrowheads="1"/>
          </p:cNvSpPr>
          <p:nvPr>
            <p:ph type="sldNum" sz="quarter" idx="12"/>
          </p:nvPr>
        </p:nvSpPr>
        <p:spPr>
          <a:ln/>
        </p:spPr>
        <p:txBody>
          <a:bodyPr/>
          <a:lstStyle>
            <a:lvl1pPr>
              <a:defRPr/>
            </a:lvl1pPr>
          </a:lstStyle>
          <a:p>
            <a:pPr>
              <a:defRPr/>
            </a:pPr>
            <a:fld id="{00DDCA05-312E-4743-B4AE-147FA3F17B7C}" type="slidenum">
              <a:rPr lang="en-US" altLang="zh-CN"/>
              <a:pPr>
                <a:defRPr/>
              </a:pPr>
              <a:t>‹#›</a:t>
            </a:fld>
            <a:endParaRPr lang="en-US" altLang="zh-CN"/>
          </a:p>
        </p:txBody>
      </p:sp>
    </p:spTree>
    <p:extLst>
      <p:ext uri="{BB962C8B-B14F-4D97-AF65-F5344CB8AC3E}">
        <p14:creationId xmlns:p14="http://schemas.microsoft.com/office/powerpoint/2010/main" val="15716827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fld id="{5796A3FB-1D59-4E0C-93D5-FE26FAA5171C}" type="datetime1">
              <a:rPr lang="zh-CN" altLang="en-US"/>
              <a:pPr>
                <a:defRPr/>
              </a:pPr>
              <a:t>2020/9/7</a:t>
            </a:fld>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a:ln/>
        </p:spPr>
        <p:txBody>
          <a:bodyPr/>
          <a:lstStyle>
            <a:lvl1pPr>
              <a:defRPr/>
            </a:lvl1pPr>
          </a:lstStyle>
          <a:p>
            <a:pPr>
              <a:defRPr/>
            </a:pPr>
            <a:fld id="{CB6132A0-DFDB-49FA-AE23-5E15D5ACCA02}" type="slidenum">
              <a:rPr lang="en-US" altLang="zh-CN"/>
              <a:pPr>
                <a:defRPr/>
              </a:pPr>
              <a:t>‹#›</a:t>
            </a:fld>
            <a:endParaRPr lang="en-US" altLang="zh-CN"/>
          </a:p>
        </p:txBody>
      </p:sp>
    </p:spTree>
    <p:extLst>
      <p:ext uri="{BB962C8B-B14F-4D97-AF65-F5344CB8AC3E}">
        <p14:creationId xmlns:p14="http://schemas.microsoft.com/office/powerpoint/2010/main" val="233748036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fld id="{66EC44FD-57B3-43F5-BC22-035AE5FC6F64}" type="datetime1">
              <a:rPr lang="zh-CN" altLang="en-US"/>
              <a:pPr>
                <a:defRPr/>
              </a:pPr>
              <a:t>2020/9/7</a:t>
            </a:fld>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7"/>
          <p:cNvSpPr>
            <a:spLocks noGrp="1" noChangeArrowheads="1"/>
          </p:cNvSpPr>
          <p:nvPr>
            <p:ph type="sldNum" sz="quarter" idx="12"/>
          </p:nvPr>
        </p:nvSpPr>
        <p:spPr>
          <a:ln/>
        </p:spPr>
        <p:txBody>
          <a:bodyPr/>
          <a:lstStyle>
            <a:lvl1pPr>
              <a:defRPr/>
            </a:lvl1pPr>
          </a:lstStyle>
          <a:p>
            <a:pPr>
              <a:defRPr/>
            </a:pPr>
            <a:fld id="{CC67DE5F-CC7D-489A-BBCB-2D633A361DE1}" type="slidenum">
              <a:rPr lang="en-US" altLang="zh-CN"/>
              <a:pPr>
                <a:defRPr/>
              </a:pPr>
              <a:t>‹#›</a:t>
            </a:fld>
            <a:endParaRPr lang="en-US" altLang="zh-CN"/>
          </a:p>
        </p:txBody>
      </p:sp>
    </p:spTree>
    <p:extLst>
      <p:ext uri="{BB962C8B-B14F-4D97-AF65-F5344CB8AC3E}">
        <p14:creationId xmlns:p14="http://schemas.microsoft.com/office/powerpoint/2010/main" val="283604005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60A19E29-5CD9-4AA5-8C42-2D57DCCA2DB5}"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D61AFF02-FB55-46E6-B6E5-667B91745134}" type="slidenum">
              <a:rPr lang="en-US" altLang="zh-CN"/>
              <a:pPr>
                <a:defRPr/>
              </a:pPr>
              <a:t>‹#›</a:t>
            </a:fld>
            <a:endParaRPr lang="en-US" altLang="zh-CN"/>
          </a:p>
        </p:txBody>
      </p:sp>
    </p:spTree>
    <p:extLst>
      <p:ext uri="{BB962C8B-B14F-4D97-AF65-F5344CB8AC3E}">
        <p14:creationId xmlns:p14="http://schemas.microsoft.com/office/powerpoint/2010/main" val="21893320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423F1804-6013-4920-9C87-27A0FE2F8AC2}"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D5169346-F379-47F3-B6EA-4C19D2C1DF14}" type="slidenum">
              <a:rPr lang="en-US" altLang="zh-CN"/>
              <a:pPr>
                <a:defRPr/>
              </a:pPr>
              <a:t>‹#›</a:t>
            </a:fld>
            <a:endParaRPr lang="en-US" altLang="zh-CN"/>
          </a:p>
        </p:txBody>
      </p:sp>
    </p:spTree>
    <p:extLst>
      <p:ext uri="{BB962C8B-B14F-4D97-AF65-F5344CB8AC3E}">
        <p14:creationId xmlns:p14="http://schemas.microsoft.com/office/powerpoint/2010/main" val="283411800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D3ACE343-434D-43B4-8898-D3DAB928BCB4}"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A691A458-AC6C-40FA-B5F9-547A94415D55}" type="slidenum">
              <a:rPr lang="en-US" altLang="zh-CN"/>
              <a:pPr>
                <a:defRPr/>
              </a:pPr>
              <a:t>‹#›</a:t>
            </a:fld>
            <a:endParaRPr lang="en-US" altLang="zh-CN"/>
          </a:p>
        </p:txBody>
      </p:sp>
    </p:spTree>
    <p:extLst>
      <p:ext uri="{BB962C8B-B14F-4D97-AF65-F5344CB8AC3E}">
        <p14:creationId xmlns:p14="http://schemas.microsoft.com/office/powerpoint/2010/main" val="413972021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9C4190B6-525A-49B3-AC24-22A6C17191F6}"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D8C5A534-0F01-446B-9638-60B56585DD56}" type="slidenum">
              <a:rPr lang="en-US" altLang="zh-CN"/>
              <a:pPr>
                <a:defRPr/>
              </a:pPr>
              <a:t>‹#›</a:t>
            </a:fld>
            <a:endParaRPr lang="en-US" altLang="zh-CN"/>
          </a:p>
        </p:txBody>
      </p:sp>
    </p:spTree>
    <p:extLst>
      <p:ext uri="{BB962C8B-B14F-4D97-AF65-F5344CB8AC3E}">
        <p14:creationId xmlns:p14="http://schemas.microsoft.com/office/powerpoint/2010/main" val="231818889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42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66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15F82B87-1ABE-4799-8152-C605B7EFA71E}"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DD7CCF62-EE08-483E-B5B6-52A8A593DAAF}" type="slidenum">
              <a:rPr lang="en-US" altLang="zh-CN"/>
              <a:pPr>
                <a:defRPr/>
              </a:pPr>
              <a:t>‹#›</a:t>
            </a:fld>
            <a:endParaRPr lang="en-US" altLang="zh-CN"/>
          </a:p>
        </p:txBody>
      </p:sp>
    </p:spTree>
    <p:extLst>
      <p:ext uri="{BB962C8B-B14F-4D97-AF65-F5344CB8AC3E}">
        <p14:creationId xmlns:p14="http://schemas.microsoft.com/office/powerpoint/2010/main" val="426262250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100" name="Rectangle 4"/>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01" name="Rectangle 5"/>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sz="1400" b="1">
                <a:latin typeface="+mj-lt"/>
              </a:defRPr>
            </a:lvl1pPr>
          </a:lstStyle>
          <a:p>
            <a:pPr>
              <a:defRPr/>
            </a:pPr>
            <a:fld id="{01CF6818-6D3B-4E8D-8EB9-D491E325C894}" type="datetime1">
              <a:rPr lang="zh-CN" altLang="en-US"/>
              <a:pPr>
                <a:defRPr/>
              </a:pPr>
              <a:t>2020/9/7</a:t>
            </a:fld>
            <a:endParaRPr lang="en-US" altLang="zh-CN"/>
          </a:p>
        </p:txBody>
      </p:sp>
      <p:sp>
        <p:nvSpPr>
          <p:cNvPr id="4102" name="Rectangle 6"/>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latin typeface="+mj-lt"/>
              </a:defRPr>
            </a:lvl1pPr>
          </a:lstStyle>
          <a:p>
            <a:pPr>
              <a:defRPr/>
            </a:pPr>
            <a:r>
              <a:rPr lang="zh-CN" altLang="en-US"/>
              <a:t>计算机应用技术研究所</a:t>
            </a:r>
          </a:p>
        </p:txBody>
      </p:sp>
      <p:sp>
        <p:nvSpPr>
          <p:cNvPr id="4103" name="Rectangle 7"/>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b="1">
                <a:latin typeface="+mj-lt"/>
              </a:defRPr>
            </a:lvl1pPr>
          </a:lstStyle>
          <a:p>
            <a:pPr>
              <a:defRPr/>
            </a:pPr>
            <a:fld id="{A03E913E-7798-45E2-AF74-37CF88204215}" type="slidenum">
              <a:rPr lang="en-US" altLang="zh-CN"/>
              <a:pPr>
                <a:defRPr/>
              </a:pPr>
              <a:t>‹#›</a:t>
            </a:fld>
            <a:endParaRPr lang="en-US" altLang="zh-CN"/>
          </a:p>
        </p:txBody>
      </p:sp>
      <p:pic>
        <p:nvPicPr>
          <p:cNvPr id="1031" name="Picture 10" descr="12副本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timing>
    <p:tnLst>
      <p:par>
        <p:cTn id="1" dur="indefinite" restart="never" nodeType="tmRoot"/>
      </p:par>
    </p:tnLst>
  </p:timing>
  <p:hf hd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6"/>
        </a:buBlip>
        <a:defRPr kumimoji="1"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6"/>
        </a:buBlip>
        <a:defRPr kumimoji="1" sz="2000" kern="1200">
          <a:solidFill>
            <a:schemeClr val="tx1"/>
          </a:solidFill>
          <a:latin typeface="+mj-lt"/>
          <a:ea typeface="+mj-ea"/>
          <a:cs typeface="+mn-cs"/>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120.png"/></Relationships>
</file>

<file path=ppt/slides/_rels/slide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50.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200.png"/></Relationships>
</file>

<file path=ppt/slides/_rels/slide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5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40.png"/></Relationships>
</file>

<file path=ppt/slides/_rels/slide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50.png"/></Relationships>
</file>

<file path=ppt/slides/_rels/slide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80.png"/></Relationships>
</file>

<file path=ppt/slides/_rels/slide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90.png"/></Relationships>
</file>

<file path=ppt/slides/_rels/slide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320.png"/><Relationship Id="rId5" Type="http://schemas.openxmlformats.org/officeDocument/2006/relationships/image" Target="../media/image41.png"/><Relationship Id="rId4" Type="http://schemas.openxmlformats.org/officeDocument/2006/relationships/image" Target="../media/image300.png"/></Relationships>
</file>

<file path=ppt/slides/_rels/slide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330.png"/></Relationships>
</file>

<file path=ppt/slides/_rels/slide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340.png"/></Relationships>
</file>

<file path=ppt/slides/_rels/slide6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360.png"/></Relationships>
</file>

<file path=ppt/slides/_rels/slide7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7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380.png"/></Relationships>
</file>

<file path=ppt/slides/_rels/slide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8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10.png"/></Relationships>
</file>

<file path=ppt/slides/_rels/slide8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8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8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460.png"/><Relationship Id="rId4" Type="http://schemas.openxmlformats.org/officeDocument/2006/relationships/image" Target="../media/image450.png"/></Relationships>
</file>

<file path=ppt/slides/_rels/slide8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8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490.png"/><Relationship Id="rId4" Type="http://schemas.openxmlformats.org/officeDocument/2006/relationships/image" Target="../media/image480.png"/></Relationships>
</file>

<file path=ppt/slides/_rels/slide8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50.png"/></Relationships>
</file>

<file path=ppt/slides/_rels/slide9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s>
</file>

<file path=ppt/slides/_rels/slide9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quarter" idx="10"/>
          </p:nvPr>
        </p:nvSpPr>
        <p:spPr/>
        <p:txBody>
          <a:bodyPr/>
          <a:lstStyle/>
          <a:p>
            <a:pPr>
              <a:defRPr/>
            </a:pPr>
            <a:fld id="{5A31356D-D0DE-40DC-AFDF-AD46DFB9AD64}" type="datetime1">
              <a:rPr lang="zh-CN" altLang="en-US"/>
              <a:pPr>
                <a:defRPr/>
              </a:pPr>
              <a:t>2020/9/7</a:t>
            </a:fld>
            <a:endParaRPr lang="en-US" altLang="zh-CN"/>
          </a:p>
        </p:txBody>
      </p:sp>
      <p:sp>
        <p:nvSpPr>
          <p:cNvPr id="7" name="页脚占位符 2"/>
          <p:cNvSpPr>
            <a:spLocks noGrp="1"/>
          </p:cNvSpPr>
          <p:nvPr>
            <p:ph type="ftr" sz="quarter" idx="11"/>
          </p:nvPr>
        </p:nvSpPr>
        <p:spPr/>
        <p:txBody>
          <a:bodyPr/>
          <a:lstStyle/>
          <a:p>
            <a:pPr>
              <a:defRPr/>
            </a:pPr>
            <a:r>
              <a:rPr lang="zh-CN" altLang="en-US"/>
              <a:t>计算机应用技术研究所</a:t>
            </a:r>
          </a:p>
        </p:txBody>
      </p:sp>
      <p:sp>
        <p:nvSpPr>
          <p:cNvPr id="8" name="灯片编号占位符 3"/>
          <p:cNvSpPr>
            <a:spLocks noGrp="1"/>
          </p:cNvSpPr>
          <p:nvPr>
            <p:ph type="sldNum" sz="quarter" idx="12"/>
          </p:nvPr>
        </p:nvSpPr>
        <p:spPr/>
        <p:txBody>
          <a:bodyPr/>
          <a:lstStyle/>
          <a:p>
            <a:pPr>
              <a:defRPr/>
            </a:pPr>
            <a:fld id="{E655A8CB-2FDD-4E74-9CDA-4E7F502DEE26}" type="slidenum">
              <a:rPr lang="en-US" altLang="zh-CN"/>
              <a:pPr>
                <a:defRPr/>
              </a:pPr>
              <a:t>1</a:t>
            </a:fld>
            <a:endParaRPr lang="en-US" altLang="zh-CN"/>
          </a:p>
        </p:txBody>
      </p:sp>
      <p:sp>
        <p:nvSpPr>
          <p:cNvPr id="3077" name="页脚占位符 3"/>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8D67E171-4FF2-449D-9B65-4692C8480EAD}"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23939" name="Rectangle 3"/>
          <p:cNvSpPr>
            <a:spLocks noGrp="1" noChangeArrowheads="1"/>
          </p:cNvSpPr>
          <p:nvPr>
            <p:ph type="body" idx="4294967295"/>
          </p:nvPr>
        </p:nvSpPr>
        <p:spPr>
          <a:xfrm>
            <a:off x="706438" y="1412875"/>
            <a:ext cx="7826375" cy="2514600"/>
          </a:xfrm>
        </p:spPr>
        <p:txBody>
          <a:bodyPr/>
          <a:lstStyle/>
          <a:p>
            <a:pPr marL="400050" indent="-400050" algn="ctr" eaLnBrk="1" hangingPunct="1">
              <a:buFontTx/>
              <a:buNone/>
              <a:defRPr/>
            </a:pPr>
            <a:r>
              <a:rPr lang="zh-CN" altLang="en-US" sz="8000" b="1" dirty="0" smtClean="0">
                <a:solidFill>
                  <a:schemeClr val="accent2"/>
                </a:solidFill>
                <a:effectLst/>
                <a:ea typeface="隶书" panose="02010509060101010101" pitchFamily="49" charset="-122"/>
              </a:rPr>
              <a:t>离散数学</a:t>
            </a:r>
            <a:endParaRPr lang="zh-CN" altLang="en-US" sz="6600" b="1" dirty="0" smtClean="0">
              <a:solidFill>
                <a:schemeClr val="accent2"/>
              </a:solidFill>
              <a:effectLst/>
              <a:ea typeface="隶书" panose="02010509060101010101" pitchFamily="49" charset="-122"/>
            </a:endParaRPr>
          </a:p>
          <a:p>
            <a:pPr marL="400050" indent="-400050" algn="ctr" eaLnBrk="1" hangingPunct="1">
              <a:buFontTx/>
              <a:buNone/>
              <a:defRPr/>
            </a:pPr>
            <a:r>
              <a:rPr lang="en-US" altLang="zh-CN" sz="6600" dirty="0" smtClean="0">
                <a:solidFill>
                  <a:schemeClr val="accent2"/>
                </a:solidFill>
                <a:effectLst/>
                <a:latin typeface="Times New Roman" panose="02020603050405020304" pitchFamily="18" charset="0"/>
                <a:ea typeface="华文行楷" panose="02010800040101010101" pitchFamily="2" charset="-122"/>
              </a:rPr>
              <a:t>Discrete Mathematics</a:t>
            </a:r>
            <a:r>
              <a:rPr lang="en-US" altLang="zh-CN" sz="3600" b="1" dirty="0" smtClean="0">
                <a:ea typeface="宋体" panose="02010600030101010101" pitchFamily="2" charset="-122"/>
              </a:rPr>
              <a:t> </a:t>
            </a:r>
          </a:p>
        </p:txBody>
      </p:sp>
      <p:sp>
        <p:nvSpPr>
          <p:cNvPr id="3079" name="Text Box 4"/>
          <p:cNvSpPr txBox="1">
            <a:spLocks noChangeArrowheads="1"/>
          </p:cNvSpPr>
          <p:nvPr/>
        </p:nvSpPr>
        <p:spPr bwMode="auto">
          <a:xfrm>
            <a:off x="1169988" y="4343400"/>
            <a:ext cx="6858000" cy="132959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20000"/>
              </a:spcAft>
              <a:buClr>
                <a:srgbClr val="228A88"/>
              </a:buClr>
              <a:buFont typeface="Wingdings 2" panose="05020102010507070707" pitchFamily="18" charset="2"/>
              <a:buNone/>
            </a:pPr>
            <a:r>
              <a:rPr kumimoji="0" lang="zh-CN" altLang="en-US" sz="3200" b="1" dirty="0">
                <a:latin typeface="黑体" panose="02010609060101010101" pitchFamily="49" charset="-122"/>
                <a:ea typeface="黑体" panose="02010609060101010101" pitchFamily="49" charset="-122"/>
                <a:cs typeface="Arial" panose="020B0604020202020204" pitchFamily="34" charset="0"/>
              </a:rPr>
              <a:t>杨娟</a:t>
            </a:r>
            <a:r>
              <a:rPr kumimoji="0" lang="zh-CN" altLang="en-US" sz="3200" b="1" dirty="0" smtClean="0">
                <a:latin typeface="黑体" panose="02010609060101010101" pitchFamily="49" charset="-122"/>
                <a:ea typeface="黑体" panose="02010609060101010101" pitchFamily="49" charset="-122"/>
                <a:cs typeface="Arial" panose="020B0604020202020204" pitchFamily="34" charset="0"/>
              </a:rPr>
              <a:t> 博士</a:t>
            </a:r>
            <a:endParaRPr kumimoji="0" lang="en-US" altLang="zh-CN" sz="3200" b="1" dirty="0" smtClean="0">
              <a:latin typeface="黑体" panose="02010609060101010101" pitchFamily="49" charset="-122"/>
              <a:ea typeface="黑体" panose="02010609060101010101" pitchFamily="49" charset="-122"/>
              <a:cs typeface="Arial" panose="020B0604020202020204" pitchFamily="34" charset="0"/>
            </a:endParaRPr>
          </a:p>
          <a:p>
            <a:pPr algn="ctr" eaLnBrk="1" hangingPunct="1">
              <a:spcBef>
                <a:spcPct val="50000"/>
              </a:spcBef>
              <a:spcAft>
                <a:spcPct val="20000"/>
              </a:spcAft>
              <a:buClr>
                <a:srgbClr val="228A88"/>
              </a:buClr>
              <a:buFont typeface="Wingdings 2" panose="05020102010507070707" pitchFamily="18" charset="2"/>
              <a:buNone/>
            </a:pPr>
            <a:r>
              <a:rPr kumimoji="0" lang="zh-CN" altLang="en-US" sz="2800" b="1" dirty="0" smtClean="0">
                <a:latin typeface="黑体" panose="02010609060101010101" pitchFamily="49" charset="-122"/>
                <a:ea typeface="黑体" panose="02010609060101010101" pitchFamily="49" charset="-122"/>
                <a:cs typeface="Arial" panose="020B0604020202020204" pitchFamily="34" charset="0"/>
              </a:rPr>
              <a:t>合肥工业大学</a:t>
            </a:r>
            <a:r>
              <a:rPr kumimoji="0" lang="zh-CN" altLang="en-US" sz="2800" b="1" dirty="0">
                <a:latin typeface="黑体" panose="02010609060101010101" pitchFamily="49" charset="-122"/>
                <a:ea typeface="黑体" panose="02010609060101010101" pitchFamily="49" charset="-122"/>
                <a:cs typeface="Arial" panose="020B0604020202020204" pitchFamily="34" charset="0"/>
              </a:rPr>
              <a:t>计算机与信息学院</a:t>
            </a:r>
          </a:p>
        </p:txBody>
      </p:sp>
      <p:pic>
        <p:nvPicPr>
          <p:cNvPr id="3080" name="Picture 6" descr="C:\Program Files\Microsoft Office\MEDIA\CAGCAT10\j0293844.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18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56615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5" name="页脚占位符 4"/>
          <p:cNvSpPr>
            <a:spLocks noGrp="1"/>
          </p:cNvSpPr>
          <p:nvPr>
            <p:ph type="ftr" sz="quarter" idx="11"/>
          </p:nvPr>
        </p:nvSpPr>
        <p:spPr/>
        <p:txBody>
          <a:bodyPr/>
          <a:lstStyle/>
          <a:p>
            <a:pPr>
              <a:defRPr/>
            </a:pPr>
            <a:r>
              <a:rPr lang="zh-CN" altLang="en-US"/>
              <a:t>计算机应用技术研究所</a:t>
            </a:r>
          </a:p>
        </p:txBody>
      </p:sp>
      <p:sp>
        <p:nvSpPr>
          <p:cNvPr id="6" name="灯片编号占位符 5"/>
          <p:cNvSpPr>
            <a:spLocks noGrp="1"/>
          </p:cNvSpPr>
          <p:nvPr>
            <p:ph type="sldNum" sz="quarter" idx="12"/>
          </p:nvPr>
        </p:nvSpPr>
        <p:spPr/>
        <p:txBody>
          <a:bodyPr/>
          <a:lstStyle/>
          <a:p>
            <a:pPr>
              <a:defRPr/>
            </a:pPr>
            <a:fld id="{9A18610F-0F04-4A34-95B9-57184B613E03}" type="slidenum">
              <a:rPr lang="en-US" altLang="zh-CN"/>
              <a:pPr>
                <a:defRPr/>
              </a:pPr>
              <a:t>2</a:t>
            </a:fld>
            <a:endParaRPr lang="en-US" altLang="zh-CN"/>
          </a:p>
        </p:txBody>
      </p:sp>
      <p:sp>
        <p:nvSpPr>
          <p:cNvPr id="4101" name="Rectangle 2"/>
          <p:cNvSpPr>
            <a:spLocks noGrp="1" noChangeArrowheads="1"/>
          </p:cNvSpPr>
          <p:nvPr>
            <p:ph type="ctrTitle"/>
          </p:nvPr>
        </p:nvSpPr>
        <p:spPr>
          <a:xfrm>
            <a:off x="503237" y="2447926"/>
            <a:ext cx="8137525" cy="2159000"/>
          </a:xfrm>
        </p:spPr>
        <p:txBody>
          <a:bodyPr anchor="ctr"/>
          <a:lstStyle/>
          <a:p>
            <a:pPr eaLnBrk="1" hangingPunct="1"/>
            <a:r>
              <a:rPr lang="zh-CN" altLang="en-US" sz="4800" b="1" dirty="0" smtClean="0">
                <a:solidFill>
                  <a:schemeClr val="accent2"/>
                </a:solidFill>
                <a:latin typeface="黑体" panose="02010609060101010101" pitchFamily="49" charset="-122"/>
                <a:ea typeface="黑体" panose="02010609060101010101" pitchFamily="49" charset="-122"/>
              </a:rPr>
              <a:t>第</a:t>
            </a:r>
            <a:r>
              <a:rPr lang="en-US" altLang="zh-CN" sz="4800" b="1" dirty="0" smtClean="0">
                <a:solidFill>
                  <a:schemeClr val="accent2"/>
                </a:solidFill>
                <a:latin typeface="黑体" panose="02010609060101010101" pitchFamily="49" charset="-122"/>
                <a:ea typeface="黑体" panose="02010609060101010101" pitchFamily="49" charset="-122"/>
              </a:rPr>
              <a:t>2</a:t>
            </a:r>
            <a:r>
              <a:rPr lang="zh-CN" altLang="en-US" sz="4800" b="1" dirty="0" smtClean="0">
                <a:solidFill>
                  <a:schemeClr val="accent2"/>
                </a:solidFill>
                <a:latin typeface="黑体" panose="02010609060101010101" pitchFamily="49" charset="-122"/>
                <a:ea typeface="黑体" panose="02010609060101010101" pitchFamily="49" charset="-122"/>
              </a:rPr>
              <a:t>章 整数与算法设计基础</a:t>
            </a:r>
            <a:r>
              <a:rPr lang="en-US" altLang="zh-CN" sz="4800" b="1" dirty="0" smtClean="0">
                <a:solidFill>
                  <a:schemeClr val="accent2"/>
                </a:solidFill>
                <a:latin typeface="黑体" panose="02010609060101010101" pitchFamily="49" charset="-122"/>
                <a:ea typeface="黑体" panose="02010609060101010101" pitchFamily="49" charset="-122"/>
              </a:rPr>
              <a:t/>
            </a:r>
            <a:br>
              <a:rPr lang="en-US" altLang="zh-CN" sz="4800" b="1" dirty="0" smtClean="0">
                <a:solidFill>
                  <a:schemeClr val="accent2"/>
                </a:solidFill>
                <a:latin typeface="黑体" panose="02010609060101010101" pitchFamily="49" charset="-122"/>
                <a:ea typeface="黑体" panose="02010609060101010101" pitchFamily="49" charset="-122"/>
              </a:rPr>
            </a:br>
            <a:r>
              <a:rPr lang="zh-CN" altLang="en-US" sz="4800" b="1" dirty="0" smtClean="0">
                <a:solidFill>
                  <a:schemeClr val="accent2"/>
                </a:solidFill>
                <a:latin typeface="黑体" panose="02010609060101010101" pitchFamily="49" charset="-122"/>
                <a:ea typeface="黑体" panose="02010609060101010101" pitchFamily="49" charset="-122"/>
              </a:rPr>
              <a:t>（下）</a:t>
            </a:r>
            <a:br>
              <a:rPr lang="zh-CN" altLang="en-US" sz="4800" b="1" dirty="0" smtClean="0">
                <a:solidFill>
                  <a:schemeClr val="accent2"/>
                </a:solidFill>
                <a:latin typeface="黑体" panose="02010609060101010101" pitchFamily="49" charset="-122"/>
                <a:ea typeface="黑体" panose="02010609060101010101" pitchFamily="49" charset="-122"/>
              </a:rPr>
            </a:br>
            <a:endParaRPr lang="zh-CN" altLang="en-US" sz="4800" b="1" dirty="0" smtClean="0">
              <a:solidFill>
                <a:schemeClr val="accent2"/>
              </a:solidFill>
              <a:latin typeface="黑体" panose="02010609060101010101" pitchFamily="49" charset="-122"/>
              <a:ea typeface="黑体" panose="02010609060101010101" pitchFamily="49" charset="-122"/>
            </a:endParaRPr>
          </a:p>
        </p:txBody>
      </p:sp>
      <p:pic>
        <p:nvPicPr>
          <p:cNvPr id="4102"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DB5D75E0-AF38-4A2A-B1C1-3222587388E4}"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5123" name="Group 21"/>
          <p:cNvGrpSpPr>
            <a:grpSpLocks/>
          </p:cNvGrpSpPr>
          <p:nvPr/>
        </p:nvGrpSpPr>
        <p:grpSpPr bwMode="auto">
          <a:xfrm>
            <a:off x="2411413" y="2420938"/>
            <a:ext cx="4778375" cy="3598862"/>
            <a:chOff x="1519" y="1525"/>
            <a:chExt cx="3010" cy="2267"/>
          </a:xfrm>
        </p:grpSpPr>
        <p:sp>
          <p:nvSpPr>
            <p:cNvPr id="1170441" name="AutoShape 9"/>
            <p:cNvSpPr>
              <a:spLocks noChangeArrowheads="1"/>
            </p:cNvSpPr>
            <p:nvPr/>
          </p:nvSpPr>
          <p:spPr bwMode="gray">
            <a:xfrm>
              <a:off x="1759" y="1624"/>
              <a:ext cx="2736"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a:solidFill>
                  <a:srgbClr val="FF0000"/>
                </a:solidFill>
                <a:latin typeface="黑体" pitchFamily="2" charset="-122"/>
                <a:ea typeface="黑体" pitchFamily="2" charset="-122"/>
              </a:endParaRPr>
            </a:p>
          </p:txBody>
        </p:sp>
        <p:sp>
          <p:nvSpPr>
            <p:cNvPr id="5126" name="AutoShape 10"/>
            <p:cNvSpPr>
              <a:spLocks noChangeArrowheads="1"/>
            </p:cNvSpPr>
            <p:nvPr/>
          </p:nvSpPr>
          <p:spPr bwMode="gray">
            <a:xfrm>
              <a:off x="1519" y="1525"/>
              <a:ext cx="432" cy="573"/>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27" name="Text Box 11"/>
            <p:cNvSpPr txBox="1">
              <a:spLocks noChangeArrowheads="1"/>
            </p:cNvSpPr>
            <p:nvPr/>
          </p:nvSpPr>
          <p:spPr bwMode="gray">
            <a:xfrm>
              <a:off x="1995" y="1623"/>
              <a:ext cx="233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3200" b="1" dirty="0" smtClean="0">
                  <a:latin typeface="黑体" panose="02010609060101010101" pitchFamily="49" charset="-122"/>
                  <a:ea typeface="黑体" panose="02010609060101010101" pitchFamily="49" charset="-122"/>
                </a:rPr>
                <a:t>整数的基本知识</a:t>
              </a:r>
              <a:endParaRPr kumimoji="0" lang="zh-CN" altLang="en-US" sz="3200" b="1" dirty="0">
                <a:latin typeface="黑体" panose="02010609060101010101" pitchFamily="49" charset="-122"/>
                <a:ea typeface="黑体" panose="02010609060101010101" pitchFamily="49" charset="-122"/>
              </a:endParaRPr>
            </a:p>
          </p:txBody>
        </p:sp>
        <p:sp>
          <p:nvSpPr>
            <p:cNvPr id="5128" name="Text Box 12"/>
            <p:cNvSpPr txBox="1">
              <a:spLocks noChangeArrowheads="1"/>
            </p:cNvSpPr>
            <p:nvPr/>
          </p:nvSpPr>
          <p:spPr bwMode="gray">
            <a:xfrm>
              <a:off x="1613" y="1607"/>
              <a:ext cx="22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sp>
          <p:nvSpPr>
            <p:cNvPr id="1170446" name="AutoShape 14"/>
            <p:cNvSpPr>
              <a:spLocks noChangeArrowheads="1"/>
            </p:cNvSpPr>
            <p:nvPr/>
          </p:nvSpPr>
          <p:spPr bwMode="gray">
            <a:xfrm>
              <a:off x="1759" y="2205"/>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a:solidFill>
                  <a:srgbClr val="FF0000"/>
                </a:solidFill>
                <a:latin typeface="黑体" pitchFamily="2" charset="-122"/>
                <a:ea typeface="黑体" pitchFamily="2" charset="-122"/>
              </a:endParaRPr>
            </a:p>
          </p:txBody>
        </p:sp>
        <p:sp>
          <p:nvSpPr>
            <p:cNvPr id="5130" name="AutoShape 15"/>
            <p:cNvSpPr>
              <a:spLocks noChangeArrowheads="1"/>
            </p:cNvSpPr>
            <p:nvPr/>
          </p:nvSpPr>
          <p:spPr bwMode="gray">
            <a:xfrm>
              <a:off x="1519" y="2108"/>
              <a:ext cx="432" cy="560"/>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1" name="Text Box 16"/>
            <p:cNvSpPr txBox="1">
              <a:spLocks noChangeArrowheads="1"/>
            </p:cNvSpPr>
            <p:nvPr/>
          </p:nvSpPr>
          <p:spPr bwMode="gray">
            <a:xfrm>
              <a:off x="1882" y="2204"/>
              <a:ext cx="24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3200" b="1" dirty="0">
                  <a:latin typeface="黑体" panose="02010609060101010101" pitchFamily="49" charset="-122"/>
                  <a:ea typeface="黑体" panose="02010609060101010101" pitchFamily="49" charset="-122"/>
                </a:rPr>
                <a:t>  </a:t>
              </a:r>
              <a:r>
                <a:rPr kumimoji="0" lang="zh-CN" altLang="en-US" sz="3200" b="1" dirty="0" smtClean="0">
                  <a:latin typeface="黑体" panose="02010609060101010101" pitchFamily="49" charset="-122"/>
                  <a:ea typeface="黑体" panose="02010609060101010101" pitchFamily="49" charset="-122"/>
                </a:rPr>
                <a:t>同余算术及其应用</a:t>
              </a:r>
              <a:endParaRPr kumimoji="0" lang="zh-CN" altLang="en-US" sz="2800" b="1" dirty="0">
                <a:latin typeface="黑体" panose="02010609060101010101" pitchFamily="49" charset="-122"/>
                <a:ea typeface="黑体" panose="02010609060101010101" pitchFamily="49" charset="-122"/>
              </a:endParaRPr>
            </a:p>
          </p:txBody>
        </p:sp>
        <p:sp>
          <p:nvSpPr>
            <p:cNvPr id="5132" name="Text Box 17"/>
            <p:cNvSpPr txBox="1">
              <a:spLocks noChangeArrowheads="1"/>
            </p:cNvSpPr>
            <p:nvPr/>
          </p:nvSpPr>
          <p:spPr bwMode="gray">
            <a:xfrm>
              <a:off x="1613" y="2189"/>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sp>
          <p:nvSpPr>
            <p:cNvPr id="5133" name="AutoShape 29"/>
            <p:cNvSpPr>
              <a:spLocks noChangeArrowheads="1"/>
            </p:cNvSpPr>
            <p:nvPr/>
          </p:nvSpPr>
          <p:spPr bwMode="gray">
            <a:xfrm>
              <a:off x="1793" y="3340"/>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4" name="AutoShape 30"/>
            <p:cNvSpPr>
              <a:spLocks noChangeArrowheads="1"/>
            </p:cNvSpPr>
            <p:nvPr/>
          </p:nvSpPr>
          <p:spPr bwMode="gray">
            <a:xfrm>
              <a:off x="1519" y="3248"/>
              <a:ext cx="432" cy="544"/>
            </a:xfrm>
            <a:prstGeom prst="diamond">
              <a:avLst/>
            </a:prstGeom>
            <a:solidFill>
              <a:srgbClr val="3366FF"/>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5" name="Text Box 31"/>
            <p:cNvSpPr txBox="1">
              <a:spLocks noChangeArrowheads="1"/>
            </p:cNvSpPr>
            <p:nvPr/>
          </p:nvSpPr>
          <p:spPr bwMode="gray">
            <a:xfrm>
              <a:off x="2128" y="3387"/>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smtClean="0">
                  <a:latin typeface="黑体" panose="02010609060101010101" pitchFamily="49" charset="-122"/>
                  <a:ea typeface="黑体" panose="02010609060101010101" pitchFamily="49" charset="-122"/>
                </a:rPr>
                <a:t>算法设计策略与应用</a:t>
              </a:r>
              <a:endParaRPr kumimoji="0" lang="zh-CN" altLang="en-US" sz="2800" b="1" dirty="0">
                <a:latin typeface="黑体" panose="02010609060101010101" pitchFamily="49" charset="-122"/>
                <a:ea typeface="黑体" panose="02010609060101010101" pitchFamily="49" charset="-122"/>
              </a:endParaRPr>
            </a:p>
          </p:txBody>
        </p:sp>
        <p:sp>
          <p:nvSpPr>
            <p:cNvPr id="5136" name="Text Box 32"/>
            <p:cNvSpPr txBox="1">
              <a:spLocks noChangeArrowheads="1"/>
            </p:cNvSpPr>
            <p:nvPr/>
          </p:nvSpPr>
          <p:spPr bwMode="gray">
            <a:xfrm>
              <a:off x="1613" y="3329"/>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4</a:t>
              </a:r>
            </a:p>
          </p:txBody>
        </p:sp>
        <p:sp>
          <p:nvSpPr>
            <p:cNvPr id="5137" name="AutoShape 19"/>
            <p:cNvSpPr>
              <a:spLocks noChangeArrowheads="1"/>
            </p:cNvSpPr>
            <p:nvPr/>
          </p:nvSpPr>
          <p:spPr bwMode="gray">
            <a:xfrm>
              <a:off x="1759" y="2768"/>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8" name="AutoShape 20"/>
            <p:cNvSpPr>
              <a:spLocks noChangeArrowheads="1"/>
            </p:cNvSpPr>
            <p:nvPr/>
          </p:nvSpPr>
          <p:spPr bwMode="gray">
            <a:xfrm>
              <a:off x="1519" y="2671"/>
              <a:ext cx="432" cy="561"/>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9" name="Text Box 21"/>
            <p:cNvSpPr txBox="1">
              <a:spLocks noChangeArrowheads="1"/>
            </p:cNvSpPr>
            <p:nvPr/>
          </p:nvSpPr>
          <p:spPr bwMode="gray">
            <a:xfrm>
              <a:off x="1944" y="2762"/>
              <a:ext cx="243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ea typeface="黑体" panose="02010609060101010101" pitchFamily="49" charset="-122"/>
                </a:rPr>
                <a:t> </a:t>
              </a:r>
              <a:r>
                <a:rPr kumimoji="0" lang="zh-CN" altLang="en-US" sz="2800" b="1" dirty="0" smtClean="0">
                  <a:latin typeface="黑体" panose="02010609060101010101" pitchFamily="49" charset="-122"/>
                  <a:ea typeface="黑体" panose="02010609060101010101" pitchFamily="49" charset="-122"/>
                </a:rPr>
                <a:t>算法设计的基本知识</a:t>
              </a:r>
              <a:endParaRPr kumimoji="0" lang="zh-CN" altLang="en-US" sz="2800" b="1" dirty="0">
                <a:latin typeface="黑体" panose="02010609060101010101" pitchFamily="49" charset="-122"/>
                <a:ea typeface="黑体" panose="02010609060101010101" pitchFamily="49" charset="-122"/>
              </a:endParaRPr>
            </a:p>
          </p:txBody>
        </p:sp>
        <p:sp>
          <p:nvSpPr>
            <p:cNvPr id="5140" name="Text Box 22"/>
            <p:cNvSpPr txBox="1">
              <a:spLocks noChangeArrowheads="1"/>
            </p:cNvSpPr>
            <p:nvPr/>
          </p:nvSpPr>
          <p:spPr bwMode="gray">
            <a:xfrm>
              <a:off x="1613" y="2751"/>
              <a:ext cx="22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grpSp>
      <p:sp>
        <p:nvSpPr>
          <p:cNvPr id="5124"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endParaRPr lang="zh-CN" altLang="en-US" sz="32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742012597"/>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DE9C64A9-2074-4949-93C4-A6BDE0796C3F}"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307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307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E7EAA229-2C22-4E1C-91B4-824F0B4B8892}"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4</a:t>
            </a:fld>
            <a:endParaRPr lang="en-US" altLang="zh-CN" sz="1400" b="1">
              <a:latin typeface="Times New Roman" panose="02020603050405020304" pitchFamily="18" charset="0"/>
              <a:ea typeface="宋体" panose="02010600030101010101" pitchFamily="2" charset="-122"/>
            </a:endParaRPr>
          </a:p>
        </p:txBody>
      </p:sp>
      <p:sp>
        <p:nvSpPr>
          <p:cNvPr id="3077" name="Rectangle 4"/>
          <p:cNvSpPr>
            <a:spLocks noGrp="1" noChangeArrowheads="1"/>
          </p:cNvSpPr>
          <p:nvPr>
            <p:ph type="ctrTitle" idx="4294967295"/>
          </p:nvPr>
        </p:nvSpPr>
        <p:spPr>
          <a:xfrm>
            <a:off x="1042988" y="2565400"/>
            <a:ext cx="7702550" cy="1655763"/>
          </a:xfrm>
          <a:solidFill>
            <a:srgbClr val="0000FF"/>
          </a:solidFill>
        </p:spPr>
        <p:txBody>
          <a:bodyPr/>
          <a:lstStyle/>
          <a:p>
            <a:pPr eaLnBrk="1" hangingPunct="1"/>
            <a:r>
              <a:rPr lang="zh-CN" altLang="en-US" sz="6000" b="1" dirty="0">
                <a:solidFill>
                  <a:schemeClr val="bg1"/>
                </a:solidFill>
              </a:rPr>
              <a:t>算法</a:t>
            </a:r>
            <a:r>
              <a:rPr lang="zh-CN" altLang="en-US" sz="6000" b="1" dirty="0" smtClean="0">
                <a:solidFill>
                  <a:schemeClr val="bg1"/>
                </a:solidFill>
              </a:rPr>
              <a:t>设计的基本知识</a:t>
            </a:r>
          </a:p>
        </p:txBody>
      </p:sp>
      <p:pic>
        <p:nvPicPr>
          <p:cNvPr id="3078"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61214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331913" y="1001713"/>
            <a:ext cx="62722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4000" b="1" dirty="0" smtClean="0">
                <a:solidFill>
                  <a:schemeClr val="bg1"/>
                </a:solidFill>
                <a:latin typeface="宋体" panose="02010600030101010101" pitchFamily="2" charset="-122"/>
                <a:ea typeface="宋体" panose="02010600030101010101" pitchFamily="2" charset="-122"/>
              </a:rPr>
              <a:t>算法设计的</a:t>
            </a:r>
            <a:r>
              <a:rPr lang="zh-CN" altLang="en-US" sz="4000" b="1" dirty="0">
                <a:solidFill>
                  <a:schemeClr val="bg1"/>
                </a:solidFill>
                <a:latin typeface="宋体" panose="02010600030101010101" pitchFamily="2" charset="-122"/>
                <a:ea typeface="宋体" panose="02010600030101010101" pitchFamily="2" charset="-122"/>
              </a:rPr>
              <a:t>基本知识</a:t>
            </a:r>
          </a:p>
        </p:txBody>
      </p:sp>
      <p:sp>
        <p:nvSpPr>
          <p:cNvPr id="7171" name="Rectangle 3"/>
          <p:cNvSpPr>
            <a:spLocks noGrp="1" noChangeArrowheads="1"/>
          </p:cNvSpPr>
          <p:nvPr>
            <p:ph type="body" sz="half" idx="1"/>
          </p:nvPr>
        </p:nvSpPr>
        <p:spPr>
          <a:xfrm>
            <a:off x="2266950" y="2708275"/>
            <a:ext cx="5400675" cy="2665413"/>
          </a:xfrm>
          <a:noFill/>
        </p:spPr>
        <p:txBody>
          <a:bodyPr lIns="92075" tIns="46038" rIns="92075" bIns="46038"/>
          <a:lstStyle/>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算法的基本概念</a:t>
            </a:r>
            <a:endParaRPr lang="en-US" altLang="zh-CN" sz="3600" b="1" dirty="0" smtClean="0">
              <a:solidFill>
                <a:schemeClr val="accent2"/>
              </a:solidFill>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算法效率的度量</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算法设计应用举例</a:t>
            </a:r>
          </a:p>
        </p:txBody>
      </p:sp>
      <p:pic>
        <p:nvPicPr>
          <p:cNvPr id="717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8390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a:xfrm>
            <a:off x="6588125" y="6400800"/>
            <a:ext cx="1905000" cy="457200"/>
          </a:xfrm>
        </p:spPr>
        <p:txBody>
          <a:bodyPr/>
          <a:lstStyle/>
          <a:p>
            <a:pPr>
              <a:defRPr/>
            </a:pPr>
            <a:fld id="{6C668849-5919-4230-A020-E747D8C36B84}" type="slidenum">
              <a:rPr lang="en-US" altLang="zh-CN"/>
              <a:pPr>
                <a:defRPr/>
              </a:pPr>
              <a:t>6</a:t>
            </a:fld>
            <a:endParaRPr lang="en-US" altLang="zh-CN"/>
          </a:p>
        </p:txBody>
      </p:sp>
      <p:sp>
        <p:nvSpPr>
          <p:cNvPr id="5125" name="Text Box 2"/>
          <p:cNvSpPr txBox="1">
            <a:spLocks noChangeArrowheads="1"/>
          </p:cNvSpPr>
          <p:nvPr/>
        </p:nvSpPr>
        <p:spPr bwMode="auto">
          <a:xfrm>
            <a:off x="1468438" y="836613"/>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cs typeface="Arial" panose="020B0604020202020204" pitchFamily="34" charset="0"/>
              </a:rPr>
              <a:t>算法的概念</a:t>
            </a:r>
            <a:endParaRPr lang="zh-CN" altLang="en-US" sz="5400" b="1"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512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865087" y="2039878"/>
            <a:ext cx="7243483" cy="1607206"/>
          </a:xfrm>
          <a:prstGeom prst="rect">
            <a:avLst/>
          </a:prstGeom>
        </p:spPr>
      </p:pic>
      <p:sp>
        <p:nvSpPr>
          <p:cNvPr id="3" name="文本框 2"/>
          <p:cNvSpPr txBox="1"/>
          <p:nvPr/>
        </p:nvSpPr>
        <p:spPr>
          <a:xfrm>
            <a:off x="773699" y="4009996"/>
            <a:ext cx="7596602" cy="1938992"/>
          </a:xfrm>
          <a:prstGeom prst="rect">
            <a:avLst/>
          </a:prstGeom>
          <a:gradFill flip="none" rotWithShape="1">
            <a:gsLst>
              <a:gs pos="0">
                <a:schemeClr val="accent2">
                  <a:lumMod val="40000"/>
                  <a:lumOff val="60000"/>
                </a:schemeClr>
              </a:gs>
              <a:gs pos="48000">
                <a:schemeClr val="accent3">
                  <a:lumMod val="97000"/>
                  <a:lumOff val="3000"/>
                </a:schemeClr>
              </a:gs>
              <a:gs pos="100000">
                <a:schemeClr val="accent3">
                  <a:lumMod val="60000"/>
                  <a:lumOff val="40000"/>
                </a:schemeClr>
              </a:gs>
            </a:gsLst>
            <a:lin ang="16200000" scaled="1"/>
            <a:tileRect/>
          </a:gradFill>
        </p:spPr>
        <p:txBody>
          <a:bodyPr wrap="square" rtlCol="0">
            <a:spAutoFit/>
          </a:bodyPr>
          <a:lstStyle/>
          <a:p>
            <a:r>
              <a:rPr lang="zh-CN" altLang="zh-CN" sz="2400" dirty="0"/>
              <a:t>计算机是处理数据并将数据转化为有用信息的电子设备。任何计算机都由程序指令控制，程序指令规定计算机的用途，并告诉计算机需要完成的工作。因此，要使计算机工作就需要编写计算机程序，告诉计算机如何按照步骤执行程序，以实现最终目标。</a:t>
            </a:r>
            <a:endParaRPr lang="zh-CN" altLang="en-US" sz="2400" dirty="0"/>
          </a:p>
        </p:txBody>
      </p:sp>
    </p:spTree>
    <p:extLst>
      <p:ext uri="{BB962C8B-B14F-4D97-AF65-F5344CB8AC3E}">
        <p14:creationId xmlns:p14="http://schemas.microsoft.com/office/powerpoint/2010/main" val="3695431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52A9C452-EB01-4112-998D-1A68437AC1D8}" type="slidenum">
              <a:rPr lang="en-US" altLang="zh-CN"/>
              <a:pPr>
                <a:defRPr/>
              </a:pPr>
              <a:t>7</a:t>
            </a:fld>
            <a:endParaRPr lang="en-US" altLang="zh-CN"/>
          </a:p>
        </p:txBody>
      </p:sp>
      <p:sp>
        <p:nvSpPr>
          <p:cNvPr id="6149"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cs typeface="Arial" panose="020B0604020202020204" pitchFamily="34" charset="0"/>
              </a:rPr>
              <a:t>算法的概念</a:t>
            </a:r>
            <a:endParaRPr lang="zh-CN" altLang="en-US" sz="5400" b="1"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615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横卷形 3"/>
          <p:cNvSpPr/>
          <p:nvPr/>
        </p:nvSpPr>
        <p:spPr bwMode="auto">
          <a:xfrm>
            <a:off x="684213" y="1988840"/>
            <a:ext cx="7810499" cy="3888432"/>
          </a:xfrm>
          <a:prstGeom prst="horizontalScroll">
            <a:avLst/>
          </a:prstGeom>
          <a:solidFill>
            <a:schemeClr val="accent5">
              <a:lumMod val="40000"/>
              <a:lumOff val="6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3" name="文本框 2"/>
          <p:cNvSpPr txBox="1"/>
          <p:nvPr/>
        </p:nvSpPr>
        <p:spPr>
          <a:xfrm>
            <a:off x="1187624" y="2708920"/>
            <a:ext cx="6989762" cy="2677656"/>
          </a:xfrm>
          <a:prstGeom prst="rect">
            <a:avLst/>
          </a:prstGeom>
          <a:noFill/>
        </p:spPr>
        <p:txBody>
          <a:bodyPr wrap="square" rtlCol="0">
            <a:spAutoFit/>
          </a:bodyPr>
          <a:lstStyle/>
          <a:p>
            <a:r>
              <a:rPr lang="zh-CN" altLang="zh-CN" sz="2400" dirty="0" smtClean="0">
                <a:latin typeface="华文行楷" panose="02010800040101010101" pitchFamily="2" charset="-122"/>
                <a:ea typeface="华文行楷" panose="02010800040101010101" pitchFamily="2" charset="-122"/>
              </a:rPr>
              <a:t>从</a:t>
            </a:r>
            <a:r>
              <a:rPr lang="zh-CN" altLang="zh-CN" sz="2400" dirty="0">
                <a:solidFill>
                  <a:schemeClr val="accent2">
                    <a:lumMod val="60000"/>
                    <a:lumOff val="40000"/>
                  </a:schemeClr>
                </a:solidFill>
                <a:latin typeface="华文行楷" panose="02010800040101010101" pitchFamily="2" charset="-122"/>
                <a:ea typeface="华文行楷" panose="02010800040101010101" pitchFamily="2" charset="-122"/>
              </a:rPr>
              <a:t>广义上</a:t>
            </a:r>
            <a:r>
              <a:rPr lang="zh-CN" altLang="zh-CN" sz="2400" dirty="0">
                <a:latin typeface="华文行楷" panose="02010800040101010101" pitchFamily="2" charset="-122"/>
                <a:ea typeface="华文行楷" panose="02010800040101010101" pitchFamily="2" charset="-122"/>
              </a:rPr>
              <a:t>讲，算法是指通过运算的方式按照某种机械的步骤逐步实现对问题的求解，从这个角度看，现实生活中的很多工作流程都可以看成是算法，例如烧菜的菜谱、理发的流程等，都可以叫算法。从</a:t>
            </a:r>
            <a:r>
              <a:rPr lang="zh-CN" altLang="zh-CN" sz="2400" dirty="0">
                <a:solidFill>
                  <a:srgbClr val="FF0000"/>
                </a:solidFill>
                <a:latin typeface="华文行楷" panose="02010800040101010101" pitchFamily="2" charset="-122"/>
                <a:ea typeface="华文行楷" panose="02010800040101010101" pitchFamily="2" charset="-122"/>
              </a:rPr>
              <a:t>狭义上</a:t>
            </a:r>
            <a:r>
              <a:rPr lang="zh-CN" altLang="zh-CN" sz="2400" dirty="0">
                <a:latin typeface="华文行楷" panose="02010800040101010101" pitchFamily="2" charset="-122"/>
                <a:ea typeface="华文行楷" panose="02010800040101010101" pitchFamily="2" charset="-122"/>
              </a:rPr>
              <a:t>讲，算法是一个由已知推求未知的过程，对于符合一定规范的输入，它能够在有限的时间内获得所需的输出。</a:t>
            </a:r>
            <a:endParaRPr lang="zh-CN" altLang="en-US"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21314340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F3CF3E35-02D6-4E41-ADFB-3736C99E4BB1}" type="slidenum">
              <a:rPr lang="en-US" altLang="zh-CN"/>
              <a:pPr>
                <a:defRPr/>
              </a:pPr>
              <a:t>8</a:t>
            </a:fld>
            <a:endParaRPr lang="en-US" altLang="zh-CN"/>
          </a:p>
        </p:txBody>
      </p:sp>
      <p:sp>
        <p:nvSpPr>
          <p:cNvPr id="7173"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cs typeface="Arial" panose="020B0604020202020204" pitchFamily="34" charset="0"/>
              </a:rPr>
              <a:t>算法的基本性质</a:t>
            </a:r>
            <a:endParaRPr lang="zh-CN" altLang="en-US" sz="5400" b="1"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717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流程图: 延期 2"/>
          <p:cNvSpPr/>
          <p:nvPr/>
        </p:nvSpPr>
        <p:spPr bwMode="auto">
          <a:xfrm>
            <a:off x="1113384" y="2060848"/>
            <a:ext cx="7344816" cy="3817143"/>
          </a:xfrm>
          <a:prstGeom prst="flowChartDelay">
            <a:avLst/>
          </a:prstGeom>
          <a:solidFill>
            <a:srgbClr val="9933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1187622" y="2384798"/>
            <a:ext cx="6696745" cy="3046988"/>
          </a:xfrm>
          <a:prstGeom prst="rect">
            <a:avLst/>
          </a:prstGeom>
          <a:noFill/>
        </p:spPr>
        <p:txBody>
          <a:bodyPr wrap="square" rtlCol="0">
            <a:spAutoFit/>
          </a:bodyPr>
          <a:lstStyle/>
          <a:p>
            <a:pPr marL="180000" lvl="0" indent="-180000">
              <a:buFont typeface="+mj-lt"/>
              <a:buAutoNum type="arabicPeriod"/>
            </a:pPr>
            <a:r>
              <a:rPr lang="zh-CN" altLang="zh-CN" sz="1600" b="1" dirty="0">
                <a:solidFill>
                  <a:schemeClr val="bg1"/>
                </a:solidFill>
              </a:rPr>
              <a:t>有穷性</a:t>
            </a:r>
            <a:r>
              <a:rPr lang="zh-CN" altLang="zh-CN" sz="1600" dirty="0">
                <a:solidFill>
                  <a:schemeClr val="bg1"/>
                </a:solidFill>
              </a:rPr>
              <a:t>：算法中每条指令的执行次数和时间均有限。执行</a:t>
            </a:r>
            <a:r>
              <a:rPr lang="zh-CN" altLang="zh-CN" sz="1600" dirty="0" smtClean="0">
                <a:solidFill>
                  <a:schemeClr val="bg1"/>
                </a:solidFill>
              </a:rPr>
              <a:t>次数</a:t>
            </a:r>
            <a:endParaRPr lang="en-US" altLang="zh-CN" sz="1600" dirty="0" smtClean="0">
              <a:solidFill>
                <a:schemeClr val="bg1"/>
              </a:solidFill>
            </a:endParaRPr>
          </a:p>
          <a:p>
            <a:pPr lvl="0"/>
            <a:r>
              <a:rPr lang="zh-CN" altLang="zh-CN" sz="1600" dirty="0" smtClean="0">
                <a:solidFill>
                  <a:schemeClr val="bg1"/>
                </a:solidFill>
              </a:rPr>
              <a:t>或</a:t>
            </a:r>
            <a:r>
              <a:rPr lang="zh-CN" altLang="zh-CN" sz="1600" dirty="0">
                <a:solidFill>
                  <a:schemeClr val="bg1"/>
                </a:solidFill>
              </a:rPr>
              <a:t>执行时间无穷的算法，对实际生产生活几乎没有意义，而且还会</a:t>
            </a:r>
            <a:r>
              <a:rPr lang="zh-CN" altLang="zh-CN" sz="1600" dirty="0" smtClean="0">
                <a:solidFill>
                  <a:schemeClr val="bg1"/>
                </a:solidFill>
              </a:rPr>
              <a:t>造成</a:t>
            </a:r>
            <a:endParaRPr lang="en-US" altLang="zh-CN" sz="1600" dirty="0" smtClean="0">
              <a:solidFill>
                <a:schemeClr val="bg1"/>
              </a:solidFill>
            </a:endParaRPr>
          </a:p>
          <a:p>
            <a:pPr lvl="0"/>
            <a:r>
              <a:rPr lang="zh-CN" altLang="zh-CN" sz="1600" dirty="0" smtClean="0">
                <a:solidFill>
                  <a:schemeClr val="bg1"/>
                </a:solidFill>
              </a:rPr>
              <a:t>资源</a:t>
            </a:r>
            <a:r>
              <a:rPr lang="zh-CN" altLang="zh-CN" sz="1600" dirty="0">
                <a:solidFill>
                  <a:schemeClr val="bg1"/>
                </a:solidFill>
              </a:rPr>
              <a:t>浪费。</a:t>
            </a:r>
          </a:p>
          <a:p>
            <a:pPr marL="180000" lvl="0" indent="-180000">
              <a:buFont typeface="+mj-lt"/>
              <a:buAutoNum type="arabicPeriod" startAt="2"/>
            </a:pPr>
            <a:r>
              <a:rPr lang="zh-CN" altLang="zh-CN" sz="1600" b="1" dirty="0">
                <a:solidFill>
                  <a:schemeClr val="bg1"/>
                </a:solidFill>
              </a:rPr>
              <a:t>确定性</a:t>
            </a:r>
            <a:r>
              <a:rPr lang="zh-CN" altLang="zh-CN" sz="1600" dirty="0">
                <a:solidFill>
                  <a:schemeClr val="bg1"/>
                </a:solidFill>
              </a:rPr>
              <a:t>：对算法的描述必须无歧义，以保证算法执行结果是确定的，且符合要求和期望。如果算法对于同样的输入，在相同环境下产生不确定的结果，则是不能接受的。</a:t>
            </a:r>
          </a:p>
          <a:p>
            <a:pPr marL="180000" lvl="0" indent="-180000">
              <a:buFont typeface="+mj-lt"/>
              <a:buAutoNum type="arabicPeriod" startAt="3"/>
            </a:pPr>
            <a:r>
              <a:rPr lang="zh-CN" altLang="zh-CN" sz="1600" b="1" dirty="0">
                <a:solidFill>
                  <a:schemeClr val="bg1"/>
                </a:solidFill>
              </a:rPr>
              <a:t>输入</a:t>
            </a:r>
            <a:r>
              <a:rPr lang="zh-CN" altLang="zh-CN" sz="1600" dirty="0">
                <a:solidFill>
                  <a:schemeClr val="bg1"/>
                </a:solidFill>
              </a:rPr>
              <a:t>：一个算法有</a:t>
            </a:r>
            <a:r>
              <a:rPr lang="en-US" altLang="zh-CN" sz="1600" dirty="0">
                <a:solidFill>
                  <a:schemeClr val="bg1"/>
                </a:solidFill>
              </a:rPr>
              <a:t>0</a:t>
            </a:r>
            <a:r>
              <a:rPr lang="zh-CN" altLang="zh-CN" sz="1600" dirty="0">
                <a:solidFill>
                  <a:schemeClr val="bg1"/>
                </a:solidFill>
              </a:rPr>
              <a:t>个或多个输入，以确定运算对象的初始情况。所谓</a:t>
            </a:r>
            <a:r>
              <a:rPr lang="en-US" altLang="zh-CN" sz="1600" dirty="0">
                <a:solidFill>
                  <a:schemeClr val="bg1"/>
                </a:solidFill>
              </a:rPr>
              <a:t>0</a:t>
            </a:r>
            <a:r>
              <a:rPr lang="zh-CN" altLang="zh-CN" sz="1600" dirty="0">
                <a:solidFill>
                  <a:schemeClr val="bg1"/>
                </a:solidFill>
              </a:rPr>
              <a:t>个输入是指算法本身给定了初始条件。</a:t>
            </a:r>
          </a:p>
          <a:p>
            <a:pPr marL="180000" lvl="0" indent="-180000">
              <a:buFont typeface="+mj-lt"/>
              <a:buAutoNum type="arabicPeriod" startAt="3"/>
            </a:pPr>
            <a:r>
              <a:rPr lang="zh-CN" altLang="zh-CN" sz="1600" b="1" dirty="0">
                <a:solidFill>
                  <a:schemeClr val="bg1"/>
                </a:solidFill>
              </a:rPr>
              <a:t>输出</a:t>
            </a:r>
            <a:r>
              <a:rPr lang="zh-CN" altLang="zh-CN" sz="1600" dirty="0">
                <a:solidFill>
                  <a:schemeClr val="bg1"/>
                </a:solidFill>
              </a:rPr>
              <a:t>：一个算法有一个或多个输出，以反映对输入数据加工后的结果。没有输出的算法是毫无意义的。</a:t>
            </a:r>
          </a:p>
          <a:p>
            <a:pPr marL="180000" indent="-180000">
              <a:buFont typeface="+mj-lt"/>
              <a:buAutoNum type="arabicPeriod" startAt="3"/>
            </a:pPr>
            <a:r>
              <a:rPr lang="en-US" altLang="zh-CN" sz="1600" b="1" dirty="0">
                <a:solidFill>
                  <a:schemeClr val="bg1"/>
                </a:solidFill>
              </a:rPr>
              <a:t> </a:t>
            </a:r>
            <a:r>
              <a:rPr lang="zh-CN" altLang="zh-CN" sz="1600" b="1" dirty="0">
                <a:solidFill>
                  <a:schemeClr val="bg1"/>
                </a:solidFill>
              </a:rPr>
              <a:t>可行性</a:t>
            </a:r>
            <a:r>
              <a:rPr lang="zh-CN" altLang="zh-CN" sz="1600" dirty="0">
                <a:solidFill>
                  <a:schemeClr val="bg1"/>
                </a:solidFill>
              </a:rPr>
              <a:t>：算法中有待实现的运算都是基本运算，算法原则上要能够精确地运行，且人们用笔和纸做有限次运算后就可以完成。</a:t>
            </a:r>
            <a:endParaRPr lang="zh-CN" altLang="en-US" sz="1600" dirty="0">
              <a:solidFill>
                <a:schemeClr val="bg1"/>
              </a:solidFill>
            </a:endParaRPr>
          </a:p>
        </p:txBody>
      </p:sp>
    </p:spTree>
    <p:extLst>
      <p:ext uri="{BB962C8B-B14F-4D97-AF65-F5344CB8AC3E}">
        <p14:creationId xmlns:p14="http://schemas.microsoft.com/office/powerpoint/2010/main" val="2515965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7DF900AA-D3C6-4FB9-942A-1761A4B53103}" type="slidenum">
              <a:rPr lang="en-US" altLang="zh-CN"/>
              <a:pPr>
                <a:defRPr/>
              </a:pPr>
              <a:t>9</a:t>
            </a:fld>
            <a:endParaRPr lang="en-US" altLang="zh-CN"/>
          </a:p>
        </p:txBody>
      </p:sp>
      <p:sp>
        <p:nvSpPr>
          <p:cNvPr id="8197"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cs typeface="Arial" panose="020B0604020202020204" pitchFamily="34" charset="0"/>
              </a:rPr>
              <a:t>算法的基本要素</a:t>
            </a:r>
            <a:endParaRPr lang="zh-CN" altLang="en-US" sz="5400" b="1"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81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流程图: 文档 2"/>
          <p:cNvSpPr/>
          <p:nvPr/>
        </p:nvSpPr>
        <p:spPr bwMode="auto">
          <a:xfrm>
            <a:off x="1147651" y="1958534"/>
            <a:ext cx="6840760" cy="4222861"/>
          </a:xfrm>
          <a:prstGeom prst="flowChartDocument">
            <a:avLst/>
          </a:prstGeom>
          <a:solidFill>
            <a:srgbClr val="FFFFCC"/>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1158547" y="2091068"/>
            <a:ext cx="6912768" cy="3801041"/>
          </a:xfrm>
          <a:prstGeom prst="rect">
            <a:avLst/>
          </a:prstGeom>
          <a:noFill/>
        </p:spPr>
        <p:txBody>
          <a:bodyPr wrap="square" rtlCol="0">
            <a:spAutoFit/>
          </a:bodyPr>
          <a:lstStyle/>
          <a:p>
            <a:pPr marL="400050" lvl="0" indent="-400050">
              <a:buFont typeface="+mj-lt"/>
              <a:buAutoNum type="romanUcPeriod"/>
            </a:pPr>
            <a:r>
              <a:rPr lang="zh-CN" altLang="zh-CN" sz="1800" b="1" dirty="0">
                <a:effectLst>
                  <a:outerShdw blurRad="38100" dist="38100" dir="2700000" algn="tl">
                    <a:srgbClr val="000000">
                      <a:alpha val="43137"/>
                    </a:srgbClr>
                  </a:outerShdw>
                </a:effectLst>
              </a:rPr>
              <a:t>基本运算和操作</a:t>
            </a:r>
            <a:endParaRPr lang="zh-CN" altLang="zh-CN" sz="1800" dirty="0">
              <a:effectLst>
                <a:outerShdw blurRad="38100" dist="38100" dir="2700000" algn="tl">
                  <a:srgbClr val="000000">
                    <a:alpha val="43137"/>
                  </a:srgbClr>
                </a:outerShdw>
              </a:effectLst>
            </a:endParaRPr>
          </a:p>
          <a:p>
            <a:r>
              <a:rPr lang="zh-CN" altLang="zh-CN" sz="1700" dirty="0"/>
              <a:t>算法的实现形式有多种，但是这些实现形式都具有相同的基本运算和操作</a:t>
            </a:r>
            <a:r>
              <a:rPr lang="zh-CN" altLang="zh-CN" sz="1700" dirty="0" smtClean="0"/>
              <a:t>。</a:t>
            </a:r>
            <a:endParaRPr lang="en-US" altLang="zh-CN" sz="1700" dirty="0" smtClean="0"/>
          </a:p>
          <a:p>
            <a:r>
              <a:rPr lang="zh-CN" altLang="zh-CN" sz="1700" dirty="0" smtClean="0"/>
              <a:t>算术运算</a:t>
            </a:r>
            <a:r>
              <a:rPr lang="zh-CN" altLang="zh-CN" sz="1700" dirty="0"/>
              <a:t>：加减乘除等运算；关系运算：大于、小于、等于、不等于等运算；</a:t>
            </a:r>
          </a:p>
          <a:p>
            <a:r>
              <a:rPr lang="zh-CN" altLang="zh-CN" sz="1700" dirty="0"/>
              <a:t>逻辑运算：或、与、非等运算；数据操作：输入、输出、赋值等运算。</a:t>
            </a:r>
          </a:p>
          <a:p>
            <a:pPr marL="400050" lvl="0" indent="-400050">
              <a:buFont typeface="+mj-lt"/>
              <a:buAutoNum type="romanUcPeriod" startAt="2"/>
            </a:pPr>
            <a:r>
              <a:rPr lang="zh-CN" altLang="zh-CN" sz="1800" b="1" dirty="0">
                <a:effectLst>
                  <a:outerShdw blurRad="38100" dist="38100" dir="2700000" algn="tl">
                    <a:srgbClr val="000000">
                      <a:alpha val="43137"/>
                    </a:srgbClr>
                  </a:outerShdw>
                </a:effectLst>
              </a:rPr>
              <a:t>控制结构</a:t>
            </a:r>
            <a:endParaRPr lang="zh-CN" altLang="zh-CN" sz="1800" dirty="0">
              <a:effectLst>
                <a:outerShdw blurRad="38100" dist="38100" dir="2700000" algn="tl">
                  <a:srgbClr val="000000">
                    <a:alpha val="43137"/>
                  </a:srgbClr>
                </a:outerShdw>
              </a:effectLst>
            </a:endParaRPr>
          </a:p>
          <a:p>
            <a:r>
              <a:rPr lang="zh-CN" altLang="zh-CN" sz="1700" dirty="0" smtClean="0"/>
              <a:t>算法</a:t>
            </a:r>
            <a:r>
              <a:rPr lang="zh-CN" altLang="zh-CN" sz="1700" dirty="0"/>
              <a:t>的控制结构确定了算法的基本框架，决定着各个操作的执行顺序。算法控制结构有三种，即顺序结构、选择结构和循环结构。</a:t>
            </a:r>
          </a:p>
          <a:p>
            <a:pPr marL="400050" lvl="0" indent="-400050">
              <a:buFont typeface="+mj-lt"/>
              <a:buAutoNum type="romanUcPeriod" startAt="3"/>
            </a:pPr>
            <a:r>
              <a:rPr lang="zh-CN" altLang="zh-CN" sz="1800" b="1" dirty="0">
                <a:effectLst>
                  <a:outerShdw blurRad="38100" dist="38100" dir="2700000" algn="tl">
                    <a:srgbClr val="000000">
                      <a:alpha val="43137"/>
                    </a:srgbClr>
                  </a:outerShdw>
                </a:effectLst>
              </a:rPr>
              <a:t>数据结构</a:t>
            </a:r>
            <a:endParaRPr lang="zh-CN" altLang="zh-CN" sz="1800" dirty="0">
              <a:effectLst>
                <a:outerShdw blurRad="38100" dist="38100" dir="2700000" algn="tl">
                  <a:srgbClr val="000000">
                    <a:alpha val="43137"/>
                  </a:srgbClr>
                </a:outerShdw>
              </a:effectLst>
            </a:endParaRPr>
          </a:p>
          <a:p>
            <a:r>
              <a:rPr lang="zh-CN" altLang="zh-CN" sz="1700" dirty="0"/>
              <a:t>在计算机领域，算法的操作对象是数据</a:t>
            </a:r>
            <a:r>
              <a:rPr lang="zh-CN" altLang="zh-CN" sz="1700" dirty="0" smtClean="0"/>
              <a:t>。具体</a:t>
            </a:r>
            <a:r>
              <a:rPr lang="zh-CN" altLang="zh-CN" sz="1700" dirty="0"/>
              <a:t>实际问题及其数学模型的结构特点决定了数据之间总是存在着一些特定的逻辑关系或逻辑结构。这些存储结构和逻辑结构统称为数据结构。</a:t>
            </a:r>
          </a:p>
          <a:p>
            <a:endParaRPr lang="zh-CN" altLang="en-US" sz="1700" dirty="0"/>
          </a:p>
        </p:txBody>
      </p:sp>
    </p:spTree>
    <p:extLst>
      <p:ext uri="{BB962C8B-B14F-4D97-AF65-F5344CB8AC3E}">
        <p14:creationId xmlns:p14="http://schemas.microsoft.com/office/powerpoint/2010/main" val="33421522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C06D2D3B-4FB8-4F45-B9B3-7FBA9274DDE7}" type="slidenum">
              <a:rPr lang="en-US" altLang="zh-CN"/>
              <a:pPr>
                <a:defRPr/>
              </a:pPr>
              <a:t>10</a:t>
            </a:fld>
            <a:endParaRPr lang="en-US" altLang="zh-CN"/>
          </a:p>
        </p:txBody>
      </p:sp>
      <p:sp>
        <p:nvSpPr>
          <p:cNvPr id="9221"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cs typeface="Arial" panose="020B0604020202020204" pitchFamily="34" charset="0"/>
              </a:rPr>
              <a:t>总 结</a:t>
            </a:r>
            <a:endParaRPr lang="zh-CN" altLang="en-US" sz="5400" b="1"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92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1186146" y="1943933"/>
            <a:ext cx="7056784" cy="4247317"/>
          </a:xfrm>
          <a:prstGeom prst="rect">
            <a:avLst/>
          </a:prstGeom>
          <a:gradFill flip="none" rotWithShape="1">
            <a:gsLst>
              <a:gs pos="0">
                <a:schemeClr val="accent2">
                  <a:lumMod val="60000"/>
                  <a:lumOff val="40000"/>
                </a:schemeClr>
              </a:gs>
              <a:gs pos="57000">
                <a:schemeClr val="accent1">
                  <a:lumMod val="97000"/>
                  <a:lumOff val="3000"/>
                </a:schemeClr>
              </a:gs>
              <a:gs pos="100000">
                <a:schemeClr val="accent1">
                  <a:lumMod val="60000"/>
                  <a:lumOff val="40000"/>
                </a:schemeClr>
              </a:gs>
            </a:gsLst>
            <a:lin ang="16200000" scaled="1"/>
            <a:tileRect/>
          </a:gradFill>
        </p:spPr>
        <p:txBody>
          <a:bodyPr wrap="square" rtlCol="0">
            <a:spAutoFit/>
          </a:bodyPr>
          <a:lstStyle/>
          <a:p>
            <a:pPr>
              <a:spcBef>
                <a:spcPts val="0"/>
              </a:spcBef>
              <a:spcAft>
                <a:spcPts val="1200"/>
              </a:spcAft>
            </a:pPr>
            <a:r>
              <a:rPr lang="zh-CN" altLang="en-US" sz="2400" dirty="0" smtClean="0">
                <a:latin typeface="华文琥珀" panose="02010800040101010101" pitchFamily="2" charset="-122"/>
                <a:ea typeface="华文琥珀" panose="02010800040101010101" pitchFamily="2" charset="-122"/>
              </a:rPr>
              <a:t>简单地说，算法就是解决问题的程序或步骤。可以一步步进行，每一步都能得到唯一的结果。</a:t>
            </a:r>
          </a:p>
          <a:p>
            <a:pPr>
              <a:spcAft>
                <a:spcPts val="1200"/>
              </a:spcAft>
            </a:pPr>
            <a:r>
              <a:rPr lang="zh-CN" altLang="en-US" sz="2400" dirty="0" smtClean="0">
                <a:latin typeface="华文琥珀" panose="02010800040101010101" pitchFamily="2" charset="-122"/>
                <a:ea typeface="华文琥珀" panose="02010800040101010101" pitchFamily="2" charset="-122"/>
              </a:rPr>
              <a:t>算法一般是刻板的，枯燥的，有时需要进行大量重复的计算，显示了其“机械化”</a:t>
            </a:r>
            <a:r>
              <a:rPr lang="en-US" altLang="zh-CN" sz="2400" dirty="0" smtClean="0">
                <a:latin typeface="华文琥珀" panose="02010800040101010101" pitchFamily="2" charset="-122"/>
                <a:ea typeface="华文琥珀" panose="02010800040101010101" pitchFamily="2" charset="-122"/>
              </a:rPr>
              <a:t>(</a:t>
            </a:r>
            <a:r>
              <a:rPr lang="zh-CN" altLang="en-US" sz="2400" dirty="0" smtClean="0">
                <a:latin typeface="华文琥珀" panose="02010800040101010101" pitchFamily="2" charset="-122"/>
                <a:ea typeface="华文琥珀" panose="02010800040101010101" pitchFamily="2" charset="-122"/>
              </a:rPr>
              <a:t>也叫傻瓜化”</a:t>
            </a:r>
            <a:r>
              <a:rPr lang="en-US" altLang="zh-CN" sz="2400" dirty="0" smtClean="0">
                <a:latin typeface="华文琥珀" panose="02010800040101010101" pitchFamily="2" charset="-122"/>
                <a:ea typeface="华文琥珀" panose="02010800040101010101" pitchFamily="2" charset="-122"/>
              </a:rPr>
              <a:t>)</a:t>
            </a:r>
            <a:r>
              <a:rPr lang="zh-CN" altLang="en-US" sz="2400" dirty="0" smtClean="0">
                <a:latin typeface="华文琥珀" panose="02010800040101010101" pitchFamily="2" charset="-122"/>
                <a:ea typeface="华文琥珀" panose="02010800040101010101" pitchFamily="2" charset="-122"/>
              </a:rPr>
              <a:t>的特点。</a:t>
            </a:r>
          </a:p>
          <a:p>
            <a:r>
              <a:rPr lang="zh-CN" altLang="en-US" sz="2400" dirty="0" smtClean="0">
                <a:latin typeface="华文琥珀" panose="02010800040101010101" pitchFamily="2" charset="-122"/>
                <a:ea typeface="华文琥珀" panose="02010800040101010101" pitchFamily="2" charset="-122"/>
              </a:rPr>
              <a:t>实际上，处理任何问题都需要算法</a:t>
            </a:r>
            <a:r>
              <a:rPr lang="en-US" altLang="zh-CN" sz="2400" dirty="0" smtClean="0">
                <a:latin typeface="华文琥珀" panose="02010800040101010101" pitchFamily="2" charset="-122"/>
                <a:ea typeface="华文琥珀" panose="02010800040101010101" pitchFamily="2" charset="-122"/>
              </a:rPr>
              <a:t>; </a:t>
            </a:r>
            <a:r>
              <a:rPr lang="zh-CN" altLang="en-US" sz="2400" dirty="0" smtClean="0">
                <a:latin typeface="华文琥珀" panose="02010800040101010101" pitchFamily="2" charset="-122"/>
                <a:ea typeface="华文琥珀" panose="02010800040101010101" pitchFamily="2" charset="-122"/>
              </a:rPr>
              <a:t>象棋有象棋的</a:t>
            </a:r>
          </a:p>
          <a:p>
            <a:r>
              <a:rPr lang="zh-CN" altLang="en-US" sz="2400" dirty="0" smtClean="0">
                <a:latin typeface="华文琥珀" panose="02010800040101010101" pitchFamily="2" charset="-122"/>
                <a:ea typeface="华文琥珀" panose="02010800040101010101" pitchFamily="2" charset="-122"/>
              </a:rPr>
              <a:t>棋谱，电视有电视的说明书，邮寄物品有其相应的</a:t>
            </a:r>
          </a:p>
          <a:p>
            <a:pPr>
              <a:spcAft>
                <a:spcPts val="1200"/>
              </a:spcAft>
            </a:pPr>
            <a:r>
              <a:rPr lang="zh-CN" altLang="en-US" sz="2400" dirty="0" smtClean="0">
                <a:latin typeface="华文琥珀" panose="02010800040101010101" pitchFamily="2" charset="-122"/>
                <a:ea typeface="华文琥珀" panose="02010800040101010101" pitchFamily="2" charset="-122"/>
              </a:rPr>
              <a:t>手续</a:t>
            </a:r>
            <a:r>
              <a:rPr lang="en-US" altLang="zh-CN" sz="2400" dirty="0" smtClean="0">
                <a:latin typeface="华文琥珀" panose="02010800040101010101" pitchFamily="2" charset="-122"/>
                <a:ea typeface="华文琥珀" panose="02010800040101010101" pitchFamily="2" charset="-122"/>
              </a:rPr>
              <a:t>...</a:t>
            </a:r>
          </a:p>
          <a:p>
            <a:r>
              <a:rPr lang="zh-CN" altLang="en-US" sz="2400" dirty="0" smtClean="0">
                <a:latin typeface="华文琥珀" panose="02010800040101010101" pitchFamily="2" charset="-122"/>
                <a:ea typeface="华文琥珀" panose="02010800040101010101" pitchFamily="2" charset="-122"/>
              </a:rPr>
              <a:t>算法与具体问题的解法既有联系，又有区别，它们之间是一般和特殊，抽象与具体的关系</a:t>
            </a:r>
            <a:endParaRPr lang="zh-CN" altLang="en-US" sz="2400" dirty="0">
              <a:latin typeface="华文琥珀" panose="02010800040101010101" pitchFamily="2" charset="-122"/>
              <a:ea typeface="华文琥珀" panose="02010800040101010101" pitchFamily="2" charset="-122"/>
            </a:endParaRPr>
          </a:p>
        </p:txBody>
      </p:sp>
      <p:grpSp>
        <p:nvGrpSpPr>
          <p:cNvPr id="10" name="组合 9"/>
          <p:cNvGrpSpPr/>
          <p:nvPr/>
        </p:nvGrpSpPr>
        <p:grpSpPr>
          <a:xfrm>
            <a:off x="684213" y="2060848"/>
            <a:ext cx="424830" cy="400110"/>
            <a:chOff x="1043608" y="2184829"/>
            <a:chExt cx="424830" cy="400110"/>
          </a:xfrm>
        </p:grpSpPr>
        <p:sp>
          <p:nvSpPr>
            <p:cNvPr id="5" name="六边形 4"/>
            <p:cNvSpPr/>
            <p:nvPr/>
          </p:nvSpPr>
          <p:spPr bwMode="auto">
            <a:xfrm>
              <a:off x="1043608" y="2204864"/>
              <a:ext cx="424830" cy="360040"/>
            </a:xfrm>
            <a:prstGeom prst="hexagon">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6" name="文本框 5"/>
            <p:cNvSpPr txBox="1"/>
            <p:nvPr/>
          </p:nvSpPr>
          <p:spPr>
            <a:xfrm>
              <a:off x="1112007" y="2184829"/>
              <a:ext cx="288032" cy="400110"/>
            </a:xfrm>
            <a:prstGeom prst="rect">
              <a:avLst/>
            </a:prstGeom>
            <a:noFill/>
          </p:spPr>
          <p:txBody>
            <a:bodyPr wrap="square" rtlCol="0">
              <a:spAutoFit/>
            </a:bodyPr>
            <a:lstStyle/>
            <a:p>
              <a:r>
                <a:rPr lang="en-US" altLang="zh-CN" sz="2000" dirty="0" smtClean="0"/>
                <a:t>1</a:t>
              </a:r>
              <a:endParaRPr lang="zh-CN" altLang="en-US" sz="2000" dirty="0"/>
            </a:p>
          </p:txBody>
        </p:sp>
      </p:grpSp>
      <p:grpSp>
        <p:nvGrpSpPr>
          <p:cNvPr id="13" name="组合 12"/>
          <p:cNvGrpSpPr/>
          <p:nvPr/>
        </p:nvGrpSpPr>
        <p:grpSpPr>
          <a:xfrm>
            <a:off x="695399" y="2924234"/>
            <a:ext cx="424830" cy="400110"/>
            <a:chOff x="1043608" y="2184829"/>
            <a:chExt cx="424830" cy="400110"/>
          </a:xfrm>
        </p:grpSpPr>
        <p:sp>
          <p:nvSpPr>
            <p:cNvPr id="14" name="六边形 13"/>
            <p:cNvSpPr/>
            <p:nvPr/>
          </p:nvSpPr>
          <p:spPr bwMode="auto">
            <a:xfrm>
              <a:off x="1043608" y="2204864"/>
              <a:ext cx="424830" cy="360040"/>
            </a:xfrm>
            <a:prstGeom prst="hexagon">
              <a:avLst/>
            </a:prstGeom>
            <a:solidFill>
              <a:srgbClr val="FF0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5" name="文本框 14"/>
            <p:cNvSpPr txBox="1"/>
            <p:nvPr/>
          </p:nvSpPr>
          <p:spPr>
            <a:xfrm>
              <a:off x="1112007" y="2184829"/>
              <a:ext cx="288032" cy="400110"/>
            </a:xfrm>
            <a:prstGeom prst="rect">
              <a:avLst/>
            </a:prstGeom>
            <a:noFill/>
          </p:spPr>
          <p:txBody>
            <a:bodyPr wrap="square" rtlCol="0">
              <a:spAutoFit/>
            </a:bodyPr>
            <a:lstStyle/>
            <a:p>
              <a:r>
                <a:rPr lang="en-US" altLang="zh-CN" sz="2000" dirty="0" smtClean="0"/>
                <a:t>2</a:t>
              </a:r>
              <a:endParaRPr lang="zh-CN" altLang="en-US" sz="2000" dirty="0"/>
            </a:p>
          </p:txBody>
        </p:sp>
      </p:grpSp>
      <p:grpSp>
        <p:nvGrpSpPr>
          <p:cNvPr id="16" name="组合 15"/>
          <p:cNvGrpSpPr/>
          <p:nvPr/>
        </p:nvGrpSpPr>
        <p:grpSpPr>
          <a:xfrm>
            <a:off x="692917" y="4206215"/>
            <a:ext cx="424830" cy="400110"/>
            <a:chOff x="1043608" y="2184829"/>
            <a:chExt cx="424830" cy="400110"/>
          </a:xfrm>
        </p:grpSpPr>
        <p:sp>
          <p:nvSpPr>
            <p:cNvPr id="17" name="六边形 16"/>
            <p:cNvSpPr/>
            <p:nvPr/>
          </p:nvSpPr>
          <p:spPr bwMode="auto">
            <a:xfrm>
              <a:off x="1043608" y="2204864"/>
              <a:ext cx="424830" cy="360040"/>
            </a:xfrm>
            <a:prstGeom prst="hexagon">
              <a:avLst/>
            </a:prstGeom>
            <a:solidFill>
              <a:srgbClr val="CC66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8" name="文本框 17"/>
            <p:cNvSpPr txBox="1"/>
            <p:nvPr/>
          </p:nvSpPr>
          <p:spPr>
            <a:xfrm>
              <a:off x="1112007" y="2184829"/>
              <a:ext cx="288032" cy="400110"/>
            </a:xfrm>
            <a:prstGeom prst="rect">
              <a:avLst/>
            </a:prstGeom>
            <a:noFill/>
          </p:spPr>
          <p:txBody>
            <a:bodyPr wrap="square" rtlCol="0">
              <a:spAutoFit/>
            </a:bodyPr>
            <a:lstStyle/>
            <a:p>
              <a:r>
                <a:rPr lang="en-US" altLang="zh-CN" sz="2000" dirty="0" smtClean="0"/>
                <a:t>3</a:t>
              </a:r>
              <a:endParaRPr lang="zh-CN" altLang="en-US" sz="2000" dirty="0"/>
            </a:p>
          </p:txBody>
        </p:sp>
      </p:grpSp>
      <p:grpSp>
        <p:nvGrpSpPr>
          <p:cNvPr id="19" name="组合 18"/>
          <p:cNvGrpSpPr/>
          <p:nvPr/>
        </p:nvGrpSpPr>
        <p:grpSpPr>
          <a:xfrm>
            <a:off x="692917" y="5416022"/>
            <a:ext cx="424830" cy="400110"/>
            <a:chOff x="1043608" y="2184829"/>
            <a:chExt cx="424830" cy="400110"/>
          </a:xfrm>
        </p:grpSpPr>
        <p:sp>
          <p:nvSpPr>
            <p:cNvPr id="20" name="六边形 19"/>
            <p:cNvSpPr/>
            <p:nvPr/>
          </p:nvSpPr>
          <p:spPr bwMode="auto">
            <a:xfrm>
              <a:off x="1043608" y="2204864"/>
              <a:ext cx="424830" cy="360040"/>
            </a:xfrm>
            <a:prstGeom prst="hexagon">
              <a:avLst/>
            </a:prstGeom>
            <a:solidFill>
              <a:srgbClr val="339966"/>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21" name="文本框 20"/>
            <p:cNvSpPr txBox="1"/>
            <p:nvPr/>
          </p:nvSpPr>
          <p:spPr>
            <a:xfrm>
              <a:off x="1112007" y="2184829"/>
              <a:ext cx="288032" cy="400110"/>
            </a:xfrm>
            <a:prstGeom prst="rect">
              <a:avLst/>
            </a:prstGeom>
            <a:noFill/>
          </p:spPr>
          <p:txBody>
            <a:bodyPr wrap="square" rtlCol="0">
              <a:spAutoFit/>
            </a:bodyPr>
            <a:lstStyle/>
            <a:p>
              <a:r>
                <a:rPr lang="en-US" altLang="zh-CN" sz="2000" dirty="0" smtClean="0"/>
                <a:t>4</a:t>
              </a:r>
              <a:endParaRPr lang="zh-CN" altLang="en-US" sz="2000" dirty="0"/>
            </a:p>
          </p:txBody>
        </p:sp>
      </p:grpSp>
    </p:spTree>
    <p:extLst>
      <p:ext uri="{BB962C8B-B14F-4D97-AF65-F5344CB8AC3E}">
        <p14:creationId xmlns:p14="http://schemas.microsoft.com/office/powerpoint/2010/main" val="1454234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a:t>
            </a:r>
            <a:r>
              <a:rPr lang="zh-CN" altLang="en-US" sz="4000" b="1">
                <a:solidFill>
                  <a:schemeClr val="bg1"/>
                </a:solidFill>
                <a:latin typeface="宋体" panose="02010600030101010101" pitchFamily="2" charset="-122"/>
                <a:ea typeface="宋体" panose="02010600030101010101" pitchFamily="2" charset="-122"/>
              </a:rPr>
              <a:t>算法设计的基本知识</a:t>
            </a:r>
          </a:p>
        </p:txBody>
      </p:sp>
      <p:sp>
        <p:nvSpPr>
          <p:cNvPr id="4099" name="Rectangle 3"/>
          <p:cNvSpPr>
            <a:spLocks noGrp="1" noChangeArrowheads="1"/>
          </p:cNvSpPr>
          <p:nvPr>
            <p:ph type="body" sz="half" idx="1"/>
          </p:nvPr>
        </p:nvSpPr>
        <p:spPr>
          <a:xfrm>
            <a:off x="2193925" y="2708275"/>
            <a:ext cx="5400675" cy="3600450"/>
          </a:xfrm>
          <a:noFill/>
        </p:spPr>
        <p:txBody>
          <a:bodyPr lIns="92075" tIns="46038" rIns="92075" bIns="46038"/>
          <a:lstStyle/>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算法的基本概念</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算法效率的度量</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算法设计应用举例</a:t>
            </a:r>
          </a:p>
        </p:txBody>
      </p:sp>
      <p:pic>
        <p:nvPicPr>
          <p:cNvPr id="410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76435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a:xfrm>
            <a:off x="6588125" y="6400800"/>
            <a:ext cx="1905000" cy="457200"/>
          </a:xfrm>
        </p:spPr>
        <p:txBody>
          <a:bodyPr/>
          <a:lstStyle/>
          <a:p>
            <a:pPr>
              <a:defRPr/>
            </a:pPr>
            <a:fld id="{6C668849-5919-4230-A020-E747D8C36B84}" type="slidenum">
              <a:rPr lang="en-US" altLang="zh-CN"/>
              <a:pPr>
                <a:defRPr/>
              </a:pPr>
              <a:t>12</a:t>
            </a:fld>
            <a:endParaRPr lang="en-US" altLang="zh-CN"/>
          </a:p>
        </p:txBody>
      </p:sp>
      <p:sp>
        <p:nvSpPr>
          <p:cNvPr id="5125" name="Text Box 2"/>
          <p:cNvSpPr txBox="1">
            <a:spLocks noChangeArrowheads="1"/>
          </p:cNvSpPr>
          <p:nvPr/>
        </p:nvSpPr>
        <p:spPr bwMode="auto">
          <a:xfrm>
            <a:off x="1468438" y="836613"/>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算法效率的度量</a:t>
            </a:r>
          </a:p>
        </p:txBody>
      </p:sp>
      <p:pic>
        <p:nvPicPr>
          <p:cNvPr id="512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文本框 1"/>
          <p:cNvSpPr txBox="1">
            <a:spLocks noChangeArrowheads="1"/>
          </p:cNvSpPr>
          <p:nvPr/>
        </p:nvSpPr>
        <p:spPr bwMode="auto">
          <a:xfrm>
            <a:off x="1691184" y="2685107"/>
            <a:ext cx="525708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spcAft>
                <a:spcPts val="2400"/>
              </a:spcAft>
              <a:buFontTx/>
              <a:buNone/>
            </a:pPr>
            <a:r>
              <a:rPr lang="zh-CN" altLang="en-US" sz="3600" b="1" dirty="0">
                <a:solidFill>
                  <a:schemeClr val="accent2"/>
                </a:solidFill>
                <a:latin typeface="黑体" panose="02010609060101010101" pitchFamily="49" charset="-122"/>
                <a:ea typeface="黑体" panose="02010609060101010101" pitchFamily="49" charset="-122"/>
              </a:rPr>
              <a:t>度量算法的效率：</a:t>
            </a:r>
            <a:endParaRPr lang="en-US" altLang="zh-CN" sz="3600" b="1" dirty="0">
              <a:solidFill>
                <a:schemeClr val="accent2"/>
              </a:solidFill>
              <a:latin typeface="黑体" panose="02010609060101010101" pitchFamily="49" charset="-122"/>
              <a:ea typeface="黑体" panose="02010609060101010101" pitchFamily="49" charset="-122"/>
            </a:endParaRPr>
          </a:p>
          <a:p>
            <a:pPr>
              <a:spcBef>
                <a:spcPct val="0"/>
              </a:spcBef>
              <a:buFontTx/>
              <a:buNone/>
            </a:pPr>
            <a:r>
              <a:rPr lang="en-US" altLang="zh-CN" sz="3600" b="1" dirty="0">
                <a:solidFill>
                  <a:schemeClr val="accent2"/>
                </a:solidFill>
                <a:latin typeface="黑体" panose="02010609060101010101" pitchFamily="49" charset="-122"/>
                <a:ea typeface="黑体" panose="02010609060101010101" pitchFamily="49" charset="-122"/>
              </a:rPr>
              <a:t>		</a:t>
            </a:r>
            <a:r>
              <a:rPr lang="zh-CN" altLang="en-US" sz="3600" b="1" dirty="0">
                <a:solidFill>
                  <a:schemeClr val="accent2"/>
                </a:solidFill>
                <a:latin typeface="黑体" panose="02010609060101010101" pitchFamily="49" charset="-122"/>
                <a:ea typeface="黑体" panose="02010609060101010101" pitchFamily="49" charset="-122"/>
              </a:rPr>
              <a:t>时间复杂</a:t>
            </a:r>
            <a:r>
              <a:rPr lang="zh-CN" altLang="en-US" sz="3600" b="1" dirty="0" smtClean="0">
                <a:solidFill>
                  <a:schemeClr val="accent2"/>
                </a:solidFill>
                <a:latin typeface="黑体" panose="02010609060101010101" pitchFamily="49" charset="-122"/>
                <a:ea typeface="黑体" panose="02010609060101010101" pitchFamily="49" charset="-122"/>
              </a:rPr>
              <a:t>度</a:t>
            </a:r>
            <a:endParaRPr lang="en-US" altLang="zh-CN" sz="3600" b="1" dirty="0" smtClean="0">
              <a:solidFill>
                <a:schemeClr val="accent2"/>
              </a:solidFill>
              <a:latin typeface="黑体" panose="02010609060101010101" pitchFamily="49" charset="-122"/>
              <a:ea typeface="黑体" panose="02010609060101010101" pitchFamily="49" charset="-122"/>
            </a:endParaRPr>
          </a:p>
          <a:p>
            <a:pPr>
              <a:spcBef>
                <a:spcPct val="0"/>
              </a:spcBef>
              <a:buFontTx/>
              <a:buNone/>
            </a:pPr>
            <a:endParaRPr lang="en-US" altLang="zh-CN" sz="3600" b="1" dirty="0">
              <a:solidFill>
                <a:schemeClr val="accent2"/>
              </a:solidFill>
              <a:latin typeface="黑体" panose="02010609060101010101" pitchFamily="49" charset="-122"/>
              <a:ea typeface="黑体" panose="02010609060101010101" pitchFamily="49" charset="-122"/>
            </a:endParaRPr>
          </a:p>
          <a:p>
            <a:pPr>
              <a:spcBef>
                <a:spcPct val="0"/>
              </a:spcBef>
              <a:buFontTx/>
              <a:buNone/>
            </a:pPr>
            <a:r>
              <a:rPr lang="en-US" altLang="zh-CN" sz="3600" b="1" dirty="0">
                <a:solidFill>
                  <a:schemeClr val="accent2"/>
                </a:solidFill>
                <a:latin typeface="黑体" panose="02010609060101010101" pitchFamily="49" charset="-122"/>
                <a:ea typeface="黑体" panose="02010609060101010101" pitchFamily="49" charset="-122"/>
              </a:rPr>
              <a:t>		</a:t>
            </a:r>
            <a:r>
              <a:rPr lang="zh-CN" altLang="en-US" sz="3600" b="1" dirty="0">
                <a:solidFill>
                  <a:schemeClr val="accent2"/>
                </a:solidFill>
                <a:latin typeface="黑体" panose="02010609060101010101" pitchFamily="49" charset="-122"/>
                <a:ea typeface="黑体" panose="02010609060101010101" pitchFamily="49" charset="-122"/>
              </a:rPr>
              <a:t>空间复杂</a:t>
            </a:r>
            <a:r>
              <a:rPr lang="zh-CN" altLang="en-US" sz="3600" b="1" dirty="0" smtClean="0">
                <a:solidFill>
                  <a:schemeClr val="accent2"/>
                </a:solidFill>
                <a:latin typeface="黑体" panose="02010609060101010101" pitchFamily="49" charset="-122"/>
                <a:ea typeface="黑体" panose="02010609060101010101" pitchFamily="49" charset="-122"/>
              </a:rPr>
              <a:t>度</a:t>
            </a:r>
            <a:endParaRPr lang="zh-CN" altLang="en-US" sz="3600" b="1" dirty="0">
              <a:solidFill>
                <a:schemeClr val="accent2"/>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352924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52A9C452-EB01-4112-998D-1A68437AC1D8}" type="slidenum">
              <a:rPr lang="en-US" altLang="zh-CN"/>
              <a:pPr>
                <a:defRPr/>
              </a:pPr>
              <a:t>13</a:t>
            </a:fld>
            <a:endParaRPr lang="en-US" altLang="zh-CN"/>
          </a:p>
        </p:txBody>
      </p:sp>
      <p:sp>
        <p:nvSpPr>
          <p:cNvPr id="6149"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615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92188" y="2133600"/>
            <a:ext cx="6873875" cy="3538538"/>
          </a:xfrm>
          <a:prstGeom prst="rect">
            <a:avLst/>
          </a:prstGeom>
          <a:solidFill>
            <a:schemeClr val="accent5">
              <a:lumMod val="40000"/>
              <a:lumOff val="60000"/>
            </a:schemeClr>
          </a:solidFill>
          <a:ln w="19050">
            <a:solidFill>
              <a:schemeClr val="accent1">
                <a:lumMod val="60000"/>
                <a:lumOff val="40000"/>
              </a:schemeClr>
            </a:solidFill>
          </a:ln>
        </p:spPr>
        <p:txBody>
          <a:bodyPr>
            <a:spAutoFit/>
          </a:bodyPr>
          <a:lstStyle/>
          <a:p>
            <a:pPr>
              <a:defRPr/>
            </a:pPr>
            <a:r>
              <a:rPr lang="zh-CN" altLang="en-US" sz="2800" b="1" dirty="0">
                <a:solidFill>
                  <a:schemeClr val="accent2"/>
                </a:solidFill>
              </a:rPr>
              <a:t>时间复杂度</a:t>
            </a:r>
            <a:r>
              <a:rPr lang="zh-CN" altLang="en-US" sz="2800" dirty="0"/>
              <a:t>：</a:t>
            </a:r>
            <a:endParaRPr lang="en-US" altLang="zh-CN" sz="2800" dirty="0"/>
          </a:p>
          <a:p>
            <a:pPr>
              <a:defRPr/>
            </a:pPr>
            <a:r>
              <a:rPr lang="en-US" altLang="zh-CN" sz="2800" dirty="0">
                <a:solidFill>
                  <a:srgbClr val="7030A0"/>
                </a:solidFill>
              </a:rPr>
              <a:t>    </a:t>
            </a:r>
            <a:r>
              <a:rPr lang="zh-CN" altLang="en-US" sz="2800" dirty="0">
                <a:solidFill>
                  <a:srgbClr val="7030A0"/>
                </a:solidFill>
              </a:rPr>
              <a:t>一般情况，算法中基本操作重复执行的次数是问题规模</a:t>
            </a:r>
            <a:r>
              <a:rPr lang="en-US" altLang="zh-CN" sz="2800" dirty="0">
                <a:solidFill>
                  <a:srgbClr val="7030A0"/>
                </a:solidFill>
              </a:rPr>
              <a:t>n</a:t>
            </a:r>
            <a:r>
              <a:rPr lang="zh-CN" altLang="en-US" sz="2800" dirty="0">
                <a:solidFill>
                  <a:srgbClr val="7030A0"/>
                </a:solidFill>
              </a:rPr>
              <a:t>的一个函数</a:t>
            </a:r>
            <a:r>
              <a:rPr lang="en-US" altLang="zh-CN" sz="2800" dirty="0">
                <a:solidFill>
                  <a:srgbClr val="7030A0"/>
                </a:solidFill>
              </a:rPr>
              <a:t>f(n)</a:t>
            </a:r>
            <a:r>
              <a:rPr lang="zh-CN" altLang="en-US" sz="2800" dirty="0">
                <a:solidFill>
                  <a:srgbClr val="7030A0"/>
                </a:solidFill>
              </a:rPr>
              <a:t>，算法的时间度量记做</a:t>
            </a:r>
            <a:endParaRPr lang="en-US" altLang="zh-CN" sz="2800" dirty="0">
              <a:solidFill>
                <a:srgbClr val="7030A0"/>
              </a:solidFill>
            </a:endParaRPr>
          </a:p>
          <a:p>
            <a:pPr algn="ctr">
              <a:defRPr/>
            </a:pPr>
            <a:r>
              <a:rPr lang="en-US" altLang="zh-CN" sz="2800" dirty="0">
                <a:solidFill>
                  <a:srgbClr val="7030A0"/>
                </a:solidFill>
              </a:rPr>
              <a:t>T(n)=O(f(n))</a:t>
            </a:r>
            <a:r>
              <a:rPr lang="zh-CN" altLang="en-US" sz="2800" dirty="0">
                <a:solidFill>
                  <a:srgbClr val="7030A0"/>
                </a:solidFill>
              </a:rPr>
              <a:t>，</a:t>
            </a:r>
            <a:endParaRPr lang="en-US" altLang="zh-CN" sz="2800" dirty="0">
              <a:solidFill>
                <a:srgbClr val="7030A0"/>
              </a:solidFill>
            </a:endParaRPr>
          </a:p>
          <a:p>
            <a:pPr>
              <a:defRPr/>
            </a:pPr>
            <a:r>
              <a:rPr lang="zh-CN" altLang="en-US" sz="2800" dirty="0">
                <a:solidFill>
                  <a:srgbClr val="7030A0"/>
                </a:solidFill>
              </a:rPr>
              <a:t>表示随着问题规模</a:t>
            </a:r>
            <a:r>
              <a:rPr lang="en-US" altLang="zh-CN" sz="2800" dirty="0">
                <a:solidFill>
                  <a:srgbClr val="7030A0"/>
                </a:solidFill>
              </a:rPr>
              <a:t>n</a:t>
            </a:r>
            <a:r>
              <a:rPr lang="zh-CN" altLang="en-US" sz="2800" dirty="0">
                <a:solidFill>
                  <a:srgbClr val="7030A0"/>
                </a:solidFill>
              </a:rPr>
              <a:t>的增大，算法执行时间的增长率和</a:t>
            </a:r>
            <a:r>
              <a:rPr lang="en-US" altLang="zh-CN" sz="2800" dirty="0">
                <a:solidFill>
                  <a:srgbClr val="7030A0"/>
                </a:solidFill>
              </a:rPr>
              <a:t>f(n)</a:t>
            </a:r>
            <a:r>
              <a:rPr lang="zh-CN" altLang="en-US" sz="2800" dirty="0">
                <a:solidFill>
                  <a:srgbClr val="7030A0"/>
                </a:solidFill>
              </a:rPr>
              <a:t>的增长率相同，称做算法的</a:t>
            </a:r>
            <a:r>
              <a:rPr lang="zh-CN" altLang="en-US" sz="2800" b="1" dirty="0">
                <a:solidFill>
                  <a:schemeClr val="accent6"/>
                </a:solidFill>
              </a:rPr>
              <a:t>渐近时间复杂度</a:t>
            </a:r>
            <a:r>
              <a:rPr lang="zh-CN" altLang="en-US" sz="2800" dirty="0">
                <a:solidFill>
                  <a:srgbClr val="7030A0"/>
                </a:solidFill>
              </a:rPr>
              <a:t>，简称</a:t>
            </a:r>
            <a:r>
              <a:rPr lang="zh-CN" altLang="en-US" sz="2800" b="1" dirty="0">
                <a:solidFill>
                  <a:schemeClr val="accent6"/>
                </a:solidFill>
              </a:rPr>
              <a:t>时间复杂度</a:t>
            </a:r>
            <a:r>
              <a:rPr lang="zh-CN" altLang="en-US" sz="2800" dirty="0">
                <a:solidFill>
                  <a:srgbClr val="7030A0"/>
                </a:solidFill>
              </a:rPr>
              <a:t>。</a:t>
            </a:r>
          </a:p>
        </p:txBody>
      </p:sp>
    </p:spTree>
    <p:extLst>
      <p:ext uri="{BB962C8B-B14F-4D97-AF65-F5344CB8AC3E}">
        <p14:creationId xmlns:p14="http://schemas.microsoft.com/office/powerpoint/2010/main" val="22753609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F3CF3E35-02D6-4E41-ADFB-3736C99E4BB1}" type="slidenum">
              <a:rPr lang="en-US" altLang="zh-CN"/>
              <a:pPr>
                <a:defRPr/>
              </a:pPr>
              <a:t>14</a:t>
            </a:fld>
            <a:endParaRPr lang="en-US" altLang="zh-CN"/>
          </a:p>
        </p:txBody>
      </p:sp>
      <p:sp>
        <p:nvSpPr>
          <p:cNvPr id="7173"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717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71550" y="2797175"/>
            <a:ext cx="6873875" cy="2678113"/>
          </a:xfrm>
          <a:prstGeom prst="rect">
            <a:avLst/>
          </a:prstGeom>
          <a:solidFill>
            <a:schemeClr val="accent5">
              <a:lumMod val="40000"/>
              <a:lumOff val="60000"/>
            </a:schemeClr>
          </a:solidFill>
          <a:ln w="19050">
            <a:solidFill>
              <a:schemeClr val="accent1">
                <a:lumMod val="60000"/>
                <a:lumOff val="40000"/>
              </a:schemeClr>
            </a:solidFill>
          </a:ln>
        </p:spPr>
        <p:txBody>
          <a:bodyPr>
            <a:spAutoFit/>
          </a:bodyPr>
          <a:lstStyle/>
          <a:p>
            <a:pPr>
              <a:defRPr/>
            </a:pPr>
            <a:r>
              <a:rPr lang="en-US" altLang="zh-CN" sz="2800" dirty="0">
                <a:solidFill>
                  <a:srgbClr val="7030A0"/>
                </a:solidFill>
              </a:rPr>
              <a:t>    </a:t>
            </a:r>
            <a:r>
              <a:rPr lang="zh-CN" altLang="zh-CN" sz="2800" dirty="0">
                <a:solidFill>
                  <a:srgbClr val="7030A0"/>
                </a:solidFill>
              </a:rPr>
              <a:t>为了更好地分析算法的效率，需要一些合适的方法来描述或度量函数值随自变量增长而增长的速度，如果不能精确地算出函数增长的速度，那么至少也要针对函数增长的不同速度划分出若干性质不同的等级，这就是</a:t>
            </a:r>
            <a:r>
              <a:rPr lang="zh-CN" altLang="zh-CN" sz="2800" b="1" dirty="0">
                <a:solidFill>
                  <a:schemeClr val="accent6"/>
                </a:solidFill>
              </a:rPr>
              <a:t>函数增长的阶</a:t>
            </a:r>
            <a:r>
              <a:rPr lang="zh-CN" altLang="zh-CN" sz="2800" dirty="0">
                <a:solidFill>
                  <a:srgbClr val="7030A0"/>
                </a:solidFill>
              </a:rPr>
              <a:t>。</a:t>
            </a:r>
            <a:endParaRPr lang="zh-CN" altLang="en-US" sz="2800" dirty="0">
              <a:solidFill>
                <a:srgbClr val="7030A0"/>
              </a:solidFill>
            </a:endParaRPr>
          </a:p>
        </p:txBody>
      </p:sp>
    </p:spTree>
    <p:extLst>
      <p:ext uri="{BB962C8B-B14F-4D97-AF65-F5344CB8AC3E}">
        <p14:creationId xmlns:p14="http://schemas.microsoft.com/office/powerpoint/2010/main" val="40090249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7DF900AA-D3C6-4FB9-942A-1761A4B53103}" type="slidenum">
              <a:rPr lang="en-US" altLang="zh-CN"/>
              <a:pPr>
                <a:defRPr/>
              </a:pPr>
              <a:t>15</a:t>
            </a:fld>
            <a:endParaRPr lang="en-US" altLang="zh-CN"/>
          </a:p>
        </p:txBody>
      </p:sp>
      <p:sp>
        <p:nvSpPr>
          <p:cNvPr id="8197"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81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31888" y="2271713"/>
            <a:ext cx="6872287" cy="3538537"/>
          </a:xfrm>
          <a:prstGeom prst="rect">
            <a:avLst/>
          </a:prstGeom>
          <a:solidFill>
            <a:schemeClr val="accent5">
              <a:lumMod val="40000"/>
              <a:lumOff val="60000"/>
            </a:schemeClr>
          </a:solidFill>
          <a:ln w="19050">
            <a:solidFill>
              <a:schemeClr val="accent1">
                <a:lumMod val="60000"/>
                <a:lumOff val="40000"/>
              </a:schemeClr>
            </a:solidFill>
          </a:ln>
        </p:spPr>
        <p:txBody>
          <a:bodyPr>
            <a:spAutoFit/>
          </a:bodyPr>
          <a:lstStyle/>
          <a:p>
            <a:pPr>
              <a:defRPr/>
            </a:pPr>
            <a:r>
              <a:rPr lang="zh-CN" altLang="en-US" sz="2800" dirty="0">
                <a:solidFill>
                  <a:srgbClr val="7030A0"/>
                </a:solidFill>
              </a:rPr>
              <a:t>另一方面，例如</a:t>
            </a:r>
            <a:r>
              <a:rPr lang="zh-CN" altLang="zh-CN" sz="2800" dirty="0">
                <a:solidFill>
                  <a:srgbClr val="7030A0"/>
                </a:solidFill>
              </a:rPr>
              <a:t>若复杂度为多项式</a:t>
            </a:r>
            <a:endParaRPr lang="en-US" altLang="zh-CN" sz="2800" dirty="0">
              <a:solidFill>
                <a:srgbClr val="7030A0"/>
              </a:solidFill>
            </a:endParaRPr>
          </a:p>
          <a:p>
            <a:pPr algn="ctr">
              <a:defRPr/>
            </a:pPr>
            <a:r>
              <a:rPr lang="en-US" altLang="zh-CN" sz="2800" b="1" i="1" dirty="0">
                <a:solidFill>
                  <a:schemeClr val="accent6"/>
                </a:solidFill>
              </a:rPr>
              <a:t>x</a:t>
            </a:r>
            <a:r>
              <a:rPr lang="en-US" altLang="zh-CN" sz="2800" b="1" dirty="0">
                <a:solidFill>
                  <a:schemeClr val="accent6"/>
                </a:solidFill>
              </a:rPr>
              <a:t>²+</a:t>
            </a:r>
            <a:r>
              <a:rPr lang="en-US" altLang="zh-CN" sz="2800" b="1" i="1" dirty="0">
                <a:solidFill>
                  <a:schemeClr val="accent6"/>
                </a:solidFill>
              </a:rPr>
              <a:t>x</a:t>
            </a:r>
            <a:r>
              <a:rPr lang="zh-CN" altLang="zh-CN" sz="2800" b="1" dirty="0">
                <a:solidFill>
                  <a:schemeClr val="accent6"/>
                </a:solidFill>
              </a:rPr>
              <a:t>，</a:t>
            </a:r>
            <a:endParaRPr lang="en-US" altLang="zh-CN" sz="2800" b="1" dirty="0">
              <a:solidFill>
                <a:schemeClr val="accent6"/>
              </a:solidFill>
            </a:endParaRPr>
          </a:p>
          <a:p>
            <a:pPr>
              <a:defRPr/>
            </a:pPr>
            <a:r>
              <a:rPr lang="en-US" altLang="zh-CN" sz="2800" i="1" dirty="0">
                <a:solidFill>
                  <a:srgbClr val="7030A0"/>
                </a:solidFill>
              </a:rPr>
              <a:t>x</a:t>
            </a:r>
            <a:r>
              <a:rPr lang="zh-CN" altLang="zh-CN" sz="2800" dirty="0">
                <a:solidFill>
                  <a:srgbClr val="7030A0"/>
                </a:solidFill>
              </a:rPr>
              <a:t>的复杂度会被</a:t>
            </a:r>
            <a:r>
              <a:rPr lang="en-US" altLang="zh-CN" sz="2800" i="1" dirty="0">
                <a:solidFill>
                  <a:srgbClr val="7030A0"/>
                </a:solidFill>
              </a:rPr>
              <a:t>x</a:t>
            </a:r>
            <a:r>
              <a:rPr lang="en-US" altLang="zh-CN" sz="2800" dirty="0">
                <a:solidFill>
                  <a:srgbClr val="7030A0"/>
                </a:solidFill>
              </a:rPr>
              <a:t>²</a:t>
            </a:r>
            <a:r>
              <a:rPr lang="zh-CN" altLang="zh-CN" sz="2800" dirty="0">
                <a:solidFill>
                  <a:srgbClr val="7030A0"/>
                </a:solidFill>
              </a:rPr>
              <a:t>的复杂所吸收，因此只需考虑</a:t>
            </a:r>
            <a:r>
              <a:rPr lang="zh-CN" altLang="zh-CN" sz="2800" b="1" dirty="0">
                <a:solidFill>
                  <a:schemeClr val="accent6"/>
                </a:solidFill>
              </a:rPr>
              <a:t>最高阶</a:t>
            </a:r>
            <a:r>
              <a:rPr lang="zh-CN" altLang="zh-CN" sz="2800" dirty="0">
                <a:solidFill>
                  <a:srgbClr val="7030A0"/>
                </a:solidFill>
              </a:rPr>
              <a:t>。</a:t>
            </a:r>
            <a:endParaRPr lang="en-US" altLang="zh-CN" sz="2800" dirty="0">
              <a:solidFill>
                <a:srgbClr val="7030A0"/>
              </a:solidFill>
            </a:endParaRPr>
          </a:p>
          <a:p>
            <a:pPr>
              <a:defRPr/>
            </a:pPr>
            <a:r>
              <a:rPr lang="zh-CN" altLang="en-US" sz="2800" dirty="0">
                <a:solidFill>
                  <a:srgbClr val="7030A0"/>
                </a:solidFill>
              </a:rPr>
              <a:t>    因此</a:t>
            </a:r>
            <a:r>
              <a:rPr lang="zh-CN" altLang="zh-CN" sz="2800" dirty="0">
                <a:solidFill>
                  <a:srgbClr val="7030A0"/>
                </a:solidFill>
              </a:rPr>
              <a:t>当输入规模足够大时，精确表示的运行时间函数中的常系数和低阶项会被输入规模所掩盖。此时，只需要考虑</a:t>
            </a:r>
            <a:r>
              <a:rPr lang="zh-CN" altLang="zh-CN" sz="2800" b="1" dirty="0">
                <a:solidFill>
                  <a:schemeClr val="accent6"/>
                </a:solidFill>
              </a:rPr>
              <a:t>高阶项</a:t>
            </a:r>
            <a:r>
              <a:rPr lang="zh-CN" altLang="zh-CN" sz="2800" dirty="0">
                <a:solidFill>
                  <a:srgbClr val="7030A0"/>
                </a:solidFill>
              </a:rPr>
              <a:t>即可。</a:t>
            </a:r>
            <a:endParaRPr lang="zh-CN" altLang="en-US" sz="2800" dirty="0">
              <a:solidFill>
                <a:srgbClr val="7030A0"/>
              </a:solidFill>
            </a:endParaRPr>
          </a:p>
        </p:txBody>
      </p:sp>
    </p:spTree>
    <p:extLst>
      <p:ext uri="{BB962C8B-B14F-4D97-AF65-F5344CB8AC3E}">
        <p14:creationId xmlns:p14="http://schemas.microsoft.com/office/powerpoint/2010/main" val="36745516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C06D2D3B-4FB8-4F45-B9B3-7FBA9274DDE7}" type="slidenum">
              <a:rPr lang="en-US" altLang="zh-CN"/>
              <a:pPr>
                <a:defRPr/>
              </a:pPr>
              <a:t>16</a:t>
            </a:fld>
            <a:endParaRPr lang="en-US" altLang="zh-CN"/>
          </a:p>
        </p:txBody>
      </p:sp>
      <p:sp>
        <p:nvSpPr>
          <p:cNvPr id="9221"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92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31888" y="2565400"/>
            <a:ext cx="6872287" cy="2676525"/>
          </a:xfrm>
          <a:prstGeom prst="rect">
            <a:avLst/>
          </a:prstGeom>
          <a:solidFill>
            <a:schemeClr val="accent5">
              <a:lumMod val="40000"/>
              <a:lumOff val="60000"/>
            </a:schemeClr>
          </a:solidFill>
          <a:ln w="19050">
            <a:solidFill>
              <a:schemeClr val="accent1">
                <a:lumMod val="60000"/>
                <a:lumOff val="40000"/>
              </a:schemeClr>
            </a:solidFill>
          </a:ln>
        </p:spPr>
        <p:txBody>
          <a:bodyPr>
            <a:spAutoFit/>
          </a:bodyPr>
          <a:lstStyle/>
          <a:p>
            <a:pPr>
              <a:defRPr/>
            </a:pPr>
            <a:r>
              <a:rPr lang="en-US" altLang="zh-CN" sz="2800" dirty="0"/>
              <a:t>    </a:t>
            </a:r>
            <a:r>
              <a:rPr lang="zh-CN" altLang="zh-CN" sz="2800" dirty="0">
                <a:solidFill>
                  <a:srgbClr val="7030A0"/>
                </a:solidFill>
              </a:rPr>
              <a:t>对于绝大多数算法来说，其复杂度的增长速度还可以使用基本或常用函数增长类型通过示例性的方法来描述或表示，</a:t>
            </a:r>
            <a:r>
              <a:rPr lang="zh-CN" altLang="zh-CN" sz="2800" dirty="0"/>
              <a:t>如</a:t>
            </a:r>
            <a:r>
              <a:rPr lang="zh-CN" altLang="zh-CN" sz="2800" dirty="0">
                <a:solidFill>
                  <a:schemeClr val="accent6"/>
                </a:solidFill>
              </a:rPr>
              <a:t>常数级、对数级、多项式级、指数级、阶乘级增长速度，等等。</a:t>
            </a:r>
            <a:r>
              <a:rPr lang="zh-CN" altLang="en-US" sz="2800" dirty="0">
                <a:solidFill>
                  <a:schemeClr val="accent6"/>
                </a:solidFill>
              </a:rPr>
              <a:t>下面介绍一些常见的</a:t>
            </a:r>
            <a:r>
              <a:rPr lang="zh-CN" altLang="en-US" sz="2800" b="1" dirty="0">
                <a:solidFill>
                  <a:schemeClr val="accent6"/>
                </a:solidFill>
              </a:rPr>
              <a:t>时间复杂度</a:t>
            </a:r>
            <a:r>
              <a:rPr lang="zh-CN" altLang="en-US" sz="2800" dirty="0">
                <a:solidFill>
                  <a:schemeClr val="accent6"/>
                </a:solidFill>
              </a:rPr>
              <a:t>。</a:t>
            </a:r>
          </a:p>
        </p:txBody>
      </p:sp>
    </p:spTree>
    <p:extLst>
      <p:ext uri="{BB962C8B-B14F-4D97-AF65-F5344CB8AC3E}">
        <p14:creationId xmlns:p14="http://schemas.microsoft.com/office/powerpoint/2010/main" val="2431760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E7887D65-0812-4EA6-BC9E-B6C5C27F4C40}" type="slidenum">
              <a:rPr lang="en-US" altLang="zh-CN"/>
              <a:pPr>
                <a:defRPr/>
              </a:pPr>
              <a:t>17</a:t>
            </a:fld>
            <a:endParaRPr lang="en-US" altLang="zh-CN"/>
          </a:p>
        </p:txBody>
      </p:sp>
      <p:sp>
        <p:nvSpPr>
          <p:cNvPr id="10245"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102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21891" y="2276872"/>
            <a:ext cx="7672821" cy="3508653"/>
          </a:xfrm>
          <a:prstGeom prst="rect">
            <a:avLst/>
          </a:prstGeom>
          <a:blipFill rotWithShape="0">
            <a:blip r:embed="rId4"/>
            <a:stretch>
              <a:fillRect l="-1272" t="-1913" b="-2609"/>
            </a:stretch>
          </a:blipFill>
        </p:spPr>
        <p:txBody>
          <a:bodyPr/>
          <a:lstStyle/>
          <a:p>
            <a:r>
              <a:rPr lang="zh-CN" altLang="en-US">
                <a:noFill/>
              </a:rPr>
              <a:t> </a:t>
            </a:r>
          </a:p>
        </p:txBody>
      </p:sp>
    </p:spTree>
    <p:extLst>
      <p:ext uri="{BB962C8B-B14F-4D97-AF65-F5344CB8AC3E}">
        <p14:creationId xmlns:p14="http://schemas.microsoft.com/office/powerpoint/2010/main" val="31796647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ECA4B806-2884-407C-8451-3171D734C4A4}" type="slidenum">
              <a:rPr lang="en-US" altLang="zh-CN"/>
              <a:pPr>
                <a:defRPr/>
              </a:pPr>
              <a:t>18</a:t>
            </a:fld>
            <a:endParaRPr lang="en-US" altLang="zh-CN"/>
          </a:p>
        </p:txBody>
      </p:sp>
      <p:sp>
        <p:nvSpPr>
          <p:cNvPr id="11269"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112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21891" y="2276872"/>
            <a:ext cx="7672821" cy="3663823"/>
          </a:xfrm>
          <a:prstGeom prst="rect">
            <a:avLst/>
          </a:prstGeom>
          <a:blipFill rotWithShape="0">
            <a:blip r:embed="rId4"/>
            <a:stretch>
              <a:fillRect l="-1272" t="-1830"/>
            </a:stretch>
          </a:blipFill>
        </p:spPr>
        <p:txBody>
          <a:bodyPr/>
          <a:lstStyle/>
          <a:p>
            <a:r>
              <a:rPr lang="zh-CN" altLang="en-US">
                <a:noFill/>
              </a:rPr>
              <a:t> </a:t>
            </a:r>
          </a:p>
        </p:txBody>
      </p:sp>
    </p:spTree>
    <p:extLst>
      <p:ext uri="{BB962C8B-B14F-4D97-AF65-F5344CB8AC3E}">
        <p14:creationId xmlns:p14="http://schemas.microsoft.com/office/powerpoint/2010/main" val="2240208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5560D5FE-733D-41A5-BA12-665F6A175AD7}" type="slidenum">
              <a:rPr lang="en-US" altLang="zh-CN"/>
              <a:pPr>
                <a:defRPr/>
              </a:pPr>
              <a:t>19</a:t>
            </a:fld>
            <a:endParaRPr lang="en-US" altLang="zh-CN"/>
          </a:p>
        </p:txBody>
      </p:sp>
      <p:sp>
        <p:nvSpPr>
          <p:cNvPr id="12293"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时间复杂度</a:t>
            </a:r>
          </a:p>
        </p:txBody>
      </p:sp>
      <p:pic>
        <p:nvPicPr>
          <p:cNvPr id="122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773423" y="1964989"/>
            <a:ext cx="7672821" cy="4272323"/>
          </a:xfrm>
          <a:prstGeom prst="rect">
            <a:avLst/>
          </a:prstGeom>
          <a:blipFill rotWithShape="0">
            <a:blip r:embed="rId4"/>
            <a:stretch>
              <a:fillRect l="-1271" t="-1427" b="-2282"/>
            </a:stretch>
          </a:blipFill>
        </p:spPr>
        <p:txBody>
          <a:bodyPr/>
          <a:lstStyle/>
          <a:p>
            <a:r>
              <a:rPr lang="zh-CN" altLang="en-US">
                <a:noFill/>
              </a:rPr>
              <a:t> </a:t>
            </a:r>
          </a:p>
        </p:txBody>
      </p:sp>
    </p:spTree>
    <p:extLst>
      <p:ext uri="{BB962C8B-B14F-4D97-AF65-F5344CB8AC3E}">
        <p14:creationId xmlns:p14="http://schemas.microsoft.com/office/powerpoint/2010/main" val="12368294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EF967FEE-0E09-46CA-860C-1944ED5F3615}" type="slidenum">
              <a:rPr lang="en-US" altLang="zh-CN"/>
              <a:pPr>
                <a:defRPr/>
              </a:pPr>
              <a:t>20</a:t>
            </a:fld>
            <a:endParaRPr lang="en-US" altLang="zh-CN"/>
          </a:p>
        </p:txBody>
      </p:sp>
      <p:sp>
        <p:nvSpPr>
          <p:cNvPr id="13317" name="Text Box 2"/>
          <p:cNvSpPr txBox="1">
            <a:spLocks noChangeArrowheads="1"/>
          </p:cNvSpPr>
          <p:nvPr/>
        </p:nvSpPr>
        <p:spPr bwMode="auto">
          <a:xfrm>
            <a:off x="1468438" y="836613"/>
            <a:ext cx="6199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空间复杂度</a:t>
            </a:r>
          </a:p>
        </p:txBody>
      </p:sp>
      <p:pic>
        <p:nvPicPr>
          <p:cNvPr id="1331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92188" y="2133600"/>
            <a:ext cx="6873875" cy="3970338"/>
          </a:xfrm>
          <a:prstGeom prst="rect">
            <a:avLst/>
          </a:prstGeom>
          <a:solidFill>
            <a:schemeClr val="accent5">
              <a:lumMod val="40000"/>
              <a:lumOff val="60000"/>
            </a:schemeClr>
          </a:solidFill>
          <a:ln w="19050">
            <a:solidFill>
              <a:schemeClr val="accent1">
                <a:lumMod val="60000"/>
                <a:lumOff val="40000"/>
              </a:schemeClr>
            </a:solidFill>
          </a:ln>
        </p:spPr>
        <p:txBody>
          <a:bodyPr>
            <a:spAutoFit/>
          </a:bodyPr>
          <a:lstStyle/>
          <a:p>
            <a:pPr>
              <a:defRPr/>
            </a:pPr>
            <a:r>
              <a:rPr lang="zh-CN" altLang="en-US" sz="2800" b="1" dirty="0">
                <a:solidFill>
                  <a:schemeClr val="accent2"/>
                </a:solidFill>
              </a:rPr>
              <a:t>空间复杂度：</a:t>
            </a:r>
            <a:endParaRPr lang="en-US" altLang="zh-CN" sz="2800" b="1" dirty="0">
              <a:solidFill>
                <a:schemeClr val="accent2"/>
              </a:solidFill>
            </a:endParaRPr>
          </a:p>
          <a:p>
            <a:pPr>
              <a:defRPr/>
            </a:pPr>
            <a:r>
              <a:rPr lang="en-US" altLang="zh-CN" sz="2800" dirty="0"/>
              <a:t>    </a:t>
            </a:r>
            <a:r>
              <a:rPr lang="zh-CN" altLang="en-US" sz="2800" dirty="0">
                <a:solidFill>
                  <a:schemeClr val="accent6"/>
                </a:solidFill>
              </a:rPr>
              <a:t>一个程序的空间复杂度是指运行完一个程序所需内存的大小。</a:t>
            </a:r>
            <a:r>
              <a:rPr lang="zh-CN" altLang="en-US" sz="2800" dirty="0">
                <a:solidFill>
                  <a:srgbClr val="7030A0"/>
                </a:solidFill>
              </a:rPr>
              <a:t>利用程序的空间，可以对程序的运行所需要的内存多少有个预先估计。一个程序执行时除了需要存储空间和存储本身所使用的指令、常数、变量和输入数据外，还需要一些对数据进行操作的工作单元和存储一些为现实计算所需信息的</a:t>
            </a:r>
            <a:r>
              <a:rPr lang="zh-CN" altLang="en-US" sz="2800" b="1" dirty="0">
                <a:solidFill>
                  <a:schemeClr val="accent6"/>
                </a:solidFill>
              </a:rPr>
              <a:t>辅助空间</a:t>
            </a:r>
            <a:r>
              <a:rPr lang="zh-CN" altLang="en-US" sz="2800" dirty="0">
                <a:solidFill>
                  <a:srgbClr val="7030A0"/>
                </a:solidFill>
              </a:rPr>
              <a:t>。</a:t>
            </a:r>
          </a:p>
        </p:txBody>
      </p:sp>
    </p:spTree>
    <p:extLst>
      <p:ext uri="{BB962C8B-B14F-4D97-AF65-F5344CB8AC3E}">
        <p14:creationId xmlns:p14="http://schemas.microsoft.com/office/powerpoint/2010/main" val="31415954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a:t>
            </a:r>
            <a:r>
              <a:rPr lang="zh-CN" altLang="en-US" sz="4000" b="1">
                <a:solidFill>
                  <a:schemeClr val="bg1"/>
                </a:solidFill>
                <a:latin typeface="宋体" panose="02010600030101010101" pitchFamily="2" charset="-122"/>
                <a:ea typeface="宋体" panose="02010600030101010101" pitchFamily="2" charset="-122"/>
              </a:rPr>
              <a:t>算法设计的基本知识</a:t>
            </a:r>
          </a:p>
        </p:txBody>
      </p:sp>
      <p:sp>
        <p:nvSpPr>
          <p:cNvPr id="4099" name="Rectangle 3"/>
          <p:cNvSpPr>
            <a:spLocks noGrp="1" noChangeArrowheads="1"/>
          </p:cNvSpPr>
          <p:nvPr>
            <p:ph type="body" sz="half" idx="1"/>
          </p:nvPr>
        </p:nvSpPr>
        <p:spPr>
          <a:xfrm>
            <a:off x="2193925" y="2708275"/>
            <a:ext cx="5400675" cy="3600450"/>
          </a:xfrm>
        </p:spPr>
        <p:txBody>
          <a:bodyPr lIns="92075" tIns="46038" rIns="92075" bIns="46038"/>
          <a:lstStyle/>
          <a:p>
            <a:pPr>
              <a:lnSpc>
                <a:spcPct val="130000"/>
              </a:lnSpc>
              <a:spcBef>
                <a:spcPct val="30000"/>
              </a:spcBef>
              <a:buFont typeface="Wingdings" panose="05000000000000000000" pitchFamily="2" charset="2"/>
              <a:buChar char="4"/>
              <a:defRPr/>
            </a:pPr>
            <a:r>
              <a:rPr lang="zh-CN" altLang="en-US" sz="3600" b="1" dirty="0" smtClean="0">
                <a:effectLst/>
                <a:latin typeface="黑体" panose="02010609060101010101" pitchFamily="49" charset="-122"/>
                <a:ea typeface="黑体" panose="02010609060101010101" pitchFamily="49" charset="-122"/>
              </a:rPr>
              <a:t> 算法的基本概念</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4"/>
              <a:defRPr/>
            </a:pPr>
            <a:r>
              <a:rPr lang="zh-CN" altLang="en-US" sz="3600" b="1" dirty="0" smtClean="0">
                <a:effectLst/>
                <a:latin typeface="黑体" panose="02010609060101010101" pitchFamily="49" charset="-122"/>
                <a:ea typeface="黑体" panose="02010609060101010101" pitchFamily="49" charset="-122"/>
              </a:rPr>
              <a:t> 算法效率的度量</a:t>
            </a:r>
          </a:p>
          <a:p>
            <a:pPr>
              <a:lnSpc>
                <a:spcPct val="130000"/>
              </a:lnSpc>
              <a:spcBef>
                <a:spcPct val="30000"/>
              </a:spcBef>
              <a:buFont typeface="Wingdings" panose="05000000000000000000" pitchFamily="2" charset="2"/>
              <a:buChar char="J"/>
              <a:defRPr/>
            </a:pPr>
            <a:r>
              <a:rPr lang="zh-CN" altLang="en-US" sz="3600" b="1" dirty="0" smtClean="0">
                <a:solidFill>
                  <a:schemeClr val="accent6"/>
                </a:solidFill>
                <a:effectLst/>
                <a:latin typeface="黑体" panose="02010609060101010101" pitchFamily="49" charset="-122"/>
                <a:ea typeface="黑体" panose="02010609060101010101" pitchFamily="49" charset="-122"/>
              </a:rPr>
              <a:t> 算法设计应用举例</a:t>
            </a:r>
          </a:p>
        </p:txBody>
      </p:sp>
      <p:pic>
        <p:nvPicPr>
          <p:cNvPr id="1434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46184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C57650A8-F0C6-4C53-A1E8-05DDBB8D552C}" type="slidenum">
              <a:rPr lang="en-US" altLang="zh-CN"/>
              <a:pPr>
                <a:defRPr/>
              </a:pPr>
              <a:t>22</a:t>
            </a:fld>
            <a:endParaRPr lang="en-US" altLang="zh-CN"/>
          </a:p>
        </p:txBody>
      </p:sp>
      <p:sp>
        <p:nvSpPr>
          <p:cNvPr id="15365"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1536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27584" y="2230705"/>
            <a:ext cx="7577905" cy="3785652"/>
          </a:xfrm>
          <a:prstGeom prst="rect">
            <a:avLst/>
          </a:prstGeom>
          <a:blipFill rotWithShape="0">
            <a:blip r:embed="rId4"/>
            <a:stretch>
              <a:fillRect l="-1204" t="-1603" r="-642" b="-1923"/>
            </a:stretch>
          </a:blipFill>
          <a:ln w="19050">
            <a:solidFill>
              <a:schemeClr val="accent1">
                <a:lumMod val="60000"/>
                <a:lumOff val="40000"/>
              </a:schemeClr>
            </a:solidFill>
          </a:ln>
        </p:spPr>
        <p:txBody>
          <a:bodyPr/>
          <a:lstStyle/>
          <a:p>
            <a:r>
              <a:rPr lang="zh-CN" altLang="en-US">
                <a:noFill/>
              </a:rPr>
              <a:t> </a:t>
            </a:r>
          </a:p>
        </p:txBody>
      </p:sp>
    </p:spTree>
    <p:extLst>
      <p:ext uri="{BB962C8B-B14F-4D97-AF65-F5344CB8AC3E}">
        <p14:creationId xmlns:p14="http://schemas.microsoft.com/office/powerpoint/2010/main" val="10905605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4F88D19C-9216-4E66-8E81-84D2B1176F2A}" type="slidenum">
              <a:rPr lang="en-US" altLang="zh-CN"/>
              <a:pPr>
                <a:defRPr/>
              </a:pPr>
              <a:t>23</a:t>
            </a:fld>
            <a:endParaRPr lang="en-US" altLang="zh-CN"/>
          </a:p>
        </p:txBody>
      </p:sp>
      <p:sp>
        <p:nvSpPr>
          <p:cNvPr id="16389"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163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a:spLocks noRot="1" noChangeAspect="1" noMove="1" noResize="1" noEditPoints="1" noAdjustHandles="1" noChangeArrowheads="1" noChangeShapeType="1" noTextEdit="1"/>
          </p:cNvSpPr>
          <p:nvPr/>
        </p:nvSpPr>
        <p:spPr>
          <a:xfrm>
            <a:off x="972108" y="2161222"/>
            <a:ext cx="7272808" cy="4093428"/>
          </a:xfrm>
          <a:prstGeom prst="rect">
            <a:avLst/>
          </a:prstGeom>
          <a:blipFill rotWithShape="0">
            <a:blip r:embed="rId4"/>
            <a:stretch>
              <a:fillRect l="-1170" t="-1039" b="-1780"/>
            </a:stretch>
          </a:blipFill>
          <a:ln w="19050">
            <a:solidFill>
              <a:schemeClr val="accent1">
                <a:lumMod val="60000"/>
                <a:lumOff val="40000"/>
              </a:schemeClr>
            </a:solidFill>
          </a:ln>
        </p:spPr>
        <p:txBody>
          <a:bodyPr/>
          <a:lstStyle/>
          <a:p>
            <a:r>
              <a:rPr lang="zh-CN" altLang="en-US">
                <a:noFill/>
              </a:rPr>
              <a:t> </a:t>
            </a:r>
          </a:p>
        </p:txBody>
      </p:sp>
    </p:spTree>
    <p:extLst>
      <p:ext uri="{BB962C8B-B14F-4D97-AF65-F5344CB8AC3E}">
        <p14:creationId xmlns:p14="http://schemas.microsoft.com/office/powerpoint/2010/main" val="25484316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19870685-366C-41AB-8CCB-18E9FE54745D}" type="slidenum">
              <a:rPr lang="en-US" altLang="zh-CN"/>
              <a:pPr>
                <a:defRPr/>
              </a:pPr>
              <a:t>24</a:t>
            </a:fld>
            <a:endParaRPr lang="en-US" altLang="zh-CN"/>
          </a:p>
        </p:txBody>
      </p:sp>
      <p:sp>
        <p:nvSpPr>
          <p:cNvPr id="17413"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1741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a:spLocks noRot="1" noChangeAspect="1" noMove="1" noResize="1" noEditPoints="1" noAdjustHandles="1" noChangeArrowheads="1" noChangeShapeType="1" noTextEdit="1"/>
          </p:cNvSpPr>
          <p:nvPr/>
        </p:nvSpPr>
        <p:spPr>
          <a:xfrm>
            <a:off x="935596" y="2587337"/>
            <a:ext cx="7272808" cy="3277820"/>
          </a:xfrm>
          <a:prstGeom prst="rect">
            <a:avLst/>
          </a:prstGeom>
          <a:blipFill rotWithShape="0">
            <a:blip r:embed="rId4"/>
            <a:stretch>
              <a:fillRect l="-1170" t="-1294" b="-1848"/>
            </a:stretch>
          </a:blipFill>
          <a:ln w="19050">
            <a:solidFill>
              <a:schemeClr val="accent1">
                <a:lumMod val="60000"/>
                <a:lumOff val="40000"/>
              </a:schemeClr>
            </a:solidFill>
          </a:ln>
        </p:spPr>
        <p:txBody>
          <a:bodyPr/>
          <a:lstStyle/>
          <a:p>
            <a:r>
              <a:rPr lang="zh-CN" altLang="en-US">
                <a:noFill/>
              </a:rPr>
              <a:t> </a:t>
            </a:r>
          </a:p>
        </p:txBody>
      </p:sp>
    </p:spTree>
    <p:extLst>
      <p:ext uri="{BB962C8B-B14F-4D97-AF65-F5344CB8AC3E}">
        <p14:creationId xmlns:p14="http://schemas.microsoft.com/office/powerpoint/2010/main" val="34716781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F3EAD48F-DE5D-4709-97CE-8536E238AE63}" type="slidenum">
              <a:rPr lang="en-US" altLang="zh-CN"/>
              <a:pPr>
                <a:defRPr/>
              </a:pPr>
              <a:t>25</a:t>
            </a:fld>
            <a:endParaRPr lang="en-US" altLang="zh-CN"/>
          </a:p>
        </p:txBody>
      </p:sp>
      <p:sp>
        <p:nvSpPr>
          <p:cNvPr id="18437"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184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81063" y="2636838"/>
            <a:ext cx="7577137" cy="2954655"/>
          </a:xfrm>
          <a:prstGeom prst="rect">
            <a:avLst/>
          </a:prstGeom>
          <a:solidFill>
            <a:schemeClr val="accent6">
              <a:lumMod val="20000"/>
              <a:lumOff val="80000"/>
            </a:schemeClr>
          </a:solidFill>
          <a:ln w="19050">
            <a:solidFill>
              <a:schemeClr val="accent1">
                <a:lumMod val="60000"/>
                <a:lumOff val="40000"/>
              </a:schemeClr>
            </a:solidFill>
          </a:ln>
        </p:spPr>
        <p:txBody>
          <a:bodyPr>
            <a:spAutoFit/>
          </a:bodyPr>
          <a:lstStyle/>
          <a:p>
            <a:pPr>
              <a:spcAft>
                <a:spcPts val="1200"/>
              </a:spcAft>
              <a:defRPr/>
            </a:pPr>
            <a:r>
              <a:rPr lang="zh-CN" altLang="zh-CN" dirty="0">
                <a:solidFill>
                  <a:srgbClr val="00B0F0"/>
                </a:solidFill>
              </a:rPr>
              <a:t>【例题】</a:t>
            </a:r>
            <a:r>
              <a:rPr lang="zh-CN" altLang="zh-CN" sz="2400" dirty="0">
                <a:solidFill>
                  <a:schemeClr val="accent6"/>
                </a:solidFill>
              </a:rPr>
              <a:t>（找假币问题）有</a:t>
            </a:r>
            <a:r>
              <a:rPr lang="en-US" altLang="zh-CN" sz="2400" dirty="0">
                <a:solidFill>
                  <a:schemeClr val="accent6"/>
                </a:solidFill>
              </a:rPr>
              <a:t>12</a:t>
            </a:r>
            <a:r>
              <a:rPr lang="zh-CN" altLang="zh-CN" sz="2400" dirty="0">
                <a:solidFill>
                  <a:schemeClr val="accent6"/>
                </a:solidFill>
              </a:rPr>
              <a:t>枚外观相同的硬币，要么全是真币，要么仅有一枚是假币。我们并不知道假币比真币重还是轻，你可以使用一个没有砝码的两盘天平秤，确定是否所有的硬币都是真币。如果有假币，找出那个假币并判断假币和真币相比孰轻孰重。</a:t>
            </a:r>
            <a:endParaRPr lang="en-US" altLang="zh-CN" sz="2400" dirty="0">
              <a:solidFill>
                <a:schemeClr val="accent6"/>
              </a:solidFill>
            </a:endParaRPr>
          </a:p>
          <a:p>
            <a:pPr>
              <a:defRPr/>
            </a:pPr>
            <a:r>
              <a:rPr lang="zh-CN" altLang="zh-CN" sz="2400" b="1" dirty="0">
                <a:solidFill>
                  <a:srgbClr val="7030A0"/>
                </a:solidFill>
              </a:rPr>
              <a:t>设计一个算法，能够在使用最少称重次数的情况下解决这个问题。</a:t>
            </a:r>
            <a:endParaRPr lang="zh-CN" altLang="en-US" sz="2400" b="1" dirty="0">
              <a:solidFill>
                <a:srgbClr val="7030A0"/>
              </a:solidFill>
            </a:endParaRPr>
          </a:p>
        </p:txBody>
      </p:sp>
    </p:spTree>
    <p:extLst>
      <p:ext uri="{BB962C8B-B14F-4D97-AF65-F5344CB8AC3E}">
        <p14:creationId xmlns:p14="http://schemas.microsoft.com/office/powerpoint/2010/main" val="4617911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669427EE-967B-46AF-BF59-97DBDE690D34}" type="slidenum">
              <a:rPr lang="en-US" altLang="zh-CN"/>
              <a:pPr>
                <a:defRPr/>
              </a:pPr>
              <a:t>26</a:t>
            </a:fld>
            <a:endParaRPr lang="en-US" altLang="zh-CN"/>
          </a:p>
        </p:txBody>
      </p:sp>
      <p:sp>
        <p:nvSpPr>
          <p:cNvPr id="8" name="文本框 7"/>
          <p:cNvSpPr txBox="1"/>
          <p:nvPr/>
        </p:nvSpPr>
        <p:spPr>
          <a:xfrm>
            <a:off x="179388" y="549275"/>
            <a:ext cx="8785225" cy="5807075"/>
          </a:xfrm>
          <a:prstGeom prst="rect">
            <a:avLst/>
          </a:prstGeom>
          <a:solidFill>
            <a:schemeClr val="accent6">
              <a:lumMod val="20000"/>
              <a:lumOff val="80000"/>
            </a:schemeClr>
          </a:solidFill>
          <a:ln w="19050">
            <a:solidFill>
              <a:schemeClr val="accent1">
                <a:lumMod val="60000"/>
                <a:lumOff val="40000"/>
              </a:schemeClr>
            </a:solidFill>
          </a:ln>
        </p:spPr>
        <p:txBody>
          <a:bodyPr>
            <a:spAutoFit/>
          </a:bodyPr>
          <a:lstStyle/>
          <a:p>
            <a:pPr>
              <a:defRPr/>
            </a:pPr>
            <a:endParaRPr lang="zh-CN" altLang="en-US" dirty="0"/>
          </a:p>
        </p:txBody>
      </p:sp>
      <p:pic>
        <p:nvPicPr>
          <p:cNvPr id="19462"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6275" y="549275"/>
            <a:ext cx="7791450" cy="578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38606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4E714663-5D14-4D8F-816B-DFC98E1CE5C7}" type="slidenum">
              <a:rPr lang="en-US" altLang="zh-CN"/>
              <a:pPr>
                <a:defRPr/>
              </a:pPr>
              <a:t>27</a:t>
            </a:fld>
            <a:endParaRPr lang="en-US" altLang="zh-CN"/>
          </a:p>
        </p:txBody>
      </p:sp>
      <p:sp>
        <p:nvSpPr>
          <p:cNvPr id="20485"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04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19943" y="2145501"/>
            <a:ext cx="7577137" cy="4062651"/>
          </a:xfrm>
          <a:prstGeom prst="rect">
            <a:avLst/>
          </a:prstGeom>
          <a:solidFill>
            <a:schemeClr val="accent6">
              <a:lumMod val="20000"/>
              <a:lumOff val="80000"/>
            </a:schemeClr>
          </a:solidFill>
          <a:ln w="19050">
            <a:solidFill>
              <a:schemeClr val="accent1">
                <a:lumMod val="60000"/>
                <a:lumOff val="40000"/>
              </a:schemeClr>
            </a:solidFill>
          </a:ln>
        </p:spPr>
        <p:txBody>
          <a:bodyPr>
            <a:spAutoFit/>
          </a:bodyPr>
          <a:lstStyle/>
          <a:p>
            <a:pPr>
              <a:spcAft>
                <a:spcPts val="1200"/>
              </a:spcAft>
              <a:defRPr/>
            </a:pPr>
            <a:r>
              <a:rPr lang="zh-CN" altLang="zh-CN" sz="2400" dirty="0">
                <a:solidFill>
                  <a:srgbClr val="00B0F0"/>
                </a:solidFill>
              </a:rPr>
              <a:t>【例题】</a:t>
            </a:r>
            <a:r>
              <a:rPr lang="zh-CN" altLang="zh-CN" sz="2400" b="1" dirty="0">
                <a:solidFill>
                  <a:srgbClr val="7030A0"/>
                </a:solidFill>
              </a:rPr>
              <a:t>（受限汉诺塔问题）如图</a:t>
            </a:r>
            <a:r>
              <a:rPr lang="en-US" altLang="zh-CN" sz="2400" b="1" dirty="0">
                <a:solidFill>
                  <a:srgbClr val="7030A0"/>
                </a:solidFill>
              </a:rPr>
              <a:t>2-2</a:t>
            </a:r>
            <a:r>
              <a:rPr lang="zh-CN" altLang="zh-CN" sz="2400" b="1" dirty="0">
                <a:solidFill>
                  <a:srgbClr val="7030A0"/>
                </a:solidFill>
              </a:rPr>
              <a:t>所示。设计一个算法来求解该问题，使得所有的移动次数最小。</a:t>
            </a:r>
            <a:endParaRPr lang="en-US" altLang="zh-CN" sz="2400"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p:txBody>
      </p:sp>
      <p:pic>
        <p:nvPicPr>
          <p:cNvPr id="20488"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81163" y="3500438"/>
            <a:ext cx="616426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37610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0A344092-B3CD-4C84-B10D-15B2AB6A734F}" type="slidenum">
              <a:rPr lang="en-US" altLang="zh-CN"/>
              <a:pPr>
                <a:defRPr/>
              </a:pPr>
              <a:t>28</a:t>
            </a:fld>
            <a:endParaRPr lang="en-US" altLang="zh-CN"/>
          </a:p>
        </p:txBody>
      </p:sp>
      <p:sp>
        <p:nvSpPr>
          <p:cNvPr id="21509"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15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80419" y="2230085"/>
            <a:ext cx="7577905" cy="3877985"/>
          </a:xfrm>
          <a:prstGeom prst="rect">
            <a:avLst/>
          </a:prstGeom>
          <a:blipFill rotWithShape="0">
            <a:blip r:embed="rId4"/>
            <a:stretch>
              <a:fillRect l="-1123" t="-1565"/>
            </a:stretch>
          </a:blipFill>
          <a:ln w="19050">
            <a:solidFill>
              <a:schemeClr val="accent1">
                <a:lumMod val="60000"/>
                <a:lumOff val="40000"/>
              </a:schemeClr>
            </a:solidFill>
          </a:ln>
        </p:spPr>
        <p:txBody>
          <a:bodyPr/>
          <a:lstStyle/>
          <a:p>
            <a:r>
              <a:rPr lang="zh-CN" altLang="en-US">
                <a:noFill/>
              </a:rPr>
              <a:t> </a:t>
            </a:r>
          </a:p>
        </p:txBody>
      </p:sp>
      <p:pic>
        <p:nvPicPr>
          <p:cNvPr id="21512"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70088" y="4168775"/>
            <a:ext cx="5535612"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30256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F43468B1-FC5B-4411-AB17-B30DBEDFDB9B}" type="slidenum">
              <a:rPr lang="en-US" altLang="zh-CN"/>
              <a:pPr>
                <a:defRPr/>
              </a:pPr>
              <a:t>29</a:t>
            </a:fld>
            <a:endParaRPr lang="en-US" altLang="zh-CN"/>
          </a:p>
        </p:txBody>
      </p:sp>
      <p:sp>
        <p:nvSpPr>
          <p:cNvPr id="22533"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25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81063" y="2230438"/>
            <a:ext cx="7577137" cy="3631763"/>
          </a:xfrm>
          <a:prstGeom prst="rect">
            <a:avLst/>
          </a:prstGeom>
          <a:solidFill>
            <a:schemeClr val="accent6">
              <a:lumMod val="20000"/>
              <a:lumOff val="80000"/>
            </a:schemeClr>
          </a:solidFill>
          <a:ln w="19050">
            <a:solidFill>
              <a:schemeClr val="accent1">
                <a:lumMod val="60000"/>
                <a:lumOff val="40000"/>
              </a:schemeClr>
            </a:solidFill>
          </a:ln>
        </p:spPr>
        <p:txBody>
          <a:bodyPr>
            <a:spAutoFit/>
          </a:bodyPr>
          <a:lstStyle/>
          <a:p>
            <a:pPr>
              <a:defRPr/>
            </a:pPr>
            <a:r>
              <a:rPr lang="zh-CN" altLang="zh-CN" sz="2400" dirty="0"/>
              <a:t>【解】</a:t>
            </a:r>
            <a:r>
              <a:rPr lang="zh-CN" altLang="en-US" sz="2400" dirty="0"/>
              <a:t>续</a:t>
            </a:r>
            <a:endParaRPr lang="en-US" altLang="zh-CN" sz="2400" dirty="0"/>
          </a:p>
          <a:p>
            <a:pPr>
              <a:defRPr/>
            </a:pPr>
            <a:r>
              <a:rPr lang="en-US" altLang="zh-CN" sz="2400" dirty="0">
                <a:solidFill>
                  <a:schemeClr val="accent6"/>
                </a:solidFill>
              </a:rPr>
              <a:t>2</a:t>
            </a:r>
            <a:r>
              <a:rPr lang="zh-CN" altLang="en-US" sz="2400" dirty="0">
                <a:solidFill>
                  <a:schemeClr val="accent6"/>
                </a:solidFill>
              </a:rPr>
              <a:t>）</a:t>
            </a:r>
            <a:r>
              <a:rPr lang="zh-CN" altLang="zh-CN" sz="2400" dirty="0">
                <a:solidFill>
                  <a:schemeClr val="accent6"/>
                </a:solidFill>
              </a:rPr>
              <a:t>将源柱子上最下面的盘子移动到中间柱子上，如</a:t>
            </a:r>
            <a:r>
              <a:rPr lang="zh-CN" altLang="en-US" sz="2400" dirty="0">
                <a:solidFill>
                  <a:schemeClr val="accent6"/>
                </a:solidFill>
              </a:rPr>
              <a:t>下</a:t>
            </a:r>
            <a:r>
              <a:rPr lang="zh-CN" altLang="zh-CN" sz="2400" dirty="0">
                <a:solidFill>
                  <a:schemeClr val="accent6"/>
                </a:solidFill>
              </a:rPr>
              <a:t>图所示。</a:t>
            </a: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p:txBody>
      </p:sp>
      <p:pic>
        <p:nvPicPr>
          <p:cNvPr id="22536"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3500438"/>
            <a:ext cx="6130925"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39681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7ECBB4A4-6B1E-433E-B30E-494828596665}" type="slidenum">
              <a:rPr lang="en-US" altLang="zh-CN"/>
              <a:pPr>
                <a:defRPr/>
              </a:pPr>
              <a:t>30</a:t>
            </a:fld>
            <a:endParaRPr lang="en-US" altLang="zh-CN"/>
          </a:p>
        </p:txBody>
      </p:sp>
      <p:sp>
        <p:nvSpPr>
          <p:cNvPr id="23557"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35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80419" y="2230085"/>
            <a:ext cx="7577905" cy="3139321"/>
          </a:xfrm>
          <a:prstGeom prst="rect">
            <a:avLst/>
          </a:prstGeom>
          <a:blipFill rotWithShape="0">
            <a:blip r:embed="rId4"/>
            <a:stretch>
              <a:fillRect l="-1123" t="-1351"/>
            </a:stretch>
          </a:blipFill>
          <a:ln w="19050">
            <a:solidFill>
              <a:schemeClr val="accent1">
                <a:lumMod val="60000"/>
                <a:lumOff val="40000"/>
              </a:schemeClr>
            </a:solidFill>
          </a:ln>
        </p:spPr>
        <p:txBody>
          <a:bodyPr/>
          <a:lstStyle/>
          <a:p>
            <a:r>
              <a:rPr lang="zh-CN" altLang="en-US">
                <a:noFill/>
              </a:rPr>
              <a:t> </a:t>
            </a:r>
          </a:p>
        </p:txBody>
      </p:sp>
      <p:pic>
        <p:nvPicPr>
          <p:cNvPr id="23560"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36713" y="3500438"/>
            <a:ext cx="620712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99524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9CDCDC23-5B8C-4058-9281-4ABC21C85632}" type="slidenum">
              <a:rPr lang="en-US" altLang="zh-CN"/>
              <a:pPr>
                <a:defRPr/>
              </a:pPr>
              <a:t>31</a:t>
            </a:fld>
            <a:endParaRPr lang="en-US" altLang="zh-CN"/>
          </a:p>
        </p:txBody>
      </p:sp>
      <p:sp>
        <p:nvSpPr>
          <p:cNvPr id="24581"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45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81063" y="2230438"/>
            <a:ext cx="7577137" cy="3631763"/>
          </a:xfrm>
          <a:prstGeom prst="rect">
            <a:avLst/>
          </a:prstGeom>
          <a:solidFill>
            <a:schemeClr val="accent6">
              <a:lumMod val="20000"/>
              <a:lumOff val="80000"/>
            </a:schemeClr>
          </a:solidFill>
          <a:ln w="19050">
            <a:solidFill>
              <a:schemeClr val="accent1">
                <a:lumMod val="60000"/>
                <a:lumOff val="40000"/>
              </a:schemeClr>
            </a:solidFill>
          </a:ln>
        </p:spPr>
        <p:txBody>
          <a:bodyPr>
            <a:spAutoFit/>
          </a:bodyPr>
          <a:lstStyle/>
          <a:p>
            <a:pPr>
              <a:defRPr/>
            </a:pPr>
            <a:r>
              <a:rPr lang="zh-CN" altLang="zh-CN" sz="2400" dirty="0"/>
              <a:t>【解】</a:t>
            </a:r>
            <a:r>
              <a:rPr lang="zh-CN" altLang="en-US" sz="2400" dirty="0"/>
              <a:t>续</a:t>
            </a:r>
            <a:endParaRPr lang="en-US" altLang="zh-CN" sz="2400" dirty="0"/>
          </a:p>
          <a:p>
            <a:pPr>
              <a:defRPr/>
            </a:pPr>
            <a:r>
              <a:rPr lang="en-US" altLang="zh-CN" sz="2400" dirty="0">
                <a:solidFill>
                  <a:schemeClr val="accent6"/>
                </a:solidFill>
              </a:rPr>
              <a:t>4</a:t>
            </a:r>
            <a:r>
              <a:rPr lang="zh-CN" altLang="en-US" sz="2400" dirty="0">
                <a:solidFill>
                  <a:schemeClr val="accent6"/>
                </a:solidFill>
              </a:rPr>
              <a:t>）</a:t>
            </a:r>
            <a:r>
              <a:rPr lang="zh-CN" altLang="zh-CN" sz="2400" dirty="0">
                <a:solidFill>
                  <a:schemeClr val="accent6"/>
                </a:solidFill>
              </a:rPr>
              <a:t>将中间柱子上的盘子移动到目的柱子上，如</a:t>
            </a:r>
            <a:r>
              <a:rPr lang="zh-CN" altLang="en-US" sz="2400" dirty="0">
                <a:solidFill>
                  <a:schemeClr val="accent6"/>
                </a:solidFill>
              </a:rPr>
              <a:t>下</a:t>
            </a:r>
            <a:r>
              <a:rPr lang="zh-CN" altLang="zh-CN" sz="2400" dirty="0">
                <a:solidFill>
                  <a:schemeClr val="accent6"/>
                </a:solidFill>
              </a:rPr>
              <a:t>图所示。</a:t>
            </a:r>
            <a:endParaRPr lang="en-US" altLang="zh-CN" sz="2400" b="1" dirty="0">
              <a:solidFill>
                <a:schemeClr val="accent6"/>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a:p>
            <a:pPr>
              <a:spcAft>
                <a:spcPts val="1200"/>
              </a:spcAft>
              <a:defRPr/>
            </a:pPr>
            <a:endParaRPr lang="en-US" altLang="zh-CN" b="1" dirty="0">
              <a:solidFill>
                <a:srgbClr val="7030A0"/>
              </a:solidFill>
            </a:endParaRPr>
          </a:p>
        </p:txBody>
      </p:sp>
      <p:pic>
        <p:nvPicPr>
          <p:cNvPr id="24584"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74838" y="3500438"/>
            <a:ext cx="5865812"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85450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95822890-7480-4FA3-9CDF-0046DE4E6851}" type="slidenum">
              <a:rPr lang="en-US" altLang="zh-CN"/>
              <a:pPr>
                <a:defRPr/>
              </a:pPr>
              <a:t>32</a:t>
            </a:fld>
            <a:endParaRPr lang="en-US" altLang="zh-CN"/>
          </a:p>
        </p:txBody>
      </p:sp>
      <p:sp>
        <p:nvSpPr>
          <p:cNvPr id="25605"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560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80419" y="2230085"/>
            <a:ext cx="7577905" cy="3139321"/>
          </a:xfrm>
          <a:prstGeom prst="rect">
            <a:avLst/>
          </a:prstGeom>
          <a:blipFill rotWithShape="0">
            <a:blip r:embed="rId4"/>
            <a:stretch>
              <a:fillRect l="-1123" t="-1351"/>
            </a:stretch>
          </a:blipFill>
          <a:ln w="19050">
            <a:solidFill>
              <a:schemeClr val="accent1">
                <a:lumMod val="60000"/>
                <a:lumOff val="40000"/>
              </a:schemeClr>
            </a:solidFill>
          </a:ln>
        </p:spPr>
        <p:txBody>
          <a:bodyPr/>
          <a:lstStyle/>
          <a:p>
            <a:r>
              <a:rPr lang="zh-CN" altLang="en-US">
                <a:noFill/>
              </a:rPr>
              <a:t> </a:t>
            </a:r>
          </a:p>
        </p:txBody>
      </p:sp>
      <p:pic>
        <p:nvPicPr>
          <p:cNvPr id="25608"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41525" y="3573463"/>
            <a:ext cx="569912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52997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DAB0AF6D-1747-4E04-A82D-A2BA3A33BD67}" type="slidenum">
              <a:rPr lang="en-US" altLang="zh-CN"/>
              <a:pPr>
                <a:defRPr/>
              </a:pPr>
              <a:t>33</a:t>
            </a:fld>
            <a:endParaRPr lang="en-US" altLang="zh-CN"/>
          </a:p>
        </p:txBody>
      </p:sp>
      <p:sp>
        <p:nvSpPr>
          <p:cNvPr id="26629" name="Text Box 2"/>
          <p:cNvSpPr txBox="1">
            <a:spLocks noChangeArrowheads="1"/>
          </p:cNvSpPr>
          <p:nvPr/>
        </p:nvSpPr>
        <p:spPr bwMode="auto">
          <a:xfrm>
            <a:off x="1476375" y="10525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  题</a:t>
            </a:r>
          </a:p>
        </p:txBody>
      </p:sp>
      <p:pic>
        <p:nvPicPr>
          <p:cNvPr id="2663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539552" y="2132856"/>
            <a:ext cx="8352283" cy="4154984"/>
          </a:xfrm>
          <a:prstGeom prst="rect">
            <a:avLst/>
          </a:prstGeom>
          <a:blipFill rotWithShape="0">
            <a:blip r:embed="rId4"/>
            <a:stretch>
              <a:fillRect l="-1092" t="-1023" b="-2339"/>
            </a:stretch>
          </a:blipFill>
          <a:ln w="19050">
            <a:solidFill>
              <a:schemeClr val="accent1">
                <a:lumMod val="60000"/>
                <a:lumOff val="40000"/>
              </a:schemeClr>
            </a:solidFill>
          </a:ln>
        </p:spPr>
        <p:txBody>
          <a:bodyPr/>
          <a:lstStyle/>
          <a:p>
            <a:r>
              <a:rPr lang="zh-CN" altLang="en-US">
                <a:noFill/>
              </a:rPr>
              <a:t> </a:t>
            </a:r>
          </a:p>
        </p:txBody>
      </p:sp>
    </p:spTree>
    <p:extLst>
      <p:ext uri="{BB962C8B-B14F-4D97-AF65-F5344CB8AC3E}">
        <p14:creationId xmlns:p14="http://schemas.microsoft.com/office/powerpoint/2010/main" val="9405660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0EFA123-C579-47DA-B3E1-4B438B61F34D}" type="datetime1">
              <a:rPr lang="zh-CN" altLang="en-US" smtClean="0"/>
              <a:pPr>
                <a:defRPr/>
              </a:pPr>
              <a:t>2020/9/7</a:t>
            </a:fld>
            <a:endParaRPr lang="en-US" altLang="zh-CN"/>
          </a:p>
        </p:txBody>
      </p:sp>
      <p:sp>
        <p:nvSpPr>
          <p:cNvPr id="5" name="页脚占位符 4"/>
          <p:cNvSpPr>
            <a:spLocks noGrp="1"/>
          </p:cNvSpPr>
          <p:nvPr>
            <p:ph type="ftr" sz="quarter" idx="11"/>
          </p:nvPr>
        </p:nvSpPr>
        <p:spPr/>
        <p:txBody>
          <a:bodyPr/>
          <a:lstStyle/>
          <a:p>
            <a:pPr>
              <a:defRPr/>
            </a:pPr>
            <a:r>
              <a:rPr lang="zh-CN" altLang="en-US" smtClean="0"/>
              <a:t>计算机应用技术研究所</a:t>
            </a:r>
            <a:endParaRPr lang="zh-CN" altLang="en-US"/>
          </a:p>
        </p:txBody>
      </p:sp>
      <p:sp>
        <p:nvSpPr>
          <p:cNvPr id="6" name="灯片编号占位符 5"/>
          <p:cNvSpPr>
            <a:spLocks noGrp="1"/>
          </p:cNvSpPr>
          <p:nvPr>
            <p:ph type="sldNum" sz="quarter" idx="12"/>
          </p:nvPr>
        </p:nvSpPr>
        <p:spPr/>
        <p:txBody>
          <a:bodyPr/>
          <a:lstStyle/>
          <a:p>
            <a:pPr>
              <a:defRPr/>
            </a:pPr>
            <a:fld id="{B22185D0-87CF-4DE1-A344-21C7FE2D602D}" type="slidenum">
              <a:rPr lang="en-US" altLang="zh-CN" smtClean="0"/>
              <a:pPr>
                <a:defRPr/>
              </a:pPr>
              <a:t>34</a:t>
            </a:fld>
            <a:endParaRPr lang="en-US" altLang="zh-CN"/>
          </a:p>
        </p:txBody>
      </p:sp>
      <p:sp>
        <p:nvSpPr>
          <p:cNvPr id="55301" name="WordArt 3"/>
          <p:cNvSpPr>
            <a:spLocks noChangeArrowheads="1" noChangeShapeType="1" noTextEdit="1"/>
          </p:cNvSpPr>
          <p:nvPr/>
        </p:nvSpPr>
        <p:spPr bwMode="auto">
          <a:xfrm>
            <a:off x="2744788" y="2205038"/>
            <a:ext cx="4419600" cy="2514600"/>
          </a:xfrm>
          <a:prstGeom prst="rect">
            <a:avLst/>
          </a:prstGeom>
        </p:spPr>
        <p:txBody>
          <a:bodyPr wrap="none" fromWordArt="1">
            <a:prstTxWarp prst="textCascadeUp">
              <a:avLst>
                <a:gd name="adj" fmla="val 44444"/>
              </a:avLst>
            </a:prstTxWarp>
            <a:scene3d>
              <a:camera prst="legacyPerspectiveFront">
                <a:rot lat="20519982"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rPr>
              <a:t>本节结束！</a:t>
            </a:r>
          </a:p>
        </p:txBody>
      </p:sp>
    </p:spTree>
    <p:extLst>
      <p:ext uri="{BB962C8B-B14F-4D97-AF65-F5344CB8AC3E}">
        <p14:creationId xmlns:p14="http://schemas.microsoft.com/office/powerpoint/2010/main" val="106412663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DB5D75E0-AF38-4A2A-B1C1-3222587388E4}"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5123" name="Group 21"/>
          <p:cNvGrpSpPr>
            <a:grpSpLocks/>
          </p:cNvGrpSpPr>
          <p:nvPr/>
        </p:nvGrpSpPr>
        <p:grpSpPr bwMode="auto">
          <a:xfrm>
            <a:off x="2411413" y="2420938"/>
            <a:ext cx="4783138" cy="3965574"/>
            <a:chOff x="1519" y="1525"/>
            <a:chExt cx="3013" cy="2498"/>
          </a:xfrm>
        </p:grpSpPr>
        <p:sp>
          <p:nvSpPr>
            <p:cNvPr id="1170441" name="AutoShape 9"/>
            <p:cNvSpPr>
              <a:spLocks noChangeArrowheads="1"/>
            </p:cNvSpPr>
            <p:nvPr/>
          </p:nvSpPr>
          <p:spPr bwMode="gray">
            <a:xfrm>
              <a:off x="1759" y="1624"/>
              <a:ext cx="2736"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a:solidFill>
                  <a:srgbClr val="FF0000"/>
                </a:solidFill>
                <a:latin typeface="黑体" pitchFamily="2" charset="-122"/>
                <a:ea typeface="黑体" pitchFamily="2" charset="-122"/>
              </a:endParaRPr>
            </a:p>
          </p:txBody>
        </p:sp>
        <p:sp>
          <p:nvSpPr>
            <p:cNvPr id="5126" name="AutoShape 10"/>
            <p:cNvSpPr>
              <a:spLocks noChangeArrowheads="1"/>
            </p:cNvSpPr>
            <p:nvPr/>
          </p:nvSpPr>
          <p:spPr bwMode="gray">
            <a:xfrm>
              <a:off x="1519" y="1525"/>
              <a:ext cx="432" cy="573"/>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27" name="Text Box 11"/>
            <p:cNvSpPr txBox="1">
              <a:spLocks noChangeArrowheads="1"/>
            </p:cNvSpPr>
            <p:nvPr/>
          </p:nvSpPr>
          <p:spPr bwMode="gray">
            <a:xfrm>
              <a:off x="1994" y="1671"/>
              <a:ext cx="233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3200" b="1" dirty="0" smtClean="0">
                  <a:latin typeface="黑体" panose="02010609060101010101" pitchFamily="49" charset="-122"/>
                  <a:ea typeface="黑体" panose="02010609060101010101" pitchFamily="49" charset="-122"/>
                </a:rPr>
                <a:t>整数的基本知识</a:t>
              </a:r>
              <a:endParaRPr kumimoji="0" lang="zh-CN" altLang="en-US" sz="3200" b="1" dirty="0">
                <a:latin typeface="黑体" panose="02010609060101010101" pitchFamily="49" charset="-122"/>
                <a:ea typeface="黑体" panose="02010609060101010101" pitchFamily="49" charset="-122"/>
              </a:endParaRPr>
            </a:p>
          </p:txBody>
        </p:sp>
        <p:sp>
          <p:nvSpPr>
            <p:cNvPr id="5128" name="Text Box 12"/>
            <p:cNvSpPr txBox="1">
              <a:spLocks noChangeArrowheads="1"/>
            </p:cNvSpPr>
            <p:nvPr/>
          </p:nvSpPr>
          <p:spPr bwMode="gray">
            <a:xfrm>
              <a:off x="1613" y="1607"/>
              <a:ext cx="22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sp>
          <p:nvSpPr>
            <p:cNvPr id="1170446" name="AutoShape 14"/>
            <p:cNvSpPr>
              <a:spLocks noChangeArrowheads="1"/>
            </p:cNvSpPr>
            <p:nvPr/>
          </p:nvSpPr>
          <p:spPr bwMode="gray">
            <a:xfrm>
              <a:off x="1759" y="2205"/>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a:solidFill>
                  <a:srgbClr val="FF0000"/>
                </a:solidFill>
                <a:latin typeface="黑体" pitchFamily="2" charset="-122"/>
                <a:ea typeface="黑体" pitchFamily="2" charset="-122"/>
              </a:endParaRPr>
            </a:p>
          </p:txBody>
        </p:sp>
        <p:sp>
          <p:nvSpPr>
            <p:cNvPr id="5130" name="AutoShape 15"/>
            <p:cNvSpPr>
              <a:spLocks noChangeArrowheads="1"/>
            </p:cNvSpPr>
            <p:nvPr/>
          </p:nvSpPr>
          <p:spPr bwMode="gray">
            <a:xfrm>
              <a:off x="1519" y="2108"/>
              <a:ext cx="432" cy="560"/>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1" name="Text Box 16"/>
            <p:cNvSpPr txBox="1">
              <a:spLocks noChangeArrowheads="1"/>
            </p:cNvSpPr>
            <p:nvPr/>
          </p:nvSpPr>
          <p:spPr bwMode="gray">
            <a:xfrm>
              <a:off x="1882" y="2204"/>
              <a:ext cx="245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3200" b="1" dirty="0">
                  <a:latin typeface="黑体" panose="02010609060101010101" pitchFamily="49" charset="-122"/>
                  <a:ea typeface="黑体" panose="02010609060101010101" pitchFamily="49" charset="-122"/>
                </a:rPr>
                <a:t>  </a:t>
              </a:r>
              <a:r>
                <a:rPr kumimoji="0" lang="zh-CN" altLang="en-US" sz="3200" b="1" dirty="0" smtClean="0">
                  <a:latin typeface="黑体" panose="02010609060101010101" pitchFamily="49" charset="-122"/>
                  <a:ea typeface="黑体" panose="02010609060101010101" pitchFamily="49" charset="-122"/>
                </a:rPr>
                <a:t>同余算术及其应用</a:t>
              </a:r>
              <a:endParaRPr kumimoji="0" lang="zh-CN" altLang="en-US" sz="2800" b="1" dirty="0">
                <a:latin typeface="黑体" panose="02010609060101010101" pitchFamily="49" charset="-122"/>
                <a:ea typeface="黑体" panose="02010609060101010101" pitchFamily="49" charset="-122"/>
              </a:endParaRPr>
            </a:p>
          </p:txBody>
        </p:sp>
        <p:sp>
          <p:nvSpPr>
            <p:cNvPr id="5132" name="Text Box 17"/>
            <p:cNvSpPr txBox="1">
              <a:spLocks noChangeArrowheads="1"/>
            </p:cNvSpPr>
            <p:nvPr/>
          </p:nvSpPr>
          <p:spPr bwMode="gray">
            <a:xfrm>
              <a:off x="1613" y="2189"/>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sp>
          <p:nvSpPr>
            <p:cNvPr id="5133" name="AutoShape 29"/>
            <p:cNvSpPr>
              <a:spLocks noChangeArrowheads="1"/>
            </p:cNvSpPr>
            <p:nvPr/>
          </p:nvSpPr>
          <p:spPr bwMode="gray">
            <a:xfrm>
              <a:off x="1796" y="2833"/>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4" name="AutoShape 30"/>
            <p:cNvSpPr>
              <a:spLocks noChangeArrowheads="1"/>
            </p:cNvSpPr>
            <p:nvPr/>
          </p:nvSpPr>
          <p:spPr bwMode="gray">
            <a:xfrm>
              <a:off x="1522" y="2741"/>
              <a:ext cx="432" cy="544"/>
            </a:xfrm>
            <a:prstGeom prst="diamond">
              <a:avLst/>
            </a:prstGeom>
            <a:solidFill>
              <a:srgbClr val="3366FF"/>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5" name="Text Box 31"/>
            <p:cNvSpPr txBox="1">
              <a:spLocks noChangeArrowheads="1"/>
            </p:cNvSpPr>
            <p:nvPr/>
          </p:nvSpPr>
          <p:spPr bwMode="gray">
            <a:xfrm>
              <a:off x="2038" y="2880"/>
              <a:ext cx="216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None/>
              </a:pPr>
              <a:r>
                <a:rPr kumimoji="0" lang="zh-CN" altLang="en-US" sz="2800" b="1" dirty="0">
                  <a:latin typeface="黑体" panose="02010609060101010101" pitchFamily="49" charset="-122"/>
                  <a:ea typeface="黑体" panose="02010609060101010101" pitchFamily="49" charset="-122"/>
                </a:rPr>
                <a:t>算法设计的基本</a:t>
              </a:r>
              <a:r>
                <a:rPr kumimoji="0" lang="zh-CN" altLang="en-US" sz="2800" b="1" dirty="0" smtClean="0">
                  <a:latin typeface="黑体" panose="02010609060101010101" pitchFamily="49" charset="-122"/>
                  <a:ea typeface="黑体" panose="02010609060101010101" pitchFamily="49" charset="-122"/>
                </a:rPr>
                <a:t>知识</a:t>
              </a:r>
              <a:endParaRPr kumimoji="0" lang="zh-CN" altLang="en-US" sz="2800" b="1" dirty="0">
                <a:latin typeface="黑体" panose="02010609060101010101" pitchFamily="49" charset="-122"/>
                <a:ea typeface="黑体" panose="02010609060101010101" pitchFamily="49" charset="-122"/>
              </a:endParaRPr>
            </a:p>
          </p:txBody>
        </p:sp>
        <p:sp>
          <p:nvSpPr>
            <p:cNvPr id="5136" name="Text Box 32"/>
            <p:cNvSpPr txBox="1">
              <a:spLocks noChangeArrowheads="1"/>
            </p:cNvSpPr>
            <p:nvPr/>
          </p:nvSpPr>
          <p:spPr bwMode="gray">
            <a:xfrm>
              <a:off x="1616" y="2822"/>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smtClean="0">
                  <a:solidFill>
                    <a:schemeClr val="bg1"/>
                  </a:solidFill>
                  <a:latin typeface="黑体" panose="02010609060101010101" pitchFamily="49" charset="-122"/>
                </a:rPr>
                <a:t>3</a:t>
              </a:r>
              <a:endParaRPr kumimoji="0" lang="en-US" altLang="zh-CN" sz="2800" b="1" dirty="0">
                <a:solidFill>
                  <a:schemeClr val="bg1"/>
                </a:solidFill>
                <a:latin typeface="黑体" panose="02010609060101010101" pitchFamily="49" charset="-122"/>
              </a:endParaRPr>
            </a:p>
          </p:txBody>
        </p:sp>
        <p:sp>
          <p:nvSpPr>
            <p:cNvPr id="5137" name="AutoShape 19"/>
            <p:cNvSpPr>
              <a:spLocks noChangeArrowheads="1"/>
            </p:cNvSpPr>
            <p:nvPr/>
          </p:nvSpPr>
          <p:spPr bwMode="gray">
            <a:xfrm>
              <a:off x="1766" y="3428"/>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8" name="AutoShape 20"/>
            <p:cNvSpPr>
              <a:spLocks noChangeArrowheads="1"/>
            </p:cNvSpPr>
            <p:nvPr/>
          </p:nvSpPr>
          <p:spPr bwMode="gray">
            <a:xfrm>
              <a:off x="1526" y="3331"/>
              <a:ext cx="432" cy="561"/>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9" name="Text Box 21"/>
            <p:cNvSpPr txBox="1">
              <a:spLocks noChangeArrowheads="1"/>
            </p:cNvSpPr>
            <p:nvPr/>
          </p:nvSpPr>
          <p:spPr bwMode="gray">
            <a:xfrm>
              <a:off x="1951" y="3422"/>
              <a:ext cx="2433"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None/>
              </a:pPr>
              <a:r>
                <a:rPr kumimoji="0" lang="zh-CN" altLang="en-US" sz="2800" b="1" dirty="0">
                  <a:latin typeface="黑体" panose="02010609060101010101" pitchFamily="49" charset="-122"/>
                  <a:ea typeface="黑体" panose="02010609060101010101" pitchFamily="49" charset="-122"/>
                </a:rPr>
                <a:t>算法设计策略与应用</a:t>
              </a:r>
            </a:p>
            <a:p>
              <a:pPr algn="ctr">
                <a:spcBef>
                  <a:spcPct val="0"/>
                </a:spcBef>
                <a:buFontTx/>
                <a:buNone/>
              </a:pPr>
              <a:endParaRPr kumimoji="0" lang="zh-CN" altLang="en-US" sz="2800" b="1" dirty="0">
                <a:latin typeface="黑体" panose="02010609060101010101" pitchFamily="49" charset="-122"/>
                <a:ea typeface="黑体" panose="02010609060101010101" pitchFamily="49" charset="-122"/>
              </a:endParaRPr>
            </a:p>
          </p:txBody>
        </p:sp>
        <p:sp>
          <p:nvSpPr>
            <p:cNvPr id="5140" name="Text Box 22"/>
            <p:cNvSpPr txBox="1">
              <a:spLocks noChangeArrowheads="1"/>
            </p:cNvSpPr>
            <p:nvPr/>
          </p:nvSpPr>
          <p:spPr bwMode="gray">
            <a:xfrm>
              <a:off x="1619" y="3411"/>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dirty="0" smtClean="0">
                  <a:solidFill>
                    <a:schemeClr val="bg1"/>
                  </a:solidFill>
                  <a:latin typeface="黑体" panose="02010609060101010101" pitchFamily="49" charset="-122"/>
                </a:rPr>
                <a:t>4</a:t>
              </a:r>
              <a:endParaRPr kumimoji="0" lang="en-US" altLang="zh-CN" sz="2800" b="1" dirty="0">
                <a:solidFill>
                  <a:schemeClr val="bg1"/>
                </a:solidFill>
                <a:latin typeface="黑体" panose="02010609060101010101" pitchFamily="49" charset="-122"/>
              </a:endParaRPr>
            </a:p>
          </p:txBody>
        </p:sp>
      </p:grpSp>
      <p:sp>
        <p:nvSpPr>
          <p:cNvPr id="5124"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endParaRPr lang="zh-CN" altLang="en-US" sz="320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B26FA8F-8D3D-4E7A-B13D-5769EA6BABFE}"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614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614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0B232D5F-E256-4DAA-8C6D-8183F6157F46}"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36</a:t>
            </a:fld>
            <a:endParaRPr lang="en-US" altLang="zh-CN" sz="1400" b="1">
              <a:latin typeface="Times New Roman" panose="02020603050405020304" pitchFamily="18" charset="0"/>
              <a:ea typeface="宋体" panose="02010600030101010101" pitchFamily="2" charset="-122"/>
            </a:endParaRPr>
          </a:p>
        </p:txBody>
      </p:sp>
      <p:sp>
        <p:nvSpPr>
          <p:cNvPr id="6149" name="Rectangle 4"/>
          <p:cNvSpPr>
            <a:spLocks noGrp="1" noChangeArrowheads="1"/>
          </p:cNvSpPr>
          <p:nvPr>
            <p:ph type="ctrTitle" idx="4294967295"/>
          </p:nvPr>
        </p:nvSpPr>
        <p:spPr>
          <a:xfrm>
            <a:off x="1042988" y="2565400"/>
            <a:ext cx="7702550" cy="1655763"/>
          </a:xfrm>
          <a:solidFill>
            <a:srgbClr val="0000FF"/>
          </a:solidFill>
        </p:spPr>
        <p:txBody>
          <a:bodyPr/>
          <a:lstStyle/>
          <a:p>
            <a:pPr eaLnBrk="1" hangingPunct="1"/>
            <a:r>
              <a:rPr lang="zh-CN" altLang="en-US" sz="6000" b="1" dirty="0" smtClean="0">
                <a:solidFill>
                  <a:schemeClr val="bg1"/>
                </a:solidFill>
              </a:rPr>
              <a:t>算法设计策略与应用</a:t>
            </a:r>
          </a:p>
        </p:txBody>
      </p:sp>
      <p:pic>
        <p:nvPicPr>
          <p:cNvPr id="6150"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331913" y="1001713"/>
            <a:ext cx="62722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4000" b="1" dirty="0" smtClean="0">
                <a:solidFill>
                  <a:schemeClr val="bg1"/>
                </a:solidFill>
                <a:latin typeface="宋体" panose="02010600030101010101" pitchFamily="2" charset="-122"/>
                <a:ea typeface="宋体" panose="02010600030101010101" pitchFamily="2" charset="-122"/>
              </a:rPr>
              <a:t>算法设计策略与应用</a:t>
            </a:r>
            <a:endParaRPr lang="zh-CN" altLang="en-US" sz="4000" b="1" dirty="0">
              <a:solidFill>
                <a:schemeClr val="bg1"/>
              </a:solidFill>
              <a:latin typeface="宋体" panose="02010600030101010101" pitchFamily="2" charset="-122"/>
              <a:ea typeface="宋体" panose="02010600030101010101" pitchFamily="2" charset="-122"/>
            </a:endParaRPr>
          </a:p>
        </p:txBody>
      </p:sp>
      <p:sp>
        <p:nvSpPr>
          <p:cNvPr id="7171" name="Rectangle 3"/>
          <p:cNvSpPr>
            <a:spLocks noGrp="1" noChangeArrowheads="1"/>
          </p:cNvSpPr>
          <p:nvPr>
            <p:ph type="body" sz="half" idx="1"/>
          </p:nvPr>
        </p:nvSpPr>
        <p:spPr>
          <a:xfrm>
            <a:off x="2339752" y="2564904"/>
            <a:ext cx="5400675" cy="3025775"/>
          </a:xfrm>
          <a:noFill/>
        </p:spPr>
        <p:txBody>
          <a:bodyPr lIns="92075" tIns="46038" rIns="92075" bIns="46038"/>
          <a:lstStyle/>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蛮力与贪心策略</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递归与分治策略</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回溯与动态规划策略</a:t>
            </a:r>
          </a:p>
        </p:txBody>
      </p:sp>
      <p:pic>
        <p:nvPicPr>
          <p:cNvPr id="717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7CC448B2-876E-4D7B-9703-DCA3236B1013}" type="slidenum">
              <a:rPr lang="en-US" altLang="zh-CN"/>
              <a:pPr>
                <a:defRPr/>
              </a:pPr>
              <a:t>38</a:t>
            </a:fld>
            <a:endParaRPr lang="en-US" altLang="zh-CN"/>
          </a:p>
        </p:txBody>
      </p:sp>
      <p:sp>
        <p:nvSpPr>
          <p:cNvPr id="8197"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算法设计</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820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371600" y="2188332"/>
            <a:ext cx="6480720" cy="954107"/>
          </a:xfrm>
          <a:prstGeom prst="rect">
            <a:avLst/>
          </a:prstGeom>
          <a:solidFill>
            <a:srgbClr val="FFC000"/>
          </a:solidFill>
          <a:ln w="28575">
            <a:solidFill>
              <a:schemeClr val="accent2">
                <a:lumMod val="75000"/>
              </a:schemeClr>
            </a:solidFill>
          </a:ln>
          <a:effectLst>
            <a:glow rad="101600">
              <a:schemeClr val="accent4">
                <a:satMod val="175000"/>
                <a:alpha val="40000"/>
              </a:schemeClr>
            </a:glow>
          </a:effectLst>
        </p:spPr>
        <p:txBody>
          <a:bodyPr wrap="square" rtlCol="0">
            <a:spAutoFit/>
          </a:bodyPr>
          <a:lstStyle/>
          <a:p>
            <a:r>
              <a:rPr lang="zh-CN" altLang="en-US" sz="2800" dirty="0" smtClean="0">
                <a:latin typeface="华文楷体" panose="02010600040101010101" pitchFamily="2" charset="-122"/>
                <a:ea typeface="华文楷体" panose="02010600040101010101" pitchFamily="2" charset="-122"/>
              </a:rPr>
              <a:t>思考一下，如何用算法解决以下数学问题？</a:t>
            </a:r>
            <a:endParaRPr lang="zh-CN" altLang="en-US" sz="2800" dirty="0">
              <a:latin typeface="华文楷体" panose="02010600040101010101" pitchFamily="2" charset="-122"/>
              <a:ea typeface="华文楷体" panose="02010600040101010101" pitchFamily="2" charset="-122"/>
            </a:endParaRPr>
          </a:p>
        </p:txBody>
      </p:sp>
      <p:sp>
        <p:nvSpPr>
          <p:cNvPr id="4" name="五角星 3"/>
          <p:cNvSpPr/>
          <p:nvPr/>
        </p:nvSpPr>
        <p:spPr bwMode="auto">
          <a:xfrm>
            <a:off x="930120" y="2224564"/>
            <a:ext cx="360040" cy="396825"/>
          </a:xfrm>
          <a:prstGeom prst="star5">
            <a:avLst>
              <a:gd name="adj" fmla="val 21064"/>
              <a:gd name="hf" fmla="val 105146"/>
              <a:gd name="vf" fmla="val 110557"/>
            </a:avLst>
          </a:prstGeom>
          <a:solidFill>
            <a:srgbClr val="FF0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4"/>
          <a:stretch>
            <a:fillRect/>
          </a:stretch>
        </p:blipFill>
        <p:spPr>
          <a:xfrm>
            <a:off x="2254817" y="3933056"/>
            <a:ext cx="4714286" cy="1333333"/>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1412903F-985D-4DC1-82A5-A23A71B8F885}" type="slidenum">
              <a:rPr lang="en-US" altLang="zh-CN"/>
              <a:pPr>
                <a:defRPr/>
              </a:pPr>
              <a:t>39</a:t>
            </a:fld>
            <a:endParaRPr lang="en-US" altLang="zh-CN"/>
          </a:p>
        </p:txBody>
      </p:sp>
      <p:sp>
        <p:nvSpPr>
          <p:cNvPr id="9221" name="Text Box 2"/>
          <p:cNvSpPr txBox="1">
            <a:spLocks noChangeArrowheads="1"/>
          </p:cNvSpPr>
          <p:nvPr/>
        </p:nvSpPr>
        <p:spPr bwMode="auto">
          <a:xfrm>
            <a:off x="1371600" y="765175"/>
            <a:ext cx="60086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算法设计</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922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4"/>
          <a:stretch>
            <a:fillRect/>
          </a:stretch>
        </p:blipFill>
        <p:spPr>
          <a:xfrm>
            <a:off x="1359809" y="1988779"/>
            <a:ext cx="6038095" cy="1419048"/>
          </a:xfrm>
          <a:prstGeom prst="rect">
            <a:avLst/>
          </a:prstGeom>
        </p:spPr>
      </p:pic>
      <p:sp>
        <p:nvSpPr>
          <p:cNvPr id="9" name="横卷形 8"/>
          <p:cNvSpPr/>
          <p:nvPr/>
        </p:nvSpPr>
        <p:spPr bwMode="auto">
          <a:xfrm>
            <a:off x="899592" y="3717032"/>
            <a:ext cx="7342584" cy="2088232"/>
          </a:xfrm>
          <a:prstGeom prst="horizontalScroll">
            <a:avLst>
              <a:gd name="adj" fmla="val 10583"/>
            </a:avLst>
          </a:prstGeom>
          <a:solidFill>
            <a:schemeClr val="accent2">
              <a:lumMod val="40000"/>
              <a:lumOff val="6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0" name="文本框 9"/>
          <p:cNvSpPr txBox="1"/>
          <p:nvPr/>
        </p:nvSpPr>
        <p:spPr>
          <a:xfrm>
            <a:off x="1114500" y="4061520"/>
            <a:ext cx="6912768" cy="1477328"/>
          </a:xfrm>
          <a:prstGeom prst="rect">
            <a:avLst/>
          </a:prstGeom>
          <a:noFill/>
        </p:spPr>
        <p:txBody>
          <a:bodyPr wrap="square" rtlCol="0">
            <a:spAutoFit/>
          </a:bodyPr>
          <a:lstStyle/>
          <a:p>
            <a:r>
              <a:rPr lang="zh-CN" altLang="zh-CN" sz="1800" dirty="0">
                <a:latin typeface="华文新魏" panose="02010800040101010101" pitchFamily="2" charset="-122"/>
                <a:ea typeface="华文新魏" panose="02010800040101010101" pitchFamily="2" charset="-122"/>
              </a:rPr>
              <a:t>计算机问题求解算法虽然千差万别，但都遵循一些基本的设计策略。这些策略蕴含着很多非常深刻而又普适的求解智慧</a:t>
            </a:r>
            <a:r>
              <a:rPr lang="zh-CN" altLang="zh-CN" sz="1800" dirty="0" smtClean="0">
                <a:latin typeface="华文新魏" panose="02010800040101010101" pitchFamily="2" charset="-122"/>
                <a:ea typeface="华文新魏" panose="02010800040101010101" pitchFamily="2" charset="-122"/>
              </a:rPr>
              <a:t>。</a:t>
            </a:r>
            <a:r>
              <a:rPr lang="zh-CN" altLang="en-US" sz="1800" dirty="0" smtClean="0">
                <a:latin typeface="华文新魏" panose="02010800040101010101" pitchFamily="2" charset="-122"/>
                <a:ea typeface="华文新魏" panose="02010800040101010101" pitchFamily="2" charset="-122"/>
              </a:rPr>
              <a:t>通过</a:t>
            </a:r>
            <a:r>
              <a:rPr lang="zh-CN" altLang="zh-CN" sz="1800" dirty="0" smtClean="0">
                <a:latin typeface="华文新魏" panose="02010800040101010101" pitchFamily="2" charset="-122"/>
                <a:ea typeface="华文新魏" panose="02010800040101010101" pitchFamily="2" charset="-122"/>
              </a:rPr>
              <a:t>不断</a:t>
            </a:r>
            <a:r>
              <a:rPr lang="zh-CN" altLang="zh-CN" sz="1800" dirty="0">
                <a:latin typeface="华文新魏" panose="02010800040101010101" pitchFamily="2" charset="-122"/>
                <a:ea typeface="华文新魏" panose="02010800040101010101" pitchFamily="2" charset="-122"/>
              </a:rPr>
              <a:t>学习、领会和掌握这些智慧，就可逐步形成良好的算法思维，从而能够更加透彻地从本质上理解算法设计的精髓，为设计出高水平算法打下坚实的基础。</a:t>
            </a:r>
            <a:endParaRPr lang="zh-CN" altLang="en-US" sz="18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17" name="页脚占位符 5"/>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18" name="灯片编号占位符 6"/>
          <p:cNvSpPr>
            <a:spLocks noGrp="1"/>
          </p:cNvSpPr>
          <p:nvPr>
            <p:ph type="sldNum" sz="quarter" idx="12"/>
          </p:nvPr>
        </p:nvSpPr>
        <p:spPr>
          <a:xfrm>
            <a:off x="6588125" y="6400800"/>
            <a:ext cx="1905000" cy="457200"/>
          </a:xfrm>
        </p:spPr>
        <p:txBody>
          <a:bodyPr/>
          <a:lstStyle/>
          <a:p>
            <a:pPr>
              <a:defRPr/>
            </a:pPr>
            <a:fld id="{8E836AAC-2D68-48F3-B573-1689675084FB}" type="slidenum">
              <a:rPr lang="en-US" altLang="zh-CN"/>
              <a:pPr>
                <a:defRPr/>
              </a:pPr>
              <a:t>40</a:t>
            </a:fld>
            <a:endParaRPr lang="en-US" altLang="zh-CN"/>
          </a:p>
        </p:txBody>
      </p:sp>
      <p:sp>
        <p:nvSpPr>
          <p:cNvPr id="11269"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蛮力策略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12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11586" y="2024063"/>
            <a:ext cx="6336704" cy="43088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200" dirty="0" smtClean="0">
                <a:solidFill>
                  <a:srgbClr val="00B0F0"/>
                </a:solidFill>
              </a:rPr>
              <a:t>就像宝剑不是撬棍一样，科学也很少使用蛮力</a:t>
            </a:r>
            <a:endParaRPr lang="zh-CN" altLang="en-US" sz="2200" dirty="0">
              <a:solidFill>
                <a:srgbClr val="00B0F0"/>
              </a:solidFill>
            </a:endParaRPr>
          </a:p>
        </p:txBody>
      </p:sp>
      <p:sp>
        <p:nvSpPr>
          <p:cNvPr id="20" name="文本框 19"/>
          <p:cNvSpPr txBox="1"/>
          <p:nvPr/>
        </p:nvSpPr>
        <p:spPr>
          <a:xfrm>
            <a:off x="1407862" y="2552390"/>
            <a:ext cx="6336704" cy="43088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200" dirty="0" smtClean="0">
                <a:solidFill>
                  <a:srgbClr val="00B0F0"/>
                </a:solidFill>
              </a:rPr>
              <a:t>认真做事往往是浪费时间</a:t>
            </a:r>
            <a:endParaRPr lang="zh-CN" altLang="en-US" sz="2200" dirty="0">
              <a:solidFill>
                <a:srgbClr val="00B0F0"/>
              </a:solidFill>
            </a:endParaRPr>
          </a:p>
        </p:txBody>
      </p:sp>
      <p:pic>
        <p:nvPicPr>
          <p:cNvPr id="3" name="图片 2"/>
          <p:cNvPicPr>
            <a:picLocks noChangeAspect="1"/>
          </p:cNvPicPr>
          <p:nvPr/>
        </p:nvPicPr>
        <p:blipFill>
          <a:blip r:embed="rId4"/>
          <a:stretch>
            <a:fillRect/>
          </a:stretch>
        </p:blipFill>
        <p:spPr>
          <a:xfrm>
            <a:off x="1411586" y="3339840"/>
            <a:ext cx="2066667" cy="2742857"/>
          </a:xfrm>
          <a:prstGeom prst="rect">
            <a:avLst/>
          </a:prstGeom>
        </p:spPr>
      </p:pic>
      <p:pic>
        <p:nvPicPr>
          <p:cNvPr id="4" name="图片 3"/>
          <p:cNvPicPr>
            <a:picLocks noChangeAspect="1"/>
          </p:cNvPicPr>
          <p:nvPr/>
        </p:nvPicPr>
        <p:blipFill>
          <a:blip r:embed="rId5"/>
          <a:stretch>
            <a:fillRect/>
          </a:stretch>
        </p:blipFill>
        <p:spPr>
          <a:xfrm>
            <a:off x="5076055" y="3947659"/>
            <a:ext cx="1351941" cy="1771429"/>
          </a:xfrm>
          <a:prstGeom prst="rect">
            <a:avLst/>
          </a:prstGeom>
        </p:spPr>
      </p:pic>
      <p:sp>
        <p:nvSpPr>
          <p:cNvPr id="5" name="矩形标注 4"/>
          <p:cNvSpPr/>
          <p:nvPr/>
        </p:nvSpPr>
        <p:spPr bwMode="auto">
          <a:xfrm>
            <a:off x="6427996" y="2860093"/>
            <a:ext cx="1352821" cy="1011257"/>
          </a:xfrm>
          <a:prstGeom prst="wedgeRectCallout">
            <a:avLst>
              <a:gd name="adj1" fmla="val -47766"/>
              <a:gd name="adj2" fmla="val 74411"/>
            </a:avLst>
          </a:prstGeom>
          <a:solidFill>
            <a:schemeClr val="bg1">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6" name="文本框 5"/>
          <p:cNvSpPr txBox="1"/>
          <p:nvPr/>
        </p:nvSpPr>
        <p:spPr>
          <a:xfrm>
            <a:off x="6484673" y="3007254"/>
            <a:ext cx="1296144" cy="707886"/>
          </a:xfrm>
          <a:prstGeom prst="rect">
            <a:avLst/>
          </a:prstGeom>
          <a:noFill/>
        </p:spPr>
        <p:txBody>
          <a:bodyPr wrap="square" rtlCol="0">
            <a:spAutoFit/>
          </a:bodyPr>
          <a:lstStyle/>
          <a:p>
            <a:r>
              <a:rPr lang="zh-CN" altLang="en-US" sz="2000" dirty="0" smtClean="0">
                <a:latin typeface="方正舒体" panose="02010601030101010101" pitchFamily="2" charset="-122"/>
                <a:ea typeface="方正舒体" panose="02010601030101010101" pitchFamily="2" charset="-122"/>
              </a:rPr>
              <a:t>蛮力真的没用吗？</a:t>
            </a:r>
            <a:endParaRPr lang="zh-CN" altLang="en-US" sz="2000" dirty="0">
              <a:latin typeface="方正舒体" panose="02010601030101010101" pitchFamily="2" charset="-122"/>
              <a:ea typeface="方正舒体" panose="02010601030101010101" pitchFamily="2" charset="-122"/>
            </a:endParaRPr>
          </a:p>
        </p:txBody>
      </p:sp>
    </p:spTree>
    <p:extLst>
      <p:ext uri="{BB962C8B-B14F-4D97-AF65-F5344CB8AC3E}">
        <p14:creationId xmlns:p14="http://schemas.microsoft.com/office/powerpoint/2010/main" val="1349832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20FDEE7F-8BDC-40E1-97F3-0C2411B13D35}" type="slidenum">
              <a:rPr lang="en-US" altLang="zh-CN"/>
              <a:pPr>
                <a:defRPr/>
              </a:pPr>
              <a:t>41</a:t>
            </a:fld>
            <a:endParaRPr lang="en-US" altLang="zh-CN"/>
          </a:p>
        </p:txBody>
      </p:sp>
      <p:sp>
        <p:nvSpPr>
          <p:cNvPr id="12293"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蛮力策略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22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25606" y="2008578"/>
            <a:ext cx="7092788" cy="3416320"/>
          </a:xfrm>
          <a:prstGeom prst="rect">
            <a:avLst/>
          </a:prstGeom>
          <a:solidFill>
            <a:srgbClr val="FFC000"/>
          </a:solidFill>
          <a:ln w="31750">
            <a:solidFill>
              <a:srgbClr val="FF0000"/>
            </a:solidFill>
          </a:ln>
          <a:scene3d>
            <a:camera prst="orthographicFront"/>
            <a:lightRig rig="threePt" dir="t"/>
          </a:scene3d>
          <a:sp3d>
            <a:bevelT w="171450"/>
            <a:bevelB/>
          </a:sp3d>
        </p:spPr>
        <p:txBody>
          <a:bodyPr wrap="square" rtlCol="0">
            <a:spAutoFit/>
          </a:bodyPr>
          <a:lstStyle/>
          <a:p>
            <a:pPr>
              <a:lnSpc>
                <a:spcPct val="150000"/>
              </a:lnSpc>
            </a:pPr>
            <a:r>
              <a:rPr lang="zh-CN" altLang="zh-CN" sz="2400" dirty="0"/>
              <a:t>蛮力策略或蛮力法，亦称为</a:t>
            </a:r>
            <a:r>
              <a:rPr lang="zh-CN" altLang="zh-CN" sz="2400" dirty="0">
                <a:solidFill>
                  <a:srgbClr val="FF0000"/>
                </a:solidFill>
              </a:rPr>
              <a:t>穷举法</a:t>
            </a:r>
            <a:r>
              <a:rPr lang="zh-CN" altLang="zh-CN" sz="2400" dirty="0"/>
              <a:t>或</a:t>
            </a:r>
            <a:r>
              <a:rPr lang="zh-CN" altLang="zh-CN" sz="2400" dirty="0">
                <a:solidFill>
                  <a:srgbClr val="FF0000"/>
                </a:solidFill>
              </a:rPr>
              <a:t>暴力法</a:t>
            </a:r>
            <a:r>
              <a:rPr lang="zh-CN" altLang="zh-CN" sz="2400" dirty="0"/>
              <a:t>，就是用最原始、最暴力的方式解决问题，基本思路是</a:t>
            </a:r>
            <a:r>
              <a:rPr lang="zh-CN" altLang="zh-CN" sz="2400" dirty="0">
                <a:solidFill>
                  <a:srgbClr val="FF0000"/>
                </a:solidFill>
                <a:latin typeface="华文琥珀" panose="02010800040101010101" pitchFamily="2" charset="-122"/>
                <a:ea typeface="华文琥珀" panose="02010800040101010101" pitchFamily="2" charset="-122"/>
              </a:rPr>
              <a:t>以扫描的模式依次处理问题域所有元素</a:t>
            </a:r>
            <a:r>
              <a:rPr lang="zh-CN" altLang="zh-CN" sz="2400" dirty="0">
                <a:latin typeface="华文琥珀" panose="02010800040101010101" pitchFamily="2" charset="-122"/>
                <a:ea typeface="华文琥珀" panose="02010800040101010101" pitchFamily="2" charset="-122"/>
              </a:rPr>
              <a:t>，</a:t>
            </a:r>
            <a:r>
              <a:rPr lang="zh-CN" altLang="zh-CN" sz="2400" dirty="0"/>
              <a:t>并将所有可能的结果枚举出来，进而实现对问题的求解。</a:t>
            </a:r>
          </a:p>
          <a:p>
            <a:r>
              <a:rPr lang="zh-CN" altLang="zh-CN" sz="2400" dirty="0"/>
              <a:t>从算法思想的角度来看，蛮力法直接基于问题的描述和所涉及概念的定义来解决问题，即用最直接的方式解决问题。</a:t>
            </a:r>
            <a:endParaRPr lang="zh-CN" altLang="en-US" sz="2400" dirty="0"/>
          </a:p>
        </p:txBody>
      </p:sp>
    </p:spTree>
    <p:extLst>
      <p:ext uri="{BB962C8B-B14F-4D97-AF65-F5344CB8AC3E}">
        <p14:creationId xmlns:p14="http://schemas.microsoft.com/office/powerpoint/2010/main" val="20559835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9" name="页脚占位符 5"/>
          <p:cNvSpPr>
            <a:spLocks noGrp="1"/>
          </p:cNvSpPr>
          <p:nvPr>
            <p:ph type="ftr" sz="quarter" idx="11"/>
          </p:nvPr>
        </p:nvSpPr>
        <p:spPr/>
        <p:txBody>
          <a:bodyPr/>
          <a:lstStyle/>
          <a:p>
            <a:pPr>
              <a:defRPr/>
            </a:pPr>
            <a:r>
              <a:rPr lang="zh-CN" altLang="en-US"/>
              <a:t>计算机应用技术研究所</a:t>
            </a:r>
          </a:p>
        </p:txBody>
      </p:sp>
      <p:sp>
        <p:nvSpPr>
          <p:cNvPr id="10" name="灯片编号占位符 6"/>
          <p:cNvSpPr>
            <a:spLocks noGrp="1"/>
          </p:cNvSpPr>
          <p:nvPr>
            <p:ph type="sldNum" sz="quarter" idx="12"/>
          </p:nvPr>
        </p:nvSpPr>
        <p:spPr/>
        <p:txBody>
          <a:bodyPr/>
          <a:lstStyle/>
          <a:p>
            <a:pPr>
              <a:defRPr/>
            </a:pPr>
            <a:fld id="{BEBA145D-1228-42AA-8214-27488C956032}" type="slidenum">
              <a:rPr lang="en-US" altLang="zh-CN"/>
              <a:pPr>
                <a:defRPr/>
              </a:pPr>
              <a:t>42</a:t>
            </a:fld>
            <a:endParaRPr lang="en-US" altLang="zh-CN"/>
          </a:p>
        </p:txBody>
      </p:sp>
      <p:sp>
        <p:nvSpPr>
          <p:cNvPr id="13317" name="Text Box 2"/>
          <p:cNvSpPr txBox="1">
            <a:spLocks noChangeArrowheads="1"/>
          </p:cNvSpPr>
          <p:nvPr/>
        </p:nvSpPr>
        <p:spPr bwMode="auto">
          <a:xfrm>
            <a:off x="1331913" y="5492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蛮力策略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331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4"/>
          <a:stretch>
            <a:fillRect/>
          </a:stretch>
        </p:blipFill>
        <p:spPr>
          <a:xfrm>
            <a:off x="963378" y="2276872"/>
            <a:ext cx="7883681" cy="3312368"/>
          </a:xfrm>
          <a:prstGeom prst="rect">
            <a:avLst/>
          </a:prstGeom>
        </p:spPr>
      </p:pic>
    </p:spTree>
    <p:extLst>
      <p:ext uri="{BB962C8B-B14F-4D97-AF65-F5344CB8AC3E}">
        <p14:creationId xmlns:p14="http://schemas.microsoft.com/office/powerpoint/2010/main" val="286832942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B0912AE9-FBE4-4C1B-A180-8CD5F1CA17E0}" type="slidenum">
              <a:rPr lang="en-US" altLang="zh-CN"/>
              <a:pPr>
                <a:defRPr/>
              </a:pPr>
              <a:t>43</a:t>
            </a:fld>
            <a:endParaRPr lang="en-US" altLang="zh-CN"/>
          </a:p>
        </p:txBody>
      </p:sp>
      <p:sp>
        <p:nvSpPr>
          <p:cNvPr id="14341"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算法思想</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434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71600" y="2204864"/>
            <a:ext cx="7022343" cy="3170099"/>
          </a:xfrm>
          <a:prstGeom prst="rect">
            <a:avLst/>
          </a:prstGeom>
          <a:solidFill>
            <a:srgbClr val="FFC000"/>
          </a:solidFill>
          <a:ln w="25400">
            <a:solidFill>
              <a:srgbClr val="FF0000"/>
            </a:solidFill>
            <a:prstDash val="sysDot"/>
          </a:ln>
        </p:spPr>
        <p:txBody>
          <a:bodyPr wrap="square" rtlCol="0">
            <a:spAutoFit/>
          </a:bodyPr>
          <a:lstStyle/>
          <a:p>
            <a:pPr marL="457200" indent="-457200">
              <a:buFont typeface="Wingdings" panose="05000000000000000000" pitchFamily="2" charset="2"/>
              <a:buChar char="p"/>
            </a:pPr>
            <a:r>
              <a:rPr lang="en-US" altLang="zh-CN" sz="2800" dirty="0" smtClean="0"/>
              <a:t>Step 1</a:t>
            </a:r>
            <a:r>
              <a:rPr lang="zh-CN" altLang="en-US" sz="2800" dirty="0" smtClean="0"/>
              <a:t>将模式对准文本的前</a:t>
            </a:r>
            <a:r>
              <a:rPr lang="en-US" altLang="zh-CN" sz="2800" dirty="0" smtClean="0"/>
              <a:t>m</a:t>
            </a:r>
            <a:r>
              <a:rPr lang="zh-CN" altLang="en-US" sz="2800" dirty="0" smtClean="0"/>
              <a:t>个字符</a:t>
            </a:r>
          </a:p>
          <a:p>
            <a:pPr marL="457200" indent="-457200">
              <a:buFont typeface="Wingdings" panose="05000000000000000000" pitchFamily="2" charset="2"/>
              <a:buChar char="p"/>
            </a:pPr>
            <a:r>
              <a:rPr lang="en-US" altLang="zh-CN" sz="2800" dirty="0" smtClean="0"/>
              <a:t>Step 2 </a:t>
            </a:r>
            <a:r>
              <a:rPr lang="zh-CN" altLang="en-US" sz="2800" dirty="0" smtClean="0"/>
              <a:t>从左到右匹配每一对相应的字符直到所有字符全部匹配</a:t>
            </a:r>
            <a:r>
              <a:rPr lang="en-US" altLang="zh-CN" sz="2800" dirty="0" smtClean="0"/>
              <a:t>; or</a:t>
            </a:r>
            <a:r>
              <a:rPr lang="zh-CN" altLang="en-US" sz="2800" dirty="0" smtClean="0"/>
              <a:t>有一对字符不匹配</a:t>
            </a:r>
          </a:p>
          <a:p>
            <a:pPr marL="457200" indent="-457200">
              <a:buFont typeface="Wingdings" panose="05000000000000000000" pitchFamily="2" charset="2"/>
              <a:buChar char="p"/>
            </a:pPr>
            <a:r>
              <a:rPr lang="en-US" altLang="zh-CN" sz="2800" dirty="0" smtClean="0"/>
              <a:t>Step 3 </a:t>
            </a:r>
            <a:r>
              <a:rPr lang="zh-CN" altLang="en-US" sz="2800" dirty="0" smtClean="0"/>
              <a:t>当模式未能匹配且文本尚未穷尽，将模式右移一位，返回</a:t>
            </a:r>
            <a:r>
              <a:rPr lang="en-US" altLang="zh-CN" sz="2800" dirty="0" smtClean="0"/>
              <a:t>Step 2</a:t>
            </a:r>
          </a:p>
          <a:p>
            <a:endParaRPr lang="zh-CN" altLang="en-US" dirty="0"/>
          </a:p>
        </p:txBody>
      </p:sp>
    </p:spTree>
    <p:extLst>
      <p:ext uri="{BB962C8B-B14F-4D97-AF65-F5344CB8AC3E}">
        <p14:creationId xmlns:p14="http://schemas.microsoft.com/office/powerpoint/2010/main" val="3076570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9" name="页脚占位符 5"/>
          <p:cNvSpPr>
            <a:spLocks noGrp="1"/>
          </p:cNvSpPr>
          <p:nvPr>
            <p:ph type="ftr" sz="quarter" idx="11"/>
          </p:nvPr>
        </p:nvSpPr>
        <p:spPr/>
        <p:txBody>
          <a:bodyPr/>
          <a:lstStyle/>
          <a:p>
            <a:pPr>
              <a:defRPr/>
            </a:pPr>
            <a:r>
              <a:rPr lang="zh-CN" altLang="en-US"/>
              <a:t>计算机应用技术研究所</a:t>
            </a:r>
          </a:p>
        </p:txBody>
      </p:sp>
      <p:sp>
        <p:nvSpPr>
          <p:cNvPr id="10" name="灯片编号占位符 6"/>
          <p:cNvSpPr>
            <a:spLocks noGrp="1"/>
          </p:cNvSpPr>
          <p:nvPr>
            <p:ph type="sldNum" sz="quarter" idx="12"/>
          </p:nvPr>
        </p:nvSpPr>
        <p:spPr>
          <a:xfrm>
            <a:off x="6588125" y="6400800"/>
            <a:ext cx="1905000" cy="457200"/>
          </a:xfrm>
        </p:spPr>
        <p:txBody>
          <a:bodyPr/>
          <a:lstStyle/>
          <a:p>
            <a:pPr>
              <a:defRPr/>
            </a:pPr>
            <a:fld id="{46E30D9E-CB94-40C7-9C3A-75E1A0780C81}" type="slidenum">
              <a:rPr lang="en-US" altLang="zh-CN"/>
              <a:pPr>
                <a:defRPr/>
              </a:pPr>
              <a:t>44</a:t>
            </a:fld>
            <a:endParaRPr lang="en-US" altLang="zh-CN"/>
          </a:p>
        </p:txBody>
      </p:sp>
      <p:sp>
        <p:nvSpPr>
          <p:cNvPr id="15365" name="Text Box 2"/>
          <p:cNvSpPr txBox="1">
            <a:spLocks noChangeArrowheads="1"/>
          </p:cNvSpPr>
          <p:nvPr/>
        </p:nvSpPr>
        <p:spPr bwMode="auto">
          <a:xfrm>
            <a:off x="1403648" y="62068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算法伪码描述</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536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550817" y="2073730"/>
            <a:ext cx="7920880" cy="3838095"/>
          </a:xfrm>
          <a:prstGeom prst="rect">
            <a:avLst/>
          </a:prstGeom>
        </p:spPr>
      </p:pic>
    </p:spTree>
    <p:extLst>
      <p:ext uri="{BB962C8B-B14F-4D97-AF65-F5344CB8AC3E}">
        <p14:creationId xmlns:p14="http://schemas.microsoft.com/office/powerpoint/2010/main" val="266795274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45EE9E41-90B7-4D01-8841-C3DA9E5B8987}" type="slidenum">
              <a:rPr lang="en-US" altLang="zh-CN"/>
              <a:pPr>
                <a:defRPr/>
              </a:pPr>
              <a:t>45</a:t>
            </a:fld>
            <a:endParaRPr lang="en-US" altLang="zh-CN"/>
          </a:p>
        </p:txBody>
      </p:sp>
      <p:sp>
        <p:nvSpPr>
          <p:cNvPr id="16389"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163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207220" y="2246199"/>
                <a:ext cx="7056511" cy="1631216"/>
              </a:xfrm>
              <a:prstGeom prst="rect">
                <a:avLst/>
              </a:prstGeom>
              <a:noFill/>
            </p:spPr>
            <p:txBody>
              <a:bodyPr wrap="square" rtlCol="0">
                <a:spAutoFit/>
              </a:bodyPr>
              <a:lstStyle/>
              <a:p>
                <a:r>
                  <a:rPr lang="zh-CN" altLang="zh-CN" sz="2000" dirty="0" smtClean="0"/>
                  <a:t>【例】</a:t>
                </a:r>
                <a:r>
                  <a:rPr lang="zh-CN" altLang="zh-CN" sz="2000" dirty="0"/>
                  <a:t>如图</a:t>
                </a:r>
                <a:r>
                  <a:rPr lang="en-US" altLang="zh-CN" sz="2000" dirty="0"/>
                  <a:t>2-8</a:t>
                </a:r>
                <a:r>
                  <a:rPr lang="zh-CN" altLang="zh-CN" sz="2000" dirty="0"/>
                  <a:t>所示，</a:t>
                </a:r>
                <a14:m>
                  <m:oMath xmlns:m="http://schemas.openxmlformats.org/officeDocument/2006/math">
                    <m:r>
                      <a:rPr lang="en-US" altLang="zh-CN" sz="2000" i="1">
                        <a:latin typeface="Cambria Math" panose="02040503050406030204" pitchFamily="18" charset="0"/>
                      </a:rPr>
                      <m:t>𝐴</m:t>
                    </m:r>
                    <m:r>
                      <a:rPr lang="en-US" altLang="zh-CN" sz="2000" i="1">
                        <a:latin typeface="Cambria Math" panose="02040503050406030204" pitchFamily="18" charset="0"/>
                      </a:rPr>
                      <m:t>,</m:t>
                    </m:r>
                    <m:r>
                      <a:rPr lang="en-US" altLang="zh-CN" sz="2000" i="1">
                        <a:latin typeface="Cambria Math" panose="02040503050406030204" pitchFamily="18" charset="0"/>
                      </a:rPr>
                      <m:t>𝐵</m:t>
                    </m:r>
                    <m:r>
                      <a:rPr lang="en-US" altLang="zh-CN" sz="2000" i="1">
                        <a:latin typeface="Cambria Math" panose="02040503050406030204" pitchFamily="18" charset="0"/>
                      </a:rPr>
                      <m:t>,</m:t>
                    </m:r>
                    <m:r>
                      <a:rPr lang="en-US" altLang="zh-CN" sz="2000" i="1">
                        <a:latin typeface="Cambria Math" panose="02040503050406030204" pitchFamily="18" charset="0"/>
                      </a:rPr>
                      <m:t>𝐶</m:t>
                    </m:r>
                    <m:r>
                      <a:rPr lang="en-US" altLang="zh-CN" sz="2000" i="1">
                        <a:latin typeface="Cambria Math" panose="02040503050406030204" pitchFamily="18" charset="0"/>
                      </a:rPr>
                      <m:t>,</m:t>
                    </m:r>
                    <m:r>
                      <a:rPr lang="en-US" altLang="zh-CN" sz="2000" i="1">
                        <a:latin typeface="Cambria Math" panose="02040503050406030204" pitchFamily="18" charset="0"/>
                      </a:rPr>
                      <m:t>𝐷</m:t>
                    </m:r>
                  </m:oMath>
                </a14:m>
                <a:r>
                  <a:rPr lang="zh-CN" altLang="zh-CN" sz="2000" dirty="0"/>
                  <a:t>分别代表</a:t>
                </a:r>
                <a:r>
                  <a:rPr lang="en-US" altLang="zh-CN" sz="2000" dirty="0"/>
                  <a:t>4</a:t>
                </a:r>
                <a:r>
                  <a:rPr lang="zh-CN" altLang="zh-CN" sz="2000" dirty="0"/>
                  <a:t>个不同的城市，箭头上的数字表示各个城市之间的路线距离，其中每个城市之间都可以互通，设计一个方案，使得从某个城市出发，遍历所有的城市一次且仅一次，然后再回到出发的城市，并使得整个周游的路线最短。</a:t>
                </a:r>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207220" y="2246199"/>
                <a:ext cx="7056511" cy="1631216"/>
              </a:xfrm>
              <a:prstGeom prst="rect">
                <a:avLst/>
              </a:prstGeom>
              <a:blipFill rotWithShape="0">
                <a:blip r:embed="rId4"/>
                <a:stretch>
                  <a:fillRect l="-864" t="-2612" r="-864" b="-5597"/>
                </a:stretch>
              </a:blipFill>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3563888" y="4047293"/>
            <a:ext cx="2109876" cy="2139179"/>
          </a:xfrm>
          <a:prstGeom prst="rect">
            <a:avLst/>
          </a:prstGeom>
        </p:spPr>
      </p:pic>
    </p:spTree>
    <p:extLst>
      <p:ext uri="{BB962C8B-B14F-4D97-AF65-F5344CB8AC3E}">
        <p14:creationId xmlns:p14="http://schemas.microsoft.com/office/powerpoint/2010/main" val="261847904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56F85DB1-9FBA-46D8-AC73-CCB9FED5B558}" type="slidenum">
              <a:rPr lang="en-US" altLang="zh-CN"/>
              <a:pPr>
                <a:defRPr/>
              </a:pPr>
              <a:t>46</a:t>
            </a:fld>
            <a:endParaRPr lang="en-US" altLang="zh-CN"/>
          </a:p>
        </p:txBody>
      </p:sp>
      <p:sp>
        <p:nvSpPr>
          <p:cNvPr id="17413" name="Text Box 2"/>
          <p:cNvSpPr txBox="1">
            <a:spLocks noChangeArrowheads="1"/>
          </p:cNvSpPr>
          <p:nvPr/>
        </p:nvSpPr>
        <p:spPr bwMode="auto">
          <a:xfrm>
            <a:off x="1331913" y="569913"/>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1741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59632" y="1704339"/>
            <a:ext cx="6768752" cy="1077218"/>
          </a:xfrm>
          <a:prstGeom prst="rect">
            <a:avLst/>
          </a:prstGeom>
          <a:noFill/>
        </p:spPr>
        <p:txBody>
          <a:bodyPr wrap="square" rtlCol="0">
            <a:spAutoFit/>
          </a:bodyPr>
          <a:lstStyle/>
          <a:p>
            <a:r>
              <a:rPr lang="zh-CN" altLang="zh-CN" sz="1600" dirty="0"/>
              <a:t>【解】不失一般性，假定出发城市和终止城市都是</a:t>
            </a:r>
            <a:r>
              <a:rPr lang="en-US" altLang="zh-CN" sz="1600" i="1" dirty="0"/>
              <a:t>A</a:t>
            </a:r>
            <a:r>
              <a:rPr lang="zh-CN" altLang="zh-CN" sz="1600" dirty="0"/>
              <a:t>（因为一个合法的周游方案是一个城市圈，因此这样的假定不会对问题产生影响）。由于该问题的规模比较小，只有</a:t>
            </a:r>
            <a:r>
              <a:rPr lang="en-US" altLang="zh-CN" sz="1600" dirty="0"/>
              <a:t>4</a:t>
            </a:r>
            <a:r>
              <a:rPr lang="zh-CN" altLang="zh-CN" sz="1600" dirty="0"/>
              <a:t>个城市，我们使用蛮力法求解，如表</a:t>
            </a:r>
            <a:r>
              <a:rPr lang="en-US" altLang="zh-CN" sz="1600" dirty="0"/>
              <a:t>2-5</a:t>
            </a:r>
            <a:r>
              <a:rPr lang="zh-CN" altLang="zh-CN" sz="1600" dirty="0"/>
              <a:t>所示，穷举了所有出发城市和终止城市都是</a:t>
            </a:r>
            <a:r>
              <a:rPr lang="en-US" altLang="zh-CN" sz="1600" i="1" dirty="0"/>
              <a:t>A</a:t>
            </a:r>
            <a:r>
              <a:rPr lang="zh-CN" altLang="zh-CN" sz="1600" dirty="0"/>
              <a:t>的周游方案。</a:t>
            </a:r>
          </a:p>
        </p:txBody>
      </p:sp>
      <p:pic>
        <p:nvPicPr>
          <p:cNvPr id="3" name="图片 2"/>
          <p:cNvPicPr>
            <a:picLocks noChangeAspect="1"/>
          </p:cNvPicPr>
          <p:nvPr/>
        </p:nvPicPr>
        <p:blipFill>
          <a:blip r:embed="rId4"/>
          <a:stretch>
            <a:fillRect/>
          </a:stretch>
        </p:blipFill>
        <p:spPr>
          <a:xfrm>
            <a:off x="1939246" y="2817839"/>
            <a:ext cx="5409524" cy="2266667"/>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1301771" y="5156021"/>
                <a:ext cx="6696471" cy="1200329"/>
              </a:xfrm>
              <a:prstGeom prst="rect">
                <a:avLst/>
              </a:prstGeom>
              <a:noFill/>
            </p:spPr>
            <p:txBody>
              <a:bodyPr wrap="square" rtlCol="0">
                <a:spAutoFit/>
              </a:bodyPr>
              <a:lstStyle/>
              <a:p>
                <a:r>
                  <a:rPr lang="zh-CN" altLang="zh-CN" sz="1800" dirty="0"/>
                  <a:t>通过对所有周游方案的长度的比较，得到最佳的周游路线是</a:t>
                </a:r>
                <a14:m>
                  <m:oMath xmlns:m="http://schemas.openxmlformats.org/officeDocument/2006/math">
                    <m:r>
                      <a:rPr lang="en-US" altLang="zh-CN" sz="1800" i="1">
                        <a:latin typeface="Cambria Math" panose="02040503050406030204" pitchFamily="18" charset="0"/>
                      </a:rPr>
                      <m:t>𝐴</m:t>
                    </m:r>
                    <m:r>
                      <a:rPr lang="en-US" altLang="zh-CN" sz="1800" i="1">
                        <a:latin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𝐷</m:t>
                    </m:r>
                    <m:r>
                      <a:rPr lang="en-US" altLang="zh-CN" sz="1800" i="1">
                        <a:latin typeface="Cambria Math" panose="02040503050406030204" pitchFamily="18" charset="0"/>
                      </a:rPr>
                      <m:t>→</m:t>
                    </m:r>
                    <m:r>
                      <a:rPr lang="en-US" altLang="zh-CN" sz="1800" i="1">
                        <a:latin typeface="Cambria Math" panose="02040503050406030204" pitchFamily="18" charset="0"/>
                      </a:rPr>
                      <m:t>𝐶</m:t>
                    </m:r>
                    <m:r>
                      <a:rPr lang="en-US" altLang="zh-CN" sz="1800" i="1">
                        <a:latin typeface="Cambria Math" panose="02040503050406030204" pitchFamily="18" charset="0"/>
                      </a:rPr>
                      <m:t>→</m:t>
                    </m:r>
                    <m:r>
                      <a:rPr lang="en-US" altLang="zh-CN" sz="1800" i="1">
                        <a:latin typeface="Cambria Math" panose="02040503050406030204" pitchFamily="18" charset="0"/>
                      </a:rPr>
                      <m:t>𝐴</m:t>
                    </m:r>
                  </m:oMath>
                </a14:m>
                <a:r>
                  <a:rPr lang="zh-CN" altLang="zh-CN" sz="1800" dirty="0"/>
                  <a:t>，或者是</a:t>
                </a:r>
                <a14:m>
                  <m:oMath xmlns:m="http://schemas.openxmlformats.org/officeDocument/2006/math">
                    <m:r>
                      <a:rPr lang="en-US" altLang="zh-CN" sz="1800" i="1">
                        <a:latin typeface="Cambria Math" panose="02040503050406030204" pitchFamily="18" charset="0"/>
                      </a:rPr>
                      <m:t>𝐴</m:t>
                    </m:r>
                    <m:r>
                      <a:rPr lang="en-US" altLang="zh-CN" sz="1800" i="1">
                        <a:latin typeface="Cambria Math" panose="02040503050406030204" pitchFamily="18" charset="0"/>
                      </a:rPr>
                      <m:t>→</m:t>
                    </m:r>
                    <m:r>
                      <a:rPr lang="en-US" altLang="zh-CN" sz="1800" i="1">
                        <a:latin typeface="Cambria Math" panose="02040503050406030204" pitchFamily="18" charset="0"/>
                      </a:rPr>
                      <m:t>𝐶</m:t>
                    </m:r>
                    <m:r>
                      <a:rPr lang="en-US" altLang="zh-CN" sz="1800" i="1">
                        <a:latin typeface="Cambria Math" panose="02040503050406030204" pitchFamily="18" charset="0"/>
                      </a:rPr>
                      <m:t>→</m:t>
                    </m:r>
                    <m:r>
                      <a:rPr lang="en-US" altLang="zh-CN" sz="1800" i="1">
                        <a:latin typeface="Cambria Math" panose="02040503050406030204" pitchFamily="18" charset="0"/>
                      </a:rPr>
                      <m:t>𝐷</m:t>
                    </m:r>
                    <m:r>
                      <a:rPr lang="en-US" altLang="zh-CN" sz="1800" i="1">
                        <a:latin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𝐴</m:t>
                    </m:r>
                  </m:oMath>
                </a14:m>
                <a:r>
                  <a:rPr lang="zh-CN" altLang="zh-CN" sz="1800" dirty="0"/>
                  <a:t>。事实上，这两条周游路线是等价的，这也提示我们，在枚举的时候，可以通过适当的控制手段，减少一半的枚举数量。</a:t>
                </a:r>
                <a:endParaRPr lang="zh-CN" altLang="en-US" sz="18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301771" y="5156021"/>
                <a:ext cx="6696471" cy="1200329"/>
              </a:xfrm>
              <a:prstGeom prst="rect">
                <a:avLst/>
              </a:prstGeom>
              <a:blipFill rotWithShape="0">
                <a:blip r:embed="rId5"/>
                <a:stretch>
                  <a:fillRect l="-820" t="-4061"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730920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22" name="页脚占位符 5"/>
          <p:cNvSpPr>
            <a:spLocks noGrp="1"/>
          </p:cNvSpPr>
          <p:nvPr>
            <p:ph type="ftr" sz="quarter" idx="11"/>
          </p:nvPr>
        </p:nvSpPr>
        <p:spPr/>
        <p:txBody>
          <a:bodyPr/>
          <a:lstStyle/>
          <a:p>
            <a:pPr>
              <a:defRPr/>
            </a:pPr>
            <a:r>
              <a:rPr lang="zh-CN" altLang="en-US"/>
              <a:t>计算机应用技术研究所</a:t>
            </a:r>
          </a:p>
        </p:txBody>
      </p:sp>
      <p:sp>
        <p:nvSpPr>
          <p:cNvPr id="23" name="灯片编号占位符 6"/>
          <p:cNvSpPr>
            <a:spLocks noGrp="1"/>
          </p:cNvSpPr>
          <p:nvPr>
            <p:ph type="sldNum" sz="quarter" idx="12"/>
          </p:nvPr>
        </p:nvSpPr>
        <p:spPr/>
        <p:txBody>
          <a:bodyPr/>
          <a:lstStyle/>
          <a:p>
            <a:pPr>
              <a:defRPr/>
            </a:pPr>
            <a:fld id="{25242B72-8986-49E2-9F89-771A941426A7}" type="slidenum">
              <a:rPr lang="en-US" altLang="zh-CN"/>
              <a:pPr>
                <a:defRPr/>
              </a:pPr>
              <a:t>47</a:t>
            </a:fld>
            <a:endParaRPr lang="en-US" altLang="zh-CN"/>
          </a:p>
        </p:txBody>
      </p:sp>
      <p:sp>
        <p:nvSpPr>
          <p:cNvPr id="18437"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总结</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84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43608" y="2295066"/>
            <a:ext cx="7056784" cy="3662541"/>
          </a:xfrm>
          <a:prstGeom prst="rect">
            <a:avLst/>
          </a:prstGeom>
          <a:noFill/>
          <a:ln w="25400" cmpd="dbl">
            <a:solidFill>
              <a:srgbClr val="FF99FF"/>
            </a:solidFill>
          </a:ln>
        </p:spPr>
        <p:txBody>
          <a:bodyPr wrap="square" rtlCol="0">
            <a:spAutoFit/>
          </a:bodyPr>
          <a:lstStyle/>
          <a:p>
            <a:pPr marL="342900" indent="-342900">
              <a:lnSpc>
                <a:spcPct val="150000"/>
              </a:lnSpc>
              <a:buFont typeface="Wingdings" panose="05000000000000000000" pitchFamily="2" charset="2"/>
              <a:buChar char="n"/>
            </a:pPr>
            <a:r>
              <a:rPr lang="zh-CN" altLang="en-US" sz="2400" dirty="0" smtClean="0">
                <a:latin typeface="华文琥珀" panose="02010800040101010101" pitchFamily="2" charset="-122"/>
                <a:ea typeface="华文琥珀" panose="02010800040101010101" pitchFamily="2" charset="-122"/>
              </a:rPr>
              <a:t>蛮力法是一种简单直接地解决问题的方法，通常直接基于问题的描述和所涉及的概念定义。</a:t>
            </a:r>
          </a:p>
          <a:p>
            <a:pPr marL="342900" indent="-342900">
              <a:lnSpc>
                <a:spcPct val="150000"/>
              </a:lnSpc>
              <a:buFont typeface="Wingdings" panose="05000000000000000000" pitchFamily="2" charset="2"/>
              <a:buChar char="n"/>
            </a:pPr>
            <a:r>
              <a:rPr lang="zh-CN" altLang="en-US" sz="2400" dirty="0" smtClean="0">
                <a:latin typeface="华文琥珀" panose="02010800040101010101" pitchFamily="2" charset="-122"/>
                <a:ea typeface="华文琥珀" panose="02010800040101010101" pitchFamily="2" charset="-122"/>
              </a:rPr>
              <a:t>蛮力法的主要优点是它广泛的适用性和简单性</a:t>
            </a:r>
            <a:r>
              <a:rPr lang="en-US" altLang="zh-CN" sz="2400" dirty="0" smtClean="0">
                <a:latin typeface="华文琥珀" panose="02010800040101010101" pitchFamily="2" charset="-122"/>
                <a:ea typeface="华文琥珀" panose="02010800040101010101" pitchFamily="2" charset="-122"/>
              </a:rPr>
              <a:t>;</a:t>
            </a:r>
            <a:r>
              <a:rPr lang="zh-CN" altLang="en-US" sz="2400" dirty="0" smtClean="0">
                <a:latin typeface="华文琥珀" panose="02010800040101010101" pitchFamily="2" charset="-122"/>
                <a:ea typeface="华文琥珀" panose="02010800040101010101" pitchFamily="2" charset="-122"/>
              </a:rPr>
              <a:t>它的主要缺点是大多数蛮力算法的效率都不高。</a:t>
            </a:r>
          </a:p>
          <a:p>
            <a:pPr marL="342900" indent="-342900">
              <a:buFont typeface="Wingdings" panose="05000000000000000000" pitchFamily="2" charset="2"/>
              <a:buChar char="n"/>
            </a:pPr>
            <a:r>
              <a:rPr lang="zh-CN" altLang="en-US" sz="2400" dirty="0" smtClean="0">
                <a:latin typeface="华文琥珀" panose="02010800040101010101" pitchFamily="2" charset="-122"/>
                <a:ea typeface="华文琥珀" panose="02010800040101010101" pitchFamily="2" charset="-122"/>
              </a:rPr>
              <a:t>除了相关问题的一些规模非常小的实例，穷举查找法几乎是不实用的</a:t>
            </a:r>
            <a:r>
              <a:rPr lang="zh-CN" altLang="en-US" dirty="0" smtClean="0">
                <a:latin typeface="华文琥珀" panose="02010800040101010101" pitchFamily="2" charset="-122"/>
                <a:ea typeface="华文琥珀" panose="02010800040101010101" pitchFamily="2" charset="-122"/>
              </a:rPr>
              <a:t>。</a:t>
            </a:r>
          </a:p>
          <a:p>
            <a:endParaRPr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83073172-C17B-483C-9803-B66383541779}" type="slidenum">
              <a:rPr lang="en-US" altLang="zh-CN"/>
              <a:pPr>
                <a:defRPr/>
              </a:pPr>
              <a:t>48</a:t>
            </a:fld>
            <a:endParaRPr lang="en-US" altLang="zh-CN"/>
          </a:p>
        </p:txBody>
      </p:sp>
      <p:sp>
        <p:nvSpPr>
          <p:cNvPr id="23557" name="Text Box 2"/>
          <p:cNvSpPr txBox="1">
            <a:spLocks noChangeArrowheads="1"/>
          </p:cNvSpPr>
          <p:nvPr/>
        </p:nvSpPr>
        <p:spPr bwMode="auto">
          <a:xfrm>
            <a:off x="1331913" y="692150"/>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贪心策略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235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467544" y="1772816"/>
            <a:ext cx="4800000" cy="676190"/>
          </a:xfrm>
          <a:prstGeom prst="rect">
            <a:avLst/>
          </a:prstGeom>
        </p:spPr>
      </p:pic>
      <p:sp>
        <p:nvSpPr>
          <p:cNvPr id="3" name="文本框 2"/>
          <p:cNvSpPr txBox="1"/>
          <p:nvPr/>
        </p:nvSpPr>
        <p:spPr>
          <a:xfrm>
            <a:off x="807579" y="2485911"/>
            <a:ext cx="7128792" cy="1938992"/>
          </a:xfrm>
          <a:prstGeom prst="rect">
            <a:avLst/>
          </a:prstGeom>
          <a:solidFill>
            <a:srgbClr val="993366"/>
          </a:solidFill>
        </p:spPr>
        <p:txBody>
          <a:bodyPr wrap="square" rtlCol="0">
            <a:spAutoFit/>
          </a:bodyPr>
          <a:lstStyle/>
          <a:p>
            <a:r>
              <a:rPr lang="zh-CN" altLang="en-US" sz="2400" dirty="0" smtClean="0">
                <a:solidFill>
                  <a:schemeClr val="bg1"/>
                </a:solidFill>
              </a:rPr>
              <a:t>将问题的求解过程看作是一系列选择，每次选择一个输入，每次选择都是</a:t>
            </a:r>
            <a:r>
              <a:rPr lang="zh-CN" altLang="en-US" sz="2400" dirty="0" smtClean="0"/>
              <a:t>当前状态下</a:t>
            </a:r>
            <a:r>
              <a:rPr lang="zh-CN" altLang="en-US" sz="2400" dirty="0" smtClean="0">
                <a:solidFill>
                  <a:schemeClr val="bg1"/>
                </a:solidFill>
              </a:rPr>
              <a:t>的</a:t>
            </a:r>
            <a:r>
              <a:rPr lang="zh-CN" altLang="en-US" sz="2400" dirty="0" smtClean="0">
                <a:solidFill>
                  <a:srgbClr val="FFFF00"/>
                </a:solidFill>
              </a:rPr>
              <a:t>最好选择</a:t>
            </a:r>
            <a:r>
              <a:rPr lang="en-US" altLang="zh-CN" sz="2400" dirty="0" smtClean="0">
                <a:solidFill>
                  <a:srgbClr val="FFFF00"/>
                </a:solidFill>
              </a:rPr>
              <a:t>(</a:t>
            </a:r>
            <a:r>
              <a:rPr lang="zh-CN" altLang="en-US" sz="2400" dirty="0" smtClean="0">
                <a:solidFill>
                  <a:srgbClr val="FFFF00"/>
                </a:solidFill>
              </a:rPr>
              <a:t>局部最优解</a:t>
            </a:r>
            <a:r>
              <a:rPr lang="en-US" altLang="zh-CN" sz="2400" dirty="0" smtClean="0">
                <a:solidFill>
                  <a:srgbClr val="FFFF00"/>
                </a:solidFill>
              </a:rPr>
              <a:t>)</a:t>
            </a:r>
            <a:r>
              <a:rPr lang="zh-CN" altLang="en-US" sz="2400" dirty="0" smtClean="0">
                <a:solidFill>
                  <a:schemeClr val="bg1"/>
                </a:solidFill>
              </a:rPr>
              <a:t>。每作一次选择后，所求问题会简化为一个规模更小的子问题。从而通过每一步的最优解逐步达到整体的最优解。</a:t>
            </a:r>
          </a:p>
        </p:txBody>
      </p:sp>
      <p:pic>
        <p:nvPicPr>
          <p:cNvPr id="4" name="图片 3"/>
          <p:cNvPicPr>
            <a:picLocks noChangeAspect="1"/>
          </p:cNvPicPr>
          <p:nvPr/>
        </p:nvPicPr>
        <p:blipFill>
          <a:blip r:embed="rId5"/>
          <a:stretch>
            <a:fillRect/>
          </a:stretch>
        </p:blipFill>
        <p:spPr>
          <a:xfrm>
            <a:off x="467544" y="4477685"/>
            <a:ext cx="8133333" cy="1819048"/>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8" name="页脚占位符 5"/>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9" name="灯片编号占位符 6"/>
          <p:cNvSpPr>
            <a:spLocks noGrp="1"/>
          </p:cNvSpPr>
          <p:nvPr>
            <p:ph type="sldNum" sz="quarter" idx="12"/>
          </p:nvPr>
        </p:nvSpPr>
        <p:spPr/>
        <p:txBody>
          <a:bodyPr/>
          <a:lstStyle/>
          <a:p>
            <a:pPr>
              <a:defRPr/>
            </a:pPr>
            <a:fld id="{42382978-10ED-4320-89F0-4B57CAB3B986}" type="slidenum">
              <a:rPr lang="en-US" altLang="zh-CN"/>
              <a:pPr>
                <a:defRPr/>
              </a:pPr>
              <a:t>49</a:t>
            </a:fld>
            <a:endParaRPr lang="en-US" altLang="zh-CN"/>
          </a:p>
        </p:txBody>
      </p:sp>
      <p:sp>
        <p:nvSpPr>
          <p:cNvPr id="24581"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贪心算法</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245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4"/>
          <a:stretch>
            <a:fillRect/>
          </a:stretch>
        </p:blipFill>
        <p:spPr>
          <a:xfrm>
            <a:off x="849441" y="2420888"/>
            <a:ext cx="7460994" cy="3066667"/>
          </a:xfrm>
          <a:prstGeom prst="rect">
            <a:avLst/>
          </a:prstGeom>
        </p:spPr>
      </p:pic>
    </p:spTree>
    <p:extLst>
      <p:ext uri="{BB962C8B-B14F-4D97-AF65-F5344CB8AC3E}">
        <p14:creationId xmlns:p14="http://schemas.microsoft.com/office/powerpoint/2010/main" val="40455168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FCE0CEAE-C494-41FB-85FF-0AF59700D1D5}" type="slidenum">
              <a:rPr lang="en-US" altLang="zh-CN"/>
              <a:pPr>
                <a:defRPr/>
              </a:pPr>
              <a:t>50</a:t>
            </a:fld>
            <a:endParaRPr lang="en-US" altLang="zh-CN"/>
          </a:p>
        </p:txBody>
      </p:sp>
      <p:sp>
        <p:nvSpPr>
          <p:cNvPr id="27653"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算法伪码</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2765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1459240" y="2056017"/>
            <a:ext cx="6225520" cy="399215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DC8FDDFF-B22B-41C6-AA8F-3004E0F602CB}" type="slidenum">
              <a:rPr lang="en-US" altLang="zh-CN"/>
              <a:pPr>
                <a:defRPr/>
              </a:pPr>
              <a:t>51</a:t>
            </a:fld>
            <a:endParaRPr lang="en-US" altLang="zh-CN"/>
          </a:p>
        </p:txBody>
      </p:sp>
      <p:sp>
        <p:nvSpPr>
          <p:cNvPr id="25605"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560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923191" y="2137032"/>
                <a:ext cx="7416551" cy="2554545"/>
              </a:xfrm>
              <a:prstGeom prst="rect">
                <a:avLst/>
              </a:prstGeom>
              <a:noFill/>
            </p:spPr>
            <p:txBody>
              <a:bodyPr wrap="square" rtlCol="0">
                <a:spAutoFit/>
              </a:bodyPr>
              <a:lstStyle/>
              <a:p>
                <a:r>
                  <a:rPr lang="zh-CN" altLang="zh-CN" sz="2000" b="1" dirty="0" smtClean="0"/>
                  <a:t>【</a:t>
                </a:r>
                <a:r>
                  <a:rPr lang="zh-CN" altLang="zh-CN" sz="2000" dirty="0" smtClean="0"/>
                  <a:t>例</a:t>
                </a:r>
                <a:r>
                  <a:rPr lang="zh-CN" altLang="zh-CN" sz="2000" b="1" dirty="0" smtClean="0"/>
                  <a:t>】</a:t>
                </a:r>
                <a:r>
                  <a:rPr lang="zh-CN" altLang="zh-CN" sz="2000" dirty="0"/>
                  <a:t>大学中经常需要使用会议室进行学术研讨或商议其它事情。但会议室个数是有限的，应该如何在日常的工作学习中避免时间冲突，最高效地利用会议室呢？</a:t>
                </a:r>
              </a:p>
              <a:p>
                <a:r>
                  <a:rPr lang="zh-CN" altLang="zh-CN" sz="2000" dirty="0"/>
                  <a:t>假设只有一个会议室，需要举行有</a:t>
                </a:r>
                <a14:m>
                  <m:oMath xmlns:m="http://schemas.openxmlformats.org/officeDocument/2006/math">
                    <m:r>
                      <a:rPr lang="zh-CN" altLang="zh-CN" sz="2000" i="1">
                        <a:latin typeface="Cambria Math" panose="02040503050406030204" pitchFamily="18" charset="0"/>
                      </a:rPr>
                      <m:t> </m:t>
                    </m:r>
                    <m:r>
                      <a:rPr lang="en-US" altLang="zh-CN" sz="2000" i="1">
                        <a:latin typeface="Cambria Math" panose="02040503050406030204" pitchFamily="18" charset="0"/>
                      </a:rPr>
                      <m:t>𝑛</m:t>
                    </m:r>
                  </m:oMath>
                </a14:m>
                <a:r>
                  <a:rPr lang="zh-CN" altLang="zh-CN" sz="2000" dirty="0"/>
                  <a:t>场会议。每场会议都有开始时间</a:t>
                </a:r>
                <a14:m>
                  <m:oMath xmlns:m="http://schemas.openxmlformats.org/officeDocument/2006/math">
                    <m:r>
                      <a:rPr lang="en-US" altLang="zh-CN" sz="2000" i="1">
                        <a:latin typeface="Cambria Math" panose="02040503050406030204" pitchFamily="18" charset="0"/>
                      </a:rPr>
                      <m:t>𝑏</m:t>
                    </m:r>
                  </m:oMath>
                </a14:m>
                <a:r>
                  <a:rPr lang="zh-CN" altLang="zh-CN" sz="2000" dirty="0"/>
                  <a:t>和结束时间</a:t>
                </a:r>
                <a14:m>
                  <m:oMath xmlns:m="http://schemas.openxmlformats.org/officeDocument/2006/math">
                    <m:r>
                      <a:rPr lang="en-US" altLang="zh-CN" sz="2000" i="1">
                        <a:latin typeface="Cambria Math" panose="02040503050406030204" pitchFamily="18" charset="0"/>
                      </a:rPr>
                      <m:t>𝑒</m:t>
                    </m:r>
                  </m:oMath>
                </a14:m>
                <a:r>
                  <a:rPr lang="en-US" altLang="zh-CN" sz="2000" dirty="0"/>
                  <a:t> </a:t>
                </a:r>
                <a:r>
                  <a:rPr lang="zh-CN" altLang="zh-CN" sz="2000" dirty="0"/>
                  <a:t>（若前面一场会议结束的时间早于后面一场会议的开始时间，则称这两场会议之间没有冲突，否则称这两场会议之间有冲突）。下表</a:t>
                </a:r>
                <a:r>
                  <a:rPr lang="en-US" altLang="zh-CN" sz="2000" dirty="0"/>
                  <a:t>2-6</a:t>
                </a:r>
                <a:r>
                  <a:rPr lang="zh-CN" altLang="zh-CN" sz="2000" dirty="0"/>
                  <a:t>表示每场会议的开始时间和结束时间。</a:t>
                </a:r>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923191" y="2137032"/>
                <a:ext cx="7416551" cy="2554545"/>
              </a:xfrm>
              <a:prstGeom prst="rect">
                <a:avLst/>
              </a:prstGeom>
              <a:blipFill rotWithShape="0">
                <a:blip r:embed="rId4"/>
                <a:stretch>
                  <a:fillRect l="-822" t="-1432" b="-3341"/>
                </a:stretch>
              </a:blipFill>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1364801" y="4796194"/>
            <a:ext cx="6533333" cy="1238095"/>
          </a:xfrm>
          <a:prstGeom prst="rect">
            <a:avLst/>
          </a:prstGeom>
        </p:spPr>
      </p:pic>
    </p:spTree>
    <p:extLst>
      <p:ext uri="{BB962C8B-B14F-4D97-AF65-F5344CB8AC3E}">
        <p14:creationId xmlns:p14="http://schemas.microsoft.com/office/powerpoint/2010/main" val="4178752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760CEC02-E3D3-4CC1-B5E0-568F20D517FD}" type="slidenum">
              <a:rPr lang="en-US" altLang="zh-CN"/>
              <a:pPr>
                <a:defRPr/>
              </a:pPr>
              <a:t>52</a:t>
            </a:fld>
            <a:endParaRPr lang="en-US" altLang="zh-CN"/>
          </a:p>
        </p:txBody>
      </p:sp>
      <p:sp>
        <p:nvSpPr>
          <p:cNvPr id="26629" name="Text Box 2"/>
          <p:cNvSpPr txBox="1">
            <a:spLocks noChangeArrowheads="1"/>
          </p:cNvSpPr>
          <p:nvPr/>
        </p:nvSpPr>
        <p:spPr bwMode="auto">
          <a:xfrm>
            <a:off x="1331913" y="692150"/>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2663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43608" y="1772816"/>
            <a:ext cx="7491958" cy="1938992"/>
          </a:xfrm>
          <a:prstGeom prst="rect">
            <a:avLst/>
          </a:prstGeom>
          <a:noFill/>
        </p:spPr>
        <p:txBody>
          <a:bodyPr wrap="square" rtlCol="0">
            <a:spAutoFit/>
          </a:bodyPr>
          <a:lstStyle/>
          <a:p>
            <a:r>
              <a:rPr lang="zh-CN" altLang="zh-CN" sz="2000" b="1" dirty="0"/>
              <a:t>【</a:t>
            </a:r>
            <a:r>
              <a:rPr lang="zh-CN" altLang="zh-CN" sz="2000" dirty="0"/>
              <a:t>解</a:t>
            </a:r>
            <a:r>
              <a:rPr lang="zh-CN" altLang="zh-CN" sz="2000" b="1" dirty="0"/>
              <a:t>】</a:t>
            </a:r>
            <a:r>
              <a:rPr lang="zh-CN" altLang="zh-CN" sz="2000" dirty="0"/>
              <a:t>可以使用用贪心算法解决这个问题。贪心策略如下：为了使得会议室能够满足更多同学和老师的需求，我们总是选择在当前状态下，结束时间最早且在时间安排上无冲突的会议，如此选择会使得剩余时间最多，以便安排后续会议。按上述标准，不断重复地进行局部最优选择，直至所有会议都安排上或者时间安排满，由此得到问题的最优解。具体实现过程如图</a:t>
            </a:r>
            <a:r>
              <a:rPr lang="en-US" altLang="zh-CN" sz="2000" dirty="0"/>
              <a:t>2-9</a:t>
            </a:r>
            <a:r>
              <a:rPr lang="zh-CN" altLang="zh-CN" sz="2000" dirty="0"/>
              <a:t>所示。</a:t>
            </a:r>
            <a:endParaRPr lang="zh-CN" altLang="en-US" sz="2000" dirty="0"/>
          </a:p>
        </p:txBody>
      </p:sp>
      <p:pic>
        <p:nvPicPr>
          <p:cNvPr id="3" name="图片 2"/>
          <p:cNvPicPr>
            <a:picLocks noChangeAspect="1"/>
          </p:cNvPicPr>
          <p:nvPr/>
        </p:nvPicPr>
        <p:blipFill>
          <a:blip r:embed="rId4"/>
          <a:stretch>
            <a:fillRect/>
          </a:stretch>
        </p:blipFill>
        <p:spPr>
          <a:xfrm>
            <a:off x="2339752" y="3711808"/>
            <a:ext cx="4598335" cy="2562493"/>
          </a:xfrm>
          <a:prstGeom prst="rect">
            <a:avLst/>
          </a:prstGeom>
        </p:spPr>
      </p:pic>
    </p:spTree>
    <p:extLst>
      <p:ext uri="{BB962C8B-B14F-4D97-AF65-F5344CB8AC3E}">
        <p14:creationId xmlns:p14="http://schemas.microsoft.com/office/powerpoint/2010/main" val="28206441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D87BE674-D62B-453E-A57B-58A72DB89939}" type="slidenum">
              <a:rPr lang="en-US" altLang="zh-CN"/>
              <a:pPr>
                <a:defRPr/>
              </a:pPr>
              <a:t>53</a:t>
            </a:fld>
            <a:endParaRPr lang="en-US" altLang="zh-CN"/>
          </a:p>
        </p:txBody>
      </p:sp>
      <p:sp>
        <p:nvSpPr>
          <p:cNvPr id="35845"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358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43608" y="2132856"/>
            <a:ext cx="7056784" cy="3170099"/>
          </a:xfrm>
          <a:prstGeom prst="rect">
            <a:avLst/>
          </a:prstGeom>
          <a:noFill/>
          <a:ln w="25400">
            <a:solidFill>
              <a:schemeClr val="accent2"/>
            </a:solidFill>
          </a:ln>
        </p:spPr>
        <p:txBody>
          <a:bodyPr wrap="square" rtlCol="0">
            <a:spAutoFit/>
          </a:bodyPr>
          <a:lstStyle/>
          <a:p>
            <a:r>
              <a:rPr lang="zh-CN" altLang="zh-CN" sz="2000" dirty="0"/>
              <a:t>根据算法</a:t>
            </a:r>
            <a:r>
              <a:rPr lang="zh-CN" altLang="zh-CN" sz="2000" dirty="0" smtClean="0"/>
              <a:t>思想</a:t>
            </a:r>
            <a:r>
              <a:rPr lang="zh-CN" altLang="en-US" sz="2000" dirty="0" smtClean="0"/>
              <a:t>：</a:t>
            </a:r>
            <a:endParaRPr lang="en-US" altLang="zh-CN" sz="2000" dirty="0" smtClean="0"/>
          </a:p>
          <a:p>
            <a:pPr marL="457200" indent="-457200">
              <a:buFont typeface="+mj-lt"/>
              <a:buAutoNum type="alphaLcPeriod"/>
            </a:pPr>
            <a:r>
              <a:rPr lang="zh-CN" altLang="zh-CN" sz="2000" dirty="0" smtClean="0"/>
              <a:t>首先</a:t>
            </a:r>
            <a:r>
              <a:rPr lang="zh-CN" altLang="zh-CN" sz="2000" dirty="0"/>
              <a:t>选取会议结束时间最早的会议，即会议</a:t>
            </a:r>
            <a:r>
              <a:rPr lang="en-US" altLang="zh-CN" sz="2000" dirty="0"/>
              <a:t>1</a:t>
            </a:r>
            <a:r>
              <a:rPr lang="zh-CN" altLang="zh-CN" sz="2000" dirty="0"/>
              <a:t>，其结束时间为</a:t>
            </a:r>
            <a:r>
              <a:rPr lang="en-US" altLang="zh-CN" sz="2000" dirty="0"/>
              <a:t>4</a:t>
            </a:r>
            <a:r>
              <a:rPr lang="zh-CN" altLang="zh-CN" sz="2000" dirty="0" smtClean="0"/>
              <a:t>；</a:t>
            </a:r>
            <a:endParaRPr lang="en-US" altLang="zh-CN" sz="2000" dirty="0" smtClean="0"/>
          </a:p>
          <a:p>
            <a:pPr marL="457200" indent="-457200">
              <a:buFont typeface="+mj-lt"/>
              <a:buAutoNum type="alphaLcPeriod"/>
            </a:pPr>
            <a:r>
              <a:rPr lang="zh-CN" altLang="zh-CN" sz="2000" dirty="0" smtClean="0"/>
              <a:t>当</a:t>
            </a:r>
            <a:r>
              <a:rPr lang="zh-CN" altLang="zh-CN" sz="2000" dirty="0"/>
              <a:t>继续选择会议结束时间第二早的会议</a:t>
            </a:r>
            <a:r>
              <a:rPr lang="en-US" altLang="zh-CN" sz="2000" dirty="0"/>
              <a:t>2</a:t>
            </a:r>
            <a:r>
              <a:rPr lang="zh-CN" altLang="zh-CN" sz="2000" dirty="0"/>
              <a:t>时，由于该会议开始时间与会议</a:t>
            </a:r>
            <a:r>
              <a:rPr lang="en-US" altLang="zh-CN" sz="2000" dirty="0"/>
              <a:t>1</a:t>
            </a:r>
            <a:r>
              <a:rPr lang="zh-CN" altLang="zh-CN" sz="2000" dirty="0"/>
              <a:t>结束时间产生冲突，因此放弃会议</a:t>
            </a:r>
            <a:r>
              <a:rPr lang="en-US" altLang="zh-CN" sz="2000" dirty="0"/>
              <a:t>2</a:t>
            </a:r>
            <a:r>
              <a:rPr lang="zh-CN" altLang="zh-CN" sz="2000" dirty="0"/>
              <a:t>的安排；继续选择第三早的会议</a:t>
            </a:r>
            <a:r>
              <a:rPr lang="en-US" altLang="zh-CN" sz="2000" dirty="0"/>
              <a:t>3</a:t>
            </a:r>
            <a:r>
              <a:rPr lang="zh-CN" altLang="zh-CN" sz="2000" dirty="0"/>
              <a:t>，，此时会议</a:t>
            </a:r>
            <a:r>
              <a:rPr lang="en-US" altLang="zh-CN" sz="2000" dirty="0"/>
              <a:t>3</a:t>
            </a:r>
            <a:r>
              <a:rPr lang="zh-CN" altLang="zh-CN" sz="2000" dirty="0"/>
              <a:t>情况和会议</a:t>
            </a:r>
            <a:r>
              <a:rPr lang="en-US" altLang="zh-CN" sz="2000" dirty="0"/>
              <a:t>2</a:t>
            </a:r>
            <a:r>
              <a:rPr lang="zh-CN" altLang="zh-CN" sz="2000" dirty="0"/>
              <a:t>情况类似，也不予安排</a:t>
            </a:r>
            <a:r>
              <a:rPr lang="zh-CN" altLang="zh-CN" sz="2000" dirty="0" smtClean="0"/>
              <a:t>；</a:t>
            </a:r>
            <a:endParaRPr lang="en-US" altLang="zh-CN" sz="2000" dirty="0" smtClean="0"/>
          </a:p>
          <a:p>
            <a:pPr marL="457200" indent="-457200">
              <a:buFont typeface="+mj-lt"/>
              <a:buAutoNum type="alphaLcPeriod"/>
            </a:pPr>
            <a:r>
              <a:rPr lang="zh-CN" altLang="zh-CN" sz="2000" dirty="0" smtClean="0"/>
              <a:t>当</a:t>
            </a:r>
            <a:r>
              <a:rPr lang="zh-CN" altLang="zh-CN" sz="2000" dirty="0"/>
              <a:t>继续选择会议结束时间第四早的会议</a:t>
            </a:r>
            <a:r>
              <a:rPr lang="en-US" altLang="zh-CN" sz="2000" dirty="0"/>
              <a:t>4</a:t>
            </a:r>
            <a:r>
              <a:rPr lang="zh-CN" altLang="zh-CN" sz="2000" dirty="0"/>
              <a:t>时，由于会议</a:t>
            </a:r>
            <a:r>
              <a:rPr lang="en-US" altLang="zh-CN" sz="2000" dirty="0"/>
              <a:t>4</a:t>
            </a:r>
            <a:r>
              <a:rPr lang="zh-CN" altLang="zh-CN" sz="2000" dirty="0"/>
              <a:t>的开始时间与会议</a:t>
            </a:r>
            <a:r>
              <a:rPr lang="en-US" altLang="zh-CN" sz="2000" dirty="0"/>
              <a:t>1</a:t>
            </a:r>
            <a:r>
              <a:rPr lang="zh-CN" altLang="zh-CN" sz="2000" dirty="0"/>
              <a:t>结束时间并未冲突，故可安排会议</a:t>
            </a:r>
            <a:r>
              <a:rPr lang="en-US" altLang="zh-CN" sz="2000" dirty="0"/>
              <a:t>4</a:t>
            </a:r>
            <a:r>
              <a:rPr lang="zh-CN" altLang="zh-CN" sz="2000" dirty="0" smtClean="0"/>
              <a:t>；</a:t>
            </a:r>
            <a:endParaRPr lang="en-US" altLang="zh-CN" sz="2000" dirty="0" smtClean="0"/>
          </a:p>
          <a:p>
            <a:pPr marL="457200" indent="-457200">
              <a:buFont typeface="+mj-lt"/>
              <a:buAutoNum type="alphaLcPeriod"/>
            </a:pPr>
            <a:r>
              <a:rPr lang="zh-CN" altLang="zh-CN" sz="2000" dirty="0" smtClean="0"/>
              <a:t>以此类推</a:t>
            </a:r>
            <a:r>
              <a:rPr lang="zh-CN" altLang="zh-CN" sz="2000" dirty="0"/>
              <a:t>，不再赘述，完整过程参见图</a:t>
            </a:r>
            <a:r>
              <a:rPr lang="en-US" altLang="zh-CN" sz="2000" dirty="0"/>
              <a:t>2-9</a:t>
            </a:r>
            <a:r>
              <a:rPr lang="zh-CN" altLang="zh-CN" sz="2000" dirty="0"/>
              <a:t>。</a:t>
            </a:r>
            <a:endParaRPr lang="zh-CN" altLang="en-US" sz="2000" dirty="0"/>
          </a:p>
        </p:txBody>
      </p:sp>
    </p:spTree>
    <p:extLst>
      <p:ext uri="{BB962C8B-B14F-4D97-AF65-F5344CB8AC3E}">
        <p14:creationId xmlns:p14="http://schemas.microsoft.com/office/powerpoint/2010/main" val="1427224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7BD2CB9B-D659-4C66-AB21-B73406C0309D}" type="slidenum">
              <a:rPr lang="en-US" altLang="zh-CN"/>
              <a:pPr>
                <a:defRPr/>
              </a:pPr>
              <a:t>54</a:t>
            </a:fld>
            <a:endParaRPr lang="en-US" altLang="zh-CN"/>
          </a:p>
        </p:txBody>
      </p:sp>
      <p:sp>
        <p:nvSpPr>
          <p:cNvPr id="36869"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总结</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368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流程图: 文档 2"/>
          <p:cNvSpPr/>
          <p:nvPr/>
        </p:nvSpPr>
        <p:spPr bwMode="auto">
          <a:xfrm>
            <a:off x="1387587" y="2266466"/>
            <a:ext cx="6375226" cy="3528392"/>
          </a:xfrm>
          <a:prstGeom prst="flowChartDocument">
            <a:avLst/>
          </a:prstGeom>
          <a:solidFill>
            <a:schemeClr val="accent1">
              <a:lumMod val="60000"/>
              <a:lumOff val="4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1463253" y="2457612"/>
            <a:ext cx="6296744" cy="2677656"/>
          </a:xfrm>
          <a:prstGeom prst="rect">
            <a:avLst/>
          </a:prstGeom>
          <a:noFill/>
        </p:spPr>
        <p:txBody>
          <a:bodyPr wrap="square" rtlCol="0">
            <a:spAutoFit/>
          </a:bodyPr>
          <a:lstStyle/>
          <a:p>
            <a:r>
              <a:rPr lang="zh-CN" altLang="en-US" sz="2400" dirty="0" smtClean="0">
                <a:latin typeface="华文琥珀" panose="02010800040101010101" pitchFamily="2" charset="-122"/>
                <a:ea typeface="华文琥珀" panose="02010800040101010101" pitchFamily="2" charset="-122"/>
              </a:rPr>
              <a:t>对于一个给定的问题，往往可能有好几种量度标准。初看起来，这些量度标准似乎都是可取的</a:t>
            </a:r>
            <a:r>
              <a:rPr lang="en-US" altLang="zh-CN" sz="2400" dirty="0" smtClean="0">
                <a:latin typeface="华文琥珀" panose="02010800040101010101" pitchFamily="2" charset="-122"/>
                <a:ea typeface="华文琥珀" panose="02010800040101010101" pitchFamily="2" charset="-122"/>
              </a:rPr>
              <a:t>,</a:t>
            </a:r>
            <a:r>
              <a:rPr lang="zh-CN" altLang="en-US" sz="2400" dirty="0" smtClean="0">
                <a:latin typeface="华文琥珀" panose="02010800040101010101" pitchFamily="2" charset="-122"/>
                <a:ea typeface="华文琥珀" panose="02010800040101010101" pitchFamily="2" charset="-122"/>
              </a:rPr>
              <a:t>但实际上，用其中的大多数量度标准作贪婪处理所得到该量度意义下的最优解并不是问题的最优解，而是次优解。因此</a:t>
            </a:r>
            <a:r>
              <a:rPr lang="en-US" altLang="zh-CN" sz="2400" dirty="0" smtClean="0">
                <a:latin typeface="华文琥珀" panose="02010800040101010101" pitchFamily="2" charset="-122"/>
                <a:ea typeface="华文琥珀" panose="02010800040101010101" pitchFamily="2" charset="-122"/>
              </a:rPr>
              <a:t>,</a:t>
            </a:r>
            <a:r>
              <a:rPr lang="zh-CN" altLang="en-US" sz="2400" dirty="0" smtClean="0">
                <a:latin typeface="华文琥珀" panose="02010800040101010101" pitchFamily="2" charset="-122"/>
                <a:ea typeface="华文琥珀" panose="02010800040101010101" pitchFamily="2" charset="-122"/>
              </a:rPr>
              <a:t>选择能产生问题最优解的最优量度标准是使用贪婪算法的核心。</a:t>
            </a:r>
            <a:endParaRPr lang="zh-CN" altLang="en-US" sz="2400" dirty="0">
              <a:latin typeface="华文琥珀" panose="02010800040101010101" pitchFamily="2" charset="-122"/>
              <a:ea typeface="华文琥珀" panose="02010800040101010101" pitchFamily="2" charset="-122"/>
            </a:endParaRPr>
          </a:p>
        </p:txBody>
      </p:sp>
    </p:spTree>
    <p:extLst>
      <p:ext uri="{BB962C8B-B14F-4D97-AF65-F5344CB8AC3E}">
        <p14:creationId xmlns:p14="http://schemas.microsoft.com/office/powerpoint/2010/main" val="28297240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4000" b="1" dirty="0">
                <a:solidFill>
                  <a:schemeClr val="bg1"/>
                </a:solidFill>
                <a:latin typeface="宋体" panose="02010600030101010101" pitchFamily="2" charset="-122"/>
                <a:ea typeface="宋体" panose="02010600030101010101" pitchFamily="2" charset="-122"/>
              </a:rPr>
              <a:t>算法</a:t>
            </a:r>
            <a:r>
              <a:rPr lang="zh-CN" altLang="en-US" sz="4000" b="1" dirty="0" smtClean="0">
                <a:solidFill>
                  <a:schemeClr val="bg1"/>
                </a:solidFill>
                <a:latin typeface="宋体" panose="02010600030101010101" pitchFamily="2" charset="-122"/>
                <a:ea typeface="宋体" panose="02010600030101010101" pitchFamily="2" charset="-122"/>
              </a:rPr>
              <a:t>设计策略与应用</a:t>
            </a:r>
            <a:endParaRPr lang="zh-CN" altLang="en-US" sz="4000" b="1" dirty="0">
              <a:solidFill>
                <a:schemeClr val="bg1"/>
              </a:solidFill>
              <a:latin typeface="宋体" panose="02010600030101010101" pitchFamily="2" charset="-122"/>
              <a:ea typeface="宋体" panose="02010600030101010101" pitchFamily="2" charset="-122"/>
            </a:endParaRPr>
          </a:p>
        </p:txBody>
      </p:sp>
      <p:sp>
        <p:nvSpPr>
          <p:cNvPr id="4099" name="Rectangle 3"/>
          <p:cNvSpPr>
            <a:spLocks noGrp="1" noChangeArrowheads="1"/>
          </p:cNvSpPr>
          <p:nvPr>
            <p:ph type="body" sz="half" idx="1"/>
          </p:nvPr>
        </p:nvSpPr>
        <p:spPr>
          <a:xfrm>
            <a:off x="2339752" y="2636912"/>
            <a:ext cx="5400675" cy="3600450"/>
          </a:xfrm>
          <a:noFill/>
        </p:spPr>
        <p:txBody>
          <a:bodyPr lIns="92075" tIns="46038" rIns="92075" bIns="46038"/>
          <a:lstStyle/>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蛮力与贪心策略</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递归与分治策略</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回溯与动态规划策略</a:t>
            </a:r>
          </a:p>
        </p:txBody>
      </p:sp>
      <p:pic>
        <p:nvPicPr>
          <p:cNvPr id="410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39325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40" name="页脚占位符 5"/>
          <p:cNvSpPr>
            <a:spLocks noGrp="1"/>
          </p:cNvSpPr>
          <p:nvPr>
            <p:ph type="ftr" sz="quarter" idx="11"/>
          </p:nvPr>
        </p:nvSpPr>
        <p:spPr/>
        <p:txBody>
          <a:bodyPr/>
          <a:lstStyle/>
          <a:p>
            <a:pPr>
              <a:defRPr/>
            </a:pPr>
            <a:r>
              <a:rPr lang="zh-CN" altLang="en-US"/>
              <a:t>计算机应用技术研究所</a:t>
            </a:r>
          </a:p>
        </p:txBody>
      </p:sp>
      <p:sp>
        <p:nvSpPr>
          <p:cNvPr id="41" name="灯片编号占位符 6"/>
          <p:cNvSpPr>
            <a:spLocks noGrp="1"/>
          </p:cNvSpPr>
          <p:nvPr>
            <p:ph type="sldNum" sz="quarter" idx="12"/>
          </p:nvPr>
        </p:nvSpPr>
        <p:spPr/>
        <p:txBody>
          <a:bodyPr/>
          <a:lstStyle/>
          <a:p>
            <a:pPr>
              <a:defRPr/>
            </a:pPr>
            <a:fld id="{6C1A6235-1D3A-4178-8F5F-8E25CFB771D4}" type="slidenum">
              <a:rPr lang="en-US" altLang="zh-CN"/>
              <a:pPr>
                <a:defRPr/>
              </a:pPr>
              <a:t>56</a:t>
            </a:fld>
            <a:endParaRPr lang="en-US" altLang="zh-CN"/>
          </a:p>
        </p:txBody>
      </p:sp>
      <p:sp>
        <p:nvSpPr>
          <p:cNvPr id="19461"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递归策略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94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流程图: 离页连接符 2"/>
          <p:cNvSpPr/>
          <p:nvPr/>
        </p:nvSpPr>
        <p:spPr bwMode="auto">
          <a:xfrm>
            <a:off x="3203848" y="2165738"/>
            <a:ext cx="2520280" cy="1260921"/>
          </a:xfrm>
          <a:prstGeom prst="flowChartOffpageConnector">
            <a:avLst/>
          </a:prstGeom>
          <a:solidFill>
            <a:schemeClr val="bg1">
              <a:lumMod val="6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2" name="文本框 1"/>
          <p:cNvSpPr txBox="1"/>
          <p:nvPr/>
        </p:nvSpPr>
        <p:spPr>
          <a:xfrm>
            <a:off x="3511141" y="2284645"/>
            <a:ext cx="2088232" cy="954107"/>
          </a:xfrm>
          <a:prstGeom prst="rect">
            <a:avLst/>
          </a:prstGeom>
          <a:noFill/>
        </p:spPr>
        <p:txBody>
          <a:bodyPr wrap="square" rtlCol="0">
            <a:spAutoFit/>
          </a:bodyPr>
          <a:lstStyle/>
          <a:p>
            <a:r>
              <a:rPr lang="zh-CN" altLang="en-US" sz="2800" dirty="0" smtClean="0">
                <a:solidFill>
                  <a:schemeClr val="accent6">
                    <a:lumMod val="75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递归策略的基本思想：</a:t>
            </a:r>
            <a:endParaRPr lang="zh-CN" altLang="en-US" sz="2800" dirty="0">
              <a:solidFill>
                <a:schemeClr val="accent6">
                  <a:lumMod val="75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4"/>
          <a:stretch>
            <a:fillRect/>
          </a:stretch>
        </p:blipFill>
        <p:spPr>
          <a:xfrm>
            <a:off x="1835696" y="3702497"/>
            <a:ext cx="5409118" cy="2000864"/>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A84737A3-0FD5-42E0-83D7-D3D535BEB526}" type="slidenum">
              <a:rPr lang="en-US" altLang="zh-CN"/>
              <a:pPr>
                <a:defRPr/>
              </a:pPr>
              <a:t>57</a:t>
            </a:fld>
            <a:endParaRPr lang="en-US" altLang="zh-CN"/>
          </a:p>
        </p:txBody>
      </p:sp>
      <p:sp>
        <p:nvSpPr>
          <p:cNvPr id="20485"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递归策略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204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23764" y="2132856"/>
            <a:ext cx="6696471" cy="3416320"/>
          </a:xfrm>
          <a:prstGeom prst="rect">
            <a:avLst/>
          </a:prstGeom>
          <a:solidFill>
            <a:srgbClr val="CC00FF"/>
          </a:solidFill>
        </p:spPr>
        <p:txBody>
          <a:bodyPr wrap="square" rtlCol="0">
            <a:spAutoFit/>
          </a:bodyPr>
          <a:lstStyle/>
          <a:p>
            <a:pPr marL="342900" indent="-342900">
              <a:lnSpc>
                <a:spcPct val="150000"/>
              </a:lnSpc>
              <a:buFont typeface="Wingdings" panose="05000000000000000000" pitchFamily="2" charset="2"/>
              <a:buChar char="n"/>
            </a:pPr>
            <a:r>
              <a:rPr lang="zh-CN" altLang="en-US" sz="2400" dirty="0" smtClean="0"/>
              <a:t>递归算法的执行过程是不断地自调用，直到到达递归出口才结束自调用过程</a:t>
            </a:r>
            <a:r>
              <a:rPr lang="en-US" altLang="zh-CN" sz="2400" dirty="0" smtClean="0"/>
              <a:t>;</a:t>
            </a:r>
          </a:p>
          <a:p>
            <a:pPr marL="342900" indent="-342900">
              <a:lnSpc>
                <a:spcPct val="150000"/>
              </a:lnSpc>
              <a:buFont typeface="Wingdings" panose="05000000000000000000" pitchFamily="2" charset="2"/>
              <a:buChar char="n"/>
            </a:pPr>
            <a:r>
              <a:rPr lang="zh-CN" altLang="en-US" sz="2400" dirty="0" smtClean="0"/>
              <a:t>到达递归出口后，递归算法开始按最后调用的过程最先返回的次序返回</a:t>
            </a:r>
            <a:r>
              <a:rPr lang="en-US" altLang="zh-CN" sz="2400" dirty="0" smtClean="0"/>
              <a:t>;</a:t>
            </a:r>
          </a:p>
          <a:p>
            <a:pPr marL="342900" indent="-342900">
              <a:lnSpc>
                <a:spcPct val="150000"/>
              </a:lnSpc>
              <a:buFont typeface="Wingdings" panose="05000000000000000000" pitchFamily="2" charset="2"/>
              <a:buChar char="n"/>
            </a:pPr>
            <a:r>
              <a:rPr lang="zh-CN" altLang="en-US" sz="2400" dirty="0" smtClean="0"/>
              <a:t>返回到最外层的调用语句时递归算法执行</a:t>
            </a:r>
          </a:p>
          <a:p>
            <a:pPr>
              <a:lnSpc>
                <a:spcPct val="150000"/>
              </a:lnSpc>
            </a:pPr>
            <a:r>
              <a:rPr lang="zh-CN" altLang="en-US" sz="2400" dirty="0" smtClean="0"/>
              <a:t>过程结束。</a:t>
            </a:r>
            <a:endParaRPr lang="zh-CN" altLang="en-US" sz="2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CB649F5C-3EE0-45ED-8994-F30F66E0D279}" type="slidenum">
              <a:rPr lang="en-US" altLang="zh-CN"/>
              <a:pPr>
                <a:defRPr/>
              </a:pPr>
              <a:t>58</a:t>
            </a:fld>
            <a:endParaRPr lang="en-US" altLang="zh-CN"/>
          </a:p>
        </p:txBody>
      </p:sp>
      <p:sp>
        <p:nvSpPr>
          <p:cNvPr id="21509" name="Text Box 2"/>
          <p:cNvSpPr txBox="1">
            <a:spLocks noChangeArrowheads="1"/>
          </p:cNvSpPr>
          <p:nvPr/>
        </p:nvSpPr>
        <p:spPr bwMode="auto">
          <a:xfrm>
            <a:off x="1331913" y="858838"/>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000" b="1" dirty="0" smtClean="0">
                <a:solidFill>
                  <a:schemeClr val="bg1"/>
                </a:solidFill>
                <a:latin typeface="宋体" panose="02010600030101010101" pitchFamily="2" charset="-122"/>
                <a:ea typeface="宋体" panose="02010600030101010101" pitchFamily="2" charset="-122"/>
              </a:rPr>
              <a:t>递归算法的基本要求</a:t>
            </a:r>
            <a:endParaRPr lang="zh-CN" altLang="en-US" sz="4000" b="1" dirty="0">
              <a:solidFill>
                <a:schemeClr val="bg1"/>
              </a:solidFill>
              <a:latin typeface="宋体" panose="02010600030101010101" pitchFamily="2" charset="-122"/>
              <a:ea typeface="宋体" panose="02010600030101010101" pitchFamily="2" charset="-122"/>
            </a:endParaRPr>
          </a:p>
        </p:txBody>
      </p:sp>
      <p:pic>
        <p:nvPicPr>
          <p:cNvPr id="215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899592" y="1857435"/>
                <a:ext cx="7470601" cy="4451885"/>
              </a:xfrm>
              <a:prstGeom prst="rect">
                <a:avLst/>
              </a:prstGeom>
              <a:solidFill>
                <a:schemeClr val="bg1"/>
              </a:solidFill>
              <a:ln w="25400" cmpd="sng">
                <a:solidFill>
                  <a:schemeClr val="tx2">
                    <a:lumMod val="85000"/>
                    <a:lumOff val="15000"/>
                  </a:schemeClr>
                </a:solidFill>
                <a:prstDash val="dash"/>
              </a:ln>
            </p:spPr>
            <p:txBody>
              <a:bodyPr wrap="square" rtlCol="0">
                <a:noAutofit/>
              </a:bodyPr>
              <a:lstStyle/>
              <a:p>
                <a:pPr marL="457200" indent="-457200">
                  <a:lnSpc>
                    <a:spcPct val="150000"/>
                  </a:lnSpc>
                  <a:buFont typeface="+mj-ea"/>
                  <a:buAutoNum type="circleNumDbPlain"/>
                </a:pPr>
                <a:r>
                  <a:rPr lang="zh-CN" altLang="zh-CN" sz="2400" dirty="0"/>
                  <a:t>递归中每次循环都必须使问题规模变小；</a:t>
                </a:r>
              </a:p>
              <a:p>
                <a:pPr marL="457200" indent="-457200">
                  <a:lnSpc>
                    <a:spcPct val="150000"/>
                  </a:lnSpc>
                  <a:buFont typeface="+mj-ea"/>
                  <a:buAutoNum type="circleNumDbPlain"/>
                </a:pPr>
                <a:r>
                  <a:rPr lang="zh-CN" altLang="zh-CN" sz="2400" dirty="0" smtClean="0"/>
                  <a:t>递归</a:t>
                </a:r>
                <a:r>
                  <a:rPr lang="zh-CN" altLang="zh-CN" sz="2400" dirty="0"/>
                  <a:t>操作中每相邻两步都是紧密关联的，在递归返回到上一层的操作中，前一次的输出便是后一次的输入；</a:t>
                </a:r>
              </a:p>
              <a:p>
                <a:pPr marL="457200" indent="-457200">
                  <a:lnSpc>
                    <a:spcPct val="150000"/>
                  </a:lnSpc>
                  <a:buFont typeface="+mj-ea"/>
                  <a:buAutoNum type="circleNumDbPlain"/>
                </a:pPr>
                <a:r>
                  <a:rPr lang="zh-CN" altLang="zh-CN" sz="2400" dirty="0" smtClean="0"/>
                  <a:t>当</a:t>
                </a:r>
                <a:r>
                  <a:rPr lang="zh-CN" altLang="zh-CN" sz="2400" dirty="0"/>
                  <a:t>子问题的规模足够小时，必须能够直接求出该子问题的解，也就是说必须具备结束递归的初始条件（即得到递归出口：当问题规模</a:t>
                </a:r>
                <a14:m>
                  <m:oMath xmlns:m="http://schemas.openxmlformats.org/officeDocument/2006/math">
                    <m:r>
                      <a:rPr lang="zh-CN" altLang="zh-CN" sz="2400" i="1">
                        <a:latin typeface="Cambria Math" panose="02040503050406030204" pitchFamily="18" charset="0"/>
                      </a:rPr>
                      <m:t> </m:t>
                    </m:r>
                    <m:r>
                      <a:rPr lang="en-US" altLang="zh-CN" sz="2400" i="1">
                        <a:latin typeface="Cambria Math" panose="02040503050406030204" pitchFamily="18" charset="0"/>
                      </a:rPr>
                      <m:t>𝑛</m:t>
                    </m:r>
                  </m:oMath>
                </a14:m>
                <a:r>
                  <a:rPr lang="zh-CN" altLang="zh-CN" sz="2400" dirty="0"/>
                  <a:t>小到某个值时，能够直接求解）。</a:t>
                </a:r>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899592" y="1857435"/>
                <a:ext cx="7470601" cy="4451885"/>
              </a:xfrm>
              <a:prstGeom prst="rect">
                <a:avLst/>
              </a:prstGeom>
              <a:blipFill rotWithShape="0">
                <a:blip r:embed="rId4"/>
                <a:stretch>
                  <a:fillRect l="-732" b="-1635"/>
                </a:stretch>
              </a:blipFill>
              <a:ln w="25400" cmpd="sng">
                <a:solidFill>
                  <a:schemeClr val="tx2">
                    <a:lumMod val="85000"/>
                    <a:lumOff val="15000"/>
                  </a:schemeClr>
                </a:solidFill>
                <a:prstDash val="dash"/>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7CC81577-B79F-4EEF-932C-A046ACBADC0B}" type="slidenum">
              <a:rPr lang="en-US" altLang="zh-CN"/>
              <a:pPr>
                <a:defRPr/>
              </a:pPr>
              <a:t>59</a:t>
            </a:fld>
            <a:endParaRPr lang="en-US" altLang="zh-CN"/>
          </a:p>
        </p:txBody>
      </p:sp>
      <p:sp>
        <p:nvSpPr>
          <p:cNvPr id="22533"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 题</a:t>
            </a:r>
          </a:p>
        </p:txBody>
      </p:sp>
      <p:pic>
        <p:nvPicPr>
          <p:cNvPr id="225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403648" y="2132856"/>
                <a:ext cx="6552728" cy="3548857"/>
              </a:xfrm>
              <a:prstGeom prst="rect">
                <a:avLst/>
              </a:prstGeom>
              <a:noFill/>
            </p:spPr>
            <p:txBody>
              <a:bodyPr wrap="square" rtlCol="0">
                <a:spAutoFit/>
              </a:bodyPr>
              <a:lstStyle/>
              <a:p>
                <a:r>
                  <a:rPr lang="zh-CN" altLang="zh-CN" sz="2000" dirty="0" smtClean="0"/>
                  <a:t>【例】</a:t>
                </a:r>
                <a:r>
                  <a:rPr lang="zh-CN" altLang="zh-CN" sz="2000" dirty="0"/>
                  <a:t>阶乘函数的递归定义：</a:t>
                </a:r>
              </a:p>
              <a:p>
                <a:r>
                  <a:rPr lang="en-US" altLang="zh-CN" sz="2000" dirty="0"/>
                  <a:t>    </a:t>
                </a:r>
                <a14:m>
                  <m:oMath xmlns:m="http://schemas.openxmlformats.org/officeDocument/2006/math">
                    <m:r>
                      <a:rPr lang="en-US" altLang="zh-CN" sz="2000" i="1">
                        <a:latin typeface="Cambria Math" panose="02040503050406030204" pitchFamily="18" charset="0"/>
                      </a:rPr>
                      <m:t>𝑛</m:t>
                    </m:r>
                    <m:r>
                      <a:rPr lang="en-US" altLang="zh-CN" sz="2000" i="1">
                        <a:latin typeface="Cambria Math" panose="02040503050406030204" pitchFamily="18" charset="0"/>
                      </a:rPr>
                      <m:t>!=</m:t>
                    </m:r>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rPr>
                          <m:t>  </m:t>
                        </m:r>
                        <m:eqArr>
                          <m:eqArrPr>
                            <m:ctrlPr>
                              <a:rPr lang="zh-CN" altLang="zh-CN" sz="2000" i="1">
                                <a:latin typeface="Cambria Math" panose="02040503050406030204" pitchFamily="18" charset="0"/>
                              </a:rPr>
                            </m:ctrlPr>
                          </m:eqArrPr>
                          <m:e>
                            <m:r>
                              <a:rPr lang="en-US" altLang="zh-CN" sz="2000" i="1">
                                <a:latin typeface="Cambria Math" panose="02040503050406030204" pitchFamily="18" charset="0"/>
                              </a:rPr>
                              <m:t>1                        ,</m:t>
                            </m:r>
                            <m:r>
                              <a:rPr lang="en-US" altLang="zh-CN" sz="2000" i="1">
                                <a:latin typeface="Cambria Math" panose="02040503050406030204" pitchFamily="18" charset="0"/>
                              </a:rPr>
                              <m:t>𝑛</m:t>
                            </m:r>
                            <m:r>
                              <a:rPr lang="en-US" altLang="zh-CN" sz="2000" i="1">
                                <a:latin typeface="Cambria Math" panose="02040503050406030204" pitchFamily="18" charset="0"/>
                              </a:rPr>
                              <m:t>=0</m:t>
                            </m:r>
                          </m:e>
                          <m:e>
                            <m:r>
                              <a:rPr lang="en-US" altLang="zh-CN" sz="2000" i="1">
                                <a:latin typeface="Cambria Math" panose="02040503050406030204" pitchFamily="18" charset="0"/>
                              </a:rPr>
                              <m:t>𝑛</m:t>
                            </m:r>
                            <m:r>
                              <a:rPr lang="zh-CN" altLang="zh-CN" sz="2000" i="1">
                                <a:latin typeface="Cambria Math" panose="02040503050406030204" pitchFamily="18" charset="0"/>
                              </a:rPr>
                              <m:t>×</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𝑛</m:t>
                                </m:r>
                                <m:r>
                                  <a:rPr lang="en-US" altLang="zh-CN" sz="2000" i="1">
                                    <a:latin typeface="Cambria Math" panose="02040503050406030204" pitchFamily="18" charset="0"/>
                                  </a:rPr>
                                  <m:t>−1</m:t>
                                </m:r>
                              </m:e>
                            </m:d>
                            <m:r>
                              <a:rPr lang="en-US" altLang="zh-CN" sz="2000" i="1">
                                <a:latin typeface="Cambria Math" panose="02040503050406030204" pitchFamily="18" charset="0"/>
                              </a:rPr>
                              <m:t>!   , </m:t>
                            </m:r>
                            <m:r>
                              <a:rPr lang="en-US" altLang="zh-CN" sz="2000" i="1">
                                <a:latin typeface="Cambria Math" panose="02040503050406030204" pitchFamily="18" charset="0"/>
                              </a:rPr>
                              <m:t>𝑛</m:t>
                            </m:r>
                            <m:r>
                              <a:rPr lang="en-US" altLang="zh-CN" sz="2000" i="1">
                                <a:latin typeface="Cambria Math" panose="02040503050406030204" pitchFamily="18" charset="0"/>
                              </a:rPr>
                              <m:t>&gt;0</m:t>
                            </m:r>
                          </m:e>
                        </m:eqArr>
                      </m:e>
                    </m:d>
                  </m:oMath>
                </a14:m>
                <a:r>
                  <a:rPr lang="en-US" altLang="zh-CN" sz="2000" dirty="0"/>
                  <a:t>                            </a:t>
                </a:r>
                <a:r>
                  <a:rPr lang="zh-CN" altLang="zh-CN" sz="2000" dirty="0" smtClean="0"/>
                  <a:t>其中</a:t>
                </a:r>
                <a:r>
                  <a:rPr lang="zh-CN" altLang="zh-CN" sz="2000" dirty="0"/>
                  <a:t>，自变量</a:t>
                </a:r>
                <a14:m>
                  <m:oMath xmlns:m="http://schemas.openxmlformats.org/officeDocument/2006/math">
                    <m:r>
                      <a:rPr lang="en-US" altLang="zh-CN" sz="2000" i="1">
                        <a:latin typeface="Cambria Math" panose="02040503050406030204" pitchFamily="18" charset="0"/>
                      </a:rPr>
                      <m:t>𝑛</m:t>
                    </m:r>
                  </m:oMath>
                </a14:m>
                <a:r>
                  <a:rPr lang="zh-CN" altLang="zh-CN" sz="2000" dirty="0"/>
                  <a:t>为自然数。</a:t>
                </a:r>
              </a:p>
              <a:p>
                <a:r>
                  <a:rPr lang="zh-CN" altLang="zh-CN" sz="2000" dirty="0"/>
                  <a:t>当</a:t>
                </a:r>
                <a14:m>
                  <m:oMath xmlns:m="http://schemas.openxmlformats.org/officeDocument/2006/math">
                    <m:r>
                      <a:rPr lang="en-US" altLang="zh-CN" sz="2000" i="1">
                        <a:latin typeface="Cambria Math" panose="02040503050406030204" pitchFamily="18" charset="0"/>
                      </a:rPr>
                      <m:t>𝑛</m:t>
                    </m:r>
                    <m:r>
                      <a:rPr lang="en-US" altLang="zh-CN" sz="2000" i="1">
                        <a:latin typeface="Cambria Math" panose="02040503050406030204" pitchFamily="18" charset="0"/>
                      </a:rPr>
                      <m:t>=0</m:t>
                    </m:r>
                  </m:oMath>
                </a14:m>
                <a:r>
                  <a:rPr lang="zh-CN" altLang="zh-CN" sz="2000" dirty="0"/>
                  <a:t>时，这个函数的初始值为</a:t>
                </a:r>
                <a:r>
                  <a:rPr lang="en-US" altLang="zh-CN" sz="2000" dirty="0"/>
                  <a:t>1</a:t>
                </a:r>
                <a:r>
                  <a:rPr lang="zh-CN" altLang="zh-CN" sz="2000" dirty="0"/>
                  <a:t>，即递归出口，是非递归定义的。每个递归函数都必须有非递归定义的初始值，否则，递归函数就无法计算。</a:t>
                </a:r>
              </a:p>
              <a:p>
                <a:r>
                  <a:rPr lang="zh-CN" altLang="zh-CN" sz="2000" dirty="0"/>
                  <a:t>当</a:t>
                </a:r>
                <a14:m>
                  <m:oMath xmlns:m="http://schemas.openxmlformats.org/officeDocument/2006/math">
                    <m:r>
                      <a:rPr lang="en-US" altLang="zh-CN" sz="2000" i="1">
                        <a:latin typeface="Cambria Math" panose="02040503050406030204" pitchFamily="18" charset="0"/>
                      </a:rPr>
                      <m:t>𝑛</m:t>
                    </m:r>
                    <m:r>
                      <a:rPr lang="en-US" altLang="zh-CN" sz="2000" i="1">
                        <a:latin typeface="Cambria Math" panose="02040503050406030204" pitchFamily="18" charset="0"/>
                      </a:rPr>
                      <m:t>&gt;0</m:t>
                    </m:r>
                  </m:oMath>
                </a14:m>
                <a:r>
                  <a:rPr lang="zh-CN" altLang="zh-CN" sz="2000" dirty="0"/>
                  <a:t>时，</a:t>
                </a:r>
                <a14:m>
                  <m:oMath xmlns:m="http://schemas.openxmlformats.org/officeDocument/2006/math">
                    <m:r>
                      <a:rPr lang="en-US" altLang="zh-CN" sz="2000" i="1">
                        <a:latin typeface="Cambria Math" panose="02040503050406030204" pitchFamily="18" charset="0"/>
                      </a:rPr>
                      <m:t>𝑛</m:t>
                    </m:r>
                  </m:oMath>
                </a14:m>
                <a:r>
                  <a:rPr lang="zh-CN" altLang="zh-CN" sz="2000" dirty="0"/>
                  <a:t>的阶乘等于</a:t>
                </a:r>
                <a14:m>
                  <m:oMath xmlns:m="http://schemas.openxmlformats.org/officeDocument/2006/math">
                    <m:r>
                      <a:rPr lang="en-US" altLang="zh-CN" sz="2000" i="1">
                        <a:latin typeface="Cambria Math" panose="02040503050406030204" pitchFamily="18" charset="0"/>
                      </a:rPr>
                      <m:t>𝑛</m:t>
                    </m:r>
                  </m:oMath>
                </a14:m>
                <a:r>
                  <a:rPr lang="zh-CN" altLang="zh-CN" sz="2000" dirty="0"/>
                  <a:t>乘它前一项的阶乘，具备了第一个要素：用较小自变量的函数值来表示较大自变量的函数值，使问题规模变小。关系式左右两边都引用了阶乘记号，是一个递归定义式，可递归地进行计算。</a:t>
                </a:r>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403648" y="2132856"/>
                <a:ext cx="6552728" cy="3548857"/>
              </a:xfrm>
              <a:prstGeom prst="rect">
                <a:avLst/>
              </a:prstGeom>
              <a:blipFill rotWithShape="0">
                <a:blip r:embed="rId4"/>
                <a:stretch>
                  <a:fillRect l="-930" t="-1031" r="-1023" b="-2234"/>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F3922929-5F05-484E-A778-489BA22A5EA5}" type="slidenum">
              <a:rPr lang="en-US" altLang="zh-CN"/>
              <a:pPr>
                <a:defRPr/>
              </a:pPr>
              <a:t>60</a:t>
            </a:fld>
            <a:endParaRPr lang="en-US" altLang="zh-CN"/>
          </a:p>
        </p:txBody>
      </p:sp>
      <p:sp>
        <p:nvSpPr>
          <p:cNvPr id="28677"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分治策略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2867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4"/>
          <a:stretch>
            <a:fillRect/>
          </a:stretch>
        </p:blipFill>
        <p:spPr>
          <a:xfrm>
            <a:off x="1049665" y="3225758"/>
            <a:ext cx="7044669" cy="2996755"/>
          </a:xfrm>
          <a:prstGeom prst="rect">
            <a:avLst/>
          </a:prstGeom>
        </p:spPr>
      </p:pic>
      <p:sp>
        <p:nvSpPr>
          <p:cNvPr id="9" name="流程图: 离页连接符 8"/>
          <p:cNvSpPr/>
          <p:nvPr/>
        </p:nvSpPr>
        <p:spPr bwMode="auto">
          <a:xfrm>
            <a:off x="3184587" y="1932418"/>
            <a:ext cx="2520280" cy="1260921"/>
          </a:xfrm>
          <a:prstGeom prst="flowChartOffpageConnector">
            <a:avLst/>
          </a:prstGeom>
          <a:solidFill>
            <a:schemeClr val="bg1">
              <a:lumMod val="6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0" name="文本框 9"/>
          <p:cNvSpPr txBox="1"/>
          <p:nvPr/>
        </p:nvSpPr>
        <p:spPr>
          <a:xfrm>
            <a:off x="3491880" y="2051325"/>
            <a:ext cx="2088232" cy="954107"/>
          </a:xfrm>
          <a:prstGeom prst="rect">
            <a:avLst/>
          </a:prstGeom>
          <a:noFill/>
        </p:spPr>
        <p:txBody>
          <a:bodyPr wrap="square" rtlCol="0">
            <a:spAutoFit/>
          </a:bodyPr>
          <a:lstStyle/>
          <a:p>
            <a:r>
              <a:rPr lang="zh-CN" altLang="en-US" sz="2800" dirty="0" smtClean="0">
                <a:solidFill>
                  <a:schemeClr val="accent6">
                    <a:lumMod val="75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分治策略的基本思想：</a:t>
            </a:r>
            <a:endParaRPr lang="zh-CN" altLang="en-US" sz="2800" dirty="0">
              <a:solidFill>
                <a:schemeClr val="accent6">
                  <a:lumMod val="75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008159F6-1E87-4497-A19B-8620AF07EDB1}" type="slidenum">
              <a:rPr lang="en-US" altLang="zh-CN"/>
              <a:pPr>
                <a:defRPr/>
              </a:pPr>
              <a:t>61</a:t>
            </a:fld>
            <a:endParaRPr lang="en-US" altLang="zh-CN"/>
          </a:p>
        </p:txBody>
      </p:sp>
      <p:sp>
        <p:nvSpPr>
          <p:cNvPr id="31749"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分治策略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3175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831242" y="2132856"/>
            <a:ext cx="7341158" cy="3046988"/>
          </a:xfrm>
          <a:prstGeom prst="rect">
            <a:avLst/>
          </a:prstGeom>
          <a:solidFill>
            <a:srgbClr val="FF0000"/>
          </a:solidFill>
          <a:ln w="25400">
            <a:solidFill>
              <a:schemeClr val="accent2">
                <a:lumMod val="60000"/>
                <a:lumOff val="40000"/>
              </a:schemeClr>
            </a:solidFill>
          </a:ln>
        </p:spPr>
        <p:txBody>
          <a:bodyPr wrap="square" rtlCol="0">
            <a:spAutoFit/>
          </a:bodyPr>
          <a:lstStyle/>
          <a:p>
            <a:r>
              <a:rPr lang="zh-CN" altLang="zh-CN" dirty="0"/>
              <a:t>对于一个规模为</a:t>
            </a:r>
            <a:r>
              <a:rPr lang="en-US" altLang="zh-CN" i="1" dirty="0"/>
              <a:t>n</a:t>
            </a:r>
            <a:r>
              <a:rPr lang="zh-CN" altLang="zh-CN" dirty="0"/>
              <a:t>的问题，若该问题可以容易地解决（比如说规模</a:t>
            </a:r>
            <a:r>
              <a:rPr lang="en-US" altLang="zh-CN" i="1" dirty="0"/>
              <a:t>n</a:t>
            </a:r>
            <a:r>
              <a:rPr lang="zh-CN" altLang="zh-CN" dirty="0"/>
              <a:t>较小）则直接解决，否则将</a:t>
            </a:r>
            <a:r>
              <a:rPr lang="zh-CN" altLang="zh-CN" dirty="0">
                <a:solidFill>
                  <a:schemeClr val="bg1"/>
                </a:solidFill>
              </a:rPr>
              <a:t>其分解为</a:t>
            </a:r>
            <a:r>
              <a:rPr lang="en-US" altLang="zh-CN" i="1" dirty="0">
                <a:solidFill>
                  <a:schemeClr val="bg1"/>
                </a:solidFill>
              </a:rPr>
              <a:t>k</a:t>
            </a:r>
            <a:r>
              <a:rPr lang="zh-CN" altLang="zh-CN" dirty="0">
                <a:solidFill>
                  <a:schemeClr val="bg1"/>
                </a:solidFill>
              </a:rPr>
              <a:t>个规模较小的子问题</a:t>
            </a:r>
            <a:r>
              <a:rPr lang="zh-CN" altLang="zh-CN" dirty="0"/>
              <a:t>，这些子问题互相独立且与原问题形式相同，求解这些子问题，然后将各子问题的解合并得到原问题的解。</a:t>
            </a:r>
            <a:endParaRPr lang="zh-CN" altLang="en-US" dirty="0"/>
          </a:p>
        </p:txBody>
      </p:sp>
    </p:spTree>
    <p:extLst>
      <p:ext uri="{BB962C8B-B14F-4D97-AF65-F5344CB8AC3E}">
        <p14:creationId xmlns:p14="http://schemas.microsoft.com/office/powerpoint/2010/main" val="206539600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C426D331-DB4D-4578-890D-FEB2588186D3}" type="slidenum">
              <a:rPr lang="en-US" altLang="zh-CN"/>
              <a:pPr>
                <a:defRPr/>
              </a:pPr>
              <a:t>62</a:t>
            </a:fld>
            <a:endParaRPr lang="en-US" altLang="zh-CN"/>
          </a:p>
        </p:txBody>
      </p:sp>
      <p:sp>
        <p:nvSpPr>
          <p:cNvPr id="32773"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分治策略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3277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泪滴形 1"/>
          <p:cNvSpPr/>
          <p:nvPr/>
        </p:nvSpPr>
        <p:spPr bwMode="auto">
          <a:xfrm>
            <a:off x="467544" y="2024063"/>
            <a:ext cx="2016224" cy="1116905"/>
          </a:xfrm>
          <a:prstGeom prst="teardrop">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3" name="泪滴形 2"/>
          <p:cNvSpPr/>
          <p:nvPr/>
        </p:nvSpPr>
        <p:spPr bwMode="auto">
          <a:xfrm rot="5400000">
            <a:off x="355642" y="1618973"/>
            <a:ext cx="1368152" cy="1710581"/>
          </a:xfrm>
          <a:prstGeom prst="teardrop">
            <a:avLst>
              <a:gd name="adj" fmla="val 94908"/>
            </a:avLst>
          </a:prstGeom>
          <a:solidFill>
            <a:schemeClr val="accent5">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383485" y="2060608"/>
            <a:ext cx="1655539" cy="830997"/>
          </a:xfrm>
          <a:prstGeom prst="rect">
            <a:avLst/>
          </a:prstGeom>
          <a:noFill/>
        </p:spPr>
        <p:txBody>
          <a:bodyPr wrap="square" rtlCol="0">
            <a:spAutoFit/>
          </a:bodyPr>
          <a:lstStyle/>
          <a:p>
            <a:r>
              <a:rPr lang="zh-CN" altLang="en-US" sz="2400" dirty="0" smtClean="0"/>
              <a:t>分治算法步骤：</a:t>
            </a:r>
            <a:endParaRPr lang="zh-CN" altLang="en-US" sz="2400" dirty="0"/>
          </a:p>
        </p:txBody>
      </p:sp>
      <p:sp>
        <p:nvSpPr>
          <p:cNvPr id="8" name="文本框 7"/>
          <p:cNvSpPr txBox="1"/>
          <p:nvPr/>
        </p:nvSpPr>
        <p:spPr>
          <a:xfrm>
            <a:off x="1891114" y="2682104"/>
            <a:ext cx="6268040" cy="3329758"/>
          </a:xfrm>
          <a:prstGeom prst="rect">
            <a:avLst/>
          </a:prstGeom>
          <a:noFill/>
          <a:ln w="25400">
            <a:solidFill>
              <a:schemeClr val="accent2">
                <a:lumMod val="75000"/>
              </a:schemeClr>
            </a:solidFill>
          </a:ln>
        </p:spPr>
        <p:txBody>
          <a:bodyPr wrap="square" rtlCol="0">
            <a:spAutoFit/>
          </a:bodyPr>
          <a:lstStyle/>
          <a:p>
            <a:pPr>
              <a:lnSpc>
                <a:spcPct val="150000"/>
              </a:lnSpc>
            </a:pPr>
            <a:r>
              <a:rPr lang="zh-CN" altLang="zh-CN" sz="2400" dirty="0"/>
              <a:t>（</a:t>
            </a:r>
            <a:r>
              <a:rPr lang="en-US" altLang="zh-CN" sz="2400" dirty="0"/>
              <a:t>1</a:t>
            </a:r>
            <a:r>
              <a:rPr lang="zh-CN" altLang="zh-CN" sz="2400" dirty="0"/>
              <a:t>）将原问题分解为若干相同的子问题</a:t>
            </a:r>
            <a:r>
              <a:rPr lang="zh-CN" altLang="zh-CN" sz="2400" dirty="0" smtClean="0"/>
              <a:t>；</a:t>
            </a:r>
            <a:endParaRPr lang="en-US" altLang="zh-CN" sz="2400" dirty="0" smtClean="0"/>
          </a:p>
          <a:p>
            <a:pPr>
              <a:lnSpc>
                <a:spcPct val="150000"/>
              </a:lnSpc>
            </a:pPr>
            <a:r>
              <a:rPr lang="zh-CN" altLang="zh-CN" sz="2400" dirty="0" smtClean="0"/>
              <a:t>（</a:t>
            </a:r>
            <a:r>
              <a:rPr lang="en-US" altLang="zh-CN" sz="2400" dirty="0"/>
              <a:t>2</a:t>
            </a:r>
            <a:r>
              <a:rPr lang="zh-CN" altLang="zh-CN" sz="2400" dirty="0"/>
              <a:t>）若子问题的规模容易解决则直接求解，否则继续分解</a:t>
            </a:r>
            <a:r>
              <a:rPr lang="zh-CN" altLang="zh-CN" sz="2400" dirty="0" smtClean="0"/>
              <a:t>；</a:t>
            </a:r>
            <a:endParaRPr lang="en-US" altLang="zh-CN" sz="2400" dirty="0" smtClean="0"/>
          </a:p>
          <a:p>
            <a:pPr>
              <a:lnSpc>
                <a:spcPct val="150000"/>
              </a:lnSpc>
            </a:pPr>
            <a:r>
              <a:rPr lang="zh-CN" altLang="zh-CN" sz="2400" dirty="0" smtClean="0"/>
              <a:t>（</a:t>
            </a:r>
            <a:r>
              <a:rPr lang="en-US" altLang="zh-CN" sz="2400" dirty="0"/>
              <a:t>3</a:t>
            </a:r>
            <a:r>
              <a:rPr lang="zh-CN" altLang="zh-CN" sz="2400" dirty="0"/>
              <a:t>）将子问题的解合并得到原问题的解，当遇到如折半查找等某些不必求出所有子问题的解的情况时，则省略合并操作。</a:t>
            </a:r>
            <a:endParaRPr lang="zh-CN" altLang="en-US" sz="2400" dirty="0"/>
          </a:p>
        </p:txBody>
      </p:sp>
    </p:spTree>
    <p:extLst>
      <p:ext uri="{BB962C8B-B14F-4D97-AF65-F5344CB8AC3E}">
        <p14:creationId xmlns:p14="http://schemas.microsoft.com/office/powerpoint/2010/main" val="149730234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20" name="页脚占位符 5"/>
          <p:cNvSpPr>
            <a:spLocks noGrp="1"/>
          </p:cNvSpPr>
          <p:nvPr>
            <p:ph type="ftr" sz="quarter" idx="11"/>
          </p:nvPr>
        </p:nvSpPr>
        <p:spPr/>
        <p:txBody>
          <a:bodyPr/>
          <a:lstStyle/>
          <a:p>
            <a:pPr>
              <a:defRPr/>
            </a:pPr>
            <a:r>
              <a:rPr lang="zh-CN" altLang="en-US"/>
              <a:t>计算机应用技术研究所</a:t>
            </a:r>
          </a:p>
        </p:txBody>
      </p:sp>
      <p:sp>
        <p:nvSpPr>
          <p:cNvPr id="21" name="灯片编号占位符 6"/>
          <p:cNvSpPr>
            <a:spLocks noGrp="1"/>
          </p:cNvSpPr>
          <p:nvPr>
            <p:ph type="sldNum" sz="quarter" idx="12"/>
          </p:nvPr>
        </p:nvSpPr>
        <p:spPr/>
        <p:txBody>
          <a:bodyPr/>
          <a:lstStyle/>
          <a:p>
            <a:pPr>
              <a:defRPr/>
            </a:pPr>
            <a:fld id="{2AA5FABF-6C1E-4EF2-9C8D-514D7CC6083B}" type="slidenum">
              <a:rPr lang="en-US" altLang="zh-CN"/>
              <a:pPr>
                <a:defRPr/>
              </a:pPr>
              <a:t>63</a:t>
            </a:fld>
            <a:endParaRPr lang="en-US" altLang="zh-CN"/>
          </a:p>
        </p:txBody>
      </p:sp>
      <p:sp>
        <p:nvSpPr>
          <p:cNvPr id="33797"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分治递归</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337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605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tretch>
            <a:fillRect/>
          </a:stretch>
        </p:blipFill>
        <p:spPr>
          <a:xfrm>
            <a:off x="806900" y="1988840"/>
            <a:ext cx="7209524" cy="4207643"/>
          </a:xfrm>
          <a:prstGeom prst="rect">
            <a:avLst/>
          </a:prstGeom>
        </p:spPr>
      </p:pic>
    </p:spTree>
    <p:extLst>
      <p:ext uri="{BB962C8B-B14F-4D97-AF65-F5344CB8AC3E}">
        <p14:creationId xmlns:p14="http://schemas.microsoft.com/office/powerpoint/2010/main" val="8409274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分治递归</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3072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827584" y="2132856"/>
                <a:ext cx="7560840" cy="4014945"/>
              </a:xfrm>
              <a:prstGeom prst="rect">
                <a:avLst/>
              </a:prstGeom>
              <a:solidFill>
                <a:srgbClr val="FFC000"/>
              </a:solidFill>
            </p:spPr>
            <p:txBody>
              <a:bodyPr wrap="square" rtlCol="0">
                <a:spAutoFit/>
              </a:bodyPr>
              <a:lstStyle/>
              <a:p>
                <a:pPr>
                  <a:lnSpc>
                    <a:spcPct val="150000"/>
                  </a:lnSpc>
                </a:pPr>
                <a:r>
                  <a:rPr lang="zh-CN" altLang="zh-CN" sz="2000" dirty="0" smtClean="0">
                    <a:solidFill>
                      <a:srgbClr val="CC00FF"/>
                    </a:solidFill>
                    <a:latin typeface="华文仿宋" panose="02010600040101010101" pitchFamily="2" charset="-122"/>
                    <a:ea typeface="华文仿宋" panose="02010600040101010101" pitchFamily="2" charset="-122"/>
                  </a:rPr>
                  <a:t>分治算法的计算复杂性可以通过构造递推表达式进行分析：假设一个递归算法把一个规模为</a:t>
                </a:r>
                <a:r>
                  <a:rPr lang="en-US" altLang="zh-CN" sz="2000" i="1" dirty="0">
                    <a:solidFill>
                      <a:srgbClr val="CC00FF"/>
                    </a:solidFill>
                    <a:latin typeface="华文仿宋" panose="02010600040101010101" pitchFamily="2" charset="-122"/>
                    <a:ea typeface="华文仿宋" panose="02010600040101010101" pitchFamily="2" charset="-122"/>
                  </a:rPr>
                  <a:t>n</a:t>
                </a:r>
                <a:r>
                  <a:rPr lang="zh-CN" altLang="zh-CN" sz="2000" dirty="0">
                    <a:solidFill>
                      <a:srgbClr val="CC00FF"/>
                    </a:solidFill>
                    <a:latin typeface="华文仿宋" panose="02010600040101010101" pitchFamily="2" charset="-122"/>
                    <a:ea typeface="华文仿宋" panose="02010600040101010101" pitchFamily="2" charset="-122"/>
                  </a:rPr>
                  <a:t>的问题分成</a:t>
                </a:r>
                <a:r>
                  <a:rPr lang="en-US" altLang="zh-CN" sz="2000" i="1" dirty="0">
                    <a:solidFill>
                      <a:srgbClr val="CC00FF"/>
                    </a:solidFill>
                    <a:latin typeface="华文仿宋" panose="02010600040101010101" pitchFamily="2" charset="-122"/>
                    <a:ea typeface="华文仿宋" panose="02010600040101010101" pitchFamily="2" charset="-122"/>
                  </a:rPr>
                  <a:t>a</a:t>
                </a:r>
                <a:r>
                  <a:rPr lang="zh-CN" altLang="zh-CN" sz="2000" dirty="0">
                    <a:solidFill>
                      <a:srgbClr val="CC00FF"/>
                    </a:solidFill>
                    <a:latin typeface="华文仿宋" panose="02010600040101010101" pitchFamily="2" charset="-122"/>
                    <a:ea typeface="华文仿宋" panose="02010600040101010101" pitchFamily="2" charset="-122"/>
                  </a:rPr>
                  <a:t>个子问题，其中每个子问题的规模是</a:t>
                </a:r>
                <a:r>
                  <a:rPr lang="en-US" altLang="zh-CN" sz="2000" i="1" dirty="0">
                    <a:solidFill>
                      <a:srgbClr val="CC00FF"/>
                    </a:solidFill>
                    <a:latin typeface="华文仿宋" panose="02010600040101010101" pitchFamily="2" charset="-122"/>
                    <a:ea typeface="华文仿宋" panose="02010600040101010101" pitchFamily="2" charset="-122"/>
                  </a:rPr>
                  <a:t>n</a:t>
                </a:r>
                <a:r>
                  <a:rPr lang="en-US" altLang="zh-CN" sz="2000" dirty="0">
                    <a:solidFill>
                      <a:srgbClr val="CC00FF"/>
                    </a:solidFill>
                    <a:latin typeface="华文仿宋" panose="02010600040101010101" pitchFamily="2" charset="-122"/>
                    <a:ea typeface="华文仿宋" panose="02010600040101010101" pitchFamily="2" charset="-122"/>
                  </a:rPr>
                  <a:t>/</a:t>
                </a:r>
                <a:r>
                  <a:rPr lang="en-US" altLang="zh-CN" sz="2000" i="1" dirty="0">
                    <a:solidFill>
                      <a:srgbClr val="CC00FF"/>
                    </a:solidFill>
                    <a:latin typeface="华文仿宋" panose="02010600040101010101" pitchFamily="2" charset="-122"/>
                    <a:ea typeface="华文仿宋" panose="02010600040101010101" pitchFamily="2" charset="-122"/>
                  </a:rPr>
                  <a:t>b</a:t>
                </a:r>
                <a:r>
                  <a:rPr lang="zh-CN" altLang="zh-CN" sz="2000" dirty="0">
                    <a:solidFill>
                      <a:srgbClr val="CC00FF"/>
                    </a:solidFill>
                    <a:latin typeface="华文仿宋" panose="02010600040101010101" pitchFamily="2" charset="-122"/>
                    <a:ea typeface="华文仿宋" panose="02010600040101010101" pitchFamily="2" charset="-122"/>
                  </a:rPr>
                  <a:t>（为简单起见，假设</a:t>
                </a:r>
                <a:r>
                  <a:rPr lang="en-US" altLang="zh-CN" sz="2000" i="1" dirty="0">
                    <a:solidFill>
                      <a:srgbClr val="CC00FF"/>
                    </a:solidFill>
                    <a:latin typeface="华文仿宋" panose="02010600040101010101" pitchFamily="2" charset="-122"/>
                    <a:ea typeface="华文仿宋" panose="02010600040101010101" pitchFamily="2" charset="-122"/>
                  </a:rPr>
                  <a:t>n</a:t>
                </a:r>
                <a:r>
                  <a:rPr lang="zh-CN" altLang="zh-CN" sz="2000" dirty="0">
                    <a:solidFill>
                      <a:srgbClr val="CC00FF"/>
                    </a:solidFill>
                    <a:latin typeface="华文仿宋" panose="02010600040101010101" pitchFamily="2" charset="-122"/>
                    <a:ea typeface="华文仿宋" panose="02010600040101010101" pitchFamily="2" charset="-122"/>
                  </a:rPr>
                  <a:t>是</a:t>
                </a:r>
                <a:r>
                  <a:rPr lang="en-US" altLang="zh-CN" sz="2000" i="1" dirty="0">
                    <a:solidFill>
                      <a:srgbClr val="CC00FF"/>
                    </a:solidFill>
                    <a:latin typeface="华文仿宋" panose="02010600040101010101" pitchFamily="2" charset="-122"/>
                    <a:ea typeface="华文仿宋" panose="02010600040101010101" pitchFamily="2" charset="-122"/>
                  </a:rPr>
                  <a:t>b</a:t>
                </a:r>
                <a:r>
                  <a:rPr lang="zh-CN" altLang="zh-CN" sz="2000" dirty="0">
                    <a:solidFill>
                      <a:srgbClr val="CC00FF"/>
                    </a:solidFill>
                    <a:latin typeface="华文仿宋" panose="02010600040101010101" pitchFamily="2" charset="-122"/>
                    <a:ea typeface="华文仿宋" panose="02010600040101010101" pitchFamily="2" charset="-122"/>
                  </a:rPr>
                  <a:t>的倍数），并设在把子问题解组合成原问题解的处理中需要总量为</a:t>
                </a:r>
                <a:r>
                  <a:rPr lang="en-US" altLang="zh-CN" sz="2000" i="1" dirty="0">
                    <a:solidFill>
                      <a:srgbClr val="CC00FF"/>
                    </a:solidFill>
                    <a:latin typeface="华文仿宋" panose="02010600040101010101" pitchFamily="2" charset="-122"/>
                    <a:ea typeface="华文仿宋" panose="02010600040101010101" pitchFamily="2" charset="-122"/>
                  </a:rPr>
                  <a:t>g</a:t>
                </a:r>
                <a:r>
                  <a:rPr lang="en-US" altLang="zh-CN" sz="2000" dirty="0">
                    <a:solidFill>
                      <a:srgbClr val="CC00FF"/>
                    </a:solidFill>
                    <a:latin typeface="华文仿宋" panose="02010600040101010101" pitchFamily="2" charset="-122"/>
                    <a:ea typeface="华文仿宋" panose="02010600040101010101" pitchFamily="2" charset="-122"/>
                  </a:rPr>
                  <a:t>(</a:t>
                </a:r>
                <a:r>
                  <a:rPr lang="en-US" altLang="zh-CN" sz="2000" i="1" dirty="0">
                    <a:solidFill>
                      <a:srgbClr val="CC00FF"/>
                    </a:solidFill>
                    <a:latin typeface="华文仿宋" panose="02010600040101010101" pitchFamily="2" charset="-122"/>
                    <a:ea typeface="华文仿宋" panose="02010600040101010101" pitchFamily="2" charset="-122"/>
                  </a:rPr>
                  <a:t>n</a:t>
                </a:r>
                <a:r>
                  <a:rPr lang="en-US" altLang="zh-CN" sz="2000" dirty="0">
                    <a:solidFill>
                      <a:srgbClr val="CC00FF"/>
                    </a:solidFill>
                    <a:latin typeface="华文仿宋" panose="02010600040101010101" pitchFamily="2" charset="-122"/>
                    <a:ea typeface="华文仿宋" panose="02010600040101010101" pitchFamily="2" charset="-122"/>
                  </a:rPr>
                  <a:t>)</a:t>
                </a:r>
                <a:r>
                  <a:rPr lang="zh-CN" altLang="zh-CN" sz="2000" dirty="0">
                    <a:solidFill>
                      <a:srgbClr val="CC00FF"/>
                    </a:solidFill>
                    <a:latin typeface="华文仿宋" panose="02010600040101010101" pitchFamily="2" charset="-122"/>
                    <a:ea typeface="华文仿宋" panose="02010600040101010101" pitchFamily="2" charset="-122"/>
                  </a:rPr>
                  <a:t>的额外运算。</a:t>
                </a:r>
              </a:p>
              <a:p>
                <a:pPr>
                  <a:lnSpc>
                    <a:spcPct val="150000"/>
                  </a:lnSpc>
                </a:pPr>
                <a:r>
                  <a:rPr lang="zh-CN" altLang="zh-CN" sz="2000" dirty="0"/>
                  <a:t>【</a:t>
                </a:r>
                <a:r>
                  <a:rPr lang="zh-CN" altLang="zh-CN" sz="2000" b="1" dirty="0"/>
                  <a:t>定义</a:t>
                </a:r>
                <a:r>
                  <a:rPr lang="en-US" altLang="zh-CN" sz="2000" b="1" dirty="0"/>
                  <a:t>2.22</a:t>
                </a:r>
                <a:r>
                  <a:rPr lang="zh-CN" altLang="zh-CN" sz="2000" dirty="0"/>
                  <a:t>】若</a:t>
                </a:r>
                <a:r>
                  <a:rPr lang="en-US" altLang="zh-CN" sz="2000" i="1" dirty="0"/>
                  <a:t>f</a:t>
                </a:r>
                <a:r>
                  <a:rPr lang="en-US" altLang="zh-CN" sz="2000" dirty="0"/>
                  <a:t>(</a:t>
                </a:r>
                <a:r>
                  <a:rPr lang="en-US" altLang="zh-CN" sz="2000" i="1" dirty="0"/>
                  <a:t>n</a:t>
                </a:r>
                <a:r>
                  <a:rPr lang="en-US" altLang="zh-CN" sz="2000" dirty="0"/>
                  <a:t>)</a:t>
                </a:r>
                <a:r>
                  <a:rPr lang="zh-CN" altLang="zh-CN" sz="2000" dirty="0"/>
                  <a:t>表示求解规模为</a:t>
                </a:r>
                <a:r>
                  <a:rPr lang="en-US" altLang="zh-CN" sz="2000" i="1" dirty="0"/>
                  <a:t>n</a:t>
                </a:r>
                <a:r>
                  <a:rPr lang="zh-CN" altLang="zh-CN" sz="2000" dirty="0"/>
                  <a:t>的问题所需的运算数，则</a:t>
                </a:r>
                <a:r>
                  <a:rPr lang="en-US" altLang="zh-CN" sz="2000" i="1" dirty="0"/>
                  <a:t>f</a:t>
                </a:r>
                <a:r>
                  <a:rPr lang="zh-CN" altLang="zh-CN" sz="2000" dirty="0"/>
                  <a:t>满足如下递推关系：</a:t>
                </a:r>
              </a:p>
              <a:p>
                <a:pPr>
                  <a:lnSpc>
                    <a:spcPct val="150000"/>
                  </a:lnSpc>
                </a:pPr>
                <a:r>
                  <a:rPr lang="en-US" altLang="zh-CN" sz="2000" dirty="0"/>
                  <a:t>                </a:t>
                </a:r>
                <a:r>
                  <a:rPr lang="en-US" altLang="zh-CN" sz="2000" dirty="0" smtClean="0"/>
                  <a:t>  </a:t>
                </a:r>
                <a14:m>
                  <m:oMath xmlns:m="http://schemas.openxmlformats.org/officeDocument/2006/math">
                    <m:r>
                      <a:rPr lang="en-US" altLang="zh-CN" sz="2000" i="1">
                        <a:latin typeface="Cambria Math" panose="02040503050406030204" pitchFamily="18" charset="0"/>
                      </a:rPr>
                      <m:t>𝑓</m:t>
                    </m:r>
                    <m:r>
                      <a:rPr lang="en-US" altLang="zh-CN" sz="2000" i="1">
                        <a:latin typeface="Cambria Math" panose="02040503050406030204" pitchFamily="18" charset="0"/>
                      </a:rPr>
                      <m:t> </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𝑛</m:t>
                        </m:r>
                      </m:e>
                    </m:d>
                    <m:r>
                      <a:rPr lang="en-US" altLang="zh-CN" sz="2000" i="1">
                        <a:latin typeface="Cambria Math" panose="02040503050406030204" pitchFamily="18" charset="0"/>
                      </a:rPr>
                      <m:t>=</m:t>
                    </m:r>
                    <m:r>
                      <a:rPr lang="en-US" altLang="zh-CN" sz="2000" i="1">
                        <a:latin typeface="Cambria Math" panose="02040503050406030204" pitchFamily="18" charset="0"/>
                      </a:rPr>
                      <m:t>𝑎𝑓</m:t>
                    </m:r>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𝑛</m:t>
                            </m:r>
                          </m:num>
                          <m:den>
                            <m:r>
                              <a:rPr lang="en-US" altLang="zh-CN" sz="2000" i="1">
                                <a:latin typeface="Cambria Math" panose="02040503050406030204" pitchFamily="18" charset="0"/>
                              </a:rPr>
                              <m:t>𝑏</m:t>
                            </m:r>
                          </m:den>
                        </m:f>
                      </m:e>
                    </m:d>
                    <m:r>
                      <a:rPr lang="en-US" altLang="zh-CN" sz="2000" i="1">
                        <a:latin typeface="Cambria Math" panose="02040503050406030204" pitchFamily="18" charset="0"/>
                      </a:rPr>
                      <m:t>+</m:t>
                    </m:r>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𝑛</m:t>
                        </m:r>
                      </m:e>
                    </m:d>
                  </m:oMath>
                </a14:m>
                <a:endParaRPr lang="en-US" altLang="zh-CN" sz="2000" dirty="0" smtClean="0"/>
              </a:p>
              <a:p>
                <a:pPr>
                  <a:lnSpc>
                    <a:spcPct val="150000"/>
                  </a:lnSpc>
                </a:pPr>
                <a:r>
                  <a:rPr lang="zh-CN" altLang="zh-CN" sz="2000" dirty="0" smtClean="0"/>
                  <a:t>上</a:t>
                </a:r>
                <a:r>
                  <a:rPr lang="zh-CN" altLang="zh-CN" sz="2000" dirty="0"/>
                  <a:t>式称为</a:t>
                </a:r>
                <a:r>
                  <a:rPr lang="zh-CN" altLang="zh-CN" sz="2000" b="1" dirty="0"/>
                  <a:t>分治递推关系</a:t>
                </a:r>
                <a:r>
                  <a:rPr lang="zh-CN" altLang="zh-CN" sz="2000" dirty="0" smtClean="0"/>
                  <a:t>。</a:t>
                </a:r>
                <a:endParaRPr lang="zh-CN" altLang="zh-CN" sz="2000" dirty="0"/>
              </a:p>
            </p:txBody>
          </p:sp>
        </mc:Choice>
        <mc:Fallback xmlns="">
          <p:sp>
            <p:nvSpPr>
              <p:cNvPr id="3" name="文本框 2"/>
              <p:cNvSpPr txBox="1">
                <a:spLocks noRot="1" noChangeAspect="1" noMove="1" noResize="1" noEditPoints="1" noAdjustHandles="1" noChangeArrowheads="1" noChangeShapeType="1" noTextEdit="1"/>
              </p:cNvSpPr>
              <p:nvPr/>
            </p:nvSpPr>
            <p:spPr>
              <a:xfrm>
                <a:off x="827584" y="2132856"/>
                <a:ext cx="7560840" cy="4014945"/>
              </a:xfrm>
              <a:prstGeom prst="rect">
                <a:avLst/>
              </a:prstGeom>
              <a:blipFill rotWithShape="0">
                <a:blip r:embed="rId4"/>
                <a:stretch>
                  <a:fillRect l="-887" r="-806" b="-15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8" name="页脚占位符 5"/>
          <p:cNvSpPr>
            <a:spLocks noGrp="1"/>
          </p:cNvSpPr>
          <p:nvPr>
            <p:ph type="ftr" sz="quarter" idx="11"/>
          </p:nvPr>
        </p:nvSpPr>
        <p:spPr/>
        <p:txBody>
          <a:bodyPr/>
          <a:lstStyle/>
          <a:p>
            <a:pPr>
              <a:defRPr/>
            </a:pPr>
            <a:r>
              <a:rPr lang="zh-CN" altLang="en-US"/>
              <a:t>计算机应用技术研究所</a:t>
            </a:r>
          </a:p>
        </p:txBody>
      </p:sp>
      <p:sp>
        <p:nvSpPr>
          <p:cNvPr id="9" name="灯片编号占位符 6"/>
          <p:cNvSpPr>
            <a:spLocks noGrp="1"/>
          </p:cNvSpPr>
          <p:nvPr>
            <p:ph type="sldNum" sz="quarter" idx="12"/>
          </p:nvPr>
        </p:nvSpPr>
        <p:spPr/>
        <p:txBody>
          <a:bodyPr/>
          <a:lstStyle/>
          <a:p>
            <a:pPr>
              <a:defRPr/>
            </a:pPr>
            <a:fld id="{186F5276-F8E7-4D64-952C-DE226F2DE43F}" type="slidenum">
              <a:rPr lang="en-US" altLang="zh-CN"/>
              <a:pPr>
                <a:defRPr/>
              </a:pPr>
              <a:t>65</a:t>
            </a:fld>
            <a:endParaRPr lang="en-US" altLang="zh-CN"/>
          </a:p>
        </p:txBody>
      </p:sp>
      <p:sp>
        <p:nvSpPr>
          <p:cNvPr id="34821" name="Text Box 2"/>
          <p:cNvSpPr txBox="1">
            <a:spLocks noChangeArrowheads="1"/>
          </p:cNvSpPr>
          <p:nvPr/>
        </p:nvSpPr>
        <p:spPr bwMode="auto">
          <a:xfrm>
            <a:off x="1371600" y="765175"/>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分治递归</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348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416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五边形 4"/>
          <p:cNvSpPr/>
          <p:nvPr/>
        </p:nvSpPr>
        <p:spPr bwMode="auto">
          <a:xfrm>
            <a:off x="684213" y="1844824"/>
            <a:ext cx="3815779" cy="720080"/>
          </a:xfrm>
          <a:prstGeom prst="homePlate">
            <a:avLst/>
          </a:prstGeom>
          <a:solidFill>
            <a:schemeClr val="accent5">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899592" y="1974031"/>
            <a:ext cx="3306366" cy="461665"/>
          </a:xfrm>
          <a:prstGeom prst="rect">
            <a:avLst/>
          </a:prstGeom>
          <a:noFill/>
        </p:spPr>
        <p:txBody>
          <a:bodyPr wrap="square" rtlCol="0">
            <a:spAutoFit/>
          </a:bodyPr>
          <a:lstStyle/>
          <a:p>
            <a:r>
              <a:rPr lang="zh-CN" altLang="zh-CN" sz="2400" dirty="0">
                <a:solidFill>
                  <a:srgbClr val="CC00FF"/>
                </a:solidFill>
                <a:latin typeface="华文行楷" panose="02010800040101010101" pitchFamily="2" charset="-122"/>
                <a:ea typeface="华文行楷" panose="02010800040101010101" pitchFamily="2" charset="-122"/>
              </a:rPr>
              <a:t>递推</a:t>
            </a:r>
            <a:r>
              <a:rPr lang="zh-CN" altLang="zh-CN" sz="2400" dirty="0" smtClean="0">
                <a:solidFill>
                  <a:srgbClr val="CC00FF"/>
                </a:solidFill>
                <a:latin typeface="华文行楷" panose="02010800040101010101" pitchFamily="2" charset="-122"/>
                <a:ea typeface="华文行楷" panose="02010800040101010101" pitchFamily="2" charset="-122"/>
              </a:rPr>
              <a:t>关系算法</a:t>
            </a:r>
            <a:r>
              <a:rPr lang="zh-CN" altLang="zh-CN" sz="2400" dirty="0">
                <a:solidFill>
                  <a:srgbClr val="CC00FF"/>
                </a:solidFill>
                <a:latin typeface="华文行楷" panose="02010800040101010101" pitchFamily="2" charset="-122"/>
                <a:ea typeface="华文行楷" panose="02010800040101010101" pitchFamily="2" charset="-122"/>
              </a:rPr>
              <a:t>的复杂度</a:t>
            </a:r>
            <a:endParaRPr lang="zh-CN" altLang="en-US" sz="2400" dirty="0">
              <a:solidFill>
                <a:srgbClr val="CC00FF"/>
              </a:solidFill>
              <a:latin typeface="华文行楷" panose="02010800040101010101" pitchFamily="2" charset="-122"/>
              <a:ea typeface="华文行楷" panose="02010800040101010101"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971600" y="2852936"/>
                <a:ext cx="7316614" cy="2832507"/>
              </a:xfrm>
              <a:prstGeom prst="rect">
                <a:avLst/>
              </a:prstGeom>
              <a:solidFill>
                <a:srgbClr val="00B0F0"/>
              </a:solidFill>
              <a:scene3d>
                <a:camera prst="orthographicFront"/>
                <a:lightRig rig="threePt" dir="t"/>
              </a:scene3d>
              <a:sp3d extrusionH="31750">
                <a:bevelT w="114300" prst="artDeco"/>
                <a:bevelB/>
              </a:sp3d>
            </p:spPr>
            <p:txBody>
              <a:bodyPr wrap="square" rtlCol="0">
                <a:spAutoFit/>
              </a:bodyPr>
              <a:lstStyle/>
              <a:p>
                <a:r>
                  <a:rPr lang="zh-CN" altLang="zh-CN" sz="1800" dirty="0"/>
                  <a:t>【</a:t>
                </a:r>
                <a:r>
                  <a:rPr lang="zh-CN" altLang="zh-CN" sz="1800" b="1" dirty="0"/>
                  <a:t>定理</a:t>
                </a:r>
                <a:r>
                  <a:rPr lang="en-US" altLang="zh-CN" sz="1800" b="1" dirty="0"/>
                  <a:t>2.31</a:t>
                </a:r>
                <a:r>
                  <a:rPr lang="zh-CN" altLang="zh-CN" sz="1800" dirty="0"/>
                  <a:t>】假设</a:t>
                </a:r>
                <a:r>
                  <a:rPr lang="en-US" altLang="zh-CN" sz="1800" i="1" dirty="0"/>
                  <a:t>f</a:t>
                </a:r>
                <a:r>
                  <a:rPr lang="zh-CN" altLang="zh-CN" sz="1800" dirty="0"/>
                  <a:t>是满足递推关系：</a:t>
                </a:r>
              </a:p>
              <a:p>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𝑓</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𝑎𝑓</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𝑏</m:t>
                      </m:r>
                      <m:r>
                        <a:rPr lang="en-US" altLang="zh-CN" sz="1800" i="1">
                          <a:latin typeface="Cambria Math" panose="02040503050406030204" pitchFamily="18" charset="0"/>
                        </a:rPr>
                        <m:t>)+</m:t>
                      </m:r>
                      <m:r>
                        <a:rPr lang="en-US" altLang="zh-CN" sz="1800" i="1">
                          <a:latin typeface="Cambria Math" panose="02040503050406030204" pitchFamily="18" charset="0"/>
                        </a:rPr>
                        <m:t>𝑐</m:t>
                      </m:r>
                    </m:oMath>
                  </m:oMathPara>
                </a14:m>
                <a:endParaRPr lang="zh-CN" altLang="zh-CN" sz="1800" dirty="0"/>
              </a:p>
              <a:p>
                <a:r>
                  <a:rPr lang="zh-CN" altLang="zh-CN" sz="1800" dirty="0"/>
                  <a:t>的增函数，其中</a:t>
                </a:r>
                <a:r>
                  <a:rPr lang="en-US" altLang="zh-CN" sz="1800" i="1" dirty="0"/>
                  <a:t>n</a:t>
                </a:r>
                <a:r>
                  <a:rPr lang="zh-CN" altLang="zh-CN" sz="1800" dirty="0"/>
                  <a:t>被</a:t>
                </a:r>
                <a:r>
                  <a:rPr lang="en-US" altLang="zh-CN" sz="1800" i="1" dirty="0"/>
                  <a:t>b</a:t>
                </a:r>
                <a:r>
                  <a:rPr lang="zh-CN" altLang="zh-CN" sz="1800" dirty="0"/>
                  <a:t>整除，</a:t>
                </a:r>
                <a:r>
                  <a:rPr lang="en-US" altLang="zh-CN" sz="1800" i="1" dirty="0"/>
                  <a:t>a</a:t>
                </a:r>
                <a:r>
                  <a:rPr lang="en-US" altLang="zh-CN" sz="1800" dirty="0"/>
                  <a:t>≥1</a:t>
                </a:r>
                <a:r>
                  <a:rPr lang="zh-CN" altLang="zh-CN" sz="1800" dirty="0"/>
                  <a:t>，</a:t>
                </a:r>
                <a:r>
                  <a:rPr lang="en-US" altLang="zh-CN" sz="1800" i="1" dirty="0"/>
                  <a:t>b</a:t>
                </a:r>
                <a:r>
                  <a:rPr lang="zh-CN" altLang="zh-CN" sz="1800" dirty="0"/>
                  <a:t>是大于</a:t>
                </a:r>
                <a:r>
                  <a:rPr lang="en-US" altLang="zh-CN" sz="1800" dirty="0"/>
                  <a:t>1</a:t>
                </a:r>
                <a:r>
                  <a:rPr lang="zh-CN" altLang="zh-CN" sz="1800" dirty="0"/>
                  <a:t>的整数，</a:t>
                </a:r>
                <a:r>
                  <a:rPr lang="en-US" altLang="zh-CN" sz="1800" i="1" dirty="0"/>
                  <a:t>c</a:t>
                </a:r>
                <a:r>
                  <a:rPr lang="zh-CN" altLang="zh-CN" sz="1800" dirty="0"/>
                  <a:t>是一个正实数。则有：</a:t>
                </a:r>
              </a:p>
              <a:p>
                <a:r>
                  <a:rPr lang="en-US" altLang="zh-CN" sz="1800" dirty="0"/>
                  <a:t>                    </a:t>
                </a:r>
                <a:r>
                  <a:rPr lang="en-US" altLang="zh-CN" sz="1800" dirty="0" smtClean="0"/>
                  <a:t> </a:t>
                </a:r>
                <a14:m>
                  <m:oMath xmlns:m="http://schemas.openxmlformats.org/officeDocument/2006/math">
                    <m:r>
                      <a:rPr lang="en-US" altLang="zh-CN" sz="1800" i="1">
                        <a:latin typeface="Cambria Math" panose="02040503050406030204" pitchFamily="18" charset="0"/>
                      </a:rPr>
                      <m:t>𝑓</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𝑛</m:t>
                        </m:r>
                      </m:e>
                    </m:d>
                    <m:r>
                      <a:rPr lang="en-US" altLang="zh-CN" sz="1800">
                        <a:latin typeface="Cambria Math" panose="02040503050406030204" pitchFamily="18" charset="0"/>
                      </a:rPr>
                      <m:t>=</m:t>
                    </m:r>
                    <m:d>
                      <m:dPr>
                        <m:begChr m:val="{"/>
                        <m:endChr m:val=""/>
                        <m:ctrlPr>
                          <a:rPr lang="zh-CN" altLang="zh-CN" sz="1800" i="1">
                            <a:latin typeface="Cambria Math" panose="02040503050406030204" pitchFamily="18" charset="0"/>
                          </a:rPr>
                        </m:ctrlPr>
                      </m:dPr>
                      <m:e>
                        <m:eqArr>
                          <m:eqArrPr>
                            <m:ctrlPr>
                              <a:rPr lang="zh-CN" altLang="zh-CN" sz="1800" i="1">
                                <a:latin typeface="Cambria Math" panose="02040503050406030204" pitchFamily="18" charset="0"/>
                              </a:rPr>
                            </m:ctrlPr>
                          </m:eqArrPr>
                          <m:e>
                            <m:r>
                              <a:rPr lang="en-US" altLang="zh-CN" sz="1800" i="1">
                                <a:latin typeface="Cambria Math" panose="02040503050406030204" pitchFamily="18" charset="0"/>
                              </a:rPr>
                              <m:t>𝑂</m:t>
                            </m:r>
                            <m:d>
                              <m:dPr>
                                <m:ctrlPr>
                                  <a:rPr lang="zh-CN" altLang="zh-CN" sz="1800" i="1">
                                    <a:latin typeface="Cambria Math" panose="02040503050406030204" pitchFamily="18" charset="0"/>
                                  </a:rPr>
                                </m:ctrlPr>
                              </m:dPr>
                              <m:e>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𝑛</m:t>
                                    </m:r>
                                  </m:e>
                                  <m:sup>
                                    <m:func>
                                      <m:funcPr>
                                        <m:ctrlPr>
                                          <a:rPr lang="zh-CN" altLang="zh-CN" sz="1800" i="1">
                                            <a:latin typeface="Cambria Math" panose="02040503050406030204" pitchFamily="18" charset="0"/>
                                          </a:rPr>
                                        </m:ctrlPr>
                                      </m:funcPr>
                                      <m:fNa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𝑏</m:t>
                                            </m:r>
                                          </m:sub>
                                        </m:sSub>
                                      </m:fName>
                                      <m:e>
                                        <m:r>
                                          <a:rPr lang="en-US" altLang="zh-CN" sz="1800" i="1">
                                            <a:latin typeface="Cambria Math" panose="02040503050406030204" pitchFamily="18" charset="0"/>
                                          </a:rPr>
                                          <m:t>𝑎</m:t>
                                        </m:r>
                                      </m:e>
                                    </m:func>
                                  </m:sup>
                                </m:sSup>
                              </m:e>
                            </m:d>
                            <m:r>
                              <a:rPr lang="en-US" altLang="zh-CN" sz="1800" i="1">
                                <a:latin typeface="Cambria Math" panose="02040503050406030204" pitchFamily="18" charset="0"/>
                              </a:rPr>
                              <m:t>   </m:t>
                            </m:r>
                            <m:r>
                              <a:rPr lang="zh-CN" altLang="zh-CN" sz="1800">
                                <a:latin typeface="Cambria Math" panose="02040503050406030204" pitchFamily="18" charset="0"/>
                              </a:rPr>
                              <m:t>如果</m:t>
                            </m:r>
                            <m:r>
                              <a:rPr lang="en-US" altLang="zh-CN" sz="1800" i="1">
                                <a:latin typeface="Cambria Math" panose="02040503050406030204" pitchFamily="18" charset="0"/>
                              </a:rPr>
                              <m:t>𝑎</m:t>
                            </m:r>
                            <m:r>
                              <a:rPr lang="en-US" altLang="zh-CN" sz="1800" i="1">
                                <a:latin typeface="Cambria Math" panose="02040503050406030204" pitchFamily="18" charset="0"/>
                              </a:rPr>
                              <m:t>&gt;1</m:t>
                            </m:r>
                          </m:e>
                          <m:e>
                            <m:r>
                              <a:rPr lang="en-US" altLang="zh-CN" sz="1800" i="1">
                                <a:latin typeface="Cambria Math" panose="02040503050406030204" pitchFamily="18" charset="0"/>
                              </a:rPr>
                              <m:t>𝑂</m:t>
                            </m:r>
                            <m:d>
                              <m:dPr>
                                <m:ctrlPr>
                                  <a:rPr lang="zh-CN" altLang="zh-CN" sz="1800" i="1">
                                    <a:latin typeface="Cambria Math" panose="02040503050406030204" pitchFamily="18" charset="0"/>
                                  </a:rPr>
                                </m:ctrlPr>
                              </m:dPr>
                              <m:e>
                                <m:func>
                                  <m:funcPr>
                                    <m:ctrlPr>
                                      <a:rPr lang="zh-CN" altLang="zh-CN" sz="1800" i="1">
                                        <a:latin typeface="Cambria Math" panose="02040503050406030204" pitchFamily="18" charset="0"/>
                                      </a:rPr>
                                    </m:ctrlPr>
                                  </m:funcPr>
                                  <m:fName>
                                    <m:r>
                                      <a:rPr lang="en-US" altLang="zh-CN" sz="1800" i="1">
                                        <a:latin typeface="Cambria Math" panose="02040503050406030204" pitchFamily="18" charset="0"/>
                                      </a:rPr>
                                      <m:t>𝑙𝑜𝑔</m:t>
                                    </m:r>
                                  </m:fName>
                                  <m:e>
                                    <m:r>
                                      <a:rPr lang="en-US" altLang="zh-CN" sz="1800" i="1">
                                        <a:latin typeface="Cambria Math" panose="02040503050406030204" pitchFamily="18" charset="0"/>
                                      </a:rPr>
                                      <m:t>𝑛</m:t>
                                    </m:r>
                                  </m:e>
                                </m:func>
                              </m:e>
                            </m:d>
                            <m:r>
                              <a:rPr lang="en-US" altLang="zh-CN" sz="1800" i="1">
                                <a:latin typeface="Cambria Math" panose="02040503050406030204" pitchFamily="18" charset="0"/>
                              </a:rPr>
                              <m:t>      </m:t>
                            </m:r>
                            <m:r>
                              <a:rPr lang="zh-CN" altLang="zh-CN" sz="1800">
                                <a:latin typeface="Cambria Math" panose="02040503050406030204" pitchFamily="18" charset="0"/>
                              </a:rPr>
                              <m:t>如果</m:t>
                            </m:r>
                            <m:r>
                              <a:rPr lang="en-US" altLang="zh-CN" sz="1800" i="1">
                                <a:latin typeface="Cambria Math" panose="02040503050406030204" pitchFamily="18" charset="0"/>
                              </a:rPr>
                              <m:t>𝑎</m:t>
                            </m:r>
                            <m:r>
                              <a:rPr lang="en-US" altLang="zh-CN" sz="1800" i="1">
                                <a:latin typeface="Cambria Math" panose="02040503050406030204" pitchFamily="18" charset="0"/>
                              </a:rPr>
                              <m:t>=1</m:t>
                            </m:r>
                          </m:e>
                        </m:eqArr>
                      </m:e>
                    </m:d>
                  </m:oMath>
                </a14:m>
                <a:r>
                  <a:rPr lang="en-US" altLang="zh-CN" sz="1800" dirty="0"/>
                  <a:t> </a:t>
                </a:r>
                <a:endParaRPr lang="en-US" altLang="zh-CN" sz="1800" dirty="0" smtClean="0"/>
              </a:p>
              <a:p>
                <a:r>
                  <a:rPr lang="zh-CN" altLang="zh-CN" sz="1800" dirty="0" smtClean="0"/>
                  <a:t>进一步</a:t>
                </a:r>
                <a:r>
                  <a:rPr lang="zh-CN" altLang="zh-CN" sz="1800" dirty="0"/>
                  <a:t>，当</a:t>
                </a:r>
                <a14:m>
                  <m:oMath xmlns:m="http://schemas.openxmlformats.org/officeDocument/2006/math">
                    <m:r>
                      <a:rPr lang="en-US" altLang="zh-CN" sz="1800" i="1">
                        <a:latin typeface="Cambria Math" panose="02040503050406030204" pitchFamily="18" charset="0"/>
                      </a:rPr>
                      <m:t>𝑛</m:t>
                    </m:r>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𝑏</m:t>
                        </m:r>
                      </m:e>
                      <m:sup>
                        <m:r>
                          <a:rPr lang="en-US" altLang="zh-CN" sz="1800" i="1">
                            <a:latin typeface="Cambria Math" panose="02040503050406030204" pitchFamily="18" charset="0"/>
                          </a:rPr>
                          <m:t>𝑘</m:t>
                        </m:r>
                      </m:sup>
                    </m:sSup>
                  </m:oMath>
                </a14:m>
                <a:r>
                  <a:rPr lang="zh-CN" altLang="zh-CN" sz="1800" dirty="0"/>
                  <a:t>时（</a:t>
                </a:r>
                <a:r>
                  <a:rPr lang="en-US" altLang="zh-CN" sz="1800" i="1" dirty="0"/>
                  <a:t>k</a:t>
                </a:r>
                <a:r>
                  <a:rPr lang="zh-CN" altLang="zh-CN" sz="1800" dirty="0"/>
                  <a:t>是正整数），则有：</a:t>
                </a:r>
              </a:p>
              <a:p>
                <a:r>
                  <a:rPr lang="en-US" altLang="zh-CN" sz="1800" dirty="0" smtClean="0"/>
                  <a:t>                    </a:t>
                </a:r>
                <a14:m>
                  <m:oMath xmlns:m="http://schemas.openxmlformats.org/officeDocument/2006/math">
                    <m:sSup>
                      <m:sSupPr>
                        <m:ctrlPr>
                          <a:rPr lang="zh-CN" altLang="zh-CN" sz="1800" i="1">
                            <a:latin typeface="Cambria Math" panose="02040503050406030204" pitchFamily="18" charset="0"/>
                          </a:rPr>
                        </m:ctrlPr>
                      </m:sSupPr>
                      <m:e>
                        <m:r>
                          <a:rPr lang="en-US" altLang="zh-CN" sz="1800" i="1" smtClean="0">
                            <a:latin typeface="Cambria Math" panose="02040503050406030204" pitchFamily="18" charset="0"/>
                          </a:rPr>
                          <m:t> </m:t>
                        </m:r>
                        <m:r>
                          <a:rPr lang="en-US" altLang="zh-CN" sz="1800" i="1">
                            <a:latin typeface="Cambria Math" panose="02040503050406030204" pitchFamily="18" charset="0"/>
                          </a:rPr>
                          <m:t>𝑓</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𝑛</m:t>
                            </m:r>
                          </m:e>
                        </m:d>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𝐶</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𝑛</m:t>
                        </m:r>
                      </m:e>
                      <m:sup>
                        <m:func>
                          <m:funcPr>
                            <m:ctrlPr>
                              <a:rPr lang="zh-CN" altLang="zh-CN" sz="1800" i="1">
                                <a:latin typeface="Cambria Math" panose="02040503050406030204" pitchFamily="18" charset="0"/>
                              </a:rPr>
                            </m:ctrlPr>
                          </m:funcPr>
                          <m:fNa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𝑏</m:t>
                                </m:r>
                              </m:sub>
                            </m:sSub>
                          </m:fName>
                          <m:e>
                            <m:r>
                              <a:rPr lang="en-US" altLang="zh-CN" sz="1800" i="1">
                                <a:latin typeface="Cambria Math" panose="02040503050406030204" pitchFamily="18" charset="0"/>
                              </a:rPr>
                              <m:t>𝑎</m:t>
                            </m:r>
                          </m:e>
                        </m:func>
                      </m:sup>
                    </m:sSup>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𝐶</m:t>
                        </m:r>
                      </m:e>
                      <m:sub>
                        <m:r>
                          <a:rPr lang="en-US" altLang="zh-CN" sz="1800" i="1">
                            <a:latin typeface="Cambria Math" panose="02040503050406030204" pitchFamily="18" charset="0"/>
                          </a:rPr>
                          <m:t>2</m:t>
                        </m:r>
                      </m:sub>
                    </m:sSub>
                  </m:oMath>
                </a14:m>
                <a:r>
                  <a:rPr lang="en-US" altLang="zh-CN" sz="1800" dirty="0"/>
                  <a:t>                         </a:t>
                </a:r>
                <a:r>
                  <a:rPr lang="zh-CN" altLang="zh-CN" sz="1800" dirty="0" smtClean="0"/>
                  <a:t>其中</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𝐶</m:t>
                        </m:r>
                      </m:e>
                      <m:sub>
                        <m:r>
                          <a:rPr lang="en-US" altLang="zh-CN" sz="1800" i="1">
                            <a:latin typeface="Cambria Math" panose="02040503050406030204" pitchFamily="18" charset="0"/>
                          </a:rPr>
                          <m:t>1</m:t>
                        </m:r>
                      </m:sub>
                    </m:sSub>
                  </m:oMath>
                </a14:m>
                <a:r>
                  <a:rPr lang="en-US" altLang="zh-CN" sz="1800" dirty="0"/>
                  <a:t>=</a:t>
                </a:r>
                <a:r>
                  <a:rPr lang="en-US" altLang="zh-CN" sz="1800" i="1" dirty="0"/>
                  <a:t>f</a:t>
                </a:r>
                <a:r>
                  <a:rPr lang="en-US" altLang="zh-CN" sz="1800" dirty="0"/>
                  <a:t>(1)+</a:t>
                </a:r>
                <a:r>
                  <a:rPr lang="en-US" altLang="zh-CN" sz="1800" i="1" dirty="0"/>
                  <a:t>c</a:t>
                </a:r>
                <a:r>
                  <a:rPr lang="en-US" altLang="zh-CN" sz="1800" dirty="0"/>
                  <a:t>/(</a:t>
                </a:r>
                <a:r>
                  <a:rPr lang="en-US" altLang="zh-CN" sz="1800" i="1" dirty="0"/>
                  <a:t>a</a:t>
                </a:r>
                <a:r>
                  <a:rPr lang="en-US" altLang="zh-CN" sz="1800" dirty="0"/>
                  <a:t>-1)</a:t>
                </a:r>
                <a:r>
                  <a:rPr lang="zh-CN" altLang="zh-CN" sz="1800" dirty="0"/>
                  <a:t>且</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𝐶</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r>
                      <a:rPr lang="en-US" altLang="zh-CN" sz="1800" i="1">
                        <a:latin typeface="Cambria Math" panose="02040503050406030204" pitchFamily="18" charset="0"/>
                      </a:rPr>
                      <m:t>𝑐</m:t>
                    </m:r>
                    <m:r>
                      <a:rPr lang="en-US" altLang="zh-CN" sz="1800" i="1">
                        <a:latin typeface="Cambria Math" panose="02040503050406030204" pitchFamily="18" charset="0"/>
                      </a:rPr>
                      <m:t>/(</m:t>
                    </m:r>
                    <m:r>
                      <a:rPr lang="en-US" altLang="zh-CN" sz="1800" i="1">
                        <a:latin typeface="Cambria Math" panose="02040503050406030204" pitchFamily="18" charset="0"/>
                      </a:rPr>
                      <m:t>𝑎</m:t>
                    </m:r>
                    <m:r>
                      <a:rPr lang="en-US" altLang="zh-CN" sz="1800" i="1">
                        <a:latin typeface="Cambria Math" panose="02040503050406030204" pitchFamily="18" charset="0"/>
                      </a:rPr>
                      <m:t>−1)</m:t>
                    </m:r>
                  </m:oMath>
                </a14:m>
                <a:r>
                  <a:rPr lang="zh-CN" altLang="zh-CN" sz="1800" dirty="0"/>
                  <a:t>。</a:t>
                </a:r>
                <a:endParaRPr lang="zh-CN" altLang="en-US" sz="1800" dirty="0"/>
              </a:p>
            </p:txBody>
          </p:sp>
        </mc:Choice>
        <mc:Fallback xmlns="">
          <p:sp>
            <p:nvSpPr>
              <p:cNvPr id="6" name="文本框 5"/>
              <p:cNvSpPr txBox="1">
                <a:spLocks noRot="1" noChangeAspect="1" noMove="1" noResize="1" noEditPoints="1" noAdjustHandles="1" noChangeArrowheads="1" noChangeShapeType="1" noTextEdit="1"/>
              </p:cNvSpPr>
              <p:nvPr/>
            </p:nvSpPr>
            <p:spPr>
              <a:xfrm>
                <a:off x="971600" y="2852936"/>
                <a:ext cx="7316614" cy="2832507"/>
              </a:xfrm>
              <a:prstGeom prst="rect">
                <a:avLst/>
              </a:prstGeom>
              <a:blipFill rotWithShape="0">
                <a:blip r:embed="rId4"/>
                <a:stretch>
                  <a:fillRect l="-498" t="-640" b="-149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a:xfrm>
            <a:off x="6588125" y="6400800"/>
            <a:ext cx="1905000" cy="457200"/>
          </a:xfrm>
        </p:spPr>
        <p:txBody>
          <a:bodyPr/>
          <a:lstStyle/>
          <a:p>
            <a:pPr>
              <a:defRPr/>
            </a:pPr>
            <a:fld id="{35B6DAB4-B06E-408A-B6A5-B70E9E224921}" type="slidenum">
              <a:rPr lang="en-US" altLang="zh-CN"/>
              <a:pPr>
                <a:defRPr/>
              </a:pPr>
              <a:t>66</a:t>
            </a:fld>
            <a:endParaRPr lang="en-US" altLang="zh-CN"/>
          </a:p>
        </p:txBody>
      </p:sp>
      <p:sp>
        <p:nvSpPr>
          <p:cNvPr id="39941"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a:solidFill>
                  <a:schemeClr val="bg1"/>
                </a:solidFill>
                <a:latin typeface="宋体" panose="02010600030101010101" pitchFamily="2" charset="-122"/>
                <a:ea typeface="宋体" panose="02010600030101010101" pitchFamily="2" charset="-122"/>
              </a:rPr>
              <a:t>例 题</a:t>
            </a:r>
          </a:p>
        </p:txBody>
      </p:sp>
      <p:pic>
        <p:nvPicPr>
          <p:cNvPr id="3994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043608" y="2132856"/>
                <a:ext cx="6912495" cy="1048557"/>
              </a:xfrm>
              <a:prstGeom prst="rect">
                <a:avLst/>
              </a:prstGeom>
              <a:noFill/>
            </p:spPr>
            <p:txBody>
              <a:bodyPr wrap="square" rtlCol="0">
                <a:spAutoFit/>
              </a:bodyPr>
              <a:lstStyle/>
              <a:p>
                <a:r>
                  <a:rPr lang="zh-CN" altLang="zh-CN" sz="2000" dirty="0"/>
                  <a:t>【例题</a:t>
                </a:r>
                <a:r>
                  <a:rPr lang="en-US" altLang="zh-CN" sz="2000" dirty="0"/>
                  <a:t>2.38</a:t>
                </a:r>
                <a:r>
                  <a:rPr lang="zh-CN" altLang="zh-CN" sz="2000" dirty="0"/>
                  <a:t>】在一个有</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2</m:t>
                        </m:r>
                      </m:e>
                      <m:sup>
                        <m:r>
                          <a:rPr lang="en-US" altLang="zh-CN" sz="2000" i="1">
                            <a:latin typeface="Cambria Math" panose="02040503050406030204" pitchFamily="18" charset="0"/>
                          </a:rPr>
                          <m:t>𝑘</m:t>
                        </m:r>
                      </m:sup>
                    </m:sSup>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2</m:t>
                        </m:r>
                      </m:e>
                      <m:sup>
                        <m:r>
                          <a:rPr lang="en-US" altLang="zh-CN" sz="2000" i="1">
                            <a:latin typeface="Cambria Math" panose="02040503050406030204" pitchFamily="18" charset="0"/>
                          </a:rPr>
                          <m:t>𝑘</m:t>
                        </m:r>
                      </m:sup>
                    </m:sSup>
                    <m:r>
                      <a:rPr lang="en-US" altLang="zh-CN" sz="2000" i="1">
                        <a:latin typeface="Cambria Math" panose="02040503050406030204" pitchFamily="18" charset="0"/>
                      </a:rPr>
                      <m:t>(</m:t>
                    </m:r>
                    <m:r>
                      <a:rPr lang="en-US" altLang="zh-CN" sz="2000" i="1">
                        <a:latin typeface="Cambria Math" panose="02040503050406030204" pitchFamily="18" charset="0"/>
                      </a:rPr>
                      <m:t>𝑘</m:t>
                    </m:r>
                    <m:r>
                      <a:rPr lang="en-US" altLang="zh-CN" sz="2000" i="1">
                        <a:latin typeface="Cambria Math" panose="02040503050406030204" pitchFamily="18" charset="0"/>
                      </a:rPr>
                      <m:t>≥1)</m:t>
                    </m:r>
                  </m:oMath>
                </a14:m>
                <a:r>
                  <a:rPr lang="zh-CN" altLang="zh-CN" sz="2000" dirty="0"/>
                  <a:t>个方格的棋盘上，有且仅有一个方格残缺，这样的棋盘称为残缺棋盘。图</a:t>
                </a:r>
                <a:r>
                  <a:rPr lang="en-US" altLang="zh-CN" sz="2000" dirty="0"/>
                  <a:t>2-10</a:t>
                </a:r>
                <a:r>
                  <a:rPr lang="zh-CN" altLang="zh-CN" sz="2000" dirty="0"/>
                  <a:t>给出了当</a:t>
                </a:r>
                <a14:m>
                  <m:oMath xmlns:m="http://schemas.openxmlformats.org/officeDocument/2006/math">
                    <m:r>
                      <a:rPr lang="en-US" altLang="zh-CN" sz="2000" i="1">
                        <a:latin typeface="Cambria Math" panose="02040503050406030204" pitchFamily="18" charset="0"/>
                      </a:rPr>
                      <m:t>𝑘</m:t>
                    </m:r>
                    <m:r>
                      <a:rPr lang="en-US" altLang="zh-CN" sz="2000">
                        <a:latin typeface="Cambria Math" panose="02040503050406030204" pitchFamily="18" charset="0"/>
                      </a:rPr>
                      <m:t>=1</m:t>
                    </m:r>
                  </m:oMath>
                </a14:m>
                <a:r>
                  <a:rPr lang="zh-CN" altLang="zh-CN" sz="2000" dirty="0"/>
                  <a:t>时，各种可能的方格分布情况：</a:t>
                </a:r>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043608" y="2132856"/>
                <a:ext cx="6912495" cy="1048557"/>
              </a:xfrm>
              <a:prstGeom prst="rect">
                <a:avLst/>
              </a:prstGeom>
              <a:blipFill rotWithShape="0">
                <a:blip r:embed="rId4"/>
                <a:stretch>
                  <a:fillRect l="-882" t="-1744" r="-794" b="-8140"/>
                </a:stretch>
              </a:blipFill>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1259632" y="3271261"/>
            <a:ext cx="6889529" cy="1409960"/>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979637" y="4879291"/>
                <a:ext cx="7449517" cy="1323439"/>
              </a:xfrm>
              <a:prstGeom prst="rect">
                <a:avLst/>
              </a:prstGeom>
              <a:noFill/>
            </p:spPr>
            <p:txBody>
              <a:bodyPr wrap="square" rtlCol="0">
                <a:spAutoFit/>
              </a:bodyPr>
              <a:lstStyle/>
              <a:p>
                <a:r>
                  <a:rPr lang="zh-CN" altLang="zh-CN" sz="2000" dirty="0"/>
                  <a:t>当</a:t>
                </a:r>
                <a14:m>
                  <m:oMath xmlns:m="http://schemas.openxmlformats.org/officeDocument/2006/math">
                    <m:r>
                      <a:rPr lang="en-US" altLang="zh-CN" sz="2000" i="1">
                        <a:latin typeface="Cambria Math" panose="02040503050406030204" pitchFamily="18" charset="0"/>
                      </a:rPr>
                      <m:t>𝑘</m:t>
                    </m:r>
                    <m:r>
                      <a:rPr lang="en-US" altLang="zh-CN" sz="2000">
                        <a:latin typeface="Cambria Math" panose="02040503050406030204" pitchFamily="18" charset="0"/>
                      </a:rPr>
                      <m:t>=1</m:t>
                    </m:r>
                  </m:oMath>
                </a14:m>
                <a:r>
                  <a:rPr lang="zh-CN" altLang="zh-CN" sz="2000" dirty="0"/>
                  <a:t>时是残缺棋盘的一种特殊情况，称为三格板，要求用这四种三格板覆盖整个残缺棋盘，并满足下述条件：</a:t>
                </a:r>
              </a:p>
              <a:p>
                <a:r>
                  <a:rPr lang="zh-CN" altLang="zh-CN" sz="2000" dirty="0"/>
                  <a:t>条件一：两个三格板不能重叠；</a:t>
                </a:r>
              </a:p>
              <a:p>
                <a:r>
                  <a:rPr lang="zh-CN" altLang="zh-CN" sz="2000" dirty="0"/>
                  <a:t>条件二：三格板不能覆盖残缺方格，但必须覆盖其他所有方格。</a:t>
                </a:r>
                <a:endParaRPr lang="zh-CN" altLang="en-US" sz="2000" dirty="0"/>
              </a:p>
            </p:txBody>
          </p:sp>
        </mc:Choice>
        <mc:Fallback xmlns="">
          <p:sp>
            <p:nvSpPr>
              <p:cNvPr id="4" name="文本框 3"/>
              <p:cNvSpPr txBox="1">
                <a:spLocks noRot="1" noChangeAspect="1" noMove="1" noResize="1" noEditPoints="1" noAdjustHandles="1" noChangeArrowheads="1" noChangeShapeType="1" noTextEdit="1"/>
              </p:cNvSpPr>
              <p:nvPr/>
            </p:nvSpPr>
            <p:spPr>
              <a:xfrm>
                <a:off x="979637" y="4879291"/>
                <a:ext cx="7449517" cy="1323439"/>
              </a:xfrm>
              <a:prstGeom prst="rect">
                <a:avLst/>
              </a:prstGeom>
              <a:blipFill rotWithShape="0">
                <a:blip r:embed="rId6"/>
                <a:stretch>
                  <a:fillRect l="-900" t="-3211" r="-327" b="-688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2267CB15-2FA9-44C9-87C8-D9C7DF34D7AE}" type="slidenum">
              <a:rPr lang="en-US" altLang="zh-CN"/>
              <a:pPr>
                <a:defRPr/>
              </a:pPr>
              <a:t>67</a:t>
            </a:fld>
            <a:endParaRPr lang="en-US" altLang="zh-CN"/>
          </a:p>
        </p:txBody>
      </p:sp>
      <p:sp>
        <p:nvSpPr>
          <p:cNvPr id="40965"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例 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4096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060499" y="2024063"/>
                <a:ext cx="7416551" cy="3539430"/>
              </a:xfrm>
              <a:prstGeom prst="rect">
                <a:avLst/>
              </a:prstGeom>
              <a:noFill/>
            </p:spPr>
            <p:txBody>
              <a:bodyPr wrap="square" rtlCol="0">
                <a:spAutoFit/>
              </a:bodyPr>
              <a:lstStyle/>
              <a:p>
                <a:r>
                  <a:rPr lang="zh-CN" altLang="zh-CN" sz="2800" dirty="0"/>
                  <a:t>【解】用分治法解决这个问题，首先</a:t>
                </a:r>
                <a:r>
                  <a:rPr lang="zh-CN" altLang="zh-CN" sz="2800" dirty="0" smtClean="0">
                    <a:solidFill>
                      <a:srgbClr val="FF0000"/>
                    </a:solidFill>
                  </a:rPr>
                  <a:t>考察当</a:t>
                </a:r>
                <a14:m>
                  <m:oMath xmlns:m="http://schemas.openxmlformats.org/officeDocument/2006/math">
                    <m:r>
                      <a:rPr lang="en-US" altLang="zh-CN" sz="2800" i="1">
                        <a:solidFill>
                          <a:srgbClr val="FF0000"/>
                        </a:solidFill>
                        <a:latin typeface="Cambria Math" panose="02040503050406030204" pitchFamily="18" charset="0"/>
                      </a:rPr>
                      <m:t>𝑘</m:t>
                    </m:r>
                  </m:oMath>
                </a14:m>
                <a:r>
                  <a:rPr lang="en-US" altLang="zh-CN" sz="2800" dirty="0">
                    <a:solidFill>
                      <a:srgbClr val="FF0000"/>
                    </a:solidFill>
                  </a:rPr>
                  <a:t>=2</a:t>
                </a:r>
                <a:r>
                  <a:rPr lang="zh-CN" altLang="zh-CN" sz="2800" dirty="0">
                    <a:solidFill>
                      <a:srgbClr val="FF0000"/>
                    </a:solidFill>
                  </a:rPr>
                  <a:t>时</a:t>
                </a:r>
                <a:r>
                  <a:rPr lang="zh-CN" altLang="zh-CN" sz="2800" dirty="0"/>
                  <a:t>的情形。</a:t>
                </a:r>
              </a:p>
              <a:p>
                <a:r>
                  <a:rPr lang="zh-CN" altLang="zh-CN" sz="2800" dirty="0"/>
                  <a:t>用二分法进行分解，得到如图</a:t>
                </a:r>
                <a:r>
                  <a:rPr lang="en-US" altLang="zh-CN" sz="2800" dirty="0"/>
                  <a:t>2-11</a:t>
                </a:r>
                <a:r>
                  <a:rPr lang="zh-CN" altLang="zh-CN" sz="2800" dirty="0"/>
                  <a:t>所示的四个</a:t>
                </a:r>
                <a14:m>
                  <m:oMath xmlns:m="http://schemas.openxmlformats.org/officeDocument/2006/math">
                    <m:r>
                      <a:rPr lang="en-US" altLang="zh-CN" sz="2800" i="1">
                        <a:latin typeface="Cambria Math" panose="02040503050406030204" pitchFamily="18" charset="0"/>
                      </a:rPr>
                      <m:t>𝑘</m:t>
                    </m:r>
                  </m:oMath>
                </a14:m>
                <a:r>
                  <a:rPr lang="en-US" altLang="zh-CN" sz="2800" dirty="0"/>
                  <a:t>=1</a:t>
                </a:r>
                <a:r>
                  <a:rPr lang="zh-CN" altLang="zh-CN" sz="2800" dirty="0"/>
                  <a:t>的子棋盘。此时，显然不是所有子棋盘都是与原问题相似且独立的子问题。例如图</a:t>
                </a:r>
                <a:r>
                  <a:rPr lang="en-US" altLang="zh-CN" sz="2800" dirty="0"/>
                  <a:t>2-11(</a:t>
                </a:r>
                <a:r>
                  <a:rPr lang="en-US" altLang="zh-CN" sz="2800" i="1" dirty="0"/>
                  <a:t>a</a:t>
                </a:r>
                <a:r>
                  <a:rPr lang="en-US" altLang="zh-CN" sz="2800" dirty="0"/>
                  <a:t>)</a:t>
                </a:r>
                <a:r>
                  <a:rPr lang="zh-CN" altLang="zh-CN" sz="2800" dirty="0"/>
                  <a:t>的情况下，只有标号为</a:t>
                </a:r>
                <a:r>
                  <a:rPr lang="en-US" altLang="zh-CN" sz="2800" dirty="0"/>
                  <a:t>1</a:t>
                </a:r>
                <a:r>
                  <a:rPr lang="zh-CN" altLang="zh-CN" sz="2800" dirty="0"/>
                  <a:t>的子棋盘中有残缺方格，其他子棋盘都是完整的，此时无法对整个问题做递归求解。</a:t>
                </a:r>
                <a:endParaRPr lang="zh-CN" altLang="en-US" sz="28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060499" y="2024063"/>
                <a:ext cx="7416551" cy="3539430"/>
              </a:xfrm>
              <a:prstGeom prst="rect">
                <a:avLst/>
              </a:prstGeom>
              <a:blipFill rotWithShape="0">
                <a:blip r:embed="rId4"/>
                <a:stretch>
                  <a:fillRect l="-1726" t="-1721" b="-3787"/>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4FF1B46E-B4E9-466A-A5DC-52E10EDB5924}" type="slidenum">
              <a:rPr lang="en-US" altLang="zh-CN"/>
              <a:pPr>
                <a:defRPr/>
              </a:pPr>
              <a:t>68</a:t>
            </a:fld>
            <a:endParaRPr lang="en-US" altLang="zh-CN"/>
          </a:p>
        </p:txBody>
      </p:sp>
      <p:sp>
        <p:nvSpPr>
          <p:cNvPr id="41989"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例 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419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209179" y="2241171"/>
                <a:ext cx="7054552" cy="1200329"/>
              </a:xfrm>
              <a:prstGeom prst="rect">
                <a:avLst/>
              </a:prstGeom>
              <a:noFill/>
            </p:spPr>
            <p:txBody>
              <a:bodyPr wrap="square" rtlCol="0">
                <a:spAutoFit/>
              </a:bodyPr>
              <a:lstStyle/>
              <a:p>
                <a:r>
                  <a:rPr lang="zh-CN" altLang="zh-CN" sz="2400" dirty="0"/>
                  <a:t>类似地，</a:t>
                </a:r>
                <a14:m>
                  <m:oMath xmlns:m="http://schemas.openxmlformats.org/officeDocument/2006/math">
                    <m:r>
                      <a:rPr lang="en-US" altLang="zh-CN" sz="2400" i="1">
                        <a:latin typeface="Cambria Math" panose="02040503050406030204" pitchFamily="18" charset="0"/>
                      </a:rPr>
                      <m:t>𝑘</m:t>
                    </m:r>
                    <m:r>
                      <a:rPr lang="en-US" altLang="zh-CN" sz="2400" i="1">
                        <a:latin typeface="Cambria Math" panose="02040503050406030204" pitchFamily="18" charset="0"/>
                      </a:rPr>
                      <m:t>=1,2,3,4,⋯ </m:t>
                    </m:r>
                  </m:oMath>
                </a14:m>
                <a:r>
                  <a:rPr lang="zh-CN" altLang="zh-CN" sz="2400" dirty="0"/>
                  <a:t>都是如此，将原问题转换为</a:t>
                </a:r>
                <a:r>
                  <a:rPr lang="en-US" altLang="zh-CN" sz="2400" dirty="0"/>
                  <a:t>4</a:t>
                </a:r>
                <a:r>
                  <a:rPr lang="zh-CN" altLang="zh-CN" sz="2400" dirty="0"/>
                  <a:t>个较小规模的子问题，可以递归使用这种分割，如图</a:t>
                </a:r>
                <a:r>
                  <a:rPr lang="en-US" altLang="zh-CN" sz="2400" dirty="0"/>
                  <a:t>2-12</a:t>
                </a:r>
                <a:r>
                  <a:rPr lang="zh-CN" altLang="zh-CN" sz="2400" dirty="0"/>
                  <a:t>所示，当</a:t>
                </a:r>
                <a14:m>
                  <m:oMath xmlns:m="http://schemas.openxmlformats.org/officeDocument/2006/math">
                    <m:r>
                      <a:rPr lang="en-US" altLang="zh-CN" sz="2400" i="1">
                        <a:latin typeface="Cambria Math" panose="02040503050406030204" pitchFamily="18" charset="0"/>
                      </a:rPr>
                      <m:t>𝑘</m:t>
                    </m:r>
                    <m:r>
                      <a:rPr lang="en-US" altLang="zh-CN" sz="2400" i="1">
                        <a:latin typeface="Cambria Math" panose="02040503050406030204" pitchFamily="18" charset="0"/>
                      </a:rPr>
                      <m:t>=1</m:t>
                    </m:r>
                  </m:oMath>
                </a14:m>
                <a:r>
                  <a:rPr lang="zh-CN" altLang="zh-CN" sz="2400" dirty="0"/>
                  <a:t>时则到达递归出口。</a:t>
                </a:r>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209179" y="2241171"/>
                <a:ext cx="7054552" cy="1200329"/>
              </a:xfrm>
              <a:prstGeom prst="rect">
                <a:avLst/>
              </a:prstGeom>
              <a:blipFill rotWithShape="0">
                <a:blip r:embed="rId4"/>
                <a:stretch>
                  <a:fillRect l="-1295" t="-5584" r="-1123" b="-9137"/>
                </a:stretch>
              </a:blipFill>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2400546" y="3682958"/>
            <a:ext cx="3942857" cy="2190476"/>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AF5ABDE1-85EB-4966-9260-1B20892C1C69}" type="slidenum">
              <a:rPr lang="en-US" altLang="zh-CN"/>
              <a:pPr>
                <a:defRPr/>
              </a:pPr>
              <a:t>69</a:t>
            </a:fld>
            <a:endParaRPr lang="en-US" altLang="zh-CN"/>
          </a:p>
        </p:txBody>
      </p:sp>
      <p:sp>
        <p:nvSpPr>
          <p:cNvPr id="43013" name="Text Box 2"/>
          <p:cNvSpPr txBox="1">
            <a:spLocks noChangeArrowheads="1"/>
          </p:cNvSpPr>
          <p:nvPr/>
        </p:nvSpPr>
        <p:spPr bwMode="auto">
          <a:xfrm>
            <a:off x="1331913" y="858838"/>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时间复杂度分析</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4301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611560" y="1950061"/>
                <a:ext cx="8136904" cy="4263796"/>
              </a:xfrm>
              <a:prstGeom prst="rect">
                <a:avLst/>
              </a:prstGeom>
              <a:noFill/>
              <a:ln w="25400">
                <a:solidFill>
                  <a:srgbClr val="C00000"/>
                </a:solidFill>
              </a:ln>
            </p:spPr>
            <p:txBody>
              <a:bodyPr wrap="square" rtlCol="0">
                <a:spAutoFit/>
              </a:bodyPr>
              <a:lstStyle/>
              <a:p>
                <a:r>
                  <a:rPr lang="zh-CN" altLang="zh-CN" sz="1600" dirty="0"/>
                  <a:t>对于</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oMath>
                </a14:m>
                <a:r>
                  <a:rPr lang="zh-CN" altLang="zh-CN" sz="1600" dirty="0"/>
                  <a:t>的残缺棋盘问题，证明其算法时间复杂度为</a:t>
                </a:r>
                <a14:m>
                  <m:oMath xmlns:m="http://schemas.openxmlformats.org/officeDocument/2006/math">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sup>
                        </m:sSup>
                      </m:e>
                    </m:d>
                  </m:oMath>
                </a14:m>
                <a:r>
                  <a:rPr lang="zh-CN" altLang="zh-CN" sz="1600" dirty="0"/>
                  <a:t>。</a:t>
                </a:r>
              </a:p>
              <a:p>
                <a:r>
                  <a:rPr lang="zh-CN" altLang="zh-CN" sz="1600" dirty="0"/>
                  <a:t>【</a:t>
                </a:r>
                <a:r>
                  <a:rPr lang="zh-CN" altLang="zh-CN" sz="1600" b="1" dirty="0"/>
                  <a:t>证明</a:t>
                </a:r>
                <a:r>
                  <a:rPr lang="zh-CN" altLang="zh-CN" sz="1600" dirty="0"/>
                  <a:t>】设</a:t>
                </a:r>
                <a14:m>
                  <m:oMath xmlns:m="http://schemas.openxmlformats.org/officeDocument/2006/math">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e>
                    </m:d>
                    <m:r>
                      <a:rPr lang="zh-CN" altLang="zh-CN" sz="1600">
                        <a:latin typeface="Cambria Math" panose="02040503050406030204" pitchFamily="18" charset="0"/>
                      </a:rPr>
                      <m:t>为覆盖</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oMath>
                </a14:m>
                <a:r>
                  <a:rPr lang="zh-CN" altLang="zh-CN" sz="1600" dirty="0"/>
                  <a:t>棋盘的时间。当</a:t>
                </a:r>
                <a14:m>
                  <m:oMath xmlns:m="http://schemas.openxmlformats.org/officeDocument/2006/math">
                    <m:r>
                      <a:rPr lang="en-US" altLang="zh-CN" sz="1600" i="1">
                        <a:latin typeface="Cambria Math" panose="02040503050406030204" pitchFamily="18" charset="0"/>
                      </a:rPr>
                      <m:t>𝑘</m:t>
                    </m:r>
                    <m:r>
                      <a:rPr lang="en-US" altLang="zh-CN" sz="1600" i="1">
                        <a:latin typeface="Cambria Math" panose="02040503050406030204" pitchFamily="18" charset="0"/>
                      </a:rPr>
                      <m:t>=0</m:t>
                    </m:r>
                  </m:oMath>
                </a14:m>
                <a:r>
                  <a:rPr lang="zh-CN" altLang="zh-CN" sz="1600" dirty="0"/>
                  <a:t>时，覆盖棋盘所需要的时间为</a:t>
                </a:r>
                <a:r>
                  <a:rPr lang="en-US" altLang="zh-CN" sz="1600" i="1" dirty="0"/>
                  <a:t>O</a:t>
                </a:r>
                <a:r>
                  <a:rPr lang="en-US" altLang="zh-CN" sz="1600" dirty="0"/>
                  <a:t>(1)</a:t>
                </a:r>
                <a:r>
                  <a:rPr lang="zh-CN" altLang="zh-CN" sz="1600" dirty="0"/>
                  <a:t>；当</a:t>
                </a:r>
                <a14:m>
                  <m:oMath xmlns:m="http://schemas.openxmlformats.org/officeDocument/2006/math">
                    <m:r>
                      <a:rPr lang="en-US" altLang="zh-CN" sz="1600" i="1">
                        <a:latin typeface="Cambria Math" panose="02040503050406030204" pitchFamily="18" charset="0"/>
                      </a:rPr>
                      <m:t>𝑘</m:t>
                    </m:r>
                    <m:r>
                      <a:rPr lang="en-US" altLang="zh-CN" sz="1600" i="1">
                        <a:latin typeface="Cambria Math" panose="02040503050406030204" pitchFamily="18" charset="0"/>
                      </a:rPr>
                      <m:t>&gt;0</m:t>
                    </m:r>
                  </m:oMath>
                </a14:m>
                <a:r>
                  <a:rPr lang="zh-CN" altLang="zh-CN" sz="1600" dirty="0"/>
                  <a:t>时，覆盖</a:t>
                </a:r>
                <a:r>
                  <a:rPr lang="en-US" altLang="zh-CN" sz="1600" dirty="0"/>
                  <a:t>4</a:t>
                </a:r>
                <a:r>
                  <a:rPr lang="zh-CN" altLang="zh-CN" sz="1600" dirty="0"/>
                  <a:t>个特殊子棋盘需四次递归调用，共需时间</a:t>
                </a:r>
                <a14:m>
                  <m:oMath xmlns:m="http://schemas.openxmlformats.org/officeDocument/2006/math">
                    <m:r>
                      <a:rPr lang="en-US" altLang="zh-CN" sz="1600">
                        <a:latin typeface="Cambria Math" panose="02040503050406030204" pitchFamily="18" charset="0"/>
                      </a:rPr>
                      <m:t>4</m:t>
                    </m:r>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m:t>
                        </m:r>
                        <m:r>
                          <a:rPr lang="en-US" altLang="zh-CN" sz="1600">
                            <a:latin typeface="Cambria Math" panose="02040503050406030204" pitchFamily="18" charset="0"/>
                          </a:rPr>
                          <m:t>1</m:t>
                        </m:r>
                      </m:e>
                    </m:d>
                  </m:oMath>
                </a14:m>
                <a:r>
                  <a:rPr lang="zh-CN" altLang="zh-CN" sz="1600" dirty="0"/>
                  <a:t>。</a:t>
                </a:r>
              </a:p>
              <a:p>
                <a:r>
                  <a:rPr lang="zh-CN" altLang="zh-CN" sz="1600" dirty="0"/>
                  <a:t>因此，对于</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oMath>
                </a14:m>
                <a:r>
                  <a:rPr lang="zh-CN" altLang="zh-CN" sz="1600" dirty="0"/>
                  <a:t>的棋盘，其递推关系式为：</a:t>
                </a:r>
              </a:p>
              <a:p>
                <a:r>
                  <a:rPr lang="en-US" altLang="zh-CN" sz="1600" dirty="0"/>
                  <a:t>                </a:t>
                </a:r>
                <a14:m>
                  <m:oMath xmlns:m="http://schemas.openxmlformats.org/officeDocument/2006/math">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e>
                    </m:d>
                    <m:r>
                      <a:rPr lang="en-US" altLang="zh-CN" sz="1600" i="1">
                        <a:latin typeface="Cambria Math" panose="02040503050406030204" pitchFamily="18" charset="0"/>
                      </a:rPr>
                      <m:t>=</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  </m:t>
                        </m:r>
                        <m:eqArr>
                          <m:eqArrPr>
                            <m:ctrlPr>
                              <a:rPr lang="zh-CN" altLang="zh-CN" sz="1600" i="1">
                                <a:latin typeface="Cambria Math" panose="02040503050406030204" pitchFamily="18" charset="0"/>
                              </a:rPr>
                            </m:ctrlPr>
                          </m:eqArrPr>
                          <m:e>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                             </m:t>
                            </m:r>
                            <m:r>
                              <a:rPr lang="en-US" altLang="zh-CN" sz="1600" i="1">
                                <a:latin typeface="Cambria Math" panose="02040503050406030204" pitchFamily="18" charset="0"/>
                              </a:rPr>
                              <m:t>𝑘</m:t>
                            </m:r>
                            <m:r>
                              <a:rPr lang="en-US" altLang="zh-CN" sz="1600" i="1">
                                <a:latin typeface="Cambria Math" panose="02040503050406030204" pitchFamily="18" charset="0"/>
                              </a:rPr>
                              <m:t>=0</m:t>
                            </m:r>
                          </m:e>
                          <m:e>
                            <m:r>
                              <a:rPr lang="en-US" altLang="zh-CN" sz="1600" i="1">
                                <a:latin typeface="Cambria Math" panose="02040503050406030204" pitchFamily="18" charset="0"/>
                              </a:rPr>
                              <m:t>4</m:t>
                            </m:r>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   </m:t>
                            </m:r>
                            <m:r>
                              <a:rPr lang="en-US" altLang="zh-CN" sz="1600" i="1">
                                <a:latin typeface="Cambria Math" panose="02040503050406030204" pitchFamily="18" charset="0"/>
                              </a:rPr>
                              <m:t>𝑘</m:t>
                            </m:r>
                            <m:r>
                              <a:rPr lang="en-US" altLang="zh-CN" sz="1600" i="1">
                                <a:latin typeface="Cambria Math" panose="02040503050406030204" pitchFamily="18" charset="0"/>
                              </a:rPr>
                              <m:t>&gt;0</m:t>
                            </m:r>
                          </m:e>
                        </m:eqArr>
                      </m:e>
                    </m:d>
                  </m:oMath>
                </a14:m>
                <a:r>
                  <a:rPr lang="en-US" altLang="zh-CN" sz="1600" dirty="0"/>
                  <a:t>                        </a:t>
                </a:r>
                <a:r>
                  <a:rPr lang="zh-CN" altLang="zh-CN" sz="1600" dirty="0"/>
                  <a:t>（</a:t>
                </a:r>
                <a:r>
                  <a:rPr lang="en-US" altLang="zh-CN" sz="1600" dirty="0"/>
                  <a:t>2-26</a:t>
                </a:r>
                <a:r>
                  <a:rPr lang="zh-CN" altLang="zh-CN" sz="1600" dirty="0"/>
                  <a:t>）</a:t>
                </a:r>
              </a:p>
              <a:p>
                <a:r>
                  <a:rPr lang="zh-CN" altLang="zh-CN" sz="1600" dirty="0"/>
                  <a:t>使用迭代方法求解这个递推关系：</a:t>
                </a:r>
              </a:p>
              <a:p>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                                         </m:t>
                      </m:r>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e>
                      </m:d>
                      <m:r>
                        <a:rPr lang="en-US" altLang="zh-CN" sz="1600" i="1">
                          <a:latin typeface="Cambria Math" panose="02040503050406030204" pitchFamily="18" charset="0"/>
                        </a:rPr>
                        <m:t>=4</m:t>
                      </m:r>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oMath>
                  </m:oMathPara>
                </a14:m>
                <a:endParaRPr lang="zh-CN" altLang="zh-CN" sz="1600" dirty="0"/>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                                                   =</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−2</m:t>
                          </m:r>
                        </m:e>
                      </m:d>
                      <m:r>
                        <a:rPr lang="en-US" altLang="zh-CN" sz="1600" i="1">
                          <a:latin typeface="Cambria Math" panose="02040503050406030204" pitchFamily="18" charset="0"/>
                        </a:rPr>
                        <m:t>+4</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oMath>
                  </m:oMathPara>
                </a14:m>
                <a:endParaRPr lang="zh-CN" altLang="zh-CN" sz="1600" dirty="0"/>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 =</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3</m:t>
                          </m:r>
                        </m:sup>
                      </m:sSup>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−3</m:t>
                          </m:r>
                        </m:e>
                      </m:d>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+4</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oMath>
                  </m:oMathPara>
                </a14:m>
                <a:endParaRPr lang="zh-CN" altLang="zh-CN" sz="1600" dirty="0"/>
              </a:p>
              <a:p>
                <a:r>
                  <a:rPr lang="en-US" altLang="zh-CN" sz="1600" dirty="0"/>
                  <a:t>                                   </a:t>
                </a:r>
                <a:r>
                  <a:rPr lang="zh-CN" altLang="zh-CN" sz="1600" dirty="0"/>
                  <a:t>…</a:t>
                </a:r>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       =</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0</m:t>
                          </m:r>
                        </m:e>
                      </m:d>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r>
                            <a:rPr lang="en-US" altLang="zh-CN" sz="1600" i="1">
                              <a:latin typeface="Cambria Math" panose="02040503050406030204" pitchFamily="18" charset="0"/>
                            </a:rPr>
                            <m:t>−1</m:t>
                          </m:r>
                        </m:sup>
                      </m:sSup>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zh-CN" altLang="zh-CN" sz="1600" i="1">
                          <a:latin typeface="Cambria Math" panose="02040503050406030204" pitchFamily="18" charset="0"/>
                        </a:rPr>
                        <m:t>…</m:t>
                      </m:r>
                      <m:r>
                        <a:rPr lang="en-US" altLang="zh-CN" sz="1600" i="1">
                          <a:latin typeface="Cambria Math" panose="02040503050406030204" pitchFamily="18" charset="0"/>
                        </a:rPr>
                        <m:t>+4</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oMath>
                  </m:oMathPara>
                </a14:m>
                <a:endParaRPr lang="zh-CN" altLang="zh-CN" sz="1600" dirty="0"/>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                        =</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=0</m:t>
                          </m:r>
                        </m:sub>
                        <m:sup>
                          <m:r>
                            <a:rPr lang="en-US" altLang="zh-CN" sz="1600" i="1">
                              <a:latin typeface="Cambria Math" panose="02040503050406030204" pitchFamily="18" charset="0"/>
                            </a:rPr>
                            <m:t>𝑘</m:t>
                          </m:r>
                          <m:r>
                            <a:rPr lang="en-US" altLang="zh-CN" sz="1600" i="1">
                              <a:latin typeface="Cambria Math" panose="02040503050406030204" pitchFamily="18" charset="0"/>
                            </a:rPr>
                            <m:t>−1</m:t>
                          </m:r>
                        </m:sup>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𝑖</m:t>
                              </m:r>
                            </m:sup>
                          </m:sSup>
                        </m:e>
                      </m:nary>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−1)/3</m:t>
                      </m:r>
                    </m:oMath>
                  </m:oMathPara>
                </a14:m>
                <a:endParaRPr lang="zh-CN" altLang="zh-CN" sz="1600" dirty="0"/>
              </a:p>
              <a:p>
                <a:r>
                  <a:rPr lang="zh-CN" altLang="zh-CN" sz="1600" dirty="0"/>
                  <a:t>因此，覆盖</a:t>
                </a:r>
                <a14:m>
                  <m:oMath xmlns:m="http://schemas.openxmlformats.org/officeDocument/2006/math">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2</m:t>
                        </m:r>
                      </m:e>
                      <m:sup>
                        <m:r>
                          <a:rPr lang="en-US" altLang="zh-CN" sz="1600" i="1">
                            <a:latin typeface="Cambria Math" panose="02040503050406030204" pitchFamily="18" charset="0"/>
                          </a:rPr>
                          <m:t>𝑘</m:t>
                        </m:r>
                      </m:sup>
                    </m:sSup>
                  </m:oMath>
                </a14:m>
                <a:r>
                  <a:rPr lang="zh-CN" altLang="zh-CN" sz="1600" dirty="0"/>
                  <a:t>规模棋盘的算法时间复杂度为：</a:t>
                </a:r>
                <a14:m>
                  <m:oMath xmlns:m="http://schemas.openxmlformats.org/officeDocument/2006/math">
                    <m:r>
                      <a:rPr lang="en-US" altLang="zh-CN" sz="1600" i="1">
                        <a:latin typeface="Cambria Math" panose="02040503050406030204" pitchFamily="18" charset="0"/>
                      </a:rPr>
                      <m:t>𝑇</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e>
                    </m:d>
                    <m:r>
                      <a:rPr lang="en-US" altLang="zh-CN" sz="1600" i="1">
                        <a:latin typeface="Cambria Math" panose="02040503050406030204" pitchFamily="18" charset="0"/>
                      </a:rPr>
                      <m:t>=</m:t>
                    </m:r>
                    <m:r>
                      <a:rPr lang="en-US" altLang="zh-CN" sz="1600" i="1">
                        <a:latin typeface="Cambria Math" panose="02040503050406030204" pitchFamily="18" charset="0"/>
                      </a:rPr>
                      <m:t>𝑂</m:t>
                    </m:r>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4</m:t>
                            </m:r>
                          </m:e>
                          <m:sup>
                            <m:r>
                              <a:rPr lang="en-US" altLang="zh-CN" sz="1600" i="1">
                                <a:latin typeface="Cambria Math" panose="02040503050406030204" pitchFamily="18" charset="0"/>
                              </a:rPr>
                              <m:t>𝑘</m:t>
                            </m:r>
                          </m:sup>
                        </m:sSup>
                      </m:e>
                    </m:d>
                  </m:oMath>
                </a14:m>
                <a:r>
                  <a:rPr lang="zh-CN" altLang="zh-CN" sz="1600" dirty="0"/>
                  <a:t>。</a:t>
                </a:r>
                <a:endParaRPr lang="zh-CN" altLang="en-US" sz="1600" dirty="0"/>
              </a:p>
            </p:txBody>
          </p:sp>
        </mc:Choice>
        <mc:Fallback xmlns="">
          <p:sp>
            <p:nvSpPr>
              <p:cNvPr id="2" name="文本框 1"/>
              <p:cNvSpPr txBox="1">
                <a:spLocks noRot="1" noChangeAspect="1" noMove="1" noResize="1" noEditPoints="1" noAdjustHandles="1" noChangeArrowheads="1" noChangeShapeType="1" noTextEdit="1"/>
              </p:cNvSpPr>
              <p:nvPr/>
            </p:nvSpPr>
            <p:spPr>
              <a:xfrm>
                <a:off x="611560" y="1950061"/>
                <a:ext cx="8136904" cy="4263796"/>
              </a:xfrm>
              <a:prstGeom prst="rect">
                <a:avLst/>
              </a:prstGeom>
              <a:blipFill rotWithShape="0">
                <a:blip r:embed="rId4"/>
                <a:stretch>
                  <a:fillRect l="-224" r="-75"/>
                </a:stretch>
              </a:blipFill>
              <a:ln w="25400">
                <a:solidFill>
                  <a:srgbClr val="C00000"/>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4C77C277-D6BC-488A-851B-5B5957D43B08}" type="slidenum">
              <a:rPr lang="en-US" altLang="zh-CN"/>
              <a:pPr>
                <a:defRPr/>
              </a:pPr>
              <a:t>70</a:t>
            </a:fld>
            <a:endParaRPr lang="en-US" altLang="zh-CN"/>
          </a:p>
        </p:txBody>
      </p:sp>
      <p:sp>
        <p:nvSpPr>
          <p:cNvPr id="44037"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总结</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440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双波形 3"/>
          <p:cNvSpPr/>
          <p:nvPr/>
        </p:nvSpPr>
        <p:spPr bwMode="auto">
          <a:xfrm>
            <a:off x="576275" y="1916832"/>
            <a:ext cx="7991450" cy="4332287"/>
          </a:xfrm>
          <a:prstGeom prst="doubleWave">
            <a:avLst>
              <a:gd name="adj1" fmla="val 6250"/>
              <a:gd name="adj2" fmla="val -545"/>
            </a:avLst>
          </a:prstGeom>
          <a:solidFill>
            <a:srgbClr val="92D05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2" name="文本框 1"/>
          <p:cNvSpPr txBox="1"/>
          <p:nvPr/>
        </p:nvSpPr>
        <p:spPr>
          <a:xfrm>
            <a:off x="1187624" y="2433015"/>
            <a:ext cx="6768752" cy="3416320"/>
          </a:xfrm>
          <a:prstGeom prst="rect">
            <a:avLst/>
          </a:prstGeom>
          <a:noFill/>
        </p:spPr>
        <p:txBody>
          <a:bodyPr wrap="square" rtlCol="0">
            <a:spAutoFit/>
          </a:bodyPr>
          <a:lstStyle/>
          <a:p>
            <a:r>
              <a:rPr lang="zh-CN" altLang="en-US" sz="2400" dirty="0"/>
              <a:t> </a:t>
            </a:r>
            <a:r>
              <a:rPr lang="zh-CN" altLang="en-US" sz="2400" dirty="0" smtClean="0"/>
              <a:t>   </a:t>
            </a:r>
            <a:r>
              <a:rPr lang="zh-CN" altLang="en-US" sz="2400" dirty="0" smtClean="0">
                <a:latin typeface="华文行楷" panose="02010800040101010101" pitchFamily="2" charset="-122"/>
                <a:ea typeface="华文行楷" panose="02010800040101010101" pitchFamily="2" charset="-122"/>
              </a:rPr>
              <a:t>由</a:t>
            </a:r>
            <a:r>
              <a:rPr lang="zh-CN" altLang="en-US" sz="2400" dirty="0">
                <a:latin typeface="华文行楷" panose="02010800040101010101" pitchFamily="2" charset="-122"/>
                <a:ea typeface="华文行楷" panose="02010800040101010101" pitchFamily="2" charset="-122"/>
              </a:rPr>
              <a:t>分治法所得到的子问题与原问题具有相同的</a:t>
            </a:r>
            <a:r>
              <a:rPr lang="zh-CN" altLang="en-US" sz="2400" dirty="0" smtClean="0">
                <a:latin typeface="华文行楷" panose="02010800040101010101" pitchFamily="2" charset="-122"/>
                <a:ea typeface="华文行楷" panose="02010800040101010101" pitchFamily="2" charset="-122"/>
              </a:rPr>
              <a:t>类型</a:t>
            </a:r>
            <a:r>
              <a:rPr lang="zh-CN" altLang="en-US" sz="2400" dirty="0">
                <a:latin typeface="华文行楷" panose="02010800040101010101" pitchFamily="2" charset="-122"/>
                <a:ea typeface="华文行楷" panose="02010800040101010101" pitchFamily="2" charset="-122"/>
              </a:rPr>
              <a:t>。如果得到的子问题相对来说还太大，则可</a:t>
            </a:r>
            <a:r>
              <a:rPr lang="zh-CN" altLang="en-US" sz="2400" dirty="0" smtClean="0">
                <a:latin typeface="华文行楷" panose="02010800040101010101" pitchFamily="2" charset="-122"/>
                <a:ea typeface="华文行楷" panose="02010800040101010101" pitchFamily="2" charset="-122"/>
              </a:rPr>
              <a:t>反复</a:t>
            </a:r>
            <a:r>
              <a:rPr lang="zh-CN" altLang="en-US" sz="2400" dirty="0">
                <a:latin typeface="华文行楷" panose="02010800040101010101" pitchFamily="2" charset="-122"/>
                <a:ea typeface="华文行楷" panose="02010800040101010101" pitchFamily="2" charset="-122"/>
              </a:rPr>
              <a:t>使用分治策略将这些子问题分成更小的同</a:t>
            </a:r>
            <a:r>
              <a:rPr lang="zh-CN" altLang="en-US" sz="2400" dirty="0" smtClean="0">
                <a:latin typeface="华文行楷" panose="02010800040101010101" pitchFamily="2" charset="-122"/>
                <a:ea typeface="华文行楷" panose="02010800040101010101" pitchFamily="2" charset="-122"/>
              </a:rPr>
              <a:t>类型子</a:t>
            </a:r>
            <a:r>
              <a:rPr lang="zh-CN" altLang="en-US" sz="2400" dirty="0">
                <a:latin typeface="华文行楷" panose="02010800040101010101" pitchFamily="2" charset="-122"/>
                <a:ea typeface="华文行楷" panose="02010800040101010101" pitchFamily="2" charset="-122"/>
              </a:rPr>
              <a:t>问题，直至产生出不用进一步细分就可求解</a:t>
            </a:r>
            <a:r>
              <a:rPr lang="zh-CN" altLang="en-US" sz="2400" dirty="0" smtClean="0">
                <a:latin typeface="华文行楷" panose="02010800040101010101" pitchFamily="2" charset="-122"/>
                <a:ea typeface="华文行楷" panose="02010800040101010101" pitchFamily="2" charset="-122"/>
              </a:rPr>
              <a:t>的子</a:t>
            </a:r>
            <a:r>
              <a:rPr lang="zh-CN" altLang="en-US" sz="2400" dirty="0">
                <a:latin typeface="华文行楷" panose="02010800040101010101" pitchFamily="2" charset="-122"/>
                <a:ea typeface="华文行楷" panose="02010800040101010101" pitchFamily="2" charset="-122"/>
              </a:rPr>
              <a:t>问题。分治求解可用一个递归过程来表示。</a:t>
            </a:r>
          </a:p>
          <a:p>
            <a:r>
              <a:rPr lang="zh-CN" altLang="en-US" sz="2400" dirty="0">
                <a:latin typeface="华文行楷" panose="02010800040101010101" pitchFamily="2" charset="-122"/>
                <a:ea typeface="华文行楷" panose="02010800040101010101" pitchFamily="2" charset="-122"/>
              </a:rPr>
              <a:t>      </a:t>
            </a:r>
            <a:r>
              <a:rPr lang="zh-CN" altLang="en-US" sz="2400" dirty="0" smtClean="0">
                <a:latin typeface="华文行楷" panose="02010800040101010101" pitchFamily="2" charset="-122"/>
                <a:ea typeface="华文行楷" panose="02010800040101010101" pitchFamily="2" charset="-122"/>
              </a:rPr>
              <a:t> 要</a:t>
            </a:r>
            <a:r>
              <a:rPr lang="zh-CN" altLang="en-US" sz="2400" dirty="0">
                <a:latin typeface="华文行楷" panose="02010800040101010101" pitchFamily="2" charset="-122"/>
                <a:ea typeface="华文行楷" panose="02010800040101010101" pitchFamily="2" charset="-122"/>
              </a:rPr>
              <a:t>使分治算法效率高，关键在于如何分割</a:t>
            </a:r>
            <a:r>
              <a:rPr lang="en-US" altLang="zh-CN" sz="2400" dirty="0">
                <a:latin typeface="华文行楷" panose="02010800040101010101" pitchFamily="2" charset="-122"/>
                <a:ea typeface="华文行楷" panose="02010800040101010101" pitchFamily="2" charset="-122"/>
              </a:rPr>
              <a:t>?</a:t>
            </a:r>
            <a:r>
              <a:rPr lang="zh-CN" altLang="en-US" sz="2400" dirty="0" smtClean="0">
                <a:latin typeface="华文行楷" panose="02010800040101010101" pitchFamily="2" charset="-122"/>
                <a:ea typeface="华文行楷" panose="02010800040101010101" pitchFamily="2" charset="-122"/>
              </a:rPr>
              <a:t>一般地，出于一种平衡原则，总是把大问题分成</a:t>
            </a:r>
            <a:r>
              <a:rPr lang="en-US" altLang="zh-CN" sz="2400" dirty="0" smtClean="0">
                <a:latin typeface="华文行楷" panose="02010800040101010101" pitchFamily="2" charset="-122"/>
                <a:ea typeface="华文行楷" panose="02010800040101010101" pitchFamily="2" charset="-122"/>
              </a:rPr>
              <a:t>K</a:t>
            </a:r>
            <a:r>
              <a:rPr lang="zh-CN" altLang="en-US" sz="2400" dirty="0" smtClean="0">
                <a:latin typeface="华文行楷" panose="02010800040101010101" pitchFamily="2" charset="-122"/>
                <a:ea typeface="华文行楷" panose="02010800040101010101" pitchFamily="2" charset="-122"/>
              </a:rPr>
              <a:t>个规模尽可能相等的子问题。</a:t>
            </a:r>
            <a:endParaRPr lang="zh-CN" altLang="en-US" sz="2400" dirty="0">
              <a:latin typeface="华文行楷" panose="02010800040101010101" pitchFamily="2" charset="-122"/>
              <a:ea typeface="华文行楷" panose="02010800040101010101"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331913" y="1001713"/>
            <a:ext cx="62722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4000" b="1" dirty="0" smtClean="0">
                <a:solidFill>
                  <a:schemeClr val="bg1"/>
                </a:solidFill>
                <a:latin typeface="宋体" panose="02010600030101010101" pitchFamily="2" charset="-122"/>
                <a:ea typeface="宋体" panose="02010600030101010101" pitchFamily="2" charset="-122"/>
              </a:rPr>
              <a:t>算法设计策略与应用</a:t>
            </a:r>
            <a:endParaRPr lang="zh-CN" altLang="en-US" sz="4000" b="1" dirty="0">
              <a:solidFill>
                <a:schemeClr val="bg1"/>
              </a:solidFill>
              <a:latin typeface="宋体" panose="02010600030101010101" pitchFamily="2" charset="-122"/>
              <a:ea typeface="宋体" panose="02010600030101010101" pitchFamily="2" charset="-122"/>
            </a:endParaRPr>
          </a:p>
        </p:txBody>
      </p:sp>
      <p:sp>
        <p:nvSpPr>
          <p:cNvPr id="29699" name="Rectangle 3"/>
          <p:cNvSpPr>
            <a:spLocks noGrp="1" noChangeArrowheads="1"/>
          </p:cNvSpPr>
          <p:nvPr>
            <p:ph type="body" sz="half" idx="1"/>
          </p:nvPr>
        </p:nvSpPr>
        <p:spPr>
          <a:xfrm>
            <a:off x="2266950" y="2565400"/>
            <a:ext cx="5400675" cy="3025775"/>
          </a:xfrm>
          <a:noFill/>
        </p:spPr>
        <p:txBody>
          <a:bodyPr lIns="92075" tIns="46038" rIns="92075" bIns="46038"/>
          <a:lstStyle/>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a:t>
            </a:r>
            <a:r>
              <a:rPr lang="zh-CN" altLang="en-US" sz="3600" b="1" dirty="0">
                <a:effectLst/>
                <a:latin typeface="黑体" panose="02010609060101010101" pitchFamily="49" charset="-122"/>
                <a:ea typeface="黑体" panose="02010609060101010101" pitchFamily="49" charset="-122"/>
              </a:rPr>
              <a:t>蛮</a:t>
            </a:r>
            <a:r>
              <a:rPr lang="zh-CN" altLang="en-US" sz="3600" b="1" dirty="0" smtClean="0">
                <a:effectLst/>
                <a:latin typeface="黑体" panose="02010609060101010101" pitchFamily="49" charset="-122"/>
                <a:ea typeface="黑体" panose="02010609060101010101" pitchFamily="49" charset="-122"/>
              </a:rPr>
              <a:t>力与贪心策略</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递归与分治策略</a:t>
            </a:r>
          </a:p>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回溯与动态规划策略</a:t>
            </a:r>
          </a:p>
        </p:txBody>
      </p:sp>
      <p:pic>
        <p:nvPicPr>
          <p:cNvPr id="2970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71B938EC-036D-4956-894E-2F41EEA9BE43}" type="slidenum">
              <a:rPr lang="en-US" altLang="zh-CN"/>
              <a:pPr>
                <a:defRPr/>
              </a:pPr>
              <a:t>72</a:t>
            </a:fld>
            <a:endParaRPr lang="en-US" altLang="zh-CN"/>
          </a:p>
        </p:txBody>
      </p:sp>
      <p:sp>
        <p:nvSpPr>
          <p:cNvPr id="45061"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rPr>
              <a:t>回溯策略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450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557808" y="2057058"/>
            <a:ext cx="8028384" cy="4224511"/>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dirty="0"/>
              <a:t>计算机应用技术研究所</a:t>
            </a:r>
          </a:p>
        </p:txBody>
      </p:sp>
      <p:sp>
        <p:nvSpPr>
          <p:cNvPr id="7" name="灯片编号占位符 6"/>
          <p:cNvSpPr>
            <a:spLocks noGrp="1"/>
          </p:cNvSpPr>
          <p:nvPr>
            <p:ph type="sldNum" sz="quarter" idx="12"/>
          </p:nvPr>
        </p:nvSpPr>
        <p:spPr/>
        <p:txBody>
          <a:bodyPr/>
          <a:lstStyle/>
          <a:p>
            <a:pPr>
              <a:defRPr/>
            </a:pPr>
            <a:fld id="{55308D0A-FA26-4E56-8487-CEA06AE97B1E}" type="slidenum">
              <a:rPr lang="en-US" altLang="zh-CN"/>
              <a:pPr>
                <a:defRPr/>
              </a:pPr>
              <a:t>73</a:t>
            </a:fld>
            <a:endParaRPr lang="en-US" altLang="zh-CN"/>
          </a:p>
        </p:txBody>
      </p:sp>
      <p:sp>
        <p:nvSpPr>
          <p:cNvPr id="46085" name="Text Box 2"/>
          <p:cNvSpPr txBox="1">
            <a:spLocks noChangeArrowheads="1"/>
          </p:cNvSpPr>
          <p:nvPr/>
        </p:nvSpPr>
        <p:spPr bwMode="auto">
          <a:xfrm>
            <a:off x="1331913" y="620713"/>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回溯策略</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460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76942" y="2276872"/>
            <a:ext cx="7386789" cy="2775760"/>
          </a:xfrm>
          <a:prstGeom prst="rect">
            <a:avLst/>
          </a:prstGeom>
          <a:solidFill>
            <a:schemeClr val="bg2">
              <a:lumMod val="60000"/>
              <a:lumOff val="40000"/>
            </a:schemeClr>
          </a:solidFill>
          <a:ln w="25400">
            <a:solidFill>
              <a:schemeClr val="accent2">
                <a:lumMod val="75000"/>
              </a:schemeClr>
            </a:solidFill>
          </a:ln>
        </p:spPr>
        <p:txBody>
          <a:bodyPr wrap="square" rtlCol="0">
            <a:spAutoFit/>
          </a:bodyPr>
          <a:lstStyle/>
          <a:p>
            <a:pPr>
              <a:lnSpc>
                <a:spcPct val="150000"/>
              </a:lnSpc>
            </a:pPr>
            <a:r>
              <a:rPr lang="zh-CN" altLang="zh-CN" sz="2400" b="1" dirty="0"/>
              <a:t>【定义</a:t>
            </a:r>
            <a:r>
              <a:rPr lang="en-US" altLang="zh-CN" sz="2400" b="1" dirty="0"/>
              <a:t>2.23</a:t>
            </a:r>
            <a:r>
              <a:rPr lang="zh-CN" altLang="zh-CN" sz="2400" b="1" dirty="0"/>
              <a:t>】</a:t>
            </a:r>
            <a:r>
              <a:rPr lang="zh-CN" altLang="zh-CN" sz="2400" dirty="0"/>
              <a:t>回溯法是一种</a:t>
            </a:r>
            <a:r>
              <a:rPr lang="zh-CN" altLang="zh-CN" sz="2400" dirty="0">
                <a:solidFill>
                  <a:srgbClr val="FF0000"/>
                </a:solidFill>
              </a:rPr>
              <a:t>选优搜索法</a:t>
            </a:r>
            <a:r>
              <a:rPr lang="zh-CN" altLang="zh-CN" sz="2400" dirty="0"/>
              <a:t>，按选优条件向前搜索，以达到目标。但当探索到某一步时，发现原先选择并不优或达不到目标，就退回一步重新选择，这种走不通就退回再走的技术为回溯法，而满足回溯条件的某个状态的点称为“</a:t>
            </a:r>
            <a:r>
              <a:rPr lang="zh-CN" altLang="zh-CN" sz="2400" dirty="0">
                <a:solidFill>
                  <a:srgbClr val="FFFF00"/>
                </a:solidFill>
              </a:rPr>
              <a:t>回溯点</a:t>
            </a:r>
            <a:r>
              <a:rPr lang="zh-CN" altLang="zh-CN" sz="2400" dirty="0"/>
              <a:t>”。</a:t>
            </a:r>
            <a:endParaRPr lang="zh-CN" altLang="en-US" sz="2400"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1E55CBB2-C51C-403E-9E12-3E2258A73B4D}" type="slidenum">
              <a:rPr lang="en-US" altLang="zh-CN"/>
              <a:pPr>
                <a:defRPr/>
              </a:pPr>
              <a:t>74</a:t>
            </a:fld>
            <a:endParaRPr lang="en-US" altLang="zh-CN"/>
          </a:p>
        </p:txBody>
      </p:sp>
      <p:sp>
        <p:nvSpPr>
          <p:cNvPr id="47109" name="Text Box 2"/>
          <p:cNvSpPr txBox="1">
            <a:spLocks noChangeArrowheads="1"/>
          </p:cNvSpPr>
          <p:nvPr/>
        </p:nvSpPr>
        <p:spPr bwMode="auto">
          <a:xfrm>
            <a:off x="1331913" y="858838"/>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回溯的基本思想</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471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72716" y="2057657"/>
            <a:ext cx="7198568" cy="3970318"/>
          </a:xfrm>
          <a:prstGeom prst="rect">
            <a:avLst/>
          </a:prstGeom>
          <a:solidFill>
            <a:srgbClr val="FF99FF"/>
          </a:solidFill>
          <a:ln w="25400" cmpd="dbl">
            <a:solidFill>
              <a:srgbClr val="006600"/>
            </a:solidFill>
            <a:prstDash val="dashDot"/>
          </a:ln>
        </p:spPr>
        <p:txBody>
          <a:bodyPr wrap="square" rtlCol="0">
            <a:spAutoFit/>
          </a:bodyPr>
          <a:lstStyle/>
          <a:p>
            <a:r>
              <a:rPr lang="en-US" altLang="zh-CN" sz="1800" dirty="0"/>
              <a:t>1</a:t>
            </a:r>
            <a:r>
              <a:rPr lang="zh-CN" altLang="en-US" sz="1800" dirty="0"/>
              <a:t>、回溯法主要思想是每次只构造解的一个分量，然后按照鲜明的方法来评估这个部分构造解。如果一个部分构造解可以进一步构造而不会违反问题的约束</a:t>
            </a:r>
            <a:r>
              <a:rPr lang="en-US" altLang="zh-CN" sz="1800" dirty="0"/>
              <a:t>,</a:t>
            </a:r>
            <a:r>
              <a:rPr lang="zh-CN" altLang="en-US" sz="1800" dirty="0"/>
              <a:t>我们就接受对下一个分量所作的第一个合法选择。如果无法对下一个分量进行合法的选择，就不对剩下的任何分量再做任何选择了。在这种情况下，该算法进行回溯，把部分构造解的最后一个分量替换为它的下一个选择。</a:t>
            </a:r>
          </a:p>
          <a:p>
            <a:r>
              <a:rPr lang="en-US" altLang="zh-CN" sz="1800" dirty="0"/>
              <a:t>2</a:t>
            </a:r>
            <a:r>
              <a:rPr lang="zh-CN" altLang="en-US" sz="1800" dirty="0"/>
              <a:t>、解空间树</a:t>
            </a:r>
            <a:r>
              <a:rPr lang="en-US" altLang="zh-CN" sz="1800" dirty="0"/>
              <a:t>:</a:t>
            </a:r>
          </a:p>
          <a:p>
            <a:r>
              <a:rPr lang="zh-CN" altLang="en-US" sz="1800" dirty="0"/>
              <a:t>通过对所做的选择结构构造一棵解空间树，树根代表了在查找解之前的初始状态。树的第一层节点代表对解的第一个分量所做的选择，第二层节点代表了对解的第二个分量所做的选择，以此类推。如果一个部分构造解</a:t>
            </a:r>
            <a:r>
              <a:rPr lang="en-US" altLang="zh-CN" sz="1800" dirty="0"/>
              <a:t>(</a:t>
            </a:r>
            <a:r>
              <a:rPr lang="zh-CN" altLang="en-US" sz="1800" dirty="0"/>
              <a:t>子树</a:t>
            </a:r>
            <a:r>
              <a:rPr lang="en-US" altLang="zh-CN" sz="1800" dirty="0"/>
              <a:t>) </a:t>
            </a:r>
            <a:r>
              <a:rPr lang="zh-CN" altLang="en-US" sz="1800" dirty="0"/>
              <a:t>仍然有可能导致一个完整解</a:t>
            </a:r>
            <a:r>
              <a:rPr lang="en-US" altLang="zh-CN" sz="1800" dirty="0"/>
              <a:t>,</a:t>
            </a:r>
            <a:r>
              <a:rPr lang="zh-CN" altLang="en-US" sz="1800" dirty="0"/>
              <a:t>我们说这个部分解在树中的相应节点是有希望的。否则说是没希望的。</a:t>
            </a:r>
          </a:p>
          <a:p>
            <a:r>
              <a:rPr lang="zh-CN" altLang="en-US" sz="1800" dirty="0">
                <a:solidFill>
                  <a:srgbClr val="0033CC"/>
                </a:solidFill>
              </a:rPr>
              <a:t>叶子要么代表没希望的</a:t>
            </a:r>
            <a:r>
              <a:rPr lang="en-US" altLang="zh-CN" sz="1800" dirty="0">
                <a:solidFill>
                  <a:srgbClr val="0033CC"/>
                </a:solidFill>
              </a:rPr>
              <a:t>,</a:t>
            </a:r>
            <a:r>
              <a:rPr lang="zh-CN" altLang="en-US" sz="1800" dirty="0">
                <a:solidFill>
                  <a:srgbClr val="0033CC"/>
                </a:solidFill>
              </a:rPr>
              <a:t>要么代表算法找到完整解</a:t>
            </a:r>
          </a:p>
          <a:p>
            <a:endParaRPr lang="zh-CN" altLang="en-US" sz="18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BE208206-E92D-4A12-8D6E-33A9C32BB420}" type="slidenum">
              <a:rPr lang="en-US" altLang="zh-CN"/>
              <a:pPr>
                <a:defRPr/>
              </a:pPr>
              <a:t>75</a:t>
            </a:fld>
            <a:endParaRPr lang="en-US" altLang="zh-CN"/>
          </a:p>
        </p:txBody>
      </p:sp>
      <p:sp>
        <p:nvSpPr>
          <p:cNvPr id="48133" name="Text Box 2"/>
          <p:cNvSpPr txBox="1">
            <a:spLocks noChangeArrowheads="1"/>
          </p:cNvSpPr>
          <p:nvPr/>
        </p:nvSpPr>
        <p:spPr bwMode="auto">
          <a:xfrm>
            <a:off x="1331913" y="858838"/>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400" b="1" dirty="0" smtClean="0">
                <a:solidFill>
                  <a:schemeClr val="bg1"/>
                </a:solidFill>
                <a:latin typeface="宋体" panose="02010600030101010101" pitchFamily="2" charset="-122"/>
                <a:ea typeface="宋体" panose="02010600030101010101" pitchFamily="2" charset="-122"/>
              </a:rPr>
              <a:t>回溯算法的解空间</a:t>
            </a:r>
            <a:endParaRPr lang="zh-CN" altLang="en-US" sz="4400" b="1" dirty="0">
              <a:solidFill>
                <a:schemeClr val="bg1"/>
              </a:solidFill>
              <a:latin typeface="宋体" panose="02010600030101010101" pitchFamily="2" charset="-122"/>
              <a:ea typeface="宋体" panose="02010600030101010101" pitchFamily="2" charset="-122"/>
            </a:endParaRPr>
          </a:p>
        </p:txBody>
      </p:sp>
      <p:pic>
        <p:nvPicPr>
          <p:cNvPr id="481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007604" y="2071401"/>
                <a:ext cx="7128792" cy="1323439"/>
              </a:xfrm>
              <a:prstGeom prst="rect">
                <a:avLst/>
              </a:prstGeom>
              <a:solidFill>
                <a:srgbClr val="00B050"/>
              </a:solidFill>
            </p:spPr>
            <p:txBody>
              <a:bodyPr wrap="square" rtlCol="0">
                <a:spAutoFit/>
              </a:bodyPr>
              <a:lstStyle/>
              <a:p>
                <a:r>
                  <a:rPr lang="zh-CN" altLang="zh-CN" sz="2000" dirty="0">
                    <a:latin typeface="华文新魏" panose="02010800040101010101" pitchFamily="2" charset="-122"/>
                    <a:ea typeface="华文新魏" panose="02010800040101010101" pitchFamily="2" charset="-122"/>
                  </a:rPr>
                  <a:t>由回溯法得到的解可以表示成</a:t>
                </a:r>
                <a14:m>
                  <m:oMath xmlns:m="http://schemas.openxmlformats.org/officeDocument/2006/math">
                    <m:r>
                      <a:rPr lang="en-US" altLang="zh-CN" sz="2000" i="1">
                        <a:latin typeface="Cambria Math" panose="02040503050406030204" pitchFamily="18" charset="0"/>
                      </a:rPr>
                      <m:t>𝑛</m:t>
                    </m:r>
                  </m:oMath>
                </a14:m>
                <a:r>
                  <a:rPr lang="zh-CN" altLang="zh-CN" sz="2000" dirty="0">
                    <a:latin typeface="华文新魏" panose="02010800040101010101" pitchFamily="2" charset="-122"/>
                    <a:ea typeface="华文新魏" panose="02010800040101010101" pitchFamily="2" charset="-122"/>
                  </a:rPr>
                  <a:t>元向量</a:t>
                </a:r>
                <a14:m>
                  <m:oMath xmlns:m="http://schemas.openxmlformats.org/officeDocument/2006/math">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𝑛</m:t>
                            </m:r>
                          </m:sub>
                        </m:sSub>
                      </m:e>
                    </m:d>
                  </m:oMath>
                </a14:m>
                <a:r>
                  <a:rPr lang="zh-CN" altLang="zh-CN" sz="2000" dirty="0">
                    <a:latin typeface="华文新魏" panose="02010800040101010101" pitchFamily="2" charset="-122"/>
                    <a:ea typeface="华文新魏" panose="02010800040101010101" pitchFamily="2" charset="-122"/>
                  </a:rPr>
                  <a:t>的形式。解向量一般具有显性或隐性的约束条件，在算法设计时，应该仔细分析，不能忽略。例如，当</a:t>
                </a:r>
                <a14:m>
                  <m:oMath xmlns:m="http://schemas.openxmlformats.org/officeDocument/2006/math">
                    <m:r>
                      <a:rPr lang="en-US" altLang="zh-CN" sz="2000" i="1">
                        <a:latin typeface="Cambria Math" panose="02040503050406030204" pitchFamily="18" charset="0"/>
                      </a:rPr>
                      <m:t>𝑛</m:t>
                    </m:r>
                    <m:r>
                      <a:rPr lang="en-US" altLang="zh-CN" sz="2000">
                        <a:latin typeface="Cambria Math" panose="02040503050406030204" pitchFamily="18" charset="0"/>
                      </a:rPr>
                      <m:t>=3</m:t>
                    </m:r>
                  </m:oMath>
                </a14:m>
                <a:r>
                  <a:rPr lang="en-US" altLang="zh-CN" sz="2000" dirty="0">
                    <a:latin typeface="华文新魏" panose="02010800040101010101" pitchFamily="2" charset="-122"/>
                    <a:ea typeface="华文新魏" panose="02010800040101010101" pitchFamily="2" charset="-122"/>
                  </a:rPr>
                  <a:t> </a:t>
                </a:r>
                <a:r>
                  <a:rPr lang="zh-CN" altLang="zh-CN" sz="2000" dirty="0">
                    <a:latin typeface="华文新魏" panose="02010800040101010101" pitchFamily="2" charset="-122"/>
                    <a:ea typeface="华文新魏" panose="02010800040101010101" pitchFamily="2" charset="-122"/>
                  </a:rPr>
                  <a:t>时，</a:t>
                </a:r>
                <a:r>
                  <a:rPr lang="en-US" altLang="zh-CN" sz="2000" dirty="0">
                    <a:latin typeface="华文新魏" panose="02010800040101010101" pitchFamily="2" charset="-122"/>
                    <a:ea typeface="华文新魏" panose="02010800040101010101" pitchFamily="2" charset="-122"/>
                  </a:rPr>
                  <a:t>0-1</a:t>
                </a:r>
                <a:r>
                  <a:rPr lang="zh-CN" altLang="zh-CN" sz="2000" dirty="0">
                    <a:latin typeface="华文新魏" panose="02010800040101010101" pitchFamily="2" charset="-122"/>
                    <a:ea typeface="华文新魏" panose="02010800040101010101" pitchFamily="2" charset="-122"/>
                  </a:rPr>
                  <a:t>背包问题可用一棵完全二叉树表示其解空间，</a:t>
                </a:r>
                <a:r>
                  <a:rPr lang="zh-CN" altLang="zh-CN" sz="2000" dirty="0" smtClean="0">
                    <a:latin typeface="华文新魏" panose="02010800040101010101" pitchFamily="2" charset="-122"/>
                    <a:ea typeface="华文新魏" panose="02010800040101010101" pitchFamily="2" charset="-122"/>
                  </a:rPr>
                  <a:t>如</a:t>
                </a:r>
                <a:r>
                  <a:rPr lang="zh-CN" altLang="en-US" sz="2000" dirty="0" smtClean="0">
                    <a:latin typeface="华文新魏" panose="02010800040101010101" pitchFamily="2" charset="-122"/>
                    <a:ea typeface="华文新魏" panose="02010800040101010101" pitchFamily="2" charset="-122"/>
                  </a:rPr>
                  <a:t>下图</a:t>
                </a:r>
                <a:r>
                  <a:rPr lang="zh-CN" altLang="zh-CN" sz="2000" dirty="0" smtClean="0">
                    <a:latin typeface="华文新魏" panose="02010800040101010101" pitchFamily="2" charset="-122"/>
                    <a:ea typeface="华文新魏" panose="02010800040101010101" pitchFamily="2" charset="-122"/>
                  </a:rPr>
                  <a:t>所</a:t>
                </a:r>
                <a:r>
                  <a:rPr lang="zh-CN" altLang="zh-CN" sz="2000" dirty="0">
                    <a:latin typeface="华文新魏" panose="02010800040101010101" pitchFamily="2" charset="-122"/>
                    <a:ea typeface="华文新魏" panose="02010800040101010101" pitchFamily="2" charset="-122"/>
                  </a:rPr>
                  <a:t>示。</a:t>
                </a:r>
                <a:endParaRPr lang="zh-CN" altLang="en-US" sz="2000" dirty="0">
                  <a:latin typeface="华文新魏" panose="02010800040101010101" pitchFamily="2" charset="-122"/>
                  <a:ea typeface="华文新魏" panose="02010800040101010101" pitchFamily="2"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007604" y="2071401"/>
                <a:ext cx="7128792" cy="1323439"/>
              </a:xfrm>
              <a:prstGeom prst="rect">
                <a:avLst/>
              </a:prstGeom>
              <a:blipFill rotWithShape="0">
                <a:blip r:embed="rId4"/>
                <a:stretch>
                  <a:fillRect l="-855" t="-2304" b="-7373"/>
                </a:stretch>
              </a:blipFill>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1757714" y="3816697"/>
            <a:ext cx="5628571" cy="1904762"/>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23534278-28BC-42E6-BB0A-8DE28D28A74C}" type="slidenum">
              <a:rPr lang="en-US" altLang="zh-CN"/>
              <a:pPr>
                <a:defRPr/>
              </a:pPr>
              <a:t>76</a:t>
            </a:fld>
            <a:endParaRPr lang="en-US" altLang="zh-CN"/>
          </a:p>
        </p:txBody>
      </p:sp>
      <p:sp>
        <p:nvSpPr>
          <p:cNvPr id="49157" name="Text Box 2"/>
          <p:cNvSpPr txBox="1">
            <a:spLocks noChangeArrowheads="1"/>
          </p:cNvSpPr>
          <p:nvPr/>
        </p:nvSpPr>
        <p:spPr bwMode="auto">
          <a:xfrm>
            <a:off x="1331640" y="692696"/>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剪 枝</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491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84213" y="2348880"/>
            <a:ext cx="7848997" cy="2308324"/>
          </a:xfrm>
          <a:prstGeom prst="rect">
            <a:avLst/>
          </a:prstGeom>
          <a:solidFill>
            <a:schemeClr val="bg1"/>
          </a:solidFill>
          <a:ln w="25400">
            <a:solidFill>
              <a:srgbClr val="FFFF00"/>
            </a:solidFill>
          </a:ln>
        </p:spPr>
        <p:txBody>
          <a:bodyPr wrap="square" rtlCol="0">
            <a:spAutoFit/>
          </a:bodyPr>
          <a:lstStyle/>
          <a:p>
            <a:r>
              <a:rPr lang="zh-CN" altLang="zh-CN" sz="2400" dirty="0"/>
              <a:t>回溯算法需要搜索整棵解空间树，当问题规模很大时，计算量比较大。此时可用剪枝的方法对搜索策略进行优化</a:t>
            </a:r>
            <a:r>
              <a:rPr lang="zh-CN" altLang="zh-CN" sz="2400" dirty="0" smtClean="0"/>
              <a:t>。</a:t>
            </a:r>
            <a:endParaRPr lang="en-US" altLang="zh-CN" sz="2400" dirty="0" smtClean="0"/>
          </a:p>
          <a:p>
            <a:endParaRPr lang="zh-CN" altLang="zh-CN" sz="2400" dirty="0"/>
          </a:p>
          <a:p>
            <a:r>
              <a:rPr lang="zh-CN" altLang="zh-CN" sz="2400" dirty="0"/>
              <a:t>【</a:t>
            </a:r>
            <a:r>
              <a:rPr lang="zh-CN" altLang="zh-CN" sz="2400" b="1" dirty="0"/>
              <a:t>定义</a:t>
            </a:r>
            <a:r>
              <a:rPr lang="en-US" altLang="zh-CN" sz="2400" b="1" dirty="0"/>
              <a:t>2.24</a:t>
            </a:r>
            <a:r>
              <a:rPr lang="zh-CN" altLang="zh-CN" sz="2400" dirty="0"/>
              <a:t>】</a:t>
            </a:r>
            <a:r>
              <a:rPr lang="zh-CN" altLang="zh-CN" sz="2400" dirty="0">
                <a:solidFill>
                  <a:srgbClr val="FF0000"/>
                </a:solidFill>
              </a:rPr>
              <a:t>剪枝</a:t>
            </a:r>
            <a:r>
              <a:rPr lang="zh-CN" altLang="zh-CN" sz="2400" dirty="0"/>
              <a:t>就是通过某种判断避免一些不必要的遍历过程，剪去解空间树中的一些不必要的枝条，从而缩小搜索规模。</a:t>
            </a:r>
            <a:endParaRPr lang="zh-CN" altLang="en-US" sz="2400"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E1E05A99-5F24-41ED-B929-A5505DD80399}" type="slidenum">
              <a:rPr lang="en-US" altLang="zh-CN"/>
              <a:pPr>
                <a:defRPr/>
              </a:pPr>
              <a:t>77</a:t>
            </a:fld>
            <a:endParaRPr lang="en-US" altLang="zh-CN"/>
          </a:p>
        </p:txBody>
      </p:sp>
      <p:sp>
        <p:nvSpPr>
          <p:cNvPr id="50181"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剪枝策略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501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11560" y="3068960"/>
            <a:ext cx="7920880" cy="2677656"/>
          </a:xfrm>
          <a:prstGeom prst="rect">
            <a:avLst/>
          </a:prstGeom>
          <a:solidFill>
            <a:srgbClr val="FF0000"/>
          </a:solidFill>
        </p:spPr>
        <p:txBody>
          <a:bodyPr wrap="square" rtlCol="0">
            <a:spAutoFit/>
          </a:bodyPr>
          <a:lstStyle/>
          <a:p>
            <a:pPr marL="514350" indent="-514350">
              <a:buFont typeface="+mj-lt"/>
              <a:buAutoNum type="alphaUcPeriod"/>
            </a:pPr>
            <a:r>
              <a:rPr lang="zh-CN" altLang="zh-CN" sz="2800" dirty="0" smtClean="0">
                <a:solidFill>
                  <a:srgbClr val="FFFF00"/>
                </a:solidFill>
              </a:rPr>
              <a:t>用</a:t>
            </a:r>
            <a:r>
              <a:rPr lang="zh-CN" altLang="zh-CN" sz="2800" dirty="0">
                <a:solidFill>
                  <a:srgbClr val="FFFF00"/>
                </a:solidFill>
              </a:rPr>
              <a:t>约束函数在扩展节点处剪去不满足约束条件的子</a:t>
            </a:r>
            <a:r>
              <a:rPr lang="zh-CN" altLang="zh-CN" sz="2800" dirty="0" smtClean="0">
                <a:solidFill>
                  <a:srgbClr val="FFFF00"/>
                </a:solidFill>
              </a:rPr>
              <a:t>树</a:t>
            </a:r>
            <a:r>
              <a:rPr lang="zh-CN" altLang="en-US" sz="2800" dirty="0" smtClean="0">
                <a:solidFill>
                  <a:srgbClr val="FFFF00"/>
                </a:solidFill>
              </a:rPr>
              <a:t>；</a:t>
            </a:r>
            <a:endParaRPr lang="en-US" altLang="zh-CN" sz="2800" dirty="0" smtClean="0">
              <a:solidFill>
                <a:srgbClr val="FFFF00"/>
              </a:solidFill>
            </a:endParaRPr>
          </a:p>
          <a:p>
            <a:pPr marL="514350" indent="-514350">
              <a:buFont typeface="+mj-lt"/>
              <a:buAutoNum type="alphaUcPeriod"/>
            </a:pPr>
            <a:r>
              <a:rPr lang="zh-CN" altLang="zh-CN" sz="2800" dirty="0" smtClean="0">
                <a:solidFill>
                  <a:srgbClr val="FFFF00"/>
                </a:solidFill>
              </a:rPr>
              <a:t>用</a:t>
            </a:r>
            <a:r>
              <a:rPr lang="zh-CN" altLang="zh-CN" sz="2800" dirty="0">
                <a:solidFill>
                  <a:srgbClr val="FFFF00"/>
                </a:solidFill>
              </a:rPr>
              <a:t>限界函数剪去不能得到最优解的子树。对于限界函数，一般是添加一个全局变量记录当前最优解，在到达节点时计算该节点预期值并与当前最优解比较，若不好，则回溯。</a:t>
            </a:r>
            <a:endParaRPr lang="zh-CN" altLang="en-US" sz="2800" dirty="0">
              <a:solidFill>
                <a:srgbClr val="FFFF00"/>
              </a:solidFill>
            </a:endParaRPr>
          </a:p>
        </p:txBody>
      </p:sp>
      <p:sp>
        <p:nvSpPr>
          <p:cNvPr id="4" name="燕尾形 3"/>
          <p:cNvSpPr/>
          <p:nvPr/>
        </p:nvSpPr>
        <p:spPr bwMode="auto">
          <a:xfrm rot="2490177">
            <a:off x="2637028" y="2513844"/>
            <a:ext cx="755305" cy="430490"/>
          </a:xfrm>
          <a:prstGeom prst="chevron">
            <a:avLst/>
          </a:prstGeom>
          <a:solidFill>
            <a:schemeClr val="accent2">
              <a:lumMod val="60000"/>
              <a:lumOff val="4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3" name="流程图: 终止 2"/>
          <p:cNvSpPr/>
          <p:nvPr/>
        </p:nvSpPr>
        <p:spPr bwMode="auto">
          <a:xfrm>
            <a:off x="971600" y="2060848"/>
            <a:ext cx="1617613" cy="792088"/>
          </a:xfrm>
          <a:prstGeom prst="flowChartTerminator">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5" name="流程图: 终止 4"/>
          <p:cNvSpPr/>
          <p:nvPr/>
        </p:nvSpPr>
        <p:spPr bwMode="auto">
          <a:xfrm>
            <a:off x="684214" y="1989262"/>
            <a:ext cx="1905000" cy="863674"/>
          </a:xfrm>
          <a:prstGeom prst="flowChartTerminator">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9" name="文本框 8"/>
          <p:cNvSpPr txBox="1"/>
          <p:nvPr/>
        </p:nvSpPr>
        <p:spPr>
          <a:xfrm>
            <a:off x="910189" y="2054429"/>
            <a:ext cx="1656184" cy="707886"/>
          </a:xfrm>
          <a:prstGeom prst="rect">
            <a:avLst/>
          </a:prstGeom>
          <a:noFill/>
        </p:spPr>
        <p:txBody>
          <a:bodyPr wrap="square" rtlCol="0">
            <a:spAutoFit/>
          </a:bodyPr>
          <a:lstStyle/>
          <a:p>
            <a:r>
              <a:rPr lang="zh-CN" altLang="en-US" sz="2000" dirty="0" smtClean="0">
                <a:solidFill>
                  <a:srgbClr val="993366"/>
                </a:solidFill>
                <a:latin typeface="方正舒体" panose="02010601030101010101" pitchFamily="2" charset="-122"/>
                <a:ea typeface="方正舒体" panose="02010601030101010101" pitchFamily="2" charset="-122"/>
              </a:rPr>
              <a:t>剪纸函数的两种策略</a:t>
            </a:r>
            <a:r>
              <a:rPr lang="zh-CN" altLang="en-US" sz="2000" dirty="0" smtClean="0">
                <a:latin typeface="方正舒体" panose="02010601030101010101" pitchFamily="2" charset="-122"/>
                <a:ea typeface="方正舒体" panose="02010601030101010101" pitchFamily="2" charset="-122"/>
              </a:rPr>
              <a:t>：</a:t>
            </a:r>
            <a:endParaRPr lang="zh-CN" altLang="en-US" sz="2000" dirty="0">
              <a:latin typeface="方正舒体" panose="02010601030101010101" pitchFamily="2" charset="-122"/>
              <a:ea typeface="方正舒体" panose="02010601030101010101" pitchFamily="2"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6" name="页脚占位符 5"/>
          <p:cNvSpPr>
            <a:spLocks noGrp="1"/>
          </p:cNvSpPr>
          <p:nvPr>
            <p:ph type="ftr" sz="quarter" idx="11"/>
          </p:nvPr>
        </p:nvSpPr>
        <p:spPr/>
        <p:txBody>
          <a:bodyPr/>
          <a:lstStyle/>
          <a:p>
            <a:pPr>
              <a:defRPr/>
            </a:pPr>
            <a:r>
              <a:rPr lang="zh-CN" altLang="en-US"/>
              <a:t>计算机应用技术研究所</a:t>
            </a:r>
          </a:p>
        </p:txBody>
      </p:sp>
      <p:sp>
        <p:nvSpPr>
          <p:cNvPr id="7" name="灯片编号占位符 6"/>
          <p:cNvSpPr>
            <a:spLocks noGrp="1"/>
          </p:cNvSpPr>
          <p:nvPr>
            <p:ph type="sldNum" sz="quarter" idx="12"/>
          </p:nvPr>
        </p:nvSpPr>
        <p:spPr/>
        <p:txBody>
          <a:bodyPr/>
          <a:lstStyle/>
          <a:p>
            <a:pPr>
              <a:defRPr/>
            </a:pPr>
            <a:fld id="{564BD2B9-1AF0-46D3-BB56-A222A13E2AE1}" type="slidenum">
              <a:rPr lang="en-US" altLang="zh-CN"/>
              <a:pPr>
                <a:defRPr/>
              </a:pPr>
              <a:t>78</a:t>
            </a:fld>
            <a:endParaRPr lang="en-US" altLang="zh-CN"/>
          </a:p>
        </p:txBody>
      </p:sp>
      <p:sp>
        <p:nvSpPr>
          <p:cNvPr id="51205" name="Text Box 2"/>
          <p:cNvSpPr txBox="1">
            <a:spLocks noChangeArrowheads="1"/>
          </p:cNvSpPr>
          <p:nvPr/>
        </p:nvSpPr>
        <p:spPr bwMode="auto">
          <a:xfrm>
            <a:off x="1331913" y="858838"/>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400" b="1" dirty="0" smtClean="0">
                <a:solidFill>
                  <a:schemeClr val="bg1"/>
                </a:solidFill>
                <a:latin typeface="宋体" panose="02010600030101010101" pitchFamily="2" charset="-122"/>
                <a:ea typeface="宋体" panose="02010600030101010101" pitchFamily="2" charset="-122"/>
              </a:rPr>
              <a:t>回溯策略的步骤</a:t>
            </a:r>
            <a:endParaRPr lang="zh-CN" altLang="en-US" sz="4400" b="1" dirty="0">
              <a:solidFill>
                <a:schemeClr val="bg1"/>
              </a:solidFill>
              <a:latin typeface="宋体" panose="02010600030101010101" pitchFamily="2" charset="-122"/>
              <a:ea typeface="宋体" panose="02010600030101010101" pitchFamily="2" charset="-122"/>
            </a:endParaRPr>
          </a:p>
        </p:txBody>
      </p:sp>
      <p:pic>
        <p:nvPicPr>
          <p:cNvPr id="5120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59632" y="2204864"/>
            <a:ext cx="6624736" cy="3539430"/>
          </a:xfrm>
          <a:prstGeom prst="rect">
            <a:avLst/>
          </a:prstGeom>
          <a:solidFill>
            <a:srgbClr val="990099"/>
          </a:solidFill>
        </p:spPr>
        <p:txBody>
          <a:bodyPr wrap="square" rtlCol="0">
            <a:spAutoFit/>
          </a:bodyPr>
          <a:lstStyle/>
          <a:p>
            <a:pPr>
              <a:lnSpc>
                <a:spcPct val="200000"/>
              </a:lnSpc>
            </a:pPr>
            <a:r>
              <a:rPr lang="en-US" altLang="zh-CN" sz="2800" dirty="0">
                <a:solidFill>
                  <a:schemeClr val="bg1"/>
                </a:solidFill>
              </a:rPr>
              <a:t>(1)</a:t>
            </a:r>
            <a:r>
              <a:rPr lang="zh-CN" altLang="zh-CN" sz="2800" dirty="0">
                <a:solidFill>
                  <a:schemeClr val="bg1"/>
                </a:solidFill>
              </a:rPr>
              <a:t>定义问题的解空间</a:t>
            </a:r>
            <a:r>
              <a:rPr lang="zh-CN" altLang="zh-CN" sz="2800" dirty="0" smtClean="0">
                <a:solidFill>
                  <a:schemeClr val="bg1"/>
                </a:solidFill>
              </a:rPr>
              <a:t>；</a:t>
            </a:r>
            <a:endParaRPr lang="en-US" altLang="zh-CN" sz="2800" dirty="0" smtClean="0">
              <a:solidFill>
                <a:schemeClr val="bg1"/>
              </a:solidFill>
            </a:endParaRPr>
          </a:p>
          <a:p>
            <a:pPr>
              <a:lnSpc>
                <a:spcPct val="200000"/>
              </a:lnSpc>
            </a:pPr>
            <a:r>
              <a:rPr lang="en-US" altLang="zh-CN" sz="2800" dirty="0" smtClean="0">
                <a:solidFill>
                  <a:schemeClr val="bg1"/>
                </a:solidFill>
              </a:rPr>
              <a:t>(</a:t>
            </a:r>
            <a:r>
              <a:rPr lang="en-US" altLang="zh-CN" sz="2800" dirty="0">
                <a:solidFill>
                  <a:schemeClr val="bg1"/>
                </a:solidFill>
              </a:rPr>
              <a:t>2)</a:t>
            </a:r>
            <a:r>
              <a:rPr lang="zh-CN" altLang="zh-CN" sz="2800" dirty="0">
                <a:solidFill>
                  <a:schemeClr val="bg1"/>
                </a:solidFill>
              </a:rPr>
              <a:t>确定解空间结构</a:t>
            </a:r>
            <a:r>
              <a:rPr lang="zh-CN" altLang="zh-CN" sz="2800" dirty="0" smtClean="0">
                <a:solidFill>
                  <a:schemeClr val="bg1"/>
                </a:solidFill>
              </a:rPr>
              <a:t>；</a:t>
            </a:r>
            <a:endParaRPr lang="en-US" altLang="zh-CN" sz="2800" dirty="0" smtClean="0">
              <a:solidFill>
                <a:schemeClr val="bg1"/>
              </a:solidFill>
            </a:endParaRPr>
          </a:p>
          <a:p>
            <a:pPr>
              <a:lnSpc>
                <a:spcPct val="200000"/>
              </a:lnSpc>
            </a:pPr>
            <a:r>
              <a:rPr lang="en-US" altLang="zh-CN" sz="2800" dirty="0" smtClean="0">
                <a:solidFill>
                  <a:schemeClr val="bg1"/>
                </a:solidFill>
              </a:rPr>
              <a:t>(</a:t>
            </a:r>
            <a:r>
              <a:rPr lang="en-US" altLang="zh-CN" sz="2800" dirty="0">
                <a:solidFill>
                  <a:schemeClr val="bg1"/>
                </a:solidFill>
              </a:rPr>
              <a:t>3)</a:t>
            </a:r>
            <a:r>
              <a:rPr lang="zh-CN" altLang="zh-CN" sz="2800" dirty="0">
                <a:solidFill>
                  <a:schemeClr val="bg1"/>
                </a:solidFill>
              </a:rPr>
              <a:t>以深度优先方式搜索解空间，并在搜索过程中用剪枝函数避免无效搜索。</a:t>
            </a:r>
            <a:endParaRPr lang="zh-CN" altLang="en-US" sz="2800" dirty="0">
              <a:solidFill>
                <a:schemeClr val="bg1"/>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0300A69C-C4D8-4154-B14F-603ED888AF8B}" type="slidenum">
              <a:rPr lang="en-US" altLang="zh-CN"/>
              <a:pPr>
                <a:defRPr/>
              </a:pPr>
              <a:t>79</a:t>
            </a:fld>
            <a:endParaRPr lang="en-US" altLang="zh-CN"/>
          </a:p>
        </p:txBody>
      </p:sp>
      <p:sp>
        <p:nvSpPr>
          <p:cNvPr id="52229" name="Text Box 2"/>
          <p:cNvSpPr txBox="1">
            <a:spLocks noChangeArrowheads="1"/>
          </p:cNvSpPr>
          <p:nvPr/>
        </p:nvSpPr>
        <p:spPr bwMode="auto">
          <a:xfrm>
            <a:off x="1331913" y="858838"/>
            <a:ext cx="608012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400" b="1" dirty="0" smtClean="0">
                <a:solidFill>
                  <a:schemeClr val="bg1"/>
                </a:solidFill>
                <a:latin typeface="宋体" panose="02010600030101010101" pitchFamily="2" charset="-122"/>
                <a:ea typeface="宋体" panose="02010600030101010101" pitchFamily="2" charset="-122"/>
              </a:rPr>
              <a:t>回溯法算法流程</a:t>
            </a:r>
            <a:endParaRPr lang="zh-CN" altLang="en-US" sz="4400" b="1" dirty="0">
              <a:solidFill>
                <a:schemeClr val="bg1"/>
              </a:solidFill>
              <a:latin typeface="宋体" panose="02010600030101010101" pitchFamily="2" charset="-122"/>
              <a:ea typeface="宋体" panose="02010600030101010101" pitchFamily="2" charset="-122"/>
            </a:endParaRPr>
          </a:p>
        </p:txBody>
      </p:sp>
      <p:pic>
        <p:nvPicPr>
          <p:cNvPr id="5223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4"/>
          <a:stretch>
            <a:fillRect/>
          </a:stretch>
        </p:blipFill>
        <p:spPr>
          <a:xfrm>
            <a:off x="1458030" y="2036319"/>
            <a:ext cx="6227939" cy="4065879"/>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p:txBody>
          <a:bodyPr/>
          <a:lstStyle/>
          <a:p>
            <a:pPr>
              <a:defRPr/>
            </a:pPr>
            <a:fld id="{4502278D-E4C1-41AA-BDF5-2AC6CF177C02}" type="slidenum">
              <a:rPr lang="en-US" altLang="zh-CN"/>
              <a:pPr>
                <a:defRPr/>
              </a:pPr>
              <a:t>80</a:t>
            </a:fld>
            <a:endParaRPr lang="en-US" altLang="zh-CN"/>
          </a:p>
        </p:txBody>
      </p:sp>
      <p:sp>
        <p:nvSpPr>
          <p:cNvPr id="53253"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N</a:t>
            </a:r>
            <a:r>
              <a:rPr lang="zh-CN" altLang="en-US" sz="5400" b="1" dirty="0" smtClean="0">
                <a:solidFill>
                  <a:schemeClr val="bg1"/>
                </a:solidFill>
                <a:latin typeface="宋体" panose="02010600030101010101" pitchFamily="2" charset="-122"/>
                <a:ea typeface="宋体" panose="02010600030101010101" pitchFamily="2" charset="-122"/>
              </a:rPr>
              <a:t>皇后问题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5325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416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007603" y="2002446"/>
                <a:ext cx="7128792" cy="1938992"/>
              </a:xfrm>
              <a:prstGeom prst="rect">
                <a:avLst/>
              </a:prstGeom>
              <a:noFill/>
              <a:ln w="25400">
                <a:solidFill>
                  <a:srgbClr val="FFFF00"/>
                </a:solidFill>
              </a:ln>
            </p:spPr>
            <p:txBody>
              <a:bodyPr wrap="square" rtlCol="0">
                <a:spAutoFit/>
              </a:bodyPr>
              <a:lstStyle/>
              <a:p>
                <a:pPr>
                  <a:lnSpc>
                    <a:spcPct val="150000"/>
                  </a:lnSpc>
                </a:pPr>
                <a:r>
                  <a:rPr lang="zh-CN" altLang="zh-CN" sz="2000" b="1" dirty="0" smtClean="0"/>
                  <a:t>【</a:t>
                </a:r>
                <a:r>
                  <a:rPr lang="zh-CN" altLang="zh-CN" sz="2000" dirty="0" smtClean="0"/>
                  <a:t>例</a:t>
                </a:r>
                <a:r>
                  <a:rPr lang="zh-CN" altLang="zh-CN" sz="2000" b="1" dirty="0" smtClean="0"/>
                  <a:t>】</a:t>
                </a:r>
                <a:r>
                  <a:rPr lang="zh-CN" altLang="zh-CN" sz="2000" dirty="0"/>
                  <a:t>在</a:t>
                </a:r>
                <a14:m>
                  <m:oMath xmlns:m="http://schemas.openxmlformats.org/officeDocument/2006/math">
                    <m:r>
                      <a:rPr lang="en-US" altLang="zh-CN" sz="2000" i="1">
                        <a:latin typeface="Cambria Math" panose="02040503050406030204" pitchFamily="18" charset="0"/>
                      </a:rPr>
                      <m:t>𝑛</m:t>
                    </m:r>
                  </m:oMath>
                </a14:m>
                <a:r>
                  <a:rPr lang="en-US" altLang="zh-CN" sz="2000" dirty="0"/>
                  <a:t>×</a:t>
                </a:r>
                <a14:m>
                  <m:oMath xmlns:m="http://schemas.openxmlformats.org/officeDocument/2006/math">
                    <m:r>
                      <a:rPr lang="en-US" altLang="zh-CN" sz="2000" i="1">
                        <a:latin typeface="Cambria Math" panose="02040503050406030204" pitchFamily="18" charset="0"/>
                      </a:rPr>
                      <m:t>𝑛</m:t>
                    </m:r>
                  </m:oMath>
                </a14:m>
                <a:r>
                  <a:rPr lang="zh-CN" altLang="zh-CN" sz="2000" dirty="0"/>
                  <a:t>格的棋盘上放置</a:t>
                </a:r>
                <a14:m>
                  <m:oMath xmlns:m="http://schemas.openxmlformats.org/officeDocument/2006/math">
                    <m:r>
                      <a:rPr lang="en-US" altLang="zh-CN" sz="2000" i="1">
                        <a:latin typeface="Cambria Math" panose="02040503050406030204" pitchFamily="18" charset="0"/>
                      </a:rPr>
                      <m:t>𝑛</m:t>
                    </m:r>
                  </m:oMath>
                </a14:m>
                <a:r>
                  <a:rPr lang="zh-CN" altLang="zh-CN" sz="2000" dirty="0"/>
                  <a:t>个皇后，使其不能互相攻击，即任意两个皇后不能处于同一行、同一列或同一斜线上，问有多少种不同的放置方法。</a:t>
                </a:r>
                <a14:m>
                  <m:oMath xmlns:m="http://schemas.openxmlformats.org/officeDocument/2006/math">
                    <m:r>
                      <a:rPr lang="en-US" altLang="zh-CN" sz="2000" i="1">
                        <a:latin typeface="Cambria Math" panose="02040503050406030204" pitchFamily="18" charset="0"/>
                      </a:rPr>
                      <m:t>𝑛</m:t>
                    </m:r>
                    <m:r>
                      <a:rPr lang="en-US" altLang="zh-CN" sz="2000" i="1">
                        <a:latin typeface="Cambria Math" panose="02040503050406030204" pitchFamily="18" charset="0"/>
                      </a:rPr>
                      <m:t>=8</m:t>
                    </m:r>
                  </m:oMath>
                </a14:m>
                <a:r>
                  <a:rPr lang="zh-CN" altLang="zh-CN" sz="2000" dirty="0"/>
                  <a:t>时，即为著名的八皇后问题，</a:t>
                </a:r>
                <a:r>
                  <a:rPr lang="zh-CN" altLang="zh-CN" sz="2000" dirty="0" smtClean="0"/>
                  <a:t>如</a:t>
                </a:r>
                <a:r>
                  <a:rPr lang="zh-CN" altLang="en-US" sz="2000" dirty="0" smtClean="0"/>
                  <a:t>下图</a:t>
                </a:r>
                <a:r>
                  <a:rPr lang="zh-CN" altLang="zh-CN" sz="2000" dirty="0" smtClean="0"/>
                  <a:t>所示</a:t>
                </a:r>
                <a:r>
                  <a:rPr lang="zh-CN" altLang="en-US" sz="2000" dirty="0" smtClean="0"/>
                  <a:t>。</a:t>
                </a:r>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007603" y="2002446"/>
                <a:ext cx="7128792" cy="1938992"/>
              </a:xfrm>
              <a:prstGeom prst="rect">
                <a:avLst/>
              </a:prstGeom>
              <a:blipFill rotWithShape="0">
                <a:blip r:embed="rId4"/>
                <a:stretch>
                  <a:fillRect l="-681"/>
                </a:stretch>
              </a:blipFill>
              <a:ln w="25400">
                <a:solidFill>
                  <a:srgbClr val="FFFF00"/>
                </a:solidFill>
              </a:ln>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3635896" y="4157429"/>
            <a:ext cx="2219954" cy="2013978"/>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4"/>
          <p:cNvSpPr>
            <a:spLocks noGrp="1"/>
          </p:cNvSpPr>
          <p:nvPr>
            <p:ph type="dt" sz="quarter" idx="10"/>
          </p:nvPr>
        </p:nvSpPr>
        <p:spPr/>
        <p:txBody>
          <a:bodyPr/>
          <a:lstStyle/>
          <a:p>
            <a:pPr>
              <a:defRPr/>
            </a:pPr>
            <a:fld id="{E45A8552-B5E6-42B3-B8FF-704BBF49F65F}" type="datetime1">
              <a:rPr lang="zh-CN" altLang="en-US"/>
              <a:pPr>
                <a:defRPr/>
              </a:pPr>
              <a:t>2020/9/7</a:t>
            </a:fld>
            <a:endParaRPr lang="en-US" altLang="zh-CN"/>
          </a:p>
        </p:txBody>
      </p:sp>
      <p:sp>
        <p:nvSpPr>
          <p:cNvPr id="8" name="页脚占位符 5"/>
          <p:cNvSpPr>
            <a:spLocks noGrp="1"/>
          </p:cNvSpPr>
          <p:nvPr>
            <p:ph type="ftr" sz="quarter" idx="11"/>
          </p:nvPr>
        </p:nvSpPr>
        <p:spPr/>
        <p:txBody>
          <a:bodyPr/>
          <a:lstStyle/>
          <a:p>
            <a:pPr>
              <a:defRPr/>
            </a:pPr>
            <a:r>
              <a:rPr lang="zh-CN" altLang="en-US"/>
              <a:t>计算机应用技术研究所</a:t>
            </a:r>
          </a:p>
        </p:txBody>
      </p:sp>
      <p:sp>
        <p:nvSpPr>
          <p:cNvPr id="9" name="灯片编号占位符 6"/>
          <p:cNvSpPr>
            <a:spLocks noGrp="1"/>
          </p:cNvSpPr>
          <p:nvPr>
            <p:ph type="sldNum" sz="quarter" idx="12"/>
          </p:nvPr>
        </p:nvSpPr>
        <p:spPr/>
        <p:txBody>
          <a:bodyPr/>
          <a:lstStyle/>
          <a:p>
            <a:pPr>
              <a:defRPr/>
            </a:pPr>
            <a:fld id="{B7DE3D2B-F64C-4BB7-96FA-071284CBDCB5}" type="slidenum">
              <a:rPr lang="en-US" altLang="zh-CN"/>
              <a:pPr>
                <a:defRPr/>
              </a:pPr>
              <a:t>81</a:t>
            </a:fld>
            <a:endParaRPr lang="en-US" altLang="zh-CN"/>
          </a:p>
        </p:txBody>
      </p:sp>
      <p:sp>
        <p:nvSpPr>
          <p:cNvPr id="54277" name="Text Box 2"/>
          <p:cNvSpPr txBox="1">
            <a:spLocks noChangeArrowheads="1"/>
          </p:cNvSpPr>
          <p:nvPr/>
        </p:nvSpPr>
        <p:spPr bwMode="auto">
          <a:xfrm>
            <a:off x="1331913" y="858838"/>
            <a:ext cx="60801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问题分析</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5427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tretch>
            <a:fillRect/>
          </a:stretch>
        </p:blipFill>
        <p:spPr>
          <a:xfrm>
            <a:off x="696295" y="2207352"/>
            <a:ext cx="7761905" cy="3771429"/>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en-US" altLang="zh-CN" sz="5400" b="1" dirty="0" smtClean="0">
                <a:solidFill>
                  <a:schemeClr val="bg1"/>
                </a:solidFill>
                <a:latin typeface="宋体" panose="02010600030101010101" pitchFamily="2" charset="-122"/>
                <a:ea typeface="宋体" panose="02010600030101010101" pitchFamily="2" charset="-122"/>
              </a:rPr>
              <a:t>4</a:t>
            </a:r>
            <a:r>
              <a:rPr lang="zh-CN" altLang="en-US" sz="5400" b="1" dirty="0" smtClean="0">
                <a:solidFill>
                  <a:schemeClr val="bg1"/>
                </a:solidFill>
                <a:latin typeface="宋体" panose="02010600030101010101" pitchFamily="2" charset="-122"/>
                <a:ea typeface="宋体" panose="02010600030101010101" pitchFamily="2" charset="-122"/>
              </a:rPr>
              <a:t>皇后问题的解</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5837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67697" y="2204864"/>
            <a:ext cx="6984776" cy="830997"/>
          </a:xfrm>
          <a:prstGeom prst="rect">
            <a:avLst/>
          </a:prstGeom>
          <a:solidFill>
            <a:srgbClr val="993366"/>
          </a:solidFill>
        </p:spPr>
        <p:txBody>
          <a:bodyPr wrap="square" rtlCol="0">
            <a:spAutoFit/>
          </a:bodyPr>
          <a:lstStyle/>
          <a:p>
            <a:r>
              <a:rPr lang="zh-CN" altLang="zh-CN" sz="2400" dirty="0">
                <a:solidFill>
                  <a:srgbClr val="FFFF00"/>
                </a:solidFill>
                <a:latin typeface="华文新魏" panose="02010800040101010101" pitchFamily="2" charset="-122"/>
                <a:ea typeface="华文新魏" panose="02010800040101010101" pitchFamily="2" charset="-122"/>
              </a:rPr>
              <a:t>使用回溯算法搜索其解空间的排列树时过程</a:t>
            </a:r>
            <a:r>
              <a:rPr lang="zh-CN" altLang="zh-CN" sz="2400" dirty="0" smtClean="0">
                <a:solidFill>
                  <a:srgbClr val="FFFF00"/>
                </a:solidFill>
                <a:latin typeface="华文新魏" panose="02010800040101010101" pitchFamily="2" charset="-122"/>
                <a:ea typeface="华文新魏" panose="02010800040101010101" pitchFamily="2" charset="-122"/>
              </a:rPr>
              <a:t>如</a:t>
            </a:r>
            <a:r>
              <a:rPr lang="zh-CN" altLang="en-US" sz="2400" dirty="0" smtClean="0">
                <a:solidFill>
                  <a:srgbClr val="FFFF00"/>
                </a:solidFill>
                <a:latin typeface="华文新魏" panose="02010800040101010101" pitchFamily="2" charset="-122"/>
                <a:ea typeface="华文新魏" panose="02010800040101010101" pitchFamily="2" charset="-122"/>
              </a:rPr>
              <a:t>下图</a:t>
            </a:r>
            <a:r>
              <a:rPr lang="zh-CN" altLang="zh-CN" sz="2400" dirty="0" smtClean="0">
                <a:solidFill>
                  <a:srgbClr val="FFFF00"/>
                </a:solidFill>
                <a:latin typeface="华文新魏" panose="02010800040101010101" pitchFamily="2" charset="-122"/>
                <a:ea typeface="华文新魏" panose="02010800040101010101" pitchFamily="2" charset="-122"/>
              </a:rPr>
              <a:t>所</a:t>
            </a:r>
            <a:r>
              <a:rPr lang="zh-CN" altLang="zh-CN" sz="2400" dirty="0">
                <a:solidFill>
                  <a:srgbClr val="FFFF00"/>
                </a:solidFill>
                <a:latin typeface="华文新魏" panose="02010800040101010101" pitchFamily="2" charset="-122"/>
                <a:ea typeface="华文新魏" panose="02010800040101010101" pitchFamily="2" charset="-122"/>
              </a:rPr>
              <a:t>示，图中</a:t>
            </a:r>
            <a:r>
              <a:rPr lang="en-US" altLang="zh-CN" sz="2400" dirty="0">
                <a:solidFill>
                  <a:srgbClr val="FFFF00"/>
                </a:solidFill>
                <a:latin typeface="华文新魏" panose="02010800040101010101" pitchFamily="2" charset="-122"/>
                <a:ea typeface="华文新魏" panose="02010800040101010101" pitchFamily="2" charset="-122"/>
              </a:rPr>
              <a:t>(</a:t>
            </a:r>
            <a:r>
              <a:rPr lang="en-US" altLang="zh-CN" sz="2400" i="1" dirty="0" err="1">
                <a:solidFill>
                  <a:srgbClr val="FFFF00"/>
                </a:solidFill>
                <a:latin typeface="华文新魏" panose="02010800040101010101" pitchFamily="2" charset="-122"/>
                <a:ea typeface="华文新魏" panose="02010800040101010101" pitchFamily="2" charset="-122"/>
              </a:rPr>
              <a:t>a</a:t>
            </a:r>
            <a:r>
              <a:rPr lang="en-US" altLang="zh-CN" sz="2400" dirty="0" err="1">
                <a:solidFill>
                  <a:srgbClr val="FFFF00"/>
                </a:solidFill>
                <a:latin typeface="华文新魏" panose="02010800040101010101" pitchFamily="2" charset="-122"/>
                <a:ea typeface="华文新魏" panose="02010800040101010101" pitchFamily="2" charset="-122"/>
              </a:rPr>
              <a:t>,</a:t>
            </a:r>
            <a:r>
              <a:rPr lang="en-US" altLang="zh-CN" sz="2400" i="1" dirty="0" err="1">
                <a:solidFill>
                  <a:srgbClr val="FFFF00"/>
                </a:solidFill>
                <a:latin typeface="华文新魏" panose="02010800040101010101" pitchFamily="2" charset="-122"/>
                <a:ea typeface="华文新魏" panose="02010800040101010101" pitchFamily="2" charset="-122"/>
              </a:rPr>
              <a:t>b</a:t>
            </a:r>
            <a:r>
              <a:rPr lang="en-US" altLang="zh-CN" sz="2400" dirty="0">
                <a:solidFill>
                  <a:srgbClr val="FFFF00"/>
                </a:solidFill>
                <a:latin typeface="华文新魏" panose="02010800040101010101" pitchFamily="2" charset="-122"/>
                <a:ea typeface="华文新魏" panose="02010800040101010101" pitchFamily="2" charset="-122"/>
              </a:rPr>
              <a:t>)</a:t>
            </a:r>
            <a:r>
              <a:rPr lang="zh-CN" altLang="zh-CN" sz="2400" dirty="0">
                <a:solidFill>
                  <a:srgbClr val="FFFF00"/>
                </a:solidFill>
                <a:latin typeface="华文新魏" panose="02010800040101010101" pitchFamily="2" charset="-122"/>
                <a:ea typeface="华文新魏" panose="02010800040101010101" pitchFamily="2" charset="-122"/>
              </a:rPr>
              <a:t>表示皇后放置在第</a:t>
            </a:r>
            <a:r>
              <a:rPr lang="en-US" altLang="zh-CN" sz="2400" i="1" dirty="0">
                <a:solidFill>
                  <a:srgbClr val="FFFF00"/>
                </a:solidFill>
                <a:latin typeface="华文新魏" panose="02010800040101010101" pitchFamily="2" charset="-122"/>
                <a:ea typeface="华文新魏" panose="02010800040101010101" pitchFamily="2" charset="-122"/>
              </a:rPr>
              <a:t>a</a:t>
            </a:r>
            <a:r>
              <a:rPr lang="zh-CN" altLang="zh-CN" sz="2400" dirty="0">
                <a:solidFill>
                  <a:srgbClr val="FFFF00"/>
                </a:solidFill>
                <a:latin typeface="华文新魏" panose="02010800040101010101" pitchFamily="2" charset="-122"/>
                <a:ea typeface="华文新魏" panose="02010800040101010101" pitchFamily="2" charset="-122"/>
              </a:rPr>
              <a:t>行第</a:t>
            </a:r>
            <a:r>
              <a:rPr lang="en-US" altLang="zh-CN" sz="2400" i="1" dirty="0">
                <a:solidFill>
                  <a:srgbClr val="FFFF00"/>
                </a:solidFill>
                <a:latin typeface="华文新魏" panose="02010800040101010101" pitchFamily="2" charset="-122"/>
                <a:ea typeface="华文新魏" panose="02010800040101010101" pitchFamily="2" charset="-122"/>
              </a:rPr>
              <a:t>b</a:t>
            </a:r>
            <a:r>
              <a:rPr lang="zh-CN" altLang="zh-CN" sz="2400" dirty="0">
                <a:solidFill>
                  <a:srgbClr val="FFFF00"/>
                </a:solidFill>
                <a:latin typeface="华文新魏" panose="02010800040101010101" pitchFamily="2" charset="-122"/>
                <a:ea typeface="华文新魏" panose="02010800040101010101" pitchFamily="2" charset="-122"/>
              </a:rPr>
              <a:t>列。</a:t>
            </a:r>
            <a:endParaRPr lang="zh-CN" altLang="en-US" sz="2400" dirty="0">
              <a:solidFill>
                <a:srgbClr val="FFFF00"/>
              </a:solidFill>
              <a:latin typeface="华文新魏" panose="02010800040101010101" pitchFamily="2" charset="-122"/>
              <a:ea typeface="华文新魏" panose="02010800040101010101" pitchFamily="2" charset="-122"/>
            </a:endParaRPr>
          </a:p>
        </p:txBody>
      </p:sp>
      <p:pic>
        <p:nvPicPr>
          <p:cNvPr id="4" name="图片 3"/>
          <p:cNvPicPr>
            <a:picLocks noChangeAspect="1"/>
          </p:cNvPicPr>
          <p:nvPr/>
        </p:nvPicPr>
        <p:blipFill>
          <a:blip r:embed="rId4"/>
          <a:stretch>
            <a:fillRect/>
          </a:stretch>
        </p:blipFill>
        <p:spPr>
          <a:xfrm>
            <a:off x="1403648" y="3324612"/>
            <a:ext cx="6750112" cy="269035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smtClean="0">
                <a:solidFill>
                  <a:schemeClr val="bg1"/>
                </a:solidFill>
                <a:latin typeface="宋体" panose="02010600030101010101" pitchFamily="2" charset="-122"/>
                <a:ea typeface="宋体" panose="02010600030101010101" pitchFamily="2" charset="-122"/>
              </a:rPr>
              <a:t>N</a:t>
            </a:r>
            <a:r>
              <a:rPr lang="zh-CN" altLang="en-US" sz="5400" b="1" dirty="0" smtClean="0">
                <a:solidFill>
                  <a:schemeClr val="bg1"/>
                </a:solidFill>
                <a:latin typeface="宋体" panose="02010600030101010101" pitchFamily="2" charset="-122"/>
                <a:ea typeface="宋体" panose="02010600030101010101" pitchFamily="2" charset="-122"/>
              </a:rPr>
              <a:t>皇后问题的解</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6041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331913" y="2072392"/>
                <a:ext cx="6480720" cy="1200329"/>
              </a:xfrm>
              <a:prstGeom prst="rect">
                <a:avLst/>
              </a:prstGeom>
              <a:solidFill>
                <a:schemeClr val="accent3">
                  <a:lumMod val="65000"/>
                </a:schemeClr>
              </a:solidFill>
            </p:spPr>
            <p:txBody>
              <a:bodyPr wrap="square" rtlCol="0">
                <a:spAutoFit/>
              </a:bodyPr>
              <a:lstStyle/>
              <a:p>
                <a:r>
                  <a:rPr lang="zh-CN" altLang="zh-CN" sz="1800" dirty="0" smtClean="0">
                    <a:solidFill>
                      <a:srgbClr val="7030A0"/>
                    </a:solidFill>
                  </a:rPr>
                  <a:t>参照上述求解四皇后问题的思路，在求解</a:t>
                </a:r>
                <a14:m>
                  <m:oMath xmlns:m="http://schemas.openxmlformats.org/officeDocument/2006/math">
                    <m:r>
                      <a:rPr lang="en-US" altLang="zh-CN" sz="1800" i="1">
                        <a:solidFill>
                          <a:srgbClr val="7030A0"/>
                        </a:solidFill>
                        <a:latin typeface="Cambria Math" panose="02040503050406030204" pitchFamily="18" charset="0"/>
                      </a:rPr>
                      <m:t>𝑛</m:t>
                    </m:r>
                  </m:oMath>
                </a14:m>
                <a:r>
                  <a:rPr lang="zh-CN" altLang="zh-CN" sz="1800" dirty="0">
                    <a:solidFill>
                      <a:srgbClr val="7030A0"/>
                    </a:solidFill>
                  </a:rPr>
                  <a:t>皇后问题时，其实就是要解决好怎么放置这</a:t>
                </a:r>
                <a14:m>
                  <m:oMath xmlns:m="http://schemas.openxmlformats.org/officeDocument/2006/math">
                    <m:r>
                      <a:rPr lang="en-US" altLang="zh-CN" sz="1800" i="1">
                        <a:solidFill>
                          <a:srgbClr val="7030A0"/>
                        </a:solidFill>
                        <a:latin typeface="Cambria Math" panose="02040503050406030204" pitchFamily="18" charset="0"/>
                      </a:rPr>
                      <m:t>𝑛</m:t>
                    </m:r>
                  </m:oMath>
                </a14:m>
                <a:r>
                  <a:rPr lang="zh-CN" altLang="zh-CN" sz="1800" dirty="0">
                    <a:solidFill>
                      <a:srgbClr val="7030A0"/>
                    </a:solidFill>
                  </a:rPr>
                  <a:t>个皇后，使得每个皇后与其前面所有皇后不能在同一行、同一列或同一斜线上。</a:t>
                </a:r>
              </a:p>
              <a:p>
                <a:r>
                  <a:rPr lang="zh-CN" altLang="zh-CN" sz="1800" dirty="0" smtClean="0">
                    <a:solidFill>
                      <a:srgbClr val="7030A0"/>
                    </a:solidFill>
                  </a:rPr>
                  <a:t>具体</a:t>
                </a:r>
                <a:r>
                  <a:rPr lang="zh-CN" altLang="zh-CN" sz="1800" dirty="0">
                    <a:solidFill>
                      <a:srgbClr val="7030A0"/>
                    </a:solidFill>
                  </a:rPr>
                  <a:t>步骤如下：</a:t>
                </a:r>
                <a:endParaRPr lang="zh-CN" altLang="en-US" sz="1800" dirty="0">
                  <a:solidFill>
                    <a:srgbClr val="7030A0"/>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331913" y="2072392"/>
                <a:ext cx="6480720" cy="1200329"/>
              </a:xfrm>
              <a:prstGeom prst="rect">
                <a:avLst/>
              </a:prstGeom>
              <a:blipFill rotWithShape="0">
                <a:blip r:embed="rId4"/>
                <a:stretch>
                  <a:fillRect l="-752" t="-4061" b="-7107"/>
                </a:stretch>
              </a:blipFill>
            </p:spPr>
            <p:txBody>
              <a:bodyPr/>
              <a:lstStyle/>
              <a:p>
                <a:r>
                  <a:rPr lang="zh-CN" altLang="en-US">
                    <a:noFill/>
                  </a:rPr>
                  <a:t> </a:t>
                </a:r>
              </a:p>
            </p:txBody>
          </p:sp>
        </mc:Fallback>
      </mc:AlternateContent>
      <p:sp>
        <p:nvSpPr>
          <p:cNvPr id="4" name="图文框 3"/>
          <p:cNvSpPr/>
          <p:nvPr/>
        </p:nvSpPr>
        <p:spPr bwMode="auto">
          <a:xfrm>
            <a:off x="780766" y="3419475"/>
            <a:ext cx="7704856" cy="2808312"/>
          </a:xfrm>
          <a:prstGeom prst="frame">
            <a:avLst>
              <a:gd name="adj1" fmla="val 6664"/>
            </a:avLst>
          </a:prstGeom>
          <a:solidFill>
            <a:schemeClr val="accent5">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5" name="文本框 4"/>
              <p:cNvSpPr txBox="1"/>
              <p:nvPr/>
            </p:nvSpPr>
            <p:spPr>
              <a:xfrm>
                <a:off x="936005" y="3546358"/>
                <a:ext cx="7452419" cy="2554545"/>
              </a:xfrm>
              <a:prstGeom prst="rect">
                <a:avLst/>
              </a:prstGeom>
              <a:noFill/>
            </p:spPr>
            <p:txBody>
              <a:bodyPr wrap="square" rtlCol="0">
                <a:spAutoFit/>
              </a:bodyPr>
              <a:lstStyle/>
              <a:p>
                <a:pPr marL="457200" indent="-457200">
                  <a:buFont typeface="+mj-ea"/>
                  <a:buAutoNum type="circleNumDbPlain"/>
                </a:pPr>
                <a:r>
                  <a:rPr lang="zh-CN" altLang="zh-CN" sz="2000" dirty="0"/>
                  <a:t>在放置第</a:t>
                </a:r>
                <a14:m>
                  <m:oMath xmlns:m="http://schemas.openxmlformats.org/officeDocument/2006/math">
                    <m:r>
                      <a:rPr lang="en-US" altLang="zh-CN" sz="2000" i="1">
                        <a:latin typeface="Cambria Math" panose="02040503050406030204" pitchFamily="18" charset="0"/>
                      </a:rPr>
                      <m:t>𝑖</m:t>
                    </m:r>
                  </m:oMath>
                </a14:m>
                <a:r>
                  <a:rPr lang="zh-CN" altLang="zh-CN" sz="2000" dirty="0"/>
                  <a:t>个皇后的时候，从第</a:t>
                </a:r>
                <a:r>
                  <a:rPr lang="en-US" altLang="zh-CN" sz="2000" dirty="0"/>
                  <a:t>1</a:t>
                </a:r>
                <a:r>
                  <a:rPr lang="zh-CN" altLang="zh-CN" sz="2000" dirty="0"/>
                  <a:t>列开始判断，若可以将其放在第</a:t>
                </a:r>
                <a:r>
                  <a:rPr lang="en-US" altLang="zh-CN" sz="2000" dirty="0"/>
                  <a:t>1</a:t>
                </a:r>
                <a:r>
                  <a:rPr lang="zh-CN" altLang="zh-CN" sz="2000" dirty="0"/>
                  <a:t>个位置，则跳到下一行放置下一个</a:t>
                </a:r>
                <a:r>
                  <a:rPr lang="zh-CN" altLang="zh-CN" sz="2000" dirty="0" smtClean="0"/>
                  <a:t>皇后</a:t>
                </a:r>
                <a:r>
                  <a:rPr lang="zh-CN" altLang="en-US" sz="2000" dirty="0" smtClean="0"/>
                  <a:t>；</a:t>
                </a:r>
                <a:endParaRPr lang="en-US" altLang="zh-CN" sz="2000" dirty="0" smtClean="0"/>
              </a:p>
              <a:p>
                <a:pPr marL="457200" indent="-457200">
                  <a:buFont typeface="+mj-ea"/>
                  <a:buAutoNum type="circleNumDbPlain"/>
                </a:pPr>
                <a:r>
                  <a:rPr lang="zh-CN" altLang="zh-CN" sz="2000" dirty="0" smtClean="0"/>
                  <a:t>否则</a:t>
                </a:r>
                <a:r>
                  <a:rPr lang="zh-CN" altLang="zh-CN" sz="2000" dirty="0"/>
                  <a:t>跳到下一列并判断是否可以放置</a:t>
                </a:r>
                <a:r>
                  <a:rPr lang="zh-CN" altLang="zh-CN" sz="2000" dirty="0" smtClean="0"/>
                  <a:t>皇后</a:t>
                </a:r>
                <a:r>
                  <a:rPr lang="zh-CN" altLang="en-US" sz="2000" dirty="0" smtClean="0"/>
                  <a:t>；</a:t>
                </a:r>
                <a:endParaRPr lang="en-US" altLang="zh-CN" sz="2000" dirty="0" smtClean="0"/>
              </a:p>
              <a:p>
                <a:pPr marL="457200" indent="-457200">
                  <a:buFont typeface="+mj-ea"/>
                  <a:buAutoNum type="circleNumDbPlain"/>
                </a:pPr>
                <a:r>
                  <a:rPr lang="zh-CN" altLang="zh-CN" sz="2000" dirty="0" smtClean="0"/>
                  <a:t>如此</a:t>
                </a:r>
                <a:r>
                  <a:rPr lang="zh-CN" altLang="zh-CN" sz="2000" dirty="0"/>
                  <a:t>下去，直到判断到最后一列，如果最后一列也不能放置，则说明此时放置方法出错，应该</a:t>
                </a:r>
                <a:r>
                  <a:rPr lang="zh-CN" altLang="zh-CN" sz="2000" dirty="0" smtClean="0"/>
                  <a:t>回溯</a:t>
                </a:r>
                <a:r>
                  <a:rPr lang="zh-CN" altLang="en-US" sz="2000" dirty="0" smtClean="0"/>
                  <a:t>；</a:t>
                </a:r>
                <a:endParaRPr lang="en-US" altLang="zh-CN" sz="2000" dirty="0" smtClean="0"/>
              </a:p>
              <a:p>
                <a:pPr marL="457200" indent="-457200">
                  <a:buFont typeface="+mj-ea"/>
                  <a:buAutoNum type="circleNumDbPlain"/>
                </a:pPr>
                <a:r>
                  <a:rPr lang="zh-CN" altLang="zh-CN" sz="2000" dirty="0" smtClean="0"/>
                  <a:t>把</a:t>
                </a:r>
                <a:r>
                  <a:rPr lang="zh-CN" altLang="zh-CN" sz="2000" dirty="0"/>
                  <a:t>上一行皇后的位置往后移动一列，如果上一行皇后移动后也找不到位置，则继续回溯直至某一行找到可以放置皇后的</a:t>
                </a:r>
                <a:r>
                  <a:rPr lang="zh-CN" altLang="zh-CN" sz="2000" dirty="0" smtClean="0"/>
                  <a:t>位置</a:t>
                </a:r>
                <a:r>
                  <a:rPr lang="zh-CN" altLang="en-US" sz="2000" dirty="0" smtClean="0"/>
                  <a:t>。</a:t>
                </a:r>
                <a:endParaRPr lang="zh-CN" altLang="en-US" sz="2000" dirty="0"/>
              </a:p>
            </p:txBody>
          </p:sp>
        </mc:Choice>
        <mc:Fallback xmlns="">
          <p:sp>
            <p:nvSpPr>
              <p:cNvPr id="5" name="文本框 4"/>
              <p:cNvSpPr txBox="1">
                <a:spLocks noRot="1" noChangeAspect="1" noMove="1" noResize="1" noEditPoints="1" noAdjustHandles="1" noChangeArrowheads="1" noChangeShapeType="1" noTextEdit="1"/>
              </p:cNvSpPr>
              <p:nvPr/>
            </p:nvSpPr>
            <p:spPr>
              <a:xfrm>
                <a:off x="936005" y="3546358"/>
                <a:ext cx="7452419" cy="2554545"/>
              </a:xfrm>
              <a:prstGeom prst="rect">
                <a:avLst/>
              </a:prstGeom>
              <a:blipFill rotWithShape="0">
                <a:blip r:embed="rId5"/>
                <a:stretch>
                  <a:fillRect l="-573" t="-1909" r="-818" b="-334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331913" y="692150"/>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en-US" altLang="zh-CN" sz="5400" b="1" dirty="0" smtClean="0">
                <a:solidFill>
                  <a:schemeClr val="bg1"/>
                </a:solidFill>
                <a:latin typeface="宋体" panose="02010600030101010101" pitchFamily="2" charset="-122"/>
                <a:ea typeface="宋体" panose="02010600030101010101" pitchFamily="2" charset="-122"/>
              </a:rPr>
              <a:t>8</a:t>
            </a:r>
            <a:r>
              <a:rPr lang="zh-CN" altLang="en-US" sz="5400" b="1" dirty="0" smtClean="0">
                <a:solidFill>
                  <a:schemeClr val="bg1"/>
                </a:solidFill>
                <a:latin typeface="宋体" panose="02010600030101010101" pitchFamily="2" charset="-122"/>
                <a:ea typeface="宋体" panose="02010600030101010101" pitchFamily="2" charset="-122"/>
              </a:rPr>
              <a:t>皇后问题的解</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6144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tretch>
            <a:fillRect/>
          </a:stretch>
        </p:blipFill>
        <p:spPr>
          <a:xfrm>
            <a:off x="755576" y="1772816"/>
            <a:ext cx="5079214" cy="4406878"/>
          </a:xfrm>
          <a:prstGeom prst="rect">
            <a:avLst/>
          </a:prstGeom>
        </p:spPr>
      </p:pic>
      <p:sp>
        <p:nvSpPr>
          <p:cNvPr id="4" name="线形标注 2 3"/>
          <p:cNvSpPr/>
          <p:nvPr/>
        </p:nvSpPr>
        <p:spPr bwMode="auto">
          <a:xfrm>
            <a:off x="6992057" y="2444988"/>
            <a:ext cx="1684399" cy="1440160"/>
          </a:xfrm>
          <a:prstGeom prst="borderCallout2">
            <a:avLst>
              <a:gd name="adj1" fmla="val 18750"/>
              <a:gd name="adj2" fmla="val 452"/>
              <a:gd name="adj3" fmla="val 18750"/>
              <a:gd name="adj4" fmla="val -16667"/>
              <a:gd name="adj5" fmla="val 115067"/>
              <a:gd name="adj6" fmla="val -69029"/>
            </a:avLst>
          </a:prstGeom>
          <a:solidFill>
            <a:schemeClr val="accent1"/>
          </a:solidFill>
          <a:ln w="25400">
            <a:solidFill>
              <a:srgbClr val="C00000"/>
            </a:solid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5" name="文本框 4"/>
          <p:cNvSpPr txBox="1"/>
          <p:nvPr/>
        </p:nvSpPr>
        <p:spPr>
          <a:xfrm>
            <a:off x="6985161" y="2564903"/>
            <a:ext cx="1800200" cy="1200329"/>
          </a:xfrm>
          <a:prstGeom prst="rect">
            <a:avLst/>
          </a:prstGeom>
          <a:noFill/>
        </p:spPr>
        <p:txBody>
          <a:bodyPr wrap="square" rtlCol="0">
            <a:spAutoFit/>
          </a:bodyPr>
          <a:lstStyle/>
          <a:p>
            <a:r>
              <a:rPr lang="zh-CN" altLang="en-US" sz="1800" dirty="0" smtClean="0">
                <a:solidFill>
                  <a:srgbClr val="FFFF00"/>
                </a:solidFill>
              </a:rPr>
              <a:t>该解的</a:t>
            </a:r>
            <a:r>
              <a:rPr lang="en-US" altLang="zh-CN" sz="1800" dirty="0" smtClean="0">
                <a:solidFill>
                  <a:srgbClr val="FFFF00"/>
                </a:solidFill>
              </a:rPr>
              <a:t>8</a:t>
            </a:r>
            <a:r>
              <a:rPr lang="zh-CN" altLang="en-US" sz="1800" dirty="0" smtClean="0">
                <a:solidFill>
                  <a:srgbClr val="FFFF00"/>
                </a:solidFill>
              </a:rPr>
              <a:t>元组表示：</a:t>
            </a:r>
            <a:endParaRPr lang="en-US" altLang="zh-CN" sz="1800" dirty="0" smtClean="0">
              <a:solidFill>
                <a:srgbClr val="FFFF00"/>
              </a:solidFill>
            </a:endParaRPr>
          </a:p>
          <a:p>
            <a:r>
              <a:rPr lang="zh-CN" altLang="en-US" sz="1800" dirty="0" smtClean="0">
                <a:solidFill>
                  <a:srgbClr val="FFFF00"/>
                </a:solidFill>
              </a:rPr>
              <a:t>（</a:t>
            </a:r>
            <a:r>
              <a:rPr lang="en-US" altLang="zh-CN" sz="1800" dirty="0" smtClean="0">
                <a:solidFill>
                  <a:srgbClr val="FFFF00"/>
                </a:solidFill>
              </a:rPr>
              <a:t>4,6,8,2,7</a:t>
            </a:r>
            <a:r>
              <a:rPr lang="zh-CN" altLang="en-US" sz="1800" dirty="0" smtClean="0">
                <a:solidFill>
                  <a:srgbClr val="FFFF00"/>
                </a:solidFill>
              </a:rPr>
              <a:t>，</a:t>
            </a:r>
            <a:r>
              <a:rPr lang="en-US" altLang="zh-CN" sz="1800" dirty="0" smtClean="0">
                <a:solidFill>
                  <a:srgbClr val="FFFF00"/>
                </a:solidFill>
              </a:rPr>
              <a:t>1,3,5</a:t>
            </a:r>
            <a:r>
              <a:rPr lang="zh-CN" altLang="en-US" sz="1800" dirty="0" smtClean="0">
                <a:solidFill>
                  <a:srgbClr val="FFFF00"/>
                </a:solidFill>
              </a:rPr>
              <a:t>）</a:t>
            </a:r>
            <a:endParaRPr lang="zh-CN" altLang="en-US" sz="1800" dirty="0">
              <a:solidFill>
                <a:srgbClr val="FFFF00"/>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331913" y="560388"/>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总 结</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6246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缺角矩形 1"/>
          <p:cNvSpPr/>
          <p:nvPr/>
        </p:nvSpPr>
        <p:spPr bwMode="auto">
          <a:xfrm>
            <a:off x="1043608" y="1905037"/>
            <a:ext cx="7075306" cy="2172035"/>
          </a:xfrm>
          <a:prstGeom prst="plaque">
            <a:avLst/>
          </a:prstGeom>
          <a:solidFill>
            <a:schemeClr val="accent3">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文本框 2"/>
              <p:cNvSpPr txBox="1"/>
              <p:nvPr/>
            </p:nvSpPr>
            <p:spPr>
              <a:xfrm>
                <a:off x="1475655" y="1972977"/>
                <a:ext cx="6369769" cy="2031325"/>
              </a:xfrm>
              <a:prstGeom prst="rect">
                <a:avLst/>
              </a:prstGeom>
              <a:noFill/>
            </p:spPr>
            <p:txBody>
              <a:bodyPr wrap="square" rtlCol="0">
                <a:spAutoFit/>
              </a:bodyPr>
              <a:lstStyle/>
              <a:p>
                <a:r>
                  <a:rPr lang="zh-CN" altLang="zh-CN" sz="1800" dirty="0"/>
                  <a:t>在使用回溯法求解</a:t>
                </a:r>
                <a14:m>
                  <m:oMath xmlns:m="http://schemas.openxmlformats.org/officeDocument/2006/math">
                    <m:r>
                      <a:rPr lang="en-US" altLang="zh-CN" sz="1800" i="1">
                        <a:latin typeface="Cambria Math" panose="02040503050406030204" pitchFamily="18" charset="0"/>
                      </a:rPr>
                      <m:t>𝑛</m:t>
                    </m:r>
                  </m:oMath>
                </a14:m>
                <a:r>
                  <a:rPr lang="zh-CN" altLang="zh-CN" sz="1800" dirty="0"/>
                  <a:t>皇后问题时，需要定义一个数组</a:t>
                </a:r>
                <a14:m>
                  <m:oMath xmlns:m="http://schemas.openxmlformats.org/officeDocument/2006/math">
                    <m:r>
                      <a:rPr lang="en-US" altLang="zh-CN" sz="1800" i="1">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t>来表示皇后的位置。其中数组元素的下标表示皇后所在的行，数组元素的值表示皇后所在的列。在判断第</a:t>
                </a:r>
                <a14:m>
                  <m:oMath xmlns:m="http://schemas.openxmlformats.org/officeDocument/2006/math">
                    <m:r>
                      <a:rPr lang="en-US" altLang="zh-CN" sz="1800" i="1">
                        <a:latin typeface="Cambria Math" panose="02040503050406030204" pitchFamily="18" charset="0"/>
                      </a:rPr>
                      <m:t>𝑛</m:t>
                    </m:r>
                  </m:oMath>
                </a14:m>
                <a:r>
                  <a:rPr lang="zh-CN" altLang="zh-CN" sz="1800" dirty="0"/>
                  <a:t>行的皇后与前</a:t>
                </a:r>
                <a:r>
                  <a:rPr lang="en-US" altLang="zh-CN" sz="1800" i="1" dirty="0"/>
                  <a:t>n</a:t>
                </a:r>
                <a:r>
                  <a:rPr lang="en-US" altLang="zh-CN" sz="1800" dirty="0"/>
                  <a:t>-1</a:t>
                </a:r>
                <a:r>
                  <a:rPr lang="zh-CN" altLang="zh-CN" sz="1800" dirty="0"/>
                  <a:t>行皇后是否有冲突时，使用如下两个条件：</a:t>
                </a:r>
              </a:p>
              <a:p>
                <a:r>
                  <a:rPr lang="en-US" altLang="zh-CN" sz="1800" i="1" dirty="0"/>
                  <a:t>a</a:t>
                </a:r>
                <a:r>
                  <a:rPr lang="en-US" altLang="zh-CN" sz="1800" dirty="0"/>
                  <a:t>)</a:t>
                </a:r>
                <a14:m>
                  <m:oMath xmlns:m="http://schemas.openxmlformats.org/officeDocument/2006/math">
                    <m:r>
                      <a:rPr lang="en-US" altLang="zh-CN" sz="1800" i="1">
                        <a:latin typeface="Cambria Math" panose="02040503050406030204" pitchFamily="18" charset="0"/>
                      </a:rPr>
                      <m:t> </m:t>
                    </m:r>
                    <m:r>
                      <a:rPr lang="en-US" altLang="zh-CN" sz="1800" i="1">
                        <a:latin typeface="Cambria Math" panose="02040503050406030204" pitchFamily="18" charset="0"/>
                      </a:rPr>
                      <m:t>𝑥</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e>
                    </m:d>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t>，即两皇后处于同一列；</a:t>
                </a:r>
              </a:p>
              <a:p>
                <a:r>
                  <a:rPr lang="en-US" altLang="zh-CN" sz="1800" i="1" dirty="0"/>
                  <a:t>b</a:t>
                </a:r>
                <a:r>
                  <a:rPr lang="en-US" altLang="zh-CN" sz="1800" dirty="0"/>
                  <a:t>) </a:t>
                </a:r>
                <a14:m>
                  <m:oMath xmlns:m="http://schemas.openxmlformats.org/officeDocument/2006/math">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t>，即两皇后处于同一斜线上</a:t>
                </a:r>
                <a14:m>
                  <m:oMath xmlns:m="http://schemas.openxmlformats.org/officeDocument/2006/math">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=0,1,…,</m:t>
                    </m:r>
                    <m:r>
                      <a:rPr lang="en-US" altLang="zh-CN" sz="1800" i="1">
                        <a:latin typeface="Cambria Math" panose="02040503050406030204" pitchFamily="18" charset="0"/>
                      </a:rPr>
                      <m:t>𝑛</m:t>
                    </m:r>
                    <m:r>
                      <a:rPr lang="en-US" altLang="zh-CN" sz="1800" i="1">
                        <a:latin typeface="Cambria Math" panose="02040503050406030204" pitchFamily="18" charset="0"/>
                      </a:rPr>
                      <m:t>−1)</m:t>
                    </m:r>
                  </m:oMath>
                </a14:m>
                <a:r>
                  <a:rPr lang="zh-CN" altLang="zh-CN" sz="1800" dirty="0"/>
                  <a:t>。</a:t>
                </a:r>
                <a:endParaRPr lang="zh-CN" altLang="en-US" sz="18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475655" y="1972977"/>
                <a:ext cx="6369769" cy="2031325"/>
              </a:xfrm>
              <a:prstGeom prst="rect">
                <a:avLst/>
              </a:prstGeom>
              <a:blipFill rotWithShape="0">
                <a:blip r:embed="rId4"/>
                <a:stretch>
                  <a:fillRect l="-766" t="-2402" r="-861" b="-3303"/>
                </a:stretch>
              </a:blipFill>
            </p:spPr>
            <p:txBody>
              <a:bodyPr/>
              <a:lstStyle/>
              <a:p>
                <a:r>
                  <a:rPr lang="zh-CN" altLang="en-US">
                    <a:noFill/>
                  </a:rPr>
                  <a:t> </a:t>
                </a:r>
              </a:p>
            </p:txBody>
          </p:sp>
        </mc:Fallback>
      </mc:AlternateContent>
      <p:sp>
        <p:nvSpPr>
          <p:cNvPr id="5" name="太阳形 4"/>
          <p:cNvSpPr/>
          <p:nvPr/>
        </p:nvSpPr>
        <p:spPr bwMode="auto">
          <a:xfrm>
            <a:off x="2627784" y="4145012"/>
            <a:ext cx="3672408" cy="2103376"/>
          </a:xfrm>
          <a:prstGeom prst="sun">
            <a:avLst>
              <a:gd name="adj" fmla="val 15838"/>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3455876" y="4658443"/>
                <a:ext cx="2016224" cy="1076513"/>
              </a:xfrm>
              <a:prstGeom prst="rect">
                <a:avLst/>
              </a:prstGeom>
              <a:noFill/>
            </p:spPr>
            <p:txBody>
              <a:bodyPr wrap="square" rtlCol="0">
                <a:spAutoFit/>
              </a:bodyPr>
              <a:lstStyle/>
              <a:p>
                <a:r>
                  <a:rPr lang="zh-CN" altLang="zh-CN" sz="1600" dirty="0" smtClean="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算法</a:t>
                </a:r>
                <a:r>
                  <a:rPr lang="zh-CN" altLang="en-US" sz="1600" dirty="0" smtClean="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时间复杂度</a:t>
                </a:r>
                <a:r>
                  <a:rPr lang="zh-CN" altLang="zh-CN" sz="1600" dirty="0" smtClean="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为</a:t>
                </a:r>
                <a:r>
                  <a:rPr lang="zh-CN" altLang="zh-CN" sz="16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a:t>
                </a:r>
                <a14:m>
                  <m:oMath xmlns:m="http://schemas.openxmlformats.org/officeDocument/2006/math">
                    <m:r>
                      <a:rPr lang="en-US" altLang="zh-CN" sz="1600" i="1">
                        <a:solidFill>
                          <a:srgbClr val="C00000"/>
                        </a:solidFill>
                        <a:latin typeface="Cambria Math" panose="02040503050406030204" pitchFamily="18" charset="0"/>
                        <a:cs typeface="Times New Roman" panose="02020603050405020304" pitchFamily="18" charset="0"/>
                      </a:rPr>
                      <m:t>𝑇</m:t>
                    </m:r>
                    <m:d>
                      <m:dPr>
                        <m:ctrlPr>
                          <a:rPr lang="zh-CN" altLang="zh-CN" sz="1600" i="1">
                            <a:solidFill>
                              <a:srgbClr val="C00000"/>
                            </a:solidFill>
                            <a:effectLst/>
                            <a:latin typeface="Cambria Math" panose="02040503050406030204" pitchFamily="18" charset="0"/>
                            <a:ea typeface="Cambria Math" panose="02040503050406030204" pitchFamily="18" charset="0"/>
                          </a:rPr>
                        </m:ctrlPr>
                      </m:dPr>
                      <m:e>
                        <m:r>
                          <a:rPr lang="en-US" altLang="zh-CN" sz="1600" i="1">
                            <a:solidFill>
                              <a:srgbClr val="C00000"/>
                            </a:solidFill>
                            <a:latin typeface="Cambria Math" panose="02040503050406030204" pitchFamily="18" charset="0"/>
                            <a:cs typeface="Times New Roman" panose="02020603050405020304" pitchFamily="18" charset="0"/>
                          </a:rPr>
                          <m:t>𝑛</m:t>
                        </m:r>
                      </m:e>
                    </m:d>
                    <m:r>
                      <a:rPr lang="en-US" altLang="zh-CN" sz="1600" i="1">
                        <a:solidFill>
                          <a:srgbClr val="C00000"/>
                        </a:solidFill>
                        <a:latin typeface="Cambria Math" panose="02040503050406030204" pitchFamily="18" charset="0"/>
                        <a:cs typeface="Times New Roman" panose="02020603050405020304" pitchFamily="18" charset="0"/>
                      </a:rPr>
                      <m:t>=2</m:t>
                    </m:r>
                    <m:sSup>
                      <m:sSupPr>
                        <m:ctrlPr>
                          <a:rPr lang="zh-CN" altLang="zh-CN" sz="1600" i="1">
                            <a:solidFill>
                              <a:srgbClr val="C00000"/>
                            </a:solidFill>
                            <a:effectLst/>
                            <a:latin typeface="Cambria Math" panose="02040503050406030204" pitchFamily="18" charset="0"/>
                            <a:ea typeface="Cambria Math" panose="02040503050406030204" pitchFamily="18" charset="0"/>
                          </a:rPr>
                        </m:ctrlPr>
                      </m:sSupPr>
                      <m:e>
                        <m:r>
                          <a:rPr lang="en-US" altLang="zh-CN" sz="1600" i="1">
                            <a:solidFill>
                              <a:srgbClr val="C00000"/>
                            </a:solidFill>
                            <a:latin typeface="Cambria Math" panose="02040503050406030204" pitchFamily="18" charset="0"/>
                            <a:cs typeface="Times New Roman" panose="02020603050405020304" pitchFamily="18" charset="0"/>
                          </a:rPr>
                          <m:t>𝑛</m:t>
                        </m:r>
                      </m:e>
                      <m:sup>
                        <m:r>
                          <a:rPr lang="en-US" altLang="zh-CN" sz="1600" i="1">
                            <a:solidFill>
                              <a:srgbClr val="C00000"/>
                            </a:solidFill>
                            <a:latin typeface="Cambria Math" panose="02040503050406030204" pitchFamily="18" charset="0"/>
                            <a:cs typeface="Times New Roman" panose="02020603050405020304" pitchFamily="18" charset="0"/>
                          </a:rPr>
                          <m:t>3</m:t>
                        </m:r>
                      </m:sup>
                    </m:sSup>
                    <m:r>
                      <a:rPr lang="en-US" altLang="zh-CN" sz="1600" i="1">
                        <a:solidFill>
                          <a:srgbClr val="C00000"/>
                        </a:solidFill>
                        <a:latin typeface="Cambria Math" panose="02040503050406030204" pitchFamily="18" charset="0"/>
                        <a:cs typeface="Times New Roman" panose="02020603050405020304" pitchFamily="18" charset="0"/>
                      </a:rPr>
                      <m:t>+3</m:t>
                    </m:r>
                    <m:sSup>
                      <m:sSupPr>
                        <m:ctrlPr>
                          <a:rPr lang="zh-CN" altLang="zh-CN" sz="1600" i="1">
                            <a:solidFill>
                              <a:srgbClr val="C00000"/>
                            </a:solidFill>
                            <a:effectLst/>
                            <a:latin typeface="Cambria Math" panose="02040503050406030204" pitchFamily="18" charset="0"/>
                            <a:ea typeface="Cambria Math" panose="02040503050406030204" pitchFamily="18" charset="0"/>
                          </a:rPr>
                        </m:ctrlPr>
                      </m:sSupPr>
                      <m:e>
                        <m:r>
                          <a:rPr lang="en-US" altLang="zh-CN" sz="1600" i="1">
                            <a:solidFill>
                              <a:srgbClr val="C00000"/>
                            </a:solidFill>
                            <a:latin typeface="Cambria Math" panose="02040503050406030204" pitchFamily="18" charset="0"/>
                            <a:cs typeface="Times New Roman" panose="02020603050405020304" pitchFamily="18" charset="0"/>
                          </a:rPr>
                          <m:t>𝑛</m:t>
                        </m:r>
                      </m:e>
                      <m:sup>
                        <m:r>
                          <a:rPr lang="en-US" altLang="zh-CN" sz="1600" i="1">
                            <a:solidFill>
                              <a:srgbClr val="C00000"/>
                            </a:solidFill>
                            <a:latin typeface="Cambria Math" panose="02040503050406030204" pitchFamily="18" charset="0"/>
                            <a:cs typeface="Times New Roman" panose="02020603050405020304" pitchFamily="18" charset="0"/>
                          </a:rPr>
                          <m:t>2</m:t>
                        </m:r>
                      </m:sup>
                    </m:sSup>
                    <m:r>
                      <a:rPr lang="en-US" altLang="zh-CN" sz="1600" i="1">
                        <a:solidFill>
                          <a:srgbClr val="C00000"/>
                        </a:solidFill>
                        <a:latin typeface="Cambria Math" panose="02040503050406030204" pitchFamily="18" charset="0"/>
                        <a:cs typeface="Times New Roman" panose="02020603050405020304" pitchFamily="18" charset="0"/>
                      </a:rPr>
                      <m:t>+2</m:t>
                    </m:r>
                    <m:r>
                      <a:rPr lang="en-US" altLang="zh-CN" sz="1600" i="1">
                        <a:solidFill>
                          <a:srgbClr val="C00000"/>
                        </a:solidFill>
                        <a:latin typeface="Cambria Math" panose="02040503050406030204" pitchFamily="18" charset="0"/>
                        <a:cs typeface="Times New Roman" panose="02020603050405020304" pitchFamily="18" charset="0"/>
                      </a:rPr>
                      <m:t>𝑛</m:t>
                    </m:r>
                    <m:r>
                      <a:rPr lang="en-US" altLang="zh-CN" sz="1600" i="1">
                        <a:solidFill>
                          <a:srgbClr val="C00000"/>
                        </a:solidFill>
                        <a:latin typeface="Cambria Math" panose="02040503050406030204" pitchFamily="18" charset="0"/>
                        <a:cs typeface="Times New Roman" panose="02020603050405020304" pitchFamily="18" charset="0"/>
                      </a:rPr>
                      <m:t>+1</m:t>
                    </m:r>
                  </m:oMath>
                </a14:m>
                <a:r>
                  <a:rPr lang="zh-CN" altLang="zh-CN" sz="16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，故算法时间复杂度为</a:t>
                </a:r>
                <a14:m>
                  <m:oMath xmlns:m="http://schemas.openxmlformats.org/officeDocument/2006/math">
                    <m:r>
                      <a:rPr lang="en-US" altLang="zh-CN" sz="1600" i="1">
                        <a:solidFill>
                          <a:srgbClr val="C00000"/>
                        </a:solidFill>
                        <a:latin typeface="Cambria Math" panose="02040503050406030204" pitchFamily="18" charset="0"/>
                        <a:cs typeface="Times New Roman" panose="02020603050405020304" pitchFamily="18" charset="0"/>
                      </a:rPr>
                      <m:t>𝑂</m:t>
                    </m:r>
                    <m:d>
                      <m:dPr>
                        <m:ctrlPr>
                          <a:rPr lang="zh-CN" altLang="zh-CN" sz="1600" i="1">
                            <a:solidFill>
                              <a:srgbClr val="C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600" i="1">
                                <a:solidFill>
                                  <a:srgbClr val="C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C00000"/>
                                </a:solidFill>
                                <a:latin typeface="Cambria Math" panose="02040503050406030204" pitchFamily="18" charset="0"/>
                                <a:cs typeface="Times New Roman" panose="02020603050405020304" pitchFamily="18" charset="0"/>
                              </a:rPr>
                              <m:t>𝑛</m:t>
                            </m:r>
                          </m:e>
                          <m:sup>
                            <m:r>
                              <a:rPr lang="en-US" altLang="zh-CN" sz="1600" i="1">
                                <a:solidFill>
                                  <a:srgbClr val="C00000"/>
                                </a:solidFill>
                                <a:latin typeface="Cambria Math" panose="02040503050406030204" pitchFamily="18" charset="0"/>
                                <a:cs typeface="Times New Roman" panose="02020603050405020304" pitchFamily="18" charset="0"/>
                              </a:rPr>
                              <m:t>3</m:t>
                            </m:r>
                          </m:sup>
                        </m:sSup>
                      </m:e>
                    </m:d>
                  </m:oMath>
                </a14:m>
                <a:r>
                  <a:rPr lang="zh-CN" altLang="zh-CN" sz="16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a:t>
                </a:r>
                <a:endParaRPr lang="zh-CN" altLang="en-US" sz="1600" dirty="0">
                  <a:solidFill>
                    <a:srgbClr val="C00000"/>
                  </a:solidFill>
                  <a:latin typeface="华文行楷" panose="02010800040101010101" pitchFamily="2" charset="-122"/>
                  <a:ea typeface="华文行楷" panose="02010800040101010101" pitchFamily="2"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3455876" y="4658443"/>
                <a:ext cx="2016224" cy="1076513"/>
              </a:xfrm>
              <a:prstGeom prst="rect">
                <a:avLst/>
              </a:prstGeom>
              <a:blipFill rotWithShape="0">
                <a:blip r:embed="rId5"/>
                <a:stretch>
                  <a:fillRect l="-1813" t="-1695" r="-302" b="-6780"/>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331913" y="549275"/>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动态规划策略</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6349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87624" y="1772816"/>
            <a:ext cx="6802121" cy="1323439"/>
          </a:xfrm>
          <a:prstGeom prst="rect">
            <a:avLst/>
          </a:prstGeom>
          <a:solidFill>
            <a:srgbClr val="92D050"/>
          </a:solidFill>
          <a:ln w="25400">
            <a:solidFill>
              <a:schemeClr val="accent4">
                <a:lumMod val="75000"/>
                <a:lumOff val="25000"/>
              </a:schemeClr>
            </a:solidFill>
          </a:ln>
        </p:spPr>
        <p:txBody>
          <a:bodyPr wrap="square" rtlCol="0">
            <a:spAutoFit/>
          </a:bodyPr>
          <a:lstStyle/>
          <a:p>
            <a:r>
              <a:rPr lang="zh-CN" altLang="zh-CN" sz="1600" dirty="0"/>
              <a:t>当问题的数学模型是递推式时，按理应该使用递归算法求解。但是，递归算法有时存在大量重复计算，使得算法时间复杂度过高。实际上，不同子问题的个数往往只有多项式数量级，若将已经计算过的子问题中间数据和计算结果记录下来，需要某个子问题的解时就直接调用，则可避免大量的重复</a:t>
            </a:r>
            <a:r>
              <a:rPr lang="zh-CN" altLang="zh-CN" sz="1600" dirty="0" smtClean="0"/>
              <a:t>计算</a:t>
            </a:r>
            <a:r>
              <a:rPr lang="zh-CN" altLang="en-US" sz="1600" dirty="0" smtClean="0"/>
              <a:t>。</a:t>
            </a:r>
            <a:endParaRPr lang="zh-CN" altLang="en-US" sz="1600" dirty="0"/>
          </a:p>
        </p:txBody>
      </p:sp>
      <p:sp>
        <p:nvSpPr>
          <p:cNvPr id="3" name="椭圆 2"/>
          <p:cNvSpPr/>
          <p:nvPr/>
        </p:nvSpPr>
        <p:spPr bwMode="auto">
          <a:xfrm>
            <a:off x="1547664" y="3573016"/>
            <a:ext cx="5472608" cy="1800200"/>
          </a:xfrm>
          <a:prstGeom prst="ellipse">
            <a:avLst/>
          </a:prstGeom>
          <a:solidFill>
            <a:schemeClr val="accent2">
              <a:lumMod val="60000"/>
              <a:lumOff val="4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5" name="文本框 4"/>
          <p:cNvSpPr txBox="1"/>
          <p:nvPr/>
        </p:nvSpPr>
        <p:spPr>
          <a:xfrm>
            <a:off x="2231740" y="3811396"/>
            <a:ext cx="4104456" cy="1323439"/>
          </a:xfrm>
          <a:prstGeom prst="rect">
            <a:avLst/>
          </a:prstGeom>
          <a:noFill/>
        </p:spPr>
        <p:txBody>
          <a:bodyPr wrap="square" rtlCol="0">
            <a:spAutoFit/>
          </a:bodyPr>
          <a:lstStyle/>
          <a:p>
            <a:r>
              <a:rPr lang="zh-CN" altLang="zh-CN" sz="2000" dirty="0">
                <a:solidFill>
                  <a:srgbClr val="FF0000"/>
                </a:solidFill>
              </a:rPr>
              <a:t>动态规划</a:t>
            </a:r>
            <a:r>
              <a:rPr lang="zh-CN" altLang="zh-CN" sz="2000" dirty="0"/>
              <a:t>是通过拆分问题，定义问题状态和状态之间的关系，使得问题能够以</a:t>
            </a:r>
            <a:r>
              <a:rPr lang="zh-CN" altLang="zh-CN" sz="2000" dirty="0">
                <a:solidFill>
                  <a:srgbClr val="FFFF00"/>
                </a:solidFill>
              </a:rPr>
              <a:t>递推</a:t>
            </a:r>
            <a:r>
              <a:rPr lang="zh-CN" altLang="zh-CN" sz="2000" dirty="0"/>
              <a:t>（或者说</a:t>
            </a:r>
            <a:r>
              <a:rPr lang="zh-CN" altLang="zh-CN" sz="2000" dirty="0">
                <a:solidFill>
                  <a:srgbClr val="FFFF00"/>
                </a:solidFill>
              </a:rPr>
              <a:t>分治</a:t>
            </a:r>
            <a:r>
              <a:rPr lang="zh-CN" altLang="zh-CN" sz="2000" dirty="0"/>
              <a:t>）的方式去解决。</a:t>
            </a:r>
            <a:endParaRPr lang="zh-CN" altLang="en-US" sz="2000" dirty="0"/>
          </a:p>
        </p:txBody>
      </p:sp>
      <p:sp>
        <p:nvSpPr>
          <p:cNvPr id="6" name="左弧形箭头 5"/>
          <p:cNvSpPr/>
          <p:nvPr/>
        </p:nvSpPr>
        <p:spPr bwMode="auto">
          <a:xfrm>
            <a:off x="971872" y="3110571"/>
            <a:ext cx="503783" cy="1440160"/>
          </a:xfrm>
          <a:prstGeom prst="curvedRightArrow">
            <a:avLst>
              <a:gd name="adj1" fmla="val 44477"/>
              <a:gd name="adj2" fmla="val 76567"/>
              <a:gd name="adj3" fmla="val 27396"/>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7" name="云形标注 6"/>
          <p:cNvSpPr/>
          <p:nvPr/>
        </p:nvSpPr>
        <p:spPr bwMode="auto">
          <a:xfrm flipV="1">
            <a:off x="6228184" y="5323575"/>
            <a:ext cx="2304256" cy="980816"/>
          </a:xfrm>
          <a:prstGeom prst="cloudCallout">
            <a:avLst>
              <a:gd name="adj1" fmla="val -42406"/>
              <a:gd name="adj2" fmla="val 73958"/>
            </a:avLst>
          </a:prstGeom>
          <a:solidFill>
            <a:srgbClr val="FFC000"/>
          </a:solidFill>
          <a:ln>
            <a:solidFill>
              <a:schemeClr val="accent4">
                <a:lumMod val="75000"/>
                <a:lumOff val="25000"/>
              </a:schemeClr>
            </a:solid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8" name="文本框 7"/>
          <p:cNvSpPr txBox="1"/>
          <p:nvPr/>
        </p:nvSpPr>
        <p:spPr>
          <a:xfrm>
            <a:off x="6588224" y="5469471"/>
            <a:ext cx="1656184" cy="738664"/>
          </a:xfrm>
          <a:prstGeom prst="rect">
            <a:avLst/>
          </a:prstGeom>
          <a:noFill/>
        </p:spPr>
        <p:txBody>
          <a:bodyPr wrap="square" rtlCol="0">
            <a:spAutoFit/>
          </a:bodyPr>
          <a:lstStyle/>
          <a:p>
            <a:r>
              <a:rPr lang="zh-CN" altLang="en-US" sz="1400" dirty="0" smtClean="0">
                <a:latin typeface="方正舒体" panose="02010601030101010101" pitchFamily="2" charset="-122"/>
                <a:ea typeface="方正舒体" panose="02010601030101010101" pitchFamily="2" charset="-122"/>
              </a:rPr>
              <a:t>可</a:t>
            </a:r>
            <a:r>
              <a:rPr lang="zh-CN" altLang="zh-CN" sz="1400" dirty="0" smtClean="0">
                <a:latin typeface="方正舒体" panose="02010601030101010101" pitchFamily="2" charset="-122"/>
                <a:ea typeface="方正舒体" panose="02010601030101010101" pitchFamily="2" charset="-122"/>
              </a:rPr>
              <a:t>以</a:t>
            </a:r>
            <a:r>
              <a:rPr lang="zh-CN" altLang="zh-CN" sz="1400" dirty="0">
                <a:latin typeface="方正舒体" panose="02010601030101010101" pitchFamily="2" charset="-122"/>
                <a:ea typeface="方正舒体" panose="02010601030101010101" pitchFamily="2" charset="-122"/>
              </a:rPr>
              <a:t>看出，动态规划采用的是以空间换取时间的策略</a:t>
            </a:r>
            <a:endParaRPr lang="zh-CN" altLang="en-US" sz="1400" dirty="0">
              <a:latin typeface="方正舒体" panose="02010601030101010101" pitchFamily="2" charset="-122"/>
              <a:ea typeface="方正舒体" panose="02010601030101010101" pitchFamily="2"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1331913" y="704850"/>
            <a:ext cx="6272212"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smtClean="0">
                <a:solidFill>
                  <a:schemeClr val="bg1"/>
                </a:solidFill>
                <a:latin typeface="宋体" panose="02010600030101010101" pitchFamily="2" charset="-122"/>
                <a:ea typeface="宋体" panose="02010600030101010101" pitchFamily="2" charset="-122"/>
              </a:rPr>
              <a:t>动态规划的有效性</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6861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71600" y="2276872"/>
            <a:ext cx="7272808" cy="3170099"/>
          </a:xfrm>
          <a:prstGeom prst="rect">
            <a:avLst/>
          </a:prstGeom>
          <a:gradFill flip="none" rotWithShape="1">
            <a:gsLst>
              <a:gs pos="0">
                <a:srgbClr val="92D050"/>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p:spPr>
        <p:txBody>
          <a:bodyPr wrap="square" rtlCol="0">
            <a:spAutoFit/>
          </a:bodyPr>
          <a:lstStyle/>
          <a:p>
            <a:r>
              <a:rPr lang="zh-CN" altLang="zh-CN" sz="2000" dirty="0"/>
              <a:t>动态规划法的有效性依赖于求解问题的两个重要</a:t>
            </a:r>
            <a:r>
              <a:rPr lang="zh-CN" altLang="zh-CN" sz="2000" dirty="0" smtClean="0"/>
              <a:t>性质</a:t>
            </a:r>
            <a:r>
              <a:rPr lang="zh-CN" altLang="en-US" sz="2000" dirty="0" smtClean="0"/>
              <a:t>：</a:t>
            </a:r>
            <a:endParaRPr lang="en-US" altLang="zh-CN" sz="2000" dirty="0" smtClean="0"/>
          </a:p>
          <a:p>
            <a:endParaRPr lang="zh-CN" altLang="zh-CN" sz="2000" dirty="0"/>
          </a:p>
          <a:p>
            <a:pPr marL="180000" lvl="0" indent="-180000">
              <a:buFont typeface="+mj-lt"/>
              <a:buAutoNum type="arabicPeriod"/>
            </a:pPr>
            <a:r>
              <a:rPr lang="zh-CN" altLang="zh-CN" sz="2000" b="1" dirty="0"/>
              <a:t>最优子结构性质</a:t>
            </a:r>
            <a:r>
              <a:rPr lang="en-US" altLang="zh-CN" sz="2000" dirty="0"/>
              <a:t>  </a:t>
            </a:r>
            <a:r>
              <a:rPr lang="zh-CN" altLang="zh-CN" sz="2000" dirty="0"/>
              <a:t>如果问题最优解所包含子问题的解也是最优的，则称该问题具有最优子结构性质。最优子结构性质是动态规划求解问题的必要条件</a:t>
            </a:r>
            <a:r>
              <a:rPr lang="zh-CN" altLang="zh-CN" sz="2000" dirty="0" smtClean="0"/>
              <a:t>。</a:t>
            </a:r>
            <a:endParaRPr lang="en-US" altLang="zh-CN" sz="2000" dirty="0" smtClean="0"/>
          </a:p>
          <a:p>
            <a:pPr lvl="0"/>
            <a:endParaRPr lang="zh-CN" altLang="zh-CN" sz="2000" dirty="0"/>
          </a:p>
          <a:p>
            <a:pPr marL="180000" indent="-180000">
              <a:buFont typeface="+mj-lt"/>
              <a:buAutoNum type="arabicPeriod" startAt="2"/>
            </a:pPr>
            <a:r>
              <a:rPr lang="zh-CN" altLang="zh-CN" sz="2000" b="1" dirty="0"/>
              <a:t>子问题重叠性质</a:t>
            </a:r>
            <a:r>
              <a:rPr lang="en-US" altLang="zh-CN" sz="2000" dirty="0"/>
              <a:t>  </a:t>
            </a:r>
            <a:r>
              <a:rPr lang="zh-CN" altLang="zh-CN" sz="2000" dirty="0"/>
              <a:t>子问题重叠性质是指在用递归算法由自顶向下的方式对问题求解时，每次产生的子问题并不总是新问题，有些子问题会被重复计算多次。当再次需要计算已经计算过的子问题时，无需再次计算，只需查表即可。</a:t>
            </a:r>
            <a:endParaRPr lang="zh-CN" altLang="en-US" sz="2000" dirty="0"/>
          </a:p>
        </p:txBody>
      </p:sp>
    </p:spTree>
    <p:extLst>
      <p:ext uri="{BB962C8B-B14F-4D97-AF65-F5344CB8AC3E}">
        <p14:creationId xmlns:p14="http://schemas.microsoft.com/office/powerpoint/2010/main" val="422591587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331913" y="549275"/>
            <a:ext cx="62722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4000" b="1" dirty="0" smtClean="0">
                <a:solidFill>
                  <a:schemeClr val="bg1"/>
                </a:solidFill>
                <a:latin typeface="宋体" panose="02010600030101010101" pitchFamily="2" charset="-122"/>
                <a:ea typeface="宋体" panose="02010600030101010101" pitchFamily="2" charset="-122"/>
              </a:rPr>
              <a:t>动态规划的求解步骤</a:t>
            </a:r>
            <a:endParaRPr lang="zh-CN" altLang="en-US" sz="4000" b="1" dirty="0">
              <a:solidFill>
                <a:schemeClr val="bg1"/>
              </a:solidFill>
              <a:latin typeface="宋体" panose="02010600030101010101" pitchFamily="2" charset="-122"/>
              <a:ea typeface="宋体" panose="02010600030101010101" pitchFamily="2" charset="-122"/>
            </a:endParaRPr>
          </a:p>
        </p:txBody>
      </p:sp>
      <p:pic>
        <p:nvPicPr>
          <p:cNvPr id="6963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流程图: 资料带 1"/>
          <p:cNvSpPr/>
          <p:nvPr/>
        </p:nvSpPr>
        <p:spPr bwMode="auto">
          <a:xfrm>
            <a:off x="1115616" y="1700808"/>
            <a:ext cx="6912768" cy="3816424"/>
          </a:xfrm>
          <a:prstGeom prst="flowChartPunchedTape">
            <a:avLst/>
          </a:prstGeom>
          <a:gradFill>
            <a:gsLst>
              <a:gs pos="0">
                <a:srgbClr val="FFCCFF"/>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3" name="文本框 2"/>
          <p:cNvSpPr txBox="1"/>
          <p:nvPr/>
        </p:nvSpPr>
        <p:spPr>
          <a:xfrm>
            <a:off x="1212593" y="2578894"/>
            <a:ext cx="6785285" cy="2246769"/>
          </a:xfrm>
          <a:prstGeom prst="rect">
            <a:avLst/>
          </a:prstGeom>
          <a:noFill/>
        </p:spPr>
        <p:txBody>
          <a:bodyPr wrap="square" rtlCol="0">
            <a:spAutoFit/>
          </a:bodyPr>
          <a:lstStyle/>
          <a:p>
            <a:pPr marL="457200" indent="-457200">
              <a:buFont typeface="+mj-lt"/>
              <a:buAutoNum type="alphaLcParenR"/>
            </a:pPr>
            <a:r>
              <a:rPr lang="zh-CN" altLang="zh-CN" sz="2000" dirty="0">
                <a:latin typeface="华文琥珀" panose="02010800040101010101" pitchFamily="2" charset="-122"/>
                <a:ea typeface="华文琥珀" panose="02010800040101010101" pitchFamily="2" charset="-122"/>
              </a:rPr>
              <a:t>把所有最优化问题分成若干个阶段，找出最优解的性质，并刻画其结构特性。</a:t>
            </a:r>
          </a:p>
          <a:p>
            <a:pPr marL="457200" indent="-457200">
              <a:buFont typeface="+mj-lt"/>
              <a:buAutoNum type="alphaLcParenR"/>
            </a:pPr>
            <a:r>
              <a:rPr lang="zh-CN" altLang="zh-CN" sz="2000" dirty="0" smtClean="0">
                <a:latin typeface="华文琥珀" panose="02010800040101010101" pitchFamily="2" charset="-122"/>
                <a:ea typeface="华文琥珀" panose="02010800040101010101" pitchFamily="2" charset="-122"/>
              </a:rPr>
              <a:t>将</a:t>
            </a:r>
            <a:r>
              <a:rPr lang="zh-CN" altLang="zh-CN" sz="2000" dirty="0">
                <a:latin typeface="华文琥珀" panose="02010800040101010101" pitchFamily="2" charset="-122"/>
                <a:ea typeface="华文琥珀" panose="02010800040101010101" pitchFamily="2" charset="-122"/>
              </a:rPr>
              <a:t>问题发展到各个阶段时所处的不同状态表示出来，确定各个阶段状态之间的递推（或递归）关系，并确定初始（边界）条件</a:t>
            </a:r>
            <a:r>
              <a:rPr lang="zh-CN" altLang="zh-CN" sz="2000" dirty="0" smtClean="0">
                <a:latin typeface="华文琥珀" panose="02010800040101010101" pitchFamily="2" charset="-122"/>
                <a:ea typeface="华文琥珀" panose="02010800040101010101" pitchFamily="2" charset="-122"/>
              </a:rPr>
              <a:t>。</a:t>
            </a:r>
            <a:endParaRPr lang="en-US" altLang="zh-CN" sz="2000" dirty="0" smtClean="0">
              <a:latin typeface="华文琥珀" panose="02010800040101010101" pitchFamily="2" charset="-122"/>
              <a:ea typeface="华文琥珀" panose="02010800040101010101" pitchFamily="2" charset="-122"/>
            </a:endParaRPr>
          </a:p>
          <a:p>
            <a:pPr marL="457200" indent="-457200">
              <a:buFont typeface="+mj-lt"/>
              <a:buAutoNum type="alphaLcParenR"/>
            </a:pPr>
            <a:r>
              <a:rPr lang="zh-CN" altLang="zh-CN" sz="2000" dirty="0">
                <a:latin typeface="华文琥珀" panose="02010800040101010101" pitchFamily="2" charset="-122"/>
                <a:ea typeface="华文琥珀" panose="02010800040101010101" pitchFamily="2" charset="-122"/>
              </a:rPr>
              <a:t>应用递推（或递归）关系求解最优值。</a:t>
            </a:r>
          </a:p>
          <a:p>
            <a:pPr marL="457200" indent="-457200">
              <a:buFont typeface="+mj-lt"/>
              <a:buAutoNum type="alphaLcParenR"/>
            </a:pPr>
            <a:r>
              <a:rPr lang="zh-CN" altLang="zh-CN" sz="2000" dirty="0" smtClean="0">
                <a:latin typeface="华文琥珀" panose="02010800040101010101" pitchFamily="2" charset="-122"/>
                <a:ea typeface="华文琥珀" panose="02010800040101010101" pitchFamily="2" charset="-122"/>
              </a:rPr>
              <a:t>根据</a:t>
            </a:r>
            <a:r>
              <a:rPr lang="zh-CN" altLang="zh-CN" sz="2000" dirty="0">
                <a:latin typeface="华文琥珀" panose="02010800040101010101" pitchFamily="2" charset="-122"/>
                <a:ea typeface="华文琥珀" panose="02010800040101010101" pitchFamily="2" charset="-122"/>
              </a:rPr>
              <a:t>计算最优值时得到的信息，构造最优解。</a:t>
            </a:r>
            <a:endParaRPr lang="zh-CN" altLang="en-US" sz="2000" dirty="0">
              <a:latin typeface="华文琥珀" panose="02010800040101010101" pitchFamily="2" charset="-122"/>
              <a:ea typeface="华文琥珀" panose="02010800040101010101" pitchFamily="2" charset="-122"/>
            </a:endParaRPr>
          </a:p>
        </p:txBody>
      </p:sp>
    </p:spTree>
    <p:extLst>
      <p:ext uri="{BB962C8B-B14F-4D97-AF65-F5344CB8AC3E}">
        <p14:creationId xmlns:p14="http://schemas.microsoft.com/office/powerpoint/2010/main" val="394337300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1331913" y="549275"/>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7065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59632" y="1772816"/>
            <a:ext cx="6912768" cy="1754326"/>
          </a:xfrm>
          <a:prstGeom prst="rect">
            <a:avLst/>
          </a:prstGeom>
          <a:noFill/>
        </p:spPr>
        <p:txBody>
          <a:bodyPr wrap="square" rtlCol="0">
            <a:spAutoFit/>
          </a:bodyPr>
          <a:lstStyle/>
          <a:p>
            <a:r>
              <a:rPr lang="zh-CN" altLang="zh-CN" sz="1800" dirty="0" smtClean="0"/>
              <a:t>【例】</a:t>
            </a:r>
            <a:r>
              <a:rPr lang="zh-CN" altLang="zh-CN" sz="1800" dirty="0"/>
              <a:t>一些硬币随机散步在</a:t>
            </a:r>
            <a:r>
              <a:rPr lang="en-US" altLang="zh-CN" sz="1800" i="1" dirty="0"/>
              <a:t>n</a:t>
            </a:r>
            <a:r>
              <a:rPr lang="zh-CN" altLang="zh-CN" sz="1800" dirty="0"/>
              <a:t>×</a:t>
            </a:r>
            <a:r>
              <a:rPr lang="en-US" altLang="zh-CN" sz="1800" i="1" dirty="0"/>
              <a:t>m</a:t>
            </a:r>
            <a:r>
              <a:rPr lang="zh-CN" altLang="zh-CN" sz="1800" dirty="0"/>
              <a:t>的方格板上，一枚硬币占据一个方格，在板上左上角的方格里有一个机器人，它将尽可能多地收集硬币并把这些硬币带到最右下角的方格里，机器人向右或向下移动一格算作一步。每当机器人移动到一个方格就会收集该方格里的硬币。设计一个算法计算机器人所能收集硬币的最大数目以及相应的收集路径。</a:t>
            </a:r>
            <a:endParaRPr lang="zh-CN" altLang="en-US" sz="1800" dirty="0"/>
          </a:p>
        </p:txBody>
      </p:sp>
      <mc:AlternateContent xmlns:mc="http://schemas.openxmlformats.org/markup-compatibility/2006" xmlns:a14="http://schemas.microsoft.com/office/drawing/2010/main">
        <mc:Choice Requires="a14">
          <p:sp>
            <p:nvSpPr>
              <p:cNvPr id="3" name="文本框 2"/>
              <p:cNvSpPr txBox="1"/>
              <p:nvPr/>
            </p:nvSpPr>
            <p:spPr>
              <a:xfrm>
                <a:off x="1043608" y="3645024"/>
                <a:ext cx="4824536" cy="2354875"/>
              </a:xfrm>
              <a:prstGeom prst="rect">
                <a:avLst/>
              </a:prstGeom>
              <a:noFill/>
              <a:ln w="25400">
                <a:solidFill>
                  <a:schemeClr val="accent2">
                    <a:lumMod val="60000"/>
                    <a:lumOff val="40000"/>
                  </a:schemeClr>
                </a:solidFill>
              </a:ln>
            </p:spPr>
            <p:txBody>
              <a:bodyPr wrap="square" rtlCol="0">
                <a:spAutoFit/>
              </a:bodyPr>
              <a:lstStyle/>
              <a:p>
                <a:r>
                  <a:rPr lang="zh-CN" altLang="zh-CN" sz="1600" dirty="0"/>
                  <a:t>【解】假设</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zh-CN" altLang="zh-CN" sz="1600" dirty="0"/>
                  <a:t>是机器人到达方格板第</a:t>
                </a:r>
                <a:r>
                  <a:rPr lang="en-US" altLang="zh-CN" sz="1600" i="1" dirty="0" err="1"/>
                  <a:t>i</a:t>
                </a:r>
                <a:r>
                  <a:rPr lang="zh-CN" altLang="zh-CN" sz="1600" dirty="0"/>
                  <a:t>行第</a:t>
                </a:r>
                <a:r>
                  <a:rPr lang="en-US" altLang="zh-CN" sz="1600" i="1" dirty="0"/>
                  <a:t>j</a:t>
                </a:r>
                <a:r>
                  <a:rPr lang="zh-CN" altLang="zh-CN" sz="1600" dirty="0"/>
                  <a:t>列的方格</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zh-CN" altLang="zh-CN" sz="1600" dirty="0"/>
                  <a:t>时所能收集到硬币的最大数目。机器人要么是从上方的方格</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−1,</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zh-CN" altLang="zh-CN" sz="1600" dirty="0"/>
                  <a:t>，要么是从左侧的方格</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−1)</m:t>
                    </m:r>
                  </m:oMath>
                </a14:m>
                <a:r>
                  <a:rPr lang="zh-CN" altLang="zh-CN" sz="1600" dirty="0"/>
                  <a:t>到达这一点，这些棋格上所能收集到的最大硬币数目分别设为</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−1,</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en-US" altLang="zh-CN" sz="1600" i="1" dirty="0"/>
                  <a:t> </a:t>
                </a:r>
                <a:r>
                  <a:rPr lang="zh-CN" altLang="zh-CN" sz="1600" dirty="0"/>
                  <a:t>和</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−1]</m:t>
                    </m:r>
                  </m:oMath>
                </a14:m>
                <a:endParaRPr lang="en-US" altLang="zh-CN" sz="1600" dirty="0" smtClean="0"/>
              </a:p>
              <a:p>
                <a:r>
                  <a:rPr lang="zh-CN" altLang="zh-CN" sz="1600" dirty="0"/>
                  <a:t>我们可以用以下公式计算</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zh-CN" altLang="zh-CN" sz="1600" dirty="0"/>
                  <a:t>：</a:t>
                </a:r>
                <a14:m>
                  <m:oMath xmlns:m="http://schemas.openxmlformats.org/officeDocument/2006/math">
                    <m:r>
                      <a:rPr lang="en-US" altLang="zh-CN" sz="1600" i="1">
                        <a:latin typeface="Cambria Math" panose="02040503050406030204" pitchFamily="18" charset="0"/>
                      </a:rPr>
                      <m:t>𝐶</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e>
                    </m:d>
                    <m:r>
                      <a:rPr lang="en-US" altLang="zh-CN" sz="1600" i="1">
                        <a:latin typeface="Cambria Math" panose="02040503050406030204" pitchFamily="18" charset="0"/>
                      </a:rPr>
                      <m:t>=</m:t>
                    </m:r>
                    <m:r>
                      <a:rPr lang="en-US" altLang="zh-CN" sz="1600" i="1">
                        <a:latin typeface="Cambria Math" panose="02040503050406030204" pitchFamily="18" charset="0"/>
                      </a:rPr>
                      <m:t>𝑚𝑎𝑥</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𝐶</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𝑖</m:t>
                            </m:r>
                            <m:r>
                              <a:rPr lang="en-US" altLang="zh-CN" sz="1600" i="1">
                                <a:latin typeface="Cambria Math" panose="02040503050406030204" pitchFamily="18" charset="0"/>
                              </a:rPr>
                              <m:t>−1,</m:t>
                            </m:r>
                            <m:r>
                              <a:rPr lang="en-US" altLang="zh-CN" sz="1600" i="1">
                                <a:latin typeface="Cambria Math" panose="02040503050406030204" pitchFamily="18" charset="0"/>
                              </a:rPr>
                              <m:t>𝑗</m:t>
                            </m:r>
                          </m:e>
                        </m:d>
                        <m:r>
                          <a:rPr lang="zh-CN" altLang="zh-CN" sz="1600" i="1">
                            <a:latin typeface="Cambria Math" panose="02040503050406030204" pitchFamily="18" charset="0"/>
                          </a:rPr>
                          <m:t>，</m:t>
                        </m:r>
                        <m:r>
                          <a:rPr lang="en-US" altLang="zh-CN" sz="1600" i="1">
                            <a:latin typeface="Cambria Math" panose="02040503050406030204" pitchFamily="18" charset="0"/>
                          </a:rPr>
                          <m:t>𝐶</m:t>
                        </m:r>
                        <m:d>
                          <m:dPr>
                            <m:begChr m:val="["/>
                            <m:endChr m:val="]"/>
                            <m:ctrlPr>
                              <a:rPr lang="zh-CN" altLang="zh-CN" sz="1600" i="1">
                                <a:latin typeface="Cambria Math" panose="02040503050406030204" pitchFamily="18" charset="0"/>
                              </a:rPr>
                            </m:ctrlPr>
                          </m:dPr>
                          <m:e>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−1</m:t>
                            </m:r>
                          </m:e>
                        </m:d>
                      </m:e>
                    </m:d>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𝑐</m:t>
                        </m:r>
                      </m:e>
                      <m:sub>
                        <m:r>
                          <a:rPr lang="en-US" altLang="zh-CN" sz="1600" i="1">
                            <a:latin typeface="Cambria Math" panose="02040503050406030204" pitchFamily="18" charset="0"/>
                          </a:rPr>
                          <m:t>𝑖𝑗</m:t>
                        </m:r>
                      </m:sub>
                    </m:sSub>
                    <m:r>
                      <a:rPr lang="zh-CN" altLang="zh-CN" sz="1600" baseline="-25000">
                        <a:latin typeface="Cambria Math" panose="02040503050406030204" pitchFamily="18" charset="0"/>
                      </a:rPr>
                      <m:t>，</m:t>
                    </m:r>
                    <m:r>
                      <a:rPr lang="en-US" altLang="zh-CN" sz="1600" i="1" baseline="-25000">
                        <a:latin typeface="Cambria Math" panose="02040503050406030204" pitchFamily="18" charset="0"/>
                      </a:rPr>
                      <m:t>1≤</m:t>
                    </m:r>
                    <m:r>
                      <a:rPr lang="en-US" altLang="zh-CN" sz="1600" i="1" baseline="-25000">
                        <a:latin typeface="Cambria Math" panose="02040503050406030204" pitchFamily="18" charset="0"/>
                      </a:rPr>
                      <m:t>𝑖</m:t>
                    </m:r>
                    <m:r>
                      <a:rPr lang="en-US" altLang="zh-CN" sz="1600" i="1" baseline="-25000">
                        <a:latin typeface="Cambria Math" panose="02040503050406030204" pitchFamily="18" charset="0"/>
                      </a:rPr>
                      <m:t>≤</m:t>
                    </m:r>
                    <m:r>
                      <a:rPr lang="en-US" altLang="zh-CN" sz="1600" i="1" baseline="-25000">
                        <a:latin typeface="Cambria Math" panose="02040503050406030204" pitchFamily="18" charset="0"/>
                      </a:rPr>
                      <m:t>𝑛</m:t>
                    </m:r>
                    <m:r>
                      <a:rPr lang="en-US" altLang="zh-CN" sz="1600" i="1" baseline="-25000">
                        <a:latin typeface="Cambria Math" panose="02040503050406030204" pitchFamily="18" charset="0"/>
                      </a:rPr>
                      <m:t>,1≤</m:t>
                    </m:r>
                    <m:r>
                      <a:rPr lang="en-US" altLang="zh-CN" sz="1600" i="1" baseline="-25000">
                        <a:latin typeface="Cambria Math" panose="02040503050406030204" pitchFamily="18" charset="0"/>
                      </a:rPr>
                      <m:t>𝑗</m:t>
                    </m:r>
                    <m:r>
                      <a:rPr lang="en-US" altLang="zh-CN" sz="1600" i="1" baseline="-25000">
                        <a:latin typeface="Cambria Math" panose="02040503050406030204" pitchFamily="18" charset="0"/>
                      </a:rPr>
                      <m:t>≤</m:t>
                    </m:r>
                    <m:r>
                      <a:rPr lang="en-US" altLang="zh-CN" sz="1600" i="1" baseline="-25000">
                        <a:latin typeface="Cambria Math" panose="02040503050406030204" pitchFamily="18" charset="0"/>
                      </a:rPr>
                      <m:t>𝑚</m:t>
                    </m:r>
                  </m:oMath>
                </a14:m>
                <a:r>
                  <a:rPr lang="en-US" altLang="zh-CN" sz="1600" baseline="-25000" dirty="0"/>
                  <a:t>  </a:t>
                </a:r>
                <a:r>
                  <a:rPr lang="zh-CN" altLang="en-US" sz="1600" baseline="-25000" dirty="0" smtClean="0"/>
                  <a:t>。</a:t>
                </a:r>
                <a:r>
                  <a:rPr lang="zh-CN" altLang="zh-CN" sz="1600" dirty="0" smtClean="0"/>
                  <a:t>其中</a:t>
                </a:r>
                <a:r>
                  <a:rPr lang="zh-CN" altLang="zh-CN" sz="1600" dirty="0"/>
                  <a:t>，如果方格</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m:t>
                    </m:r>
                  </m:oMath>
                </a14:m>
                <a:r>
                  <a:rPr lang="zh-CN" altLang="zh-CN" sz="1600" dirty="0"/>
                  <a:t>中有一枚硬币的话，</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𝑐</m:t>
                        </m:r>
                      </m:e>
                      <m:sub>
                        <m:r>
                          <a:rPr lang="en-US" altLang="zh-CN" sz="1600" i="1">
                            <a:latin typeface="Cambria Math" panose="02040503050406030204" pitchFamily="18" charset="0"/>
                          </a:rPr>
                          <m:t>𝑖𝑗</m:t>
                        </m:r>
                      </m:sub>
                    </m:sSub>
                    <m:r>
                      <a:rPr lang="en-US" altLang="zh-CN" sz="1600" i="1">
                        <a:latin typeface="Cambria Math" panose="02040503050406030204" pitchFamily="18" charset="0"/>
                      </a:rPr>
                      <m:t>=1</m:t>
                    </m:r>
                  </m:oMath>
                </a14:m>
                <a:r>
                  <a:rPr lang="zh-CN" altLang="zh-CN" sz="1600" dirty="0"/>
                  <a:t>，否则为</a:t>
                </a:r>
                <a:r>
                  <a:rPr lang="en-US" altLang="zh-CN" sz="1600" dirty="0"/>
                  <a:t>0</a:t>
                </a:r>
                <a:r>
                  <a:rPr lang="zh-CN" altLang="zh-CN" sz="1600" dirty="0"/>
                  <a:t>。当</a:t>
                </a:r>
                <a14:m>
                  <m:oMath xmlns:m="http://schemas.openxmlformats.org/officeDocument/2006/math">
                    <m:r>
                      <a:rPr lang="en-US" altLang="zh-CN" sz="1600" i="1" baseline="-25000">
                        <a:latin typeface="Cambria Math" panose="02040503050406030204" pitchFamily="18" charset="0"/>
                      </a:rPr>
                      <m:t>1≤</m:t>
                    </m:r>
                    <m:r>
                      <a:rPr lang="en-US" altLang="zh-CN" sz="1600" i="1" baseline="-25000">
                        <a:latin typeface="Cambria Math" panose="02040503050406030204" pitchFamily="18" charset="0"/>
                      </a:rPr>
                      <m:t>𝑗</m:t>
                    </m:r>
                    <m:r>
                      <a:rPr lang="en-US" altLang="zh-CN" sz="1600" i="1" baseline="-25000">
                        <a:latin typeface="Cambria Math" panose="02040503050406030204" pitchFamily="18" charset="0"/>
                      </a:rPr>
                      <m:t>≤</m:t>
                    </m:r>
                    <m:r>
                      <a:rPr lang="en-US" altLang="zh-CN" sz="1600" i="1" baseline="-25000">
                        <a:latin typeface="Cambria Math" panose="02040503050406030204" pitchFamily="18" charset="0"/>
                      </a:rPr>
                      <m:t>𝑚</m:t>
                    </m:r>
                  </m:oMath>
                </a14:m>
                <a:r>
                  <a:rPr lang="zh-CN" altLang="zh-CN" sz="1600" dirty="0"/>
                  <a:t>时，</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[0,</m:t>
                    </m:r>
                    <m:r>
                      <a:rPr lang="en-US" altLang="zh-CN" sz="1600" i="1">
                        <a:latin typeface="Cambria Math" panose="02040503050406030204" pitchFamily="18" charset="0"/>
                      </a:rPr>
                      <m:t>𝑗</m:t>
                    </m:r>
                    <m:r>
                      <a:rPr lang="en-US" altLang="zh-CN" sz="1600" i="1">
                        <a:latin typeface="Cambria Math" panose="02040503050406030204" pitchFamily="18" charset="0"/>
                      </a:rPr>
                      <m:t>]=0</m:t>
                    </m:r>
                  </m:oMath>
                </a14:m>
                <a:r>
                  <a:rPr lang="zh-CN" altLang="zh-CN" sz="1600" dirty="0"/>
                  <a:t>；当</a:t>
                </a:r>
                <a14:m>
                  <m:oMath xmlns:m="http://schemas.openxmlformats.org/officeDocument/2006/math">
                    <m:r>
                      <a:rPr lang="en-US" altLang="zh-CN" sz="1600" i="1" baseline="-25000">
                        <a:latin typeface="Cambria Math" panose="02040503050406030204" pitchFamily="18" charset="0"/>
                      </a:rPr>
                      <m:t>1≤</m:t>
                    </m:r>
                    <m:r>
                      <a:rPr lang="en-US" altLang="zh-CN" sz="1600" i="1" baseline="-25000">
                        <a:latin typeface="Cambria Math" panose="02040503050406030204" pitchFamily="18" charset="0"/>
                      </a:rPr>
                      <m:t>𝑖</m:t>
                    </m:r>
                    <m:r>
                      <a:rPr lang="en-US" altLang="zh-CN" sz="1600" i="1" baseline="-25000">
                        <a:latin typeface="Cambria Math" panose="02040503050406030204" pitchFamily="18" charset="0"/>
                      </a:rPr>
                      <m:t>≤</m:t>
                    </m:r>
                    <m:r>
                      <a:rPr lang="en-US" altLang="zh-CN" sz="1600" i="1" baseline="-25000">
                        <a:latin typeface="Cambria Math" panose="02040503050406030204" pitchFamily="18" charset="0"/>
                      </a:rPr>
                      <m:t>𝑛</m:t>
                    </m:r>
                  </m:oMath>
                </a14:m>
                <a:r>
                  <a:rPr lang="zh-CN" altLang="zh-CN" sz="1600" dirty="0"/>
                  <a:t>时，</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𝑖</m:t>
                    </m:r>
                    <m:r>
                      <a:rPr lang="en-US" altLang="zh-CN" sz="1600" i="1">
                        <a:latin typeface="Cambria Math" panose="02040503050406030204" pitchFamily="18" charset="0"/>
                      </a:rPr>
                      <m:t>,0]=0</m:t>
                    </m:r>
                  </m:oMath>
                </a14:m>
                <a:r>
                  <a:rPr lang="zh-CN" altLang="zh-CN" sz="1600" dirty="0"/>
                  <a:t>。</a:t>
                </a:r>
                <a:endParaRPr lang="zh-CN" altLang="en-US" sz="16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043608" y="3645024"/>
                <a:ext cx="4824536" cy="2354875"/>
              </a:xfrm>
              <a:prstGeom prst="rect">
                <a:avLst/>
              </a:prstGeom>
              <a:blipFill rotWithShape="0">
                <a:blip r:embed="rId4"/>
                <a:stretch>
                  <a:fillRect l="-377" t="-513" r="-879" b="-1538"/>
                </a:stretch>
              </a:blipFill>
              <a:ln w="25400">
                <a:solidFill>
                  <a:schemeClr val="accent2">
                    <a:lumMod val="60000"/>
                    <a:lumOff val="40000"/>
                  </a:schemeClr>
                </a:solidFill>
              </a:ln>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6588224" y="3790080"/>
            <a:ext cx="2232248" cy="1888826"/>
          </a:xfrm>
          <a:prstGeom prst="rect">
            <a:avLst/>
          </a:prstGeom>
        </p:spPr>
      </p:pic>
    </p:spTree>
    <p:extLst>
      <p:ext uri="{BB962C8B-B14F-4D97-AF65-F5344CB8AC3E}">
        <p14:creationId xmlns:p14="http://schemas.microsoft.com/office/powerpoint/2010/main" val="346674829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331913" y="549275"/>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 题</a:t>
            </a:r>
          </a:p>
        </p:txBody>
      </p:sp>
      <p:pic>
        <p:nvPicPr>
          <p:cNvPr id="6553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331913" y="2276872"/>
                <a:ext cx="6192415" cy="1200329"/>
              </a:xfrm>
              <a:prstGeom prst="rect">
                <a:avLst/>
              </a:prstGeom>
              <a:noFill/>
              <a:ln w="25400">
                <a:solidFill>
                  <a:schemeClr val="accent2">
                    <a:lumMod val="60000"/>
                    <a:lumOff val="40000"/>
                  </a:schemeClr>
                </a:solidFill>
              </a:ln>
            </p:spPr>
            <p:txBody>
              <a:bodyPr wrap="square" rtlCol="0">
                <a:spAutoFit/>
              </a:bodyPr>
              <a:lstStyle/>
              <a:p>
                <a:r>
                  <a:rPr lang="zh-CN" altLang="zh-CN" sz="2400" dirty="0"/>
                  <a:t>利用上述公式，我们可以在</a:t>
                </a:r>
                <a:r>
                  <a:rPr lang="en-US" altLang="zh-CN" sz="2400" i="1" dirty="0"/>
                  <a:t>n</a:t>
                </a:r>
                <a:r>
                  <a:rPr lang="zh-CN" altLang="zh-CN" sz="2400" dirty="0"/>
                  <a:t>×</a:t>
                </a:r>
                <a:r>
                  <a:rPr lang="en-US" altLang="zh-CN" sz="2400" i="1" dirty="0"/>
                  <a:t>m</a:t>
                </a:r>
                <a:r>
                  <a:rPr lang="zh-CN" altLang="zh-CN" sz="2400" dirty="0"/>
                  <a:t>的表格上逐行逐列地对</a:t>
                </a:r>
                <a14:m>
                  <m:oMath xmlns:m="http://schemas.openxmlformats.org/officeDocument/2006/math">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𝑗</m:t>
                    </m:r>
                    <m:r>
                      <a:rPr lang="en-US" altLang="zh-CN" sz="2400" i="1">
                        <a:latin typeface="Cambria Math" panose="02040503050406030204" pitchFamily="18" charset="0"/>
                      </a:rPr>
                      <m:t>]</m:t>
                    </m:r>
                  </m:oMath>
                </a14:m>
                <a:r>
                  <a:rPr lang="zh-CN" altLang="zh-CN" sz="2400" dirty="0"/>
                  <a:t>进行</a:t>
                </a:r>
                <a:r>
                  <a:rPr lang="zh-CN" altLang="zh-CN" sz="2400" dirty="0" smtClean="0"/>
                  <a:t>填充</a:t>
                </a:r>
                <a:r>
                  <a:rPr lang="zh-CN" altLang="en-US" sz="2400" dirty="0" smtClean="0"/>
                  <a:t>，下</a:t>
                </a:r>
                <a:r>
                  <a:rPr lang="zh-CN" altLang="zh-CN" sz="2400" dirty="0" smtClean="0"/>
                  <a:t>图</a:t>
                </a:r>
                <a:r>
                  <a:rPr lang="zh-CN" altLang="zh-CN" sz="2400" dirty="0"/>
                  <a:t>展示了</a:t>
                </a:r>
                <a14:m>
                  <m:oMath xmlns:m="http://schemas.openxmlformats.org/officeDocument/2006/math">
                    <m:r>
                      <a:rPr lang="en-US" altLang="zh-CN" sz="2400" i="1">
                        <a:latin typeface="Cambria Math" panose="02040503050406030204" pitchFamily="18" charset="0"/>
                      </a:rPr>
                      <m:t>𝐶</m:t>
                    </m:r>
                    <m:d>
                      <m:dPr>
                        <m:begChr m:val="["/>
                        <m:endChr m:val="]"/>
                        <m:ctrlPr>
                          <a:rPr lang="zh-CN" altLang="zh-CN" sz="2400" i="1">
                            <a:latin typeface="Cambria Math" panose="02040503050406030204" pitchFamily="18" charset="0"/>
                          </a:rPr>
                        </m:ctrlPr>
                      </m:dPr>
                      <m:e>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𝑗</m:t>
                        </m:r>
                      </m:e>
                    </m:d>
                  </m:oMath>
                </a14:m>
                <a:r>
                  <a:rPr lang="zh-CN" altLang="zh-CN" sz="2400" dirty="0"/>
                  <a:t>动态规划算法计算的</a:t>
                </a:r>
                <a:r>
                  <a:rPr lang="zh-CN" altLang="zh-CN" sz="2400" dirty="0" smtClean="0"/>
                  <a:t>结果</a:t>
                </a:r>
                <a:r>
                  <a:rPr lang="zh-CN" altLang="en-US" sz="2400" dirty="0" smtClean="0"/>
                  <a:t>。</a:t>
                </a:r>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331913" y="2276872"/>
                <a:ext cx="6192415" cy="1200329"/>
              </a:xfrm>
              <a:prstGeom prst="rect">
                <a:avLst/>
              </a:prstGeom>
              <a:blipFill rotWithShape="0">
                <a:blip r:embed="rId4"/>
                <a:stretch>
                  <a:fillRect l="-1275" t="-3000" b="-10000"/>
                </a:stretch>
              </a:blipFill>
              <a:ln w="25400">
                <a:solidFill>
                  <a:schemeClr val="accent2">
                    <a:lumMod val="60000"/>
                    <a:lumOff val="40000"/>
                  </a:schemeClr>
                </a:solidFill>
              </a:ln>
            </p:spPr>
            <p:txBody>
              <a:bodyPr/>
              <a:lstStyle/>
              <a:p>
                <a:r>
                  <a:rPr lang="zh-CN" altLang="en-US">
                    <a:noFill/>
                  </a:rPr>
                  <a:t> </a:t>
                </a:r>
              </a:p>
            </p:txBody>
          </p:sp>
        </mc:Fallback>
      </mc:AlternateContent>
      <p:pic>
        <p:nvPicPr>
          <p:cNvPr id="3" name="图片 2"/>
          <p:cNvPicPr>
            <a:picLocks noChangeAspect="1"/>
          </p:cNvPicPr>
          <p:nvPr/>
        </p:nvPicPr>
        <p:blipFill>
          <a:blip r:embed="rId5"/>
          <a:stretch>
            <a:fillRect/>
          </a:stretch>
        </p:blipFill>
        <p:spPr>
          <a:xfrm>
            <a:off x="2987824" y="3717032"/>
            <a:ext cx="2952328" cy="2474017"/>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1331913" y="549275"/>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例 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6758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187624" y="1916113"/>
                <a:ext cx="6912768" cy="2031325"/>
              </a:xfrm>
              <a:prstGeom prst="rect">
                <a:avLst/>
              </a:prstGeom>
              <a:noFill/>
              <a:ln w="25400">
                <a:solidFill>
                  <a:srgbClr val="00B0F0"/>
                </a:solidFill>
              </a:ln>
            </p:spPr>
            <p:txBody>
              <a:bodyPr wrap="square" rtlCol="0">
                <a:spAutoFit/>
              </a:bodyPr>
              <a:lstStyle/>
              <a:p>
                <a:r>
                  <a:rPr lang="zh-CN" altLang="zh-CN" sz="1800" dirty="0"/>
                  <a:t>在寻找最优收集路径时，可以通过回溯计算得到收集最大数目的硬币所走的路径：如果</a:t>
                </a:r>
                <a14:m>
                  <m:oMath xmlns:m="http://schemas.openxmlformats.org/officeDocument/2006/math">
                    <m:r>
                      <a:rPr lang="en-US" altLang="zh-CN" sz="1800" i="1">
                        <a:latin typeface="Cambria Math" panose="02040503050406030204" pitchFamily="18" charset="0"/>
                      </a:rPr>
                      <m:t>𝐶</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−1,</m:t>
                        </m:r>
                        <m:r>
                          <a:rPr lang="en-US" altLang="zh-CN" sz="1800" i="1">
                            <a:latin typeface="Cambria Math" panose="02040503050406030204" pitchFamily="18" charset="0"/>
                          </a:rPr>
                          <m:t>𝑗</m:t>
                        </m:r>
                      </m:e>
                    </m:d>
                    <m:r>
                      <a:rPr lang="en-US" altLang="zh-CN" sz="1800" i="1">
                        <a:latin typeface="Cambria Math" panose="02040503050406030204" pitchFamily="18" charset="0"/>
                      </a:rPr>
                      <m:t>&gt;</m:t>
                    </m:r>
                    <m:r>
                      <a:rPr lang="en-US" altLang="zh-CN" sz="1800" i="1">
                        <a:latin typeface="Cambria Math" panose="02040503050406030204" pitchFamily="18" charset="0"/>
                      </a:rPr>
                      <m:t>𝐶</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−1</m:t>
                        </m:r>
                      </m:e>
                    </m:d>
                  </m:oMath>
                </a14:m>
                <a:r>
                  <a:rPr lang="zh-CN" altLang="zh-CN" sz="1800" dirty="0"/>
                  <a:t>，到达方格</a:t>
                </a:r>
                <a14:m>
                  <m:oMath xmlns:m="http://schemas.openxmlformats.org/officeDocument/2006/math">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m:t>
                    </m:r>
                  </m:oMath>
                </a14:m>
                <a:r>
                  <a:rPr lang="zh-CN" altLang="zh-CN" sz="1800" dirty="0"/>
                  <a:t>的最优路径肯定是来自其上方相邻方格；如果</a:t>
                </a:r>
                <a14:m>
                  <m:oMath xmlns:m="http://schemas.openxmlformats.org/officeDocument/2006/math">
                    <m:r>
                      <a:rPr lang="en-US" altLang="zh-CN" sz="1800" i="1">
                        <a:latin typeface="Cambria Math" panose="02040503050406030204" pitchFamily="18" charset="0"/>
                      </a:rPr>
                      <m:t>𝐶</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−1,</m:t>
                        </m:r>
                        <m:r>
                          <a:rPr lang="en-US" altLang="zh-CN" sz="1800" i="1">
                            <a:latin typeface="Cambria Math" panose="02040503050406030204" pitchFamily="18" charset="0"/>
                          </a:rPr>
                          <m:t>𝑗</m:t>
                        </m:r>
                      </m:e>
                    </m:d>
                    <m:r>
                      <a:rPr lang="en-US" altLang="zh-CN" sz="1800" i="1">
                        <a:latin typeface="Cambria Math" panose="02040503050406030204" pitchFamily="18" charset="0"/>
                      </a:rPr>
                      <m:t>&lt;</m:t>
                    </m:r>
                    <m:r>
                      <a:rPr lang="en-US" altLang="zh-CN" sz="1800" i="1">
                        <a:latin typeface="Cambria Math" panose="02040503050406030204" pitchFamily="18" charset="0"/>
                      </a:rPr>
                      <m:t>𝐶</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−1</m:t>
                        </m:r>
                      </m:e>
                    </m:d>
                  </m:oMath>
                </a14:m>
                <a:r>
                  <a:rPr lang="zh-CN" altLang="zh-CN" sz="1800" dirty="0"/>
                  <a:t>，到达方格</a:t>
                </a:r>
                <a14:m>
                  <m:oMath xmlns:m="http://schemas.openxmlformats.org/officeDocument/2006/math">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m:t>
                    </m:r>
                  </m:oMath>
                </a14:m>
                <a:r>
                  <a:rPr lang="zh-CN" altLang="zh-CN" sz="1800" dirty="0"/>
                  <a:t>的最优路径肯定是来自其左侧相邻方格；如果</a:t>
                </a:r>
                <a14:m>
                  <m:oMath xmlns:m="http://schemas.openxmlformats.org/officeDocument/2006/math">
                    <m:r>
                      <a:rPr lang="en-US" altLang="zh-CN" sz="1800" i="1">
                        <a:latin typeface="Cambria Math" panose="02040503050406030204" pitchFamily="18" charset="0"/>
                      </a:rPr>
                      <m:t>𝐶</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−1,</m:t>
                        </m:r>
                        <m:r>
                          <a:rPr lang="en-US" altLang="zh-CN" sz="1800" i="1">
                            <a:latin typeface="Cambria Math" panose="02040503050406030204" pitchFamily="18" charset="0"/>
                          </a:rPr>
                          <m:t>𝑗</m:t>
                        </m:r>
                      </m:e>
                    </m:d>
                    <m:r>
                      <a:rPr lang="en-US" altLang="zh-CN" sz="1800" i="1">
                        <a:latin typeface="Cambria Math" panose="02040503050406030204" pitchFamily="18" charset="0"/>
                      </a:rPr>
                      <m:t>=</m:t>
                    </m:r>
                    <m:r>
                      <a:rPr lang="en-US" altLang="zh-CN" sz="1800" i="1">
                        <a:latin typeface="Cambria Math" panose="02040503050406030204" pitchFamily="18" charset="0"/>
                      </a:rPr>
                      <m:t>𝐶</m:t>
                    </m:r>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−1</m:t>
                        </m:r>
                      </m:e>
                    </m:d>
                  </m:oMath>
                </a14:m>
                <a:r>
                  <a:rPr lang="zh-CN" altLang="zh-CN" sz="1800" dirty="0"/>
                  <a:t>，到达方格</a:t>
                </a:r>
                <a14:m>
                  <m:oMath xmlns:m="http://schemas.openxmlformats.org/officeDocument/2006/math">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m:t>
                    </m:r>
                  </m:oMath>
                </a14:m>
                <a:r>
                  <a:rPr lang="zh-CN" altLang="zh-CN" sz="1800" dirty="0"/>
                  <a:t>的最优路径可能来自于上方相邻或者左侧相邻的方格，那么最优路径不唯一，它们都可能为最优路径中的一步。</a:t>
                </a:r>
                <a:endParaRPr lang="zh-CN" altLang="en-US" sz="18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187624" y="1916113"/>
                <a:ext cx="6912768" cy="2031325"/>
              </a:xfrm>
              <a:prstGeom prst="rect">
                <a:avLst/>
              </a:prstGeom>
              <a:blipFill>
                <a:blip r:embed="rId4"/>
                <a:stretch>
                  <a:fillRect l="-615" t="-888" b="-2959"/>
                </a:stretch>
              </a:blipFill>
              <a:ln w="25400">
                <a:solidFill>
                  <a:srgbClr val="00B0F0"/>
                </a:solidFill>
              </a:ln>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1619672" y="4136061"/>
            <a:ext cx="2160240" cy="1773145"/>
          </a:xfrm>
          <a:prstGeom prst="rect">
            <a:avLst/>
          </a:prstGeom>
        </p:spPr>
      </p:pic>
      <p:sp>
        <p:nvSpPr>
          <p:cNvPr id="6" name="圆角矩形标注 5"/>
          <p:cNvSpPr/>
          <p:nvPr/>
        </p:nvSpPr>
        <p:spPr bwMode="auto">
          <a:xfrm flipV="1">
            <a:off x="5220072" y="4523080"/>
            <a:ext cx="1944216" cy="1054873"/>
          </a:xfrm>
          <a:prstGeom prst="wedgeRoundRectCallout">
            <a:avLst>
              <a:gd name="adj1" fmla="val -36418"/>
              <a:gd name="adj2" fmla="val 94675"/>
              <a:gd name="adj3" fmla="val 16667"/>
            </a:avLst>
          </a:prstGeom>
          <a:solidFill>
            <a:srgbClr val="9E6291"/>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7" name="文本框 6"/>
              <p:cNvSpPr txBox="1"/>
              <p:nvPr/>
            </p:nvSpPr>
            <p:spPr>
              <a:xfrm>
                <a:off x="5292080" y="4620224"/>
                <a:ext cx="1944216" cy="825354"/>
              </a:xfrm>
              <a:prstGeom prst="rect">
                <a:avLst/>
              </a:prstGeom>
              <a:noFill/>
            </p:spPr>
            <p:txBody>
              <a:bodyPr wrap="square" rtlCol="0">
                <a:spAutoFit/>
              </a:bodyPr>
              <a:lstStyle/>
              <a:p>
                <a:r>
                  <a:rPr lang="zh-CN" altLang="zh-CN" sz="1600" dirty="0" smtClean="0">
                    <a:solidFill>
                      <a:srgbClr val="FFFF00"/>
                    </a:solidFill>
                    <a:latin typeface="方正舒体" panose="02010601030101010101" pitchFamily="2" charset="-122"/>
                    <a:ea typeface="方正舒体" panose="02010601030101010101" pitchFamily="2" charset="-122"/>
                  </a:rPr>
                  <a:t>算法时间复杂度为</a:t>
                </a:r>
                <a14:m>
                  <m:oMath xmlns:m="http://schemas.openxmlformats.org/officeDocument/2006/math">
                    <m:r>
                      <a:rPr lang="en-US" altLang="zh-CN" sz="1600" i="1">
                        <a:solidFill>
                          <a:srgbClr val="FFFF00"/>
                        </a:solidFill>
                        <a:latin typeface="Cambria Math" panose="02040503050406030204" pitchFamily="18" charset="0"/>
                      </a:rPr>
                      <m:t>𝑂</m:t>
                    </m:r>
                    <m:d>
                      <m:dPr>
                        <m:ctrlPr>
                          <a:rPr lang="zh-CN" altLang="zh-CN" sz="1600" i="1">
                            <a:solidFill>
                              <a:srgbClr val="FFFF00"/>
                            </a:solidFill>
                            <a:latin typeface="Cambria Math" panose="02040503050406030204" pitchFamily="18" charset="0"/>
                          </a:rPr>
                        </m:ctrlPr>
                      </m:dPr>
                      <m:e>
                        <m:r>
                          <a:rPr lang="en-US" altLang="zh-CN" sz="1600" i="1">
                            <a:solidFill>
                              <a:srgbClr val="FFFF00"/>
                            </a:solidFill>
                            <a:latin typeface="Cambria Math" panose="02040503050406030204" pitchFamily="18" charset="0"/>
                          </a:rPr>
                          <m:t>𝑛𝑚</m:t>
                        </m:r>
                      </m:e>
                    </m:d>
                    <m:r>
                      <a:rPr lang="en-US" altLang="zh-CN" sz="1600" i="1">
                        <a:solidFill>
                          <a:srgbClr val="FFFF00"/>
                        </a:solidFill>
                        <a:latin typeface="Cambria Math" panose="02040503050406030204" pitchFamily="18" charset="0"/>
                      </a:rPr>
                      <m:t>+ </m:t>
                    </m:r>
                    <m:r>
                      <a:rPr lang="en-US" altLang="zh-CN" sz="1600" i="1">
                        <a:solidFill>
                          <a:srgbClr val="FFFF00"/>
                        </a:solidFill>
                        <a:latin typeface="Cambria Math" panose="02040503050406030204" pitchFamily="18" charset="0"/>
                      </a:rPr>
                      <m:t>𝑂</m:t>
                    </m:r>
                    <m:d>
                      <m:dPr>
                        <m:ctrlPr>
                          <a:rPr lang="zh-CN" altLang="zh-CN" sz="1600" i="1">
                            <a:solidFill>
                              <a:srgbClr val="FFFF00"/>
                            </a:solidFill>
                            <a:latin typeface="Cambria Math" panose="02040503050406030204" pitchFamily="18" charset="0"/>
                          </a:rPr>
                        </m:ctrlPr>
                      </m:dPr>
                      <m:e>
                        <m:r>
                          <a:rPr lang="en-US" altLang="zh-CN" sz="1600" i="1">
                            <a:solidFill>
                              <a:srgbClr val="FFFF00"/>
                            </a:solidFill>
                            <a:latin typeface="Cambria Math" panose="02040503050406030204" pitchFamily="18" charset="0"/>
                          </a:rPr>
                          <m:t>𝑛</m:t>
                        </m:r>
                        <m:r>
                          <a:rPr lang="en-US" altLang="zh-CN" sz="1600" i="1">
                            <a:solidFill>
                              <a:srgbClr val="FFFF00"/>
                            </a:solidFill>
                            <a:latin typeface="Cambria Math" panose="02040503050406030204" pitchFamily="18" charset="0"/>
                          </a:rPr>
                          <m:t>+</m:t>
                        </m:r>
                        <m:r>
                          <a:rPr lang="en-US" altLang="zh-CN" sz="1600" i="1">
                            <a:solidFill>
                              <a:srgbClr val="FFFF00"/>
                            </a:solidFill>
                            <a:latin typeface="Cambria Math" panose="02040503050406030204" pitchFamily="18" charset="0"/>
                          </a:rPr>
                          <m:t>𝑚</m:t>
                        </m:r>
                      </m:e>
                    </m:d>
                    <m:r>
                      <a:rPr lang="en-US" altLang="zh-CN" sz="1600" i="1">
                        <a:solidFill>
                          <a:srgbClr val="FFFF00"/>
                        </a:solidFill>
                        <a:latin typeface="Cambria Math" panose="02040503050406030204" pitchFamily="18" charset="0"/>
                      </a:rPr>
                      <m:t>=</m:t>
                    </m:r>
                    <m:r>
                      <a:rPr lang="en-US" altLang="zh-CN" sz="1600" i="1">
                        <a:solidFill>
                          <a:srgbClr val="FFFF00"/>
                        </a:solidFill>
                        <a:latin typeface="Cambria Math" panose="02040503050406030204" pitchFamily="18" charset="0"/>
                      </a:rPr>
                      <m:t>𝑂</m:t>
                    </m:r>
                    <m:d>
                      <m:dPr>
                        <m:ctrlPr>
                          <a:rPr lang="zh-CN" altLang="zh-CN" sz="1600" i="1">
                            <a:solidFill>
                              <a:srgbClr val="FFFF00"/>
                            </a:solidFill>
                            <a:latin typeface="Cambria Math" panose="02040503050406030204" pitchFamily="18" charset="0"/>
                          </a:rPr>
                        </m:ctrlPr>
                      </m:dPr>
                      <m:e>
                        <m:r>
                          <a:rPr lang="en-US" altLang="zh-CN" sz="1600" i="1">
                            <a:solidFill>
                              <a:srgbClr val="FFFF00"/>
                            </a:solidFill>
                            <a:latin typeface="Cambria Math" panose="02040503050406030204" pitchFamily="18" charset="0"/>
                          </a:rPr>
                          <m:t>𝑛𝑚</m:t>
                        </m:r>
                      </m:e>
                    </m:d>
                  </m:oMath>
                </a14:m>
                <a:r>
                  <a:rPr lang="zh-CN" altLang="zh-CN" sz="1600" dirty="0">
                    <a:solidFill>
                      <a:srgbClr val="FFFF00"/>
                    </a:solidFill>
                    <a:latin typeface="方正舒体" panose="02010601030101010101" pitchFamily="2" charset="-122"/>
                    <a:ea typeface="方正舒体" panose="02010601030101010101" pitchFamily="2" charset="-122"/>
                  </a:rPr>
                  <a:t>。</a:t>
                </a:r>
                <a:endParaRPr lang="zh-CN" altLang="en-US" sz="1600" dirty="0">
                  <a:solidFill>
                    <a:srgbClr val="FFFF00"/>
                  </a:solidFill>
                  <a:latin typeface="方正舒体" panose="02010601030101010101" pitchFamily="2" charset="-122"/>
                  <a:ea typeface="方正舒体" panose="02010601030101010101" pitchFamily="2"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5292080" y="4620224"/>
                <a:ext cx="1944216" cy="825354"/>
              </a:xfrm>
              <a:prstGeom prst="rect">
                <a:avLst/>
              </a:prstGeom>
              <a:blipFill rotWithShape="0">
                <a:blip r:embed="rId6"/>
                <a:stretch>
                  <a:fillRect l="-1567" t="-1481" b="-8148"/>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0EFA123-C579-47DA-B3E1-4B438B61F34D}" type="datetime1">
              <a:rPr lang="zh-CN" altLang="en-US" smtClean="0"/>
              <a:pPr>
                <a:defRPr/>
              </a:pPr>
              <a:t>2020/9/7</a:t>
            </a:fld>
            <a:endParaRPr lang="en-US" altLang="zh-CN"/>
          </a:p>
        </p:txBody>
      </p:sp>
      <p:sp>
        <p:nvSpPr>
          <p:cNvPr id="5" name="页脚占位符 4"/>
          <p:cNvSpPr>
            <a:spLocks noGrp="1"/>
          </p:cNvSpPr>
          <p:nvPr>
            <p:ph type="ftr" sz="quarter" idx="11"/>
          </p:nvPr>
        </p:nvSpPr>
        <p:spPr/>
        <p:txBody>
          <a:bodyPr/>
          <a:lstStyle/>
          <a:p>
            <a:pPr>
              <a:defRPr/>
            </a:pPr>
            <a:r>
              <a:rPr lang="zh-CN" altLang="en-US" smtClean="0"/>
              <a:t>计算机应用技术研究所</a:t>
            </a:r>
            <a:endParaRPr lang="zh-CN" altLang="en-US"/>
          </a:p>
        </p:txBody>
      </p:sp>
      <p:sp>
        <p:nvSpPr>
          <p:cNvPr id="6" name="灯片编号占位符 5"/>
          <p:cNvSpPr>
            <a:spLocks noGrp="1"/>
          </p:cNvSpPr>
          <p:nvPr>
            <p:ph type="sldNum" sz="quarter" idx="12"/>
          </p:nvPr>
        </p:nvSpPr>
        <p:spPr/>
        <p:txBody>
          <a:bodyPr/>
          <a:lstStyle/>
          <a:p>
            <a:pPr>
              <a:defRPr/>
            </a:pPr>
            <a:fld id="{B22185D0-87CF-4DE1-A344-21C7FE2D602D}" type="slidenum">
              <a:rPr lang="en-US" altLang="zh-CN" smtClean="0"/>
              <a:pPr>
                <a:defRPr/>
              </a:pPr>
              <a:t>92</a:t>
            </a:fld>
            <a:endParaRPr lang="en-US" altLang="zh-CN"/>
          </a:p>
        </p:txBody>
      </p:sp>
      <p:sp>
        <p:nvSpPr>
          <p:cNvPr id="55301" name="WordArt 3"/>
          <p:cNvSpPr>
            <a:spLocks noChangeArrowheads="1" noChangeShapeType="1" noTextEdit="1"/>
          </p:cNvSpPr>
          <p:nvPr/>
        </p:nvSpPr>
        <p:spPr bwMode="auto">
          <a:xfrm>
            <a:off x="2744788" y="2205038"/>
            <a:ext cx="4419600" cy="2514600"/>
          </a:xfrm>
          <a:prstGeom prst="rect">
            <a:avLst/>
          </a:prstGeom>
        </p:spPr>
        <p:txBody>
          <a:bodyPr wrap="none" fromWordArt="1">
            <a:prstTxWarp prst="textCascadeUp">
              <a:avLst>
                <a:gd name="adj" fmla="val 44444"/>
              </a:avLst>
            </a:prstTxWarp>
            <a:scene3d>
              <a:camera prst="legacyPerspectiveFront">
                <a:rot lat="20519982"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rPr>
              <a:t>本节结束！</a:t>
            </a:r>
          </a:p>
        </p:txBody>
      </p:sp>
    </p:spTree>
  </p:cSld>
  <p:clrMapOvr>
    <a:masterClrMapping/>
  </p:clrMapOv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张勇-硕士答辩</Template>
  <TotalTime>5224</TotalTime>
  <Words>6514</Words>
  <Application>Microsoft Office PowerPoint</Application>
  <PresentationFormat>全屏显示(4:3)</PresentationFormat>
  <Paragraphs>540</Paragraphs>
  <Slides>92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92</vt:i4>
      </vt:variant>
    </vt:vector>
  </HeadingPairs>
  <TitlesOfParts>
    <vt:vector size="109" baseType="lpstr">
      <vt:lpstr>方正舒体</vt:lpstr>
      <vt:lpstr>黑体</vt:lpstr>
      <vt:lpstr>华文仿宋</vt:lpstr>
      <vt:lpstr>华文行楷</vt:lpstr>
      <vt:lpstr>华文琥珀</vt:lpstr>
      <vt:lpstr>华文楷体</vt:lpstr>
      <vt:lpstr>华文新魏</vt:lpstr>
      <vt:lpstr>华文中宋</vt:lpstr>
      <vt:lpstr>楷体_GB2312</vt:lpstr>
      <vt:lpstr>隶书</vt:lpstr>
      <vt:lpstr>宋体</vt:lpstr>
      <vt:lpstr>Arial</vt:lpstr>
      <vt:lpstr>Cambria Math</vt:lpstr>
      <vt:lpstr>Times New Roman</vt:lpstr>
      <vt:lpstr>Wingdings</vt:lpstr>
      <vt:lpstr>Wingdings 2</vt:lpstr>
      <vt:lpstr>张勇-硕士答辩</vt:lpstr>
      <vt:lpstr>PowerPoint 演示文稿</vt:lpstr>
      <vt:lpstr>第2章 整数与算法设计基础 （下） </vt:lpstr>
      <vt:lpstr>PowerPoint 演示文稿</vt:lpstr>
      <vt:lpstr>算法设计的基本知识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算法设计策略与应用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WWW.YlmF.CoM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图像中模糊边界目标的阈值分割方法研究</dc:title>
  <dc:creator>汪荣贵</dc:creator>
  <cp:lastModifiedBy>Windows 用户</cp:lastModifiedBy>
  <cp:revision>388</cp:revision>
  <dcterms:created xsi:type="dcterms:W3CDTF">2011-04-21T02:25:16Z</dcterms:created>
  <dcterms:modified xsi:type="dcterms:W3CDTF">2020-09-07T02:12:06Z</dcterms:modified>
</cp:coreProperties>
</file>